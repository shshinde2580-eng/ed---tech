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4D5F-928E-4092-92C9-B04564CE7575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C208-8988-46D0-8AD4-E22089800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809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4D5F-928E-4092-92C9-B04564CE7575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C208-8988-46D0-8AD4-E22089800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293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4D5F-928E-4092-92C9-B04564CE7575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C208-8988-46D0-8AD4-E22089800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365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4D5F-928E-4092-92C9-B04564CE7575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C208-8988-46D0-8AD4-E22089800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041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4D5F-928E-4092-92C9-B04564CE7575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C208-8988-46D0-8AD4-E22089800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4D5F-928E-4092-92C9-B04564CE7575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C208-8988-46D0-8AD4-E22089800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031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4D5F-928E-4092-92C9-B04564CE7575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C208-8988-46D0-8AD4-E22089800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265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4D5F-928E-4092-92C9-B04564CE7575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C208-8988-46D0-8AD4-E22089800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402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4D5F-928E-4092-92C9-B04564CE7575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C208-8988-46D0-8AD4-E22089800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711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4D5F-928E-4092-92C9-B04564CE7575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C208-8988-46D0-8AD4-E22089800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528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4D5F-928E-4092-92C9-B04564CE7575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C208-8988-46D0-8AD4-E22089800F1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3492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4D5F-928E-4092-92C9-B04564CE7575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C208-8988-46D0-8AD4-E22089800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423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4D5F-928E-4092-92C9-B04564CE7575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C208-8988-46D0-8AD4-E22089800F1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24700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4D5F-928E-4092-92C9-B04564CE7575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C208-8988-46D0-8AD4-E22089800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809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4D5F-928E-4092-92C9-B04564CE7575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C208-8988-46D0-8AD4-E22089800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388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4D5F-928E-4092-92C9-B04564CE7575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C208-8988-46D0-8AD4-E22089800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74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4D5F-928E-4092-92C9-B04564CE7575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C208-8988-46D0-8AD4-E22089800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476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14D5F-928E-4092-92C9-B04564CE7575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E9EC208-8988-46D0-8AD4-E22089800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40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964C1-36C4-BFFC-7808-A48F687D3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670" y="1269701"/>
            <a:ext cx="8825658" cy="3329581"/>
          </a:xfrm>
        </p:spPr>
        <p:txBody>
          <a:bodyPr/>
          <a:lstStyle/>
          <a:p>
            <a:pPr algn="ctr"/>
            <a:r>
              <a:rPr lang="en-US" sz="11500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04. </a:t>
            </a:r>
            <a:r>
              <a:rPr lang="en-US" sz="11500" u="sng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Stack </a:t>
            </a:r>
            <a:endParaRPr lang="en-IN" sz="11500" u="sng" dirty="0">
              <a:solidFill>
                <a:schemeClr val="accent1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3403D-F9C2-A68A-452A-5F09878B90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107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137DE-BF63-C884-2475-BEBED037E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8825659" cy="838200"/>
          </a:xfrm>
        </p:spPr>
        <p:txBody>
          <a:bodyPr/>
          <a:lstStyle/>
          <a:p>
            <a:r>
              <a:rPr lang="en-US" dirty="0"/>
              <a:t>4.1] </a:t>
            </a:r>
            <a:r>
              <a:rPr lang="en-US" u="sng" dirty="0"/>
              <a:t>STACK</a:t>
            </a:r>
            <a:r>
              <a:rPr lang="en-US" dirty="0"/>
              <a:t> : -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83EE7-1F2B-8123-366B-78237F799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148" y="838201"/>
            <a:ext cx="9655278" cy="4638367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b="1" dirty="0"/>
              <a:t>🔹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4.1 </a:t>
            </a:r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Definition &amp; Examples of Stack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: -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400" b="1" dirty="0"/>
              <a:t>Definition:</a:t>
            </a:r>
          </a:p>
          <a:p>
            <a:r>
              <a:rPr lang="en-US" sz="2400" dirty="0"/>
              <a:t>A </a:t>
            </a:r>
            <a:r>
              <a:rPr lang="en-US" sz="2400" b="1" dirty="0"/>
              <a:t>Stack</a:t>
            </a:r>
            <a:r>
              <a:rPr lang="en-US" sz="2400" dirty="0"/>
              <a:t> is a </a:t>
            </a:r>
            <a:r>
              <a:rPr lang="en-US" sz="2400" b="1" dirty="0"/>
              <a:t>linear data structure</a:t>
            </a:r>
            <a:r>
              <a:rPr lang="en-US" sz="2400" dirty="0"/>
              <a:t> that follows the </a:t>
            </a:r>
            <a:r>
              <a:rPr lang="en-US" sz="2400" b="1" dirty="0"/>
              <a:t>LIFO (Last In, First Out)</a:t>
            </a:r>
            <a:r>
              <a:rPr lang="en-US" sz="2400" dirty="0"/>
              <a:t> principle.</a:t>
            </a:r>
            <a:br>
              <a:rPr lang="en-US" sz="2400" dirty="0"/>
            </a:br>
            <a:r>
              <a:rPr lang="en-US" sz="2400" dirty="0"/>
              <a:t>➡️ The </a:t>
            </a:r>
            <a:r>
              <a:rPr lang="en-US" sz="2400" b="1" dirty="0"/>
              <a:t>last</a:t>
            </a:r>
            <a:r>
              <a:rPr lang="en-US" sz="2400" dirty="0"/>
              <a:t> element inserted into the stack is the </a:t>
            </a:r>
            <a:r>
              <a:rPr lang="en-US" sz="2400" b="1" dirty="0"/>
              <a:t>first</a:t>
            </a:r>
            <a:r>
              <a:rPr lang="en-US" sz="2400" dirty="0"/>
              <a:t> one to be removed.</a:t>
            </a:r>
          </a:p>
          <a:p>
            <a:r>
              <a:rPr lang="en-US" sz="2400" b="1" dirty="0"/>
              <a:t>Real-Life Examples:</a:t>
            </a:r>
          </a:p>
          <a:p>
            <a:r>
              <a:rPr lang="en-US" sz="2400" dirty="0"/>
              <a:t>A stack of plates — you remove the top plate first.</a:t>
            </a:r>
          </a:p>
          <a:p>
            <a:r>
              <a:rPr lang="en-US" sz="2400" dirty="0"/>
              <a:t>Undo/Redo feature in text editors.</a:t>
            </a:r>
          </a:p>
          <a:p>
            <a:r>
              <a:rPr lang="en-US" sz="2400" dirty="0"/>
              <a:t>Browser history (Back button)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3007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E0ACB-3EA8-BE43-6ADF-0E7D2B37C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894142" cy="1268361"/>
          </a:xfrm>
        </p:spPr>
        <p:txBody>
          <a:bodyPr>
            <a:normAutofit fontScale="90000"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/>
              <a:t>Stack as an abstract data types (ADT)</a:t>
            </a:r>
            <a:r>
              <a:rPr lang="en-US" dirty="0"/>
              <a:t> : -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E4E43-040E-D9BF-91CC-EF8BCD817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1560" y="845574"/>
            <a:ext cx="9395059" cy="4670324"/>
          </a:xfrm>
        </p:spPr>
        <p:txBody>
          <a:bodyPr>
            <a:normAutofit/>
          </a:bodyPr>
          <a:lstStyle/>
          <a:p>
            <a:r>
              <a:rPr lang="en-US" sz="2800" dirty="0"/>
              <a:t>A stack can be defined by the following operations: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push(x)</a:t>
            </a:r>
            <a:r>
              <a:rPr lang="en-US" sz="2800" dirty="0"/>
              <a:t> – Insert element x into the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pop()</a:t>
            </a:r>
            <a:r>
              <a:rPr lang="en-US" sz="2800" dirty="0"/>
              <a:t> – Remove and return the top element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peek() / top()</a:t>
            </a:r>
            <a:r>
              <a:rPr lang="en-US" sz="2800" dirty="0"/>
              <a:t> – Return the top element without removing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err="1"/>
              <a:t>isEmpty</a:t>
            </a:r>
            <a:r>
              <a:rPr lang="en-US" sz="2800" b="1" dirty="0"/>
              <a:t>()</a:t>
            </a:r>
            <a:r>
              <a:rPr lang="en-US" sz="2800" dirty="0"/>
              <a:t> – Check if stack is empty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err="1"/>
              <a:t>isFull</a:t>
            </a:r>
            <a:r>
              <a:rPr lang="en-US" sz="2800" b="1" dirty="0"/>
              <a:t>()</a:t>
            </a:r>
            <a:r>
              <a:rPr lang="en-US" sz="2800" dirty="0"/>
              <a:t> – Check if stack is full (for array implementation)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98425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AC6A-7FD8-B1FE-F073-090385812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70" y="-12290"/>
            <a:ext cx="8825659" cy="1074174"/>
          </a:xfrm>
        </p:spPr>
        <p:txBody>
          <a:bodyPr/>
          <a:lstStyle/>
          <a:p>
            <a:r>
              <a:rPr lang="en-US" dirty="0"/>
              <a:t>4.2] Operations on stack : -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BDE4D-155F-D93F-1EBD-B4EC1A3EE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070" y="934064"/>
            <a:ext cx="10978054" cy="5692877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Operations on Stack</a:t>
            </a:r>
          </a:p>
          <a:p>
            <a:r>
              <a:rPr lang="en-US" sz="2400" dirty="0"/>
              <a:t>A </a:t>
            </a:r>
            <a:r>
              <a:rPr lang="en-US" sz="2400" b="1" dirty="0"/>
              <a:t>stack</a:t>
            </a:r>
            <a:r>
              <a:rPr lang="en-US" sz="2400" dirty="0"/>
              <a:t> is a </a:t>
            </a:r>
            <a:r>
              <a:rPr lang="en-US" sz="2400" b="1" dirty="0"/>
              <a:t>linear data structure</a:t>
            </a:r>
            <a:r>
              <a:rPr lang="en-US" sz="2400" dirty="0"/>
              <a:t> that works on the </a:t>
            </a:r>
            <a:r>
              <a:rPr lang="en-US" sz="2400" b="1" dirty="0"/>
              <a:t>LIFO (Last In, First Out)</a:t>
            </a:r>
            <a:r>
              <a:rPr lang="en-US" sz="2400" dirty="0"/>
              <a:t> principle.</a:t>
            </a:r>
            <a:br>
              <a:rPr lang="en-US" sz="2400" dirty="0"/>
            </a:br>
            <a:r>
              <a:rPr lang="en-US" sz="2400" dirty="0"/>
              <a:t>The main operations that can be performed on a stack are:</a:t>
            </a:r>
            <a:br>
              <a:rPr lang="en-US" sz="2400" dirty="0"/>
            </a:br>
            <a:r>
              <a:rPr lang="en-US" sz="2400" dirty="0"/>
              <a:t>👉 </a:t>
            </a:r>
            <a:r>
              <a:rPr lang="en-US" sz="2400" b="1" dirty="0"/>
              <a:t>PUSH</a:t>
            </a:r>
            <a:r>
              <a:rPr lang="en-US" sz="2400" dirty="0"/>
              <a:t>, </a:t>
            </a:r>
            <a:r>
              <a:rPr lang="en-US" sz="2400" b="1" dirty="0"/>
              <a:t>POP</a:t>
            </a:r>
            <a:r>
              <a:rPr lang="en-US" sz="2400" dirty="0"/>
              <a:t>, and </a:t>
            </a:r>
            <a:r>
              <a:rPr lang="en-US" sz="2400" b="1" dirty="0"/>
              <a:t>TOP/PEEK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🔹 1. PUSH Operation</a:t>
            </a:r>
          </a:p>
          <a:p>
            <a:r>
              <a:rPr lang="en-US" sz="2400" b="1" dirty="0"/>
              <a:t>Definition: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PUSH</a:t>
            </a:r>
            <a:r>
              <a:rPr lang="en-US" sz="2400" dirty="0"/>
              <a:t> operation is used to </a:t>
            </a:r>
            <a:r>
              <a:rPr lang="en-US" sz="2400" b="1" dirty="0"/>
              <a:t>insert (add)</a:t>
            </a:r>
            <a:r>
              <a:rPr lang="en-US" sz="2400" dirty="0"/>
              <a:t> a new element into the </a:t>
            </a:r>
            <a:r>
              <a:rPr lang="en-US" sz="2400" b="1" dirty="0"/>
              <a:t>top</a:t>
            </a:r>
            <a:r>
              <a:rPr lang="en-US" sz="2400" dirty="0"/>
              <a:t> of the stack.</a:t>
            </a:r>
          </a:p>
          <a:p>
            <a:r>
              <a:rPr lang="en-US" sz="2400" b="1" dirty="0"/>
              <a:t>2. POP Operation</a:t>
            </a:r>
          </a:p>
          <a:p>
            <a:r>
              <a:rPr lang="en-US" sz="2400" b="1" dirty="0"/>
              <a:t>Definition: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POP</a:t>
            </a:r>
            <a:r>
              <a:rPr lang="en-US" sz="2400" dirty="0"/>
              <a:t> operation is used to </a:t>
            </a:r>
            <a:r>
              <a:rPr lang="en-US" sz="2400" b="1" dirty="0"/>
              <a:t>remove</a:t>
            </a:r>
            <a:r>
              <a:rPr lang="en-US" sz="2400" dirty="0"/>
              <a:t> the </a:t>
            </a:r>
            <a:r>
              <a:rPr lang="en-US" sz="2400" b="1" dirty="0"/>
              <a:t>topmost</a:t>
            </a:r>
            <a:r>
              <a:rPr lang="en-US" sz="2400" dirty="0"/>
              <a:t> element from the stack.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39471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5789-264E-090A-E158-52E566232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825659" cy="943897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en-US" u="sng" dirty="0"/>
              <a:t>PUSH Operation</a:t>
            </a:r>
            <a:r>
              <a:rPr lang="en-US" dirty="0"/>
              <a:t> : -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3EAA1-E112-E9B9-607C-2CEBA7EFA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6812" y="1012723"/>
            <a:ext cx="10520516" cy="602225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Definition:</a:t>
            </a:r>
          </a:p>
          <a:p>
            <a:r>
              <a:rPr lang="en-US" dirty="0"/>
              <a:t>The </a:t>
            </a:r>
            <a:r>
              <a:rPr lang="en-US" b="1" dirty="0"/>
              <a:t>PUSH</a:t>
            </a:r>
            <a:r>
              <a:rPr lang="en-US" dirty="0"/>
              <a:t> operation is used to </a:t>
            </a:r>
            <a:r>
              <a:rPr lang="en-US" b="1" dirty="0"/>
              <a:t>insert (add)</a:t>
            </a:r>
            <a:r>
              <a:rPr lang="en-US" dirty="0"/>
              <a:t> a new element into the </a:t>
            </a:r>
            <a:r>
              <a:rPr lang="en-US" b="1" dirty="0"/>
              <a:t>top</a:t>
            </a:r>
            <a:r>
              <a:rPr lang="en-US" dirty="0"/>
              <a:t> of the stack.</a:t>
            </a:r>
          </a:p>
          <a:p>
            <a:r>
              <a:rPr lang="en-US" b="1" dirty="0"/>
              <a:t>Algorithm:</a:t>
            </a:r>
          </a:p>
          <a:p>
            <a:r>
              <a:rPr lang="en-US" dirty="0"/>
              <a:t>1. Check if the stack is full (top == size - 1)</a:t>
            </a:r>
          </a:p>
          <a:p>
            <a:r>
              <a:rPr lang="en-US" dirty="0"/>
              <a:t>2. If full → Stack Overflow</a:t>
            </a:r>
          </a:p>
          <a:p>
            <a:r>
              <a:rPr lang="en-US" dirty="0"/>
              <a:t>3. Else → Increment top</a:t>
            </a:r>
          </a:p>
          <a:p>
            <a:r>
              <a:rPr lang="en-US" dirty="0"/>
              <a:t>4. Insert the new element at stack[top]</a:t>
            </a:r>
          </a:p>
          <a:p>
            <a:r>
              <a:rPr lang="en-US" b="1" dirty="0"/>
              <a:t>C Example:</a:t>
            </a:r>
          </a:p>
          <a:p>
            <a:r>
              <a:rPr lang="en-US" dirty="0"/>
              <a:t>void push(int x) {</a:t>
            </a:r>
          </a:p>
          <a:p>
            <a:r>
              <a:rPr lang="en-US" dirty="0"/>
              <a:t>    if (top == SIZE - 1)</a:t>
            </a:r>
          </a:p>
          <a:p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("Stack Overflow\n");</a:t>
            </a:r>
          </a:p>
          <a:p>
            <a:r>
              <a:rPr lang="en-US" dirty="0"/>
              <a:t>    else {</a:t>
            </a:r>
          </a:p>
          <a:p>
            <a:r>
              <a:rPr lang="en-US" dirty="0"/>
              <a:t>        top++;</a:t>
            </a:r>
          </a:p>
          <a:p>
            <a:r>
              <a:rPr lang="en-US" dirty="0"/>
              <a:t>        stack[top] = x;</a:t>
            </a:r>
          </a:p>
          <a:p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("%d pushed to stack\n", x);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8177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491AA-7FA4-59AA-D2AE-14D0F3F9E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825659" cy="1130710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u="sng" dirty="0"/>
              <a:t>POP Operation</a:t>
            </a:r>
            <a:r>
              <a:rPr lang="en-US" dirty="0"/>
              <a:t> : -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E32B1-7B1A-BA9F-44DA-D06D4BA2D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6477" y="806245"/>
            <a:ext cx="10264878" cy="605175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Definition:</a:t>
            </a:r>
          </a:p>
          <a:p>
            <a:r>
              <a:rPr lang="en-US" dirty="0"/>
              <a:t>The </a:t>
            </a:r>
            <a:r>
              <a:rPr lang="en-US" b="1" dirty="0"/>
              <a:t>POP</a:t>
            </a:r>
            <a:r>
              <a:rPr lang="en-US" dirty="0"/>
              <a:t> operation is used to </a:t>
            </a:r>
            <a:r>
              <a:rPr lang="en-US" b="1" dirty="0"/>
              <a:t>remove</a:t>
            </a:r>
            <a:r>
              <a:rPr lang="en-US" dirty="0"/>
              <a:t> the </a:t>
            </a:r>
            <a:r>
              <a:rPr lang="en-US" b="1" dirty="0"/>
              <a:t>topmost</a:t>
            </a:r>
            <a:r>
              <a:rPr lang="en-US" dirty="0"/>
              <a:t> element from the stack.</a:t>
            </a:r>
          </a:p>
          <a:p>
            <a:r>
              <a:rPr lang="en-US" b="1" dirty="0"/>
              <a:t>Algorithm:</a:t>
            </a:r>
          </a:p>
          <a:p>
            <a:r>
              <a:rPr lang="en-US" dirty="0"/>
              <a:t>1. Check if the stack is empty (top == -1)</a:t>
            </a:r>
          </a:p>
          <a:p>
            <a:r>
              <a:rPr lang="en-US" dirty="0"/>
              <a:t>2. If empty → Stack Underflow</a:t>
            </a:r>
          </a:p>
          <a:p>
            <a:r>
              <a:rPr lang="en-US" dirty="0"/>
              <a:t>3. Else → Print the top element</a:t>
            </a:r>
          </a:p>
          <a:p>
            <a:r>
              <a:rPr lang="en-US" dirty="0"/>
              <a:t>4. Decrement top by 1</a:t>
            </a:r>
          </a:p>
          <a:p>
            <a:r>
              <a:rPr lang="en-US" b="1" dirty="0"/>
              <a:t>C Example:</a:t>
            </a:r>
          </a:p>
          <a:p>
            <a:r>
              <a:rPr lang="en-US" dirty="0"/>
              <a:t>void pop() {</a:t>
            </a:r>
          </a:p>
          <a:p>
            <a:r>
              <a:rPr lang="en-US" dirty="0"/>
              <a:t>    if (top == -1)</a:t>
            </a:r>
          </a:p>
          <a:p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("Stack Underflow\n");</a:t>
            </a:r>
          </a:p>
          <a:p>
            <a:r>
              <a:rPr lang="en-US" dirty="0"/>
              <a:t>    else {</a:t>
            </a:r>
          </a:p>
          <a:p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("%d popped from stack\n", stack[top]);</a:t>
            </a:r>
          </a:p>
          <a:p>
            <a:r>
              <a:rPr lang="en-US" dirty="0"/>
              <a:t>        top--;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35230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2F003-2BCC-E675-9183-8339F093E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825659" cy="953729"/>
          </a:xfrm>
        </p:spPr>
        <p:txBody>
          <a:bodyPr/>
          <a:lstStyle/>
          <a:p>
            <a:r>
              <a:rPr lang="en-US" dirty="0"/>
              <a:t>3. </a:t>
            </a:r>
            <a:r>
              <a:rPr lang="en-US" u="sng" dirty="0"/>
              <a:t>TOP/PEED Operation</a:t>
            </a:r>
            <a:r>
              <a:rPr lang="en-US" dirty="0"/>
              <a:t> : -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BC8EC-22AE-D2BC-BF18-E4C8DD245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484" y="816078"/>
            <a:ext cx="10638504" cy="6041922"/>
          </a:xfrm>
        </p:spPr>
        <p:txBody>
          <a:bodyPr>
            <a:normAutofit/>
          </a:bodyPr>
          <a:lstStyle/>
          <a:p>
            <a:r>
              <a:rPr lang="en-US" sz="2000" b="1" dirty="0"/>
              <a:t>Definition:</a:t>
            </a:r>
          </a:p>
          <a:p>
            <a:r>
              <a:rPr lang="en-US" sz="2000" dirty="0"/>
              <a:t>The </a:t>
            </a:r>
            <a:r>
              <a:rPr lang="en-US" sz="2000" b="1" dirty="0"/>
              <a:t>TOP</a:t>
            </a:r>
            <a:r>
              <a:rPr lang="en-US" sz="2000" dirty="0"/>
              <a:t> (or </a:t>
            </a:r>
            <a:r>
              <a:rPr lang="en-US" sz="2000" b="1" dirty="0"/>
              <a:t>PEEK</a:t>
            </a:r>
            <a:r>
              <a:rPr lang="en-US" sz="2000" dirty="0"/>
              <a:t>) operation is used to </a:t>
            </a:r>
            <a:r>
              <a:rPr lang="en-US" sz="2000" b="1" dirty="0"/>
              <a:t>view</a:t>
            </a:r>
            <a:r>
              <a:rPr lang="en-US" sz="2000" dirty="0"/>
              <a:t> the </a:t>
            </a:r>
            <a:r>
              <a:rPr lang="en-US" sz="2000" b="1" dirty="0"/>
              <a:t>top element</a:t>
            </a:r>
            <a:r>
              <a:rPr lang="en-US" sz="2000" dirty="0"/>
              <a:t> of the stack </a:t>
            </a:r>
            <a:r>
              <a:rPr lang="en-US" sz="2000" b="1" dirty="0"/>
              <a:t>without removing</a:t>
            </a:r>
            <a:r>
              <a:rPr lang="en-US" sz="2000" dirty="0"/>
              <a:t> it.</a:t>
            </a:r>
          </a:p>
          <a:p>
            <a:r>
              <a:rPr lang="en-US" sz="2000" b="1" dirty="0"/>
              <a:t>Algorithm:</a:t>
            </a:r>
          </a:p>
          <a:p>
            <a:r>
              <a:rPr lang="en-US" sz="2000" dirty="0"/>
              <a:t>1. If stack is empty → Underflow</a:t>
            </a:r>
          </a:p>
          <a:p>
            <a:r>
              <a:rPr lang="en-US" sz="2000" dirty="0"/>
              <a:t>2. Else → Return stack[top]</a:t>
            </a:r>
          </a:p>
          <a:p>
            <a:r>
              <a:rPr lang="en-US" sz="2000" b="1" dirty="0"/>
              <a:t>C Example:</a:t>
            </a:r>
          </a:p>
          <a:p>
            <a:r>
              <a:rPr lang="en-US" sz="2000" dirty="0"/>
              <a:t>void peek() {</a:t>
            </a:r>
          </a:p>
          <a:p>
            <a:r>
              <a:rPr lang="en-US" sz="2000" dirty="0"/>
              <a:t>    if (top == -1)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printf</a:t>
            </a:r>
            <a:r>
              <a:rPr lang="en-US" sz="2000" dirty="0"/>
              <a:t>("Stack is empty\n");</a:t>
            </a:r>
          </a:p>
          <a:p>
            <a:r>
              <a:rPr lang="en-US" sz="2000" dirty="0"/>
              <a:t>    else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printf</a:t>
            </a:r>
            <a:r>
              <a:rPr lang="en-US" sz="2000" dirty="0"/>
              <a:t>("Top element = %d\n", stack[top]);</a:t>
            </a:r>
          </a:p>
          <a:p>
            <a:r>
              <a:rPr lang="en-US" sz="2000" dirty="0"/>
              <a:t>}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17594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308D5-72D4-28D9-88FC-53E7CF1CD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825659" cy="1032387"/>
          </a:xfrm>
        </p:spPr>
        <p:txBody>
          <a:bodyPr/>
          <a:lstStyle/>
          <a:p>
            <a:r>
              <a:rPr lang="en-US" dirty="0"/>
              <a:t>4.3] </a:t>
            </a:r>
            <a:r>
              <a:rPr lang="en-US" u="sng" dirty="0"/>
              <a:t>Stack Overflow</a:t>
            </a:r>
            <a:r>
              <a:rPr lang="en-US" dirty="0"/>
              <a:t> : -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D7117-39AD-268E-5A80-97EBF4A38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7316" y="806245"/>
            <a:ext cx="9763432" cy="6051755"/>
          </a:xfrm>
        </p:spPr>
        <p:txBody>
          <a:bodyPr>
            <a:normAutofit/>
          </a:bodyPr>
          <a:lstStyle/>
          <a:p>
            <a:r>
              <a:rPr lang="en-US" sz="2000" b="1" dirty="0"/>
              <a:t>1. Stack Overflow</a:t>
            </a:r>
          </a:p>
          <a:p>
            <a:r>
              <a:rPr lang="en-US" sz="2000" b="1" dirty="0"/>
              <a:t>Definition:</a:t>
            </a:r>
          </a:p>
          <a:p>
            <a:r>
              <a:rPr lang="en-US" sz="2000" dirty="0"/>
              <a:t>A </a:t>
            </a:r>
            <a:r>
              <a:rPr lang="en-US" sz="2000" b="1" dirty="0"/>
              <a:t>Stack Overflow</a:t>
            </a:r>
            <a:r>
              <a:rPr lang="en-US" sz="2000" dirty="0"/>
              <a:t> occurs when we try to </a:t>
            </a:r>
            <a:r>
              <a:rPr lang="en-US" sz="2000" b="1" dirty="0"/>
              <a:t>push (insert)</a:t>
            </a:r>
            <a:r>
              <a:rPr lang="en-US" sz="2000" dirty="0"/>
              <a:t> an element </a:t>
            </a:r>
            <a:r>
              <a:rPr lang="en-US" sz="2000" b="1" dirty="0"/>
              <a:t>into a full stack</a:t>
            </a:r>
            <a:r>
              <a:rPr lang="en-US" sz="2000" dirty="0"/>
              <a:t>.</a:t>
            </a:r>
          </a:p>
          <a:p>
            <a:r>
              <a:rPr lang="en-US" sz="2000" dirty="0"/>
              <a:t>In other words, the program tries to store data </a:t>
            </a:r>
            <a:r>
              <a:rPr lang="en-US" sz="2000" b="1" dirty="0"/>
              <a:t>beyond the stack’s maximum capacity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Condition:</a:t>
            </a:r>
          </a:p>
          <a:p>
            <a:r>
              <a:rPr lang="en-US" sz="2000" dirty="0"/>
              <a:t>if (top == SIZE - 1)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printf</a:t>
            </a:r>
            <a:r>
              <a:rPr lang="en-US" sz="2000" dirty="0"/>
              <a:t>("Stack Overflow");</a:t>
            </a:r>
          </a:p>
          <a:p>
            <a:r>
              <a:rPr lang="en-US" sz="2000" dirty="0"/>
              <a:t>Here:</a:t>
            </a:r>
          </a:p>
          <a:p>
            <a:r>
              <a:rPr lang="en-US" sz="2000" dirty="0"/>
              <a:t>SIZE → maximum stack capacity</a:t>
            </a:r>
          </a:p>
          <a:p>
            <a:r>
              <a:rPr lang="en-US" sz="2000" dirty="0"/>
              <a:t>top → index of the last element in the stack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66783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651E-0C8A-BD33-24EF-1C3B07F58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7819"/>
            <a:ext cx="8825659" cy="884903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/>
              <a:t>Example</a:t>
            </a:r>
            <a:r>
              <a:rPr lang="en-US" dirty="0"/>
              <a:t> : -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AB803-C3DB-440B-83F4-E060F186E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484" y="757084"/>
            <a:ext cx="9694606" cy="6100916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/>
              <a:t>#define SIZE 3</a:t>
            </a:r>
          </a:p>
          <a:p>
            <a:r>
              <a:rPr lang="en-IN" dirty="0"/>
              <a:t>int stack[SIZE];</a:t>
            </a:r>
          </a:p>
          <a:p>
            <a:r>
              <a:rPr lang="en-IN" dirty="0"/>
              <a:t>int top = -1;</a:t>
            </a:r>
          </a:p>
          <a:p>
            <a:r>
              <a:rPr lang="en-IN" dirty="0"/>
              <a:t>void push(int x) {</a:t>
            </a:r>
          </a:p>
          <a:p>
            <a:r>
              <a:rPr lang="en-IN" dirty="0"/>
              <a:t>    if (top == SIZE - 1)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("Stack Overflow\n");</a:t>
            </a:r>
          </a:p>
          <a:p>
            <a:r>
              <a:rPr lang="en-IN" dirty="0"/>
              <a:t>    else {</a:t>
            </a:r>
          </a:p>
          <a:p>
            <a:r>
              <a:rPr lang="en-IN" dirty="0"/>
              <a:t>        top++;</a:t>
            </a:r>
          </a:p>
          <a:p>
            <a:r>
              <a:rPr lang="en-IN" dirty="0"/>
              <a:t>        stack[top] = x;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("%d pushed\n", x);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int main() {</a:t>
            </a:r>
          </a:p>
          <a:p>
            <a:r>
              <a:rPr lang="en-IN" dirty="0"/>
              <a:t>    push(10);</a:t>
            </a:r>
          </a:p>
          <a:p>
            <a:r>
              <a:rPr lang="en-IN" dirty="0"/>
              <a:t>    push(20);</a:t>
            </a:r>
          </a:p>
          <a:p>
            <a:r>
              <a:rPr lang="en-IN" dirty="0"/>
              <a:t>    push(30);</a:t>
            </a:r>
          </a:p>
          <a:p>
            <a:r>
              <a:rPr lang="en-IN" dirty="0"/>
              <a:t>    push(40); // overflow occurs</a:t>
            </a:r>
          </a:p>
          <a:p>
            <a:r>
              <a:rPr lang="en-IN" dirty="0"/>
              <a:t>    return 0;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✅ </a:t>
            </a:r>
            <a:r>
              <a:rPr lang="en-IN" sz="4200" b="1" dirty="0"/>
              <a:t>Output:</a:t>
            </a:r>
            <a:endParaRPr lang="en-IN" dirty="0"/>
          </a:p>
          <a:p>
            <a:r>
              <a:rPr lang="en-IN" dirty="0"/>
              <a:t>10 pushed</a:t>
            </a:r>
          </a:p>
          <a:p>
            <a:r>
              <a:rPr lang="en-IN" dirty="0"/>
              <a:t>20 pushed</a:t>
            </a:r>
          </a:p>
          <a:p>
            <a:r>
              <a:rPr lang="en-IN" dirty="0"/>
              <a:t>30 pushed</a:t>
            </a:r>
          </a:p>
          <a:p>
            <a:r>
              <a:rPr lang="en-IN" dirty="0"/>
              <a:t>Stack Overflow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4392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52E3-4D97-F0DB-B4D8-D5861466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23" y="0"/>
            <a:ext cx="8825659" cy="1160206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u="sng" dirty="0"/>
              <a:t>Stack Underflow</a:t>
            </a:r>
            <a:r>
              <a:rPr lang="en-US" dirty="0"/>
              <a:t> : -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12E19-9533-7155-2E54-4D20CC5E5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6310" y="884903"/>
            <a:ext cx="10009238" cy="6056671"/>
          </a:xfrm>
        </p:spPr>
        <p:txBody>
          <a:bodyPr>
            <a:normAutofit/>
          </a:bodyPr>
          <a:lstStyle/>
          <a:p>
            <a:r>
              <a:rPr lang="en-US" sz="2400" b="1" dirty="0"/>
              <a:t>2. Stack Underflow</a:t>
            </a:r>
          </a:p>
          <a:p>
            <a:r>
              <a:rPr lang="en-US" sz="2400" b="1" dirty="0"/>
              <a:t>Definition:</a:t>
            </a:r>
          </a:p>
          <a:p>
            <a:r>
              <a:rPr lang="en-US" sz="2400" dirty="0"/>
              <a:t>A </a:t>
            </a:r>
            <a:r>
              <a:rPr lang="en-US" sz="2400" b="1" dirty="0"/>
              <a:t>Stack Underflow</a:t>
            </a:r>
            <a:r>
              <a:rPr lang="en-US" sz="2400" dirty="0"/>
              <a:t> occurs when we try to </a:t>
            </a:r>
            <a:r>
              <a:rPr lang="en-US" sz="2400" b="1" dirty="0"/>
              <a:t>pop (remove)</a:t>
            </a:r>
            <a:r>
              <a:rPr lang="en-US" sz="2400" dirty="0"/>
              <a:t> an element </a:t>
            </a:r>
            <a:r>
              <a:rPr lang="en-US" sz="2400" b="1" dirty="0"/>
              <a:t>from an empty stack</a:t>
            </a:r>
            <a:r>
              <a:rPr lang="en-US" sz="2400" dirty="0"/>
              <a:t>.</a:t>
            </a:r>
          </a:p>
          <a:p>
            <a:r>
              <a:rPr lang="en-US" sz="2400" dirty="0"/>
              <a:t>It means there are </a:t>
            </a:r>
            <a:r>
              <a:rPr lang="en-US" sz="2400" b="1" dirty="0"/>
              <a:t>no elements</a:t>
            </a:r>
            <a:r>
              <a:rPr lang="en-US" sz="2400" dirty="0"/>
              <a:t> to remove.</a:t>
            </a:r>
          </a:p>
          <a:p>
            <a:endParaRPr lang="en-US" sz="2400" dirty="0"/>
          </a:p>
          <a:p>
            <a:r>
              <a:rPr lang="en-US" sz="2400" b="1" dirty="0"/>
              <a:t>Condition:</a:t>
            </a:r>
          </a:p>
          <a:p>
            <a:r>
              <a:rPr lang="en-US" sz="2400" dirty="0"/>
              <a:t>if (top == -1)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printf</a:t>
            </a:r>
            <a:r>
              <a:rPr lang="en-US" sz="2400" dirty="0"/>
              <a:t>("Stack Underflow");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67338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677C9-727F-F394-05E2-530AF8306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825659" cy="875071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/>
              <a:t>Example</a:t>
            </a:r>
            <a:r>
              <a:rPr lang="en-US" dirty="0"/>
              <a:t> : -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E846B-8399-C9C5-6FFC-2F3537CA1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6477" y="968477"/>
            <a:ext cx="9753601" cy="5791200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/>
              <a:t>#define SIZE 3</a:t>
            </a:r>
          </a:p>
          <a:p>
            <a:r>
              <a:rPr lang="en-IN" dirty="0"/>
              <a:t>int stack[SIZE];</a:t>
            </a:r>
          </a:p>
          <a:p>
            <a:r>
              <a:rPr lang="en-IN" dirty="0"/>
              <a:t>int top = -1;</a:t>
            </a:r>
          </a:p>
          <a:p>
            <a:r>
              <a:rPr lang="en-IN" dirty="0"/>
              <a:t>void pop() {</a:t>
            </a:r>
          </a:p>
          <a:p>
            <a:r>
              <a:rPr lang="en-IN" dirty="0"/>
              <a:t>    if (top == -1)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("Stack Underflow\n");</a:t>
            </a:r>
          </a:p>
          <a:p>
            <a:r>
              <a:rPr lang="en-IN" dirty="0"/>
              <a:t>    else {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("%d popped\n", stack[top]);</a:t>
            </a:r>
          </a:p>
          <a:p>
            <a:r>
              <a:rPr lang="en-IN" dirty="0"/>
              <a:t>        top--;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int main() {</a:t>
            </a:r>
          </a:p>
          <a:p>
            <a:r>
              <a:rPr lang="en-IN" dirty="0"/>
              <a:t>    pop(); // underflow occurs</a:t>
            </a:r>
          </a:p>
          <a:p>
            <a:r>
              <a:rPr lang="en-IN" dirty="0"/>
              <a:t>    return 0;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✅ </a:t>
            </a:r>
            <a:r>
              <a:rPr lang="en-IN" sz="3200" b="1" dirty="0"/>
              <a:t>Output:</a:t>
            </a:r>
            <a:endParaRPr lang="en-IN" dirty="0"/>
          </a:p>
          <a:p>
            <a:r>
              <a:rPr lang="en-IN" dirty="0"/>
              <a:t>Stack Underflow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1160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32A9C-2777-3288-6B97-7C6CC0793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71" y="0"/>
            <a:ext cx="8825659" cy="943897"/>
          </a:xfrm>
        </p:spPr>
        <p:txBody>
          <a:bodyPr/>
          <a:lstStyle/>
          <a:p>
            <a:r>
              <a:rPr lang="en-IN" dirty="0"/>
              <a:t>4.4] </a:t>
            </a:r>
            <a:r>
              <a:rPr lang="en-IN" u="sng" dirty="0"/>
              <a:t>Applications of Stack</a:t>
            </a:r>
            <a:r>
              <a:rPr lang="en-IN" dirty="0"/>
              <a:t> : 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E4D07-9AA2-60A2-07E8-D195FE8FE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071" y="835741"/>
            <a:ext cx="8825659" cy="3982065"/>
          </a:xfrm>
        </p:spPr>
        <p:txBody>
          <a:bodyPr>
            <a:normAutofit/>
          </a:bodyPr>
          <a:lstStyle/>
          <a:p>
            <a:r>
              <a:rPr lang="en-US" sz="2400" dirty="0"/>
              <a:t>1. Reversing Data (Strings, Lists, Numbers)</a:t>
            </a:r>
          </a:p>
          <a:p>
            <a:r>
              <a:rPr lang="en-IN" sz="2400" dirty="0"/>
              <a:t>2. Checking Balanced Parentheses</a:t>
            </a:r>
          </a:p>
          <a:p>
            <a:r>
              <a:rPr lang="en-IN" sz="2400" dirty="0"/>
              <a:t>3. Expression Evaluation (Postfix / Prefix)</a:t>
            </a:r>
          </a:p>
          <a:p>
            <a:r>
              <a:rPr lang="en-IN" sz="2400" dirty="0"/>
              <a:t>4. Function Calls and Recursion</a:t>
            </a:r>
          </a:p>
          <a:p>
            <a:r>
              <a:rPr lang="en-IN" sz="2400" dirty="0"/>
              <a:t>5. Undo/Redo Feature</a:t>
            </a:r>
          </a:p>
          <a:p>
            <a:r>
              <a:rPr lang="en-IN" sz="2400" dirty="0"/>
              <a:t>6. Browser History / Navigation</a:t>
            </a:r>
          </a:p>
          <a:p>
            <a:r>
              <a:rPr lang="en-IN" sz="2400" dirty="0"/>
              <a:t>7. Memory Management</a:t>
            </a:r>
          </a:p>
          <a:p>
            <a:r>
              <a:rPr lang="en-US" sz="2400" dirty="0"/>
              <a:t>8. Depth First Search (DFS) Algorithm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743152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34B09-0FE5-4764-B4C1-B0B9A6081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25" y="0"/>
            <a:ext cx="8825659" cy="1071716"/>
          </a:xfrm>
        </p:spPr>
        <p:txBody>
          <a:bodyPr/>
          <a:lstStyle/>
          <a:p>
            <a:r>
              <a:rPr lang="en-US" dirty="0"/>
              <a:t>4.5] </a:t>
            </a:r>
            <a:r>
              <a:rPr lang="en-US" u="sng" dirty="0"/>
              <a:t>Polish Notation</a:t>
            </a:r>
            <a:r>
              <a:rPr lang="en-US" dirty="0"/>
              <a:t> : -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CAACC-3418-965B-37B0-38444FE30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9883" y="427703"/>
            <a:ext cx="10535601" cy="6002594"/>
          </a:xfrm>
        </p:spPr>
        <p:txBody>
          <a:bodyPr>
            <a:normAutofit/>
          </a:bodyPr>
          <a:lstStyle/>
          <a:p>
            <a:r>
              <a:rPr lang="en-US" sz="2400" b="1" dirty="0"/>
              <a:t>Polish Notation (Prefix and Postfix)</a:t>
            </a:r>
            <a:endParaRPr lang="en-US" sz="2400" dirty="0"/>
          </a:p>
          <a:p>
            <a:r>
              <a:rPr lang="en-US" sz="2400" b="1" dirty="0"/>
              <a:t>🔹 What is Polish Notation?</a:t>
            </a:r>
          </a:p>
          <a:p>
            <a:r>
              <a:rPr lang="en-US" sz="2400" b="1" dirty="0"/>
              <a:t>Polish Notation</a:t>
            </a:r>
            <a:r>
              <a:rPr lang="en-US" sz="2400" dirty="0"/>
              <a:t> is a way of writing </a:t>
            </a:r>
            <a:r>
              <a:rPr lang="en-US" sz="2400" b="1" dirty="0"/>
              <a:t>arithmetic expressions</a:t>
            </a:r>
            <a:r>
              <a:rPr lang="en-US" sz="2400" dirty="0"/>
              <a:t> </a:t>
            </a:r>
            <a:r>
              <a:rPr lang="en-US" sz="2400" b="1" dirty="0"/>
              <a:t>without using parentheses</a:t>
            </a:r>
            <a:r>
              <a:rPr lang="en-US" sz="2400" dirty="0"/>
              <a:t>, by changing the </a:t>
            </a:r>
            <a:r>
              <a:rPr lang="en-US" sz="2400" b="1" dirty="0"/>
              <a:t>position of the operator</a:t>
            </a:r>
            <a:r>
              <a:rPr lang="en-US" sz="2400" dirty="0"/>
              <a:t> relative to its operands.</a:t>
            </a:r>
          </a:p>
          <a:p>
            <a:r>
              <a:rPr lang="en-US" sz="2400" dirty="0"/>
              <a:t>It is based on the </a:t>
            </a:r>
            <a:r>
              <a:rPr lang="en-US" sz="2400" b="1" dirty="0"/>
              <a:t>stack concept</a:t>
            </a:r>
            <a:r>
              <a:rPr lang="en-US" sz="2400" dirty="0"/>
              <a:t> and is used in </a:t>
            </a:r>
            <a:r>
              <a:rPr lang="en-US" sz="2400" b="1" dirty="0"/>
              <a:t>expression evaluation</a:t>
            </a:r>
            <a:r>
              <a:rPr lang="en-US" sz="2400" dirty="0"/>
              <a:t> and </a:t>
            </a:r>
            <a:r>
              <a:rPr lang="en-US" sz="2400" b="1" dirty="0"/>
              <a:t>compiler design</a:t>
            </a:r>
            <a:r>
              <a:rPr lang="en-US" sz="2400" dirty="0"/>
              <a:t>.</a:t>
            </a:r>
          </a:p>
          <a:p>
            <a:r>
              <a:rPr lang="en-US" sz="2400" b="1" dirty="0"/>
              <a:t>🔸 Types of Polish Notation : -</a:t>
            </a:r>
          </a:p>
          <a:p>
            <a:r>
              <a:rPr lang="en-US" sz="2400" b="1" dirty="0"/>
              <a:t>1. Infix Notation. </a:t>
            </a:r>
          </a:p>
          <a:p>
            <a:r>
              <a:rPr lang="en-US" sz="2400" b="1" dirty="0"/>
              <a:t>2. </a:t>
            </a:r>
            <a:r>
              <a:rPr lang="en-US" sz="2400" b="1" dirty="0" err="1"/>
              <a:t>Prefic</a:t>
            </a:r>
            <a:r>
              <a:rPr lang="en-US" sz="2400" b="1" dirty="0"/>
              <a:t> Notation.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10434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2F67-0ECC-8D15-28AF-1C5B5E5C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55600"/>
            <a:ext cx="8825659" cy="13208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E975C-02B1-C36B-4C59-F07E2C2F0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3040" y="345440"/>
            <a:ext cx="10403840" cy="6959600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1. Infix Notation (Normal Form)</a:t>
            </a:r>
          </a:p>
          <a:p>
            <a:r>
              <a:rPr lang="en-US" sz="2400" dirty="0"/>
              <a:t>This is the </a:t>
            </a:r>
            <a:r>
              <a:rPr lang="en-US" sz="2400" b="1" dirty="0"/>
              <a:t>regular form</a:t>
            </a:r>
            <a:r>
              <a:rPr lang="en-US" sz="2400" dirty="0"/>
              <a:t> we use in arithmetic expressions.</a:t>
            </a:r>
          </a:p>
          <a:p>
            <a:r>
              <a:rPr lang="en-US" sz="2400" dirty="0"/>
              <a:t>📘 </a:t>
            </a:r>
            <a:r>
              <a:rPr lang="en-US" sz="2400" b="1" dirty="0"/>
              <a:t>Example:</a:t>
            </a:r>
            <a:endParaRPr lang="en-US" sz="2400" dirty="0"/>
          </a:p>
          <a:p>
            <a:r>
              <a:rPr lang="en-US" sz="2400" dirty="0"/>
              <a:t>(A + B) * (C - D)</a:t>
            </a:r>
          </a:p>
          <a:p>
            <a:r>
              <a:rPr lang="en-US" sz="2400" dirty="0"/>
              <a:t>Here, the </a:t>
            </a:r>
            <a:r>
              <a:rPr lang="en-US" sz="2400" b="1" dirty="0"/>
              <a:t>operator</a:t>
            </a:r>
            <a:r>
              <a:rPr lang="en-US" sz="2400" dirty="0"/>
              <a:t> is </a:t>
            </a:r>
            <a:r>
              <a:rPr lang="en-US" sz="2400" b="1" dirty="0"/>
              <a:t>between operands</a:t>
            </a:r>
            <a:r>
              <a:rPr lang="en-US" sz="2400" dirty="0"/>
              <a:t>.</a:t>
            </a:r>
          </a:p>
          <a:p>
            <a:r>
              <a:rPr lang="en-US" sz="2400" b="1" dirty="0"/>
              <a:t>2. Prefix (Polish) Notation</a:t>
            </a:r>
          </a:p>
          <a:p>
            <a:r>
              <a:rPr lang="en-US" sz="2400" b="1" dirty="0"/>
              <a:t>Definition:</a:t>
            </a:r>
          </a:p>
          <a:p>
            <a:r>
              <a:rPr lang="en-US" sz="2400" dirty="0"/>
              <a:t>In </a:t>
            </a:r>
            <a:r>
              <a:rPr lang="en-US" sz="2400" b="1" dirty="0"/>
              <a:t>Prefix</a:t>
            </a:r>
            <a:r>
              <a:rPr lang="en-US" sz="2400" dirty="0"/>
              <a:t>, the </a:t>
            </a:r>
            <a:r>
              <a:rPr lang="en-US" sz="2400" b="1" dirty="0"/>
              <a:t>operator</a:t>
            </a:r>
            <a:r>
              <a:rPr lang="en-US" sz="2400" dirty="0"/>
              <a:t> comes </a:t>
            </a:r>
            <a:r>
              <a:rPr lang="en-US" sz="2400" b="1" dirty="0"/>
              <a:t>before operands</a:t>
            </a:r>
            <a:r>
              <a:rPr lang="en-US" sz="2400" dirty="0"/>
              <a:t>.</a:t>
            </a:r>
          </a:p>
          <a:p>
            <a:r>
              <a:rPr lang="en-US" sz="2400" b="1" dirty="0"/>
              <a:t>Example:</a:t>
            </a:r>
          </a:p>
          <a:p>
            <a:r>
              <a:rPr lang="en-US" sz="2400" dirty="0"/>
              <a:t>Infix: (A + B) * (C - D)</a:t>
            </a:r>
            <a:br>
              <a:rPr lang="en-US" sz="2400" dirty="0"/>
            </a:br>
            <a:r>
              <a:rPr lang="en-US" sz="2400" dirty="0"/>
              <a:t>Prefix: * + A B - C D</a:t>
            </a:r>
          </a:p>
          <a:p>
            <a:r>
              <a:rPr lang="en-US" sz="2400" b="1" dirty="0"/>
              <a:t>How to Read:</a:t>
            </a:r>
          </a:p>
          <a:p>
            <a:r>
              <a:rPr lang="en-US" sz="2400" dirty="0"/>
              <a:t>→ * means multiply</a:t>
            </a:r>
            <a:br>
              <a:rPr lang="en-US" sz="2400" dirty="0"/>
            </a:br>
            <a:r>
              <a:rPr lang="en-US" sz="2400" dirty="0"/>
              <a:t>→ First multiply the result of (+ A B) and (- C D)</a:t>
            </a:r>
          </a:p>
          <a:p>
            <a:r>
              <a:rPr lang="en-US" sz="2400" dirty="0"/>
              <a:t>So expression = (A + B) * (C - D)</a:t>
            </a:r>
          </a:p>
          <a:p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50375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363AB-B4D6-81B2-FFF9-7DC423BF8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320"/>
            <a:ext cx="8825659" cy="1076960"/>
          </a:xfrm>
        </p:spPr>
        <p:txBody>
          <a:bodyPr/>
          <a:lstStyle/>
          <a:p>
            <a:r>
              <a:rPr lang="en-US" dirty="0"/>
              <a:t>4.6] </a:t>
            </a:r>
            <a:r>
              <a:rPr lang="en-US" u="sng" dirty="0"/>
              <a:t>Reversing a list</a:t>
            </a:r>
            <a:r>
              <a:rPr lang="en-US" dirty="0"/>
              <a:t> : -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CBA13-1F7A-3799-213A-2ED312008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" y="650240"/>
            <a:ext cx="9855200" cy="2489200"/>
          </a:xfrm>
        </p:spPr>
        <p:txBody>
          <a:bodyPr>
            <a:normAutofit lnSpcReduction="10000"/>
          </a:bodyPr>
          <a:lstStyle/>
          <a:p>
            <a:endParaRPr lang="en-US" sz="2400" dirty="0"/>
          </a:p>
          <a:p>
            <a:r>
              <a:rPr lang="en-US" sz="2400" b="1" dirty="0"/>
              <a:t>🔹 Definition:</a:t>
            </a:r>
          </a:p>
          <a:p>
            <a:r>
              <a:rPr lang="en-US" sz="2400" dirty="0"/>
              <a:t>Reversing a list means </a:t>
            </a:r>
            <a:r>
              <a:rPr lang="en-US" sz="2400" b="1" dirty="0"/>
              <a:t>changing the order of elements</a:t>
            </a:r>
            <a:r>
              <a:rPr lang="en-US" sz="2400" dirty="0"/>
              <a:t> in a list so that the </a:t>
            </a:r>
            <a:r>
              <a:rPr lang="en-US" sz="2400" b="1" dirty="0"/>
              <a:t>first element becomes the last</a:t>
            </a:r>
            <a:r>
              <a:rPr lang="en-US" sz="2400" dirty="0"/>
              <a:t>, and the </a:t>
            </a:r>
            <a:r>
              <a:rPr lang="en-US" sz="2400" b="1" dirty="0"/>
              <a:t>last becomes the first</a:t>
            </a:r>
            <a:r>
              <a:rPr lang="en-US" sz="2400" dirty="0"/>
              <a:t>.</a:t>
            </a:r>
          </a:p>
          <a:p>
            <a:r>
              <a:rPr lang="en-US" sz="2400" dirty="0"/>
              <a:t>📘 </a:t>
            </a:r>
            <a:r>
              <a:rPr lang="en-US" sz="2400" b="1" dirty="0"/>
              <a:t>Example:</a:t>
            </a:r>
            <a:endParaRPr lang="en-US" sz="2400" dirty="0"/>
          </a:p>
          <a:p>
            <a:endParaRPr lang="en-IN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1A3109-952B-4CDC-D5E8-1007F3995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765945"/>
              </p:ext>
            </p:extLst>
          </p:nvPr>
        </p:nvGraphicFramePr>
        <p:xfrm>
          <a:off x="301943" y="2963386"/>
          <a:ext cx="8596312" cy="1161574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1748107519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1260558709"/>
                    </a:ext>
                  </a:extLst>
                </a:gridCol>
              </a:tblGrid>
              <a:tr h="580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Original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Reversed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374478"/>
                  </a:ext>
                </a:extLst>
              </a:tr>
              <a:tr h="580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[10, 20, 30, 40, 50]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[50, 40, 30, 20, 10]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204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670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87C0F-E739-A946-23C0-9E6DB9EB5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74" y="-563880"/>
            <a:ext cx="8825659" cy="56388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77321-478B-E8F6-9135-3CBB99CB8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4" y="0"/>
            <a:ext cx="9909286" cy="6858000"/>
          </a:xfrm>
        </p:spPr>
        <p:txBody>
          <a:bodyPr>
            <a:normAutofit/>
          </a:bodyPr>
          <a:lstStyle/>
          <a:p>
            <a:r>
              <a:rPr lang="en-US" sz="2400" b="1" dirty="0"/>
              <a:t>Why use Stack to Reverse a List?</a:t>
            </a:r>
          </a:p>
          <a:p>
            <a:r>
              <a:rPr lang="en-US" sz="2400" dirty="0"/>
              <a:t>A </a:t>
            </a:r>
            <a:r>
              <a:rPr lang="en-US" sz="2400" b="1" dirty="0"/>
              <a:t>stack</a:t>
            </a:r>
            <a:r>
              <a:rPr lang="en-US" sz="2400" dirty="0"/>
              <a:t> works on the </a:t>
            </a:r>
            <a:r>
              <a:rPr lang="en-US" sz="2400" b="1" dirty="0"/>
              <a:t>LIFO (Last In, First Out)</a:t>
            </a:r>
            <a:r>
              <a:rPr lang="en-US" sz="2400" dirty="0"/>
              <a:t> principle —</a:t>
            </a:r>
            <a:br>
              <a:rPr lang="en-US" sz="2400" dirty="0"/>
            </a:br>
            <a:r>
              <a:rPr lang="en-US" sz="2400" dirty="0"/>
              <a:t>which means the </a:t>
            </a:r>
            <a:r>
              <a:rPr lang="en-US" sz="2400" b="1" dirty="0"/>
              <a:t>last element pushed</a:t>
            </a:r>
            <a:r>
              <a:rPr lang="en-US" sz="2400" dirty="0"/>
              <a:t> into the stack is the </a:t>
            </a:r>
            <a:r>
              <a:rPr lang="en-US" sz="2400" b="1" dirty="0"/>
              <a:t>first one to come out</a:t>
            </a:r>
            <a:r>
              <a:rPr lang="en-US" sz="2400" dirty="0"/>
              <a:t>.</a:t>
            </a:r>
          </a:p>
          <a:p>
            <a:r>
              <a:rPr lang="en-US" sz="2400" dirty="0"/>
              <a:t>So, if we push all elements of a list into a stack and then pop them one by one,</a:t>
            </a:r>
            <a:br>
              <a:rPr lang="en-US" sz="2400" dirty="0"/>
            </a:br>
            <a:r>
              <a:rPr lang="en-US" sz="2400" dirty="0"/>
              <a:t>we get them in </a:t>
            </a:r>
            <a:r>
              <a:rPr lang="en-US" sz="2400" b="1" dirty="0"/>
              <a:t>reverse order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🔹 Algorithm (Steps)</a:t>
            </a:r>
          </a:p>
          <a:p>
            <a:r>
              <a:rPr lang="en-US" sz="2400" b="1" dirty="0"/>
              <a:t>Step 1:</a:t>
            </a:r>
            <a:r>
              <a:rPr lang="en-US" sz="2400" dirty="0"/>
              <a:t> Create an empty stack.</a:t>
            </a:r>
            <a:br>
              <a:rPr lang="en-US" sz="2400" dirty="0"/>
            </a:br>
            <a:r>
              <a:rPr lang="en-US" sz="2400" b="1" dirty="0"/>
              <a:t>Step 2:</a:t>
            </a:r>
            <a:r>
              <a:rPr lang="en-US" sz="2400" dirty="0"/>
              <a:t> Push all elements of the list into the stack (from first to last).</a:t>
            </a:r>
            <a:br>
              <a:rPr lang="en-US" sz="2400" dirty="0"/>
            </a:br>
            <a:r>
              <a:rPr lang="en-US" sz="2400" b="1" dirty="0"/>
              <a:t>Step 3:</a:t>
            </a:r>
            <a:r>
              <a:rPr lang="en-US" sz="2400" dirty="0"/>
              <a:t> Pop each element from the stack and store it back into the list.</a:t>
            </a:r>
            <a:br>
              <a:rPr lang="en-US" sz="2400" dirty="0"/>
            </a:br>
            <a:r>
              <a:rPr lang="en-US" sz="2400" b="1" dirty="0"/>
              <a:t>Step 4:</a:t>
            </a:r>
            <a:r>
              <a:rPr lang="en-US" sz="2400" dirty="0"/>
              <a:t> The list is now reversed.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14208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67EC1-9609-E445-2F22-537B11EE7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354" y="-563880"/>
            <a:ext cx="8825659" cy="44196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CAD89-3A99-6E55-2FFF-7A4078B14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1514" y="0"/>
            <a:ext cx="8825659" cy="5405120"/>
          </a:xfrm>
        </p:spPr>
        <p:txBody>
          <a:bodyPr>
            <a:normAutofit/>
          </a:bodyPr>
          <a:lstStyle/>
          <a:p>
            <a:r>
              <a:rPr lang="en-US" sz="2400" b="1" dirty="0"/>
              <a:t>Example</a:t>
            </a:r>
          </a:p>
          <a:p>
            <a:r>
              <a:rPr lang="en-US" sz="2400" dirty="0"/>
              <a:t>Let’s take a list:</a:t>
            </a:r>
          </a:p>
          <a:p>
            <a:r>
              <a:rPr lang="en-US" sz="2400" dirty="0"/>
              <a:t>[1, 2, 3, 4, 5]</a:t>
            </a:r>
          </a:p>
          <a:p>
            <a:r>
              <a:rPr lang="en-US" sz="2400" b="1" dirty="0"/>
              <a:t>Step 1: Push all into stack</a:t>
            </a:r>
          </a:p>
          <a:p>
            <a:r>
              <a:rPr lang="en-US" sz="2400" dirty="0"/>
              <a:t>Stack (Top → Bottom): [5, 4, 3, 2, 1]</a:t>
            </a:r>
          </a:p>
          <a:p>
            <a:r>
              <a:rPr lang="en-US" sz="2400" b="1" dirty="0"/>
              <a:t>Step 2: Pop all elements</a:t>
            </a:r>
          </a:p>
          <a:p>
            <a:r>
              <a:rPr lang="en-US" sz="2400" dirty="0"/>
              <a:t>Pop → 5, 4, 3, 2, 1</a:t>
            </a:r>
          </a:p>
          <a:p>
            <a:r>
              <a:rPr lang="en-US" sz="2400" dirty="0"/>
              <a:t>Now the reversed list = [5, 4, 3, 2, 1]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65923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4508-CC90-8CB3-C8FB-37776ACE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194" y="0"/>
            <a:ext cx="8825659" cy="838200"/>
          </a:xfrm>
        </p:spPr>
        <p:txBody>
          <a:bodyPr/>
          <a:lstStyle/>
          <a:p>
            <a:r>
              <a:rPr lang="en-US" dirty="0"/>
              <a:t>4.7] </a:t>
            </a:r>
            <a:r>
              <a:rPr lang="en-US" u="sng" dirty="0"/>
              <a:t>Recursion</a:t>
            </a:r>
            <a:r>
              <a:rPr lang="en-US" dirty="0"/>
              <a:t> : -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D1A9B17-10D2-625F-4902-19250E7ECD5C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69434" y="838200"/>
                <a:ext cx="9858486" cy="5877560"/>
              </a:xfrm>
            </p:spPr>
            <p:txBody>
              <a:bodyPr>
                <a:normAutofit/>
              </a:bodyPr>
              <a:lstStyle/>
              <a:p>
                <a:r>
                  <a:rPr lang="en-IN" sz="2400" b="1" dirty="0"/>
                  <a:t>Definition:</a:t>
                </a:r>
              </a:p>
              <a:p>
                <a:r>
                  <a:rPr lang="en-IN" sz="2400" b="1" dirty="0"/>
                  <a:t>Recursion</a:t>
                </a:r>
                <a:r>
                  <a:rPr lang="en-IN" sz="2400" dirty="0"/>
                  <a:t> is a process in which a </a:t>
                </a:r>
                <a:r>
                  <a:rPr lang="en-IN" sz="2400" b="1" dirty="0"/>
                  <a:t>function calls itself</a:t>
                </a:r>
                <a:r>
                  <a:rPr lang="en-IN" sz="2400" dirty="0"/>
                  <a:t> directly or indirectly to solve a problem.</a:t>
                </a:r>
              </a:p>
              <a:p>
                <a:r>
                  <a:rPr lang="en-IN" sz="2400" dirty="0"/>
                  <a:t>Each time the function calls itself, it works on a </a:t>
                </a:r>
                <a:r>
                  <a:rPr lang="en-IN" sz="2400" b="1" dirty="0"/>
                  <a:t>smaller version of the same problem</a:t>
                </a:r>
                <a:r>
                  <a:rPr lang="en-IN" sz="2400" dirty="0"/>
                  <a:t>, until it reaches a </a:t>
                </a:r>
                <a:r>
                  <a:rPr lang="en-IN" sz="2400" b="1" dirty="0"/>
                  <a:t>base condition</a:t>
                </a:r>
                <a:r>
                  <a:rPr lang="en-IN" sz="2400" dirty="0"/>
                  <a:t> that stops the recursion.</a:t>
                </a:r>
              </a:p>
              <a:p>
                <a:endParaRPr lang="en-IN" sz="2400" dirty="0"/>
              </a:p>
              <a:p>
                <a:r>
                  <a:rPr lang="en-IN" sz="2400" b="1" dirty="0"/>
                  <a:t>Simple Example:</a:t>
                </a:r>
              </a:p>
              <a:p>
                <a:r>
                  <a:rPr lang="en-IN" sz="2400" b="1" dirty="0"/>
                  <a:t>Example:</a:t>
                </a:r>
                <a:br>
                  <a:rPr lang="en-IN" sz="2400" dirty="0"/>
                </a:br>
                <a:r>
                  <a:rPr lang="en-IN" sz="2400" dirty="0"/>
                  <a:t>Finding factorial of a number using recursion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/>
                        <m:t>𝑛</m:t>
                      </m:r>
                      <m:r>
                        <a:rPr lang="en-IN" sz="2400"/>
                        <m:t>!=</m:t>
                      </m:r>
                      <m:r>
                        <a:rPr lang="en-IN" sz="2400" i="1"/>
                        <m:t>𝑛</m:t>
                      </m:r>
                      <m:r>
                        <a:rPr lang="en-IN" sz="2400"/>
                        <m:t>×</m:t>
                      </m:r>
                      <m:d>
                        <m:dPr>
                          <m:ctrlPr>
                            <a:rPr lang="ar-AE" sz="2400" i="1"/>
                          </m:ctrlPr>
                        </m:dPr>
                        <m:e>
                          <m:r>
                            <a:rPr lang="ar-AE" sz="2400" i="1"/>
                            <m:t>𝑛</m:t>
                          </m:r>
                          <m:r>
                            <a:rPr lang="ar-AE" sz="2400"/>
                            <m:t>−</m:t>
                          </m:r>
                          <m:r>
                            <a:rPr lang="ar-AE" sz="2400"/>
                            <m:t>1</m:t>
                          </m:r>
                        </m:e>
                      </m:d>
                      <m:r>
                        <a:rPr lang="ar-AE" sz="2400"/>
                        <m:t>×</m:t>
                      </m:r>
                      <m:d>
                        <m:dPr>
                          <m:ctrlPr>
                            <a:rPr lang="ar-AE" sz="2400" i="1"/>
                          </m:ctrlPr>
                        </m:dPr>
                        <m:e>
                          <m:r>
                            <a:rPr lang="ar-AE" sz="2400" i="1"/>
                            <m:t>𝑛</m:t>
                          </m:r>
                          <m:r>
                            <a:rPr lang="ar-AE" sz="2400"/>
                            <m:t>−</m:t>
                          </m:r>
                          <m:r>
                            <a:rPr lang="ar-AE" sz="2400"/>
                            <m:t>2</m:t>
                          </m:r>
                        </m:e>
                      </m:d>
                      <m:r>
                        <a:rPr lang="ar-AE" sz="2400"/>
                        <m:t>×...×</m:t>
                      </m:r>
                      <m:r>
                        <a:rPr lang="ar-AE" sz="2400"/>
                        <m:t>1</m:t>
                      </m:r>
                    </m:oMath>
                  </m:oMathPara>
                </a14:m>
                <a:endParaRPr lang="ar-AE" sz="2400" dirty="0"/>
              </a:p>
              <a:p>
                <a:endParaRPr lang="en-IN" sz="240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D1A9B17-10D2-625F-4902-19250E7ECD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69434" y="838200"/>
                <a:ext cx="9858486" cy="5877560"/>
              </a:xfrm>
              <a:blipFill>
                <a:blip r:embed="rId2"/>
                <a:stretch>
                  <a:fillRect l="-9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196401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</TotalTime>
  <Words>1535</Words>
  <Application>Microsoft Office PowerPoint</Application>
  <PresentationFormat>Widescreen</PresentationFormat>
  <Paragraphs>200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Algerian</vt:lpstr>
      <vt:lpstr>Arial</vt:lpstr>
      <vt:lpstr>Trebuchet MS</vt:lpstr>
      <vt:lpstr>Wingdings</vt:lpstr>
      <vt:lpstr>Wingdings 3</vt:lpstr>
      <vt:lpstr>Facet</vt:lpstr>
      <vt:lpstr>04. Stack </vt:lpstr>
      <vt:lpstr>4.1] STACK : -</vt:lpstr>
      <vt:lpstr>Stack as an abstract data types (ADT) : -</vt:lpstr>
      <vt:lpstr>4.2] Operations on stack : -</vt:lpstr>
      <vt:lpstr>1. PUSH Operation : -</vt:lpstr>
      <vt:lpstr>2. POP Operation : - </vt:lpstr>
      <vt:lpstr>3. TOP/PEED Operation : -</vt:lpstr>
      <vt:lpstr>4.3] Stack Overflow : -</vt:lpstr>
      <vt:lpstr>Example : -</vt:lpstr>
      <vt:lpstr>2. Stack Underflow : -</vt:lpstr>
      <vt:lpstr>Example : -</vt:lpstr>
      <vt:lpstr>4.4] Applications of Stack : -</vt:lpstr>
      <vt:lpstr>4.5] Polish Notation : -</vt:lpstr>
      <vt:lpstr>PowerPoint Presentation</vt:lpstr>
      <vt:lpstr>4.6] Reversing a list : -</vt:lpstr>
      <vt:lpstr>PowerPoint Presentation</vt:lpstr>
      <vt:lpstr>PowerPoint Presentation</vt:lpstr>
      <vt:lpstr>4.7] Recursion :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2</cp:revision>
  <dcterms:created xsi:type="dcterms:W3CDTF">2025-11-04T03:44:17Z</dcterms:created>
  <dcterms:modified xsi:type="dcterms:W3CDTF">2025-11-04T04:16:43Z</dcterms:modified>
</cp:coreProperties>
</file>