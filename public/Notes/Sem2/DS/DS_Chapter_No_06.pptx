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9" r:id="rId4"/>
    <p:sldId id="258" r:id="rId5"/>
    <p:sldId id="262" r:id="rId6"/>
    <p:sldId id="263" r:id="rId7"/>
    <p:sldId id="264" r:id="rId8"/>
    <p:sldId id="265" r:id="rId9"/>
    <p:sldId id="260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6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38FA2-6A91-41F2-B6A8-949304029652}" v="3" dt="2025-11-04T08:05:29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63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51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63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15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738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16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13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22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20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5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5649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707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3916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086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49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17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B49C7-8C44-4B7B-BF29-F397C812E7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9EEBD98-B1A1-452B-8586-A272AD290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9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CEE6-AD99-B254-4845-504012B87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942" y="2370665"/>
            <a:ext cx="9065342" cy="2649247"/>
          </a:xfrm>
        </p:spPr>
        <p:txBody>
          <a:bodyPr/>
          <a:lstStyle/>
          <a:p>
            <a:pPr algn="ctr"/>
            <a:r>
              <a:rPr lang="en-US" sz="9600" dirty="0">
                <a:latin typeface="Algerian" panose="04020705040A02060702" pitchFamily="82" charset="0"/>
              </a:rPr>
              <a:t>06. Trees &amp; graphs </a:t>
            </a:r>
            <a:endParaRPr lang="en-IN" sz="96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0798E-5FDB-4FFE-A63C-086BE18A17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549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A6E0-9083-1753-540C-61FE37D2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5" y="-200742"/>
            <a:ext cx="8596668" cy="116430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/>
              <a:t>Trees &amp; Graphs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CECE-D6F9-8B2D-8841-E1AD9EF6D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309" y="816078"/>
            <a:ext cx="10628671" cy="6016522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Both </a:t>
            </a:r>
            <a:r>
              <a:rPr lang="en-US" sz="2000" b="1" dirty="0"/>
              <a:t>Trees</a:t>
            </a:r>
            <a:r>
              <a:rPr lang="en-US" sz="2000" dirty="0"/>
              <a:t> and </a:t>
            </a:r>
            <a:r>
              <a:rPr lang="en-US" sz="2000" b="1" dirty="0"/>
              <a:t>Graphs</a:t>
            </a:r>
            <a:r>
              <a:rPr lang="en-US" sz="2000" dirty="0"/>
              <a:t> are </a:t>
            </a:r>
            <a:r>
              <a:rPr lang="en-US" sz="2000" b="1" dirty="0"/>
              <a:t>non-linear data structures</a:t>
            </a:r>
            <a:r>
              <a:rPr lang="en-US" sz="2000" dirty="0"/>
              <a:t> used to represent relationships among data elements.</a:t>
            </a:r>
          </a:p>
          <a:p>
            <a:r>
              <a:rPr lang="en-US" sz="2000" b="1" dirty="0"/>
              <a:t>Introduction to Tree</a:t>
            </a:r>
          </a:p>
          <a:p>
            <a:r>
              <a:rPr lang="en-US" sz="2000" b="1" dirty="0"/>
              <a:t>🔹 Definition:</a:t>
            </a:r>
          </a:p>
          <a:p>
            <a:r>
              <a:rPr lang="en-US" sz="2000" dirty="0"/>
              <a:t>A </a:t>
            </a:r>
            <a:r>
              <a:rPr lang="en-US" sz="2000" b="1" dirty="0"/>
              <a:t>Tree</a:t>
            </a:r>
            <a:r>
              <a:rPr lang="en-US" sz="2000" dirty="0"/>
              <a:t> is a </a:t>
            </a:r>
            <a:r>
              <a:rPr lang="en-US" sz="2000" b="1" dirty="0"/>
              <a:t>non-linear hierarchical data structure</a:t>
            </a:r>
            <a:r>
              <a:rPr lang="en-US" sz="2000" dirty="0"/>
              <a:t> that consists of </a:t>
            </a:r>
            <a:r>
              <a:rPr lang="en-US" sz="2000" b="1" dirty="0"/>
              <a:t>nodes</a:t>
            </a:r>
            <a:r>
              <a:rPr lang="en-US" sz="2000" dirty="0"/>
              <a:t> connected by </a:t>
            </a:r>
            <a:r>
              <a:rPr lang="en-US" sz="2000" b="1" dirty="0"/>
              <a:t>edges</a:t>
            </a:r>
            <a:r>
              <a:rPr lang="en-US" sz="2000" dirty="0"/>
              <a:t>.</a:t>
            </a:r>
          </a:p>
          <a:p>
            <a:r>
              <a:rPr lang="en-US" sz="2000" dirty="0"/>
              <a:t>It represents data in a </a:t>
            </a:r>
            <a:r>
              <a:rPr lang="en-US" sz="2000" b="1" dirty="0"/>
              <a:t>parent-child relationship</a:t>
            </a:r>
            <a:r>
              <a:rPr lang="en-US" sz="2000" dirty="0"/>
              <a:t> form.</a:t>
            </a:r>
          </a:p>
          <a:p>
            <a:r>
              <a:rPr lang="en-US" sz="2000" b="1" dirty="0"/>
              <a:t>🔹 Example:</a:t>
            </a:r>
          </a:p>
          <a:p>
            <a:r>
              <a:rPr lang="en-US" sz="2000" dirty="0"/>
              <a:t>        A</a:t>
            </a:r>
          </a:p>
          <a:p>
            <a:r>
              <a:rPr lang="en-US" sz="2000" dirty="0"/>
              <a:t>       / \</a:t>
            </a:r>
          </a:p>
          <a:p>
            <a:r>
              <a:rPr lang="en-US" sz="2000" dirty="0"/>
              <a:t>      B   C</a:t>
            </a:r>
          </a:p>
          <a:p>
            <a:r>
              <a:rPr lang="en-US" sz="2000" dirty="0"/>
              <a:t>     / \</a:t>
            </a:r>
          </a:p>
          <a:p>
            <a:r>
              <a:rPr lang="en-US" sz="2000" dirty="0"/>
              <a:t>    D   E</a:t>
            </a:r>
          </a:p>
          <a:p>
            <a:r>
              <a:rPr lang="en-US" sz="2000" dirty="0"/>
              <a:t>Here:</a:t>
            </a:r>
          </a:p>
          <a:p>
            <a:r>
              <a:rPr lang="en-US" sz="2000" dirty="0"/>
              <a:t>A → Root node</a:t>
            </a:r>
          </a:p>
          <a:p>
            <a:r>
              <a:rPr lang="en-US" sz="2000" dirty="0"/>
              <a:t>B, C → Children of A</a:t>
            </a:r>
          </a:p>
          <a:p>
            <a:r>
              <a:rPr lang="en-US" sz="2000" dirty="0"/>
              <a:t>D, E → Leaf nodes (no children)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23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12D3-10FD-7494-BC43-606016F3C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00"/>
            <a:ext cx="8596668" cy="7912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/>
              <a:t>Types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9C3B9-58F9-53D5-2434-9CDFF89AD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Types of Trees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25BC41-696D-C668-7EAD-41FF0ADB3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735"/>
              </p:ext>
            </p:extLst>
          </p:nvPr>
        </p:nvGraphicFramePr>
        <p:xfrm>
          <a:off x="303708" y="816637"/>
          <a:ext cx="9302408" cy="5654730"/>
        </p:xfrm>
        <a:graphic>
          <a:graphicData uri="http://schemas.openxmlformats.org/drawingml/2006/table">
            <a:tbl>
              <a:tblPr/>
              <a:tblGrid>
                <a:gridCol w="4651204">
                  <a:extLst>
                    <a:ext uri="{9D8B030D-6E8A-4147-A177-3AD203B41FA5}">
                      <a16:colId xmlns:a16="http://schemas.microsoft.com/office/drawing/2014/main" val="1769494241"/>
                    </a:ext>
                  </a:extLst>
                </a:gridCol>
                <a:gridCol w="4651204">
                  <a:extLst>
                    <a:ext uri="{9D8B030D-6E8A-4147-A177-3AD203B41FA5}">
                      <a16:colId xmlns:a16="http://schemas.microsoft.com/office/drawing/2014/main" val="1811690784"/>
                    </a:ext>
                  </a:extLst>
                </a:gridCol>
              </a:tblGrid>
              <a:tr h="644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Type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Description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65084"/>
                  </a:ext>
                </a:extLst>
              </a:tr>
              <a:tr h="1127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Binary Tree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Each node has at most two children (left and right).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132051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Binary Search Tree (BST)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Left child &lt; Parent &lt; Right child.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50683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Full Binary Tree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Every node has 0 or 2 children.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606722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Complete Binary Tree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All levels filled except possibly the last.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752373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AVL Tree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Height-balanced binary tree.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471287"/>
                  </a:ext>
                </a:extLst>
              </a:tr>
              <a:tr h="1127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General Tree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 node can have any number of children.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485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70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F377-AF43-8444-CB68-CD61F697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2" y="-167148"/>
            <a:ext cx="9085006" cy="1101213"/>
          </a:xfrm>
        </p:spPr>
        <p:txBody>
          <a:bodyPr>
            <a:normAutofit/>
          </a:bodyPr>
          <a:lstStyle/>
          <a:p>
            <a:r>
              <a:rPr lang="en-IN" sz="4800" dirty="0"/>
              <a:t>5.1] </a:t>
            </a:r>
            <a:r>
              <a:rPr lang="en-IN" sz="4800" u="sng" dirty="0"/>
              <a:t>Tree Terminologies</a:t>
            </a:r>
            <a:r>
              <a:rPr lang="en-IN" sz="4800" dirty="0"/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14D7A-8CCC-54E3-5B2A-0DF2E3114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9" y="6635854"/>
            <a:ext cx="8596668" cy="142927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36E2EC-E87E-59CB-AFD0-43EDBD70B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523292"/>
              </p:ext>
            </p:extLst>
          </p:nvPr>
        </p:nvGraphicFramePr>
        <p:xfrm>
          <a:off x="98322" y="768763"/>
          <a:ext cx="10099586" cy="6089237"/>
        </p:xfrm>
        <a:graphic>
          <a:graphicData uri="http://schemas.openxmlformats.org/drawingml/2006/table">
            <a:tbl>
              <a:tblPr/>
              <a:tblGrid>
                <a:gridCol w="5049793">
                  <a:extLst>
                    <a:ext uri="{9D8B030D-6E8A-4147-A177-3AD203B41FA5}">
                      <a16:colId xmlns:a16="http://schemas.microsoft.com/office/drawing/2014/main" val="4070483903"/>
                    </a:ext>
                  </a:extLst>
                </a:gridCol>
                <a:gridCol w="5049793">
                  <a:extLst>
                    <a:ext uri="{9D8B030D-6E8A-4147-A177-3AD203B41FA5}">
                      <a16:colId xmlns:a16="http://schemas.microsoft.com/office/drawing/2014/main" val="2845539168"/>
                    </a:ext>
                  </a:extLst>
                </a:gridCol>
              </a:tblGrid>
              <a:tr h="272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Term</a:t>
                      </a:r>
                      <a:endParaRPr lang="en-IN" sz="160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Definition</a:t>
                      </a:r>
                      <a:endParaRPr lang="en-IN" sz="160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833739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Node</a:t>
                      </a:r>
                      <a:endParaRPr lang="en-IN" sz="160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Each element of a tree is called a node.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252379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Root</a:t>
                      </a:r>
                      <a:endParaRPr lang="en-IN" sz="160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The topmost node in the tree. (e.g., A)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544464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Parent Node</a:t>
                      </a:r>
                      <a:endParaRPr lang="en-IN" sz="1600" dirty="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 node that has child nodes. (e.g., A is parent of B and C)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623990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Child Node</a:t>
                      </a:r>
                      <a:endParaRPr lang="en-IN" sz="1600" dirty="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Nodes that have a parent. (e.g., B and C are children of A)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778928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Leaf Node / Terminal Node</a:t>
                      </a:r>
                      <a:endParaRPr lang="en-IN" sz="1600" dirty="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Nodes that have no children. (e.g., D, E)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359225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Edge</a:t>
                      </a:r>
                      <a:endParaRPr lang="en-IN" sz="1600" dirty="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Connection between two nodes. (e.g., A–B, B–D)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767588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Siblings</a:t>
                      </a:r>
                      <a:endParaRPr lang="en-IN" sz="160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Nodes having the same parent. (e.g., B and C)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49375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Level</a:t>
                      </a:r>
                      <a:endParaRPr lang="en-IN" sz="1600" dirty="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The root node is at level 0 (or 1), its children at next level, and so on.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379583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Height / Depth</a:t>
                      </a:r>
                      <a:endParaRPr lang="en-IN" sz="160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The length of the longest path from the root to a leaf node.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310154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Subtree</a:t>
                      </a:r>
                      <a:endParaRPr lang="en-IN" sz="160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Any node and its descendants form a subtree.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238858"/>
                  </a:ext>
                </a:extLst>
              </a:tr>
              <a:tr h="272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Degree of Node</a:t>
                      </a:r>
                      <a:endParaRPr lang="en-IN" sz="160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Number of children a node has.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628756"/>
                  </a:ext>
                </a:extLst>
              </a:tr>
              <a:tr h="47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Degree of Tree</a:t>
                      </a:r>
                      <a:endParaRPr lang="en-IN" sz="1600" dirty="0"/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Maximum degree among all nodes in the tree.</a:t>
                      </a:r>
                    </a:p>
                  </a:txBody>
                  <a:tcPr marL="49132" marR="49132" marT="24566" marB="24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677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71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D523-0387-0157-A84A-52C4CB5F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7" y="-66367"/>
            <a:ext cx="8596668" cy="1085645"/>
          </a:xfrm>
        </p:spPr>
        <p:txBody>
          <a:bodyPr>
            <a:normAutofit/>
          </a:bodyPr>
          <a:lstStyle/>
          <a:p>
            <a:r>
              <a:rPr lang="en-US" sz="4800" dirty="0"/>
              <a:t>6.2] </a:t>
            </a:r>
            <a:r>
              <a:rPr lang="en-US" sz="4800" u="sng" dirty="0"/>
              <a:t>Types of TREE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23CA1-15A0-A598-39A0-BA8D41FFB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148" y="1019278"/>
            <a:ext cx="9496870" cy="4240980"/>
          </a:xfrm>
        </p:spPr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Tree</a:t>
            </a:r>
            <a:r>
              <a:rPr lang="en-US" sz="2800" dirty="0"/>
              <a:t> is a </a:t>
            </a:r>
            <a:r>
              <a:rPr lang="en-US" sz="2800" b="1" dirty="0"/>
              <a:t>non-linear data structure</a:t>
            </a:r>
            <a:r>
              <a:rPr lang="en-US" sz="2800" dirty="0"/>
              <a:t> used to represent data in a </a:t>
            </a:r>
            <a:r>
              <a:rPr lang="en-US" sz="2800" b="1" dirty="0"/>
              <a:t>hierarchical form</a:t>
            </a:r>
            <a:r>
              <a:rPr lang="en-US" sz="2800" dirty="0"/>
              <a:t> (like a family tree or folder structure).</a:t>
            </a:r>
            <a:br>
              <a:rPr lang="en-US" sz="2800" dirty="0"/>
            </a:br>
            <a:r>
              <a:rPr lang="en-US" sz="2800" dirty="0"/>
              <a:t>There are several </a:t>
            </a:r>
            <a:r>
              <a:rPr lang="en-US" sz="2800" b="1" dirty="0"/>
              <a:t>types of trees</a:t>
            </a:r>
            <a:r>
              <a:rPr lang="en-US" sz="2800" dirty="0"/>
              <a:t> based on their structure and rules.</a:t>
            </a:r>
          </a:p>
          <a:p>
            <a:pPr marL="514350" indent="-514350">
              <a:buAutoNum type="arabicPeriod"/>
            </a:pPr>
            <a:r>
              <a:rPr lang="en-IN" sz="2800" dirty="0"/>
              <a:t>General Tree.</a:t>
            </a:r>
          </a:p>
          <a:p>
            <a:pPr marL="514350" indent="-514350">
              <a:buAutoNum type="arabicPeriod"/>
            </a:pPr>
            <a:r>
              <a:rPr lang="en-IN" sz="2800" dirty="0"/>
              <a:t>Binary Tree.</a:t>
            </a:r>
          </a:p>
          <a:p>
            <a:pPr marL="514350" indent="-514350">
              <a:buAutoNum type="arabicPeriod"/>
            </a:pPr>
            <a:r>
              <a:rPr lang="en-IN" sz="2800" dirty="0"/>
              <a:t>Binary Search Tree.</a:t>
            </a:r>
          </a:p>
          <a:p>
            <a:pPr marL="514350" indent="-514350">
              <a:buAutoNum type="arabicPeriod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14115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E540-AD22-070B-AD99-041095E8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32" y="-88490"/>
            <a:ext cx="8596668" cy="963561"/>
          </a:xfrm>
        </p:spPr>
        <p:txBody>
          <a:bodyPr>
            <a:normAutofit/>
          </a:bodyPr>
          <a:lstStyle/>
          <a:p>
            <a:r>
              <a:rPr lang="en-US" sz="4800" dirty="0"/>
              <a:t>1. </a:t>
            </a:r>
            <a:r>
              <a:rPr lang="en-US" sz="4800" u="sng" dirty="0"/>
              <a:t>General Tree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8214E-40D6-3738-4447-D73A5889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32" y="875072"/>
            <a:ext cx="10000496" cy="5982928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🔹 Definition:</a:t>
            </a:r>
          </a:p>
          <a:p>
            <a:r>
              <a:rPr lang="en-US" sz="2400" dirty="0"/>
              <a:t>A </a:t>
            </a:r>
            <a:r>
              <a:rPr lang="en-US" sz="2400" b="1" dirty="0"/>
              <a:t>General Tree</a:t>
            </a:r>
            <a:r>
              <a:rPr lang="en-US" sz="2400" dirty="0"/>
              <a:t> is a tree in which </a:t>
            </a:r>
            <a:r>
              <a:rPr lang="en-US" sz="2400" b="1" dirty="0"/>
              <a:t>any node can have any number of children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There is </a:t>
            </a:r>
            <a:r>
              <a:rPr lang="en-US" sz="2400" b="1" dirty="0"/>
              <a:t>no restriction</a:t>
            </a:r>
            <a:r>
              <a:rPr lang="en-US" sz="2400" dirty="0"/>
              <a:t> on the number of child nodes.</a:t>
            </a:r>
          </a:p>
          <a:p>
            <a:r>
              <a:rPr lang="en-US" sz="2400" b="1" dirty="0"/>
              <a:t>🔹 Structure Example:</a:t>
            </a:r>
          </a:p>
          <a:p>
            <a:r>
              <a:rPr lang="en-US" sz="2400" dirty="0"/>
              <a:t>        A</a:t>
            </a:r>
          </a:p>
          <a:p>
            <a:r>
              <a:rPr lang="en-US" sz="2400" dirty="0"/>
              <a:t>      / | \</a:t>
            </a:r>
          </a:p>
          <a:p>
            <a:r>
              <a:rPr lang="en-US" sz="2400" dirty="0"/>
              <a:t>     B  C  D</a:t>
            </a:r>
          </a:p>
          <a:p>
            <a:r>
              <a:rPr lang="en-US" sz="2400" dirty="0"/>
              <a:t>       / \</a:t>
            </a:r>
          </a:p>
          <a:p>
            <a:r>
              <a:rPr lang="en-US" sz="2400" dirty="0"/>
              <a:t>      E   F</a:t>
            </a:r>
          </a:p>
          <a:p>
            <a:r>
              <a:rPr lang="en-US" sz="2400" b="1" dirty="0"/>
              <a:t>🔹 Applications:</a:t>
            </a:r>
          </a:p>
          <a:p>
            <a:r>
              <a:rPr lang="en-US" sz="2400" dirty="0"/>
              <a:t>File directory structures</a:t>
            </a:r>
          </a:p>
          <a:p>
            <a:r>
              <a:rPr lang="en-US" sz="2400" dirty="0"/>
              <a:t>Organization hierarchy</a:t>
            </a:r>
          </a:p>
          <a:p>
            <a:r>
              <a:rPr lang="en-US" sz="2400" dirty="0"/>
              <a:t>XML/HTML document structures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1960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6B12-02F0-EF9A-6916-9DFD39CA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50" y="-200742"/>
            <a:ext cx="8596668" cy="1095477"/>
          </a:xfrm>
        </p:spPr>
        <p:txBody>
          <a:bodyPr>
            <a:normAutofit/>
          </a:bodyPr>
          <a:lstStyle/>
          <a:p>
            <a:r>
              <a:rPr lang="en-US" sz="4800" dirty="0"/>
              <a:t>2. </a:t>
            </a:r>
            <a:r>
              <a:rPr lang="en-US" sz="4800" u="sng" dirty="0"/>
              <a:t>Binary Tree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2C368-BBA6-D331-415A-3675821C9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4" y="806245"/>
            <a:ext cx="10884310" cy="6124677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🔹 Definition:</a:t>
            </a:r>
          </a:p>
          <a:p>
            <a:r>
              <a:rPr lang="en-US" sz="2400" dirty="0"/>
              <a:t>A </a:t>
            </a:r>
            <a:r>
              <a:rPr lang="en-US" sz="2400" b="1" dirty="0"/>
              <a:t>Binary Tree</a:t>
            </a:r>
            <a:r>
              <a:rPr lang="en-US" sz="2400" dirty="0"/>
              <a:t> is a tree in which </a:t>
            </a:r>
            <a:r>
              <a:rPr lang="en-US" sz="2400" b="1" dirty="0"/>
              <a:t>each node can have at most two children</a:t>
            </a:r>
            <a:r>
              <a:rPr lang="en-US" sz="2400" dirty="0"/>
              <a:t> —</a:t>
            </a:r>
            <a:br>
              <a:rPr lang="en-US" sz="2400" dirty="0"/>
            </a:br>
            <a:r>
              <a:rPr lang="en-US" sz="2400" dirty="0"/>
              <a:t>called </a:t>
            </a:r>
            <a:r>
              <a:rPr lang="en-US" sz="2400" b="1" dirty="0"/>
              <a:t>left child</a:t>
            </a:r>
            <a:r>
              <a:rPr lang="en-US" sz="2400" dirty="0"/>
              <a:t> and </a:t>
            </a:r>
            <a:r>
              <a:rPr lang="en-US" sz="2400" b="1" dirty="0"/>
              <a:t>right child</a:t>
            </a:r>
            <a:r>
              <a:rPr lang="en-US" sz="2400" dirty="0"/>
              <a:t>.</a:t>
            </a:r>
          </a:p>
          <a:p>
            <a:r>
              <a:rPr lang="en-US" sz="2400" b="1" dirty="0"/>
              <a:t>🔹 Structure Example:</a:t>
            </a:r>
          </a:p>
          <a:p>
            <a:r>
              <a:rPr lang="en-US" sz="2400" dirty="0"/>
              <a:t>        A</a:t>
            </a:r>
          </a:p>
          <a:p>
            <a:r>
              <a:rPr lang="en-US" sz="2400" dirty="0"/>
              <a:t>       / \</a:t>
            </a:r>
          </a:p>
          <a:p>
            <a:r>
              <a:rPr lang="en-US" sz="2400" dirty="0"/>
              <a:t>      B   C</a:t>
            </a:r>
          </a:p>
          <a:p>
            <a:r>
              <a:rPr lang="en-US" sz="2400" dirty="0"/>
              <a:t>     / \</a:t>
            </a:r>
          </a:p>
          <a:p>
            <a:r>
              <a:rPr lang="en-US" sz="2400" dirty="0"/>
              <a:t>    D   E</a:t>
            </a:r>
          </a:p>
          <a:p>
            <a:r>
              <a:rPr lang="en-US" sz="2400" b="1" dirty="0"/>
              <a:t>🔹 Applications:</a:t>
            </a:r>
          </a:p>
          <a:p>
            <a:r>
              <a:rPr lang="en-US" sz="2400" dirty="0"/>
              <a:t>Expression evaluation (Arithmetic expressions)</a:t>
            </a:r>
          </a:p>
          <a:p>
            <a:r>
              <a:rPr lang="en-US" sz="2400" dirty="0"/>
              <a:t>Parsing and searching operations</a:t>
            </a:r>
          </a:p>
          <a:p>
            <a:r>
              <a:rPr lang="en-US" sz="2400" dirty="0"/>
              <a:t>Implementing priority queues and heaps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7798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8576-E7C1-8F0B-63EE-3D2B4954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8" y="-149942"/>
            <a:ext cx="8596668" cy="1025013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sz="4800" u="sng" dirty="0"/>
              <a:t>Binary Search Tree (BST)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D54FD-9B73-6621-B015-C280127EA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554" y="963561"/>
            <a:ext cx="10049658" cy="6034549"/>
          </a:xfrm>
        </p:spPr>
        <p:txBody>
          <a:bodyPr>
            <a:normAutofit/>
          </a:bodyPr>
          <a:lstStyle/>
          <a:p>
            <a:r>
              <a:rPr lang="en-US" sz="2000" b="1" dirty="0"/>
              <a:t>🔹 Definition:</a:t>
            </a:r>
          </a:p>
          <a:p>
            <a:r>
              <a:rPr lang="en-US" sz="2000" dirty="0"/>
              <a:t>A </a:t>
            </a:r>
            <a:r>
              <a:rPr lang="en-US" sz="2000" b="1" dirty="0"/>
              <a:t>Binary Search Tree</a:t>
            </a:r>
            <a:r>
              <a:rPr lang="en-US" sz="2000" dirty="0"/>
              <a:t> is a </a:t>
            </a:r>
            <a:r>
              <a:rPr lang="en-US" sz="2000" b="1" dirty="0"/>
              <a:t>special type of binary tree</a:t>
            </a:r>
            <a:r>
              <a:rPr lang="en-US" sz="2000" dirty="0"/>
              <a:t> in which: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left child</a:t>
            </a:r>
            <a:r>
              <a:rPr lang="en-US" sz="2000" dirty="0"/>
              <a:t> contains nodes with </a:t>
            </a:r>
            <a:r>
              <a:rPr lang="en-US" sz="2000" b="1" dirty="0"/>
              <a:t>values less than</a:t>
            </a:r>
            <a:r>
              <a:rPr lang="en-US" sz="2000" dirty="0"/>
              <a:t> the parent node.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right child</a:t>
            </a:r>
            <a:r>
              <a:rPr lang="en-US" sz="2000" dirty="0"/>
              <a:t> contains nodes with </a:t>
            </a:r>
            <a:r>
              <a:rPr lang="en-US" sz="2000" b="1" dirty="0"/>
              <a:t>values greater than</a:t>
            </a:r>
            <a:r>
              <a:rPr lang="en-US" sz="2000" dirty="0"/>
              <a:t> the parent node.</a:t>
            </a:r>
          </a:p>
          <a:p>
            <a:r>
              <a:rPr lang="en-US" sz="2000" b="1" dirty="0"/>
              <a:t>🔹 Structure Example:</a:t>
            </a:r>
          </a:p>
          <a:p>
            <a:r>
              <a:rPr lang="en-US" sz="2000" dirty="0"/>
              <a:t>        50</a:t>
            </a:r>
          </a:p>
          <a:p>
            <a:r>
              <a:rPr lang="en-US" sz="2000" dirty="0"/>
              <a:t>       /  \</a:t>
            </a:r>
          </a:p>
          <a:p>
            <a:r>
              <a:rPr lang="en-US" sz="2000" dirty="0"/>
              <a:t>     30    70</a:t>
            </a:r>
          </a:p>
          <a:p>
            <a:r>
              <a:rPr lang="en-US" sz="2000" dirty="0"/>
              <a:t>    / \    / \</a:t>
            </a:r>
          </a:p>
          <a:p>
            <a:r>
              <a:rPr lang="en-US" sz="2000" dirty="0"/>
              <a:t>   20 40  60 80</a:t>
            </a:r>
          </a:p>
          <a:p>
            <a:r>
              <a:rPr lang="en-US" sz="2000" b="1" dirty="0"/>
              <a:t>🔹 Properties:</a:t>
            </a:r>
          </a:p>
          <a:p>
            <a:r>
              <a:rPr lang="en-US" sz="2000" b="1" dirty="0"/>
              <a:t>Left &lt; Root &lt; Right</a:t>
            </a:r>
            <a:endParaRPr lang="en-US" sz="2000" dirty="0"/>
          </a:p>
          <a:p>
            <a:r>
              <a:rPr lang="en-US" sz="2000" dirty="0"/>
              <a:t>No duplicate nodes allowed.</a:t>
            </a:r>
          </a:p>
          <a:p>
            <a:r>
              <a:rPr lang="en-US" sz="2000" dirty="0"/>
              <a:t>Traversing the BST in </a:t>
            </a:r>
            <a:r>
              <a:rPr lang="en-US" sz="2000" b="1" dirty="0"/>
              <a:t>in-order</a:t>
            </a:r>
            <a:r>
              <a:rPr lang="en-US" sz="2000" dirty="0"/>
              <a:t> gives elements in </a:t>
            </a:r>
            <a:r>
              <a:rPr lang="en-US" sz="2000" b="1" dirty="0"/>
              <a:t>ascending order</a:t>
            </a:r>
            <a:r>
              <a:rPr lang="en-US" sz="2000" dirty="0"/>
              <a:t>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1081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1858-0F5B-28A4-B334-4EDE426D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96" y="-117987"/>
            <a:ext cx="8596668" cy="94389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/>
              <a:t>Introduction to graph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66F13-54B7-AB92-22E3-CDA52B078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639" y="825910"/>
            <a:ext cx="10245212" cy="6032089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🔹 Definition:</a:t>
            </a:r>
          </a:p>
          <a:p>
            <a:r>
              <a:rPr lang="en-US" sz="2000" dirty="0"/>
              <a:t>A </a:t>
            </a:r>
            <a:r>
              <a:rPr lang="en-US" sz="2000" b="1" dirty="0"/>
              <a:t>Graph</a:t>
            </a:r>
            <a:r>
              <a:rPr lang="en-US" sz="2000" dirty="0"/>
              <a:t> is a </a:t>
            </a:r>
            <a:r>
              <a:rPr lang="en-US" sz="2000" b="1" dirty="0"/>
              <a:t>non-linear data structure</a:t>
            </a:r>
            <a:r>
              <a:rPr lang="en-US" sz="2000" dirty="0"/>
              <a:t> consisting of a </a:t>
            </a:r>
            <a:r>
              <a:rPr lang="en-US" sz="2000" b="1" dirty="0"/>
              <a:t>set of vertices (nodes)</a:t>
            </a:r>
            <a:r>
              <a:rPr lang="en-US" sz="2000" dirty="0"/>
              <a:t> and </a:t>
            </a:r>
            <a:r>
              <a:rPr lang="en-US" sz="2000" b="1" dirty="0"/>
              <a:t>edges (connections)</a:t>
            </a:r>
            <a:r>
              <a:rPr lang="en-US" sz="2000" dirty="0"/>
              <a:t> between them.</a:t>
            </a:r>
          </a:p>
          <a:p>
            <a:r>
              <a:rPr lang="en-US" sz="2000" dirty="0"/>
              <a:t>Formally,</a:t>
            </a:r>
            <a:br>
              <a:rPr lang="en-US" sz="2000" dirty="0"/>
            </a:br>
            <a:r>
              <a:rPr lang="en-US" sz="2000" b="1" dirty="0"/>
              <a:t>Graph G = (V, E)</a:t>
            </a:r>
            <a:br>
              <a:rPr lang="en-US" sz="2000" dirty="0"/>
            </a:br>
            <a:r>
              <a:rPr lang="en-US" sz="2000" dirty="0"/>
              <a:t>where</a:t>
            </a:r>
          </a:p>
          <a:p>
            <a:r>
              <a:rPr lang="en-US" sz="2000" b="1" dirty="0"/>
              <a:t>V</a:t>
            </a:r>
            <a:r>
              <a:rPr lang="en-US" sz="2000" dirty="0"/>
              <a:t> → set of vertices</a:t>
            </a:r>
          </a:p>
          <a:p>
            <a:r>
              <a:rPr lang="en-US" sz="2000" b="1" dirty="0"/>
              <a:t>E</a:t>
            </a:r>
            <a:r>
              <a:rPr lang="en-US" sz="2000" dirty="0"/>
              <a:t> → set of edges connecting vertices</a:t>
            </a:r>
          </a:p>
          <a:p>
            <a:r>
              <a:rPr lang="en-US" sz="2000" b="1" dirty="0"/>
              <a:t>🔹 Example:</a:t>
            </a:r>
          </a:p>
          <a:p>
            <a:r>
              <a:rPr lang="en-US" sz="2000" dirty="0"/>
              <a:t>A —— B</a:t>
            </a:r>
          </a:p>
          <a:p>
            <a:r>
              <a:rPr lang="en-US" sz="2000" dirty="0"/>
              <a:t>|   / |</a:t>
            </a:r>
          </a:p>
          <a:p>
            <a:r>
              <a:rPr lang="en-US" sz="2000" dirty="0"/>
              <a:t>|  /  |</a:t>
            </a:r>
          </a:p>
          <a:p>
            <a:r>
              <a:rPr lang="en-US" sz="2000" dirty="0"/>
              <a:t>C —— D</a:t>
            </a:r>
          </a:p>
          <a:p>
            <a:r>
              <a:rPr lang="en-US" sz="2000" dirty="0"/>
              <a:t>Here:</a:t>
            </a:r>
            <a:br>
              <a:rPr lang="en-US" sz="2000" dirty="0"/>
            </a:br>
            <a:r>
              <a:rPr lang="en-US" sz="2000" dirty="0"/>
              <a:t>V = {A, B, C, D}</a:t>
            </a:r>
            <a:br>
              <a:rPr lang="en-US" sz="2000" dirty="0"/>
            </a:br>
            <a:r>
              <a:rPr lang="en-US" sz="2000" dirty="0"/>
              <a:t>E = {(A,B), (A,C), (B,C), (B,D), (C,D)}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26361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83586-C3DC-D9B2-C015-0594134D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25" y="0"/>
            <a:ext cx="8596668" cy="815975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u="sng" dirty="0"/>
              <a:t>Graph Terminologies</a:t>
            </a:r>
            <a:r>
              <a:rPr lang="en-IN" dirty="0"/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F4385-9A8A-C154-6068-889AC81AF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B95A98-7344-5CBB-C72C-2D3D5C541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266588"/>
              </p:ext>
            </p:extLst>
          </p:nvPr>
        </p:nvGraphicFramePr>
        <p:xfrm>
          <a:off x="334296" y="815975"/>
          <a:ext cx="9360310" cy="5791300"/>
        </p:xfrm>
        <a:graphic>
          <a:graphicData uri="http://schemas.openxmlformats.org/drawingml/2006/table">
            <a:tbl>
              <a:tblPr/>
              <a:tblGrid>
                <a:gridCol w="4680155">
                  <a:extLst>
                    <a:ext uri="{9D8B030D-6E8A-4147-A177-3AD203B41FA5}">
                      <a16:colId xmlns:a16="http://schemas.microsoft.com/office/drawing/2014/main" val="1181735418"/>
                    </a:ext>
                  </a:extLst>
                </a:gridCol>
                <a:gridCol w="4680155">
                  <a:extLst>
                    <a:ext uri="{9D8B030D-6E8A-4147-A177-3AD203B41FA5}">
                      <a16:colId xmlns:a16="http://schemas.microsoft.com/office/drawing/2014/main" val="1240548696"/>
                    </a:ext>
                  </a:extLst>
                </a:gridCol>
              </a:tblGrid>
              <a:tr h="249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Term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Definition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896798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Vertex (Node)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Fundamental unit of a graph. (e.g., A, B, C, D)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899854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Edge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Connection between two vertices. (e.g., (A,B))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500075"/>
                  </a:ext>
                </a:extLst>
              </a:tr>
              <a:tr h="249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Adjacent Vertices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Two vertices connected by an edge.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410608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Path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 sequence of edges connecting vertices.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678675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Degree of Vertex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Number of edges connected to a vertex.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700162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Loop</a:t>
                      </a:r>
                      <a:endParaRPr lang="en-IN" sz="1100" dirty="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An edge that connects a vertex to itself.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071704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Parallel Edges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Two or more edges connecting the same pair of vertices.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96072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Connected Graph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 graph where every vertex is reachable from every other vertex.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946211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Disconnected Graph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Some vertices are not connected to others.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680506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Weighted Graph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Each edge has a weight (cost, distance, etc.).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32065"/>
                  </a:ext>
                </a:extLst>
              </a:tr>
              <a:tr h="249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Directed Graph (Digraph)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Edges have directions (→).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376647"/>
                  </a:ext>
                </a:extLst>
              </a:tr>
              <a:tr h="249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Undirected Graph</a:t>
                      </a:r>
                      <a:endParaRPr lang="en-IN" sz="1100" dirty="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Edges have no direction.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225052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Cycle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 path where the start and end vertices are the same.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955615"/>
                  </a:ext>
                </a:extLst>
              </a:tr>
              <a:tr h="435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Acyclic Graph</a:t>
                      </a:r>
                      <a:endParaRPr lang="en-IN" sz="1100"/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 graph with no cycles. (All trees are acyclic graphs.)</a:t>
                      </a:r>
                    </a:p>
                  </a:txBody>
                  <a:tcPr marL="41736" marR="41736" marT="20868" marB="20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05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14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FCB-6187-58FE-463B-C72E4D3E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29" y="-521110"/>
            <a:ext cx="8596668" cy="52111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5A92D-25F8-61BB-B821-D349EC580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205" y="1"/>
            <a:ext cx="9764523" cy="5860026"/>
          </a:xfrm>
        </p:spPr>
        <p:txBody>
          <a:bodyPr>
            <a:normAutofit/>
          </a:bodyPr>
          <a:lstStyle/>
          <a:p>
            <a:r>
              <a:rPr lang="en-US" sz="2800" b="1" dirty="0"/>
              <a:t>🔹 Operations in BST:</a:t>
            </a:r>
          </a:p>
          <a:p>
            <a:r>
              <a:rPr lang="en-US" sz="2800" b="1" dirty="0"/>
              <a:t>Insertion:</a:t>
            </a:r>
            <a:r>
              <a:rPr lang="en-US" sz="2800" dirty="0"/>
              <a:t> Add a node at correct position based on value.</a:t>
            </a:r>
          </a:p>
          <a:p>
            <a:r>
              <a:rPr lang="en-US" sz="2800" b="1" dirty="0"/>
              <a:t>Deletion:</a:t>
            </a:r>
            <a:r>
              <a:rPr lang="en-US" sz="2800" dirty="0"/>
              <a:t> Remove a node and rearrange links.</a:t>
            </a:r>
          </a:p>
          <a:p>
            <a:r>
              <a:rPr lang="en-US" sz="2800" b="1" dirty="0"/>
              <a:t>Search:</a:t>
            </a:r>
            <a:r>
              <a:rPr lang="en-US" sz="2800" dirty="0"/>
              <a:t> Search for a value efficiently (O(log n) average time).</a:t>
            </a:r>
          </a:p>
          <a:p>
            <a:r>
              <a:rPr lang="en-US" sz="2800" b="1" dirty="0"/>
              <a:t>🔹 Applications:</a:t>
            </a:r>
          </a:p>
          <a:p>
            <a:r>
              <a:rPr lang="en-US" sz="2800" dirty="0"/>
              <a:t>Efficient searching and sorting</a:t>
            </a:r>
          </a:p>
          <a:p>
            <a:r>
              <a:rPr lang="en-US" sz="2800" dirty="0"/>
              <a:t>Database indexing</a:t>
            </a:r>
          </a:p>
          <a:p>
            <a:r>
              <a:rPr lang="en-US" sz="2800" dirty="0"/>
              <a:t>Symbol tables in compilers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88324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4490-7A1F-096C-9301-91864E6B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1916"/>
            <a:ext cx="10285633" cy="1016819"/>
          </a:xfrm>
        </p:spPr>
        <p:txBody>
          <a:bodyPr>
            <a:noAutofit/>
          </a:bodyPr>
          <a:lstStyle/>
          <a:p>
            <a:r>
              <a:rPr lang="en-US" sz="5400" dirty="0"/>
              <a:t>6.3]</a:t>
            </a:r>
            <a:r>
              <a:rPr lang="en-US" sz="6000" dirty="0"/>
              <a:t> </a:t>
            </a:r>
            <a:r>
              <a:rPr lang="en-US" sz="5400" u="sng" dirty="0"/>
              <a:t>Representation of Tree</a:t>
            </a:r>
            <a:r>
              <a:rPr lang="en-US" sz="5400" dirty="0"/>
              <a:t> : -</a:t>
            </a:r>
            <a:endParaRPr lang="en-IN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67599-3903-56D5-87C5-F6716D8E0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225" y="737420"/>
            <a:ext cx="9518717" cy="4031225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Tree</a:t>
            </a:r>
            <a:r>
              <a:rPr lang="en-US" sz="2400" dirty="0"/>
              <a:t> is a non-linear data structure that connects nodes using links (edges).</a:t>
            </a:r>
            <a:br>
              <a:rPr lang="en-US" sz="2400" dirty="0"/>
            </a:br>
            <a:r>
              <a:rPr lang="en-US" sz="2400" dirty="0"/>
              <a:t>To </a:t>
            </a:r>
            <a:r>
              <a:rPr lang="en-US" sz="2400" b="1" dirty="0"/>
              <a:t>store and process</a:t>
            </a:r>
            <a:r>
              <a:rPr lang="en-US" sz="2400" dirty="0"/>
              <a:t> a tree in a computer, we need to represent it properly in memory.</a:t>
            </a:r>
          </a:p>
          <a:p>
            <a:r>
              <a:rPr lang="en-US" sz="2400" dirty="0"/>
              <a:t>There are </a:t>
            </a:r>
            <a:r>
              <a:rPr lang="en-US" sz="2400" b="1" dirty="0"/>
              <a:t>two main methods</a:t>
            </a:r>
            <a:r>
              <a:rPr lang="en-US" sz="2400" dirty="0"/>
              <a:t> to represent a tree:</a:t>
            </a:r>
          </a:p>
          <a:p>
            <a:r>
              <a:rPr lang="en-US" sz="2400" b="1" dirty="0"/>
              <a:t>Using Arrays</a:t>
            </a:r>
            <a:endParaRPr lang="en-US" sz="2400" dirty="0"/>
          </a:p>
          <a:p>
            <a:r>
              <a:rPr lang="en-US" sz="2400" b="1" dirty="0"/>
              <a:t>Using Linked Lists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30990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18D5-C88A-1948-4435-1622169F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2" y="-181077"/>
            <a:ext cx="8596668" cy="1124974"/>
          </a:xfrm>
        </p:spPr>
        <p:txBody>
          <a:bodyPr>
            <a:normAutofit/>
          </a:bodyPr>
          <a:lstStyle/>
          <a:p>
            <a:r>
              <a:rPr lang="en-US" sz="4800" dirty="0"/>
              <a:t>1. </a:t>
            </a:r>
            <a:r>
              <a:rPr lang="en-US" sz="4800" u="sng" dirty="0"/>
              <a:t>Array Representation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54AAF-B2D1-63C8-B850-3A613E7CA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722" y="865239"/>
            <a:ext cx="9184420" cy="6085348"/>
          </a:xfrm>
        </p:spPr>
        <p:txBody>
          <a:bodyPr>
            <a:normAutofit/>
          </a:bodyPr>
          <a:lstStyle/>
          <a:p>
            <a:r>
              <a:rPr lang="en-US" b="1" dirty="0"/>
              <a:t>🔹 Idea:</a:t>
            </a:r>
          </a:p>
          <a:p>
            <a:r>
              <a:rPr lang="en-US" dirty="0"/>
              <a:t>Each node of the tree is stored in an array, and the </a:t>
            </a:r>
            <a:r>
              <a:rPr lang="en-US" b="1" dirty="0"/>
              <a:t>position (index)</a:t>
            </a:r>
            <a:r>
              <a:rPr lang="en-US" dirty="0"/>
              <a:t> represents the </a:t>
            </a:r>
            <a:r>
              <a:rPr lang="en-US" b="1" dirty="0"/>
              <a:t>relationship</a:t>
            </a:r>
            <a:r>
              <a:rPr lang="en-US" dirty="0"/>
              <a:t> between parent and child.</a:t>
            </a:r>
          </a:p>
          <a:p>
            <a:r>
              <a:rPr lang="en-US" dirty="0"/>
              <a:t>This method is usually used for </a:t>
            </a:r>
            <a:r>
              <a:rPr lang="en-US" b="1" dirty="0"/>
              <a:t>Complete Binary Trees</a:t>
            </a:r>
            <a:r>
              <a:rPr lang="en-US" dirty="0"/>
              <a:t>.</a:t>
            </a:r>
          </a:p>
          <a:p>
            <a:r>
              <a:rPr lang="en-US" b="1" dirty="0"/>
              <a:t>🔹 Rules (for Binary Tree):</a:t>
            </a:r>
          </a:p>
          <a:p>
            <a:r>
              <a:rPr lang="en-US" dirty="0"/>
              <a:t>If a node is stored at </a:t>
            </a:r>
            <a:r>
              <a:rPr lang="en-US" b="1" dirty="0"/>
              <a:t>index </a:t>
            </a:r>
            <a:r>
              <a:rPr lang="en-US" b="1" dirty="0" err="1"/>
              <a:t>i</a:t>
            </a:r>
            <a:r>
              <a:rPr lang="en-US" dirty="0"/>
              <a:t>, then:</a:t>
            </a:r>
          </a:p>
          <a:p>
            <a:r>
              <a:rPr lang="en-US" b="1" dirty="0"/>
              <a:t>Left child</a:t>
            </a:r>
            <a:r>
              <a:rPr lang="en-US" dirty="0"/>
              <a:t> → index 2i</a:t>
            </a:r>
          </a:p>
          <a:p>
            <a:r>
              <a:rPr lang="en-US" b="1" dirty="0"/>
              <a:t>Right child</a:t>
            </a:r>
            <a:r>
              <a:rPr lang="en-US" dirty="0"/>
              <a:t> → index 2i + 1</a:t>
            </a:r>
          </a:p>
          <a:p>
            <a:r>
              <a:rPr lang="en-US" b="1" dirty="0"/>
              <a:t>Parent</a:t>
            </a:r>
            <a:r>
              <a:rPr lang="en-US" dirty="0"/>
              <a:t> → index </a:t>
            </a:r>
            <a:r>
              <a:rPr lang="en-US" dirty="0" err="1"/>
              <a:t>i</a:t>
            </a:r>
            <a:r>
              <a:rPr lang="en-US" dirty="0"/>
              <a:t>/2 (integer division)</a:t>
            </a:r>
          </a:p>
          <a:p>
            <a:r>
              <a:rPr lang="en-US" b="1" dirty="0"/>
              <a:t>Advantages:</a:t>
            </a:r>
          </a:p>
          <a:p>
            <a:r>
              <a:rPr lang="en-US" dirty="0"/>
              <a:t>Easy to locate parent and child using formulas</a:t>
            </a:r>
          </a:p>
          <a:p>
            <a:r>
              <a:rPr lang="en-US" dirty="0"/>
              <a:t>Memory efficient for complete trees</a:t>
            </a:r>
          </a:p>
          <a:p>
            <a:r>
              <a:rPr lang="en-US" b="1" dirty="0"/>
              <a:t>🔹 Disadvantages:</a:t>
            </a:r>
          </a:p>
          <a:p>
            <a:r>
              <a:rPr lang="en-US" b="1" dirty="0"/>
              <a:t>Wastes memory</a:t>
            </a:r>
            <a:r>
              <a:rPr lang="en-US" dirty="0"/>
              <a:t> if the tree is sparse</a:t>
            </a:r>
          </a:p>
          <a:p>
            <a:r>
              <a:rPr lang="en-US" b="1" dirty="0"/>
              <a:t>Difficult to add or delete</a:t>
            </a:r>
            <a:r>
              <a:rPr lang="en-US" dirty="0"/>
              <a:t> nodes dynamically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94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F6F5-EE12-F212-7333-4365960C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8" y="-78658"/>
            <a:ext cx="10236471" cy="894735"/>
          </a:xfrm>
        </p:spPr>
        <p:txBody>
          <a:bodyPr>
            <a:normAutofit/>
          </a:bodyPr>
          <a:lstStyle/>
          <a:p>
            <a:r>
              <a:rPr lang="en-US" sz="4800" dirty="0"/>
              <a:t>2. </a:t>
            </a:r>
            <a:r>
              <a:rPr lang="en-US" sz="4800" u="sng" dirty="0"/>
              <a:t>Linked List Representation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F0920-02C6-EA19-C712-6FB182321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126" y="894735"/>
            <a:ext cx="9302407" cy="5963265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/>
              <a:t>🔹 Idea:</a:t>
            </a:r>
          </a:p>
          <a:p>
            <a:r>
              <a:rPr lang="en-US" sz="1600" dirty="0"/>
              <a:t>Each node contains:</a:t>
            </a:r>
          </a:p>
          <a:p>
            <a:r>
              <a:rPr lang="en-US" sz="1600" b="1" dirty="0"/>
              <a:t>Data (value)</a:t>
            </a:r>
            <a:endParaRPr lang="en-US" sz="1600" dirty="0"/>
          </a:p>
          <a:p>
            <a:r>
              <a:rPr lang="en-US" sz="1600" b="1" dirty="0"/>
              <a:t>Pointer to its left child</a:t>
            </a:r>
            <a:endParaRPr lang="en-US" sz="1600" dirty="0"/>
          </a:p>
          <a:p>
            <a:r>
              <a:rPr lang="en-US" sz="1600" b="1" dirty="0"/>
              <a:t>Pointer to its right child</a:t>
            </a:r>
            <a:endParaRPr lang="en-US" sz="1600" dirty="0"/>
          </a:p>
          <a:p>
            <a:r>
              <a:rPr lang="en-US" sz="1600" b="1" dirty="0"/>
              <a:t>🔹 Structure (in C):</a:t>
            </a:r>
          </a:p>
          <a:p>
            <a:r>
              <a:rPr lang="en-US" sz="1600" dirty="0"/>
              <a:t>struct node {</a:t>
            </a:r>
          </a:p>
          <a:p>
            <a:r>
              <a:rPr lang="en-US" sz="1600" dirty="0"/>
              <a:t>    int data;</a:t>
            </a:r>
          </a:p>
          <a:p>
            <a:r>
              <a:rPr lang="en-US" sz="1600" dirty="0"/>
              <a:t>    struct node *left;</a:t>
            </a:r>
          </a:p>
          <a:p>
            <a:r>
              <a:rPr lang="en-US" sz="1600" dirty="0"/>
              <a:t>    struct node *right;</a:t>
            </a:r>
          </a:p>
          <a:p>
            <a:r>
              <a:rPr lang="en-US" sz="1600" dirty="0"/>
              <a:t>};</a:t>
            </a:r>
          </a:p>
          <a:p>
            <a:r>
              <a:rPr lang="en-US" sz="1600" b="1" dirty="0"/>
              <a:t>🔹 Example:</a:t>
            </a:r>
          </a:p>
          <a:p>
            <a:r>
              <a:rPr lang="en-US" sz="1600" dirty="0"/>
              <a:t>For the tree:</a:t>
            </a:r>
          </a:p>
          <a:p>
            <a:r>
              <a:rPr lang="en-US" sz="1600" dirty="0"/>
              <a:t>        A</a:t>
            </a:r>
          </a:p>
          <a:p>
            <a:r>
              <a:rPr lang="en-US" sz="1600" dirty="0"/>
              <a:t>       / \</a:t>
            </a:r>
          </a:p>
          <a:p>
            <a:r>
              <a:rPr lang="en-US" sz="1600" dirty="0"/>
              <a:t>      B   C</a:t>
            </a:r>
          </a:p>
          <a:p>
            <a:r>
              <a:rPr lang="en-US" sz="1600" dirty="0"/>
              <a:t>     / \</a:t>
            </a:r>
          </a:p>
          <a:p>
            <a:r>
              <a:rPr lang="en-US" sz="1600" dirty="0"/>
              <a:t>    D   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9380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8731-EF05-3C04-8F4B-64AD17D7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0" y="-332658"/>
            <a:ext cx="8596668" cy="35805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62345-49CC-082D-A700-32227EE7C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555" y="0"/>
            <a:ext cx="9440058" cy="4630994"/>
          </a:xfrm>
        </p:spPr>
        <p:txBody>
          <a:bodyPr>
            <a:normAutofit/>
          </a:bodyPr>
          <a:lstStyle/>
          <a:p>
            <a:r>
              <a:rPr lang="en-US" sz="2800" b="1" dirty="0"/>
              <a:t>🔹 Advantages : -</a:t>
            </a:r>
          </a:p>
          <a:p>
            <a:r>
              <a:rPr lang="en-US" sz="2800" b="1" dirty="0"/>
              <a:t>Dynamic</a:t>
            </a:r>
            <a:r>
              <a:rPr lang="en-US" sz="2800" dirty="0"/>
              <a:t> — can grow or shrink easily</a:t>
            </a:r>
          </a:p>
          <a:p>
            <a:r>
              <a:rPr lang="en-US" sz="2800" b="1" dirty="0"/>
              <a:t>No wasted space</a:t>
            </a:r>
            <a:endParaRPr lang="en-US" sz="2800" dirty="0"/>
          </a:p>
          <a:p>
            <a:r>
              <a:rPr lang="en-US" sz="2800" dirty="0"/>
              <a:t>Works well for </a:t>
            </a:r>
            <a:r>
              <a:rPr lang="en-US" sz="2800" b="1" dirty="0"/>
              <a:t>any type of tree</a:t>
            </a:r>
            <a:r>
              <a:rPr lang="en-US" sz="2800" dirty="0"/>
              <a:t> (not only binary)</a:t>
            </a:r>
          </a:p>
          <a:p>
            <a:r>
              <a:rPr lang="en-US" sz="2800" b="1" dirty="0"/>
              <a:t>🔹 Disadvantages : -</a:t>
            </a:r>
          </a:p>
          <a:p>
            <a:r>
              <a:rPr lang="en-US" sz="2800" dirty="0"/>
              <a:t>Requires </a:t>
            </a:r>
            <a:r>
              <a:rPr lang="en-US" sz="2800" b="1" dirty="0"/>
              <a:t>extra memory</a:t>
            </a:r>
            <a:r>
              <a:rPr lang="en-US" sz="2800" dirty="0"/>
              <a:t> for pointers</a:t>
            </a:r>
          </a:p>
          <a:p>
            <a:r>
              <a:rPr lang="en-US" sz="2800" b="1" dirty="0"/>
              <a:t>Accessing parent nodes</a:t>
            </a:r>
            <a:r>
              <a:rPr lang="en-US" sz="2800" dirty="0"/>
              <a:t> is not straightforward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43461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CC3E-69CD-16F9-6CD9-64C9B3A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61" y="-196645"/>
            <a:ext cx="8596668" cy="1120877"/>
          </a:xfrm>
        </p:spPr>
        <p:txBody>
          <a:bodyPr>
            <a:normAutofit/>
          </a:bodyPr>
          <a:lstStyle/>
          <a:p>
            <a:r>
              <a:rPr lang="en-US" sz="4800" dirty="0"/>
              <a:t>6.4] </a:t>
            </a:r>
            <a:r>
              <a:rPr lang="en-US" sz="4800" u="sng" dirty="0"/>
              <a:t>Operations on trees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7E6AE-2A28-2F3A-37A6-8B3CCDD31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561" y="786582"/>
            <a:ext cx="9872678" cy="5417573"/>
          </a:xfrm>
        </p:spPr>
        <p:txBody>
          <a:bodyPr>
            <a:normAutofit/>
          </a:bodyPr>
          <a:lstStyle/>
          <a:p>
            <a:r>
              <a:rPr lang="en-US" sz="2800" b="1" dirty="0"/>
              <a:t>OPERATIONS ON TREES</a:t>
            </a:r>
          </a:p>
          <a:p>
            <a:r>
              <a:rPr lang="en-US" sz="2800" dirty="0"/>
              <a:t>A </a:t>
            </a:r>
            <a:r>
              <a:rPr lang="en-US" sz="2800" b="1" dirty="0"/>
              <a:t>Tree</a:t>
            </a:r>
            <a:r>
              <a:rPr lang="en-US" sz="2800" dirty="0"/>
              <a:t> is a non-linear data structure used to store hierarchical relationships between elements.</a:t>
            </a:r>
            <a:br>
              <a:rPr lang="en-US" sz="2800" dirty="0"/>
            </a:br>
            <a:r>
              <a:rPr lang="en-US" sz="2800" dirty="0"/>
              <a:t>Common </a:t>
            </a:r>
            <a:r>
              <a:rPr lang="en-US" sz="2800" b="1" dirty="0"/>
              <a:t>operations</a:t>
            </a:r>
            <a:r>
              <a:rPr lang="en-US" sz="2800" dirty="0"/>
              <a:t> performed on trees include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Insertion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Deletion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Searching</a:t>
            </a:r>
            <a:endParaRPr lang="en-US" sz="2800" dirty="0"/>
          </a:p>
          <a:p>
            <a:pPr lvl="1"/>
            <a:r>
              <a:rPr lang="en-US" sz="2800" dirty="0"/>
              <a:t>Depth-First Search (DFS)</a:t>
            </a:r>
          </a:p>
          <a:p>
            <a:pPr lvl="1"/>
            <a:r>
              <a:rPr lang="en-US" sz="2800" dirty="0"/>
              <a:t>Breadth-First Search (BFS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44770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4A64-027A-4428-CD87-02080101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6" y="-131916"/>
            <a:ext cx="8596668" cy="1026652"/>
          </a:xfrm>
        </p:spPr>
        <p:txBody>
          <a:bodyPr>
            <a:normAutofit/>
          </a:bodyPr>
          <a:lstStyle/>
          <a:p>
            <a:r>
              <a:rPr lang="en-US" sz="4800" dirty="0"/>
              <a:t>1. </a:t>
            </a:r>
            <a:r>
              <a:rPr lang="en-US" sz="4800" u="sng" dirty="0"/>
              <a:t>Insertion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A6A06-9063-B117-E2F1-40D655AFB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147" y="894736"/>
            <a:ext cx="9851923" cy="6006690"/>
          </a:xfrm>
        </p:spPr>
        <p:txBody>
          <a:bodyPr>
            <a:normAutofit/>
          </a:bodyPr>
          <a:lstStyle/>
          <a:p>
            <a:r>
              <a:rPr lang="en-US" sz="2000" b="1" dirty="0"/>
              <a:t>🔹 Definition:</a:t>
            </a:r>
          </a:p>
          <a:p>
            <a:r>
              <a:rPr lang="en-US" sz="2000" dirty="0"/>
              <a:t>Insertion means </a:t>
            </a:r>
            <a:r>
              <a:rPr lang="en-US" sz="2000" b="1" dirty="0"/>
              <a:t>adding a new node</a:t>
            </a:r>
            <a:r>
              <a:rPr lang="en-US" sz="2000" dirty="0"/>
              <a:t> to the tree while maintaining its structure or specific properties (like in a Binary Search Tree).</a:t>
            </a:r>
          </a:p>
          <a:p>
            <a:r>
              <a:rPr lang="en-US" sz="2000" b="1" dirty="0"/>
              <a:t>🔹 Steps (in Binary Tree):</a:t>
            </a:r>
          </a:p>
          <a:p>
            <a:r>
              <a:rPr lang="en-US" sz="2000" dirty="0"/>
              <a:t>Start from the </a:t>
            </a:r>
            <a:r>
              <a:rPr lang="en-US" sz="2000" b="1" dirty="0"/>
              <a:t>root</a:t>
            </a:r>
            <a:r>
              <a:rPr lang="en-US" sz="2000" dirty="0"/>
              <a:t> node.</a:t>
            </a:r>
          </a:p>
          <a:p>
            <a:r>
              <a:rPr lang="en-US" sz="2000" dirty="0"/>
              <a:t>If the tree is </a:t>
            </a:r>
            <a:r>
              <a:rPr lang="en-US" sz="2000" b="1" dirty="0"/>
              <a:t>empty</a:t>
            </a:r>
            <a:r>
              <a:rPr lang="en-US" sz="2000" dirty="0"/>
              <a:t>, the new node becomes the </a:t>
            </a:r>
            <a:r>
              <a:rPr lang="en-US" sz="2000" b="1" dirty="0"/>
              <a:t>root</a:t>
            </a:r>
            <a:r>
              <a:rPr lang="en-US" sz="2000" dirty="0"/>
              <a:t>.</a:t>
            </a:r>
          </a:p>
          <a:p>
            <a:r>
              <a:rPr lang="en-US" sz="2000" dirty="0"/>
              <a:t>Otherwise, find the correct position where the new node should be inserted (usually the first available place in level order).</a:t>
            </a:r>
          </a:p>
          <a:p>
            <a:r>
              <a:rPr lang="en-US" sz="2000" dirty="0"/>
              <a:t>Insert the new node as </a:t>
            </a:r>
            <a:r>
              <a:rPr lang="en-US" sz="2000" b="1" dirty="0"/>
              <a:t>left</a:t>
            </a:r>
            <a:r>
              <a:rPr lang="en-US" sz="2000" dirty="0"/>
              <a:t> or </a:t>
            </a:r>
            <a:r>
              <a:rPr lang="en-US" sz="2000" b="1" dirty="0"/>
              <a:t>right</a:t>
            </a:r>
            <a:r>
              <a:rPr lang="en-US" sz="2000" dirty="0"/>
              <a:t> child.</a:t>
            </a:r>
          </a:p>
          <a:p>
            <a:r>
              <a:rPr lang="en-US" sz="2000" b="1" dirty="0"/>
              <a:t>🔹 Steps (in Binary Search Tree – BST):</a:t>
            </a:r>
          </a:p>
          <a:p>
            <a:r>
              <a:rPr lang="en-US" sz="2000" dirty="0"/>
              <a:t>If the tree is empty → the new node becomes the root.</a:t>
            </a:r>
          </a:p>
          <a:p>
            <a:r>
              <a:rPr lang="en-US" sz="2000" dirty="0"/>
              <a:t>If new value &lt; current node → go to </a:t>
            </a:r>
            <a:r>
              <a:rPr lang="en-US" sz="2000" b="1" dirty="0"/>
              <a:t>left subtree</a:t>
            </a:r>
            <a:r>
              <a:rPr lang="en-US" sz="2000" dirty="0"/>
              <a:t>.</a:t>
            </a:r>
          </a:p>
          <a:p>
            <a:r>
              <a:rPr lang="en-US" sz="2000" dirty="0"/>
              <a:t>If new value &gt; current node → go to </a:t>
            </a:r>
            <a:r>
              <a:rPr lang="en-US" sz="2000" b="1" dirty="0"/>
              <a:t>right subtree</a:t>
            </a:r>
            <a:r>
              <a:rPr lang="en-US" sz="2000" dirty="0"/>
              <a:t>.</a:t>
            </a:r>
          </a:p>
          <a:p>
            <a:r>
              <a:rPr lang="en-US" sz="2000" dirty="0"/>
              <a:t>Repeat until a null position is found, then insert the node.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83920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B409-A7BB-A780-4E88-8D36BBDD4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2" y="-112252"/>
            <a:ext cx="8596668" cy="103648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/>
              <a:t>Example (BST Insertion)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AAFD3-1106-81F9-CF9B-654A8837B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844" y="737420"/>
            <a:ext cx="8596668" cy="5643716"/>
          </a:xfrm>
        </p:spPr>
        <p:txBody>
          <a:bodyPr>
            <a:normAutofit/>
          </a:bodyPr>
          <a:lstStyle/>
          <a:p>
            <a:r>
              <a:rPr lang="en-US" sz="2800" dirty="0"/>
              <a:t>Insert 45 into this BST:</a:t>
            </a:r>
          </a:p>
          <a:p>
            <a:r>
              <a:rPr lang="en-US" sz="2800" dirty="0"/>
              <a:t>       50</a:t>
            </a:r>
          </a:p>
          <a:p>
            <a:r>
              <a:rPr lang="en-US" sz="2800" dirty="0"/>
              <a:t>      /  \</a:t>
            </a:r>
          </a:p>
          <a:p>
            <a:r>
              <a:rPr lang="en-US" sz="2800" dirty="0"/>
              <a:t>    30    70</a:t>
            </a:r>
          </a:p>
          <a:p>
            <a:r>
              <a:rPr lang="en-US" sz="2800" dirty="0"/>
              <a:t>   / \    / \</a:t>
            </a:r>
          </a:p>
          <a:p>
            <a:r>
              <a:rPr lang="en-US" sz="2800" dirty="0"/>
              <a:t>  20 40  60 80</a:t>
            </a:r>
          </a:p>
          <a:p>
            <a:r>
              <a:rPr lang="en-US" sz="2800" dirty="0"/>
              <a:t>👉 45 &lt; 50 → go left</a:t>
            </a:r>
            <a:br>
              <a:rPr lang="en-US" sz="2800" dirty="0"/>
            </a:br>
            <a:r>
              <a:rPr lang="en-US" sz="2800" dirty="0"/>
              <a:t>👉 45 &gt; 30 → go right</a:t>
            </a:r>
            <a:br>
              <a:rPr lang="en-US" sz="2800" dirty="0"/>
            </a:br>
            <a:r>
              <a:rPr lang="en-US" sz="2800" dirty="0"/>
              <a:t>👉 45 &gt; 40 → insert as right child of 40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09500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1729-CB81-DE55-9872-166E7788E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82" y="-196646"/>
            <a:ext cx="8596668" cy="1111045"/>
          </a:xfrm>
        </p:spPr>
        <p:txBody>
          <a:bodyPr>
            <a:normAutofit/>
          </a:bodyPr>
          <a:lstStyle/>
          <a:p>
            <a:r>
              <a:rPr lang="en-US" sz="4800" dirty="0"/>
              <a:t>2. </a:t>
            </a:r>
            <a:r>
              <a:rPr lang="en-US" sz="4800" u="sng" dirty="0"/>
              <a:t>Deletion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16DF8-B907-8BF1-890F-70EBD4B4D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540" y="914399"/>
            <a:ext cx="9902176" cy="609108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🔹 Definition:</a:t>
            </a:r>
          </a:p>
          <a:p>
            <a:r>
              <a:rPr lang="en-US" dirty="0"/>
              <a:t>Deletion means </a:t>
            </a:r>
            <a:r>
              <a:rPr lang="en-US" b="1" dirty="0"/>
              <a:t>removing a node</a:t>
            </a:r>
            <a:r>
              <a:rPr lang="en-US" dirty="0"/>
              <a:t> from the tree and rearranging remaining nodes to maintain structure or property.</a:t>
            </a:r>
          </a:p>
          <a:p>
            <a:r>
              <a:rPr lang="en-US" b="1" dirty="0"/>
              <a:t>🔹Example:</a:t>
            </a:r>
          </a:p>
          <a:p>
            <a:r>
              <a:rPr lang="en-US" dirty="0"/>
              <a:t>Delete 30 from the BST:</a:t>
            </a:r>
          </a:p>
          <a:p>
            <a:r>
              <a:rPr lang="en-US" dirty="0"/>
              <a:t>       50</a:t>
            </a:r>
          </a:p>
          <a:p>
            <a:r>
              <a:rPr lang="en-US" dirty="0"/>
              <a:t>      /  \</a:t>
            </a:r>
          </a:p>
          <a:p>
            <a:r>
              <a:rPr lang="en-US" dirty="0"/>
              <a:t>    30    70</a:t>
            </a:r>
          </a:p>
          <a:p>
            <a:r>
              <a:rPr lang="en-US" dirty="0"/>
              <a:t>   / \    / \</a:t>
            </a:r>
          </a:p>
          <a:p>
            <a:r>
              <a:rPr lang="en-US" dirty="0"/>
              <a:t>  20 40  60 80</a:t>
            </a:r>
          </a:p>
          <a:p>
            <a:r>
              <a:rPr lang="en-US" dirty="0"/>
              <a:t>30 has </a:t>
            </a:r>
            <a:r>
              <a:rPr lang="en-US" b="1" dirty="0"/>
              <a:t>two children</a:t>
            </a:r>
            <a:r>
              <a:rPr lang="en-US" dirty="0"/>
              <a:t> → replace it with </a:t>
            </a:r>
            <a:r>
              <a:rPr lang="en-US" b="1" dirty="0" err="1"/>
              <a:t>inorder</a:t>
            </a:r>
            <a:r>
              <a:rPr lang="en-US" b="1" dirty="0"/>
              <a:t> successor (40)</a:t>
            </a:r>
            <a:r>
              <a:rPr lang="en-US" dirty="0"/>
              <a:t>.</a:t>
            </a:r>
          </a:p>
          <a:p>
            <a:r>
              <a:rPr lang="en-US" dirty="0"/>
              <a:t>New tree:</a:t>
            </a:r>
          </a:p>
          <a:p>
            <a:r>
              <a:rPr lang="en-US" dirty="0"/>
              <a:t>       50</a:t>
            </a:r>
          </a:p>
          <a:p>
            <a:r>
              <a:rPr lang="en-US" dirty="0"/>
              <a:t>      /  \</a:t>
            </a:r>
          </a:p>
          <a:p>
            <a:r>
              <a:rPr lang="en-US" dirty="0"/>
              <a:t>    40    70</a:t>
            </a:r>
          </a:p>
          <a:p>
            <a:r>
              <a:rPr lang="en-US" dirty="0"/>
              <a:t>   /     / \</a:t>
            </a:r>
          </a:p>
          <a:p>
            <a:r>
              <a:rPr lang="en-US" dirty="0"/>
              <a:t>  20    60 80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84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26FF9-10C9-0318-6A55-BE1F67B17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1" y="-88491"/>
            <a:ext cx="8596668" cy="100289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/>
              <a:t>Example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5B2A8-6693-6206-6134-FAE43A36E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92" y="993057"/>
            <a:ext cx="9381065" cy="5702710"/>
          </a:xfrm>
        </p:spPr>
        <p:txBody>
          <a:bodyPr>
            <a:normAutofit/>
          </a:bodyPr>
          <a:lstStyle/>
          <a:p>
            <a:r>
              <a:rPr lang="en-US" sz="2000" dirty="0"/>
              <a:t>Delete 30 from the BST:</a:t>
            </a:r>
          </a:p>
          <a:p>
            <a:r>
              <a:rPr lang="en-US" sz="2000" dirty="0"/>
              <a:t>       50</a:t>
            </a:r>
          </a:p>
          <a:p>
            <a:r>
              <a:rPr lang="en-US" sz="2000" dirty="0"/>
              <a:t>      /  \</a:t>
            </a:r>
          </a:p>
          <a:p>
            <a:r>
              <a:rPr lang="en-US" sz="2000" dirty="0"/>
              <a:t>    30    70</a:t>
            </a:r>
          </a:p>
          <a:p>
            <a:r>
              <a:rPr lang="en-US" sz="2000" dirty="0"/>
              <a:t>   / \    / \</a:t>
            </a:r>
          </a:p>
          <a:p>
            <a:r>
              <a:rPr lang="en-US" sz="2000" dirty="0"/>
              <a:t>  20 40  60 80</a:t>
            </a:r>
          </a:p>
          <a:p>
            <a:r>
              <a:rPr lang="en-US" sz="2000" dirty="0"/>
              <a:t>30 has </a:t>
            </a:r>
            <a:r>
              <a:rPr lang="en-US" sz="2000" b="1" dirty="0"/>
              <a:t>two children</a:t>
            </a:r>
            <a:r>
              <a:rPr lang="en-US" sz="2000" dirty="0"/>
              <a:t> → replace it with </a:t>
            </a:r>
            <a:r>
              <a:rPr lang="en-US" sz="2000" b="1" dirty="0" err="1"/>
              <a:t>inorder</a:t>
            </a:r>
            <a:r>
              <a:rPr lang="en-US" sz="2000" b="1" dirty="0"/>
              <a:t> successor (40)</a:t>
            </a:r>
            <a:r>
              <a:rPr lang="en-US" sz="2000" dirty="0"/>
              <a:t>.</a:t>
            </a:r>
          </a:p>
          <a:p>
            <a:r>
              <a:rPr lang="en-US" sz="2000" dirty="0"/>
              <a:t>New tree:</a:t>
            </a:r>
          </a:p>
          <a:p>
            <a:r>
              <a:rPr lang="en-US" sz="2000" dirty="0"/>
              <a:t>       50</a:t>
            </a:r>
          </a:p>
          <a:p>
            <a:r>
              <a:rPr lang="en-US" sz="2000" dirty="0"/>
              <a:t>      /  \</a:t>
            </a:r>
          </a:p>
          <a:p>
            <a:r>
              <a:rPr lang="en-US" sz="2000" dirty="0"/>
              <a:t>    40    70</a:t>
            </a:r>
          </a:p>
          <a:p>
            <a:r>
              <a:rPr lang="en-US" sz="2000" dirty="0"/>
              <a:t>   /     / \</a:t>
            </a:r>
          </a:p>
          <a:p>
            <a:r>
              <a:rPr lang="en-US" sz="2000" dirty="0"/>
              <a:t>  20    60 80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03506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3997-7CEC-3C85-D397-A1BE8551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51" y="0"/>
            <a:ext cx="8596668" cy="957826"/>
          </a:xfrm>
        </p:spPr>
        <p:txBody>
          <a:bodyPr>
            <a:normAutofit/>
          </a:bodyPr>
          <a:lstStyle/>
          <a:p>
            <a:r>
              <a:rPr lang="en-US" sz="4800" dirty="0"/>
              <a:t>A. </a:t>
            </a:r>
            <a:r>
              <a:rPr lang="en-US" sz="4800" u="sng" dirty="0"/>
              <a:t>Depth-First search (DFS)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646EF-F9FE-CDA7-9AEE-F526D7D12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392" y="594033"/>
            <a:ext cx="9302407" cy="2471173"/>
          </a:xfrm>
        </p:spPr>
        <p:txBody>
          <a:bodyPr>
            <a:normAutofit/>
          </a:bodyPr>
          <a:lstStyle/>
          <a:p>
            <a:r>
              <a:rPr lang="en-US" sz="2400" dirty="0"/>
              <a:t>DFS explores as </a:t>
            </a:r>
            <a:r>
              <a:rPr lang="en-US" sz="2400" b="1" dirty="0"/>
              <a:t>deep as possible</a:t>
            </a:r>
            <a:r>
              <a:rPr lang="en-US" sz="2400" dirty="0"/>
              <a:t> along each branch before backtracking.</a:t>
            </a:r>
            <a:br>
              <a:rPr lang="en-US" sz="2400" dirty="0"/>
            </a:br>
            <a:r>
              <a:rPr lang="en-US" sz="2400" dirty="0"/>
              <a:t>It uses </a:t>
            </a:r>
            <a:r>
              <a:rPr lang="en-US" sz="2400" b="1" dirty="0"/>
              <a:t>stack</a:t>
            </a:r>
            <a:r>
              <a:rPr lang="en-US" sz="2400" dirty="0"/>
              <a:t> (explicit or recursion).</a:t>
            </a:r>
          </a:p>
          <a:p>
            <a:r>
              <a:rPr lang="en-IN" sz="2400" dirty="0"/>
              <a:t>Types of DFS Traversals: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EFC822-50CE-54D4-0C58-1685745A7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768836"/>
              </p:ext>
            </p:extLst>
          </p:nvPr>
        </p:nvGraphicFramePr>
        <p:xfrm>
          <a:off x="363231" y="2697480"/>
          <a:ext cx="8596312" cy="2316972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0085340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401850782"/>
                    </a:ext>
                  </a:extLst>
                </a:gridCol>
              </a:tblGrid>
              <a:tr h="579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Traversal Type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Order of Visit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686551"/>
                  </a:ext>
                </a:extLst>
              </a:tr>
              <a:tr h="579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Pre-order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Root → Left →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141229"/>
                  </a:ext>
                </a:extLst>
              </a:tr>
              <a:tr h="579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In-order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Left → Root →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889816"/>
                  </a:ext>
                </a:extLst>
              </a:tr>
              <a:tr h="579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Post-order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Left → Right → Root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575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275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2B6C-42CC-D2BD-BE2A-A0A7DFC3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96"/>
            <a:ext cx="8596668" cy="84011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/>
              <a:t>Example</a:t>
            </a:r>
            <a:r>
              <a:rPr lang="en-US" sz="4800" dirty="0"/>
              <a:t> : -</a:t>
            </a:r>
            <a:endParaRPr lang="en-IN" sz="4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20459D-61E7-6348-C298-8B98E2D03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61111"/>
              </p:ext>
            </p:extLst>
          </p:nvPr>
        </p:nvGraphicFramePr>
        <p:xfrm>
          <a:off x="491049" y="2009568"/>
          <a:ext cx="6873312" cy="4086432"/>
        </p:xfrm>
        <a:graphic>
          <a:graphicData uri="http://schemas.openxmlformats.org/drawingml/2006/table">
            <a:tbl>
              <a:tblPr/>
              <a:tblGrid>
                <a:gridCol w="3436656">
                  <a:extLst>
                    <a:ext uri="{9D8B030D-6E8A-4147-A177-3AD203B41FA5}">
                      <a16:colId xmlns:a16="http://schemas.microsoft.com/office/drawing/2014/main" val="2868751059"/>
                    </a:ext>
                  </a:extLst>
                </a:gridCol>
                <a:gridCol w="3436656">
                  <a:extLst>
                    <a:ext uri="{9D8B030D-6E8A-4147-A177-3AD203B41FA5}">
                      <a16:colId xmlns:a16="http://schemas.microsoft.com/office/drawing/2014/main" val="875455344"/>
                    </a:ext>
                  </a:extLst>
                </a:gridCol>
              </a:tblGrid>
              <a:tr h="102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Traversal Type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Sequence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372435"/>
                  </a:ext>
                </a:extLst>
              </a:tr>
              <a:tr h="102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Pre-order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A, B, D, E,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380867"/>
                  </a:ext>
                </a:extLst>
              </a:tr>
              <a:tr h="102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In-order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D, B, E, A,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150552"/>
                  </a:ext>
                </a:extLst>
              </a:tr>
              <a:tr h="102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Post-order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D, E, B, C,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94089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7A4C419-BBB9-20BF-108A-DE64DF2F1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1049" y="855406"/>
            <a:ext cx="403178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tree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/ \ B C / \ D E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825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15EF-ACB7-AF0D-67D8-CB263F96F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0" y="-171246"/>
            <a:ext cx="9115594" cy="1075813"/>
          </a:xfrm>
        </p:spPr>
        <p:txBody>
          <a:bodyPr>
            <a:normAutofit/>
          </a:bodyPr>
          <a:lstStyle/>
          <a:p>
            <a:r>
              <a:rPr lang="en-US" sz="4800" dirty="0"/>
              <a:t>B. </a:t>
            </a:r>
            <a:r>
              <a:rPr lang="en-US" sz="4800" u="sng" dirty="0"/>
              <a:t>Breadth-First Search (BFS)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4759E-D00E-F20A-001E-B5CCC07B2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541" y="904567"/>
            <a:ext cx="9371233" cy="610091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Also called </a:t>
            </a:r>
            <a:r>
              <a:rPr lang="en-US" sz="2400" b="1" dirty="0"/>
              <a:t>Level-Order Traversal</a:t>
            </a:r>
            <a:r>
              <a:rPr lang="en-US" sz="2400" dirty="0"/>
              <a:t>.</a:t>
            </a:r>
          </a:p>
          <a:p>
            <a:r>
              <a:rPr lang="en-US" sz="2400" b="1" dirty="0"/>
              <a:t>🔹 Definition:</a:t>
            </a:r>
          </a:p>
          <a:p>
            <a:r>
              <a:rPr lang="en-US" sz="2400" dirty="0"/>
              <a:t>BFS visits </a:t>
            </a:r>
            <a:r>
              <a:rPr lang="en-US" sz="2400" b="1" dirty="0"/>
              <a:t>all nodes level by level</a:t>
            </a:r>
            <a:r>
              <a:rPr lang="en-US" sz="2400" dirty="0"/>
              <a:t>, from </a:t>
            </a:r>
            <a:r>
              <a:rPr lang="en-US" sz="2400" b="1" dirty="0"/>
              <a:t>top to bottom</a:t>
            </a:r>
            <a:r>
              <a:rPr lang="en-US" sz="2400" dirty="0"/>
              <a:t> and </a:t>
            </a:r>
            <a:r>
              <a:rPr lang="en-US" sz="2400" b="1" dirty="0"/>
              <a:t>left to right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It uses a </a:t>
            </a:r>
            <a:r>
              <a:rPr lang="en-US" sz="2400" b="1" dirty="0"/>
              <a:t>Queue</a:t>
            </a:r>
            <a:r>
              <a:rPr lang="en-US" sz="2400" dirty="0"/>
              <a:t> data structure.</a:t>
            </a:r>
          </a:p>
          <a:p>
            <a:r>
              <a:rPr lang="en-US" sz="2400" b="1" dirty="0"/>
              <a:t>🔹 Example:</a:t>
            </a:r>
          </a:p>
          <a:p>
            <a:r>
              <a:rPr lang="en-US" sz="2400" dirty="0"/>
              <a:t>For the same tree:</a:t>
            </a:r>
          </a:p>
          <a:p>
            <a:r>
              <a:rPr lang="en-US" sz="2400" dirty="0"/>
              <a:t>        A</a:t>
            </a:r>
          </a:p>
          <a:p>
            <a:r>
              <a:rPr lang="en-US" sz="2400" dirty="0"/>
              <a:t>       / \</a:t>
            </a:r>
          </a:p>
          <a:p>
            <a:r>
              <a:rPr lang="en-US" sz="2400" dirty="0"/>
              <a:t>      B   C</a:t>
            </a:r>
          </a:p>
          <a:p>
            <a:r>
              <a:rPr lang="en-US" sz="2400" dirty="0"/>
              <a:t>     / \</a:t>
            </a:r>
          </a:p>
          <a:p>
            <a:r>
              <a:rPr lang="en-US" sz="2400" dirty="0"/>
              <a:t>    D   E</a:t>
            </a:r>
          </a:p>
          <a:p>
            <a:r>
              <a:rPr lang="en-US" sz="2400" b="1" dirty="0"/>
              <a:t>BFS Traversal (Level Order):</a:t>
            </a:r>
            <a:br>
              <a:rPr lang="en-US" sz="2400" dirty="0"/>
            </a:br>
            <a:r>
              <a:rPr lang="en-US" sz="2400" dirty="0"/>
              <a:t>👉 A → B → C → D → 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0020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0926-2C14-1264-098F-1256900E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87" y="-141748"/>
            <a:ext cx="8596668" cy="1095477"/>
          </a:xfrm>
        </p:spPr>
        <p:txBody>
          <a:bodyPr>
            <a:normAutofit/>
          </a:bodyPr>
          <a:lstStyle/>
          <a:p>
            <a:r>
              <a:rPr lang="en-US" sz="4800" dirty="0"/>
              <a:t>5.5] </a:t>
            </a:r>
            <a:r>
              <a:rPr lang="en-US" sz="4800" u="sng" dirty="0"/>
              <a:t>Tree Traversing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889AC-98BA-2558-8324-7A68A6FD6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872" y="884903"/>
            <a:ext cx="9813684" cy="5869857"/>
          </a:xfrm>
        </p:spPr>
        <p:txBody>
          <a:bodyPr>
            <a:normAutofit/>
          </a:bodyPr>
          <a:lstStyle/>
          <a:p>
            <a:r>
              <a:rPr lang="en-US" sz="2400" b="1" dirty="0"/>
              <a:t>🔹 Definition:</a:t>
            </a:r>
          </a:p>
          <a:p>
            <a:r>
              <a:rPr lang="en-US" sz="2400" b="1" dirty="0"/>
              <a:t>Tree Traversal</a:t>
            </a:r>
            <a:r>
              <a:rPr lang="en-US" sz="2400" dirty="0"/>
              <a:t> means </a:t>
            </a:r>
            <a:r>
              <a:rPr lang="en-US" sz="2400" b="1" dirty="0"/>
              <a:t>visiting all the nodes</a:t>
            </a:r>
            <a:r>
              <a:rPr lang="en-US" sz="2400" dirty="0"/>
              <a:t> of a tree </a:t>
            </a:r>
            <a:r>
              <a:rPr lang="en-US" sz="2400" b="1" dirty="0"/>
              <a:t>exactly once</a:t>
            </a:r>
            <a:r>
              <a:rPr lang="en-US" sz="2400" dirty="0"/>
              <a:t> in a specific order.</a:t>
            </a:r>
          </a:p>
          <a:p>
            <a:r>
              <a:rPr lang="en-US" sz="2400" dirty="0"/>
              <a:t>Traversal helps us </a:t>
            </a:r>
            <a:r>
              <a:rPr lang="en-US" sz="2400" b="1" dirty="0"/>
              <a:t>access, print, or process</a:t>
            </a:r>
            <a:r>
              <a:rPr lang="en-US" sz="2400" dirty="0"/>
              <a:t> the data stored in each node.</a:t>
            </a:r>
          </a:p>
          <a:p>
            <a:r>
              <a:rPr lang="en-US" sz="2400" dirty="0"/>
              <a:t>There are </a:t>
            </a:r>
            <a:r>
              <a:rPr lang="en-US" sz="2400" b="1" dirty="0"/>
              <a:t>two main types</a:t>
            </a:r>
            <a:r>
              <a:rPr lang="en-US" sz="2400" dirty="0"/>
              <a:t> of tree traversals:</a:t>
            </a:r>
          </a:p>
          <a:p>
            <a:r>
              <a:rPr lang="en-US" sz="2400" b="1" dirty="0"/>
              <a:t>Depth-First Traversal (DFS)</a:t>
            </a:r>
            <a:endParaRPr lang="en-US" sz="2400" dirty="0"/>
          </a:p>
          <a:p>
            <a:pPr lvl="1"/>
            <a:r>
              <a:rPr lang="en-US" sz="2400" dirty="0"/>
              <a:t>Pre-order</a:t>
            </a:r>
          </a:p>
          <a:p>
            <a:pPr lvl="1"/>
            <a:r>
              <a:rPr lang="en-US" sz="2400" dirty="0"/>
              <a:t>In-order</a:t>
            </a:r>
          </a:p>
          <a:p>
            <a:pPr lvl="1"/>
            <a:r>
              <a:rPr lang="en-US" sz="2400" dirty="0"/>
              <a:t>Post-order</a:t>
            </a:r>
          </a:p>
          <a:p>
            <a:r>
              <a:rPr lang="en-US" sz="2400" b="1" dirty="0"/>
              <a:t>Breadth-First Traversal (BFS)</a:t>
            </a:r>
            <a:endParaRPr lang="en-US" sz="2400" dirty="0"/>
          </a:p>
          <a:p>
            <a:pPr lvl="1"/>
            <a:r>
              <a:rPr lang="en-US" sz="2400" dirty="0"/>
              <a:t>Level-order (covered earlier)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42284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438B-B36E-3F01-1F8B-ED058EF6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90" y="-90949"/>
            <a:ext cx="8596668" cy="1005348"/>
          </a:xfrm>
        </p:spPr>
        <p:txBody>
          <a:bodyPr>
            <a:normAutofit/>
          </a:bodyPr>
          <a:lstStyle/>
          <a:p>
            <a:r>
              <a:rPr lang="en-US" sz="4800" dirty="0"/>
              <a:t>1. </a:t>
            </a:r>
            <a:r>
              <a:rPr lang="en-US" sz="4800" u="sng" dirty="0"/>
              <a:t>Pre-order Traversal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613AB-41E1-FA47-4AAF-DAC62101E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284" y="914399"/>
            <a:ext cx="9458632" cy="6032090"/>
          </a:xfrm>
        </p:spPr>
        <p:txBody>
          <a:bodyPr>
            <a:normAutofit/>
          </a:bodyPr>
          <a:lstStyle/>
          <a:p>
            <a:r>
              <a:rPr lang="en-US" sz="2800" b="1" dirty="0"/>
              <a:t>🔹 Definition:</a:t>
            </a:r>
          </a:p>
          <a:p>
            <a:r>
              <a:rPr lang="en-US" sz="2800" dirty="0"/>
              <a:t>In </a:t>
            </a:r>
            <a:r>
              <a:rPr lang="en-US" sz="2800" b="1" dirty="0"/>
              <a:t>pre-order traversal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we </a:t>
            </a:r>
            <a:r>
              <a:rPr lang="en-US" sz="2800" b="1" dirty="0"/>
              <a:t>visit the root node first</a:t>
            </a:r>
            <a:r>
              <a:rPr lang="en-US" sz="2800" dirty="0"/>
              <a:t>, then traverse the </a:t>
            </a:r>
            <a:r>
              <a:rPr lang="en-US" sz="2800" b="1" dirty="0"/>
              <a:t>left subtree</a:t>
            </a:r>
            <a:r>
              <a:rPr lang="en-US" sz="2800" dirty="0"/>
              <a:t>, and finally the </a:t>
            </a:r>
            <a:r>
              <a:rPr lang="en-US" sz="2800" b="1" dirty="0"/>
              <a:t>right subtree</a:t>
            </a:r>
            <a:r>
              <a:rPr lang="en-US" sz="2800" dirty="0"/>
              <a:t>.</a:t>
            </a:r>
          </a:p>
          <a:p>
            <a:r>
              <a:rPr lang="en-US" sz="2800" b="1" dirty="0"/>
              <a:t>🔹 Steps:</a:t>
            </a:r>
          </a:p>
          <a:p>
            <a:r>
              <a:rPr lang="en-US" sz="2800" dirty="0"/>
              <a:t>Visit the </a:t>
            </a:r>
            <a:r>
              <a:rPr lang="en-US" sz="2800" b="1" dirty="0"/>
              <a:t>root</a:t>
            </a:r>
            <a:r>
              <a:rPr lang="en-US" sz="2800" dirty="0"/>
              <a:t>.</a:t>
            </a:r>
          </a:p>
          <a:p>
            <a:r>
              <a:rPr lang="en-US" sz="2800" dirty="0"/>
              <a:t>Traverse the </a:t>
            </a:r>
            <a:r>
              <a:rPr lang="en-US" sz="2800" b="1" dirty="0"/>
              <a:t>left subtree</a:t>
            </a:r>
            <a:r>
              <a:rPr lang="en-US" sz="2800" dirty="0"/>
              <a:t>.</a:t>
            </a:r>
          </a:p>
          <a:p>
            <a:r>
              <a:rPr lang="en-US" sz="2800" dirty="0"/>
              <a:t>Traverse the </a:t>
            </a:r>
            <a:r>
              <a:rPr lang="en-US" sz="2800" b="1" dirty="0"/>
              <a:t>right subtree</a:t>
            </a:r>
            <a:r>
              <a:rPr lang="en-US" sz="2800" dirty="0"/>
              <a:t>.</a:t>
            </a:r>
          </a:p>
          <a:p>
            <a:r>
              <a:rPr lang="en-US" sz="2800" b="1" dirty="0"/>
              <a:t>🔹 For the above tree:</a:t>
            </a:r>
          </a:p>
          <a:p>
            <a:r>
              <a:rPr lang="en-US" sz="2800" dirty="0"/>
              <a:t>Order of visiting →</a:t>
            </a:r>
            <a:br>
              <a:rPr lang="en-US" sz="2800" dirty="0"/>
            </a:br>
            <a:r>
              <a:rPr lang="en-US" sz="2800" b="1" dirty="0"/>
              <a:t>A → B → D → E → C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77203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8898-3BD3-50C5-F621-0D4CD6D9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55" y="-131916"/>
            <a:ext cx="8596668" cy="1026652"/>
          </a:xfrm>
        </p:spPr>
        <p:txBody>
          <a:bodyPr>
            <a:normAutofit/>
          </a:bodyPr>
          <a:lstStyle/>
          <a:p>
            <a:r>
              <a:rPr lang="en-US" sz="4800" dirty="0"/>
              <a:t>2. </a:t>
            </a:r>
            <a:r>
              <a:rPr lang="en-US" sz="4800" u="sng" dirty="0"/>
              <a:t>In-order Traversal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3AD5C-AF3B-42FE-C663-FBE0E3A1E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039" y="894736"/>
            <a:ext cx="9666200" cy="6026355"/>
          </a:xfrm>
        </p:spPr>
        <p:txBody>
          <a:bodyPr>
            <a:normAutofit/>
          </a:bodyPr>
          <a:lstStyle/>
          <a:p>
            <a:r>
              <a:rPr lang="en-US" sz="2800" b="1" dirty="0"/>
              <a:t>🔹 Definition:</a:t>
            </a:r>
          </a:p>
          <a:p>
            <a:r>
              <a:rPr lang="en-US" sz="2800" dirty="0"/>
              <a:t>In </a:t>
            </a:r>
            <a:r>
              <a:rPr lang="en-US" sz="2800" b="1" dirty="0"/>
              <a:t>in-order traversal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we </a:t>
            </a:r>
            <a:r>
              <a:rPr lang="en-US" sz="2800" b="1" dirty="0"/>
              <a:t>traverse the left subtree first</a:t>
            </a:r>
            <a:r>
              <a:rPr lang="en-US" sz="2800" dirty="0"/>
              <a:t>, then visit the </a:t>
            </a:r>
            <a:r>
              <a:rPr lang="en-US" sz="2800" b="1" dirty="0"/>
              <a:t>root</a:t>
            </a:r>
            <a:r>
              <a:rPr lang="en-US" sz="2800" dirty="0"/>
              <a:t>, and finally the </a:t>
            </a:r>
            <a:r>
              <a:rPr lang="en-US" sz="2800" b="1" dirty="0"/>
              <a:t>right subtree</a:t>
            </a:r>
            <a:r>
              <a:rPr lang="en-US" sz="2800" dirty="0"/>
              <a:t>.</a:t>
            </a:r>
          </a:p>
          <a:p>
            <a:r>
              <a:rPr lang="en-US" sz="2800" b="1" dirty="0"/>
              <a:t>🔹 Steps:</a:t>
            </a:r>
          </a:p>
          <a:p>
            <a:r>
              <a:rPr lang="en-US" sz="2800" dirty="0"/>
              <a:t>Traverse the </a:t>
            </a:r>
            <a:r>
              <a:rPr lang="en-US" sz="2800" b="1" dirty="0"/>
              <a:t>left subtree</a:t>
            </a:r>
            <a:r>
              <a:rPr lang="en-US" sz="2800" dirty="0"/>
              <a:t>.</a:t>
            </a:r>
          </a:p>
          <a:p>
            <a:r>
              <a:rPr lang="en-US" sz="2800" dirty="0"/>
              <a:t>Visit the </a:t>
            </a:r>
            <a:r>
              <a:rPr lang="en-US" sz="2800" b="1" dirty="0"/>
              <a:t>root</a:t>
            </a:r>
            <a:r>
              <a:rPr lang="en-US" sz="2800" dirty="0"/>
              <a:t>.</a:t>
            </a:r>
          </a:p>
          <a:p>
            <a:r>
              <a:rPr lang="en-US" sz="2800" dirty="0"/>
              <a:t>Traverse the </a:t>
            </a:r>
            <a:r>
              <a:rPr lang="en-US" sz="2800" b="1" dirty="0"/>
              <a:t>right subtree</a:t>
            </a:r>
            <a:r>
              <a:rPr lang="en-US" sz="2800" dirty="0"/>
              <a:t>.</a:t>
            </a:r>
          </a:p>
          <a:p>
            <a:r>
              <a:rPr lang="en-US" sz="2800" b="1" dirty="0"/>
              <a:t>🔹 For the above tree:</a:t>
            </a:r>
          </a:p>
          <a:p>
            <a:r>
              <a:rPr lang="en-US" sz="2800" dirty="0"/>
              <a:t>Order of visiting →</a:t>
            </a:r>
            <a:br>
              <a:rPr lang="en-US" sz="2800" dirty="0"/>
            </a:br>
            <a:r>
              <a:rPr lang="en-US" sz="2800" b="1" dirty="0"/>
              <a:t>D → B → E → A → C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59899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8EAD-2309-5965-EA63-BE60445F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57" y="-100780"/>
            <a:ext cx="8596668" cy="101518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sz="4800" u="sng" dirty="0"/>
              <a:t>Post-order Traversal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3CF3F-8CBF-4275-E0EF-6B25A2BCA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780" y="609600"/>
            <a:ext cx="9409470" cy="5938684"/>
          </a:xfrm>
        </p:spPr>
        <p:txBody>
          <a:bodyPr>
            <a:normAutofit/>
          </a:bodyPr>
          <a:lstStyle/>
          <a:p>
            <a:r>
              <a:rPr lang="en-US" sz="2400" b="1" dirty="0"/>
              <a:t>🔹 Definition:</a:t>
            </a:r>
          </a:p>
          <a:p>
            <a:r>
              <a:rPr lang="en-US" sz="2400" dirty="0"/>
              <a:t>In </a:t>
            </a:r>
            <a:r>
              <a:rPr lang="en-US" sz="2400" b="1" dirty="0"/>
              <a:t>post-order traversal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we first traverse the </a:t>
            </a:r>
            <a:r>
              <a:rPr lang="en-US" sz="2400" b="1" dirty="0"/>
              <a:t>left subtree</a:t>
            </a:r>
            <a:r>
              <a:rPr lang="en-US" sz="2400" dirty="0"/>
              <a:t>, then the </a:t>
            </a:r>
            <a:r>
              <a:rPr lang="en-US" sz="2400" b="1" dirty="0"/>
              <a:t>right subtree</a:t>
            </a:r>
            <a:r>
              <a:rPr lang="en-US" sz="2400" dirty="0"/>
              <a:t>, and finally </a:t>
            </a:r>
            <a:r>
              <a:rPr lang="en-US" sz="2400" b="1" dirty="0"/>
              <a:t>visit the root</a:t>
            </a:r>
            <a:r>
              <a:rPr lang="en-US" sz="2400" dirty="0"/>
              <a:t> node.</a:t>
            </a:r>
          </a:p>
          <a:p>
            <a:r>
              <a:rPr lang="en-US" sz="2400" b="1" dirty="0"/>
              <a:t>🔹 Steps:</a:t>
            </a:r>
          </a:p>
          <a:p>
            <a:r>
              <a:rPr lang="en-US" sz="2400" dirty="0"/>
              <a:t>Traverse the </a:t>
            </a:r>
            <a:r>
              <a:rPr lang="en-US" sz="2400" b="1" dirty="0"/>
              <a:t>left subtree</a:t>
            </a:r>
            <a:r>
              <a:rPr lang="en-US" sz="2400" dirty="0"/>
              <a:t>.</a:t>
            </a:r>
          </a:p>
          <a:p>
            <a:r>
              <a:rPr lang="en-US" sz="2400" dirty="0"/>
              <a:t>Traverse the </a:t>
            </a:r>
            <a:r>
              <a:rPr lang="en-US" sz="2400" b="1" dirty="0"/>
              <a:t>right subtree</a:t>
            </a:r>
            <a:r>
              <a:rPr lang="en-US" sz="2400" dirty="0"/>
              <a:t>.</a:t>
            </a:r>
          </a:p>
          <a:p>
            <a:r>
              <a:rPr lang="en-US" sz="2400" dirty="0"/>
              <a:t>Visit the </a:t>
            </a:r>
            <a:r>
              <a:rPr lang="en-US" sz="2400" b="1" dirty="0"/>
              <a:t>root</a:t>
            </a:r>
            <a:r>
              <a:rPr lang="en-US" sz="2400" dirty="0"/>
              <a:t>.</a:t>
            </a:r>
          </a:p>
          <a:p>
            <a:r>
              <a:rPr lang="en-US" sz="2400" b="1" dirty="0"/>
              <a:t>🔹 For the above tree:</a:t>
            </a:r>
          </a:p>
          <a:p>
            <a:r>
              <a:rPr lang="en-US" sz="2400" dirty="0"/>
              <a:t>Order of visiting →</a:t>
            </a:r>
            <a:br>
              <a:rPr lang="en-US" sz="2400" dirty="0"/>
            </a:br>
            <a:r>
              <a:rPr lang="en-US" sz="2400" b="1" dirty="0"/>
              <a:t>D → E → B → C → A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3707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B85E-7010-F053-E171-DC2DC59B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3" y="-147484"/>
            <a:ext cx="8596668" cy="1002890"/>
          </a:xfrm>
        </p:spPr>
        <p:txBody>
          <a:bodyPr>
            <a:normAutofit/>
          </a:bodyPr>
          <a:lstStyle/>
          <a:p>
            <a:r>
              <a:rPr lang="en-US" sz="4800" dirty="0"/>
              <a:t>5.6] </a:t>
            </a:r>
            <a:r>
              <a:rPr lang="en-US" sz="4800" u="sng" dirty="0"/>
              <a:t>Introduction to Graph</a:t>
            </a:r>
            <a:r>
              <a:rPr lang="en-US" sz="4800" dirty="0"/>
              <a:t> : -</a:t>
            </a:r>
            <a:endParaRPr lang="en-IN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9603E3-BE14-E483-FA47-F48F5FE5C2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31527" y="855406"/>
                <a:ext cx="10059491" cy="600750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/>
                  <a:t>🔹 Definition:</a:t>
                </a:r>
              </a:p>
              <a:p>
                <a:r>
                  <a:rPr lang="en-IN" dirty="0"/>
                  <a:t>A </a:t>
                </a:r>
                <a:r>
                  <a:rPr lang="en-IN" b="1" dirty="0"/>
                  <a:t>Graph</a:t>
                </a:r>
                <a:r>
                  <a:rPr lang="en-IN" dirty="0"/>
                  <a:t> is a </a:t>
                </a:r>
                <a:r>
                  <a:rPr lang="en-IN" b="1" dirty="0"/>
                  <a:t>non-linear data structure</a:t>
                </a:r>
                <a:r>
                  <a:rPr lang="en-IN" dirty="0"/>
                  <a:t> consisting of a set of </a:t>
                </a:r>
                <a:r>
                  <a:rPr lang="en-IN" b="1" dirty="0"/>
                  <a:t>vertices (nodes)</a:t>
                </a:r>
                <a:r>
                  <a:rPr lang="en-IN" dirty="0"/>
                  <a:t> and </a:t>
                </a:r>
                <a:r>
                  <a:rPr lang="en-IN" b="1" dirty="0"/>
                  <a:t>edges (arcs)</a:t>
                </a:r>
                <a:r>
                  <a:rPr lang="en-IN" dirty="0"/>
                  <a:t> that connect pairs of vertices.</a:t>
                </a:r>
              </a:p>
              <a:p>
                <a:r>
                  <a:rPr lang="en-IN" dirty="0"/>
                  <a:t>It is used to represent </a:t>
                </a:r>
                <a:r>
                  <a:rPr lang="en-IN" b="1" dirty="0"/>
                  <a:t>relationships</a:t>
                </a:r>
                <a:r>
                  <a:rPr lang="en-IN" dirty="0"/>
                  <a:t> between objects — such as networks, maps, or social connections.</a:t>
                </a:r>
              </a:p>
              <a:p>
                <a:r>
                  <a:rPr lang="en-IN" dirty="0"/>
                  <a:t>Formally,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where</a:t>
                </a:r>
              </a:p>
              <a:p>
                <a:r>
                  <a:rPr lang="en-IN" b="1" dirty="0"/>
                  <a:t>V</a:t>
                </a:r>
                <a:r>
                  <a:rPr lang="en-IN" dirty="0"/>
                  <a:t> = Set of vertices (nodes)</a:t>
                </a:r>
              </a:p>
              <a:p>
                <a:r>
                  <a:rPr lang="en-IN" b="1" dirty="0"/>
                  <a:t>E</a:t>
                </a:r>
                <a:r>
                  <a:rPr lang="en-IN" dirty="0"/>
                  <a:t> = Set of edges (connections between nodes)</a:t>
                </a:r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📘 Example of a Simple Graph:</a:t>
                </a:r>
              </a:p>
              <a:p>
                <a:r>
                  <a:rPr lang="en-IN" dirty="0"/>
                  <a:t>   (A) —— (B)</a:t>
                </a:r>
              </a:p>
              <a:p>
                <a:r>
                  <a:rPr lang="en-IN" dirty="0"/>
                  <a:t>     \     /</a:t>
                </a:r>
              </a:p>
              <a:p>
                <a:r>
                  <a:rPr lang="en-IN" dirty="0"/>
                  <a:t>      \   /</a:t>
                </a:r>
              </a:p>
              <a:p>
                <a:r>
                  <a:rPr lang="en-IN" dirty="0"/>
                  <a:t>       (C)</a:t>
                </a:r>
              </a:p>
              <a:p>
                <a:r>
                  <a:rPr lang="en-IN" dirty="0"/>
                  <a:t>Here,</a:t>
                </a:r>
              </a:p>
              <a:p>
                <a:r>
                  <a:rPr lang="en-IN" dirty="0"/>
                  <a:t>Vertices = {A, B, C}</a:t>
                </a:r>
              </a:p>
              <a:p>
                <a:r>
                  <a:rPr lang="en-IN" dirty="0"/>
                  <a:t>Edges = {(A, B), (B, C), (A, C)}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9603E3-BE14-E483-FA47-F48F5FE5C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1527" y="855406"/>
                <a:ext cx="10059491" cy="6007508"/>
              </a:xfrm>
              <a:blipFill>
                <a:blip r:embed="rId2"/>
                <a:stretch>
                  <a:fillRect l="-424" t="-26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325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6C5B-7E3B-0522-242B-FAB434663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31" y="-137651"/>
            <a:ext cx="8596668" cy="1042219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sz="4800" u="sng" dirty="0"/>
              <a:t>GRAPH TERMINOLOGIES</a:t>
            </a:r>
            <a:r>
              <a:rPr lang="en-IN" sz="4800" dirty="0"/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125F1-52B7-B07C-EFDF-50DC06A1B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6656999"/>
            <a:ext cx="8596668" cy="201001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6AC729-DA07-8B75-2E77-1BCF23938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699118"/>
              </p:ext>
            </p:extLst>
          </p:nvPr>
        </p:nvGraphicFramePr>
        <p:xfrm>
          <a:off x="403122" y="816638"/>
          <a:ext cx="9350476" cy="5902748"/>
        </p:xfrm>
        <a:graphic>
          <a:graphicData uri="http://schemas.openxmlformats.org/drawingml/2006/table">
            <a:tbl>
              <a:tblPr/>
              <a:tblGrid>
                <a:gridCol w="2497692">
                  <a:extLst>
                    <a:ext uri="{9D8B030D-6E8A-4147-A177-3AD203B41FA5}">
                      <a16:colId xmlns:a16="http://schemas.microsoft.com/office/drawing/2014/main" val="3865203765"/>
                    </a:ext>
                  </a:extLst>
                </a:gridCol>
                <a:gridCol w="3426392">
                  <a:extLst>
                    <a:ext uri="{9D8B030D-6E8A-4147-A177-3AD203B41FA5}">
                      <a16:colId xmlns:a16="http://schemas.microsoft.com/office/drawing/2014/main" val="2638603245"/>
                    </a:ext>
                  </a:extLst>
                </a:gridCol>
                <a:gridCol w="3426392">
                  <a:extLst>
                    <a:ext uri="{9D8B030D-6E8A-4147-A177-3AD203B41FA5}">
                      <a16:colId xmlns:a16="http://schemas.microsoft.com/office/drawing/2014/main" val="3407346040"/>
                    </a:ext>
                  </a:extLst>
                </a:gridCol>
              </a:tblGrid>
              <a:tr h="160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Term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Definition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Example / Explanation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56077"/>
                  </a:ext>
                </a:extLst>
              </a:tr>
              <a:tr h="401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Graph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collection of </a:t>
                      </a:r>
                      <a:r>
                        <a:rPr lang="en-US" sz="1200" b="1"/>
                        <a:t>nodes (vertices)</a:t>
                      </a:r>
                      <a:r>
                        <a:rPr lang="en-US" sz="1200"/>
                        <a:t> connected by </a:t>
                      </a:r>
                      <a:r>
                        <a:rPr lang="en-US" sz="1200" b="1"/>
                        <a:t>edges (arcs)</a:t>
                      </a:r>
                      <a:r>
                        <a:rPr lang="en-US" sz="1200"/>
                        <a:t>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Social network, road map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922483"/>
                  </a:ext>
                </a:extLst>
              </a:tr>
              <a:tr h="28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Node / Vertex</a:t>
                      </a:r>
                      <a:endParaRPr lang="en-IN" sz="1200" dirty="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</a:t>
                      </a:r>
                      <a:r>
                        <a:rPr lang="en-US" sz="1200" b="1"/>
                        <a:t>point</a:t>
                      </a:r>
                      <a:r>
                        <a:rPr lang="en-US" sz="1200"/>
                        <a:t> in the graph representing an entity.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A, B, C are vertices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865266"/>
                  </a:ext>
                </a:extLst>
              </a:tr>
              <a:tr h="28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Edge / Arc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</a:t>
                      </a:r>
                      <a:r>
                        <a:rPr lang="en-US" sz="1200" b="1"/>
                        <a:t>connection</a:t>
                      </a:r>
                      <a:r>
                        <a:rPr lang="en-US" sz="1200"/>
                        <a:t> (or line) between two vertices.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(A, B) connects A and B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894590"/>
                  </a:ext>
                </a:extLst>
              </a:tr>
              <a:tr h="28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Directed Graph (Digraph)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graph where each edge has a </a:t>
                      </a:r>
                      <a:r>
                        <a:rPr lang="en-US" sz="1200" b="1"/>
                        <a:t>direction</a:t>
                      </a:r>
                      <a:r>
                        <a:rPr lang="en-US" sz="1200"/>
                        <a:t>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(A → B) means one-way connection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261591"/>
                  </a:ext>
                </a:extLst>
              </a:tr>
              <a:tr h="28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Undirected Graph</a:t>
                      </a:r>
                      <a:endParaRPr lang="en-IN" sz="1200" dirty="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graph where edges have </a:t>
                      </a:r>
                      <a:r>
                        <a:rPr lang="en-US" sz="1200" b="1"/>
                        <a:t>no direction</a:t>
                      </a:r>
                      <a:r>
                        <a:rPr lang="en-US" sz="1200"/>
                        <a:t>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(A — B) means two-way connection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8908"/>
                  </a:ext>
                </a:extLst>
              </a:tr>
              <a:tr h="401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In-degree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Number of </a:t>
                      </a:r>
                      <a:r>
                        <a:rPr lang="en-US" sz="1200" b="1"/>
                        <a:t>incoming edges</a:t>
                      </a:r>
                      <a:r>
                        <a:rPr lang="en-US" sz="1200"/>
                        <a:t> to a vertex (in directed graph).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If 3 arrows point </a:t>
                      </a:r>
                      <a:r>
                        <a:rPr lang="en-US" sz="1200" b="1"/>
                        <a:t>to A</a:t>
                      </a:r>
                      <a:r>
                        <a:rPr lang="en-US" sz="1200"/>
                        <a:t>, In-degree = 3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78035"/>
                  </a:ext>
                </a:extLst>
              </a:tr>
              <a:tr h="28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Out-degree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Number of </a:t>
                      </a:r>
                      <a:r>
                        <a:rPr lang="en-US" sz="1200" b="1"/>
                        <a:t>outgoing edges</a:t>
                      </a:r>
                      <a:r>
                        <a:rPr lang="en-US" sz="1200"/>
                        <a:t> from a vertex.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If 2 arrows go </a:t>
                      </a:r>
                      <a:r>
                        <a:rPr lang="en-US" sz="1200" b="1"/>
                        <a:t>from A</a:t>
                      </a:r>
                      <a:r>
                        <a:rPr lang="en-US" sz="1200"/>
                        <a:t>, Out-degree = 2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146830"/>
                  </a:ext>
                </a:extLst>
              </a:tr>
              <a:tr h="401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Adjacent Vertices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Two vertices are </a:t>
                      </a:r>
                      <a:r>
                        <a:rPr lang="en-US" sz="1200" b="1"/>
                        <a:t>adjacent</a:t>
                      </a:r>
                      <a:r>
                        <a:rPr lang="en-US" sz="1200"/>
                        <a:t> if they are connected by an edge.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and B are adjacent if (A, B) exists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829447"/>
                  </a:ext>
                </a:extLst>
              </a:tr>
              <a:tr h="401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Successor</a:t>
                      </a:r>
                      <a:endParaRPr lang="en-IN" sz="1200" dirty="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 a directed graph, a vertex </a:t>
                      </a:r>
                      <a:r>
                        <a:rPr lang="en-US" sz="1200" b="1"/>
                        <a:t>pointed to by another vertex</a:t>
                      </a:r>
                      <a:r>
                        <a:rPr lang="en-US" sz="1200"/>
                        <a:t>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If A → B, then </a:t>
                      </a:r>
                      <a:r>
                        <a:rPr lang="en-US" sz="1200" b="1" dirty="0"/>
                        <a:t>B is successor of A</a:t>
                      </a:r>
                      <a:endParaRPr lang="en-US" sz="1200" dirty="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250033"/>
                  </a:ext>
                </a:extLst>
              </a:tr>
              <a:tr h="401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Predecessor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 a directed graph, a vertex that </a:t>
                      </a:r>
                      <a:r>
                        <a:rPr lang="en-US" sz="1200" b="1"/>
                        <a:t>points to another vertex</a:t>
                      </a:r>
                      <a:r>
                        <a:rPr lang="en-US" sz="1200"/>
                        <a:t>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If A → B, then </a:t>
                      </a:r>
                      <a:r>
                        <a:rPr lang="en-US" sz="1200" b="1"/>
                        <a:t>A is predecessor of B</a:t>
                      </a:r>
                      <a:endParaRPr lang="en-US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125892"/>
                  </a:ext>
                </a:extLst>
              </a:tr>
              <a:tr h="401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Relation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</a:t>
                      </a:r>
                      <a:r>
                        <a:rPr lang="en-US" sz="1200" b="1"/>
                        <a:t>connection</a:t>
                      </a:r>
                      <a:r>
                        <a:rPr lang="en-US" sz="1200"/>
                        <a:t> or </a:t>
                      </a:r>
                      <a:r>
                        <a:rPr lang="en-US" sz="1200" b="1"/>
                        <a:t>association</a:t>
                      </a:r>
                      <a:r>
                        <a:rPr lang="en-US" sz="1200"/>
                        <a:t> between two vertices.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road, link, or reference between two nodes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528595"/>
                  </a:ext>
                </a:extLst>
              </a:tr>
              <a:tr h="521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Weight / Cost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 </a:t>
                      </a:r>
                      <a:r>
                        <a:rPr lang="en-US" sz="1200" b="1" dirty="0"/>
                        <a:t>value (number)</a:t>
                      </a:r>
                      <a:r>
                        <a:rPr lang="en-US" sz="1200" dirty="0"/>
                        <a:t> assigned to an edge, representing cost, distance, or time.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(A — B) weight = 5 km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144934"/>
                  </a:ext>
                </a:extLst>
              </a:tr>
              <a:tr h="28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Path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</a:t>
                      </a:r>
                      <a:r>
                        <a:rPr lang="en-US" sz="1200" b="1"/>
                        <a:t>sequence of edges</a:t>
                      </a:r>
                      <a:r>
                        <a:rPr lang="en-US" sz="1200"/>
                        <a:t> connecting two vertices.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Path A → B → C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393762"/>
                  </a:ext>
                </a:extLst>
              </a:tr>
              <a:tr h="28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Length of Path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</a:t>
                      </a:r>
                      <a:r>
                        <a:rPr lang="en-US" sz="1200" b="1"/>
                        <a:t>number of edges</a:t>
                      </a:r>
                      <a:r>
                        <a:rPr lang="en-US" sz="1200"/>
                        <a:t> (or sum of weights) in a path.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→ B → C → D has length = 3 edges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720646"/>
                  </a:ext>
                </a:extLst>
              </a:tr>
              <a:tr h="28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Loop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 edge that </a:t>
                      </a:r>
                      <a:r>
                        <a:rPr lang="en-US" sz="1200" b="1"/>
                        <a:t>connects a vertex to itself</a:t>
                      </a:r>
                      <a:r>
                        <a:rPr lang="en-US" sz="1200"/>
                        <a:t>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(A → A)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782877"/>
                  </a:ext>
                </a:extLst>
              </a:tr>
              <a:tr h="401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Parallel Edges (Multiple Edges)</a:t>
                      </a:r>
                      <a:endParaRPr lang="en-IN" sz="1200"/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Two or more edges </a:t>
                      </a:r>
                      <a:r>
                        <a:rPr lang="en-US" sz="1200" b="1"/>
                        <a:t>connecting the same pair of vertices</a:t>
                      </a:r>
                      <a:r>
                        <a:rPr lang="en-US" sz="1200"/>
                        <a:t>.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Two routes between cities A and B</a:t>
                      </a:r>
                    </a:p>
                  </a:txBody>
                  <a:tcPr marL="27143" marR="27143" marT="13571" marB="13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63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7114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13AEB-BF6D-43A5-1ACA-0486F1F5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826" y="-97762"/>
            <a:ext cx="10766322" cy="9144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/>
              <a:t>Types of Graphs (Basic Overview)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C480-6E12-34D9-D16F-BC4D342A7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02" y="6698506"/>
            <a:ext cx="8596668" cy="318988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C40A3D-B031-7D1B-8F7C-DD00A80E2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285531"/>
              </p:ext>
            </p:extLst>
          </p:nvPr>
        </p:nvGraphicFramePr>
        <p:xfrm>
          <a:off x="467210" y="718316"/>
          <a:ext cx="9134904" cy="5761141"/>
        </p:xfrm>
        <a:graphic>
          <a:graphicData uri="http://schemas.openxmlformats.org/drawingml/2006/table">
            <a:tbl>
              <a:tblPr/>
              <a:tblGrid>
                <a:gridCol w="3953304">
                  <a:extLst>
                    <a:ext uri="{9D8B030D-6E8A-4147-A177-3AD203B41FA5}">
                      <a16:colId xmlns:a16="http://schemas.microsoft.com/office/drawing/2014/main" val="2342189549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578124671"/>
                    </a:ext>
                  </a:extLst>
                </a:gridCol>
              </a:tblGrid>
              <a:tr h="7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Type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Description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7725"/>
                  </a:ext>
                </a:extLst>
              </a:tr>
              <a:tr h="7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Undirected Graph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Edges have no direction.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20511"/>
                  </a:ext>
                </a:extLst>
              </a:tr>
              <a:tr h="7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Directed Graph (Digraph)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Edges have direction (arrows).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837506"/>
                  </a:ext>
                </a:extLst>
              </a:tr>
              <a:tr h="7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Weighted Graph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Each edge has a numerical weight.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458238"/>
                  </a:ext>
                </a:extLst>
              </a:tr>
              <a:tr h="7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Unweighted Graph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All edges are considered equal.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025852"/>
                  </a:ext>
                </a:extLst>
              </a:tr>
              <a:tr h="7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Simple Graph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No loops or multiple edges.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618424"/>
                  </a:ext>
                </a:extLst>
              </a:tr>
              <a:tr h="1300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Multigraph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Can have multiple edges between same vertices.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60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772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A770-6D13-549C-FD9E-F7F6482D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25" y="-181077"/>
            <a:ext cx="8596668" cy="109547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/>
              <a:t>Example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1FF0C-75FB-F581-5BE7-CD0CB4D7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669" y="914400"/>
            <a:ext cx="9400729" cy="6055851"/>
          </a:xfrm>
        </p:spPr>
        <p:txBody>
          <a:bodyPr>
            <a:normAutofit/>
          </a:bodyPr>
          <a:lstStyle/>
          <a:p>
            <a:r>
              <a:rPr lang="en-US" sz="2400" b="1" dirty="0"/>
              <a:t>Example (Directed Weighted Graph) : </a:t>
            </a:r>
          </a:p>
          <a:p>
            <a:r>
              <a:rPr lang="en-US" sz="2400" dirty="0"/>
              <a:t>   (A)</a:t>
            </a:r>
          </a:p>
          <a:p>
            <a:r>
              <a:rPr lang="en-US" sz="2400" dirty="0"/>
              <a:t>   / \</a:t>
            </a:r>
          </a:p>
          <a:p>
            <a:r>
              <a:rPr lang="en-US" sz="2400" dirty="0"/>
              <a:t> 5/   \3</a:t>
            </a:r>
          </a:p>
          <a:p>
            <a:r>
              <a:rPr lang="en-US" sz="2400" dirty="0"/>
              <a:t> /     \</a:t>
            </a:r>
          </a:p>
          <a:p>
            <a:r>
              <a:rPr lang="en-US" sz="2400" dirty="0"/>
              <a:t>(B) →2→ (C)</a:t>
            </a:r>
          </a:p>
          <a:p>
            <a:r>
              <a:rPr lang="en-US" sz="2400" dirty="0"/>
              <a:t>Vertices = {A, B, C}</a:t>
            </a:r>
          </a:p>
          <a:p>
            <a:r>
              <a:rPr lang="en-US" sz="2400" dirty="0"/>
              <a:t>Edges = {(A → B, 5), (A → C, 3), (B → C, 2)}</a:t>
            </a:r>
          </a:p>
          <a:p>
            <a:r>
              <a:rPr lang="en-US" sz="2400" dirty="0"/>
              <a:t>In-degree of A = 0</a:t>
            </a:r>
          </a:p>
          <a:p>
            <a:r>
              <a:rPr lang="en-US" sz="2400" dirty="0"/>
              <a:t>Out-degree of A = 2</a:t>
            </a:r>
          </a:p>
          <a:p>
            <a:r>
              <a:rPr lang="en-US" sz="2400" dirty="0"/>
              <a:t>In-degree of C = 2</a:t>
            </a:r>
          </a:p>
          <a:p>
            <a:r>
              <a:rPr lang="en-US" sz="2400" dirty="0"/>
              <a:t>Path A → B → C has length 2 (total weight = 7)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88477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</TotalTime>
  <Words>2822</Words>
  <Application>Microsoft Office PowerPoint</Application>
  <PresentationFormat>Widescreen</PresentationFormat>
  <Paragraphs>432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Algerian</vt:lpstr>
      <vt:lpstr>Arial</vt:lpstr>
      <vt:lpstr>Arial Unicode MS</vt:lpstr>
      <vt:lpstr>Cambria Math</vt:lpstr>
      <vt:lpstr>Trebuchet MS</vt:lpstr>
      <vt:lpstr>Wingdings</vt:lpstr>
      <vt:lpstr>Wingdings 3</vt:lpstr>
      <vt:lpstr>Facet</vt:lpstr>
      <vt:lpstr>06. Trees &amp; graphs </vt:lpstr>
      <vt:lpstr>Trees &amp; Graphs : -</vt:lpstr>
      <vt:lpstr>Types : -</vt:lpstr>
      <vt:lpstr>5.1] Tree Terminologies : -</vt:lpstr>
      <vt:lpstr>6.2] Types of TREE : -</vt:lpstr>
      <vt:lpstr>1. General Tree : -</vt:lpstr>
      <vt:lpstr>2. Binary Tree : -</vt:lpstr>
      <vt:lpstr>3. Binary Search Tree (BST) : -</vt:lpstr>
      <vt:lpstr>Introduction to graph : -</vt:lpstr>
      <vt:lpstr>Graph Terminologies : -</vt:lpstr>
      <vt:lpstr>PowerPoint Presentation</vt:lpstr>
      <vt:lpstr>6.3] Representation of Tree : -</vt:lpstr>
      <vt:lpstr>1. Array Representation : -</vt:lpstr>
      <vt:lpstr>2. Linked List Representation : -</vt:lpstr>
      <vt:lpstr>PowerPoint Presentation</vt:lpstr>
      <vt:lpstr>6.4] Operations on trees : -</vt:lpstr>
      <vt:lpstr>1. Insertion : -</vt:lpstr>
      <vt:lpstr>Example (BST Insertion) : -</vt:lpstr>
      <vt:lpstr>2. Deletion : -</vt:lpstr>
      <vt:lpstr>Example : -</vt:lpstr>
      <vt:lpstr>A. Depth-First search (DFS) : -</vt:lpstr>
      <vt:lpstr>Example : -</vt:lpstr>
      <vt:lpstr>B. Breadth-First Search (BFS) : -</vt:lpstr>
      <vt:lpstr>5.5] Tree Traversing : -</vt:lpstr>
      <vt:lpstr>1. Pre-order Traversal : -</vt:lpstr>
      <vt:lpstr>2. In-order Traversal : -</vt:lpstr>
      <vt:lpstr>3. Post-order Traversal : -</vt:lpstr>
      <vt:lpstr>5.6] Introduction to Graph : -</vt:lpstr>
      <vt:lpstr>GRAPH TERMINOLOGIES : -</vt:lpstr>
      <vt:lpstr>Types of Graphs (Basic Overview) : -</vt:lpstr>
      <vt:lpstr>Example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3</cp:revision>
  <dcterms:created xsi:type="dcterms:W3CDTF">2025-11-04T06:42:12Z</dcterms:created>
  <dcterms:modified xsi:type="dcterms:W3CDTF">2025-11-04T08:08:27Z</dcterms:modified>
</cp:coreProperties>
</file>