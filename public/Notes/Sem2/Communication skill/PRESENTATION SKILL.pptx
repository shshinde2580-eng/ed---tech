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E535-5E1C-49AD-A768-84DACF9633E2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7C7C-D825-48C5-9899-40464DAEC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366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E535-5E1C-49AD-A768-84DACF9633E2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7C7C-D825-48C5-9899-40464DAEC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800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E535-5E1C-49AD-A768-84DACF9633E2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7C7C-D825-48C5-9899-40464DAEC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1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E535-5E1C-49AD-A768-84DACF9633E2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7C7C-D825-48C5-9899-40464DAEC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415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E535-5E1C-49AD-A768-84DACF9633E2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7C7C-D825-48C5-9899-40464DAEC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174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E535-5E1C-49AD-A768-84DACF9633E2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7C7C-D825-48C5-9899-40464DAEC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614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E535-5E1C-49AD-A768-84DACF9633E2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7C7C-D825-48C5-9899-40464DAEC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273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E535-5E1C-49AD-A768-84DACF9633E2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7C7C-D825-48C5-9899-40464DAEC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151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E535-5E1C-49AD-A768-84DACF9633E2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7C7C-D825-48C5-9899-40464DAEC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090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E535-5E1C-49AD-A768-84DACF9633E2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7C7C-D825-48C5-9899-40464DAEC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37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E535-5E1C-49AD-A768-84DACF9633E2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7C7C-D825-48C5-9899-40464DAECD22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9517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E535-5E1C-49AD-A768-84DACF9633E2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7C7C-D825-48C5-9899-40464DAEC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2680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E535-5E1C-49AD-A768-84DACF9633E2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7C7C-D825-48C5-9899-40464DAECD2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16342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E535-5E1C-49AD-A768-84DACF9633E2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7C7C-D825-48C5-9899-40464DAEC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2877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E535-5E1C-49AD-A768-84DACF9633E2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7C7C-D825-48C5-9899-40464DAEC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7577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E535-5E1C-49AD-A768-84DACF9633E2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7C7C-D825-48C5-9899-40464DAEC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800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6E535-5E1C-49AD-A768-84DACF9633E2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73B7C7C-D825-48C5-9899-40464DAEC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922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80A46-3086-BE0D-01A4-8259CB8A9E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983" y="2773016"/>
            <a:ext cx="9163878" cy="1277819"/>
          </a:xfrm>
        </p:spPr>
        <p:txBody>
          <a:bodyPr/>
          <a:lstStyle/>
          <a:p>
            <a:pPr algn="ctr"/>
            <a:r>
              <a:rPr lang="en-US" dirty="0"/>
              <a:t>PRESENTATION SKILL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3580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452A8E-8CC5-F186-DB46-CFEBE22F8F4E}"/>
              </a:ext>
            </a:extLst>
          </p:cNvPr>
          <p:cNvSpPr txBox="1"/>
          <p:nvPr/>
        </p:nvSpPr>
        <p:spPr>
          <a:xfrm>
            <a:off x="854765" y="84340"/>
            <a:ext cx="8587409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4.1 Power Point Presentation :</a:t>
            </a:r>
          </a:p>
          <a:p>
            <a:pPr marL="400050" indent="-400050">
              <a:buAutoNum type="romanLcPeriod"/>
            </a:pPr>
            <a:r>
              <a:rPr lang="en-IN" dirty="0"/>
              <a:t>Layout </a:t>
            </a:r>
          </a:p>
          <a:p>
            <a:pPr marL="400050" indent="-400050">
              <a:buAutoNum type="romanLcPeriod"/>
            </a:pPr>
            <a:r>
              <a:rPr lang="en-IN" dirty="0"/>
              <a:t>ii. Font size </a:t>
            </a:r>
          </a:p>
          <a:p>
            <a:pPr marL="400050" indent="-400050">
              <a:buAutoNum type="romanLcPeriod"/>
            </a:pPr>
            <a:r>
              <a:rPr lang="en-IN" dirty="0"/>
              <a:t>iii. </a:t>
            </a:r>
            <a:r>
              <a:rPr lang="en-IN" dirty="0" err="1"/>
              <a:t>Color</a:t>
            </a:r>
            <a:r>
              <a:rPr lang="en-IN" dirty="0"/>
              <a:t> combination.</a:t>
            </a:r>
          </a:p>
          <a:p>
            <a:pPr marL="400050" indent="-400050">
              <a:buAutoNum type="romanLcPeriod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PowerPoint Presentation</a:t>
            </a:r>
          </a:p>
          <a:p>
            <a:r>
              <a:rPr lang="en-US" b="1" dirty="0" err="1"/>
              <a:t>i</a:t>
            </a:r>
            <a:r>
              <a:rPr lang="en-US" b="1" dirty="0"/>
              <a:t>. Layout</a:t>
            </a:r>
          </a:p>
          <a:p>
            <a:r>
              <a:rPr lang="en-US" b="1" dirty="0"/>
              <a:t>Consistency</a:t>
            </a:r>
            <a:r>
              <a:rPr lang="en-US" dirty="0"/>
              <a:t>: Keep a uniform layout throughout the presentation for a professional and cohesive look.</a:t>
            </a:r>
          </a:p>
          <a:p>
            <a:endParaRPr lang="en-US" dirty="0"/>
          </a:p>
          <a:p>
            <a:r>
              <a:rPr lang="en-US" b="1" dirty="0"/>
              <a:t>Balance</a:t>
            </a:r>
            <a:r>
              <a:rPr lang="en-US" dirty="0"/>
              <a:t>: Arrange text and images with balanced white space for clear</a:t>
            </a:r>
          </a:p>
          <a:p>
            <a:r>
              <a:rPr lang="en-US" dirty="0"/>
              <a:t>readability.</a:t>
            </a:r>
          </a:p>
          <a:p>
            <a:endParaRPr lang="en-US" dirty="0"/>
          </a:p>
          <a:p>
            <a:r>
              <a:rPr lang="en-US" b="1" dirty="0"/>
              <a:t>Alignment</a:t>
            </a:r>
            <a:r>
              <a:rPr lang="en-US" dirty="0"/>
              <a:t>: Use left alignment for text to improve readability; keep headings, subheadings, and logos consistently placed.</a:t>
            </a:r>
          </a:p>
          <a:p>
            <a:endParaRPr lang="en-US" dirty="0"/>
          </a:p>
          <a:p>
            <a:r>
              <a:rPr lang="en-US" b="1" dirty="0"/>
              <a:t>Slide Composition</a:t>
            </a:r>
            <a:r>
              <a:rPr lang="en-US" dirty="0"/>
              <a:t>: Avoid overcrowding; use 1 main idea per slide supporting effective focus.</a:t>
            </a:r>
          </a:p>
          <a:p>
            <a:endParaRPr lang="en-US" dirty="0"/>
          </a:p>
          <a:p>
            <a:r>
              <a:rPr lang="en-US" b="1" dirty="0"/>
              <a:t>Use of Columns</a:t>
            </a:r>
            <a:r>
              <a:rPr lang="en-US" dirty="0"/>
              <a:t>: Divide slides into columns or sections when dealing with different content types like text and images together.</a:t>
            </a:r>
          </a:p>
          <a:p>
            <a:endParaRPr lang="en-US" dirty="0"/>
          </a:p>
          <a:p>
            <a:r>
              <a:rPr lang="en-US" b="1" dirty="0"/>
              <a:t>Avoid Bullets Overuse</a:t>
            </a:r>
            <a:r>
              <a:rPr lang="en-US" dirty="0"/>
              <a:t>: Use bullets sparingly; prefer visual hierarchy and spacing for clarity.</a:t>
            </a:r>
          </a:p>
        </p:txBody>
      </p:sp>
    </p:spTree>
    <p:extLst>
      <p:ext uri="{BB962C8B-B14F-4D97-AF65-F5344CB8AC3E}">
        <p14:creationId xmlns:p14="http://schemas.microsoft.com/office/powerpoint/2010/main" val="399070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6D882-7DF3-B3C7-B6A4-12688C6B0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35BEE1-8957-BF3D-BAC2-253BFC2F7381}"/>
              </a:ext>
            </a:extLst>
          </p:cNvPr>
          <p:cNvSpPr txBox="1"/>
          <p:nvPr/>
        </p:nvSpPr>
        <p:spPr>
          <a:xfrm>
            <a:off x="815010" y="178330"/>
            <a:ext cx="863710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ii. Font Size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Readable from Distance</a:t>
            </a:r>
            <a:r>
              <a:rPr lang="en-US" b="0" i="0" dirty="0">
                <a:effectLst/>
                <a:latin typeface="fkGroteskNeue"/>
              </a:rPr>
              <a:t>: Use a minimum of 30-point for body text and larger sizes for headings.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Hierarchy</a:t>
            </a:r>
            <a:r>
              <a:rPr lang="en-US" b="0" i="0" dirty="0">
                <a:effectLst/>
                <a:latin typeface="fkGroteskNeue"/>
              </a:rPr>
              <a:t>: Distinguish headings, subheadings, and body text by using different, consistent font sizes.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Limit Text</a:t>
            </a:r>
            <a:r>
              <a:rPr lang="en-US" b="0" i="0" dirty="0">
                <a:effectLst/>
                <a:latin typeface="fkGroteskNeue"/>
              </a:rPr>
              <a:t>: Follow the 7x7 rule—no more than seven words per line and seven lines per slide—to keep text concise and visible.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Font Style</a:t>
            </a:r>
            <a:r>
              <a:rPr lang="en-US" b="0" i="0" dirty="0">
                <a:effectLst/>
                <a:latin typeface="fkGroteskNeue"/>
              </a:rPr>
              <a:t>: Use clean, sans-serif fonts like Arial, Tahoma, or Verdana for clear visibility and professional appearance.</a:t>
            </a:r>
          </a:p>
        </p:txBody>
      </p:sp>
    </p:spTree>
    <p:extLst>
      <p:ext uri="{BB962C8B-B14F-4D97-AF65-F5344CB8AC3E}">
        <p14:creationId xmlns:p14="http://schemas.microsoft.com/office/powerpoint/2010/main" val="1698944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05E9D-91DE-B177-9E00-F4BC4306D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C27209-1B22-7C4B-D564-A16E52FC053F}"/>
              </a:ext>
            </a:extLst>
          </p:cNvPr>
          <p:cNvSpPr txBox="1"/>
          <p:nvPr/>
        </p:nvSpPr>
        <p:spPr>
          <a:xfrm>
            <a:off x="795131" y="220031"/>
            <a:ext cx="863710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iii. Color Combination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Contrast</a:t>
            </a:r>
            <a:r>
              <a:rPr lang="en-US" b="0" i="0" dirty="0">
                <a:effectLst/>
                <a:latin typeface="fkGroteskNeue"/>
              </a:rPr>
              <a:t>: Use high contrast between text and background (dark text on light background or vice versa) for readability.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Complimentary Colors</a:t>
            </a:r>
            <a:r>
              <a:rPr lang="en-US" b="0" i="0" dirty="0">
                <a:effectLst/>
                <a:latin typeface="fkGroteskNeue"/>
              </a:rPr>
              <a:t>: Choose color combos that complement each other without strain—avoid clashing colors.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Consistency</a:t>
            </a:r>
            <a:r>
              <a:rPr lang="en-US" b="0" i="0" dirty="0">
                <a:effectLst/>
                <a:latin typeface="fkGroteskNeue"/>
              </a:rPr>
              <a:t>: Stick to a consistent color palette that aligns with your topic or organization branding.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Use of Colors: </a:t>
            </a:r>
            <a:r>
              <a:rPr lang="en-US" b="0" i="0" dirty="0">
                <a:effectLst/>
                <a:latin typeface="fkGroteskNeue"/>
              </a:rPr>
              <a:t>Use colors to highlight key information but avoid excessive use of bright colors which can distract.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Background</a:t>
            </a:r>
            <a:r>
              <a:rPr lang="en-US" b="0" i="0" dirty="0">
                <a:effectLst/>
                <a:latin typeface="fkGroteskNeue"/>
              </a:rPr>
              <a:t>: Prefer simple, light or dark solid or gradient backgrounds; avoid busy or textured backgrounds that make text hard to read.</a:t>
            </a:r>
          </a:p>
        </p:txBody>
      </p:sp>
    </p:spTree>
    <p:extLst>
      <p:ext uri="{BB962C8B-B14F-4D97-AF65-F5344CB8AC3E}">
        <p14:creationId xmlns:p14="http://schemas.microsoft.com/office/powerpoint/2010/main" val="738774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07880-9EC9-72C5-4223-AA9198990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ECCBB5-527B-483F-6A68-CC2932409156}"/>
              </a:ext>
            </a:extLst>
          </p:cNvPr>
          <p:cNvSpPr txBox="1"/>
          <p:nvPr/>
        </p:nvSpPr>
        <p:spPr>
          <a:xfrm>
            <a:off x="914399" y="244662"/>
            <a:ext cx="875637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b="0" i="0" dirty="0">
                <a:effectLst/>
                <a:latin typeface="fkGrotesk"/>
              </a:rPr>
              <a:t>4.2 Kinesics :</a:t>
            </a:r>
          </a:p>
          <a:p>
            <a:pPr marL="400050" indent="-400050" algn="l">
              <a:buAutoNum type="romanLcPeriod"/>
            </a:pPr>
            <a:r>
              <a:rPr lang="fr-FR" b="0" i="0" dirty="0">
                <a:effectLst/>
                <a:latin typeface="fkGrotesk"/>
              </a:rPr>
              <a:t>Facial expressions </a:t>
            </a:r>
          </a:p>
          <a:p>
            <a:pPr marL="400050" indent="-400050" algn="l">
              <a:buAutoNum type="romanLcPeriod"/>
            </a:pPr>
            <a:r>
              <a:rPr lang="fr-FR" b="0" i="0" dirty="0">
                <a:effectLst/>
                <a:latin typeface="fkGrotesk"/>
              </a:rPr>
              <a:t>Eye contact </a:t>
            </a:r>
          </a:p>
          <a:p>
            <a:pPr marL="400050" indent="-400050" algn="l">
              <a:buAutoNum type="romanLcPeriod"/>
            </a:pPr>
            <a:r>
              <a:rPr lang="fr-FR" b="0" i="0" dirty="0">
                <a:effectLst/>
                <a:latin typeface="fkGrotesk"/>
              </a:rPr>
              <a:t>Postures iv </a:t>
            </a:r>
            <a:r>
              <a:rPr lang="fr-FR" b="0" i="0" dirty="0" err="1">
                <a:effectLst/>
                <a:latin typeface="fkGrotesk"/>
              </a:rPr>
              <a:t>Gestures</a:t>
            </a:r>
            <a:r>
              <a:rPr lang="fr-FR" b="0" i="0" dirty="0">
                <a:effectLst/>
                <a:latin typeface="fkGrotesk"/>
              </a:rPr>
              <a:t>.</a:t>
            </a:r>
          </a:p>
          <a:p>
            <a:pPr algn="l">
              <a:buNone/>
            </a:pPr>
            <a:endParaRPr lang="fr-FR" dirty="0">
              <a:latin typeface="fkGrotesk"/>
            </a:endParaRPr>
          </a:p>
          <a:p>
            <a:r>
              <a:rPr lang="en-US" b="1" dirty="0"/>
              <a:t>4.2 Kinesics (Non-Verbal Communication)</a:t>
            </a:r>
          </a:p>
          <a:p>
            <a:r>
              <a:rPr lang="en-US" dirty="0"/>
              <a:t>Kinesics is the study of body movements and gestures as a form of non-verbal communication. It involves interpreting how facial expressions, eye contact, postures, and gestures convey feelings and messages beyond words.</a:t>
            </a:r>
          </a:p>
          <a:p>
            <a:pPr algn="l">
              <a:buNone/>
            </a:pPr>
            <a:endParaRPr lang="fr-FR" b="0" i="0" dirty="0">
              <a:effectLst/>
              <a:latin typeface="fkGrotesk"/>
            </a:endParaRPr>
          </a:p>
          <a:p>
            <a:pPr marL="400050" indent="-400050">
              <a:buAutoNum type="romanLcPeriod"/>
            </a:pPr>
            <a:r>
              <a:rPr lang="en-US" b="1" dirty="0"/>
              <a:t>Facial Expressions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Facial expressions are the most expressive and visible form of body language, revealing emotions such as happiness, sadness, anger, surprise, fear, and disgust.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face has around 80 muscles capable of subtle movements that communicate complex emotions.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interviews or communication, consistent facial expressions that match verbal messages build trust and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smile conveys friendliness and openness, while frowning or lack of expression can indicate disinterest or discomfort.</a:t>
            </a:r>
          </a:p>
          <a:p>
            <a:pPr algn="l">
              <a:buNone/>
            </a:pPr>
            <a:endParaRPr lang="fr-FR" b="0" i="0" dirty="0">
              <a:effectLst/>
              <a:latin typeface="fkGrotesk"/>
            </a:endParaRPr>
          </a:p>
        </p:txBody>
      </p:sp>
    </p:spTree>
    <p:extLst>
      <p:ext uri="{BB962C8B-B14F-4D97-AF65-F5344CB8AC3E}">
        <p14:creationId xmlns:p14="http://schemas.microsoft.com/office/powerpoint/2010/main" val="275653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9E904-E4E6-BF19-06DB-CCEFC9A5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F32FD6-4EE1-140F-0CF0-9705D9590824}"/>
              </a:ext>
            </a:extLst>
          </p:cNvPr>
          <p:cNvSpPr txBox="1"/>
          <p:nvPr/>
        </p:nvSpPr>
        <p:spPr>
          <a:xfrm>
            <a:off x="884581" y="263679"/>
            <a:ext cx="854765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ii. Eye Contact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Eye contact is a powerful non-verbal cue that shows confidence, attentiveness, and honesty.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Maintaining steady and natural eye contact during communication helps establish rapport and shows respect.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Avoiding eye contact may suggest nervousness, lack of confidence, or evasiveness.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In interviews and discussions, balanced eye contact creates a positive impression and encourages engagement.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iii. Postures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Posture includes the way we stand or sit and reflects our attitude and emotions.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An upright posture signals confidence, interest, and readiness, while slouching can imply boredom or lack of enthusiasm.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Leaning slightly forward shows engagement, while leaning back may show relaxation or disinterest.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Proper posture supports effective communication and strengthens verbal messages.</a:t>
            </a:r>
          </a:p>
        </p:txBody>
      </p:sp>
    </p:spTree>
    <p:extLst>
      <p:ext uri="{BB962C8B-B14F-4D97-AF65-F5344CB8AC3E}">
        <p14:creationId xmlns:p14="http://schemas.microsoft.com/office/powerpoint/2010/main" val="2598673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AAAB0-5FA0-5561-D77B-CEB28A41A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ACEFBE-CEF7-7031-AE7A-B47C21410AC8}"/>
              </a:ext>
            </a:extLst>
          </p:cNvPr>
          <p:cNvSpPr txBox="1"/>
          <p:nvPr/>
        </p:nvSpPr>
        <p:spPr>
          <a:xfrm>
            <a:off x="864704" y="159749"/>
            <a:ext cx="850789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iv. Gestures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Gestures are hand and arm movements used to emphasize or complement what is being said.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Common gestures include pointing, waving, nodding, or using hands while explaining.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Controlled and purposeful gestures convey enthusiasm and clarity; excessive or distracting gestures can be negative.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Gestures vary culturally, so awareness of the audience is important.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Examples include nodding to show agreement or thumbs up to indicate approval.</a:t>
            </a:r>
          </a:p>
        </p:txBody>
      </p:sp>
    </p:spTree>
    <p:extLst>
      <p:ext uri="{BB962C8B-B14F-4D97-AF65-F5344CB8AC3E}">
        <p14:creationId xmlns:p14="http://schemas.microsoft.com/office/powerpoint/2010/main" val="135231356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</TotalTime>
  <Words>665</Words>
  <Application>Microsoft Office PowerPoint</Application>
  <PresentationFormat>Widescreen</PresentationFormat>
  <Paragraphs>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fkGrotesk</vt:lpstr>
      <vt:lpstr>fkGroteskNeue</vt:lpstr>
      <vt:lpstr>Trebuchet MS</vt:lpstr>
      <vt:lpstr>Wingdings 3</vt:lpstr>
      <vt:lpstr>Facet</vt:lpstr>
      <vt:lpstr>PRESENTATION SKILL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shshinde2580@gmail.com</dc:creator>
  <cp:lastModifiedBy>shshinde2580@gmail.com</cp:lastModifiedBy>
  <cp:revision>1</cp:revision>
  <dcterms:created xsi:type="dcterms:W3CDTF">2025-11-03T07:36:46Z</dcterms:created>
  <dcterms:modified xsi:type="dcterms:W3CDTF">2025-11-03T08:13:00Z</dcterms:modified>
</cp:coreProperties>
</file>