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29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85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077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07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06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91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53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23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22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8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253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3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23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416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80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F7E93-A88D-4050-89C5-D6AEFD8DC62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97EDBA-4FB3-4E76-A833-E1C032F3F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7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F27F-D542-2CD5-0CE0-23FC10981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530" y="2404534"/>
            <a:ext cx="9283148" cy="1646302"/>
          </a:xfrm>
        </p:spPr>
        <p:txBody>
          <a:bodyPr/>
          <a:lstStyle/>
          <a:p>
            <a:pPr algn="ctr"/>
            <a:r>
              <a:rPr lang="en-IN" dirty="0"/>
              <a:t>Communication Theory and Practice </a:t>
            </a:r>
          </a:p>
        </p:txBody>
      </p:sp>
    </p:spTree>
    <p:extLst>
      <p:ext uri="{BB962C8B-B14F-4D97-AF65-F5344CB8AC3E}">
        <p14:creationId xmlns:p14="http://schemas.microsoft.com/office/powerpoint/2010/main" val="7025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F719B9-D93F-840C-F0C2-EEC7ED698831}"/>
              </a:ext>
            </a:extLst>
          </p:cNvPr>
          <p:cNvSpPr txBox="1"/>
          <p:nvPr/>
        </p:nvSpPr>
        <p:spPr>
          <a:xfrm>
            <a:off x="815009" y="174226"/>
            <a:ext cx="833893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1.1 Introduction, Meaning, Definition, and Importance of Communication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Neue"/>
              </a:rPr>
              <a:t>Meaning</a:t>
            </a:r>
            <a:r>
              <a:rPr lang="en-US" b="0" i="0" dirty="0">
                <a:effectLst/>
                <a:latin typeface="fkGroteskNeue"/>
              </a:rPr>
              <a:t>:</a:t>
            </a: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Communication is the process of sharing information, ideas, feelings, or messages from one person or group to another to achieve understanding.​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Neue"/>
              </a:rPr>
              <a:t>Definitions</a:t>
            </a:r>
            <a:r>
              <a:rPr lang="en-US" b="0" i="0" dirty="0">
                <a:effectLst/>
                <a:latin typeface="fkGroteskNeue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According to Louis Allen: “Communication is the sum of all things, a person does when he wants to create an understanding in the minds of another.”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According to Rogers: “Communication is a process by which people create and share information with one another in order to reach common understanding.”​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Neue"/>
              </a:rPr>
              <a:t>Importance: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Ensures clarity and eliminates confusion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Builds and maintains relationships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Facilitates decision-making and efficiency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Helps in achieving organization and personal goals​</a:t>
            </a:r>
          </a:p>
        </p:txBody>
      </p:sp>
    </p:spTree>
    <p:extLst>
      <p:ext uri="{BB962C8B-B14F-4D97-AF65-F5344CB8AC3E}">
        <p14:creationId xmlns:p14="http://schemas.microsoft.com/office/powerpoint/2010/main" val="71306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199691-52A8-67BA-D49B-362D2817BD08}"/>
              </a:ext>
            </a:extLst>
          </p:cNvPr>
          <p:cNvSpPr txBox="1"/>
          <p:nvPr/>
        </p:nvSpPr>
        <p:spPr>
          <a:xfrm>
            <a:off x="815008" y="129283"/>
            <a:ext cx="85476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1.2 Elements/Process of Communication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The communication process involves:​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Sender: Initiates the message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Message: Information, ideas, or feelings to be communicated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Encoding: Converting thoughts into communicable form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Medium/Channel: Method used (spoken, written, visual, etc.)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Receiver: Target person/group for the message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Decoding: Interpreting the message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Feedback: Receiver’s response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Noise: Any interference (physical, psychological, or semantic)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40C71-0B6A-BCDB-79FC-D01326D28CBA}"/>
              </a:ext>
            </a:extLst>
          </p:cNvPr>
          <p:cNvSpPr txBox="1"/>
          <p:nvPr/>
        </p:nvSpPr>
        <p:spPr>
          <a:xfrm>
            <a:off x="815008" y="3545603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1.3 Types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80601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9DA5-EA93-C8EA-97D3-567FBDFD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4E8A69-5EB3-5F42-8339-E232B6883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133023"/>
              </p:ext>
            </p:extLst>
          </p:nvPr>
        </p:nvGraphicFramePr>
        <p:xfrm>
          <a:off x="961363" y="178314"/>
          <a:ext cx="7682950" cy="38876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6853">
                  <a:extLst>
                    <a:ext uri="{9D8B030D-6E8A-4147-A177-3AD203B41FA5}">
                      <a16:colId xmlns:a16="http://schemas.microsoft.com/office/drawing/2014/main" val="1892367572"/>
                    </a:ext>
                  </a:extLst>
                </a:gridCol>
                <a:gridCol w="5716097">
                  <a:extLst>
                    <a:ext uri="{9D8B030D-6E8A-4147-A177-3AD203B41FA5}">
                      <a16:colId xmlns:a16="http://schemas.microsoft.com/office/drawing/2014/main" val="3637899740"/>
                    </a:ext>
                  </a:extLst>
                </a:gridCol>
              </a:tblGrid>
              <a:tr h="2391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 dirty="0">
                          <a:effectLst/>
                        </a:rPr>
                        <a:t>Type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1">
                          <a:effectLst/>
                        </a:rPr>
                        <a:t>Description/Example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1333081813"/>
                  </a:ext>
                </a:extLst>
              </a:tr>
              <a:tr h="570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effectLst/>
                        </a:rPr>
                        <a:t>Formal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Follows hierarchy/official channels (e.g., official letters, minutes of meetings)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2478706591"/>
                  </a:ext>
                </a:extLst>
              </a:tr>
              <a:tr h="570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Informal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Outside official channels (e.g., chats among colleagues, friendship conversations)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3351233177"/>
                  </a:ext>
                </a:extLst>
              </a:tr>
              <a:tr h="40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Verbal (Oral)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Speaking; e.g., conversations, lectures, phone calls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907680892"/>
                  </a:ext>
                </a:extLst>
              </a:tr>
              <a:tr h="40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Verbal (Written)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Written symbols; e.g., emails, memos, reports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3501392552"/>
                  </a:ext>
                </a:extLst>
              </a:tr>
              <a:tr h="2391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Non-verbal (Visual)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Signs, symbols, charts, body movements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17209088"/>
                  </a:ext>
                </a:extLst>
              </a:tr>
              <a:tr h="2391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Non-verbal (Auditory)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Tone, pitch, sounds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842359447"/>
                  </a:ext>
                </a:extLst>
              </a:tr>
              <a:tr h="40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Vertical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Upward or downward flow within hierarchy (manager to employee, etc.)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4156903548"/>
                  </a:ext>
                </a:extLst>
              </a:tr>
              <a:tr h="40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Horizontal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Between people at the same level (among peers/departments)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4135048287"/>
                  </a:ext>
                </a:extLst>
              </a:tr>
              <a:tr h="40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>
                          <a:effectLst/>
                        </a:rPr>
                        <a:t>Diagonal</a:t>
                      </a:r>
                    </a:p>
                  </a:txBody>
                  <a:tcPr marL="36791" marR="36791" marT="36791" marB="3679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Cross-functional; between different levels/departments</a:t>
                      </a:r>
                    </a:p>
                  </a:txBody>
                  <a:tcPr marL="36791" marR="36791" marT="36791" marB="36791" anchor="ctr"/>
                </a:tc>
                <a:extLst>
                  <a:ext uri="{0D108BD9-81ED-4DB2-BD59-A6C34878D82A}">
                    <a16:rowId xmlns:a16="http://schemas.microsoft.com/office/drawing/2014/main" val="20645466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A90E6B-543B-2DED-74B3-A478FDCE2D86}"/>
              </a:ext>
            </a:extLst>
          </p:cNvPr>
          <p:cNvSpPr txBox="1"/>
          <p:nvPr/>
        </p:nvSpPr>
        <p:spPr>
          <a:xfrm>
            <a:off x="844826" y="4299179"/>
            <a:ext cx="8984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1.4 Barriers in Communication and Ways to Overcome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63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50C7-B83D-C64F-531D-6C051304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0A3EB9-896D-DAA0-A31C-C1FC08E8A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6332"/>
              </p:ext>
            </p:extLst>
          </p:nvPr>
        </p:nvGraphicFramePr>
        <p:xfrm>
          <a:off x="855613" y="202579"/>
          <a:ext cx="7763733" cy="38814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87911">
                  <a:extLst>
                    <a:ext uri="{9D8B030D-6E8A-4147-A177-3AD203B41FA5}">
                      <a16:colId xmlns:a16="http://schemas.microsoft.com/office/drawing/2014/main" val="1490751411"/>
                    </a:ext>
                  </a:extLst>
                </a:gridCol>
                <a:gridCol w="2587911">
                  <a:extLst>
                    <a:ext uri="{9D8B030D-6E8A-4147-A177-3AD203B41FA5}">
                      <a16:colId xmlns:a16="http://schemas.microsoft.com/office/drawing/2014/main" val="2086361903"/>
                    </a:ext>
                  </a:extLst>
                </a:gridCol>
                <a:gridCol w="2587911">
                  <a:extLst>
                    <a:ext uri="{9D8B030D-6E8A-4147-A177-3AD203B41FA5}">
                      <a16:colId xmlns:a16="http://schemas.microsoft.com/office/drawing/2014/main" val="3687429869"/>
                    </a:ext>
                  </a:extLst>
                </a:gridCol>
              </a:tblGrid>
              <a:tr h="3578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Barrier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Description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Ways to Overcome</a:t>
                      </a:r>
                    </a:p>
                  </a:txBody>
                  <a:tcPr marL="55056" marR="55056" marT="55056" marB="55056" anchor="ctr"/>
                </a:tc>
                <a:extLst>
                  <a:ext uri="{0D108BD9-81ED-4DB2-BD59-A6C34878D82A}">
                    <a16:rowId xmlns:a16="http://schemas.microsoft.com/office/drawing/2014/main" val="301970848"/>
                  </a:ext>
                </a:extLst>
              </a:tr>
              <a:tr h="605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Mechanical Barrier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Issues with tools/medium (faulty mic, tech issues)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Use good technology, checks</a:t>
                      </a:r>
                    </a:p>
                  </a:txBody>
                  <a:tcPr marL="55056" marR="55056" marT="55056" marB="55056" anchor="ctr"/>
                </a:tc>
                <a:extLst>
                  <a:ext uri="{0D108BD9-81ED-4DB2-BD59-A6C34878D82A}">
                    <a16:rowId xmlns:a16="http://schemas.microsoft.com/office/drawing/2014/main" val="3419679871"/>
                  </a:ext>
                </a:extLst>
              </a:tr>
              <a:tr h="605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Physical Barrier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Distance, noise, poor environment, closed doors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Reduce noise, proper arrangement</a:t>
                      </a:r>
                    </a:p>
                  </a:txBody>
                  <a:tcPr marL="55056" marR="55056" marT="55056" marB="55056" anchor="ctr"/>
                </a:tc>
                <a:extLst>
                  <a:ext uri="{0D108BD9-81ED-4DB2-BD59-A6C34878D82A}">
                    <a16:rowId xmlns:a16="http://schemas.microsoft.com/office/drawing/2014/main" val="60931709"/>
                  </a:ext>
                </a:extLst>
              </a:tr>
              <a:tr h="853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Psychological Barrier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Emotions, attitude, lack of attention, prejudice, fear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Open environment, empathy, support</a:t>
                      </a:r>
                    </a:p>
                  </a:txBody>
                  <a:tcPr marL="55056" marR="55056" marT="55056" marB="55056" anchor="ctr"/>
                </a:tc>
                <a:extLst>
                  <a:ext uri="{0D108BD9-81ED-4DB2-BD59-A6C34878D82A}">
                    <a16:rowId xmlns:a16="http://schemas.microsoft.com/office/drawing/2014/main" val="1181938930"/>
                  </a:ext>
                </a:extLst>
              </a:tr>
              <a:tr h="605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Linguistic Barrier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600">
                          <a:effectLst/>
                        </a:rPr>
                        <a:t>Language differences, unfamiliar jargon, slang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Use simple, clear language</a:t>
                      </a:r>
                    </a:p>
                  </a:txBody>
                  <a:tcPr marL="55056" marR="55056" marT="55056" marB="55056" anchor="ctr"/>
                </a:tc>
                <a:extLst>
                  <a:ext uri="{0D108BD9-81ED-4DB2-BD59-A6C34878D82A}">
                    <a16:rowId xmlns:a16="http://schemas.microsoft.com/office/drawing/2014/main" val="2919342739"/>
                  </a:ext>
                </a:extLst>
              </a:tr>
              <a:tr h="853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Other Barriers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Emotional, cultural differences, lack of feedback</a:t>
                      </a:r>
                    </a:p>
                  </a:txBody>
                  <a:tcPr marL="55056" marR="55056" marT="55056" marB="55056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Embrace diversity, encourage feedback</a:t>
                      </a:r>
                    </a:p>
                  </a:txBody>
                  <a:tcPr marL="55056" marR="55056" marT="55056" marB="55056" anchor="ctr"/>
                </a:tc>
                <a:extLst>
                  <a:ext uri="{0D108BD9-81ED-4DB2-BD59-A6C34878D82A}">
                    <a16:rowId xmlns:a16="http://schemas.microsoft.com/office/drawing/2014/main" val="1036536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36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CB56-9127-577A-AD57-BEE15F46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3FD565-839E-0AE2-8C50-593B8644EA42}"/>
              </a:ext>
            </a:extLst>
          </p:cNvPr>
          <p:cNvSpPr txBox="1"/>
          <p:nvPr/>
        </p:nvSpPr>
        <p:spPr>
          <a:xfrm>
            <a:off x="815008" y="137925"/>
            <a:ext cx="85178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1.5 7 C’s of Effective Communication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Clear: Be easily understood; avoid ambiguity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Concise: Use as few words as necessary; avoid wordiness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Concrete: Specific facts and figures, not vague statements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Correct: Proper grammar, facts, no errors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Considerate: Respect receiver’s perspective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Complete: Provide all needed information, answer questions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Courteous: Be polite, positive, and respectful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AD16A-535C-98FD-0E00-2AD0DE9FAEC2}"/>
              </a:ext>
            </a:extLst>
          </p:cNvPr>
          <p:cNvSpPr txBox="1"/>
          <p:nvPr/>
        </p:nvSpPr>
        <p:spPr>
          <a:xfrm>
            <a:off x="675861" y="2723248"/>
            <a:ext cx="85178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1.6 Introduction to Non-verbal Communication (Aspects of Body Language &amp; Graphic Communication)</a:t>
            </a:r>
          </a:p>
          <a:p>
            <a:pPr algn="l">
              <a:buNone/>
            </a:pPr>
            <a:endParaRPr lang="en-US" b="1" i="0" dirty="0">
              <a:effectLst/>
              <a:latin typeface="fkGrotesk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Neue"/>
              </a:rPr>
              <a:t>Non-verbal</a:t>
            </a:r>
            <a:r>
              <a:rPr lang="en-US" b="0" i="0" dirty="0">
                <a:effectLst/>
                <a:latin typeface="fkGroteskNeue"/>
              </a:rPr>
              <a:t> communication:</a:t>
            </a:r>
          </a:p>
          <a:p>
            <a:pPr algn="l">
              <a:buNone/>
            </a:pPr>
            <a:br>
              <a:rPr lang="en-US" b="0" i="0" dirty="0">
                <a:effectLst/>
                <a:latin typeface="fkGroteskNeue"/>
              </a:rPr>
            </a:br>
            <a:r>
              <a:rPr lang="en-US" b="0" i="0" dirty="0">
                <a:effectLst/>
                <a:latin typeface="fkGroteskNeue"/>
              </a:rPr>
              <a:t>Communication without words; sending messages through body movements, facial expressions, gestures, posture, eye contact, and appearance.​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Neue"/>
              </a:rPr>
              <a:t>Aspects: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Body language: Gestures, facial expressions, body movement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Graphic communication: Using visuals like graphs, charts, maps, and pictograms to share information succinctly</a:t>
            </a:r>
          </a:p>
        </p:txBody>
      </p:sp>
    </p:spTree>
    <p:extLst>
      <p:ext uri="{BB962C8B-B14F-4D97-AF65-F5344CB8AC3E}">
        <p14:creationId xmlns:p14="http://schemas.microsoft.com/office/powerpoint/2010/main" val="172602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707E-0ADF-B38D-8838-7D68372A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385FC6-6D53-DE78-DAFB-3F27AAD6C3B7}"/>
              </a:ext>
            </a:extLst>
          </p:cNvPr>
          <p:cNvSpPr txBox="1"/>
          <p:nvPr/>
        </p:nvSpPr>
        <p:spPr>
          <a:xfrm>
            <a:off x="924339" y="155209"/>
            <a:ext cx="6102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fkGroteskNeue"/>
              </a:rPr>
              <a:t>Importance: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Often conveys more meaning than verbal messages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Essential for clarity, especially when language is a barrier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Used alongside verbal communication for effectivenes</a:t>
            </a:r>
          </a:p>
        </p:txBody>
      </p:sp>
    </p:spTree>
    <p:extLst>
      <p:ext uri="{BB962C8B-B14F-4D97-AF65-F5344CB8AC3E}">
        <p14:creationId xmlns:p14="http://schemas.microsoft.com/office/powerpoint/2010/main" val="3624238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596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fkGrotesk</vt:lpstr>
      <vt:lpstr>fkGroteskNeue</vt:lpstr>
      <vt:lpstr>Trebuchet MS</vt:lpstr>
      <vt:lpstr>Wingdings</vt:lpstr>
      <vt:lpstr>Wingdings 3</vt:lpstr>
      <vt:lpstr>Facet</vt:lpstr>
      <vt:lpstr>Communication Theory and Practice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2025-11-03T06:29:35Z</dcterms:created>
  <dcterms:modified xsi:type="dcterms:W3CDTF">2025-11-03T06:51:48Z</dcterms:modified>
</cp:coreProperties>
</file>