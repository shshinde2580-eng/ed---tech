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77" y="11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8A4F299-36C8-42E6-AD64-255D1A070F52}" type="datetimeFigureOut">
              <a:rPr lang="en-IN" smtClean="0"/>
              <a:t>03-11-2025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59CF18-88DE-4DAB-BE14-2784F1F08236}" type="slidenum">
              <a:rPr lang="en-IN" smtClean="0"/>
              <a:t>‹#›</a:t>
            </a:fld>
            <a:endParaRPr lang="en-IN"/>
          </a:p>
        </p:txBody>
      </p:sp>
    </p:spTree>
    <p:extLst>
      <p:ext uri="{BB962C8B-B14F-4D97-AF65-F5344CB8AC3E}">
        <p14:creationId xmlns:p14="http://schemas.microsoft.com/office/powerpoint/2010/main" val="3270347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8A4F299-36C8-42E6-AD64-255D1A070F52}" type="datetimeFigureOut">
              <a:rPr lang="en-IN" smtClean="0"/>
              <a:t>03-11-2025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59CF18-88DE-4DAB-BE14-2784F1F08236}" type="slidenum">
              <a:rPr lang="en-IN" smtClean="0"/>
              <a:t>‹#›</a:t>
            </a:fld>
            <a:endParaRPr lang="en-IN"/>
          </a:p>
        </p:txBody>
      </p:sp>
    </p:spTree>
    <p:extLst>
      <p:ext uri="{BB962C8B-B14F-4D97-AF65-F5344CB8AC3E}">
        <p14:creationId xmlns:p14="http://schemas.microsoft.com/office/powerpoint/2010/main" val="13607741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8A4F299-36C8-42E6-AD64-255D1A070F52}" type="datetimeFigureOut">
              <a:rPr lang="en-IN" smtClean="0"/>
              <a:t>03-11-2025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59CF18-88DE-4DAB-BE14-2784F1F08236}" type="slidenum">
              <a:rPr lang="en-IN" smtClean="0"/>
              <a:t>‹#›</a:t>
            </a:fld>
            <a:endParaRPr lang="en-IN"/>
          </a:p>
        </p:txBody>
      </p:sp>
    </p:spTree>
    <p:extLst>
      <p:ext uri="{BB962C8B-B14F-4D97-AF65-F5344CB8AC3E}">
        <p14:creationId xmlns:p14="http://schemas.microsoft.com/office/powerpoint/2010/main" val="14829008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A4F299-36C8-42E6-AD64-255D1A070F52}" type="datetimeFigureOut">
              <a:rPr lang="en-IN" smtClean="0"/>
              <a:t>03-11-2025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059CF18-88DE-4DAB-BE14-2784F1F08236}" type="slidenum">
              <a:rPr lang="en-IN" smtClean="0"/>
              <a:t>‹#›</a:t>
            </a:fld>
            <a:endParaRPr lang="en-IN"/>
          </a:p>
        </p:txBody>
      </p:sp>
    </p:spTree>
    <p:extLst>
      <p:ext uri="{BB962C8B-B14F-4D97-AF65-F5344CB8AC3E}">
        <p14:creationId xmlns:p14="http://schemas.microsoft.com/office/powerpoint/2010/main" val="26399995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8A4F299-36C8-42E6-AD64-255D1A070F52}" type="datetimeFigureOut">
              <a:rPr lang="en-IN" smtClean="0"/>
              <a:t>03-11-2025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059CF18-88DE-4DAB-BE14-2784F1F08236}" type="slidenum">
              <a:rPr lang="en-IN" smtClean="0"/>
              <a:t>‹#›</a:t>
            </a:fld>
            <a:endParaRPr lang="en-IN"/>
          </a:p>
        </p:txBody>
      </p:sp>
    </p:spTree>
    <p:extLst>
      <p:ext uri="{BB962C8B-B14F-4D97-AF65-F5344CB8AC3E}">
        <p14:creationId xmlns:p14="http://schemas.microsoft.com/office/powerpoint/2010/main" val="697340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8A4F299-36C8-42E6-AD64-255D1A070F52}" type="datetimeFigureOut">
              <a:rPr lang="en-IN" smtClean="0"/>
              <a:t>03-11-2025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059CF18-88DE-4DAB-BE14-2784F1F08236}" type="slidenum">
              <a:rPr lang="en-IN" smtClean="0"/>
              <a:t>‹#›</a:t>
            </a:fld>
            <a:endParaRPr lang="en-IN"/>
          </a:p>
        </p:txBody>
      </p:sp>
    </p:spTree>
    <p:extLst>
      <p:ext uri="{BB962C8B-B14F-4D97-AF65-F5344CB8AC3E}">
        <p14:creationId xmlns:p14="http://schemas.microsoft.com/office/powerpoint/2010/main" val="237673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8A4F299-36C8-42E6-AD64-255D1A070F52}" type="datetimeFigureOut">
              <a:rPr lang="en-IN" smtClean="0"/>
              <a:t>03-11-2025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059CF18-88DE-4DAB-BE14-2784F1F08236}" type="slidenum">
              <a:rPr lang="en-IN" smtClean="0"/>
              <a:t>‹#›</a:t>
            </a:fld>
            <a:endParaRPr lang="en-IN"/>
          </a:p>
        </p:txBody>
      </p:sp>
    </p:spTree>
    <p:extLst>
      <p:ext uri="{BB962C8B-B14F-4D97-AF65-F5344CB8AC3E}">
        <p14:creationId xmlns:p14="http://schemas.microsoft.com/office/powerpoint/2010/main" val="11778972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8A4F299-36C8-42E6-AD64-255D1A070F52}" type="datetimeFigureOut">
              <a:rPr lang="en-IN" smtClean="0"/>
              <a:t>03-11-2025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059CF18-88DE-4DAB-BE14-2784F1F08236}" type="slidenum">
              <a:rPr lang="en-IN" smtClean="0"/>
              <a:t>‹#›</a:t>
            </a:fld>
            <a:endParaRPr lang="en-IN"/>
          </a:p>
        </p:txBody>
      </p:sp>
    </p:spTree>
    <p:extLst>
      <p:ext uri="{BB962C8B-B14F-4D97-AF65-F5344CB8AC3E}">
        <p14:creationId xmlns:p14="http://schemas.microsoft.com/office/powerpoint/2010/main" val="16634515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8A4F299-36C8-42E6-AD64-255D1A070F52}" type="datetimeFigureOut">
              <a:rPr lang="en-IN" smtClean="0"/>
              <a:t>03-11-2025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059CF18-88DE-4DAB-BE14-2784F1F08236}" type="slidenum">
              <a:rPr lang="en-IN" smtClean="0"/>
              <a:t>‹#›</a:t>
            </a:fld>
            <a:endParaRPr lang="en-IN"/>
          </a:p>
        </p:txBody>
      </p:sp>
    </p:spTree>
    <p:extLst>
      <p:ext uri="{BB962C8B-B14F-4D97-AF65-F5344CB8AC3E}">
        <p14:creationId xmlns:p14="http://schemas.microsoft.com/office/powerpoint/2010/main" val="21888876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8A4F299-36C8-42E6-AD64-255D1A070F52}" type="datetimeFigureOut">
              <a:rPr lang="en-IN" smtClean="0"/>
              <a:t>03-11-2025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59CF18-88DE-4DAB-BE14-2784F1F08236}" type="slidenum">
              <a:rPr lang="en-IN" smtClean="0"/>
              <a:t>‹#›</a:t>
            </a:fld>
            <a:endParaRPr lang="en-IN"/>
          </a:p>
        </p:txBody>
      </p:sp>
    </p:spTree>
    <p:extLst>
      <p:ext uri="{BB962C8B-B14F-4D97-AF65-F5344CB8AC3E}">
        <p14:creationId xmlns:p14="http://schemas.microsoft.com/office/powerpoint/2010/main" val="31510776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8A4F299-36C8-42E6-AD64-255D1A070F52}" type="datetimeFigureOut">
              <a:rPr lang="en-IN" smtClean="0"/>
              <a:t>03-11-2025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59CF18-88DE-4DAB-BE14-2784F1F08236}"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458995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8A4F299-36C8-42E6-AD64-255D1A070F52}" type="datetimeFigureOut">
              <a:rPr lang="en-IN" smtClean="0"/>
              <a:t>03-11-2025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59CF18-88DE-4DAB-BE14-2784F1F08236}" type="slidenum">
              <a:rPr lang="en-IN" smtClean="0"/>
              <a:t>‹#›</a:t>
            </a:fld>
            <a:endParaRPr lang="en-IN"/>
          </a:p>
        </p:txBody>
      </p:sp>
    </p:spTree>
    <p:extLst>
      <p:ext uri="{BB962C8B-B14F-4D97-AF65-F5344CB8AC3E}">
        <p14:creationId xmlns:p14="http://schemas.microsoft.com/office/powerpoint/2010/main" val="34609078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8A4F299-36C8-42E6-AD64-255D1A070F52}" type="datetimeFigureOut">
              <a:rPr lang="en-IN" smtClean="0"/>
              <a:t>03-11-2025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59CF18-88DE-4DAB-BE14-2784F1F08236}"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0041679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8A4F299-36C8-42E6-AD64-255D1A070F52}" type="datetimeFigureOut">
              <a:rPr lang="en-IN" smtClean="0"/>
              <a:t>03-11-2025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59CF18-88DE-4DAB-BE14-2784F1F08236}" type="slidenum">
              <a:rPr lang="en-IN" smtClean="0"/>
              <a:t>‹#›</a:t>
            </a:fld>
            <a:endParaRPr lang="en-IN"/>
          </a:p>
        </p:txBody>
      </p:sp>
    </p:spTree>
    <p:extLst>
      <p:ext uri="{BB962C8B-B14F-4D97-AF65-F5344CB8AC3E}">
        <p14:creationId xmlns:p14="http://schemas.microsoft.com/office/powerpoint/2010/main" val="33679374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8A4F299-36C8-42E6-AD64-255D1A070F52}" type="datetimeFigureOut">
              <a:rPr lang="en-IN" smtClean="0"/>
              <a:t>03-11-2025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59CF18-88DE-4DAB-BE14-2784F1F08236}" type="slidenum">
              <a:rPr lang="en-IN" smtClean="0"/>
              <a:t>‹#›</a:t>
            </a:fld>
            <a:endParaRPr lang="en-IN"/>
          </a:p>
        </p:txBody>
      </p:sp>
    </p:spTree>
    <p:extLst>
      <p:ext uri="{BB962C8B-B14F-4D97-AF65-F5344CB8AC3E}">
        <p14:creationId xmlns:p14="http://schemas.microsoft.com/office/powerpoint/2010/main" val="33221635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8A4F299-36C8-42E6-AD64-255D1A070F52}" type="datetimeFigureOut">
              <a:rPr lang="en-IN" smtClean="0"/>
              <a:t>03-11-2025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59CF18-88DE-4DAB-BE14-2784F1F08236}" type="slidenum">
              <a:rPr lang="en-IN" smtClean="0"/>
              <a:t>‹#›</a:t>
            </a:fld>
            <a:endParaRPr lang="en-IN"/>
          </a:p>
        </p:txBody>
      </p:sp>
    </p:spTree>
    <p:extLst>
      <p:ext uri="{BB962C8B-B14F-4D97-AF65-F5344CB8AC3E}">
        <p14:creationId xmlns:p14="http://schemas.microsoft.com/office/powerpoint/2010/main" val="16173305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8A4F299-36C8-42E6-AD64-255D1A070F52}" type="datetimeFigureOut">
              <a:rPr lang="en-IN" smtClean="0"/>
              <a:t>03-11-2025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F059CF18-88DE-4DAB-BE14-2784F1F08236}" type="slidenum">
              <a:rPr lang="en-IN" smtClean="0"/>
              <a:t>‹#›</a:t>
            </a:fld>
            <a:endParaRPr lang="en-IN"/>
          </a:p>
        </p:txBody>
      </p:sp>
    </p:spTree>
    <p:extLst>
      <p:ext uri="{BB962C8B-B14F-4D97-AF65-F5344CB8AC3E}">
        <p14:creationId xmlns:p14="http://schemas.microsoft.com/office/powerpoint/2010/main" val="39836999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ED628-5848-60CF-2EAD-9AA8213DDE68}"/>
              </a:ext>
            </a:extLst>
          </p:cNvPr>
          <p:cNvSpPr>
            <a:spLocks noGrp="1"/>
          </p:cNvSpPr>
          <p:nvPr>
            <p:ph type="ctrTitle"/>
          </p:nvPr>
        </p:nvSpPr>
        <p:spPr>
          <a:xfrm>
            <a:off x="536713" y="2364778"/>
            <a:ext cx="9223513" cy="1646302"/>
          </a:xfrm>
        </p:spPr>
        <p:txBody>
          <a:bodyPr/>
          <a:lstStyle/>
          <a:p>
            <a:pPr algn="ctr"/>
            <a:r>
              <a:rPr lang="en-US" b="1" dirty="0"/>
              <a:t>UNIT V PROFESSIONAL WRITING</a:t>
            </a:r>
            <a:endParaRPr lang="en-IN" dirty="0"/>
          </a:p>
        </p:txBody>
      </p:sp>
    </p:spTree>
    <p:extLst>
      <p:ext uri="{BB962C8B-B14F-4D97-AF65-F5344CB8AC3E}">
        <p14:creationId xmlns:p14="http://schemas.microsoft.com/office/powerpoint/2010/main" val="33280500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8E56347-ACFB-4E43-1FD5-934A06D5E430}"/>
              </a:ext>
            </a:extLst>
          </p:cNvPr>
          <p:cNvSpPr txBox="1"/>
          <p:nvPr/>
        </p:nvSpPr>
        <p:spPr>
          <a:xfrm>
            <a:off x="934277" y="183081"/>
            <a:ext cx="8497958" cy="6463308"/>
          </a:xfrm>
          <a:prstGeom prst="rect">
            <a:avLst/>
          </a:prstGeom>
          <a:noFill/>
        </p:spPr>
        <p:txBody>
          <a:bodyPr wrap="square">
            <a:spAutoFit/>
          </a:bodyPr>
          <a:lstStyle/>
          <a:p>
            <a:pPr>
              <a:spcBef>
                <a:spcPts val="15"/>
              </a:spcBef>
              <a:buNone/>
            </a:pPr>
            <a:r>
              <a:rPr lang="en-US" sz="1800" b="1" dirty="0">
                <a:effectLst/>
                <a:latin typeface="Times New Roman" panose="02020603050405020304" pitchFamily="18" charset="0"/>
                <a:ea typeface="Times New Roman" panose="02020603050405020304" pitchFamily="18" charset="0"/>
              </a:rPr>
              <a:t>5.1 Business Correspondence: Enquiry, order, Complaint.</a:t>
            </a:r>
          </a:p>
          <a:p>
            <a:pPr>
              <a:spcBef>
                <a:spcPts val="15"/>
              </a:spcBef>
              <a:buNone/>
            </a:pPr>
            <a:endParaRPr lang="en-US" b="1" dirty="0">
              <a:latin typeface="Times New Roman" panose="02020603050405020304" pitchFamily="18" charset="0"/>
              <a:ea typeface="Times New Roman" panose="02020603050405020304" pitchFamily="18" charset="0"/>
            </a:endParaRPr>
          </a:p>
          <a:p>
            <a:r>
              <a:rPr lang="en-US" b="1" dirty="0"/>
              <a:t>5.1 Business Correspondence: Enquiry, Order, Complaint</a:t>
            </a:r>
          </a:p>
          <a:p>
            <a:endParaRPr lang="en-US" dirty="0"/>
          </a:p>
          <a:p>
            <a:r>
              <a:rPr lang="en-US" dirty="0"/>
              <a:t>Business correspondence is written communication between businesses or individuals for commercial purposes. It facilitates clear, professional exchanges related to buying, selling, or resolving issues.</a:t>
            </a:r>
          </a:p>
          <a:p>
            <a:endParaRPr lang="en-US" dirty="0"/>
          </a:p>
          <a:p>
            <a:pPr marL="285750" indent="-285750">
              <a:buFont typeface="Arial" panose="020B0604020202020204" pitchFamily="34" charset="0"/>
              <a:buChar char="•"/>
            </a:pPr>
            <a:r>
              <a:rPr lang="en-US" b="1" dirty="0"/>
              <a:t>Enquiry Letter</a:t>
            </a:r>
          </a:p>
          <a:p>
            <a:r>
              <a:rPr lang="en-US" dirty="0"/>
              <a:t>Purpose: To request information about products, services, prices, or terms before making a purchase.</a:t>
            </a:r>
          </a:p>
          <a:p>
            <a:endParaRPr lang="en-US" dirty="0"/>
          </a:p>
          <a:p>
            <a:pPr marL="285750" indent="-285750">
              <a:buFont typeface="Arial" panose="020B0604020202020204" pitchFamily="34" charset="0"/>
              <a:buChar char="•"/>
            </a:pPr>
            <a:r>
              <a:rPr lang="en-US" b="1" dirty="0"/>
              <a:t>Content Includes:</a:t>
            </a:r>
          </a:p>
          <a:p>
            <a:pPr lvl="1"/>
            <a:r>
              <a:rPr lang="en-US" dirty="0"/>
              <a:t>Introduction stating the reason for enquiry.</a:t>
            </a:r>
          </a:p>
          <a:p>
            <a:pPr lvl="1"/>
            <a:r>
              <a:rPr lang="en-US" dirty="0"/>
              <a:t>Specific questions about product details, price, availability, delivery, discounts, etc.</a:t>
            </a:r>
          </a:p>
          <a:p>
            <a:pPr lvl="1"/>
            <a:r>
              <a:rPr lang="en-US" dirty="0"/>
              <a:t>Polite closing requesting prompt response.</a:t>
            </a:r>
          </a:p>
          <a:p>
            <a:pPr lvl="1"/>
            <a:endParaRPr lang="en-US" dirty="0"/>
          </a:p>
          <a:p>
            <a:pPr marL="285750" indent="-285750">
              <a:buFont typeface="Arial" panose="020B0604020202020204" pitchFamily="34" charset="0"/>
              <a:buChar char="•"/>
            </a:pPr>
            <a:r>
              <a:rPr lang="en-US" dirty="0"/>
              <a:t>Example:</a:t>
            </a:r>
            <a:br>
              <a:rPr lang="en-US" dirty="0"/>
            </a:br>
            <a:r>
              <a:rPr lang="en-US" dirty="0"/>
              <a:t>"I am interested in purchasing electronic components from your company. Kindly send details of the specifications, prices, and delivery schedules for the items listed below."</a:t>
            </a:r>
          </a:p>
          <a:p>
            <a:endParaRPr lang="en-US" dirty="0"/>
          </a:p>
        </p:txBody>
      </p:sp>
    </p:spTree>
    <p:extLst>
      <p:ext uri="{BB962C8B-B14F-4D97-AF65-F5344CB8AC3E}">
        <p14:creationId xmlns:p14="http://schemas.microsoft.com/office/powerpoint/2010/main" val="3992975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C47F4-6A98-864E-3193-AF2ADC1247C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ADB9198-5530-5073-AB4F-050C29D46366}"/>
              </a:ext>
            </a:extLst>
          </p:cNvPr>
          <p:cNvSpPr txBox="1"/>
          <p:nvPr/>
        </p:nvSpPr>
        <p:spPr>
          <a:xfrm>
            <a:off x="765313" y="190214"/>
            <a:ext cx="9074426" cy="2862322"/>
          </a:xfrm>
          <a:prstGeom prst="rect">
            <a:avLst/>
          </a:prstGeom>
          <a:noFill/>
        </p:spPr>
        <p:txBody>
          <a:bodyPr wrap="square">
            <a:spAutoFit/>
          </a:bodyPr>
          <a:lstStyle/>
          <a:p>
            <a:pPr marL="285750" indent="-285750" algn="l">
              <a:buFont typeface="Wingdings" panose="05000000000000000000" pitchFamily="2" charset="2"/>
              <a:buChar char="§"/>
            </a:pPr>
            <a:r>
              <a:rPr lang="en-US" b="1" i="0" dirty="0">
                <a:effectLst/>
                <a:latin typeface="fkGrotesk"/>
              </a:rPr>
              <a:t>Order Letter</a:t>
            </a:r>
          </a:p>
          <a:p>
            <a:pPr algn="l">
              <a:buFont typeface="Arial" panose="020B0604020202020204" pitchFamily="34" charset="0"/>
              <a:buChar char="•"/>
            </a:pPr>
            <a:r>
              <a:rPr lang="en-US" b="0" i="0" dirty="0">
                <a:effectLst/>
                <a:latin typeface="fkGroteskNeue"/>
              </a:rPr>
              <a:t>Purpose: To place an order for goods or services after receiving information or from supplier catalogs.</a:t>
            </a:r>
          </a:p>
          <a:p>
            <a:pPr algn="l">
              <a:buFont typeface="Arial" panose="020B0604020202020204" pitchFamily="34" charset="0"/>
              <a:buChar char="•"/>
            </a:pPr>
            <a:r>
              <a:rPr lang="en-US" b="0" i="0" dirty="0">
                <a:effectLst/>
                <a:latin typeface="fkGroteskNeue"/>
              </a:rPr>
              <a:t>Content Includes:</a:t>
            </a:r>
          </a:p>
          <a:p>
            <a:pPr marL="742950" lvl="1" indent="-285750" algn="l">
              <a:buFont typeface="Arial" panose="020B0604020202020204" pitchFamily="34" charset="0"/>
              <a:buChar char="•"/>
            </a:pPr>
            <a:r>
              <a:rPr lang="en-US" b="0" i="0" dirty="0">
                <a:effectLst/>
                <a:latin typeface="fkGroteskNeue"/>
              </a:rPr>
              <a:t>Clear description of items ordered including quantity, model numbers, specifications.</a:t>
            </a:r>
          </a:p>
          <a:p>
            <a:pPr marL="742950" lvl="1" indent="-285750" algn="l">
              <a:buFont typeface="Arial" panose="020B0604020202020204" pitchFamily="34" charset="0"/>
              <a:buChar char="•"/>
            </a:pPr>
            <a:r>
              <a:rPr lang="en-US" b="0" i="0" dirty="0">
                <a:effectLst/>
                <a:latin typeface="fkGroteskNeue"/>
              </a:rPr>
              <a:t>Delivery instructions and payment terms.</a:t>
            </a:r>
          </a:p>
          <a:p>
            <a:pPr marL="742950" lvl="1" indent="-285750" algn="l">
              <a:buFont typeface="Arial" panose="020B0604020202020204" pitchFamily="34" charset="0"/>
              <a:buChar char="•"/>
            </a:pPr>
            <a:r>
              <a:rPr lang="en-US" b="0" i="0" dirty="0">
                <a:effectLst/>
                <a:latin typeface="fkGroteskNeue"/>
              </a:rPr>
              <a:t>Request for acknowledgment of the order.</a:t>
            </a:r>
          </a:p>
          <a:p>
            <a:pPr algn="l">
              <a:buNone/>
            </a:pPr>
            <a:r>
              <a:rPr lang="en-US" b="1" i="0" dirty="0">
                <a:effectLst/>
                <a:latin typeface="fkGroteskNeue"/>
              </a:rPr>
              <a:t>Example</a:t>
            </a:r>
            <a:r>
              <a:rPr lang="en-US" b="0" i="0" dirty="0">
                <a:effectLst/>
                <a:latin typeface="fkGroteskNeue"/>
              </a:rPr>
              <a:t>:</a:t>
            </a:r>
            <a:br>
              <a:rPr lang="en-US" b="0" i="0" dirty="0">
                <a:effectLst/>
                <a:latin typeface="fkGroteskNeue"/>
              </a:rPr>
            </a:br>
            <a:r>
              <a:rPr lang="en-US" b="0" i="0" dirty="0">
                <a:effectLst/>
                <a:latin typeface="fkGroteskNeue"/>
              </a:rPr>
              <a:t>"Please supply 50 units of Model X smartphones as per the quoted price. Deliver to our warehouse by the 10th of next month. Enclosed is the advance payment receipt."</a:t>
            </a:r>
          </a:p>
        </p:txBody>
      </p:sp>
      <p:sp>
        <p:nvSpPr>
          <p:cNvPr id="5" name="TextBox 4">
            <a:extLst>
              <a:ext uri="{FF2B5EF4-FFF2-40B4-BE49-F238E27FC236}">
                <a16:creationId xmlns:a16="http://schemas.microsoft.com/office/drawing/2014/main" id="{1B1FDA82-A754-9753-1AB1-F73F97CA5DC2}"/>
              </a:ext>
            </a:extLst>
          </p:cNvPr>
          <p:cNvSpPr txBox="1"/>
          <p:nvPr/>
        </p:nvSpPr>
        <p:spPr>
          <a:xfrm>
            <a:off x="765313" y="3052536"/>
            <a:ext cx="8468139" cy="3139321"/>
          </a:xfrm>
          <a:prstGeom prst="rect">
            <a:avLst/>
          </a:prstGeom>
          <a:noFill/>
        </p:spPr>
        <p:txBody>
          <a:bodyPr wrap="square">
            <a:spAutoFit/>
          </a:bodyPr>
          <a:lstStyle/>
          <a:p>
            <a:pPr algn="l">
              <a:buNone/>
            </a:pPr>
            <a:r>
              <a:rPr lang="en-US" b="1" i="0" dirty="0">
                <a:effectLst/>
                <a:latin typeface="fkGrotesk"/>
              </a:rPr>
              <a:t>Complaint Letter</a:t>
            </a:r>
          </a:p>
          <a:p>
            <a:pPr algn="l">
              <a:buFont typeface="Arial" panose="020B0604020202020204" pitchFamily="34" charset="0"/>
              <a:buChar char="•"/>
            </a:pPr>
            <a:r>
              <a:rPr lang="en-US" b="0" i="0" dirty="0">
                <a:effectLst/>
                <a:latin typeface="fkGroteskNeue"/>
              </a:rPr>
              <a:t>Purpose: To notify a seller or service provider about defects, deficiencies, late delivery, or poor service.</a:t>
            </a:r>
          </a:p>
          <a:p>
            <a:pPr algn="l">
              <a:buFont typeface="Arial" panose="020B0604020202020204" pitchFamily="34" charset="0"/>
              <a:buChar char="•"/>
            </a:pPr>
            <a:r>
              <a:rPr lang="en-US" b="0" i="0" dirty="0">
                <a:effectLst/>
                <a:latin typeface="fkGroteskNeue"/>
              </a:rPr>
              <a:t>Content Includes:</a:t>
            </a:r>
          </a:p>
          <a:p>
            <a:pPr marL="742950" lvl="1" indent="-285750" algn="l">
              <a:buFont typeface="Arial" panose="020B0604020202020204" pitchFamily="34" charset="0"/>
              <a:buChar char="•"/>
            </a:pPr>
            <a:r>
              <a:rPr lang="en-US" b="0" i="0" dirty="0">
                <a:effectLst/>
                <a:latin typeface="fkGroteskNeue"/>
              </a:rPr>
              <a:t>Clear description of the issue or problem faced.</a:t>
            </a:r>
          </a:p>
          <a:p>
            <a:pPr marL="742950" lvl="1" indent="-285750" algn="l">
              <a:buFont typeface="Arial" panose="020B0604020202020204" pitchFamily="34" charset="0"/>
              <a:buChar char="•"/>
            </a:pPr>
            <a:r>
              <a:rPr lang="en-US" b="0" i="0" dirty="0">
                <a:effectLst/>
                <a:latin typeface="fkGroteskNeue"/>
              </a:rPr>
              <a:t>Reference to initial order or communication details.</a:t>
            </a:r>
          </a:p>
          <a:p>
            <a:pPr marL="742950" lvl="1" indent="-285750" algn="l">
              <a:buFont typeface="Arial" panose="020B0604020202020204" pitchFamily="34" charset="0"/>
              <a:buChar char="•"/>
            </a:pPr>
            <a:r>
              <a:rPr lang="en-US" b="0" i="0" dirty="0">
                <a:effectLst/>
                <a:latin typeface="fkGroteskNeue"/>
              </a:rPr>
              <a:t>Request for rectification, replacement, refund, or compensation.</a:t>
            </a:r>
          </a:p>
          <a:p>
            <a:pPr marL="742950" lvl="1" indent="-285750" algn="l">
              <a:buFont typeface="Arial" panose="020B0604020202020204" pitchFamily="34" charset="0"/>
              <a:buChar char="•"/>
            </a:pPr>
            <a:r>
              <a:rPr lang="en-US" b="0" i="0" dirty="0">
                <a:effectLst/>
                <a:latin typeface="fkGroteskNeue"/>
              </a:rPr>
              <a:t>Polite but firm tone for a timely resolution.</a:t>
            </a:r>
          </a:p>
          <a:p>
            <a:pPr algn="l">
              <a:buNone/>
            </a:pPr>
            <a:r>
              <a:rPr lang="en-US" b="1" i="0" dirty="0">
                <a:effectLst/>
                <a:latin typeface="fkGroteskNeue"/>
              </a:rPr>
              <a:t>Example</a:t>
            </a:r>
            <a:r>
              <a:rPr lang="en-US" b="0" i="0" dirty="0">
                <a:effectLst/>
                <a:latin typeface="fkGroteskNeue"/>
              </a:rPr>
              <a:t>:</a:t>
            </a:r>
            <a:br>
              <a:rPr lang="en-US" b="0" i="0" dirty="0">
                <a:effectLst/>
                <a:latin typeface="fkGroteskNeue"/>
              </a:rPr>
            </a:br>
            <a:r>
              <a:rPr lang="en-US" b="0" i="0" dirty="0">
                <a:effectLst/>
                <a:latin typeface="fkGroteskNeue"/>
              </a:rPr>
              <a:t>"We received the consignment on 5th Oct, but 10 units were found defective. Kindly replace the damaged items or arrange for a refund at the earliest."</a:t>
            </a:r>
          </a:p>
        </p:txBody>
      </p:sp>
    </p:spTree>
    <p:extLst>
      <p:ext uri="{BB962C8B-B14F-4D97-AF65-F5344CB8AC3E}">
        <p14:creationId xmlns:p14="http://schemas.microsoft.com/office/powerpoint/2010/main" val="15470988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D1034-96EB-96A9-527D-603F07C2A95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55CB6DF-778B-80D6-C3F5-BC88B8AAF719}"/>
              </a:ext>
            </a:extLst>
          </p:cNvPr>
          <p:cNvSpPr txBox="1"/>
          <p:nvPr/>
        </p:nvSpPr>
        <p:spPr>
          <a:xfrm>
            <a:off x="795131" y="143325"/>
            <a:ext cx="8527774" cy="5570756"/>
          </a:xfrm>
          <a:prstGeom prst="rect">
            <a:avLst/>
          </a:prstGeom>
          <a:noFill/>
        </p:spPr>
        <p:txBody>
          <a:bodyPr wrap="square">
            <a:spAutoFit/>
          </a:bodyPr>
          <a:lstStyle/>
          <a:p>
            <a:pPr>
              <a:spcBef>
                <a:spcPts val="15"/>
              </a:spcBef>
              <a:buNone/>
            </a:pPr>
            <a:r>
              <a:rPr lang="en-US" sz="1800" b="1" dirty="0">
                <a:effectLst/>
                <a:latin typeface="Times New Roman" panose="02020603050405020304" pitchFamily="18" charset="0"/>
                <a:ea typeface="Times New Roman" panose="02020603050405020304" pitchFamily="18" charset="0"/>
              </a:rPr>
              <a:t>5.2	Job-Application with Resume</a:t>
            </a:r>
          </a:p>
          <a:p>
            <a:pPr>
              <a:spcBef>
                <a:spcPts val="15"/>
              </a:spcBef>
              <a:buNone/>
            </a:pPr>
            <a:endParaRPr lang="en-US" b="1" dirty="0">
              <a:latin typeface="Times New Roman" panose="02020603050405020304" pitchFamily="18" charset="0"/>
              <a:ea typeface="Times New Roman" panose="02020603050405020304" pitchFamily="18" charset="0"/>
            </a:endParaRPr>
          </a:p>
          <a:p>
            <a:pPr marL="285750" indent="-285750">
              <a:buFont typeface="Arial" panose="020B0604020202020204" pitchFamily="34" charset="0"/>
              <a:buChar char="•"/>
            </a:pPr>
            <a:r>
              <a:rPr lang="en-US" b="1" dirty="0"/>
              <a:t>Job Application with Resume</a:t>
            </a:r>
          </a:p>
          <a:p>
            <a:r>
              <a:rPr lang="en-US" dirty="0"/>
              <a:t>A job application with a resume is a formal document submitted by a candidate to apply for a job position. It highlights your qualifications, skills, experience, and suitability for the role.</a:t>
            </a:r>
          </a:p>
          <a:p>
            <a:endParaRPr lang="en-US" sz="1600" dirty="0">
              <a:effectLst/>
              <a:latin typeface="Times New Roman" panose="02020603050405020304" pitchFamily="18" charset="0"/>
              <a:ea typeface="Times New Roman" panose="02020603050405020304" pitchFamily="18" charset="0"/>
            </a:endParaRPr>
          </a:p>
          <a:p>
            <a:r>
              <a:rPr lang="en-US" b="1" dirty="0"/>
              <a:t>Format of a Job Application</a:t>
            </a:r>
          </a:p>
          <a:p>
            <a:pPr marL="285750" indent="-285750">
              <a:buFont typeface="Arial" panose="020B0604020202020204" pitchFamily="34" charset="0"/>
              <a:buChar char="•"/>
            </a:pPr>
            <a:r>
              <a:rPr lang="en-US" dirty="0"/>
              <a:t>Salutation: Address the recipient properly, e.g., "Dear Sir/Madam" or specific name if known.</a:t>
            </a:r>
          </a:p>
          <a:p>
            <a:pPr marL="285750" indent="-285750">
              <a:buFont typeface="Arial" panose="020B0604020202020204" pitchFamily="34" charset="0"/>
              <a:buChar char="•"/>
            </a:pPr>
            <a:r>
              <a:rPr lang="en-US" dirty="0"/>
              <a:t>Introduction: Mention the position you are applying for and where you found the vacancy.</a:t>
            </a:r>
          </a:p>
          <a:p>
            <a:pPr marL="285750" indent="-285750">
              <a:buFont typeface="Arial" panose="020B0604020202020204" pitchFamily="34" charset="0"/>
              <a:buChar char="•"/>
            </a:pPr>
            <a:r>
              <a:rPr lang="en-US" dirty="0"/>
              <a:t>Body of the Letter:</a:t>
            </a:r>
          </a:p>
          <a:p>
            <a:pPr marL="800100" lvl="1" indent="-342900">
              <a:buFont typeface="Arial" panose="020B0604020202020204" pitchFamily="34" charset="0"/>
              <a:buChar char="•"/>
            </a:pPr>
            <a:r>
              <a:rPr lang="en-US" dirty="0"/>
              <a:t>Brief introduction about yourself.</a:t>
            </a:r>
          </a:p>
          <a:p>
            <a:pPr marL="742950" lvl="1" indent="-285750">
              <a:buFont typeface="Arial" panose="020B0604020202020204" pitchFamily="34" charset="0"/>
              <a:buChar char="•"/>
            </a:pPr>
            <a:r>
              <a:rPr lang="en-US" dirty="0"/>
              <a:t>Highlight your qualifications, skills, experience relevant to the job.</a:t>
            </a:r>
          </a:p>
          <a:p>
            <a:pPr marL="742950" lvl="1" indent="-285750">
              <a:buFont typeface="Arial" panose="020B0604020202020204" pitchFamily="34" charset="0"/>
              <a:buChar char="•"/>
            </a:pPr>
            <a:r>
              <a:rPr lang="en-US" dirty="0"/>
              <a:t>Express your interest in the role and how you can contribute.</a:t>
            </a:r>
          </a:p>
          <a:p>
            <a:pPr marL="285750" indent="-285750">
              <a:buFont typeface="Arial" panose="020B0604020202020204" pitchFamily="34" charset="0"/>
              <a:buChar char="•"/>
            </a:pPr>
            <a:r>
              <a:rPr lang="en-US" dirty="0"/>
              <a:t>Closing: Politely request for an interview and thank the employer for their consideration.</a:t>
            </a:r>
          </a:p>
          <a:p>
            <a:pPr marL="285750" indent="-285750">
              <a:buFont typeface="Arial" panose="020B0604020202020204" pitchFamily="34" charset="0"/>
              <a:buChar char="•"/>
            </a:pPr>
            <a:r>
              <a:rPr lang="en-US" dirty="0"/>
              <a:t>Signature: With your full name and contact details.</a:t>
            </a:r>
          </a:p>
          <a:p>
            <a:endParaRPr lang="en-IN"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5755407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A2931-87A2-78A3-2960-47513979FBA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0DC2E52-CA20-DE53-7F00-8DCDD33AC8E3}"/>
              </a:ext>
            </a:extLst>
          </p:cNvPr>
          <p:cNvSpPr txBox="1"/>
          <p:nvPr/>
        </p:nvSpPr>
        <p:spPr>
          <a:xfrm>
            <a:off x="765313" y="100114"/>
            <a:ext cx="8567530" cy="5078313"/>
          </a:xfrm>
          <a:prstGeom prst="rect">
            <a:avLst/>
          </a:prstGeom>
          <a:noFill/>
        </p:spPr>
        <p:txBody>
          <a:bodyPr wrap="square">
            <a:spAutoFit/>
          </a:bodyPr>
          <a:lstStyle/>
          <a:p>
            <a:pPr marL="285750" indent="-285750" algn="l">
              <a:buFont typeface="Wingdings" panose="05000000000000000000" pitchFamily="2" charset="2"/>
              <a:buChar char="Ø"/>
            </a:pPr>
            <a:r>
              <a:rPr lang="en-US" b="1" i="0" dirty="0">
                <a:effectLst/>
                <a:latin typeface="fkGrotesk"/>
              </a:rPr>
              <a:t>Resume (Curriculum Vitae)</a:t>
            </a:r>
          </a:p>
          <a:p>
            <a:pPr algn="l"/>
            <a:endParaRPr lang="en-US" b="1" i="0" dirty="0">
              <a:effectLst/>
              <a:latin typeface="fkGrotesk"/>
            </a:endParaRPr>
          </a:p>
          <a:p>
            <a:pPr algn="l">
              <a:buFont typeface="Arial" panose="020B0604020202020204" pitchFamily="34" charset="0"/>
              <a:buChar char="•"/>
            </a:pPr>
            <a:r>
              <a:rPr lang="en-US" b="0" i="0" dirty="0">
                <a:effectLst/>
                <a:latin typeface="fkGroteskNeue"/>
              </a:rPr>
              <a:t>Contact Information: Name, phone number, email, address.</a:t>
            </a:r>
          </a:p>
          <a:p>
            <a:pPr algn="l">
              <a:buFont typeface="Arial" panose="020B0604020202020204" pitchFamily="34" charset="0"/>
              <a:buChar char="•"/>
            </a:pPr>
            <a:r>
              <a:rPr lang="en-US" b="0" i="0" dirty="0">
                <a:effectLst/>
                <a:latin typeface="fkGroteskNeue"/>
              </a:rPr>
              <a:t>Objective/Profile: A brief statement summarizing your career goals and strengths.</a:t>
            </a:r>
          </a:p>
          <a:p>
            <a:pPr algn="l">
              <a:buFont typeface="Arial" panose="020B0604020202020204" pitchFamily="34" charset="0"/>
              <a:buChar char="•"/>
            </a:pPr>
            <a:r>
              <a:rPr lang="en-US" b="0" i="0" dirty="0">
                <a:effectLst/>
                <a:latin typeface="fkGroteskNeue"/>
              </a:rPr>
              <a:t>Work Experience: List recent jobs or internships, specifying responsibilities and achievements.</a:t>
            </a:r>
          </a:p>
          <a:p>
            <a:pPr algn="l">
              <a:buFont typeface="Arial" panose="020B0604020202020204" pitchFamily="34" charset="0"/>
              <a:buChar char="•"/>
            </a:pPr>
            <a:r>
              <a:rPr lang="en-US" b="0" i="0" dirty="0">
                <a:effectLst/>
                <a:latin typeface="fkGroteskNeue"/>
              </a:rPr>
              <a:t>Education: Highest degree, institution's name, year of passing.</a:t>
            </a:r>
          </a:p>
          <a:p>
            <a:pPr algn="l">
              <a:buFont typeface="Arial" panose="020B0604020202020204" pitchFamily="34" charset="0"/>
              <a:buChar char="•"/>
            </a:pPr>
            <a:r>
              <a:rPr lang="en-US" b="0" i="0" dirty="0">
                <a:effectLst/>
                <a:latin typeface="fkGroteskNeue"/>
              </a:rPr>
              <a:t>Skills: Relevant technical and soft skills.</a:t>
            </a:r>
          </a:p>
          <a:p>
            <a:pPr algn="l">
              <a:buFont typeface="Arial" panose="020B0604020202020204" pitchFamily="34" charset="0"/>
              <a:buChar char="•"/>
            </a:pPr>
            <a:r>
              <a:rPr lang="en-US" b="0" i="0" dirty="0">
                <a:effectLst/>
                <a:latin typeface="fkGroteskNeue"/>
              </a:rPr>
              <a:t>Additional Sections: Certifications, courses, extracurricular activities, volunteer work, etc.</a:t>
            </a:r>
          </a:p>
          <a:p>
            <a:pPr algn="l">
              <a:buFont typeface="Arial" panose="020B0604020202020204" pitchFamily="34" charset="0"/>
              <a:buChar char="•"/>
            </a:pPr>
            <a:r>
              <a:rPr lang="en-US" b="0" i="0" dirty="0">
                <a:effectLst/>
                <a:latin typeface="fkGroteskNeue"/>
              </a:rPr>
              <a:t>References: Available upon request (optional).</a:t>
            </a:r>
          </a:p>
          <a:p>
            <a:pPr algn="l">
              <a:buFont typeface="Arial" panose="020B0604020202020204" pitchFamily="34" charset="0"/>
              <a:buChar char="•"/>
            </a:pPr>
            <a:endParaRPr lang="en-US" dirty="0">
              <a:latin typeface="fkGroteskNeue"/>
            </a:endParaRPr>
          </a:p>
          <a:p>
            <a:r>
              <a:rPr lang="en-US" b="1" dirty="0"/>
              <a:t>5.3	Office Drafting-notices, circulars, memorandum etc.</a:t>
            </a:r>
            <a:endParaRPr lang="en-IN" dirty="0"/>
          </a:p>
          <a:p>
            <a:pPr algn="l"/>
            <a:endParaRPr lang="en-US" b="0" i="0" dirty="0">
              <a:effectLst/>
              <a:latin typeface="fkGroteskNeue"/>
            </a:endParaRPr>
          </a:p>
          <a:p>
            <a:r>
              <a:rPr lang="en-US" b="1" dirty="0"/>
              <a:t>5.3 Office Drafting: Notices, Circulars, Memorandum</a:t>
            </a:r>
          </a:p>
          <a:p>
            <a:r>
              <a:rPr lang="en-US" dirty="0"/>
              <a:t>Office drafting refers to writing clear, formal documents used for communication within an organization. These documents facilitate information flow and maintain formal records.</a:t>
            </a:r>
          </a:p>
          <a:p>
            <a:endParaRPr lang="en-US" b="0" i="0" dirty="0">
              <a:effectLst/>
              <a:latin typeface="fkGroteskNeue"/>
            </a:endParaRPr>
          </a:p>
        </p:txBody>
      </p:sp>
    </p:spTree>
    <p:extLst>
      <p:ext uri="{BB962C8B-B14F-4D97-AF65-F5344CB8AC3E}">
        <p14:creationId xmlns:p14="http://schemas.microsoft.com/office/powerpoint/2010/main" val="9646619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7581A-4615-00D3-07B0-1784F936F8A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16BD0D3-F98D-ECAE-1265-734F4D23072E}"/>
              </a:ext>
            </a:extLst>
          </p:cNvPr>
          <p:cNvSpPr txBox="1"/>
          <p:nvPr/>
        </p:nvSpPr>
        <p:spPr>
          <a:xfrm>
            <a:off x="874644" y="0"/>
            <a:ext cx="9064486" cy="6740307"/>
          </a:xfrm>
          <a:prstGeom prst="rect">
            <a:avLst/>
          </a:prstGeom>
          <a:noFill/>
        </p:spPr>
        <p:txBody>
          <a:bodyPr wrap="square">
            <a:spAutoFit/>
          </a:bodyPr>
          <a:lstStyle/>
          <a:p>
            <a:pPr marL="285750" indent="-285750" algn="l">
              <a:buFont typeface="Wingdings" panose="05000000000000000000" pitchFamily="2" charset="2"/>
              <a:buChar char="Ø"/>
            </a:pPr>
            <a:r>
              <a:rPr lang="en-US" b="1" i="0" dirty="0">
                <a:effectLst/>
                <a:latin typeface="fkGrotesk"/>
              </a:rPr>
              <a:t>Notices</a:t>
            </a:r>
          </a:p>
          <a:p>
            <a:pPr algn="l">
              <a:buFont typeface="Arial" panose="020B0604020202020204" pitchFamily="34" charset="0"/>
              <a:buChar char="•"/>
            </a:pPr>
            <a:r>
              <a:rPr lang="en-US" b="0" i="0" dirty="0">
                <a:effectLst/>
                <a:latin typeface="fkGroteskNeue"/>
              </a:rPr>
              <a:t>Purpose: To announce information, events, meetings, deadlines, or instructions to a large group or the entire organization.</a:t>
            </a:r>
          </a:p>
          <a:p>
            <a:pPr algn="l">
              <a:buFont typeface="Arial" panose="020B0604020202020204" pitchFamily="34" charset="0"/>
              <a:buChar char="•"/>
            </a:pPr>
            <a:r>
              <a:rPr lang="en-US" b="0" i="0" dirty="0">
                <a:effectLst/>
                <a:latin typeface="fkGroteskNeue"/>
              </a:rPr>
              <a:t>Key Features: Short, precise, and authoritative; posted on notice boards or emailed.</a:t>
            </a:r>
          </a:p>
          <a:p>
            <a:pPr algn="l">
              <a:buFont typeface="Arial" panose="020B0604020202020204" pitchFamily="34" charset="0"/>
              <a:buChar char="•"/>
            </a:pPr>
            <a:r>
              <a:rPr lang="en-US" b="0" i="0" dirty="0">
                <a:effectLst/>
                <a:latin typeface="fkGroteskNeue"/>
              </a:rPr>
              <a:t>Structure:</a:t>
            </a:r>
          </a:p>
          <a:p>
            <a:pPr marL="742950" lvl="1" indent="-285750" algn="l">
              <a:buFont typeface="Arial" panose="020B0604020202020204" pitchFamily="34" charset="0"/>
              <a:buChar char="•"/>
            </a:pPr>
            <a:r>
              <a:rPr lang="en-US" b="0" i="0" dirty="0">
                <a:effectLst/>
                <a:latin typeface="fkGroteskNeue"/>
              </a:rPr>
              <a:t>Heading (Notice) with date and reference number</a:t>
            </a:r>
          </a:p>
          <a:p>
            <a:pPr marL="742950" lvl="1" indent="-285750" algn="l">
              <a:buFont typeface="Arial" panose="020B0604020202020204" pitchFamily="34" charset="0"/>
              <a:buChar char="•"/>
            </a:pPr>
            <a:r>
              <a:rPr lang="en-US" b="0" i="0" dirty="0">
                <a:effectLst/>
                <a:latin typeface="fkGroteskNeue"/>
              </a:rPr>
              <a:t>Address or Target Audience</a:t>
            </a:r>
          </a:p>
          <a:p>
            <a:pPr marL="742950" lvl="1" indent="-285750" algn="l">
              <a:buFont typeface="Arial" panose="020B0604020202020204" pitchFamily="34" charset="0"/>
              <a:buChar char="•"/>
            </a:pPr>
            <a:r>
              <a:rPr lang="en-US" b="0" i="0" dirty="0">
                <a:effectLst/>
                <a:latin typeface="fkGroteskNeue"/>
              </a:rPr>
              <a:t>Subject line or title</a:t>
            </a:r>
          </a:p>
          <a:p>
            <a:pPr marL="742950" lvl="1" indent="-285750" algn="l">
              <a:buFont typeface="Arial" panose="020B0604020202020204" pitchFamily="34" charset="0"/>
              <a:buChar char="•"/>
            </a:pPr>
            <a:r>
              <a:rPr lang="en-US" b="0" i="0" dirty="0">
                <a:effectLst/>
                <a:latin typeface="fkGroteskNeue"/>
              </a:rPr>
              <a:t>Body: concise message with necessary details (what, when, where, who, why)</a:t>
            </a:r>
          </a:p>
          <a:p>
            <a:pPr marL="742950" lvl="1" indent="-285750" algn="l">
              <a:buFont typeface="Arial" panose="020B0604020202020204" pitchFamily="34" charset="0"/>
              <a:buChar char="•"/>
            </a:pPr>
            <a:r>
              <a:rPr lang="en-US" b="0" i="0" dirty="0">
                <a:effectLst/>
                <a:latin typeface="fkGroteskNeue"/>
              </a:rPr>
              <a:t>Signature of issuing authority</a:t>
            </a:r>
          </a:p>
          <a:p>
            <a:pPr algn="l">
              <a:buFont typeface="Arial" panose="020B0604020202020204" pitchFamily="34" charset="0"/>
              <a:buChar char="•"/>
            </a:pPr>
            <a:r>
              <a:rPr lang="en-US" b="0" i="0" dirty="0">
                <a:effectLst/>
                <a:latin typeface="fkGroteskNeue"/>
              </a:rPr>
              <a:t>Example: Notice inviting employees to a safety training session on a specific date.</a:t>
            </a:r>
          </a:p>
          <a:p>
            <a:pPr algn="l">
              <a:buFont typeface="Arial" panose="020B0604020202020204" pitchFamily="34" charset="0"/>
              <a:buChar char="•"/>
            </a:pPr>
            <a:endParaRPr lang="en-US" dirty="0">
              <a:latin typeface="fkGroteskNeue"/>
            </a:endParaRPr>
          </a:p>
          <a:p>
            <a:pPr marL="285750" indent="-285750">
              <a:buFont typeface="Wingdings" panose="05000000000000000000" pitchFamily="2" charset="2"/>
              <a:buChar char="Ø"/>
            </a:pPr>
            <a:r>
              <a:rPr lang="en-US" b="1" dirty="0"/>
              <a:t>Circulars</a:t>
            </a:r>
          </a:p>
          <a:p>
            <a:pPr marL="285750" indent="-285750">
              <a:buFont typeface="Arial" panose="020B0604020202020204" pitchFamily="34" charset="0"/>
              <a:buChar char="•"/>
            </a:pPr>
            <a:r>
              <a:rPr lang="en-US" dirty="0"/>
              <a:t>Purpose: To circulate information, policies, or instructions to specific departments or groups within an organization.</a:t>
            </a:r>
          </a:p>
          <a:p>
            <a:pPr marL="285750" indent="-285750">
              <a:buFont typeface="Arial" panose="020B0604020202020204" pitchFamily="34" charset="0"/>
              <a:buChar char="•"/>
            </a:pPr>
            <a:r>
              <a:rPr lang="en-US" dirty="0"/>
              <a:t>Key Features: More detailed than notices; often used to communicate new rules or procedural changes.</a:t>
            </a:r>
          </a:p>
          <a:p>
            <a:pPr marL="285750" indent="-285750">
              <a:buFont typeface="Arial" panose="020B0604020202020204" pitchFamily="34" charset="0"/>
              <a:buChar char="•"/>
            </a:pPr>
            <a:r>
              <a:rPr lang="en-US" dirty="0"/>
              <a:t>Structure:</a:t>
            </a:r>
          </a:p>
          <a:p>
            <a:pPr marL="742950" lvl="1" indent="-285750">
              <a:buFont typeface="Arial" panose="020B0604020202020204" pitchFamily="34" charset="0"/>
              <a:buChar char="•"/>
            </a:pPr>
            <a:r>
              <a:rPr lang="en-US" dirty="0"/>
              <a:t>Heading (Circular) with date and reference number</a:t>
            </a:r>
          </a:p>
          <a:p>
            <a:pPr marL="742950" lvl="1" indent="-285750">
              <a:buFont typeface="Arial" panose="020B0604020202020204" pitchFamily="34" charset="0"/>
              <a:buChar char="•"/>
            </a:pPr>
            <a:r>
              <a:rPr lang="en-US" dirty="0"/>
              <a:t>Target group specification</a:t>
            </a:r>
          </a:p>
          <a:p>
            <a:pPr marL="742950" lvl="1" indent="-285750">
              <a:buFont typeface="Arial" panose="020B0604020202020204" pitchFamily="34" charset="0"/>
              <a:buChar char="•"/>
            </a:pPr>
            <a:r>
              <a:rPr lang="en-US" dirty="0"/>
              <a:t>Subject</a:t>
            </a:r>
          </a:p>
          <a:p>
            <a:pPr marL="742950" lvl="1" indent="-285750">
              <a:buFont typeface="Arial" panose="020B0604020202020204" pitchFamily="34" charset="0"/>
              <a:buChar char="•"/>
            </a:pPr>
            <a:r>
              <a:rPr lang="en-US" dirty="0"/>
              <a:t>Content organized clearly in paragraphs or bullet points</a:t>
            </a:r>
          </a:p>
          <a:p>
            <a:pPr marL="742950" lvl="1" indent="-285750">
              <a:buFont typeface="Arial" panose="020B0604020202020204" pitchFamily="34" charset="0"/>
              <a:buChar char="•"/>
            </a:pPr>
            <a:r>
              <a:rPr lang="en-US" dirty="0"/>
              <a:t>Signature of authority</a:t>
            </a:r>
          </a:p>
          <a:p>
            <a:r>
              <a:rPr lang="en-US" dirty="0"/>
              <a:t>Example: Circular detailing the updated leave policy effective from next month.</a:t>
            </a:r>
          </a:p>
        </p:txBody>
      </p:sp>
    </p:spTree>
    <p:extLst>
      <p:ext uri="{BB962C8B-B14F-4D97-AF65-F5344CB8AC3E}">
        <p14:creationId xmlns:p14="http://schemas.microsoft.com/office/powerpoint/2010/main" val="39794475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3EDFC-AD76-6A43-36A8-9746ACA7069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ED96670-67D6-5B26-A022-EBAB71F20D76}"/>
              </a:ext>
            </a:extLst>
          </p:cNvPr>
          <p:cNvSpPr txBox="1"/>
          <p:nvPr/>
        </p:nvSpPr>
        <p:spPr>
          <a:xfrm>
            <a:off x="735496" y="199505"/>
            <a:ext cx="9044609" cy="5078313"/>
          </a:xfrm>
          <a:prstGeom prst="rect">
            <a:avLst/>
          </a:prstGeom>
          <a:noFill/>
        </p:spPr>
        <p:txBody>
          <a:bodyPr wrap="square">
            <a:spAutoFit/>
          </a:bodyPr>
          <a:lstStyle/>
          <a:p>
            <a:pPr marL="285750" indent="-285750" algn="l">
              <a:buFont typeface="Wingdings" panose="05000000000000000000" pitchFamily="2" charset="2"/>
              <a:buChar char="Ø"/>
            </a:pPr>
            <a:r>
              <a:rPr lang="en-US" b="1" i="0" dirty="0">
                <a:effectLst/>
                <a:latin typeface="fkGrotesk"/>
              </a:rPr>
              <a:t>Memorandum (Memo)</a:t>
            </a:r>
          </a:p>
          <a:p>
            <a:pPr algn="l">
              <a:buFont typeface="Arial" panose="020B0604020202020204" pitchFamily="34" charset="0"/>
              <a:buChar char="•"/>
            </a:pPr>
            <a:r>
              <a:rPr lang="en-US" b="0" i="0" dirty="0">
                <a:effectLst/>
                <a:latin typeface="fkGroteskNeue"/>
              </a:rPr>
              <a:t>Purpose: Internal communication used to convey information, requests, decisions, or instructions within the organization.</a:t>
            </a:r>
          </a:p>
          <a:p>
            <a:pPr algn="l">
              <a:buFont typeface="Arial" panose="020B0604020202020204" pitchFamily="34" charset="0"/>
              <a:buChar char="•"/>
            </a:pPr>
            <a:r>
              <a:rPr lang="en-US" b="0" i="0" dirty="0">
                <a:effectLst/>
                <a:latin typeface="fkGroteskNeue"/>
              </a:rPr>
              <a:t>Key Features: Brief, formal, and direct; mainly sent between departments or colleagues.</a:t>
            </a:r>
          </a:p>
          <a:p>
            <a:pPr algn="l">
              <a:buFont typeface="Arial" panose="020B0604020202020204" pitchFamily="34" charset="0"/>
              <a:buChar char="•"/>
            </a:pPr>
            <a:r>
              <a:rPr lang="en-US" b="0" i="0" dirty="0">
                <a:effectLst/>
                <a:latin typeface="fkGroteskNeue"/>
              </a:rPr>
              <a:t>Structure:</a:t>
            </a:r>
          </a:p>
          <a:p>
            <a:pPr marL="742950" lvl="1" indent="-285750" algn="l">
              <a:buFont typeface="Arial" panose="020B0604020202020204" pitchFamily="34" charset="0"/>
              <a:buChar char="•"/>
            </a:pPr>
            <a:r>
              <a:rPr lang="en-US" b="0" i="0" dirty="0">
                <a:effectLst/>
                <a:latin typeface="fkGroteskNeue"/>
              </a:rPr>
              <a:t>To, From, Date, and Subject lines at the top</a:t>
            </a:r>
          </a:p>
          <a:p>
            <a:pPr marL="742950" lvl="1" indent="-285750" algn="l">
              <a:buFont typeface="Arial" panose="020B0604020202020204" pitchFamily="34" charset="0"/>
              <a:buChar char="•"/>
            </a:pPr>
            <a:r>
              <a:rPr lang="en-US" b="0" i="0" dirty="0">
                <a:effectLst/>
                <a:latin typeface="fkGroteskNeue"/>
              </a:rPr>
              <a:t>Message containing the content</a:t>
            </a:r>
          </a:p>
          <a:p>
            <a:pPr marL="742950" lvl="1" indent="-285750" algn="l">
              <a:buFont typeface="Arial" panose="020B0604020202020204" pitchFamily="34" charset="0"/>
              <a:buChar char="•"/>
            </a:pPr>
            <a:r>
              <a:rPr lang="en-US" b="0" i="0" dirty="0">
                <a:effectLst/>
                <a:latin typeface="fkGroteskNeue"/>
              </a:rPr>
              <a:t>Sometimes includes enclosures or attachments</a:t>
            </a:r>
          </a:p>
          <a:p>
            <a:pPr algn="l">
              <a:buFont typeface="Arial" panose="020B0604020202020204" pitchFamily="34" charset="0"/>
              <a:buChar char="•"/>
            </a:pPr>
            <a:r>
              <a:rPr lang="en-US" b="0" i="0" dirty="0">
                <a:effectLst/>
                <a:latin typeface="fkGroteskNeue"/>
              </a:rPr>
              <a:t>Example: Memo requesting departments to submit quarterly reports by a certain date.</a:t>
            </a:r>
          </a:p>
          <a:p>
            <a:pPr algn="l">
              <a:buFont typeface="Arial" panose="020B0604020202020204" pitchFamily="34" charset="0"/>
              <a:buChar char="•"/>
            </a:pPr>
            <a:endParaRPr lang="en-US" dirty="0">
              <a:latin typeface="fkGroteskNeue"/>
            </a:endParaRPr>
          </a:p>
          <a:p>
            <a:r>
              <a:rPr lang="en-US" b="1" dirty="0"/>
              <a:t>5.4	Report Writing: Accident and Fall in production</a:t>
            </a:r>
            <a:endParaRPr lang="en-IN" dirty="0"/>
          </a:p>
          <a:p>
            <a:pPr algn="l"/>
            <a:endParaRPr lang="en-US" b="0" i="0" dirty="0">
              <a:effectLst/>
              <a:latin typeface="fkGroteskNeue"/>
            </a:endParaRPr>
          </a:p>
          <a:p>
            <a:r>
              <a:rPr lang="en-US" b="1" dirty="0"/>
              <a:t>5.4 Report Writing: Accident and Fall in Production</a:t>
            </a:r>
          </a:p>
          <a:p>
            <a:r>
              <a:rPr lang="en-US" dirty="0"/>
              <a:t>An accident report documents the details of an incident involving injury or mishap in the production or workplace environment. It helps investigate causes and suggests preventive measures.</a:t>
            </a:r>
          </a:p>
          <a:p>
            <a:br>
              <a:rPr lang="en-US" dirty="0"/>
            </a:br>
            <a:endParaRPr lang="en-US" b="0" i="0" dirty="0">
              <a:effectLst/>
              <a:latin typeface="fkGroteskNeue"/>
            </a:endParaRPr>
          </a:p>
        </p:txBody>
      </p:sp>
    </p:spTree>
    <p:extLst>
      <p:ext uri="{BB962C8B-B14F-4D97-AF65-F5344CB8AC3E}">
        <p14:creationId xmlns:p14="http://schemas.microsoft.com/office/powerpoint/2010/main" val="6254872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17BFB-AAB8-C707-024E-DFD117B2FCD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E8C4435-E43F-8B35-FFE9-FE4AB01EFD0D}"/>
              </a:ext>
            </a:extLst>
          </p:cNvPr>
          <p:cNvSpPr txBox="1"/>
          <p:nvPr/>
        </p:nvSpPr>
        <p:spPr>
          <a:xfrm>
            <a:off x="785191" y="153699"/>
            <a:ext cx="9362661" cy="3693319"/>
          </a:xfrm>
          <a:prstGeom prst="rect">
            <a:avLst/>
          </a:prstGeom>
          <a:noFill/>
        </p:spPr>
        <p:txBody>
          <a:bodyPr wrap="square">
            <a:spAutoFit/>
          </a:bodyPr>
          <a:lstStyle/>
          <a:p>
            <a:pPr marL="285750" indent="-285750" algn="l">
              <a:buFont typeface="Wingdings" panose="05000000000000000000" pitchFamily="2" charset="2"/>
              <a:buChar char="Ø"/>
            </a:pPr>
            <a:r>
              <a:rPr lang="en-US" b="1" i="0" dirty="0">
                <a:effectLst/>
                <a:latin typeface="fkGrotesk"/>
              </a:rPr>
              <a:t>Format of Accident Report</a:t>
            </a:r>
          </a:p>
          <a:p>
            <a:pPr algn="l"/>
            <a:endParaRPr lang="en-US" b="1" i="0" dirty="0">
              <a:effectLst/>
              <a:latin typeface="fkGrotesk"/>
            </a:endParaRPr>
          </a:p>
          <a:p>
            <a:pPr algn="l">
              <a:buFont typeface="+mj-lt"/>
              <a:buAutoNum type="arabicPeriod"/>
            </a:pPr>
            <a:r>
              <a:rPr lang="en-US" b="0" i="0" dirty="0">
                <a:effectLst/>
                <a:latin typeface="fkGroteskNeue"/>
              </a:rPr>
              <a:t>Title: Accident Report / Incident Report</a:t>
            </a:r>
          </a:p>
          <a:p>
            <a:pPr algn="l">
              <a:buFont typeface="+mj-lt"/>
              <a:buAutoNum type="arabicPeriod"/>
            </a:pPr>
            <a:r>
              <a:rPr lang="en-US" b="0" i="0" dirty="0">
                <a:effectLst/>
                <a:latin typeface="fkGroteskNeue"/>
              </a:rPr>
              <a:t>Date and Time: When the accident occurred</a:t>
            </a:r>
          </a:p>
          <a:p>
            <a:pPr algn="l">
              <a:buFont typeface="+mj-lt"/>
              <a:buAutoNum type="arabicPeriod"/>
            </a:pPr>
            <a:r>
              <a:rPr lang="en-US" b="0" i="0" dirty="0">
                <a:effectLst/>
                <a:latin typeface="fkGroteskNeue"/>
              </a:rPr>
              <a:t>Location: Exact place of the accident</a:t>
            </a:r>
          </a:p>
          <a:p>
            <a:pPr algn="l">
              <a:buFont typeface="+mj-lt"/>
              <a:buAutoNum type="arabicPeriod"/>
            </a:pPr>
            <a:r>
              <a:rPr lang="en-US" b="0" i="0" dirty="0">
                <a:effectLst/>
                <a:latin typeface="fkGroteskNeue"/>
              </a:rPr>
              <a:t>Persons Involved: Names, positions, and contact information</a:t>
            </a:r>
          </a:p>
          <a:p>
            <a:pPr algn="l">
              <a:buFont typeface="+mj-lt"/>
              <a:buAutoNum type="arabicPeriod"/>
            </a:pPr>
            <a:r>
              <a:rPr lang="en-US" b="0" i="0" dirty="0">
                <a:effectLst/>
                <a:latin typeface="fkGroteskNeue"/>
              </a:rPr>
              <a:t>Description of Incident: Detailed account of what happened in chronological order</a:t>
            </a:r>
          </a:p>
          <a:p>
            <a:pPr algn="l">
              <a:buFont typeface="+mj-lt"/>
              <a:buAutoNum type="arabicPeriod"/>
            </a:pPr>
            <a:r>
              <a:rPr lang="en-US" b="0" i="0" dirty="0">
                <a:effectLst/>
                <a:latin typeface="fkGroteskNeue"/>
              </a:rPr>
              <a:t>Cause of Accident: Factors leading to the accident (e.g., slippery floor, faulty equipment)</a:t>
            </a:r>
          </a:p>
          <a:p>
            <a:pPr algn="l">
              <a:buFont typeface="+mj-lt"/>
              <a:buAutoNum type="arabicPeriod"/>
            </a:pPr>
            <a:r>
              <a:rPr lang="en-US" b="0" i="0" dirty="0">
                <a:effectLst/>
                <a:latin typeface="fkGroteskNeue"/>
              </a:rPr>
              <a:t>Injuries Sustained: Nature of injuries and their severity</a:t>
            </a:r>
          </a:p>
          <a:p>
            <a:pPr algn="l">
              <a:buFont typeface="+mj-lt"/>
              <a:buAutoNum type="arabicPeriod"/>
            </a:pPr>
            <a:r>
              <a:rPr lang="en-US" b="0" i="0" dirty="0">
                <a:effectLst/>
                <a:latin typeface="fkGroteskNeue"/>
              </a:rPr>
              <a:t>Immediate Action Taken: First aid given or medical assistance called</a:t>
            </a:r>
          </a:p>
          <a:p>
            <a:pPr algn="l">
              <a:buFont typeface="+mj-lt"/>
              <a:buAutoNum type="arabicPeriod"/>
            </a:pPr>
            <a:r>
              <a:rPr lang="en-US" b="0" i="0" dirty="0">
                <a:effectLst/>
                <a:latin typeface="fkGroteskNeue"/>
              </a:rPr>
              <a:t>Witness Statements: Observations from people present</a:t>
            </a:r>
          </a:p>
          <a:p>
            <a:pPr algn="l">
              <a:buFont typeface="+mj-lt"/>
              <a:buAutoNum type="arabicPeriod"/>
            </a:pPr>
            <a:r>
              <a:rPr lang="en-US" b="0" i="0" dirty="0">
                <a:effectLst/>
                <a:latin typeface="fkGroteskNeue"/>
              </a:rPr>
              <a:t>Preventive Measures: Recommendations to avoid future accidents</a:t>
            </a:r>
          </a:p>
          <a:p>
            <a:pPr algn="l">
              <a:buFont typeface="+mj-lt"/>
              <a:buAutoNum type="arabicPeriod"/>
            </a:pPr>
            <a:r>
              <a:rPr lang="en-US" b="0" i="0" dirty="0">
                <a:effectLst/>
                <a:latin typeface="fkGroteskNeue"/>
              </a:rPr>
              <a:t>Prepared By: Name, position, and signature of the person writing the report</a:t>
            </a:r>
          </a:p>
        </p:txBody>
      </p:sp>
    </p:spTree>
    <p:extLst>
      <p:ext uri="{BB962C8B-B14F-4D97-AF65-F5344CB8AC3E}">
        <p14:creationId xmlns:p14="http://schemas.microsoft.com/office/powerpoint/2010/main" val="42124162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E424B-5FE2-F163-A1EF-217E9A7AA8A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074A70E-A979-572F-5617-491331C275A8}"/>
              </a:ext>
            </a:extLst>
          </p:cNvPr>
          <p:cNvSpPr txBox="1"/>
          <p:nvPr/>
        </p:nvSpPr>
        <p:spPr>
          <a:xfrm>
            <a:off x="775252" y="70083"/>
            <a:ext cx="9432235" cy="6186309"/>
          </a:xfrm>
          <a:prstGeom prst="rect">
            <a:avLst/>
          </a:prstGeom>
          <a:noFill/>
        </p:spPr>
        <p:txBody>
          <a:bodyPr wrap="square">
            <a:spAutoFit/>
          </a:bodyPr>
          <a:lstStyle/>
          <a:p>
            <a:pPr algn="l">
              <a:buNone/>
            </a:pPr>
            <a:r>
              <a:rPr lang="en-US" b="0" i="0" dirty="0">
                <a:effectLst/>
                <a:latin typeface="fkGrotesk"/>
              </a:rPr>
              <a:t>Sample Report Outline</a:t>
            </a:r>
          </a:p>
          <a:p>
            <a:pPr algn="l">
              <a:buNone/>
            </a:pPr>
            <a:r>
              <a:rPr lang="en-US" b="0" i="0" dirty="0">
                <a:effectLst/>
                <a:latin typeface="fkGroteskNeue"/>
              </a:rPr>
              <a:t>Accident Report</a:t>
            </a:r>
            <a:br>
              <a:rPr lang="en-US" b="0" i="0" dirty="0">
                <a:effectLst/>
                <a:latin typeface="fkGroteskNeue"/>
              </a:rPr>
            </a:br>
            <a:r>
              <a:rPr lang="en-US" b="0" i="0" dirty="0">
                <a:effectLst/>
                <a:latin typeface="fkGroteskNeue"/>
              </a:rPr>
              <a:t>Date: 19 May 2025</a:t>
            </a:r>
            <a:br>
              <a:rPr lang="en-US" b="0" i="0" dirty="0">
                <a:effectLst/>
                <a:latin typeface="fkGroteskNeue"/>
              </a:rPr>
            </a:br>
            <a:r>
              <a:rPr lang="en-US" b="0" i="0" dirty="0">
                <a:effectLst/>
                <a:latin typeface="fkGroteskNeue"/>
              </a:rPr>
              <a:t>Time: 10:30 AM</a:t>
            </a:r>
            <a:br>
              <a:rPr lang="en-US" b="0" i="0" dirty="0">
                <a:effectLst/>
                <a:latin typeface="fkGroteskNeue"/>
              </a:rPr>
            </a:br>
            <a:r>
              <a:rPr lang="en-US" b="0" i="0" dirty="0">
                <a:effectLst/>
                <a:latin typeface="fkGroteskNeue"/>
              </a:rPr>
              <a:t>Location: Production Floor</a:t>
            </a:r>
          </a:p>
          <a:p>
            <a:pPr algn="l">
              <a:buNone/>
            </a:pPr>
            <a:r>
              <a:rPr lang="en-US" b="0" i="0" dirty="0">
                <a:effectLst/>
                <a:latin typeface="fkGroteskNeue"/>
              </a:rPr>
              <a:t>Person Involved:</a:t>
            </a:r>
            <a:br>
              <a:rPr lang="en-US" b="0" i="0" dirty="0">
                <a:effectLst/>
                <a:latin typeface="fkGroteskNeue"/>
              </a:rPr>
            </a:br>
            <a:r>
              <a:rPr lang="en-US" b="0" i="0" dirty="0">
                <a:effectLst/>
                <a:latin typeface="fkGroteskNeue"/>
              </a:rPr>
              <a:t>Name: Jane Doe</a:t>
            </a:r>
            <a:br>
              <a:rPr lang="en-US" b="0" i="0" dirty="0">
                <a:effectLst/>
                <a:latin typeface="fkGroteskNeue"/>
              </a:rPr>
            </a:br>
            <a:r>
              <a:rPr lang="en-US" b="0" i="0" dirty="0">
                <a:effectLst/>
                <a:latin typeface="fkGroteskNeue"/>
              </a:rPr>
              <a:t>Position: Production Operator</a:t>
            </a:r>
          </a:p>
          <a:p>
            <a:pPr algn="l">
              <a:buNone/>
            </a:pPr>
            <a:r>
              <a:rPr lang="en-US" b="0" i="0" dirty="0">
                <a:effectLst/>
                <a:latin typeface="fkGroteskNeue"/>
              </a:rPr>
              <a:t>Description:</a:t>
            </a:r>
            <a:br>
              <a:rPr lang="en-US" b="0" i="0" dirty="0">
                <a:effectLst/>
                <a:latin typeface="fkGroteskNeue"/>
              </a:rPr>
            </a:br>
            <a:r>
              <a:rPr lang="en-US" b="0" i="0" dirty="0">
                <a:effectLst/>
                <a:latin typeface="fkGroteskNeue"/>
              </a:rPr>
              <a:t>Jane slipped on a wet patch near the mixing machine due to a leaking pipe. She fell and hit her head on the floor. Maintenance technician John was present and called for medical help immediately. The area was cordoned off and production paused for safety.</a:t>
            </a:r>
          </a:p>
          <a:p>
            <a:pPr algn="l">
              <a:buNone/>
            </a:pPr>
            <a:r>
              <a:rPr lang="en-US" b="0" i="0" dirty="0">
                <a:effectLst/>
                <a:latin typeface="fkGroteskNeue"/>
              </a:rPr>
              <a:t>Cause:</a:t>
            </a:r>
            <a:br>
              <a:rPr lang="en-US" b="0" i="0" dirty="0">
                <a:effectLst/>
                <a:latin typeface="fkGroteskNeue"/>
              </a:rPr>
            </a:br>
            <a:r>
              <a:rPr lang="en-US" b="0" i="0" dirty="0">
                <a:effectLst/>
                <a:latin typeface="fkGroteskNeue"/>
              </a:rPr>
              <a:t>Leakage from faulty pipe causing water accumulation.</a:t>
            </a:r>
          </a:p>
          <a:p>
            <a:pPr algn="l">
              <a:buNone/>
            </a:pPr>
            <a:r>
              <a:rPr lang="en-US" b="0" i="0" dirty="0">
                <a:effectLst/>
                <a:latin typeface="fkGroteskNeue"/>
              </a:rPr>
              <a:t>Injuries:</a:t>
            </a:r>
            <a:br>
              <a:rPr lang="en-US" b="0" i="0" dirty="0">
                <a:effectLst/>
                <a:latin typeface="fkGroteskNeue"/>
              </a:rPr>
            </a:br>
            <a:r>
              <a:rPr lang="en-US" b="0" i="0" dirty="0">
                <a:effectLst/>
                <a:latin typeface="fkGroteskNeue"/>
              </a:rPr>
              <a:t>Jane suffered a minor concussion and bruises.</a:t>
            </a:r>
          </a:p>
          <a:p>
            <a:pPr algn="l">
              <a:buNone/>
            </a:pPr>
            <a:r>
              <a:rPr lang="en-US" b="0" i="0" dirty="0">
                <a:effectLst/>
                <a:latin typeface="fkGroteskNeue"/>
              </a:rPr>
              <a:t>Immediate Action:</a:t>
            </a:r>
            <a:br>
              <a:rPr lang="en-US" b="0" i="0" dirty="0">
                <a:effectLst/>
                <a:latin typeface="fkGroteskNeue"/>
              </a:rPr>
            </a:br>
            <a:r>
              <a:rPr lang="en-US" b="0" i="0" dirty="0">
                <a:effectLst/>
                <a:latin typeface="fkGroteskNeue"/>
              </a:rPr>
              <a:t>First aid administered; medical team contacted.</a:t>
            </a:r>
          </a:p>
          <a:p>
            <a:pPr algn="l">
              <a:buNone/>
            </a:pPr>
            <a:r>
              <a:rPr lang="en-US" b="0" i="0" dirty="0">
                <a:effectLst/>
                <a:latin typeface="fkGroteskNeue"/>
              </a:rPr>
              <a:t>Witness:</a:t>
            </a:r>
            <a:br>
              <a:rPr lang="en-US" b="0" i="0" dirty="0">
                <a:effectLst/>
                <a:latin typeface="fkGroteskNeue"/>
              </a:rPr>
            </a:br>
            <a:r>
              <a:rPr lang="en-US" b="0" i="0" dirty="0">
                <a:effectLst/>
                <a:latin typeface="fkGroteskNeue"/>
              </a:rPr>
              <a:t>Alice Johnson (Quality Control Inspector) confirmed the incident details.</a:t>
            </a:r>
          </a:p>
          <a:p>
            <a:pPr algn="l">
              <a:buNone/>
            </a:pPr>
            <a:r>
              <a:rPr lang="en-US" b="0" i="0" dirty="0">
                <a:effectLst/>
                <a:latin typeface="fkGroteskNeue"/>
              </a:rPr>
              <a:t>Preventive Measures:</a:t>
            </a:r>
            <a:br>
              <a:rPr lang="en-US" b="0" i="0" dirty="0">
                <a:effectLst/>
                <a:latin typeface="fkGroteskNeue"/>
              </a:rPr>
            </a:br>
            <a:r>
              <a:rPr lang="en-US" b="0" i="0" dirty="0">
                <a:effectLst/>
                <a:latin typeface="fkGroteskNeue"/>
              </a:rPr>
              <a:t>Regular maintenance checks on pipes, prompt spill cleanup, and safety signage around wet areas.</a:t>
            </a:r>
          </a:p>
        </p:txBody>
      </p:sp>
    </p:spTree>
    <p:extLst>
      <p:ext uri="{BB962C8B-B14F-4D97-AF65-F5344CB8AC3E}">
        <p14:creationId xmlns:p14="http://schemas.microsoft.com/office/powerpoint/2010/main" val="30474024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16</TotalTime>
  <Words>1174</Words>
  <Application>Microsoft Office PowerPoint</Application>
  <PresentationFormat>Widescreen</PresentationFormat>
  <Paragraphs>116</Paragraphs>
  <Slides>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Arial</vt:lpstr>
      <vt:lpstr>fkGrotesk</vt:lpstr>
      <vt:lpstr>fkGroteskNeue</vt:lpstr>
      <vt:lpstr>Times New Roman</vt:lpstr>
      <vt:lpstr>Trebuchet MS</vt:lpstr>
      <vt:lpstr>Wingdings</vt:lpstr>
      <vt:lpstr>Wingdings 3</vt:lpstr>
      <vt:lpstr>Facet</vt:lpstr>
      <vt:lpstr>UNIT V PROFESSIONAL WRITING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shshinde2580@gmail.com</dc:creator>
  <cp:lastModifiedBy>shshinde2580@gmail.com</cp:lastModifiedBy>
  <cp:revision>1</cp:revision>
  <dcterms:created xsi:type="dcterms:W3CDTF">2025-11-03T08:13:10Z</dcterms:created>
  <dcterms:modified xsi:type="dcterms:W3CDTF">2025-11-03T08:29:17Z</dcterms:modified>
</cp:coreProperties>
</file>