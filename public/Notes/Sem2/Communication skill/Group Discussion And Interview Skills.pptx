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5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shinde2580@gmail.com" userId="86fdf0c531315612" providerId="LiveId" clId="{80EF1F59-5901-4077-BC9B-DA299863282D}"/>
    <pc:docChg chg="modSld">
      <pc:chgData name="shshinde2580@gmail.com" userId="86fdf0c531315612" providerId="LiveId" clId="{80EF1F59-5901-4077-BC9B-DA299863282D}" dt="2025-11-03T07:36:21.548" v="2" actId="113"/>
      <pc:docMkLst>
        <pc:docMk/>
      </pc:docMkLst>
      <pc:sldChg chg="modSp mod">
        <pc:chgData name="shshinde2580@gmail.com" userId="86fdf0c531315612" providerId="LiveId" clId="{80EF1F59-5901-4077-BC9B-DA299863282D}" dt="2025-11-03T07:36:21.548" v="2" actId="113"/>
        <pc:sldMkLst>
          <pc:docMk/>
          <pc:sldMk cId="3861461436" sldId="260"/>
        </pc:sldMkLst>
        <pc:spChg chg="mod">
          <ac:chgData name="shshinde2580@gmail.com" userId="86fdf0c531315612" providerId="LiveId" clId="{80EF1F59-5901-4077-BC9B-DA299863282D}" dt="2025-11-03T07:36:21.548" v="2" actId="113"/>
          <ac:spMkLst>
            <pc:docMk/>
            <pc:sldMk cId="3861461436" sldId="260"/>
            <ac:spMk id="3" creationId="{9DE0E651-5B94-E3CA-6355-1A012D5EA615}"/>
          </ac:spMkLst>
        </pc:spChg>
      </pc:sldChg>
      <pc:sldChg chg="modSp mod">
        <pc:chgData name="shshinde2580@gmail.com" userId="86fdf0c531315612" providerId="LiveId" clId="{80EF1F59-5901-4077-BC9B-DA299863282D}" dt="2025-11-03T07:36:14.138" v="1" actId="113"/>
        <pc:sldMkLst>
          <pc:docMk/>
          <pc:sldMk cId="1229863933" sldId="263"/>
        </pc:sldMkLst>
        <pc:spChg chg="mod">
          <ac:chgData name="shshinde2580@gmail.com" userId="86fdf0c531315612" providerId="LiveId" clId="{80EF1F59-5901-4077-BC9B-DA299863282D}" dt="2025-11-03T07:36:14.138" v="1" actId="113"/>
          <ac:spMkLst>
            <pc:docMk/>
            <pc:sldMk cId="1229863933" sldId="263"/>
            <ac:spMk id="3" creationId="{9E988682-06AB-5C3F-E2C2-2136166D5954}"/>
          </ac:spMkLst>
        </pc:spChg>
      </pc:sldChg>
      <pc:sldChg chg="modSp mod">
        <pc:chgData name="shshinde2580@gmail.com" userId="86fdf0c531315612" providerId="LiveId" clId="{80EF1F59-5901-4077-BC9B-DA299863282D}" dt="2025-11-03T07:36:08.266" v="0" actId="113"/>
        <pc:sldMkLst>
          <pc:docMk/>
          <pc:sldMk cId="1461445761" sldId="265"/>
        </pc:sldMkLst>
        <pc:spChg chg="mod">
          <ac:chgData name="shshinde2580@gmail.com" userId="86fdf0c531315612" providerId="LiveId" clId="{80EF1F59-5901-4077-BC9B-DA299863282D}" dt="2025-11-03T07:36:08.266" v="0" actId="113"/>
          <ac:spMkLst>
            <pc:docMk/>
            <pc:sldMk cId="1461445761" sldId="265"/>
            <ac:spMk id="3" creationId="{B6BAE6E8-70B8-AFB5-A434-DDD7D8491E5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9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472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787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39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81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675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04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063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97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88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122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473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4396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528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613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814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C40F7-70E8-4B72-86EB-F368342A626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C8D8BDA-A4CF-48E7-903A-19869C54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949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D9740-8A63-7197-E080-F271CC232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288" y="2215690"/>
            <a:ext cx="9213574" cy="1646302"/>
          </a:xfrm>
        </p:spPr>
        <p:txBody>
          <a:bodyPr/>
          <a:lstStyle/>
          <a:p>
            <a:pPr algn="ctr"/>
            <a:r>
              <a:rPr lang="en-US" b="1" dirty="0"/>
              <a:t>Group Discussion And Interview Skills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952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FD94D0-D70C-C330-90D5-CB953D58FDA3}"/>
              </a:ext>
            </a:extLst>
          </p:cNvPr>
          <p:cNvSpPr txBox="1"/>
          <p:nvPr/>
        </p:nvSpPr>
        <p:spPr>
          <a:xfrm>
            <a:off x="934278" y="133387"/>
            <a:ext cx="831905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3.1 Importance and Types of Group Discussion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Structured Group Discussion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predefined topic is assigned, and participants discuss it in a planned manner with rules and time limits.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Common in academic and recruitment contexts.</a:t>
            </a:r>
          </a:p>
          <a:p>
            <a:pPr lvl="1"/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Unstructured Group Discussion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Participants discuss freely on any topic without strict rules or time limits.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Encourages spontaneous ideas and creativity.</a:t>
            </a:r>
          </a:p>
          <a:p>
            <a:pPr lvl="1"/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Panel Discussion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group of experts discuss a topic in front of an audience. Panelists share their views while a moderator manages the discussion.</a:t>
            </a:r>
          </a:p>
          <a:p>
            <a:pPr lvl="1"/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Symposium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Similar to a panel but more formal, with each participant delivering a prepared speech followed by questions and answers.</a:t>
            </a:r>
          </a:p>
          <a:p>
            <a:pPr lvl="1"/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Buzz Group Discussion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group is divided into smaller subgroups (buzz groups) that discuss a topic and then share findings with the larger group.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905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1970-4F19-0E5C-D36D-76DE2221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3C435C-1CDD-29BD-310F-A682F16CE56E}"/>
              </a:ext>
            </a:extLst>
          </p:cNvPr>
          <p:cNvSpPr txBox="1"/>
          <p:nvPr/>
        </p:nvSpPr>
        <p:spPr>
          <a:xfrm>
            <a:off x="864703" y="224783"/>
            <a:ext cx="85178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 Debate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Participants argue for or against a particular motion or topic, promoting critical thinking and persuasive skills.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3E2C1-56BA-A48F-C472-72B0FF341538}"/>
              </a:ext>
            </a:extLst>
          </p:cNvPr>
          <p:cNvSpPr txBox="1"/>
          <p:nvPr/>
        </p:nvSpPr>
        <p:spPr>
          <a:xfrm>
            <a:off x="864703" y="1257805"/>
            <a:ext cx="85874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3.2 Parameters of Group Discussion</a:t>
            </a:r>
          </a:p>
          <a:p>
            <a:pPr algn="l">
              <a:buNone/>
            </a:pPr>
            <a:endParaRPr lang="en-US" b="1" dirty="0">
              <a:latin typeface="fkGrotesk"/>
            </a:endParaRPr>
          </a:p>
          <a:p>
            <a:r>
              <a:rPr lang="en-US" dirty="0"/>
              <a:t>Parameters of Group Discussion</a:t>
            </a:r>
          </a:p>
          <a:p>
            <a:r>
              <a:rPr lang="en-US" dirty="0"/>
              <a:t>Group discussions are evaluated on several key parameters that reflect both individual and group performance. These parameters help judges assess communication skills, knowledge, and interpersonal abilities.</a:t>
            </a:r>
          </a:p>
          <a:p>
            <a:endParaRPr lang="en-US" dirty="0"/>
          </a:p>
          <a:p>
            <a:r>
              <a:rPr lang="en-US" b="1" dirty="0"/>
              <a:t>1.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Quality and relevance of the points made.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Depth of knowledge about the topic.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of facts, examples, and analysis rather than just opinions.</a:t>
            </a:r>
          </a:p>
          <a:p>
            <a:r>
              <a:rPr lang="en-US" b="1" dirty="0"/>
              <a:t>2. Clarity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Clear expression of thoughts and ideas.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of simple, understandable language.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Logical organization of points.</a:t>
            </a:r>
          </a:p>
          <a:p>
            <a:pPr algn="l">
              <a:buNone/>
            </a:pPr>
            <a:endParaRPr lang="en-US" b="1" i="0" dirty="0">
              <a:effectLst/>
              <a:latin typeface="fkGrotesk"/>
            </a:endParaRPr>
          </a:p>
        </p:txBody>
      </p:sp>
    </p:spTree>
    <p:extLst>
      <p:ext uri="{BB962C8B-B14F-4D97-AF65-F5344CB8AC3E}">
        <p14:creationId xmlns:p14="http://schemas.microsoft.com/office/powerpoint/2010/main" val="386068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285FA-9931-1415-2DDD-BEF494765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F6B85D-72CA-0E0F-68EF-183160DB6F0D}"/>
              </a:ext>
            </a:extLst>
          </p:cNvPr>
          <p:cNvSpPr txBox="1"/>
          <p:nvPr/>
        </p:nvSpPr>
        <p:spPr>
          <a:xfrm>
            <a:off x="785191" y="101411"/>
            <a:ext cx="882594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fkGroteskNeue"/>
              </a:rPr>
              <a:t>3</a:t>
            </a:r>
            <a:r>
              <a:rPr lang="en-US" b="0" i="0" dirty="0">
                <a:effectLst/>
                <a:latin typeface="fkGroteskNeue"/>
              </a:rPr>
              <a:t>. </a:t>
            </a:r>
            <a:r>
              <a:rPr lang="en-US" b="1" i="0" dirty="0">
                <a:effectLst/>
                <a:latin typeface="fkGroteskNeue"/>
              </a:rPr>
              <a:t>Confidence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Speaking assertively but politely.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Maintaining good body language and eye contact.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Avoiding nervousness or hesitation.</a:t>
            </a:r>
          </a:p>
          <a:p>
            <a:pPr lvl="1" algn="l"/>
            <a:endParaRPr lang="en-US" b="0" i="0" dirty="0">
              <a:effectLst/>
              <a:latin typeface="fkGroteskNeue"/>
            </a:endParaRPr>
          </a:p>
          <a:p>
            <a:pPr algn="l"/>
            <a:r>
              <a:rPr lang="en-US" b="1" i="0" dirty="0">
                <a:effectLst/>
                <a:latin typeface="fkGroteskNeue"/>
              </a:rPr>
              <a:t>4. Communication Skills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Effective verbal and non-verbal communication.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Listening carefully to others' viewpoints.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Responding appropriately and respectfully.</a:t>
            </a:r>
          </a:p>
          <a:p>
            <a:pPr lvl="1" algn="l"/>
            <a:endParaRPr lang="en-US" b="0" i="0" dirty="0">
              <a:effectLst/>
              <a:latin typeface="fkGroteskNeue"/>
            </a:endParaRPr>
          </a:p>
          <a:p>
            <a:pPr algn="l"/>
            <a:r>
              <a:rPr lang="en-US" b="1" i="0" dirty="0">
                <a:effectLst/>
                <a:latin typeface="fkGroteskNeue"/>
              </a:rPr>
              <a:t>5. Initiative and Leadership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Taking the lead to start or steer the discussion in a constructive direction, if appropriate.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Encouraging participation from all members.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Managing time and maintaining topic focus.</a:t>
            </a:r>
          </a:p>
          <a:p>
            <a:pPr lvl="1" algn="l"/>
            <a:endParaRPr lang="en-US" dirty="0">
              <a:latin typeface="fkGroteskNeue"/>
            </a:endParaRPr>
          </a:p>
          <a:p>
            <a:r>
              <a:rPr lang="en-US" b="1" dirty="0"/>
              <a:t>6. Team Skills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Showing respect for others’ opinions.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Collaborating and building on others’ ideas.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Being flexible, open-minded, and supportive in the discussion.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99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77E2B-775B-B007-EF47-DC7D8FFEA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7C120D-686F-36A0-442D-EFD3AD620505}"/>
              </a:ext>
            </a:extLst>
          </p:cNvPr>
          <p:cNvSpPr txBox="1"/>
          <p:nvPr/>
        </p:nvSpPr>
        <p:spPr>
          <a:xfrm>
            <a:off x="805069" y="234509"/>
            <a:ext cx="897503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fkGroteskNeue"/>
              </a:rPr>
              <a:t>7</a:t>
            </a:r>
            <a:r>
              <a:rPr lang="en-US" b="1" i="0" dirty="0">
                <a:effectLst/>
                <a:latin typeface="fkGroteskNeue"/>
              </a:rPr>
              <a:t>. Problem-Solving and Analytical Skills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Ability to analyze the problem/topic critically.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Offering solutions or balanced viewpoints.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Thinking deeply rather than superficially.</a:t>
            </a:r>
          </a:p>
          <a:p>
            <a:pPr lvl="1" algn="l"/>
            <a:endParaRPr lang="en-US" b="0" i="0" dirty="0">
              <a:effectLst/>
              <a:latin typeface="fkGroteskNeue"/>
            </a:endParaRPr>
          </a:p>
          <a:p>
            <a:pPr algn="l"/>
            <a:r>
              <a:rPr lang="en-US" b="1" dirty="0">
                <a:latin typeface="fkGroteskNeue"/>
              </a:rPr>
              <a:t>8</a:t>
            </a:r>
            <a:r>
              <a:rPr lang="en-US" b="1" i="0" dirty="0">
                <a:effectLst/>
                <a:latin typeface="fkGroteskNeue"/>
              </a:rPr>
              <a:t>. Body Language and Etiquette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Positive gestures, posture, and expressions.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Avoiding interruptions and aggressive behavior.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Showing attentiveness by nodding or maintaining eye contact.</a:t>
            </a:r>
          </a:p>
          <a:p>
            <a:pPr lvl="1" algn="l"/>
            <a:endParaRPr lang="en-US" b="0" i="0" dirty="0">
              <a:effectLst/>
              <a:latin typeface="fkGroteskNeue"/>
            </a:endParaRPr>
          </a:p>
          <a:p>
            <a:pPr algn="l"/>
            <a:r>
              <a:rPr lang="en-US" b="1" dirty="0">
                <a:latin typeface="fkGroteskNeue"/>
              </a:rPr>
              <a:t>9</a:t>
            </a:r>
            <a:r>
              <a:rPr lang="en-US" b="1" i="0" dirty="0">
                <a:effectLst/>
                <a:latin typeface="fkGroteskNeue"/>
              </a:rPr>
              <a:t>. Listening Skills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Paying attention to others without interrupting.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Incorporating others’ ideas into your points.</a:t>
            </a:r>
          </a:p>
          <a:p>
            <a:pPr lvl="1" algn="l"/>
            <a:endParaRPr lang="en-US" b="0" i="0" dirty="0">
              <a:effectLst/>
              <a:latin typeface="fkGroteskNeue"/>
            </a:endParaRPr>
          </a:p>
          <a:p>
            <a:pPr algn="l"/>
            <a:r>
              <a:rPr lang="en-US" b="1" dirty="0">
                <a:latin typeface="fkGroteskNeue"/>
              </a:rPr>
              <a:t>10</a:t>
            </a:r>
            <a:r>
              <a:rPr lang="en-US" b="1" i="0" dirty="0">
                <a:effectLst/>
                <a:latin typeface="fkGroteskNeue"/>
              </a:rPr>
              <a:t>. Time Management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Speaking concisely and avoiding long-winded arguments.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Ensuring everyone gets a chance to speak within the time allocated.</a:t>
            </a: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60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640B7-CFDA-EEF4-9304-2BF53857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BAB734-0645-2E98-20A3-7A89FBADC6C0}"/>
              </a:ext>
            </a:extLst>
          </p:cNvPr>
          <p:cNvSpPr txBox="1"/>
          <p:nvPr/>
        </p:nvSpPr>
        <p:spPr>
          <a:xfrm>
            <a:off x="904460" y="163204"/>
            <a:ext cx="838862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3.3 Need and Types of Interview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Need for Interview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Selection Tool: Interviews help employers or institutions select the most suitable candidate for a job, course, or position by assessing skills, personality, and suitability.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Two-way Communication: Allows both the interviewer and interviewee to exchange information, clarify doubts, and evaluate 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Assess Soft Skills: Tests communication skills, confidence, attitude, and problem-solving abilities beyond what written tests show.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Verification: Confirms the authenticity of information provided in resumes or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Decision Making: Helps in making informed decisions for hiring, admissions, or promotions through live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Feedback Opportunity: Gives candidates a chance to ask questions and learn about the organization or role.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5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6D268-E420-04E5-5545-F15EBBB4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E0E651-5B94-E3CA-6355-1A012D5EA615}"/>
              </a:ext>
            </a:extLst>
          </p:cNvPr>
          <p:cNvSpPr txBox="1"/>
          <p:nvPr/>
        </p:nvSpPr>
        <p:spPr>
          <a:xfrm>
            <a:off x="884582" y="184378"/>
            <a:ext cx="8368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fkGrotesk"/>
              </a:rPr>
              <a:t>Types of Interviews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9E4EBA-C7F4-65F7-BE08-13B45CED6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941173"/>
              </p:ext>
            </p:extLst>
          </p:nvPr>
        </p:nvGraphicFramePr>
        <p:xfrm>
          <a:off x="765313" y="723885"/>
          <a:ext cx="8855766" cy="39486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83565">
                  <a:extLst>
                    <a:ext uri="{9D8B030D-6E8A-4147-A177-3AD203B41FA5}">
                      <a16:colId xmlns:a16="http://schemas.microsoft.com/office/drawing/2014/main" val="1418448040"/>
                    </a:ext>
                  </a:extLst>
                </a:gridCol>
                <a:gridCol w="6172201">
                  <a:extLst>
                    <a:ext uri="{9D8B030D-6E8A-4147-A177-3AD203B41FA5}">
                      <a16:colId xmlns:a16="http://schemas.microsoft.com/office/drawing/2014/main" val="2236971442"/>
                    </a:ext>
                  </a:extLst>
                </a:gridCol>
              </a:tblGrid>
              <a:tr h="2111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</a:rPr>
                        <a:t>Type</a:t>
                      </a:r>
                    </a:p>
                  </a:txBody>
                  <a:tcPr marL="32481" marR="32481" marT="32481" marB="324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</a:rPr>
                        <a:t>Description</a:t>
                      </a:r>
                    </a:p>
                  </a:txBody>
                  <a:tcPr marL="32481" marR="32481" marT="32481" marB="32481" anchor="ctr"/>
                </a:tc>
                <a:extLst>
                  <a:ext uri="{0D108BD9-81ED-4DB2-BD59-A6C34878D82A}">
                    <a16:rowId xmlns:a16="http://schemas.microsoft.com/office/drawing/2014/main" val="2976021726"/>
                  </a:ext>
                </a:extLst>
              </a:tr>
              <a:tr h="503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Structured Interview</a:t>
                      </a:r>
                    </a:p>
                  </a:txBody>
                  <a:tcPr marL="32481" marR="32481" marT="32481" marB="3248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Predetermined set of questions asked in a fixed order; easy to compare candidates; common in formal settings.</a:t>
                      </a:r>
                    </a:p>
                  </a:txBody>
                  <a:tcPr marL="32481" marR="32481" marT="32481" marB="32481" anchor="ctr"/>
                </a:tc>
                <a:extLst>
                  <a:ext uri="{0D108BD9-81ED-4DB2-BD59-A6C34878D82A}">
                    <a16:rowId xmlns:a16="http://schemas.microsoft.com/office/drawing/2014/main" val="3508273803"/>
                  </a:ext>
                </a:extLst>
              </a:tr>
              <a:tr h="503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Unstructured Interview</a:t>
                      </a:r>
                    </a:p>
                  </a:txBody>
                  <a:tcPr marL="32481" marR="32481" marT="32481" marB="3248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Open-ended, free-flowing conversation without a fixed set of questions; more flexible and exploratory.</a:t>
                      </a:r>
                    </a:p>
                  </a:txBody>
                  <a:tcPr marL="32481" marR="32481" marT="32481" marB="32481" anchor="ctr"/>
                </a:tc>
                <a:extLst>
                  <a:ext uri="{0D108BD9-81ED-4DB2-BD59-A6C34878D82A}">
                    <a16:rowId xmlns:a16="http://schemas.microsoft.com/office/drawing/2014/main" val="348096713"/>
                  </a:ext>
                </a:extLst>
              </a:tr>
              <a:tr h="64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Semi-structured Interview</a:t>
                      </a:r>
                    </a:p>
                  </a:txBody>
                  <a:tcPr marL="32481" marR="32481" marT="32481" marB="3248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Combines both structured and unstructured formats; interviewer has general questions but flexibility to explore in depth.</a:t>
                      </a:r>
                    </a:p>
                  </a:txBody>
                  <a:tcPr marL="32481" marR="32481" marT="32481" marB="32481" anchor="ctr"/>
                </a:tc>
                <a:extLst>
                  <a:ext uri="{0D108BD9-81ED-4DB2-BD59-A6C34878D82A}">
                    <a16:rowId xmlns:a16="http://schemas.microsoft.com/office/drawing/2014/main" val="825398647"/>
                  </a:ext>
                </a:extLst>
              </a:tr>
              <a:tr h="503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Panel Interview</a:t>
                      </a:r>
                    </a:p>
                  </a:txBody>
                  <a:tcPr marL="32481" marR="32481" marT="32481" marB="3248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Multiple interviewers question one candidate; useful for comprehensive evaluation.</a:t>
                      </a:r>
                    </a:p>
                  </a:txBody>
                  <a:tcPr marL="32481" marR="32481" marT="32481" marB="32481" anchor="ctr"/>
                </a:tc>
                <a:extLst>
                  <a:ext uri="{0D108BD9-81ED-4DB2-BD59-A6C34878D82A}">
                    <a16:rowId xmlns:a16="http://schemas.microsoft.com/office/drawing/2014/main" val="2999436109"/>
                  </a:ext>
                </a:extLst>
              </a:tr>
              <a:tr h="503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Telephonic/Virtual Interview</a:t>
                      </a:r>
                    </a:p>
                  </a:txBody>
                  <a:tcPr marL="32481" marR="32481" marT="32481" marB="3248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Conducted over phone or video calls; saves time and cost, common in preliminary screening.</a:t>
                      </a:r>
                    </a:p>
                  </a:txBody>
                  <a:tcPr marL="32481" marR="32481" marT="32481" marB="32481" anchor="ctr"/>
                </a:tc>
                <a:extLst>
                  <a:ext uri="{0D108BD9-81ED-4DB2-BD59-A6C34878D82A}">
                    <a16:rowId xmlns:a16="http://schemas.microsoft.com/office/drawing/2014/main" val="2102426382"/>
                  </a:ext>
                </a:extLst>
              </a:tr>
              <a:tr h="503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Group Interview</a:t>
                      </a:r>
                    </a:p>
                  </a:txBody>
                  <a:tcPr marL="32481" marR="32481" marT="32481" marB="3248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Multiple candidates interviewed simultaneously; assesses interaction and teamwork skills.</a:t>
                      </a:r>
                    </a:p>
                  </a:txBody>
                  <a:tcPr marL="32481" marR="32481" marT="32481" marB="32481" anchor="ctr"/>
                </a:tc>
                <a:extLst>
                  <a:ext uri="{0D108BD9-81ED-4DB2-BD59-A6C34878D82A}">
                    <a16:rowId xmlns:a16="http://schemas.microsoft.com/office/drawing/2014/main" val="3404403772"/>
                  </a:ext>
                </a:extLst>
              </a:tr>
              <a:tr h="503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Technical Interview</a:t>
                      </a:r>
                    </a:p>
                  </a:txBody>
                  <a:tcPr marL="32481" marR="32481" marT="32481" marB="3248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Focuses on assessing specific technical skills and knowledge related to the job role.</a:t>
                      </a:r>
                    </a:p>
                  </a:txBody>
                  <a:tcPr marL="32481" marR="32481" marT="32481" marB="32481" anchor="ctr"/>
                </a:tc>
                <a:extLst>
                  <a:ext uri="{0D108BD9-81ED-4DB2-BD59-A6C34878D82A}">
                    <a16:rowId xmlns:a16="http://schemas.microsoft.com/office/drawing/2014/main" val="656011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461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70E3F-7DBE-3F41-DB4A-3F454AE1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AC1964-B36F-0E38-C8A5-5CDB725233FD}"/>
              </a:ext>
            </a:extLst>
          </p:cNvPr>
          <p:cNvSpPr txBox="1"/>
          <p:nvPr/>
        </p:nvSpPr>
        <p:spPr>
          <a:xfrm>
            <a:off x="795129" y="133386"/>
            <a:ext cx="855759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3.4 Preparing for an Interview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Preparing for an Interview</a:t>
            </a:r>
          </a:p>
          <a:p>
            <a:endParaRPr lang="en-US" dirty="0"/>
          </a:p>
          <a:p>
            <a:r>
              <a:rPr lang="en-US" b="1" dirty="0"/>
              <a:t>1. Research Thoroughly</a:t>
            </a:r>
          </a:p>
          <a:p>
            <a:r>
              <a:rPr lang="en-US" dirty="0"/>
              <a:t>Gather information about the company, organization, or institution.</a:t>
            </a:r>
          </a:p>
          <a:p>
            <a:r>
              <a:rPr lang="en-US" dirty="0"/>
              <a:t>Understand the job role or course requirements and skills needed.</a:t>
            </a:r>
          </a:p>
          <a:p>
            <a:r>
              <a:rPr lang="en-US" dirty="0"/>
              <a:t>Know the interviewers if possible (e.g., LinkedIn profiles).</a:t>
            </a:r>
          </a:p>
          <a:p>
            <a:endParaRPr lang="en-US" dirty="0"/>
          </a:p>
          <a:p>
            <a:r>
              <a:rPr lang="en-US" b="1" dirty="0"/>
              <a:t>2. Practice Common Questions</a:t>
            </a:r>
          </a:p>
          <a:p>
            <a:r>
              <a:rPr lang="en-US" dirty="0"/>
              <a:t>Prepare answers for typical questions like "Tell me about yourself," strengths and weaknesses, and experiences using the STAR method (Situation, Task, Action, Result).</a:t>
            </a:r>
          </a:p>
          <a:p>
            <a:r>
              <a:rPr lang="en-US" dirty="0"/>
              <a:t>Practice speaking clearly and confidently.</a:t>
            </a:r>
          </a:p>
          <a:p>
            <a:endParaRPr lang="en-US" dirty="0"/>
          </a:p>
          <a:p>
            <a:r>
              <a:rPr lang="en-US" b="1" dirty="0"/>
              <a:t>3. Prepare Your Elevator Pitch</a:t>
            </a:r>
          </a:p>
          <a:p>
            <a:r>
              <a:rPr lang="en-US" dirty="0"/>
              <a:t>Create a concise introduction (30 seconds to 1 minute) explaining who you are, your education, achievements, and career goals.</a:t>
            </a:r>
          </a:p>
          <a:p>
            <a:endParaRPr lang="en-US" dirty="0"/>
          </a:p>
          <a:p>
            <a:r>
              <a:rPr lang="en-US" b="1" dirty="0"/>
              <a:t>4. Mock Interviews</a:t>
            </a:r>
          </a:p>
          <a:p>
            <a:r>
              <a:rPr lang="en-US" dirty="0"/>
              <a:t>Simulate interviews with friends, family, or mentors; ask for feedback on communication, body language, and answers.</a:t>
            </a:r>
          </a:p>
        </p:txBody>
      </p:sp>
    </p:spTree>
    <p:extLst>
      <p:ext uri="{BB962C8B-B14F-4D97-AF65-F5344CB8AC3E}">
        <p14:creationId xmlns:p14="http://schemas.microsoft.com/office/powerpoint/2010/main" val="3509730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17BE3-10AB-0622-83B8-D311A431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6289C7-F41F-9DE9-C36D-7B08C77C98FB}"/>
              </a:ext>
            </a:extLst>
          </p:cNvPr>
          <p:cNvSpPr txBox="1"/>
          <p:nvPr/>
        </p:nvSpPr>
        <p:spPr>
          <a:xfrm>
            <a:off x="834887" y="162991"/>
            <a:ext cx="848801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5. Dress Appropriately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Choose neat, professional attire suitable for the interview type.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6. Body Language and Etiquette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Maintain good posture, eye contact, and smile.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Avoid fidgeting, interrupting, or negative expressions.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Speak confidently but politely.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7. Prepare Questions for Interviewer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Prepare thoughtful questions about the role, organization, or next steps, showing interest and engagement.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8. Manage Time and Documents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Arrive early with necessary documents like resumes, certificates, and identification.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9. Stay Calm and Positive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Practice relaxation techniques to reduce nervousness.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Remember, honesty and clarity are valued.</a:t>
            </a:r>
          </a:p>
        </p:txBody>
      </p:sp>
    </p:spTree>
    <p:extLst>
      <p:ext uri="{BB962C8B-B14F-4D97-AF65-F5344CB8AC3E}">
        <p14:creationId xmlns:p14="http://schemas.microsoft.com/office/powerpoint/2010/main" val="158591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975C-651C-369A-B4AC-7BD38525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988682-06AB-5C3F-E2C2-2136166D5954}"/>
              </a:ext>
            </a:extLst>
          </p:cNvPr>
          <p:cNvSpPr txBox="1"/>
          <p:nvPr/>
        </p:nvSpPr>
        <p:spPr>
          <a:xfrm>
            <a:off x="805069" y="176385"/>
            <a:ext cx="85575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3.5 Non Verbal communication during interview</a:t>
            </a:r>
            <a:endParaRPr lang="en-US" b="1" dirty="0">
              <a:latin typeface="fkGrotesk"/>
            </a:endParaRPr>
          </a:p>
          <a:p>
            <a:endParaRPr lang="en-US" dirty="0">
              <a:latin typeface="fkGrotesk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"/>
              </a:rPr>
              <a:t>Non-Verbal Communication During Interview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Non-verbal communication refers to all the unspoken ways we convey messages, such as body language, facial expressions, gestures, posture, and eye contact. It plays a vital role in interviews as it strongly influences the interviewer's impression of the candidate.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E8BF1-158B-8BD3-73A8-3CBE2941B943}"/>
              </a:ext>
            </a:extLst>
          </p:cNvPr>
          <p:cNvSpPr txBox="1"/>
          <p:nvPr/>
        </p:nvSpPr>
        <p:spPr>
          <a:xfrm>
            <a:off x="705677" y="2207710"/>
            <a:ext cx="834887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Key Aspects of Non-Verbal Communication in Interviews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  <a:latin typeface="fkGroteskNeue"/>
              </a:rPr>
              <a:t>Eye Contact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Maintain steady but natural eye contact to show confidence, honesty, and attentiveness.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Avoid looking down or away frequently, which can signal nervousness or disinterest.</a:t>
            </a:r>
          </a:p>
          <a:p>
            <a:pPr lvl="2" algn="l"/>
            <a:endParaRPr lang="en-US" b="0" i="0" dirty="0">
              <a:effectLst/>
              <a:latin typeface="fkGroteskNeu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  <a:latin typeface="fkGroteskNeue"/>
              </a:rPr>
              <a:t>Facial Expressions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Smile genuinely to create a positive, approachable impression.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Keep expressions friendly and engaged; avoid frowning or showing boredom.</a:t>
            </a:r>
          </a:p>
          <a:p>
            <a:pPr lvl="2" algn="l"/>
            <a:endParaRPr lang="en-US" b="0" i="0" dirty="0">
              <a:effectLst/>
              <a:latin typeface="fkGroteskNeu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  <a:latin typeface="fkGroteskNeue"/>
              </a:rPr>
              <a:t>Posture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Sit upright with your back against the chair, conveying alertness and confidence.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Avoid slouching or leaning too far back, which can appear careless or uninterested.</a:t>
            </a:r>
          </a:p>
        </p:txBody>
      </p:sp>
    </p:spTree>
    <p:extLst>
      <p:ext uri="{BB962C8B-B14F-4D97-AF65-F5344CB8AC3E}">
        <p14:creationId xmlns:p14="http://schemas.microsoft.com/office/powerpoint/2010/main" val="1229863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5FF4-2174-85E2-864D-BC419F25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56FA0-3A40-535E-0713-05F1E5DF3126}"/>
              </a:ext>
            </a:extLst>
          </p:cNvPr>
          <p:cNvSpPr txBox="1"/>
          <p:nvPr/>
        </p:nvSpPr>
        <p:spPr>
          <a:xfrm>
            <a:off x="954156" y="196698"/>
            <a:ext cx="820972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fkGroteskNeue"/>
              </a:rPr>
              <a:t>4. Gestures and Hands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Use controlled hand movements to emphasize points, showing enthusiasm and clarity.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Avoid fidgeting, excessive gesturing, or hiding hands (e.g., in pockets), which can seem nervous or defensive.</a:t>
            </a:r>
          </a:p>
          <a:p>
            <a:pPr algn="l"/>
            <a:r>
              <a:rPr lang="en-US" b="1" i="0" dirty="0">
                <a:effectLst/>
                <a:latin typeface="fkGroteskNeue"/>
              </a:rPr>
              <a:t>5. Handshake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Offer a firm and confident handshake at the start and end of the interview to create a strong first and last impression.</a:t>
            </a:r>
          </a:p>
          <a:p>
            <a:pPr algn="l"/>
            <a:r>
              <a:rPr lang="en-US" b="1" i="0" dirty="0">
                <a:effectLst/>
                <a:latin typeface="fkGroteskNeue"/>
              </a:rPr>
              <a:t>6. Body Orientation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Face the interviewer squarely, signifying openness.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Avoid crossing arms or legs which may signal defensiveness or closed attitude.</a:t>
            </a:r>
          </a:p>
          <a:p>
            <a:pPr algn="l"/>
            <a:r>
              <a:rPr lang="en-US" b="1" i="0" dirty="0">
                <a:effectLst/>
                <a:latin typeface="fkGroteskNeue"/>
              </a:rPr>
              <a:t>7. Personal Space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Maintain appropriate physical distance (about 1-3 feet) to respect comfort and professionalism.</a:t>
            </a:r>
          </a:p>
          <a:p>
            <a:pPr algn="l"/>
            <a:r>
              <a:rPr lang="en-US" b="1" i="0" dirty="0">
                <a:effectLst/>
                <a:latin typeface="fkGroteskNeue"/>
              </a:rPr>
              <a:t>8. Tone and Voice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Though verbal, tone complements non-verbal communication. A calm, clear, and confident voice enhances your presence.</a:t>
            </a:r>
          </a:p>
        </p:txBody>
      </p:sp>
    </p:spTree>
    <p:extLst>
      <p:ext uri="{BB962C8B-B14F-4D97-AF65-F5344CB8AC3E}">
        <p14:creationId xmlns:p14="http://schemas.microsoft.com/office/powerpoint/2010/main" val="90705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D6578-E700-EB07-7379-7D4C541BE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BAE6E8-70B8-AFB5-A434-DDD7D8491E58}"/>
              </a:ext>
            </a:extLst>
          </p:cNvPr>
          <p:cNvSpPr txBox="1"/>
          <p:nvPr/>
        </p:nvSpPr>
        <p:spPr>
          <a:xfrm>
            <a:off x="844825" y="169039"/>
            <a:ext cx="90545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"/>
              </a:rPr>
              <a:t>Importance of Non-Verbal Cues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Non-verbal cues constitute a major part of how your message is perceived. Positive body language reinforces your verbal answers and builds rapport with the interviewer.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Poor non-verbal communication can undermine even well-prepared answers by signaling nervousness, disinterest, or lack of confidence.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Being aware and practicing appropriate non-verbal communication can give an edge over other candidates in interviews.</a:t>
            </a:r>
          </a:p>
        </p:txBody>
      </p:sp>
    </p:spTree>
    <p:extLst>
      <p:ext uri="{BB962C8B-B14F-4D97-AF65-F5344CB8AC3E}">
        <p14:creationId xmlns:p14="http://schemas.microsoft.com/office/powerpoint/2010/main" val="14614457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1325</Words>
  <Application>Microsoft Office PowerPoint</Application>
  <PresentationFormat>Widescreen</PresentationFormat>
  <Paragraphs>167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fkGrotesk</vt:lpstr>
      <vt:lpstr>fkGroteskNeue</vt:lpstr>
      <vt:lpstr>Trebuchet MS</vt:lpstr>
      <vt:lpstr>Wingdings</vt:lpstr>
      <vt:lpstr>Wingdings 3</vt:lpstr>
      <vt:lpstr>Facet</vt:lpstr>
      <vt:lpstr>Group Discussion And Interview Skills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2025-11-03T07:06:57Z</dcterms:created>
  <dcterms:modified xsi:type="dcterms:W3CDTF">2025-11-03T07:36:27Z</dcterms:modified>
</cp:coreProperties>
</file>