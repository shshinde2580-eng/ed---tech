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6" r:id="rId10"/>
    <p:sldId id="264" r:id="rId11"/>
    <p:sldId id="265" r:id="rId12"/>
    <p:sldId id="267" r:id="rId13"/>
    <p:sldId id="268" r:id="rId14"/>
    <p:sldId id="269" r:id="rId15"/>
    <p:sldId id="270" r:id="rId16"/>
    <p:sldId id="272"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7" autoAdjust="0"/>
    <p:restoredTop sz="94660"/>
  </p:normalViewPr>
  <p:slideViewPr>
    <p:cSldViewPr snapToGrid="0">
      <p:cViewPr varScale="1">
        <p:scale>
          <a:sx n="77" d="100"/>
          <a:sy n="77" d="100"/>
        </p:scale>
        <p:origin x="8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delSld">
      <pc:chgData name="shshinde2580@gmail.com" userId="86fdf0c531315612" providerId="LiveId" clId="{80EF1F59-5901-4077-BC9B-DA299863282D}" dt="2025-10-10T20:31:35.181" v="0" actId="2696"/>
      <pc:docMkLst>
        <pc:docMk/>
      </pc:docMkLst>
      <pc:sldChg chg="del">
        <pc:chgData name="shshinde2580@gmail.com" userId="86fdf0c531315612" providerId="LiveId" clId="{80EF1F59-5901-4077-BC9B-DA299863282D}" dt="2025-10-10T20:31:35.181" v="0" actId="2696"/>
        <pc:sldMkLst>
          <pc:docMk/>
          <pc:sldMk cId="1022171605" sldId="276"/>
        </pc:sldMkLst>
      </pc:sldChg>
      <pc:sldChg chg="del">
        <pc:chgData name="shshinde2580@gmail.com" userId="86fdf0c531315612" providerId="LiveId" clId="{80EF1F59-5901-4077-BC9B-DA299863282D}" dt="2025-10-10T20:31:35.181" v="0" actId="2696"/>
        <pc:sldMkLst>
          <pc:docMk/>
          <pc:sldMk cId="3051568632" sldId="277"/>
        </pc:sldMkLst>
      </pc:sldChg>
      <pc:sldChg chg="del">
        <pc:chgData name="shshinde2580@gmail.com" userId="86fdf0c531315612" providerId="LiveId" clId="{80EF1F59-5901-4077-BC9B-DA299863282D}" dt="2025-10-10T20:31:35.181" v="0" actId="2696"/>
        <pc:sldMkLst>
          <pc:docMk/>
          <pc:sldMk cId="3809935939" sldId="278"/>
        </pc:sldMkLst>
      </pc:sldChg>
      <pc:sldChg chg="del">
        <pc:chgData name="shshinde2580@gmail.com" userId="86fdf0c531315612" providerId="LiveId" clId="{80EF1F59-5901-4077-BC9B-DA299863282D}" dt="2025-10-10T20:31:35.181" v="0" actId="2696"/>
        <pc:sldMkLst>
          <pc:docMk/>
          <pc:sldMk cId="211638387" sldId="279"/>
        </pc:sldMkLst>
      </pc:sldChg>
      <pc:sldChg chg="del">
        <pc:chgData name="shshinde2580@gmail.com" userId="86fdf0c531315612" providerId="LiveId" clId="{80EF1F59-5901-4077-BC9B-DA299863282D}" dt="2025-10-10T20:31:35.181" v="0" actId="2696"/>
        <pc:sldMkLst>
          <pc:docMk/>
          <pc:sldMk cId="3798852095" sldId="280"/>
        </pc:sldMkLst>
      </pc:sldChg>
      <pc:sldChg chg="del">
        <pc:chgData name="shshinde2580@gmail.com" userId="86fdf0c531315612" providerId="LiveId" clId="{80EF1F59-5901-4077-BC9B-DA299863282D}" dt="2025-10-10T20:31:35.181" v="0" actId="2696"/>
        <pc:sldMkLst>
          <pc:docMk/>
          <pc:sldMk cId="2417408662" sldId="281"/>
        </pc:sldMkLst>
      </pc:sldChg>
      <pc:sldChg chg="del">
        <pc:chgData name="shshinde2580@gmail.com" userId="86fdf0c531315612" providerId="LiveId" clId="{80EF1F59-5901-4077-BC9B-DA299863282D}" dt="2025-10-10T20:31:35.181" v="0" actId="2696"/>
        <pc:sldMkLst>
          <pc:docMk/>
          <pc:sldMk cId="699284326" sldId="282"/>
        </pc:sldMkLst>
      </pc:sldChg>
      <pc:sldChg chg="del">
        <pc:chgData name="shshinde2580@gmail.com" userId="86fdf0c531315612" providerId="LiveId" clId="{80EF1F59-5901-4077-BC9B-DA299863282D}" dt="2025-10-10T20:31:35.181" v="0" actId="2696"/>
        <pc:sldMkLst>
          <pc:docMk/>
          <pc:sldMk cId="1905202526" sldId="283"/>
        </pc:sldMkLst>
      </pc:sldChg>
      <pc:sldChg chg="del">
        <pc:chgData name="shshinde2580@gmail.com" userId="86fdf0c531315612" providerId="LiveId" clId="{80EF1F59-5901-4077-BC9B-DA299863282D}" dt="2025-10-10T20:31:35.181" v="0" actId="2696"/>
        <pc:sldMkLst>
          <pc:docMk/>
          <pc:sldMk cId="4115418989" sldId="284"/>
        </pc:sldMkLst>
      </pc:sldChg>
      <pc:sldChg chg="del">
        <pc:chgData name="shshinde2580@gmail.com" userId="86fdf0c531315612" providerId="LiveId" clId="{80EF1F59-5901-4077-BC9B-DA299863282D}" dt="2025-10-10T20:31:35.181" v="0" actId="2696"/>
        <pc:sldMkLst>
          <pc:docMk/>
          <pc:sldMk cId="1644991724" sldId="285"/>
        </pc:sldMkLst>
      </pc:sldChg>
      <pc:sldChg chg="del">
        <pc:chgData name="shshinde2580@gmail.com" userId="86fdf0c531315612" providerId="LiveId" clId="{80EF1F59-5901-4077-BC9B-DA299863282D}" dt="2025-10-10T20:31:35.181" v="0" actId="2696"/>
        <pc:sldMkLst>
          <pc:docMk/>
          <pc:sldMk cId="119440028" sldId="286"/>
        </pc:sldMkLst>
      </pc:sldChg>
      <pc:sldChg chg="del">
        <pc:chgData name="shshinde2580@gmail.com" userId="86fdf0c531315612" providerId="LiveId" clId="{80EF1F59-5901-4077-BC9B-DA299863282D}" dt="2025-10-10T20:31:35.181" v="0" actId="2696"/>
        <pc:sldMkLst>
          <pc:docMk/>
          <pc:sldMk cId="3106703784" sldId="28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944A76-FCA9-44B8-81C7-B03F238EC11E}"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4177365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944A76-FCA9-44B8-81C7-B03F238EC11E}"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176464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944A76-FCA9-44B8-81C7-B03F238EC11E}"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4129486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944A76-FCA9-44B8-81C7-B03F238EC11E}" type="datetimeFigureOut">
              <a:rPr lang="en-IN" smtClean="0"/>
              <a:t>11-10-2025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1306982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944A76-FCA9-44B8-81C7-B03F238EC11E}" type="datetimeFigureOut">
              <a:rPr lang="en-IN" smtClean="0"/>
              <a:t>11-10-2025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200028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944A76-FCA9-44B8-81C7-B03F238EC11E}" type="datetimeFigureOut">
              <a:rPr lang="en-IN" smtClean="0"/>
              <a:t>11-10-2025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620737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944A76-FCA9-44B8-81C7-B03F238EC11E}" type="datetimeFigureOut">
              <a:rPr lang="en-IN" smtClean="0"/>
              <a:t>11-10-2025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284926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944A76-FCA9-44B8-81C7-B03F238EC11E}" type="datetimeFigureOut">
              <a:rPr lang="en-IN" smtClean="0"/>
              <a:t>11-10-2025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4033224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944A76-FCA9-44B8-81C7-B03F238EC11E}" type="datetimeFigureOut">
              <a:rPr lang="en-IN" smtClean="0"/>
              <a:t>11-10-2025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2460693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944A76-FCA9-44B8-81C7-B03F238EC11E}"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2429197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944A76-FCA9-44B8-81C7-B03F238EC11E}"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163997-8D3B-4E8A-83B9-29E0214499E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69218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944A76-FCA9-44B8-81C7-B03F238EC11E}"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35762812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944A76-FCA9-44B8-81C7-B03F238EC11E}"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163997-8D3B-4E8A-83B9-29E0214499E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696250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944A76-FCA9-44B8-81C7-B03F238EC11E}"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473692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944A76-FCA9-44B8-81C7-B03F238EC11E}"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8974509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944A76-FCA9-44B8-81C7-B03F238EC11E}"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163997-8D3B-4E8A-83B9-29E0214499E8}" type="slidenum">
              <a:rPr lang="en-IN" smtClean="0"/>
              <a:t>‹#›</a:t>
            </a:fld>
            <a:endParaRPr lang="en-IN"/>
          </a:p>
        </p:txBody>
      </p:sp>
    </p:spTree>
    <p:extLst>
      <p:ext uri="{BB962C8B-B14F-4D97-AF65-F5344CB8AC3E}">
        <p14:creationId xmlns:p14="http://schemas.microsoft.com/office/powerpoint/2010/main" val="1318229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D944A76-FCA9-44B8-81C7-B03F238EC11E}" type="datetimeFigureOut">
              <a:rPr lang="en-IN" smtClean="0"/>
              <a:t>11-10-2025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0163997-8D3B-4E8A-83B9-29E0214499E8}" type="slidenum">
              <a:rPr lang="en-IN" smtClean="0"/>
              <a:t>‹#›</a:t>
            </a:fld>
            <a:endParaRPr lang="en-IN"/>
          </a:p>
        </p:txBody>
      </p:sp>
    </p:spTree>
    <p:extLst>
      <p:ext uri="{BB962C8B-B14F-4D97-AF65-F5344CB8AC3E}">
        <p14:creationId xmlns:p14="http://schemas.microsoft.com/office/powerpoint/2010/main" val="510106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A423-5AE5-6EC2-CB98-F1FD84B9AABF}"/>
              </a:ext>
            </a:extLst>
          </p:cNvPr>
          <p:cNvSpPr>
            <a:spLocks noGrp="1"/>
          </p:cNvSpPr>
          <p:nvPr>
            <p:ph type="ctrTitle"/>
          </p:nvPr>
        </p:nvSpPr>
        <p:spPr>
          <a:xfrm>
            <a:off x="727242" y="2156056"/>
            <a:ext cx="9326585" cy="1646302"/>
          </a:xfrm>
        </p:spPr>
        <p:txBody>
          <a:bodyPr/>
          <a:lstStyle/>
          <a:p>
            <a:pPr algn="ctr"/>
            <a:r>
              <a:rPr lang="en-IN" dirty="0"/>
              <a:t>The TCP / IP Protocol Suite </a:t>
            </a:r>
          </a:p>
        </p:txBody>
      </p:sp>
    </p:spTree>
    <p:extLst>
      <p:ext uri="{BB962C8B-B14F-4D97-AF65-F5344CB8AC3E}">
        <p14:creationId xmlns:p14="http://schemas.microsoft.com/office/powerpoint/2010/main" val="1454730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EE70A2-ACD5-CBB0-77A9-63DC1332CCD3}"/>
              </a:ext>
            </a:extLst>
          </p:cNvPr>
          <p:cNvSpPr txBox="1"/>
          <p:nvPr/>
        </p:nvSpPr>
        <p:spPr>
          <a:xfrm>
            <a:off x="805069" y="103569"/>
            <a:ext cx="8527773" cy="369332"/>
          </a:xfrm>
          <a:prstGeom prst="rect">
            <a:avLst/>
          </a:prstGeom>
          <a:noFill/>
        </p:spPr>
        <p:txBody>
          <a:bodyPr wrap="square">
            <a:spAutoFit/>
          </a:bodyPr>
          <a:lstStyle/>
          <a:p>
            <a:r>
              <a:rPr lang="en-US" b="1" dirty="0"/>
              <a:t>1.1 The Internet Today, World Wide web </a:t>
            </a:r>
            <a:endParaRPr lang="en-IN" b="1" dirty="0"/>
          </a:p>
        </p:txBody>
      </p:sp>
      <p:sp>
        <p:nvSpPr>
          <p:cNvPr id="7" name="TextBox 6">
            <a:extLst>
              <a:ext uri="{FF2B5EF4-FFF2-40B4-BE49-F238E27FC236}">
                <a16:creationId xmlns:a16="http://schemas.microsoft.com/office/drawing/2014/main" id="{61B85D2F-EC08-2E2B-8F9B-6611465EBFD1}"/>
              </a:ext>
            </a:extLst>
          </p:cNvPr>
          <p:cNvSpPr txBox="1"/>
          <p:nvPr/>
        </p:nvSpPr>
        <p:spPr>
          <a:xfrm>
            <a:off x="805069" y="578489"/>
            <a:ext cx="8527773" cy="2585323"/>
          </a:xfrm>
          <a:prstGeom prst="rect">
            <a:avLst/>
          </a:prstGeom>
          <a:noFill/>
        </p:spPr>
        <p:txBody>
          <a:bodyPr wrap="square">
            <a:spAutoFit/>
          </a:bodyPr>
          <a:lstStyle/>
          <a:p>
            <a:r>
              <a:rPr lang="en-US" b="0" i="0" dirty="0">
                <a:effectLst/>
                <a:latin typeface="fkGroteskNeue"/>
              </a:rPr>
              <a:t>The Internet today is a vast global network that connects billions of computers and electronic devices worldwide. It enables communication, information sharing, entertainment, commerce, and social networking through high-speed data transmission over a complex system of interconnected networks using standard protocols like TCP/IP. The Internet has grown to cover a large portion of the global population, with more than 67% users worldwide as of 2023, facilitating various services such as email, VoIP, video calls, video streaming, online gaming, and more. It continuously evolves, driven by advances in technology, higher bandwidth, and the integration of wireless and mobile devices, shaping how people access and use information globally.</a:t>
            </a:r>
            <a:endParaRPr lang="en-IN" dirty="0"/>
          </a:p>
        </p:txBody>
      </p:sp>
      <p:sp>
        <p:nvSpPr>
          <p:cNvPr id="9" name="TextBox 8">
            <a:extLst>
              <a:ext uri="{FF2B5EF4-FFF2-40B4-BE49-F238E27FC236}">
                <a16:creationId xmlns:a16="http://schemas.microsoft.com/office/drawing/2014/main" id="{0E73F34A-6B9C-FC30-0C1D-BBC86F77BCAC}"/>
              </a:ext>
            </a:extLst>
          </p:cNvPr>
          <p:cNvSpPr txBox="1"/>
          <p:nvPr/>
        </p:nvSpPr>
        <p:spPr>
          <a:xfrm>
            <a:off x="805069" y="3269400"/>
            <a:ext cx="8766313" cy="2585323"/>
          </a:xfrm>
          <a:prstGeom prst="rect">
            <a:avLst/>
          </a:prstGeom>
          <a:noFill/>
        </p:spPr>
        <p:txBody>
          <a:bodyPr wrap="square">
            <a:spAutoFit/>
          </a:bodyPr>
          <a:lstStyle/>
          <a:p>
            <a:r>
              <a:rPr lang="en-US" b="0" i="0" dirty="0">
                <a:effectLst/>
                <a:latin typeface="fkGroteskNeue"/>
              </a:rPr>
              <a:t>The World Wide Web (WWW), often called the Web, is an information system built on top of the Internet that makes it easy for users to access and share documents and multimedia content via web browsers. It was invented by Tim Berners-Lee in 1989 as a "universal linked information system," enabling retrieval and navigation of documents through hyperlinks. The Web uses fundamental technologies like HTTP (Hypertext Transfer Protocol), HTML (Hypertext Markup Language), and URLs (Uniform Resource Locators) to create and access interconnected web pages stored on web servers. It has become the dominant platform for information dissemination on the Internet, allowing billions of people to browse websites, watch videos, shop online, and interact through social media and web applications</a:t>
            </a:r>
            <a:endParaRPr lang="en-IN" dirty="0"/>
          </a:p>
        </p:txBody>
      </p:sp>
    </p:spTree>
    <p:extLst>
      <p:ext uri="{BB962C8B-B14F-4D97-AF65-F5344CB8AC3E}">
        <p14:creationId xmlns:p14="http://schemas.microsoft.com/office/powerpoint/2010/main" val="3567006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32EDD-EB04-F8B4-4A6F-6A5AA3258B4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D09D0C-55DE-5636-9669-CCEE89813667}"/>
              </a:ext>
            </a:extLst>
          </p:cNvPr>
          <p:cNvSpPr txBox="1"/>
          <p:nvPr/>
        </p:nvSpPr>
        <p:spPr>
          <a:xfrm>
            <a:off x="874643" y="134683"/>
            <a:ext cx="8348869" cy="369332"/>
          </a:xfrm>
          <a:prstGeom prst="rect">
            <a:avLst/>
          </a:prstGeom>
          <a:noFill/>
        </p:spPr>
        <p:txBody>
          <a:bodyPr wrap="square">
            <a:spAutoFit/>
          </a:bodyPr>
          <a:lstStyle/>
          <a:p>
            <a:pPr algn="l">
              <a:buNone/>
            </a:pPr>
            <a:r>
              <a:rPr lang="en-IN" b="0" i="0" dirty="0">
                <a:effectLst/>
                <a:latin typeface="fkGroteskNeue"/>
              </a:rPr>
              <a:t>To summarize:</a:t>
            </a:r>
            <a:endParaRPr lang="en-IN" dirty="0"/>
          </a:p>
        </p:txBody>
      </p:sp>
      <p:graphicFrame>
        <p:nvGraphicFramePr>
          <p:cNvPr id="4" name="Table 3">
            <a:extLst>
              <a:ext uri="{FF2B5EF4-FFF2-40B4-BE49-F238E27FC236}">
                <a16:creationId xmlns:a16="http://schemas.microsoft.com/office/drawing/2014/main" id="{4ECA82C9-C880-2908-5507-75A7C9A9C116}"/>
              </a:ext>
            </a:extLst>
          </p:cNvPr>
          <p:cNvGraphicFramePr>
            <a:graphicFrameLocks noGrp="1"/>
          </p:cNvGraphicFramePr>
          <p:nvPr>
            <p:extLst>
              <p:ext uri="{D42A27DB-BD31-4B8C-83A1-F6EECF244321}">
                <p14:modId xmlns:p14="http://schemas.microsoft.com/office/powerpoint/2010/main" val="1745009152"/>
              </p:ext>
            </p:extLst>
          </p:nvPr>
        </p:nvGraphicFramePr>
        <p:xfrm>
          <a:off x="874643" y="710074"/>
          <a:ext cx="8596312" cy="2286000"/>
        </p:xfrm>
        <a:graphic>
          <a:graphicData uri="http://schemas.openxmlformats.org/drawingml/2006/table">
            <a:tbl>
              <a:tblPr>
                <a:tableStyleId>{5940675A-B579-460E-94D1-54222C63F5DA}</a:tableStyleId>
              </a:tblPr>
              <a:tblGrid>
                <a:gridCol w="2164728">
                  <a:extLst>
                    <a:ext uri="{9D8B030D-6E8A-4147-A177-3AD203B41FA5}">
                      <a16:colId xmlns:a16="http://schemas.microsoft.com/office/drawing/2014/main" val="1820287449"/>
                    </a:ext>
                  </a:extLst>
                </a:gridCol>
                <a:gridCol w="6431584">
                  <a:extLst>
                    <a:ext uri="{9D8B030D-6E8A-4147-A177-3AD203B41FA5}">
                      <a16:colId xmlns:a16="http://schemas.microsoft.com/office/drawing/2014/main" val="1068676766"/>
                    </a:ext>
                  </a:extLst>
                </a:gridCol>
              </a:tblGrid>
              <a:tr h="0">
                <a:tc>
                  <a:txBody>
                    <a:bodyPr/>
                    <a:lstStyle/>
                    <a:p>
                      <a:pPr algn="l">
                        <a:buNone/>
                      </a:pPr>
                      <a:r>
                        <a:rPr lang="en-IN" b="1">
                          <a:effectLst/>
                        </a:rPr>
                        <a:t>Topic</a:t>
                      </a:r>
                    </a:p>
                  </a:txBody>
                  <a:tcPr marL="60960" marR="60960" marT="60960" marB="60960" anchor="ctr"/>
                </a:tc>
                <a:tc>
                  <a:txBody>
                    <a:bodyPr/>
                    <a:lstStyle/>
                    <a:p>
                      <a:pPr algn="l">
                        <a:buNone/>
                      </a:pPr>
                      <a:r>
                        <a:rPr lang="en-IN" b="1">
                          <a:effectLst/>
                        </a:rPr>
                        <a:t>Description</a:t>
                      </a:r>
                    </a:p>
                  </a:txBody>
                  <a:tcPr marL="60960" marR="60960" marT="60960" marB="60960" anchor="ctr"/>
                </a:tc>
                <a:extLst>
                  <a:ext uri="{0D108BD9-81ED-4DB2-BD59-A6C34878D82A}">
                    <a16:rowId xmlns:a16="http://schemas.microsoft.com/office/drawing/2014/main" val="289287784"/>
                  </a:ext>
                </a:extLst>
              </a:tr>
              <a:tr h="0">
                <a:tc>
                  <a:txBody>
                    <a:bodyPr/>
                    <a:lstStyle/>
                    <a:p>
                      <a:pPr algn="l">
                        <a:buNone/>
                      </a:pPr>
                      <a:r>
                        <a:rPr lang="en-IN">
                          <a:effectLst/>
                        </a:rPr>
                        <a:t>Internet Today</a:t>
                      </a:r>
                    </a:p>
                  </a:txBody>
                  <a:tcPr marL="60960" marR="60960" marT="60960" marB="60960" anchor="ctr"/>
                </a:tc>
                <a:tc>
                  <a:txBody>
                    <a:bodyPr/>
                    <a:lstStyle/>
                    <a:p>
                      <a:pPr algn="l">
                        <a:buNone/>
                      </a:pPr>
                      <a:r>
                        <a:rPr lang="en-US">
                          <a:effectLst/>
                        </a:rPr>
                        <a:t>Global network connecting billions of devices, enabling communication and data exchange using protocols like TCP/IP, supporting various online services and applications.</a:t>
                      </a:r>
                    </a:p>
                  </a:txBody>
                  <a:tcPr marL="60960" marR="60960" marT="60960" marB="60960" anchor="ctr"/>
                </a:tc>
                <a:extLst>
                  <a:ext uri="{0D108BD9-81ED-4DB2-BD59-A6C34878D82A}">
                    <a16:rowId xmlns:a16="http://schemas.microsoft.com/office/drawing/2014/main" val="3404541220"/>
                  </a:ext>
                </a:extLst>
              </a:tr>
              <a:tr h="0">
                <a:tc>
                  <a:txBody>
                    <a:bodyPr/>
                    <a:lstStyle/>
                    <a:p>
                      <a:pPr algn="l">
                        <a:buNone/>
                      </a:pPr>
                      <a:r>
                        <a:rPr lang="en-IN">
                          <a:effectLst/>
                        </a:rPr>
                        <a:t>World Wide Web</a:t>
                      </a:r>
                    </a:p>
                  </a:txBody>
                  <a:tcPr marL="60960" marR="60960" marT="60960" marB="60960" anchor="ctr"/>
                </a:tc>
                <a:tc>
                  <a:txBody>
                    <a:bodyPr/>
                    <a:lstStyle/>
                    <a:p>
                      <a:pPr algn="l">
                        <a:buNone/>
                      </a:pPr>
                      <a:r>
                        <a:rPr lang="en-US" dirty="0">
                          <a:effectLst/>
                        </a:rPr>
                        <a:t>A system built on the Internet for accessing linked documents and multimedia using browsers via HTTP, HTML, and URLs; created by Tim Berners-Lee in 1989.</a:t>
                      </a:r>
                    </a:p>
                  </a:txBody>
                  <a:tcPr marL="60960" marR="60960" marT="60960" marB="60960" anchor="ctr"/>
                </a:tc>
                <a:extLst>
                  <a:ext uri="{0D108BD9-81ED-4DB2-BD59-A6C34878D82A}">
                    <a16:rowId xmlns:a16="http://schemas.microsoft.com/office/drawing/2014/main" val="4006342035"/>
                  </a:ext>
                </a:extLst>
              </a:tr>
            </a:tbl>
          </a:graphicData>
        </a:graphic>
      </p:graphicFrame>
      <p:sp>
        <p:nvSpPr>
          <p:cNvPr id="6" name="TextBox 5">
            <a:extLst>
              <a:ext uri="{FF2B5EF4-FFF2-40B4-BE49-F238E27FC236}">
                <a16:creationId xmlns:a16="http://schemas.microsoft.com/office/drawing/2014/main" id="{476F744C-E28E-8AAC-F9D0-68F62FBBA13B}"/>
              </a:ext>
            </a:extLst>
          </p:cNvPr>
          <p:cNvSpPr txBox="1"/>
          <p:nvPr/>
        </p:nvSpPr>
        <p:spPr>
          <a:xfrm>
            <a:off x="874643" y="3244334"/>
            <a:ext cx="8279296" cy="369332"/>
          </a:xfrm>
          <a:prstGeom prst="rect">
            <a:avLst/>
          </a:prstGeom>
          <a:noFill/>
        </p:spPr>
        <p:txBody>
          <a:bodyPr wrap="square">
            <a:spAutoFit/>
          </a:bodyPr>
          <a:lstStyle/>
          <a:p>
            <a:r>
              <a:rPr lang="en-US" b="1" dirty="0"/>
              <a:t>1.2 Protocols and Standards ,Standards Organizations </a:t>
            </a:r>
            <a:endParaRPr lang="en-IN" b="1" dirty="0"/>
          </a:p>
        </p:txBody>
      </p:sp>
      <p:sp>
        <p:nvSpPr>
          <p:cNvPr id="8" name="TextBox 7">
            <a:extLst>
              <a:ext uri="{FF2B5EF4-FFF2-40B4-BE49-F238E27FC236}">
                <a16:creationId xmlns:a16="http://schemas.microsoft.com/office/drawing/2014/main" id="{90C95A7A-C714-7C04-584F-B4A5DF1E2BB7}"/>
              </a:ext>
            </a:extLst>
          </p:cNvPr>
          <p:cNvSpPr txBox="1"/>
          <p:nvPr/>
        </p:nvSpPr>
        <p:spPr>
          <a:xfrm>
            <a:off x="874643" y="3613666"/>
            <a:ext cx="8279296" cy="1477328"/>
          </a:xfrm>
          <a:prstGeom prst="rect">
            <a:avLst/>
          </a:prstGeom>
          <a:noFill/>
        </p:spPr>
        <p:txBody>
          <a:bodyPr wrap="square">
            <a:spAutoFit/>
          </a:bodyPr>
          <a:lstStyle/>
          <a:p>
            <a:r>
              <a:rPr lang="en-US" b="0" i="0" dirty="0">
                <a:effectLst/>
                <a:latin typeface="fkGroteskNeue"/>
              </a:rPr>
              <a:t>Protocols and standards are fundamental for the Internet's operation, ensuring devices and networks can communicate efficiently and compatibly. Protocols are agreed-upon rules governing how data is transmitted, received, and interpreted across networks. Standards formalize these protocols and other </a:t>
            </a:r>
            <a:r>
              <a:rPr lang="en-US" dirty="0"/>
              <a:t>technical specifications to maintain interoperability among</a:t>
            </a:r>
            <a:endParaRPr lang="en-IN" dirty="0"/>
          </a:p>
        </p:txBody>
      </p:sp>
    </p:spTree>
    <p:extLst>
      <p:ext uri="{BB962C8B-B14F-4D97-AF65-F5344CB8AC3E}">
        <p14:creationId xmlns:p14="http://schemas.microsoft.com/office/powerpoint/2010/main" val="92384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D84FA-9F24-1208-0499-BE60297C643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8BCC2C-A737-D926-B531-BFEC092CEB0E}"/>
              </a:ext>
            </a:extLst>
          </p:cNvPr>
          <p:cNvSpPr txBox="1"/>
          <p:nvPr/>
        </p:nvSpPr>
        <p:spPr>
          <a:xfrm>
            <a:off x="824947" y="217438"/>
            <a:ext cx="8517835" cy="2308324"/>
          </a:xfrm>
          <a:prstGeom prst="rect">
            <a:avLst/>
          </a:prstGeom>
          <a:noFill/>
        </p:spPr>
        <p:txBody>
          <a:bodyPr wrap="square">
            <a:spAutoFit/>
          </a:bodyPr>
          <a:lstStyle/>
          <a:p>
            <a:pPr algn="l">
              <a:buNone/>
            </a:pPr>
            <a:r>
              <a:rPr lang="en-US" b="1" i="0" dirty="0">
                <a:effectLst/>
                <a:latin typeface="fkGroteskNeue"/>
              </a:rPr>
              <a:t>Key points about protocols and standards:</a:t>
            </a:r>
          </a:p>
          <a:p>
            <a:pPr algn="l">
              <a:buNone/>
            </a:pPr>
            <a:endParaRPr lang="en-US" b="0" i="0" dirty="0">
              <a:effectLst/>
              <a:latin typeface="fkGroteskNeue"/>
            </a:endParaRPr>
          </a:p>
          <a:p>
            <a:pPr algn="l">
              <a:buFont typeface="Arial" panose="020B0604020202020204" pitchFamily="34" charset="0"/>
              <a:buChar char="•"/>
            </a:pPr>
            <a:r>
              <a:rPr lang="en-US" b="0" i="0" dirty="0">
                <a:effectLst/>
                <a:latin typeface="fkGroteskNeue"/>
              </a:rPr>
              <a:t>Protocols define the syntax, semantics, and synchronization of communication between devices (e.g., TCP/IP, HTTP, FTP).</a:t>
            </a:r>
          </a:p>
          <a:p>
            <a:pPr algn="l">
              <a:buFont typeface="Arial" panose="020B0604020202020204" pitchFamily="34" charset="0"/>
              <a:buChar char="•"/>
            </a:pPr>
            <a:r>
              <a:rPr lang="en-US" b="0" i="0" dirty="0">
                <a:effectLst/>
                <a:latin typeface="fkGroteskNeue"/>
              </a:rPr>
              <a:t>Standards ensure compatibility and universal implementation of technologies, enabling global connectivity.</a:t>
            </a:r>
          </a:p>
          <a:p>
            <a:pPr algn="l">
              <a:buFont typeface="Arial" panose="020B0604020202020204" pitchFamily="34" charset="0"/>
              <a:buChar char="•"/>
            </a:pPr>
            <a:r>
              <a:rPr lang="en-US" b="0" i="0" dirty="0">
                <a:effectLst/>
                <a:latin typeface="fkGroteskNeue"/>
              </a:rPr>
              <a:t>The evolution of Internet protocols includes major innovations like TCP/IP for reliable communication and newer protocols addressing security and scalability</a:t>
            </a:r>
          </a:p>
        </p:txBody>
      </p:sp>
      <p:sp>
        <p:nvSpPr>
          <p:cNvPr id="5" name="TextBox 4">
            <a:extLst>
              <a:ext uri="{FF2B5EF4-FFF2-40B4-BE49-F238E27FC236}">
                <a16:creationId xmlns:a16="http://schemas.microsoft.com/office/drawing/2014/main" id="{9AA37914-A914-7751-2059-E8E33C747D03}"/>
              </a:ext>
            </a:extLst>
          </p:cNvPr>
          <p:cNvSpPr txBox="1"/>
          <p:nvPr/>
        </p:nvSpPr>
        <p:spPr>
          <a:xfrm>
            <a:off x="785190" y="2610683"/>
            <a:ext cx="8597348" cy="4247317"/>
          </a:xfrm>
          <a:prstGeom prst="rect">
            <a:avLst/>
          </a:prstGeom>
          <a:noFill/>
        </p:spPr>
        <p:txBody>
          <a:bodyPr wrap="square">
            <a:spAutoFit/>
          </a:bodyPr>
          <a:lstStyle/>
          <a:p>
            <a:pPr algn="l">
              <a:buNone/>
            </a:pPr>
            <a:r>
              <a:rPr lang="en-US" b="0" i="0" dirty="0">
                <a:effectLst/>
                <a:latin typeface="fkGroteskNeue"/>
              </a:rPr>
              <a:t>Standards organizations oversee the development, validation, and dissemination of these protocols and standards. Major global organizations involved include:</a:t>
            </a:r>
          </a:p>
          <a:p>
            <a:pPr algn="l">
              <a:buNone/>
            </a:pPr>
            <a:endParaRPr lang="en-US" b="0" i="0" dirty="0">
              <a:effectLst/>
              <a:latin typeface="fkGroteskNeue"/>
            </a:endParaRPr>
          </a:p>
          <a:p>
            <a:pPr algn="l">
              <a:buFont typeface="Arial" panose="020B0604020202020204" pitchFamily="34" charset="0"/>
              <a:buChar char="•"/>
            </a:pPr>
            <a:r>
              <a:rPr lang="en-US" b="0" i="0" dirty="0">
                <a:effectLst/>
                <a:latin typeface="fkGroteskNeue"/>
              </a:rPr>
              <a:t>Internet Engineering Task Force (IETF): The primary body responsible for developing Internet standards through a transparent, consensus-driven process. It publishes technical documents called RFCs (Request for Comments).</a:t>
            </a:r>
          </a:p>
          <a:p>
            <a:pPr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r>
              <a:rPr lang="en-US" b="0" i="0" dirty="0">
                <a:effectLst/>
                <a:latin typeface="fkGroteskNeue"/>
              </a:rPr>
              <a:t>Internet Architecture Board (IAB): Provides oversight and architectural guidance for Internet development, supervising the IETF.</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Internet Research Task Force (IRTF): Focuses on longer-term research relevant to Internet protocols and technology.</a:t>
            </a:r>
          </a:p>
          <a:p>
            <a:pPr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r>
              <a:rPr lang="en-US" b="0" i="0" dirty="0">
                <a:effectLst/>
                <a:latin typeface="fkGroteskNeue"/>
              </a:rPr>
              <a:t>World Wide Web Consortium (W3C): Develops web standards to ensure the interoperability of web technologies like HTML, CSS, and XML.</a:t>
            </a:r>
          </a:p>
        </p:txBody>
      </p:sp>
    </p:spTree>
    <p:extLst>
      <p:ext uri="{BB962C8B-B14F-4D97-AF65-F5344CB8AC3E}">
        <p14:creationId xmlns:p14="http://schemas.microsoft.com/office/powerpoint/2010/main" val="1985676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B91F-58E0-2F18-1B30-AEC3A48DAD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D752D6-512F-AB1A-9336-B3ED1BE00BA3}"/>
              </a:ext>
            </a:extLst>
          </p:cNvPr>
          <p:cNvSpPr txBox="1"/>
          <p:nvPr/>
        </p:nvSpPr>
        <p:spPr>
          <a:xfrm>
            <a:off x="844826" y="187621"/>
            <a:ext cx="8597348" cy="2308324"/>
          </a:xfrm>
          <a:prstGeom prst="rect">
            <a:avLst/>
          </a:prstGeom>
          <a:noFill/>
        </p:spPr>
        <p:txBody>
          <a:bodyPr wrap="square">
            <a:spAutoFit/>
          </a:bodyPr>
          <a:lstStyle/>
          <a:p>
            <a:pPr algn="l">
              <a:buFont typeface="Arial" panose="020B0604020202020204" pitchFamily="34" charset="0"/>
              <a:buChar char="•"/>
            </a:pPr>
            <a:r>
              <a:rPr lang="en-IN" b="0" i="0" dirty="0">
                <a:effectLst/>
                <a:latin typeface="fkGroteskNeue"/>
              </a:rPr>
              <a:t>International Organization for Standardization (ISO): Develops broad international standards, including those related to networking (OSI model).</a:t>
            </a:r>
          </a:p>
          <a:p>
            <a:pPr algn="l"/>
            <a:endParaRPr lang="en-IN" b="0" i="0" dirty="0">
              <a:effectLst/>
              <a:latin typeface="fkGroteskNeue"/>
            </a:endParaRPr>
          </a:p>
          <a:p>
            <a:pPr algn="l">
              <a:buFont typeface="Arial" panose="020B0604020202020204" pitchFamily="34" charset="0"/>
              <a:buChar char="•"/>
            </a:pPr>
            <a:r>
              <a:rPr lang="en-IN" b="0" i="0" dirty="0">
                <a:effectLst/>
                <a:latin typeface="fkGroteskNeue"/>
              </a:rPr>
              <a:t>American National Standards Institute (ANSI): Oversees standards in the United States and manages codes like ASCII.</a:t>
            </a:r>
          </a:p>
          <a:p>
            <a:pPr algn="l"/>
            <a:endParaRPr lang="en-IN" b="0" i="0" dirty="0">
              <a:effectLst/>
              <a:latin typeface="fkGroteskNeue"/>
            </a:endParaRPr>
          </a:p>
          <a:p>
            <a:pPr algn="l">
              <a:buFont typeface="Arial" panose="020B0604020202020204" pitchFamily="34" charset="0"/>
              <a:buChar char="•"/>
            </a:pPr>
            <a:r>
              <a:rPr lang="en-IN" b="0" i="0" dirty="0">
                <a:effectLst/>
                <a:latin typeface="fkGroteskNeue"/>
              </a:rPr>
              <a:t>Other specialized bodies include Unicode Consortium (for universal character encoding) and ECMA International (for programming standards like JavaScript).</a:t>
            </a:r>
          </a:p>
        </p:txBody>
      </p:sp>
      <p:sp>
        <p:nvSpPr>
          <p:cNvPr id="5" name="TextBox 4">
            <a:extLst>
              <a:ext uri="{FF2B5EF4-FFF2-40B4-BE49-F238E27FC236}">
                <a16:creationId xmlns:a16="http://schemas.microsoft.com/office/drawing/2014/main" id="{67296938-3993-3A10-6469-D890E449D147}"/>
              </a:ext>
            </a:extLst>
          </p:cNvPr>
          <p:cNvSpPr txBox="1"/>
          <p:nvPr/>
        </p:nvSpPr>
        <p:spPr>
          <a:xfrm>
            <a:off x="844826" y="2657925"/>
            <a:ext cx="8597348" cy="369332"/>
          </a:xfrm>
          <a:prstGeom prst="rect">
            <a:avLst/>
          </a:prstGeom>
          <a:noFill/>
        </p:spPr>
        <p:txBody>
          <a:bodyPr wrap="square">
            <a:spAutoFit/>
          </a:bodyPr>
          <a:lstStyle/>
          <a:p>
            <a:r>
              <a:rPr lang="en-IN" b="1" dirty="0"/>
              <a:t>1.3 Protocol Layers: Hierarchy, Services </a:t>
            </a:r>
          </a:p>
        </p:txBody>
      </p:sp>
      <p:sp>
        <p:nvSpPr>
          <p:cNvPr id="7" name="TextBox 6">
            <a:extLst>
              <a:ext uri="{FF2B5EF4-FFF2-40B4-BE49-F238E27FC236}">
                <a16:creationId xmlns:a16="http://schemas.microsoft.com/office/drawing/2014/main" id="{B0B10C73-C346-B8FD-348A-1515483C38BF}"/>
              </a:ext>
            </a:extLst>
          </p:cNvPr>
          <p:cNvSpPr txBox="1"/>
          <p:nvPr/>
        </p:nvSpPr>
        <p:spPr>
          <a:xfrm>
            <a:off x="844826" y="3161727"/>
            <a:ext cx="9312965" cy="1200329"/>
          </a:xfrm>
          <a:prstGeom prst="rect">
            <a:avLst/>
          </a:prstGeom>
          <a:noFill/>
        </p:spPr>
        <p:txBody>
          <a:bodyPr wrap="square">
            <a:spAutoFit/>
          </a:bodyPr>
          <a:lstStyle/>
          <a:p>
            <a:r>
              <a:rPr lang="en-US" b="0" i="0" dirty="0">
                <a:effectLst/>
                <a:latin typeface="fkGroteskNeue"/>
              </a:rPr>
              <a:t>Protocol layers are organized in a hierarchical model that structures communication functions into discrete levels, each with specific responsibilities. This hierarchical layering helps in separating concerns, simplifying design, allowing interoperability, and enabling protocols to work together effectively.</a:t>
            </a:r>
            <a:endParaRPr lang="en-IN" dirty="0"/>
          </a:p>
        </p:txBody>
      </p:sp>
      <p:sp>
        <p:nvSpPr>
          <p:cNvPr id="9" name="TextBox 8">
            <a:extLst>
              <a:ext uri="{FF2B5EF4-FFF2-40B4-BE49-F238E27FC236}">
                <a16:creationId xmlns:a16="http://schemas.microsoft.com/office/drawing/2014/main" id="{F86C6D72-03A6-B0D5-F887-713E88D2A936}"/>
              </a:ext>
            </a:extLst>
          </p:cNvPr>
          <p:cNvSpPr txBox="1"/>
          <p:nvPr/>
        </p:nvSpPr>
        <p:spPr>
          <a:xfrm>
            <a:off x="844826" y="4568832"/>
            <a:ext cx="8597348" cy="1477328"/>
          </a:xfrm>
          <a:prstGeom prst="rect">
            <a:avLst/>
          </a:prstGeom>
          <a:noFill/>
        </p:spPr>
        <p:txBody>
          <a:bodyPr wrap="square">
            <a:spAutoFit/>
          </a:bodyPr>
          <a:lstStyle/>
          <a:p>
            <a:pPr algn="l">
              <a:buNone/>
            </a:pPr>
            <a:r>
              <a:rPr lang="en-US" b="1" i="0" dirty="0">
                <a:effectLst/>
                <a:latin typeface="fkGrotesk"/>
              </a:rPr>
              <a:t>Protocol Layers Hierarchy</a:t>
            </a:r>
          </a:p>
          <a:p>
            <a:pPr algn="l">
              <a:buNone/>
            </a:pPr>
            <a:endParaRPr lang="en-US" b="0" i="0" dirty="0">
              <a:effectLst/>
              <a:latin typeface="fkGrotesk"/>
            </a:endParaRPr>
          </a:p>
          <a:p>
            <a:pPr algn="l">
              <a:buNone/>
            </a:pPr>
            <a:r>
              <a:rPr lang="en-US" b="0" i="0" dirty="0">
                <a:effectLst/>
                <a:latin typeface="fkGroteskNeue"/>
              </a:rPr>
              <a:t>A widely accepted model for understanding protocol layers is the OSI (Open Systems Interconnection) Model, which consists of seven layers arranged from lowest (physical media) to highest (application level):</a:t>
            </a:r>
          </a:p>
        </p:txBody>
      </p:sp>
    </p:spTree>
    <p:extLst>
      <p:ext uri="{BB962C8B-B14F-4D97-AF65-F5344CB8AC3E}">
        <p14:creationId xmlns:p14="http://schemas.microsoft.com/office/powerpoint/2010/main" val="1554949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FAC51-3B8A-2DB3-89FC-5C8DF341F1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2AC37E-2E06-5BEB-1669-EEED7CC825E4}"/>
              </a:ext>
            </a:extLst>
          </p:cNvPr>
          <p:cNvSpPr txBox="1"/>
          <p:nvPr/>
        </p:nvSpPr>
        <p:spPr>
          <a:xfrm>
            <a:off x="1023730" y="197346"/>
            <a:ext cx="8130209" cy="6186309"/>
          </a:xfrm>
          <a:prstGeom prst="rect">
            <a:avLst/>
          </a:prstGeom>
          <a:noFill/>
        </p:spPr>
        <p:txBody>
          <a:bodyPr wrap="square">
            <a:spAutoFit/>
          </a:bodyPr>
          <a:lstStyle/>
          <a:p>
            <a:pPr algn="l">
              <a:buFont typeface="+mj-lt"/>
              <a:buAutoNum type="arabicPeriod"/>
            </a:pPr>
            <a:r>
              <a:rPr lang="en-US" b="1" i="0" dirty="0">
                <a:effectLst/>
                <a:latin typeface="fkGroteskNeue"/>
              </a:rPr>
              <a:t>Physical Layer (Layer 1): </a:t>
            </a:r>
            <a:r>
              <a:rPr lang="en-US" b="0" i="0" dirty="0">
                <a:effectLst/>
                <a:latin typeface="fkGroteskNeue"/>
              </a:rPr>
              <a:t>Handles the transmission of raw bits over a physical medium such as cables or wireless signals. It deals with electrical, mechanical, and procedural interfaces.</a:t>
            </a:r>
          </a:p>
          <a:p>
            <a:pPr algn="l"/>
            <a:endParaRPr lang="en-US" b="0" i="0" dirty="0">
              <a:effectLst/>
              <a:latin typeface="fkGroteskNeue"/>
            </a:endParaRPr>
          </a:p>
          <a:p>
            <a:pPr algn="l"/>
            <a:r>
              <a:rPr lang="en-US" b="0" i="0" dirty="0">
                <a:effectLst/>
                <a:latin typeface="fkGroteskNeue"/>
              </a:rPr>
              <a:t>2.</a:t>
            </a:r>
            <a:r>
              <a:rPr lang="en-US" b="1" i="0" dirty="0">
                <a:effectLst/>
                <a:latin typeface="fkGroteskNeue"/>
              </a:rPr>
              <a:t>Data Link Layer (Layer 2): </a:t>
            </a:r>
            <a:r>
              <a:rPr lang="en-US" b="0" i="0" dirty="0">
                <a:effectLst/>
                <a:latin typeface="fkGroteskNeue"/>
              </a:rPr>
              <a:t>Responsible for node-to-node data transfer, framing, error detection and correction, and flow control within a single network segment.</a:t>
            </a:r>
          </a:p>
          <a:p>
            <a:pPr algn="l"/>
            <a:endParaRPr lang="en-US" b="0" i="0" dirty="0">
              <a:effectLst/>
              <a:latin typeface="fkGroteskNeue"/>
            </a:endParaRPr>
          </a:p>
          <a:p>
            <a:pPr algn="l"/>
            <a:r>
              <a:rPr lang="en-US" b="0" i="0" dirty="0">
                <a:effectLst/>
                <a:latin typeface="fkGroteskNeue"/>
              </a:rPr>
              <a:t>3.</a:t>
            </a:r>
            <a:r>
              <a:rPr lang="en-US" b="1" i="0" dirty="0">
                <a:effectLst/>
                <a:latin typeface="fkGroteskNeue"/>
              </a:rPr>
              <a:t>Network Layer (Layer 3): </a:t>
            </a:r>
            <a:r>
              <a:rPr lang="en-US" b="0" i="0" dirty="0">
                <a:effectLst/>
                <a:latin typeface="fkGroteskNeue"/>
              </a:rPr>
              <a:t>Manages routing and forwarding of data packets across interconnected networks, handling logical addressing and path determination.</a:t>
            </a:r>
          </a:p>
          <a:p>
            <a:pPr algn="l"/>
            <a:endParaRPr lang="en-US" b="0" i="0" dirty="0">
              <a:effectLst/>
              <a:latin typeface="fkGroteskNeue"/>
            </a:endParaRPr>
          </a:p>
          <a:p>
            <a:pPr algn="l"/>
            <a:r>
              <a:rPr lang="en-US" b="0" i="0" dirty="0">
                <a:effectLst/>
                <a:latin typeface="fkGroteskNeue"/>
              </a:rPr>
              <a:t>4.</a:t>
            </a:r>
            <a:r>
              <a:rPr lang="en-US" b="1" i="0" dirty="0">
                <a:effectLst/>
                <a:latin typeface="fkGroteskNeue"/>
              </a:rPr>
              <a:t>Transport Layer (Layer 4): </a:t>
            </a:r>
            <a:r>
              <a:rPr lang="en-US" b="0" i="0" dirty="0">
                <a:effectLst/>
                <a:latin typeface="fkGroteskNeue"/>
              </a:rPr>
              <a:t>Ensures reliable data transfer between end systems with error recovery, flow control, and segmentation.</a:t>
            </a:r>
          </a:p>
          <a:p>
            <a:pPr algn="l"/>
            <a:endParaRPr lang="en-US" b="0" i="0" dirty="0">
              <a:effectLst/>
              <a:latin typeface="fkGroteskNeue"/>
            </a:endParaRPr>
          </a:p>
          <a:p>
            <a:pPr algn="l"/>
            <a:endParaRPr lang="en-US" b="1" i="0" dirty="0">
              <a:effectLst/>
              <a:latin typeface="fkGroteskNeue"/>
            </a:endParaRPr>
          </a:p>
          <a:p>
            <a:pPr algn="l"/>
            <a:r>
              <a:rPr lang="en-US" b="0" i="0" dirty="0">
                <a:effectLst/>
                <a:latin typeface="fkGroteskNeue"/>
              </a:rPr>
              <a:t>.</a:t>
            </a:r>
            <a:r>
              <a:rPr lang="en-US" b="1" i="0" dirty="0">
                <a:effectLst/>
                <a:latin typeface="fkGroteskNeue"/>
              </a:rPr>
              <a:t>Session Layer (Layer 5): </a:t>
            </a:r>
            <a:r>
              <a:rPr lang="en-US" b="0" i="0" dirty="0">
                <a:effectLst/>
                <a:latin typeface="fkGroteskNeue"/>
              </a:rPr>
              <a:t>Controls sessions or connections between applications, managing opening, maintaining, and closing communication sessions.</a:t>
            </a:r>
          </a:p>
          <a:p>
            <a:pPr algn="l"/>
            <a:endParaRPr lang="en-US" b="0" i="0" dirty="0">
              <a:effectLst/>
              <a:latin typeface="fkGroteskNeue"/>
            </a:endParaRPr>
          </a:p>
          <a:p>
            <a:pPr algn="l"/>
            <a:r>
              <a:rPr lang="en-US" b="1" i="0" dirty="0">
                <a:effectLst/>
                <a:latin typeface="fkGroteskNeue"/>
              </a:rPr>
              <a:t>6.Presentation Layer (Layer 6): </a:t>
            </a:r>
            <a:r>
              <a:rPr lang="en-US" b="0" i="0" dirty="0">
                <a:effectLst/>
                <a:latin typeface="fkGroteskNeue"/>
              </a:rPr>
              <a:t>Translates data formats, encrypts/decrypts data, and compresses/decompresses to provide a syntax understood by the application layer.</a:t>
            </a:r>
          </a:p>
          <a:p>
            <a:pPr algn="l"/>
            <a:endParaRPr lang="en-US" b="1" i="0" dirty="0">
              <a:effectLst/>
              <a:latin typeface="fkGroteskNeue"/>
            </a:endParaRPr>
          </a:p>
          <a:p>
            <a:pPr algn="l"/>
            <a:r>
              <a:rPr lang="en-US" b="1" i="0" dirty="0">
                <a:effectLst/>
                <a:latin typeface="fkGroteskNeue"/>
              </a:rPr>
              <a:t>7.Application Layer (Layer 7): </a:t>
            </a:r>
            <a:r>
              <a:rPr lang="en-US" b="0" i="0" dirty="0">
                <a:effectLst/>
                <a:latin typeface="fkGroteskNeue"/>
              </a:rPr>
              <a:t>Provides network services directly to user applications, supporting protocols like HTTP, FTP, SMTP, and DNS.</a:t>
            </a:r>
          </a:p>
        </p:txBody>
      </p:sp>
    </p:spTree>
    <p:extLst>
      <p:ext uri="{BB962C8B-B14F-4D97-AF65-F5344CB8AC3E}">
        <p14:creationId xmlns:p14="http://schemas.microsoft.com/office/powerpoint/2010/main" val="106167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C329A-4F3A-D9E7-BBFD-E816FFE39D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868886D-7914-7987-5F22-D13D88D54949}"/>
              </a:ext>
            </a:extLst>
          </p:cNvPr>
          <p:cNvSpPr txBox="1"/>
          <p:nvPr/>
        </p:nvSpPr>
        <p:spPr>
          <a:xfrm>
            <a:off x="884583" y="213983"/>
            <a:ext cx="8488017" cy="5632311"/>
          </a:xfrm>
          <a:prstGeom prst="rect">
            <a:avLst/>
          </a:prstGeom>
          <a:noFill/>
        </p:spPr>
        <p:txBody>
          <a:bodyPr wrap="square">
            <a:spAutoFit/>
          </a:bodyPr>
          <a:lstStyle/>
          <a:p>
            <a:pPr algn="l">
              <a:buNone/>
            </a:pPr>
            <a:r>
              <a:rPr lang="en-US" b="1" i="0" dirty="0">
                <a:effectLst/>
                <a:latin typeface="fkGrotesk"/>
              </a:rPr>
              <a:t>Services Provided by Each Layer</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Physical Layer: Bit transmission over medium, bit synchronization, transmission mode control.</a:t>
            </a:r>
          </a:p>
          <a:p>
            <a:pPr algn="l">
              <a:buFont typeface="Arial" panose="020B0604020202020204" pitchFamily="34" charset="0"/>
              <a:buChar char="•"/>
            </a:pPr>
            <a:r>
              <a:rPr lang="en-US" b="0" i="0" dirty="0">
                <a:effectLst/>
                <a:latin typeface="fkGroteskNeue"/>
              </a:rPr>
              <a:t>Data Link Layer: Framing, physical addressing, error notification, flow control, and access control.</a:t>
            </a:r>
          </a:p>
          <a:p>
            <a:pPr algn="l">
              <a:buFont typeface="Arial" panose="020B0604020202020204" pitchFamily="34" charset="0"/>
              <a:buChar char="•"/>
            </a:pPr>
            <a:r>
              <a:rPr lang="en-US" b="0" i="0" dirty="0">
                <a:effectLst/>
                <a:latin typeface="fkGroteskNeue"/>
              </a:rPr>
              <a:t>Network Layer: Logical addressing, routing, packet forwarding, congestion control.</a:t>
            </a:r>
          </a:p>
          <a:p>
            <a:pPr algn="l">
              <a:buFont typeface="Arial" panose="020B0604020202020204" pitchFamily="34" charset="0"/>
              <a:buChar char="•"/>
            </a:pPr>
            <a:r>
              <a:rPr lang="en-US" b="0" i="0" dirty="0">
                <a:effectLst/>
                <a:latin typeface="fkGroteskNeue"/>
              </a:rPr>
              <a:t>Transport Layer: End-to-end communication, reliability, error correction, data segmentation and reassembly.</a:t>
            </a:r>
          </a:p>
          <a:p>
            <a:pPr algn="l">
              <a:buFont typeface="Arial" panose="020B0604020202020204" pitchFamily="34" charset="0"/>
              <a:buChar char="•"/>
            </a:pPr>
            <a:r>
              <a:rPr lang="en-US" b="0" i="0" dirty="0">
                <a:effectLst/>
                <a:latin typeface="fkGroteskNeue"/>
              </a:rPr>
              <a:t>Session Layer: Session establishment, maintenance, synchronization, and termination.</a:t>
            </a:r>
          </a:p>
          <a:p>
            <a:pPr algn="l">
              <a:buFont typeface="Arial" panose="020B0604020202020204" pitchFamily="34" charset="0"/>
              <a:buChar char="•"/>
            </a:pPr>
            <a:r>
              <a:rPr lang="en-US" b="0" i="0" dirty="0">
                <a:effectLst/>
                <a:latin typeface="fkGroteskNeue"/>
              </a:rPr>
              <a:t>Presentation Layer: Data translation, encryption, decryption, compression.</a:t>
            </a:r>
          </a:p>
          <a:p>
            <a:pPr algn="l">
              <a:buFont typeface="Arial" panose="020B0604020202020204" pitchFamily="34" charset="0"/>
              <a:buChar char="•"/>
            </a:pPr>
            <a:r>
              <a:rPr lang="en-US" b="0" i="0" dirty="0">
                <a:effectLst/>
                <a:latin typeface="fkGroteskNeue"/>
              </a:rPr>
              <a:t>Application Layer: High-level APIs, resource sharing, remote file access, email, web services.</a:t>
            </a:r>
          </a:p>
          <a:p>
            <a:pPr algn="l"/>
            <a:endParaRPr lang="en-US" b="0" i="0" dirty="0">
              <a:effectLst/>
              <a:latin typeface="fkGroteskNeue"/>
            </a:endParaRPr>
          </a:p>
          <a:p>
            <a:pPr algn="l">
              <a:buNone/>
            </a:pPr>
            <a:r>
              <a:rPr lang="en-US" b="0" i="0" dirty="0">
                <a:effectLst/>
                <a:latin typeface="fkGroteskNeue"/>
              </a:rPr>
              <a:t>This layered approach allows a modular and interoperable networking system where each layer can evolve independently as long as it maintains defined interfaces with adjacent layers.</a:t>
            </a:r>
          </a:p>
          <a:p>
            <a:pPr algn="l">
              <a:buNone/>
            </a:pPr>
            <a:endParaRPr lang="en-US" dirty="0">
              <a:latin typeface="fkGroteskNeue"/>
            </a:endParaRPr>
          </a:p>
          <a:p>
            <a:r>
              <a:rPr lang="en-US" dirty="0">
                <a:latin typeface="fkGroteskNeue"/>
              </a:rPr>
              <a:t>The OSI model serves both as a theoretical framework and a practical guide for implementing network protocols and understanding their interaction</a:t>
            </a:r>
            <a:endParaRPr lang="en-US" b="0" i="0" dirty="0">
              <a:effectLst/>
              <a:latin typeface="fkGroteskNeue"/>
            </a:endParaRPr>
          </a:p>
        </p:txBody>
      </p:sp>
    </p:spTree>
    <p:extLst>
      <p:ext uri="{BB962C8B-B14F-4D97-AF65-F5344CB8AC3E}">
        <p14:creationId xmlns:p14="http://schemas.microsoft.com/office/powerpoint/2010/main" val="1821070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CA5A5-8F98-6190-F1C1-BB8D3C56A7E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CF445450-2985-153A-BFFE-896ADF74A303}"/>
              </a:ext>
            </a:extLst>
          </p:cNvPr>
          <p:cNvSpPr txBox="1"/>
          <p:nvPr/>
        </p:nvSpPr>
        <p:spPr>
          <a:xfrm>
            <a:off x="785191" y="74400"/>
            <a:ext cx="8577470" cy="646331"/>
          </a:xfrm>
          <a:prstGeom prst="rect">
            <a:avLst/>
          </a:prstGeom>
          <a:noFill/>
        </p:spPr>
        <p:txBody>
          <a:bodyPr wrap="square">
            <a:spAutoFit/>
          </a:bodyPr>
          <a:lstStyle/>
          <a:p>
            <a:r>
              <a:rPr lang="en-US" b="1" dirty="0"/>
              <a:t>1.4 Reference Models: Introduction to OSI Reference Model and TCP/IP Protocol Suite: </a:t>
            </a:r>
            <a:endParaRPr lang="en-IN" b="1" dirty="0"/>
          </a:p>
        </p:txBody>
      </p:sp>
      <p:sp>
        <p:nvSpPr>
          <p:cNvPr id="12" name="TextBox 11">
            <a:extLst>
              <a:ext uri="{FF2B5EF4-FFF2-40B4-BE49-F238E27FC236}">
                <a16:creationId xmlns:a16="http://schemas.microsoft.com/office/drawing/2014/main" id="{A7321DBB-BC79-BB48-140C-CD59EE3FC8C8}"/>
              </a:ext>
            </a:extLst>
          </p:cNvPr>
          <p:cNvSpPr txBox="1"/>
          <p:nvPr/>
        </p:nvSpPr>
        <p:spPr>
          <a:xfrm>
            <a:off x="785191" y="1105369"/>
            <a:ext cx="8577470" cy="1200329"/>
          </a:xfrm>
          <a:prstGeom prst="rect">
            <a:avLst/>
          </a:prstGeom>
          <a:noFill/>
        </p:spPr>
        <p:txBody>
          <a:bodyPr wrap="square">
            <a:spAutoFit/>
          </a:bodyPr>
          <a:lstStyle/>
          <a:p>
            <a:pPr algn="l">
              <a:buNone/>
            </a:pPr>
            <a:r>
              <a:rPr lang="en-IN" b="0" i="0" dirty="0">
                <a:effectLst/>
                <a:latin typeface="fkGrotesk"/>
              </a:rPr>
              <a:t>introduction to OSI Reference Model and TCP/IP Protocol Suite</a:t>
            </a:r>
          </a:p>
          <a:p>
            <a:pPr algn="l">
              <a:buNone/>
            </a:pPr>
            <a:r>
              <a:rPr lang="en-IN" b="0" i="0" dirty="0">
                <a:effectLst/>
                <a:latin typeface="fkGroteskNeue"/>
              </a:rPr>
              <a:t>The OSI (Open Systems Interconnection) Reference Model and the TCP/IP Protocol Suite are foundational frameworks for understanding and implementing network communications.</a:t>
            </a:r>
          </a:p>
        </p:txBody>
      </p:sp>
      <p:sp>
        <p:nvSpPr>
          <p:cNvPr id="14" name="TextBox 13">
            <a:extLst>
              <a:ext uri="{FF2B5EF4-FFF2-40B4-BE49-F238E27FC236}">
                <a16:creationId xmlns:a16="http://schemas.microsoft.com/office/drawing/2014/main" id="{A1228D10-1F00-610D-4E90-14624117C3D4}"/>
              </a:ext>
            </a:extLst>
          </p:cNvPr>
          <p:cNvSpPr txBox="1"/>
          <p:nvPr/>
        </p:nvSpPr>
        <p:spPr>
          <a:xfrm>
            <a:off x="785191" y="2690336"/>
            <a:ext cx="8577470" cy="1477328"/>
          </a:xfrm>
          <a:prstGeom prst="rect">
            <a:avLst/>
          </a:prstGeom>
          <a:noFill/>
        </p:spPr>
        <p:txBody>
          <a:bodyPr wrap="square">
            <a:spAutoFit/>
          </a:bodyPr>
          <a:lstStyle/>
          <a:p>
            <a:pPr algn="l">
              <a:buNone/>
            </a:pPr>
            <a:r>
              <a:rPr lang="en-US" b="1" i="0" dirty="0">
                <a:effectLst/>
                <a:latin typeface="fkGrotesk"/>
              </a:rPr>
              <a:t>OSI Reference Model</a:t>
            </a:r>
          </a:p>
          <a:p>
            <a:pPr algn="l">
              <a:buNone/>
            </a:pPr>
            <a:endParaRPr lang="en-US" b="0" i="0" dirty="0">
              <a:effectLst/>
              <a:latin typeface="fkGrotesk"/>
            </a:endParaRPr>
          </a:p>
          <a:p>
            <a:pPr algn="l">
              <a:buNone/>
            </a:pPr>
            <a:r>
              <a:rPr lang="en-US" b="0" i="0" dirty="0">
                <a:effectLst/>
                <a:latin typeface="fkGroteskNeue"/>
              </a:rPr>
              <a:t>The OSI model is a conceptual framework developed by the International Organization for Standardization (ISO) that divides network communication into seven abstract layers to standardize and guide interoperability between different systems and technologies.</a:t>
            </a:r>
          </a:p>
        </p:txBody>
      </p:sp>
    </p:spTree>
    <p:extLst>
      <p:ext uri="{BB962C8B-B14F-4D97-AF65-F5344CB8AC3E}">
        <p14:creationId xmlns:p14="http://schemas.microsoft.com/office/powerpoint/2010/main" val="1606121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62AEB-49EE-56E1-1FF9-A292330406C6}"/>
            </a:ext>
          </a:extLst>
        </p:cNvPr>
        <p:cNvGrpSpPr/>
        <p:nvPr/>
      </p:nvGrpSpPr>
      <p:grpSpPr>
        <a:xfrm>
          <a:off x="0" y="0"/>
          <a:ext cx="0" cy="0"/>
          <a:chOff x="0" y="0"/>
          <a:chExt cx="0" cy="0"/>
        </a:xfrm>
      </p:grpSpPr>
      <p:pic>
        <p:nvPicPr>
          <p:cNvPr id="4098" name="Picture 2" descr="OSI Model 7 layers - physical, data link, network, transport, session, presentation, application">
            <a:extLst>
              <a:ext uri="{FF2B5EF4-FFF2-40B4-BE49-F238E27FC236}">
                <a16:creationId xmlns:a16="http://schemas.microsoft.com/office/drawing/2014/main" id="{29787D56-4AEF-1642-5E6B-D5269490D31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558" t="6560" r="16647" b="4640"/>
          <a:stretch>
            <a:fillRect/>
          </a:stretch>
        </p:blipFill>
        <p:spPr bwMode="auto">
          <a:xfrm>
            <a:off x="695740" y="735496"/>
            <a:ext cx="8398564" cy="5516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869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7E01F-5ECC-0811-23DF-23794F2571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22DC5A1-5DA8-52DC-3ADA-56A7461DC07C}"/>
              </a:ext>
            </a:extLst>
          </p:cNvPr>
          <p:cNvSpPr txBox="1"/>
          <p:nvPr/>
        </p:nvSpPr>
        <p:spPr>
          <a:xfrm>
            <a:off x="914400" y="2862322"/>
            <a:ext cx="8120269" cy="3970318"/>
          </a:xfrm>
          <a:prstGeom prst="rect">
            <a:avLst/>
          </a:prstGeom>
          <a:noFill/>
        </p:spPr>
        <p:txBody>
          <a:bodyPr wrap="square">
            <a:spAutoFit/>
          </a:bodyPr>
          <a:lstStyle/>
          <a:p>
            <a:pPr algn="l"/>
            <a:r>
              <a:rPr lang="en-US" b="1" i="0" dirty="0">
                <a:effectLst/>
                <a:latin typeface="fkGroteskNeue"/>
              </a:rPr>
              <a:t>4.Transport Layer</a:t>
            </a:r>
            <a:r>
              <a:rPr lang="en-US" b="0" i="0" dirty="0">
                <a:effectLst/>
                <a:latin typeface="fkGroteskNeue"/>
              </a:rPr>
              <a:t>: Provides reliable data transfer, flow control, error recovery, and segmentation of data into smaller units.</a:t>
            </a:r>
          </a:p>
          <a:p>
            <a:pPr algn="l"/>
            <a:endParaRPr lang="en-US" b="0" i="0" dirty="0">
              <a:effectLst/>
              <a:latin typeface="fkGroteskNeue"/>
            </a:endParaRPr>
          </a:p>
          <a:p>
            <a:pPr algn="l"/>
            <a:r>
              <a:rPr lang="en-US" b="1" dirty="0">
                <a:latin typeface="fkGroteskNeue"/>
              </a:rPr>
              <a:t>5</a:t>
            </a:r>
            <a:r>
              <a:rPr lang="en-US" b="1" i="0" dirty="0">
                <a:effectLst/>
                <a:latin typeface="fkGroteskNeue"/>
              </a:rPr>
              <a:t>.Session Layer: </a:t>
            </a:r>
            <a:r>
              <a:rPr lang="en-US" b="0" i="0" dirty="0">
                <a:effectLst/>
                <a:latin typeface="fkGroteskNeue"/>
              </a:rPr>
              <a:t>Manages sessions or dialogues between applications by establishing, maintaining, and terminating connections.</a:t>
            </a:r>
          </a:p>
          <a:p>
            <a:pPr algn="l"/>
            <a:endParaRPr lang="en-US" b="0" i="0" dirty="0">
              <a:effectLst/>
              <a:latin typeface="fkGroteskNeue"/>
            </a:endParaRPr>
          </a:p>
          <a:p>
            <a:pPr algn="l"/>
            <a:r>
              <a:rPr lang="en-US" b="1" dirty="0">
                <a:latin typeface="fkGroteskNeue"/>
              </a:rPr>
              <a:t>6</a:t>
            </a:r>
            <a:r>
              <a:rPr lang="en-US" b="1" i="0" dirty="0">
                <a:effectLst/>
                <a:latin typeface="fkGroteskNeue"/>
              </a:rPr>
              <a:t>.Presentation Layer: </a:t>
            </a:r>
            <a:r>
              <a:rPr lang="en-US" b="0" i="0" dirty="0">
                <a:effectLst/>
                <a:latin typeface="fkGroteskNeue"/>
              </a:rPr>
              <a:t>Translates data formats, handles encryption/decryption, and data compression/decompression to ensure data is readable at the application layer.</a:t>
            </a:r>
          </a:p>
          <a:p>
            <a:pPr algn="l"/>
            <a:endParaRPr lang="en-US" b="0" i="0" dirty="0">
              <a:effectLst/>
              <a:latin typeface="fkGroteskNeue"/>
            </a:endParaRPr>
          </a:p>
          <a:p>
            <a:pPr algn="l"/>
            <a:r>
              <a:rPr lang="en-US" b="1" i="0" dirty="0">
                <a:effectLst/>
                <a:latin typeface="fkGroteskNeue"/>
              </a:rPr>
              <a:t>7.Application Layer: </a:t>
            </a:r>
            <a:r>
              <a:rPr lang="en-US" b="0" i="0" dirty="0">
                <a:effectLst/>
                <a:latin typeface="fkGroteskNeue"/>
              </a:rPr>
              <a:t>The top layer directly facing end-user applications, providing network services such as HTTP, FTP, SMTP, and DNS.</a:t>
            </a:r>
          </a:p>
          <a:p>
            <a:pPr algn="l"/>
            <a:endParaRPr lang="en-US" b="0" i="0" dirty="0">
              <a:effectLst/>
              <a:latin typeface="fkGroteskNeue"/>
            </a:endParaRPr>
          </a:p>
          <a:p>
            <a:pPr algn="l">
              <a:buNone/>
            </a:pPr>
            <a:r>
              <a:rPr lang="en-US" b="0" i="0" dirty="0">
                <a:effectLst/>
                <a:latin typeface="fkGroteskNeue"/>
              </a:rPr>
              <a:t>Each layer serves the layer above it and is served by the layer below it, creating a modular approach to network communication.</a:t>
            </a:r>
          </a:p>
        </p:txBody>
      </p:sp>
      <p:sp>
        <p:nvSpPr>
          <p:cNvPr id="5" name="TextBox 4">
            <a:extLst>
              <a:ext uri="{FF2B5EF4-FFF2-40B4-BE49-F238E27FC236}">
                <a16:creationId xmlns:a16="http://schemas.microsoft.com/office/drawing/2014/main" id="{4990C491-5E05-CF5E-31E0-5B3061F538ED}"/>
              </a:ext>
            </a:extLst>
          </p:cNvPr>
          <p:cNvSpPr txBox="1"/>
          <p:nvPr/>
        </p:nvSpPr>
        <p:spPr>
          <a:xfrm>
            <a:off x="914400" y="0"/>
            <a:ext cx="8865704" cy="2862322"/>
          </a:xfrm>
          <a:prstGeom prst="rect">
            <a:avLst/>
          </a:prstGeom>
          <a:noFill/>
        </p:spPr>
        <p:txBody>
          <a:bodyPr wrap="square">
            <a:spAutoFit/>
          </a:bodyPr>
          <a:lstStyle/>
          <a:p>
            <a:pPr algn="l">
              <a:buNone/>
            </a:pPr>
            <a:r>
              <a:rPr lang="en-US" b="0" i="0" dirty="0">
                <a:effectLst/>
                <a:latin typeface="fkGrotesk"/>
              </a:rPr>
              <a:t>OSI Model Layers (from bottom to top):</a:t>
            </a:r>
          </a:p>
          <a:p>
            <a:pPr algn="l">
              <a:buNone/>
            </a:pPr>
            <a:endParaRPr lang="en-US" b="0" i="0" dirty="0">
              <a:effectLst/>
              <a:latin typeface="fkGrotesk"/>
            </a:endParaRPr>
          </a:p>
          <a:p>
            <a:pPr algn="l">
              <a:buFont typeface="+mj-lt"/>
              <a:buAutoNum type="arabicPeriod"/>
            </a:pPr>
            <a:r>
              <a:rPr lang="en-US" b="1" i="0" dirty="0">
                <a:effectLst/>
                <a:latin typeface="fkGroteskNeue"/>
              </a:rPr>
              <a:t>Physical Layer: </a:t>
            </a:r>
            <a:r>
              <a:rPr lang="en-US" b="0" i="0" dirty="0">
                <a:effectLst/>
                <a:latin typeface="fkGroteskNeue"/>
              </a:rPr>
              <a:t>Handles transmission and reception of raw bit streams over a physical medium like cables or wireless.</a:t>
            </a:r>
          </a:p>
          <a:p>
            <a:pPr algn="l"/>
            <a:endParaRPr lang="en-US" b="0" i="0" dirty="0">
              <a:effectLst/>
              <a:latin typeface="fkGroteskNeue"/>
            </a:endParaRPr>
          </a:p>
          <a:p>
            <a:pPr algn="l"/>
            <a:r>
              <a:rPr lang="en-US" b="1" i="0" dirty="0">
                <a:effectLst/>
                <a:latin typeface="fkGroteskNeue"/>
              </a:rPr>
              <a:t>2.Data Link Layer: </a:t>
            </a:r>
            <a:r>
              <a:rPr lang="en-US" b="0" i="0" dirty="0">
                <a:effectLst/>
                <a:latin typeface="fkGroteskNeue"/>
              </a:rPr>
              <a:t>Provides node-to-node data transfer, framing, error detection/correction, and manages access to the physical medium.</a:t>
            </a:r>
          </a:p>
          <a:p>
            <a:pPr algn="l"/>
            <a:endParaRPr lang="en-US" b="0" i="0" dirty="0">
              <a:effectLst/>
              <a:latin typeface="fkGroteskNeue"/>
            </a:endParaRPr>
          </a:p>
          <a:p>
            <a:pPr algn="l"/>
            <a:r>
              <a:rPr lang="en-US" b="1" i="0" dirty="0">
                <a:effectLst/>
                <a:latin typeface="fkGroteskNeue"/>
              </a:rPr>
              <a:t>3.Network Layer</a:t>
            </a:r>
            <a:r>
              <a:rPr lang="en-US" b="0" i="0" dirty="0">
                <a:effectLst/>
                <a:latin typeface="fkGroteskNeue"/>
              </a:rPr>
              <a:t>: Responsible for logical addressing (IP addressing), routing, and forwarding packets across multiple networks.</a:t>
            </a:r>
          </a:p>
        </p:txBody>
      </p:sp>
    </p:spTree>
    <p:extLst>
      <p:ext uri="{BB962C8B-B14F-4D97-AF65-F5344CB8AC3E}">
        <p14:creationId xmlns:p14="http://schemas.microsoft.com/office/powerpoint/2010/main" val="2127012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B406C-1F55-E217-D9A1-F93DFC2172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9AFDDA-B7F6-76CD-1605-0ACA5C4FF36E}"/>
              </a:ext>
            </a:extLst>
          </p:cNvPr>
          <p:cNvSpPr txBox="1"/>
          <p:nvPr/>
        </p:nvSpPr>
        <p:spPr>
          <a:xfrm>
            <a:off x="914400" y="174227"/>
            <a:ext cx="8368748" cy="5632311"/>
          </a:xfrm>
          <a:prstGeom prst="rect">
            <a:avLst/>
          </a:prstGeom>
          <a:noFill/>
        </p:spPr>
        <p:txBody>
          <a:bodyPr wrap="square">
            <a:spAutoFit/>
          </a:bodyPr>
          <a:lstStyle/>
          <a:p>
            <a:pPr algn="l">
              <a:buNone/>
            </a:pPr>
            <a:r>
              <a:rPr lang="en-US" b="1" i="0" dirty="0">
                <a:effectLst/>
                <a:latin typeface="fkGrotesk"/>
              </a:rPr>
              <a:t>TCP/IP Protocol Suite</a:t>
            </a:r>
          </a:p>
          <a:p>
            <a:pPr algn="l">
              <a:buNone/>
            </a:pPr>
            <a:endParaRPr lang="en-US" b="0" i="0" dirty="0">
              <a:effectLst/>
              <a:latin typeface="fkGrotesk"/>
            </a:endParaRPr>
          </a:p>
          <a:p>
            <a:pPr algn="l">
              <a:buNone/>
            </a:pPr>
            <a:r>
              <a:rPr lang="en-US" b="0" i="0" dirty="0">
                <a:effectLst/>
                <a:latin typeface="fkGroteskNeue"/>
              </a:rPr>
              <a:t>The TCP/IP suite is the practical and dominant protocol set used on the Internet, derived from the OSI concepts but more streamlined. It is structured into four abstraction layers:</a:t>
            </a:r>
          </a:p>
          <a:p>
            <a:pPr algn="l">
              <a:buNone/>
            </a:pPr>
            <a:endParaRPr lang="en-US" b="0" i="0" dirty="0">
              <a:effectLst/>
              <a:latin typeface="fkGroteskNeue"/>
            </a:endParaRPr>
          </a:p>
          <a:p>
            <a:pPr algn="l"/>
            <a:r>
              <a:rPr lang="en-US" b="1" i="0" dirty="0">
                <a:effectLst/>
                <a:latin typeface="fkGroteskNeue"/>
              </a:rPr>
              <a:t>1.Link Layer (Network Interface): </a:t>
            </a:r>
            <a:r>
              <a:rPr lang="en-US" b="0" i="0" dirty="0">
                <a:effectLst/>
                <a:latin typeface="fkGroteskNeue"/>
              </a:rPr>
              <a:t>Corresponds to OSI’s physical and data link layers. It handles hardware addressing and the physical transmission.</a:t>
            </a:r>
          </a:p>
          <a:p>
            <a:pPr algn="l"/>
            <a:endParaRPr lang="en-US" b="0" i="0" dirty="0">
              <a:effectLst/>
              <a:latin typeface="fkGroteskNeue"/>
            </a:endParaRPr>
          </a:p>
          <a:p>
            <a:pPr algn="l"/>
            <a:r>
              <a:rPr lang="en-US" b="1" i="0" dirty="0">
                <a:effectLst/>
                <a:latin typeface="fkGroteskNeue"/>
              </a:rPr>
              <a:t>2.Internet Layer: </a:t>
            </a:r>
            <a:r>
              <a:rPr lang="en-US" b="0" i="0" dirty="0">
                <a:effectLst/>
                <a:latin typeface="fkGroteskNeue"/>
              </a:rPr>
              <a:t>Maps to OSI’s network layer, responsible for logical addressing and routing of packets, primarily using the Internet Protocol (IP).</a:t>
            </a:r>
          </a:p>
          <a:p>
            <a:pPr algn="l"/>
            <a:endParaRPr lang="en-US" b="0" i="0" dirty="0">
              <a:effectLst/>
              <a:latin typeface="fkGroteskNeue"/>
            </a:endParaRPr>
          </a:p>
          <a:p>
            <a:pPr algn="l"/>
            <a:r>
              <a:rPr lang="en-US" b="1" i="0" dirty="0">
                <a:effectLst/>
                <a:latin typeface="fkGroteskNeue"/>
              </a:rPr>
              <a:t>3.Transport Layer: </a:t>
            </a:r>
            <a:r>
              <a:rPr lang="en-US" b="0" i="0" dirty="0">
                <a:effectLst/>
                <a:latin typeface="fkGroteskNeue"/>
              </a:rPr>
              <a:t>Corresponds to OSI’s transport layer, providing end-to-end communication services. Key protocols include Transmission Control Protocol (TCP) for reliable communication and User Datagram Protocol (UDP) for faster, connectionless transmissions.</a:t>
            </a:r>
          </a:p>
          <a:p>
            <a:pPr algn="l"/>
            <a:endParaRPr lang="en-US" b="0" i="0" dirty="0">
              <a:effectLst/>
              <a:latin typeface="fkGroteskNeue"/>
            </a:endParaRPr>
          </a:p>
          <a:p>
            <a:pPr algn="l"/>
            <a:r>
              <a:rPr lang="en-US" b="1" i="0" dirty="0">
                <a:effectLst/>
                <a:latin typeface="fkGroteskNeue"/>
              </a:rPr>
              <a:t>4.Application Layer: </a:t>
            </a:r>
            <a:r>
              <a:rPr lang="en-US" b="0" i="0" dirty="0">
                <a:effectLst/>
                <a:latin typeface="fkGroteskNeue"/>
              </a:rPr>
              <a:t>Combines OSI’s session, presentation, and application layers. It handles protocols such as HTTP, FTP, SMTP, DNS, and others that provide services directly to applications.</a:t>
            </a:r>
          </a:p>
        </p:txBody>
      </p:sp>
    </p:spTree>
    <p:extLst>
      <p:ext uri="{BB962C8B-B14F-4D97-AF65-F5344CB8AC3E}">
        <p14:creationId xmlns:p14="http://schemas.microsoft.com/office/powerpoint/2010/main" val="706709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7F72F-499E-9535-48DD-5817592044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25A98FE-D5AA-D6B3-4D48-2E95F3AB017E}"/>
              </a:ext>
            </a:extLst>
          </p:cNvPr>
          <p:cNvPicPr>
            <a:picLocks noChangeAspect="1"/>
          </p:cNvPicPr>
          <p:nvPr/>
        </p:nvPicPr>
        <p:blipFill>
          <a:blip r:embed="rId2"/>
          <a:srcRect l="6138" t="-417" r="7148" b="5130"/>
          <a:stretch>
            <a:fillRect/>
          </a:stretch>
        </p:blipFill>
        <p:spPr>
          <a:xfrm>
            <a:off x="1162879" y="0"/>
            <a:ext cx="7692886" cy="3319561"/>
          </a:xfrm>
          <a:prstGeom prst="rect">
            <a:avLst/>
          </a:prstGeom>
        </p:spPr>
      </p:pic>
      <p:sp>
        <p:nvSpPr>
          <p:cNvPr id="7" name="TextBox 6">
            <a:extLst>
              <a:ext uri="{FF2B5EF4-FFF2-40B4-BE49-F238E27FC236}">
                <a16:creationId xmlns:a16="http://schemas.microsoft.com/office/drawing/2014/main" id="{B9F3C992-FF21-8838-CBDB-8F0045873864}"/>
              </a:ext>
            </a:extLst>
          </p:cNvPr>
          <p:cNvSpPr txBox="1"/>
          <p:nvPr/>
        </p:nvSpPr>
        <p:spPr>
          <a:xfrm>
            <a:off x="357809" y="3772101"/>
            <a:ext cx="9362661" cy="1200329"/>
          </a:xfrm>
          <a:prstGeom prst="rect">
            <a:avLst/>
          </a:prstGeom>
          <a:noFill/>
        </p:spPr>
        <p:txBody>
          <a:bodyPr wrap="square">
            <a:spAutoFit/>
          </a:bodyPr>
          <a:lstStyle/>
          <a:p>
            <a:pPr algn="l" fontAlgn="base">
              <a:buNone/>
            </a:pPr>
            <a:r>
              <a:rPr lang="en-US" b="1" i="0" dirty="0">
                <a:effectLst/>
                <a:latin typeface="Nunito" panose="020F0502020204030204" pitchFamily="2" charset="0"/>
              </a:rPr>
              <a:t>Working of TCP/IP Model</a:t>
            </a:r>
          </a:p>
          <a:p>
            <a:pPr algn="l" fontAlgn="base">
              <a:buNone/>
            </a:pPr>
            <a:endParaRPr lang="en-US" b="1" i="0" dirty="0">
              <a:effectLst/>
              <a:latin typeface="Nunito" panose="020F0502020204030204" pitchFamily="2" charset="0"/>
            </a:endParaRPr>
          </a:p>
          <a:p>
            <a:pPr algn="l" rtl="0" fontAlgn="base">
              <a:spcAft>
                <a:spcPts val="750"/>
              </a:spcAft>
              <a:buNone/>
            </a:pPr>
            <a:r>
              <a:rPr lang="en-US" b="0" i="0" dirty="0">
                <a:effectLst/>
                <a:latin typeface="Nunito" panose="020F0502020204030204" pitchFamily="2" charset="0"/>
              </a:rPr>
              <a:t>The working of TCP/IP can be explained with the help of the diagram given below and explained </a:t>
            </a:r>
            <a:r>
              <a:rPr lang="en-US" b="0" i="0" dirty="0">
                <a:solidFill>
                  <a:srgbClr val="FFFFFF"/>
                </a:solidFill>
                <a:effectLst/>
                <a:latin typeface="Nunito" panose="020F0502020204030204" pitchFamily="2" charset="0"/>
              </a:rPr>
              <a:t>:</a:t>
            </a:r>
          </a:p>
        </p:txBody>
      </p:sp>
    </p:spTree>
    <p:extLst>
      <p:ext uri="{BB962C8B-B14F-4D97-AF65-F5344CB8AC3E}">
        <p14:creationId xmlns:p14="http://schemas.microsoft.com/office/powerpoint/2010/main" val="2210749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A8C5F-B4BB-B072-8337-20E97399C34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B3EF97F-2063-D7B6-1CAB-351899E04523}"/>
              </a:ext>
            </a:extLst>
          </p:cNvPr>
          <p:cNvPicPr>
            <a:picLocks noChangeAspect="1"/>
          </p:cNvPicPr>
          <p:nvPr/>
        </p:nvPicPr>
        <p:blipFill>
          <a:blip r:embed="rId2"/>
          <a:stretch>
            <a:fillRect/>
          </a:stretch>
        </p:blipFill>
        <p:spPr>
          <a:xfrm>
            <a:off x="954157" y="715617"/>
            <a:ext cx="8189843" cy="4527895"/>
          </a:xfrm>
          <a:prstGeom prst="rect">
            <a:avLst/>
          </a:prstGeom>
        </p:spPr>
      </p:pic>
    </p:spTree>
    <p:extLst>
      <p:ext uri="{BB962C8B-B14F-4D97-AF65-F5344CB8AC3E}">
        <p14:creationId xmlns:p14="http://schemas.microsoft.com/office/powerpoint/2010/main" val="2041566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695D4-94A3-7815-CC46-EB9990EEA6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DEDBDF-B075-3298-D08A-33C1D724455C}"/>
              </a:ext>
            </a:extLst>
          </p:cNvPr>
          <p:cNvSpPr txBox="1"/>
          <p:nvPr/>
        </p:nvSpPr>
        <p:spPr>
          <a:xfrm>
            <a:off x="800100" y="89452"/>
            <a:ext cx="8547652" cy="3231654"/>
          </a:xfrm>
          <a:prstGeom prst="rect">
            <a:avLst/>
          </a:prstGeom>
          <a:noFill/>
        </p:spPr>
        <p:txBody>
          <a:bodyPr wrap="square">
            <a:spAutoFit/>
          </a:bodyPr>
          <a:lstStyle/>
          <a:p>
            <a:pPr marL="285750" indent="-285750" algn="l" fontAlgn="base">
              <a:spcBef>
                <a:spcPts val="1800"/>
              </a:spcBef>
              <a:spcAft>
                <a:spcPts val="1800"/>
              </a:spcAft>
              <a:buFont typeface="Wingdings" panose="05000000000000000000" pitchFamily="2" charset="2"/>
              <a:buChar char="q"/>
            </a:pPr>
            <a:r>
              <a:rPr lang="en-IN" b="1" i="0" dirty="0">
                <a:effectLst/>
                <a:latin typeface="Nunito" pitchFamily="2" charset="0"/>
              </a:rPr>
              <a:t>When Sending Data (From Sender to Receiver)</a:t>
            </a:r>
          </a:p>
          <a:p>
            <a:pPr algn="l" fontAlgn="base">
              <a:spcAft>
                <a:spcPts val="1800"/>
              </a:spcAft>
              <a:buFont typeface="Arial" panose="020B0604020202020204" pitchFamily="34" charset="0"/>
              <a:buChar char="•"/>
            </a:pPr>
            <a:r>
              <a:rPr lang="en-IN" b="1" i="0" dirty="0">
                <a:effectLst/>
                <a:latin typeface="Nunito" pitchFamily="2" charset="0"/>
              </a:rPr>
              <a:t>Application Layer</a:t>
            </a:r>
            <a:r>
              <a:rPr lang="en-IN" b="0" i="0" dirty="0">
                <a:effectLst/>
                <a:latin typeface="Nunito" pitchFamily="2" charset="0"/>
              </a:rPr>
              <a:t>: Prepares user data using protocols like HTTP, FTP, or SMTP.</a:t>
            </a:r>
          </a:p>
          <a:p>
            <a:pPr algn="l" fontAlgn="base">
              <a:spcAft>
                <a:spcPts val="1800"/>
              </a:spcAft>
              <a:buFont typeface="Arial" panose="020B0604020202020204" pitchFamily="34" charset="0"/>
              <a:buChar char="•"/>
            </a:pPr>
            <a:r>
              <a:rPr lang="en-IN" b="1" i="0" dirty="0">
                <a:effectLst/>
                <a:latin typeface="Nunito" pitchFamily="2" charset="0"/>
              </a:rPr>
              <a:t>Transport Layer (TCP/UDP)</a:t>
            </a:r>
            <a:r>
              <a:rPr lang="en-IN" b="0" i="0" dirty="0">
                <a:effectLst/>
                <a:latin typeface="Nunito" pitchFamily="2" charset="0"/>
              </a:rPr>
              <a:t>: Breaks data into segments and ensures reliable (TCP) or fast (UDP) delivery.</a:t>
            </a:r>
          </a:p>
          <a:p>
            <a:pPr algn="l" fontAlgn="base">
              <a:spcAft>
                <a:spcPts val="1800"/>
              </a:spcAft>
              <a:buFont typeface="Arial" panose="020B0604020202020204" pitchFamily="34" charset="0"/>
              <a:buChar char="•"/>
            </a:pPr>
            <a:r>
              <a:rPr lang="en-IN" b="1" i="0" dirty="0">
                <a:effectLst/>
                <a:latin typeface="Nunito" pitchFamily="2" charset="0"/>
              </a:rPr>
              <a:t>Internet Layer (IP)</a:t>
            </a:r>
            <a:r>
              <a:rPr lang="en-IN" b="0" i="0" dirty="0">
                <a:effectLst/>
                <a:latin typeface="Nunito" pitchFamily="2" charset="0"/>
              </a:rPr>
              <a:t>: Adds IP addresses and decides the best route for each packet.</a:t>
            </a:r>
          </a:p>
          <a:p>
            <a:pPr algn="l" fontAlgn="base">
              <a:spcAft>
                <a:spcPts val="1800"/>
              </a:spcAft>
              <a:buFont typeface="Arial" panose="020B0604020202020204" pitchFamily="34" charset="0"/>
              <a:buChar char="•"/>
            </a:pPr>
            <a:r>
              <a:rPr lang="en-IN" b="1" i="0" dirty="0">
                <a:effectLst/>
                <a:latin typeface="Nunito" pitchFamily="2" charset="0"/>
              </a:rPr>
              <a:t>Link Layer (Network Access Layer)</a:t>
            </a:r>
            <a:r>
              <a:rPr lang="en-IN" b="0" i="0" dirty="0">
                <a:effectLst/>
                <a:latin typeface="Nunito" pitchFamily="2" charset="0"/>
              </a:rPr>
              <a:t>: Converts packets into frames and sends them over the physical network.</a:t>
            </a:r>
          </a:p>
        </p:txBody>
      </p:sp>
      <p:sp>
        <p:nvSpPr>
          <p:cNvPr id="5" name="TextBox 4">
            <a:extLst>
              <a:ext uri="{FF2B5EF4-FFF2-40B4-BE49-F238E27FC236}">
                <a16:creationId xmlns:a16="http://schemas.microsoft.com/office/drawing/2014/main" id="{9C91DBE6-96C5-04C2-D963-C551B40BCAF6}"/>
              </a:ext>
            </a:extLst>
          </p:cNvPr>
          <p:cNvSpPr txBox="1"/>
          <p:nvPr/>
        </p:nvSpPr>
        <p:spPr>
          <a:xfrm>
            <a:off x="536714" y="3626347"/>
            <a:ext cx="9372600" cy="3231654"/>
          </a:xfrm>
          <a:prstGeom prst="rect">
            <a:avLst/>
          </a:prstGeom>
          <a:noFill/>
        </p:spPr>
        <p:txBody>
          <a:bodyPr wrap="square">
            <a:spAutoFit/>
          </a:bodyPr>
          <a:lstStyle/>
          <a:p>
            <a:pPr marL="285750" indent="-285750" algn="l" fontAlgn="base">
              <a:spcBef>
                <a:spcPts val="1800"/>
              </a:spcBef>
              <a:spcAft>
                <a:spcPts val="1800"/>
              </a:spcAft>
              <a:buFont typeface="Wingdings" panose="05000000000000000000" pitchFamily="2" charset="2"/>
              <a:buChar char="q"/>
            </a:pPr>
            <a:r>
              <a:rPr lang="en-US" b="1" i="0" dirty="0">
                <a:effectLst/>
                <a:latin typeface="Nunito" pitchFamily="2" charset="0"/>
              </a:rPr>
              <a:t>When Receiving Data (At the Destination)</a:t>
            </a:r>
          </a:p>
          <a:p>
            <a:pPr algn="l" fontAlgn="base">
              <a:spcAft>
                <a:spcPts val="1800"/>
              </a:spcAft>
              <a:buFont typeface="Arial" panose="020B0604020202020204" pitchFamily="34" charset="0"/>
              <a:buChar char="•"/>
            </a:pPr>
            <a:r>
              <a:rPr lang="en-US" b="1" i="0" dirty="0">
                <a:effectLst/>
                <a:latin typeface="Nunito" pitchFamily="2" charset="0"/>
              </a:rPr>
              <a:t>Link Layer</a:t>
            </a:r>
            <a:r>
              <a:rPr lang="en-US" b="0" i="0" dirty="0">
                <a:effectLst/>
                <a:latin typeface="Nunito" pitchFamily="2" charset="0"/>
              </a:rPr>
              <a:t>: Receives bits from the network and rebuilds frames to pass to the next layer.</a:t>
            </a:r>
          </a:p>
          <a:p>
            <a:pPr algn="l" fontAlgn="base">
              <a:spcAft>
                <a:spcPts val="1800"/>
              </a:spcAft>
              <a:buFont typeface="Arial" panose="020B0604020202020204" pitchFamily="34" charset="0"/>
              <a:buChar char="•"/>
            </a:pPr>
            <a:r>
              <a:rPr lang="en-US" b="1" i="0" dirty="0">
                <a:effectLst/>
                <a:latin typeface="Nunito" pitchFamily="2" charset="0"/>
              </a:rPr>
              <a:t>Internet Layer</a:t>
            </a:r>
            <a:r>
              <a:rPr lang="en-US" b="0" i="0" dirty="0">
                <a:effectLst/>
                <a:latin typeface="Nunito" pitchFamily="2" charset="0"/>
              </a:rPr>
              <a:t>: Checks the IP address, removes the IP header, and forwards data to the Transport Layer.</a:t>
            </a:r>
          </a:p>
          <a:p>
            <a:pPr algn="l" fontAlgn="base">
              <a:spcAft>
                <a:spcPts val="1800"/>
              </a:spcAft>
              <a:buFont typeface="Arial" panose="020B0604020202020204" pitchFamily="34" charset="0"/>
              <a:buChar char="•"/>
            </a:pPr>
            <a:r>
              <a:rPr lang="en-US" b="1" i="0" dirty="0">
                <a:effectLst/>
                <a:latin typeface="Nunito" pitchFamily="2" charset="0"/>
              </a:rPr>
              <a:t>Transport Layer</a:t>
            </a:r>
            <a:r>
              <a:rPr lang="en-US" b="0" i="0" dirty="0">
                <a:effectLst/>
                <a:latin typeface="Nunito" pitchFamily="2" charset="0"/>
              </a:rPr>
              <a:t>: Reassembles segments, checks for errors, and ensures data is complete.</a:t>
            </a:r>
          </a:p>
          <a:p>
            <a:pPr algn="l" fontAlgn="base">
              <a:spcAft>
                <a:spcPts val="1800"/>
              </a:spcAft>
              <a:buFont typeface="Arial" panose="020B0604020202020204" pitchFamily="34" charset="0"/>
              <a:buChar char="•"/>
            </a:pPr>
            <a:r>
              <a:rPr lang="en-US" b="1" i="0" dirty="0">
                <a:effectLst/>
                <a:latin typeface="Nunito" pitchFamily="2" charset="0"/>
              </a:rPr>
              <a:t>Application Layer</a:t>
            </a:r>
            <a:r>
              <a:rPr lang="en-US" b="0" i="0" dirty="0">
                <a:effectLst/>
                <a:latin typeface="Nunito" pitchFamily="2" charset="0"/>
              </a:rPr>
              <a:t>: Delivers the final data to the correct application (e.g., displays a web page in the browser).</a:t>
            </a:r>
          </a:p>
        </p:txBody>
      </p:sp>
    </p:spTree>
    <p:extLst>
      <p:ext uri="{BB962C8B-B14F-4D97-AF65-F5344CB8AC3E}">
        <p14:creationId xmlns:p14="http://schemas.microsoft.com/office/powerpoint/2010/main" val="2543066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E74A0-E65F-43B3-CAFC-C7E231CBCE4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7BEDFC-3FEC-A185-085D-1511F3BF8FBF}"/>
              </a:ext>
            </a:extLst>
          </p:cNvPr>
          <p:cNvSpPr txBox="1"/>
          <p:nvPr/>
        </p:nvSpPr>
        <p:spPr>
          <a:xfrm>
            <a:off x="805070" y="117537"/>
            <a:ext cx="8408504" cy="369332"/>
          </a:xfrm>
          <a:prstGeom prst="rect">
            <a:avLst/>
          </a:prstGeom>
          <a:noFill/>
        </p:spPr>
        <p:txBody>
          <a:bodyPr wrap="square">
            <a:spAutoFit/>
          </a:bodyPr>
          <a:lstStyle/>
          <a:p>
            <a:r>
              <a:rPr lang="en-US" b="1" dirty="0"/>
              <a:t>1.5 Comparison between OSI and TCP/IP Protocol Suite, </a:t>
            </a:r>
            <a:endParaRPr lang="en-IN" b="1" dirty="0"/>
          </a:p>
        </p:txBody>
      </p:sp>
      <p:sp>
        <p:nvSpPr>
          <p:cNvPr id="5" name="TextBox 4">
            <a:extLst>
              <a:ext uri="{FF2B5EF4-FFF2-40B4-BE49-F238E27FC236}">
                <a16:creationId xmlns:a16="http://schemas.microsoft.com/office/drawing/2014/main" id="{A9D9F6DC-9576-772B-FF83-1C151213E96A}"/>
              </a:ext>
            </a:extLst>
          </p:cNvPr>
          <p:cNvSpPr txBox="1"/>
          <p:nvPr/>
        </p:nvSpPr>
        <p:spPr>
          <a:xfrm>
            <a:off x="805070" y="553998"/>
            <a:ext cx="8507896" cy="1754326"/>
          </a:xfrm>
          <a:prstGeom prst="rect">
            <a:avLst/>
          </a:prstGeom>
          <a:noFill/>
        </p:spPr>
        <p:txBody>
          <a:bodyPr wrap="square">
            <a:spAutoFit/>
          </a:bodyPr>
          <a:lstStyle/>
          <a:p>
            <a:pPr algn="l">
              <a:buNone/>
            </a:pPr>
            <a:r>
              <a:rPr lang="en-IN" b="0" i="0" dirty="0">
                <a:effectLst/>
                <a:latin typeface="fkGroteskNeue"/>
              </a:rPr>
              <a:t>The OSI (Open Systems Interconnection) model and TCP/IP (Transmission Control Protocol/Internet Protocol) suite are both layered frameworks for understanding and designing network communication protocols, but they differ significantly in structure and practical use.</a:t>
            </a:r>
          </a:p>
          <a:p>
            <a:pPr algn="l">
              <a:buNone/>
            </a:pPr>
            <a:endParaRPr lang="en-IN" b="0" i="0" dirty="0">
              <a:effectLst/>
              <a:latin typeface="fkGroteskNeue"/>
            </a:endParaRPr>
          </a:p>
          <a:p>
            <a:pPr algn="l">
              <a:buNone/>
            </a:pPr>
            <a:r>
              <a:rPr lang="en-IN" b="0" i="0" dirty="0">
                <a:effectLst/>
                <a:latin typeface="fkGrotesk"/>
              </a:rPr>
              <a:t>Comparison Between OSI and TCP/IP Protocol Suite</a:t>
            </a:r>
          </a:p>
        </p:txBody>
      </p:sp>
      <p:graphicFrame>
        <p:nvGraphicFramePr>
          <p:cNvPr id="6" name="Table 5">
            <a:extLst>
              <a:ext uri="{FF2B5EF4-FFF2-40B4-BE49-F238E27FC236}">
                <a16:creationId xmlns:a16="http://schemas.microsoft.com/office/drawing/2014/main" id="{1713D372-B449-6A82-A85A-D56C981DB345}"/>
              </a:ext>
            </a:extLst>
          </p:cNvPr>
          <p:cNvGraphicFramePr>
            <a:graphicFrameLocks noGrp="1"/>
          </p:cNvGraphicFramePr>
          <p:nvPr>
            <p:extLst>
              <p:ext uri="{D42A27DB-BD31-4B8C-83A1-F6EECF244321}">
                <p14:modId xmlns:p14="http://schemas.microsoft.com/office/powerpoint/2010/main" val="2025319718"/>
              </p:ext>
            </p:extLst>
          </p:nvPr>
        </p:nvGraphicFramePr>
        <p:xfrm>
          <a:off x="477078" y="2375453"/>
          <a:ext cx="9488866" cy="3985841"/>
        </p:xfrm>
        <a:graphic>
          <a:graphicData uri="http://schemas.openxmlformats.org/drawingml/2006/table">
            <a:tbl>
              <a:tblPr>
                <a:tableStyleId>{5940675A-B579-460E-94D1-54222C63F5DA}</a:tableStyleId>
              </a:tblPr>
              <a:tblGrid>
                <a:gridCol w="1599395">
                  <a:extLst>
                    <a:ext uri="{9D8B030D-6E8A-4147-A177-3AD203B41FA5}">
                      <a16:colId xmlns:a16="http://schemas.microsoft.com/office/drawing/2014/main" val="422800133"/>
                    </a:ext>
                  </a:extLst>
                </a:gridCol>
                <a:gridCol w="4576428">
                  <a:extLst>
                    <a:ext uri="{9D8B030D-6E8A-4147-A177-3AD203B41FA5}">
                      <a16:colId xmlns:a16="http://schemas.microsoft.com/office/drawing/2014/main" val="1164169258"/>
                    </a:ext>
                  </a:extLst>
                </a:gridCol>
                <a:gridCol w="3313043">
                  <a:extLst>
                    <a:ext uri="{9D8B030D-6E8A-4147-A177-3AD203B41FA5}">
                      <a16:colId xmlns:a16="http://schemas.microsoft.com/office/drawing/2014/main" val="2483167525"/>
                    </a:ext>
                  </a:extLst>
                </a:gridCol>
              </a:tblGrid>
              <a:tr h="172804">
                <a:tc>
                  <a:txBody>
                    <a:bodyPr/>
                    <a:lstStyle/>
                    <a:p>
                      <a:pPr algn="l">
                        <a:buNone/>
                      </a:pPr>
                      <a:r>
                        <a:rPr lang="en-IN" sz="1200" b="1">
                          <a:effectLst/>
                        </a:rPr>
                        <a:t>Feature/Aspect</a:t>
                      </a:r>
                    </a:p>
                  </a:txBody>
                  <a:tcPr marL="26585" marR="26585" marT="26585" marB="26585" anchor="ctr"/>
                </a:tc>
                <a:tc>
                  <a:txBody>
                    <a:bodyPr/>
                    <a:lstStyle/>
                    <a:p>
                      <a:pPr algn="l">
                        <a:buNone/>
                      </a:pPr>
                      <a:r>
                        <a:rPr lang="en-IN" sz="1200" b="1">
                          <a:effectLst/>
                        </a:rPr>
                        <a:t>OSI Model</a:t>
                      </a:r>
                    </a:p>
                  </a:txBody>
                  <a:tcPr marL="26585" marR="26585" marT="26585" marB="26585" anchor="ctr"/>
                </a:tc>
                <a:tc>
                  <a:txBody>
                    <a:bodyPr/>
                    <a:lstStyle/>
                    <a:p>
                      <a:pPr algn="l">
                        <a:buNone/>
                      </a:pPr>
                      <a:r>
                        <a:rPr lang="en-IN" sz="1200" b="1" dirty="0">
                          <a:effectLst/>
                        </a:rPr>
                        <a:t>TCP/IP Protocol Suite</a:t>
                      </a:r>
                    </a:p>
                  </a:txBody>
                  <a:tcPr marL="26585" marR="26585" marT="26585" marB="26585" anchor="ctr"/>
                </a:tc>
                <a:extLst>
                  <a:ext uri="{0D108BD9-81ED-4DB2-BD59-A6C34878D82A}">
                    <a16:rowId xmlns:a16="http://schemas.microsoft.com/office/drawing/2014/main" val="1318154318"/>
                  </a:ext>
                </a:extLst>
              </a:tr>
              <a:tr h="531704">
                <a:tc>
                  <a:txBody>
                    <a:bodyPr/>
                    <a:lstStyle/>
                    <a:p>
                      <a:pPr algn="l">
                        <a:buNone/>
                      </a:pPr>
                      <a:r>
                        <a:rPr lang="en-IN" sz="1200" dirty="0">
                          <a:effectLst/>
                        </a:rPr>
                        <a:t>Layers</a:t>
                      </a:r>
                    </a:p>
                  </a:txBody>
                  <a:tcPr marL="26585" marR="26585" marT="26585" marB="26585" anchor="ctr"/>
                </a:tc>
                <a:tc>
                  <a:txBody>
                    <a:bodyPr/>
                    <a:lstStyle/>
                    <a:p>
                      <a:pPr algn="l">
                        <a:buNone/>
                      </a:pPr>
                      <a:r>
                        <a:rPr lang="en-IN" sz="1200">
                          <a:effectLst/>
                        </a:rPr>
                        <a:t>7 (Physical, Data Link, Network, Transport, Session, Presentation, Application)</a:t>
                      </a:r>
                    </a:p>
                  </a:txBody>
                  <a:tcPr marL="26585" marR="26585" marT="26585" marB="26585" anchor="ctr"/>
                </a:tc>
                <a:tc>
                  <a:txBody>
                    <a:bodyPr/>
                    <a:lstStyle/>
                    <a:p>
                      <a:pPr algn="l">
                        <a:buNone/>
                      </a:pPr>
                      <a:r>
                        <a:rPr lang="en-IN" sz="1200">
                          <a:effectLst/>
                        </a:rPr>
                        <a:t>4 (Network Access, Internet, Transport, Application)</a:t>
                      </a:r>
                    </a:p>
                  </a:txBody>
                  <a:tcPr marL="26585" marR="26585" marT="26585" marB="26585" anchor="ctr"/>
                </a:tc>
                <a:extLst>
                  <a:ext uri="{0D108BD9-81ED-4DB2-BD59-A6C34878D82A}">
                    <a16:rowId xmlns:a16="http://schemas.microsoft.com/office/drawing/2014/main" val="1307416323"/>
                  </a:ext>
                </a:extLst>
              </a:tr>
              <a:tr h="412070">
                <a:tc>
                  <a:txBody>
                    <a:bodyPr/>
                    <a:lstStyle/>
                    <a:p>
                      <a:pPr algn="l">
                        <a:buNone/>
                      </a:pPr>
                      <a:r>
                        <a:rPr lang="en-IN" sz="1200" dirty="0">
                          <a:effectLst/>
                        </a:rPr>
                        <a:t>Design Approach</a:t>
                      </a:r>
                    </a:p>
                  </a:txBody>
                  <a:tcPr marL="26585" marR="26585" marT="26585" marB="26585" anchor="ctr"/>
                </a:tc>
                <a:tc>
                  <a:txBody>
                    <a:bodyPr/>
                    <a:lstStyle/>
                    <a:p>
                      <a:pPr algn="l">
                        <a:buNone/>
                      </a:pPr>
                      <a:r>
                        <a:rPr lang="en-US" sz="1200" dirty="0">
                          <a:effectLst/>
                        </a:rPr>
                        <a:t>Theoretical, protocol-agnostic, used for teaching and analysis</a:t>
                      </a:r>
                    </a:p>
                  </a:txBody>
                  <a:tcPr marL="26585" marR="26585" marT="26585" marB="26585" anchor="ctr"/>
                </a:tc>
                <a:tc>
                  <a:txBody>
                    <a:bodyPr/>
                    <a:lstStyle/>
                    <a:p>
                      <a:pPr algn="l">
                        <a:buNone/>
                      </a:pPr>
                      <a:r>
                        <a:rPr lang="en-US" sz="1200">
                          <a:effectLst/>
                        </a:rPr>
                        <a:t>Practical, protocol-oriented, developed for real-world networking</a:t>
                      </a:r>
                    </a:p>
                  </a:txBody>
                  <a:tcPr marL="26585" marR="26585" marT="26585" marB="26585" anchor="ctr"/>
                </a:tc>
                <a:extLst>
                  <a:ext uri="{0D108BD9-81ED-4DB2-BD59-A6C34878D82A}">
                    <a16:rowId xmlns:a16="http://schemas.microsoft.com/office/drawing/2014/main" val="3813519019"/>
                  </a:ext>
                </a:extLst>
              </a:tr>
              <a:tr h="412070">
                <a:tc>
                  <a:txBody>
                    <a:bodyPr/>
                    <a:lstStyle/>
                    <a:p>
                      <a:pPr algn="l">
                        <a:buNone/>
                      </a:pPr>
                      <a:r>
                        <a:rPr lang="en-IN" sz="1200">
                          <a:effectLst/>
                        </a:rPr>
                        <a:t>Layer Functions</a:t>
                      </a:r>
                    </a:p>
                  </a:txBody>
                  <a:tcPr marL="26585" marR="26585" marT="26585" marB="26585" anchor="ctr"/>
                </a:tc>
                <a:tc>
                  <a:txBody>
                    <a:bodyPr/>
                    <a:lstStyle/>
                    <a:p>
                      <a:pPr algn="l">
                        <a:buNone/>
                      </a:pPr>
                      <a:r>
                        <a:rPr lang="en-US" sz="1200" dirty="0">
                          <a:effectLst/>
                        </a:rPr>
                        <a:t>Each layer has a distinct and isolated function</a:t>
                      </a:r>
                    </a:p>
                  </a:txBody>
                  <a:tcPr marL="26585" marR="26585" marT="26585" marB="26585" anchor="ctr"/>
                </a:tc>
                <a:tc>
                  <a:txBody>
                    <a:bodyPr/>
                    <a:lstStyle/>
                    <a:p>
                      <a:pPr algn="l">
                        <a:buNone/>
                      </a:pPr>
                      <a:r>
                        <a:rPr lang="en-US" sz="1200">
                          <a:effectLst/>
                        </a:rPr>
                        <a:t>Layers are functionally flexible and sometimes overlap</a:t>
                      </a:r>
                    </a:p>
                  </a:txBody>
                  <a:tcPr marL="26585" marR="26585" marT="26585" marB="26585" anchor="ctr"/>
                </a:tc>
                <a:extLst>
                  <a:ext uri="{0D108BD9-81ED-4DB2-BD59-A6C34878D82A}">
                    <a16:rowId xmlns:a16="http://schemas.microsoft.com/office/drawing/2014/main" val="84795559"/>
                  </a:ext>
                </a:extLst>
              </a:tr>
              <a:tr h="412070">
                <a:tc>
                  <a:txBody>
                    <a:bodyPr/>
                    <a:lstStyle/>
                    <a:p>
                      <a:pPr algn="l">
                        <a:buNone/>
                      </a:pPr>
                      <a:r>
                        <a:rPr lang="en-IN" sz="1200">
                          <a:effectLst/>
                        </a:rPr>
                        <a:t>Protocol Dependency</a:t>
                      </a:r>
                    </a:p>
                  </a:txBody>
                  <a:tcPr marL="26585" marR="26585" marT="26585" marB="26585" anchor="ctr"/>
                </a:tc>
                <a:tc>
                  <a:txBody>
                    <a:bodyPr/>
                    <a:lstStyle/>
                    <a:p>
                      <a:pPr algn="l">
                        <a:buNone/>
                      </a:pPr>
                      <a:r>
                        <a:rPr lang="en-US" sz="1200" dirty="0">
                          <a:effectLst/>
                        </a:rPr>
                        <a:t>Does not specify protocols, only describes functions</a:t>
                      </a:r>
                    </a:p>
                  </a:txBody>
                  <a:tcPr marL="26585" marR="26585" marT="26585" marB="26585" anchor="ctr"/>
                </a:tc>
                <a:tc>
                  <a:txBody>
                    <a:bodyPr/>
                    <a:lstStyle/>
                    <a:p>
                      <a:pPr algn="l">
                        <a:buNone/>
                      </a:pPr>
                      <a:r>
                        <a:rPr lang="en-IN" sz="1200">
                          <a:effectLst/>
                        </a:rPr>
                        <a:t>Protocol suite with standardized protocols (e.g. IP, TCP, UDP, HTTP)</a:t>
                      </a:r>
                    </a:p>
                  </a:txBody>
                  <a:tcPr marL="26585" marR="26585" marT="26585" marB="26585" anchor="ctr"/>
                </a:tc>
                <a:extLst>
                  <a:ext uri="{0D108BD9-81ED-4DB2-BD59-A6C34878D82A}">
                    <a16:rowId xmlns:a16="http://schemas.microsoft.com/office/drawing/2014/main" val="829336627"/>
                  </a:ext>
                </a:extLst>
              </a:tr>
              <a:tr h="292437">
                <a:tc>
                  <a:txBody>
                    <a:bodyPr/>
                    <a:lstStyle/>
                    <a:p>
                      <a:pPr algn="l">
                        <a:buNone/>
                      </a:pPr>
                      <a:r>
                        <a:rPr lang="en-IN" sz="1200">
                          <a:effectLst/>
                        </a:rPr>
                        <a:t>Session/Presentation</a:t>
                      </a:r>
                    </a:p>
                  </a:txBody>
                  <a:tcPr marL="26585" marR="26585" marT="26585" marB="26585" anchor="ctr"/>
                </a:tc>
                <a:tc>
                  <a:txBody>
                    <a:bodyPr/>
                    <a:lstStyle/>
                    <a:p>
                      <a:pPr algn="l">
                        <a:buNone/>
                      </a:pPr>
                      <a:r>
                        <a:rPr lang="en-IN" sz="1200" dirty="0">
                          <a:effectLst/>
                        </a:rPr>
                        <a:t>Defined as separate layers</a:t>
                      </a:r>
                    </a:p>
                  </a:txBody>
                  <a:tcPr marL="26585" marR="26585" marT="26585" marB="26585" anchor="ctr"/>
                </a:tc>
                <a:tc>
                  <a:txBody>
                    <a:bodyPr/>
                    <a:lstStyle/>
                    <a:p>
                      <a:pPr algn="l">
                        <a:buNone/>
                      </a:pPr>
                      <a:r>
                        <a:rPr lang="en-IN" sz="1200">
                          <a:effectLst/>
                        </a:rPr>
                        <a:t>Combined into application layer</a:t>
                      </a:r>
                    </a:p>
                  </a:txBody>
                  <a:tcPr marL="26585" marR="26585" marT="26585" marB="26585" anchor="ctr"/>
                </a:tc>
                <a:extLst>
                  <a:ext uri="{0D108BD9-81ED-4DB2-BD59-A6C34878D82A}">
                    <a16:rowId xmlns:a16="http://schemas.microsoft.com/office/drawing/2014/main" val="1239149580"/>
                  </a:ext>
                </a:extLst>
              </a:tr>
              <a:tr h="412070">
                <a:tc>
                  <a:txBody>
                    <a:bodyPr/>
                    <a:lstStyle/>
                    <a:p>
                      <a:pPr algn="l">
                        <a:buNone/>
                      </a:pPr>
                      <a:r>
                        <a:rPr lang="en-IN" sz="1200">
                          <a:effectLst/>
                        </a:rPr>
                        <a:t>Layer Implementation</a:t>
                      </a:r>
                    </a:p>
                  </a:txBody>
                  <a:tcPr marL="26585" marR="26585" marT="26585" marB="26585" anchor="ctr"/>
                </a:tc>
                <a:tc>
                  <a:txBody>
                    <a:bodyPr/>
                    <a:lstStyle/>
                    <a:p>
                      <a:pPr algn="l">
                        <a:buNone/>
                      </a:pPr>
                      <a:r>
                        <a:rPr lang="en-IN" sz="1200" dirty="0">
                          <a:effectLst/>
                        </a:rPr>
                        <a:t>Strict modular separation</a:t>
                      </a:r>
                    </a:p>
                  </a:txBody>
                  <a:tcPr marL="26585" marR="26585" marT="26585" marB="26585" anchor="ctr"/>
                </a:tc>
                <a:tc>
                  <a:txBody>
                    <a:bodyPr/>
                    <a:lstStyle/>
                    <a:p>
                      <a:pPr algn="l">
                        <a:buNone/>
                      </a:pPr>
                      <a:r>
                        <a:rPr lang="en-US" sz="1200">
                          <a:effectLst/>
                        </a:rPr>
                        <a:t>Modular, but with integration across some layers</a:t>
                      </a:r>
                    </a:p>
                  </a:txBody>
                  <a:tcPr marL="26585" marR="26585" marT="26585" marB="26585" anchor="ctr"/>
                </a:tc>
                <a:extLst>
                  <a:ext uri="{0D108BD9-81ED-4DB2-BD59-A6C34878D82A}">
                    <a16:rowId xmlns:a16="http://schemas.microsoft.com/office/drawing/2014/main" val="2945317608"/>
                  </a:ext>
                </a:extLst>
              </a:tr>
              <a:tr h="412070">
                <a:tc>
                  <a:txBody>
                    <a:bodyPr/>
                    <a:lstStyle/>
                    <a:p>
                      <a:pPr algn="l">
                        <a:buNone/>
                      </a:pPr>
                      <a:r>
                        <a:rPr lang="en-IN" sz="1200">
                          <a:effectLst/>
                        </a:rPr>
                        <a:t>Usage &amp; Deployment</a:t>
                      </a:r>
                    </a:p>
                  </a:txBody>
                  <a:tcPr marL="26585" marR="26585" marT="26585" marB="26585" anchor="ctr"/>
                </a:tc>
                <a:tc>
                  <a:txBody>
                    <a:bodyPr/>
                    <a:lstStyle/>
                    <a:p>
                      <a:pPr algn="l">
                        <a:buNone/>
                      </a:pPr>
                      <a:r>
                        <a:rPr lang="en-US" sz="1200" dirty="0">
                          <a:effectLst/>
                        </a:rPr>
                        <a:t>Rarely implemented, educational and analytical reference</a:t>
                      </a:r>
                    </a:p>
                  </a:txBody>
                  <a:tcPr marL="26585" marR="26585" marT="26585" marB="26585" anchor="ctr"/>
                </a:tc>
                <a:tc>
                  <a:txBody>
                    <a:bodyPr/>
                    <a:lstStyle/>
                    <a:p>
                      <a:pPr algn="l">
                        <a:buNone/>
                      </a:pPr>
                      <a:r>
                        <a:rPr lang="en-US" sz="1200">
                          <a:effectLst/>
                        </a:rPr>
                        <a:t>Basis for Internet and almost all modern networking</a:t>
                      </a:r>
                    </a:p>
                  </a:txBody>
                  <a:tcPr marL="26585" marR="26585" marT="26585" marB="26585" anchor="ctr"/>
                </a:tc>
                <a:extLst>
                  <a:ext uri="{0D108BD9-81ED-4DB2-BD59-A6C34878D82A}">
                    <a16:rowId xmlns:a16="http://schemas.microsoft.com/office/drawing/2014/main" val="35888573"/>
                  </a:ext>
                </a:extLst>
              </a:tr>
              <a:tr h="412070">
                <a:tc>
                  <a:txBody>
                    <a:bodyPr/>
                    <a:lstStyle/>
                    <a:p>
                      <a:pPr algn="l">
                        <a:buNone/>
                      </a:pPr>
                      <a:r>
                        <a:rPr lang="en-IN" sz="1200">
                          <a:effectLst/>
                        </a:rPr>
                        <a:t>Flexibility</a:t>
                      </a:r>
                    </a:p>
                  </a:txBody>
                  <a:tcPr marL="26585" marR="26585" marT="26585" marB="26585" anchor="ctr"/>
                </a:tc>
                <a:tc>
                  <a:txBody>
                    <a:bodyPr/>
                    <a:lstStyle/>
                    <a:p>
                      <a:pPr algn="l">
                        <a:buNone/>
                      </a:pPr>
                      <a:r>
                        <a:rPr lang="en-US" sz="1200" dirty="0">
                          <a:effectLst/>
                        </a:rPr>
                        <a:t>More rigid in definitions and separation</a:t>
                      </a:r>
                    </a:p>
                  </a:txBody>
                  <a:tcPr marL="26585" marR="26585" marT="26585" marB="26585" anchor="ctr"/>
                </a:tc>
                <a:tc>
                  <a:txBody>
                    <a:bodyPr/>
                    <a:lstStyle/>
                    <a:p>
                      <a:pPr algn="l">
                        <a:buNone/>
                      </a:pPr>
                      <a:r>
                        <a:rPr lang="en-US" sz="1200" dirty="0">
                          <a:effectLst/>
                        </a:rPr>
                        <a:t>More adaptable for practical Internet evolution</a:t>
                      </a:r>
                    </a:p>
                  </a:txBody>
                  <a:tcPr marL="26585" marR="26585" marT="26585" marB="26585" anchor="ctr"/>
                </a:tc>
                <a:extLst>
                  <a:ext uri="{0D108BD9-81ED-4DB2-BD59-A6C34878D82A}">
                    <a16:rowId xmlns:a16="http://schemas.microsoft.com/office/drawing/2014/main" val="77254037"/>
                  </a:ext>
                </a:extLst>
              </a:tr>
              <a:tr h="412070">
                <a:tc>
                  <a:txBody>
                    <a:bodyPr/>
                    <a:lstStyle/>
                    <a:p>
                      <a:pPr algn="l">
                        <a:buNone/>
                      </a:pPr>
                      <a:r>
                        <a:rPr lang="en-IN" sz="1200" dirty="0">
                          <a:effectLst/>
                        </a:rPr>
                        <a:t>Service Types</a:t>
                      </a:r>
                    </a:p>
                  </a:txBody>
                  <a:tcPr marL="26585" marR="26585" marT="26585" marB="26585" anchor="ctr"/>
                </a:tc>
                <a:tc>
                  <a:txBody>
                    <a:bodyPr/>
                    <a:lstStyle/>
                    <a:p>
                      <a:pPr algn="l">
                        <a:buNone/>
                      </a:pPr>
                      <a:r>
                        <a:rPr lang="en-US" sz="1200" dirty="0">
                          <a:effectLst/>
                        </a:rPr>
                        <a:t>Both connection-oriented and connectionless services at network layer</a:t>
                      </a:r>
                    </a:p>
                  </a:txBody>
                  <a:tcPr marL="26585" marR="26585" marT="26585" marB="26585" anchor="ctr"/>
                </a:tc>
                <a:tc>
                  <a:txBody>
                    <a:bodyPr/>
                    <a:lstStyle/>
                    <a:p>
                      <a:pPr algn="l">
                        <a:buNone/>
                      </a:pPr>
                      <a:r>
                        <a:rPr lang="en-US" sz="1200" dirty="0">
                          <a:effectLst/>
                        </a:rPr>
                        <a:t>Connectionless at network, reliability at transport layer (TCP)</a:t>
                      </a:r>
                    </a:p>
                  </a:txBody>
                  <a:tcPr marL="26585" marR="26585" marT="26585" marB="26585" anchor="ctr"/>
                </a:tc>
                <a:extLst>
                  <a:ext uri="{0D108BD9-81ED-4DB2-BD59-A6C34878D82A}">
                    <a16:rowId xmlns:a16="http://schemas.microsoft.com/office/drawing/2014/main" val="3178652392"/>
                  </a:ext>
                </a:extLst>
              </a:tr>
            </a:tbl>
          </a:graphicData>
        </a:graphic>
      </p:graphicFrame>
    </p:spTree>
    <p:extLst>
      <p:ext uri="{BB962C8B-B14F-4D97-AF65-F5344CB8AC3E}">
        <p14:creationId xmlns:p14="http://schemas.microsoft.com/office/powerpoint/2010/main" val="2624417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AD0E1-D5F8-9BFB-73C2-19242ED8CE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5ECF76-B8D8-0634-A0F1-6ED0160F775F}"/>
              </a:ext>
            </a:extLst>
          </p:cNvPr>
          <p:cNvSpPr txBox="1"/>
          <p:nvPr/>
        </p:nvSpPr>
        <p:spPr>
          <a:xfrm>
            <a:off x="834887" y="96223"/>
            <a:ext cx="8587409" cy="1200329"/>
          </a:xfrm>
          <a:prstGeom prst="rect">
            <a:avLst/>
          </a:prstGeom>
          <a:noFill/>
        </p:spPr>
        <p:txBody>
          <a:bodyPr wrap="square">
            <a:spAutoFit/>
          </a:bodyPr>
          <a:lstStyle/>
          <a:p>
            <a:pPr algn="l">
              <a:buFont typeface="Arial" panose="020B0604020202020204" pitchFamily="34" charset="0"/>
              <a:buChar char="•"/>
            </a:pPr>
            <a:r>
              <a:rPr lang="en-US" b="0" i="0" dirty="0">
                <a:effectLst/>
                <a:latin typeface="fkGroteskNeue"/>
              </a:rPr>
              <a:t>OSI provides a seven-layer reference model ideal for understanding complex networking concepts.</a:t>
            </a:r>
          </a:p>
          <a:p>
            <a:pPr algn="l">
              <a:buFont typeface="Arial" panose="020B0604020202020204" pitchFamily="34" charset="0"/>
              <a:buChar char="•"/>
            </a:pPr>
            <a:r>
              <a:rPr lang="en-US" b="0" i="0" dirty="0">
                <a:effectLst/>
                <a:latin typeface="fkGroteskNeue"/>
              </a:rPr>
              <a:t>TCP/IP is the foundational protocol suite that powers the real-world Internet, offering robustness, simplicity, and efficiency for practical use.</a:t>
            </a:r>
          </a:p>
        </p:txBody>
      </p:sp>
      <p:sp>
        <p:nvSpPr>
          <p:cNvPr id="5" name="TextBox 4">
            <a:extLst>
              <a:ext uri="{FF2B5EF4-FFF2-40B4-BE49-F238E27FC236}">
                <a16:creationId xmlns:a16="http://schemas.microsoft.com/office/drawing/2014/main" id="{81C4631D-3E7F-BF0A-4088-D814562651F6}"/>
              </a:ext>
            </a:extLst>
          </p:cNvPr>
          <p:cNvSpPr txBox="1"/>
          <p:nvPr/>
        </p:nvSpPr>
        <p:spPr>
          <a:xfrm>
            <a:off x="765313" y="1465230"/>
            <a:ext cx="8587408" cy="369332"/>
          </a:xfrm>
          <a:prstGeom prst="rect">
            <a:avLst/>
          </a:prstGeom>
          <a:noFill/>
        </p:spPr>
        <p:txBody>
          <a:bodyPr wrap="square">
            <a:spAutoFit/>
          </a:bodyPr>
          <a:lstStyle/>
          <a:p>
            <a:r>
              <a:rPr lang="en-US" dirty="0"/>
              <a:t>1.6 Layers in TCP/IP Protocol Suite </a:t>
            </a:r>
            <a:endParaRPr lang="en-IN" dirty="0"/>
          </a:p>
        </p:txBody>
      </p:sp>
      <p:sp>
        <p:nvSpPr>
          <p:cNvPr id="7" name="TextBox 6">
            <a:extLst>
              <a:ext uri="{FF2B5EF4-FFF2-40B4-BE49-F238E27FC236}">
                <a16:creationId xmlns:a16="http://schemas.microsoft.com/office/drawing/2014/main" id="{B8022A83-CE9B-8129-D1B0-E5D3D8ADD38D}"/>
              </a:ext>
            </a:extLst>
          </p:cNvPr>
          <p:cNvSpPr txBox="1"/>
          <p:nvPr/>
        </p:nvSpPr>
        <p:spPr>
          <a:xfrm>
            <a:off x="765313" y="2003240"/>
            <a:ext cx="8587408" cy="923330"/>
          </a:xfrm>
          <a:prstGeom prst="rect">
            <a:avLst/>
          </a:prstGeom>
          <a:noFill/>
        </p:spPr>
        <p:txBody>
          <a:bodyPr wrap="square">
            <a:spAutoFit/>
          </a:bodyPr>
          <a:lstStyle/>
          <a:p>
            <a:r>
              <a:rPr lang="en-US" b="0" i="0" dirty="0">
                <a:effectLst/>
                <a:latin typeface="fkGroteskNeue"/>
              </a:rPr>
              <a:t>The TCP/IP Protocol Suite, the foundation of Internet communication, is structured into four main layers. Each layer is responsible for specific networking functions and passes data to the layers above or below.</a:t>
            </a:r>
            <a:endParaRPr lang="en-IN" dirty="0"/>
          </a:p>
        </p:txBody>
      </p:sp>
      <p:graphicFrame>
        <p:nvGraphicFramePr>
          <p:cNvPr id="8" name="Table 7">
            <a:extLst>
              <a:ext uri="{FF2B5EF4-FFF2-40B4-BE49-F238E27FC236}">
                <a16:creationId xmlns:a16="http://schemas.microsoft.com/office/drawing/2014/main" id="{0EA09AFE-A129-ECF4-827E-A5B35D9E3471}"/>
              </a:ext>
            </a:extLst>
          </p:cNvPr>
          <p:cNvGraphicFramePr>
            <a:graphicFrameLocks noGrp="1"/>
          </p:cNvGraphicFramePr>
          <p:nvPr>
            <p:extLst>
              <p:ext uri="{D42A27DB-BD31-4B8C-83A1-F6EECF244321}">
                <p14:modId xmlns:p14="http://schemas.microsoft.com/office/powerpoint/2010/main" val="138314519"/>
              </p:ext>
            </p:extLst>
          </p:nvPr>
        </p:nvGraphicFramePr>
        <p:xfrm>
          <a:off x="730525" y="2880341"/>
          <a:ext cx="8656983" cy="3881436"/>
        </p:xfrm>
        <a:graphic>
          <a:graphicData uri="http://schemas.openxmlformats.org/drawingml/2006/table">
            <a:tbl>
              <a:tblPr>
                <a:tableStyleId>{5940675A-B579-460E-94D1-54222C63F5DA}</a:tableStyleId>
              </a:tblPr>
              <a:tblGrid>
                <a:gridCol w="2885661">
                  <a:extLst>
                    <a:ext uri="{9D8B030D-6E8A-4147-A177-3AD203B41FA5}">
                      <a16:colId xmlns:a16="http://schemas.microsoft.com/office/drawing/2014/main" val="2820346910"/>
                    </a:ext>
                  </a:extLst>
                </a:gridCol>
                <a:gridCol w="2885661">
                  <a:extLst>
                    <a:ext uri="{9D8B030D-6E8A-4147-A177-3AD203B41FA5}">
                      <a16:colId xmlns:a16="http://schemas.microsoft.com/office/drawing/2014/main" val="2208837835"/>
                    </a:ext>
                  </a:extLst>
                </a:gridCol>
                <a:gridCol w="2885661">
                  <a:extLst>
                    <a:ext uri="{9D8B030D-6E8A-4147-A177-3AD203B41FA5}">
                      <a16:colId xmlns:a16="http://schemas.microsoft.com/office/drawing/2014/main" val="84371767"/>
                    </a:ext>
                  </a:extLst>
                </a:gridCol>
              </a:tblGrid>
              <a:tr h="294454">
                <a:tc>
                  <a:txBody>
                    <a:bodyPr/>
                    <a:lstStyle/>
                    <a:p>
                      <a:pPr algn="l">
                        <a:buNone/>
                      </a:pPr>
                      <a:r>
                        <a:rPr lang="en-IN" sz="1100" b="1">
                          <a:effectLst/>
                        </a:rPr>
                        <a:t>Layer Name</a:t>
                      </a:r>
                    </a:p>
                  </a:txBody>
                  <a:tcPr marL="26769" marR="26769" marT="26769" marB="26769" anchor="ctr"/>
                </a:tc>
                <a:tc>
                  <a:txBody>
                    <a:bodyPr/>
                    <a:lstStyle/>
                    <a:p>
                      <a:pPr algn="l">
                        <a:buNone/>
                      </a:pPr>
                      <a:r>
                        <a:rPr lang="en-IN" sz="1100" b="1">
                          <a:effectLst/>
                        </a:rPr>
                        <a:t>Functions and Responsibilities</a:t>
                      </a:r>
                    </a:p>
                  </a:txBody>
                  <a:tcPr marL="26769" marR="26769" marT="26769" marB="26769" anchor="ctr"/>
                </a:tc>
                <a:tc>
                  <a:txBody>
                    <a:bodyPr/>
                    <a:lstStyle/>
                    <a:p>
                      <a:pPr algn="l">
                        <a:buNone/>
                      </a:pPr>
                      <a:r>
                        <a:rPr lang="en-IN" sz="1100" b="1">
                          <a:effectLst/>
                        </a:rPr>
                        <a:t>Protocol Examples</a:t>
                      </a:r>
                    </a:p>
                  </a:txBody>
                  <a:tcPr marL="26769" marR="26769" marT="26769" marB="26769" anchor="ctr"/>
                </a:tc>
                <a:extLst>
                  <a:ext uri="{0D108BD9-81ED-4DB2-BD59-A6C34878D82A}">
                    <a16:rowId xmlns:a16="http://schemas.microsoft.com/office/drawing/2014/main" val="2133125469"/>
                  </a:ext>
                </a:extLst>
              </a:tr>
              <a:tr h="1137662">
                <a:tc>
                  <a:txBody>
                    <a:bodyPr/>
                    <a:lstStyle/>
                    <a:p>
                      <a:pPr algn="l">
                        <a:buNone/>
                      </a:pPr>
                      <a:r>
                        <a:rPr lang="en-IN" sz="1100">
                          <a:effectLst/>
                        </a:rPr>
                        <a:t>Application Layer</a:t>
                      </a:r>
                    </a:p>
                  </a:txBody>
                  <a:tcPr marL="26769" marR="26769" marT="26769" marB="26769" anchor="ctr"/>
                </a:tc>
                <a:tc>
                  <a:txBody>
                    <a:bodyPr/>
                    <a:lstStyle/>
                    <a:p>
                      <a:pPr algn="l">
                        <a:buNone/>
                      </a:pPr>
                      <a:r>
                        <a:rPr lang="en-US" sz="1100">
                          <a:effectLst/>
                        </a:rPr>
                        <a:t>Provides network services directly to applications, including data formatting, encryption, connection management, and user interaction. Combines the OSI model's application, presentation, and session layers.</a:t>
                      </a:r>
                    </a:p>
                  </a:txBody>
                  <a:tcPr marL="26769" marR="26769" marT="26769" marB="26769" anchor="ctr"/>
                </a:tc>
                <a:tc>
                  <a:txBody>
                    <a:bodyPr/>
                    <a:lstStyle/>
                    <a:p>
                      <a:pPr algn="l">
                        <a:buNone/>
                      </a:pPr>
                      <a:r>
                        <a:rPr lang="en-IN" sz="1100">
                          <a:effectLst/>
                        </a:rPr>
                        <a:t>HTTP, FTP, SMTP, DNS, Telnet, SNMP</a:t>
                      </a:r>
                    </a:p>
                  </a:txBody>
                  <a:tcPr marL="26769" marR="26769" marT="26769" marB="26769" anchor="ctr"/>
                </a:tc>
                <a:extLst>
                  <a:ext uri="{0D108BD9-81ED-4DB2-BD59-A6C34878D82A}">
                    <a16:rowId xmlns:a16="http://schemas.microsoft.com/office/drawing/2014/main" val="1329160570"/>
                  </a:ext>
                </a:extLst>
              </a:tr>
              <a:tr h="896746">
                <a:tc>
                  <a:txBody>
                    <a:bodyPr/>
                    <a:lstStyle/>
                    <a:p>
                      <a:pPr algn="l">
                        <a:buNone/>
                      </a:pPr>
                      <a:r>
                        <a:rPr lang="en-IN" sz="1100">
                          <a:effectLst/>
                        </a:rPr>
                        <a:t>Transport Layer</a:t>
                      </a:r>
                    </a:p>
                  </a:txBody>
                  <a:tcPr marL="26769" marR="26769" marT="26769" marB="26769" anchor="ctr"/>
                </a:tc>
                <a:tc>
                  <a:txBody>
                    <a:bodyPr/>
                    <a:lstStyle/>
                    <a:p>
                      <a:pPr algn="l">
                        <a:buNone/>
                      </a:pPr>
                      <a:r>
                        <a:rPr lang="en-US" sz="1100">
                          <a:effectLst/>
                        </a:rPr>
                        <a:t>Responsible for process-to-process communication, data segmentation, flow control, error detection, and reliable/unreliable delivery.</a:t>
                      </a:r>
                    </a:p>
                  </a:txBody>
                  <a:tcPr marL="26769" marR="26769" marT="26769" marB="26769" anchor="ctr"/>
                </a:tc>
                <a:tc>
                  <a:txBody>
                    <a:bodyPr/>
                    <a:lstStyle/>
                    <a:p>
                      <a:pPr algn="l">
                        <a:buNone/>
                      </a:pPr>
                      <a:r>
                        <a:rPr lang="en-IN" sz="1100">
                          <a:effectLst/>
                        </a:rPr>
                        <a:t>TCP (reliable), UDP (unreliable/fast)</a:t>
                      </a:r>
                    </a:p>
                  </a:txBody>
                  <a:tcPr marL="26769" marR="26769" marT="26769" marB="26769" anchor="ctr"/>
                </a:tc>
                <a:extLst>
                  <a:ext uri="{0D108BD9-81ED-4DB2-BD59-A6C34878D82A}">
                    <a16:rowId xmlns:a16="http://schemas.microsoft.com/office/drawing/2014/main" val="2448070417"/>
                  </a:ext>
                </a:extLst>
              </a:tr>
              <a:tr h="776287">
                <a:tc>
                  <a:txBody>
                    <a:bodyPr/>
                    <a:lstStyle/>
                    <a:p>
                      <a:pPr algn="l">
                        <a:buNone/>
                      </a:pPr>
                      <a:r>
                        <a:rPr lang="en-IN" sz="1100">
                          <a:effectLst/>
                        </a:rPr>
                        <a:t>Internet Layer</a:t>
                      </a:r>
                    </a:p>
                  </a:txBody>
                  <a:tcPr marL="26769" marR="26769" marT="26769" marB="26769" anchor="ctr"/>
                </a:tc>
                <a:tc>
                  <a:txBody>
                    <a:bodyPr/>
                    <a:lstStyle/>
                    <a:p>
                      <a:pPr algn="l">
                        <a:buNone/>
                      </a:pPr>
                      <a:r>
                        <a:rPr lang="en-US" sz="1100">
                          <a:effectLst/>
                        </a:rPr>
                        <a:t>Handles logical addressing, routing of packets across networks, packet fragmentation, and best-path selection for data.</a:t>
                      </a:r>
                    </a:p>
                  </a:txBody>
                  <a:tcPr marL="26769" marR="26769" marT="26769" marB="26769" anchor="ctr"/>
                </a:tc>
                <a:tc>
                  <a:txBody>
                    <a:bodyPr/>
                    <a:lstStyle/>
                    <a:p>
                      <a:pPr algn="l">
                        <a:buNone/>
                      </a:pPr>
                      <a:r>
                        <a:rPr lang="en-IN" sz="1100">
                          <a:effectLst/>
                        </a:rPr>
                        <a:t>IP (IPv4, IPv6), ICMP, ARP, IGMP</a:t>
                      </a:r>
                    </a:p>
                  </a:txBody>
                  <a:tcPr marL="26769" marR="26769" marT="26769" marB="26769" anchor="ctr"/>
                </a:tc>
                <a:extLst>
                  <a:ext uri="{0D108BD9-81ED-4DB2-BD59-A6C34878D82A}">
                    <a16:rowId xmlns:a16="http://schemas.microsoft.com/office/drawing/2014/main" val="3784516854"/>
                  </a:ext>
                </a:extLst>
              </a:tr>
              <a:tr h="776287">
                <a:tc>
                  <a:txBody>
                    <a:bodyPr/>
                    <a:lstStyle/>
                    <a:p>
                      <a:pPr algn="l">
                        <a:buNone/>
                      </a:pPr>
                      <a:r>
                        <a:rPr lang="en-US" sz="1100" dirty="0">
                          <a:effectLst/>
                        </a:rPr>
                        <a:t>Network Access Layer (Link Layer)</a:t>
                      </a:r>
                    </a:p>
                  </a:txBody>
                  <a:tcPr marL="26769" marR="26769" marT="26769" marB="26769" anchor="ctr"/>
                </a:tc>
                <a:tc>
                  <a:txBody>
                    <a:bodyPr/>
                    <a:lstStyle/>
                    <a:p>
                      <a:pPr algn="l">
                        <a:buNone/>
                      </a:pPr>
                      <a:r>
                        <a:rPr lang="en-US" sz="1100" dirty="0">
                          <a:effectLst/>
                        </a:rPr>
                        <a:t>Deals with the physical transmission of data over a local network segment, including MAC addressing, framing, and hardware signaling.</a:t>
                      </a:r>
                    </a:p>
                  </a:txBody>
                  <a:tcPr marL="26769" marR="26769" marT="26769" marB="26769" anchor="ctr"/>
                </a:tc>
                <a:tc>
                  <a:txBody>
                    <a:bodyPr/>
                    <a:lstStyle/>
                    <a:p>
                      <a:pPr algn="l">
                        <a:buNone/>
                      </a:pPr>
                      <a:r>
                        <a:rPr lang="en-IN" sz="1100" dirty="0">
                          <a:effectLst/>
                        </a:rPr>
                        <a:t>Ethernet, Wi-Fi, PPP, ARP</a:t>
                      </a:r>
                    </a:p>
                  </a:txBody>
                  <a:tcPr marL="26769" marR="26769" marT="26769" marB="26769" anchor="ctr"/>
                </a:tc>
                <a:extLst>
                  <a:ext uri="{0D108BD9-81ED-4DB2-BD59-A6C34878D82A}">
                    <a16:rowId xmlns:a16="http://schemas.microsoft.com/office/drawing/2014/main" val="3724660789"/>
                  </a:ext>
                </a:extLst>
              </a:tr>
            </a:tbl>
          </a:graphicData>
        </a:graphic>
      </p:graphicFrame>
    </p:spTree>
    <p:extLst>
      <p:ext uri="{BB962C8B-B14F-4D97-AF65-F5344CB8AC3E}">
        <p14:creationId xmlns:p14="http://schemas.microsoft.com/office/powerpoint/2010/main" val="3260456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58965-9DA8-4BC4-45CF-2AE79F7F400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D12D15-A606-2C26-68B8-D9BFC3483B25}"/>
              </a:ext>
            </a:extLst>
          </p:cNvPr>
          <p:cNvSpPr txBox="1"/>
          <p:nvPr/>
        </p:nvSpPr>
        <p:spPr>
          <a:xfrm>
            <a:off x="864704" y="100761"/>
            <a:ext cx="8378687" cy="3139321"/>
          </a:xfrm>
          <a:prstGeom prst="rect">
            <a:avLst/>
          </a:prstGeom>
          <a:noFill/>
        </p:spPr>
        <p:txBody>
          <a:bodyPr wrap="square">
            <a:spAutoFit/>
          </a:bodyPr>
          <a:lstStyle/>
          <a:p>
            <a:pPr algn="l">
              <a:buNone/>
            </a:pPr>
            <a:r>
              <a:rPr lang="en-US" b="1" i="0" dirty="0">
                <a:effectLst/>
                <a:latin typeface="fkGrotesk"/>
              </a:rPr>
              <a:t>Key Points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The Application Layer is the uppermost, supporting user-facing protocols such as web, email, and file transfer.</a:t>
            </a:r>
          </a:p>
          <a:p>
            <a:pPr algn="l">
              <a:buFont typeface="Arial" panose="020B0604020202020204" pitchFamily="34" charset="0"/>
              <a:buChar char="•"/>
            </a:pPr>
            <a:r>
              <a:rPr lang="en-US" b="0" i="0" dirty="0">
                <a:effectLst/>
                <a:latin typeface="fkGroteskNeue"/>
              </a:rPr>
              <a:t>The Transport Layer makes sure data from applications reaches the correct process on the destination, reliably (TCP) or quickly (UDP).</a:t>
            </a:r>
          </a:p>
          <a:p>
            <a:pPr algn="l">
              <a:buFont typeface="Arial" panose="020B0604020202020204" pitchFamily="34" charset="0"/>
              <a:buChar char="•"/>
            </a:pPr>
            <a:r>
              <a:rPr lang="en-US" b="0" i="0" dirty="0">
                <a:effectLst/>
                <a:latin typeface="fkGroteskNeue"/>
              </a:rPr>
              <a:t>The Internet Layer is responsible for addressing and routing data packets so they traverse multiple networks and reach the right endpoint.</a:t>
            </a:r>
          </a:p>
          <a:p>
            <a:pPr algn="l">
              <a:buFont typeface="Arial" panose="020B0604020202020204" pitchFamily="34" charset="0"/>
              <a:buChar char="•"/>
            </a:pPr>
            <a:r>
              <a:rPr lang="en-US" b="0" i="0" dirty="0">
                <a:effectLst/>
                <a:latin typeface="fkGroteskNeue"/>
              </a:rPr>
              <a:t>The Network Access Layer manages sending and receiving bits over the physical network medium, interfacing with hardware and determining how data frames are created and checked.</a:t>
            </a:r>
          </a:p>
        </p:txBody>
      </p:sp>
      <p:sp>
        <p:nvSpPr>
          <p:cNvPr id="4" name="TextBox 3">
            <a:extLst>
              <a:ext uri="{FF2B5EF4-FFF2-40B4-BE49-F238E27FC236}">
                <a16:creationId xmlns:a16="http://schemas.microsoft.com/office/drawing/2014/main" id="{AD4A35D8-E48B-2489-FAD4-49AA12E782F8}"/>
              </a:ext>
            </a:extLst>
          </p:cNvPr>
          <p:cNvSpPr txBox="1"/>
          <p:nvPr/>
        </p:nvSpPr>
        <p:spPr>
          <a:xfrm>
            <a:off x="864704" y="3429000"/>
            <a:ext cx="8945217" cy="646331"/>
          </a:xfrm>
          <a:prstGeom prst="rect">
            <a:avLst/>
          </a:prstGeom>
          <a:noFill/>
        </p:spPr>
        <p:txBody>
          <a:bodyPr wrap="square">
            <a:spAutoFit/>
          </a:bodyPr>
          <a:lstStyle/>
          <a:p>
            <a:r>
              <a:rPr lang="en-US" b="1" dirty="0"/>
              <a:t>1.7 Addressing: Physical Addresses, Logical Addresses, Port Addresses, Application-Specific Addresses</a:t>
            </a:r>
            <a:endParaRPr lang="en-IN" b="1" dirty="0"/>
          </a:p>
        </p:txBody>
      </p:sp>
      <p:sp>
        <p:nvSpPr>
          <p:cNvPr id="6" name="TextBox 5">
            <a:extLst>
              <a:ext uri="{FF2B5EF4-FFF2-40B4-BE49-F238E27FC236}">
                <a16:creationId xmlns:a16="http://schemas.microsoft.com/office/drawing/2014/main" id="{2702E1C7-B891-4429-8E59-7A6327C61CE3}"/>
              </a:ext>
            </a:extLst>
          </p:cNvPr>
          <p:cNvSpPr txBox="1"/>
          <p:nvPr/>
        </p:nvSpPr>
        <p:spPr>
          <a:xfrm>
            <a:off x="864704" y="4419096"/>
            <a:ext cx="8378686" cy="923330"/>
          </a:xfrm>
          <a:prstGeom prst="rect">
            <a:avLst/>
          </a:prstGeom>
          <a:noFill/>
        </p:spPr>
        <p:txBody>
          <a:bodyPr wrap="square">
            <a:spAutoFit/>
          </a:bodyPr>
          <a:lstStyle/>
          <a:p>
            <a:r>
              <a:rPr lang="en-US" b="0" i="0" dirty="0">
                <a:effectLst/>
                <a:latin typeface="fkGroteskNeue"/>
              </a:rPr>
              <a:t>In computer networks, addressing refers to assigning unique identifiers to devices, processes, or applications to enable proper communication. Different layers use different types of addresses for distinct purposes.</a:t>
            </a:r>
            <a:endParaRPr lang="en-IN" dirty="0"/>
          </a:p>
        </p:txBody>
      </p:sp>
    </p:spTree>
    <p:extLst>
      <p:ext uri="{BB962C8B-B14F-4D97-AF65-F5344CB8AC3E}">
        <p14:creationId xmlns:p14="http://schemas.microsoft.com/office/powerpoint/2010/main" val="3826187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CA78D-2956-F4A5-DBFE-3E2CE18B55D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616461E-E566-E528-9F91-456BF65BE0F0}"/>
              </a:ext>
            </a:extLst>
          </p:cNvPr>
          <p:cNvSpPr txBox="1"/>
          <p:nvPr/>
        </p:nvSpPr>
        <p:spPr>
          <a:xfrm>
            <a:off x="894522" y="75048"/>
            <a:ext cx="8845826" cy="369332"/>
          </a:xfrm>
          <a:prstGeom prst="rect">
            <a:avLst/>
          </a:prstGeom>
          <a:noFill/>
        </p:spPr>
        <p:txBody>
          <a:bodyPr wrap="square">
            <a:spAutoFit/>
          </a:bodyPr>
          <a:lstStyle/>
          <a:p>
            <a:pPr algn="l">
              <a:buNone/>
            </a:pPr>
            <a:r>
              <a:rPr lang="en-US" b="0" i="0" dirty="0">
                <a:effectLst/>
                <a:latin typeface="fkGrotesk"/>
              </a:rPr>
              <a:t>Types of Addresses in TCP/IP Networks</a:t>
            </a:r>
          </a:p>
        </p:txBody>
      </p:sp>
      <p:graphicFrame>
        <p:nvGraphicFramePr>
          <p:cNvPr id="6" name="Table 5">
            <a:extLst>
              <a:ext uri="{FF2B5EF4-FFF2-40B4-BE49-F238E27FC236}">
                <a16:creationId xmlns:a16="http://schemas.microsoft.com/office/drawing/2014/main" id="{3CD0DF2C-23BC-9BCA-963E-2A37EA53B89D}"/>
              </a:ext>
            </a:extLst>
          </p:cNvPr>
          <p:cNvGraphicFramePr>
            <a:graphicFrameLocks noGrp="1"/>
          </p:cNvGraphicFramePr>
          <p:nvPr>
            <p:extLst>
              <p:ext uri="{D42A27DB-BD31-4B8C-83A1-F6EECF244321}">
                <p14:modId xmlns:p14="http://schemas.microsoft.com/office/powerpoint/2010/main" val="721995932"/>
              </p:ext>
            </p:extLst>
          </p:nvPr>
        </p:nvGraphicFramePr>
        <p:xfrm>
          <a:off x="805069" y="707427"/>
          <a:ext cx="8627166" cy="4321530"/>
        </p:xfrm>
        <a:graphic>
          <a:graphicData uri="http://schemas.openxmlformats.org/drawingml/2006/table">
            <a:tbl>
              <a:tblPr>
                <a:tableStyleId>{5940675A-B579-460E-94D1-54222C63F5DA}</a:tableStyleId>
              </a:tblPr>
              <a:tblGrid>
                <a:gridCol w="2861093">
                  <a:extLst>
                    <a:ext uri="{9D8B030D-6E8A-4147-A177-3AD203B41FA5}">
                      <a16:colId xmlns:a16="http://schemas.microsoft.com/office/drawing/2014/main" val="1860597090"/>
                    </a:ext>
                  </a:extLst>
                </a:gridCol>
                <a:gridCol w="2226826">
                  <a:extLst>
                    <a:ext uri="{9D8B030D-6E8A-4147-A177-3AD203B41FA5}">
                      <a16:colId xmlns:a16="http://schemas.microsoft.com/office/drawing/2014/main" val="3123774051"/>
                    </a:ext>
                  </a:extLst>
                </a:gridCol>
                <a:gridCol w="3539247">
                  <a:extLst>
                    <a:ext uri="{9D8B030D-6E8A-4147-A177-3AD203B41FA5}">
                      <a16:colId xmlns:a16="http://schemas.microsoft.com/office/drawing/2014/main" val="2535842110"/>
                    </a:ext>
                  </a:extLst>
                </a:gridCol>
              </a:tblGrid>
              <a:tr h="173995">
                <a:tc>
                  <a:txBody>
                    <a:bodyPr/>
                    <a:lstStyle/>
                    <a:p>
                      <a:pPr algn="l">
                        <a:buNone/>
                      </a:pPr>
                      <a:r>
                        <a:rPr lang="en-IN" sz="1400" b="1">
                          <a:effectLst/>
                        </a:rPr>
                        <a:t>Address Type</a:t>
                      </a:r>
                    </a:p>
                  </a:txBody>
                  <a:tcPr marL="26769" marR="26769" marT="26769" marB="26769" anchor="ctr"/>
                </a:tc>
                <a:tc>
                  <a:txBody>
                    <a:bodyPr/>
                    <a:lstStyle/>
                    <a:p>
                      <a:pPr algn="l">
                        <a:buNone/>
                      </a:pPr>
                      <a:r>
                        <a:rPr lang="en-IN" sz="1400" b="1">
                          <a:effectLst/>
                        </a:rPr>
                        <a:t>Layer Used</a:t>
                      </a:r>
                    </a:p>
                  </a:txBody>
                  <a:tcPr marL="26769" marR="26769" marT="26769" marB="26769" anchor="ctr"/>
                </a:tc>
                <a:tc>
                  <a:txBody>
                    <a:bodyPr/>
                    <a:lstStyle/>
                    <a:p>
                      <a:pPr algn="l">
                        <a:buNone/>
                      </a:pPr>
                      <a:r>
                        <a:rPr lang="en-IN" sz="1400" b="1">
                          <a:effectLst/>
                        </a:rPr>
                        <a:t>Description and Example</a:t>
                      </a:r>
                    </a:p>
                  </a:txBody>
                  <a:tcPr marL="26769" marR="26769" marT="26769" marB="26769" anchor="ctr"/>
                </a:tc>
                <a:extLst>
                  <a:ext uri="{0D108BD9-81ED-4DB2-BD59-A6C34878D82A}">
                    <a16:rowId xmlns:a16="http://schemas.microsoft.com/office/drawing/2014/main" val="152981874"/>
                  </a:ext>
                </a:extLst>
              </a:tr>
              <a:tr h="896746">
                <a:tc>
                  <a:txBody>
                    <a:bodyPr/>
                    <a:lstStyle/>
                    <a:p>
                      <a:pPr algn="l">
                        <a:buNone/>
                      </a:pPr>
                      <a:r>
                        <a:rPr lang="en-IN" sz="1400">
                          <a:effectLst/>
                        </a:rPr>
                        <a:t>Physical Address (MAC)</a:t>
                      </a:r>
                    </a:p>
                  </a:txBody>
                  <a:tcPr marL="26769" marR="26769" marT="26769" marB="26769" anchor="ctr"/>
                </a:tc>
                <a:tc>
                  <a:txBody>
                    <a:bodyPr/>
                    <a:lstStyle/>
                    <a:p>
                      <a:pPr algn="l">
                        <a:buNone/>
                      </a:pPr>
                      <a:r>
                        <a:rPr lang="en-IN" sz="1400">
                          <a:effectLst/>
                        </a:rPr>
                        <a:t>Network Access Layer</a:t>
                      </a:r>
                    </a:p>
                  </a:txBody>
                  <a:tcPr marL="26769" marR="26769" marT="26769" marB="26769" anchor="ctr"/>
                </a:tc>
                <a:tc>
                  <a:txBody>
                    <a:bodyPr/>
                    <a:lstStyle/>
                    <a:p>
                      <a:pPr algn="l">
                        <a:buNone/>
                      </a:pPr>
                      <a:r>
                        <a:rPr lang="en-US" sz="1400">
                          <a:effectLst/>
                        </a:rPr>
                        <a:t>Unique identifier assigned to each network interface card (NIC). Used for local delivery of frames within the same LAN. Example:09:1A:34:08:2E:4F</a:t>
                      </a:r>
                    </a:p>
                  </a:txBody>
                  <a:tcPr marL="26769" marR="26769" marT="26769" marB="26769" anchor="ctr"/>
                </a:tc>
                <a:extLst>
                  <a:ext uri="{0D108BD9-81ED-4DB2-BD59-A6C34878D82A}">
                    <a16:rowId xmlns:a16="http://schemas.microsoft.com/office/drawing/2014/main" val="2916458416"/>
                  </a:ext>
                </a:extLst>
              </a:tr>
              <a:tr h="1017204">
                <a:tc>
                  <a:txBody>
                    <a:bodyPr/>
                    <a:lstStyle/>
                    <a:p>
                      <a:pPr algn="l">
                        <a:buNone/>
                      </a:pPr>
                      <a:r>
                        <a:rPr lang="en-IN" sz="1400">
                          <a:effectLst/>
                        </a:rPr>
                        <a:t>Logical Address (IP)</a:t>
                      </a:r>
                    </a:p>
                  </a:txBody>
                  <a:tcPr marL="26769" marR="26769" marT="26769" marB="26769" anchor="ctr"/>
                </a:tc>
                <a:tc>
                  <a:txBody>
                    <a:bodyPr/>
                    <a:lstStyle/>
                    <a:p>
                      <a:pPr algn="l">
                        <a:buNone/>
                      </a:pPr>
                      <a:r>
                        <a:rPr lang="en-IN" sz="1400">
                          <a:effectLst/>
                        </a:rPr>
                        <a:t>Internet Layer</a:t>
                      </a:r>
                    </a:p>
                  </a:txBody>
                  <a:tcPr marL="26769" marR="26769" marT="26769" marB="26769" anchor="ctr"/>
                </a:tc>
                <a:tc>
                  <a:txBody>
                    <a:bodyPr/>
                    <a:lstStyle/>
                    <a:p>
                      <a:pPr algn="l">
                        <a:buNone/>
                      </a:pPr>
                      <a:r>
                        <a:rPr lang="en-US" sz="1400" dirty="0">
                          <a:effectLst/>
                        </a:rPr>
                        <a:t>Uniquely identifies hosts on the network, regardless of physical location. Used for end-to-end delivery of packets. Example:192.168.1.1(IPv4),2409:4073:30e9::4d(IPv6)</a:t>
                      </a:r>
                    </a:p>
                  </a:txBody>
                  <a:tcPr marL="26769" marR="26769" marT="26769" marB="26769" anchor="ctr"/>
                </a:tc>
                <a:extLst>
                  <a:ext uri="{0D108BD9-81ED-4DB2-BD59-A6C34878D82A}">
                    <a16:rowId xmlns:a16="http://schemas.microsoft.com/office/drawing/2014/main" val="3231746535"/>
                  </a:ext>
                </a:extLst>
              </a:tr>
              <a:tr h="896746">
                <a:tc>
                  <a:txBody>
                    <a:bodyPr/>
                    <a:lstStyle/>
                    <a:p>
                      <a:pPr algn="l">
                        <a:buNone/>
                      </a:pPr>
                      <a:r>
                        <a:rPr lang="en-IN" sz="1400">
                          <a:effectLst/>
                        </a:rPr>
                        <a:t>Port Address</a:t>
                      </a:r>
                    </a:p>
                  </a:txBody>
                  <a:tcPr marL="26769" marR="26769" marT="26769" marB="26769" anchor="ctr"/>
                </a:tc>
                <a:tc>
                  <a:txBody>
                    <a:bodyPr/>
                    <a:lstStyle/>
                    <a:p>
                      <a:pPr algn="l">
                        <a:buNone/>
                      </a:pPr>
                      <a:r>
                        <a:rPr lang="en-IN" sz="1400">
                          <a:effectLst/>
                        </a:rPr>
                        <a:t>Transport Layer</a:t>
                      </a:r>
                    </a:p>
                  </a:txBody>
                  <a:tcPr marL="26769" marR="26769" marT="26769" marB="26769" anchor="ctr"/>
                </a:tc>
                <a:tc>
                  <a:txBody>
                    <a:bodyPr/>
                    <a:lstStyle/>
                    <a:p>
                      <a:pPr algn="l">
                        <a:buNone/>
                      </a:pPr>
                      <a:r>
                        <a:rPr lang="en-US" sz="1400">
                          <a:effectLst/>
                        </a:rPr>
                        <a:t>Identifies the specific process or application on a host. Enables communication to services like HTTP, FTP, SMTP. Example: Port 80 (HTTP), Port 25 (SMTP)</a:t>
                      </a:r>
                    </a:p>
                  </a:txBody>
                  <a:tcPr marL="26769" marR="26769" marT="26769" marB="26769" anchor="ctr"/>
                </a:tc>
                <a:extLst>
                  <a:ext uri="{0D108BD9-81ED-4DB2-BD59-A6C34878D82A}">
                    <a16:rowId xmlns:a16="http://schemas.microsoft.com/office/drawing/2014/main" val="4288404369"/>
                  </a:ext>
                </a:extLst>
              </a:tr>
              <a:tr h="896746">
                <a:tc>
                  <a:txBody>
                    <a:bodyPr/>
                    <a:lstStyle/>
                    <a:p>
                      <a:pPr algn="l">
                        <a:buNone/>
                      </a:pPr>
                      <a:r>
                        <a:rPr lang="en-IN" sz="1400" dirty="0">
                          <a:effectLst/>
                        </a:rPr>
                        <a:t>Application-Specific Address</a:t>
                      </a:r>
                    </a:p>
                  </a:txBody>
                  <a:tcPr marL="26769" marR="26769" marT="26769" marB="26769" anchor="ctr"/>
                </a:tc>
                <a:tc>
                  <a:txBody>
                    <a:bodyPr/>
                    <a:lstStyle/>
                    <a:p>
                      <a:pPr algn="l">
                        <a:buNone/>
                      </a:pPr>
                      <a:r>
                        <a:rPr lang="en-IN" sz="1400" dirty="0">
                          <a:effectLst/>
                        </a:rPr>
                        <a:t>Application Layer</a:t>
                      </a:r>
                    </a:p>
                  </a:txBody>
                  <a:tcPr marL="26769" marR="26769" marT="26769" marB="26769" anchor="ctr"/>
                </a:tc>
                <a:tc>
                  <a:txBody>
                    <a:bodyPr/>
                    <a:lstStyle/>
                    <a:p>
                      <a:pPr algn="l">
                        <a:buNone/>
                      </a:pPr>
                      <a:r>
                        <a:rPr lang="en-US" sz="1400" dirty="0">
                          <a:effectLst/>
                        </a:rPr>
                        <a:t>Easy-to-remember identifiers that map to services or resources. Examples include email addresses ([email protected]), URLs (www.example.com)</a:t>
                      </a:r>
                    </a:p>
                  </a:txBody>
                  <a:tcPr marL="26769" marR="26769" marT="26769" marB="26769" anchor="ctr"/>
                </a:tc>
                <a:extLst>
                  <a:ext uri="{0D108BD9-81ED-4DB2-BD59-A6C34878D82A}">
                    <a16:rowId xmlns:a16="http://schemas.microsoft.com/office/drawing/2014/main" val="1423606328"/>
                  </a:ext>
                </a:extLst>
              </a:tr>
            </a:tbl>
          </a:graphicData>
        </a:graphic>
      </p:graphicFrame>
    </p:spTree>
    <p:extLst>
      <p:ext uri="{BB962C8B-B14F-4D97-AF65-F5344CB8AC3E}">
        <p14:creationId xmlns:p14="http://schemas.microsoft.com/office/powerpoint/2010/main" val="1737964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ED8E8-A42F-64B6-1FA7-861A21E9DC5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E2148F8-E094-3097-E8EC-ACE971FD3292}"/>
              </a:ext>
            </a:extLst>
          </p:cNvPr>
          <p:cNvSpPr txBox="1"/>
          <p:nvPr/>
        </p:nvSpPr>
        <p:spPr>
          <a:xfrm>
            <a:off x="805069" y="141167"/>
            <a:ext cx="8378687" cy="3139321"/>
          </a:xfrm>
          <a:prstGeom prst="rect">
            <a:avLst/>
          </a:prstGeom>
          <a:noFill/>
        </p:spPr>
        <p:txBody>
          <a:bodyPr wrap="square">
            <a:spAutoFit/>
          </a:bodyPr>
          <a:lstStyle/>
          <a:p>
            <a:pPr algn="l">
              <a:buNone/>
            </a:pPr>
            <a:r>
              <a:rPr lang="en-US" b="1" i="0" dirty="0">
                <a:effectLst/>
                <a:latin typeface="fkGrotesk"/>
              </a:rPr>
              <a:t>How These Addresses Work Together</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Physical (MAC) Address: Used for communication within the same network segment, ensuring that frames reach the correct device on a LAN.</a:t>
            </a:r>
          </a:p>
          <a:p>
            <a:pPr algn="l">
              <a:buFont typeface="Arial" panose="020B0604020202020204" pitchFamily="34" charset="0"/>
              <a:buChar char="•"/>
            </a:pPr>
            <a:r>
              <a:rPr lang="en-US" b="0" i="0" dirty="0">
                <a:effectLst/>
                <a:latin typeface="fkGroteskNeue"/>
              </a:rPr>
              <a:t>Logical (IP) Address: Used for routing packets between different networks, uniquely identifying each device globally.</a:t>
            </a:r>
          </a:p>
          <a:p>
            <a:pPr algn="l">
              <a:buFont typeface="Arial" panose="020B0604020202020204" pitchFamily="34" charset="0"/>
              <a:buChar char="•"/>
            </a:pPr>
            <a:r>
              <a:rPr lang="en-US" b="0" i="0" dirty="0">
                <a:effectLst/>
                <a:latin typeface="fkGroteskNeue"/>
              </a:rPr>
              <a:t>Port Address: Used to direct data to the correct process/application on a device after the packet reaches its destination.</a:t>
            </a:r>
          </a:p>
          <a:p>
            <a:pPr algn="l">
              <a:buFont typeface="Arial" panose="020B0604020202020204" pitchFamily="34" charset="0"/>
              <a:buChar char="•"/>
            </a:pPr>
            <a:r>
              <a:rPr lang="en-US" b="0" i="0" dirty="0">
                <a:effectLst/>
                <a:latin typeface="fkGroteskNeue"/>
              </a:rPr>
              <a:t>Application-Specific Addresses: Present user-friendly means of accessing resources; these are translated by protocols (like DNS for URLs or email servers for email addresses) into the appropriate network or transport addresses.</a:t>
            </a:r>
          </a:p>
        </p:txBody>
      </p:sp>
    </p:spTree>
    <p:extLst>
      <p:ext uri="{BB962C8B-B14F-4D97-AF65-F5344CB8AC3E}">
        <p14:creationId xmlns:p14="http://schemas.microsoft.com/office/powerpoint/2010/main" val="207521283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100</TotalTime>
  <Words>2645</Words>
  <Application>Microsoft Office PowerPoint</Application>
  <PresentationFormat>Widescreen</PresentationFormat>
  <Paragraphs>193</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fkGrotesk</vt:lpstr>
      <vt:lpstr>fkGroteskNeue</vt:lpstr>
      <vt:lpstr>Nunito</vt:lpstr>
      <vt:lpstr>Trebuchet MS</vt:lpstr>
      <vt:lpstr>Wingdings</vt:lpstr>
      <vt:lpstr>Wingdings 3</vt:lpstr>
      <vt:lpstr>Facet</vt:lpstr>
      <vt:lpstr>The TCP / IP Protocol Suite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2025-10-10T18:50:42Z</dcterms:created>
  <dcterms:modified xsi:type="dcterms:W3CDTF">2025-10-10T20:31:36Z</dcterms:modified>
</cp:coreProperties>
</file>