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 id="273" r:id="rId18"/>
    <p:sldId id="274" r:id="rId19"/>
    <p:sldId id="275" r:id="rId20"/>
    <p:sldId id="276" r:id="rId21"/>
    <p:sldId id="272" r:id="rId22"/>
    <p:sldId id="277" r:id="rId23"/>
    <p:sldId id="278" r:id="rId24"/>
    <p:sldId id="279" r:id="rId25"/>
    <p:sldId id="280" r:id="rId26"/>
    <p:sldId id="281" r:id="rId27"/>
    <p:sldId id="28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8:49:40.837"/>
    </inkml:context>
    <inkml:brush xml:id="br0">
      <inkml:brushProperty name="width" value="0.2" units="cm"/>
      <inkml:brushProperty name="height" value="0.2" units="cm"/>
    </inkml:brush>
  </inkml:definitions>
  <inkml:trace contextRef="#ctx0" brushRef="#br0">1 1 24575,'0'-1'-8191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8:49:43.162"/>
    </inkml:context>
    <inkml:brush xml:id="br0">
      <inkml:brushProperty name="width" value="0.2" units="cm"/>
      <inkml:brushProperty name="height" value="0.2" units="cm"/>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8:49:44.786"/>
    </inkml:context>
    <inkml:brush xml:id="br0">
      <inkml:brushProperty name="width" value="0.2" units="cm"/>
      <inkml:brushProperty name="height" value="0.2" units="cm"/>
    </inkml:brush>
  </inkml:definitions>
  <inkml:trace contextRef="#ctx0" brushRef="#br0">0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8:49:46.105"/>
    </inkml:context>
    <inkml:brush xml:id="br0">
      <inkml:brushProperty name="width" value="0.2" units="cm"/>
      <inkml:brushProperty name="height" value="0.2" units="cm"/>
    </inkml:brush>
  </inkml:definitions>
  <inkml:trace contextRef="#ctx0" brushRef="#br0">0 0 24575,'5'0'0,"7"0"0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8:49:16.200"/>
    </inkml:context>
    <inkml:brush xml:id="br0">
      <inkml:brushProperty name="width" value="0.2" units="cm"/>
      <inkml:brushProperty name="height" value="0.2" units="cm"/>
    </inkml:brush>
  </inkml:definitions>
  <inkml:trace contextRef="#ctx0" brushRef="#br0">0 17 24575,'0'-5'0,"0"-6"0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8:49:22.699"/>
    </inkml:context>
    <inkml:brush xml:id="br0">
      <inkml:brushProperty name="width" value="0.2" units="cm"/>
      <inkml:brushProperty name="height" value="0.2" units="cm"/>
    </inkml:brush>
  </inkml:definitions>
  <inkml:trace contextRef="#ctx0" brushRef="#br0">0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8:49:25.339"/>
    </inkml:context>
    <inkml:brush xml:id="br0">
      <inkml:brushProperty name="width" value="0.2" units="cm"/>
      <inkml:brushProperty name="height" value="0.2" units="cm"/>
    </inkml:brush>
  </inkml:definitions>
  <inkml:trace contextRef="#ctx0" brushRef="#br0">0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8:51:42.662"/>
    </inkml:context>
    <inkml:brush xml:id="br0">
      <inkml:brushProperty name="width" value="0.2" units="cm"/>
      <inkml:brushProperty name="height" value="0.2" units="cm"/>
    </inkml:brush>
  </inkml:definitions>
  <inkml:trace contextRef="#ctx0" brushRef="#br0">1 1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8:51:50.682"/>
    </inkml:context>
    <inkml:brush xml:id="br0">
      <inkml:brushProperty name="width" value="0.2" units="cm"/>
      <inkml:brushProperty name="height" value="0.2" units="cm"/>
    </inkml:brush>
  </inkml:definitions>
  <inkml:trace contextRef="#ctx0" brushRef="#br0">0 6 24575,'0'-5'0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8:51:54.715"/>
    </inkml:context>
    <inkml:brush xml:id="br0">
      <inkml:brushProperty name="width" value="0.2" units="cm"/>
      <inkml:brushProperty name="height" value="0.2" units="cm"/>
    </inkml:brush>
  </inkml:definitions>
  <inkml:trace contextRef="#ctx0" brushRef="#br0">1 1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8:51:57.181"/>
    </inkml:context>
    <inkml:brush xml:id="br0">
      <inkml:brushProperty name="width" value="0.2" units="cm"/>
      <inkml:brushProperty name="height" value="0.2" units="cm"/>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769058-EA40-4780-8A4F-D031C32EA2AD}" type="datetimeFigureOut">
              <a:rPr lang="en-IN" smtClean="0"/>
              <a:t>25-09-2025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78B0ED-B8EE-4F81-B9CF-89689F16D999}" type="slidenum">
              <a:rPr lang="en-IN" smtClean="0"/>
              <a:t>‹#›</a:t>
            </a:fld>
            <a:endParaRPr lang="en-IN"/>
          </a:p>
        </p:txBody>
      </p:sp>
    </p:spTree>
    <p:extLst>
      <p:ext uri="{BB962C8B-B14F-4D97-AF65-F5344CB8AC3E}">
        <p14:creationId xmlns:p14="http://schemas.microsoft.com/office/powerpoint/2010/main" val="4216049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78B0ED-B8EE-4F81-B9CF-89689F16D999}" type="slidenum">
              <a:rPr lang="en-IN" smtClean="0"/>
              <a:t>4</a:t>
            </a:fld>
            <a:endParaRPr lang="en-IN"/>
          </a:p>
        </p:txBody>
      </p:sp>
    </p:spTree>
    <p:extLst>
      <p:ext uri="{BB962C8B-B14F-4D97-AF65-F5344CB8AC3E}">
        <p14:creationId xmlns:p14="http://schemas.microsoft.com/office/powerpoint/2010/main" val="661489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E6B6F08-0814-4DB8-B844-F09515206B44}" type="datetimeFigureOut">
              <a:rPr lang="en-IN" smtClean="0"/>
              <a:t>25-09-2025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8CC4-7581-4530-BB48-CF393B29A109}" type="slidenum">
              <a:rPr lang="en-IN" smtClean="0"/>
              <a:t>‹#›</a:t>
            </a:fld>
            <a:endParaRPr lang="en-IN"/>
          </a:p>
        </p:txBody>
      </p:sp>
    </p:spTree>
    <p:extLst>
      <p:ext uri="{BB962C8B-B14F-4D97-AF65-F5344CB8AC3E}">
        <p14:creationId xmlns:p14="http://schemas.microsoft.com/office/powerpoint/2010/main" val="1982635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6B6F08-0814-4DB8-B844-F09515206B44}" type="datetimeFigureOut">
              <a:rPr lang="en-IN" smtClean="0"/>
              <a:t>25-09-2025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8CC4-7581-4530-BB48-CF393B29A109}" type="slidenum">
              <a:rPr lang="en-IN" smtClean="0"/>
              <a:t>‹#›</a:t>
            </a:fld>
            <a:endParaRPr lang="en-IN"/>
          </a:p>
        </p:txBody>
      </p:sp>
    </p:spTree>
    <p:extLst>
      <p:ext uri="{BB962C8B-B14F-4D97-AF65-F5344CB8AC3E}">
        <p14:creationId xmlns:p14="http://schemas.microsoft.com/office/powerpoint/2010/main" val="4047905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6B6F08-0814-4DB8-B844-F09515206B44}" type="datetimeFigureOut">
              <a:rPr lang="en-IN" smtClean="0"/>
              <a:t>25-09-2025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8CC4-7581-4530-BB48-CF393B29A109}" type="slidenum">
              <a:rPr lang="en-IN" smtClean="0"/>
              <a:t>‹#›</a:t>
            </a:fld>
            <a:endParaRPr lang="en-IN"/>
          </a:p>
        </p:txBody>
      </p:sp>
    </p:spTree>
    <p:extLst>
      <p:ext uri="{BB962C8B-B14F-4D97-AF65-F5344CB8AC3E}">
        <p14:creationId xmlns:p14="http://schemas.microsoft.com/office/powerpoint/2010/main" val="2530219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6B6F08-0814-4DB8-B844-F09515206B44}" type="datetimeFigureOut">
              <a:rPr lang="en-IN" smtClean="0"/>
              <a:t>25-09-2025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8CC4-7581-4530-BB48-CF393B29A109}" type="slidenum">
              <a:rPr lang="en-IN" smtClean="0"/>
              <a:t>‹#›</a:t>
            </a:fld>
            <a:endParaRPr lang="en-IN"/>
          </a:p>
        </p:txBody>
      </p:sp>
    </p:spTree>
    <p:extLst>
      <p:ext uri="{BB962C8B-B14F-4D97-AF65-F5344CB8AC3E}">
        <p14:creationId xmlns:p14="http://schemas.microsoft.com/office/powerpoint/2010/main" val="3531097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6B6F08-0814-4DB8-B844-F09515206B44}" type="datetimeFigureOut">
              <a:rPr lang="en-IN" smtClean="0"/>
              <a:t>25-09-2025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B3D8CC4-7581-4530-BB48-CF393B29A109}" type="slidenum">
              <a:rPr lang="en-IN" smtClean="0"/>
              <a:t>‹#›</a:t>
            </a:fld>
            <a:endParaRPr lang="en-IN"/>
          </a:p>
        </p:txBody>
      </p:sp>
    </p:spTree>
    <p:extLst>
      <p:ext uri="{BB962C8B-B14F-4D97-AF65-F5344CB8AC3E}">
        <p14:creationId xmlns:p14="http://schemas.microsoft.com/office/powerpoint/2010/main" val="1444287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E6B6F08-0814-4DB8-B844-F09515206B44}" type="datetimeFigureOut">
              <a:rPr lang="en-IN" smtClean="0"/>
              <a:t>25-09-2025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3D8CC4-7581-4530-BB48-CF393B29A109}" type="slidenum">
              <a:rPr lang="en-IN" smtClean="0"/>
              <a:t>‹#›</a:t>
            </a:fld>
            <a:endParaRPr lang="en-IN"/>
          </a:p>
        </p:txBody>
      </p:sp>
    </p:spTree>
    <p:extLst>
      <p:ext uri="{BB962C8B-B14F-4D97-AF65-F5344CB8AC3E}">
        <p14:creationId xmlns:p14="http://schemas.microsoft.com/office/powerpoint/2010/main" val="1164172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6B6F08-0814-4DB8-B844-F09515206B44}" type="datetimeFigureOut">
              <a:rPr lang="en-IN" smtClean="0"/>
              <a:t>25-09-2025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B3D8CC4-7581-4530-BB48-CF393B29A109}" type="slidenum">
              <a:rPr lang="en-IN" smtClean="0"/>
              <a:t>‹#›</a:t>
            </a:fld>
            <a:endParaRPr lang="en-IN"/>
          </a:p>
        </p:txBody>
      </p:sp>
    </p:spTree>
    <p:extLst>
      <p:ext uri="{BB962C8B-B14F-4D97-AF65-F5344CB8AC3E}">
        <p14:creationId xmlns:p14="http://schemas.microsoft.com/office/powerpoint/2010/main" val="1969721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6B6F08-0814-4DB8-B844-F09515206B44}" type="datetimeFigureOut">
              <a:rPr lang="en-IN" smtClean="0"/>
              <a:t>25-09-2025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8CC4-7581-4530-BB48-CF393B29A109}" type="slidenum">
              <a:rPr lang="en-IN" smtClean="0"/>
              <a:t>‹#›</a:t>
            </a:fld>
            <a:endParaRPr lang="en-IN"/>
          </a:p>
        </p:txBody>
      </p:sp>
    </p:spTree>
    <p:extLst>
      <p:ext uri="{BB962C8B-B14F-4D97-AF65-F5344CB8AC3E}">
        <p14:creationId xmlns:p14="http://schemas.microsoft.com/office/powerpoint/2010/main" val="3476140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6B6F08-0814-4DB8-B844-F09515206B44}" type="datetimeFigureOut">
              <a:rPr lang="en-IN" smtClean="0"/>
              <a:t>25-09-2025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8CC4-7581-4530-BB48-CF393B29A109}" type="slidenum">
              <a:rPr lang="en-IN" smtClean="0"/>
              <a:t>‹#›</a:t>
            </a:fld>
            <a:endParaRPr lang="en-IN"/>
          </a:p>
        </p:txBody>
      </p:sp>
    </p:spTree>
    <p:extLst>
      <p:ext uri="{BB962C8B-B14F-4D97-AF65-F5344CB8AC3E}">
        <p14:creationId xmlns:p14="http://schemas.microsoft.com/office/powerpoint/2010/main" val="3438969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6B6F08-0814-4DB8-B844-F09515206B44}" type="datetimeFigureOut">
              <a:rPr lang="en-IN" smtClean="0"/>
              <a:t>25-09-2025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8CC4-7581-4530-BB48-CF393B29A109}" type="slidenum">
              <a:rPr lang="en-IN" smtClean="0"/>
              <a:t>‹#›</a:t>
            </a:fld>
            <a:endParaRPr lang="en-IN"/>
          </a:p>
        </p:txBody>
      </p:sp>
    </p:spTree>
    <p:extLst>
      <p:ext uri="{BB962C8B-B14F-4D97-AF65-F5344CB8AC3E}">
        <p14:creationId xmlns:p14="http://schemas.microsoft.com/office/powerpoint/2010/main" val="308163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6B6F08-0814-4DB8-B844-F09515206B44}" type="datetimeFigureOut">
              <a:rPr lang="en-IN" smtClean="0"/>
              <a:t>25-09-2025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8CC4-7581-4530-BB48-CF393B29A109}"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8511578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6B6F08-0814-4DB8-B844-F09515206B44}" type="datetimeFigureOut">
              <a:rPr lang="en-IN" smtClean="0"/>
              <a:t>25-09-2025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8CC4-7581-4530-BB48-CF393B29A109}" type="slidenum">
              <a:rPr lang="en-IN" smtClean="0"/>
              <a:t>‹#›</a:t>
            </a:fld>
            <a:endParaRPr lang="en-IN"/>
          </a:p>
        </p:txBody>
      </p:sp>
    </p:spTree>
    <p:extLst>
      <p:ext uri="{BB962C8B-B14F-4D97-AF65-F5344CB8AC3E}">
        <p14:creationId xmlns:p14="http://schemas.microsoft.com/office/powerpoint/2010/main" val="581930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6B6F08-0814-4DB8-B844-F09515206B44}" type="datetimeFigureOut">
              <a:rPr lang="en-IN" smtClean="0"/>
              <a:t>25-09-2025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8CC4-7581-4530-BB48-CF393B29A109}"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45950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6B6F08-0814-4DB8-B844-F09515206B44}" type="datetimeFigureOut">
              <a:rPr lang="en-IN" smtClean="0"/>
              <a:t>25-09-2025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8CC4-7581-4530-BB48-CF393B29A109}" type="slidenum">
              <a:rPr lang="en-IN" smtClean="0"/>
              <a:t>‹#›</a:t>
            </a:fld>
            <a:endParaRPr lang="en-IN"/>
          </a:p>
        </p:txBody>
      </p:sp>
    </p:spTree>
    <p:extLst>
      <p:ext uri="{BB962C8B-B14F-4D97-AF65-F5344CB8AC3E}">
        <p14:creationId xmlns:p14="http://schemas.microsoft.com/office/powerpoint/2010/main" val="29943146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6B6F08-0814-4DB8-B844-F09515206B44}" type="datetimeFigureOut">
              <a:rPr lang="en-IN" smtClean="0"/>
              <a:t>25-09-2025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8CC4-7581-4530-BB48-CF393B29A109}" type="slidenum">
              <a:rPr lang="en-IN" smtClean="0"/>
              <a:t>‹#›</a:t>
            </a:fld>
            <a:endParaRPr lang="en-IN"/>
          </a:p>
        </p:txBody>
      </p:sp>
    </p:spTree>
    <p:extLst>
      <p:ext uri="{BB962C8B-B14F-4D97-AF65-F5344CB8AC3E}">
        <p14:creationId xmlns:p14="http://schemas.microsoft.com/office/powerpoint/2010/main" val="3244624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6B6F08-0814-4DB8-B844-F09515206B44}" type="datetimeFigureOut">
              <a:rPr lang="en-IN" smtClean="0"/>
              <a:t>25-09-2025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8CC4-7581-4530-BB48-CF393B29A109}" type="slidenum">
              <a:rPr lang="en-IN" smtClean="0"/>
              <a:t>‹#›</a:t>
            </a:fld>
            <a:endParaRPr lang="en-IN"/>
          </a:p>
        </p:txBody>
      </p:sp>
    </p:spTree>
    <p:extLst>
      <p:ext uri="{BB962C8B-B14F-4D97-AF65-F5344CB8AC3E}">
        <p14:creationId xmlns:p14="http://schemas.microsoft.com/office/powerpoint/2010/main" val="3992541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E6B6F08-0814-4DB8-B844-F09515206B44}" type="datetimeFigureOut">
              <a:rPr lang="en-IN" smtClean="0"/>
              <a:t>25-09-2025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B3D8CC4-7581-4530-BB48-CF393B29A109}" type="slidenum">
              <a:rPr lang="en-IN" smtClean="0"/>
              <a:t>‹#›</a:t>
            </a:fld>
            <a:endParaRPr lang="en-IN"/>
          </a:p>
        </p:txBody>
      </p:sp>
    </p:spTree>
    <p:extLst>
      <p:ext uri="{BB962C8B-B14F-4D97-AF65-F5344CB8AC3E}">
        <p14:creationId xmlns:p14="http://schemas.microsoft.com/office/powerpoint/2010/main" val="13300583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4.xml"/><Relationship Id="rId5" Type="http://schemas.openxmlformats.org/officeDocument/2006/relationships/customXml" Target="../ink/ink3.xml"/><Relationship Id="rId4" Type="http://schemas.openxmlformats.org/officeDocument/2006/relationships/customXml" Target="../ink/ink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customXml" Target="../ink/ink9.xml"/><Relationship Id="rId3" Type="http://schemas.openxmlformats.org/officeDocument/2006/relationships/image" Target="../media/image6.png"/><Relationship Id="rId7" Type="http://schemas.openxmlformats.org/officeDocument/2006/relationships/customXml" Target="../ink/ink8.xml"/><Relationship Id="rId2" Type="http://schemas.openxmlformats.org/officeDocument/2006/relationships/customXml" Target="../ink/ink5.xml"/><Relationship Id="rId1" Type="http://schemas.openxmlformats.org/officeDocument/2006/relationships/slideLayout" Target="../slideLayouts/slideLayout1.xml"/><Relationship Id="rId6" Type="http://schemas.openxmlformats.org/officeDocument/2006/relationships/customXml" Target="../ink/ink7.xml"/><Relationship Id="rId11" Type="http://schemas.openxmlformats.org/officeDocument/2006/relationships/customXml" Target="../ink/ink11.xml"/><Relationship Id="rId5" Type="http://schemas.openxmlformats.org/officeDocument/2006/relationships/image" Target="../media/image2.png"/><Relationship Id="rId10" Type="http://schemas.openxmlformats.org/officeDocument/2006/relationships/customXml" Target="../ink/ink10.xml"/><Relationship Id="rId4" Type="http://schemas.openxmlformats.org/officeDocument/2006/relationships/customXml" Target="../ink/ink6.xml"/><Relationship Id="rId9"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03246-65B8-314E-E8ED-0E78CEBBCDF4}"/>
              </a:ext>
            </a:extLst>
          </p:cNvPr>
          <p:cNvSpPr>
            <a:spLocks noGrp="1"/>
          </p:cNvSpPr>
          <p:nvPr>
            <p:ph type="ctrTitle"/>
          </p:nvPr>
        </p:nvSpPr>
        <p:spPr>
          <a:xfrm>
            <a:off x="966354" y="1965503"/>
            <a:ext cx="8478982" cy="1646302"/>
          </a:xfrm>
        </p:spPr>
        <p:txBody>
          <a:bodyPr/>
          <a:lstStyle/>
          <a:p>
            <a:pPr algn="ctr"/>
            <a:r>
              <a:rPr lang="en-US" dirty="0"/>
              <a:t>3.Process management </a:t>
            </a:r>
            <a:endParaRPr lang="en-IN" dirty="0"/>
          </a:p>
        </p:txBody>
      </p:sp>
    </p:spTree>
    <p:extLst>
      <p:ext uri="{BB962C8B-B14F-4D97-AF65-F5344CB8AC3E}">
        <p14:creationId xmlns:p14="http://schemas.microsoft.com/office/powerpoint/2010/main" val="2640358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200C9FF-682D-F8E6-33D4-34ED5DA13987}"/>
              </a:ext>
            </a:extLst>
          </p:cNvPr>
          <p:cNvSpPr txBox="1"/>
          <p:nvPr/>
        </p:nvSpPr>
        <p:spPr>
          <a:xfrm>
            <a:off x="872836" y="207818"/>
            <a:ext cx="8284152" cy="3139321"/>
          </a:xfrm>
          <a:prstGeom prst="rect">
            <a:avLst/>
          </a:prstGeom>
          <a:noFill/>
        </p:spPr>
        <p:txBody>
          <a:bodyPr wrap="square">
            <a:spAutoFit/>
          </a:bodyPr>
          <a:lstStyle/>
          <a:p>
            <a:r>
              <a:rPr lang="en-US" b="1" u="sng" dirty="0"/>
              <a:t>3.1 Process </a:t>
            </a:r>
          </a:p>
          <a:p>
            <a:pPr marL="342900" indent="-342900">
              <a:buAutoNum type="arabicPeriod"/>
            </a:pPr>
            <a:r>
              <a:rPr lang="en-US" dirty="0"/>
              <a:t>A process is basically a program in execution. </a:t>
            </a:r>
          </a:p>
          <a:p>
            <a:pPr marL="342900" indent="-342900">
              <a:buAutoNum type="arabicPeriod"/>
            </a:pPr>
            <a:r>
              <a:rPr lang="en-US" dirty="0"/>
              <a:t>A process is defined as an entity which represents the basic unit of work to be implemented in the system. </a:t>
            </a:r>
          </a:p>
          <a:p>
            <a:pPr marL="342900" indent="-342900">
              <a:buAutoNum type="arabicPeriod"/>
            </a:pPr>
            <a:r>
              <a:rPr lang="en-US" dirty="0"/>
              <a:t> Program becomes process when it loaded in memory </a:t>
            </a:r>
          </a:p>
          <a:p>
            <a:pPr marL="285750" indent="-285750">
              <a:buFont typeface="Wingdings" panose="05000000000000000000" pitchFamily="2" charset="2"/>
              <a:buChar char="q"/>
            </a:pPr>
            <a:r>
              <a:rPr lang="en-US" dirty="0"/>
              <a:t>To put it in simple terms, we write our computer programs in a text file and when we execute this program, it becomes a process which performs all the tasks mentioned in the program. </a:t>
            </a:r>
          </a:p>
          <a:p>
            <a:pPr marL="285750" indent="-285750">
              <a:buFont typeface="Wingdings" panose="05000000000000000000" pitchFamily="2" charset="2"/>
              <a:buChar char="q"/>
            </a:pPr>
            <a:r>
              <a:rPr lang="en-US" dirty="0"/>
              <a:t>When a program is loaded into the memory and it becomes a process, it can be divided into four sections ─ stack, heap, text and data. The following image shows a simplified layout of a process inside main memory </a:t>
            </a:r>
            <a:endParaRPr lang="en-IN" dirty="0"/>
          </a:p>
        </p:txBody>
      </p:sp>
      <p:sp>
        <p:nvSpPr>
          <p:cNvPr id="7" name="Rectangle 6">
            <a:extLst>
              <a:ext uri="{FF2B5EF4-FFF2-40B4-BE49-F238E27FC236}">
                <a16:creationId xmlns:a16="http://schemas.microsoft.com/office/drawing/2014/main" id="{E6FDB46C-0623-8229-7988-2DD60F1985A2}"/>
              </a:ext>
            </a:extLst>
          </p:cNvPr>
          <p:cNvSpPr/>
          <p:nvPr/>
        </p:nvSpPr>
        <p:spPr>
          <a:xfrm>
            <a:off x="2441862" y="3429000"/>
            <a:ext cx="3948545" cy="529936"/>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dirty="0"/>
              <a:t>Stack</a:t>
            </a:r>
            <a:endParaRPr lang="en-IN" dirty="0"/>
          </a:p>
        </p:txBody>
      </p:sp>
      <p:sp>
        <p:nvSpPr>
          <p:cNvPr id="8" name="Rectangle 7">
            <a:extLst>
              <a:ext uri="{FF2B5EF4-FFF2-40B4-BE49-F238E27FC236}">
                <a16:creationId xmlns:a16="http://schemas.microsoft.com/office/drawing/2014/main" id="{0B236418-0ED9-5DBD-834D-FC3C8BAE7936}"/>
              </a:ext>
            </a:extLst>
          </p:cNvPr>
          <p:cNvSpPr/>
          <p:nvPr/>
        </p:nvSpPr>
        <p:spPr>
          <a:xfrm>
            <a:off x="2441860" y="5569527"/>
            <a:ext cx="3948545" cy="55071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dirty="0"/>
              <a:t>Data</a:t>
            </a:r>
            <a:endParaRPr lang="en-IN" dirty="0"/>
          </a:p>
        </p:txBody>
      </p:sp>
      <p:sp>
        <p:nvSpPr>
          <p:cNvPr id="9" name="Rectangle 8">
            <a:extLst>
              <a:ext uri="{FF2B5EF4-FFF2-40B4-BE49-F238E27FC236}">
                <a16:creationId xmlns:a16="http://schemas.microsoft.com/office/drawing/2014/main" id="{25EED52D-0E37-CB28-B4DC-72A672CB91FF}"/>
              </a:ext>
            </a:extLst>
          </p:cNvPr>
          <p:cNvSpPr/>
          <p:nvPr/>
        </p:nvSpPr>
        <p:spPr>
          <a:xfrm>
            <a:off x="2441862" y="3958935"/>
            <a:ext cx="3948545" cy="107026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10" name="Rectangle 9">
            <a:extLst>
              <a:ext uri="{FF2B5EF4-FFF2-40B4-BE49-F238E27FC236}">
                <a16:creationId xmlns:a16="http://schemas.microsoft.com/office/drawing/2014/main" id="{E348C56A-1AAE-EA73-E352-1C6BAF552185}"/>
              </a:ext>
            </a:extLst>
          </p:cNvPr>
          <p:cNvSpPr/>
          <p:nvPr/>
        </p:nvSpPr>
        <p:spPr>
          <a:xfrm>
            <a:off x="2441859" y="5029199"/>
            <a:ext cx="3948545" cy="56110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dirty="0"/>
              <a:t>Head</a:t>
            </a:r>
            <a:endParaRPr lang="en-IN" dirty="0"/>
          </a:p>
        </p:txBody>
      </p:sp>
      <p:sp>
        <p:nvSpPr>
          <p:cNvPr id="11" name="Rectangle 10">
            <a:extLst>
              <a:ext uri="{FF2B5EF4-FFF2-40B4-BE49-F238E27FC236}">
                <a16:creationId xmlns:a16="http://schemas.microsoft.com/office/drawing/2014/main" id="{46C0663D-3E8E-6865-479D-C1A773A9D070}"/>
              </a:ext>
            </a:extLst>
          </p:cNvPr>
          <p:cNvSpPr/>
          <p:nvPr/>
        </p:nvSpPr>
        <p:spPr>
          <a:xfrm>
            <a:off x="2441861" y="6120245"/>
            <a:ext cx="3948545" cy="529936"/>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dirty="0"/>
              <a:t>Text</a:t>
            </a:r>
            <a:endParaRPr lang="en-IN" dirty="0"/>
          </a:p>
        </p:txBody>
      </p:sp>
      <p:cxnSp>
        <p:nvCxnSpPr>
          <p:cNvPr id="13" name="Straight Arrow Connector 12">
            <a:extLst>
              <a:ext uri="{FF2B5EF4-FFF2-40B4-BE49-F238E27FC236}">
                <a16:creationId xmlns:a16="http://schemas.microsoft.com/office/drawing/2014/main" id="{95B4E829-8DF4-9D7A-307D-7E6989C7D904}"/>
              </a:ext>
            </a:extLst>
          </p:cNvPr>
          <p:cNvCxnSpPr>
            <a:cxnSpLocks/>
          </p:cNvCxnSpPr>
          <p:nvPr/>
        </p:nvCxnSpPr>
        <p:spPr>
          <a:xfrm flipV="1">
            <a:off x="4353791" y="3958935"/>
            <a:ext cx="0" cy="36368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60CF26B5-89FB-2DA0-F4C1-9F3FF5F37357}"/>
              </a:ext>
            </a:extLst>
          </p:cNvPr>
          <p:cNvCxnSpPr>
            <a:cxnSpLocks/>
          </p:cNvCxnSpPr>
          <p:nvPr/>
        </p:nvCxnSpPr>
        <p:spPr>
          <a:xfrm>
            <a:off x="4371109" y="4651660"/>
            <a:ext cx="0" cy="37753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5742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A62D6DF-1552-0CBA-F41F-15201E05E499}"/>
              </a:ext>
            </a:extLst>
          </p:cNvPr>
          <p:cNvGraphicFramePr>
            <a:graphicFrameLocks noGrp="1"/>
          </p:cNvGraphicFramePr>
          <p:nvPr>
            <p:extLst>
              <p:ext uri="{D42A27DB-BD31-4B8C-83A1-F6EECF244321}">
                <p14:modId xmlns:p14="http://schemas.microsoft.com/office/powerpoint/2010/main" val="1221031524"/>
              </p:ext>
            </p:extLst>
          </p:nvPr>
        </p:nvGraphicFramePr>
        <p:xfrm>
          <a:off x="1091046" y="332508"/>
          <a:ext cx="8063346" cy="5014365"/>
        </p:xfrm>
        <a:graphic>
          <a:graphicData uri="http://schemas.openxmlformats.org/drawingml/2006/table">
            <a:tbl>
              <a:tblPr firstRow="1" bandRow="1">
                <a:tableStyleId>{21E4AEA4-8DFA-4A89-87EB-49C32662AFE0}</a:tableStyleId>
              </a:tblPr>
              <a:tblGrid>
                <a:gridCol w="831273">
                  <a:extLst>
                    <a:ext uri="{9D8B030D-6E8A-4147-A177-3AD203B41FA5}">
                      <a16:colId xmlns:a16="http://schemas.microsoft.com/office/drawing/2014/main" val="3234303061"/>
                    </a:ext>
                  </a:extLst>
                </a:gridCol>
                <a:gridCol w="7232073">
                  <a:extLst>
                    <a:ext uri="{9D8B030D-6E8A-4147-A177-3AD203B41FA5}">
                      <a16:colId xmlns:a16="http://schemas.microsoft.com/office/drawing/2014/main" val="1029943386"/>
                    </a:ext>
                  </a:extLst>
                </a:gridCol>
              </a:tblGrid>
              <a:tr h="429628">
                <a:tc>
                  <a:txBody>
                    <a:bodyPr/>
                    <a:lstStyle/>
                    <a:p>
                      <a:pPr algn="ctr"/>
                      <a:r>
                        <a:rPr lang="en-US" dirty="0">
                          <a:solidFill>
                            <a:schemeClr val="tx1"/>
                          </a:solidFill>
                        </a:rPr>
                        <a:t>Sr.no </a:t>
                      </a:r>
                      <a:endParaRPr lang="en-IN" dirty="0">
                        <a:solidFill>
                          <a:schemeClr val="tx1"/>
                        </a:solidFill>
                      </a:endParaRPr>
                    </a:p>
                  </a:txBody>
                  <a:tcPr/>
                </a:tc>
                <a:tc>
                  <a:txBody>
                    <a:bodyPr/>
                    <a:lstStyle/>
                    <a:p>
                      <a:pPr algn="l"/>
                      <a:r>
                        <a:rPr lang="en-IN" dirty="0">
                          <a:solidFill>
                            <a:schemeClr val="tx1"/>
                          </a:solidFill>
                        </a:rPr>
                        <a:t>Component &amp; Description</a:t>
                      </a:r>
                    </a:p>
                  </a:txBody>
                  <a:tcPr/>
                </a:tc>
                <a:extLst>
                  <a:ext uri="{0D108BD9-81ED-4DB2-BD59-A6C34878D82A}">
                    <a16:rowId xmlns:a16="http://schemas.microsoft.com/office/drawing/2014/main" val="767946823"/>
                  </a:ext>
                </a:extLst>
              </a:tr>
              <a:tr h="1023947">
                <a:tc>
                  <a:txBody>
                    <a:bodyPr/>
                    <a:lstStyle/>
                    <a:p>
                      <a:pPr algn="ctr"/>
                      <a:r>
                        <a:rPr lang="en-US" dirty="0"/>
                        <a:t>1</a:t>
                      </a:r>
                      <a:endParaRPr lang="en-IN" dirty="0"/>
                    </a:p>
                  </a:txBody>
                  <a:tcPr anchor="ctr"/>
                </a:tc>
                <a:tc>
                  <a:txBody>
                    <a:bodyPr/>
                    <a:lstStyle/>
                    <a:p>
                      <a:pPr algn="l"/>
                      <a:r>
                        <a:rPr lang="en-US" dirty="0"/>
                        <a:t>Stack </a:t>
                      </a:r>
                    </a:p>
                    <a:p>
                      <a:pPr algn="l"/>
                      <a:endParaRPr lang="en-US" dirty="0"/>
                    </a:p>
                    <a:p>
                      <a:pPr algn="l"/>
                      <a:r>
                        <a:rPr lang="en-US" dirty="0"/>
                        <a:t>The process Stack contains the temporary data such as method/function parameters, return address and local variables. </a:t>
                      </a:r>
                      <a:endParaRPr lang="en-IN" dirty="0"/>
                    </a:p>
                  </a:txBody>
                  <a:tcPr/>
                </a:tc>
                <a:extLst>
                  <a:ext uri="{0D108BD9-81ED-4DB2-BD59-A6C34878D82A}">
                    <a16:rowId xmlns:a16="http://schemas.microsoft.com/office/drawing/2014/main" val="2816664625"/>
                  </a:ext>
                </a:extLst>
              </a:tr>
              <a:tr h="1023947">
                <a:tc>
                  <a:txBody>
                    <a:bodyPr/>
                    <a:lstStyle/>
                    <a:p>
                      <a:pPr algn="ctr"/>
                      <a:r>
                        <a:rPr lang="en-US" dirty="0"/>
                        <a:t>2</a:t>
                      </a:r>
                      <a:endParaRPr lang="en-IN" dirty="0"/>
                    </a:p>
                  </a:txBody>
                  <a:tcPr anchor="ctr"/>
                </a:tc>
                <a:tc>
                  <a:txBody>
                    <a:bodyPr/>
                    <a:lstStyle/>
                    <a:p>
                      <a:pPr algn="l"/>
                      <a:r>
                        <a:rPr lang="en-US" dirty="0"/>
                        <a:t>Heap</a:t>
                      </a:r>
                    </a:p>
                    <a:p>
                      <a:pPr algn="l"/>
                      <a:endParaRPr lang="en-US" dirty="0"/>
                    </a:p>
                    <a:p>
                      <a:pPr algn="l"/>
                      <a:r>
                        <a:rPr lang="en-US" dirty="0"/>
                        <a:t>This is dynamically allocated memory to a process during its run time.</a:t>
                      </a:r>
                      <a:endParaRPr lang="en-IN" dirty="0"/>
                    </a:p>
                  </a:txBody>
                  <a:tcPr/>
                </a:tc>
                <a:extLst>
                  <a:ext uri="{0D108BD9-81ED-4DB2-BD59-A6C34878D82A}">
                    <a16:rowId xmlns:a16="http://schemas.microsoft.com/office/drawing/2014/main" val="2314713660"/>
                  </a:ext>
                </a:extLst>
              </a:tr>
              <a:tr h="1023947">
                <a:tc>
                  <a:txBody>
                    <a:bodyPr/>
                    <a:lstStyle/>
                    <a:p>
                      <a:pPr algn="l"/>
                      <a:endParaRPr lang="en-US" dirty="0"/>
                    </a:p>
                    <a:p>
                      <a:pPr algn="ctr"/>
                      <a:r>
                        <a:rPr lang="en-IN" dirty="0"/>
                        <a:t>3</a:t>
                      </a:r>
                    </a:p>
                  </a:txBody>
                  <a:tcPr/>
                </a:tc>
                <a:tc>
                  <a:txBody>
                    <a:bodyPr/>
                    <a:lstStyle/>
                    <a:p>
                      <a:pPr algn="l"/>
                      <a:r>
                        <a:rPr lang="en-US" dirty="0"/>
                        <a:t>Text </a:t>
                      </a:r>
                    </a:p>
                    <a:p>
                      <a:pPr algn="l"/>
                      <a:endParaRPr lang="en-US" dirty="0"/>
                    </a:p>
                    <a:p>
                      <a:pPr algn="l"/>
                      <a:r>
                        <a:rPr lang="en-US" dirty="0"/>
                        <a:t>This includes the current activity represented by the value of Program Counter and the contents of the processor's registers. </a:t>
                      </a:r>
                      <a:endParaRPr lang="en-IN" dirty="0"/>
                    </a:p>
                  </a:txBody>
                  <a:tcPr/>
                </a:tc>
                <a:extLst>
                  <a:ext uri="{0D108BD9-81ED-4DB2-BD59-A6C34878D82A}">
                    <a16:rowId xmlns:a16="http://schemas.microsoft.com/office/drawing/2014/main" val="3640798250"/>
                  </a:ext>
                </a:extLst>
              </a:tr>
              <a:tr h="1018577">
                <a:tc>
                  <a:txBody>
                    <a:bodyPr/>
                    <a:lstStyle/>
                    <a:p>
                      <a:pPr algn="ctr"/>
                      <a:r>
                        <a:rPr lang="en-US" dirty="0"/>
                        <a:t>4</a:t>
                      </a:r>
                      <a:endParaRPr lang="en-IN" dirty="0"/>
                    </a:p>
                  </a:txBody>
                  <a:tcPr anchor="ctr"/>
                </a:tc>
                <a:tc>
                  <a:txBody>
                    <a:bodyPr/>
                    <a:lstStyle/>
                    <a:p>
                      <a:pPr algn="l"/>
                      <a:r>
                        <a:rPr lang="en-US" dirty="0"/>
                        <a:t>Data</a:t>
                      </a:r>
                    </a:p>
                    <a:p>
                      <a:pPr algn="l"/>
                      <a:endParaRPr lang="en-US" dirty="0"/>
                    </a:p>
                    <a:p>
                      <a:pPr algn="l"/>
                      <a:r>
                        <a:rPr lang="en-US" dirty="0"/>
                        <a:t>This section contains the global and static variables.</a:t>
                      </a:r>
                      <a:endParaRPr lang="en-IN" dirty="0"/>
                    </a:p>
                  </a:txBody>
                  <a:tcPr/>
                </a:tc>
                <a:extLst>
                  <a:ext uri="{0D108BD9-81ED-4DB2-BD59-A6C34878D82A}">
                    <a16:rowId xmlns:a16="http://schemas.microsoft.com/office/drawing/2014/main" val="2378623108"/>
                  </a:ext>
                </a:extLst>
              </a:tr>
            </a:tbl>
          </a:graphicData>
        </a:graphic>
      </p:graphicFrame>
    </p:spTree>
    <p:extLst>
      <p:ext uri="{BB962C8B-B14F-4D97-AF65-F5344CB8AC3E}">
        <p14:creationId xmlns:p14="http://schemas.microsoft.com/office/powerpoint/2010/main" val="115092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8F0C1-0917-57F4-C000-087F3BC72E3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A6CF7E9-6D71-F586-B160-E680093D037E}"/>
              </a:ext>
            </a:extLst>
          </p:cNvPr>
          <p:cNvSpPr>
            <a:spLocks noGrp="1"/>
          </p:cNvSpPr>
          <p:nvPr>
            <p:ph type="subTitle" idx="1"/>
          </p:nvPr>
        </p:nvSpPr>
        <p:spPr>
          <a:xfrm>
            <a:off x="1101437" y="278933"/>
            <a:ext cx="1641763" cy="313349"/>
          </a:xfrm>
        </p:spPr>
        <p:txBody>
          <a:bodyPr>
            <a:normAutofit fontScale="92500" lnSpcReduction="20000"/>
          </a:bodyPr>
          <a:lstStyle/>
          <a:p>
            <a:r>
              <a:rPr lang="en-US" dirty="0">
                <a:solidFill>
                  <a:schemeClr val="tx1"/>
                </a:solidFill>
              </a:rPr>
              <a:t>Process</a:t>
            </a:r>
            <a:r>
              <a:rPr lang="en-US" dirty="0"/>
              <a:t> </a:t>
            </a:r>
            <a:r>
              <a:rPr lang="en-US" dirty="0">
                <a:solidFill>
                  <a:schemeClr val="tx1"/>
                </a:solidFill>
              </a:rPr>
              <a:t>State</a:t>
            </a:r>
            <a:r>
              <a:rPr lang="en-US" dirty="0"/>
              <a:t> </a:t>
            </a:r>
            <a:endParaRPr lang="en-IN" dirty="0"/>
          </a:p>
        </p:txBody>
      </p:sp>
      <p:pic>
        <p:nvPicPr>
          <p:cNvPr id="9" name="Picture 8">
            <a:extLst>
              <a:ext uri="{FF2B5EF4-FFF2-40B4-BE49-F238E27FC236}">
                <a16:creationId xmlns:a16="http://schemas.microsoft.com/office/drawing/2014/main" id="{A84FE217-DFA9-BB3F-5771-3A4179CF2E9F}"/>
              </a:ext>
            </a:extLst>
          </p:cNvPr>
          <p:cNvPicPr>
            <a:picLocks noChangeAspect="1"/>
          </p:cNvPicPr>
          <p:nvPr/>
        </p:nvPicPr>
        <p:blipFill>
          <a:blip r:embed="rId3"/>
          <a:stretch>
            <a:fillRect/>
          </a:stretch>
        </p:blipFill>
        <p:spPr>
          <a:xfrm>
            <a:off x="1350819" y="1101435"/>
            <a:ext cx="8011390" cy="2961409"/>
          </a:xfrm>
          <a:prstGeom prst="rect">
            <a:avLst/>
          </a:prstGeom>
        </p:spPr>
      </p:pic>
      <p:sp>
        <p:nvSpPr>
          <p:cNvPr id="11" name="TextBox 10">
            <a:extLst>
              <a:ext uri="{FF2B5EF4-FFF2-40B4-BE49-F238E27FC236}">
                <a16:creationId xmlns:a16="http://schemas.microsoft.com/office/drawing/2014/main" id="{5E1CB6AA-7E33-52FB-315C-33FF5E27FF6E}"/>
              </a:ext>
            </a:extLst>
          </p:cNvPr>
          <p:cNvSpPr txBox="1"/>
          <p:nvPr/>
        </p:nvSpPr>
        <p:spPr>
          <a:xfrm>
            <a:off x="820882" y="4343400"/>
            <a:ext cx="8167253" cy="1477328"/>
          </a:xfrm>
          <a:prstGeom prst="rect">
            <a:avLst/>
          </a:prstGeom>
          <a:noFill/>
        </p:spPr>
        <p:txBody>
          <a:bodyPr wrap="square">
            <a:spAutoFit/>
          </a:bodyPr>
          <a:lstStyle/>
          <a:p>
            <a:pPr marL="342900" indent="-342900">
              <a:buFont typeface="+mj-lt"/>
              <a:buAutoNum type="arabicPeriod"/>
            </a:pPr>
            <a:r>
              <a:rPr lang="en-US" b="1" dirty="0"/>
              <a:t>New</a:t>
            </a:r>
            <a:r>
              <a:rPr lang="en-US" dirty="0"/>
              <a:t>: The process is being created</a:t>
            </a:r>
          </a:p>
          <a:p>
            <a:pPr marL="342900" indent="-342900">
              <a:buFont typeface="+mj-lt"/>
              <a:buAutoNum type="arabicPeriod"/>
            </a:pPr>
            <a:r>
              <a:rPr lang="en-US" b="1" dirty="0"/>
              <a:t>Running</a:t>
            </a:r>
            <a:r>
              <a:rPr lang="en-US" dirty="0"/>
              <a:t>: Instructions are being executed </a:t>
            </a:r>
          </a:p>
          <a:p>
            <a:pPr marL="342900" indent="-342900">
              <a:buFont typeface="+mj-lt"/>
              <a:buAutoNum type="arabicPeriod"/>
            </a:pPr>
            <a:r>
              <a:rPr lang="en-US" b="1" dirty="0"/>
              <a:t>Waiting</a:t>
            </a:r>
            <a:r>
              <a:rPr lang="en-US" dirty="0"/>
              <a:t>: The process is waiting for some event to occur.(I/O)</a:t>
            </a:r>
          </a:p>
          <a:p>
            <a:pPr marL="342900" indent="-342900">
              <a:buFont typeface="+mj-lt"/>
              <a:buAutoNum type="arabicPeriod"/>
            </a:pPr>
            <a:r>
              <a:rPr lang="en-US" b="1" dirty="0"/>
              <a:t>Ready</a:t>
            </a:r>
            <a:r>
              <a:rPr lang="en-US" dirty="0"/>
              <a:t>: The process is waiting to be assigned to a processor </a:t>
            </a:r>
          </a:p>
          <a:p>
            <a:pPr marL="342900" indent="-342900">
              <a:buFont typeface="+mj-lt"/>
              <a:buAutoNum type="arabicPeriod"/>
            </a:pPr>
            <a:r>
              <a:rPr lang="en-US" b="1" dirty="0"/>
              <a:t>Terminated</a:t>
            </a:r>
            <a:r>
              <a:rPr lang="en-US" dirty="0"/>
              <a:t>: The process has finished execution</a:t>
            </a:r>
            <a:endParaRPr lang="en-IN" dirty="0"/>
          </a:p>
        </p:txBody>
      </p:sp>
    </p:spTree>
    <p:extLst>
      <p:ext uri="{BB962C8B-B14F-4D97-AF65-F5344CB8AC3E}">
        <p14:creationId xmlns:p14="http://schemas.microsoft.com/office/powerpoint/2010/main" val="2957671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B7F9B-771F-6104-9A97-5F012D2AF30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F27229F-C80F-D4B9-9CBF-30CC50D9F982}"/>
              </a:ext>
            </a:extLst>
          </p:cNvPr>
          <p:cNvSpPr txBox="1"/>
          <p:nvPr/>
        </p:nvSpPr>
        <p:spPr>
          <a:xfrm>
            <a:off x="1046885" y="189545"/>
            <a:ext cx="8227118" cy="1200329"/>
          </a:xfrm>
          <a:prstGeom prst="rect">
            <a:avLst/>
          </a:prstGeom>
          <a:noFill/>
        </p:spPr>
        <p:txBody>
          <a:bodyPr wrap="square">
            <a:spAutoFit/>
          </a:bodyPr>
          <a:lstStyle/>
          <a:p>
            <a:r>
              <a:rPr lang="en-US" b="1" u="sng" dirty="0"/>
              <a:t>Structure of the Process Control Block </a:t>
            </a:r>
          </a:p>
          <a:p>
            <a:pPr marL="285750" indent="-285750">
              <a:buFont typeface="Wingdings" panose="05000000000000000000" pitchFamily="2" charset="2"/>
              <a:buChar char="q"/>
            </a:pPr>
            <a:r>
              <a:rPr lang="en-US" dirty="0"/>
              <a:t>The process control stores many data items that are needed for efficient process management. Some of these data items are explained with the help of the given diagram −</a:t>
            </a:r>
            <a:endParaRPr lang="en-IN" dirty="0"/>
          </a:p>
        </p:txBody>
      </p:sp>
      <p:sp>
        <p:nvSpPr>
          <p:cNvPr id="7" name="Rectangle 6">
            <a:extLst>
              <a:ext uri="{FF2B5EF4-FFF2-40B4-BE49-F238E27FC236}">
                <a16:creationId xmlns:a16="http://schemas.microsoft.com/office/drawing/2014/main" id="{7BB3FCE4-F6F4-0EEC-5EF2-1AD65C3FB78E}"/>
              </a:ext>
            </a:extLst>
          </p:cNvPr>
          <p:cNvSpPr/>
          <p:nvPr/>
        </p:nvSpPr>
        <p:spPr>
          <a:xfrm>
            <a:off x="3066672" y="1495810"/>
            <a:ext cx="3029325" cy="63951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Process State </a:t>
            </a:r>
            <a:endParaRPr lang="en-IN" dirty="0"/>
          </a:p>
        </p:txBody>
      </p:sp>
      <p:sp>
        <p:nvSpPr>
          <p:cNvPr id="8" name="Rectangle 7">
            <a:extLst>
              <a:ext uri="{FF2B5EF4-FFF2-40B4-BE49-F238E27FC236}">
                <a16:creationId xmlns:a16="http://schemas.microsoft.com/office/drawing/2014/main" id="{D1D52BFF-CBFB-1706-EC40-6517711CABB1}"/>
              </a:ext>
            </a:extLst>
          </p:cNvPr>
          <p:cNvSpPr/>
          <p:nvPr/>
        </p:nvSpPr>
        <p:spPr>
          <a:xfrm>
            <a:off x="3066673" y="2768535"/>
            <a:ext cx="3029324" cy="63951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Program counter </a:t>
            </a:r>
            <a:endParaRPr lang="en-IN" dirty="0"/>
          </a:p>
        </p:txBody>
      </p:sp>
      <p:sp>
        <p:nvSpPr>
          <p:cNvPr id="9" name="Rectangle 8">
            <a:extLst>
              <a:ext uri="{FF2B5EF4-FFF2-40B4-BE49-F238E27FC236}">
                <a16:creationId xmlns:a16="http://schemas.microsoft.com/office/drawing/2014/main" id="{4D4B82FE-04C7-ABC6-55BF-1355F052FB75}"/>
              </a:ext>
            </a:extLst>
          </p:cNvPr>
          <p:cNvSpPr/>
          <p:nvPr/>
        </p:nvSpPr>
        <p:spPr>
          <a:xfrm>
            <a:off x="3066673" y="4657801"/>
            <a:ext cx="3029324" cy="63951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List of Open File </a:t>
            </a:r>
            <a:endParaRPr lang="en-IN" dirty="0"/>
          </a:p>
        </p:txBody>
      </p:sp>
      <p:sp>
        <p:nvSpPr>
          <p:cNvPr id="10" name="Rectangle 9">
            <a:extLst>
              <a:ext uri="{FF2B5EF4-FFF2-40B4-BE49-F238E27FC236}">
                <a16:creationId xmlns:a16="http://schemas.microsoft.com/office/drawing/2014/main" id="{DF6C8798-165D-D6DD-A5A7-050F36354873}"/>
              </a:ext>
            </a:extLst>
          </p:cNvPr>
          <p:cNvSpPr/>
          <p:nvPr/>
        </p:nvSpPr>
        <p:spPr>
          <a:xfrm>
            <a:off x="3066673" y="4018283"/>
            <a:ext cx="3029325" cy="63951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Memory Limits</a:t>
            </a:r>
            <a:endParaRPr lang="en-IN" dirty="0"/>
          </a:p>
        </p:txBody>
      </p:sp>
      <p:sp>
        <p:nvSpPr>
          <p:cNvPr id="12" name="Rectangle 11">
            <a:extLst>
              <a:ext uri="{FF2B5EF4-FFF2-40B4-BE49-F238E27FC236}">
                <a16:creationId xmlns:a16="http://schemas.microsoft.com/office/drawing/2014/main" id="{659C334F-C694-11D2-30B3-02CA1D346DBD}"/>
              </a:ext>
            </a:extLst>
          </p:cNvPr>
          <p:cNvSpPr/>
          <p:nvPr/>
        </p:nvSpPr>
        <p:spPr>
          <a:xfrm>
            <a:off x="3066673" y="3408053"/>
            <a:ext cx="3029325" cy="63951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Register </a:t>
            </a:r>
            <a:endParaRPr lang="en-IN" dirty="0"/>
          </a:p>
        </p:txBody>
      </p:sp>
      <p:sp>
        <p:nvSpPr>
          <p:cNvPr id="13" name="Rectangle 12">
            <a:extLst>
              <a:ext uri="{FF2B5EF4-FFF2-40B4-BE49-F238E27FC236}">
                <a16:creationId xmlns:a16="http://schemas.microsoft.com/office/drawing/2014/main" id="{B3D218F4-26FE-621E-B815-9B565F9A5392}"/>
              </a:ext>
            </a:extLst>
          </p:cNvPr>
          <p:cNvSpPr/>
          <p:nvPr/>
        </p:nvSpPr>
        <p:spPr>
          <a:xfrm>
            <a:off x="3066673" y="5297319"/>
            <a:ext cx="3029324" cy="1145046"/>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14" name="Rectangle 13">
            <a:extLst>
              <a:ext uri="{FF2B5EF4-FFF2-40B4-BE49-F238E27FC236}">
                <a16:creationId xmlns:a16="http://schemas.microsoft.com/office/drawing/2014/main" id="{33907BCB-AF46-FB35-BA6C-49AE2460F087}"/>
              </a:ext>
            </a:extLst>
          </p:cNvPr>
          <p:cNvSpPr/>
          <p:nvPr/>
        </p:nvSpPr>
        <p:spPr>
          <a:xfrm>
            <a:off x="3066672" y="2132172"/>
            <a:ext cx="3029325" cy="63951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Process Number </a:t>
            </a:r>
            <a:endParaRPr lang="en-IN" dirty="0"/>
          </a:p>
        </p:txBody>
      </p:sp>
      <mc:AlternateContent xmlns:mc="http://schemas.openxmlformats.org/markup-compatibility/2006">
        <mc:Choice xmlns:p14="http://schemas.microsoft.com/office/powerpoint/2010/main" Requires="p14">
          <p:contentPart p14:bwMode="auto" r:id="rId2">
            <p14:nvContentPartPr>
              <p14:cNvPr id="15" name="Ink 14">
                <a:extLst>
                  <a:ext uri="{FF2B5EF4-FFF2-40B4-BE49-F238E27FC236}">
                    <a16:creationId xmlns:a16="http://schemas.microsoft.com/office/drawing/2014/main" id="{7E484E44-387A-A35C-B4ED-194E9DCD8527}"/>
                  </a:ext>
                </a:extLst>
              </p14:cNvPr>
              <p14:cNvContentPartPr/>
              <p14:nvPr/>
            </p14:nvContentPartPr>
            <p14:xfrm>
              <a:off x="3418413" y="5579656"/>
              <a:ext cx="360" cy="360"/>
            </p14:xfrm>
          </p:contentPart>
        </mc:Choice>
        <mc:Fallback>
          <p:pic>
            <p:nvPicPr>
              <p:cNvPr id="15" name="Ink 14">
                <a:extLst>
                  <a:ext uri="{FF2B5EF4-FFF2-40B4-BE49-F238E27FC236}">
                    <a16:creationId xmlns:a16="http://schemas.microsoft.com/office/drawing/2014/main" id="{7E484E44-387A-A35C-B4ED-194E9DCD8527}"/>
                  </a:ext>
                </a:extLst>
              </p:cNvPr>
              <p:cNvPicPr/>
              <p:nvPr/>
            </p:nvPicPr>
            <p:blipFill>
              <a:blip r:embed="rId3"/>
              <a:stretch>
                <a:fillRect/>
              </a:stretch>
            </p:blipFill>
            <p:spPr>
              <a:xfrm>
                <a:off x="3382773" y="5543656"/>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6" name="Ink 15">
                <a:extLst>
                  <a:ext uri="{FF2B5EF4-FFF2-40B4-BE49-F238E27FC236}">
                    <a16:creationId xmlns:a16="http://schemas.microsoft.com/office/drawing/2014/main" id="{A1CACC3C-81BA-C69B-C472-F0821EC715BC}"/>
                  </a:ext>
                </a:extLst>
              </p14:cNvPr>
              <p14:cNvContentPartPr/>
              <p14:nvPr/>
            </p14:nvContentPartPr>
            <p14:xfrm>
              <a:off x="3428853" y="5808256"/>
              <a:ext cx="360" cy="360"/>
            </p14:xfrm>
          </p:contentPart>
        </mc:Choice>
        <mc:Fallback>
          <p:pic>
            <p:nvPicPr>
              <p:cNvPr id="16" name="Ink 15">
                <a:extLst>
                  <a:ext uri="{FF2B5EF4-FFF2-40B4-BE49-F238E27FC236}">
                    <a16:creationId xmlns:a16="http://schemas.microsoft.com/office/drawing/2014/main" id="{A1CACC3C-81BA-C69B-C472-F0821EC715BC}"/>
                  </a:ext>
                </a:extLst>
              </p:cNvPr>
              <p:cNvPicPr/>
              <p:nvPr/>
            </p:nvPicPr>
            <p:blipFill>
              <a:blip r:embed="rId3"/>
              <a:stretch>
                <a:fillRect/>
              </a:stretch>
            </p:blipFill>
            <p:spPr>
              <a:xfrm>
                <a:off x="3392853" y="5772616"/>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7" name="Ink 16">
                <a:extLst>
                  <a:ext uri="{FF2B5EF4-FFF2-40B4-BE49-F238E27FC236}">
                    <a16:creationId xmlns:a16="http://schemas.microsoft.com/office/drawing/2014/main" id="{5DFE2AC5-8547-D87F-5283-2207CA902656}"/>
                  </a:ext>
                </a:extLst>
              </p14:cNvPr>
              <p14:cNvContentPartPr/>
              <p14:nvPr/>
            </p14:nvContentPartPr>
            <p14:xfrm>
              <a:off x="3428853" y="6057736"/>
              <a:ext cx="360" cy="360"/>
            </p14:xfrm>
          </p:contentPart>
        </mc:Choice>
        <mc:Fallback>
          <p:pic>
            <p:nvPicPr>
              <p:cNvPr id="17" name="Ink 16">
                <a:extLst>
                  <a:ext uri="{FF2B5EF4-FFF2-40B4-BE49-F238E27FC236}">
                    <a16:creationId xmlns:a16="http://schemas.microsoft.com/office/drawing/2014/main" id="{5DFE2AC5-8547-D87F-5283-2207CA902656}"/>
                  </a:ext>
                </a:extLst>
              </p:cNvPr>
              <p:cNvPicPr/>
              <p:nvPr/>
            </p:nvPicPr>
            <p:blipFill>
              <a:blip r:embed="rId3"/>
              <a:stretch>
                <a:fillRect/>
              </a:stretch>
            </p:blipFill>
            <p:spPr>
              <a:xfrm>
                <a:off x="3392853" y="6022096"/>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8" name="Ink 17">
                <a:extLst>
                  <a:ext uri="{FF2B5EF4-FFF2-40B4-BE49-F238E27FC236}">
                    <a16:creationId xmlns:a16="http://schemas.microsoft.com/office/drawing/2014/main" id="{2BB30B0B-0EF9-05B5-82E4-18A66DAEAE9D}"/>
                  </a:ext>
                </a:extLst>
              </p14:cNvPr>
              <p14:cNvContentPartPr/>
              <p14:nvPr/>
            </p14:nvContentPartPr>
            <p14:xfrm>
              <a:off x="3428853" y="6317656"/>
              <a:ext cx="6120" cy="360"/>
            </p14:xfrm>
          </p:contentPart>
        </mc:Choice>
        <mc:Fallback>
          <p:pic>
            <p:nvPicPr>
              <p:cNvPr id="18" name="Ink 17">
                <a:extLst>
                  <a:ext uri="{FF2B5EF4-FFF2-40B4-BE49-F238E27FC236}">
                    <a16:creationId xmlns:a16="http://schemas.microsoft.com/office/drawing/2014/main" id="{2BB30B0B-0EF9-05B5-82E4-18A66DAEAE9D}"/>
                  </a:ext>
                </a:extLst>
              </p:cNvPr>
              <p:cNvPicPr/>
              <p:nvPr/>
            </p:nvPicPr>
            <p:blipFill>
              <a:blip r:embed="rId7"/>
              <a:stretch>
                <a:fillRect/>
              </a:stretch>
            </p:blipFill>
            <p:spPr>
              <a:xfrm>
                <a:off x="3392853" y="6281656"/>
                <a:ext cx="77760" cy="72000"/>
              </a:xfrm>
              <a:prstGeom prst="rect">
                <a:avLst/>
              </a:prstGeom>
            </p:spPr>
          </p:pic>
        </mc:Fallback>
      </mc:AlternateContent>
    </p:spTree>
    <p:extLst>
      <p:ext uri="{BB962C8B-B14F-4D97-AF65-F5344CB8AC3E}">
        <p14:creationId xmlns:p14="http://schemas.microsoft.com/office/powerpoint/2010/main" val="2292609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E5BF3-EE77-7544-91E4-607AD4D6B2E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DFF5542-15DC-7ACF-BAF8-71F1E475F55C}"/>
              </a:ext>
            </a:extLst>
          </p:cNvPr>
          <p:cNvSpPr txBox="1"/>
          <p:nvPr/>
        </p:nvSpPr>
        <p:spPr>
          <a:xfrm>
            <a:off x="841664" y="187036"/>
            <a:ext cx="8315324" cy="6186309"/>
          </a:xfrm>
          <a:prstGeom prst="rect">
            <a:avLst/>
          </a:prstGeom>
          <a:noFill/>
        </p:spPr>
        <p:txBody>
          <a:bodyPr wrap="square">
            <a:spAutoFit/>
          </a:bodyPr>
          <a:lstStyle/>
          <a:p>
            <a:r>
              <a:rPr lang="en-US" dirty="0"/>
              <a:t>The following are the data items −</a:t>
            </a:r>
          </a:p>
          <a:p>
            <a:pPr marL="285750" indent="-285750">
              <a:buFont typeface="Wingdings" panose="05000000000000000000" pitchFamily="2" charset="2"/>
              <a:buChar char="q"/>
            </a:pPr>
            <a:r>
              <a:rPr lang="en-US" b="1" dirty="0"/>
              <a:t>Process State </a:t>
            </a:r>
          </a:p>
          <a:p>
            <a:r>
              <a:rPr lang="en-US" dirty="0"/>
              <a:t>This specifies the process state i.e. new, ready, running, waiting or terminated. </a:t>
            </a:r>
          </a:p>
          <a:p>
            <a:r>
              <a:rPr lang="en-US" b="1" dirty="0"/>
              <a:t>Process Number</a:t>
            </a:r>
            <a:r>
              <a:rPr lang="en-US" dirty="0"/>
              <a:t> </a:t>
            </a:r>
          </a:p>
          <a:p>
            <a:r>
              <a:rPr lang="en-US" dirty="0"/>
              <a:t>This shows the number of the particular process. </a:t>
            </a:r>
          </a:p>
          <a:p>
            <a:pPr marL="285750" indent="-285750">
              <a:buFont typeface="Wingdings" panose="05000000000000000000" pitchFamily="2" charset="2"/>
              <a:buChar char="q"/>
            </a:pPr>
            <a:r>
              <a:rPr lang="en-US" b="1" dirty="0"/>
              <a:t>Program Counter </a:t>
            </a:r>
          </a:p>
          <a:p>
            <a:r>
              <a:rPr lang="en-US" dirty="0"/>
              <a:t>This contains the address of the next instruction that needs to be executed in the process. </a:t>
            </a:r>
          </a:p>
          <a:p>
            <a:pPr marL="285750" indent="-285750">
              <a:buFont typeface="Wingdings" panose="05000000000000000000" pitchFamily="2" charset="2"/>
              <a:buChar char="q"/>
            </a:pPr>
            <a:r>
              <a:rPr lang="en-US" b="1" dirty="0"/>
              <a:t>Registers </a:t>
            </a:r>
          </a:p>
          <a:p>
            <a:r>
              <a:rPr lang="en-US" dirty="0"/>
              <a:t>This specifies the registers that are used by the process. They may include accumulators, index registers, stack pointers, general purpose registers etc. </a:t>
            </a:r>
          </a:p>
          <a:p>
            <a:pPr marL="285750" indent="-285750">
              <a:buFont typeface="Wingdings" panose="05000000000000000000" pitchFamily="2" charset="2"/>
              <a:buChar char="q"/>
            </a:pPr>
            <a:r>
              <a:rPr lang="en-US" b="1" dirty="0"/>
              <a:t>List of Open Files </a:t>
            </a:r>
          </a:p>
          <a:p>
            <a:r>
              <a:rPr lang="en-US" dirty="0"/>
              <a:t>These are the different files that are associated with the process </a:t>
            </a:r>
          </a:p>
          <a:p>
            <a:pPr marL="285750" indent="-285750">
              <a:buFont typeface="Wingdings" panose="05000000000000000000" pitchFamily="2" charset="2"/>
              <a:buChar char="q"/>
            </a:pPr>
            <a:r>
              <a:rPr lang="en-US" b="1" dirty="0"/>
              <a:t>CPU Scheduling Information</a:t>
            </a:r>
          </a:p>
          <a:p>
            <a:r>
              <a:rPr lang="en-US" dirty="0"/>
              <a:t>The process priority, pointers to scheduling queues etc. is the CPU scheduling information that is contained in the PCB. This may also include any other scheduling parameters</a:t>
            </a:r>
          </a:p>
          <a:p>
            <a:pPr marL="285750" indent="-285750">
              <a:buFont typeface="Wingdings" panose="05000000000000000000" pitchFamily="2" charset="2"/>
              <a:buChar char="q"/>
            </a:pPr>
            <a:r>
              <a:rPr lang="en-US" b="1" dirty="0"/>
              <a:t>Memory Management Information </a:t>
            </a:r>
          </a:p>
          <a:p>
            <a:r>
              <a:rPr lang="en-US" dirty="0"/>
              <a:t>The memory management information includes the page tables or the segment tables depending on the memory system used. It also contains the value of the base registers, limit registers etc. </a:t>
            </a:r>
            <a:endParaRPr lang="en-IN" dirty="0"/>
          </a:p>
        </p:txBody>
      </p:sp>
    </p:spTree>
    <p:extLst>
      <p:ext uri="{BB962C8B-B14F-4D97-AF65-F5344CB8AC3E}">
        <p14:creationId xmlns:p14="http://schemas.microsoft.com/office/powerpoint/2010/main" val="3857170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74E92-2FD4-9496-3E54-28C2011CAD4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E75DD0C-13CD-EC54-9815-05B59168081B}"/>
              </a:ext>
            </a:extLst>
          </p:cNvPr>
          <p:cNvSpPr txBox="1"/>
          <p:nvPr/>
        </p:nvSpPr>
        <p:spPr>
          <a:xfrm>
            <a:off x="820882" y="477349"/>
            <a:ext cx="8375073" cy="3139321"/>
          </a:xfrm>
          <a:prstGeom prst="rect">
            <a:avLst/>
          </a:prstGeom>
          <a:noFill/>
        </p:spPr>
        <p:txBody>
          <a:bodyPr wrap="square">
            <a:spAutoFit/>
          </a:bodyPr>
          <a:lstStyle/>
          <a:p>
            <a:pPr marL="285750" indent="-285750">
              <a:buFont typeface="Wingdings" panose="05000000000000000000" pitchFamily="2" charset="2"/>
              <a:buChar char="q"/>
            </a:pPr>
            <a:r>
              <a:rPr lang="en-US" b="1" dirty="0"/>
              <a:t>I/O Status Information </a:t>
            </a:r>
          </a:p>
          <a:p>
            <a:r>
              <a:rPr lang="en-US" dirty="0"/>
              <a:t>This information includes the list of I/O devices used by the process, the list of files etc.</a:t>
            </a:r>
          </a:p>
          <a:p>
            <a:pPr marL="285750" indent="-285750">
              <a:buFont typeface="Wingdings" panose="05000000000000000000" pitchFamily="2" charset="2"/>
              <a:buChar char="q"/>
            </a:pPr>
            <a:r>
              <a:rPr lang="en-US" b="1" dirty="0"/>
              <a:t>Accounting information </a:t>
            </a:r>
          </a:p>
          <a:p>
            <a:r>
              <a:rPr lang="en-US" dirty="0"/>
              <a:t>The time limits, account numbers, amount of CPU used, process numbers etc. are all a part of the PCB accounting information. </a:t>
            </a:r>
          </a:p>
          <a:p>
            <a:pPr marL="285750" indent="-285750">
              <a:buFont typeface="Wingdings" panose="05000000000000000000" pitchFamily="2" charset="2"/>
              <a:buChar char="q"/>
            </a:pPr>
            <a:r>
              <a:rPr lang="en-US" b="1" dirty="0"/>
              <a:t>Location of the Process Control Block </a:t>
            </a:r>
          </a:p>
          <a:p>
            <a:r>
              <a:rPr lang="en-US" dirty="0"/>
              <a:t>The process control block is kept in a memory area that is protected from the normal user access. This is done because it contains important process information. Some of the operating systems place the PCB at the beginning of the kernel stack for the process as it is a safe location.</a:t>
            </a:r>
            <a:endParaRPr lang="en-IN" dirty="0"/>
          </a:p>
        </p:txBody>
      </p:sp>
    </p:spTree>
    <p:extLst>
      <p:ext uri="{BB962C8B-B14F-4D97-AF65-F5344CB8AC3E}">
        <p14:creationId xmlns:p14="http://schemas.microsoft.com/office/powerpoint/2010/main" val="638247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5A287-2B9F-4929-297F-1E0F8428D1C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A6E1B87-2884-4D2C-C9B5-D0D0C108E041}"/>
              </a:ext>
            </a:extLst>
          </p:cNvPr>
          <p:cNvSpPr txBox="1"/>
          <p:nvPr/>
        </p:nvSpPr>
        <p:spPr>
          <a:xfrm>
            <a:off x="696190" y="477982"/>
            <a:ext cx="9414164" cy="5355312"/>
          </a:xfrm>
          <a:prstGeom prst="rect">
            <a:avLst/>
          </a:prstGeom>
          <a:noFill/>
        </p:spPr>
        <p:txBody>
          <a:bodyPr wrap="square">
            <a:spAutoFit/>
          </a:bodyPr>
          <a:lstStyle/>
          <a:p>
            <a:r>
              <a:rPr lang="en-US" b="1" u="sng" dirty="0"/>
              <a:t>3.2 Process Scheduling</a:t>
            </a:r>
          </a:p>
          <a:p>
            <a:endParaRPr lang="en-US" b="1" u="sng" dirty="0"/>
          </a:p>
          <a:p>
            <a:r>
              <a:rPr lang="en-US" b="1" dirty="0"/>
              <a:t> </a:t>
            </a:r>
            <a:r>
              <a:rPr lang="en-US" b="1" u="sng" dirty="0"/>
              <a:t>Definition</a:t>
            </a:r>
            <a:r>
              <a:rPr lang="en-US" b="1" dirty="0"/>
              <a:t> </a:t>
            </a:r>
          </a:p>
          <a:p>
            <a:endParaRPr lang="en-US" b="1" dirty="0"/>
          </a:p>
          <a:p>
            <a:pPr marL="285750" indent="-285750">
              <a:buFont typeface="Wingdings" panose="05000000000000000000" pitchFamily="2" charset="2"/>
              <a:buChar char="§"/>
            </a:pPr>
            <a:r>
              <a:rPr lang="en-US" dirty="0"/>
              <a:t>The process scheduling is the activity of the process manager that handles the removal of the running process from the CPU and the selection of another process on the basis of a particular strategy.</a:t>
            </a:r>
          </a:p>
          <a:p>
            <a:endParaRPr lang="en-US" dirty="0"/>
          </a:p>
          <a:p>
            <a:r>
              <a:rPr lang="en-US" b="1" u="sng" dirty="0"/>
              <a:t>3.2.1 Process Scheduling Queues </a:t>
            </a:r>
          </a:p>
          <a:p>
            <a:pPr marL="285750" indent="-285750">
              <a:buFont typeface="Wingdings" panose="05000000000000000000" pitchFamily="2" charset="2"/>
              <a:buChar char="§"/>
            </a:pPr>
            <a:r>
              <a:rPr lang="en-US" dirty="0"/>
              <a:t>The OS maintains all PCBs in Process Scheduling Queues. The OS maintains a separate queue for each of the process states and PCBs of all processes in the same execution state are placed in the same queue. When the state of a process is changed, its PCB is unlinked from its current queue and moved to its new state queue.</a:t>
            </a:r>
          </a:p>
          <a:p>
            <a:pPr marL="285750" indent="-285750">
              <a:buFont typeface="Wingdings" panose="05000000000000000000" pitchFamily="2" charset="2"/>
              <a:buChar char="§"/>
            </a:pPr>
            <a:r>
              <a:rPr lang="en-US" dirty="0"/>
              <a:t>The Operating System maintains the following important process scheduling queues </a:t>
            </a:r>
          </a:p>
          <a:p>
            <a:r>
              <a:rPr lang="en-US" dirty="0"/>
              <a:t>● </a:t>
            </a:r>
            <a:r>
              <a:rPr lang="en-US" b="1" u="sng" dirty="0"/>
              <a:t>Job queue </a:t>
            </a:r>
            <a:r>
              <a:rPr lang="en-US" dirty="0"/>
              <a:t>− This queue keeps all the processes in the system.</a:t>
            </a:r>
          </a:p>
          <a:p>
            <a:r>
              <a:rPr lang="en-US" dirty="0"/>
              <a:t>● </a:t>
            </a:r>
            <a:r>
              <a:rPr lang="en-US" b="1" u="sng" dirty="0"/>
              <a:t>Ready queue </a:t>
            </a:r>
            <a:r>
              <a:rPr lang="en-US" dirty="0"/>
              <a:t>− This queue keeps a set of all processes residing in main memory, ready and waiting to execute. A new process is always put in this queue. </a:t>
            </a:r>
          </a:p>
          <a:p>
            <a:r>
              <a:rPr lang="en-US" dirty="0"/>
              <a:t>● </a:t>
            </a:r>
            <a:r>
              <a:rPr lang="en-US" b="1" u="sng" dirty="0"/>
              <a:t>Device queues </a:t>
            </a:r>
            <a:r>
              <a:rPr lang="en-US" dirty="0"/>
              <a:t>− The processes which are blocked due to unavailability of an I/O device constitute this queue.</a:t>
            </a:r>
            <a:endParaRPr lang="en-IN" dirty="0"/>
          </a:p>
        </p:txBody>
      </p:sp>
    </p:spTree>
    <p:extLst>
      <p:ext uri="{BB962C8B-B14F-4D97-AF65-F5344CB8AC3E}">
        <p14:creationId xmlns:p14="http://schemas.microsoft.com/office/powerpoint/2010/main" val="1974144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C793E-8BB8-B36A-5EF2-44B693E2FA2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A98F28C-15AB-7F90-EA64-1E707A96EAB4}"/>
              </a:ext>
            </a:extLst>
          </p:cNvPr>
          <p:cNvSpPr/>
          <p:nvPr/>
        </p:nvSpPr>
        <p:spPr>
          <a:xfrm>
            <a:off x="1898072" y="599206"/>
            <a:ext cx="2098964" cy="43641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Ready queue </a:t>
            </a:r>
            <a:endParaRPr lang="en-IN" dirty="0"/>
          </a:p>
        </p:txBody>
      </p:sp>
      <p:sp>
        <p:nvSpPr>
          <p:cNvPr id="5" name="Oval 4">
            <a:extLst>
              <a:ext uri="{FF2B5EF4-FFF2-40B4-BE49-F238E27FC236}">
                <a16:creationId xmlns:a16="http://schemas.microsoft.com/office/drawing/2014/main" id="{4C55A338-AC29-8F2A-7E65-9FB460D34526}"/>
              </a:ext>
            </a:extLst>
          </p:cNvPr>
          <p:cNvSpPr/>
          <p:nvPr/>
        </p:nvSpPr>
        <p:spPr>
          <a:xfrm>
            <a:off x="6899565" y="516074"/>
            <a:ext cx="995798" cy="720441"/>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CPU </a:t>
            </a:r>
            <a:endParaRPr lang="en-IN" dirty="0"/>
          </a:p>
        </p:txBody>
      </p:sp>
      <p:sp>
        <p:nvSpPr>
          <p:cNvPr id="6" name="Rectangle 5">
            <a:extLst>
              <a:ext uri="{FF2B5EF4-FFF2-40B4-BE49-F238E27FC236}">
                <a16:creationId xmlns:a16="http://schemas.microsoft.com/office/drawing/2014/main" id="{B90CD18D-6E0D-0FEC-62D8-4FC196C14EC4}"/>
              </a:ext>
            </a:extLst>
          </p:cNvPr>
          <p:cNvSpPr/>
          <p:nvPr/>
        </p:nvSpPr>
        <p:spPr>
          <a:xfrm>
            <a:off x="6598226" y="3517332"/>
            <a:ext cx="2098964" cy="43641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Fork a child </a:t>
            </a:r>
            <a:endParaRPr lang="en-IN" dirty="0"/>
          </a:p>
        </p:txBody>
      </p:sp>
      <p:sp>
        <p:nvSpPr>
          <p:cNvPr id="7" name="Rectangle 6">
            <a:extLst>
              <a:ext uri="{FF2B5EF4-FFF2-40B4-BE49-F238E27FC236}">
                <a16:creationId xmlns:a16="http://schemas.microsoft.com/office/drawing/2014/main" id="{CDA05D93-9F17-474F-44F5-8244D65DAE73}"/>
              </a:ext>
            </a:extLst>
          </p:cNvPr>
          <p:cNvSpPr/>
          <p:nvPr/>
        </p:nvSpPr>
        <p:spPr>
          <a:xfrm>
            <a:off x="6598226" y="1809746"/>
            <a:ext cx="2098964" cy="43641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I/O request </a:t>
            </a:r>
            <a:endParaRPr lang="en-IN" dirty="0"/>
          </a:p>
        </p:txBody>
      </p:sp>
      <p:sp>
        <p:nvSpPr>
          <p:cNvPr id="8" name="Rectangle 7">
            <a:extLst>
              <a:ext uri="{FF2B5EF4-FFF2-40B4-BE49-F238E27FC236}">
                <a16:creationId xmlns:a16="http://schemas.microsoft.com/office/drawing/2014/main" id="{F8D4AEA7-D101-5458-8A4F-33307BC5B666}"/>
              </a:ext>
            </a:extLst>
          </p:cNvPr>
          <p:cNvSpPr/>
          <p:nvPr/>
        </p:nvSpPr>
        <p:spPr>
          <a:xfrm>
            <a:off x="3997036" y="1809480"/>
            <a:ext cx="2098964" cy="43641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I/O queue</a:t>
            </a:r>
            <a:endParaRPr lang="en-IN" dirty="0"/>
          </a:p>
        </p:txBody>
      </p:sp>
      <p:sp>
        <p:nvSpPr>
          <p:cNvPr id="9" name="Rectangle 8">
            <a:extLst>
              <a:ext uri="{FF2B5EF4-FFF2-40B4-BE49-F238E27FC236}">
                <a16:creationId xmlns:a16="http://schemas.microsoft.com/office/drawing/2014/main" id="{CC29D8F1-D347-F707-0B0C-A3E4A54E30FA}"/>
              </a:ext>
            </a:extLst>
          </p:cNvPr>
          <p:cNvSpPr/>
          <p:nvPr/>
        </p:nvSpPr>
        <p:spPr>
          <a:xfrm>
            <a:off x="6598226" y="2554434"/>
            <a:ext cx="2098964" cy="65462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Time slice expired</a:t>
            </a:r>
            <a:endParaRPr lang="en-IN" dirty="0"/>
          </a:p>
        </p:txBody>
      </p:sp>
      <p:sp>
        <p:nvSpPr>
          <p:cNvPr id="10" name="Rectangle 9">
            <a:extLst>
              <a:ext uri="{FF2B5EF4-FFF2-40B4-BE49-F238E27FC236}">
                <a16:creationId xmlns:a16="http://schemas.microsoft.com/office/drawing/2014/main" id="{05C20260-A7F0-746C-BCF8-B751C5BDDCC4}"/>
              </a:ext>
            </a:extLst>
          </p:cNvPr>
          <p:cNvSpPr/>
          <p:nvPr/>
        </p:nvSpPr>
        <p:spPr>
          <a:xfrm>
            <a:off x="6598226" y="4234293"/>
            <a:ext cx="2098964" cy="654627"/>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Wait for an interrupt </a:t>
            </a:r>
            <a:endParaRPr lang="en-IN" dirty="0"/>
          </a:p>
        </p:txBody>
      </p:sp>
      <p:sp>
        <p:nvSpPr>
          <p:cNvPr id="15" name="Oval 14">
            <a:extLst>
              <a:ext uri="{FF2B5EF4-FFF2-40B4-BE49-F238E27FC236}">
                <a16:creationId xmlns:a16="http://schemas.microsoft.com/office/drawing/2014/main" id="{4DBF1A30-D897-B503-EBEB-9A8DD67C4133}"/>
              </a:ext>
            </a:extLst>
          </p:cNvPr>
          <p:cNvSpPr/>
          <p:nvPr/>
        </p:nvSpPr>
        <p:spPr>
          <a:xfrm>
            <a:off x="2417620" y="1719089"/>
            <a:ext cx="1077190" cy="65462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I/O</a:t>
            </a:r>
            <a:endParaRPr lang="en-IN" dirty="0"/>
          </a:p>
        </p:txBody>
      </p:sp>
      <p:sp>
        <p:nvSpPr>
          <p:cNvPr id="16" name="Oval 15">
            <a:extLst>
              <a:ext uri="{FF2B5EF4-FFF2-40B4-BE49-F238E27FC236}">
                <a16:creationId xmlns:a16="http://schemas.microsoft.com/office/drawing/2014/main" id="{8CECD47B-94B9-DE79-08E4-2B8CBA982E1A}"/>
              </a:ext>
            </a:extLst>
          </p:cNvPr>
          <p:cNvSpPr/>
          <p:nvPr/>
        </p:nvSpPr>
        <p:spPr>
          <a:xfrm>
            <a:off x="4161558" y="4234292"/>
            <a:ext cx="1690254" cy="654628"/>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Interrupt occur </a:t>
            </a:r>
            <a:endParaRPr lang="en-IN" dirty="0"/>
          </a:p>
        </p:txBody>
      </p:sp>
      <p:sp>
        <p:nvSpPr>
          <p:cNvPr id="17" name="Oval 16">
            <a:extLst>
              <a:ext uri="{FF2B5EF4-FFF2-40B4-BE49-F238E27FC236}">
                <a16:creationId xmlns:a16="http://schemas.microsoft.com/office/drawing/2014/main" id="{5955078B-EAAB-32F4-AA57-E0C21DBCB28C}"/>
              </a:ext>
            </a:extLst>
          </p:cNvPr>
          <p:cNvSpPr/>
          <p:nvPr/>
        </p:nvSpPr>
        <p:spPr>
          <a:xfrm>
            <a:off x="4152565" y="3475765"/>
            <a:ext cx="1690254" cy="654628"/>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Child executes</a:t>
            </a:r>
            <a:endParaRPr lang="en-IN" dirty="0"/>
          </a:p>
        </p:txBody>
      </p:sp>
      <p:cxnSp>
        <p:nvCxnSpPr>
          <p:cNvPr id="19" name="Straight Connector 18">
            <a:extLst>
              <a:ext uri="{FF2B5EF4-FFF2-40B4-BE49-F238E27FC236}">
                <a16:creationId xmlns:a16="http://schemas.microsoft.com/office/drawing/2014/main" id="{8E2A3368-F37E-8F8A-A7BC-8FFB2A8095C5}"/>
              </a:ext>
            </a:extLst>
          </p:cNvPr>
          <p:cNvCxnSpPr>
            <a:cxnSpLocks/>
          </p:cNvCxnSpPr>
          <p:nvPr/>
        </p:nvCxnSpPr>
        <p:spPr>
          <a:xfrm flipH="1">
            <a:off x="1288471" y="858983"/>
            <a:ext cx="2" cy="3702623"/>
          </a:xfrm>
          <a:prstGeom prst="line">
            <a:avLst/>
          </a:prstGeom>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8467C393-DF49-FC97-9D49-EB28A72C14FF}"/>
              </a:ext>
            </a:extLst>
          </p:cNvPr>
          <p:cNvCxnSpPr/>
          <p:nvPr/>
        </p:nvCxnSpPr>
        <p:spPr>
          <a:xfrm>
            <a:off x="1288473" y="858983"/>
            <a:ext cx="60959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B480846D-FBF2-25C9-2CEE-5DC8532AE747}"/>
              </a:ext>
            </a:extLst>
          </p:cNvPr>
          <p:cNvCxnSpPr/>
          <p:nvPr/>
        </p:nvCxnSpPr>
        <p:spPr>
          <a:xfrm>
            <a:off x="1288473" y="720438"/>
            <a:ext cx="60959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9AD869D8-BBF7-5CEA-2958-8C159FD10F6C}"/>
              </a:ext>
            </a:extLst>
          </p:cNvPr>
          <p:cNvCxnSpPr>
            <a:cxnSpLocks/>
            <a:endCxn id="5" idx="2"/>
          </p:cNvCxnSpPr>
          <p:nvPr/>
        </p:nvCxnSpPr>
        <p:spPr>
          <a:xfrm>
            <a:off x="3997036" y="872839"/>
            <a:ext cx="2902529" cy="3456"/>
          </a:xfrm>
          <a:prstGeom prst="line">
            <a:avLst/>
          </a:prstGeom>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C7DCA66A-408F-B464-584B-B829F733C2B9}"/>
              </a:ext>
            </a:extLst>
          </p:cNvPr>
          <p:cNvCxnSpPr>
            <a:cxnSpLocks/>
            <a:stCxn id="5" idx="7"/>
          </p:cNvCxnSpPr>
          <p:nvPr/>
        </p:nvCxnSpPr>
        <p:spPr>
          <a:xfrm>
            <a:off x="7749532" y="621580"/>
            <a:ext cx="667104" cy="148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Straight Connector 30">
            <a:extLst>
              <a:ext uri="{FF2B5EF4-FFF2-40B4-BE49-F238E27FC236}">
                <a16:creationId xmlns:a16="http://schemas.microsoft.com/office/drawing/2014/main" id="{D077C19A-DC68-1DB2-A163-F5B0CBAFDCC1}"/>
              </a:ext>
            </a:extLst>
          </p:cNvPr>
          <p:cNvCxnSpPr>
            <a:cxnSpLocks/>
          </p:cNvCxnSpPr>
          <p:nvPr/>
        </p:nvCxnSpPr>
        <p:spPr>
          <a:xfrm>
            <a:off x="7895363" y="931299"/>
            <a:ext cx="1383719" cy="13422"/>
          </a:xfrm>
          <a:prstGeom prst="line">
            <a:avLst/>
          </a:prstGeom>
        </p:spPr>
        <p:style>
          <a:lnRef idx="2">
            <a:schemeClr val="dk1"/>
          </a:lnRef>
          <a:fillRef idx="0">
            <a:schemeClr val="dk1"/>
          </a:fillRef>
          <a:effectRef idx="1">
            <a:schemeClr val="dk1"/>
          </a:effectRef>
          <a:fontRef idx="minor">
            <a:schemeClr val="tx1"/>
          </a:fontRef>
        </p:style>
      </p:cxnSp>
      <p:cxnSp>
        <p:nvCxnSpPr>
          <p:cNvPr id="33" name="Straight Connector 32">
            <a:extLst>
              <a:ext uri="{FF2B5EF4-FFF2-40B4-BE49-F238E27FC236}">
                <a16:creationId xmlns:a16="http://schemas.microsoft.com/office/drawing/2014/main" id="{3A4C33E3-6ABD-F4BE-EAA0-3D63AC05440E}"/>
              </a:ext>
            </a:extLst>
          </p:cNvPr>
          <p:cNvCxnSpPr>
            <a:cxnSpLocks/>
          </p:cNvCxnSpPr>
          <p:nvPr/>
        </p:nvCxnSpPr>
        <p:spPr>
          <a:xfrm>
            <a:off x="9279082" y="944721"/>
            <a:ext cx="0" cy="3698277"/>
          </a:xfrm>
          <a:prstGeom prst="line">
            <a:avLst/>
          </a:prstGeom>
        </p:spPr>
        <p:style>
          <a:lnRef idx="2">
            <a:schemeClr val="dk1"/>
          </a:lnRef>
          <a:fillRef idx="0">
            <a:schemeClr val="dk1"/>
          </a:fillRef>
          <a:effectRef idx="1">
            <a:schemeClr val="dk1"/>
          </a:effectRef>
          <a:fontRef idx="minor">
            <a:schemeClr val="tx1"/>
          </a:fontRef>
        </p:style>
      </p:cxnSp>
      <p:cxnSp>
        <p:nvCxnSpPr>
          <p:cNvPr id="37" name="Straight Connector 36">
            <a:extLst>
              <a:ext uri="{FF2B5EF4-FFF2-40B4-BE49-F238E27FC236}">
                <a16:creationId xmlns:a16="http://schemas.microsoft.com/office/drawing/2014/main" id="{B9C93AC5-854B-29D3-2360-C97AC94251BD}"/>
              </a:ext>
            </a:extLst>
          </p:cNvPr>
          <p:cNvCxnSpPr>
            <a:cxnSpLocks/>
          </p:cNvCxnSpPr>
          <p:nvPr/>
        </p:nvCxnSpPr>
        <p:spPr>
          <a:xfrm>
            <a:off x="8697190" y="4642998"/>
            <a:ext cx="581892" cy="0"/>
          </a:xfrm>
          <a:prstGeom prst="line">
            <a:avLst/>
          </a:prstGeom>
        </p:spPr>
        <p:style>
          <a:lnRef idx="2">
            <a:schemeClr val="dk1"/>
          </a:lnRef>
          <a:fillRef idx="0">
            <a:schemeClr val="dk1"/>
          </a:fillRef>
          <a:effectRef idx="1">
            <a:schemeClr val="dk1"/>
          </a:effectRef>
          <a:fontRef idx="minor">
            <a:schemeClr val="tx1"/>
          </a:fontRef>
        </p:style>
      </p:cxnSp>
      <p:cxnSp>
        <p:nvCxnSpPr>
          <p:cNvPr id="40" name="Straight Connector 39">
            <a:extLst>
              <a:ext uri="{FF2B5EF4-FFF2-40B4-BE49-F238E27FC236}">
                <a16:creationId xmlns:a16="http://schemas.microsoft.com/office/drawing/2014/main" id="{0E1DE26E-F034-6721-3EBD-93419C72B8F9}"/>
              </a:ext>
            </a:extLst>
          </p:cNvPr>
          <p:cNvCxnSpPr>
            <a:cxnSpLocks/>
          </p:cNvCxnSpPr>
          <p:nvPr/>
        </p:nvCxnSpPr>
        <p:spPr>
          <a:xfrm>
            <a:off x="1308389" y="2864688"/>
            <a:ext cx="5277711" cy="0"/>
          </a:xfrm>
          <a:prstGeom prst="line">
            <a:avLst/>
          </a:prstGeom>
        </p:spPr>
        <p:style>
          <a:lnRef idx="2">
            <a:schemeClr val="dk1"/>
          </a:lnRef>
          <a:fillRef idx="0">
            <a:schemeClr val="dk1"/>
          </a:fillRef>
          <a:effectRef idx="1">
            <a:schemeClr val="dk1"/>
          </a:effectRef>
          <a:fontRef idx="minor">
            <a:schemeClr val="tx1"/>
          </a:fontRef>
        </p:style>
      </p:cxnSp>
      <p:cxnSp>
        <p:nvCxnSpPr>
          <p:cNvPr id="41" name="Straight Connector 40">
            <a:extLst>
              <a:ext uri="{FF2B5EF4-FFF2-40B4-BE49-F238E27FC236}">
                <a16:creationId xmlns:a16="http://schemas.microsoft.com/office/drawing/2014/main" id="{FE67F5EF-5DD2-4898-A205-FA8B3AC3FC65}"/>
              </a:ext>
            </a:extLst>
          </p:cNvPr>
          <p:cNvCxnSpPr>
            <a:cxnSpLocks/>
          </p:cNvCxnSpPr>
          <p:nvPr/>
        </p:nvCxnSpPr>
        <p:spPr>
          <a:xfrm>
            <a:off x="1288471" y="3735541"/>
            <a:ext cx="2864094" cy="31586"/>
          </a:xfrm>
          <a:prstGeom prst="line">
            <a:avLst/>
          </a:prstGeom>
        </p:spPr>
        <p:style>
          <a:lnRef idx="2">
            <a:schemeClr val="dk1"/>
          </a:lnRef>
          <a:fillRef idx="0">
            <a:schemeClr val="dk1"/>
          </a:fillRef>
          <a:effectRef idx="1">
            <a:schemeClr val="dk1"/>
          </a:effectRef>
          <a:fontRef idx="minor">
            <a:schemeClr val="tx1"/>
          </a:fontRef>
        </p:style>
      </p:cxnSp>
      <p:cxnSp>
        <p:nvCxnSpPr>
          <p:cNvPr id="42" name="Straight Connector 41">
            <a:extLst>
              <a:ext uri="{FF2B5EF4-FFF2-40B4-BE49-F238E27FC236}">
                <a16:creationId xmlns:a16="http://schemas.microsoft.com/office/drawing/2014/main" id="{53A10C79-5939-36A0-006F-89F3EA211B5F}"/>
              </a:ext>
            </a:extLst>
          </p:cNvPr>
          <p:cNvCxnSpPr>
            <a:cxnSpLocks/>
          </p:cNvCxnSpPr>
          <p:nvPr/>
        </p:nvCxnSpPr>
        <p:spPr>
          <a:xfrm>
            <a:off x="1288471" y="4561606"/>
            <a:ext cx="2873087" cy="0"/>
          </a:xfrm>
          <a:prstGeom prst="line">
            <a:avLst/>
          </a:prstGeom>
        </p:spPr>
        <p:style>
          <a:lnRef idx="2">
            <a:schemeClr val="dk1"/>
          </a:lnRef>
          <a:fillRef idx="0">
            <a:schemeClr val="dk1"/>
          </a:fillRef>
          <a:effectRef idx="1">
            <a:schemeClr val="dk1"/>
          </a:effectRef>
          <a:fontRef idx="minor">
            <a:schemeClr val="tx1"/>
          </a:fontRef>
        </p:style>
      </p:cxnSp>
      <p:cxnSp>
        <p:nvCxnSpPr>
          <p:cNvPr id="48" name="Straight Arrow Connector 47">
            <a:extLst>
              <a:ext uri="{FF2B5EF4-FFF2-40B4-BE49-F238E27FC236}">
                <a16:creationId xmlns:a16="http://schemas.microsoft.com/office/drawing/2014/main" id="{0AFFE198-B022-7F21-3358-A6144E3DE5F2}"/>
              </a:ext>
            </a:extLst>
          </p:cNvPr>
          <p:cNvCxnSpPr>
            <a:cxnSpLocks/>
            <a:endCxn id="7" idx="3"/>
          </p:cNvCxnSpPr>
          <p:nvPr/>
        </p:nvCxnSpPr>
        <p:spPr>
          <a:xfrm flipH="1">
            <a:off x="8697190" y="2027955"/>
            <a:ext cx="58189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C16B82B3-C275-590C-0FC9-863B6FD415E3}"/>
              </a:ext>
            </a:extLst>
          </p:cNvPr>
          <p:cNvCxnSpPr>
            <a:cxnSpLocks/>
            <a:endCxn id="6" idx="3"/>
          </p:cNvCxnSpPr>
          <p:nvPr/>
        </p:nvCxnSpPr>
        <p:spPr>
          <a:xfrm flipH="1">
            <a:off x="8697190" y="3735541"/>
            <a:ext cx="58189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79949250-BBB0-0F18-5595-C3DDECF8D1B2}"/>
              </a:ext>
            </a:extLst>
          </p:cNvPr>
          <p:cNvCxnSpPr>
            <a:cxnSpLocks/>
          </p:cNvCxnSpPr>
          <p:nvPr/>
        </p:nvCxnSpPr>
        <p:spPr>
          <a:xfrm flipH="1">
            <a:off x="8697190" y="2793859"/>
            <a:ext cx="58189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0" name="Straight Arrow Connector 59">
            <a:extLst>
              <a:ext uri="{FF2B5EF4-FFF2-40B4-BE49-F238E27FC236}">
                <a16:creationId xmlns:a16="http://schemas.microsoft.com/office/drawing/2014/main" id="{777F2B5B-E3AD-FD84-8B43-4E930E4E7EED}"/>
              </a:ext>
            </a:extLst>
          </p:cNvPr>
          <p:cNvCxnSpPr>
            <a:cxnSpLocks/>
            <a:stCxn id="8" idx="1"/>
          </p:cNvCxnSpPr>
          <p:nvPr/>
        </p:nvCxnSpPr>
        <p:spPr>
          <a:xfrm flipH="1">
            <a:off x="3480955" y="2027689"/>
            <a:ext cx="51608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2BCC9B45-E965-5350-96B9-E88A8AD9F2AE}"/>
              </a:ext>
            </a:extLst>
          </p:cNvPr>
          <p:cNvCxnSpPr>
            <a:cxnSpLocks/>
          </p:cNvCxnSpPr>
          <p:nvPr/>
        </p:nvCxnSpPr>
        <p:spPr>
          <a:xfrm flipH="1">
            <a:off x="5842820" y="3803079"/>
            <a:ext cx="75540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37098329-7F41-C0D6-E346-BB4DB39EA98C}"/>
              </a:ext>
            </a:extLst>
          </p:cNvPr>
          <p:cNvCxnSpPr>
            <a:cxnSpLocks/>
            <a:endCxn id="16" idx="6"/>
          </p:cNvCxnSpPr>
          <p:nvPr/>
        </p:nvCxnSpPr>
        <p:spPr>
          <a:xfrm flipH="1">
            <a:off x="5851812" y="4561606"/>
            <a:ext cx="74641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8" name="Straight Connector 77">
            <a:extLst>
              <a:ext uri="{FF2B5EF4-FFF2-40B4-BE49-F238E27FC236}">
                <a16:creationId xmlns:a16="http://schemas.microsoft.com/office/drawing/2014/main" id="{F7C1CB42-879A-B2CA-C883-FC4E21FF3978}"/>
              </a:ext>
            </a:extLst>
          </p:cNvPr>
          <p:cNvCxnSpPr>
            <a:cxnSpLocks/>
            <a:endCxn id="15" idx="2"/>
          </p:cNvCxnSpPr>
          <p:nvPr/>
        </p:nvCxnSpPr>
        <p:spPr>
          <a:xfrm>
            <a:off x="1288471" y="2046403"/>
            <a:ext cx="1129149" cy="0"/>
          </a:xfrm>
          <a:prstGeom prst="line">
            <a:avLst/>
          </a:prstGeom>
        </p:spPr>
        <p:style>
          <a:lnRef idx="2">
            <a:schemeClr val="dk1"/>
          </a:lnRef>
          <a:fillRef idx="0">
            <a:schemeClr val="dk1"/>
          </a:fillRef>
          <a:effectRef idx="1">
            <a:schemeClr val="dk1"/>
          </a:effectRef>
          <a:fontRef idx="minor">
            <a:schemeClr val="tx1"/>
          </a:fontRef>
        </p:style>
      </p:cxnSp>
      <p:cxnSp>
        <p:nvCxnSpPr>
          <p:cNvPr id="82" name="Straight Arrow Connector 81">
            <a:extLst>
              <a:ext uri="{FF2B5EF4-FFF2-40B4-BE49-F238E27FC236}">
                <a16:creationId xmlns:a16="http://schemas.microsoft.com/office/drawing/2014/main" id="{78EC9DB3-E22A-64C7-5850-8B1A1EC1128E}"/>
              </a:ext>
            </a:extLst>
          </p:cNvPr>
          <p:cNvCxnSpPr>
            <a:cxnSpLocks/>
          </p:cNvCxnSpPr>
          <p:nvPr/>
        </p:nvCxnSpPr>
        <p:spPr>
          <a:xfrm flipH="1">
            <a:off x="6096000" y="1981206"/>
            <a:ext cx="4901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5" name="Rectangle 84">
            <a:extLst>
              <a:ext uri="{FF2B5EF4-FFF2-40B4-BE49-F238E27FC236}">
                <a16:creationId xmlns:a16="http://schemas.microsoft.com/office/drawing/2014/main" id="{5638320F-B753-0A5E-E185-75C7DDAAAA0C}"/>
              </a:ext>
            </a:extLst>
          </p:cNvPr>
          <p:cNvSpPr/>
          <p:nvPr/>
        </p:nvSpPr>
        <p:spPr>
          <a:xfrm>
            <a:off x="987137" y="5256197"/>
            <a:ext cx="8551713" cy="37886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Queuing diagram representation of process scheduling</a:t>
            </a:r>
            <a:endParaRPr lang="en-IN" dirty="0"/>
          </a:p>
        </p:txBody>
      </p:sp>
    </p:spTree>
    <p:extLst>
      <p:ext uri="{BB962C8B-B14F-4D97-AF65-F5344CB8AC3E}">
        <p14:creationId xmlns:p14="http://schemas.microsoft.com/office/powerpoint/2010/main" val="2603802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CE580-4663-1984-118C-1CDCC7C9E2C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98F1E94-2AB4-F402-2C5E-181A74A4341E}"/>
              </a:ext>
            </a:extLst>
          </p:cNvPr>
          <p:cNvSpPr txBox="1"/>
          <p:nvPr/>
        </p:nvSpPr>
        <p:spPr>
          <a:xfrm>
            <a:off x="883227" y="114299"/>
            <a:ext cx="8894618" cy="6740307"/>
          </a:xfrm>
          <a:prstGeom prst="rect">
            <a:avLst/>
          </a:prstGeom>
          <a:noFill/>
        </p:spPr>
        <p:txBody>
          <a:bodyPr wrap="square">
            <a:spAutoFit/>
          </a:bodyPr>
          <a:lstStyle/>
          <a:p>
            <a:r>
              <a:rPr lang="en-US" b="1" u="sng" dirty="0"/>
              <a:t>3.2.2 Schedulers </a:t>
            </a:r>
          </a:p>
          <a:p>
            <a:r>
              <a:rPr lang="en-US" dirty="0"/>
              <a:t>Schedulers are special system software which handle process scheduling in various ways. Their main task is to select the jobs to be submitted into the system and to decide which process to run. Schedulers are of three types −</a:t>
            </a:r>
          </a:p>
          <a:p>
            <a:r>
              <a:rPr lang="en-US" dirty="0"/>
              <a:t>● Long-Term Scheduler </a:t>
            </a:r>
          </a:p>
          <a:p>
            <a:r>
              <a:rPr lang="en-US" dirty="0"/>
              <a:t>● Short-Term Scheduler </a:t>
            </a:r>
          </a:p>
          <a:p>
            <a:r>
              <a:rPr lang="en-US" dirty="0"/>
              <a:t>● Medium-Term Scheduler</a:t>
            </a:r>
          </a:p>
          <a:p>
            <a:r>
              <a:rPr lang="en-US" dirty="0"/>
              <a:t> </a:t>
            </a:r>
          </a:p>
          <a:p>
            <a:pPr marL="285750" indent="-285750">
              <a:buFont typeface="Wingdings" panose="05000000000000000000" pitchFamily="2" charset="2"/>
              <a:buChar char="v"/>
            </a:pPr>
            <a:r>
              <a:rPr lang="en-US" b="1" u="sng" dirty="0"/>
              <a:t>Long Term Scheduler </a:t>
            </a:r>
          </a:p>
          <a:p>
            <a:pPr marL="285750" indent="-285750">
              <a:buFont typeface="Wingdings" panose="05000000000000000000" pitchFamily="2" charset="2"/>
              <a:buChar char="Ø"/>
            </a:pPr>
            <a:r>
              <a:rPr lang="en-US" dirty="0"/>
              <a:t>It is also called a job scheduler. A long-term scheduler determines which programs are admitted to the system for processing. It selects processes from the queue and loads them into memory for execution. Process loads into the memory for CPU scheduling. </a:t>
            </a:r>
          </a:p>
          <a:p>
            <a:endParaRPr lang="en-US" dirty="0"/>
          </a:p>
          <a:p>
            <a:pPr marL="285750" indent="-285750">
              <a:buFont typeface="Wingdings" panose="05000000000000000000" pitchFamily="2" charset="2"/>
              <a:buChar char="v"/>
            </a:pPr>
            <a:r>
              <a:rPr lang="en-US" b="1" u="sng" dirty="0"/>
              <a:t>Short Term Scheduler </a:t>
            </a:r>
          </a:p>
          <a:p>
            <a:pPr marL="342900" indent="-342900">
              <a:buFont typeface="Wingdings" panose="05000000000000000000" pitchFamily="2" charset="2"/>
              <a:buChar char="Ø"/>
            </a:pPr>
            <a:r>
              <a:rPr lang="en-US" dirty="0"/>
              <a:t>It is also called as CPU scheduler. Its main objective is to increase system performance in accordance with the chosen set of criteria. It is the change of ready state to running state of the process. CPU scheduler selects a process among the processes that are ready to execute and allocates CPU to one of them. </a:t>
            </a:r>
          </a:p>
          <a:p>
            <a:endParaRPr lang="en-US" dirty="0"/>
          </a:p>
          <a:p>
            <a:pPr marL="285750" indent="-285750">
              <a:buFont typeface="Wingdings" panose="05000000000000000000" pitchFamily="2" charset="2"/>
              <a:buChar char="Ø"/>
            </a:pPr>
            <a:r>
              <a:rPr lang="en-US" dirty="0"/>
              <a:t>Short-term schedulers, also known as dispatchers, make the decision of which process to execute next. Short-term schedulers are faster than long-term schedulers. </a:t>
            </a:r>
          </a:p>
        </p:txBody>
      </p:sp>
    </p:spTree>
    <p:extLst>
      <p:ext uri="{BB962C8B-B14F-4D97-AF65-F5344CB8AC3E}">
        <p14:creationId xmlns:p14="http://schemas.microsoft.com/office/powerpoint/2010/main" val="3561915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F1B9E-7E54-E4D2-8F88-C3869214A41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A0DCA15-DD6D-4424-D6A7-1024075BE86C}"/>
              </a:ext>
            </a:extLst>
          </p:cNvPr>
          <p:cNvSpPr txBox="1"/>
          <p:nvPr/>
        </p:nvSpPr>
        <p:spPr>
          <a:xfrm>
            <a:off x="789710" y="924791"/>
            <a:ext cx="8562109" cy="3970318"/>
          </a:xfrm>
          <a:prstGeom prst="rect">
            <a:avLst/>
          </a:prstGeom>
          <a:noFill/>
        </p:spPr>
        <p:txBody>
          <a:bodyPr wrap="square">
            <a:spAutoFit/>
          </a:bodyPr>
          <a:lstStyle/>
          <a:p>
            <a:pPr marL="285750" indent="-285750">
              <a:buFont typeface="Wingdings" panose="05000000000000000000" pitchFamily="2" charset="2"/>
              <a:buChar char="v"/>
            </a:pPr>
            <a:r>
              <a:rPr lang="en-US" b="1" u="sng" dirty="0"/>
              <a:t>Medium Term Scheduler </a:t>
            </a:r>
          </a:p>
          <a:p>
            <a:endParaRPr lang="en-US" b="1" u="sng" dirty="0"/>
          </a:p>
          <a:p>
            <a:pPr marL="285750" indent="-285750">
              <a:buFont typeface="Wingdings" panose="05000000000000000000" pitchFamily="2" charset="2"/>
              <a:buChar char="Ø"/>
            </a:pPr>
            <a:r>
              <a:rPr lang="en-US" dirty="0"/>
              <a:t>Medium-term scheduling is a part of swapping. It removes the processes from the memory. It reduces the degree of multiprogramming. The medium-term scheduler is in-charge of handling the swapped out-processes. </a:t>
            </a:r>
          </a:p>
          <a:p>
            <a:pPr marL="285750" indent="-285750">
              <a:buFont typeface="Wingdings" panose="05000000000000000000" pitchFamily="2" charset="2"/>
              <a:buChar char="Ø"/>
            </a:pPr>
            <a:endParaRPr lang="en-US" dirty="0"/>
          </a:p>
          <a:p>
            <a:endParaRPr lang="en-US" dirty="0"/>
          </a:p>
          <a:p>
            <a:endParaRPr lang="en-US" dirty="0"/>
          </a:p>
          <a:p>
            <a:r>
              <a:rPr lang="en-US" b="1" u="sng" dirty="0"/>
              <a:t>3.2.3 Context Switch </a:t>
            </a:r>
          </a:p>
          <a:p>
            <a:r>
              <a:rPr lang="en-US" dirty="0"/>
              <a:t>A context switch is the mechanism to store and restore the state or context of a CPU in Process Control block so that a process execution can be resumed from the same point at a later time. Using this technique, a context switcher enables multiple processes to share a single CPU. Context switching is an essential part of a multitasking operating system features.</a:t>
            </a:r>
            <a:endParaRPr lang="en-IN" dirty="0"/>
          </a:p>
        </p:txBody>
      </p:sp>
    </p:spTree>
    <p:extLst>
      <p:ext uri="{BB962C8B-B14F-4D97-AF65-F5344CB8AC3E}">
        <p14:creationId xmlns:p14="http://schemas.microsoft.com/office/powerpoint/2010/main" val="3327169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8257F-11F1-4F6B-8F75-3654414D2C4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0E1199D-64CB-348A-B7A6-E78918103D30}"/>
              </a:ext>
            </a:extLst>
          </p:cNvPr>
          <p:cNvSpPr/>
          <p:nvPr/>
        </p:nvSpPr>
        <p:spPr>
          <a:xfrm>
            <a:off x="1309255" y="311728"/>
            <a:ext cx="1246909" cy="30133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P1</a:t>
            </a:r>
            <a:r>
              <a:rPr lang="en-US" dirty="0"/>
              <a:t> -</a:t>
            </a:r>
            <a:endParaRPr lang="en-IN" dirty="0"/>
          </a:p>
        </p:txBody>
      </p:sp>
      <p:sp>
        <p:nvSpPr>
          <p:cNvPr id="7" name="Rectangle 6">
            <a:extLst>
              <a:ext uri="{FF2B5EF4-FFF2-40B4-BE49-F238E27FC236}">
                <a16:creationId xmlns:a16="http://schemas.microsoft.com/office/drawing/2014/main" id="{C0C303E3-F918-AB14-6406-08E16FA71BB1}"/>
              </a:ext>
            </a:extLst>
          </p:cNvPr>
          <p:cNvSpPr/>
          <p:nvPr/>
        </p:nvSpPr>
        <p:spPr>
          <a:xfrm>
            <a:off x="1501486" y="834737"/>
            <a:ext cx="862445"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i1</a:t>
            </a:r>
            <a:endParaRPr lang="en-IN" dirty="0"/>
          </a:p>
        </p:txBody>
      </p:sp>
      <p:sp>
        <p:nvSpPr>
          <p:cNvPr id="8" name="Rectangle 7">
            <a:extLst>
              <a:ext uri="{FF2B5EF4-FFF2-40B4-BE49-F238E27FC236}">
                <a16:creationId xmlns:a16="http://schemas.microsoft.com/office/drawing/2014/main" id="{0F3CDA27-5192-ECE5-E6E2-F4D9776507BE}"/>
              </a:ext>
            </a:extLst>
          </p:cNvPr>
          <p:cNvSpPr/>
          <p:nvPr/>
        </p:nvSpPr>
        <p:spPr>
          <a:xfrm>
            <a:off x="3226378" y="834737"/>
            <a:ext cx="862447"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i3</a:t>
            </a:r>
            <a:endParaRPr lang="en-IN" dirty="0"/>
          </a:p>
        </p:txBody>
      </p:sp>
      <p:sp>
        <p:nvSpPr>
          <p:cNvPr id="9" name="Rectangle 8">
            <a:extLst>
              <a:ext uri="{FF2B5EF4-FFF2-40B4-BE49-F238E27FC236}">
                <a16:creationId xmlns:a16="http://schemas.microsoft.com/office/drawing/2014/main" id="{CD2B61EA-CF3A-E078-4DF7-D708620BF60F}"/>
              </a:ext>
            </a:extLst>
          </p:cNvPr>
          <p:cNvSpPr/>
          <p:nvPr/>
        </p:nvSpPr>
        <p:spPr>
          <a:xfrm>
            <a:off x="4088824" y="834737"/>
            <a:ext cx="862447"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i4</a:t>
            </a:r>
            <a:endParaRPr lang="en-IN" dirty="0"/>
          </a:p>
        </p:txBody>
      </p:sp>
      <p:sp>
        <p:nvSpPr>
          <p:cNvPr id="10" name="Rectangle 9">
            <a:extLst>
              <a:ext uri="{FF2B5EF4-FFF2-40B4-BE49-F238E27FC236}">
                <a16:creationId xmlns:a16="http://schemas.microsoft.com/office/drawing/2014/main" id="{81B0352A-3846-5F88-5F30-C7391F464A1B}"/>
              </a:ext>
            </a:extLst>
          </p:cNvPr>
          <p:cNvSpPr/>
          <p:nvPr/>
        </p:nvSpPr>
        <p:spPr>
          <a:xfrm>
            <a:off x="2363932" y="834737"/>
            <a:ext cx="862446"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i2</a:t>
            </a:r>
            <a:endParaRPr lang="en-IN" dirty="0"/>
          </a:p>
        </p:txBody>
      </p:sp>
      <p:cxnSp>
        <p:nvCxnSpPr>
          <p:cNvPr id="12" name="Straight Arrow Connector 11">
            <a:extLst>
              <a:ext uri="{FF2B5EF4-FFF2-40B4-BE49-F238E27FC236}">
                <a16:creationId xmlns:a16="http://schemas.microsoft.com/office/drawing/2014/main" id="{D108BC6B-DADD-C620-DBC9-868EDB39F3B7}"/>
              </a:ext>
            </a:extLst>
          </p:cNvPr>
          <p:cNvCxnSpPr>
            <a:cxnSpLocks/>
          </p:cNvCxnSpPr>
          <p:nvPr/>
        </p:nvCxnSpPr>
        <p:spPr>
          <a:xfrm>
            <a:off x="3626426" y="512619"/>
            <a:ext cx="0" cy="32211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 name="Rectangle 13">
            <a:extLst>
              <a:ext uri="{FF2B5EF4-FFF2-40B4-BE49-F238E27FC236}">
                <a16:creationId xmlns:a16="http://schemas.microsoft.com/office/drawing/2014/main" id="{8DDBD534-DB17-C9D7-F1B4-5A97B486704C}"/>
              </a:ext>
            </a:extLst>
          </p:cNvPr>
          <p:cNvSpPr/>
          <p:nvPr/>
        </p:nvSpPr>
        <p:spPr>
          <a:xfrm>
            <a:off x="1319645" y="2119762"/>
            <a:ext cx="613063"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3</a:t>
            </a:r>
            <a:endParaRPr lang="en-IN" dirty="0"/>
          </a:p>
        </p:txBody>
      </p:sp>
      <p:sp>
        <p:nvSpPr>
          <p:cNvPr id="15" name="Rectangle 14">
            <a:extLst>
              <a:ext uri="{FF2B5EF4-FFF2-40B4-BE49-F238E27FC236}">
                <a16:creationId xmlns:a16="http://schemas.microsoft.com/office/drawing/2014/main" id="{8739C0BA-69D8-30FC-B550-0F1D8423F19B}"/>
              </a:ext>
            </a:extLst>
          </p:cNvPr>
          <p:cNvSpPr/>
          <p:nvPr/>
        </p:nvSpPr>
        <p:spPr>
          <a:xfrm>
            <a:off x="1002720" y="2912061"/>
            <a:ext cx="613063" cy="31345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a:t>
            </a:r>
            <a:endParaRPr lang="en-IN" dirty="0"/>
          </a:p>
        </p:txBody>
      </p:sp>
      <p:sp>
        <p:nvSpPr>
          <p:cNvPr id="16" name="Rectangle 15">
            <a:extLst>
              <a:ext uri="{FF2B5EF4-FFF2-40B4-BE49-F238E27FC236}">
                <a16:creationId xmlns:a16="http://schemas.microsoft.com/office/drawing/2014/main" id="{B3A6C302-3886-FDD4-5944-942C51A1FDFA}"/>
              </a:ext>
            </a:extLst>
          </p:cNvPr>
          <p:cNvSpPr/>
          <p:nvPr/>
        </p:nvSpPr>
        <p:spPr>
          <a:xfrm>
            <a:off x="1013113" y="1730087"/>
            <a:ext cx="613063" cy="30133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a:t>
            </a:r>
            <a:endParaRPr lang="en-IN" dirty="0"/>
          </a:p>
        </p:txBody>
      </p:sp>
      <p:sp>
        <p:nvSpPr>
          <p:cNvPr id="17" name="Rectangle 16">
            <a:extLst>
              <a:ext uri="{FF2B5EF4-FFF2-40B4-BE49-F238E27FC236}">
                <a16:creationId xmlns:a16="http://schemas.microsoft.com/office/drawing/2014/main" id="{01C29F1C-F744-FD4F-237C-12B27DB5EE48}"/>
              </a:ext>
            </a:extLst>
          </p:cNvPr>
          <p:cNvSpPr/>
          <p:nvPr/>
        </p:nvSpPr>
        <p:spPr>
          <a:xfrm>
            <a:off x="1298858" y="3225517"/>
            <a:ext cx="613063"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a:t>
            </a:r>
            <a:endParaRPr lang="en-IN" dirty="0"/>
          </a:p>
        </p:txBody>
      </p:sp>
      <p:sp>
        <p:nvSpPr>
          <p:cNvPr id="18" name="Rectangle 17">
            <a:extLst>
              <a:ext uri="{FF2B5EF4-FFF2-40B4-BE49-F238E27FC236}">
                <a16:creationId xmlns:a16="http://schemas.microsoft.com/office/drawing/2014/main" id="{3230957A-C9DA-EC43-8839-C969AE494F28}"/>
              </a:ext>
            </a:extLst>
          </p:cNvPr>
          <p:cNvSpPr/>
          <p:nvPr/>
        </p:nvSpPr>
        <p:spPr>
          <a:xfrm>
            <a:off x="992327" y="4010046"/>
            <a:ext cx="613063" cy="31345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a:t>
            </a:r>
            <a:endParaRPr lang="en-IN" dirty="0"/>
          </a:p>
        </p:txBody>
      </p:sp>
      <p:sp>
        <p:nvSpPr>
          <p:cNvPr id="19" name="Rectangle 18">
            <a:extLst>
              <a:ext uri="{FF2B5EF4-FFF2-40B4-BE49-F238E27FC236}">
                <a16:creationId xmlns:a16="http://schemas.microsoft.com/office/drawing/2014/main" id="{63D544DB-7532-C938-6BCC-F2363C0640B7}"/>
              </a:ext>
            </a:extLst>
          </p:cNvPr>
          <p:cNvSpPr/>
          <p:nvPr/>
        </p:nvSpPr>
        <p:spPr>
          <a:xfrm>
            <a:off x="1309250" y="4326995"/>
            <a:ext cx="613063"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6</a:t>
            </a:r>
            <a:endParaRPr lang="en-IN" dirty="0"/>
          </a:p>
        </p:txBody>
      </p:sp>
      <p:sp>
        <p:nvSpPr>
          <p:cNvPr id="20" name="Rectangle 19">
            <a:extLst>
              <a:ext uri="{FF2B5EF4-FFF2-40B4-BE49-F238E27FC236}">
                <a16:creationId xmlns:a16="http://schemas.microsoft.com/office/drawing/2014/main" id="{BF2610B6-F908-269B-8E51-46C9FB23DED2}"/>
              </a:ext>
            </a:extLst>
          </p:cNvPr>
          <p:cNvSpPr/>
          <p:nvPr/>
        </p:nvSpPr>
        <p:spPr>
          <a:xfrm>
            <a:off x="4151165" y="5223164"/>
            <a:ext cx="862445"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i4</a:t>
            </a:r>
            <a:endParaRPr lang="en-IN" dirty="0"/>
          </a:p>
        </p:txBody>
      </p:sp>
      <p:sp>
        <p:nvSpPr>
          <p:cNvPr id="21" name="Rectangle 20">
            <a:extLst>
              <a:ext uri="{FF2B5EF4-FFF2-40B4-BE49-F238E27FC236}">
                <a16:creationId xmlns:a16="http://schemas.microsoft.com/office/drawing/2014/main" id="{9905B29B-827A-43D0-08B4-2C21E5843B18}"/>
              </a:ext>
            </a:extLst>
          </p:cNvPr>
          <p:cNvSpPr/>
          <p:nvPr/>
        </p:nvSpPr>
        <p:spPr>
          <a:xfrm>
            <a:off x="3288720" y="5223164"/>
            <a:ext cx="862445"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i3</a:t>
            </a:r>
            <a:endParaRPr lang="en-IN" dirty="0"/>
          </a:p>
        </p:txBody>
      </p:sp>
      <p:sp>
        <p:nvSpPr>
          <p:cNvPr id="22" name="Rectangle 21">
            <a:extLst>
              <a:ext uri="{FF2B5EF4-FFF2-40B4-BE49-F238E27FC236}">
                <a16:creationId xmlns:a16="http://schemas.microsoft.com/office/drawing/2014/main" id="{85A07B99-54B3-FC61-7CD5-D3864EC96590}"/>
              </a:ext>
            </a:extLst>
          </p:cNvPr>
          <p:cNvSpPr/>
          <p:nvPr/>
        </p:nvSpPr>
        <p:spPr>
          <a:xfrm>
            <a:off x="2426275" y="5223164"/>
            <a:ext cx="862445"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i2</a:t>
            </a:r>
            <a:endParaRPr lang="en-IN" dirty="0"/>
          </a:p>
        </p:txBody>
      </p:sp>
      <p:sp>
        <p:nvSpPr>
          <p:cNvPr id="23" name="Rectangle 22">
            <a:extLst>
              <a:ext uri="{FF2B5EF4-FFF2-40B4-BE49-F238E27FC236}">
                <a16:creationId xmlns:a16="http://schemas.microsoft.com/office/drawing/2014/main" id="{0ACE30BF-DA3E-0A44-2B61-53034FBC16F4}"/>
              </a:ext>
            </a:extLst>
          </p:cNvPr>
          <p:cNvSpPr/>
          <p:nvPr/>
        </p:nvSpPr>
        <p:spPr>
          <a:xfrm>
            <a:off x="1563830" y="5223164"/>
            <a:ext cx="862445"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i1</a:t>
            </a:r>
            <a:endParaRPr lang="en-IN" dirty="0"/>
          </a:p>
        </p:txBody>
      </p:sp>
    </p:spTree>
    <p:extLst>
      <p:ext uri="{BB962C8B-B14F-4D97-AF65-F5344CB8AC3E}">
        <p14:creationId xmlns:p14="http://schemas.microsoft.com/office/powerpoint/2010/main" val="295799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EF3E4-272E-E3C9-F60B-AC976673B99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7E9BD68-56A5-2D52-CCB7-A222C1BED834}"/>
              </a:ext>
            </a:extLst>
          </p:cNvPr>
          <p:cNvSpPr/>
          <p:nvPr/>
        </p:nvSpPr>
        <p:spPr>
          <a:xfrm>
            <a:off x="1309255" y="342901"/>
            <a:ext cx="1246909" cy="30133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P2</a:t>
            </a:r>
            <a:r>
              <a:rPr lang="en-US" dirty="0"/>
              <a:t> -</a:t>
            </a:r>
            <a:endParaRPr lang="en-IN" dirty="0"/>
          </a:p>
        </p:txBody>
      </p:sp>
      <p:sp>
        <p:nvSpPr>
          <p:cNvPr id="5" name="Rectangle 4">
            <a:extLst>
              <a:ext uri="{FF2B5EF4-FFF2-40B4-BE49-F238E27FC236}">
                <a16:creationId xmlns:a16="http://schemas.microsoft.com/office/drawing/2014/main" id="{71478D62-2334-4D9D-AA8C-1ADCED2BBE85}"/>
              </a:ext>
            </a:extLst>
          </p:cNvPr>
          <p:cNvSpPr/>
          <p:nvPr/>
        </p:nvSpPr>
        <p:spPr>
          <a:xfrm>
            <a:off x="1501486" y="834737"/>
            <a:ext cx="862445"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i1</a:t>
            </a:r>
            <a:endParaRPr lang="en-IN" dirty="0"/>
          </a:p>
        </p:txBody>
      </p:sp>
      <p:sp>
        <p:nvSpPr>
          <p:cNvPr id="6" name="Rectangle 5">
            <a:extLst>
              <a:ext uri="{FF2B5EF4-FFF2-40B4-BE49-F238E27FC236}">
                <a16:creationId xmlns:a16="http://schemas.microsoft.com/office/drawing/2014/main" id="{C13334E6-F3E5-7A2F-E773-A659B0BEBE38}"/>
              </a:ext>
            </a:extLst>
          </p:cNvPr>
          <p:cNvSpPr/>
          <p:nvPr/>
        </p:nvSpPr>
        <p:spPr>
          <a:xfrm>
            <a:off x="2363931" y="834737"/>
            <a:ext cx="862445"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i2</a:t>
            </a:r>
            <a:endParaRPr lang="en-IN" dirty="0"/>
          </a:p>
        </p:txBody>
      </p:sp>
      <p:sp>
        <p:nvSpPr>
          <p:cNvPr id="7" name="Rectangle 6">
            <a:extLst>
              <a:ext uri="{FF2B5EF4-FFF2-40B4-BE49-F238E27FC236}">
                <a16:creationId xmlns:a16="http://schemas.microsoft.com/office/drawing/2014/main" id="{E8E72FB3-36BF-8F1C-AF68-F0D2845383C8}"/>
              </a:ext>
            </a:extLst>
          </p:cNvPr>
          <p:cNvSpPr/>
          <p:nvPr/>
        </p:nvSpPr>
        <p:spPr>
          <a:xfrm>
            <a:off x="3226376" y="834737"/>
            <a:ext cx="862445"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i3</a:t>
            </a:r>
            <a:endParaRPr lang="en-IN" dirty="0"/>
          </a:p>
        </p:txBody>
      </p:sp>
      <p:sp>
        <p:nvSpPr>
          <p:cNvPr id="8" name="Rectangle 7">
            <a:extLst>
              <a:ext uri="{FF2B5EF4-FFF2-40B4-BE49-F238E27FC236}">
                <a16:creationId xmlns:a16="http://schemas.microsoft.com/office/drawing/2014/main" id="{726F5B1D-064C-9A30-27FF-A175334DE8B9}"/>
              </a:ext>
            </a:extLst>
          </p:cNvPr>
          <p:cNvSpPr/>
          <p:nvPr/>
        </p:nvSpPr>
        <p:spPr>
          <a:xfrm>
            <a:off x="4088821" y="834737"/>
            <a:ext cx="862445"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i4</a:t>
            </a:r>
            <a:endParaRPr lang="en-IN" dirty="0"/>
          </a:p>
        </p:txBody>
      </p:sp>
      <p:sp>
        <p:nvSpPr>
          <p:cNvPr id="9" name="Rectangle 8">
            <a:extLst>
              <a:ext uri="{FF2B5EF4-FFF2-40B4-BE49-F238E27FC236}">
                <a16:creationId xmlns:a16="http://schemas.microsoft.com/office/drawing/2014/main" id="{512E0AE0-89A0-9499-6855-46D1EF95A01D}"/>
              </a:ext>
            </a:extLst>
          </p:cNvPr>
          <p:cNvSpPr/>
          <p:nvPr/>
        </p:nvSpPr>
        <p:spPr>
          <a:xfrm>
            <a:off x="1013113" y="1730087"/>
            <a:ext cx="613063" cy="30133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a:t>
            </a:r>
            <a:endParaRPr lang="en-IN" dirty="0"/>
          </a:p>
        </p:txBody>
      </p:sp>
      <p:sp>
        <p:nvSpPr>
          <p:cNvPr id="10" name="Rectangle 9">
            <a:extLst>
              <a:ext uri="{FF2B5EF4-FFF2-40B4-BE49-F238E27FC236}">
                <a16:creationId xmlns:a16="http://schemas.microsoft.com/office/drawing/2014/main" id="{D4A6A1A7-ED05-43D8-EEBB-06E7AF36DBF3}"/>
              </a:ext>
            </a:extLst>
          </p:cNvPr>
          <p:cNvSpPr/>
          <p:nvPr/>
        </p:nvSpPr>
        <p:spPr>
          <a:xfrm>
            <a:off x="1319645" y="2119762"/>
            <a:ext cx="613063"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12</a:t>
            </a:r>
            <a:endParaRPr lang="en-IN" dirty="0"/>
          </a:p>
        </p:txBody>
      </p:sp>
      <p:sp>
        <p:nvSpPr>
          <p:cNvPr id="11" name="Rectangle 10">
            <a:extLst>
              <a:ext uri="{FF2B5EF4-FFF2-40B4-BE49-F238E27FC236}">
                <a16:creationId xmlns:a16="http://schemas.microsoft.com/office/drawing/2014/main" id="{F616ECF4-33F6-369F-7104-355232063AC1}"/>
              </a:ext>
            </a:extLst>
          </p:cNvPr>
          <p:cNvSpPr/>
          <p:nvPr/>
        </p:nvSpPr>
        <p:spPr>
          <a:xfrm>
            <a:off x="1002720" y="2912061"/>
            <a:ext cx="613063" cy="31345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a:t>
            </a:r>
            <a:endParaRPr lang="en-IN" dirty="0"/>
          </a:p>
        </p:txBody>
      </p:sp>
      <p:sp>
        <p:nvSpPr>
          <p:cNvPr id="12" name="Rectangle 11">
            <a:extLst>
              <a:ext uri="{FF2B5EF4-FFF2-40B4-BE49-F238E27FC236}">
                <a16:creationId xmlns:a16="http://schemas.microsoft.com/office/drawing/2014/main" id="{6B17107A-98A1-C9D7-CD75-7521F5D1345A}"/>
              </a:ext>
            </a:extLst>
          </p:cNvPr>
          <p:cNvSpPr/>
          <p:nvPr/>
        </p:nvSpPr>
        <p:spPr>
          <a:xfrm>
            <a:off x="1298858" y="3225517"/>
            <a:ext cx="613063"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9</a:t>
            </a:r>
            <a:endParaRPr lang="en-IN" dirty="0"/>
          </a:p>
        </p:txBody>
      </p:sp>
      <p:sp>
        <p:nvSpPr>
          <p:cNvPr id="13" name="Rectangle 12">
            <a:extLst>
              <a:ext uri="{FF2B5EF4-FFF2-40B4-BE49-F238E27FC236}">
                <a16:creationId xmlns:a16="http://schemas.microsoft.com/office/drawing/2014/main" id="{D1B7CDF0-9C03-BC9A-E693-54C46EAD6DEA}"/>
              </a:ext>
            </a:extLst>
          </p:cNvPr>
          <p:cNvSpPr/>
          <p:nvPr/>
        </p:nvSpPr>
        <p:spPr>
          <a:xfrm>
            <a:off x="992327" y="4010046"/>
            <a:ext cx="613063" cy="31345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a:t>
            </a:r>
            <a:endParaRPr lang="en-IN" dirty="0"/>
          </a:p>
        </p:txBody>
      </p:sp>
      <p:sp>
        <p:nvSpPr>
          <p:cNvPr id="14" name="Rectangle 13">
            <a:extLst>
              <a:ext uri="{FF2B5EF4-FFF2-40B4-BE49-F238E27FC236}">
                <a16:creationId xmlns:a16="http://schemas.microsoft.com/office/drawing/2014/main" id="{FE685D42-45E9-26EE-29CA-3C48370780AB}"/>
              </a:ext>
            </a:extLst>
          </p:cNvPr>
          <p:cNvSpPr/>
          <p:nvPr/>
        </p:nvSpPr>
        <p:spPr>
          <a:xfrm>
            <a:off x="1309250" y="4326995"/>
            <a:ext cx="613063"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15</a:t>
            </a:r>
            <a:endParaRPr lang="en-IN" dirty="0"/>
          </a:p>
        </p:txBody>
      </p:sp>
      <p:sp>
        <p:nvSpPr>
          <p:cNvPr id="15" name="Rectangle 14">
            <a:extLst>
              <a:ext uri="{FF2B5EF4-FFF2-40B4-BE49-F238E27FC236}">
                <a16:creationId xmlns:a16="http://schemas.microsoft.com/office/drawing/2014/main" id="{80CB3983-A766-2104-BD54-F831F5E1023A}"/>
              </a:ext>
            </a:extLst>
          </p:cNvPr>
          <p:cNvSpPr/>
          <p:nvPr/>
        </p:nvSpPr>
        <p:spPr>
          <a:xfrm>
            <a:off x="1465117" y="5231046"/>
            <a:ext cx="862445"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i3</a:t>
            </a:r>
            <a:endParaRPr lang="en-IN" dirty="0"/>
          </a:p>
        </p:txBody>
      </p:sp>
      <p:sp>
        <p:nvSpPr>
          <p:cNvPr id="16" name="Rectangle 15">
            <a:extLst>
              <a:ext uri="{FF2B5EF4-FFF2-40B4-BE49-F238E27FC236}">
                <a16:creationId xmlns:a16="http://schemas.microsoft.com/office/drawing/2014/main" id="{91B26151-7A88-5DB7-56F6-9D28E66E5310}"/>
              </a:ext>
            </a:extLst>
          </p:cNvPr>
          <p:cNvSpPr/>
          <p:nvPr/>
        </p:nvSpPr>
        <p:spPr>
          <a:xfrm>
            <a:off x="3190007" y="5231046"/>
            <a:ext cx="862445"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9</a:t>
            </a:r>
            <a:endParaRPr lang="en-IN" dirty="0"/>
          </a:p>
        </p:txBody>
      </p:sp>
      <p:sp>
        <p:nvSpPr>
          <p:cNvPr id="17" name="Rectangle 16">
            <a:extLst>
              <a:ext uri="{FF2B5EF4-FFF2-40B4-BE49-F238E27FC236}">
                <a16:creationId xmlns:a16="http://schemas.microsoft.com/office/drawing/2014/main" id="{178DFDA2-E9CA-7A96-C81C-43C2245EEE46}"/>
              </a:ext>
            </a:extLst>
          </p:cNvPr>
          <p:cNvSpPr/>
          <p:nvPr/>
        </p:nvSpPr>
        <p:spPr>
          <a:xfrm>
            <a:off x="2327562" y="5231046"/>
            <a:ext cx="862445"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12</a:t>
            </a:r>
            <a:endParaRPr lang="en-IN" dirty="0"/>
          </a:p>
        </p:txBody>
      </p:sp>
      <p:sp>
        <p:nvSpPr>
          <p:cNvPr id="18" name="Rectangle 17">
            <a:extLst>
              <a:ext uri="{FF2B5EF4-FFF2-40B4-BE49-F238E27FC236}">
                <a16:creationId xmlns:a16="http://schemas.microsoft.com/office/drawing/2014/main" id="{80A51D0D-69A4-50ED-CC95-C0790BFE7F1B}"/>
              </a:ext>
            </a:extLst>
          </p:cNvPr>
          <p:cNvSpPr/>
          <p:nvPr/>
        </p:nvSpPr>
        <p:spPr>
          <a:xfrm>
            <a:off x="4052452" y="5231046"/>
            <a:ext cx="862445" cy="3948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15</a:t>
            </a:r>
            <a:endParaRPr lang="en-IN" dirty="0"/>
          </a:p>
        </p:txBody>
      </p:sp>
    </p:spTree>
    <p:extLst>
      <p:ext uri="{BB962C8B-B14F-4D97-AF65-F5344CB8AC3E}">
        <p14:creationId xmlns:p14="http://schemas.microsoft.com/office/powerpoint/2010/main" val="2470194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D1F6E-3C12-B345-803E-A8BF7476817C}"/>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38F26AF3-0ECF-185B-7887-DDA72432856C}"/>
              </a:ext>
            </a:extLst>
          </p:cNvPr>
          <p:cNvPicPr>
            <a:picLocks noChangeAspect="1"/>
          </p:cNvPicPr>
          <p:nvPr/>
        </p:nvPicPr>
        <p:blipFill>
          <a:blip r:embed="rId2"/>
          <a:stretch>
            <a:fillRect/>
          </a:stretch>
        </p:blipFill>
        <p:spPr>
          <a:xfrm>
            <a:off x="893617" y="466967"/>
            <a:ext cx="8250381" cy="5207873"/>
          </a:xfrm>
          <a:prstGeom prst="rect">
            <a:avLst/>
          </a:prstGeom>
        </p:spPr>
      </p:pic>
    </p:spTree>
    <p:extLst>
      <p:ext uri="{BB962C8B-B14F-4D97-AF65-F5344CB8AC3E}">
        <p14:creationId xmlns:p14="http://schemas.microsoft.com/office/powerpoint/2010/main" val="380547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8D89B-F4F0-8351-253C-3717D757FEE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CD84FD3-6093-F501-CA57-F827CA1AF24F}"/>
              </a:ext>
            </a:extLst>
          </p:cNvPr>
          <p:cNvSpPr txBox="1"/>
          <p:nvPr/>
        </p:nvSpPr>
        <p:spPr>
          <a:xfrm>
            <a:off x="893618" y="238991"/>
            <a:ext cx="8263370" cy="3693319"/>
          </a:xfrm>
          <a:prstGeom prst="rect">
            <a:avLst/>
          </a:prstGeom>
          <a:noFill/>
        </p:spPr>
        <p:txBody>
          <a:bodyPr wrap="square">
            <a:spAutoFit/>
          </a:bodyPr>
          <a:lstStyle/>
          <a:p>
            <a:r>
              <a:rPr lang="en-US" dirty="0"/>
              <a:t>Context switches are computationally intensive since register and memory state must be saved and restored. To avoid the amount of context switching time, some hardware systems employ two or more sets of processor registers. When the process is switched, the following information is stored for later use. </a:t>
            </a:r>
          </a:p>
          <a:p>
            <a:endParaRPr lang="en-US" dirty="0"/>
          </a:p>
          <a:p>
            <a:r>
              <a:rPr lang="en-US" dirty="0"/>
              <a:t>● Program Counter </a:t>
            </a:r>
          </a:p>
          <a:p>
            <a:r>
              <a:rPr lang="en-US" dirty="0"/>
              <a:t>● Scheduling information </a:t>
            </a:r>
          </a:p>
          <a:p>
            <a:r>
              <a:rPr lang="en-US" dirty="0"/>
              <a:t>● Base and limit register value </a:t>
            </a:r>
          </a:p>
          <a:p>
            <a:r>
              <a:rPr lang="en-US" dirty="0"/>
              <a:t>● Currently used register </a:t>
            </a:r>
          </a:p>
          <a:p>
            <a:r>
              <a:rPr lang="en-US" dirty="0"/>
              <a:t>● Changed State </a:t>
            </a:r>
          </a:p>
          <a:p>
            <a:r>
              <a:rPr lang="en-US" dirty="0"/>
              <a:t>● I/O State information </a:t>
            </a:r>
          </a:p>
          <a:p>
            <a:r>
              <a:rPr lang="en-US" dirty="0"/>
              <a:t>● Accounting information</a:t>
            </a:r>
            <a:endParaRPr lang="en-IN" dirty="0"/>
          </a:p>
        </p:txBody>
      </p:sp>
    </p:spTree>
    <p:extLst>
      <p:ext uri="{BB962C8B-B14F-4D97-AF65-F5344CB8AC3E}">
        <p14:creationId xmlns:p14="http://schemas.microsoft.com/office/powerpoint/2010/main" val="5467285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9EDD1-BF03-BEB8-0058-0F7099CE711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85EE743-5A2E-A9E8-7E69-A87BD46CC745}"/>
              </a:ext>
            </a:extLst>
          </p:cNvPr>
          <p:cNvSpPr txBox="1"/>
          <p:nvPr/>
        </p:nvSpPr>
        <p:spPr>
          <a:xfrm>
            <a:off x="797503" y="203630"/>
            <a:ext cx="8304933" cy="3970318"/>
          </a:xfrm>
          <a:prstGeom prst="rect">
            <a:avLst/>
          </a:prstGeom>
          <a:noFill/>
        </p:spPr>
        <p:txBody>
          <a:bodyPr wrap="square">
            <a:spAutoFit/>
          </a:bodyPr>
          <a:lstStyle/>
          <a:p>
            <a:r>
              <a:rPr lang="en-US" b="1" u="sng" dirty="0"/>
              <a:t>3.3 Inter Process Communication:-</a:t>
            </a:r>
          </a:p>
          <a:p>
            <a:endParaRPr lang="en-US" b="1" u="sng" dirty="0"/>
          </a:p>
          <a:p>
            <a:r>
              <a:rPr lang="en-US" b="1" u="sng" dirty="0"/>
              <a:t>Process can be of two types-</a:t>
            </a:r>
          </a:p>
          <a:p>
            <a:endParaRPr lang="en-US" dirty="0"/>
          </a:p>
          <a:p>
            <a:pPr marL="342900" indent="-342900">
              <a:buAutoNum type="arabicPeriod"/>
            </a:pPr>
            <a:r>
              <a:rPr lang="en-US" b="1" u="sng" dirty="0"/>
              <a:t>Independent Process </a:t>
            </a:r>
          </a:p>
          <a:p>
            <a:r>
              <a:rPr lang="en-US" dirty="0"/>
              <a:t>	Independent process is the process that can not affect or be affected by the other processes. Independent processes do not share any data like temporary or persistent with any other process. </a:t>
            </a:r>
          </a:p>
          <a:p>
            <a:r>
              <a:rPr lang="en-US" dirty="0"/>
              <a:t>2. </a:t>
            </a:r>
            <a:r>
              <a:rPr lang="en-US" b="1" u="sng" dirty="0"/>
              <a:t>Co-operating process </a:t>
            </a:r>
          </a:p>
          <a:p>
            <a:r>
              <a:rPr lang="en-US" dirty="0"/>
              <a:t>	Cooperating processes are affect or be affected by the other processes executing in the system. Cooperating process shares data with other processes.</a:t>
            </a:r>
            <a:endParaRPr lang="en-IN" dirty="0"/>
          </a:p>
          <a:p>
            <a:endParaRPr lang="en-IN" dirty="0"/>
          </a:p>
          <a:p>
            <a:pPr marL="285750" indent="-285750">
              <a:buFont typeface="Wingdings" panose="05000000000000000000" pitchFamily="2" charset="2"/>
              <a:buChar char="ü"/>
            </a:pPr>
            <a:r>
              <a:rPr lang="en-IN" dirty="0"/>
              <a:t>Shared Memory </a:t>
            </a:r>
            <a:endParaRPr lang="en-US" dirty="0"/>
          </a:p>
        </p:txBody>
      </p:sp>
      <p:sp>
        <p:nvSpPr>
          <p:cNvPr id="9" name="Rectangle 8">
            <a:extLst>
              <a:ext uri="{FF2B5EF4-FFF2-40B4-BE49-F238E27FC236}">
                <a16:creationId xmlns:a16="http://schemas.microsoft.com/office/drawing/2014/main" id="{DD03BFB6-572C-43F4-800A-3E00ED1B3B07}"/>
              </a:ext>
            </a:extLst>
          </p:cNvPr>
          <p:cNvSpPr/>
          <p:nvPr/>
        </p:nvSpPr>
        <p:spPr>
          <a:xfrm>
            <a:off x="1975139" y="4468091"/>
            <a:ext cx="1984664" cy="633846"/>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Process 1</a:t>
            </a:r>
            <a:endParaRPr lang="en-IN" dirty="0"/>
          </a:p>
        </p:txBody>
      </p:sp>
      <p:sp>
        <p:nvSpPr>
          <p:cNvPr id="10" name="Rectangle 9">
            <a:extLst>
              <a:ext uri="{FF2B5EF4-FFF2-40B4-BE49-F238E27FC236}">
                <a16:creationId xmlns:a16="http://schemas.microsoft.com/office/drawing/2014/main" id="{F406D16D-A192-FE7F-2E60-540B6B47232C}"/>
              </a:ext>
            </a:extLst>
          </p:cNvPr>
          <p:cNvSpPr/>
          <p:nvPr/>
        </p:nvSpPr>
        <p:spPr>
          <a:xfrm>
            <a:off x="2493817" y="6020524"/>
            <a:ext cx="3751118" cy="633846"/>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Shared Memory </a:t>
            </a:r>
            <a:endParaRPr lang="en-IN" dirty="0"/>
          </a:p>
        </p:txBody>
      </p:sp>
      <p:sp>
        <p:nvSpPr>
          <p:cNvPr id="11" name="Rectangle 10">
            <a:extLst>
              <a:ext uri="{FF2B5EF4-FFF2-40B4-BE49-F238E27FC236}">
                <a16:creationId xmlns:a16="http://schemas.microsoft.com/office/drawing/2014/main" id="{62AFB30D-4373-59E2-9020-CCF3B2A32732}"/>
              </a:ext>
            </a:extLst>
          </p:cNvPr>
          <p:cNvSpPr/>
          <p:nvPr/>
        </p:nvSpPr>
        <p:spPr>
          <a:xfrm>
            <a:off x="4369376" y="4468091"/>
            <a:ext cx="1984664" cy="633846"/>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Process 2 </a:t>
            </a:r>
            <a:endParaRPr lang="en-IN" dirty="0"/>
          </a:p>
        </p:txBody>
      </p:sp>
      <p:cxnSp>
        <p:nvCxnSpPr>
          <p:cNvPr id="13" name="Straight Arrow Connector 12">
            <a:extLst>
              <a:ext uri="{FF2B5EF4-FFF2-40B4-BE49-F238E27FC236}">
                <a16:creationId xmlns:a16="http://schemas.microsoft.com/office/drawing/2014/main" id="{270E8DDE-3AB4-56C5-4CA8-54C4245EE0D0}"/>
              </a:ext>
            </a:extLst>
          </p:cNvPr>
          <p:cNvCxnSpPr>
            <a:cxnSpLocks/>
            <a:stCxn id="9" idx="2"/>
          </p:cNvCxnSpPr>
          <p:nvPr/>
        </p:nvCxnSpPr>
        <p:spPr>
          <a:xfrm>
            <a:off x="2967471" y="5101937"/>
            <a:ext cx="518678" cy="918587"/>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F7A23C78-CD5F-1C8C-D1D4-A1800BF6D091}"/>
              </a:ext>
            </a:extLst>
          </p:cNvPr>
          <p:cNvCxnSpPr>
            <a:cxnSpLocks/>
          </p:cNvCxnSpPr>
          <p:nvPr/>
        </p:nvCxnSpPr>
        <p:spPr>
          <a:xfrm flipV="1">
            <a:off x="4852555" y="5092535"/>
            <a:ext cx="509153" cy="927989"/>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0539462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AF73E-422F-9832-E707-537FAFB457E9}"/>
            </a:ext>
          </a:extLst>
        </p:cNvPr>
        <p:cNvGrpSpPr/>
        <p:nvPr/>
      </p:nvGrpSpPr>
      <p:grpSpPr>
        <a:xfrm>
          <a:off x="0" y="0"/>
          <a:ext cx="0" cy="0"/>
          <a:chOff x="0" y="0"/>
          <a:chExt cx="0" cy="0"/>
        </a:xfrm>
      </p:grpSpPr>
      <p:pic>
        <p:nvPicPr>
          <p:cNvPr id="1026" name="Picture 2" descr="Andrew Forney - LMU CS">
            <a:extLst>
              <a:ext uri="{FF2B5EF4-FFF2-40B4-BE49-F238E27FC236}">
                <a16:creationId xmlns:a16="http://schemas.microsoft.com/office/drawing/2014/main" id="{98F02B29-CE2E-D748-7C64-D7367D54E0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4564" y="415637"/>
            <a:ext cx="7928263" cy="514164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969837A7-046B-24E7-05EC-1D33B422C440}"/>
              </a:ext>
            </a:extLst>
          </p:cNvPr>
          <p:cNvSpPr/>
          <p:nvPr/>
        </p:nvSpPr>
        <p:spPr>
          <a:xfrm>
            <a:off x="872837" y="5694218"/>
            <a:ext cx="8167254" cy="74814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t"/>
          <a:lstStyle/>
          <a:p>
            <a:pPr marL="285750" indent="-285750">
              <a:buFont typeface="Wingdings" panose="05000000000000000000" pitchFamily="2" charset="2"/>
              <a:buChar char="ü"/>
            </a:pPr>
            <a:r>
              <a:rPr lang="en-US" dirty="0"/>
              <a:t>Observe :- in a distributed system, message – passing is the only possible communication model </a:t>
            </a:r>
            <a:endParaRPr lang="en-IN" dirty="0"/>
          </a:p>
        </p:txBody>
      </p:sp>
    </p:spTree>
    <p:extLst>
      <p:ext uri="{BB962C8B-B14F-4D97-AF65-F5344CB8AC3E}">
        <p14:creationId xmlns:p14="http://schemas.microsoft.com/office/powerpoint/2010/main" val="403042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EA3F9-F02D-1AB2-B1E1-A4A3AB45355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F3E9FD9-30EE-A370-9419-4A80E5FFDF89}"/>
              </a:ext>
            </a:extLst>
          </p:cNvPr>
          <p:cNvSpPr/>
          <p:nvPr/>
        </p:nvSpPr>
        <p:spPr>
          <a:xfrm>
            <a:off x="997528" y="488373"/>
            <a:ext cx="8063345" cy="62241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Rectangle 4">
            <a:extLst>
              <a:ext uri="{FF2B5EF4-FFF2-40B4-BE49-F238E27FC236}">
                <a16:creationId xmlns:a16="http://schemas.microsoft.com/office/drawing/2014/main" id="{D9DF335B-FB2B-245D-DB0A-2BBD41B6EEDB}"/>
              </a:ext>
            </a:extLst>
          </p:cNvPr>
          <p:cNvSpPr/>
          <p:nvPr/>
        </p:nvSpPr>
        <p:spPr>
          <a:xfrm>
            <a:off x="1194306" y="1013113"/>
            <a:ext cx="2899064" cy="48317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Rectangle 5">
            <a:extLst>
              <a:ext uri="{FF2B5EF4-FFF2-40B4-BE49-F238E27FC236}">
                <a16:creationId xmlns:a16="http://schemas.microsoft.com/office/drawing/2014/main" id="{4CC7FE62-F544-D4A9-492D-6629F91F08C0}"/>
              </a:ext>
            </a:extLst>
          </p:cNvPr>
          <p:cNvSpPr/>
          <p:nvPr/>
        </p:nvSpPr>
        <p:spPr>
          <a:xfrm>
            <a:off x="5247410" y="1013112"/>
            <a:ext cx="3335482" cy="483177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7" name="Rectangle 6">
            <a:extLst>
              <a:ext uri="{FF2B5EF4-FFF2-40B4-BE49-F238E27FC236}">
                <a16:creationId xmlns:a16="http://schemas.microsoft.com/office/drawing/2014/main" id="{C6D75866-2769-C042-A83E-8977541D5E8D}"/>
              </a:ext>
            </a:extLst>
          </p:cNvPr>
          <p:cNvSpPr/>
          <p:nvPr/>
        </p:nvSpPr>
        <p:spPr>
          <a:xfrm>
            <a:off x="1194305" y="1013113"/>
            <a:ext cx="2899063" cy="63904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Stack</a:t>
            </a:r>
            <a:endParaRPr lang="en-IN" dirty="0"/>
          </a:p>
        </p:txBody>
      </p:sp>
      <p:sp>
        <p:nvSpPr>
          <p:cNvPr id="11" name="Rectangle 10">
            <a:extLst>
              <a:ext uri="{FF2B5EF4-FFF2-40B4-BE49-F238E27FC236}">
                <a16:creationId xmlns:a16="http://schemas.microsoft.com/office/drawing/2014/main" id="{997AFD7D-2D5A-21A4-A98D-E629510B887A}"/>
              </a:ext>
            </a:extLst>
          </p:cNvPr>
          <p:cNvSpPr/>
          <p:nvPr/>
        </p:nvSpPr>
        <p:spPr>
          <a:xfrm>
            <a:off x="1194304" y="1667740"/>
            <a:ext cx="2899063" cy="63904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Registers </a:t>
            </a:r>
            <a:endParaRPr lang="en-IN" dirty="0"/>
          </a:p>
        </p:txBody>
      </p:sp>
      <p:sp>
        <p:nvSpPr>
          <p:cNvPr id="12" name="Rectangle 11">
            <a:extLst>
              <a:ext uri="{FF2B5EF4-FFF2-40B4-BE49-F238E27FC236}">
                <a16:creationId xmlns:a16="http://schemas.microsoft.com/office/drawing/2014/main" id="{9FC7C879-90D2-A13E-1E9F-A3771E4275AE}"/>
              </a:ext>
            </a:extLst>
          </p:cNvPr>
          <p:cNvSpPr/>
          <p:nvPr/>
        </p:nvSpPr>
        <p:spPr>
          <a:xfrm>
            <a:off x="1194305" y="4561607"/>
            <a:ext cx="2899063" cy="55071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Code</a:t>
            </a:r>
            <a:endParaRPr lang="en-IN" dirty="0"/>
          </a:p>
        </p:txBody>
      </p:sp>
      <p:sp>
        <p:nvSpPr>
          <p:cNvPr id="13" name="Rectangle 12">
            <a:extLst>
              <a:ext uri="{FF2B5EF4-FFF2-40B4-BE49-F238E27FC236}">
                <a16:creationId xmlns:a16="http://schemas.microsoft.com/office/drawing/2014/main" id="{F6497BE1-7F78-1812-BB51-95B41C7FA3BC}"/>
              </a:ext>
            </a:extLst>
          </p:cNvPr>
          <p:cNvSpPr/>
          <p:nvPr/>
        </p:nvSpPr>
        <p:spPr>
          <a:xfrm>
            <a:off x="1194304" y="5112326"/>
            <a:ext cx="2899063" cy="73256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File / data </a:t>
            </a:r>
            <a:endParaRPr lang="en-IN" dirty="0"/>
          </a:p>
        </p:txBody>
      </p:sp>
      <p:cxnSp>
        <p:nvCxnSpPr>
          <p:cNvPr id="15" name="Straight Connector 14">
            <a:extLst>
              <a:ext uri="{FF2B5EF4-FFF2-40B4-BE49-F238E27FC236}">
                <a16:creationId xmlns:a16="http://schemas.microsoft.com/office/drawing/2014/main" id="{FC74F90A-133F-C270-73FF-3A6A0A594DCD}"/>
              </a:ext>
            </a:extLst>
          </p:cNvPr>
          <p:cNvCxnSpPr/>
          <p:nvPr/>
        </p:nvCxnSpPr>
        <p:spPr>
          <a:xfrm>
            <a:off x="4738255" y="509155"/>
            <a:ext cx="0" cy="6182590"/>
          </a:xfrm>
          <a:prstGeom prst="line">
            <a:avLst/>
          </a:prstGeom>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33" name="Ink 32">
                <a:extLst>
                  <a:ext uri="{FF2B5EF4-FFF2-40B4-BE49-F238E27FC236}">
                    <a16:creationId xmlns:a16="http://schemas.microsoft.com/office/drawing/2014/main" id="{709668D3-2707-AB65-F945-204B9F1DEF80}"/>
                  </a:ext>
                </a:extLst>
              </p14:cNvPr>
              <p14:cNvContentPartPr/>
              <p14:nvPr/>
            </p14:nvContentPartPr>
            <p14:xfrm>
              <a:off x="1548213" y="2882536"/>
              <a:ext cx="360" cy="6120"/>
            </p14:xfrm>
          </p:contentPart>
        </mc:Choice>
        <mc:Fallback>
          <p:pic>
            <p:nvPicPr>
              <p:cNvPr id="33" name="Ink 32">
                <a:extLst>
                  <a:ext uri="{FF2B5EF4-FFF2-40B4-BE49-F238E27FC236}">
                    <a16:creationId xmlns:a16="http://schemas.microsoft.com/office/drawing/2014/main" id="{709668D3-2707-AB65-F945-204B9F1DEF80}"/>
                  </a:ext>
                </a:extLst>
              </p:cNvPr>
              <p:cNvPicPr/>
              <p:nvPr/>
            </p:nvPicPr>
            <p:blipFill>
              <a:blip r:embed="rId3"/>
              <a:stretch>
                <a:fillRect/>
              </a:stretch>
            </p:blipFill>
            <p:spPr>
              <a:xfrm>
                <a:off x="1512213" y="2846896"/>
                <a:ext cx="72000" cy="777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4" name="Ink 33">
                <a:extLst>
                  <a:ext uri="{FF2B5EF4-FFF2-40B4-BE49-F238E27FC236}">
                    <a16:creationId xmlns:a16="http://schemas.microsoft.com/office/drawing/2014/main" id="{9F4EC0E6-992E-5B38-E512-70EC0F5980AF}"/>
                  </a:ext>
                </a:extLst>
              </p14:cNvPr>
              <p14:cNvContentPartPr/>
              <p14:nvPr/>
            </p14:nvContentPartPr>
            <p14:xfrm>
              <a:off x="1527693" y="3231736"/>
              <a:ext cx="360" cy="360"/>
            </p14:xfrm>
          </p:contentPart>
        </mc:Choice>
        <mc:Fallback>
          <p:pic>
            <p:nvPicPr>
              <p:cNvPr id="34" name="Ink 33">
                <a:extLst>
                  <a:ext uri="{FF2B5EF4-FFF2-40B4-BE49-F238E27FC236}">
                    <a16:creationId xmlns:a16="http://schemas.microsoft.com/office/drawing/2014/main" id="{9F4EC0E6-992E-5B38-E512-70EC0F5980AF}"/>
                  </a:ext>
                </a:extLst>
              </p:cNvPr>
              <p:cNvPicPr/>
              <p:nvPr/>
            </p:nvPicPr>
            <p:blipFill>
              <a:blip r:embed="rId5"/>
              <a:stretch>
                <a:fillRect/>
              </a:stretch>
            </p:blipFill>
            <p:spPr>
              <a:xfrm>
                <a:off x="1491693" y="3195736"/>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5" name="Ink 34">
                <a:extLst>
                  <a:ext uri="{FF2B5EF4-FFF2-40B4-BE49-F238E27FC236}">
                    <a16:creationId xmlns:a16="http://schemas.microsoft.com/office/drawing/2014/main" id="{775B8571-678B-E307-599B-0ECABD75BF2E}"/>
                  </a:ext>
                </a:extLst>
              </p14:cNvPr>
              <p14:cNvContentPartPr/>
              <p14:nvPr/>
            </p14:nvContentPartPr>
            <p14:xfrm>
              <a:off x="1527693" y="3564016"/>
              <a:ext cx="360" cy="360"/>
            </p14:xfrm>
          </p:contentPart>
        </mc:Choice>
        <mc:Fallback>
          <p:pic>
            <p:nvPicPr>
              <p:cNvPr id="35" name="Ink 34">
                <a:extLst>
                  <a:ext uri="{FF2B5EF4-FFF2-40B4-BE49-F238E27FC236}">
                    <a16:creationId xmlns:a16="http://schemas.microsoft.com/office/drawing/2014/main" id="{775B8571-678B-E307-599B-0ECABD75BF2E}"/>
                  </a:ext>
                </a:extLst>
              </p:cNvPr>
              <p:cNvPicPr/>
              <p:nvPr/>
            </p:nvPicPr>
            <p:blipFill>
              <a:blip r:embed="rId5"/>
              <a:stretch>
                <a:fillRect/>
              </a:stretch>
            </p:blipFill>
            <p:spPr>
              <a:xfrm>
                <a:off x="1491693" y="3528016"/>
                <a:ext cx="72000" cy="72000"/>
              </a:xfrm>
              <a:prstGeom prst="rect">
                <a:avLst/>
              </a:prstGeom>
            </p:spPr>
          </p:pic>
        </mc:Fallback>
      </mc:AlternateContent>
      <p:sp>
        <p:nvSpPr>
          <p:cNvPr id="36" name="Rectangle 35">
            <a:extLst>
              <a:ext uri="{FF2B5EF4-FFF2-40B4-BE49-F238E27FC236}">
                <a16:creationId xmlns:a16="http://schemas.microsoft.com/office/drawing/2014/main" id="{BFCAFA0C-8F4E-AAFB-275D-8498C8B71DE9}"/>
              </a:ext>
            </a:extLst>
          </p:cNvPr>
          <p:cNvSpPr/>
          <p:nvPr/>
        </p:nvSpPr>
        <p:spPr>
          <a:xfrm>
            <a:off x="5247410" y="1013112"/>
            <a:ext cx="3335482" cy="65462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Stack </a:t>
            </a:r>
            <a:endParaRPr lang="en-IN" dirty="0"/>
          </a:p>
        </p:txBody>
      </p:sp>
      <p:sp>
        <p:nvSpPr>
          <p:cNvPr id="37" name="Rectangle 36">
            <a:extLst>
              <a:ext uri="{FF2B5EF4-FFF2-40B4-BE49-F238E27FC236}">
                <a16:creationId xmlns:a16="http://schemas.microsoft.com/office/drawing/2014/main" id="{C2898164-5083-32F4-B0F9-FD33B970D444}"/>
              </a:ext>
            </a:extLst>
          </p:cNvPr>
          <p:cNvSpPr/>
          <p:nvPr/>
        </p:nvSpPr>
        <p:spPr>
          <a:xfrm>
            <a:off x="5247410" y="1667740"/>
            <a:ext cx="3335481" cy="63904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Registers </a:t>
            </a:r>
            <a:endParaRPr lang="en-IN" dirty="0"/>
          </a:p>
        </p:txBody>
      </p:sp>
      <p:sp>
        <p:nvSpPr>
          <p:cNvPr id="38" name="Rectangle 37">
            <a:extLst>
              <a:ext uri="{FF2B5EF4-FFF2-40B4-BE49-F238E27FC236}">
                <a16:creationId xmlns:a16="http://schemas.microsoft.com/office/drawing/2014/main" id="{856A68CC-1465-5AF5-BE2D-7E99C6904CB3}"/>
              </a:ext>
            </a:extLst>
          </p:cNvPr>
          <p:cNvSpPr/>
          <p:nvPr/>
        </p:nvSpPr>
        <p:spPr>
          <a:xfrm>
            <a:off x="5247410" y="4561606"/>
            <a:ext cx="3335481" cy="55071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Code</a:t>
            </a:r>
            <a:endParaRPr lang="en-IN" dirty="0"/>
          </a:p>
        </p:txBody>
      </p:sp>
      <p:sp>
        <p:nvSpPr>
          <p:cNvPr id="39" name="Rectangle 38">
            <a:extLst>
              <a:ext uri="{FF2B5EF4-FFF2-40B4-BE49-F238E27FC236}">
                <a16:creationId xmlns:a16="http://schemas.microsoft.com/office/drawing/2014/main" id="{3631F49C-D1C4-DDB3-FE0F-1A200010911A}"/>
              </a:ext>
            </a:extLst>
          </p:cNvPr>
          <p:cNvSpPr/>
          <p:nvPr/>
        </p:nvSpPr>
        <p:spPr>
          <a:xfrm>
            <a:off x="5247409" y="5112325"/>
            <a:ext cx="3335478" cy="73256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File / data </a:t>
            </a:r>
            <a:endParaRPr lang="en-IN" dirty="0"/>
          </a:p>
        </p:txBody>
      </p:sp>
      <mc:AlternateContent xmlns:mc="http://schemas.openxmlformats.org/markup-compatibility/2006">
        <mc:Choice xmlns:p14="http://schemas.microsoft.com/office/powerpoint/2010/main" Requires="p14">
          <p:contentPart p14:bwMode="auto" r:id="rId7">
            <p14:nvContentPartPr>
              <p14:cNvPr id="40" name="Ink 39">
                <a:extLst>
                  <a:ext uri="{FF2B5EF4-FFF2-40B4-BE49-F238E27FC236}">
                    <a16:creationId xmlns:a16="http://schemas.microsoft.com/office/drawing/2014/main" id="{46413CCA-D371-E4E3-8ADF-6FF7B7AFEAA8}"/>
                  </a:ext>
                </a:extLst>
              </p14:cNvPr>
              <p14:cNvContentPartPr/>
              <p14:nvPr/>
            </p14:nvContentPartPr>
            <p14:xfrm>
              <a:off x="5590293" y="2732776"/>
              <a:ext cx="360" cy="360"/>
            </p14:xfrm>
          </p:contentPart>
        </mc:Choice>
        <mc:Fallback>
          <p:pic>
            <p:nvPicPr>
              <p:cNvPr id="40" name="Ink 39">
                <a:extLst>
                  <a:ext uri="{FF2B5EF4-FFF2-40B4-BE49-F238E27FC236}">
                    <a16:creationId xmlns:a16="http://schemas.microsoft.com/office/drawing/2014/main" id="{46413CCA-D371-E4E3-8ADF-6FF7B7AFEAA8}"/>
                  </a:ext>
                </a:extLst>
              </p:cNvPr>
              <p:cNvPicPr/>
              <p:nvPr/>
            </p:nvPicPr>
            <p:blipFill>
              <a:blip r:embed="rId5"/>
              <a:stretch>
                <a:fillRect/>
              </a:stretch>
            </p:blipFill>
            <p:spPr>
              <a:xfrm>
                <a:off x="5554293" y="2697136"/>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1" name="Ink 40">
                <a:extLst>
                  <a:ext uri="{FF2B5EF4-FFF2-40B4-BE49-F238E27FC236}">
                    <a16:creationId xmlns:a16="http://schemas.microsoft.com/office/drawing/2014/main" id="{F789D1DB-30D4-3858-230C-045A9AD6E848}"/>
                  </a:ext>
                </a:extLst>
              </p14:cNvPr>
              <p14:cNvContentPartPr/>
              <p14:nvPr/>
            </p14:nvContentPartPr>
            <p14:xfrm>
              <a:off x="5600733" y="3031936"/>
              <a:ext cx="360" cy="2160"/>
            </p14:xfrm>
          </p:contentPart>
        </mc:Choice>
        <mc:Fallback>
          <p:pic>
            <p:nvPicPr>
              <p:cNvPr id="41" name="Ink 40">
                <a:extLst>
                  <a:ext uri="{FF2B5EF4-FFF2-40B4-BE49-F238E27FC236}">
                    <a16:creationId xmlns:a16="http://schemas.microsoft.com/office/drawing/2014/main" id="{F789D1DB-30D4-3858-230C-045A9AD6E848}"/>
                  </a:ext>
                </a:extLst>
              </p:cNvPr>
              <p:cNvPicPr/>
              <p:nvPr/>
            </p:nvPicPr>
            <p:blipFill>
              <a:blip r:embed="rId9"/>
              <a:stretch>
                <a:fillRect/>
              </a:stretch>
            </p:blipFill>
            <p:spPr>
              <a:xfrm>
                <a:off x="5564733" y="2996296"/>
                <a:ext cx="7200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42" name="Ink 41">
                <a:extLst>
                  <a:ext uri="{FF2B5EF4-FFF2-40B4-BE49-F238E27FC236}">
                    <a16:creationId xmlns:a16="http://schemas.microsoft.com/office/drawing/2014/main" id="{B2E99273-EA94-1698-2B56-DB2FBAAF7B63}"/>
                  </a:ext>
                </a:extLst>
              </p14:cNvPr>
              <p14:cNvContentPartPr/>
              <p14:nvPr/>
            </p14:nvContentPartPr>
            <p14:xfrm>
              <a:off x="5610813" y="3314536"/>
              <a:ext cx="360" cy="360"/>
            </p14:xfrm>
          </p:contentPart>
        </mc:Choice>
        <mc:Fallback>
          <p:pic>
            <p:nvPicPr>
              <p:cNvPr id="42" name="Ink 41">
                <a:extLst>
                  <a:ext uri="{FF2B5EF4-FFF2-40B4-BE49-F238E27FC236}">
                    <a16:creationId xmlns:a16="http://schemas.microsoft.com/office/drawing/2014/main" id="{B2E99273-EA94-1698-2B56-DB2FBAAF7B63}"/>
                  </a:ext>
                </a:extLst>
              </p:cNvPr>
              <p:cNvPicPr/>
              <p:nvPr/>
            </p:nvPicPr>
            <p:blipFill>
              <a:blip r:embed="rId5"/>
              <a:stretch>
                <a:fillRect/>
              </a:stretch>
            </p:blipFill>
            <p:spPr>
              <a:xfrm>
                <a:off x="5575173" y="3278896"/>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43" name="Ink 42">
                <a:extLst>
                  <a:ext uri="{FF2B5EF4-FFF2-40B4-BE49-F238E27FC236}">
                    <a16:creationId xmlns:a16="http://schemas.microsoft.com/office/drawing/2014/main" id="{B8D876A2-D7BB-15D4-24C2-F8F9C4C4E02F}"/>
                  </a:ext>
                </a:extLst>
              </p14:cNvPr>
              <p14:cNvContentPartPr/>
              <p14:nvPr/>
            </p14:nvContentPartPr>
            <p14:xfrm>
              <a:off x="5621253" y="3584536"/>
              <a:ext cx="360" cy="360"/>
            </p14:xfrm>
          </p:contentPart>
        </mc:Choice>
        <mc:Fallback>
          <p:pic>
            <p:nvPicPr>
              <p:cNvPr id="43" name="Ink 42">
                <a:extLst>
                  <a:ext uri="{FF2B5EF4-FFF2-40B4-BE49-F238E27FC236}">
                    <a16:creationId xmlns:a16="http://schemas.microsoft.com/office/drawing/2014/main" id="{B8D876A2-D7BB-15D4-24C2-F8F9C4C4E02F}"/>
                  </a:ext>
                </a:extLst>
              </p:cNvPr>
              <p:cNvPicPr/>
              <p:nvPr/>
            </p:nvPicPr>
            <p:blipFill>
              <a:blip r:embed="rId5"/>
              <a:stretch>
                <a:fillRect/>
              </a:stretch>
            </p:blipFill>
            <p:spPr>
              <a:xfrm>
                <a:off x="5585253" y="3548896"/>
                <a:ext cx="72000" cy="72000"/>
              </a:xfrm>
              <a:prstGeom prst="rect">
                <a:avLst/>
              </a:prstGeom>
            </p:spPr>
          </p:pic>
        </mc:Fallback>
      </mc:AlternateContent>
      <p:sp>
        <p:nvSpPr>
          <p:cNvPr id="44" name="Rectangle 43">
            <a:extLst>
              <a:ext uri="{FF2B5EF4-FFF2-40B4-BE49-F238E27FC236}">
                <a16:creationId xmlns:a16="http://schemas.microsoft.com/office/drawing/2014/main" id="{285A3756-7687-BA70-3ECC-59A0EFBB92E2}"/>
              </a:ext>
            </a:extLst>
          </p:cNvPr>
          <p:cNvSpPr/>
          <p:nvPr/>
        </p:nvSpPr>
        <p:spPr>
          <a:xfrm>
            <a:off x="1661895" y="6122741"/>
            <a:ext cx="1963880" cy="311727"/>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P1</a:t>
            </a:r>
            <a:endParaRPr lang="en-IN" dirty="0"/>
          </a:p>
        </p:txBody>
      </p:sp>
      <p:sp>
        <p:nvSpPr>
          <p:cNvPr id="45" name="Rectangle 44">
            <a:extLst>
              <a:ext uri="{FF2B5EF4-FFF2-40B4-BE49-F238E27FC236}">
                <a16:creationId xmlns:a16="http://schemas.microsoft.com/office/drawing/2014/main" id="{CE35CFDA-6CCC-0B27-EC40-66ADB224C731}"/>
              </a:ext>
            </a:extLst>
          </p:cNvPr>
          <p:cNvSpPr/>
          <p:nvPr/>
        </p:nvSpPr>
        <p:spPr>
          <a:xfrm>
            <a:off x="5600733" y="6156512"/>
            <a:ext cx="1963880" cy="311727"/>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P2</a:t>
            </a:r>
            <a:endParaRPr lang="en-IN" dirty="0"/>
          </a:p>
        </p:txBody>
      </p:sp>
    </p:spTree>
    <p:extLst>
      <p:ext uri="{BB962C8B-B14F-4D97-AF65-F5344CB8AC3E}">
        <p14:creationId xmlns:p14="http://schemas.microsoft.com/office/powerpoint/2010/main" val="31005909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54ABC-0A43-0CC8-401D-DCA57C59446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3EA21A6-6A94-65A9-8835-5C8C4AFBCF09}"/>
              </a:ext>
            </a:extLst>
          </p:cNvPr>
          <p:cNvPicPr>
            <a:picLocks noChangeAspect="1"/>
          </p:cNvPicPr>
          <p:nvPr/>
        </p:nvPicPr>
        <p:blipFill>
          <a:blip r:embed="rId2"/>
          <a:stretch>
            <a:fillRect/>
          </a:stretch>
        </p:blipFill>
        <p:spPr>
          <a:xfrm>
            <a:off x="904010" y="248516"/>
            <a:ext cx="8274628" cy="5715866"/>
          </a:xfrm>
          <a:prstGeom prst="rect">
            <a:avLst/>
          </a:prstGeom>
        </p:spPr>
      </p:pic>
    </p:spTree>
    <p:extLst>
      <p:ext uri="{BB962C8B-B14F-4D97-AF65-F5344CB8AC3E}">
        <p14:creationId xmlns:p14="http://schemas.microsoft.com/office/powerpoint/2010/main" val="4063572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721ED-48EF-DA7B-DF7F-8AA65BDA34FC}"/>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39FF7A9-46D3-87C5-E054-1747D69CFEFB}"/>
              </a:ext>
            </a:extLst>
          </p:cNvPr>
          <p:cNvGraphicFramePr>
            <a:graphicFrameLocks noGrp="1"/>
          </p:cNvGraphicFramePr>
          <p:nvPr>
            <p:extLst>
              <p:ext uri="{D42A27DB-BD31-4B8C-83A1-F6EECF244321}">
                <p14:modId xmlns:p14="http://schemas.microsoft.com/office/powerpoint/2010/main" val="3871381175"/>
              </p:ext>
            </p:extLst>
          </p:nvPr>
        </p:nvGraphicFramePr>
        <p:xfrm>
          <a:off x="1080652" y="187036"/>
          <a:ext cx="8196118" cy="3930389"/>
        </p:xfrm>
        <a:graphic>
          <a:graphicData uri="http://schemas.openxmlformats.org/drawingml/2006/table">
            <a:tbl>
              <a:tblPr firstRow="1" bandRow="1">
                <a:tableStyleId>{5940675A-B579-460E-94D1-54222C63F5DA}</a:tableStyleId>
              </a:tblPr>
              <a:tblGrid>
                <a:gridCol w="4132118">
                  <a:extLst>
                    <a:ext uri="{9D8B030D-6E8A-4147-A177-3AD203B41FA5}">
                      <a16:colId xmlns:a16="http://schemas.microsoft.com/office/drawing/2014/main" val="1945380464"/>
                    </a:ext>
                  </a:extLst>
                </a:gridCol>
                <a:gridCol w="4064000">
                  <a:extLst>
                    <a:ext uri="{9D8B030D-6E8A-4147-A177-3AD203B41FA5}">
                      <a16:colId xmlns:a16="http://schemas.microsoft.com/office/drawing/2014/main" val="1190091922"/>
                    </a:ext>
                  </a:extLst>
                </a:gridCol>
              </a:tblGrid>
              <a:tr h="418366">
                <a:tc>
                  <a:txBody>
                    <a:bodyPr/>
                    <a:lstStyle/>
                    <a:p>
                      <a:pPr algn="ctr"/>
                      <a:r>
                        <a:rPr lang="en-US" dirty="0"/>
                        <a:t>Process </a:t>
                      </a:r>
                      <a:endParaRPr lang="en-IN" dirty="0"/>
                    </a:p>
                  </a:txBody>
                  <a:tcPr/>
                </a:tc>
                <a:tc>
                  <a:txBody>
                    <a:bodyPr/>
                    <a:lstStyle/>
                    <a:p>
                      <a:pPr algn="ctr"/>
                      <a:r>
                        <a:rPr lang="en-US" dirty="0"/>
                        <a:t>Thread </a:t>
                      </a:r>
                      <a:endParaRPr lang="en-IN" dirty="0"/>
                    </a:p>
                  </a:txBody>
                  <a:tcPr/>
                </a:tc>
                <a:extLst>
                  <a:ext uri="{0D108BD9-81ED-4DB2-BD59-A6C34878D82A}">
                    <a16:rowId xmlns:a16="http://schemas.microsoft.com/office/drawing/2014/main" val="725921395"/>
                  </a:ext>
                </a:extLst>
              </a:tr>
              <a:tr h="350630">
                <a:tc>
                  <a:txBody>
                    <a:bodyPr/>
                    <a:lstStyle/>
                    <a:p>
                      <a:r>
                        <a:rPr lang="en-IN" dirty="0"/>
                        <a:t>System calls are involved</a:t>
                      </a:r>
                    </a:p>
                  </a:txBody>
                  <a:tcPr/>
                </a:tc>
                <a:tc>
                  <a:txBody>
                    <a:bodyPr/>
                    <a:lstStyle/>
                    <a:p>
                      <a:r>
                        <a:rPr lang="en-US" dirty="0"/>
                        <a:t>No System calls are involved </a:t>
                      </a:r>
                      <a:endParaRPr lang="en-IN" dirty="0"/>
                    </a:p>
                  </a:txBody>
                  <a:tcPr/>
                </a:tc>
                <a:extLst>
                  <a:ext uri="{0D108BD9-81ED-4DB2-BD59-A6C34878D82A}">
                    <a16:rowId xmlns:a16="http://schemas.microsoft.com/office/drawing/2014/main" val="1952189508"/>
                  </a:ext>
                </a:extLst>
              </a:tr>
              <a:tr h="876576">
                <a:tc>
                  <a:txBody>
                    <a:bodyPr/>
                    <a:lstStyle/>
                    <a:p>
                      <a:r>
                        <a:rPr lang="en-US" dirty="0"/>
                        <a:t>All the different processes are treated separately by the operating system. </a:t>
                      </a:r>
                      <a:endParaRPr lang="en-IN" dirty="0"/>
                    </a:p>
                  </a:txBody>
                  <a:tcPr/>
                </a:tc>
                <a:tc>
                  <a:txBody>
                    <a:bodyPr/>
                    <a:lstStyle/>
                    <a:p>
                      <a:r>
                        <a:rPr lang="en-US" dirty="0"/>
                        <a:t>All user level peer threads are treated as a single task by the operating system. </a:t>
                      </a:r>
                      <a:endParaRPr lang="en-IN" dirty="0"/>
                    </a:p>
                  </a:txBody>
                  <a:tcPr/>
                </a:tc>
                <a:extLst>
                  <a:ext uri="{0D108BD9-81ED-4DB2-BD59-A6C34878D82A}">
                    <a16:rowId xmlns:a16="http://schemas.microsoft.com/office/drawing/2014/main" val="1237563355"/>
                  </a:ext>
                </a:extLst>
              </a:tr>
              <a:tr h="615595">
                <a:tc>
                  <a:txBody>
                    <a:bodyPr/>
                    <a:lstStyle/>
                    <a:p>
                      <a:r>
                        <a:rPr lang="en-US" dirty="0"/>
                        <a:t>Processes require more time for context switching .</a:t>
                      </a:r>
                      <a:endParaRPr lang="en-IN" dirty="0"/>
                    </a:p>
                  </a:txBody>
                  <a:tcPr/>
                </a:tc>
                <a:tc>
                  <a:txBody>
                    <a:bodyPr/>
                    <a:lstStyle/>
                    <a:p>
                      <a:r>
                        <a:rPr lang="en-US" dirty="0"/>
                        <a:t>Threads require less time for context switching.</a:t>
                      </a:r>
                      <a:endParaRPr lang="en-IN" dirty="0"/>
                    </a:p>
                  </a:txBody>
                  <a:tcPr/>
                </a:tc>
                <a:extLst>
                  <a:ext uri="{0D108BD9-81ED-4DB2-BD59-A6C34878D82A}">
                    <a16:rowId xmlns:a16="http://schemas.microsoft.com/office/drawing/2014/main" val="3600069634"/>
                  </a:ext>
                </a:extLst>
              </a:tr>
              <a:tr h="640929">
                <a:tc>
                  <a:txBody>
                    <a:bodyPr/>
                    <a:lstStyle/>
                    <a:p>
                      <a:r>
                        <a:rPr lang="en-US" dirty="0"/>
                        <a:t>Processes are totally independent and don’t share memory. </a:t>
                      </a:r>
                      <a:endParaRPr lang="en-IN" dirty="0"/>
                    </a:p>
                  </a:txBody>
                  <a:tcPr/>
                </a:tc>
                <a:tc>
                  <a:txBody>
                    <a:bodyPr/>
                    <a:lstStyle/>
                    <a:p>
                      <a:r>
                        <a:rPr lang="en-US" dirty="0"/>
                        <a:t>A thread may share some memory with its peer threads.</a:t>
                      </a:r>
                      <a:endParaRPr lang="en-IN" dirty="0"/>
                    </a:p>
                  </a:txBody>
                  <a:tcPr/>
                </a:tc>
                <a:extLst>
                  <a:ext uri="{0D108BD9-81ED-4DB2-BD59-A6C34878D82A}">
                    <a16:rowId xmlns:a16="http://schemas.microsoft.com/office/drawing/2014/main" val="1241056078"/>
                  </a:ext>
                </a:extLst>
              </a:tr>
              <a:tr h="950854">
                <a:tc>
                  <a:txBody>
                    <a:bodyPr/>
                    <a:lstStyle/>
                    <a:p>
                      <a:r>
                        <a:rPr lang="en-US" dirty="0"/>
                        <a:t>Communication between processes requires more time than between threads.</a:t>
                      </a:r>
                      <a:endParaRPr lang="en-IN" dirty="0"/>
                    </a:p>
                  </a:txBody>
                  <a:tcPr/>
                </a:tc>
                <a:tc>
                  <a:txBody>
                    <a:bodyPr/>
                    <a:lstStyle/>
                    <a:p>
                      <a:r>
                        <a:rPr lang="en-US" dirty="0"/>
                        <a:t>Communication between threads requires less time than between processes .</a:t>
                      </a:r>
                      <a:endParaRPr lang="en-IN" dirty="0"/>
                    </a:p>
                  </a:txBody>
                  <a:tcPr/>
                </a:tc>
                <a:extLst>
                  <a:ext uri="{0D108BD9-81ED-4DB2-BD59-A6C34878D82A}">
                    <a16:rowId xmlns:a16="http://schemas.microsoft.com/office/drawing/2014/main" val="2927751426"/>
                  </a:ext>
                </a:extLst>
              </a:tr>
            </a:tbl>
          </a:graphicData>
        </a:graphic>
      </p:graphicFrame>
      <p:graphicFrame>
        <p:nvGraphicFramePr>
          <p:cNvPr id="10" name="Table 9">
            <a:extLst>
              <a:ext uri="{FF2B5EF4-FFF2-40B4-BE49-F238E27FC236}">
                <a16:creationId xmlns:a16="http://schemas.microsoft.com/office/drawing/2014/main" id="{4635CEFE-AA91-030F-0CC5-A1D3C004CADF}"/>
              </a:ext>
            </a:extLst>
          </p:cNvPr>
          <p:cNvGraphicFramePr>
            <a:graphicFrameLocks noGrp="1"/>
          </p:cNvGraphicFramePr>
          <p:nvPr>
            <p:extLst>
              <p:ext uri="{D42A27DB-BD31-4B8C-83A1-F6EECF244321}">
                <p14:modId xmlns:p14="http://schemas.microsoft.com/office/powerpoint/2010/main" val="2986132036"/>
              </p:ext>
            </p:extLst>
          </p:nvPr>
        </p:nvGraphicFramePr>
        <p:xfrm>
          <a:off x="1080653" y="4117425"/>
          <a:ext cx="8196117" cy="914400"/>
        </p:xfrm>
        <a:graphic>
          <a:graphicData uri="http://schemas.openxmlformats.org/drawingml/2006/table">
            <a:tbl>
              <a:tblPr firstRow="1" bandRow="1">
                <a:tableStyleId>{5940675A-B579-460E-94D1-54222C63F5DA}</a:tableStyleId>
              </a:tblPr>
              <a:tblGrid>
                <a:gridCol w="4135582">
                  <a:extLst>
                    <a:ext uri="{9D8B030D-6E8A-4147-A177-3AD203B41FA5}">
                      <a16:colId xmlns:a16="http://schemas.microsoft.com/office/drawing/2014/main" val="2657289998"/>
                    </a:ext>
                  </a:extLst>
                </a:gridCol>
                <a:gridCol w="4060535">
                  <a:extLst>
                    <a:ext uri="{9D8B030D-6E8A-4147-A177-3AD203B41FA5}">
                      <a16:colId xmlns:a16="http://schemas.microsoft.com/office/drawing/2014/main" val="2781262702"/>
                    </a:ext>
                  </a:extLst>
                </a:gridCol>
              </a:tblGrid>
              <a:tr h="750222">
                <a:tc>
                  <a:txBody>
                    <a:bodyPr/>
                    <a:lstStyle/>
                    <a:p>
                      <a:r>
                        <a:rPr lang="en-US" dirty="0"/>
                        <a:t>If a process gets blocked, remaining processes can continue execution. </a:t>
                      </a:r>
                      <a:endParaRPr lang="en-IN" dirty="0"/>
                    </a:p>
                  </a:txBody>
                  <a:tcPr/>
                </a:tc>
                <a:tc>
                  <a:txBody>
                    <a:bodyPr/>
                    <a:lstStyle/>
                    <a:p>
                      <a:r>
                        <a:rPr lang="en-US" dirty="0"/>
                        <a:t>If a user level thread gets blocked, all of its peer threads also get blocked</a:t>
                      </a:r>
                      <a:endParaRPr lang="en-IN" dirty="0"/>
                    </a:p>
                  </a:txBody>
                  <a:tcPr/>
                </a:tc>
                <a:extLst>
                  <a:ext uri="{0D108BD9-81ED-4DB2-BD59-A6C34878D82A}">
                    <a16:rowId xmlns:a16="http://schemas.microsoft.com/office/drawing/2014/main" val="2117252880"/>
                  </a:ext>
                </a:extLst>
              </a:tr>
            </a:tbl>
          </a:graphicData>
        </a:graphic>
      </p:graphicFrame>
      <p:graphicFrame>
        <p:nvGraphicFramePr>
          <p:cNvPr id="11" name="Table 10">
            <a:extLst>
              <a:ext uri="{FF2B5EF4-FFF2-40B4-BE49-F238E27FC236}">
                <a16:creationId xmlns:a16="http://schemas.microsoft.com/office/drawing/2014/main" id="{36532AC5-B698-0A6F-1C9D-5C1D7011FC21}"/>
              </a:ext>
            </a:extLst>
          </p:cNvPr>
          <p:cNvGraphicFramePr>
            <a:graphicFrameLocks noGrp="1"/>
          </p:cNvGraphicFramePr>
          <p:nvPr>
            <p:extLst>
              <p:ext uri="{D42A27DB-BD31-4B8C-83A1-F6EECF244321}">
                <p14:modId xmlns:p14="http://schemas.microsoft.com/office/powerpoint/2010/main" val="1252701053"/>
              </p:ext>
            </p:extLst>
          </p:nvPr>
        </p:nvGraphicFramePr>
        <p:xfrm>
          <a:off x="1080653" y="5046373"/>
          <a:ext cx="8196117" cy="640080"/>
        </p:xfrm>
        <a:graphic>
          <a:graphicData uri="http://schemas.openxmlformats.org/drawingml/2006/table">
            <a:tbl>
              <a:tblPr firstRow="1" bandRow="1">
                <a:tableStyleId>{5940675A-B579-460E-94D1-54222C63F5DA}</a:tableStyleId>
              </a:tblPr>
              <a:tblGrid>
                <a:gridCol w="4132117">
                  <a:extLst>
                    <a:ext uri="{9D8B030D-6E8A-4147-A177-3AD203B41FA5}">
                      <a16:colId xmlns:a16="http://schemas.microsoft.com/office/drawing/2014/main" val="1151449467"/>
                    </a:ext>
                  </a:extLst>
                </a:gridCol>
                <a:gridCol w="4064000">
                  <a:extLst>
                    <a:ext uri="{9D8B030D-6E8A-4147-A177-3AD203B41FA5}">
                      <a16:colId xmlns:a16="http://schemas.microsoft.com/office/drawing/2014/main" val="358430285"/>
                    </a:ext>
                  </a:extLst>
                </a:gridCol>
              </a:tblGrid>
              <a:tr h="615140">
                <a:tc>
                  <a:txBody>
                    <a:bodyPr/>
                    <a:lstStyle/>
                    <a:p>
                      <a:r>
                        <a:rPr lang="en-US" dirty="0"/>
                        <a:t>Individual processes are independent of each other</a:t>
                      </a:r>
                      <a:endParaRPr lang="en-IN" dirty="0"/>
                    </a:p>
                  </a:txBody>
                  <a:tcPr/>
                </a:tc>
                <a:tc>
                  <a:txBody>
                    <a:bodyPr/>
                    <a:lstStyle/>
                    <a:p>
                      <a:r>
                        <a:rPr lang="en-US" dirty="0"/>
                        <a:t>Threads are parts of a process and so are dependent.</a:t>
                      </a:r>
                      <a:endParaRPr lang="en-IN" dirty="0"/>
                    </a:p>
                  </a:txBody>
                  <a:tcPr/>
                </a:tc>
                <a:extLst>
                  <a:ext uri="{0D108BD9-81ED-4DB2-BD59-A6C34878D82A}">
                    <a16:rowId xmlns:a16="http://schemas.microsoft.com/office/drawing/2014/main" val="2887170176"/>
                  </a:ext>
                </a:extLst>
              </a:tr>
            </a:tbl>
          </a:graphicData>
        </a:graphic>
      </p:graphicFrame>
      <p:graphicFrame>
        <p:nvGraphicFramePr>
          <p:cNvPr id="14" name="Table 13">
            <a:extLst>
              <a:ext uri="{FF2B5EF4-FFF2-40B4-BE49-F238E27FC236}">
                <a16:creationId xmlns:a16="http://schemas.microsoft.com/office/drawing/2014/main" id="{F918FC0B-EA9D-CF89-612A-05BB696FA476}"/>
              </a:ext>
            </a:extLst>
          </p:cNvPr>
          <p:cNvGraphicFramePr>
            <a:graphicFrameLocks noGrp="1"/>
          </p:cNvGraphicFramePr>
          <p:nvPr>
            <p:extLst>
              <p:ext uri="{D42A27DB-BD31-4B8C-83A1-F6EECF244321}">
                <p14:modId xmlns:p14="http://schemas.microsoft.com/office/powerpoint/2010/main" val="2982324661"/>
              </p:ext>
            </p:extLst>
          </p:nvPr>
        </p:nvGraphicFramePr>
        <p:xfrm>
          <a:off x="1080653" y="5701001"/>
          <a:ext cx="8196117" cy="914400"/>
        </p:xfrm>
        <a:graphic>
          <a:graphicData uri="http://schemas.openxmlformats.org/drawingml/2006/table">
            <a:tbl>
              <a:tblPr firstRow="1" bandRow="1">
                <a:tableStyleId>{5940675A-B579-460E-94D1-54222C63F5DA}</a:tableStyleId>
              </a:tblPr>
              <a:tblGrid>
                <a:gridCol w="4114802">
                  <a:extLst>
                    <a:ext uri="{9D8B030D-6E8A-4147-A177-3AD203B41FA5}">
                      <a16:colId xmlns:a16="http://schemas.microsoft.com/office/drawing/2014/main" val="2644193416"/>
                    </a:ext>
                  </a:extLst>
                </a:gridCol>
                <a:gridCol w="4081315">
                  <a:extLst>
                    <a:ext uri="{9D8B030D-6E8A-4147-A177-3AD203B41FA5}">
                      <a16:colId xmlns:a16="http://schemas.microsoft.com/office/drawing/2014/main" val="2117127841"/>
                    </a:ext>
                  </a:extLst>
                </a:gridCol>
              </a:tblGrid>
              <a:tr h="836963">
                <a:tc>
                  <a:txBody>
                    <a:bodyPr/>
                    <a:lstStyle/>
                    <a:p>
                      <a:r>
                        <a:rPr lang="en-US" dirty="0"/>
                        <a:t>Processes have independent data and code segments.</a:t>
                      </a:r>
                      <a:endParaRPr lang="en-IN" dirty="0"/>
                    </a:p>
                  </a:txBody>
                  <a:tcPr/>
                </a:tc>
                <a:tc>
                  <a:txBody>
                    <a:bodyPr/>
                    <a:lstStyle/>
                    <a:p>
                      <a:r>
                        <a:rPr lang="en-US" dirty="0"/>
                        <a:t>A thread shares the data segment, code segment, files etc. with its peer threads. </a:t>
                      </a:r>
                      <a:endParaRPr lang="en-IN" dirty="0"/>
                    </a:p>
                  </a:txBody>
                  <a:tcPr/>
                </a:tc>
                <a:extLst>
                  <a:ext uri="{0D108BD9-81ED-4DB2-BD59-A6C34878D82A}">
                    <a16:rowId xmlns:a16="http://schemas.microsoft.com/office/drawing/2014/main" val="3154492996"/>
                  </a:ext>
                </a:extLst>
              </a:tr>
            </a:tbl>
          </a:graphicData>
        </a:graphic>
      </p:graphicFrame>
    </p:spTree>
    <p:extLst>
      <p:ext uri="{BB962C8B-B14F-4D97-AF65-F5344CB8AC3E}">
        <p14:creationId xmlns:p14="http://schemas.microsoft.com/office/powerpoint/2010/main" val="3365852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486B6-0BD1-F8EF-987B-CEDA262EA31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B7D3A91-6AC0-8A24-7DD5-91AD7860EE4F}"/>
              </a:ext>
            </a:extLst>
          </p:cNvPr>
          <p:cNvSpPr txBox="1"/>
          <p:nvPr/>
        </p:nvSpPr>
        <p:spPr>
          <a:xfrm>
            <a:off x="1049482" y="375603"/>
            <a:ext cx="8780318" cy="6106793"/>
          </a:xfrm>
          <a:prstGeom prst="rect">
            <a:avLst/>
          </a:prstGeom>
          <a:noFill/>
        </p:spPr>
        <p:txBody>
          <a:bodyPr wrap="square">
            <a:spAutoFit/>
          </a:bodyPr>
          <a:lstStyle/>
          <a:p>
            <a:pPr marL="285750" indent="-285750">
              <a:buFont typeface="Wingdings" panose="05000000000000000000" pitchFamily="2" charset="2"/>
              <a:buChar char="v"/>
            </a:pPr>
            <a:r>
              <a:rPr lang="en-US" b="1" u="sng" dirty="0"/>
              <a:t>Types of Thread</a:t>
            </a:r>
          </a:p>
          <a:p>
            <a:r>
              <a:rPr lang="en-US" dirty="0"/>
              <a:t> </a:t>
            </a:r>
          </a:p>
          <a:p>
            <a:r>
              <a:rPr lang="en-US" b="1" u="sng" dirty="0"/>
              <a:t>Threads are implemented in following two ways </a:t>
            </a:r>
            <a:r>
              <a:rPr lang="en-US" dirty="0"/>
              <a:t>− </a:t>
            </a:r>
          </a:p>
          <a:p>
            <a:endParaRPr lang="en-US" dirty="0"/>
          </a:p>
          <a:p>
            <a:r>
              <a:rPr lang="en-US" dirty="0"/>
              <a:t>● User Level Threads − User managed threads. </a:t>
            </a:r>
          </a:p>
          <a:p>
            <a:r>
              <a:rPr lang="en-US" dirty="0"/>
              <a:t>● Kernel Level Threads − Operating System managed threads acting on kernel, an operating system core. </a:t>
            </a:r>
          </a:p>
          <a:p>
            <a:endParaRPr lang="en-US" dirty="0"/>
          </a:p>
          <a:p>
            <a:pPr marL="285750" indent="-285750">
              <a:buFont typeface="Wingdings" panose="05000000000000000000" pitchFamily="2" charset="2"/>
              <a:buChar char="v"/>
            </a:pPr>
            <a:r>
              <a:rPr lang="en-US" b="1" u="sng" dirty="0"/>
              <a:t>User Level Threads </a:t>
            </a:r>
          </a:p>
          <a:p>
            <a:r>
              <a:rPr lang="en-US" dirty="0"/>
              <a:t>In this case, the thread management kernel is not aware of the existence of threads. The thread library contains code for creating and destroying threads, for passing message and data between threads, for scheduling thread execution and for saving and restoring thread contexts. The application starts with a single thread. </a:t>
            </a:r>
          </a:p>
          <a:p>
            <a:endParaRPr lang="en-US" dirty="0"/>
          </a:p>
          <a:p>
            <a:pPr marL="285750" indent="-285750">
              <a:buFont typeface="Wingdings" panose="05000000000000000000" pitchFamily="2" charset="2"/>
              <a:buChar char="v"/>
            </a:pPr>
            <a:r>
              <a:rPr lang="en-US" b="1" u="sng" dirty="0"/>
              <a:t>Advantages</a:t>
            </a:r>
            <a:r>
              <a:rPr lang="en-US" dirty="0"/>
              <a:t> </a:t>
            </a:r>
          </a:p>
          <a:p>
            <a:endParaRPr lang="en-US" dirty="0"/>
          </a:p>
          <a:p>
            <a:r>
              <a:rPr lang="en-US" dirty="0"/>
              <a:t>● Thread switching does not require Kernel mode privileges. </a:t>
            </a:r>
          </a:p>
          <a:p>
            <a:r>
              <a:rPr lang="en-US" dirty="0"/>
              <a:t>● User level thread can run on any operating system.</a:t>
            </a:r>
          </a:p>
          <a:p>
            <a:r>
              <a:rPr lang="en-US" dirty="0"/>
              <a:t>● Scheduling can be application specific in the user level thread. </a:t>
            </a:r>
          </a:p>
          <a:p>
            <a:r>
              <a:rPr lang="en-US" dirty="0"/>
              <a:t>● User level threads are fast to create and manage. Disadvantages</a:t>
            </a:r>
            <a:endParaRPr lang="en-IN" dirty="0"/>
          </a:p>
        </p:txBody>
      </p:sp>
    </p:spTree>
    <p:extLst>
      <p:ext uri="{BB962C8B-B14F-4D97-AF65-F5344CB8AC3E}">
        <p14:creationId xmlns:p14="http://schemas.microsoft.com/office/powerpoint/2010/main" val="1513732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8AA948E-91D7-E251-BE0B-62459D4E8909}"/>
              </a:ext>
            </a:extLst>
          </p:cNvPr>
          <p:cNvSpPr txBox="1"/>
          <p:nvPr/>
        </p:nvSpPr>
        <p:spPr>
          <a:xfrm>
            <a:off x="218209" y="187036"/>
            <a:ext cx="8938779" cy="1200329"/>
          </a:xfrm>
          <a:prstGeom prst="rect">
            <a:avLst/>
          </a:prstGeom>
          <a:noFill/>
        </p:spPr>
        <p:txBody>
          <a:bodyPr wrap="square">
            <a:spAutoFit/>
          </a:bodyPr>
          <a:lstStyle/>
          <a:p>
            <a:pPr marL="285750" indent="-285750">
              <a:buFont typeface="Wingdings" panose="05000000000000000000" pitchFamily="2" charset="2"/>
              <a:buChar char="v"/>
            </a:pPr>
            <a:r>
              <a:rPr lang="en-US" b="1" u="sng" dirty="0"/>
              <a:t>Disadvantages </a:t>
            </a:r>
          </a:p>
          <a:p>
            <a:endParaRPr lang="en-US" dirty="0"/>
          </a:p>
          <a:p>
            <a:r>
              <a:rPr lang="en-US" dirty="0"/>
              <a:t>● In a typical operating system, most system calls are blocking. </a:t>
            </a:r>
          </a:p>
          <a:p>
            <a:r>
              <a:rPr lang="en-US" dirty="0"/>
              <a:t>● Multithreaded application cannot take advantage of multiprocessing. </a:t>
            </a:r>
            <a:endParaRPr lang="en-IN" dirty="0"/>
          </a:p>
        </p:txBody>
      </p:sp>
      <p:pic>
        <p:nvPicPr>
          <p:cNvPr id="7" name="Picture 6">
            <a:extLst>
              <a:ext uri="{FF2B5EF4-FFF2-40B4-BE49-F238E27FC236}">
                <a16:creationId xmlns:a16="http://schemas.microsoft.com/office/drawing/2014/main" id="{C7120A25-36D0-B9A6-5634-5D66C1A9FC1B}"/>
              </a:ext>
            </a:extLst>
          </p:cNvPr>
          <p:cNvPicPr>
            <a:picLocks noChangeAspect="1"/>
          </p:cNvPicPr>
          <p:nvPr/>
        </p:nvPicPr>
        <p:blipFill>
          <a:blip r:embed="rId2"/>
          <a:stretch>
            <a:fillRect/>
          </a:stretch>
        </p:blipFill>
        <p:spPr>
          <a:xfrm>
            <a:off x="2026228" y="2073852"/>
            <a:ext cx="5070763" cy="3790950"/>
          </a:xfrm>
          <a:prstGeom prst="rect">
            <a:avLst/>
          </a:prstGeom>
        </p:spPr>
      </p:pic>
    </p:spTree>
    <p:extLst>
      <p:ext uri="{BB962C8B-B14F-4D97-AF65-F5344CB8AC3E}">
        <p14:creationId xmlns:p14="http://schemas.microsoft.com/office/powerpoint/2010/main" val="3746168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7E7DA9F-645A-C510-93DA-53B7DECD13BD}"/>
              </a:ext>
            </a:extLst>
          </p:cNvPr>
          <p:cNvSpPr txBox="1"/>
          <p:nvPr/>
        </p:nvSpPr>
        <p:spPr>
          <a:xfrm>
            <a:off x="914400" y="0"/>
            <a:ext cx="8242588" cy="3693319"/>
          </a:xfrm>
          <a:prstGeom prst="rect">
            <a:avLst/>
          </a:prstGeom>
          <a:noFill/>
        </p:spPr>
        <p:txBody>
          <a:bodyPr wrap="square">
            <a:spAutoFit/>
          </a:bodyPr>
          <a:lstStyle/>
          <a:p>
            <a:pPr marL="285750" indent="-285750">
              <a:buFont typeface="Wingdings" panose="05000000000000000000" pitchFamily="2" charset="2"/>
              <a:buChar char="v"/>
            </a:pPr>
            <a:r>
              <a:rPr lang="en-US" b="1" u="sng" dirty="0"/>
              <a:t>Kernel Level Threads </a:t>
            </a:r>
          </a:p>
          <a:p>
            <a:endParaRPr lang="en-US" b="1" u="sng" dirty="0"/>
          </a:p>
          <a:p>
            <a:r>
              <a:rPr lang="en-US" dirty="0"/>
              <a:t>In this case, thread management is done by the Kernel. There is no thread management code in the application area. Kernel threads are supported directly by the operating system. Any application can be programmed to be multithreaded. All of the threads within an application are supported within a single process. </a:t>
            </a:r>
          </a:p>
          <a:p>
            <a:endParaRPr lang="en-US" dirty="0"/>
          </a:p>
          <a:p>
            <a:r>
              <a:rPr lang="en-US" dirty="0"/>
              <a:t>The Kernel maintains context information for the process as a whole and for individuals threads within the process. Scheduling by the Kernel is done on a thread basis. The Kernel performs thread creation, scheduling and management in Kernel space. Kernel threads are generally slower to create and manage than the user threads. </a:t>
            </a:r>
            <a:endParaRPr lang="en-IN" dirty="0"/>
          </a:p>
        </p:txBody>
      </p:sp>
      <p:sp>
        <p:nvSpPr>
          <p:cNvPr id="8" name="TextBox 7">
            <a:extLst>
              <a:ext uri="{FF2B5EF4-FFF2-40B4-BE49-F238E27FC236}">
                <a16:creationId xmlns:a16="http://schemas.microsoft.com/office/drawing/2014/main" id="{0159A8BB-B06E-42A7-2982-DF9A4631C2A9}"/>
              </a:ext>
            </a:extLst>
          </p:cNvPr>
          <p:cNvSpPr txBox="1"/>
          <p:nvPr/>
        </p:nvSpPr>
        <p:spPr>
          <a:xfrm>
            <a:off x="633847" y="3693319"/>
            <a:ext cx="8772524" cy="2894516"/>
          </a:xfrm>
          <a:prstGeom prst="rect">
            <a:avLst/>
          </a:prstGeom>
          <a:noFill/>
        </p:spPr>
        <p:txBody>
          <a:bodyPr wrap="square">
            <a:spAutoFit/>
          </a:bodyPr>
          <a:lstStyle/>
          <a:p>
            <a:pPr marL="285750" indent="-285750">
              <a:buFont typeface="Wingdings" panose="05000000000000000000" pitchFamily="2" charset="2"/>
              <a:buChar char="v"/>
            </a:pPr>
            <a:r>
              <a:rPr lang="en-US" b="1" u="sng" dirty="0"/>
              <a:t>Advantages</a:t>
            </a:r>
          </a:p>
          <a:p>
            <a:r>
              <a:rPr lang="en-US" dirty="0"/>
              <a:t>● Kernel can simultaneously schedule multiple threads from the same process on multiple processes. </a:t>
            </a:r>
          </a:p>
          <a:p>
            <a:r>
              <a:rPr lang="en-US" dirty="0"/>
              <a:t>● If one thread in a process is blocked, the Kernel can schedule another thread of the same process. </a:t>
            </a:r>
          </a:p>
          <a:p>
            <a:r>
              <a:rPr lang="en-US" dirty="0"/>
              <a:t>● Kernel routines themselves can be multithreaded. </a:t>
            </a:r>
          </a:p>
          <a:p>
            <a:pPr marL="285750" indent="-285750">
              <a:buFont typeface="Wingdings" panose="05000000000000000000" pitchFamily="2" charset="2"/>
              <a:buChar char="v"/>
            </a:pPr>
            <a:r>
              <a:rPr lang="en-US" b="1" u="sng" dirty="0"/>
              <a:t>Disadvantages </a:t>
            </a:r>
          </a:p>
          <a:p>
            <a:r>
              <a:rPr lang="en-US" dirty="0"/>
              <a:t>● Kernel threads are generally slower to create and manage than the user threads. </a:t>
            </a:r>
          </a:p>
          <a:p>
            <a:r>
              <a:rPr lang="en-US" dirty="0"/>
              <a:t>● Transfer of control from one thread to another within the same process requires a mode switch to the Kernel.</a:t>
            </a:r>
            <a:endParaRPr lang="en-IN" dirty="0"/>
          </a:p>
        </p:txBody>
      </p:sp>
    </p:spTree>
    <p:extLst>
      <p:ext uri="{BB962C8B-B14F-4D97-AF65-F5344CB8AC3E}">
        <p14:creationId xmlns:p14="http://schemas.microsoft.com/office/powerpoint/2010/main" val="25559273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28C9636-A7C0-4F92-9BDC-00D6C50E0B29}"/>
              </a:ext>
            </a:extLst>
          </p:cNvPr>
          <p:cNvGraphicFramePr>
            <a:graphicFrameLocks noGrp="1"/>
          </p:cNvGraphicFramePr>
          <p:nvPr>
            <p:extLst>
              <p:ext uri="{D42A27DB-BD31-4B8C-83A1-F6EECF244321}">
                <p14:modId xmlns:p14="http://schemas.microsoft.com/office/powerpoint/2010/main" val="1625760247"/>
              </p:ext>
            </p:extLst>
          </p:nvPr>
        </p:nvGraphicFramePr>
        <p:xfrm>
          <a:off x="852056" y="252074"/>
          <a:ext cx="8582890" cy="3623900"/>
        </p:xfrm>
        <a:graphic>
          <a:graphicData uri="http://schemas.openxmlformats.org/drawingml/2006/table">
            <a:tbl>
              <a:tblPr firstRow="1" bandRow="1">
                <a:tableStyleId>{5940675A-B579-460E-94D1-54222C63F5DA}</a:tableStyleId>
              </a:tblPr>
              <a:tblGrid>
                <a:gridCol w="4651113">
                  <a:extLst>
                    <a:ext uri="{9D8B030D-6E8A-4147-A177-3AD203B41FA5}">
                      <a16:colId xmlns:a16="http://schemas.microsoft.com/office/drawing/2014/main" val="1224102147"/>
                    </a:ext>
                  </a:extLst>
                </a:gridCol>
                <a:gridCol w="3931777">
                  <a:extLst>
                    <a:ext uri="{9D8B030D-6E8A-4147-A177-3AD203B41FA5}">
                      <a16:colId xmlns:a16="http://schemas.microsoft.com/office/drawing/2014/main" val="4206327877"/>
                    </a:ext>
                  </a:extLst>
                </a:gridCol>
              </a:tblGrid>
              <a:tr h="828581">
                <a:tc>
                  <a:txBody>
                    <a:bodyPr/>
                    <a:lstStyle/>
                    <a:p>
                      <a:pPr algn="ctr"/>
                      <a:r>
                        <a:rPr lang="en-IN" b="1" dirty="0"/>
                        <a:t>User-level</a:t>
                      </a:r>
                      <a:r>
                        <a:rPr lang="en-IN" dirty="0"/>
                        <a:t> </a:t>
                      </a:r>
                      <a:r>
                        <a:rPr lang="en-IN" b="1" dirty="0"/>
                        <a:t>threads</a:t>
                      </a:r>
                      <a:r>
                        <a:rPr lang="en-IN" dirty="0"/>
                        <a:t> </a:t>
                      </a:r>
                    </a:p>
                  </a:txBody>
                  <a:tcPr anchor="ctr"/>
                </a:tc>
                <a:tc>
                  <a:txBody>
                    <a:bodyPr/>
                    <a:lstStyle/>
                    <a:p>
                      <a:pPr algn="ctr"/>
                      <a:r>
                        <a:rPr lang="en-IN" b="1" dirty="0"/>
                        <a:t>Kernel-level threads</a:t>
                      </a:r>
                    </a:p>
                  </a:txBody>
                  <a:tcPr anchor="ctr"/>
                </a:tc>
                <a:extLst>
                  <a:ext uri="{0D108BD9-81ED-4DB2-BD59-A6C34878D82A}">
                    <a16:rowId xmlns:a16="http://schemas.microsoft.com/office/drawing/2014/main" val="883868462"/>
                  </a:ext>
                </a:extLst>
              </a:tr>
              <a:tr h="568645">
                <a:tc>
                  <a:txBody>
                    <a:bodyPr/>
                    <a:lstStyle/>
                    <a:p>
                      <a:r>
                        <a:rPr lang="en-IN" dirty="0"/>
                        <a:t>Managed by Users</a:t>
                      </a:r>
                    </a:p>
                  </a:txBody>
                  <a:tcPr/>
                </a:tc>
                <a:tc>
                  <a:txBody>
                    <a:bodyPr/>
                    <a:lstStyle/>
                    <a:p>
                      <a:r>
                        <a:rPr lang="en-IN" dirty="0"/>
                        <a:t>Managed by operating System </a:t>
                      </a:r>
                    </a:p>
                  </a:txBody>
                  <a:tcPr/>
                </a:tc>
                <a:extLst>
                  <a:ext uri="{0D108BD9-81ED-4DB2-BD59-A6C34878D82A}">
                    <a16:rowId xmlns:a16="http://schemas.microsoft.com/office/drawing/2014/main" val="3040260509"/>
                  </a:ext>
                </a:extLst>
              </a:tr>
              <a:tr h="568645">
                <a:tc>
                  <a:txBody>
                    <a:bodyPr/>
                    <a:lstStyle/>
                    <a:p>
                      <a:r>
                        <a:rPr lang="en-US" dirty="0"/>
                        <a:t>No System calls are involved </a:t>
                      </a:r>
                      <a:endParaRPr lang="en-IN" dirty="0"/>
                    </a:p>
                  </a:txBody>
                  <a:tcPr/>
                </a:tc>
                <a:tc>
                  <a:txBody>
                    <a:bodyPr/>
                    <a:lstStyle/>
                    <a:p>
                      <a:r>
                        <a:rPr lang="en-IN" dirty="0"/>
                        <a:t>System calls are involved</a:t>
                      </a:r>
                    </a:p>
                  </a:txBody>
                  <a:tcPr/>
                </a:tc>
                <a:extLst>
                  <a:ext uri="{0D108BD9-81ED-4DB2-BD59-A6C34878D82A}">
                    <a16:rowId xmlns:a16="http://schemas.microsoft.com/office/drawing/2014/main" val="1266989105"/>
                  </a:ext>
                </a:extLst>
              </a:tr>
              <a:tr h="568645">
                <a:tc>
                  <a:txBody>
                    <a:bodyPr/>
                    <a:lstStyle/>
                    <a:p>
                      <a:r>
                        <a:rPr lang="en-IN" dirty="0"/>
                        <a:t>Context switching is faster</a:t>
                      </a:r>
                    </a:p>
                  </a:txBody>
                  <a:tcPr/>
                </a:tc>
                <a:tc>
                  <a:txBody>
                    <a:bodyPr/>
                    <a:lstStyle/>
                    <a:p>
                      <a:r>
                        <a:rPr lang="en-IN" dirty="0"/>
                        <a:t>Context switching slower</a:t>
                      </a:r>
                    </a:p>
                  </a:txBody>
                  <a:tcPr/>
                </a:tc>
                <a:extLst>
                  <a:ext uri="{0D108BD9-81ED-4DB2-BD59-A6C34878D82A}">
                    <a16:rowId xmlns:a16="http://schemas.microsoft.com/office/drawing/2014/main" val="3237940857"/>
                  </a:ext>
                </a:extLst>
              </a:tr>
              <a:tr h="1089384">
                <a:tc>
                  <a:txBody>
                    <a:bodyPr/>
                    <a:lstStyle/>
                    <a:p>
                      <a:r>
                        <a:rPr lang="en-US" dirty="0"/>
                        <a:t>User level threads are fast to create and manage.</a:t>
                      </a:r>
                      <a:endParaRPr lang="en-IN" dirty="0"/>
                    </a:p>
                  </a:txBody>
                  <a:tcPr/>
                </a:tc>
                <a:tc>
                  <a:txBody>
                    <a:bodyPr/>
                    <a:lstStyle/>
                    <a:p>
                      <a:r>
                        <a:rPr lang="en-US" dirty="0"/>
                        <a:t>Kernel threads are generally slower to create and manage than the user threads.</a:t>
                      </a:r>
                      <a:endParaRPr lang="en-IN" dirty="0"/>
                    </a:p>
                  </a:txBody>
                  <a:tcPr/>
                </a:tc>
                <a:extLst>
                  <a:ext uri="{0D108BD9-81ED-4DB2-BD59-A6C34878D82A}">
                    <a16:rowId xmlns:a16="http://schemas.microsoft.com/office/drawing/2014/main" val="99021951"/>
                  </a:ext>
                </a:extLst>
              </a:tr>
            </a:tbl>
          </a:graphicData>
        </a:graphic>
      </p:graphicFrame>
      <p:sp>
        <p:nvSpPr>
          <p:cNvPr id="6" name="TextBox 5">
            <a:extLst>
              <a:ext uri="{FF2B5EF4-FFF2-40B4-BE49-F238E27FC236}">
                <a16:creationId xmlns:a16="http://schemas.microsoft.com/office/drawing/2014/main" id="{AD978A4A-839D-2A27-C7B2-D5BD5E2EA586}"/>
              </a:ext>
            </a:extLst>
          </p:cNvPr>
          <p:cNvSpPr txBox="1"/>
          <p:nvPr/>
        </p:nvSpPr>
        <p:spPr>
          <a:xfrm>
            <a:off x="384465" y="4134673"/>
            <a:ext cx="9247908" cy="1754326"/>
          </a:xfrm>
          <a:prstGeom prst="rect">
            <a:avLst/>
          </a:prstGeom>
          <a:noFill/>
        </p:spPr>
        <p:txBody>
          <a:bodyPr wrap="square">
            <a:spAutoFit/>
          </a:bodyPr>
          <a:lstStyle/>
          <a:p>
            <a:r>
              <a:rPr lang="en-US" b="1" u="sng" dirty="0"/>
              <a:t>3.5 Multi-Threading Models</a:t>
            </a:r>
          </a:p>
          <a:p>
            <a:endParaRPr lang="en-US" dirty="0"/>
          </a:p>
          <a:p>
            <a:r>
              <a:rPr lang="en-US" dirty="0"/>
              <a:t> </a:t>
            </a:r>
            <a:r>
              <a:rPr lang="en-US" b="1" u="sng" dirty="0"/>
              <a:t>One to One Model:- </a:t>
            </a:r>
          </a:p>
          <a:p>
            <a:r>
              <a:rPr lang="en-US" dirty="0"/>
              <a:t>The one to one model maps each of the user threads to a kernel thread. This means that many threads can run in parallel on multiprocessors and other threads can run when one thread makes a blocking system call.</a:t>
            </a:r>
            <a:endParaRPr lang="en-IN" dirty="0"/>
          </a:p>
        </p:txBody>
      </p:sp>
    </p:spTree>
    <p:extLst>
      <p:ext uri="{BB962C8B-B14F-4D97-AF65-F5344CB8AC3E}">
        <p14:creationId xmlns:p14="http://schemas.microsoft.com/office/powerpoint/2010/main" val="42038649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1CCCB2-0B86-3F84-4B3C-768C643BC56E}"/>
              </a:ext>
            </a:extLst>
          </p:cNvPr>
          <p:cNvPicPr>
            <a:picLocks noChangeAspect="1"/>
          </p:cNvPicPr>
          <p:nvPr/>
        </p:nvPicPr>
        <p:blipFill>
          <a:blip r:embed="rId2"/>
          <a:stretch>
            <a:fillRect/>
          </a:stretch>
        </p:blipFill>
        <p:spPr>
          <a:xfrm>
            <a:off x="1454727" y="238558"/>
            <a:ext cx="7148946" cy="3803506"/>
          </a:xfrm>
          <a:prstGeom prst="rect">
            <a:avLst/>
          </a:prstGeom>
        </p:spPr>
      </p:pic>
      <p:sp>
        <p:nvSpPr>
          <p:cNvPr id="6" name="TextBox 5">
            <a:extLst>
              <a:ext uri="{FF2B5EF4-FFF2-40B4-BE49-F238E27FC236}">
                <a16:creationId xmlns:a16="http://schemas.microsoft.com/office/drawing/2014/main" id="{52EAD466-EB62-2729-A07E-561A274E8C64}"/>
              </a:ext>
            </a:extLst>
          </p:cNvPr>
          <p:cNvSpPr txBox="1"/>
          <p:nvPr/>
        </p:nvSpPr>
        <p:spPr>
          <a:xfrm>
            <a:off x="342033" y="4657634"/>
            <a:ext cx="9415029" cy="923330"/>
          </a:xfrm>
          <a:prstGeom prst="rect">
            <a:avLst/>
          </a:prstGeom>
          <a:noFill/>
        </p:spPr>
        <p:txBody>
          <a:bodyPr wrap="square">
            <a:spAutoFit/>
          </a:bodyPr>
          <a:lstStyle/>
          <a:p>
            <a:r>
              <a:rPr lang="en-US" b="1" u="sng" dirty="0"/>
              <a:t>Many to One Model </a:t>
            </a:r>
          </a:p>
          <a:p>
            <a:r>
              <a:rPr lang="en-US" dirty="0"/>
              <a:t>The many to one model maps many of the user threads to a single kernel thread. This model is quite efficient as the user space manages the thread management.</a:t>
            </a:r>
            <a:endParaRPr lang="en-IN" dirty="0"/>
          </a:p>
        </p:txBody>
      </p:sp>
    </p:spTree>
    <p:extLst>
      <p:ext uri="{BB962C8B-B14F-4D97-AF65-F5344CB8AC3E}">
        <p14:creationId xmlns:p14="http://schemas.microsoft.com/office/powerpoint/2010/main" val="31118151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C78BC9-3534-11B2-6599-D95DD06F9C42}"/>
              </a:ext>
            </a:extLst>
          </p:cNvPr>
          <p:cNvPicPr>
            <a:picLocks noChangeAspect="1"/>
          </p:cNvPicPr>
          <p:nvPr/>
        </p:nvPicPr>
        <p:blipFill>
          <a:blip r:embed="rId2"/>
          <a:stretch>
            <a:fillRect/>
          </a:stretch>
        </p:blipFill>
        <p:spPr>
          <a:xfrm>
            <a:off x="1766453" y="41564"/>
            <a:ext cx="6182591" cy="4378036"/>
          </a:xfrm>
          <a:prstGeom prst="rect">
            <a:avLst/>
          </a:prstGeom>
        </p:spPr>
      </p:pic>
      <p:sp>
        <p:nvSpPr>
          <p:cNvPr id="6" name="TextBox 5">
            <a:extLst>
              <a:ext uri="{FF2B5EF4-FFF2-40B4-BE49-F238E27FC236}">
                <a16:creationId xmlns:a16="http://schemas.microsoft.com/office/drawing/2014/main" id="{0BF314CA-7701-ECBB-C954-4480CF95A468}"/>
              </a:ext>
            </a:extLst>
          </p:cNvPr>
          <p:cNvSpPr txBox="1"/>
          <p:nvPr/>
        </p:nvSpPr>
        <p:spPr>
          <a:xfrm>
            <a:off x="238992" y="5153891"/>
            <a:ext cx="9507682" cy="923330"/>
          </a:xfrm>
          <a:prstGeom prst="rect">
            <a:avLst/>
          </a:prstGeom>
          <a:noFill/>
        </p:spPr>
        <p:txBody>
          <a:bodyPr wrap="square">
            <a:spAutoFit/>
          </a:bodyPr>
          <a:lstStyle/>
          <a:p>
            <a:r>
              <a:rPr lang="en-US" b="1" u="sng" dirty="0"/>
              <a:t>Many to Many Model</a:t>
            </a:r>
          </a:p>
          <a:p>
            <a:r>
              <a:rPr lang="en-US" dirty="0"/>
              <a:t> The many to many model maps many of the user threads to an equal number or lesser kernel threads. The number of kernel threads depends on the application or machine.</a:t>
            </a:r>
            <a:endParaRPr lang="en-IN" dirty="0"/>
          </a:p>
        </p:txBody>
      </p:sp>
    </p:spTree>
    <p:extLst>
      <p:ext uri="{BB962C8B-B14F-4D97-AF65-F5344CB8AC3E}">
        <p14:creationId xmlns:p14="http://schemas.microsoft.com/office/powerpoint/2010/main" val="26860844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01DC7-6DD1-EA59-DF86-88E53E516CD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6698ECF-82FE-38F0-9384-06006354195A}"/>
              </a:ext>
            </a:extLst>
          </p:cNvPr>
          <p:cNvPicPr>
            <a:picLocks noChangeAspect="1"/>
          </p:cNvPicPr>
          <p:nvPr/>
        </p:nvPicPr>
        <p:blipFill>
          <a:blip r:embed="rId2"/>
          <a:stretch>
            <a:fillRect/>
          </a:stretch>
        </p:blipFill>
        <p:spPr>
          <a:xfrm>
            <a:off x="2234045" y="468889"/>
            <a:ext cx="4675909" cy="2960111"/>
          </a:xfrm>
          <a:prstGeom prst="rect">
            <a:avLst/>
          </a:prstGeom>
        </p:spPr>
      </p:pic>
    </p:spTree>
    <p:extLst>
      <p:ext uri="{BB962C8B-B14F-4D97-AF65-F5344CB8AC3E}">
        <p14:creationId xmlns:p14="http://schemas.microsoft.com/office/powerpoint/2010/main" val="175223022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346</TotalTime>
  <Words>2038</Words>
  <Application>Microsoft Office PowerPoint</Application>
  <PresentationFormat>Widescreen</PresentationFormat>
  <Paragraphs>241</Paragraphs>
  <Slides>27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Trebuchet MS</vt:lpstr>
      <vt:lpstr>Wingdings</vt:lpstr>
      <vt:lpstr>Wingdings 3</vt:lpstr>
      <vt:lpstr>Facet</vt:lpstr>
      <vt:lpstr>3.Process management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Acer</dc:creator>
  <cp:lastModifiedBy>Acer</cp:lastModifiedBy>
  <cp:revision>3</cp:revision>
  <dcterms:created xsi:type="dcterms:W3CDTF">2025-09-25T13:43:26Z</dcterms:created>
  <dcterms:modified xsi:type="dcterms:W3CDTF">2025-09-25T19:30:09Z</dcterms:modified>
</cp:coreProperties>
</file>