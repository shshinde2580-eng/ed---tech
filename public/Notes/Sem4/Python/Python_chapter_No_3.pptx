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4DA4C-C1CB-43CC-B080-CCA05F85CB39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40421-1DB9-4594-B4E5-5527AEC8C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51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40421-1DB9-4594-B4E5-5527AEC8C1D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86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931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1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7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92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57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92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591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863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50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4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5716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15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5686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270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453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62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1D98-030A-41B8-8CBD-5FB2434AE348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6981BD0-23AA-4364-A54E-5A53730CF4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0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8CEC-D062-8BF7-D75D-526C3F3DC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05849"/>
            <a:ext cx="9223513" cy="1646302"/>
          </a:xfrm>
        </p:spPr>
        <p:txBody>
          <a:bodyPr/>
          <a:lstStyle/>
          <a:p>
            <a:pPr algn="ctr"/>
            <a:r>
              <a:rPr lang="en-US" dirty="0"/>
              <a:t>Object Oriented Programming in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813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83D0FC-A562-53A3-44D5-E9875BC06ACA}"/>
              </a:ext>
            </a:extLst>
          </p:cNvPr>
          <p:cNvSpPr txBox="1"/>
          <p:nvPr/>
        </p:nvSpPr>
        <p:spPr>
          <a:xfrm>
            <a:off x="993913" y="202960"/>
            <a:ext cx="8388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3.1 Creating a Class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4253A-08FE-2288-0C4D-94051CD21641}"/>
              </a:ext>
            </a:extLst>
          </p:cNvPr>
          <p:cNvSpPr txBox="1"/>
          <p:nvPr/>
        </p:nvSpPr>
        <p:spPr>
          <a:xfrm>
            <a:off x="993912" y="822429"/>
            <a:ext cx="83886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Creating a Class in Python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class is a blueprint for creating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contains attributes (data) and methods (functions).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Classes are used in Object-Oriented</a:t>
            </a:r>
            <a:r>
              <a:rPr lang="en-US" b="1" dirty="0"/>
              <a:t> </a:t>
            </a:r>
            <a:r>
              <a:rPr lang="en-US" dirty="0"/>
              <a:t>Programming</a:t>
            </a:r>
            <a:r>
              <a:rPr lang="en-US" b="1" dirty="0"/>
              <a:t> (</a:t>
            </a:r>
            <a:r>
              <a:rPr lang="en-US" dirty="0"/>
              <a:t>OOP</a:t>
            </a:r>
            <a:r>
              <a:rPr lang="en-US" b="1" dirty="0"/>
              <a:t>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dirty="0"/>
              <a:t>Basic Syntax</a:t>
            </a:r>
          </a:p>
          <a:p>
            <a:endParaRPr lang="en-IN" dirty="0"/>
          </a:p>
          <a:p>
            <a:r>
              <a:rPr lang="en-US" dirty="0"/>
              <a:t>class ClassName:</a:t>
            </a:r>
          </a:p>
          <a:p>
            <a:r>
              <a:rPr lang="en-US" dirty="0"/>
              <a:t>    def __init__(self, parameters):</a:t>
            </a:r>
          </a:p>
          <a:p>
            <a:r>
              <a:rPr lang="en-US" dirty="0"/>
              <a:t>        self.attribute1 = value</a:t>
            </a:r>
          </a:p>
          <a:p>
            <a:r>
              <a:rPr lang="en-US" dirty="0"/>
              <a:t>        self.attribute2 = value</a:t>
            </a:r>
          </a:p>
          <a:p>
            <a:endParaRPr lang="en-US" dirty="0"/>
          </a:p>
          <a:p>
            <a:r>
              <a:rPr lang="en-US" dirty="0"/>
              <a:t>    def method_name(self):</a:t>
            </a:r>
          </a:p>
          <a:p>
            <a:r>
              <a:rPr lang="en-US" dirty="0"/>
              <a:t>        statement(s)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1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1673-4F16-41E5-AB9D-5A837BAE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593683-BBAA-B8CE-F608-32C82592DF98}"/>
              </a:ext>
            </a:extLst>
          </p:cNvPr>
          <p:cNvSpPr txBox="1"/>
          <p:nvPr/>
        </p:nvSpPr>
        <p:spPr>
          <a:xfrm>
            <a:off x="874643" y="163853"/>
            <a:ext cx="8507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Creating a Class</a:t>
            </a:r>
          </a:p>
          <a:p>
            <a:pPr>
              <a:buNone/>
            </a:pPr>
            <a:r>
              <a:rPr lang="en-US" dirty="0"/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99257-DE69-7D2C-8771-1BF7C02D4416}"/>
              </a:ext>
            </a:extLst>
          </p:cNvPr>
          <p:cNvSpPr txBox="1"/>
          <p:nvPr/>
        </p:nvSpPr>
        <p:spPr>
          <a:xfrm>
            <a:off x="874642" y="962873"/>
            <a:ext cx="86768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Student:</a:t>
            </a:r>
          </a:p>
          <a:p>
            <a:r>
              <a:rPr lang="en-IN" dirty="0"/>
              <a:t>    def __init__(self, name, age):</a:t>
            </a:r>
          </a:p>
          <a:p>
            <a:r>
              <a:rPr lang="en-IN" dirty="0"/>
              <a:t>        self.name = name</a:t>
            </a:r>
          </a:p>
          <a:p>
            <a:r>
              <a:rPr lang="en-IN" dirty="0"/>
              <a:t>        self.age = age</a:t>
            </a:r>
          </a:p>
          <a:p>
            <a:endParaRPr lang="en-IN" dirty="0"/>
          </a:p>
          <a:p>
            <a:r>
              <a:rPr lang="en-IN" dirty="0"/>
              <a:t>    def display(self):</a:t>
            </a:r>
          </a:p>
          <a:p>
            <a:r>
              <a:rPr lang="en-IN" dirty="0"/>
              <a:t>        print("Name:", self.name)</a:t>
            </a:r>
          </a:p>
          <a:p>
            <a:r>
              <a:rPr lang="en-IN" dirty="0"/>
              <a:t>        print("Age:", self.age)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368D62-56B2-D215-88D0-A2DABF34AD81}"/>
              </a:ext>
            </a:extLst>
          </p:cNvPr>
          <p:cNvSpPr txBox="1"/>
          <p:nvPr/>
        </p:nvSpPr>
        <p:spPr>
          <a:xfrm>
            <a:off x="874642" y="3586804"/>
            <a:ext cx="87563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Creating an Object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object</a:t>
            </a:r>
            <a:r>
              <a:rPr lang="en-US" dirty="0"/>
              <a:t> is an instance of a class.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Syntax: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dirty="0"/>
              <a:t>object_name = ClassName(arguments)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Example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US" dirty="0"/>
              <a:t>s1 = Student(“Rohit", 21)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84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B56D-D327-E39E-679F-E77F123F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BE987D-0E4D-BC18-FC0F-9121015B5757}"/>
              </a:ext>
            </a:extLst>
          </p:cNvPr>
          <p:cNvSpPr txBox="1"/>
          <p:nvPr/>
        </p:nvSpPr>
        <p:spPr>
          <a:xfrm>
            <a:off x="854765" y="203609"/>
            <a:ext cx="83289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Accessing Methods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s1.display()</a:t>
            </a:r>
          </a:p>
          <a:p>
            <a:pPr>
              <a:buNone/>
            </a:pPr>
            <a:endParaRPr lang="en-IN" dirty="0"/>
          </a:p>
          <a:p>
            <a:r>
              <a:rPr lang="en-IN" b="1" dirty="0"/>
              <a:t>✅ Output:</a:t>
            </a:r>
          </a:p>
          <a:p>
            <a:pPr>
              <a:buNone/>
            </a:pPr>
            <a:r>
              <a:rPr lang="en-IN" dirty="0"/>
              <a:t>Name: Rohit</a:t>
            </a:r>
          </a:p>
          <a:p>
            <a:pPr>
              <a:buNone/>
            </a:pPr>
            <a:r>
              <a:rPr lang="en-IN" dirty="0"/>
              <a:t>Age: 21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7CC92-A7F4-AB32-59D6-F98EB607C8E8}"/>
              </a:ext>
            </a:extLst>
          </p:cNvPr>
          <p:cNvSpPr txBox="1"/>
          <p:nvPr/>
        </p:nvSpPr>
        <p:spPr>
          <a:xfrm>
            <a:off x="606286" y="2619620"/>
            <a:ext cx="9064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4. Explanation of Components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5C8B33-6F64-6A81-724C-71D7BD9EE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350006"/>
              </p:ext>
            </p:extLst>
          </p:nvPr>
        </p:nvGraphicFramePr>
        <p:xfrm>
          <a:off x="606286" y="3188972"/>
          <a:ext cx="8597349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7756">
                  <a:extLst>
                    <a:ext uri="{9D8B030D-6E8A-4147-A177-3AD203B41FA5}">
                      <a16:colId xmlns:a16="http://schemas.microsoft.com/office/drawing/2014/main" val="2308056614"/>
                    </a:ext>
                  </a:extLst>
                </a:gridCol>
                <a:gridCol w="6779593">
                  <a:extLst>
                    <a:ext uri="{9D8B030D-6E8A-4147-A177-3AD203B41FA5}">
                      <a16:colId xmlns:a16="http://schemas.microsoft.com/office/drawing/2014/main" val="2327726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018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class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Keyword to define a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538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__</a:t>
                      </a:r>
                      <a:r>
                        <a:rPr lang="en-I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IN" dirty="0"/>
                        <a:t>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Constructor method, runs automatically when object is created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750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self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Refers to the current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464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attributes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Variables inside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440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Functions inside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158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614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6CDD4-32BB-3291-F0BB-2FA009FD8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D577C7-46F5-4E08-F796-32AA4BBB29BF}"/>
              </a:ext>
            </a:extLst>
          </p:cNvPr>
          <p:cNvSpPr txBox="1"/>
          <p:nvPr/>
        </p:nvSpPr>
        <p:spPr>
          <a:xfrm>
            <a:off x="904460" y="282473"/>
            <a:ext cx="8398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with Multiple Objects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2683F4-F22C-4AD5-3A00-2693B951205D}"/>
              </a:ext>
            </a:extLst>
          </p:cNvPr>
          <p:cNvSpPr txBox="1"/>
          <p:nvPr/>
        </p:nvSpPr>
        <p:spPr>
          <a:xfrm>
            <a:off x="904460" y="986641"/>
            <a:ext cx="61026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Student:</a:t>
            </a:r>
          </a:p>
          <a:p>
            <a:r>
              <a:rPr lang="en-IN" dirty="0"/>
              <a:t>    def __init__(self, name, age):</a:t>
            </a:r>
          </a:p>
          <a:p>
            <a:r>
              <a:rPr lang="en-IN" dirty="0"/>
              <a:t>        self.name = name</a:t>
            </a:r>
          </a:p>
          <a:p>
            <a:r>
              <a:rPr lang="en-IN" dirty="0"/>
              <a:t>        self.age = age</a:t>
            </a:r>
          </a:p>
          <a:p>
            <a:endParaRPr lang="en-IN" dirty="0"/>
          </a:p>
          <a:p>
            <a:r>
              <a:rPr lang="en-IN" dirty="0"/>
              <a:t>    def display(self):</a:t>
            </a:r>
          </a:p>
          <a:p>
            <a:r>
              <a:rPr lang="en-IN" dirty="0"/>
              <a:t>        print("Name:", self.name)</a:t>
            </a:r>
          </a:p>
          <a:p>
            <a:r>
              <a:rPr lang="en-IN" dirty="0"/>
              <a:t>        print("Age:", self.age)</a:t>
            </a:r>
          </a:p>
          <a:p>
            <a:endParaRPr lang="en-IN" dirty="0"/>
          </a:p>
          <a:p>
            <a:r>
              <a:rPr lang="en-IN" dirty="0"/>
              <a:t>s1 = Student(“Rohit", 21)</a:t>
            </a:r>
          </a:p>
          <a:p>
            <a:r>
              <a:rPr lang="en-IN" dirty="0"/>
              <a:t>s2 = Student("Rahul", 22)</a:t>
            </a:r>
          </a:p>
          <a:p>
            <a:endParaRPr lang="en-IN" dirty="0"/>
          </a:p>
          <a:p>
            <a:r>
              <a:rPr lang="en-IN" dirty="0"/>
              <a:t>s1.display()</a:t>
            </a:r>
          </a:p>
          <a:p>
            <a:r>
              <a:rPr lang="en-IN" dirty="0"/>
              <a:t>s2.display()</a:t>
            </a:r>
          </a:p>
        </p:txBody>
      </p:sp>
    </p:spTree>
    <p:extLst>
      <p:ext uri="{BB962C8B-B14F-4D97-AF65-F5344CB8AC3E}">
        <p14:creationId xmlns:p14="http://schemas.microsoft.com/office/powerpoint/2010/main" val="428294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8B95-44DE-A9D0-6C8A-CA90DA40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63A774-B5A9-E542-E5A3-017D75B42AD4}"/>
              </a:ext>
            </a:extLst>
          </p:cNvPr>
          <p:cNvSpPr txBox="1"/>
          <p:nvPr/>
        </p:nvSpPr>
        <p:spPr>
          <a:xfrm>
            <a:off x="924339" y="113508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✅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22A10-45F4-E377-1666-F6A058D19D49}"/>
              </a:ext>
            </a:extLst>
          </p:cNvPr>
          <p:cNvSpPr txBox="1"/>
          <p:nvPr/>
        </p:nvSpPr>
        <p:spPr>
          <a:xfrm>
            <a:off x="1048578" y="605352"/>
            <a:ext cx="82792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Name: Rohit</a:t>
            </a:r>
          </a:p>
          <a:p>
            <a:r>
              <a:rPr lang="en-IN" dirty="0"/>
              <a:t>Age: 21</a:t>
            </a:r>
          </a:p>
          <a:p>
            <a:r>
              <a:rPr lang="en-IN" dirty="0"/>
              <a:t>Name: Rahul</a:t>
            </a:r>
          </a:p>
          <a:p>
            <a:r>
              <a:rPr lang="en-IN" dirty="0"/>
              <a:t>Age: 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3F41E-31FD-2270-1587-166650A99886}"/>
              </a:ext>
            </a:extLst>
          </p:cNvPr>
          <p:cNvSpPr txBox="1"/>
          <p:nvPr/>
        </p:nvSpPr>
        <p:spPr>
          <a:xfrm>
            <a:off x="665922" y="1928193"/>
            <a:ext cx="914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3.2 Self Variables, Types of Methods, Constructors, Inheritance, Polymorphism </a:t>
            </a:r>
            <a:endParaRPr lang="en-IN" b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05C3DA-740E-A28B-1A7E-F198944E9F46}"/>
              </a:ext>
            </a:extLst>
          </p:cNvPr>
          <p:cNvSpPr txBox="1"/>
          <p:nvPr/>
        </p:nvSpPr>
        <p:spPr>
          <a:xfrm>
            <a:off x="665922" y="2497175"/>
            <a:ext cx="87961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</a:t>
            </a:r>
            <a:r>
              <a:rPr lang="en-US" b="1" u="sng" dirty="0"/>
              <a:t>. Self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  <a:cs typeface="Times New Roman" panose="02020603050405020304" pitchFamily="18" charset="0"/>
              </a:rPr>
              <a:t>self</a:t>
            </a:r>
            <a:r>
              <a:rPr lang="en-US" dirty="0"/>
              <a:t> represents the current object of the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access</a:t>
            </a:r>
            <a:r>
              <a:rPr lang="en-US" b="1" dirty="0"/>
              <a:t> </a:t>
            </a:r>
            <a:r>
              <a:rPr lang="en-US" dirty="0"/>
              <a:t>attributes and methods inside the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passed to every method in a class.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r>
              <a:rPr lang="en-US" dirty="0"/>
              <a:t>class Student:</a:t>
            </a:r>
          </a:p>
          <a:p>
            <a:pPr>
              <a:buNone/>
            </a:pPr>
            <a:r>
              <a:rPr lang="en-US" dirty="0"/>
              <a:t>    def __init__(self, name):</a:t>
            </a:r>
          </a:p>
          <a:p>
            <a:pPr>
              <a:buNone/>
            </a:pPr>
            <a:r>
              <a:rPr lang="en-US" dirty="0"/>
              <a:t>        self.name = name   # self refers to object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def display(self):</a:t>
            </a:r>
          </a:p>
          <a:p>
            <a:pPr>
              <a:buNone/>
            </a:pPr>
            <a:r>
              <a:rPr lang="en-US" dirty="0"/>
              <a:t>        print("Name:", self.name)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s1 = Student(“Rohit")</a:t>
            </a:r>
          </a:p>
          <a:p>
            <a:pPr>
              <a:buNone/>
            </a:pPr>
            <a:r>
              <a:rPr lang="en-US" dirty="0"/>
              <a:t>s1.display()</a:t>
            </a:r>
          </a:p>
        </p:txBody>
      </p:sp>
    </p:spTree>
    <p:extLst>
      <p:ext uri="{BB962C8B-B14F-4D97-AF65-F5344CB8AC3E}">
        <p14:creationId xmlns:p14="http://schemas.microsoft.com/office/powerpoint/2010/main" val="191220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45AC-7528-8EA1-78A1-2BA21D43A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4BE7CF-2037-E601-BE41-08993132E06C}"/>
              </a:ext>
            </a:extLst>
          </p:cNvPr>
          <p:cNvSpPr txBox="1"/>
          <p:nvPr/>
        </p:nvSpPr>
        <p:spPr>
          <a:xfrm>
            <a:off x="974035" y="163203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Output: </a:t>
            </a:r>
            <a:r>
              <a:rPr lang="en-IN" dirty="0">
                <a:latin typeface="+mj-lt"/>
              </a:rPr>
              <a:t>Name</a:t>
            </a:r>
            <a:r>
              <a:rPr lang="en-IN" dirty="0">
                <a:latin typeface="Courier New" panose="02070309020205020404" pitchFamily="49" charset="0"/>
              </a:rPr>
              <a:t>: </a:t>
            </a:r>
            <a:r>
              <a:rPr lang="en-IN" dirty="0">
                <a:latin typeface="+mj-lt"/>
              </a:rPr>
              <a:t>Rohit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4A6B1-951B-862E-10C3-4E12B65900BE}"/>
              </a:ext>
            </a:extLst>
          </p:cNvPr>
          <p:cNvSpPr txBox="1"/>
          <p:nvPr/>
        </p:nvSpPr>
        <p:spPr>
          <a:xfrm>
            <a:off x="795130" y="722387"/>
            <a:ext cx="89650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2. Types of Methods</a:t>
            </a:r>
          </a:p>
          <a:p>
            <a:pPr>
              <a:buNone/>
            </a:pPr>
            <a:r>
              <a:rPr lang="en-US" dirty="0"/>
              <a:t>In Python, there are 3 main types of methods inside a class:</a:t>
            </a:r>
          </a:p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Instance Method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Works with object data (uses </a:t>
            </a:r>
            <a:r>
              <a:rPr lang="en-US" dirty="0">
                <a:latin typeface="+mj-lt"/>
              </a:rPr>
              <a:t>self</a:t>
            </a:r>
            <a:r>
              <a:rPr lang="en-US" dirty="0"/>
              <a:t>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class Demo:</a:t>
            </a:r>
          </a:p>
          <a:p>
            <a:pPr lvl="1"/>
            <a:r>
              <a:rPr lang="en-US" dirty="0"/>
              <a:t>    def show(self, x):</a:t>
            </a:r>
          </a:p>
          <a:p>
            <a:pPr lvl="1"/>
            <a:r>
              <a:rPr lang="en-US" dirty="0"/>
              <a:t>        print("Value:", x)</a:t>
            </a:r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934E2-931A-4DFA-91A9-AD4D9BC0DD9F}"/>
              </a:ext>
            </a:extLst>
          </p:cNvPr>
          <p:cNvSpPr txBox="1"/>
          <p:nvPr/>
        </p:nvSpPr>
        <p:spPr>
          <a:xfrm>
            <a:off x="884583" y="3429000"/>
            <a:ext cx="94024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2.Class Method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with </a:t>
            </a:r>
            <a:r>
              <a:rPr lang="en-US" b="1" dirty="0"/>
              <a:t>class-level data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Defined using </a:t>
            </a:r>
            <a:r>
              <a:rPr lang="en-US" dirty="0">
                <a:latin typeface="Courier New" panose="02070309020205020404" pitchFamily="49" charset="0"/>
              </a:rPr>
              <a:t>@classmethod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parameter is </a:t>
            </a:r>
            <a:r>
              <a:rPr lang="en-US" dirty="0">
                <a:latin typeface="Courier New" panose="02070309020205020404" pitchFamily="49" charset="0"/>
              </a:rPr>
              <a:t>cls</a:t>
            </a:r>
            <a:r>
              <a:rPr lang="en-US" dirty="0"/>
              <a:t> (class reference).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Demo: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count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@classmethod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def show_count(cls):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    print("Count:", cls.count)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30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065D-4B37-B4F2-2EFA-9C6378C8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2E74EE-4FA9-0F95-4026-EA80D566DF92}"/>
              </a:ext>
            </a:extLst>
          </p:cNvPr>
          <p:cNvSpPr txBox="1"/>
          <p:nvPr/>
        </p:nvSpPr>
        <p:spPr>
          <a:xfrm>
            <a:off x="1123122" y="224135"/>
            <a:ext cx="61026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3.Static Method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Independent method (does not use </a:t>
            </a:r>
            <a:r>
              <a:rPr lang="en-US" dirty="0">
                <a:latin typeface="Courier New" panose="02070309020205020404" pitchFamily="49" charset="0"/>
              </a:rPr>
              <a:t>self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</a:rPr>
              <a:t>cls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Defined using </a:t>
            </a:r>
            <a:r>
              <a:rPr lang="en-US" dirty="0">
                <a:latin typeface="Courier New" panose="02070309020205020404" pitchFamily="49" charset="0"/>
              </a:rPr>
              <a:t>@staticmethod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class Demo:</a:t>
            </a:r>
          </a:p>
          <a:p>
            <a:r>
              <a:rPr lang="en-US" dirty="0"/>
              <a:t>    @staticmethod</a:t>
            </a:r>
          </a:p>
          <a:p>
            <a:r>
              <a:rPr lang="en-US" dirty="0"/>
              <a:t>    def greet():</a:t>
            </a:r>
          </a:p>
          <a:p>
            <a:r>
              <a:rPr lang="en-US" dirty="0"/>
              <a:t>        print("Hello Students")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322FC-04AC-0FA4-F50F-E79198C75288}"/>
              </a:ext>
            </a:extLst>
          </p:cNvPr>
          <p:cNvSpPr txBox="1"/>
          <p:nvPr/>
        </p:nvSpPr>
        <p:spPr>
          <a:xfrm>
            <a:off x="626165" y="2828836"/>
            <a:ext cx="85277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3. Constructors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constructor is a special method used to initialize objects automatically.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Python, it is defined as </a:t>
            </a:r>
            <a:r>
              <a:rPr lang="en-US" dirty="0">
                <a:latin typeface="Courier New" panose="02070309020205020404" pitchFamily="49" charset="0"/>
              </a:rPr>
              <a:t>__init__()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US" dirty="0"/>
              <a:t>class Student:</a:t>
            </a:r>
          </a:p>
          <a:p>
            <a:r>
              <a:rPr lang="en-US" dirty="0"/>
              <a:t>    def __init__(self, name, age):</a:t>
            </a:r>
          </a:p>
          <a:p>
            <a:r>
              <a:rPr lang="en-US" dirty="0"/>
              <a:t>        self.name = name</a:t>
            </a:r>
          </a:p>
          <a:p>
            <a:r>
              <a:rPr lang="en-US" dirty="0"/>
              <a:t>        </a:t>
            </a:r>
            <a:r>
              <a:rPr lang="en-US" dirty="0" err="1"/>
              <a:t>self.age</a:t>
            </a:r>
            <a:r>
              <a:rPr lang="en-US" dirty="0"/>
              <a:t> = age</a:t>
            </a:r>
          </a:p>
          <a:p>
            <a:endParaRPr lang="en-US" dirty="0"/>
          </a:p>
          <a:p>
            <a:r>
              <a:rPr lang="en-US" dirty="0"/>
              <a:t>s1 = Student("Siddhi", 21)</a:t>
            </a:r>
          </a:p>
          <a:p>
            <a:r>
              <a:rPr lang="en-US" dirty="0"/>
              <a:t>print(s1.name, s1.age)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64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9737-9874-321D-872C-D2DF8A9D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672C80-2D3A-BF8B-4BD9-30637D4E895A}"/>
              </a:ext>
            </a:extLst>
          </p:cNvPr>
          <p:cNvSpPr txBox="1"/>
          <p:nvPr/>
        </p:nvSpPr>
        <p:spPr>
          <a:xfrm>
            <a:off x="795131" y="101411"/>
            <a:ext cx="863710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4. Inheritance</a:t>
            </a:r>
            <a:endParaRPr lang="en-U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Inheritance allows a class (child/derived class) to use properties and methods of another class (parent/base class).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Promotes code reusability.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Types of Inheritance: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Single Inheritance</a:t>
            </a:r>
            <a:r>
              <a:rPr lang="en-US" dirty="0"/>
              <a:t> – One parent → One child.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Multiple Inheritance</a:t>
            </a:r>
            <a:r>
              <a:rPr lang="en-US" dirty="0"/>
              <a:t> – One child inherits from multiple parents.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Multilevel Inheritance</a:t>
            </a:r>
            <a:r>
              <a:rPr lang="en-US" dirty="0"/>
              <a:t> – Parent → Child → Grandchild.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Hierarchical Inheritance</a:t>
            </a:r>
            <a:r>
              <a:rPr lang="en-US" dirty="0"/>
              <a:t> – One parent → Multiple children.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Example (Single Inheritance):</a:t>
            </a:r>
          </a:p>
          <a:p>
            <a:pPr>
              <a:buNone/>
            </a:pPr>
            <a:r>
              <a:rPr lang="en-US" dirty="0"/>
              <a:t>class Person:</a:t>
            </a:r>
          </a:p>
          <a:p>
            <a:pPr>
              <a:buNone/>
            </a:pPr>
            <a:r>
              <a:rPr lang="en-US" dirty="0"/>
              <a:t>    def display(self):</a:t>
            </a:r>
          </a:p>
          <a:p>
            <a:pPr>
              <a:buNone/>
            </a:pPr>
            <a:r>
              <a:rPr lang="en-US" dirty="0"/>
              <a:t>        print("I am a Person")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class Student(Person):   # Inherits from Person</a:t>
            </a:r>
          </a:p>
          <a:p>
            <a:pPr>
              <a:buNone/>
            </a:pPr>
            <a:r>
              <a:rPr lang="en-US" dirty="0"/>
              <a:t>    def study(self):</a:t>
            </a:r>
          </a:p>
          <a:p>
            <a:pPr>
              <a:buNone/>
            </a:pPr>
            <a:r>
              <a:rPr lang="en-US" dirty="0"/>
              <a:t>        print("I am a Student")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 = Student()</a:t>
            </a:r>
          </a:p>
          <a:p>
            <a:pPr>
              <a:buNone/>
            </a:pPr>
            <a:r>
              <a:rPr lang="en-US" dirty="0" err="1"/>
              <a:t>s.display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dirty="0" err="1"/>
              <a:t>s.study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24852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6915-026E-D139-D82C-80EE4D74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4B7123-95A0-0017-8676-0CA7081C09E0}"/>
              </a:ext>
            </a:extLst>
          </p:cNvPr>
          <p:cNvSpPr txBox="1"/>
          <p:nvPr/>
        </p:nvSpPr>
        <p:spPr>
          <a:xfrm>
            <a:off x="1053547" y="183081"/>
            <a:ext cx="8398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✅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D65F0-D69D-8CD7-22C1-51E1506BB652}"/>
              </a:ext>
            </a:extLst>
          </p:cNvPr>
          <p:cNvSpPr txBox="1"/>
          <p:nvPr/>
        </p:nvSpPr>
        <p:spPr>
          <a:xfrm>
            <a:off x="964094" y="690626"/>
            <a:ext cx="84880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 am a Person  </a:t>
            </a:r>
          </a:p>
          <a:p>
            <a:r>
              <a:rPr lang="en-IN" dirty="0"/>
              <a:t>I am a Student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6D6941-BE07-7B39-8827-278BA3534A95}"/>
              </a:ext>
            </a:extLst>
          </p:cNvPr>
          <p:cNvSpPr txBox="1"/>
          <p:nvPr/>
        </p:nvSpPr>
        <p:spPr>
          <a:xfrm>
            <a:off x="964093" y="1475170"/>
            <a:ext cx="87663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5. Polymorphism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Poly = many, morph = 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Polymorphism means same function name, but different behavior</a:t>
            </a:r>
            <a:r>
              <a:rPr lang="en-US" b="1" dirty="0"/>
              <a:t>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Types in Python: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Method Overloading</a:t>
            </a:r>
            <a:r>
              <a:rPr lang="en-US" dirty="0"/>
              <a:t> – Same method name, different number of arguments.</a:t>
            </a:r>
            <a:br>
              <a:rPr lang="en-US" dirty="0"/>
            </a:br>
            <a:r>
              <a:rPr lang="en-US" dirty="0"/>
              <a:t>(Python does not support true overloading, but default arguments can be used)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80DBFB-3DBE-8DEE-D5F5-DE266330A2B9}"/>
              </a:ext>
            </a:extLst>
          </p:cNvPr>
          <p:cNvSpPr txBox="1"/>
          <p:nvPr/>
        </p:nvSpPr>
        <p:spPr>
          <a:xfrm>
            <a:off x="1053547" y="3644708"/>
            <a:ext cx="83985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Demo:</a:t>
            </a:r>
          </a:p>
          <a:p>
            <a:r>
              <a:rPr lang="en-IN" dirty="0"/>
              <a:t>    def add(self, a, b=0):</a:t>
            </a:r>
          </a:p>
          <a:p>
            <a:r>
              <a:rPr lang="en-IN" dirty="0"/>
              <a:t>        return a + b</a:t>
            </a:r>
          </a:p>
          <a:p>
            <a:endParaRPr lang="en-IN" dirty="0"/>
          </a:p>
          <a:p>
            <a:r>
              <a:rPr lang="en-IN" dirty="0"/>
              <a:t>d = Demo()</a:t>
            </a:r>
          </a:p>
          <a:p>
            <a:r>
              <a:rPr lang="en-IN" dirty="0"/>
              <a:t>print(d.add(5))      # 1 argument</a:t>
            </a:r>
          </a:p>
          <a:p>
            <a:r>
              <a:rPr lang="en-IN" dirty="0"/>
              <a:t>print(d.add(5, 10))  # 2 arguments</a:t>
            </a:r>
          </a:p>
        </p:txBody>
      </p:sp>
    </p:spTree>
    <p:extLst>
      <p:ext uri="{BB962C8B-B14F-4D97-AF65-F5344CB8AC3E}">
        <p14:creationId xmlns:p14="http://schemas.microsoft.com/office/powerpoint/2010/main" val="4107655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9B23-45F8-1ABB-C96B-9673323A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01F3AE-D908-3E83-72D1-56368E1DDCB5}"/>
              </a:ext>
            </a:extLst>
          </p:cNvPr>
          <p:cNvSpPr txBox="1"/>
          <p:nvPr/>
        </p:nvSpPr>
        <p:spPr>
          <a:xfrm>
            <a:off x="934278" y="163853"/>
            <a:ext cx="816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Method Overriding</a:t>
            </a:r>
            <a:r>
              <a:rPr lang="en-US" dirty="0"/>
              <a:t> – Child class redefines a method of parent class.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3D232-F63C-0437-A1E7-31A84E17ED6A}"/>
              </a:ext>
            </a:extLst>
          </p:cNvPr>
          <p:cNvSpPr txBox="1"/>
          <p:nvPr/>
        </p:nvSpPr>
        <p:spPr>
          <a:xfrm>
            <a:off x="934277" y="695813"/>
            <a:ext cx="84780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Animal:</a:t>
            </a:r>
          </a:p>
          <a:p>
            <a:r>
              <a:rPr lang="en-IN" dirty="0"/>
              <a:t>    def sound(self):</a:t>
            </a:r>
          </a:p>
          <a:p>
            <a:r>
              <a:rPr lang="en-IN" dirty="0"/>
              <a:t>        print("Animal makes sound")</a:t>
            </a:r>
          </a:p>
          <a:p>
            <a:endParaRPr lang="en-IN" dirty="0"/>
          </a:p>
          <a:p>
            <a:r>
              <a:rPr lang="en-IN" dirty="0"/>
              <a:t>class Dog(Animal):</a:t>
            </a:r>
          </a:p>
          <a:p>
            <a:r>
              <a:rPr lang="en-IN" dirty="0"/>
              <a:t>    def sound(self):</a:t>
            </a:r>
          </a:p>
          <a:p>
            <a:r>
              <a:rPr lang="en-IN" dirty="0"/>
              <a:t>        print("Dog barks")</a:t>
            </a:r>
          </a:p>
          <a:p>
            <a:endParaRPr lang="en-IN" dirty="0"/>
          </a:p>
          <a:p>
            <a:r>
              <a:rPr lang="en-IN" dirty="0"/>
              <a:t>d = Dog()</a:t>
            </a:r>
          </a:p>
          <a:p>
            <a:r>
              <a:rPr lang="en-IN" dirty="0" err="1"/>
              <a:t>d.sound</a:t>
            </a:r>
            <a:r>
              <a:rPr lang="en-IN" dirty="0"/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25003-4277-CBE8-20CF-9DE6D2D072C3}"/>
              </a:ext>
            </a:extLst>
          </p:cNvPr>
          <p:cNvSpPr txBox="1"/>
          <p:nvPr/>
        </p:nvSpPr>
        <p:spPr>
          <a:xfrm>
            <a:off x="765312" y="3800925"/>
            <a:ext cx="9223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b="1" dirty="0"/>
              <a:t>✅ Output: </a:t>
            </a:r>
            <a:r>
              <a:rPr lang="en-IN" b="1" dirty="0">
                <a:latin typeface="Courier New" panose="02070309020205020404" pitchFamily="49" charset="0"/>
              </a:rPr>
              <a:t>Dog barks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16401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DB8F6-66AC-15C0-B483-0FBF2551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6A06F7-F097-2CAE-1353-AF70232DF480}"/>
              </a:ext>
            </a:extLst>
          </p:cNvPr>
          <p:cNvSpPr txBox="1"/>
          <p:nvPr/>
        </p:nvSpPr>
        <p:spPr>
          <a:xfrm>
            <a:off x="894522" y="222838"/>
            <a:ext cx="8527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3.3 Operator Overloading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BEADD-8779-6740-5323-1D20D1BAD1D5}"/>
              </a:ext>
            </a:extLst>
          </p:cNvPr>
          <p:cNvSpPr txBox="1"/>
          <p:nvPr/>
        </p:nvSpPr>
        <p:spPr>
          <a:xfrm>
            <a:off x="675862" y="1071555"/>
            <a:ext cx="85277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Operator Overloading means giving special meaning to operators (</a:t>
            </a:r>
            <a:r>
              <a:rPr lang="en-US" dirty="0">
                <a:latin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*</a:t>
            </a:r>
            <a:r>
              <a:rPr lang="en-US" dirty="0"/>
              <a:t>, etc.) for user-defined objects (classes).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allows us to redefine</a:t>
            </a:r>
            <a:r>
              <a:rPr lang="en-US" b="1" dirty="0"/>
              <a:t> </a:t>
            </a:r>
            <a:r>
              <a:rPr lang="en-US" dirty="0"/>
              <a:t>operators by using special</a:t>
            </a:r>
            <a:r>
              <a:rPr lang="en-US" b="1" dirty="0"/>
              <a:t> </a:t>
            </a:r>
            <a:r>
              <a:rPr lang="en-US" dirty="0"/>
              <a:t>methods (also called </a:t>
            </a:r>
            <a:r>
              <a:rPr lang="en-US" i="1" dirty="0"/>
              <a:t>magic methods</a:t>
            </a:r>
            <a:r>
              <a:rPr lang="en-US" dirty="0"/>
              <a:t> or </a:t>
            </a:r>
            <a:r>
              <a:rPr lang="en-US" i="1" dirty="0"/>
              <a:t>dunder methods</a:t>
            </a:r>
            <a:r>
              <a:rPr lang="en-US" dirty="0"/>
              <a:t> like </a:t>
            </a:r>
            <a:r>
              <a:rPr lang="en-US" dirty="0">
                <a:latin typeface="Courier New" panose="02070309020205020404" pitchFamily="49" charset="0"/>
              </a:rPr>
              <a:t>__add__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__sub__</a:t>
            </a:r>
            <a:r>
              <a:rPr lang="en-US" dirty="0"/>
              <a:t>, etc.).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B417E-FFA0-EC1E-DEC4-A3551B59DD2D}"/>
              </a:ext>
            </a:extLst>
          </p:cNvPr>
          <p:cNvSpPr txBox="1"/>
          <p:nvPr/>
        </p:nvSpPr>
        <p:spPr>
          <a:xfrm>
            <a:off x="556592" y="3028268"/>
            <a:ext cx="96111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Why Operator Overloading?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Operators normally work with basic data types: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print(5 + 10)   # 15</a:t>
            </a:r>
          </a:p>
          <a:p>
            <a:endParaRPr lang="en-US" dirty="0"/>
          </a:p>
          <a:p>
            <a:r>
              <a:rPr lang="en-US" dirty="0"/>
              <a:t>But if we want to use + (or other operators) with </a:t>
            </a:r>
            <a:r>
              <a:rPr lang="en-US" b="1" dirty="0"/>
              <a:t>objects</a:t>
            </a:r>
            <a:r>
              <a:rPr lang="en-US" dirty="0"/>
              <a:t>, we need to define their behavior.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0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39DD-3362-CDC8-D75E-A81383ACD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3E6594-B9BA-5C37-6EF6-335AD2B834E9}"/>
              </a:ext>
            </a:extLst>
          </p:cNvPr>
          <p:cNvSpPr txBox="1"/>
          <p:nvPr/>
        </p:nvSpPr>
        <p:spPr>
          <a:xfrm>
            <a:off x="815008" y="231192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Example: Without Operator Overloading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C6F2C-BC8F-0F37-419E-2718655021DC}"/>
              </a:ext>
            </a:extLst>
          </p:cNvPr>
          <p:cNvSpPr txBox="1"/>
          <p:nvPr/>
        </p:nvSpPr>
        <p:spPr>
          <a:xfrm>
            <a:off x="815008" y="729989"/>
            <a:ext cx="83389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Student:</a:t>
            </a:r>
          </a:p>
          <a:p>
            <a:r>
              <a:rPr lang="en-IN" dirty="0"/>
              <a:t>    def __init__(self, marks):</a:t>
            </a:r>
          </a:p>
          <a:p>
            <a:r>
              <a:rPr lang="en-IN" dirty="0"/>
              <a:t>        self.marks = marks</a:t>
            </a:r>
          </a:p>
          <a:p>
            <a:endParaRPr lang="en-IN" dirty="0"/>
          </a:p>
          <a:p>
            <a:r>
              <a:rPr lang="en-IN" dirty="0"/>
              <a:t>s1 = Student(50)</a:t>
            </a:r>
          </a:p>
          <a:p>
            <a:r>
              <a:rPr lang="en-IN" dirty="0"/>
              <a:t>s2 = Student(60)</a:t>
            </a:r>
          </a:p>
          <a:p>
            <a:endParaRPr lang="en-IN" dirty="0"/>
          </a:p>
          <a:p>
            <a:r>
              <a:rPr lang="en-IN" dirty="0"/>
              <a:t>print(s1 + s2)   # ❌ Error (unsupported operand)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C8C80-30A2-9215-DB4A-0A6A927F9BF2}"/>
              </a:ext>
            </a:extLst>
          </p:cNvPr>
          <p:cNvSpPr txBox="1"/>
          <p:nvPr/>
        </p:nvSpPr>
        <p:spPr>
          <a:xfrm>
            <a:off x="735495" y="3244334"/>
            <a:ext cx="9104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With Operator Overloading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8E6130-FA81-4F77-7A8D-E6F806A4F918}"/>
              </a:ext>
            </a:extLst>
          </p:cNvPr>
          <p:cNvSpPr txBox="1"/>
          <p:nvPr/>
        </p:nvSpPr>
        <p:spPr>
          <a:xfrm>
            <a:off x="516834" y="3718679"/>
            <a:ext cx="987949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Student:</a:t>
            </a:r>
          </a:p>
          <a:p>
            <a:r>
              <a:rPr lang="en-IN" dirty="0"/>
              <a:t>    def __init__(self, marks):</a:t>
            </a:r>
          </a:p>
          <a:p>
            <a:r>
              <a:rPr lang="en-IN" dirty="0"/>
              <a:t>        self.marks = marks</a:t>
            </a:r>
          </a:p>
          <a:p>
            <a:endParaRPr lang="en-IN" dirty="0"/>
          </a:p>
          <a:p>
            <a:r>
              <a:rPr lang="en-IN" dirty="0"/>
              <a:t>    def __add__(self, other):   # overloading + operator</a:t>
            </a:r>
          </a:p>
          <a:p>
            <a:r>
              <a:rPr lang="en-IN" dirty="0"/>
              <a:t>        return self.marks + other.marks</a:t>
            </a:r>
          </a:p>
          <a:p>
            <a:endParaRPr lang="en-IN" dirty="0"/>
          </a:p>
          <a:p>
            <a:r>
              <a:rPr lang="en-IN" dirty="0"/>
              <a:t>s1 = Student(50)</a:t>
            </a:r>
          </a:p>
          <a:p>
            <a:r>
              <a:rPr lang="en-IN" dirty="0"/>
              <a:t>s2 = Student(60)</a:t>
            </a:r>
          </a:p>
          <a:p>
            <a:endParaRPr lang="en-IN" dirty="0"/>
          </a:p>
          <a:p>
            <a:r>
              <a:rPr lang="en-IN" dirty="0"/>
              <a:t>print(s1 + s2)</a:t>
            </a:r>
          </a:p>
        </p:txBody>
      </p:sp>
    </p:spTree>
    <p:extLst>
      <p:ext uri="{BB962C8B-B14F-4D97-AF65-F5344CB8AC3E}">
        <p14:creationId xmlns:p14="http://schemas.microsoft.com/office/powerpoint/2010/main" val="2864137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AB96B-834D-B263-C2DD-44BE71728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A4B535-45F8-B46C-0784-2652E6129406}"/>
              </a:ext>
            </a:extLst>
          </p:cNvPr>
          <p:cNvSpPr txBox="1"/>
          <p:nvPr/>
        </p:nvSpPr>
        <p:spPr>
          <a:xfrm>
            <a:off x="894521" y="133387"/>
            <a:ext cx="8328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With Operator Overloading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A8D55-CA7C-E562-9033-2DBE4C320971}"/>
              </a:ext>
            </a:extLst>
          </p:cNvPr>
          <p:cNvSpPr txBox="1"/>
          <p:nvPr/>
        </p:nvSpPr>
        <p:spPr>
          <a:xfrm>
            <a:off x="894521" y="716340"/>
            <a:ext cx="84780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Student:</a:t>
            </a:r>
          </a:p>
          <a:p>
            <a:r>
              <a:rPr lang="en-IN" dirty="0"/>
              <a:t>    def __init__(self, marks):</a:t>
            </a:r>
          </a:p>
          <a:p>
            <a:r>
              <a:rPr lang="en-IN" dirty="0"/>
              <a:t>        self.marks = marks</a:t>
            </a:r>
          </a:p>
          <a:p>
            <a:endParaRPr lang="en-IN" dirty="0"/>
          </a:p>
          <a:p>
            <a:r>
              <a:rPr lang="en-IN" dirty="0"/>
              <a:t>    def __add__(self, other):   # overloading + operator</a:t>
            </a:r>
          </a:p>
          <a:p>
            <a:r>
              <a:rPr lang="en-IN" dirty="0"/>
              <a:t>        return self.marks + other.marks</a:t>
            </a:r>
          </a:p>
          <a:p>
            <a:endParaRPr lang="en-IN" dirty="0"/>
          </a:p>
          <a:p>
            <a:r>
              <a:rPr lang="en-IN" dirty="0"/>
              <a:t>s1 = Student(50)</a:t>
            </a:r>
          </a:p>
          <a:p>
            <a:r>
              <a:rPr lang="en-IN" dirty="0"/>
              <a:t>s2 = Student(60)</a:t>
            </a:r>
          </a:p>
          <a:p>
            <a:endParaRPr lang="en-IN" dirty="0"/>
          </a:p>
          <a:p>
            <a:r>
              <a:rPr lang="en-IN" dirty="0"/>
              <a:t>print(s1 + s2)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5EDA8-6951-A7E4-EF43-4D5C361A8700}"/>
              </a:ext>
            </a:extLst>
          </p:cNvPr>
          <p:cNvSpPr txBox="1"/>
          <p:nvPr/>
        </p:nvSpPr>
        <p:spPr>
          <a:xfrm>
            <a:off x="894521" y="4069282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✅ Output: </a:t>
            </a:r>
            <a:r>
              <a:rPr lang="en-IN" b="1" u="sng" dirty="0">
                <a:latin typeface="Courier New" panose="02070309020205020404" pitchFamily="49" charset="0"/>
              </a:rPr>
              <a:t>110</a:t>
            </a:r>
            <a:endParaRPr lang="en-IN" b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64C108-D8F4-FE9B-CB74-5AA54494C0D0}"/>
              </a:ext>
            </a:extLst>
          </p:cNvPr>
          <p:cNvSpPr txBox="1"/>
          <p:nvPr/>
        </p:nvSpPr>
        <p:spPr>
          <a:xfrm>
            <a:off x="894521" y="4652235"/>
            <a:ext cx="9203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Here, </a:t>
            </a:r>
            <a:r>
              <a:rPr lang="en-US" dirty="0">
                <a:latin typeface="Courier New" panose="02070309020205020404" pitchFamily="49" charset="0"/>
              </a:rPr>
              <a:t>__add__()</a:t>
            </a:r>
            <a:r>
              <a:rPr lang="en-US" dirty="0"/>
              <a:t> defines how </a:t>
            </a:r>
            <a:r>
              <a:rPr lang="en-US" dirty="0">
                <a:latin typeface="Courier New" panose="02070309020205020404" pitchFamily="49" charset="0"/>
              </a:rPr>
              <a:t>+</a:t>
            </a:r>
            <a:r>
              <a:rPr lang="en-US" dirty="0"/>
              <a:t> works for </a:t>
            </a:r>
            <a:r>
              <a:rPr lang="en-US" dirty="0">
                <a:latin typeface="Courier New" panose="02070309020205020404" pitchFamily="49" charset="0"/>
              </a:rPr>
              <a:t>Student</a:t>
            </a:r>
            <a:r>
              <a:rPr lang="en-US" dirty="0"/>
              <a:t> objects.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371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8169-05C3-F1EE-2284-61253DF4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8C66E1-4360-BE7A-035E-419F6CD6F21A}"/>
              </a:ext>
            </a:extLst>
          </p:cNvPr>
          <p:cNvGraphicFramePr>
            <a:graphicFrameLocks noGrp="1"/>
          </p:cNvGraphicFramePr>
          <p:nvPr/>
        </p:nvGraphicFramePr>
        <p:xfrm>
          <a:off x="1292086" y="886805"/>
          <a:ext cx="6828183" cy="55026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5113">
                  <a:extLst>
                    <a:ext uri="{9D8B030D-6E8A-4147-A177-3AD203B41FA5}">
                      <a16:colId xmlns:a16="http://schemas.microsoft.com/office/drawing/2014/main" val="3434308288"/>
                    </a:ext>
                  </a:extLst>
                </a:gridCol>
                <a:gridCol w="3853070">
                  <a:extLst>
                    <a:ext uri="{9D8B030D-6E8A-4147-A177-3AD203B41FA5}">
                      <a16:colId xmlns:a16="http://schemas.microsoft.com/office/drawing/2014/main" val="3538975108"/>
                    </a:ext>
                  </a:extLst>
                </a:gridCol>
              </a:tblGrid>
              <a:tr h="473483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Special 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697571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en-IN" dirty="0"/>
                        <a:t> (Addition)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__add__(self,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170070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en-IN" dirty="0"/>
                        <a:t> (Subtraction)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__sub__(self,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619470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IN" dirty="0"/>
                        <a:t> (Multiplication)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__mul__(self,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606885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IN" dirty="0"/>
                        <a:t> (Division)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__truediv__(self,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484023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//</a:t>
                      </a:r>
                      <a:r>
                        <a:rPr lang="en-IN" dirty="0"/>
                        <a:t> (Floor Division)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__floordiv__(self,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169189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%</a:t>
                      </a:r>
                      <a:r>
                        <a:rPr lang="en-IN" dirty="0"/>
                        <a:t> (Modulus)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__mod__(self,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828393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**</a:t>
                      </a:r>
                      <a:r>
                        <a:rPr lang="en-IN" dirty="0"/>
                        <a:t> (Power)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__pow__(self,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195500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en-IN" dirty="0"/>
                        <a:t> (Less than)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__lt__(self,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386785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&lt;=</a:t>
                      </a:r>
                      <a:r>
                        <a:rPr lang="en-US" dirty="0"/>
                        <a:t> (Less than or equal 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__le__(self,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4472226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&gt;</a:t>
                      </a:r>
                      <a:r>
                        <a:rPr lang="en-IN" dirty="0"/>
                        <a:t> (Greater than)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__gt__(self,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010547"/>
                  </a:ext>
                </a:extLst>
              </a:tr>
              <a:tr h="550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&gt;=</a:t>
                      </a:r>
                      <a:r>
                        <a:rPr lang="en-US" dirty="0"/>
                        <a:t> (Greater than or equal 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__ge__(self,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675350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IN" dirty="0"/>
                        <a:t> (Equal 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__eq__(self,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428427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!=</a:t>
                      </a:r>
                      <a:r>
                        <a:rPr lang="en-IN" dirty="0"/>
                        <a:t> (Not equal 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__ne__(self, other)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74284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11BB93-CEAA-3033-6A5A-5C0B453366A7}"/>
              </a:ext>
            </a:extLst>
          </p:cNvPr>
          <p:cNvSpPr txBox="1"/>
          <p:nvPr/>
        </p:nvSpPr>
        <p:spPr>
          <a:xfrm>
            <a:off x="964095" y="239912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Common Operator Overloading Methods</a:t>
            </a:r>
          </a:p>
        </p:txBody>
      </p:sp>
    </p:spTree>
    <p:extLst>
      <p:ext uri="{BB962C8B-B14F-4D97-AF65-F5344CB8AC3E}">
        <p14:creationId xmlns:p14="http://schemas.microsoft.com/office/powerpoint/2010/main" val="3953854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3EFF-FA18-EFD4-708B-B576D7E8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593F75-C57A-5C93-22B9-1AF774E932DB}"/>
              </a:ext>
            </a:extLst>
          </p:cNvPr>
          <p:cNvSpPr txBox="1"/>
          <p:nvPr/>
        </p:nvSpPr>
        <p:spPr>
          <a:xfrm>
            <a:off x="974035" y="25265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Another Example (Overloading &gt; operator)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C13AE-E142-F5EE-26D4-6853EE079B9B}"/>
              </a:ext>
            </a:extLst>
          </p:cNvPr>
          <p:cNvSpPr txBox="1"/>
          <p:nvPr/>
        </p:nvSpPr>
        <p:spPr>
          <a:xfrm>
            <a:off x="974035" y="837553"/>
            <a:ext cx="81799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Student:</a:t>
            </a:r>
          </a:p>
          <a:p>
            <a:r>
              <a:rPr lang="en-IN" dirty="0"/>
              <a:t>    def __init__(self, marks):</a:t>
            </a:r>
          </a:p>
          <a:p>
            <a:r>
              <a:rPr lang="en-IN" dirty="0"/>
              <a:t>        self.marks = marks</a:t>
            </a:r>
          </a:p>
          <a:p>
            <a:endParaRPr lang="en-IN" dirty="0"/>
          </a:p>
          <a:p>
            <a:r>
              <a:rPr lang="en-IN" dirty="0"/>
              <a:t>    def __gt__(self, other):   # overloading &gt; operator</a:t>
            </a:r>
          </a:p>
          <a:p>
            <a:r>
              <a:rPr lang="en-IN" dirty="0"/>
              <a:t>        return self.marks &gt; other.marks</a:t>
            </a:r>
          </a:p>
          <a:p>
            <a:endParaRPr lang="en-IN" dirty="0"/>
          </a:p>
          <a:p>
            <a:r>
              <a:rPr lang="en-IN" dirty="0"/>
              <a:t>s1 = Student(85)</a:t>
            </a:r>
          </a:p>
          <a:p>
            <a:r>
              <a:rPr lang="en-IN" dirty="0"/>
              <a:t>s2 = Student(75)</a:t>
            </a:r>
          </a:p>
          <a:p>
            <a:endParaRPr lang="en-IN" dirty="0"/>
          </a:p>
          <a:p>
            <a:r>
              <a:rPr lang="en-IN" dirty="0"/>
              <a:t>if s1 &gt; s2:</a:t>
            </a:r>
          </a:p>
          <a:p>
            <a:r>
              <a:rPr lang="en-IN" dirty="0"/>
              <a:t>    print("s1 has more marks")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print("s2 has more marks")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FFFD3-24C4-875E-1C8F-56A4C2F47EC5}"/>
              </a:ext>
            </a:extLst>
          </p:cNvPr>
          <p:cNvSpPr txBox="1"/>
          <p:nvPr/>
        </p:nvSpPr>
        <p:spPr>
          <a:xfrm>
            <a:off x="974035" y="502343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✅ Output: </a:t>
            </a:r>
            <a:r>
              <a:rPr lang="en-US" b="1" u="sng" dirty="0">
                <a:latin typeface="Courier New" panose="02070309020205020404" pitchFamily="49" charset="0"/>
              </a:rPr>
              <a:t>s1 has more marks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052605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FE43A-7B7F-A930-1115-4EBD2F4E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16D393-0AB2-44E2-004B-1EC4D8C69FF2}"/>
              </a:ext>
            </a:extLst>
          </p:cNvPr>
          <p:cNvSpPr txBox="1"/>
          <p:nvPr/>
        </p:nvSpPr>
        <p:spPr>
          <a:xfrm>
            <a:off x="1023729" y="252656"/>
            <a:ext cx="8319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3.4 Method Overloading &amp; Overriding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3774B-D0F3-B9A8-68C5-A3D479666AFB}"/>
              </a:ext>
            </a:extLst>
          </p:cNvPr>
          <p:cNvSpPr txBox="1"/>
          <p:nvPr/>
        </p:nvSpPr>
        <p:spPr>
          <a:xfrm>
            <a:off x="884582" y="746806"/>
            <a:ext cx="83190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Method Overloading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Definition: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Method Overloading means having multiple methods with the same name but different parameters (number or type of arguments).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other languages (like Java, C++), true method overloading is supported.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Python, it is not directly supported — the latest defined method with the same name overrides the previous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we can simulate overloading using default arguments or variable-length arguments (</a:t>
            </a:r>
            <a:r>
              <a:rPr lang="en-US" dirty="0">
                <a:latin typeface="Courier New" panose="02070309020205020404" pitchFamily="49" charset="0"/>
              </a:rPr>
              <a:t>*args</a:t>
            </a:r>
            <a:r>
              <a:rPr lang="en-US" dirty="0"/>
              <a:t>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ACAB5-2DB2-2522-A883-DFE4BAC29B88}"/>
              </a:ext>
            </a:extLst>
          </p:cNvPr>
          <p:cNvSpPr txBox="1"/>
          <p:nvPr/>
        </p:nvSpPr>
        <p:spPr>
          <a:xfrm>
            <a:off x="884582" y="373394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1: Using Default Arguments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62C9C1-C73A-FAC2-078C-360987ABA35B}"/>
              </a:ext>
            </a:extLst>
          </p:cNvPr>
          <p:cNvSpPr txBox="1"/>
          <p:nvPr/>
        </p:nvSpPr>
        <p:spPr>
          <a:xfrm>
            <a:off x="884582" y="4228096"/>
            <a:ext cx="8100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Demo:</a:t>
            </a:r>
          </a:p>
          <a:p>
            <a:r>
              <a:rPr lang="en-IN" dirty="0"/>
              <a:t>    def add(self, a=0, b=0, c=0):</a:t>
            </a:r>
          </a:p>
          <a:p>
            <a:r>
              <a:rPr lang="en-IN" dirty="0"/>
              <a:t>        print(a + b + c)</a:t>
            </a:r>
          </a:p>
          <a:p>
            <a:endParaRPr lang="en-IN" dirty="0"/>
          </a:p>
          <a:p>
            <a:r>
              <a:rPr lang="en-IN" dirty="0"/>
              <a:t>d = Demo()</a:t>
            </a:r>
          </a:p>
          <a:p>
            <a:r>
              <a:rPr lang="en-IN" dirty="0"/>
              <a:t>d.add()          # 0</a:t>
            </a:r>
          </a:p>
          <a:p>
            <a:r>
              <a:rPr lang="en-IN" dirty="0"/>
              <a:t>d.add(5, 10)     # 15</a:t>
            </a:r>
          </a:p>
          <a:p>
            <a:r>
              <a:rPr lang="en-IN" dirty="0"/>
              <a:t>d.add(2, 3, 4)   # 9</a:t>
            </a:r>
          </a:p>
        </p:txBody>
      </p:sp>
    </p:spTree>
    <p:extLst>
      <p:ext uri="{BB962C8B-B14F-4D97-AF65-F5344CB8AC3E}">
        <p14:creationId xmlns:p14="http://schemas.microsoft.com/office/powerpoint/2010/main" val="2212575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FDFA5-5C8B-0127-4901-E23BFF297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2EBA2-4F89-8CF7-EE30-19DD10D2660B}"/>
              </a:ext>
            </a:extLst>
          </p:cNvPr>
          <p:cNvSpPr txBox="1"/>
          <p:nvPr/>
        </p:nvSpPr>
        <p:spPr>
          <a:xfrm>
            <a:off x="974035" y="183083"/>
            <a:ext cx="8110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✅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D1247-F2C4-5134-8A2B-1D9F4BF711BF}"/>
              </a:ext>
            </a:extLst>
          </p:cNvPr>
          <p:cNvSpPr txBox="1"/>
          <p:nvPr/>
        </p:nvSpPr>
        <p:spPr>
          <a:xfrm>
            <a:off x="974036" y="701213"/>
            <a:ext cx="8269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0  </a:t>
            </a:r>
          </a:p>
          <a:p>
            <a:r>
              <a:rPr lang="en-IN" dirty="0"/>
              <a:t>15  </a:t>
            </a:r>
          </a:p>
          <a:p>
            <a:r>
              <a:rPr lang="en-IN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1EA97-5F91-6C13-128D-1C34468B53CD}"/>
              </a:ext>
            </a:extLst>
          </p:cNvPr>
          <p:cNvSpPr txBox="1"/>
          <p:nvPr/>
        </p:nvSpPr>
        <p:spPr>
          <a:xfrm>
            <a:off x="974035" y="1773341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2: Using Variable Arguments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544FF8-8FC9-13E4-3735-637345C37E80}"/>
              </a:ext>
            </a:extLst>
          </p:cNvPr>
          <p:cNvSpPr txBox="1"/>
          <p:nvPr/>
        </p:nvSpPr>
        <p:spPr>
          <a:xfrm>
            <a:off x="939248" y="2347936"/>
            <a:ext cx="81799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Demo:</a:t>
            </a:r>
          </a:p>
          <a:p>
            <a:r>
              <a:rPr lang="en-IN" dirty="0"/>
              <a:t>    def add(self, *args):</a:t>
            </a:r>
          </a:p>
          <a:p>
            <a:r>
              <a:rPr lang="en-IN" dirty="0"/>
              <a:t>        print(sum(args))</a:t>
            </a:r>
          </a:p>
          <a:p>
            <a:endParaRPr lang="en-IN" dirty="0"/>
          </a:p>
          <a:p>
            <a:r>
              <a:rPr lang="en-IN" dirty="0"/>
              <a:t>d = Demo()</a:t>
            </a:r>
          </a:p>
          <a:p>
            <a:r>
              <a:rPr lang="en-IN" dirty="0"/>
              <a:t>d.add(2, 3)</a:t>
            </a:r>
          </a:p>
          <a:p>
            <a:r>
              <a:rPr lang="en-IN" dirty="0"/>
              <a:t>d.add(2, 3, 4, 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FAC11-ACAF-C4FF-DCCD-B24F33C047C6}"/>
              </a:ext>
            </a:extLst>
          </p:cNvPr>
          <p:cNvSpPr txBox="1"/>
          <p:nvPr/>
        </p:nvSpPr>
        <p:spPr>
          <a:xfrm>
            <a:off x="974035" y="4505011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✅ Output: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5D6A2-268D-5020-3165-4CDE27FC6518}"/>
              </a:ext>
            </a:extLst>
          </p:cNvPr>
          <p:cNvSpPr txBox="1"/>
          <p:nvPr/>
        </p:nvSpPr>
        <p:spPr>
          <a:xfrm>
            <a:off x="974035" y="5102654"/>
            <a:ext cx="75338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  </a:t>
            </a:r>
          </a:p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41506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568A2-600E-44DA-F236-495AE833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A5B2AA-66BA-7421-7220-7C93B84ED421}"/>
              </a:ext>
            </a:extLst>
          </p:cNvPr>
          <p:cNvSpPr txBox="1"/>
          <p:nvPr/>
        </p:nvSpPr>
        <p:spPr>
          <a:xfrm>
            <a:off x="914400" y="156005"/>
            <a:ext cx="83786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Key Point:</a:t>
            </a:r>
          </a:p>
          <a:p>
            <a:pPr>
              <a:buNone/>
            </a:pPr>
            <a:r>
              <a:rPr lang="en-US" dirty="0"/>
              <a:t>Python does not support true overloading; we can achieve similar behavior using default or variable arguments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72613-38FF-2D8B-AB98-30858546A51A}"/>
              </a:ext>
            </a:extLst>
          </p:cNvPr>
          <p:cNvSpPr txBox="1"/>
          <p:nvPr/>
        </p:nvSpPr>
        <p:spPr>
          <a:xfrm>
            <a:off x="834886" y="1148114"/>
            <a:ext cx="85377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Method Overriding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Definition: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Method Overriding occurs when a child class defines a method with the same name as a parent class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child class method replaces (overrides) the parent class version.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used in inheritance to change or extend parent class behavior.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28F242-B995-2B5F-B6E2-44270EEBB28F}"/>
              </a:ext>
            </a:extLst>
          </p:cNvPr>
          <p:cNvSpPr txBox="1"/>
          <p:nvPr/>
        </p:nvSpPr>
        <p:spPr>
          <a:xfrm>
            <a:off x="834886" y="3179439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63DC8-2ACC-0E30-D6B6-BB2C1304F66C}"/>
              </a:ext>
            </a:extLst>
          </p:cNvPr>
          <p:cNvSpPr txBox="1"/>
          <p:nvPr/>
        </p:nvSpPr>
        <p:spPr>
          <a:xfrm>
            <a:off x="616226" y="3548771"/>
            <a:ext cx="92831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Animal:</a:t>
            </a:r>
          </a:p>
          <a:p>
            <a:r>
              <a:rPr lang="en-IN" dirty="0"/>
              <a:t>    def sound(self):</a:t>
            </a:r>
          </a:p>
          <a:p>
            <a:r>
              <a:rPr lang="en-IN" dirty="0"/>
              <a:t>        print("Animal makes a sound")</a:t>
            </a:r>
          </a:p>
          <a:p>
            <a:endParaRPr lang="en-IN" dirty="0"/>
          </a:p>
          <a:p>
            <a:r>
              <a:rPr lang="en-IN" dirty="0"/>
              <a:t>class Dog(Animal):</a:t>
            </a:r>
          </a:p>
          <a:p>
            <a:r>
              <a:rPr lang="en-IN" dirty="0"/>
              <a:t>    def sound(self):   # overriding</a:t>
            </a:r>
          </a:p>
          <a:p>
            <a:r>
              <a:rPr lang="en-IN" dirty="0"/>
              <a:t>        print("Dog barks")</a:t>
            </a:r>
          </a:p>
          <a:p>
            <a:endParaRPr lang="en-IN" dirty="0"/>
          </a:p>
          <a:p>
            <a:r>
              <a:rPr lang="en-IN" dirty="0"/>
              <a:t>d = Dog()</a:t>
            </a:r>
          </a:p>
          <a:p>
            <a:r>
              <a:rPr lang="en-IN" dirty="0" err="1"/>
              <a:t>d.sound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29185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A8B1-8C7A-DE9B-D434-B578BF83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4FF9CA-B58F-7172-1EAD-169FAA490E86}"/>
              </a:ext>
            </a:extLst>
          </p:cNvPr>
          <p:cNvSpPr txBox="1"/>
          <p:nvPr/>
        </p:nvSpPr>
        <p:spPr>
          <a:xfrm>
            <a:off x="824948" y="222838"/>
            <a:ext cx="8478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✅ Output: </a:t>
            </a:r>
            <a:r>
              <a:rPr lang="en-IN" b="1" u="sng" dirty="0">
                <a:latin typeface="Courier New" panose="02070309020205020404" pitchFamily="49" charset="0"/>
              </a:rPr>
              <a:t>Dog barks</a:t>
            </a:r>
            <a:endParaRPr lang="en-IN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259B5-E3F2-682A-C668-ED3704142FA9}"/>
              </a:ext>
            </a:extLst>
          </p:cNvPr>
          <p:cNvSpPr txBox="1"/>
          <p:nvPr/>
        </p:nvSpPr>
        <p:spPr>
          <a:xfrm>
            <a:off x="824948" y="770139"/>
            <a:ext cx="8627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Here, </a:t>
            </a:r>
            <a:r>
              <a:rPr lang="en-US" dirty="0">
                <a:latin typeface="Courier New" panose="02070309020205020404" pitchFamily="49" charset="0"/>
              </a:rPr>
              <a:t>Dog</a:t>
            </a:r>
            <a:r>
              <a:rPr lang="en-US" dirty="0"/>
              <a:t> class </a:t>
            </a:r>
            <a:r>
              <a:rPr lang="en-US" b="1" dirty="0"/>
              <a:t>overrides</a:t>
            </a:r>
            <a:r>
              <a:rPr lang="en-US" dirty="0"/>
              <a:t> the </a:t>
            </a:r>
            <a:r>
              <a:rPr lang="en-US" dirty="0">
                <a:latin typeface="Courier New" panose="02070309020205020404" pitchFamily="49" charset="0"/>
              </a:rPr>
              <a:t>sound()</a:t>
            </a:r>
            <a:r>
              <a:rPr lang="en-US" dirty="0"/>
              <a:t> method of </a:t>
            </a:r>
            <a:r>
              <a:rPr lang="en-US" dirty="0">
                <a:latin typeface="Courier New" panose="02070309020205020404" pitchFamily="49" charset="0"/>
              </a:rPr>
              <a:t>Animal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3E7B-625F-43F4-6827-46F699832194}"/>
              </a:ext>
            </a:extLst>
          </p:cNvPr>
          <p:cNvSpPr txBox="1"/>
          <p:nvPr/>
        </p:nvSpPr>
        <p:spPr>
          <a:xfrm>
            <a:off x="824948" y="1317440"/>
            <a:ext cx="8478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2 (Calling Parent Method using super()):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FF8F92-321C-ADDC-A945-077471572FA0}"/>
              </a:ext>
            </a:extLst>
          </p:cNvPr>
          <p:cNvSpPr txBox="1"/>
          <p:nvPr/>
        </p:nvSpPr>
        <p:spPr>
          <a:xfrm>
            <a:off x="824948" y="1864741"/>
            <a:ext cx="8915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Animal:</a:t>
            </a:r>
          </a:p>
          <a:p>
            <a:r>
              <a:rPr lang="en-IN" dirty="0"/>
              <a:t>    def sound(self):</a:t>
            </a:r>
          </a:p>
          <a:p>
            <a:r>
              <a:rPr lang="en-IN" dirty="0"/>
              <a:t>        print("Animal makes sound")</a:t>
            </a:r>
          </a:p>
          <a:p>
            <a:endParaRPr lang="en-IN" dirty="0"/>
          </a:p>
          <a:p>
            <a:r>
              <a:rPr lang="en-IN" dirty="0"/>
              <a:t>class Dog(Animal):</a:t>
            </a:r>
          </a:p>
          <a:p>
            <a:r>
              <a:rPr lang="en-IN" dirty="0"/>
              <a:t>    def sound(self):</a:t>
            </a:r>
          </a:p>
          <a:p>
            <a:r>
              <a:rPr lang="en-IN" dirty="0"/>
              <a:t>        super().sound()   # call parent class method</a:t>
            </a:r>
          </a:p>
          <a:p>
            <a:r>
              <a:rPr lang="en-IN" dirty="0"/>
              <a:t>        print("Dog barks")</a:t>
            </a:r>
          </a:p>
          <a:p>
            <a:endParaRPr lang="en-IN" dirty="0"/>
          </a:p>
          <a:p>
            <a:r>
              <a:rPr lang="en-IN" dirty="0"/>
              <a:t>d = Dog()</a:t>
            </a:r>
          </a:p>
          <a:p>
            <a:r>
              <a:rPr lang="en-IN" dirty="0"/>
              <a:t>d.sound()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9A7F2-63B5-8674-DA83-EBF72E23A9A5}"/>
              </a:ext>
            </a:extLst>
          </p:cNvPr>
          <p:cNvSpPr txBox="1"/>
          <p:nvPr/>
        </p:nvSpPr>
        <p:spPr>
          <a:xfrm>
            <a:off x="725557" y="5083073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✅ Output: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9F6987-33DE-9899-0B34-F29CA48AD50B}"/>
              </a:ext>
            </a:extLst>
          </p:cNvPr>
          <p:cNvSpPr txBox="1"/>
          <p:nvPr/>
        </p:nvSpPr>
        <p:spPr>
          <a:xfrm>
            <a:off x="725557" y="5630374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Animal makes sound  </a:t>
            </a:r>
          </a:p>
          <a:p>
            <a:r>
              <a:rPr lang="en-IN" dirty="0"/>
              <a:t>Dog barks</a:t>
            </a:r>
          </a:p>
        </p:txBody>
      </p:sp>
    </p:spTree>
    <p:extLst>
      <p:ext uri="{BB962C8B-B14F-4D97-AF65-F5344CB8AC3E}">
        <p14:creationId xmlns:p14="http://schemas.microsoft.com/office/powerpoint/2010/main" val="3420081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FBC3-3896-6345-AEF8-9E70179B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5D5CCF-2307-620B-3E4D-C7AD682ECFBB}"/>
              </a:ext>
            </a:extLst>
          </p:cNvPr>
          <p:cNvSpPr txBox="1"/>
          <p:nvPr/>
        </p:nvSpPr>
        <p:spPr>
          <a:xfrm>
            <a:off x="805069" y="193670"/>
            <a:ext cx="8686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3.5 Exception Handling </a:t>
            </a:r>
          </a:p>
          <a:p>
            <a:r>
              <a:rPr lang="en-US" dirty="0"/>
              <a:t>Errors in a Python Program</a:t>
            </a:r>
          </a:p>
          <a:p>
            <a:r>
              <a:rPr lang="en-US" dirty="0"/>
              <a:t>Exceptions </a:t>
            </a:r>
          </a:p>
          <a:p>
            <a:r>
              <a:rPr lang="en-US" dirty="0"/>
              <a:t>Types of Exceptions </a:t>
            </a:r>
          </a:p>
          <a:p>
            <a:r>
              <a:rPr lang="en-US" dirty="0"/>
              <a:t>The Except Block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9C79D5-4913-BD09-3DE8-DBD401FA6C5C}"/>
              </a:ext>
            </a:extLst>
          </p:cNvPr>
          <p:cNvSpPr txBox="1"/>
          <p:nvPr/>
        </p:nvSpPr>
        <p:spPr>
          <a:xfrm>
            <a:off x="805069" y="1798409"/>
            <a:ext cx="84383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en-US" b="1" i="0" dirty="0">
                <a:effectLst/>
                <a:latin typeface="fkGrotesk"/>
              </a:rPr>
              <a:t>Exception Handling Errors in Python</a:t>
            </a:r>
          </a:p>
          <a:p>
            <a:pPr algn="l"/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Theory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An </a:t>
            </a:r>
            <a:r>
              <a:rPr lang="en-US" b="0" i="1" dirty="0">
                <a:effectLst/>
                <a:latin typeface="fkGroteskNeue"/>
              </a:rPr>
              <a:t>exception</a:t>
            </a:r>
            <a:r>
              <a:rPr lang="en-US" b="0" i="0" dirty="0">
                <a:effectLst/>
                <a:latin typeface="fkGroteskNeue"/>
              </a:rPr>
              <a:t> is an error that occurs during program execution and disrupts the normal flow of instructions.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Python has a built-in way to handle these exceptions using </a:t>
            </a:r>
            <a:r>
              <a:rPr lang="en-US" b="0" i="0" dirty="0">
                <a:effectLst/>
                <a:latin typeface="berkeleyMono"/>
              </a:rPr>
              <a:t>try</a:t>
            </a:r>
            <a:r>
              <a:rPr lang="en-US" b="0" i="0" dirty="0">
                <a:effectLst/>
                <a:latin typeface="fkGroteskNeue"/>
              </a:rPr>
              <a:t> and </a:t>
            </a:r>
            <a:r>
              <a:rPr lang="en-US" b="0" i="0" dirty="0">
                <a:effectLst/>
                <a:latin typeface="berkeleyMono"/>
              </a:rPr>
              <a:t>except</a:t>
            </a:r>
            <a:r>
              <a:rPr lang="en-US" b="0" i="0" dirty="0">
                <a:effectLst/>
                <a:latin typeface="fkGroteskNeue"/>
              </a:rPr>
              <a:t> blocks.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This allows you to catch errors and stop your program from crashing, which is especially important for user-facing applications.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382C25-C10B-F38B-5B5C-9714C9C19B8E}"/>
              </a:ext>
            </a:extLst>
          </p:cNvPr>
          <p:cNvSpPr txBox="1"/>
          <p:nvPr/>
        </p:nvSpPr>
        <p:spPr>
          <a:xfrm>
            <a:off x="805069" y="423414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effectLst/>
              </a:rPr>
              <a:t>Code Example:</a:t>
            </a:r>
            <a:endParaRPr lang="en-IN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33759E-7CA3-A097-8675-DA67AC10ADAA}"/>
              </a:ext>
            </a:extLst>
          </p:cNvPr>
          <p:cNvSpPr txBox="1"/>
          <p:nvPr/>
        </p:nvSpPr>
        <p:spPr>
          <a:xfrm>
            <a:off x="805068" y="4806723"/>
            <a:ext cx="8438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try:</a:t>
            </a:r>
          </a:p>
          <a:p>
            <a:r>
              <a:rPr lang="en-IN" dirty="0"/>
              <a:t>    print(10 / 0)</a:t>
            </a:r>
          </a:p>
          <a:p>
            <a:r>
              <a:rPr lang="en-IN" dirty="0"/>
              <a:t>except ZeroDivisionError:</a:t>
            </a:r>
          </a:p>
          <a:p>
            <a:r>
              <a:rPr lang="en-IN" dirty="0"/>
              <a:t>    print("Error: Cannot divide by zero.")</a:t>
            </a:r>
          </a:p>
        </p:txBody>
      </p:sp>
    </p:spTree>
    <p:extLst>
      <p:ext uri="{BB962C8B-B14F-4D97-AF65-F5344CB8AC3E}">
        <p14:creationId xmlns:p14="http://schemas.microsoft.com/office/powerpoint/2010/main" val="2028454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1D93-1FCC-17BD-47D2-DC1CEC39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425226-005F-997D-5C53-2E46D7149743}"/>
              </a:ext>
            </a:extLst>
          </p:cNvPr>
          <p:cNvSpPr txBox="1"/>
          <p:nvPr/>
        </p:nvSpPr>
        <p:spPr>
          <a:xfrm>
            <a:off x="824948" y="165797"/>
            <a:ext cx="84383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2. Types of Exceptions (Theory &amp; Code)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Below are the most common Python exceptions that students encounter, with simple code examples for each.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fkGrotesk"/>
              </a:rPr>
              <a:t>ValueError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Theory: Raised when a value is invalid for a function.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6ACD8-3450-F1F5-E848-8FEB01DD9FDC}"/>
              </a:ext>
            </a:extLst>
          </p:cNvPr>
          <p:cNvSpPr txBox="1"/>
          <p:nvPr/>
        </p:nvSpPr>
        <p:spPr>
          <a:xfrm>
            <a:off x="824947" y="1920123"/>
            <a:ext cx="87166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try:</a:t>
            </a:r>
          </a:p>
          <a:p>
            <a:r>
              <a:rPr lang="en-IN" dirty="0"/>
              <a:t>    num = int("abc")  # invalid string to int</a:t>
            </a:r>
          </a:p>
          <a:p>
            <a:r>
              <a:rPr lang="en-IN" dirty="0"/>
              <a:t>except ValueError:</a:t>
            </a:r>
          </a:p>
          <a:p>
            <a:r>
              <a:rPr lang="en-IN" dirty="0"/>
              <a:t>    print("ValueError: Invalid value provided.")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1F707-A66B-631B-F4E7-4503A65A5FF5}"/>
              </a:ext>
            </a:extLst>
          </p:cNvPr>
          <p:cNvSpPr txBox="1"/>
          <p:nvPr/>
        </p:nvSpPr>
        <p:spPr>
          <a:xfrm>
            <a:off x="824947" y="3225104"/>
            <a:ext cx="83289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fkGrotesk"/>
              </a:rPr>
              <a:t>ZeroDivisionError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Theory: Raised when dividing by zero.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DD9EC-B023-4E44-1704-9B2B9415746D}"/>
              </a:ext>
            </a:extLst>
          </p:cNvPr>
          <p:cNvSpPr txBox="1"/>
          <p:nvPr/>
        </p:nvSpPr>
        <p:spPr>
          <a:xfrm>
            <a:off x="824947" y="4274613"/>
            <a:ext cx="8716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try:</a:t>
            </a:r>
          </a:p>
          <a:p>
            <a:r>
              <a:rPr lang="en-IN" dirty="0"/>
              <a:t>    print(5 / 0)</a:t>
            </a:r>
          </a:p>
          <a:p>
            <a:r>
              <a:rPr lang="en-IN" dirty="0"/>
              <a:t>except ZeroDivisionError:</a:t>
            </a:r>
          </a:p>
          <a:p>
            <a:r>
              <a:rPr lang="en-IN" dirty="0"/>
              <a:t>    print("ZeroDivisionError: Division by zero.")</a:t>
            </a:r>
          </a:p>
        </p:txBody>
      </p:sp>
    </p:spTree>
    <p:extLst>
      <p:ext uri="{BB962C8B-B14F-4D97-AF65-F5344CB8AC3E}">
        <p14:creationId xmlns:p14="http://schemas.microsoft.com/office/powerpoint/2010/main" val="748805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5475-280C-1D29-3771-0F12E1ED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296440-39F2-4A6A-35F7-E0667ABB859A}"/>
              </a:ext>
            </a:extLst>
          </p:cNvPr>
          <p:cNvSpPr txBox="1"/>
          <p:nvPr/>
        </p:nvSpPr>
        <p:spPr>
          <a:xfrm>
            <a:off x="868016" y="211340"/>
            <a:ext cx="84847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dirty="0">
                <a:effectLst/>
                <a:latin typeface="fkGrotesk"/>
              </a:rPr>
              <a:t>IndexError</a:t>
            </a:r>
          </a:p>
          <a:p>
            <a:endParaRPr lang="en-US" b="0" dirty="0">
              <a:effectLst/>
              <a:latin typeface="fkGrotesk"/>
            </a:endParaRPr>
          </a:p>
          <a:p>
            <a:pPr>
              <a:buNone/>
            </a:pPr>
            <a:r>
              <a:rPr lang="en-US" b="0" dirty="0">
                <a:effectLst/>
              </a:rPr>
              <a:t>Theory:</a:t>
            </a:r>
            <a:r>
              <a:rPr lang="en-US" dirty="0">
                <a:effectLst/>
              </a:rPr>
              <a:t> Raised when an invalid index is accessed in a list or other sequence.</a:t>
            </a:r>
            <a:endParaRPr lang="en-US" b="0" i="0" dirty="0">
              <a:effectLst/>
              <a:latin typeface="berkeley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97B68-C62F-8B1E-BF5F-29681BCA6707}"/>
              </a:ext>
            </a:extLst>
          </p:cNvPr>
          <p:cNvSpPr txBox="1"/>
          <p:nvPr/>
        </p:nvSpPr>
        <p:spPr>
          <a:xfrm>
            <a:off x="868016" y="1288918"/>
            <a:ext cx="85940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my_list = [1, 2, 3]</a:t>
            </a:r>
          </a:p>
          <a:p>
            <a:r>
              <a:rPr lang="en-IN" dirty="0"/>
              <a:t>try:</a:t>
            </a:r>
          </a:p>
          <a:p>
            <a:r>
              <a:rPr lang="en-IN" dirty="0"/>
              <a:t>    print(my_list[5])  # index out of range</a:t>
            </a:r>
          </a:p>
          <a:p>
            <a:r>
              <a:rPr lang="en-IN" dirty="0"/>
              <a:t>except IndexError:</a:t>
            </a:r>
          </a:p>
          <a:p>
            <a:r>
              <a:rPr lang="en-IN" dirty="0"/>
              <a:t>    print("IndexError: List index out of range.")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63F55-8CBC-5A93-0886-F96FDB04E061}"/>
              </a:ext>
            </a:extLst>
          </p:cNvPr>
          <p:cNvSpPr txBox="1"/>
          <p:nvPr/>
        </p:nvSpPr>
        <p:spPr>
          <a:xfrm>
            <a:off x="868016" y="2920494"/>
            <a:ext cx="82859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fkGrotesk"/>
              </a:rPr>
              <a:t>KeyError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Theory: Raised when accessing a missing key in a dictionary.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E6A63B-2160-FB37-F04D-6EF777EFD2DF}"/>
              </a:ext>
            </a:extLst>
          </p:cNvPr>
          <p:cNvSpPr txBox="1"/>
          <p:nvPr/>
        </p:nvSpPr>
        <p:spPr>
          <a:xfrm>
            <a:off x="868015" y="3998072"/>
            <a:ext cx="87729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my_dict</a:t>
            </a:r>
            <a:r>
              <a:rPr lang="en-IN" dirty="0"/>
              <a:t> = {"name": "Raj"}</a:t>
            </a:r>
          </a:p>
          <a:p>
            <a:r>
              <a:rPr lang="en-IN" dirty="0"/>
              <a:t>try:</a:t>
            </a:r>
          </a:p>
          <a:p>
            <a:r>
              <a:rPr lang="en-IN" dirty="0"/>
              <a:t>    print(my_dict["age"])  # key "age" doesn't exist</a:t>
            </a:r>
          </a:p>
          <a:p>
            <a:r>
              <a:rPr lang="en-IN" dirty="0"/>
              <a:t>except KeyError:</a:t>
            </a:r>
          </a:p>
          <a:p>
            <a:r>
              <a:rPr lang="en-IN" dirty="0"/>
              <a:t>    print("KeyError: Key not found.")</a:t>
            </a:r>
          </a:p>
        </p:txBody>
      </p:sp>
    </p:spTree>
    <p:extLst>
      <p:ext uri="{BB962C8B-B14F-4D97-AF65-F5344CB8AC3E}">
        <p14:creationId xmlns:p14="http://schemas.microsoft.com/office/powerpoint/2010/main" val="782226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FEA9-7BD8-4FEA-0009-2958C83A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2A09BB-7EF9-F5AD-FA12-F4D5A81D8474}"/>
              </a:ext>
            </a:extLst>
          </p:cNvPr>
          <p:cNvSpPr txBox="1"/>
          <p:nvPr/>
        </p:nvSpPr>
        <p:spPr>
          <a:xfrm>
            <a:off x="934278" y="263244"/>
            <a:ext cx="8408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fkGrotesk"/>
              </a:rPr>
              <a:t>NameError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Theory: Raised when referencing an undefined variable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62A66-C719-72AA-E080-FFA75D06140F}"/>
              </a:ext>
            </a:extLst>
          </p:cNvPr>
          <p:cNvSpPr txBox="1"/>
          <p:nvPr/>
        </p:nvSpPr>
        <p:spPr>
          <a:xfrm>
            <a:off x="934277" y="1288272"/>
            <a:ext cx="85178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try:</a:t>
            </a:r>
          </a:p>
          <a:p>
            <a:r>
              <a:rPr lang="en-IN" dirty="0"/>
              <a:t>    print(value)  # 'value' not defined</a:t>
            </a:r>
          </a:p>
          <a:p>
            <a:r>
              <a:rPr lang="en-IN" dirty="0"/>
              <a:t>except NameError:</a:t>
            </a:r>
          </a:p>
          <a:p>
            <a:r>
              <a:rPr lang="en-IN" dirty="0"/>
              <a:t>    print("NameError: Variable not defined.")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1ED0C-BFBF-E85F-153D-026412D5695D}"/>
              </a:ext>
            </a:extLst>
          </p:cNvPr>
          <p:cNvSpPr txBox="1"/>
          <p:nvPr/>
        </p:nvSpPr>
        <p:spPr>
          <a:xfrm>
            <a:off x="934276" y="2590299"/>
            <a:ext cx="86470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fkGrotesk"/>
              </a:rPr>
              <a:t>FileNotFoundError</a:t>
            </a:r>
          </a:p>
          <a:p>
            <a:pPr algn="l"/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Theory: Raised when trying to open a file that does not exist.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66A1D2-9927-450A-B295-1A7B50D77649}"/>
              </a:ext>
            </a:extLst>
          </p:cNvPr>
          <p:cNvSpPr txBox="1"/>
          <p:nvPr/>
        </p:nvSpPr>
        <p:spPr>
          <a:xfrm>
            <a:off x="934276" y="3717025"/>
            <a:ext cx="90346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try:</a:t>
            </a:r>
          </a:p>
          <a:p>
            <a:r>
              <a:rPr lang="en-IN" dirty="0"/>
              <a:t>    open("nofile.txt")  # file does not exist</a:t>
            </a:r>
          </a:p>
          <a:p>
            <a:r>
              <a:rPr lang="en-IN" dirty="0"/>
              <a:t>except FileNotFoundError:</a:t>
            </a:r>
          </a:p>
          <a:p>
            <a:r>
              <a:rPr lang="en-IN" dirty="0"/>
              <a:t>    print("FileNotFoundError: File not found.")</a:t>
            </a:r>
          </a:p>
        </p:txBody>
      </p:sp>
    </p:spTree>
    <p:extLst>
      <p:ext uri="{BB962C8B-B14F-4D97-AF65-F5344CB8AC3E}">
        <p14:creationId xmlns:p14="http://schemas.microsoft.com/office/powerpoint/2010/main" val="2462793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3173B-D3B0-CC3E-6D89-687EF64C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FB223D-D4E6-C7A8-03CC-A70F491834CE}"/>
              </a:ext>
            </a:extLst>
          </p:cNvPr>
          <p:cNvSpPr txBox="1"/>
          <p:nvPr/>
        </p:nvSpPr>
        <p:spPr>
          <a:xfrm>
            <a:off x="864705" y="218087"/>
            <a:ext cx="848801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3. The Except Block (Theory &amp; Example)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Theory: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 </a:t>
            </a:r>
            <a:r>
              <a:rPr lang="en-US" b="0" i="0" dirty="0">
                <a:effectLst/>
                <a:latin typeface="berkeleyMono"/>
              </a:rPr>
              <a:t>except</a:t>
            </a:r>
            <a:r>
              <a:rPr lang="en-US" b="0" i="0" dirty="0">
                <a:effectLst/>
                <a:latin typeface="fkGroteskNeue"/>
              </a:rPr>
              <a:t> block lets you specify actions for handling exceptions when they occur.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You can use multiple </a:t>
            </a:r>
            <a:r>
              <a:rPr lang="en-US" b="0" i="0" dirty="0">
                <a:effectLst/>
                <a:latin typeface="berkeleyMono"/>
              </a:rPr>
              <a:t>except</a:t>
            </a:r>
            <a:r>
              <a:rPr lang="en-US" b="0" i="0" dirty="0">
                <a:effectLst/>
                <a:latin typeface="fkGroteskNeue"/>
              </a:rPr>
              <a:t> blocks to handle different exception types.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Having a general </a:t>
            </a:r>
            <a:r>
              <a:rPr lang="en-US" b="0" i="0" dirty="0">
                <a:effectLst/>
                <a:latin typeface="berkeleyMono"/>
              </a:rPr>
              <a:t>except:</a:t>
            </a:r>
            <a:r>
              <a:rPr lang="en-US" b="0" i="0" dirty="0">
                <a:effectLst/>
                <a:latin typeface="fkGroteskNeue"/>
              </a:rPr>
              <a:t> block will catch any exception, but it’s best practice to catch specific exceptions when possible.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Code Example: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179DD-BF6C-21F8-161E-626D9BC89027}"/>
              </a:ext>
            </a:extLst>
          </p:cNvPr>
          <p:cNvSpPr txBox="1"/>
          <p:nvPr/>
        </p:nvSpPr>
        <p:spPr>
          <a:xfrm>
            <a:off x="864705" y="2900355"/>
            <a:ext cx="82892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try:</a:t>
            </a:r>
          </a:p>
          <a:p>
            <a:r>
              <a:rPr lang="en-IN" dirty="0"/>
              <a:t>    num = int(input("Enter a number: "))</a:t>
            </a:r>
          </a:p>
          <a:p>
            <a:r>
              <a:rPr lang="en-IN" dirty="0"/>
              <a:t>    print(10 / num)</a:t>
            </a:r>
          </a:p>
          <a:p>
            <a:r>
              <a:rPr lang="en-IN" dirty="0"/>
              <a:t>except ValueError:</a:t>
            </a:r>
          </a:p>
          <a:p>
            <a:r>
              <a:rPr lang="en-IN" dirty="0"/>
              <a:t>    print("Please enter a valid number.")</a:t>
            </a:r>
          </a:p>
          <a:p>
            <a:r>
              <a:rPr lang="en-IN" dirty="0"/>
              <a:t>except ZeroDivisionError:</a:t>
            </a:r>
          </a:p>
          <a:p>
            <a:r>
              <a:rPr lang="en-IN" dirty="0"/>
              <a:t>    print("Division by zero is not allowed.")</a:t>
            </a:r>
          </a:p>
        </p:txBody>
      </p:sp>
    </p:spTree>
    <p:extLst>
      <p:ext uri="{BB962C8B-B14F-4D97-AF65-F5344CB8AC3E}">
        <p14:creationId xmlns:p14="http://schemas.microsoft.com/office/powerpoint/2010/main" val="2741035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950B1-479F-ED7B-A45D-CFB32F45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DBDEB2-641E-0EF2-5BDA-EAA68FB355FE}"/>
              </a:ext>
            </a:extLst>
          </p:cNvPr>
          <p:cNvSpPr txBox="1"/>
          <p:nvPr/>
        </p:nvSpPr>
        <p:spPr>
          <a:xfrm>
            <a:off x="894522" y="173142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3.6 Introduction to Multithreading</a:t>
            </a:r>
            <a:r>
              <a:rPr lang="en-IN" b="1" u="sng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6F1E4-63D0-DEBC-FDA1-60BBADA05C74}"/>
              </a:ext>
            </a:extLst>
          </p:cNvPr>
          <p:cNvSpPr txBox="1"/>
          <p:nvPr/>
        </p:nvSpPr>
        <p:spPr>
          <a:xfrm>
            <a:off x="894522" y="731031"/>
            <a:ext cx="8478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Introduction to Multithreading in Python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Let's combine theory with practical examples to help diploma students understand multithreading clearly.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053738-BF11-D911-F010-D5A9122354F4}"/>
              </a:ext>
            </a:extLst>
          </p:cNvPr>
          <p:cNvSpPr txBox="1"/>
          <p:nvPr/>
        </p:nvSpPr>
        <p:spPr>
          <a:xfrm>
            <a:off x="894522" y="1842918"/>
            <a:ext cx="888558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What is Multithreading?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Theory: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Multithreading allows a program to run multiple tasks (threads) simultaneously within a single process.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Each thread runs independently but shares the same memory, making communication between threads easy.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It improves program efficiency and responsiveness, especially for tasks involving waiting (like file access or network calls).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Example: Imagine listening to music while browsing the internet — both happen at the same time!</a:t>
            </a:r>
          </a:p>
        </p:txBody>
      </p:sp>
    </p:spTree>
    <p:extLst>
      <p:ext uri="{BB962C8B-B14F-4D97-AF65-F5344CB8AC3E}">
        <p14:creationId xmlns:p14="http://schemas.microsoft.com/office/powerpoint/2010/main" val="682532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DEDBD-7DE3-7AA3-4B11-36708D94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B05EE8-F41D-DD04-9DE5-EB21805C234F}"/>
              </a:ext>
            </a:extLst>
          </p:cNvPr>
          <p:cNvSpPr txBox="1"/>
          <p:nvPr/>
        </p:nvSpPr>
        <p:spPr>
          <a:xfrm>
            <a:off x="785191" y="171632"/>
            <a:ext cx="8686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How Multithreading Works in Python</a:t>
            </a:r>
          </a:p>
          <a:p>
            <a:pPr algn="l"/>
            <a:endParaRPr lang="en-US" b="1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Theory: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Python uses the </a:t>
            </a:r>
            <a:r>
              <a:rPr lang="en-US" b="0" i="0" dirty="0">
                <a:effectLst/>
                <a:latin typeface="berkeleyMono"/>
              </a:rPr>
              <a:t>threading</a:t>
            </a:r>
            <a:r>
              <a:rPr lang="en-US" b="0" i="0" dirty="0">
                <a:effectLst/>
                <a:latin typeface="fkGroteskNeue"/>
              </a:rPr>
              <a:t> module to create and manage threads.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 OS schedules threads, switching between them rapidly, giving the illusion of simultaneous execution.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Threads share memory, so data can be easily shared but requires careful control to avoid conflicts.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Difference between process and thread: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fkGroteskNeue"/>
              </a:rPr>
              <a:t>Process</a:t>
            </a:r>
            <a:r>
              <a:rPr lang="en-US" b="0" i="0" dirty="0">
                <a:effectLst/>
                <a:latin typeface="fkGroteskNeue"/>
              </a:rPr>
              <a:t>: Independent program with separate memory.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fkGroteskNeue"/>
              </a:rPr>
              <a:t>Thread</a:t>
            </a:r>
            <a:r>
              <a:rPr lang="en-US" b="0" i="0" dirty="0">
                <a:effectLst/>
                <a:latin typeface="fkGroteskNeue"/>
              </a:rPr>
              <a:t>: Smaller sequence of instructions inside a process sharing memory.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32439-97C5-9677-F223-465AD47BAC2C}"/>
              </a:ext>
            </a:extLst>
          </p:cNvPr>
          <p:cNvSpPr txBox="1"/>
          <p:nvPr/>
        </p:nvSpPr>
        <p:spPr>
          <a:xfrm>
            <a:off x="785191" y="3429000"/>
            <a:ext cx="9163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  <a:latin typeface="fkGrotesk"/>
              </a:rPr>
              <a:t>Simple Python Multithreading Example</a:t>
            </a:r>
          </a:p>
        </p:txBody>
      </p:sp>
    </p:spTree>
    <p:extLst>
      <p:ext uri="{BB962C8B-B14F-4D97-AF65-F5344CB8AC3E}">
        <p14:creationId xmlns:p14="http://schemas.microsoft.com/office/powerpoint/2010/main" val="3426882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5D25-C9F3-6BB1-C5F8-59FD01791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FD3EFF7-4C7F-5054-13BC-C4F795E92D82}"/>
              </a:ext>
            </a:extLst>
          </p:cNvPr>
          <p:cNvSpPr txBox="1"/>
          <p:nvPr/>
        </p:nvSpPr>
        <p:spPr>
          <a:xfrm>
            <a:off x="1063487" y="88015"/>
            <a:ext cx="610262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threading</a:t>
            </a:r>
          </a:p>
          <a:p>
            <a:r>
              <a:rPr lang="en-IN" dirty="0"/>
              <a:t>import time</a:t>
            </a:r>
          </a:p>
          <a:p>
            <a:endParaRPr lang="en-IN" dirty="0"/>
          </a:p>
          <a:p>
            <a:r>
              <a:rPr lang="en-IN" dirty="0"/>
              <a:t>def greet():</a:t>
            </a:r>
          </a:p>
          <a:p>
            <a:r>
              <a:rPr lang="en-IN" dirty="0"/>
              <a:t>    for </a:t>
            </a:r>
            <a:r>
              <a:rPr lang="en-IN" dirty="0" err="1"/>
              <a:t>i</a:t>
            </a:r>
            <a:r>
              <a:rPr lang="en-IN" dirty="0"/>
              <a:t> in range(3):</a:t>
            </a:r>
          </a:p>
          <a:p>
            <a:r>
              <a:rPr lang="en-IN" dirty="0"/>
              <a:t>        print("Hello from Thread 1")</a:t>
            </a:r>
          </a:p>
          <a:p>
            <a:r>
              <a:rPr lang="en-IN" dirty="0"/>
              <a:t>        time.sleep(1)</a:t>
            </a:r>
          </a:p>
          <a:p>
            <a:endParaRPr lang="en-IN" dirty="0"/>
          </a:p>
          <a:p>
            <a:r>
              <a:rPr lang="en-IN" dirty="0"/>
              <a:t>def count():</a:t>
            </a:r>
          </a:p>
          <a:p>
            <a:r>
              <a:rPr lang="en-IN" dirty="0"/>
              <a:t>    for </a:t>
            </a:r>
            <a:r>
              <a:rPr lang="en-IN" dirty="0" err="1"/>
              <a:t>i</a:t>
            </a:r>
            <a:r>
              <a:rPr lang="en-IN" dirty="0"/>
              <a:t> in range(3):</a:t>
            </a:r>
          </a:p>
          <a:p>
            <a:r>
              <a:rPr lang="en-IN" dirty="0"/>
              <a:t>        print(f"Counting: {</a:t>
            </a:r>
            <a:r>
              <a:rPr lang="en-IN" dirty="0" err="1"/>
              <a:t>i</a:t>
            </a:r>
            <a:r>
              <a:rPr lang="en-IN" dirty="0"/>
              <a:t>}")</a:t>
            </a:r>
          </a:p>
          <a:p>
            <a:r>
              <a:rPr lang="en-IN" dirty="0"/>
              <a:t>        time.sleep(1)</a:t>
            </a:r>
          </a:p>
          <a:p>
            <a:endParaRPr lang="en-IN" dirty="0"/>
          </a:p>
          <a:p>
            <a:r>
              <a:rPr lang="en-IN" dirty="0"/>
              <a:t>thread1 = </a:t>
            </a:r>
            <a:r>
              <a:rPr lang="en-IN" dirty="0" err="1"/>
              <a:t>threading.Thread</a:t>
            </a:r>
            <a:r>
              <a:rPr lang="en-IN" dirty="0"/>
              <a:t>(target=greet)</a:t>
            </a:r>
          </a:p>
          <a:p>
            <a:r>
              <a:rPr lang="en-IN" dirty="0"/>
              <a:t>thread2 = threading.Thread(target=count)</a:t>
            </a:r>
          </a:p>
          <a:p>
            <a:endParaRPr lang="en-IN" dirty="0"/>
          </a:p>
          <a:p>
            <a:r>
              <a:rPr lang="en-IN" dirty="0"/>
              <a:t>thread1.start()</a:t>
            </a:r>
          </a:p>
          <a:p>
            <a:r>
              <a:rPr lang="en-IN" dirty="0"/>
              <a:t>thread2.start()</a:t>
            </a:r>
          </a:p>
          <a:p>
            <a:endParaRPr lang="en-IN" dirty="0"/>
          </a:p>
          <a:p>
            <a:r>
              <a:rPr lang="en-IN" dirty="0"/>
              <a:t>thread1.join()</a:t>
            </a:r>
          </a:p>
          <a:p>
            <a:r>
              <a:rPr lang="en-IN" dirty="0"/>
              <a:t>thread2.join()</a:t>
            </a:r>
          </a:p>
          <a:p>
            <a:endParaRPr lang="en-IN" dirty="0"/>
          </a:p>
          <a:p>
            <a:r>
              <a:rPr lang="en-IN" dirty="0"/>
              <a:t>print("Both threads have finished!")</a:t>
            </a:r>
          </a:p>
        </p:txBody>
      </p:sp>
    </p:spTree>
    <p:extLst>
      <p:ext uri="{BB962C8B-B14F-4D97-AF65-F5344CB8AC3E}">
        <p14:creationId xmlns:p14="http://schemas.microsoft.com/office/powerpoint/2010/main" val="4238503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F4C49-D98B-60B2-F5D2-E28003C4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3E683F-9EDA-FB8C-1DA0-C21847F7AD49}"/>
              </a:ext>
            </a:extLst>
          </p:cNvPr>
          <p:cNvSpPr txBox="1"/>
          <p:nvPr/>
        </p:nvSpPr>
        <p:spPr>
          <a:xfrm>
            <a:off x="954156" y="143974"/>
            <a:ext cx="8527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fkGroteskNeue"/>
              </a:rPr>
              <a:t>Explanation: Both functions run in parallel threads, printing messages alternately.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EF303-7189-DA99-A441-6CD0EA181C38}"/>
              </a:ext>
            </a:extLst>
          </p:cNvPr>
          <p:cNvSpPr txBox="1"/>
          <p:nvPr/>
        </p:nvSpPr>
        <p:spPr>
          <a:xfrm>
            <a:off x="874643" y="754800"/>
            <a:ext cx="8686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Steps to Implement Multithreading</a:t>
            </a:r>
          </a:p>
          <a:p>
            <a:pPr algn="l"/>
            <a:endParaRPr lang="en-US" b="1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Theory: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Import the </a:t>
            </a:r>
            <a:r>
              <a:rPr lang="en-US" b="0" i="0" dirty="0">
                <a:effectLst/>
                <a:latin typeface="berkeleyMono"/>
              </a:rPr>
              <a:t>threading</a:t>
            </a:r>
            <a:r>
              <a:rPr lang="en-US" b="0" i="0" dirty="0">
                <a:effectLst/>
                <a:latin typeface="fkGroteskNeue"/>
              </a:rPr>
              <a:t> module.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Define the functions you want to run as separate threads.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Create </a:t>
            </a:r>
            <a:r>
              <a:rPr lang="en-US" b="0" i="0" dirty="0">
                <a:effectLst/>
                <a:latin typeface="berkeleyMono"/>
              </a:rPr>
              <a:t>Thread</a:t>
            </a:r>
            <a:r>
              <a:rPr lang="en-US" b="0" i="0" dirty="0">
                <a:effectLst/>
                <a:latin typeface="fkGroteskNeue"/>
              </a:rPr>
              <a:t> objects pointing to those functions.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Start your threads with </a:t>
            </a:r>
            <a:r>
              <a:rPr lang="en-US" b="0" i="0" dirty="0">
                <a:effectLst/>
                <a:latin typeface="berkeleyMono"/>
              </a:rPr>
              <a:t>.start()</a:t>
            </a:r>
            <a:r>
              <a:rPr lang="en-US" b="0" i="0" dirty="0">
                <a:effectLst/>
                <a:latin typeface="fkGroteskNeu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Use </a:t>
            </a:r>
            <a:r>
              <a:rPr lang="en-US" b="0" i="0" dirty="0">
                <a:effectLst/>
                <a:latin typeface="berkeleyMono"/>
              </a:rPr>
              <a:t>.join()</a:t>
            </a:r>
            <a:r>
              <a:rPr lang="en-US" b="0" i="0" dirty="0">
                <a:effectLst/>
                <a:latin typeface="fkGroteskNeue"/>
              </a:rPr>
              <a:t> to wait until threads complete before continuing.</a:t>
            </a: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21110B-F9B8-4EA8-8A77-2572BD103F14}"/>
              </a:ext>
            </a:extLst>
          </p:cNvPr>
          <p:cNvSpPr txBox="1"/>
          <p:nvPr/>
        </p:nvSpPr>
        <p:spPr>
          <a:xfrm>
            <a:off x="874643" y="3239582"/>
            <a:ext cx="81467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Important Points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Threads share the same memory space, which allows fast communication but requires careful handling to avoid data corruption.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Multithreading is best for I/O-bound tasks (waiting for file/network), but not ideal for CPU-heavy tasks in Python due to Global Interpreter Lock (GIL).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Thread execution order may differ every time the program runs.</a:t>
            </a:r>
          </a:p>
        </p:txBody>
      </p:sp>
    </p:spTree>
    <p:extLst>
      <p:ext uri="{BB962C8B-B14F-4D97-AF65-F5344CB8AC3E}">
        <p14:creationId xmlns:p14="http://schemas.microsoft.com/office/powerpoint/2010/main" val="38597611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</TotalTime>
  <Words>2781</Words>
  <Application>Microsoft Office PowerPoint</Application>
  <PresentationFormat>Widescreen</PresentationFormat>
  <Paragraphs>478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Aptos</vt:lpstr>
      <vt:lpstr>Arial</vt:lpstr>
      <vt:lpstr>berkeleyMono</vt:lpstr>
      <vt:lpstr>Courier New</vt:lpstr>
      <vt:lpstr>fkGrotesk</vt:lpstr>
      <vt:lpstr>fkGroteskNeue</vt:lpstr>
      <vt:lpstr>Trebuchet MS</vt:lpstr>
      <vt:lpstr>Wingdings</vt:lpstr>
      <vt:lpstr>Wingdings 3</vt:lpstr>
      <vt:lpstr>Facet</vt:lpstr>
      <vt:lpstr>Object Oriented Programming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2</cp:revision>
  <dcterms:created xsi:type="dcterms:W3CDTF">2025-10-03T15:33:05Z</dcterms:created>
  <dcterms:modified xsi:type="dcterms:W3CDTF">2025-10-04T14:49:12Z</dcterms:modified>
</cp:coreProperties>
</file>