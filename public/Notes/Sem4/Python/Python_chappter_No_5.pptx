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1" r:id="rId4"/>
    <p:sldId id="278" r:id="rId5"/>
    <p:sldId id="259" r:id="rId6"/>
    <p:sldId id="260"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9" r:id="rId24"/>
    <p:sldId id="280" r:id="rId25"/>
    <p:sldId id="281" r:id="rId26"/>
    <p:sldId id="282" r:id="rId27"/>
    <p:sldId id="283" r:id="rId28"/>
    <p:sldId id="284" r:id="rId29"/>
    <p:sldId id="285" r:id="rId30"/>
    <p:sldId id="286" r:id="rId31"/>
    <p:sldId id="287"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32DEB2-51E9-4BC2-922C-E65B07BA72A0}" v="67" dt="2025-10-05T10:19:59.415"/>
  </p1510:revLst>
</p1510:revInfo>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75" d="100"/>
          <a:sy n="75" d="100"/>
        </p:scale>
        <p:origin x="14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shinde2580@gmail.com" userId="86fdf0c531315612" providerId="LiveId" clId="{80EF1F59-5901-4077-BC9B-DA299863282D}"/>
    <pc:docChg chg="undo custSel addSld delSld modSld">
      <pc:chgData name="shshinde2580@gmail.com" userId="86fdf0c531315612" providerId="LiveId" clId="{80EF1F59-5901-4077-BC9B-DA299863282D}" dt="2025-10-05T10:22:04.053" v="494" actId="2696"/>
      <pc:docMkLst>
        <pc:docMk/>
      </pc:docMkLst>
      <pc:sldChg chg="addSp modSp mod">
        <pc:chgData name="shshinde2580@gmail.com" userId="86fdf0c531315612" providerId="LiveId" clId="{80EF1F59-5901-4077-BC9B-DA299863282D}" dt="2025-10-05T09:55:42.889" v="128" actId="20577"/>
        <pc:sldMkLst>
          <pc:docMk/>
          <pc:sldMk cId="1347439952" sldId="265"/>
        </pc:sldMkLst>
        <pc:spChg chg="add mod">
          <ac:chgData name="shshinde2580@gmail.com" userId="86fdf0c531315612" providerId="LiveId" clId="{80EF1F59-5901-4077-BC9B-DA299863282D}" dt="2025-10-05T09:55:42.889" v="128" actId="20577"/>
          <ac:spMkLst>
            <pc:docMk/>
            <pc:sldMk cId="1347439952" sldId="265"/>
            <ac:spMk id="3" creationId="{FBB92DBD-4E37-4CA2-D279-E306FDE3BD72}"/>
          </ac:spMkLst>
        </pc:spChg>
      </pc:sldChg>
      <pc:sldChg chg="addSp modSp mod">
        <pc:chgData name="shshinde2580@gmail.com" userId="86fdf0c531315612" providerId="LiveId" clId="{80EF1F59-5901-4077-BC9B-DA299863282D}" dt="2025-10-05T09:55:31.888" v="125" actId="20577"/>
        <pc:sldMkLst>
          <pc:docMk/>
          <pc:sldMk cId="1874887194" sldId="266"/>
        </pc:sldMkLst>
        <pc:spChg chg="add mod">
          <ac:chgData name="shshinde2580@gmail.com" userId="86fdf0c531315612" providerId="LiveId" clId="{80EF1F59-5901-4077-BC9B-DA299863282D}" dt="2025-10-05T09:55:31.888" v="125" actId="20577"/>
          <ac:spMkLst>
            <pc:docMk/>
            <pc:sldMk cId="1874887194" sldId="266"/>
            <ac:spMk id="3" creationId="{9AB74485-7421-1003-0E34-5A0C3BB09D6C}"/>
          </ac:spMkLst>
        </pc:spChg>
      </pc:sldChg>
      <pc:sldChg chg="addSp modSp mod">
        <pc:chgData name="shshinde2580@gmail.com" userId="86fdf0c531315612" providerId="LiveId" clId="{80EF1F59-5901-4077-BC9B-DA299863282D}" dt="2025-10-05T09:55:10.348" v="115" actId="20577"/>
        <pc:sldMkLst>
          <pc:docMk/>
          <pc:sldMk cId="858488631" sldId="267"/>
        </pc:sldMkLst>
        <pc:spChg chg="add mod">
          <ac:chgData name="shshinde2580@gmail.com" userId="86fdf0c531315612" providerId="LiveId" clId="{80EF1F59-5901-4077-BC9B-DA299863282D}" dt="2025-10-05T09:55:10.348" v="115" actId="20577"/>
          <ac:spMkLst>
            <pc:docMk/>
            <pc:sldMk cId="858488631" sldId="267"/>
            <ac:spMk id="3" creationId="{DD2D0261-B47C-D03B-2506-8F465E4B1AE6}"/>
          </ac:spMkLst>
        </pc:spChg>
      </pc:sldChg>
      <pc:sldChg chg="addSp modSp mod">
        <pc:chgData name="shshinde2580@gmail.com" userId="86fdf0c531315612" providerId="LiveId" clId="{80EF1F59-5901-4077-BC9B-DA299863282D}" dt="2025-10-05T09:54:52.642" v="109" actId="20577"/>
        <pc:sldMkLst>
          <pc:docMk/>
          <pc:sldMk cId="2185851568" sldId="268"/>
        </pc:sldMkLst>
        <pc:spChg chg="add mod">
          <ac:chgData name="shshinde2580@gmail.com" userId="86fdf0c531315612" providerId="LiveId" clId="{80EF1F59-5901-4077-BC9B-DA299863282D}" dt="2025-10-05T09:54:52.642" v="109" actId="20577"/>
          <ac:spMkLst>
            <pc:docMk/>
            <pc:sldMk cId="2185851568" sldId="268"/>
            <ac:spMk id="3" creationId="{4387882D-8C02-70F0-88B3-7050C23FC3DE}"/>
          </ac:spMkLst>
        </pc:spChg>
      </pc:sldChg>
      <pc:sldChg chg="addSp modSp mod">
        <pc:chgData name="shshinde2580@gmail.com" userId="86fdf0c531315612" providerId="LiveId" clId="{80EF1F59-5901-4077-BC9B-DA299863282D}" dt="2025-10-05T09:55:54.860" v="129" actId="113"/>
        <pc:sldMkLst>
          <pc:docMk/>
          <pc:sldMk cId="583144309" sldId="269"/>
        </pc:sldMkLst>
        <pc:spChg chg="add mod">
          <ac:chgData name="shshinde2580@gmail.com" userId="86fdf0c531315612" providerId="LiveId" clId="{80EF1F59-5901-4077-BC9B-DA299863282D}" dt="2025-10-05T09:55:54.860" v="129" actId="113"/>
          <ac:spMkLst>
            <pc:docMk/>
            <pc:sldMk cId="583144309" sldId="269"/>
            <ac:spMk id="3" creationId="{F2CCA9CB-8D13-897E-5769-DB365539C98A}"/>
          </ac:spMkLst>
        </pc:spChg>
      </pc:sldChg>
      <pc:sldChg chg="addSp modSp mod">
        <pc:chgData name="shshinde2580@gmail.com" userId="86fdf0c531315612" providerId="LiveId" clId="{80EF1F59-5901-4077-BC9B-DA299863282D}" dt="2025-10-05T09:57:20.896" v="152" actId="113"/>
        <pc:sldMkLst>
          <pc:docMk/>
          <pc:sldMk cId="3456325677" sldId="270"/>
        </pc:sldMkLst>
        <pc:spChg chg="add mod">
          <ac:chgData name="shshinde2580@gmail.com" userId="86fdf0c531315612" providerId="LiveId" clId="{80EF1F59-5901-4077-BC9B-DA299863282D}" dt="2025-10-05T09:57:20.896" v="152" actId="113"/>
          <ac:spMkLst>
            <pc:docMk/>
            <pc:sldMk cId="3456325677" sldId="270"/>
            <ac:spMk id="3" creationId="{E0DFF089-F014-AF13-7112-28A89C62A1AD}"/>
          </ac:spMkLst>
        </pc:spChg>
      </pc:sldChg>
      <pc:sldChg chg="addSp modSp mod">
        <pc:chgData name="shshinde2580@gmail.com" userId="86fdf0c531315612" providerId="LiveId" clId="{80EF1F59-5901-4077-BC9B-DA299863282D}" dt="2025-10-05T09:58:13.168" v="178" actId="113"/>
        <pc:sldMkLst>
          <pc:docMk/>
          <pc:sldMk cId="1632016098" sldId="271"/>
        </pc:sldMkLst>
        <pc:spChg chg="add mod">
          <ac:chgData name="shshinde2580@gmail.com" userId="86fdf0c531315612" providerId="LiveId" clId="{80EF1F59-5901-4077-BC9B-DA299863282D}" dt="2025-10-05T09:58:13.168" v="178" actId="113"/>
          <ac:spMkLst>
            <pc:docMk/>
            <pc:sldMk cId="1632016098" sldId="271"/>
            <ac:spMk id="3" creationId="{7066C562-BF49-1224-1C4C-878C45BFFA5F}"/>
          </ac:spMkLst>
        </pc:spChg>
      </pc:sldChg>
      <pc:sldChg chg="addSp modSp mod">
        <pc:chgData name="shshinde2580@gmail.com" userId="86fdf0c531315612" providerId="LiveId" clId="{80EF1F59-5901-4077-BC9B-DA299863282D}" dt="2025-10-05T10:01:13.062" v="218" actId="113"/>
        <pc:sldMkLst>
          <pc:docMk/>
          <pc:sldMk cId="1895321719" sldId="272"/>
        </pc:sldMkLst>
        <pc:spChg chg="add mod">
          <ac:chgData name="shshinde2580@gmail.com" userId="86fdf0c531315612" providerId="LiveId" clId="{80EF1F59-5901-4077-BC9B-DA299863282D}" dt="2025-10-05T10:01:13.062" v="218" actId="113"/>
          <ac:spMkLst>
            <pc:docMk/>
            <pc:sldMk cId="1895321719" sldId="272"/>
            <ac:spMk id="3" creationId="{552D92D6-3A45-D418-1E01-CD19FD1F3D2F}"/>
          </ac:spMkLst>
        </pc:spChg>
      </pc:sldChg>
      <pc:sldChg chg="addSp modSp mod">
        <pc:chgData name="shshinde2580@gmail.com" userId="86fdf0c531315612" providerId="LiveId" clId="{80EF1F59-5901-4077-BC9B-DA299863282D}" dt="2025-10-05T10:02:54.132" v="250" actId="113"/>
        <pc:sldMkLst>
          <pc:docMk/>
          <pc:sldMk cId="439378255" sldId="273"/>
        </pc:sldMkLst>
        <pc:spChg chg="add mod">
          <ac:chgData name="shshinde2580@gmail.com" userId="86fdf0c531315612" providerId="LiveId" clId="{80EF1F59-5901-4077-BC9B-DA299863282D}" dt="2025-10-05T10:02:54.132" v="250" actId="113"/>
          <ac:spMkLst>
            <pc:docMk/>
            <pc:sldMk cId="439378255" sldId="273"/>
            <ac:spMk id="3" creationId="{A5E2D3FE-EFEE-3513-49F3-CDCABE04366E}"/>
          </ac:spMkLst>
        </pc:spChg>
      </pc:sldChg>
      <pc:sldChg chg="addSp modSp mod">
        <pc:chgData name="shshinde2580@gmail.com" userId="86fdf0c531315612" providerId="LiveId" clId="{80EF1F59-5901-4077-BC9B-DA299863282D}" dt="2025-10-05T10:04:18.449" v="267" actId="113"/>
        <pc:sldMkLst>
          <pc:docMk/>
          <pc:sldMk cId="3125906593" sldId="274"/>
        </pc:sldMkLst>
        <pc:spChg chg="add mod">
          <ac:chgData name="shshinde2580@gmail.com" userId="86fdf0c531315612" providerId="LiveId" clId="{80EF1F59-5901-4077-BC9B-DA299863282D}" dt="2025-10-05T10:04:18.449" v="267" actId="113"/>
          <ac:spMkLst>
            <pc:docMk/>
            <pc:sldMk cId="3125906593" sldId="274"/>
            <ac:spMk id="3" creationId="{E2C03920-C04C-6962-C795-CC87344D5A4B}"/>
          </ac:spMkLst>
        </pc:spChg>
      </pc:sldChg>
      <pc:sldChg chg="addSp modSp mod">
        <pc:chgData name="shshinde2580@gmail.com" userId="86fdf0c531315612" providerId="LiveId" clId="{80EF1F59-5901-4077-BC9B-DA299863282D}" dt="2025-10-05T10:05:59.136" v="294" actId="20577"/>
        <pc:sldMkLst>
          <pc:docMk/>
          <pc:sldMk cId="1092703377" sldId="275"/>
        </pc:sldMkLst>
        <pc:spChg chg="add mod">
          <ac:chgData name="shshinde2580@gmail.com" userId="86fdf0c531315612" providerId="LiveId" clId="{80EF1F59-5901-4077-BC9B-DA299863282D}" dt="2025-10-05T10:05:59.136" v="294" actId="20577"/>
          <ac:spMkLst>
            <pc:docMk/>
            <pc:sldMk cId="1092703377" sldId="275"/>
            <ac:spMk id="3" creationId="{DE87D213-A609-37C8-81C6-28FDE78F730F}"/>
          </ac:spMkLst>
        </pc:spChg>
      </pc:sldChg>
      <pc:sldChg chg="addSp modSp mod">
        <pc:chgData name="shshinde2580@gmail.com" userId="86fdf0c531315612" providerId="LiveId" clId="{80EF1F59-5901-4077-BC9B-DA299863282D}" dt="2025-10-05T10:07:07.007" v="308" actId="12"/>
        <pc:sldMkLst>
          <pc:docMk/>
          <pc:sldMk cId="3875503769" sldId="276"/>
        </pc:sldMkLst>
        <pc:spChg chg="add mod">
          <ac:chgData name="shshinde2580@gmail.com" userId="86fdf0c531315612" providerId="LiveId" clId="{80EF1F59-5901-4077-BC9B-DA299863282D}" dt="2025-10-05T10:07:07.007" v="308" actId="12"/>
          <ac:spMkLst>
            <pc:docMk/>
            <pc:sldMk cId="3875503769" sldId="276"/>
            <ac:spMk id="3" creationId="{0D757991-733A-D40C-A61E-938E1163EB67}"/>
          </ac:spMkLst>
        </pc:spChg>
      </pc:sldChg>
      <pc:sldChg chg="addSp modSp mod">
        <pc:chgData name="shshinde2580@gmail.com" userId="86fdf0c531315612" providerId="LiveId" clId="{80EF1F59-5901-4077-BC9B-DA299863282D}" dt="2025-10-05T10:10:37.352" v="353" actId="113"/>
        <pc:sldMkLst>
          <pc:docMk/>
          <pc:sldMk cId="4275910997" sldId="277"/>
        </pc:sldMkLst>
        <pc:spChg chg="add mod">
          <ac:chgData name="shshinde2580@gmail.com" userId="86fdf0c531315612" providerId="LiveId" clId="{80EF1F59-5901-4077-BC9B-DA299863282D}" dt="2025-10-05T10:09:07.122" v="336" actId="113"/>
          <ac:spMkLst>
            <pc:docMk/>
            <pc:sldMk cId="4275910997" sldId="277"/>
            <ac:spMk id="3" creationId="{B7A7D6F3-3850-F0C7-618A-C7B54AD4951A}"/>
          </ac:spMkLst>
        </pc:spChg>
        <pc:spChg chg="add mod">
          <ac:chgData name="shshinde2580@gmail.com" userId="86fdf0c531315612" providerId="LiveId" clId="{80EF1F59-5901-4077-BC9B-DA299863282D}" dt="2025-10-05T10:09:46.431" v="344" actId="1076"/>
          <ac:spMkLst>
            <pc:docMk/>
            <pc:sldMk cId="4275910997" sldId="277"/>
            <ac:spMk id="5" creationId="{A183E648-E9E5-94DE-C8A5-134E5CCEA697}"/>
          </ac:spMkLst>
        </pc:spChg>
        <pc:spChg chg="add mod">
          <ac:chgData name="shshinde2580@gmail.com" userId="86fdf0c531315612" providerId="LiveId" clId="{80EF1F59-5901-4077-BC9B-DA299863282D}" dt="2025-10-05T10:10:37.352" v="353" actId="113"/>
          <ac:spMkLst>
            <pc:docMk/>
            <pc:sldMk cId="4275910997" sldId="277"/>
            <ac:spMk id="7" creationId="{F0DC0361-BC27-A858-0EF2-98DC6770B2FA}"/>
          </ac:spMkLst>
        </pc:spChg>
      </pc:sldChg>
      <pc:sldChg chg="addSp modSp add mod">
        <pc:chgData name="shshinde2580@gmail.com" userId="86fdf0c531315612" providerId="LiveId" clId="{80EF1F59-5901-4077-BC9B-DA299863282D}" dt="2025-10-05T10:11:34.765" v="364"/>
        <pc:sldMkLst>
          <pc:docMk/>
          <pc:sldMk cId="3282236628" sldId="279"/>
        </pc:sldMkLst>
        <pc:spChg chg="add mod">
          <ac:chgData name="shshinde2580@gmail.com" userId="86fdf0c531315612" providerId="LiveId" clId="{80EF1F59-5901-4077-BC9B-DA299863282D}" dt="2025-10-05T10:10:50.264" v="356" actId="1076"/>
          <ac:spMkLst>
            <pc:docMk/>
            <pc:sldMk cId="3282236628" sldId="279"/>
            <ac:spMk id="3" creationId="{A8F02E62-1E9F-79BC-19B0-DE32C4B2A015}"/>
          </ac:spMkLst>
        </pc:spChg>
        <pc:spChg chg="add mod">
          <ac:chgData name="shshinde2580@gmail.com" userId="86fdf0c531315612" providerId="LiveId" clId="{80EF1F59-5901-4077-BC9B-DA299863282D}" dt="2025-10-05T10:11:34.765" v="364"/>
          <ac:spMkLst>
            <pc:docMk/>
            <pc:sldMk cId="3282236628" sldId="279"/>
            <ac:spMk id="5" creationId="{6BF85C48-05EC-ED8B-333A-450AEBB03B99}"/>
          </ac:spMkLst>
        </pc:spChg>
      </pc:sldChg>
      <pc:sldChg chg="addSp modSp add mod">
        <pc:chgData name="shshinde2580@gmail.com" userId="86fdf0c531315612" providerId="LiveId" clId="{80EF1F59-5901-4077-BC9B-DA299863282D}" dt="2025-10-05T10:12:52.159" v="381"/>
        <pc:sldMkLst>
          <pc:docMk/>
          <pc:sldMk cId="629481595" sldId="280"/>
        </pc:sldMkLst>
        <pc:spChg chg="add mod">
          <ac:chgData name="shshinde2580@gmail.com" userId="86fdf0c531315612" providerId="LiveId" clId="{80EF1F59-5901-4077-BC9B-DA299863282D}" dt="2025-10-05T10:12:14.278" v="374"/>
          <ac:spMkLst>
            <pc:docMk/>
            <pc:sldMk cId="629481595" sldId="280"/>
            <ac:spMk id="3" creationId="{00AA3AAE-4578-F2FC-0910-9C27209B2550}"/>
          </ac:spMkLst>
        </pc:spChg>
        <pc:spChg chg="add mod">
          <ac:chgData name="shshinde2580@gmail.com" userId="86fdf0c531315612" providerId="LiveId" clId="{80EF1F59-5901-4077-BC9B-DA299863282D}" dt="2025-10-05T10:12:52.159" v="381"/>
          <ac:spMkLst>
            <pc:docMk/>
            <pc:sldMk cId="629481595" sldId="280"/>
            <ac:spMk id="5" creationId="{1656BE78-CC1E-7574-BD6C-CF3C204B1709}"/>
          </ac:spMkLst>
        </pc:spChg>
      </pc:sldChg>
      <pc:sldChg chg="addSp modSp add mod">
        <pc:chgData name="shshinde2580@gmail.com" userId="86fdf0c531315612" providerId="LiveId" clId="{80EF1F59-5901-4077-BC9B-DA299863282D}" dt="2025-10-05T10:14:17.219" v="404" actId="20577"/>
        <pc:sldMkLst>
          <pc:docMk/>
          <pc:sldMk cId="677015910" sldId="281"/>
        </pc:sldMkLst>
        <pc:spChg chg="add mod">
          <ac:chgData name="shshinde2580@gmail.com" userId="86fdf0c531315612" providerId="LiveId" clId="{80EF1F59-5901-4077-BC9B-DA299863282D}" dt="2025-10-05T10:13:35.448" v="391"/>
          <ac:spMkLst>
            <pc:docMk/>
            <pc:sldMk cId="677015910" sldId="281"/>
            <ac:spMk id="3" creationId="{3A9BC578-B100-8EB0-1AD4-E021945683A0}"/>
          </ac:spMkLst>
        </pc:spChg>
        <pc:spChg chg="add mod">
          <ac:chgData name="shshinde2580@gmail.com" userId="86fdf0c531315612" providerId="LiveId" clId="{80EF1F59-5901-4077-BC9B-DA299863282D}" dt="2025-10-05T10:14:17.219" v="404" actId="20577"/>
          <ac:spMkLst>
            <pc:docMk/>
            <pc:sldMk cId="677015910" sldId="281"/>
            <ac:spMk id="5" creationId="{28088D4E-5377-98FF-48BF-017185B2524A}"/>
          </ac:spMkLst>
        </pc:spChg>
      </pc:sldChg>
      <pc:sldChg chg="addSp delSp modSp add mod">
        <pc:chgData name="shshinde2580@gmail.com" userId="86fdf0c531315612" providerId="LiveId" clId="{80EF1F59-5901-4077-BC9B-DA299863282D}" dt="2025-10-05T10:14:48.862" v="410" actId="21"/>
        <pc:sldMkLst>
          <pc:docMk/>
          <pc:sldMk cId="830542184" sldId="282"/>
        </pc:sldMkLst>
        <pc:spChg chg="add mod">
          <ac:chgData name="shshinde2580@gmail.com" userId="86fdf0c531315612" providerId="LiveId" clId="{80EF1F59-5901-4077-BC9B-DA299863282D}" dt="2025-10-05T10:14:38.163" v="409" actId="1076"/>
          <ac:spMkLst>
            <pc:docMk/>
            <pc:sldMk cId="830542184" sldId="282"/>
            <ac:spMk id="3" creationId="{CA1BAD1B-43B3-0153-9FA0-F685E8D2CCD8}"/>
          </ac:spMkLst>
        </pc:spChg>
        <pc:spChg chg="add del">
          <ac:chgData name="shshinde2580@gmail.com" userId="86fdf0c531315612" providerId="LiveId" clId="{80EF1F59-5901-4077-BC9B-DA299863282D}" dt="2025-10-05T10:14:48.862" v="410" actId="21"/>
          <ac:spMkLst>
            <pc:docMk/>
            <pc:sldMk cId="830542184" sldId="282"/>
            <ac:spMk id="5" creationId="{810DF2C2-8F61-82AD-BEEB-E41CFDE5F4EA}"/>
          </ac:spMkLst>
        </pc:spChg>
      </pc:sldChg>
      <pc:sldChg chg="addSp modSp add mod">
        <pc:chgData name="shshinde2580@gmail.com" userId="86fdf0c531315612" providerId="LiveId" clId="{80EF1F59-5901-4077-BC9B-DA299863282D}" dt="2025-10-05T10:17:27.340" v="446"/>
        <pc:sldMkLst>
          <pc:docMk/>
          <pc:sldMk cId="3195030345" sldId="283"/>
        </pc:sldMkLst>
        <pc:spChg chg="add mod">
          <ac:chgData name="shshinde2580@gmail.com" userId="86fdf0c531315612" providerId="LiveId" clId="{80EF1F59-5901-4077-BC9B-DA299863282D}" dt="2025-10-05T10:16:07.999" v="421" actId="113"/>
          <ac:spMkLst>
            <pc:docMk/>
            <pc:sldMk cId="3195030345" sldId="283"/>
            <ac:spMk id="3" creationId="{6EC3EA2D-732D-AB7E-1984-289AD0D1F302}"/>
          </ac:spMkLst>
        </pc:spChg>
        <pc:spChg chg="add mod">
          <ac:chgData name="shshinde2580@gmail.com" userId="86fdf0c531315612" providerId="LiveId" clId="{80EF1F59-5901-4077-BC9B-DA299863282D}" dt="2025-10-05T10:16:05.038" v="420" actId="1076"/>
          <ac:spMkLst>
            <pc:docMk/>
            <pc:sldMk cId="3195030345" sldId="283"/>
            <ac:spMk id="5" creationId="{F45A9F57-B5C2-B388-6BD7-EAEF3E47631C}"/>
          </ac:spMkLst>
        </pc:spChg>
        <pc:spChg chg="add mod">
          <ac:chgData name="shshinde2580@gmail.com" userId="86fdf0c531315612" providerId="LiveId" clId="{80EF1F59-5901-4077-BC9B-DA299863282D}" dt="2025-10-05T10:17:27.340" v="446"/>
          <ac:spMkLst>
            <pc:docMk/>
            <pc:sldMk cId="3195030345" sldId="283"/>
            <ac:spMk id="7" creationId="{F29702B1-4C16-5A66-BC9B-23BB4DAD3A41}"/>
          </ac:spMkLst>
        </pc:spChg>
      </pc:sldChg>
      <pc:sldChg chg="addSp modSp add mod">
        <pc:chgData name="shshinde2580@gmail.com" userId="86fdf0c531315612" providerId="LiveId" clId="{80EF1F59-5901-4077-BC9B-DA299863282D}" dt="2025-10-05T10:18:05.792" v="456" actId="20577"/>
        <pc:sldMkLst>
          <pc:docMk/>
          <pc:sldMk cId="2442530065" sldId="284"/>
        </pc:sldMkLst>
        <pc:spChg chg="add mod">
          <ac:chgData name="shshinde2580@gmail.com" userId="86fdf0c531315612" providerId="LiveId" clId="{80EF1F59-5901-4077-BC9B-DA299863282D}" dt="2025-10-05T10:17:34.518" v="449" actId="1076"/>
          <ac:spMkLst>
            <pc:docMk/>
            <pc:sldMk cId="2442530065" sldId="284"/>
            <ac:spMk id="3" creationId="{10C8ED5E-3891-91B6-BCC0-CE2E57C83743}"/>
          </ac:spMkLst>
        </pc:spChg>
        <pc:spChg chg="add mod">
          <ac:chgData name="shshinde2580@gmail.com" userId="86fdf0c531315612" providerId="LiveId" clId="{80EF1F59-5901-4077-BC9B-DA299863282D}" dt="2025-10-05T10:18:05.792" v="456" actId="20577"/>
          <ac:spMkLst>
            <pc:docMk/>
            <pc:sldMk cId="2442530065" sldId="284"/>
            <ac:spMk id="5" creationId="{E3BBD65E-0E95-7023-8108-215078ABD002}"/>
          </ac:spMkLst>
        </pc:spChg>
      </pc:sldChg>
      <pc:sldChg chg="addSp modSp add mod">
        <pc:chgData name="shshinde2580@gmail.com" userId="86fdf0c531315612" providerId="LiveId" clId="{80EF1F59-5901-4077-BC9B-DA299863282D}" dt="2025-10-05T10:18:58.502" v="472"/>
        <pc:sldMkLst>
          <pc:docMk/>
          <pc:sldMk cId="873914774" sldId="285"/>
        </pc:sldMkLst>
        <pc:spChg chg="add mod">
          <ac:chgData name="shshinde2580@gmail.com" userId="86fdf0c531315612" providerId="LiveId" clId="{80EF1F59-5901-4077-BC9B-DA299863282D}" dt="2025-10-05T10:18:58.502" v="472"/>
          <ac:spMkLst>
            <pc:docMk/>
            <pc:sldMk cId="873914774" sldId="285"/>
            <ac:spMk id="3" creationId="{FB2CD06C-2A82-A1F1-B66E-07309E0373E5}"/>
          </ac:spMkLst>
        </pc:spChg>
      </pc:sldChg>
      <pc:sldChg chg="addSp modSp add mod">
        <pc:chgData name="shshinde2580@gmail.com" userId="86fdf0c531315612" providerId="LiveId" clId="{80EF1F59-5901-4077-BC9B-DA299863282D}" dt="2025-10-05T10:19:59.415" v="487"/>
        <pc:sldMkLst>
          <pc:docMk/>
          <pc:sldMk cId="1244380817" sldId="286"/>
        </pc:sldMkLst>
        <pc:spChg chg="add mod">
          <ac:chgData name="shshinde2580@gmail.com" userId="86fdf0c531315612" providerId="LiveId" clId="{80EF1F59-5901-4077-BC9B-DA299863282D}" dt="2025-10-05T10:19:24.165" v="477" actId="113"/>
          <ac:spMkLst>
            <pc:docMk/>
            <pc:sldMk cId="1244380817" sldId="286"/>
            <ac:spMk id="3" creationId="{E7F91AA0-B738-712F-531C-19576F2C7B20}"/>
          </ac:spMkLst>
        </pc:spChg>
        <pc:spChg chg="add mod">
          <ac:chgData name="shshinde2580@gmail.com" userId="86fdf0c531315612" providerId="LiveId" clId="{80EF1F59-5901-4077-BC9B-DA299863282D}" dt="2025-10-05T10:19:59.415" v="487"/>
          <ac:spMkLst>
            <pc:docMk/>
            <pc:sldMk cId="1244380817" sldId="286"/>
            <ac:spMk id="5" creationId="{A6821B87-0A58-CD70-36FA-C62BDFF00224}"/>
          </ac:spMkLst>
        </pc:spChg>
      </pc:sldChg>
      <pc:sldChg chg="addSp modSp add mod">
        <pc:chgData name="shshinde2580@gmail.com" userId="86fdf0c531315612" providerId="LiveId" clId="{80EF1F59-5901-4077-BC9B-DA299863282D}" dt="2025-10-05T10:20:54.184" v="492" actId="113"/>
        <pc:sldMkLst>
          <pc:docMk/>
          <pc:sldMk cId="111443164" sldId="287"/>
        </pc:sldMkLst>
        <pc:spChg chg="add mod">
          <ac:chgData name="shshinde2580@gmail.com" userId="86fdf0c531315612" providerId="LiveId" clId="{80EF1F59-5901-4077-BC9B-DA299863282D}" dt="2025-10-05T10:20:54.184" v="492" actId="113"/>
          <ac:spMkLst>
            <pc:docMk/>
            <pc:sldMk cId="111443164" sldId="287"/>
            <ac:spMk id="3" creationId="{377C19C1-963B-7EA4-4D93-C25BF0D7CF0E}"/>
          </ac:spMkLst>
        </pc:spChg>
      </pc:sldChg>
      <pc:sldChg chg="add del">
        <pc:chgData name="shshinde2580@gmail.com" userId="86fdf0c531315612" providerId="LiveId" clId="{80EF1F59-5901-4077-BC9B-DA299863282D}" dt="2025-10-05T10:21:55.278" v="493" actId="2696"/>
        <pc:sldMkLst>
          <pc:docMk/>
          <pc:sldMk cId="1608882111" sldId="288"/>
        </pc:sldMkLst>
      </pc:sldChg>
      <pc:sldChg chg="add del">
        <pc:chgData name="shshinde2580@gmail.com" userId="86fdf0c531315612" providerId="LiveId" clId="{80EF1F59-5901-4077-BC9B-DA299863282D}" dt="2025-10-05T10:21:55.278" v="493" actId="2696"/>
        <pc:sldMkLst>
          <pc:docMk/>
          <pc:sldMk cId="420328146" sldId="289"/>
        </pc:sldMkLst>
      </pc:sldChg>
      <pc:sldChg chg="add del">
        <pc:chgData name="shshinde2580@gmail.com" userId="86fdf0c531315612" providerId="LiveId" clId="{80EF1F59-5901-4077-BC9B-DA299863282D}" dt="2025-10-05T10:21:55.278" v="493" actId="2696"/>
        <pc:sldMkLst>
          <pc:docMk/>
          <pc:sldMk cId="87644710" sldId="290"/>
        </pc:sldMkLst>
      </pc:sldChg>
      <pc:sldChg chg="add del">
        <pc:chgData name="shshinde2580@gmail.com" userId="86fdf0c531315612" providerId="LiveId" clId="{80EF1F59-5901-4077-BC9B-DA299863282D}" dt="2025-10-05T10:21:55.278" v="493" actId="2696"/>
        <pc:sldMkLst>
          <pc:docMk/>
          <pc:sldMk cId="841285733" sldId="291"/>
        </pc:sldMkLst>
      </pc:sldChg>
      <pc:sldChg chg="add del">
        <pc:chgData name="shshinde2580@gmail.com" userId="86fdf0c531315612" providerId="LiveId" clId="{80EF1F59-5901-4077-BC9B-DA299863282D}" dt="2025-10-05T10:21:55.278" v="493" actId="2696"/>
        <pc:sldMkLst>
          <pc:docMk/>
          <pc:sldMk cId="3147231710" sldId="292"/>
        </pc:sldMkLst>
      </pc:sldChg>
      <pc:sldChg chg="add del">
        <pc:chgData name="shshinde2580@gmail.com" userId="86fdf0c531315612" providerId="LiveId" clId="{80EF1F59-5901-4077-BC9B-DA299863282D}" dt="2025-10-05T10:21:55.278" v="493" actId="2696"/>
        <pc:sldMkLst>
          <pc:docMk/>
          <pc:sldMk cId="2843541532" sldId="293"/>
        </pc:sldMkLst>
      </pc:sldChg>
      <pc:sldChg chg="add del">
        <pc:chgData name="shshinde2580@gmail.com" userId="86fdf0c531315612" providerId="LiveId" clId="{80EF1F59-5901-4077-BC9B-DA299863282D}" dt="2025-10-05T10:21:55.278" v="493" actId="2696"/>
        <pc:sldMkLst>
          <pc:docMk/>
          <pc:sldMk cId="4054054669" sldId="294"/>
        </pc:sldMkLst>
      </pc:sldChg>
      <pc:sldChg chg="add del">
        <pc:chgData name="shshinde2580@gmail.com" userId="86fdf0c531315612" providerId="LiveId" clId="{80EF1F59-5901-4077-BC9B-DA299863282D}" dt="2025-10-05T10:21:55.278" v="493" actId="2696"/>
        <pc:sldMkLst>
          <pc:docMk/>
          <pc:sldMk cId="615807952" sldId="295"/>
        </pc:sldMkLst>
      </pc:sldChg>
      <pc:sldChg chg="add del">
        <pc:chgData name="shshinde2580@gmail.com" userId="86fdf0c531315612" providerId="LiveId" clId="{80EF1F59-5901-4077-BC9B-DA299863282D}" dt="2025-10-05T10:21:55.278" v="493" actId="2696"/>
        <pc:sldMkLst>
          <pc:docMk/>
          <pc:sldMk cId="2192713043" sldId="296"/>
        </pc:sldMkLst>
      </pc:sldChg>
      <pc:sldChg chg="add del">
        <pc:chgData name="shshinde2580@gmail.com" userId="86fdf0c531315612" providerId="LiveId" clId="{80EF1F59-5901-4077-BC9B-DA299863282D}" dt="2025-10-05T10:21:55.278" v="493" actId="2696"/>
        <pc:sldMkLst>
          <pc:docMk/>
          <pc:sldMk cId="2111459765" sldId="297"/>
        </pc:sldMkLst>
      </pc:sldChg>
      <pc:sldChg chg="add del">
        <pc:chgData name="shshinde2580@gmail.com" userId="86fdf0c531315612" providerId="LiveId" clId="{80EF1F59-5901-4077-BC9B-DA299863282D}" dt="2025-10-05T10:21:55.278" v="493" actId="2696"/>
        <pc:sldMkLst>
          <pc:docMk/>
          <pc:sldMk cId="1078438305" sldId="298"/>
        </pc:sldMkLst>
      </pc:sldChg>
      <pc:sldChg chg="add del">
        <pc:chgData name="shshinde2580@gmail.com" userId="86fdf0c531315612" providerId="LiveId" clId="{80EF1F59-5901-4077-BC9B-DA299863282D}" dt="2025-10-05T10:22:04.053" v="494" actId="2696"/>
        <pc:sldMkLst>
          <pc:docMk/>
          <pc:sldMk cId="2888467360" sldId="299"/>
        </pc:sldMkLst>
      </pc:sldChg>
      <pc:sldChg chg="add del">
        <pc:chgData name="shshinde2580@gmail.com" userId="86fdf0c531315612" providerId="LiveId" clId="{80EF1F59-5901-4077-BC9B-DA299863282D}" dt="2025-10-05T10:22:04.053" v="494" actId="2696"/>
        <pc:sldMkLst>
          <pc:docMk/>
          <pc:sldMk cId="742056494" sldId="300"/>
        </pc:sldMkLst>
      </pc:sldChg>
      <pc:sldChg chg="add del">
        <pc:chgData name="shshinde2580@gmail.com" userId="86fdf0c531315612" providerId="LiveId" clId="{80EF1F59-5901-4077-BC9B-DA299863282D}" dt="2025-10-05T10:22:04.053" v="494" actId="2696"/>
        <pc:sldMkLst>
          <pc:docMk/>
          <pc:sldMk cId="3019462012" sldId="301"/>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F2D4270-58CD-4E44-A8DF-F3011596C4ED}" type="datetimeFigureOut">
              <a:rPr lang="en-IN" smtClean="0"/>
              <a:t>05-10-2025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5D385DE-4FBA-4C4C-88D3-A6CB0A702391}" type="slidenum">
              <a:rPr lang="en-IN" smtClean="0"/>
              <a:t>‹#›</a:t>
            </a:fld>
            <a:endParaRPr lang="en-IN"/>
          </a:p>
        </p:txBody>
      </p:sp>
    </p:spTree>
    <p:extLst>
      <p:ext uri="{BB962C8B-B14F-4D97-AF65-F5344CB8AC3E}">
        <p14:creationId xmlns:p14="http://schemas.microsoft.com/office/powerpoint/2010/main" val="3290820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2D4270-58CD-4E44-A8DF-F3011596C4ED}" type="datetimeFigureOut">
              <a:rPr lang="en-IN" smtClean="0"/>
              <a:t>05-10-2025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5D385DE-4FBA-4C4C-88D3-A6CB0A702391}" type="slidenum">
              <a:rPr lang="en-IN" smtClean="0"/>
              <a:t>‹#›</a:t>
            </a:fld>
            <a:endParaRPr lang="en-IN"/>
          </a:p>
        </p:txBody>
      </p:sp>
    </p:spTree>
    <p:extLst>
      <p:ext uri="{BB962C8B-B14F-4D97-AF65-F5344CB8AC3E}">
        <p14:creationId xmlns:p14="http://schemas.microsoft.com/office/powerpoint/2010/main" val="1767131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2D4270-58CD-4E44-A8DF-F3011596C4ED}" type="datetimeFigureOut">
              <a:rPr lang="en-IN" smtClean="0"/>
              <a:t>05-10-2025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5D385DE-4FBA-4C4C-88D3-A6CB0A702391}" type="slidenum">
              <a:rPr lang="en-IN" smtClean="0"/>
              <a:t>‹#›</a:t>
            </a:fld>
            <a:endParaRPr lang="en-IN"/>
          </a:p>
        </p:txBody>
      </p:sp>
    </p:spTree>
    <p:extLst>
      <p:ext uri="{BB962C8B-B14F-4D97-AF65-F5344CB8AC3E}">
        <p14:creationId xmlns:p14="http://schemas.microsoft.com/office/powerpoint/2010/main" val="35801421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F2D4270-58CD-4E44-A8DF-F3011596C4ED}" type="datetimeFigureOut">
              <a:rPr lang="en-IN" smtClean="0"/>
              <a:t>05-10-2025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5D385DE-4FBA-4C4C-88D3-A6CB0A702391}" type="slidenum">
              <a:rPr lang="en-IN" smtClean="0"/>
              <a:t>‹#›</a:t>
            </a:fld>
            <a:endParaRPr lang="en-IN"/>
          </a:p>
        </p:txBody>
      </p:sp>
    </p:spTree>
    <p:extLst>
      <p:ext uri="{BB962C8B-B14F-4D97-AF65-F5344CB8AC3E}">
        <p14:creationId xmlns:p14="http://schemas.microsoft.com/office/powerpoint/2010/main" val="738471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F2D4270-58CD-4E44-A8DF-F3011596C4ED}" type="datetimeFigureOut">
              <a:rPr lang="en-IN" smtClean="0"/>
              <a:t>05-10-2025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5D385DE-4FBA-4C4C-88D3-A6CB0A702391}" type="slidenum">
              <a:rPr lang="en-IN" smtClean="0"/>
              <a:t>‹#›</a:t>
            </a:fld>
            <a:endParaRPr lang="en-IN"/>
          </a:p>
        </p:txBody>
      </p:sp>
    </p:spTree>
    <p:extLst>
      <p:ext uri="{BB962C8B-B14F-4D97-AF65-F5344CB8AC3E}">
        <p14:creationId xmlns:p14="http://schemas.microsoft.com/office/powerpoint/2010/main" val="33862546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F2D4270-58CD-4E44-A8DF-F3011596C4ED}" type="datetimeFigureOut">
              <a:rPr lang="en-IN" smtClean="0"/>
              <a:t>05-10-2025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5D385DE-4FBA-4C4C-88D3-A6CB0A702391}" type="slidenum">
              <a:rPr lang="en-IN" smtClean="0"/>
              <a:t>‹#›</a:t>
            </a:fld>
            <a:endParaRPr lang="en-IN"/>
          </a:p>
        </p:txBody>
      </p:sp>
    </p:spTree>
    <p:extLst>
      <p:ext uri="{BB962C8B-B14F-4D97-AF65-F5344CB8AC3E}">
        <p14:creationId xmlns:p14="http://schemas.microsoft.com/office/powerpoint/2010/main" val="37409676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F2D4270-58CD-4E44-A8DF-F3011596C4ED}" type="datetimeFigureOut">
              <a:rPr lang="en-IN" smtClean="0"/>
              <a:t>05-10-2025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5D385DE-4FBA-4C4C-88D3-A6CB0A702391}" type="slidenum">
              <a:rPr lang="en-IN" smtClean="0"/>
              <a:t>‹#›</a:t>
            </a:fld>
            <a:endParaRPr lang="en-IN"/>
          </a:p>
        </p:txBody>
      </p:sp>
    </p:spTree>
    <p:extLst>
      <p:ext uri="{BB962C8B-B14F-4D97-AF65-F5344CB8AC3E}">
        <p14:creationId xmlns:p14="http://schemas.microsoft.com/office/powerpoint/2010/main" val="19550869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F2D4270-58CD-4E44-A8DF-F3011596C4ED}" type="datetimeFigureOut">
              <a:rPr lang="en-IN" smtClean="0"/>
              <a:t>05-10-2025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5D385DE-4FBA-4C4C-88D3-A6CB0A702391}" type="slidenum">
              <a:rPr lang="en-IN" smtClean="0"/>
              <a:t>‹#›</a:t>
            </a:fld>
            <a:endParaRPr lang="en-IN"/>
          </a:p>
        </p:txBody>
      </p:sp>
    </p:spTree>
    <p:extLst>
      <p:ext uri="{BB962C8B-B14F-4D97-AF65-F5344CB8AC3E}">
        <p14:creationId xmlns:p14="http://schemas.microsoft.com/office/powerpoint/2010/main" val="11059134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F2D4270-58CD-4E44-A8DF-F3011596C4ED}" type="datetimeFigureOut">
              <a:rPr lang="en-IN" smtClean="0"/>
              <a:t>05-10-2025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5D385DE-4FBA-4C4C-88D3-A6CB0A702391}" type="slidenum">
              <a:rPr lang="en-IN" smtClean="0"/>
              <a:t>‹#›</a:t>
            </a:fld>
            <a:endParaRPr lang="en-IN"/>
          </a:p>
        </p:txBody>
      </p:sp>
    </p:spTree>
    <p:extLst>
      <p:ext uri="{BB962C8B-B14F-4D97-AF65-F5344CB8AC3E}">
        <p14:creationId xmlns:p14="http://schemas.microsoft.com/office/powerpoint/2010/main" val="5375166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2D4270-58CD-4E44-A8DF-F3011596C4ED}" type="datetimeFigureOut">
              <a:rPr lang="en-IN" smtClean="0"/>
              <a:t>05-10-2025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5D385DE-4FBA-4C4C-88D3-A6CB0A702391}" type="slidenum">
              <a:rPr lang="en-IN" smtClean="0"/>
              <a:t>‹#›</a:t>
            </a:fld>
            <a:endParaRPr lang="en-IN"/>
          </a:p>
        </p:txBody>
      </p:sp>
    </p:spTree>
    <p:extLst>
      <p:ext uri="{BB962C8B-B14F-4D97-AF65-F5344CB8AC3E}">
        <p14:creationId xmlns:p14="http://schemas.microsoft.com/office/powerpoint/2010/main" val="29143771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2D4270-58CD-4E44-A8DF-F3011596C4ED}" type="datetimeFigureOut">
              <a:rPr lang="en-IN" smtClean="0"/>
              <a:t>05-10-2025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5D385DE-4FBA-4C4C-88D3-A6CB0A702391}"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1866682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2D4270-58CD-4E44-A8DF-F3011596C4ED}" type="datetimeFigureOut">
              <a:rPr lang="en-IN" smtClean="0"/>
              <a:t>05-10-2025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5D385DE-4FBA-4C4C-88D3-A6CB0A702391}" type="slidenum">
              <a:rPr lang="en-IN" smtClean="0"/>
              <a:t>‹#›</a:t>
            </a:fld>
            <a:endParaRPr lang="en-IN"/>
          </a:p>
        </p:txBody>
      </p:sp>
    </p:spTree>
    <p:extLst>
      <p:ext uri="{BB962C8B-B14F-4D97-AF65-F5344CB8AC3E}">
        <p14:creationId xmlns:p14="http://schemas.microsoft.com/office/powerpoint/2010/main" val="36997292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2D4270-58CD-4E44-A8DF-F3011596C4ED}" type="datetimeFigureOut">
              <a:rPr lang="en-IN" smtClean="0"/>
              <a:t>05-10-2025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5D385DE-4FBA-4C4C-88D3-A6CB0A702391}"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2556153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2D4270-58CD-4E44-A8DF-F3011596C4ED}" type="datetimeFigureOut">
              <a:rPr lang="en-IN" smtClean="0"/>
              <a:t>05-10-2025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5D385DE-4FBA-4C4C-88D3-A6CB0A702391}" type="slidenum">
              <a:rPr lang="en-IN" smtClean="0"/>
              <a:t>‹#›</a:t>
            </a:fld>
            <a:endParaRPr lang="en-IN"/>
          </a:p>
        </p:txBody>
      </p:sp>
    </p:spTree>
    <p:extLst>
      <p:ext uri="{BB962C8B-B14F-4D97-AF65-F5344CB8AC3E}">
        <p14:creationId xmlns:p14="http://schemas.microsoft.com/office/powerpoint/2010/main" val="664404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2D4270-58CD-4E44-A8DF-F3011596C4ED}" type="datetimeFigureOut">
              <a:rPr lang="en-IN" smtClean="0"/>
              <a:t>05-10-2025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5D385DE-4FBA-4C4C-88D3-A6CB0A702391}" type="slidenum">
              <a:rPr lang="en-IN" smtClean="0"/>
              <a:t>‹#›</a:t>
            </a:fld>
            <a:endParaRPr lang="en-IN"/>
          </a:p>
        </p:txBody>
      </p:sp>
    </p:spTree>
    <p:extLst>
      <p:ext uri="{BB962C8B-B14F-4D97-AF65-F5344CB8AC3E}">
        <p14:creationId xmlns:p14="http://schemas.microsoft.com/office/powerpoint/2010/main" val="41668106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2D4270-58CD-4E44-A8DF-F3011596C4ED}" type="datetimeFigureOut">
              <a:rPr lang="en-IN" smtClean="0"/>
              <a:t>05-10-2025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5D385DE-4FBA-4C4C-88D3-A6CB0A702391}" type="slidenum">
              <a:rPr lang="en-IN" smtClean="0"/>
              <a:t>‹#›</a:t>
            </a:fld>
            <a:endParaRPr lang="en-IN"/>
          </a:p>
        </p:txBody>
      </p:sp>
    </p:spTree>
    <p:extLst>
      <p:ext uri="{BB962C8B-B14F-4D97-AF65-F5344CB8AC3E}">
        <p14:creationId xmlns:p14="http://schemas.microsoft.com/office/powerpoint/2010/main" val="9376487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F2D4270-58CD-4E44-A8DF-F3011596C4ED}" type="datetimeFigureOut">
              <a:rPr lang="en-IN" smtClean="0"/>
              <a:t>05-10-2025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35D385DE-4FBA-4C4C-88D3-A6CB0A702391}" type="slidenum">
              <a:rPr lang="en-IN" smtClean="0"/>
              <a:t>‹#›</a:t>
            </a:fld>
            <a:endParaRPr lang="en-IN"/>
          </a:p>
        </p:txBody>
      </p:sp>
    </p:spTree>
    <p:extLst>
      <p:ext uri="{BB962C8B-B14F-4D97-AF65-F5344CB8AC3E}">
        <p14:creationId xmlns:p14="http://schemas.microsoft.com/office/powerpoint/2010/main" val="14625805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hyperlink" Target="mailto:username@domain.extension" TargetMode="Externa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hyperlink" Target="http://www/"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09C6F-9AC1-349E-11F8-74E2443995CE}"/>
              </a:ext>
            </a:extLst>
          </p:cNvPr>
          <p:cNvSpPr>
            <a:spLocks noGrp="1"/>
          </p:cNvSpPr>
          <p:nvPr>
            <p:ph type="ctrTitle"/>
          </p:nvPr>
        </p:nvSpPr>
        <p:spPr>
          <a:xfrm>
            <a:off x="983974" y="1350986"/>
            <a:ext cx="8667716" cy="1646302"/>
          </a:xfrm>
        </p:spPr>
        <p:txBody>
          <a:bodyPr/>
          <a:lstStyle/>
          <a:p>
            <a:pPr algn="ctr"/>
            <a:r>
              <a:rPr lang="en-IN" dirty="0"/>
              <a:t>Python Regular Expressions </a:t>
            </a:r>
          </a:p>
        </p:txBody>
      </p:sp>
    </p:spTree>
    <p:extLst>
      <p:ext uri="{BB962C8B-B14F-4D97-AF65-F5344CB8AC3E}">
        <p14:creationId xmlns:p14="http://schemas.microsoft.com/office/powerpoint/2010/main" val="20948003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44BD74C-A42E-5FCE-76D8-845C7D288996}"/>
              </a:ext>
            </a:extLst>
          </p:cNvPr>
          <p:cNvSpPr txBox="1"/>
          <p:nvPr/>
        </p:nvSpPr>
        <p:spPr>
          <a:xfrm>
            <a:off x="815008" y="123447"/>
            <a:ext cx="8468139" cy="369332"/>
          </a:xfrm>
          <a:prstGeom prst="rect">
            <a:avLst/>
          </a:prstGeom>
          <a:noFill/>
        </p:spPr>
        <p:txBody>
          <a:bodyPr wrap="square">
            <a:spAutoFit/>
          </a:bodyPr>
          <a:lstStyle/>
          <a:p>
            <a:r>
              <a:rPr lang="en-US" b="1" dirty="0"/>
              <a:t>5.1 Powerful pattern matching and searching</a:t>
            </a:r>
            <a:endParaRPr lang="en-IN" b="1" dirty="0"/>
          </a:p>
        </p:txBody>
      </p:sp>
      <p:sp>
        <p:nvSpPr>
          <p:cNvPr id="7" name="TextBox 6">
            <a:extLst>
              <a:ext uri="{FF2B5EF4-FFF2-40B4-BE49-F238E27FC236}">
                <a16:creationId xmlns:a16="http://schemas.microsoft.com/office/drawing/2014/main" id="{311BB966-1C3D-ECEA-8C20-A4F21D172D63}"/>
              </a:ext>
            </a:extLst>
          </p:cNvPr>
          <p:cNvSpPr txBox="1"/>
          <p:nvPr/>
        </p:nvSpPr>
        <p:spPr>
          <a:xfrm>
            <a:off x="815008" y="566678"/>
            <a:ext cx="8617226" cy="5078313"/>
          </a:xfrm>
          <a:prstGeom prst="rect">
            <a:avLst/>
          </a:prstGeom>
          <a:noFill/>
        </p:spPr>
        <p:txBody>
          <a:bodyPr wrap="square">
            <a:spAutoFit/>
          </a:bodyPr>
          <a:lstStyle/>
          <a:p>
            <a:pPr algn="l">
              <a:buNone/>
            </a:pPr>
            <a:r>
              <a:rPr lang="en-US" b="0" i="0" dirty="0">
                <a:effectLst/>
                <a:latin typeface="fkGroteskNeue"/>
              </a:rPr>
              <a:t>Pattern matching and searching means finding parts of text that match a </a:t>
            </a:r>
            <a:r>
              <a:rPr lang="en-US" b="0" i="1" dirty="0">
                <a:effectLst/>
                <a:latin typeface="fkGroteskNeue"/>
              </a:rPr>
              <a:t>pattern</a:t>
            </a:r>
            <a:r>
              <a:rPr lang="en-US" b="0" i="0" dirty="0">
                <a:effectLst/>
                <a:latin typeface="fkGroteskNeue"/>
              </a:rPr>
              <a:t> (not just exact words). This is very useful for checking formats (like emails, phone numbers), highlighting text, or extracting data.</a:t>
            </a:r>
          </a:p>
          <a:p>
            <a:pPr algn="l">
              <a:buNone/>
            </a:pPr>
            <a:endParaRPr lang="en-US" b="0" i="0" dirty="0">
              <a:effectLst/>
              <a:latin typeface="fkGroteskNeue"/>
            </a:endParaRPr>
          </a:p>
          <a:p>
            <a:pPr algn="l">
              <a:buNone/>
            </a:pPr>
            <a:r>
              <a:rPr lang="en-US" b="0" i="0" dirty="0">
                <a:effectLst/>
                <a:latin typeface="fkGroteskNeue"/>
              </a:rPr>
              <a:t>Python's main tool for this is the regular expressions (RegEx) library, </a:t>
            </a:r>
            <a:r>
              <a:rPr lang="en-US" b="0" i="0" dirty="0">
                <a:effectLst/>
                <a:latin typeface="berkeleyMono"/>
              </a:rPr>
              <a:t>re</a:t>
            </a:r>
            <a:r>
              <a:rPr lang="en-US" b="0" i="0" dirty="0">
                <a:effectLst/>
                <a:latin typeface="fkGroteskNeue"/>
              </a:rPr>
              <a:t>.</a:t>
            </a:r>
          </a:p>
          <a:p>
            <a:pPr algn="l">
              <a:buNone/>
            </a:pPr>
            <a:endParaRPr lang="en-US" b="0" i="0" dirty="0">
              <a:effectLst/>
              <a:latin typeface="fkGroteskNeue"/>
            </a:endParaRPr>
          </a:p>
          <a:p>
            <a:pPr marL="285750" indent="-285750" algn="l">
              <a:buFont typeface="Wingdings" panose="05000000000000000000" pitchFamily="2" charset="2"/>
              <a:buChar char="Ø"/>
            </a:pPr>
            <a:r>
              <a:rPr lang="en-US" b="1" dirty="0">
                <a:effectLst/>
                <a:latin typeface="fkGrotesk"/>
              </a:rPr>
              <a:t>What is a Regular Expression (RegEx)?</a:t>
            </a:r>
          </a:p>
          <a:p>
            <a:pPr algn="l"/>
            <a:endParaRPr lang="en-US" b="0" i="0" dirty="0">
              <a:effectLst/>
              <a:latin typeface="fkGrotesk"/>
            </a:endParaRPr>
          </a:p>
          <a:p>
            <a:pPr algn="l">
              <a:buFont typeface="Arial" panose="020B0604020202020204" pitchFamily="34" charset="0"/>
              <a:buChar char="•"/>
            </a:pPr>
            <a:r>
              <a:rPr lang="en-US" b="0" i="0" dirty="0">
                <a:effectLst/>
                <a:latin typeface="fkGroteskNeue"/>
              </a:rPr>
              <a:t>A Regular Expression is a special sequence of characters that forms a search pattern.</a:t>
            </a:r>
          </a:p>
          <a:p>
            <a:pPr algn="l">
              <a:buFont typeface="Arial" panose="020B0604020202020204" pitchFamily="34" charset="0"/>
              <a:buChar char="•"/>
            </a:pPr>
            <a:r>
              <a:rPr lang="en-US" b="0" i="0" dirty="0">
                <a:effectLst/>
                <a:latin typeface="fkGroteskNeue"/>
              </a:rPr>
              <a:t>With RegEx, you can search, match, and manipulate text based on complicated rules.</a:t>
            </a:r>
          </a:p>
          <a:p>
            <a:pPr algn="l">
              <a:buFont typeface="Arial" panose="020B0604020202020204" pitchFamily="34" charset="0"/>
              <a:buChar char="•"/>
            </a:pPr>
            <a:r>
              <a:rPr lang="en-US" b="0" i="0" dirty="0">
                <a:effectLst/>
                <a:latin typeface="fkGroteskNeue"/>
              </a:rPr>
              <a:t>Example patterns: digits, words, specific sequences, etc.</a:t>
            </a:r>
          </a:p>
          <a:p>
            <a:pPr algn="l"/>
            <a:endParaRPr lang="en-US" b="0" i="0" dirty="0">
              <a:effectLst/>
              <a:latin typeface="fkGroteskNeue"/>
            </a:endParaRPr>
          </a:p>
          <a:p>
            <a:pPr marL="285750" indent="-285750" algn="l">
              <a:buFont typeface="Wingdings" panose="05000000000000000000" pitchFamily="2" charset="2"/>
              <a:buChar char="q"/>
            </a:pPr>
            <a:r>
              <a:rPr lang="en-US" b="1" i="0" dirty="0">
                <a:effectLst/>
                <a:latin typeface="fkGrotesk"/>
              </a:rPr>
              <a:t>How to Use RegEx in Python</a:t>
            </a:r>
          </a:p>
          <a:p>
            <a:pPr algn="l">
              <a:buNone/>
            </a:pPr>
            <a:endParaRPr lang="en-US" b="0" i="0" dirty="0">
              <a:effectLst/>
              <a:latin typeface="fkGrotesk"/>
            </a:endParaRPr>
          </a:p>
          <a:p>
            <a:pPr algn="l">
              <a:buFont typeface="Arial" panose="020B0604020202020204" pitchFamily="34" charset="0"/>
              <a:buChar char="•"/>
            </a:pPr>
            <a:r>
              <a:rPr lang="en-US" b="0" i="0" dirty="0">
                <a:effectLst/>
                <a:latin typeface="fkGroteskNeue"/>
              </a:rPr>
              <a:t>Import the library:</a:t>
            </a:r>
          </a:p>
          <a:p>
            <a:pPr algn="l">
              <a:buFont typeface="Arial" panose="020B0604020202020204" pitchFamily="34" charset="0"/>
              <a:buChar char="•"/>
            </a:pPr>
            <a:endParaRPr lang="en-US" dirty="0">
              <a:latin typeface="fkGroteskNeue"/>
            </a:endParaRPr>
          </a:p>
          <a:p>
            <a:r>
              <a:rPr lang="en-US" dirty="0">
                <a:latin typeface="fkGroteskNeue"/>
              </a:rPr>
              <a:t>import re</a:t>
            </a:r>
          </a:p>
          <a:p>
            <a:pPr algn="l"/>
            <a:endParaRPr lang="en-US" b="0" i="0" dirty="0">
              <a:effectLst/>
              <a:latin typeface="fkGroteskNeue"/>
            </a:endParaRPr>
          </a:p>
        </p:txBody>
      </p:sp>
    </p:spTree>
    <p:extLst>
      <p:ext uri="{BB962C8B-B14F-4D97-AF65-F5344CB8AC3E}">
        <p14:creationId xmlns:p14="http://schemas.microsoft.com/office/powerpoint/2010/main" val="13811423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AFC29-5C86-C54D-6357-A52947FDBD6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3894EC7-0AC3-C13E-DC3A-D61B266E22F0}"/>
              </a:ext>
            </a:extLst>
          </p:cNvPr>
          <p:cNvSpPr txBox="1"/>
          <p:nvPr/>
        </p:nvSpPr>
        <p:spPr>
          <a:xfrm>
            <a:off x="824948" y="143325"/>
            <a:ext cx="6102626" cy="369332"/>
          </a:xfrm>
          <a:prstGeom prst="rect">
            <a:avLst/>
          </a:prstGeom>
          <a:noFill/>
        </p:spPr>
        <p:txBody>
          <a:bodyPr wrap="square">
            <a:spAutoFit/>
          </a:bodyPr>
          <a:lstStyle/>
          <a:p>
            <a:pPr marL="285750" indent="-285750">
              <a:buFont typeface="Wingdings" panose="05000000000000000000" pitchFamily="2" charset="2"/>
              <a:buChar char="q"/>
            </a:pPr>
            <a:r>
              <a:rPr lang="en-IN" b="1" dirty="0"/>
              <a:t>Methos in RE Module </a:t>
            </a:r>
          </a:p>
        </p:txBody>
      </p:sp>
      <p:sp>
        <p:nvSpPr>
          <p:cNvPr id="5" name="TextBox 4">
            <a:extLst>
              <a:ext uri="{FF2B5EF4-FFF2-40B4-BE49-F238E27FC236}">
                <a16:creationId xmlns:a16="http://schemas.microsoft.com/office/drawing/2014/main" id="{563F6C55-2DAF-8F92-6906-FA07C9E6418C}"/>
              </a:ext>
            </a:extLst>
          </p:cNvPr>
          <p:cNvSpPr txBox="1"/>
          <p:nvPr/>
        </p:nvSpPr>
        <p:spPr>
          <a:xfrm>
            <a:off x="824948" y="662753"/>
            <a:ext cx="8328991" cy="1200329"/>
          </a:xfrm>
          <a:prstGeom prst="rect">
            <a:avLst/>
          </a:prstGeom>
          <a:noFill/>
        </p:spPr>
        <p:txBody>
          <a:bodyPr wrap="square">
            <a:spAutoFit/>
          </a:bodyPr>
          <a:lstStyle/>
          <a:p>
            <a:r>
              <a:rPr lang="en-US" dirty="0"/>
              <a:t>1)match(): the match() method searches in the beginning of the string .if the matching string found it returns an object that contains the result otherwise it returns None. we can assess the string from returned object using group() method. </a:t>
            </a:r>
            <a:endParaRPr lang="en-IN" dirty="0"/>
          </a:p>
        </p:txBody>
      </p:sp>
      <p:sp>
        <p:nvSpPr>
          <p:cNvPr id="7" name="TextBox 6">
            <a:extLst>
              <a:ext uri="{FF2B5EF4-FFF2-40B4-BE49-F238E27FC236}">
                <a16:creationId xmlns:a16="http://schemas.microsoft.com/office/drawing/2014/main" id="{437B0A7B-122B-26BF-8949-0074B98D8A91}"/>
              </a:ext>
            </a:extLst>
          </p:cNvPr>
          <p:cNvSpPr txBox="1"/>
          <p:nvPr/>
        </p:nvSpPr>
        <p:spPr>
          <a:xfrm>
            <a:off x="824948" y="1913361"/>
            <a:ext cx="8696739" cy="4801314"/>
          </a:xfrm>
          <a:prstGeom prst="rect">
            <a:avLst/>
          </a:prstGeom>
          <a:noFill/>
        </p:spPr>
        <p:txBody>
          <a:bodyPr wrap="square">
            <a:spAutoFit/>
          </a:bodyPr>
          <a:lstStyle/>
          <a:p>
            <a:r>
              <a:rPr lang="en-US" dirty="0"/>
              <a:t>2)</a:t>
            </a:r>
            <a:r>
              <a:rPr lang="en-US" b="1" dirty="0"/>
              <a:t>search</a:t>
            </a:r>
            <a:r>
              <a:rPr lang="en-US" dirty="0"/>
              <a:t>() : the search() method searches the string from beginning till the end and return first occurrence of the matching string. otherwise it return None. we use group() method to retrieve the string from result.</a:t>
            </a:r>
          </a:p>
          <a:p>
            <a:endParaRPr lang="en-US" dirty="0"/>
          </a:p>
          <a:p>
            <a:r>
              <a:rPr lang="en-US" dirty="0"/>
              <a:t>3) </a:t>
            </a:r>
            <a:r>
              <a:rPr lang="en-US" b="1" dirty="0"/>
              <a:t>findall</a:t>
            </a:r>
            <a:r>
              <a:rPr lang="en-US" dirty="0"/>
              <a:t>(): the findall() method searches the string from beginning till the end and returns all occurrences of the matching string in the for of list .if the matching string not found then it will return empty list. we can use for loop to display result or can directly print list. </a:t>
            </a:r>
          </a:p>
          <a:p>
            <a:endParaRPr lang="en-US" dirty="0"/>
          </a:p>
          <a:p>
            <a:r>
              <a:rPr lang="en-US" dirty="0"/>
              <a:t>4) </a:t>
            </a:r>
            <a:r>
              <a:rPr lang="en-US" b="1" dirty="0"/>
              <a:t>split</a:t>
            </a:r>
            <a:r>
              <a:rPr lang="en-US" dirty="0"/>
              <a:t>()- the split method splits the string according to the regular expression and resultant pieces are returned as a list. it there are no string pieces then it returns an empty list. we can print resultant by using for loop..</a:t>
            </a:r>
          </a:p>
          <a:p>
            <a:endParaRPr lang="en-US" dirty="0"/>
          </a:p>
          <a:p>
            <a:r>
              <a:rPr lang="en-US" dirty="0"/>
              <a:t> bbcdbb a bbgdt a hht a kkt </a:t>
            </a:r>
          </a:p>
          <a:p>
            <a:endParaRPr lang="en-US" dirty="0"/>
          </a:p>
          <a:p>
            <a:r>
              <a:rPr lang="en-US" dirty="0"/>
              <a:t>5) </a:t>
            </a:r>
            <a:r>
              <a:rPr lang="en-US" b="1" dirty="0"/>
              <a:t>sub</a:t>
            </a:r>
            <a:r>
              <a:rPr lang="en-US" dirty="0"/>
              <a:t>(): the sub() method substitutes or replace new strings in place of existing strings after substitute the main string is returned by this method.</a:t>
            </a:r>
            <a:endParaRPr lang="en-IN" dirty="0"/>
          </a:p>
        </p:txBody>
      </p:sp>
    </p:spTree>
    <p:extLst>
      <p:ext uri="{BB962C8B-B14F-4D97-AF65-F5344CB8AC3E}">
        <p14:creationId xmlns:p14="http://schemas.microsoft.com/office/powerpoint/2010/main" val="11009074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78C16-E0DD-5F54-6626-C25BFBB4006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1F1BDD9-8673-0DCC-0335-F7F51EBBB29C}"/>
              </a:ext>
            </a:extLst>
          </p:cNvPr>
          <p:cNvSpPr txBox="1"/>
          <p:nvPr/>
        </p:nvSpPr>
        <p:spPr>
          <a:xfrm>
            <a:off x="934278" y="114805"/>
            <a:ext cx="8328991" cy="369332"/>
          </a:xfrm>
          <a:prstGeom prst="rect">
            <a:avLst/>
          </a:prstGeom>
          <a:noFill/>
        </p:spPr>
        <p:txBody>
          <a:bodyPr wrap="square">
            <a:spAutoFit/>
          </a:bodyPr>
          <a:lstStyle/>
          <a:p>
            <a:pPr>
              <a:buNone/>
            </a:pPr>
            <a:r>
              <a:rPr lang="en-US" b="1" dirty="0">
                <a:effectLst/>
                <a:latin typeface="fkGrotesk"/>
              </a:rPr>
              <a:t>Example 1: Finding All Digits in a String</a:t>
            </a:r>
          </a:p>
        </p:txBody>
      </p:sp>
      <p:sp>
        <p:nvSpPr>
          <p:cNvPr id="8" name="TextBox 7">
            <a:extLst>
              <a:ext uri="{FF2B5EF4-FFF2-40B4-BE49-F238E27FC236}">
                <a16:creationId xmlns:a16="http://schemas.microsoft.com/office/drawing/2014/main" id="{080FBCF5-740D-ECC4-3F6B-F377E695BE32}"/>
              </a:ext>
            </a:extLst>
          </p:cNvPr>
          <p:cNvSpPr txBox="1"/>
          <p:nvPr/>
        </p:nvSpPr>
        <p:spPr>
          <a:xfrm>
            <a:off x="934278" y="606287"/>
            <a:ext cx="9044609" cy="1200329"/>
          </a:xfrm>
          <a:prstGeom prst="rect">
            <a:avLst/>
          </a:prstGeom>
          <a:noFill/>
        </p:spPr>
        <p:txBody>
          <a:bodyPr wrap="square">
            <a:spAutoFit/>
          </a:bodyPr>
          <a:lstStyle/>
          <a:p>
            <a:r>
              <a:rPr lang="en-IN" dirty="0"/>
              <a:t>import re</a:t>
            </a:r>
          </a:p>
          <a:p>
            <a:r>
              <a:rPr lang="en-IN" dirty="0"/>
              <a:t>text = "My marks are 75 in math, 82 in science, and 90 in English."</a:t>
            </a:r>
          </a:p>
          <a:p>
            <a:r>
              <a:rPr lang="en-IN" dirty="0"/>
              <a:t>result = re.findall(r'\d+', text)</a:t>
            </a:r>
          </a:p>
          <a:p>
            <a:r>
              <a:rPr lang="en-IN" dirty="0"/>
              <a:t>print(result)  # Output: ['75', '82', '90']</a:t>
            </a:r>
          </a:p>
        </p:txBody>
      </p:sp>
      <p:sp>
        <p:nvSpPr>
          <p:cNvPr id="10" name="TextBox 9">
            <a:extLst>
              <a:ext uri="{FF2B5EF4-FFF2-40B4-BE49-F238E27FC236}">
                <a16:creationId xmlns:a16="http://schemas.microsoft.com/office/drawing/2014/main" id="{E3175868-1F07-5D5F-EBC7-C2EEB23C9B9D}"/>
              </a:ext>
            </a:extLst>
          </p:cNvPr>
          <p:cNvSpPr txBox="1"/>
          <p:nvPr/>
        </p:nvSpPr>
        <p:spPr>
          <a:xfrm>
            <a:off x="934278" y="1928766"/>
            <a:ext cx="6102626" cy="369332"/>
          </a:xfrm>
          <a:prstGeom prst="rect">
            <a:avLst/>
          </a:prstGeom>
          <a:noFill/>
        </p:spPr>
        <p:txBody>
          <a:bodyPr wrap="square">
            <a:spAutoFit/>
          </a:bodyPr>
          <a:lstStyle/>
          <a:p>
            <a:pPr algn="l">
              <a:buFont typeface="Arial" panose="020B0604020202020204" pitchFamily="34" charset="0"/>
              <a:buChar char="•"/>
            </a:pPr>
            <a:r>
              <a:rPr lang="en-US" b="0" i="0" dirty="0">
                <a:effectLst/>
                <a:latin typeface="berkeleyMono"/>
              </a:rPr>
              <a:t>\d+</a:t>
            </a:r>
            <a:r>
              <a:rPr lang="en-US" b="0" i="0" dirty="0">
                <a:effectLst/>
                <a:latin typeface="fkGroteskNeue"/>
              </a:rPr>
              <a:t> finds sequences of one or more digits.</a:t>
            </a:r>
          </a:p>
        </p:txBody>
      </p:sp>
      <p:sp>
        <p:nvSpPr>
          <p:cNvPr id="2" name="TextBox 1">
            <a:extLst>
              <a:ext uri="{FF2B5EF4-FFF2-40B4-BE49-F238E27FC236}">
                <a16:creationId xmlns:a16="http://schemas.microsoft.com/office/drawing/2014/main" id="{B2CB6E9C-20FA-C934-A0F5-91EC2C3A4B91}"/>
              </a:ext>
            </a:extLst>
          </p:cNvPr>
          <p:cNvSpPr txBox="1"/>
          <p:nvPr/>
        </p:nvSpPr>
        <p:spPr>
          <a:xfrm>
            <a:off x="934278" y="2539952"/>
            <a:ext cx="6102626" cy="369332"/>
          </a:xfrm>
          <a:prstGeom prst="rect">
            <a:avLst/>
          </a:prstGeom>
          <a:noFill/>
        </p:spPr>
        <p:txBody>
          <a:bodyPr wrap="square">
            <a:spAutoFit/>
          </a:bodyPr>
          <a:lstStyle/>
          <a:p>
            <a:pPr>
              <a:buNone/>
            </a:pPr>
            <a:r>
              <a:rPr lang="en-US" b="1" dirty="0">
                <a:effectLst/>
                <a:latin typeface="fkGrotesk"/>
              </a:rPr>
              <a:t>Example 2: Search for a Pattern</a:t>
            </a:r>
          </a:p>
        </p:txBody>
      </p:sp>
      <p:sp>
        <p:nvSpPr>
          <p:cNvPr id="5" name="TextBox 4">
            <a:extLst>
              <a:ext uri="{FF2B5EF4-FFF2-40B4-BE49-F238E27FC236}">
                <a16:creationId xmlns:a16="http://schemas.microsoft.com/office/drawing/2014/main" id="{B2CE020F-8531-172C-A825-5025ABC8AD9E}"/>
              </a:ext>
            </a:extLst>
          </p:cNvPr>
          <p:cNvSpPr txBox="1"/>
          <p:nvPr/>
        </p:nvSpPr>
        <p:spPr>
          <a:xfrm>
            <a:off x="934278" y="2933054"/>
            <a:ext cx="8269357" cy="2031325"/>
          </a:xfrm>
          <a:prstGeom prst="rect">
            <a:avLst/>
          </a:prstGeom>
          <a:noFill/>
        </p:spPr>
        <p:txBody>
          <a:bodyPr wrap="square">
            <a:spAutoFit/>
          </a:bodyPr>
          <a:lstStyle/>
          <a:p>
            <a:r>
              <a:rPr lang="en-IN" dirty="0"/>
              <a:t>import re</a:t>
            </a:r>
          </a:p>
          <a:p>
            <a:r>
              <a:rPr lang="en-IN" dirty="0"/>
              <a:t>line = "Email: student123@college.edu"</a:t>
            </a:r>
          </a:p>
          <a:p>
            <a:r>
              <a:rPr lang="en-IN" dirty="0"/>
              <a:t>match = </a:t>
            </a:r>
            <a:r>
              <a:rPr lang="en-IN" dirty="0" err="1"/>
              <a:t>re.search</a:t>
            </a:r>
            <a:r>
              <a:rPr lang="en-IN" dirty="0"/>
              <a:t>(r'\w+@\w+\.\w+', line)</a:t>
            </a:r>
          </a:p>
          <a:p>
            <a:r>
              <a:rPr lang="en-IN" dirty="0"/>
              <a:t>if match:</a:t>
            </a:r>
          </a:p>
          <a:p>
            <a:r>
              <a:rPr lang="en-IN" dirty="0"/>
              <a:t>    print("Found:", </a:t>
            </a:r>
            <a:r>
              <a:rPr lang="en-IN" dirty="0" err="1"/>
              <a:t>match.group</a:t>
            </a:r>
            <a:r>
              <a:rPr lang="en-IN" dirty="0"/>
              <a:t>())  # Output: 'student123@college.edu'</a:t>
            </a:r>
          </a:p>
          <a:p>
            <a:r>
              <a:rPr lang="en-IN" dirty="0"/>
              <a:t>else:</a:t>
            </a:r>
          </a:p>
          <a:p>
            <a:r>
              <a:rPr lang="en-IN" dirty="0"/>
              <a:t>    print("No match found.")</a:t>
            </a:r>
          </a:p>
        </p:txBody>
      </p:sp>
      <p:sp>
        <p:nvSpPr>
          <p:cNvPr id="7" name="TextBox 6">
            <a:extLst>
              <a:ext uri="{FF2B5EF4-FFF2-40B4-BE49-F238E27FC236}">
                <a16:creationId xmlns:a16="http://schemas.microsoft.com/office/drawing/2014/main" id="{197EFEA9-7086-D456-94BA-1CFCAFD58943}"/>
              </a:ext>
            </a:extLst>
          </p:cNvPr>
          <p:cNvSpPr txBox="1"/>
          <p:nvPr/>
        </p:nvSpPr>
        <p:spPr>
          <a:xfrm>
            <a:off x="934277" y="5122830"/>
            <a:ext cx="8269357" cy="369332"/>
          </a:xfrm>
          <a:prstGeom prst="rect">
            <a:avLst/>
          </a:prstGeom>
          <a:noFill/>
        </p:spPr>
        <p:txBody>
          <a:bodyPr wrap="square">
            <a:spAutoFit/>
          </a:bodyPr>
          <a:lstStyle/>
          <a:p>
            <a:pPr algn="l">
              <a:buFont typeface="Arial" panose="020B0604020202020204" pitchFamily="34" charset="0"/>
              <a:buChar char="•"/>
            </a:pPr>
            <a:r>
              <a:rPr lang="en-US" b="0" i="0" dirty="0">
                <a:effectLst/>
                <a:latin typeface="berkeleyMono"/>
              </a:rPr>
              <a:t>\w+@\w+\.\w+</a:t>
            </a:r>
            <a:r>
              <a:rPr lang="en-US" b="0" i="0" dirty="0">
                <a:effectLst/>
                <a:latin typeface="fkGroteskNeue"/>
              </a:rPr>
              <a:t> matches an email-like pattern.</a:t>
            </a:r>
          </a:p>
        </p:txBody>
      </p:sp>
    </p:spTree>
    <p:extLst>
      <p:ext uri="{BB962C8B-B14F-4D97-AF65-F5344CB8AC3E}">
        <p14:creationId xmlns:p14="http://schemas.microsoft.com/office/powerpoint/2010/main" val="22368264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2FDF3-A248-147C-7009-8A9193E51A09}"/>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66CA070-941F-B4DB-EA81-4900CB305295}"/>
              </a:ext>
            </a:extLst>
          </p:cNvPr>
          <p:cNvSpPr txBox="1"/>
          <p:nvPr/>
        </p:nvSpPr>
        <p:spPr>
          <a:xfrm>
            <a:off x="1013791" y="272247"/>
            <a:ext cx="6102626" cy="369332"/>
          </a:xfrm>
          <a:prstGeom prst="rect">
            <a:avLst/>
          </a:prstGeom>
          <a:noFill/>
        </p:spPr>
        <p:txBody>
          <a:bodyPr wrap="square">
            <a:spAutoFit/>
          </a:bodyPr>
          <a:lstStyle/>
          <a:p>
            <a:pPr>
              <a:buNone/>
            </a:pPr>
            <a:r>
              <a:rPr lang="en-US" b="1" dirty="0">
                <a:effectLst/>
                <a:latin typeface="fkGrotesk"/>
              </a:rPr>
              <a:t>Example 3: Replace Patterns in a String</a:t>
            </a:r>
          </a:p>
        </p:txBody>
      </p:sp>
      <p:sp>
        <p:nvSpPr>
          <p:cNvPr id="11" name="TextBox 10">
            <a:extLst>
              <a:ext uri="{FF2B5EF4-FFF2-40B4-BE49-F238E27FC236}">
                <a16:creationId xmlns:a16="http://schemas.microsoft.com/office/drawing/2014/main" id="{38BAAC33-2276-2D53-7685-FE8D4845F838}"/>
              </a:ext>
            </a:extLst>
          </p:cNvPr>
          <p:cNvSpPr txBox="1"/>
          <p:nvPr/>
        </p:nvSpPr>
        <p:spPr>
          <a:xfrm>
            <a:off x="1013791" y="760633"/>
            <a:ext cx="6102626" cy="1477328"/>
          </a:xfrm>
          <a:prstGeom prst="rect">
            <a:avLst/>
          </a:prstGeom>
          <a:noFill/>
        </p:spPr>
        <p:txBody>
          <a:bodyPr wrap="square">
            <a:spAutoFit/>
          </a:bodyPr>
          <a:lstStyle/>
          <a:p>
            <a:r>
              <a:rPr lang="en-IN" dirty="0"/>
              <a:t>import re</a:t>
            </a:r>
          </a:p>
          <a:p>
            <a:r>
              <a:rPr lang="en-IN" dirty="0"/>
              <a:t>sentence = "Python is EASY. Learning python is fun."</a:t>
            </a:r>
          </a:p>
          <a:p>
            <a:r>
              <a:rPr lang="en-IN" dirty="0"/>
              <a:t>new = re.sub(r'python', 'JAVA', sentence, flags=re.IGNORECASE)</a:t>
            </a:r>
          </a:p>
          <a:p>
            <a:r>
              <a:rPr lang="en-IN" dirty="0"/>
              <a:t>print(new)  # Output: 'JAVA is EASY. Learning JAVA is fun.'</a:t>
            </a:r>
          </a:p>
        </p:txBody>
      </p:sp>
      <p:sp>
        <p:nvSpPr>
          <p:cNvPr id="13" name="TextBox 12">
            <a:extLst>
              <a:ext uri="{FF2B5EF4-FFF2-40B4-BE49-F238E27FC236}">
                <a16:creationId xmlns:a16="http://schemas.microsoft.com/office/drawing/2014/main" id="{0F25AD70-31DF-78A6-7820-AA65DD4A06B5}"/>
              </a:ext>
            </a:extLst>
          </p:cNvPr>
          <p:cNvSpPr txBox="1"/>
          <p:nvPr/>
        </p:nvSpPr>
        <p:spPr>
          <a:xfrm>
            <a:off x="1013791" y="2357015"/>
            <a:ext cx="6102626" cy="646331"/>
          </a:xfrm>
          <a:prstGeom prst="rect">
            <a:avLst/>
          </a:prstGeom>
          <a:noFill/>
        </p:spPr>
        <p:txBody>
          <a:bodyPr wrap="square">
            <a:spAutoFit/>
          </a:bodyPr>
          <a:lstStyle/>
          <a:p>
            <a:pPr algn="l">
              <a:buFont typeface="Arial" panose="020B0604020202020204" pitchFamily="34" charset="0"/>
              <a:buChar char="•"/>
            </a:pPr>
            <a:r>
              <a:rPr lang="en-US" b="0" i="0" dirty="0" err="1">
                <a:effectLst/>
                <a:latin typeface="berkeleyMono"/>
              </a:rPr>
              <a:t>re.IGNORECASE</a:t>
            </a:r>
            <a:r>
              <a:rPr lang="en-US" b="0" i="0" dirty="0">
                <a:effectLst/>
                <a:latin typeface="fkGroteskNeue"/>
              </a:rPr>
              <a:t> makes it case-insensitive.</a:t>
            </a:r>
          </a:p>
          <a:p>
            <a:pPr algn="l">
              <a:buFont typeface="Arial" panose="020B0604020202020204" pitchFamily="34" charset="0"/>
              <a:buChar char="•"/>
            </a:pPr>
            <a:r>
              <a:rPr lang="en-US" b="0" i="0" dirty="0">
                <a:effectLst/>
                <a:latin typeface="fkGroteskNeue"/>
              </a:rPr>
              <a:t>All 'python' are replaced with 'JAVA'.</a:t>
            </a:r>
          </a:p>
        </p:txBody>
      </p:sp>
    </p:spTree>
    <p:extLst>
      <p:ext uri="{BB962C8B-B14F-4D97-AF65-F5344CB8AC3E}">
        <p14:creationId xmlns:p14="http://schemas.microsoft.com/office/powerpoint/2010/main" val="23139446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F4E3E-D464-4B2F-6F47-B87262057E2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1C8572B-4723-8593-48FC-731A1FE33C1A}"/>
              </a:ext>
            </a:extLst>
          </p:cNvPr>
          <p:cNvSpPr txBox="1"/>
          <p:nvPr/>
        </p:nvSpPr>
        <p:spPr>
          <a:xfrm>
            <a:off x="924339" y="183082"/>
            <a:ext cx="6102626" cy="369332"/>
          </a:xfrm>
          <a:prstGeom prst="rect">
            <a:avLst/>
          </a:prstGeom>
          <a:noFill/>
        </p:spPr>
        <p:txBody>
          <a:bodyPr wrap="square">
            <a:spAutoFit/>
          </a:bodyPr>
          <a:lstStyle/>
          <a:p>
            <a:r>
              <a:rPr lang="en-US" b="1" dirty="0"/>
              <a:t>Sequence Characters in Regular Expression:</a:t>
            </a:r>
            <a:endParaRPr lang="en-IN" b="1" dirty="0"/>
          </a:p>
        </p:txBody>
      </p:sp>
      <p:graphicFrame>
        <p:nvGraphicFramePr>
          <p:cNvPr id="7" name="Content Placeholder 3">
            <a:extLst>
              <a:ext uri="{FF2B5EF4-FFF2-40B4-BE49-F238E27FC236}">
                <a16:creationId xmlns:a16="http://schemas.microsoft.com/office/drawing/2014/main" id="{2AA5F9FB-DC43-3044-598A-90DB5C495B47}"/>
              </a:ext>
            </a:extLst>
          </p:cNvPr>
          <p:cNvGraphicFramePr>
            <a:graphicFrameLocks/>
          </p:cNvGraphicFramePr>
          <p:nvPr>
            <p:extLst>
              <p:ext uri="{D42A27DB-BD31-4B8C-83A1-F6EECF244321}">
                <p14:modId xmlns:p14="http://schemas.microsoft.com/office/powerpoint/2010/main" val="4059566450"/>
              </p:ext>
            </p:extLst>
          </p:nvPr>
        </p:nvGraphicFramePr>
        <p:xfrm>
          <a:off x="834887" y="639901"/>
          <a:ext cx="8596312" cy="3708400"/>
        </p:xfrm>
        <a:graphic>
          <a:graphicData uri="http://schemas.openxmlformats.org/drawingml/2006/table">
            <a:tbl>
              <a:tblPr firstRow="1" bandRow="1">
                <a:tableStyleId>{5940675A-B579-460E-94D1-54222C63F5DA}</a:tableStyleId>
              </a:tblPr>
              <a:tblGrid>
                <a:gridCol w="1391479">
                  <a:extLst>
                    <a:ext uri="{9D8B030D-6E8A-4147-A177-3AD203B41FA5}">
                      <a16:colId xmlns:a16="http://schemas.microsoft.com/office/drawing/2014/main" val="4247840714"/>
                    </a:ext>
                  </a:extLst>
                </a:gridCol>
                <a:gridCol w="7204833">
                  <a:extLst>
                    <a:ext uri="{9D8B030D-6E8A-4147-A177-3AD203B41FA5}">
                      <a16:colId xmlns:a16="http://schemas.microsoft.com/office/drawing/2014/main" val="4094337509"/>
                    </a:ext>
                  </a:extLst>
                </a:gridCol>
              </a:tblGrid>
              <a:tr h="370840">
                <a:tc>
                  <a:txBody>
                    <a:bodyPr/>
                    <a:lstStyle/>
                    <a:p>
                      <a:pPr algn="ctr"/>
                      <a:r>
                        <a:rPr lang="en-IN" b="1" dirty="0"/>
                        <a:t>Characters</a:t>
                      </a:r>
                    </a:p>
                  </a:txBody>
                  <a:tcPr/>
                </a:tc>
                <a:tc>
                  <a:txBody>
                    <a:bodyPr/>
                    <a:lstStyle/>
                    <a:p>
                      <a:pPr algn="ctr"/>
                      <a:r>
                        <a:rPr lang="en-IN" b="1" dirty="0"/>
                        <a:t>description</a:t>
                      </a:r>
                    </a:p>
                  </a:txBody>
                  <a:tcPr/>
                </a:tc>
                <a:extLst>
                  <a:ext uri="{0D108BD9-81ED-4DB2-BD59-A6C34878D82A}">
                    <a16:rowId xmlns:a16="http://schemas.microsoft.com/office/drawing/2014/main" val="2740081143"/>
                  </a:ext>
                </a:extLst>
              </a:tr>
              <a:tr h="370840">
                <a:tc>
                  <a:txBody>
                    <a:bodyPr/>
                    <a:lstStyle/>
                    <a:p>
                      <a:r>
                        <a:rPr lang="en-IN" dirty="0"/>
                        <a:t>\d </a:t>
                      </a:r>
                    </a:p>
                  </a:txBody>
                  <a:tcPr/>
                </a:tc>
                <a:tc>
                  <a:txBody>
                    <a:bodyPr/>
                    <a:lstStyle/>
                    <a:p>
                      <a:r>
                        <a:rPr lang="en-US" dirty="0"/>
                        <a:t>Represents any digit( 0 to 9) </a:t>
                      </a:r>
                      <a:endParaRPr lang="en-IN" dirty="0"/>
                    </a:p>
                  </a:txBody>
                  <a:tcPr/>
                </a:tc>
                <a:extLst>
                  <a:ext uri="{0D108BD9-81ED-4DB2-BD59-A6C34878D82A}">
                    <a16:rowId xmlns:a16="http://schemas.microsoft.com/office/drawing/2014/main" val="609091263"/>
                  </a:ext>
                </a:extLst>
              </a:tr>
              <a:tr h="370840">
                <a:tc>
                  <a:txBody>
                    <a:bodyPr/>
                    <a:lstStyle/>
                    <a:p>
                      <a:r>
                        <a:rPr lang="en-IN" dirty="0"/>
                        <a:t>\D</a:t>
                      </a:r>
                    </a:p>
                  </a:txBody>
                  <a:tcPr/>
                </a:tc>
                <a:tc>
                  <a:txBody>
                    <a:bodyPr/>
                    <a:lstStyle/>
                    <a:p>
                      <a:r>
                        <a:rPr lang="en-IN" dirty="0"/>
                        <a:t>Represents any non digit </a:t>
                      </a:r>
                    </a:p>
                  </a:txBody>
                  <a:tcPr/>
                </a:tc>
                <a:extLst>
                  <a:ext uri="{0D108BD9-81ED-4DB2-BD59-A6C34878D82A}">
                    <a16:rowId xmlns:a16="http://schemas.microsoft.com/office/drawing/2014/main" val="3030120831"/>
                  </a:ext>
                </a:extLst>
              </a:tr>
              <a:tr h="370840">
                <a:tc>
                  <a:txBody>
                    <a:bodyPr/>
                    <a:lstStyle/>
                    <a:p>
                      <a:r>
                        <a:rPr lang="en-IN" dirty="0"/>
                        <a:t>\s</a:t>
                      </a:r>
                    </a:p>
                  </a:txBody>
                  <a:tcPr/>
                </a:tc>
                <a:tc>
                  <a:txBody>
                    <a:bodyPr/>
                    <a:lstStyle/>
                    <a:p>
                      <a:r>
                        <a:rPr lang="en-IN" dirty="0"/>
                        <a:t>Represents a white spaces ex:\t \n \r </a:t>
                      </a:r>
                    </a:p>
                  </a:txBody>
                  <a:tcPr/>
                </a:tc>
                <a:extLst>
                  <a:ext uri="{0D108BD9-81ED-4DB2-BD59-A6C34878D82A}">
                    <a16:rowId xmlns:a16="http://schemas.microsoft.com/office/drawing/2014/main" val="1722546389"/>
                  </a:ext>
                </a:extLst>
              </a:tr>
              <a:tr h="370840">
                <a:tc>
                  <a:txBody>
                    <a:bodyPr/>
                    <a:lstStyle/>
                    <a:p>
                      <a:r>
                        <a:rPr lang="en-IN" dirty="0"/>
                        <a:t>\S</a:t>
                      </a:r>
                    </a:p>
                  </a:txBody>
                  <a:tcPr/>
                </a:tc>
                <a:tc>
                  <a:txBody>
                    <a:bodyPr/>
                    <a:lstStyle/>
                    <a:p>
                      <a:r>
                        <a:rPr lang="en-US" dirty="0"/>
                        <a:t>Represents non white spaces characters.</a:t>
                      </a:r>
                      <a:endParaRPr lang="en-IN" dirty="0"/>
                    </a:p>
                  </a:txBody>
                  <a:tcPr/>
                </a:tc>
                <a:extLst>
                  <a:ext uri="{0D108BD9-81ED-4DB2-BD59-A6C34878D82A}">
                    <a16:rowId xmlns:a16="http://schemas.microsoft.com/office/drawing/2014/main" val="1521027703"/>
                  </a:ext>
                </a:extLst>
              </a:tr>
              <a:tr h="370840">
                <a:tc>
                  <a:txBody>
                    <a:bodyPr/>
                    <a:lstStyle/>
                    <a:p>
                      <a:r>
                        <a:rPr lang="en-IN" dirty="0"/>
                        <a:t>\w </a:t>
                      </a:r>
                    </a:p>
                  </a:txBody>
                  <a:tcPr/>
                </a:tc>
                <a:tc>
                  <a:txBody>
                    <a:bodyPr/>
                    <a:lstStyle/>
                    <a:p>
                      <a:r>
                        <a:rPr lang="en-US" dirty="0"/>
                        <a:t>Represents any alphanumeric A to Z a to z,0 to 9</a:t>
                      </a:r>
                      <a:endParaRPr lang="en-IN" dirty="0"/>
                    </a:p>
                  </a:txBody>
                  <a:tcPr/>
                </a:tc>
                <a:extLst>
                  <a:ext uri="{0D108BD9-81ED-4DB2-BD59-A6C34878D82A}">
                    <a16:rowId xmlns:a16="http://schemas.microsoft.com/office/drawing/2014/main" val="1835959084"/>
                  </a:ext>
                </a:extLst>
              </a:tr>
              <a:tr h="370840">
                <a:tc>
                  <a:txBody>
                    <a:bodyPr/>
                    <a:lstStyle/>
                    <a:p>
                      <a:r>
                        <a:rPr lang="en-IN" dirty="0"/>
                        <a:t>\W</a:t>
                      </a:r>
                    </a:p>
                  </a:txBody>
                  <a:tcPr/>
                </a:tc>
                <a:tc>
                  <a:txBody>
                    <a:bodyPr/>
                    <a:lstStyle/>
                    <a:p>
                      <a:r>
                        <a:rPr lang="en-IN" dirty="0"/>
                        <a:t>Represents any non-alphanumeric</a:t>
                      </a:r>
                    </a:p>
                  </a:txBody>
                  <a:tcPr/>
                </a:tc>
                <a:extLst>
                  <a:ext uri="{0D108BD9-81ED-4DB2-BD59-A6C34878D82A}">
                    <a16:rowId xmlns:a16="http://schemas.microsoft.com/office/drawing/2014/main" val="465548451"/>
                  </a:ext>
                </a:extLst>
              </a:tr>
              <a:tr h="370840">
                <a:tc>
                  <a:txBody>
                    <a:bodyPr/>
                    <a:lstStyle/>
                    <a:p>
                      <a:r>
                        <a:rPr lang="en-IN" dirty="0"/>
                        <a:t>\b </a:t>
                      </a:r>
                    </a:p>
                  </a:txBody>
                  <a:tcPr/>
                </a:tc>
                <a:tc>
                  <a:txBody>
                    <a:bodyPr/>
                    <a:lstStyle/>
                    <a:p>
                      <a:r>
                        <a:rPr lang="en-US" dirty="0"/>
                        <a:t>Represents a space around words</a:t>
                      </a:r>
                      <a:endParaRPr lang="en-IN" dirty="0"/>
                    </a:p>
                  </a:txBody>
                  <a:tcPr/>
                </a:tc>
                <a:extLst>
                  <a:ext uri="{0D108BD9-81ED-4DB2-BD59-A6C34878D82A}">
                    <a16:rowId xmlns:a16="http://schemas.microsoft.com/office/drawing/2014/main" val="3946151751"/>
                  </a:ext>
                </a:extLst>
              </a:tr>
              <a:tr h="370840">
                <a:tc>
                  <a:txBody>
                    <a:bodyPr/>
                    <a:lstStyle/>
                    <a:p>
                      <a:r>
                        <a:rPr lang="en-IN" dirty="0"/>
                        <a:t>\A </a:t>
                      </a:r>
                    </a:p>
                  </a:txBody>
                  <a:tcPr/>
                </a:tc>
                <a:tc>
                  <a:txBody>
                    <a:bodyPr/>
                    <a:lstStyle/>
                    <a:p>
                      <a:r>
                        <a:rPr lang="en-US" dirty="0"/>
                        <a:t>Matches only at start of the string </a:t>
                      </a:r>
                      <a:endParaRPr lang="en-IN" dirty="0"/>
                    </a:p>
                  </a:txBody>
                  <a:tcPr/>
                </a:tc>
                <a:extLst>
                  <a:ext uri="{0D108BD9-81ED-4DB2-BD59-A6C34878D82A}">
                    <a16:rowId xmlns:a16="http://schemas.microsoft.com/office/drawing/2014/main" val="3529577462"/>
                  </a:ext>
                </a:extLst>
              </a:tr>
              <a:tr h="370840">
                <a:tc>
                  <a:txBody>
                    <a:bodyPr/>
                    <a:lstStyle/>
                    <a:p>
                      <a:r>
                        <a:rPr lang="en-IN" dirty="0"/>
                        <a:t>\Z </a:t>
                      </a:r>
                    </a:p>
                  </a:txBody>
                  <a:tcPr/>
                </a:tc>
                <a:tc>
                  <a:txBody>
                    <a:bodyPr/>
                    <a:lstStyle/>
                    <a:p>
                      <a:r>
                        <a:rPr lang="en-US" dirty="0"/>
                        <a:t>Matches only at the end of the string</a:t>
                      </a:r>
                      <a:endParaRPr lang="en-IN" dirty="0"/>
                    </a:p>
                  </a:txBody>
                  <a:tcPr/>
                </a:tc>
                <a:extLst>
                  <a:ext uri="{0D108BD9-81ED-4DB2-BD59-A6C34878D82A}">
                    <a16:rowId xmlns:a16="http://schemas.microsoft.com/office/drawing/2014/main" val="211866180"/>
                  </a:ext>
                </a:extLst>
              </a:tr>
            </a:tbl>
          </a:graphicData>
        </a:graphic>
      </p:graphicFrame>
      <p:sp>
        <p:nvSpPr>
          <p:cNvPr id="9" name="TextBox 8">
            <a:extLst>
              <a:ext uri="{FF2B5EF4-FFF2-40B4-BE49-F238E27FC236}">
                <a16:creationId xmlns:a16="http://schemas.microsoft.com/office/drawing/2014/main" id="{B27ED677-289B-DF9B-83B4-F1215DD4B406}"/>
              </a:ext>
            </a:extLst>
          </p:cNvPr>
          <p:cNvSpPr txBox="1"/>
          <p:nvPr/>
        </p:nvSpPr>
        <p:spPr>
          <a:xfrm>
            <a:off x="834887" y="4567535"/>
            <a:ext cx="8120270" cy="2031325"/>
          </a:xfrm>
          <a:prstGeom prst="rect">
            <a:avLst/>
          </a:prstGeom>
          <a:noFill/>
        </p:spPr>
        <p:txBody>
          <a:bodyPr wrap="square">
            <a:spAutoFit/>
          </a:bodyPr>
          <a:lstStyle/>
          <a:p>
            <a:r>
              <a:rPr lang="en-US" dirty="0"/>
              <a:t>each of this sequence represents a single character in the string . </a:t>
            </a:r>
          </a:p>
          <a:p>
            <a:endParaRPr lang="en-US" dirty="0"/>
          </a:p>
          <a:p>
            <a:r>
              <a:rPr lang="en-US" dirty="0"/>
              <a:t>\w one alphanenuric </a:t>
            </a:r>
          </a:p>
          <a:p>
            <a:endParaRPr lang="en-US" dirty="0"/>
          </a:p>
          <a:p>
            <a:r>
              <a:rPr lang="en-US" dirty="0"/>
              <a:t>‘*’ and 0 are used for repetitions </a:t>
            </a:r>
          </a:p>
          <a:p>
            <a:endParaRPr lang="en-US" dirty="0"/>
          </a:p>
          <a:p>
            <a:r>
              <a:rPr lang="en-US" dirty="0"/>
              <a:t>[\w]* - o or more</a:t>
            </a:r>
            <a:endParaRPr lang="en-IN" dirty="0"/>
          </a:p>
        </p:txBody>
      </p:sp>
    </p:spTree>
    <p:extLst>
      <p:ext uri="{BB962C8B-B14F-4D97-AF65-F5344CB8AC3E}">
        <p14:creationId xmlns:p14="http://schemas.microsoft.com/office/powerpoint/2010/main" val="24497829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2F4DE-0E80-55F7-EB05-F6E8C4BA4A7B}"/>
            </a:ext>
          </a:extLst>
        </p:cNvPr>
        <p:cNvGrpSpPr/>
        <p:nvPr/>
      </p:nvGrpSpPr>
      <p:grpSpPr>
        <a:xfrm>
          <a:off x="0" y="0"/>
          <a:ext cx="0" cy="0"/>
          <a:chOff x="0" y="0"/>
          <a:chExt cx="0" cy="0"/>
        </a:xfrm>
      </p:grpSpPr>
      <p:graphicFrame>
        <p:nvGraphicFramePr>
          <p:cNvPr id="3" name="Content Placeholder 3">
            <a:extLst>
              <a:ext uri="{FF2B5EF4-FFF2-40B4-BE49-F238E27FC236}">
                <a16:creationId xmlns:a16="http://schemas.microsoft.com/office/drawing/2014/main" id="{8A7519DB-A09E-E783-447E-D5AA95BF7A9E}"/>
              </a:ext>
            </a:extLst>
          </p:cNvPr>
          <p:cNvGraphicFramePr>
            <a:graphicFrameLocks/>
          </p:cNvGraphicFramePr>
          <p:nvPr>
            <p:extLst>
              <p:ext uri="{D42A27DB-BD31-4B8C-83A1-F6EECF244321}">
                <p14:modId xmlns:p14="http://schemas.microsoft.com/office/powerpoint/2010/main" val="481090205"/>
              </p:ext>
            </p:extLst>
          </p:nvPr>
        </p:nvGraphicFramePr>
        <p:xfrm>
          <a:off x="964095" y="425654"/>
          <a:ext cx="7931536" cy="2209800"/>
        </p:xfrm>
        <a:graphic>
          <a:graphicData uri="http://schemas.openxmlformats.org/drawingml/2006/table">
            <a:tbl>
              <a:tblPr firstRow="1" bandRow="1">
                <a:tableStyleId>{5940675A-B579-460E-94D1-54222C63F5DA}</a:tableStyleId>
              </a:tblPr>
              <a:tblGrid>
                <a:gridCol w="1352868">
                  <a:extLst>
                    <a:ext uri="{9D8B030D-6E8A-4147-A177-3AD203B41FA5}">
                      <a16:colId xmlns:a16="http://schemas.microsoft.com/office/drawing/2014/main" val="4247840714"/>
                    </a:ext>
                  </a:extLst>
                </a:gridCol>
                <a:gridCol w="6578668">
                  <a:extLst>
                    <a:ext uri="{9D8B030D-6E8A-4147-A177-3AD203B41FA5}">
                      <a16:colId xmlns:a16="http://schemas.microsoft.com/office/drawing/2014/main" val="4094337509"/>
                    </a:ext>
                  </a:extLst>
                </a:gridCol>
              </a:tblGrid>
              <a:tr h="258418">
                <a:tc>
                  <a:txBody>
                    <a:bodyPr/>
                    <a:lstStyle/>
                    <a:p>
                      <a:pPr algn="ctr"/>
                      <a:r>
                        <a:rPr lang="en-IN" b="1" dirty="0"/>
                        <a:t>Characters</a:t>
                      </a:r>
                    </a:p>
                  </a:txBody>
                  <a:tcPr/>
                </a:tc>
                <a:tc>
                  <a:txBody>
                    <a:bodyPr/>
                    <a:lstStyle/>
                    <a:p>
                      <a:pPr algn="ctr"/>
                      <a:r>
                        <a:rPr lang="en-IN" b="1" dirty="0"/>
                        <a:t>Description</a:t>
                      </a:r>
                    </a:p>
                  </a:txBody>
                  <a:tcPr/>
                </a:tc>
                <a:extLst>
                  <a:ext uri="{0D108BD9-81ED-4DB2-BD59-A6C34878D82A}">
                    <a16:rowId xmlns:a16="http://schemas.microsoft.com/office/drawing/2014/main" val="2740081143"/>
                  </a:ext>
                </a:extLst>
              </a:tr>
              <a:tr h="370840">
                <a:tc>
                  <a:txBody>
                    <a:bodyPr/>
                    <a:lstStyle/>
                    <a:p>
                      <a:r>
                        <a:rPr lang="en-IN" dirty="0"/>
                        <a:t>+</a:t>
                      </a:r>
                    </a:p>
                  </a:txBody>
                  <a:tcPr/>
                </a:tc>
                <a:tc>
                  <a:txBody>
                    <a:bodyPr/>
                    <a:lstStyle/>
                    <a:p>
                      <a:r>
                        <a:rPr lang="en-US" dirty="0"/>
                        <a:t>1 or more repetitions of the preceding regex </a:t>
                      </a:r>
                      <a:endParaRPr lang="en-IN" dirty="0"/>
                    </a:p>
                  </a:txBody>
                  <a:tcPr/>
                </a:tc>
                <a:extLst>
                  <a:ext uri="{0D108BD9-81ED-4DB2-BD59-A6C34878D82A}">
                    <a16:rowId xmlns:a16="http://schemas.microsoft.com/office/drawing/2014/main" val="609091263"/>
                  </a:ext>
                </a:extLst>
              </a:tr>
              <a:tr h="301246">
                <a:tc>
                  <a:txBody>
                    <a:bodyPr/>
                    <a:lstStyle/>
                    <a:p>
                      <a:r>
                        <a:rPr lang="en-IN" dirty="0"/>
                        <a:t>*</a:t>
                      </a:r>
                    </a:p>
                  </a:txBody>
                  <a:tcPr/>
                </a:tc>
                <a:tc>
                  <a:txBody>
                    <a:bodyPr/>
                    <a:lstStyle/>
                    <a:p>
                      <a:r>
                        <a:rPr lang="en-US" dirty="0"/>
                        <a:t>0 or more repetitions of the preceding regex </a:t>
                      </a:r>
                      <a:endParaRPr lang="en-IN" dirty="0"/>
                    </a:p>
                  </a:txBody>
                  <a:tcPr/>
                </a:tc>
                <a:extLst>
                  <a:ext uri="{0D108BD9-81ED-4DB2-BD59-A6C34878D82A}">
                    <a16:rowId xmlns:a16="http://schemas.microsoft.com/office/drawing/2014/main" val="3030120831"/>
                  </a:ext>
                </a:extLst>
              </a:tr>
              <a:tr h="370840">
                <a:tc>
                  <a:txBody>
                    <a:bodyPr/>
                    <a:lstStyle/>
                    <a:p>
                      <a:r>
                        <a:rPr lang="en-IN" dirty="0"/>
                        <a:t>?</a:t>
                      </a:r>
                    </a:p>
                  </a:txBody>
                  <a:tcPr/>
                </a:tc>
                <a:tc>
                  <a:txBody>
                    <a:bodyPr/>
                    <a:lstStyle/>
                    <a:p>
                      <a:r>
                        <a:rPr lang="en-US" dirty="0"/>
                        <a:t>0 or1 repetitions of the preceding regex</a:t>
                      </a:r>
                      <a:endParaRPr lang="en-IN" dirty="0"/>
                    </a:p>
                  </a:txBody>
                  <a:tcPr/>
                </a:tc>
                <a:extLst>
                  <a:ext uri="{0D108BD9-81ED-4DB2-BD59-A6C34878D82A}">
                    <a16:rowId xmlns:a16="http://schemas.microsoft.com/office/drawing/2014/main" val="1722546389"/>
                  </a:ext>
                </a:extLst>
              </a:tr>
              <a:tr h="370840">
                <a:tc>
                  <a:txBody>
                    <a:bodyPr/>
                    <a:lstStyle/>
                    <a:p>
                      <a:r>
                        <a:rPr lang="en-IN" dirty="0"/>
                        <a:t>{m}</a:t>
                      </a:r>
                    </a:p>
                  </a:txBody>
                  <a:tcPr/>
                </a:tc>
                <a:tc>
                  <a:txBody>
                    <a:bodyPr/>
                    <a:lstStyle/>
                    <a:p>
                      <a:r>
                        <a:rPr lang="en-IN" dirty="0"/>
                        <a:t>Exactly m occurrences</a:t>
                      </a:r>
                    </a:p>
                  </a:txBody>
                  <a:tcPr/>
                </a:tc>
                <a:extLst>
                  <a:ext uri="{0D108BD9-81ED-4DB2-BD59-A6C34878D82A}">
                    <a16:rowId xmlns:a16="http://schemas.microsoft.com/office/drawing/2014/main" val="1521027703"/>
                  </a:ext>
                </a:extLst>
              </a:tr>
              <a:tr h="160084">
                <a:tc>
                  <a:txBody>
                    <a:bodyPr/>
                    <a:lstStyle/>
                    <a:p>
                      <a:r>
                        <a:rPr lang="en-IN" dirty="0"/>
                        <a:t>{</a:t>
                      </a:r>
                      <a:r>
                        <a:rPr lang="en-IN" dirty="0" err="1"/>
                        <a:t>m,n</a:t>
                      </a:r>
                      <a:r>
                        <a:rPr lang="en-IN" dirty="0"/>
                        <a:t>}</a:t>
                      </a:r>
                    </a:p>
                  </a:txBody>
                  <a:tcPr/>
                </a:tc>
                <a:tc>
                  <a:txBody>
                    <a:bodyPr/>
                    <a:lstStyle/>
                    <a:p>
                      <a:r>
                        <a:rPr lang="en-US" dirty="0"/>
                        <a:t>From m to n occurrances . m default 0 and n default infinity</a:t>
                      </a:r>
                      <a:endParaRPr lang="en-IN" dirty="0"/>
                    </a:p>
                  </a:txBody>
                  <a:tcPr/>
                </a:tc>
                <a:extLst>
                  <a:ext uri="{0D108BD9-81ED-4DB2-BD59-A6C34878D82A}">
                    <a16:rowId xmlns:a16="http://schemas.microsoft.com/office/drawing/2014/main" val="1835959084"/>
                  </a:ext>
                </a:extLst>
              </a:tr>
            </a:tbl>
          </a:graphicData>
        </a:graphic>
      </p:graphicFrame>
      <p:sp>
        <p:nvSpPr>
          <p:cNvPr id="4" name="TextBox 3">
            <a:extLst>
              <a:ext uri="{FF2B5EF4-FFF2-40B4-BE49-F238E27FC236}">
                <a16:creationId xmlns:a16="http://schemas.microsoft.com/office/drawing/2014/main" id="{39A43884-17F5-3ED7-83F3-08F3131D9FA9}"/>
              </a:ext>
            </a:extLst>
          </p:cNvPr>
          <p:cNvSpPr txBox="1"/>
          <p:nvPr/>
        </p:nvSpPr>
        <p:spPr>
          <a:xfrm>
            <a:off x="894521" y="0"/>
            <a:ext cx="9034670" cy="369332"/>
          </a:xfrm>
          <a:prstGeom prst="rect">
            <a:avLst/>
          </a:prstGeom>
          <a:noFill/>
        </p:spPr>
        <p:txBody>
          <a:bodyPr wrap="square">
            <a:spAutoFit/>
          </a:bodyPr>
          <a:lstStyle/>
          <a:p>
            <a:r>
              <a:rPr lang="en-IN" b="1" dirty="0"/>
              <a:t>Quantifiers in Regular Expression </a:t>
            </a:r>
          </a:p>
        </p:txBody>
      </p:sp>
      <p:sp>
        <p:nvSpPr>
          <p:cNvPr id="6" name="TextBox 5">
            <a:extLst>
              <a:ext uri="{FF2B5EF4-FFF2-40B4-BE49-F238E27FC236}">
                <a16:creationId xmlns:a16="http://schemas.microsoft.com/office/drawing/2014/main" id="{0593A21E-BEB8-5EFD-3588-9F321000CE28}"/>
              </a:ext>
            </a:extLst>
          </p:cNvPr>
          <p:cNvSpPr txBox="1"/>
          <p:nvPr/>
        </p:nvSpPr>
        <p:spPr>
          <a:xfrm>
            <a:off x="964095" y="2635454"/>
            <a:ext cx="6102626" cy="4247317"/>
          </a:xfrm>
          <a:prstGeom prst="rect">
            <a:avLst/>
          </a:prstGeom>
          <a:noFill/>
        </p:spPr>
        <p:txBody>
          <a:bodyPr wrap="square">
            <a:spAutoFit/>
          </a:bodyPr>
          <a:lstStyle/>
          <a:p>
            <a:r>
              <a:rPr lang="en-IN" dirty="0"/>
              <a:t>\w \w+ </a:t>
            </a:r>
          </a:p>
          <a:p>
            <a:endParaRPr lang="en-IN" dirty="0"/>
          </a:p>
          <a:p>
            <a:r>
              <a:rPr lang="en-IN" dirty="0"/>
              <a:t>b\w+ ba </a:t>
            </a:r>
          </a:p>
          <a:p>
            <a:endParaRPr lang="en-IN" dirty="0"/>
          </a:p>
          <a:p>
            <a:r>
              <a:rPr lang="en-IN" dirty="0"/>
              <a:t>b\w* b,baa,ba,baaaa,</a:t>
            </a:r>
          </a:p>
          <a:p>
            <a:r>
              <a:rPr lang="en-IN" dirty="0"/>
              <a:t> </a:t>
            </a:r>
          </a:p>
          <a:p>
            <a:r>
              <a:rPr lang="en-IN" dirty="0"/>
              <a:t>b\w? b,ba</a:t>
            </a:r>
          </a:p>
          <a:p>
            <a:r>
              <a:rPr lang="en-IN" dirty="0"/>
              <a:t> </a:t>
            </a:r>
          </a:p>
          <a:p>
            <a:r>
              <a:rPr lang="en-IN" dirty="0"/>
              <a:t>\d{10} </a:t>
            </a:r>
          </a:p>
          <a:p>
            <a:endParaRPr lang="en-IN" dirty="0"/>
          </a:p>
          <a:p>
            <a:r>
              <a:rPr lang="en-IN" dirty="0"/>
              <a:t>\w{3,6}</a:t>
            </a:r>
          </a:p>
          <a:p>
            <a:r>
              <a:rPr lang="en-IN" dirty="0"/>
              <a:t> </a:t>
            </a:r>
          </a:p>
          <a:p>
            <a:r>
              <a:rPr lang="en-IN" dirty="0"/>
              <a:t>\w{,6} </a:t>
            </a:r>
          </a:p>
          <a:p>
            <a:endParaRPr lang="en-IN" dirty="0"/>
          </a:p>
          <a:p>
            <a:r>
              <a:rPr lang="en-IN" dirty="0"/>
              <a:t>\w{3,} </a:t>
            </a:r>
          </a:p>
        </p:txBody>
      </p:sp>
    </p:spTree>
    <p:extLst>
      <p:ext uri="{BB962C8B-B14F-4D97-AF65-F5344CB8AC3E}">
        <p14:creationId xmlns:p14="http://schemas.microsoft.com/office/powerpoint/2010/main" val="1661358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A227D-560D-428E-80D9-D5760C17B9B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E736CB1-471C-C190-075E-0C52D16A63E7}"/>
              </a:ext>
            </a:extLst>
          </p:cNvPr>
          <p:cNvSpPr txBox="1"/>
          <p:nvPr/>
        </p:nvSpPr>
        <p:spPr>
          <a:xfrm>
            <a:off x="849797" y="202960"/>
            <a:ext cx="8642074" cy="369332"/>
          </a:xfrm>
          <a:prstGeom prst="rect">
            <a:avLst/>
          </a:prstGeom>
          <a:noFill/>
        </p:spPr>
        <p:txBody>
          <a:bodyPr wrap="square">
            <a:spAutoFit/>
          </a:bodyPr>
          <a:lstStyle/>
          <a:p>
            <a:r>
              <a:rPr lang="en-US" b="1" dirty="0"/>
              <a:t>Special characters in Regular Expression</a:t>
            </a:r>
            <a:endParaRPr lang="en-IN" b="1" dirty="0"/>
          </a:p>
        </p:txBody>
      </p:sp>
      <p:graphicFrame>
        <p:nvGraphicFramePr>
          <p:cNvPr id="4" name="Table 3">
            <a:extLst>
              <a:ext uri="{FF2B5EF4-FFF2-40B4-BE49-F238E27FC236}">
                <a16:creationId xmlns:a16="http://schemas.microsoft.com/office/drawing/2014/main" id="{FD8BA727-EB00-8817-5EC0-F2FEC4970950}"/>
              </a:ext>
            </a:extLst>
          </p:cNvPr>
          <p:cNvGraphicFramePr>
            <a:graphicFrameLocks noGrp="1"/>
          </p:cNvGraphicFramePr>
          <p:nvPr>
            <p:extLst>
              <p:ext uri="{D42A27DB-BD31-4B8C-83A1-F6EECF244321}">
                <p14:modId xmlns:p14="http://schemas.microsoft.com/office/powerpoint/2010/main" val="2050027400"/>
              </p:ext>
            </p:extLst>
          </p:nvPr>
        </p:nvGraphicFramePr>
        <p:xfrm>
          <a:off x="849796" y="665921"/>
          <a:ext cx="8796129" cy="3500120"/>
        </p:xfrm>
        <a:graphic>
          <a:graphicData uri="http://schemas.openxmlformats.org/drawingml/2006/table">
            <a:tbl>
              <a:tblPr firstRow="1" bandRow="1">
                <a:tableStyleId>{5940675A-B579-460E-94D1-54222C63F5DA}</a:tableStyleId>
              </a:tblPr>
              <a:tblGrid>
                <a:gridCol w="1639956">
                  <a:extLst>
                    <a:ext uri="{9D8B030D-6E8A-4147-A177-3AD203B41FA5}">
                      <a16:colId xmlns:a16="http://schemas.microsoft.com/office/drawing/2014/main" val="1805709630"/>
                    </a:ext>
                  </a:extLst>
                </a:gridCol>
                <a:gridCol w="7156173">
                  <a:extLst>
                    <a:ext uri="{9D8B030D-6E8A-4147-A177-3AD203B41FA5}">
                      <a16:colId xmlns:a16="http://schemas.microsoft.com/office/drawing/2014/main" val="1713922548"/>
                    </a:ext>
                  </a:extLst>
                </a:gridCol>
              </a:tblGrid>
              <a:tr h="364949">
                <a:tc>
                  <a:txBody>
                    <a:bodyPr/>
                    <a:lstStyle/>
                    <a:p>
                      <a:r>
                        <a:rPr lang="en-IN" dirty="0"/>
                        <a:t>Characters </a:t>
                      </a:r>
                    </a:p>
                  </a:txBody>
                  <a:tcPr/>
                </a:tc>
                <a:tc>
                  <a:txBody>
                    <a:bodyPr/>
                    <a:lstStyle/>
                    <a:p>
                      <a:r>
                        <a:rPr lang="en-IN" dirty="0"/>
                        <a:t>Description</a:t>
                      </a:r>
                    </a:p>
                  </a:txBody>
                  <a:tcPr/>
                </a:tc>
                <a:extLst>
                  <a:ext uri="{0D108BD9-81ED-4DB2-BD59-A6C34878D82A}">
                    <a16:rowId xmlns:a16="http://schemas.microsoft.com/office/drawing/2014/main" val="3737974743"/>
                  </a:ext>
                </a:extLst>
              </a:tr>
              <a:tr h="370840">
                <a:tc>
                  <a:txBody>
                    <a:bodyPr/>
                    <a:lstStyle/>
                    <a:p>
                      <a:r>
                        <a:rPr lang="en-IN" dirty="0"/>
                        <a:t>\</a:t>
                      </a:r>
                    </a:p>
                  </a:txBody>
                  <a:tcPr/>
                </a:tc>
                <a:tc>
                  <a:txBody>
                    <a:bodyPr/>
                    <a:lstStyle/>
                    <a:p>
                      <a:r>
                        <a:rPr lang="en-IN" dirty="0"/>
                        <a:t>Escape special characters nature</a:t>
                      </a:r>
                    </a:p>
                  </a:txBody>
                  <a:tcPr/>
                </a:tc>
                <a:extLst>
                  <a:ext uri="{0D108BD9-81ED-4DB2-BD59-A6C34878D82A}">
                    <a16:rowId xmlns:a16="http://schemas.microsoft.com/office/drawing/2014/main" val="898784045"/>
                  </a:ext>
                </a:extLst>
              </a:tr>
              <a:tr h="370840">
                <a:tc>
                  <a:txBody>
                    <a:bodyPr/>
                    <a:lstStyle/>
                    <a:p>
                      <a:r>
                        <a:rPr lang="en-IN" dirty="0"/>
                        <a:t>.</a:t>
                      </a:r>
                    </a:p>
                  </a:txBody>
                  <a:tcPr/>
                </a:tc>
                <a:tc>
                  <a:txBody>
                    <a:bodyPr/>
                    <a:lstStyle/>
                    <a:p>
                      <a:r>
                        <a:rPr lang="en-US" dirty="0"/>
                        <a:t>Matching any character except new line</a:t>
                      </a:r>
                      <a:endParaRPr lang="en-IN" dirty="0"/>
                    </a:p>
                  </a:txBody>
                  <a:tcPr/>
                </a:tc>
                <a:extLst>
                  <a:ext uri="{0D108BD9-81ED-4DB2-BD59-A6C34878D82A}">
                    <a16:rowId xmlns:a16="http://schemas.microsoft.com/office/drawing/2014/main" val="1092918937"/>
                  </a:ext>
                </a:extLst>
              </a:tr>
              <a:tr h="370840">
                <a:tc>
                  <a:txBody>
                    <a:bodyPr/>
                    <a:lstStyle/>
                    <a:p>
                      <a:r>
                        <a:rPr lang="en-IN" dirty="0"/>
                        <a:t>^</a:t>
                      </a:r>
                    </a:p>
                  </a:txBody>
                  <a:tcPr/>
                </a:tc>
                <a:tc>
                  <a:txBody>
                    <a:bodyPr/>
                    <a:lstStyle/>
                    <a:p>
                      <a:r>
                        <a:rPr lang="en-US" dirty="0"/>
                        <a:t>Matches beginning of the string</a:t>
                      </a:r>
                      <a:endParaRPr lang="en-IN" dirty="0"/>
                    </a:p>
                  </a:txBody>
                  <a:tcPr/>
                </a:tc>
                <a:extLst>
                  <a:ext uri="{0D108BD9-81ED-4DB2-BD59-A6C34878D82A}">
                    <a16:rowId xmlns:a16="http://schemas.microsoft.com/office/drawing/2014/main" val="1638465782"/>
                  </a:ext>
                </a:extLst>
              </a:tr>
              <a:tr h="370840">
                <a:tc>
                  <a:txBody>
                    <a:bodyPr/>
                    <a:lstStyle/>
                    <a:p>
                      <a:r>
                        <a:rPr lang="en-IN" dirty="0"/>
                        <a:t>$ </a:t>
                      </a:r>
                    </a:p>
                  </a:txBody>
                  <a:tcPr/>
                </a:tc>
                <a:tc>
                  <a:txBody>
                    <a:bodyPr/>
                    <a:lstStyle/>
                    <a:p>
                      <a:r>
                        <a:rPr lang="en-US" dirty="0"/>
                        <a:t>Matches ending of a string</a:t>
                      </a:r>
                      <a:endParaRPr lang="en-IN" dirty="0"/>
                    </a:p>
                  </a:txBody>
                  <a:tcPr/>
                </a:tc>
                <a:extLst>
                  <a:ext uri="{0D108BD9-81ED-4DB2-BD59-A6C34878D82A}">
                    <a16:rowId xmlns:a16="http://schemas.microsoft.com/office/drawing/2014/main" val="3117561632"/>
                  </a:ext>
                </a:extLst>
              </a:tr>
              <a:tr h="370840">
                <a:tc>
                  <a:txBody>
                    <a:bodyPr/>
                    <a:lstStyle/>
                    <a:p>
                      <a:r>
                        <a:rPr lang="en-IN" dirty="0"/>
                        <a:t>[…] </a:t>
                      </a:r>
                    </a:p>
                  </a:txBody>
                  <a:tcPr/>
                </a:tc>
                <a:tc>
                  <a:txBody>
                    <a:bodyPr/>
                    <a:lstStyle/>
                    <a:p>
                      <a:r>
                        <a:rPr lang="en-US" dirty="0"/>
                        <a:t>Denotes the set of possible characters ex:[6b-d] matches any character 6,b,c,or d A[</a:t>
                      </a:r>
                      <a:r>
                        <a:rPr lang="en-US" dirty="0" err="1"/>
                        <a:t>nkb</a:t>
                      </a:r>
                      <a:r>
                        <a:rPr lang="en-US" dirty="0"/>
                        <a:t>] n or k or b </a:t>
                      </a:r>
                      <a:endParaRPr lang="en-IN" dirty="0"/>
                    </a:p>
                  </a:txBody>
                  <a:tcPr/>
                </a:tc>
                <a:extLst>
                  <a:ext uri="{0D108BD9-81ED-4DB2-BD59-A6C34878D82A}">
                    <a16:rowId xmlns:a16="http://schemas.microsoft.com/office/drawing/2014/main" val="754265743"/>
                  </a:ext>
                </a:extLst>
              </a:tr>
              <a:tr h="370840">
                <a:tc>
                  <a:txBody>
                    <a:bodyPr/>
                    <a:lstStyle/>
                    <a:p>
                      <a:r>
                        <a:rPr lang="en-IN" dirty="0"/>
                        <a:t>[^…] </a:t>
                      </a:r>
                    </a:p>
                  </a:txBody>
                  <a:tcPr/>
                </a:tc>
                <a:tc>
                  <a:txBody>
                    <a:bodyPr/>
                    <a:lstStyle/>
                    <a:p>
                      <a:r>
                        <a:rPr lang="en-US" dirty="0"/>
                        <a:t>Matches every character except the one inside </a:t>
                      </a:r>
                      <a:r>
                        <a:rPr lang="en-US" dirty="0" err="1"/>
                        <a:t>brackets.ex</a:t>
                      </a:r>
                      <a:r>
                        <a:rPr lang="en-US" dirty="0"/>
                        <a:t>[^a-c6] </a:t>
                      </a:r>
                      <a:r>
                        <a:rPr lang="en-US" dirty="0" err="1"/>
                        <a:t>a,b,c</a:t>
                      </a:r>
                      <a:r>
                        <a:rPr lang="en-US" dirty="0"/>
                        <a:t> or 6 </a:t>
                      </a:r>
                      <a:endParaRPr lang="en-IN" dirty="0"/>
                    </a:p>
                  </a:txBody>
                  <a:tcPr/>
                </a:tc>
                <a:extLst>
                  <a:ext uri="{0D108BD9-81ED-4DB2-BD59-A6C34878D82A}">
                    <a16:rowId xmlns:a16="http://schemas.microsoft.com/office/drawing/2014/main" val="4258204752"/>
                  </a:ext>
                </a:extLst>
              </a:tr>
              <a:tr h="370840">
                <a:tc>
                  <a:txBody>
                    <a:bodyPr/>
                    <a:lstStyle/>
                    <a:p>
                      <a:r>
                        <a:rPr lang="en-IN" dirty="0"/>
                        <a:t>R|S </a:t>
                      </a:r>
                    </a:p>
                  </a:txBody>
                  <a:tcPr/>
                </a:tc>
                <a:tc>
                  <a:txBody>
                    <a:bodyPr/>
                    <a:lstStyle/>
                    <a:p>
                      <a:r>
                        <a:rPr lang="en-US" dirty="0"/>
                        <a:t>Matches either R or S regex</a:t>
                      </a:r>
                      <a:endParaRPr lang="en-IN" dirty="0"/>
                    </a:p>
                  </a:txBody>
                  <a:tcPr/>
                </a:tc>
                <a:extLst>
                  <a:ext uri="{0D108BD9-81ED-4DB2-BD59-A6C34878D82A}">
                    <a16:rowId xmlns:a16="http://schemas.microsoft.com/office/drawing/2014/main" val="2297642146"/>
                  </a:ext>
                </a:extLst>
              </a:tr>
            </a:tbl>
          </a:graphicData>
        </a:graphic>
      </p:graphicFrame>
      <p:sp>
        <p:nvSpPr>
          <p:cNvPr id="6" name="TextBox 5">
            <a:extLst>
              <a:ext uri="{FF2B5EF4-FFF2-40B4-BE49-F238E27FC236}">
                <a16:creationId xmlns:a16="http://schemas.microsoft.com/office/drawing/2014/main" id="{69F34FA9-71AE-74F0-887A-D012423D32BC}"/>
              </a:ext>
            </a:extLst>
          </p:cNvPr>
          <p:cNvSpPr txBox="1"/>
          <p:nvPr/>
        </p:nvSpPr>
        <p:spPr>
          <a:xfrm>
            <a:off x="849795" y="4259670"/>
            <a:ext cx="8492987" cy="2585323"/>
          </a:xfrm>
          <a:prstGeom prst="rect">
            <a:avLst/>
          </a:prstGeom>
          <a:noFill/>
        </p:spPr>
        <p:txBody>
          <a:bodyPr wrap="square">
            <a:spAutoFit/>
          </a:bodyPr>
          <a:lstStyle/>
          <a:p>
            <a:r>
              <a:rPr lang="en-IN" dirty="0"/>
              <a:t>gpm@123#</a:t>
            </a:r>
          </a:p>
          <a:p>
            <a:endParaRPr lang="en-IN" dirty="0"/>
          </a:p>
          <a:p>
            <a:r>
              <a:rPr lang="en-US" dirty="0"/>
              <a:t>… </a:t>
            </a:r>
          </a:p>
          <a:p>
            <a:endParaRPr lang="en-US" dirty="0"/>
          </a:p>
          <a:p>
            <a:r>
              <a:rPr lang="en-US" dirty="0"/>
              <a:t>^he </a:t>
            </a:r>
          </a:p>
          <a:p>
            <a:endParaRPr lang="en-US" dirty="0"/>
          </a:p>
          <a:p>
            <a:r>
              <a:rPr lang="en-US" dirty="0"/>
              <a:t>$line </a:t>
            </a:r>
          </a:p>
          <a:p>
            <a:endParaRPr lang="en-US" dirty="0"/>
          </a:p>
          <a:p>
            <a:r>
              <a:rPr lang="en-US" dirty="0"/>
              <a:t>\w[a-d] </a:t>
            </a:r>
            <a:r>
              <a:rPr lang="en-US" dirty="0" err="1"/>
              <a:t>a,b,c,d</a:t>
            </a:r>
            <a:r>
              <a:rPr lang="en-US" dirty="0"/>
              <a:t> </a:t>
            </a:r>
            <a:r>
              <a:rPr lang="en-IN" dirty="0"/>
              <a:t> </a:t>
            </a:r>
          </a:p>
        </p:txBody>
      </p:sp>
    </p:spTree>
    <p:extLst>
      <p:ext uri="{BB962C8B-B14F-4D97-AF65-F5344CB8AC3E}">
        <p14:creationId xmlns:p14="http://schemas.microsoft.com/office/powerpoint/2010/main" val="30266958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A8FFF-258B-2F05-0B5C-8B419FEEDF0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F54B0E8-B084-4D50-645A-E3DCCBBD7495}"/>
              </a:ext>
            </a:extLst>
          </p:cNvPr>
          <p:cNvSpPr txBox="1"/>
          <p:nvPr/>
        </p:nvSpPr>
        <p:spPr>
          <a:xfrm>
            <a:off x="944218" y="173792"/>
            <a:ext cx="6102626" cy="2031325"/>
          </a:xfrm>
          <a:prstGeom prst="rect">
            <a:avLst/>
          </a:prstGeom>
          <a:noFill/>
        </p:spPr>
        <p:txBody>
          <a:bodyPr wrap="square">
            <a:spAutoFit/>
          </a:bodyPr>
          <a:lstStyle/>
          <a:p>
            <a:r>
              <a:rPr lang="en-IN" dirty="0"/>
              <a:t>\w[^a-d] </a:t>
            </a:r>
          </a:p>
          <a:p>
            <a:endParaRPr lang="en-IN" dirty="0"/>
          </a:p>
          <a:p>
            <a:r>
              <a:rPr lang="en-IN" dirty="0"/>
              <a:t>\w[abc] a or b or c </a:t>
            </a:r>
          </a:p>
          <a:p>
            <a:endParaRPr lang="en-IN" dirty="0"/>
          </a:p>
          <a:p>
            <a:r>
              <a:rPr lang="en-IN" dirty="0"/>
              <a:t>\w[^abc] </a:t>
            </a:r>
          </a:p>
          <a:p>
            <a:endParaRPr lang="en-IN" dirty="0"/>
          </a:p>
          <a:p>
            <a:r>
              <a:rPr lang="en-IN" dirty="0"/>
              <a:t>gamil|yahoo|rediimail </a:t>
            </a:r>
          </a:p>
        </p:txBody>
      </p:sp>
      <p:sp>
        <p:nvSpPr>
          <p:cNvPr id="5" name="TextBox 4">
            <a:extLst>
              <a:ext uri="{FF2B5EF4-FFF2-40B4-BE49-F238E27FC236}">
                <a16:creationId xmlns:a16="http://schemas.microsoft.com/office/drawing/2014/main" id="{7119FFCE-1AEB-14F6-7D60-C67E286D8385}"/>
              </a:ext>
            </a:extLst>
          </p:cNvPr>
          <p:cNvSpPr txBox="1"/>
          <p:nvPr/>
        </p:nvSpPr>
        <p:spPr>
          <a:xfrm>
            <a:off x="874644" y="2312649"/>
            <a:ext cx="8706678" cy="3416320"/>
          </a:xfrm>
          <a:prstGeom prst="rect">
            <a:avLst/>
          </a:prstGeom>
          <a:noFill/>
        </p:spPr>
        <p:txBody>
          <a:bodyPr wrap="square">
            <a:spAutoFit/>
          </a:bodyPr>
          <a:lstStyle/>
          <a:p>
            <a:r>
              <a:rPr lang="en-US" dirty="0"/>
              <a:t>1</a:t>
            </a:r>
            <a:r>
              <a:rPr lang="en-US" b="1" dirty="0"/>
              <a:t>)A python program to create a regular expression to split a string into pieces where one or more(+) non alpha numeric characters are found </a:t>
            </a:r>
          </a:p>
          <a:p>
            <a:endParaRPr lang="en-US" dirty="0"/>
          </a:p>
          <a:p>
            <a:r>
              <a:rPr lang="en-US" dirty="0"/>
              <a:t>split,+,\W </a:t>
            </a:r>
          </a:p>
          <a:p>
            <a:endParaRPr lang="en-US" dirty="0"/>
          </a:p>
          <a:p>
            <a:r>
              <a:rPr lang="en-US" b="1" dirty="0"/>
              <a:t>program: </a:t>
            </a:r>
          </a:p>
          <a:p>
            <a:endParaRPr lang="en-US" dirty="0"/>
          </a:p>
          <a:p>
            <a:r>
              <a:rPr lang="en-US" dirty="0"/>
              <a:t>import re</a:t>
            </a:r>
          </a:p>
          <a:p>
            <a:r>
              <a:rPr lang="en-US" dirty="0"/>
              <a:t>str='this : is python * ? ,programming !’ </a:t>
            </a:r>
          </a:p>
          <a:p>
            <a:r>
              <a:rPr lang="en-US" dirty="0"/>
              <a:t>r=r'\w+’ </a:t>
            </a:r>
          </a:p>
          <a:p>
            <a:r>
              <a:rPr lang="en-US" dirty="0"/>
              <a:t>result=</a:t>
            </a:r>
            <a:r>
              <a:rPr lang="en-US" dirty="0" err="1"/>
              <a:t>re.split</a:t>
            </a:r>
            <a:r>
              <a:rPr lang="en-US" dirty="0"/>
              <a:t>(</a:t>
            </a:r>
            <a:r>
              <a:rPr lang="en-US" dirty="0" err="1"/>
              <a:t>r,str</a:t>
            </a:r>
            <a:r>
              <a:rPr lang="en-US" dirty="0"/>
              <a:t>) </a:t>
            </a:r>
          </a:p>
          <a:p>
            <a:r>
              <a:rPr lang="en-US" dirty="0"/>
              <a:t>print(result) </a:t>
            </a:r>
            <a:endParaRPr lang="en-IN" dirty="0"/>
          </a:p>
        </p:txBody>
      </p:sp>
    </p:spTree>
    <p:extLst>
      <p:ext uri="{BB962C8B-B14F-4D97-AF65-F5344CB8AC3E}">
        <p14:creationId xmlns:p14="http://schemas.microsoft.com/office/powerpoint/2010/main" val="28481256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FDBDC-0436-DA25-57C9-AA8D98E4C33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BB92DBD-4E37-4CA2-D279-E306FDE3BD72}"/>
              </a:ext>
            </a:extLst>
          </p:cNvPr>
          <p:cNvSpPr txBox="1"/>
          <p:nvPr/>
        </p:nvSpPr>
        <p:spPr>
          <a:xfrm>
            <a:off x="863600" y="251936"/>
            <a:ext cx="8105140" cy="3970318"/>
          </a:xfrm>
          <a:prstGeom prst="rect">
            <a:avLst/>
          </a:prstGeom>
          <a:noFill/>
        </p:spPr>
        <p:txBody>
          <a:bodyPr wrap="square">
            <a:spAutoFit/>
          </a:bodyPr>
          <a:lstStyle/>
          <a:p>
            <a:r>
              <a:rPr lang="en-IN" b="1" dirty="0"/>
              <a:t>2)A python program to create a regular expression to replace a string with new string</a:t>
            </a:r>
          </a:p>
          <a:p>
            <a:endParaRPr lang="en-IN" dirty="0"/>
          </a:p>
          <a:p>
            <a:r>
              <a:rPr lang="en-IN" dirty="0"/>
              <a:t> sub(regular expression ,new string, string) </a:t>
            </a:r>
          </a:p>
          <a:p>
            <a:endParaRPr lang="en-IN" dirty="0"/>
          </a:p>
          <a:p>
            <a:r>
              <a:rPr lang="en-IN" b="1" dirty="0"/>
              <a:t>programs: </a:t>
            </a:r>
          </a:p>
          <a:p>
            <a:endParaRPr lang="en-IN" dirty="0"/>
          </a:p>
          <a:p>
            <a:r>
              <a:rPr lang="en-IN" dirty="0"/>
              <a:t>import re </a:t>
            </a:r>
          </a:p>
          <a:p>
            <a:endParaRPr lang="en-IN" dirty="0"/>
          </a:p>
          <a:p>
            <a:r>
              <a:rPr lang="en-IN" dirty="0"/>
              <a:t>str='welcome to java programming’ </a:t>
            </a:r>
          </a:p>
          <a:p>
            <a:endParaRPr lang="en-IN" dirty="0"/>
          </a:p>
          <a:p>
            <a:r>
              <a:rPr lang="en-IN" dirty="0"/>
              <a:t>result=re.sub(r'java','Python',str) </a:t>
            </a:r>
          </a:p>
          <a:p>
            <a:endParaRPr lang="en-IN" dirty="0"/>
          </a:p>
          <a:p>
            <a:r>
              <a:rPr lang="en-IN" dirty="0"/>
              <a:t>print(result)</a:t>
            </a:r>
          </a:p>
        </p:txBody>
      </p:sp>
    </p:spTree>
    <p:extLst>
      <p:ext uri="{BB962C8B-B14F-4D97-AF65-F5344CB8AC3E}">
        <p14:creationId xmlns:p14="http://schemas.microsoft.com/office/powerpoint/2010/main" val="13474399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5AA8E-8CD6-5BB2-D3A4-52950997235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AB74485-7421-1003-0E34-5A0C3BB09D6C}"/>
              </a:ext>
            </a:extLst>
          </p:cNvPr>
          <p:cNvSpPr txBox="1"/>
          <p:nvPr/>
        </p:nvSpPr>
        <p:spPr>
          <a:xfrm>
            <a:off x="833120" y="204877"/>
            <a:ext cx="8338820" cy="5632311"/>
          </a:xfrm>
          <a:prstGeom prst="rect">
            <a:avLst/>
          </a:prstGeom>
          <a:noFill/>
        </p:spPr>
        <p:txBody>
          <a:bodyPr wrap="square">
            <a:spAutoFit/>
          </a:bodyPr>
          <a:lstStyle/>
          <a:p>
            <a:r>
              <a:rPr lang="en-IN" b="1" dirty="0"/>
              <a:t>3)A python program to create a regular expression to retrieve all words starting with a in string </a:t>
            </a:r>
          </a:p>
          <a:p>
            <a:endParaRPr lang="en-IN" dirty="0"/>
          </a:p>
          <a:p>
            <a:r>
              <a:rPr lang="en-IN" dirty="0"/>
              <a:t>a[\w]*,findall() </a:t>
            </a:r>
          </a:p>
          <a:p>
            <a:endParaRPr lang="en-IN" dirty="0"/>
          </a:p>
          <a:p>
            <a:r>
              <a:rPr lang="en-IN" b="1" dirty="0"/>
              <a:t>program</a:t>
            </a:r>
            <a:r>
              <a:rPr lang="en-IN" dirty="0"/>
              <a:t>: </a:t>
            </a:r>
          </a:p>
          <a:p>
            <a:endParaRPr lang="en-IN" dirty="0"/>
          </a:p>
          <a:p>
            <a:r>
              <a:rPr lang="en-IN" dirty="0"/>
              <a:t>import re </a:t>
            </a:r>
          </a:p>
          <a:p>
            <a:r>
              <a:rPr lang="en-IN" dirty="0"/>
              <a:t>str='an apple a day keeps doctor away’ </a:t>
            </a:r>
          </a:p>
          <a:p>
            <a:r>
              <a:rPr lang="en-IN" dirty="0"/>
              <a:t>r=r'a[\w]*’ </a:t>
            </a:r>
          </a:p>
          <a:p>
            <a:r>
              <a:rPr lang="en-IN" dirty="0"/>
              <a:t>result=re.findall(r,str) </a:t>
            </a:r>
          </a:p>
          <a:p>
            <a:r>
              <a:rPr lang="en-IN" dirty="0"/>
              <a:t>print(result) </a:t>
            </a:r>
          </a:p>
          <a:p>
            <a:endParaRPr lang="en-IN" dirty="0"/>
          </a:p>
          <a:p>
            <a:r>
              <a:rPr lang="en-IN" b="1" dirty="0"/>
              <a:t>program 2: </a:t>
            </a:r>
          </a:p>
          <a:p>
            <a:endParaRPr lang="en-IN" dirty="0"/>
          </a:p>
          <a:p>
            <a:r>
              <a:rPr lang="en-IN" dirty="0"/>
              <a:t>import re </a:t>
            </a:r>
          </a:p>
          <a:p>
            <a:r>
              <a:rPr lang="en-IN" dirty="0"/>
              <a:t>str='an apple a day keeps doctor away’ </a:t>
            </a:r>
          </a:p>
          <a:p>
            <a:r>
              <a:rPr lang="en-IN" dirty="0"/>
              <a:t>r=r'\ba[\w]*\b’ </a:t>
            </a:r>
          </a:p>
          <a:p>
            <a:r>
              <a:rPr lang="en-IN" dirty="0"/>
              <a:t>result=re.findall(r,str) </a:t>
            </a:r>
          </a:p>
          <a:p>
            <a:r>
              <a:rPr lang="en-IN" dirty="0"/>
              <a:t>print(result) </a:t>
            </a:r>
          </a:p>
        </p:txBody>
      </p:sp>
    </p:spTree>
    <p:extLst>
      <p:ext uri="{BB962C8B-B14F-4D97-AF65-F5344CB8AC3E}">
        <p14:creationId xmlns:p14="http://schemas.microsoft.com/office/powerpoint/2010/main" val="18748871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C66C2-1144-95CF-13EC-96C910AC419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D2D0261-B47C-D03B-2506-8F465E4B1AE6}"/>
              </a:ext>
            </a:extLst>
          </p:cNvPr>
          <p:cNvSpPr txBox="1"/>
          <p:nvPr/>
        </p:nvSpPr>
        <p:spPr>
          <a:xfrm>
            <a:off x="1056640" y="607536"/>
            <a:ext cx="7749540" cy="4524315"/>
          </a:xfrm>
          <a:prstGeom prst="rect">
            <a:avLst/>
          </a:prstGeom>
          <a:noFill/>
        </p:spPr>
        <p:txBody>
          <a:bodyPr wrap="square">
            <a:spAutoFit/>
          </a:bodyPr>
          <a:lstStyle/>
          <a:p>
            <a:r>
              <a:rPr lang="en-US" b="1" dirty="0"/>
              <a:t>4) A python </a:t>
            </a:r>
            <a:r>
              <a:rPr lang="en-US" b="1" dirty="0" err="1"/>
              <a:t>withprogram</a:t>
            </a:r>
            <a:r>
              <a:rPr lang="en-US" b="1" dirty="0"/>
              <a:t> to create a regular expression to retrieve all words starting a numeric digit.</a:t>
            </a:r>
          </a:p>
          <a:p>
            <a:endParaRPr lang="en-US" dirty="0"/>
          </a:p>
          <a:p>
            <a:r>
              <a:rPr lang="en-US" dirty="0"/>
              <a:t>findall(),\d[\w]* </a:t>
            </a:r>
          </a:p>
          <a:p>
            <a:endParaRPr lang="en-US" dirty="0"/>
          </a:p>
          <a:p>
            <a:r>
              <a:rPr lang="en-US" dirty="0"/>
              <a:t>import re </a:t>
            </a:r>
          </a:p>
          <a:p>
            <a:endParaRPr lang="en-US" dirty="0"/>
          </a:p>
          <a:p>
            <a:r>
              <a:rPr lang="en-US" dirty="0"/>
              <a:t>str='the meeting will be at 1st and 2nd day of everymonth’ </a:t>
            </a:r>
          </a:p>
          <a:p>
            <a:endParaRPr lang="en-US" dirty="0"/>
          </a:p>
          <a:p>
            <a:r>
              <a:rPr lang="en-US" dirty="0"/>
              <a:t>r=r'\b\d[\w]*\b’ </a:t>
            </a:r>
          </a:p>
          <a:p>
            <a:endParaRPr lang="en-US" dirty="0"/>
          </a:p>
          <a:p>
            <a:r>
              <a:rPr lang="en-US" dirty="0"/>
              <a:t>result=re.findall(</a:t>
            </a:r>
            <a:r>
              <a:rPr lang="en-US" dirty="0" err="1"/>
              <a:t>r,str</a:t>
            </a:r>
            <a:r>
              <a:rPr lang="en-US" dirty="0"/>
              <a:t>) </a:t>
            </a:r>
          </a:p>
          <a:p>
            <a:endParaRPr lang="en-US" dirty="0"/>
          </a:p>
          <a:p>
            <a:r>
              <a:rPr lang="en-US" dirty="0"/>
              <a:t>for i in result: </a:t>
            </a:r>
          </a:p>
          <a:p>
            <a:endParaRPr lang="en-US" b="1" dirty="0"/>
          </a:p>
          <a:p>
            <a:r>
              <a:rPr lang="en-US" b="1" dirty="0"/>
              <a:t>print(i)</a:t>
            </a:r>
            <a:endParaRPr lang="en-IN" b="1" dirty="0"/>
          </a:p>
        </p:txBody>
      </p:sp>
    </p:spTree>
    <p:extLst>
      <p:ext uri="{BB962C8B-B14F-4D97-AF65-F5344CB8AC3E}">
        <p14:creationId xmlns:p14="http://schemas.microsoft.com/office/powerpoint/2010/main" val="8584886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6FB7A-BB21-CC8E-5A32-757982C057B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387882D-8C02-70F0-88B3-7050C23FC3DE}"/>
              </a:ext>
            </a:extLst>
          </p:cNvPr>
          <p:cNvSpPr txBox="1"/>
          <p:nvPr/>
        </p:nvSpPr>
        <p:spPr>
          <a:xfrm>
            <a:off x="855980" y="231616"/>
            <a:ext cx="8288020" cy="4524315"/>
          </a:xfrm>
          <a:prstGeom prst="rect">
            <a:avLst/>
          </a:prstGeom>
          <a:noFill/>
        </p:spPr>
        <p:txBody>
          <a:bodyPr wrap="square">
            <a:spAutoFit/>
          </a:bodyPr>
          <a:lstStyle/>
          <a:p>
            <a:r>
              <a:rPr lang="en-US" b="1" dirty="0"/>
              <a:t>5) A python program to create a regular expression to retrieve all words having 5 character length </a:t>
            </a:r>
          </a:p>
          <a:p>
            <a:endParaRPr lang="en-US" dirty="0"/>
          </a:p>
          <a:p>
            <a:r>
              <a:rPr lang="en-US" dirty="0"/>
              <a:t>findall() ,\w{5} </a:t>
            </a:r>
          </a:p>
          <a:p>
            <a:endParaRPr lang="en-US" dirty="0"/>
          </a:p>
          <a:p>
            <a:r>
              <a:rPr lang="en-US" dirty="0"/>
              <a:t>import re </a:t>
            </a:r>
          </a:p>
          <a:p>
            <a:endParaRPr lang="en-US" dirty="0"/>
          </a:p>
          <a:p>
            <a:r>
              <a:rPr lang="en-US" dirty="0"/>
              <a:t>str='one two three four five six seven eight nine ten’ </a:t>
            </a:r>
          </a:p>
          <a:p>
            <a:endParaRPr lang="en-US" dirty="0"/>
          </a:p>
          <a:p>
            <a:r>
              <a:rPr lang="en-US" dirty="0"/>
              <a:t>r=r'\b\w{5}\b’ </a:t>
            </a:r>
          </a:p>
          <a:p>
            <a:endParaRPr lang="en-US" dirty="0"/>
          </a:p>
          <a:p>
            <a:r>
              <a:rPr lang="en-US" dirty="0"/>
              <a:t>result=re.findall(</a:t>
            </a:r>
            <a:r>
              <a:rPr lang="en-US" dirty="0" err="1"/>
              <a:t>r,str</a:t>
            </a:r>
            <a:r>
              <a:rPr lang="en-US" dirty="0"/>
              <a:t>) </a:t>
            </a:r>
          </a:p>
          <a:p>
            <a:endParaRPr lang="en-US" dirty="0"/>
          </a:p>
          <a:p>
            <a:r>
              <a:rPr lang="en-US" dirty="0"/>
              <a:t>for i in result: </a:t>
            </a:r>
          </a:p>
          <a:p>
            <a:endParaRPr lang="en-US" dirty="0"/>
          </a:p>
          <a:p>
            <a:r>
              <a:rPr lang="en-US" b="1" dirty="0"/>
              <a:t>print(i) </a:t>
            </a:r>
            <a:endParaRPr lang="en-IN" b="1" dirty="0"/>
          </a:p>
        </p:txBody>
      </p:sp>
    </p:spTree>
    <p:extLst>
      <p:ext uri="{BB962C8B-B14F-4D97-AF65-F5344CB8AC3E}">
        <p14:creationId xmlns:p14="http://schemas.microsoft.com/office/powerpoint/2010/main" val="21858515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3C081-3173-BA96-8220-D5802409F33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2CCA9CB-8D13-897E-5769-DB365539C98A}"/>
              </a:ext>
            </a:extLst>
          </p:cNvPr>
          <p:cNvSpPr txBox="1"/>
          <p:nvPr/>
        </p:nvSpPr>
        <p:spPr>
          <a:xfrm>
            <a:off x="876300" y="150336"/>
            <a:ext cx="7952740" cy="4524315"/>
          </a:xfrm>
          <a:prstGeom prst="rect">
            <a:avLst/>
          </a:prstGeom>
          <a:noFill/>
        </p:spPr>
        <p:txBody>
          <a:bodyPr wrap="square">
            <a:spAutoFit/>
          </a:bodyPr>
          <a:lstStyle/>
          <a:p>
            <a:r>
              <a:rPr lang="en-US" b="1" dirty="0"/>
              <a:t>6) A python program to create a regular expression to retrieve all the words having the length of at least 4 characters. </a:t>
            </a:r>
          </a:p>
          <a:p>
            <a:endParaRPr lang="en-US" dirty="0"/>
          </a:p>
          <a:p>
            <a:r>
              <a:rPr lang="en-US" dirty="0"/>
              <a:t>findall(),\w{4,} </a:t>
            </a:r>
          </a:p>
          <a:p>
            <a:endParaRPr lang="en-US" dirty="0"/>
          </a:p>
          <a:p>
            <a:r>
              <a:rPr lang="en-US" dirty="0"/>
              <a:t>import re </a:t>
            </a:r>
          </a:p>
          <a:p>
            <a:endParaRPr lang="en-US" dirty="0"/>
          </a:p>
          <a:p>
            <a:r>
              <a:rPr lang="en-US" dirty="0"/>
              <a:t>str='one two three four five six seven eight nine ten’ </a:t>
            </a:r>
          </a:p>
          <a:p>
            <a:endParaRPr lang="en-US" dirty="0"/>
          </a:p>
          <a:p>
            <a:r>
              <a:rPr lang="en-US" dirty="0"/>
              <a:t>r=r'\b\w{4,}\b’ </a:t>
            </a:r>
          </a:p>
          <a:p>
            <a:endParaRPr lang="en-US" dirty="0"/>
          </a:p>
          <a:p>
            <a:r>
              <a:rPr lang="en-US" dirty="0"/>
              <a:t>result=re.findall(</a:t>
            </a:r>
            <a:r>
              <a:rPr lang="en-US" dirty="0" err="1"/>
              <a:t>r,str</a:t>
            </a:r>
            <a:r>
              <a:rPr lang="en-US" dirty="0"/>
              <a:t>) </a:t>
            </a:r>
          </a:p>
          <a:p>
            <a:endParaRPr lang="en-US" dirty="0"/>
          </a:p>
          <a:p>
            <a:r>
              <a:rPr lang="en-US" dirty="0"/>
              <a:t>for i in result: </a:t>
            </a:r>
          </a:p>
          <a:p>
            <a:endParaRPr lang="en-US" dirty="0"/>
          </a:p>
          <a:p>
            <a:r>
              <a:rPr lang="en-US" dirty="0"/>
              <a:t>print(i</a:t>
            </a:r>
            <a:endParaRPr lang="en-IN" dirty="0"/>
          </a:p>
        </p:txBody>
      </p:sp>
    </p:spTree>
    <p:extLst>
      <p:ext uri="{BB962C8B-B14F-4D97-AF65-F5344CB8AC3E}">
        <p14:creationId xmlns:p14="http://schemas.microsoft.com/office/powerpoint/2010/main" val="5831443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EE040-6597-22A0-5A49-BD9F8314074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0DFF089-F014-AF13-7112-28A89C62A1AD}"/>
              </a:ext>
            </a:extLst>
          </p:cNvPr>
          <p:cNvSpPr txBox="1"/>
          <p:nvPr/>
        </p:nvSpPr>
        <p:spPr>
          <a:xfrm>
            <a:off x="947420" y="160496"/>
            <a:ext cx="8186420" cy="4524315"/>
          </a:xfrm>
          <a:prstGeom prst="rect">
            <a:avLst/>
          </a:prstGeom>
          <a:noFill/>
        </p:spPr>
        <p:txBody>
          <a:bodyPr wrap="square">
            <a:spAutoFit/>
          </a:bodyPr>
          <a:lstStyle/>
          <a:p>
            <a:r>
              <a:rPr lang="en-US" b="1" dirty="0"/>
              <a:t>7)A python program to create a regular expression to retrieve all the words with 3 or 4 or 5 characters. </a:t>
            </a:r>
          </a:p>
          <a:p>
            <a:endParaRPr lang="en-US" dirty="0"/>
          </a:p>
          <a:p>
            <a:r>
              <a:rPr lang="en-US" dirty="0"/>
              <a:t>findall(),\w{3,5} </a:t>
            </a:r>
          </a:p>
          <a:p>
            <a:endParaRPr lang="en-US" dirty="0"/>
          </a:p>
          <a:p>
            <a:r>
              <a:rPr lang="en-US" dirty="0"/>
              <a:t>import re </a:t>
            </a:r>
          </a:p>
          <a:p>
            <a:endParaRPr lang="en-US" dirty="0"/>
          </a:p>
          <a:p>
            <a:r>
              <a:rPr lang="en-US" dirty="0"/>
              <a:t>str='one two three four five six seven eight nine ten be the part of GPM’</a:t>
            </a:r>
          </a:p>
          <a:p>
            <a:endParaRPr lang="en-US" dirty="0"/>
          </a:p>
          <a:p>
            <a:r>
              <a:rPr lang="en-US" dirty="0"/>
              <a:t>r=r'\b\w{3,5}\b’ </a:t>
            </a:r>
          </a:p>
          <a:p>
            <a:endParaRPr lang="en-US" dirty="0"/>
          </a:p>
          <a:p>
            <a:r>
              <a:rPr lang="en-US" dirty="0"/>
              <a:t>result=re.findall(</a:t>
            </a:r>
            <a:r>
              <a:rPr lang="en-US" dirty="0" err="1"/>
              <a:t>r,str</a:t>
            </a:r>
            <a:r>
              <a:rPr lang="en-US" dirty="0"/>
              <a:t>) </a:t>
            </a:r>
          </a:p>
          <a:p>
            <a:endParaRPr lang="en-US" dirty="0"/>
          </a:p>
          <a:p>
            <a:r>
              <a:rPr lang="en-US" dirty="0"/>
              <a:t>for i in result: </a:t>
            </a:r>
          </a:p>
          <a:p>
            <a:endParaRPr lang="en-US" dirty="0"/>
          </a:p>
          <a:p>
            <a:r>
              <a:rPr lang="en-US" dirty="0"/>
              <a:t>print(i)</a:t>
            </a:r>
            <a:endParaRPr lang="en-IN" dirty="0"/>
          </a:p>
        </p:txBody>
      </p:sp>
    </p:spTree>
    <p:extLst>
      <p:ext uri="{BB962C8B-B14F-4D97-AF65-F5344CB8AC3E}">
        <p14:creationId xmlns:p14="http://schemas.microsoft.com/office/powerpoint/2010/main" val="34563256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2899E-D9D4-3AC2-CE3C-7164548561A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066C562-BF49-1224-1C4C-878C45BFFA5F}"/>
              </a:ext>
            </a:extLst>
          </p:cNvPr>
          <p:cNvSpPr txBox="1"/>
          <p:nvPr/>
        </p:nvSpPr>
        <p:spPr>
          <a:xfrm>
            <a:off x="876300" y="264160"/>
            <a:ext cx="8481060" cy="3970318"/>
          </a:xfrm>
          <a:prstGeom prst="rect">
            <a:avLst/>
          </a:prstGeom>
          <a:noFill/>
        </p:spPr>
        <p:txBody>
          <a:bodyPr wrap="square">
            <a:spAutoFit/>
          </a:bodyPr>
          <a:lstStyle/>
          <a:p>
            <a:r>
              <a:rPr lang="en-US" b="1" dirty="0"/>
              <a:t>8)A python program to create a regular expression to retrieve only single digit from a string. </a:t>
            </a:r>
          </a:p>
          <a:p>
            <a:endParaRPr lang="en-US" dirty="0"/>
          </a:p>
          <a:p>
            <a:r>
              <a:rPr lang="en-US" dirty="0"/>
              <a:t>import re </a:t>
            </a:r>
          </a:p>
          <a:p>
            <a:endParaRPr lang="en-US" dirty="0"/>
          </a:p>
          <a:p>
            <a:r>
              <a:rPr lang="en-US" dirty="0"/>
              <a:t>str=' 1 two 3 four 5 six seven 8 9 10’ </a:t>
            </a:r>
          </a:p>
          <a:p>
            <a:endParaRPr lang="en-US" dirty="0"/>
          </a:p>
          <a:p>
            <a:r>
              <a:rPr lang="en-US" dirty="0"/>
              <a:t>r=r'\b\d\b’ </a:t>
            </a:r>
          </a:p>
          <a:p>
            <a:endParaRPr lang="en-US" dirty="0"/>
          </a:p>
          <a:p>
            <a:r>
              <a:rPr lang="en-US" dirty="0"/>
              <a:t>result=re.findall(</a:t>
            </a:r>
            <a:r>
              <a:rPr lang="en-US" dirty="0" err="1"/>
              <a:t>r,str</a:t>
            </a:r>
            <a:r>
              <a:rPr lang="en-US" dirty="0"/>
              <a:t>) </a:t>
            </a:r>
          </a:p>
          <a:p>
            <a:endParaRPr lang="en-US" dirty="0"/>
          </a:p>
          <a:p>
            <a:r>
              <a:rPr lang="en-US" dirty="0"/>
              <a:t>for i in result: </a:t>
            </a:r>
          </a:p>
          <a:p>
            <a:endParaRPr lang="en-US" dirty="0"/>
          </a:p>
          <a:p>
            <a:r>
              <a:rPr lang="en-US" dirty="0"/>
              <a:t>Print(i)</a:t>
            </a:r>
            <a:endParaRPr lang="en-IN" dirty="0"/>
          </a:p>
        </p:txBody>
      </p:sp>
    </p:spTree>
    <p:extLst>
      <p:ext uri="{BB962C8B-B14F-4D97-AF65-F5344CB8AC3E}">
        <p14:creationId xmlns:p14="http://schemas.microsoft.com/office/powerpoint/2010/main" val="16320160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38DAF-AB7A-2896-59D5-11E251F2028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52D92D6-3A45-D418-1E01-CD19FD1F3D2F}"/>
              </a:ext>
            </a:extLst>
          </p:cNvPr>
          <p:cNvSpPr txBox="1"/>
          <p:nvPr/>
        </p:nvSpPr>
        <p:spPr>
          <a:xfrm>
            <a:off x="843280" y="117693"/>
            <a:ext cx="8501380" cy="6740307"/>
          </a:xfrm>
          <a:prstGeom prst="rect">
            <a:avLst/>
          </a:prstGeom>
          <a:noFill/>
        </p:spPr>
        <p:txBody>
          <a:bodyPr wrap="square">
            <a:spAutoFit/>
          </a:bodyPr>
          <a:lstStyle/>
          <a:p>
            <a:r>
              <a:rPr lang="en-IN" b="1" dirty="0"/>
              <a:t>9) A python program to create a regular expression to retrieve last word of a string. </a:t>
            </a:r>
          </a:p>
          <a:p>
            <a:endParaRPr lang="en-IN" dirty="0"/>
          </a:p>
          <a:p>
            <a:r>
              <a:rPr lang="en-IN" dirty="0"/>
              <a:t>match() [\w]+\Z </a:t>
            </a:r>
          </a:p>
          <a:p>
            <a:endParaRPr lang="en-IN" dirty="0"/>
          </a:p>
          <a:p>
            <a:r>
              <a:rPr lang="en-IN" b="1" dirty="0"/>
              <a:t>A python program to create a regular expression to retrieve mobile number of person </a:t>
            </a:r>
          </a:p>
          <a:p>
            <a:endParaRPr lang="en-IN" dirty="0"/>
          </a:p>
          <a:p>
            <a:r>
              <a:rPr lang="en-IN" dirty="0"/>
              <a:t>import re </a:t>
            </a:r>
          </a:p>
          <a:p>
            <a:endParaRPr lang="en-IN" dirty="0"/>
          </a:p>
          <a:p>
            <a:r>
              <a:rPr lang="en-IN" dirty="0"/>
              <a:t>f=open("gpm.txt","r") </a:t>
            </a:r>
          </a:p>
          <a:p>
            <a:endParaRPr lang="en-IN" dirty="0"/>
          </a:p>
          <a:p>
            <a:r>
              <a:rPr lang="en-IN" dirty="0"/>
              <a:t>str=f.read() </a:t>
            </a:r>
          </a:p>
          <a:p>
            <a:endParaRPr lang="en-IN" dirty="0"/>
          </a:p>
          <a:p>
            <a:r>
              <a:rPr lang="en-IN" dirty="0"/>
              <a:t>print(str)</a:t>
            </a:r>
          </a:p>
          <a:p>
            <a:endParaRPr lang="en-IN" dirty="0"/>
          </a:p>
          <a:p>
            <a:endParaRPr lang="en-IN" dirty="0"/>
          </a:p>
          <a:p>
            <a:r>
              <a:rPr lang="en-IN" dirty="0"/>
              <a:t>r=r'\b\d{10}\b’ </a:t>
            </a:r>
          </a:p>
          <a:p>
            <a:endParaRPr lang="en-IN" dirty="0"/>
          </a:p>
          <a:p>
            <a:r>
              <a:rPr lang="en-IN" dirty="0"/>
              <a:t>result=re.findall(r,str) </a:t>
            </a:r>
          </a:p>
          <a:p>
            <a:endParaRPr lang="en-IN" dirty="0"/>
          </a:p>
          <a:p>
            <a:r>
              <a:rPr lang="en-IN" dirty="0"/>
              <a:t>for </a:t>
            </a:r>
            <a:r>
              <a:rPr lang="en-IN" dirty="0" err="1"/>
              <a:t>i</a:t>
            </a:r>
            <a:r>
              <a:rPr lang="en-IN" dirty="0"/>
              <a:t> in result: </a:t>
            </a:r>
          </a:p>
          <a:p>
            <a:endParaRPr lang="en-IN" dirty="0"/>
          </a:p>
          <a:p>
            <a:r>
              <a:rPr lang="en-IN" dirty="0"/>
              <a:t>print(</a:t>
            </a:r>
            <a:r>
              <a:rPr lang="en-IN" dirty="0" err="1"/>
              <a:t>i</a:t>
            </a:r>
            <a:r>
              <a:rPr lang="en-IN" dirty="0"/>
              <a:t>) </a:t>
            </a:r>
          </a:p>
        </p:txBody>
      </p:sp>
    </p:spTree>
    <p:extLst>
      <p:ext uri="{BB962C8B-B14F-4D97-AF65-F5344CB8AC3E}">
        <p14:creationId xmlns:p14="http://schemas.microsoft.com/office/powerpoint/2010/main" val="18953217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2FA73-A364-7C32-59B7-8ADAA860F44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5E2D3FE-EFEE-3513-49F3-CDCABE04366E}"/>
              </a:ext>
            </a:extLst>
          </p:cNvPr>
          <p:cNvSpPr txBox="1"/>
          <p:nvPr/>
        </p:nvSpPr>
        <p:spPr>
          <a:xfrm>
            <a:off x="937260" y="207556"/>
            <a:ext cx="8227060" cy="6186309"/>
          </a:xfrm>
          <a:prstGeom prst="rect">
            <a:avLst/>
          </a:prstGeom>
          <a:noFill/>
        </p:spPr>
        <p:txBody>
          <a:bodyPr wrap="square">
            <a:spAutoFit/>
          </a:bodyPr>
          <a:lstStyle/>
          <a:p>
            <a:r>
              <a:rPr lang="en-IN" dirty="0" err="1"/>
              <a:t>f.close</a:t>
            </a:r>
            <a:r>
              <a:rPr lang="en-IN" dirty="0"/>
              <a:t>() </a:t>
            </a:r>
          </a:p>
          <a:p>
            <a:endParaRPr lang="en-IN" dirty="0"/>
          </a:p>
          <a:p>
            <a:r>
              <a:rPr lang="en-IN" b="1" dirty="0"/>
              <a:t>A python program to create a regular expression to retrieve only name from data </a:t>
            </a:r>
          </a:p>
          <a:p>
            <a:endParaRPr lang="en-IN" dirty="0"/>
          </a:p>
          <a:p>
            <a:r>
              <a:rPr lang="en-IN" dirty="0"/>
              <a:t>findall() ,[\D]+ </a:t>
            </a:r>
          </a:p>
          <a:p>
            <a:endParaRPr lang="en-IN" dirty="0"/>
          </a:p>
          <a:p>
            <a:r>
              <a:rPr lang="en-IN" dirty="0"/>
              <a:t>import re </a:t>
            </a:r>
          </a:p>
          <a:p>
            <a:endParaRPr lang="en-IN" dirty="0"/>
          </a:p>
          <a:p>
            <a:r>
              <a:rPr lang="en-IN" dirty="0"/>
              <a:t>f=open("gpm.txt","r") </a:t>
            </a:r>
          </a:p>
          <a:p>
            <a:endParaRPr lang="en-IN" dirty="0"/>
          </a:p>
          <a:p>
            <a:r>
              <a:rPr lang="en-IN" dirty="0"/>
              <a:t>str=f.read() </a:t>
            </a:r>
          </a:p>
          <a:p>
            <a:endParaRPr lang="en-IN" dirty="0"/>
          </a:p>
          <a:p>
            <a:r>
              <a:rPr lang="en-IN" dirty="0"/>
              <a:t>r=r'\b[\D]+\b’ </a:t>
            </a:r>
          </a:p>
          <a:p>
            <a:endParaRPr lang="en-IN" dirty="0"/>
          </a:p>
          <a:p>
            <a:r>
              <a:rPr lang="en-IN" dirty="0"/>
              <a:t>result=re.findall(r,str) </a:t>
            </a:r>
          </a:p>
          <a:p>
            <a:endParaRPr lang="en-IN" dirty="0"/>
          </a:p>
          <a:p>
            <a:r>
              <a:rPr lang="en-IN" dirty="0"/>
              <a:t>for </a:t>
            </a:r>
            <a:r>
              <a:rPr lang="en-IN" dirty="0" err="1"/>
              <a:t>i</a:t>
            </a:r>
            <a:r>
              <a:rPr lang="en-IN" dirty="0"/>
              <a:t> in result: </a:t>
            </a:r>
          </a:p>
          <a:p>
            <a:endParaRPr lang="en-IN" dirty="0"/>
          </a:p>
          <a:p>
            <a:r>
              <a:rPr lang="en-IN" dirty="0"/>
              <a:t>print(</a:t>
            </a:r>
            <a:r>
              <a:rPr lang="en-IN" dirty="0" err="1"/>
              <a:t>i</a:t>
            </a:r>
            <a:r>
              <a:rPr lang="en-IN" dirty="0"/>
              <a:t>) </a:t>
            </a:r>
          </a:p>
          <a:p>
            <a:endParaRPr lang="en-IN" dirty="0"/>
          </a:p>
          <a:p>
            <a:r>
              <a:rPr lang="en-IN" dirty="0" err="1"/>
              <a:t>f.close</a:t>
            </a:r>
            <a:r>
              <a:rPr lang="en-IN" dirty="0"/>
              <a:t>() </a:t>
            </a:r>
          </a:p>
        </p:txBody>
      </p:sp>
    </p:spTree>
    <p:extLst>
      <p:ext uri="{BB962C8B-B14F-4D97-AF65-F5344CB8AC3E}">
        <p14:creationId xmlns:p14="http://schemas.microsoft.com/office/powerpoint/2010/main" val="4393782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1F213-3400-860E-58C8-72E24B08EF7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2C03920-C04C-6962-C795-CC87344D5A4B}"/>
              </a:ext>
            </a:extLst>
          </p:cNvPr>
          <p:cNvSpPr txBox="1"/>
          <p:nvPr/>
        </p:nvSpPr>
        <p:spPr>
          <a:xfrm>
            <a:off x="853440" y="190976"/>
            <a:ext cx="8473440" cy="3970318"/>
          </a:xfrm>
          <a:prstGeom prst="rect">
            <a:avLst/>
          </a:prstGeom>
          <a:noFill/>
        </p:spPr>
        <p:txBody>
          <a:bodyPr wrap="square">
            <a:spAutoFit/>
          </a:bodyPr>
          <a:lstStyle/>
          <a:p>
            <a:r>
              <a:rPr lang="en-IN" b="1" dirty="0"/>
              <a:t>A python program to create a regular expression to retrieve all words starting with ‘an’ or ‘</a:t>
            </a:r>
            <a:r>
              <a:rPr lang="en-IN" b="1" dirty="0" err="1"/>
              <a:t>ak</a:t>
            </a:r>
            <a:r>
              <a:rPr lang="en-IN" b="1" dirty="0"/>
              <a:t>’ </a:t>
            </a:r>
          </a:p>
          <a:p>
            <a:endParaRPr lang="en-IN" dirty="0"/>
          </a:p>
          <a:p>
            <a:r>
              <a:rPr lang="en-IN" dirty="0"/>
              <a:t>import re </a:t>
            </a:r>
          </a:p>
          <a:p>
            <a:endParaRPr lang="en-IN" dirty="0"/>
          </a:p>
          <a:p>
            <a:r>
              <a:rPr lang="en-IN" dirty="0"/>
              <a:t>str="anil akhil anant arun arati arundhati abhijeet ankur" </a:t>
            </a:r>
          </a:p>
          <a:p>
            <a:endParaRPr lang="en-IN" dirty="0"/>
          </a:p>
          <a:p>
            <a:r>
              <a:rPr lang="en-IN" dirty="0"/>
              <a:t>r=r'\ba[nkb][\w]*\b’ </a:t>
            </a:r>
          </a:p>
          <a:p>
            <a:endParaRPr lang="en-IN" dirty="0"/>
          </a:p>
          <a:p>
            <a:r>
              <a:rPr lang="en-IN" dirty="0"/>
              <a:t>res=re.findall(r,str) </a:t>
            </a:r>
          </a:p>
          <a:p>
            <a:endParaRPr lang="en-IN" dirty="0"/>
          </a:p>
          <a:p>
            <a:r>
              <a:rPr lang="en-IN" dirty="0"/>
              <a:t>for </a:t>
            </a:r>
            <a:r>
              <a:rPr lang="en-IN" dirty="0" err="1"/>
              <a:t>i</a:t>
            </a:r>
            <a:r>
              <a:rPr lang="en-IN" dirty="0"/>
              <a:t> in res: </a:t>
            </a:r>
          </a:p>
          <a:p>
            <a:endParaRPr lang="en-IN" dirty="0"/>
          </a:p>
          <a:p>
            <a:r>
              <a:rPr lang="en-IN" dirty="0"/>
              <a:t>print(</a:t>
            </a:r>
            <a:r>
              <a:rPr lang="en-IN" dirty="0" err="1"/>
              <a:t>i</a:t>
            </a:r>
            <a:r>
              <a:rPr lang="en-IN" dirty="0"/>
              <a:t>) </a:t>
            </a:r>
          </a:p>
        </p:txBody>
      </p:sp>
    </p:spTree>
    <p:extLst>
      <p:ext uri="{BB962C8B-B14F-4D97-AF65-F5344CB8AC3E}">
        <p14:creationId xmlns:p14="http://schemas.microsoft.com/office/powerpoint/2010/main" val="31259065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0C0C5-3F9A-19E7-719B-51A5B38EB64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E87D213-A609-37C8-81C6-28FDE78F730F}"/>
              </a:ext>
            </a:extLst>
          </p:cNvPr>
          <p:cNvSpPr txBox="1"/>
          <p:nvPr/>
        </p:nvSpPr>
        <p:spPr>
          <a:xfrm>
            <a:off x="896620" y="93117"/>
            <a:ext cx="8348980" cy="6740307"/>
          </a:xfrm>
          <a:prstGeom prst="rect">
            <a:avLst/>
          </a:prstGeom>
          <a:noFill/>
        </p:spPr>
        <p:txBody>
          <a:bodyPr wrap="square">
            <a:spAutoFit/>
          </a:bodyPr>
          <a:lstStyle/>
          <a:p>
            <a:r>
              <a:rPr lang="en-IN" dirty="0"/>
              <a:t>A python program to create a regular expression to retrieve date of birth from string </a:t>
            </a:r>
          </a:p>
          <a:p>
            <a:endParaRPr lang="en-IN" dirty="0"/>
          </a:p>
          <a:p>
            <a:r>
              <a:rPr lang="en-IN" dirty="0"/>
              <a:t>5 </a:t>
            </a:r>
            <a:r>
              <a:rPr lang="en-IN" dirty="0" err="1"/>
              <a:t>july</a:t>
            </a:r>
            <a:r>
              <a:rPr lang="en-IN" dirty="0"/>
              <a:t> 1991 </a:t>
            </a:r>
          </a:p>
          <a:p>
            <a:endParaRPr lang="en-IN" dirty="0"/>
          </a:p>
          <a:p>
            <a:r>
              <a:rPr lang="en-IN" dirty="0"/>
              <a:t>05/07/1991 r’\b\d{2}\\d{2}\\d{4} </a:t>
            </a:r>
          </a:p>
          <a:p>
            <a:endParaRPr lang="en-IN" dirty="0"/>
          </a:p>
          <a:p>
            <a:r>
              <a:rPr lang="en-IN" dirty="0"/>
              <a:t>05-07-1991 </a:t>
            </a:r>
          </a:p>
          <a:p>
            <a:endParaRPr lang="en-IN" dirty="0"/>
          </a:p>
          <a:p>
            <a:r>
              <a:rPr lang="en-IN" dirty="0"/>
              <a:t>5/7/91 r’\d{1,2}-\d{1,2}-\d{4} </a:t>
            </a:r>
          </a:p>
          <a:p>
            <a:endParaRPr lang="en-IN" dirty="0"/>
          </a:p>
          <a:p>
            <a:r>
              <a:rPr lang="en-IN" dirty="0"/>
              <a:t>5/7/1991 </a:t>
            </a:r>
          </a:p>
          <a:p>
            <a:endParaRPr lang="en-IN" dirty="0"/>
          </a:p>
          <a:p>
            <a:r>
              <a:rPr lang="en-IN" dirty="0"/>
              <a:t>import re </a:t>
            </a:r>
          </a:p>
          <a:p>
            <a:endParaRPr lang="en-IN" dirty="0"/>
          </a:p>
          <a:p>
            <a:r>
              <a:rPr lang="en-IN" dirty="0"/>
              <a:t>f=open("gpm.txt","r") </a:t>
            </a:r>
          </a:p>
          <a:p>
            <a:endParaRPr lang="en-IN" dirty="0"/>
          </a:p>
          <a:p>
            <a:r>
              <a:rPr lang="en-IN" dirty="0"/>
              <a:t>str=f.read() </a:t>
            </a:r>
          </a:p>
          <a:p>
            <a:endParaRPr lang="en-IN" dirty="0"/>
          </a:p>
          <a:p>
            <a:r>
              <a:rPr lang="en-IN" dirty="0"/>
              <a:t>r=r'\b\d{1,2}-\d{1,2}-\d{2,4}\b’ </a:t>
            </a:r>
          </a:p>
          <a:p>
            <a:endParaRPr lang="en-IN" dirty="0"/>
          </a:p>
          <a:p>
            <a:r>
              <a:rPr lang="en-IN" dirty="0"/>
              <a:t>res=re.findall(r,str) </a:t>
            </a:r>
          </a:p>
          <a:p>
            <a:endParaRPr lang="en-IN" dirty="0"/>
          </a:p>
          <a:p>
            <a:r>
              <a:rPr lang="en-IN" dirty="0"/>
              <a:t>for </a:t>
            </a:r>
            <a:r>
              <a:rPr lang="en-IN" dirty="0" err="1"/>
              <a:t>i</a:t>
            </a:r>
            <a:r>
              <a:rPr lang="en-IN" dirty="0"/>
              <a:t> in res:</a:t>
            </a:r>
          </a:p>
        </p:txBody>
      </p:sp>
    </p:spTree>
    <p:extLst>
      <p:ext uri="{BB962C8B-B14F-4D97-AF65-F5344CB8AC3E}">
        <p14:creationId xmlns:p14="http://schemas.microsoft.com/office/powerpoint/2010/main" val="10927033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3A7EF-726C-6BCA-9A73-82C9BE0DC9B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D757991-733A-D40C-A61E-938E1163EB67}"/>
              </a:ext>
            </a:extLst>
          </p:cNvPr>
          <p:cNvSpPr txBox="1"/>
          <p:nvPr/>
        </p:nvSpPr>
        <p:spPr>
          <a:xfrm>
            <a:off x="833120" y="336957"/>
            <a:ext cx="8328660" cy="3416320"/>
          </a:xfrm>
          <a:prstGeom prst="rect">
            <a:avLst/>
          </a:prstGeom>
          <a:noFill/>
        </p:spPr>
        <p:txBody>
          <a:bodyPr wrap="square">
            <a:spAutoFit/>
          </a:bodyPr>
          <a:lstStyle/>
          <a:p>
            <a:r>
              <a:rPr lang="en-US" dirty="0"/>
              <a:t>print(i) </a:t>
            </a:r>
          </a:p>
          <a:p>
            <a:endParaRPr lang="en-US" dirty="0"/>
          </a:p>
          <a:p>
            <a:r>
              <a:rPr lang="en-US" dirty="0" err="1"/>
              <a:t>f.close</a:t>
            </a:r>
            <a:r>
              <a:rPr lang="en-US" dirty="0"/>
              <a:t>() </a:t>
            </a:r>
          </a:p>
          <a:p>
            <a:endParaRPr lang="en-US" dirty="0"/>
          </a:p>
          <a:p>
            <a:pPr marL="285750" indent="-285750">
              <a:buFont typeface="Wingdings" panose="05000000000000000000" pitchFamily="2" charset="2"/>
              <a:buChar char="q"/>
            </a:pPr>
            <a:r>
              <a:rPr lang="en-US" dirty="0"/>
              <a:t>A python program to create a regular expression to search whether a given string is starting with ‘He’ or not </a:t>
            </a:r>
          </a:p>
          <a:p>
            <a:endParaRPr lang="en-US" dirty="0"/>
          </a:p>
          <a:p>
            <a:pPr marL="285750" indent="-285750">
              <a:buFont typeface="Wingdings" panose="05000000000000000000" pitchFamily="2" charset="2"/>
              <a:buChar char="q"/>
            </a:pPr>
            <a:r>
              <a:rPr lang="en-US" dirty="0"/>
              <a:t>A python program to create a regular expression to retrieve marks from a given string. </a:t>
            </a:r>
          </a:p>
          <a:p>
            <a:endParaRPr lang="en-US" dirty="0"/>
          </a:p>
          <a:p>
            <a:pPr marL="285750" indent="-285750">
              <a:buFont typeface="Wingdings" panose="05000000000000000000" pitchFamily="2" charset="2"/>
              <a:buChar char="q"/>
            </a:pPr>
            <a:r>
              <a:rPr lang="en-US" dirty="0"/>
              <a:t>A python program to create a regular expression to retrieve email id from given data</a:t>
            </a:r>
            <a:endParaRPr lang="en-IN" dirty="0"/>
          </a:p>
        </p:txBody>
      </p:sp>
    </p:spTree>
    <p:extLst>
      <p:ext uri="{BB962C8B-B14F-4D97-AF65-F5344CB8AC3E}">
        <p14:creationId xmlns:p14="http://schemas.microsoft.com/office/powerpoint/2010/main" val="38755037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C0BD1-1CE9-9684-CF54-D48DD516940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7A7D6F3-3850-F0C7-618A-C7B54AD4951A}"/>
              </a:ext>
            </a:extLst>
          </p:cNvPr>
          <p:cNvSpPr txBox="1"/>
          <p:nvPr/>
        </p:nvSpPr>
        <p:spPr>
          <a:xfrm>
            <a:off x="967740" y="176014"/>
            <a:ext cx="8318500" cy="369332"/>
          </a:xfrm>
          <a:prstGeom prst="rect">
            <a:avLst/>
          </a:prstGeom>
          <a:noFill/>
        </p:spPr>
        <p:txBody>
          <a:bodyPr wrap="square">
            <a:spAutoFit/>
          </a:bodyPr>
          <a:lstStyle/>
          <a:p>
            <a:r>
              <a:rPr lang="en-US" b="1" dirty="0"/>
              <a:t>5.2 Power of pattern searching using regex in python</a:t>
            </a:r>
            <a:endParaRPr lang="en-IN" b="1" dirty="0"/>
          </a:p>
        </p:txBody>
      </p:sp>
      <p:sp>
        <p:nvSpPr>
          <p:cNvPr id="5" name="TextBox 4">
            <a:extLst>
              <a:ext uri="{FF2B5EF4-FFF2-40B4-BE49-F238E27FC236}">
                <a16:creationId xmlns:a16="http://schemas.microsoft.com/office/drawing/2014/main" id="{A183E648-E9E5-94DE-C8A5-134E5CCEA697}"/>
              </a:ext>
            </a:extLst>
          </p:cNvPr>
          <p:cNvSpPr txBox="1"/>
          <p:nvPr/>
        </p:nvSpPr>
        <p:spPr>
          <a:xfrm>
            <a:off x="967740" y="566678"/>
            <a:ext cx="8808720" cy="2862322"/>
          </a:xfrm>
          <a:prstGeom prst="rect">
            <a:avLst/>
          </a:prstGeom>
          <a:noFill/>
        </p:spPr>
        <p:txBody>
          <a:bodyPr wrap="square">
            <a:spAutoFit/>
          </a:bodyPr>
          <a:lstStyle/>
          <a:p>
            <a:pPr algn="l">
              <a:buNone/>
            </a:pPr>
            <a:r>
              <a:rPr lang="en-US" b="0" i="0" dirty="0">
                <a:effectLst/>
                <a:latin typeface="fkGroteskNeue"/>
              </a:rPr>
              <a:t>Regular expressions (regex) in Python offer powerful tools for pattern searching within text. Using Python's built-in </a:t>
            </a:r>
            <a:r>
              <a:rPr lang="en-US" b="0" i="0" dirty="0">
                <a:effectLst/>
                <a:latin typeface="berkeleyMono"/>
              </a:rPr>
              <a:t>re</a:t>
            </a:r>
            <a:r>
              <a:rPr lang="en-US" b="0" i="0" dirty="0">
                <a:effectLst/>
                <a:latin typeface="fkGroteskNeue"/>
              </a:rPr>
              <a:t> module, you can find, extract, and manipulate complex text patterns easily.</a:t>
            </a:r>
          </a:p>
          <a:p>
            <a:pPr>
              <a:buNone/>
            </a:pPr>
            <a:endParaRPr lang="en-US" dirty="0"/>
          </a:p>
          <a:p>
            <a:pPr algn="l">
              <a:buNone/>
            </a:pPr>
            <a:r>
              <a:rPr lang="en-US" b="1" i="0" dirty="0">
                <a:effectLst/>
                <a:latin typeface="fkGrotesk"/>
              </a:rPr>
              <a:t>Key Concepts</a:t>
            </a:r>
          </a:p>
          <a:p>
            <a:pPr algn="l">
              <a:buFont typeface="Arial" panose="020B0604020202020204" pitchFamily="34" charset="0"/>
              <a:buChar char="•"/>
            </a:pPr>
            <a:r>
              <a:rPr lang="en-US" b="0" i="0" dirty="0">
                <a:effectLst/>
                <a:latin typeface="fkGroteskNeue"/>
              </a:rPr>
              <a:t>Regex pattern: A sequence of characters defining a text search pattern.</a:t>
            </a:r>
          </a:p>
          <a:p>
            <a:pPr algn="l">
              <a:buFont typeface="Arial" panose="020B0604020202020204" pitchFamily="34" charset="0"/>
              <a:buChar char="•"/>
            </a:pPr>
            <a:r>
              <a:rPr lang="en-US" b="0" i="0" dirty="0">
                <a:effectLst/>
                <a:latin typeface="fkGroteskNeue"/>
              </a:rPr>
              <a:t>Match Object: The result of a successful search, containing info like matched text and its position.</a:t>
            </a:r>
          </a:p>
          <a:p>
            <a:pPr algn="l">
              <a:buFont typeface="Arial" panose="020B0604020202020204" pitchFamily="34" charset="0"/>
              <a:buChar char="•"/>
            </a:pPr>
            <a:r>
              <a:rPr lang="en-US" b="0" i="0" dirty="0">
                <a:effectLst/>
                <a:latin typeface="fkGroteskNeue"/>
              </a:rPr>
              <a:t>Raw strings (</a:t>
            </a:r>
            <a:r>
              <a:rPr lang="en-US" b="0" i="0" dirty="0">
                <a:effectLst/>
                <a:latin typeface="berkeleyMono"/>
              </a:rPr>
              <a:t>r'...'</a:t>
            </a:r>
            <a:r>
              <a:rPr lang="en-US" b="0" i="0" dirty="0">
                <a:effectLst/>
                <a:latin typeface="fkGroteskNeue"/>
              </a:rPr>
              <a:t>): Best practice to write regex patterns to avoid issues with escape sequences.</a:t>
            </a:r>
          </a:p>
        </p:txBody>
      </p:sp>
      <p:sp>
        <p:nvSpPr>
          <p:cNvPr id="7" name="TextBox 6">
            <a:extLst>
              <a:ext uri="{FF2B5EF4-FFF2-40B4-BE49-F238E27FC236}">
                <a16:creationId xmlns:a16="http://schemas.microsoft.com/office/drawing/2014/main" id="{F0DC0361-BC27-A858-0EF2-98DC6770B2FA}"/>
              </a:ext>
            </a:extLst>
          </p:cNvPr>
          <p:cNvSpPr txBox="1"/>
          <p:nvPr/>
        </p:nvSpPr>
        <p:spPr>
          <a:xfrm>
            <a:off x="967740" y="3635216"/>
            <a:ext cx="9080500" cy="2031325"/>
          </a:xfrm>
          <a:prstGeom prst="rect">
            <a:avLst/>
          </a:prstGeom>
          <a:noFill/>
        </p:spPr>
        <p:txBody>
          <a:bodyPr wrap="square">
            <a:spAutoFit/>
          </a:bodyPr>
          <a:lstStyle/>
          <a:p>
            <a:pPr algn="l">
              <a:buNone/>
            </a:pPr>
            <a:r>
              <a:rPr lang="en-US" b="1" i="0" dirty="0">
                <a:effectLst/>
                <a:latin typeface="fkGrotesk"/>
              </a:rPr>
              <a:t>Common Regex Functions &amp; Their Power</a:t>
            </a:r>
          </a:p>
          <a:p>
            <a:pPr algn="l">
              <a:buNone/>
            </a:pPr>
            <a:endParaRPr lang="en-US" b="0" i="0" dirty="0">
              <a:effectLst/>
              <a:latin typeface="fkGrotesk"/>
            </a:endParaRPr>
          </a:p>
          <a:p>
            <a:pPr algn="l">
              <a:buNone/>
            </a:pPr>
            <a:r>
              <a:rPr lang="en-US" b="0" i="0" dirty="0">
                <a:effectLst/>
                <a:latin typeface="fkGrotesk"/>
              </a:rPr>
              <a:t>1. </a:t>
            </a:r>
            <a:r>
              <a:rPr lang="en-US" b="0" i="0" dirty="0">
                <a:effectLst/>
                <a:latin typeface="berkeleyMono"/>
              </a:rPr>
              <a:t>re.search()</a:t>
            </a:r>
            <a:endParaRPr lang="en-US" b="0" i="0" dirty="0">
              <a:effectLst/>
              <a:latin typeface="fkGrotesk"/>
            </a:endParaRPr>
          </a:p>
          <a:p>
            <a:pPr algn="l">
              <a:buFont typeface="Arial" panose="020B0604020202020204" pitchFamily="34" charset="0"/>
              <a:buChar char="•"/>
            </a:pPr>
            <a:r>
              <a:rPr lang="en-US" b="0" i="0" dirty="0">
                <a:effectLst/>
                <a:latin typeface="fkGroteskNeue"/>
              </a:rPr>
              <a:t>Searches the string for </a:t>
            </a:r>
            <a:r>
              <a:rPr lang="en-US" b="0" i="1" dirty="0">
                <a:effectLst/>
                <a:latin typeface="fkGroteskNeue"/>
              </a:rPr>
              <a:t>first</a:t>
            </a:r>
            <a:r>
              <a:rPr lang="en-US" b="0" i="0" dirty="0">
                <a:effectLst/>
                <a:latin typeface="fkGroteskNeue"/>
              </a:rPr>
              <a:t> location where pattern matches.</a:t>
            </a:r>
          </a:p>
          <a:p>
            <a:pPr algn="l">
              <a:buFont typeface="Arial" panose="020B0604020202020204" pitchFamily="34" charset="0"/>
              <a:buChar char="•"/>
            </a:pPr>
            <a:r>
              <a:rPr lang="en-US" b="0" i="0" dirty="0">
                <a:effectLst/>
                <a:latin typeface="fkGroteskNeue"/>
              </a:rPr>
              <a:t>Returns a Match object or </a:t>
            </a:r>
            <a:r>
              <a:rPr lang="en-US" b="0" i="0" dirty="0">
                <a:effectLst/>
                <a:latin typeface="berkeleyMono"/>
              </a:rPr>
              <a:t>None</a:t>
            </a:r>
            <a:r>
              <a:rPr lang="en-US" b="0" i="0" dirty="0">
                <a:effectLst/>
                <a:latin typeface="fkGroteskNeue"/>
              </a:rPr>
              <a:t>.</a:t>
            </a:r>
          </a:p>
          <a:p>
            <a:pPr algn="l">
              <a:buNone/>
            </a:pPr>
            <a:endParaRPr lang="en-US" dirty="0">
              <a:latin typeface="fkGroteskNeue"/>
            </a:endParaRPr>
          </a:p>
          <a:p>
            <a:pPr algn="l">
              <a:buNone/>
            </a:pPr>
            <a:r>
              <a:rPr lang="en-US" b="0" i="0" dirty="0">
                <a:effectLst/>
                <a:latin typeface="fkGroteskNeue"/>
              </a:rPr>
              <a:t>Example:</a:t>
            </a:r>
          </a:p>
        </p:txBody>
      </p:sp>
    </p:spTree>
    <p:extLst>
      <p:ext uri="{BB962C8B-B14F-4D97-AF65-F5344CB8AC3E}">
        <p14:creationId xmlns:p14="http://schemas.microsoft.com/office/powerpoint/2010/main" val="42759109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B7555-FE7B-7253-6A91-5F6A8047E13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8F02E62-1E9F-79BC-19B0-DE32C4B2A015}"/>
              </a:ext>
            </a:extLst>
          </p:cNvPr>
          <p:cNvSpPr txBox="1"/>
          <p:nvPr/>
        </p:nvSpPr>
        <p:spPr>
          <a:xfrm>
            <a:off x="985520" y="178138"/>
            <a:ext cx="8074660" cy="1754326"/>
          </a:xfrm>
          <a:prstGeom prst="rect">
            <a:avLst/>
          </a:prstGeom>
          <a:noFill/>
        </p:spPr>
        <p:txBody>
          <a:bodyPr wrap="square">
            <a:spAutoFit/>
          </a:bodyPr>
          <a:lstStyle/>
          <a:p>
            <a:r>
              <a:rPr lang="en-IN" dirty="0"/>
              <a:t>import re</a:t>
            </a:r>
          </a:p>
          <a:p>
            <a:r>
              <a:rPr lang="en-IN" dirty="0"/>
              <a:t>text = "The rain in Spain"</a:t>
            </a:r>
          </a:p>
          <a:p>
            <a:r>
              <a:rPr lang="en-IN" dirty="0"/>
              <a:t>match = re.search(r"\</a:t>
            </a:r>
            <a:r>
              <a:rPr lang="en-IN" dirty="0" err="1"/>
              <a:t>bS</a:t>
            </a:r>
            <a:r>
              <a:rPr lang="en-IN" dirty="0"/>
              <a:t>\w+", text)</a:t>
            </a:r>
          </a:p>
          <a:p>
            <a:r>
              <a:rPr lang="en-IN" dirty="0"/>
              <a:t>if match:</a:t>
            </a:r>
          </a:p>
          <a:p>
            <a:r>
              <a:rPr lang="en-IN" dirty="0"/>
              <a:t>    print(match.group())  # Output: Spain</a:t>
            </a:r>
          </a:p>
          <a:p>
            <a:r>
              <a:rPr lang="en-IN" dirty="0"/>
              <a:t>    print(</a:t>
            </a:r>
            <a:r>
              <a:rPr lang="en-IN" dirty="0" err="1"/>
              <a:t>match.span</a:t>
            </a:r>
            <a:r>
              <a:rPr lang="en-IN" dirty="0"/>
              <a:t>())   # Output: (12, 17) — start and end indices</a:t>
            </a:r>
          </a:p>
        </p:txBody>
      </p:sp>
      <p:sp>
        <p:nvSpPr>
          <p:cNvPr id="5" name="TextBox 4">
            <a:extLst>
              <a:ext uri="{FF2B5EF4-FFF2-40B4-BE49-F238E27FC236}">
                <a16:creationId xmlns:a16="http://schemas.microsoft.com/office/drawing/2014/main" id="{6BF85C48-05EC-ED8B-333A-450AEBB03B99}"/>
              </a:ext>
            </a:extLst>
          </p:cNvPr>
          <p:cNvSpPr txBox="1"/>
          <p:nvPr/>
        </p:nvSpPr>
        <p:spPr>
          <a:xfrm>
            <a:off x="985520" y="2228671"/>
            <a:ext cx="8166100" cy="3139321"/>
          </a:xfrm>
          <a:prstGeom prst="rect">
            <a:avLst/>
          </a:prstGeom>
          <a:noFill/>
        </p:spPr>
        <p:txBody>
          <a:bodyPr wrap="square">
            <a:spAutoFit/>
          </a:bodyPr>
          <a:lstStyle/>
          <a:p>
            <a:pPr algn="l">
              <a:buNone/>
            </a:pPr>
            <a:r>
              <a:rPr lang="en-US" b="0" i="0" dirty="0">
                <a:effectLst/>
                <a:latin typeface="fkGrotesk"/>
              </a:rPr>
              <a:t>2. </a:t>
            </a:r>
            <a:r>
              <a:rPr lang="en-US" b="0" i="0" dirty="0">
                <a:effectLst/>
                <a:latin typeface="berkeleyMono"/>
              </a:rPr>
              <a:t>re.findall()</a:t>
            </a:r>
            <a:endParaRPr lang="en-US" b="0" i="0" dirty="0">
              <a:effectLst/>
              <a:latin typeface="fkGrotesk"/>
            </a:endParaRPr>
          </a:p>
          <a:p>
            <a:pPr algn="l">
              <a:buFont typeface="Arial" panose="020B0604020202020204" pitchFamily="34" charset="0"/>
              <a:buChar char="•"/>
            </a:pPr>
            <a:r>
              <a:rPr lang="en-US" b="0" i="0" dirty="0">
                <a:effectLst/>
                <a:latin typeface="fkGroteskNeue"/>
              </a:rPr>
              <a:t>Finds </a:t>
            </a:r>
            <a:r>
              <a:rPr lang="en-US" b="0" i="1" dirty="0">
                <a:effectLst/>
                <a:latin typeface="fkGroteskNeue"/>
              </a:rPr>
              <a:t>all</a:t>
            </a:r>
            <a:r>
              <a:rPr lang="en-US" b="0" i="0" dirty="0">
                <a:effectLst/>
                <a:latin typeface="fkGroteskNeue"/>
              </a:rPr>
              <a:t> non-overlapping matches of the pattern in the string.</a:t>
            </a:r>
          </a:p>
          <a:p>
            <a:pPr algn="l">
              <a:buFont typeface="Arial" panose="020B0604020202020204" pitchFamily="34" charset="0"/>
              <a:buChar char="•"/>
            </a:pPr>
            <a:r>
              <a:rPr lang="en-US" b="0" i="0" dirty="0">
                <a:effectLst/>
                <a:latin typeface="fkGroteskNeue"/>
              </a:rPr>
              <a:t>Returns a list of matched strings.</a:t>
            </a:r>
          </a:p>
          <a:p>
            <a:pPr algn="l"/>
            <a:endParaRPr lang="en-US" b="0" i="0" dirty="0">
              <a:effectLst/>
              <a:latin typeface="fkGroteskNeue"/>
            </a:endParaRPr>
          </a:p>
          <a:p>
            <a:pPr algn="l">
              <a:buNone/>
            </a:pPr>
            <a:r>
              <a:rPr lang="en-US" b="0" i="0" dirty="0">
                <a:effectLst/>
                <a:latin typeface="fkGroteskNeue"/>
              </a:rPr>
              <a:t>Example:</a:t>
            </a:r>
          </a:p>
          <a:p>
            <a:pPr algn="l">
              <a:buNone/>
            </a:pPr>
            <a:endParaRPr lang="en-US" dirty="0">
              <a:latin typeface="fkGroteskNeue"/>
            </a:endParaRPr>
          </a:p>
          <a:p>
            <a:r>
              <a:rPr lang="en-US" dirty="0">
                <a:latin typeface="fkGroteskNeue"/>
              </a:rPr>
              <a:t>import re</a:t>
            </a:r>
          </a:p>
          <a:p>
            <a:r>
              <a:rPr lang="en-US" dirty="0">
                <a:latin typeface="fkGroteskNeue"/>
              </a:rPr>
              <a:t>text = "cat bat mat cat"</a:t>
            </a:r>
          </a:p>
          <a:p>
            <a:r>
              <a:rPr lang="en-US" dirty="0">
                <a:latin typeface="fkGroteskNeue"/>
              </a:rPr>
              <a:t>matches = re.findall(</a:t>
            </a:r>
            <a:r>
              <a:rPr lang="en-US" dirty="0" err="1">
                <a:latin typeface="fkGroteskNeue"/>
              </a:rPr>
              <a:t>r"cat</a:t>
            </a:r>
            <a:r>
              <a:rPr lang="en-US" dirty="0">
                <a:latin typeface="fkGroteskNeue"/>
              </a:rPr>
              <a:t>", text)</a:t>
            </a:r>
          </a:p>
          <a:p>
            <a:r>
              <a:rPr lang="en-US" dirty="0">
                <a:latin typeface="fkGroteskNeue"/>
              </a:rPr>
              <a:t>print(matches)  # Output: ['cat', 'cat']</a:t>
            </a:r>
          </a:p>
          <a:p>
            <a:pPr algn="l">
              <a:buNone/>
            </a:pPr>
            <a:endParaRPr lang="en-US" b="0" i="0" dirty="0">
              <a:effectLst/>
              <a:latin typeface="fkGroteskNeue"/>
            </a:endParaRPr>
          </a:p>
        </p:txBody>
      </p:sp>
    </p:spTree>
    <p:extLst>
      <p:ext uri="{BB962C8B-B14F-4D97-AF65-F5344CB8AC3E}">
        <p14:creationId xmlns:p14="http://schemas.microsoft.com/office/powerpoint/2010/main" val="32822366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94D63-8077-1DD7-5E86-A38533DAD34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0AA3AAE-4578-F2FC-0910-9C27209B2550}"/>
              </a:ext>
            </a:extLst>
          </p:cNvPr>
          <p:cNvSpPr txBox="1"/>
          <p:nvPr/>
        </p:nvSpPr>
        <p:spPr>
          <a:xfrm>
            <a:off x="1005840" y="136436"/>
            <a:ext cx="7719060" cy="3139321"/>
          </a:xfrm>
          <a:prstGeom prst="rect">
            <a:avLst/>
          </a:prstGeom>
          <a:noFill/>
        </p:spPr>
        <p:txBody>
          <a:bodyPr wrap="square">
            <a:spAutoFit/>
          </a:bodyPr>
          <a:lstStyle/>
          <a:p>
            <a:pPr algn="l">
              <a:buNone/>
            </a:pPr>
            <a:r>
              <a:rPr lang="en-US" b="0" i="0" dirty="0">
                <a:effectLst/>
                <a:latin typeface="fkGrotesk"/>
              </a:rPr>
              <a:t>3. </a:t>
            </a:r>
            <a:r>
              <a:rPr lang="en-US" b="0" i="0" dirty="0">
                <a:effectLst/>
                <a:latin typeface="berkeleyMono"/>
              </a:rPr>
              <a:t>re.compile()</a:t>
            </a:r>
            <a:endParaRPr lang="en-US" b="0" i="0" dirty="0">
              <a:effectLst/>
              <a:latin typeface="fkGrotesk"/>
            </a:endParaRPr>
          </a:p>
          <a:p>
            <a:pPr algn="l">
              <a:buFont typeface="Arial" panose="020B0604020202020204" pitchFamily="34" charset="0"/>
              <a:buChar char="•"/>
            </a:pPr>
            <a:r>
              <a:rPr lang="en-US" b="0" i="0" dirty="0">
                <a:effectLst/>
                <a:latin typeface="fkGroteskNeue"/>
              </a:rPr>
              <a:t>Compiles a regex pattern into a reusable Pattern object.</a:t>
            </a:r>
          </a:p>
          <a:p>
            <a:pPr algn="l">
              <a:buFont typeface="Arial" panose="020B0604020202020204" pitchFamily="34" charset="0"/>
              <a:buChar char="•"/>
            </a:pPr>
            <a:r>
              <a:rPr lang="en-US" b="0" i="0" dirty="0">
                <a:effectLst/>
                <a:latin typeface="fkGroteskNeue"/>
              </a:rPr>
              <a:t>Useful when the same pattern is used multiple times.</a:t>
            </a:r>
          </a:p>
          <a:p>
            <a:pPr algn="l">
              <a:buFont typeface="Arial" panose="020B0604020202020204" pitchFamily="34" charset="0"/>
              <a:buChar char="•"/>
            </a:pPr>
            <a:endParaRPr lang="en-US" b="0" i="0" dirty="0">
              <a:effectLst/>
              <a:latin typeface="fkGroteskNeue"/>
            </a:endParaRPr>
          </a:p>
          <a:p>
            <a:pPr algn="l">
              <a:buNone/>
            </a:pPr>
            <a:r>
              <a:rPr lang="en-US" b="0" i="0" dirty="0">
                <a:effectLst/>
                <a:latin typeface="fkGroteskNeue"/>
              </a:rPr>
              <a:t>Example:</a:t>
            </a:r>
          </a:p>
          <a:p>
            <a:pPr algn="l">
              <a:buNone/>
            </a:pPr>
            <a:endParaRPr lang="en-US" dirty="0">
              <a:latin typeface="fkGroteskNeue"/>
            </a:endParaRPr>
          </a:p>
          <a:p>
            <a:r>
              <a:rPr lang="en-US" dirty="0">
                <a:latin typeface="fkGroteskNeue"/>
              </a:rPr>
              <a:t>import re</a:t>
            </a:r>
          </a:p>
          <a:p>
            <a:r>
              <a:rPr lang="en-US" dirty="0">
                <a:latin typeface="fkGroteskNeue"/>
              </a:rPr>
              <a:t>pattern = re.compile(r"\d+")</a:t>
            </a:r>
          </a:p>
          <a:p>
            <a:r>
              <a:rPr lang="en-US" dirty="0">
                <a:latin typeface="fkGroteskNeue"/>
              </a:rPr>
              <a:t>matches = </a:t>
            </a:r>
            <a:r>
              <a:rPr lang="en-US" dirty="0" err="1">
                <a:latin typeface="fkGroteskNeue"/>
              </a:rPr>
              <a:t>pattern.findall</a:t>
            </a:r>
            <a:r>
              <a:rPr lang="en-US" dirty="0">
                <a:latin typeface="fkGroteskNeue"/>
              </a:rPr>
              <a:t>("12 drummers drumming, 11 pipers piping")</a:t>
            </a:r>
          </a:p>
          <a:p>
            <a:r>
              <a:rPr lang="en-US" dirty="0">
                <a:latin typeface="fkGroteskNeue"/>
              </a:rPr>
              <a:t>print(matches)  # ['12', '11']</a:t>
            </a:r>
          </a:p>
          <a:p>
            <a:pPr algn="l">
              <a:buNone/>
            </a:pPr>
            <a:endParaRPr lang="en-US" b="0" i="0" dirty="0">
              <a:effectLst/>
              <a:latin typeface="fkGroteskNeue"/>
            </a:endParaRPr>
          </a:p>
        </p:txBody>
      </p:sp>
      <p:sp>
        <p:nvSpPr>
          <p:cNvPr id="5" name="TextBox 4">
            <a:extLst>
              <a:ext uri="{FF2B5EF4-FFF2-40B4-BE49-F238E27FC236}">
                <a16:creationId xmlns:a16="http://schemas.microsoft.com/office/drawing/2014/main" id="{1656BE78-CC1E-7574-BD6C-CF3C204B1709}"/>
              </a:ext>
            </a:extLst>
          </p:cNvPr>
          <p:cNvSpPr txBox="1"/>
          <p:nvPr/>
        </p:nvSpPr>
        <p:spPr>
          <a:xfrm>
            <a:off x="1005840" y="3275757"/>
            <a:ext cx="8950960" cy="2585323"/>
          </a:xfrm>
          <a:prstGeom prst="rect">
            <a:avLst/>
          </a:prstGeom>
          <a:noFill/>
        </p:spPr>
        <p:txBody>
          <a:bodyPr wrap="square">
            <a:spAutoFit/>
          </a:bodyPr>
          <a:lstStyle/>
          <a:p>
            <a:pPr algn="l">
              <a:buNone/>
            </a:pPr>
            <a:r>
              <a:rPr lang="en-US" b="0" i="0" dirty="0">
                <a:effectLst/>
                <a:latin typeface="fkGrotesk"/>
              </a:rPr>
              <a:t>4. </a:t>
            </a:r>
            <a:r>
              <a:rPr lang="en-US" b="0" i="0" dirty="0">
                <a:effectLst/>
                <a:latin typeface="berkeleyMono"/>
              </a:rPr>
              <a:t>re.match()</a:t>
            </a:r>
            <a:endParaRPr lang="en-US" b="0" i="0" dirty="0">
              <a:effectLst/>
              <a:latin typeface="fkGrotesk"/>
            </a:endParaRPr>
          </a:p>
          <a:p>
            <a:pPr algn="l">
              <a:buFont typeface="Arial" panose="020B0604020202020204" pitchFamily="34" charset="0"/>
              <a:buChar char="•"/>
            </a:pPr>
            <a:r>
              <a:rPr lang="en-US" b="0" i="0" dirty="0">
                <a:effectLst/>
                <a:latin typeface="fkGroteskNeue"/>
              </a:rPr>
              <a:t>Checks for a match only at the </a:t>
            </a:r>
            <a:r>
              <a:rPr lang="en-US" b="0" i="1" dirty="0">
                <a:effectLst/>
                <a:latin typeface="fkGroteskNeue"/>
              </a:rPr>
              <a:t>start</a:t>
            </a:r>
            <a:r>
              <a:rPr lang="en-US" b="0" i="0" dirty="0">
                <a:effectLst/>
                <a:latin typeface="fkGroteskNeue"/>
              </a:rPr>
              <a:t> of the string.</a:t>
            </a:r>
          </a:p>
          <a:p>
            <a:pPr algn="l">
              <a:buNone/>
            </a:pPr>
            <a:endParaRPr lang="en-US" b="0" i="0" dirty="0">
              <a:effectLst/>
              <a:latin typeface="fkGroteskNeue"/>
            </a:endParaRPr>
          </a:p>
          <a:p>
            <a:pPr algn="l">
              <a:buNone/>
            </a:pPr>
            <a:r>
              <a:rPr lang="en-US" b="0" i="0" dirty="0">
                <a:effectLst/>
                <a:latin typeface="fkGroteskNeue"/>
              </a:rPr>
              <a:t>Example:</a:t>
            </a:r>
          </a:p>
          <a:p>
            <a:pPr algn="l">
              <a:buNone/>
            </a:pPr>
            <a:endParaRPr lang="en-US" dirty="0">
              <a:latin typeface="fkGroteskNeue"/>
            </a:endParaRPr>
          </a:p>
          <a:p>
            <a:r>
              <a:rPr lang="en-US" dirty="0">
                <a:latin typeface="fkGroteskNeue"/>
              </a:rPr>
              <a:t>import re</a:t>
            </a:r>
          </a:p>
          <a:p>
            <a:r>
              <a:rPr lang="en-US" dirty="0">
                <a:latin typeface="fkGroteskNeue"/>
              </a:rPr>
              <a:t>print(re.match(r"Hello", "Hello world"))  # Match object</a:t>
            </a:r>
          </a:p>
          <a:p>
            <a:r>
              <a:rPr lang="en-US" dirty="0">
                <a:latin typeface="fkGroteskNeue"/>
              </a:rPr>
              <a:t>print(re.match(r"Hello", "He said Hello"))  # None</a:t>
            </a:r>
          </a:p>
          <a:p>
            <a:pPr algn="l">
              <a:buNone/>
            </a:pPr>
            <a:endParaRPr lang="en-US" b="0" i="0" dirty="0">
              <a:effectLst/>
              <a:latin typeface="fkGroteskNeue"/>
            </a:endParaRPr>
          </a:p>
        </p:txBody>
      </p:sp>
    </p:spTree>
    <p:extLst>
      <p:ext uri="{BB962C8B-B14F-4D97-AF65-F5344CB8AC3E}">
        <p14:creationId xmlns:p14="http://schemas.microsoft.com/office/powerpoint/2010/main" val="6294815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C5462-89C2-29C9-4C43-A7EC4D0B2E8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A9BC578-B100-8EB0-1AD4-E021945683A0}"/>
              </a:ext>
            </a:extLst>
          </p:cNvPr>
          <p:cNvSpPr txBox="1"/>
          <p:nvPr/>
        </p:nvSpPr>
        <p:spPr>
          <a:xfrm>
            <a:off x="957580" y="122535"/>
            <a:ext cx="8186420" cy="2862322"/>
          </a:xfrm>
          <a:prstGeom prst="rect">
            <a:avLst/>
          </a:prstGeom>
          <a:noFill/>
        </p:spPr>
        <p:txBody>
          <a:bodyPr wrap="square">
            <a:spAutoFit/>
          </a:bodyPr>
          <a:lstStyle/>
          <a:p>
            <a:pPr algn="l">
              <a:buNone/>
            </a:pPr>
            <a:r>
              <a:rPr lang="en-US" b="0" i="0" dirty="0">
                <a:effectLst/>
                <a:latin typeface="fkGrotesk"/>
              </a:rPr>
              <a:t>5. </a:t>
            </a:r>
            <a:r>
              <a:rPr lang="en-US" b="0" i="0" dirty="0">
                <a:effectLst/>
                <a:latin typeface="berkeleyMono"/>
              </a:rPr>
              <a:t>re.split()</a:t>
            </a:r>
            <a:endParaRPr lang="en-US" b="0" i="0" dirty="0">
              <a:effectLst/>
              <a:latin typeface="fkGrotesk"/>
            </a:endParaRPr>
          </a:p>
          <a:p>
            <a:pPr algn="l">
              <a:buFont typeface="Arial" panose="020B0604020202020204" pitchFamily="34" charset="0"/>
              <a:buChar char="•"/>
            </a:pPr>
            <a:r>
              <a:rPr lang="en-US" b="0" i="0" dirty="0">
                <a:effectLst/>
                <a:latin typeface="fkGroteskNeue"/>
              </a:rPr>
              <a:t>Splits a string by the occurrences of the regex pattern.</a:t>
            </a:r>
          </a:p>
          <a:p>
            <a:pPr algn="l"/>
            <a:endParaRPr lang="en-US" b="0" i="0" dirty="0">
              <a:effectLst/>
              <a:latin typeface="fkGroteskNeue"/>
            </a:endParaRPr>
          </a:p>
          <a:p>
            <a:pPr algn="l">
              <a:buNone/>
            </a:pPr>
            <a:r>
              <a:rPr lang="en-US" b="0" i="0" dirty="0">
                <a:effectLst/>
                <a:latin typeface="fkGroteskNeue"/>
              </a:rPr>
              <a:t>Example:</a:t>
            </a:r>
          </a:p>
          <a:p>
            <a:pPr algn="l">
              <a:buNone/>
            </a:pPr>
            <a:endParaRPr lang="en-US" dirty="0">
              <a:latin typeface="fkGroteskNeue"/>
            </a:endParaRPr>
          </a:p>
          <a:p>
            <a:r>
              <a:rPr lang="en-US" dirty="0">
                <a:latin typeface="fkGroteskNeue"/>
              </a:rPr>
              <a:t>import re</a:t>
            </a:r>
          </a:p>
          <a:p>
            <a:r>
              <a:rPr lang="en-US" dirty="0">
                <a:latin typeface="fkGroteskNeue"/>
              </a:rPr>
              <a:t>text = "apple, banana; </a:t>
            </a:r>
            <a:r>
              <a:rPr lang="en-US" dirty="0" err="1">
                <a:latin typeface="fkGroteskNeue"/>
              </a:rPr>
              <a:t>orange|grape</a:t>
            </a:r>
            <a:r>
              <a:rPr lang="en-US" dirty="0">
                <a:latin typeface="fkGroteskNeue"/>
              </a:rPr>
              <a:t>"</a:t>
            </a:r>
          </a:p>
          <a:p>
            <a:r>
              <a:rPr lang="en-US" dirty="0">
                <a:latin typeface="fkGroteskNeue"/>
              </a:rPr>
              <a:t>fruits = re.split(r"[;,|]\s*", text)</a:t>
            </a:r>
          </a:p>
          <a:p>
            <a:r>
              <a:rPr lang="en-US" dirty="0">
                <a:latin typeface="fkGroteskNeue"/>
              </a:rPr>
              <a:t>print(fruits)  # ['apple', 'banana', 'orange', 'grape']</a:t>
            </a:r>
          </a:p>
          <a:p>
            <a:pPr algn="l">
              <a:buNone/>
            </a:pPr>
            <a:endParaRPr lang="en-US" b="0" i="0" dirty="0">
              <a:effectLst/>
              <a:latin typeface="fkGroteskNeue"/>
            </a:endParaRPr>
          </a:p>
        </p:txBody>
      </p:sp>
      <p:sp>
        <p:nvSpPr>
          <p:cNvPr id="5" name="TextBox 4">
            <a:extLst>
              <a:ext uri="{FF2B5EF4-FFF2-40B4-BE49-F238E27FC236}">
                <a16:creationId xmlns:a16="http://schemas.microsoft.com/office/drawing/2014/main" id="{28088D4E-5377-98FF-48BF-017185B2524A}"/>
              </a:ext>
            </a:extLst>
          </p:cNvPr>
          <p:cNvSpPr txBox="1"/>
          <p:nvPr/>
        </p:nvSpPr>
        <p:spPr>
          <a:xfrm>
            <a:off x="957580" y="2826157"/>
            <a:ext cx="8186420" cy="2308324"/>
          </a:xfrm>
          <a:prstGeom prst="rect">
            <a:avLst/>
          </a:prstGeom>
          <a:noFill/>
        </p:spPr>
        <p:txBody>
          <a:bodyPr wrap="square">
            <a:spAutoFit/>
          </a:bodyPr>
          <a:lstStyle/>
          <a:p>
            <a:pPr marL="285750" indent="-285750" algn="l">
              <a:buFont typeface="Wingdings" panose="05000000000000000000" pitchFamily="2" charset="2"/>
              <a:buChar char="§"/>
            </a:pPr>
            <a:r>
              <a:rPr lang="en-US" b="1" i="0" dirty="0">
                <a:effectLst/>
                <a:latin typeface="fkGrotesk"/>
              </a:rPr>
              <a:t>Using Match Object</a:t>
            </a:r>
          </a:p>
          <a:p>
            <a:pPr algn="l">
              <a:buNone/>
            </a:pPr>
            <a:r>
              <a:rPr lang="en-US" b="0" i="0" dirty="0">
                <a:effectLst/>
                <a:latin typeface="fkGroteskNeue"/>
              </a:rPr>
              <a:t>A Match Object provides several useful methods:</a:t>
            </a:r>
          </a:p>
          <a:p>
            <a:pPr algn="l">
              <a:buFont typeface="Arial" panose="020B0604020202020204" pitchFamily="34" charset="0"/>
              <a:buChar char="•"/>
            </a:pPr>
            <a:r>
              <a:rPr lang="en-US" b="0" i="0" dirty="0">
                <a:effectLst/>
                <a:latin typeface="berkeleyMono"/>
              </a:rPr>
              <a:t>.group()</a:t>
            </a:r>
            <a:r>
              <a:rPr lang="en-US" b="0" i="0" dirty="0">
                <a:effectLst/>
                <a:latin typeface="fkGroteskNeue"/>
              </a:rPr>
              <a:t> — Returns the matched text.</a:t>
            </a:r>
          </a:p>
          <a:p>
            <a:pPr algn="l">
              <a:buFont typeface="Arial" panose="020B0604020202020204" pitchFamily="34" charset="0"/>
              <a:buChar char="•"/>
            </a:pPr>
            <a:r>
              <a:rPr lang="en-US" b="0" i="0" dirty="0">
                <a:effectLst/>
                <a:latin typeface="berkeleyMono"/>
              </a:rPr>
              <a:t>.span()</a:t>
            </a:r>
            <a:r>
              <a:rPr lang="en-US" b="0" i="0" dirty="0">
                <a:effectLst/>
                <a:latin typeface="fkGroteskNeue"/>
              </a:rPr>
              <a:t> — Returns a tuple with the start and end index of the match.</a:t>
            </a:r>
          </a:p>
          <a:p>
            <a:pPr algn="l">
              <a:buFont typeface="Arial" panose="020B0604020202020204" pitchFamily="34" charset="0"/>
              <a:buChar char="•"/>
            </a:pPr>
            <a:r>
              <a:rPr lang="en-US" b="0" i="0" dirty="0">
                <a:effectLst/>
                <a:latin typeface="berkeleyMono"/>
              </a:rPr>
              <a:t>.string</a:t>
            </a:r>
            <a:r>
              <a:rPr lang="en-US" b="0" i="0" dirty="0">
                <a:effectLst/>
                <a:latin typeface="fkGroteskNeue"/>
              </a:rPr>
              <a:t> — The original string passed.</a:t>
            </a:r>
          </a:p>
          <a:p>
            <a:pPr algn="l">
              <a:buFont typeface="Arial" panose="020B0604020202020204" pitchFamily="34" charset="0"/>
              <a:buChar char="•"/>
            </a:pPr>
            <a:endParaRPr lang="en-US" dirty="0">
              <a:latin typeface="fkGroteskNeue"/>
            </a:endParaRPr>
          </a:p>
          <a:p>
            <a:r>
              <a:rPr lang="en-IN" dirty="0"/>
              <a:t>Example:</a:t>
            </a:r>
          </a:p>
          <a:p>
            <a:endParaRPr lang="en-US" b="0" i="0" dirty="0">
              <a:effectLst/>
              <a:latin typeface="fkGroteskNeue"/>
            </a:endParaRPr>
          </a:p>
        </p:txBody>
      </p:sp>
    </p:spTree>
    <p:extLst>
      <p:ext uri="{BB962C8B-B14F-4D97-AF65-F5344CB8AC3E}">
        <p14:creationId xmlns:p14="http://schemas.microsoft.com/office/powerpoint/2010/main" val="6770159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67EC8-9587-2B7B-3EE5-67DB6FDEFB3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A1BAD1B-43B3-0153-9FA0-F685E8D2CCD8}"/>
              </a:ext>
            </a:extLst>
          </p:cNvPr>
          <p:cNvSpPr txBox="1"/>
          <p:nvPr/>
        </p:nvSpPr>
        <p:spPr>
          <a:xfrm>
            <a:off x="1038860" y="0"/>
            <a:ext cx="8369300" cy="2031325"/>
          </a:xfrm>
          <a:prstGeom prst="rect">
            <a:avLst/>
          </a:prstGeom>
          <a:noFill/>
        </p:spPr>
        <p:txBody>
          <a:bodyPr wrap="square">
            <a:spAutoFit/>
          </a:bodyPr>
          <a:lstStyle/>
          <a:p>
            <a:r>
              <a:rPr lang="en-IN" dirty="0"/>
              <a:t>import re</a:t>
            </a:r>
          </a:p>
          <a:p>
            <a:r>
              <a:rPr lang="en-IN" dirty="0"/>
              <a:t>text = "The rain in Spain"</a:t>
            </a:r>
          </a:p>
          <a:p>
            <a:r>
              <a:rPr lang="en-IN" dirty="0"/>
              <a:t>match = re.search(r"\</a:t>
            </a:r>
            <a:r>
              <a:rPr lang="en-IN" dirty="0" err="1"/>
              <a:t>bS</a:t>
            </a:r>
            <a:r>
              <a:rPr lang="en-IN" dirty="0"/>
              <a:t>\w+", text)</a:t>
            </a:r>
          </a:p>
          <a:p>
            <a:r>
              <a:rPr lang="en-IN" dirty="0"/>
              <a:t>if match:</a:t>
            </a:r>
          </a:p>
          <a:p>
            <a:r>
              <a:rPr lang="en-IN" dirty="0"/>
              <a:t>    print(match.group())  # Spain</a:t>
            </a:r>
          </a:p>
          <a:p>
            <a:r>
              <a:rPr lang="en-IN" dirty="0"/>
              <a:t>    print(match.span())  # (12, 17)</a:t>
            </a:r>
          </a:p>
          <a:p>
            <a:r>
              <a:rPr lang="en-IN" dirty="0"/>
              <a:t>    print(</a:t>
            </a:r>
            <a:r>
              <a:rPr lang="en-IN" dirty="0" err="1"/>
              <a:t>match.string</a:t>
            </a:r>
            <a:r>
              <a:rPr lang="en-IN" dirty="0"/>
              <a:t>)   # The rain in Spain</a:t>
            </a:r>
          </a:p>
        </p:txBody>
      </p:sp>
    </p:spTree>
    <p:extLst>
      <p:ext uri="{BB962C8B-B14F-4D97-AF65-F5344CB8AC3E}">
        <p14:creationId xmlns:p14="http://schemas.microsoft.com/office/powerpoint/2010/main" val="8305421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CDBF2-AEAD-117B-BA10-AEF6DACA42E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EC3EA2D-732D-AB7E-1984-289AD0D1F302}"/>
              </a:ext>
            </a:extLst>
          </p:cNvPr>
          <p:cNvSpPr txBox="1"/>
          <p:nvPr/>
        </p:nvSpPr>
        <p:spPr>
          <a:xfrm>
            <a:off x="894080" y="159435"/>
            <a:ext cx="7810500" cy="369332"/>
          </a:xfrm>
          <a:prstGeom prst="rect">
            <a:avLst/>
          </a:prstGeom>
          <a:noFill/>
        </p:spPr>
        <p:txBody>
          <a:bodyPr wrap="square">
            <a:spAutoFit/>
          </a:bodyPr>
          <a:lstStyle/>
          <a:p>
            <a:r>
              <a:rPr lang="en-US" b="1" dirty="0"/>
              <a:t>5.3 Password, email, url validation using regular expression</a:t>
            </a:r>
            <a:endParaRPr lang="en-IN" b="1" dirty="0"/>
          </a:p>
        </p:txBody>
      </p:sp>
      <p:sp>
        <p:nvSpPr>
          <p:cNvPr id="5" name="TextBox 4">
            <a:extLst>
              <a:ext uri="{FF2B5EF4-FFF2-40B4-BE49-F238E27FC236}">
                <a16:creationId xmlns:a16="http://schemas.microsoft.com/office/drawing/2014/main" id="{F45A9F57-B5C2-B388-6BD7-EAEF3E47631C}"/>
              </a:ext>
            </a:extLst>
          </p:cNvPr>
          <p:cNvSpPr txBox="1"/>
          <p:nvPr/>
        </p:nvSpPr>
        <p:spPr>
          <a:xfrm>
            <a:off x="894080" y="627856"/>
            <a:ext cx="8694420" cy="646331"/>
          </a:xfrm>
          <a:prstGeom prst="rect">
            <a:avLst/>
          </a:prstGeom>
          <a:noFill/>
        </p:spPr>
        <p:txBody>
          <a:bodyPr wrap="square">
            <a:spAutoFit/>
          </a:bodyPr>
          <a:lstStyle/>
          <a:p>
            <a:pPr algn="l">
              <a:buNone/>
            </a:pPr>
            <a:r>
              <a:rPr lang="en-US" b="0" i="0" dirty="0">
                <a:effectLst/>
                <a:latin typeface="fkGroteskNeue"/>
              </a:rPr>
              <a:t>Validating inputs like passwords, emails, and URLs is a common use case of regex. It allows you to check if user input follows specific rules before processing.</a:t>
            </a:r>
          </a:p>
        </p:txBody>
      </p:sp>
      <p:sp>
        <p:nvSpPr>
          <p:cNvPr id="7" name="TextBox 6">
            <a:extLst>
              <a:ext uri="{FF2B5EF4-FFF2-40B4-BE49-F238E27FC236}">
                <a16:creationId xmlns:a16="http://schemas.microsoft.com/office/drawing/2014/main" id="{F29702B1-4C16-5A66-BC9B-23BB4DAD3A41}"/>
              </a:ext>
            </a:extLst>
          </p:cNvPr>
          <p:cNvSpPr txBox="1"/>
          <p:nvPr/>
        </p:nvSpPr>
        <p:spPr>
          <a:xfrm>
            <a:off x="894080" y="1522998"/>
            <a:ext cx="8290560" cy="3416320"/>
          </a:xfrm>
          <a:prstGeom prst="rect">
            <a:avLst/>
          </a:prstGeom>
          <a:noFill/>
        </p:spPr>
        <p:txBody>
          <a:bodyPr wrap="square">
            <a:spAutoFit/>
          </a:bodyPr>
          <a:lstStyle/>
          <a:p>
            <a:pPr marL="342900" indent="-342900" algn="l">
              <a:buAutoNum type="arabicPeriod"/>
            </a:pPr>
            <a:r>
              <a:rPr lang="en-US" b="1" i="0" dirty="0">
                <a:effectLst/>
                <a:latin typeface="fkGrotesk"/>
              </a:rPr>
              <a:t>Password Validation</a:t>
            </a:r>
          </a:p>
          <a:p>
            <a:pPr algn="l"/>
            <a:endParaRPr lang="en-US" b="0" i="0" dirty="0">
              <a:effectLst/>
              <a:latin typeface="fkGrotesk"/>
            </a:endParaRPr>
          </a:p>
          <a:p>
            <a:pPr algn="l">
              <a:buNone/>
            </a:pPr>
            <a:r>
              <a:rPr lang="en-US" b="1" i="0" dirty="0">
                <a:effectLst/>
                <a:latin typeface="fkGroteskNeue"/>
              </a:rPr>
              <a:t>Common rules:</a:t>
            </a:r>
          </a:p>
          <a:p>
            <a:pPr algn="l">
              <a:buNone/>
            </a:pPr>
            <a:endParaRPr lang="en-US" b="0" i="0" dirty="0">
              <a:effectLst/>
              <a:latin typeface="fkGroteskNeue"/>
            </a:endParaRPr>
          </a:p>
          <a:p>
            <a:pPr algn="l">
              <a:buFont typeface="Arial" panose="020B0604020202020204" pitchFamily="34" charset="0"/>
              <a:buChar char="•"/>
            </a:pPr>
            <a:r>
              <a:rPr lang="en-US" b="0" i="0" dirty="0">
                <a:effectLst/>
                <a:latin typeface="fkGroteskNeue"/>
              </a:rPr>
              <a:t>Minimum 8 characters</a:t>
            </a:r>
          </a:p>
          <a:p>
            <a:pPr algn="l">
              <a:buFont typeface="Arial" panose="020B0604020202020204" pitchFamily="34" charset="0"/>
              <a:buChar char="•"/>
            </a:pPr>
            <a:r>
              <a:rPr lang="en-US" b="0" i="0" dirty="0">
                <a:effectLst/>
                <a:latin typeface="fkGroteskNeue"/>
              </a:rPr>
              <a:t>At least one uppercase letter</a:t>
            </a:r>
          </a:p>
          <a:p>
            <a:pPr algn="l">
              <a:buFont typeface="Arial" panose="020B0604020202020204" pitchFamily="34" charset="0"/>
              <a:buChar char="•"/>
            </a:pPr>
            <a:r>
              <a:rPr lang="en-US" b="0" i="0" dirty="0">
                <a:effectLst/>
                <a:latin typeface="fkGroteskNeue"/>
              </a:rPr>
              <a:t>At least one lowercase letter</a:t>
            </a:r>
          </a:p>
          <a:p>
            <a:pPr algn="l">
              <a:buFont typeface="Arial" panose="020B0604020202020204" pitchFamily="34" charset="0"/>
              <a:buChar char="•"/>
            </a:pPr>
            <a:r>
              <a:rPr lang="en-US" b="0" i="0" dirty="0">
                <a:effectLst/>
                <a:latin typeface="fkGroteskNeue"/>
              </a:rPr>
              <a:t>At least one digit</a:t>
            </a:r>
          </a:p>
          <a:p>
            <a:pPr algn="l">
              <a:buFont typeface="Arial" panose="020B0604020202020204" pitchFamily="34" charset="0"/>
              <a:buChar char="•"/>
            </a:pPr>
            <a:r>
              <a:rPr lang="en-US" b="0" i="0" dirty="0">
                <a:effectLst/>
                <a:latin typeface="fkGroteskNeue"/>
              </a:rPr>
              <a:t>At least one special character (e.g., </a:t>
            </a:r>
            <a:r>
              <a:rPr lang="en-US" b="0" i="0" dirty="0">
                <a:effectLst/>
                <a:latin typeface="berkeleyMono"/>
              </a:rPr>
              <a:t>!@#$%</a:t>
            </a:r>
            <a:r>
              <a:rPr lang="en-US" b="0" i="0" dirty="0">
                <a:effectLst/>
                <a:latin typeface="fkGroteskNeue"/>
              </a:rPr>
              <a:t>)</a:t>
            </a:r>
          </a:p>
          <a:p>
            <a:pPr algn="l"/>
            <a:endParaRPr lang="en-US" b="0" i="0" dirty="0">
              <a:effectLst/>
              <a:latin typeface="fkGroteskNeue"/>
            </a:endParaRPr>
          </a:p>
          <a:p>
            <a:pPr algn="l">
              <a:buNone/>
            </a:pPr>
            <a:r>
              <a:rPr lang="en-US" b="0" i="0" dirty="0">
                <a:effectLst/>
                <a:latin typeface="fkGrotesk"/>
              </a:rPr>
              <a:t>Example Regex Pattern:</a:t>
            </a:r>
          </a:p>
          <a:p>
            <a:pPr algn="l">
              <a:buNone/>
            </a:pPr>
            <a:endParaRPr lang="en-US" b="0" i="0" dirty="0">
              <a:effectLst/>
              <a:latin typeface="fkGrotesk"/>
            </a:endParaRPr>
          </a:p>
        </p:txBody>
      </p:sp>
    </p:spTree>
    <p:extLst>
      <p:ext uri="{BB962C8B-B14F-4D97-AF65-F5344CB8AC3E}">
        <p14:creationId xmlns:p14="http://schemas.microsoft.com/office/powerpoint/2010/main" val="31950303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B0D12-BDCB-566F-E26B-EA30B0895D7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0C8ED5E-3891-91B6-BCC0-CE2E57C83743}"/>
              </a:ext>
            </a:extLst>
          </p:cNvPr>
          <p:cNvSpPr txBox="1"/>
          <p:nvPr/>
        </p:nvSpPr>
        <p:spPr>
          <a:xfrm>
            <a:off x="995680" y="128399"/>
            <a:ext cx="8216900" cy="2862322"/>
          </a:xfrm>
          <a:prstGeom prst="rect">
            <a:avLst/>
          </a:prstGeom>
          <a:noFill/>
        </p:spPr>
        <p:txBody>
          <a:bodyPr wrap="square">
            <a:spAutoFit/>
          </a:bodyPr>
          <a:lstStyle/>
          <a:p>
            <a:r>
              <a:rPr lang="en-IN" dirty="0"/>
              <a:t>import re</a:t>
            </a:r>
          </a:p>
          <a:p>
            <a:r>
              <a:rPr lang="en-IN" dirty="0"/>
              <a:t>password_pattern = r'^(?=.*[a-z])(?=.*[A-Z])(?=.*\d)(?=.*[@$!%*?&amp;])[A-Za-z\d@$!%*?&amp;]{8,}$'</a:t>
            </a:r>
          </a:p>
          <a:p>
            <a:endParaRPr lang="en-IN" dirty="0"/>
          </a:p>
          <a:p>
            <a:r>
              <a:rPr lang="en-IN" dirty="0"/>
              <a:t>def validate_password(password):</a:t>
            </a:r>
          </a:p>
          <a:p>
            <a:r>
              <a:rPr lang="en-IN" dirty="0"/>
              <a:t>    return bool(re.match(password_pattern, password))</a:t>
            </a:r>
          </a:p>
          <a:p>
            <a:endParaRPr lang="en-IN" dirty="0"/>
          </a:p>
          <a:p>
            <a:r>
              <a:rPr lang="en-IN" dirty="0"/>
              <a:t># Tests</a:t>
            </a:r>
          </a:p>
          <a:p>
            <a:r>
              <a:rPr lang="en-IN" dirty="0"/>
              <a:t>print(validate_password("StrongPass1!"))  # True</a:t>
            </a:r>
          </a:p>
          <a:p>
            <a:r>
              <a:rPr lang="en-IN" dirty="0"/>
              <a:t>print(validate_password("weakpass"))      # False</a:t>
            </a:r>
          </a:p>
        </p:txBody>
      </p:sp>
      <p:sp>
        <p:nvSpPr>
          <p:cNvPr id="5" name="TextBox 4">
            <a:extLst>
              <a:ext uri="{FF2B5EF4-FFF2-40B4-BE49-F238E27FC236}">
                <a16:creationId xmlns:a16="http://schemas.microsoft.com/office/drawing/2014/main" id="{E3BBD65E-0E95-7023-8108-215078ABD002}"/>
              </a:ext>
            </a:extLst>
          </p:cNvPr>
          <p:cNvSpPr txBox="1"/>
          <p:nvPr/>
        </p:nvSpPr>
        <p:spPr>
          <a:xfrm>
            <a:off x="995680" y="3090317"/>
            <a:ext cx="8920480" cy="2031325"/>
          </a:xfrm>
          <a:prstGeom prst="rect">
            <a:avLst/>
          </a:prstGeom>
          <a:noFill/>
        </p:spPr>
        <p:txBody>
          <a:bodyPr wrap="square">
            <a:spAutoFit/>
          </a:bodyPr>
          <a:lstStyle/>
          <a:p>
            <a:pPr algn="l">
              <a:buNone/>
            </a:pPr>
            <a:r>
              <a:rPr lang="en-US" b="1" i="0" dirty="0">
                <a:effectLst/>
                <a:latin typeface="fkGroteskNeue"/>
              </a:rPr>
              <a:t>Explanation:</a:t>
            </a:r>
          </a:p>
          <a:p>
            <a:pPr algn="l">
              <a:buNone/>
            </a:pPr>
            <a:endParaRPr lang="en-US" b="1" i="0" dirty="0">
              <a:effectLst/>
              <a:latin typeface="fkGroteskNeue"/>
            </a:endParaRPr>
          </a:p>
          <a:p>
            <a:pPr algn="l">
              <a:buFont typeface="Arial" panose="020B0604020202020204" pitchFamily="34" charset="0"/>
              <a:buChar char="•"/>
            </a:pPr>
            <a:r>
              <a:rPr lang="en-US" b="0" i="0" dirty="0">
                <a:effectLst/>
                <a:latin typeface="berkeleyMono"/>
              </a:rPr>
              <a:t>(?=.*[a-z])</a:t>
            </a:r>
            <a:r>
              <a:rPr lang="en-US" b="0" i="0" dirty="0">
                <a:effectLst/>
                <a:latin typeface="fkGroteskNeue"/>
              </a:rPr>
              <a:t> ensures at least one lowercase letter</a:t>
            </a:r>
          </a:p>
          <a:p>
            <a:pPr algn="l">
              <a:buFont typeface="Arial" panose="020B0604020202020204" pitchFamily="34" charset="0"/>
              <a:buChar char="•"/>
            </a:pPr>
            <a:r>
              <a:rPr lang="en-US" b="0" i="0" dirty="0">
                <a:effectLst/>
                <a:latin typeface="berkeleyMono"/>
              </a:rPr>
              <a:t>(?=.*[A-Z])</a:t>
            </a:r>
            <a:r>
              <a:rPr lang="en-US" b="0" i="0" dirty="0">
                <a:effectLst/>
                <a:latin typeface="fkGroteskNeue"/>
              </a:rPr>
              <a:t> at least one uppercase</a:t>
            </a:r>
          </a:p>
          <a:p>
            <a:pPr algn="l">
              <a:buFont typeface="Arial" panose="020B0604020202020204" pitchFamily="34" charset="0"/>
              <a:buChar char="•"/>
            </a:pPr>
            <a:r>
              <a:rPr lang="en-US" b="0" i="0" dirty="0">
                <a:effectLst/>
                <a:latin typeface="berkeleyMono"/>
              </a:rPr>
              <a:t>(?=.*\d)</a:t>
            </a:r>
            <a:r>
              <a:rPr lang="en-US" b="0" i="0" dirty="0">
                <a:effectLst/>
                <a:latin typeface="fkGroteskNeue"/>
              </a:rPr>
              <a:t> at least one digit</a:t>
            </a:r>
          </a:p>
          <a:p>
            <a:pPr algn="l">
              <a:buFont typeface="Arial" panose="020B0604020202020204" pitchFamily="34" charset="0"/>
              <a:buChar char="•"/>
            </a:pPr>
            <a:r>
              <a:rPr lang="en-US" b="0" i="0" dirty="0">
                <a:effectLst/>
                <a:latin typeface="berkeleyMono"/>
              </a:rPr>
              <a:t>(?=.*[@$!%*?&amp;])</a:t>
            </a:r>
            <a:r>
              <a:rPr lang="en-US" b="0" i="0" dirty="0">
                <a:effectLst/>
                <a:latin typeface="fkGroteskNeue"/>
              </a:rPr>
              <a:t> at least one special char</a:t>
            </a:r>
          </a:p>
          <a:p>
            <a:pPr algn="l">
              <a:buFont typeface="Arial" panose="020B0604020202020204" pitchFamily="34" charset="0"/>
              <a:buChar char="•"/>
            </a:pPr>
            <a:r>
              <a:rPr lang="en-US" b="0" i="0" dirty="0">
                <a:effectLst/>
                <a:latin typeface="berkeleyMono"/>
              </a:rPr>
              <a:t>{8,}</a:t>
            </a:r>
            <a:r>
              <a:rPr lang="en-US" b="0" i="0" dirty="0">
                <a:effectLst/>
                <a:latin typeface="fkGroteskNeue"/>
              </a:rPr>
              <a:t> minimum length of 8</a:t>
            </a:r>
          </a:p>
        </p:txBody>
      </p:sp>
    </p:spTree>
    <p:extLst>
      <p:ext uri="{BB962C8B-B14F-4D97-AF65-F5344CB8AC3E}">
        <p14:creationId xmlns:p14="http://schemas.microsoft.com/office/powerpoint/2010/main" val="24425300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AD016-0680-7AC5-277E-8B79FE5A7B2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B2CD06C-2A82-A1F1-B66E-07309E0373E5}"/>
              </a:ext>
            </a:extLst>
          </p:cNvPr>
          <p:cNvSpPr txBox="1"/>
          <p:nvPr/>
        </p:nvSpPr>
        <p:spPr>
          <a:xfrm flipH="1">
            <a:off x="1084580" y="235357"/>
            <a:ext cx="8171180" cy="4801314"/>
          </a:xfrm>
          <a:prstGeom prst="rect">
            <a:avLst/>
          </a:prstGeom>
          <a:noFill/>
        </p:spPr>
        <p:txBody>
          <a:bodyPr wrap="square">
            <a:spAutoFit/>
          </a:bodyPr>
          <a:lstStyle/>
          <a:p>
            <a:pPr>
              <a:buNone/>
            </a:pPr>
            <a:r>
              <a:rPr lang="fr-FR" b="1" dirty="0">
                <a:effectLst/>
                <a:latin typeface="fkGrotesk"/>
              </a:rPr>
              <a:t>2. Email Validation</a:t>
            </a:r>
          </a:p>
          <a:p>
            <a:pPr>
              <a:buNone/>
            </a:pPr>
            <a:endParaRPr lang="fr-FR" b="1" dirty="0">
              <a:latin typeface="fkGrotesk"/>
            </a:endParaRPr>
          </a:p>
          <a:p>
            <a:pPr>
              <a:buNone/>
            </a:pPr>
            <a:r>
              <a:rPr lang="fr-FR" b="1" dirty="0">
                <a:effectLst/>
              </a:rPr>
              <a:t>Typical email syntax:</a:t>
            </a:r>
            <a:br>
              <a:rPr lang="fr-FR" dirty="0">
                <a:effectLst/>
              </a:rPr>
            </a:br>
            <a:r>
              <a:rPr lang="fr-FR" b="0" dirty="0">
                <a:effectLst/>
                <a:latin typeface="berkeleyMono"/>
                <a:hlinkClick r:id="rId2"/>
              </a:rPr>
              <a:t>username@domain.extension</a:t>
            </a:r>
            <a:endParaRPr lang="fr-FR" b="0" dirty="0">
              <a:effectLst/>
              <a:latin typeface="berkeleyMono"/>
            </a:endParaRPr>
          </a:p>
          <a:p>
            <a:pPr>
              <a:buNone/>
            </a:pPr>
            <a:endParaRPr lang="fr-FR" dirty="0">
              <a:effectLst/>
            </a:endParaRPr>
          </a:p>
          <a:p>
            <a:pPr>
              <a:buNone/>
            </a:pPr>
            <a:r>
              <a:rPr lang="fr-FR" b="0" dirty="0">
                <a:effectLst/>
                <a:latin typeface="fkGrotesk"/>
              </a:rPr>
              <a:t>Simple Regex Pattern:</a:t>
            </a:r>
          </a:p>
          <a:p>
            <a:pPr>
              <a:buNone/>
            </a:pPr>
            <a:endParaRPr lang="fr-FR" dirty="0">
              <a:latin typeface="fkGrotesk"/>
            </a:endParaRPr>
          </a:p>
          <a:p>
            <a:pPr>
              <a:buNone/>
            </a:pPr>
            <a:r>
              <a:rPr lang="en-US" dirty="0" err="1">
                <a:latin typeface="fkGrotesk"/>
              </a:rPr>
              <a:t>email_pattern</a:t>
            </a:r>
            <a:r>
              <a:rPr lang="en-US" dirty="0">
                <a:latin typeface="fkGrotesk"/>
              </a:rPr>
              <a:t> = r'^[\w.+-]+@[\w-]+\.[\w.-]+$'</a:t>
            </a:r>
          </a:p>
          <a:p>
            <a:pPr>
              <a:buNone/>
            </a:pPr>
            <a:endParaRPr lang="en-US" dirty="0">
              <a:latin typeface="fkGrotesk"/>
            </a:endParaRPr>
          </a:p>
          <a:p>
            <a:pPr>
              <a:buNone/>
            </a:pPr>
            <a:r>
              <a:rPr lang="en-US" dirty="0">
                <a:latin typeface="fkGrotesk"/>
              </a:rPr>
              <a:t>def </a:t>
            </a:r>
            <a:r>
              <a:rPr lang="en-US" dirty="0" err="1">
                <a:latin typeface="fkGrotesk"/>
              </a:rPr>
              <a:t>validate_email</a:t>
            </a:r>
            <a:r>
              <a:rPr lang="en-US" dirty="0">
                <a:latin typeface="fkGrotesk"/>
              </a:rPr>
              <a:t>(email):</a:t>
            </a:r>
          </a:p>
          <a:p>
            <a:pPr>
              <a:buNone/>
            </a:pPr>
            <a:r>
              <a:rPr lang="en-US" dirty="0">
                <a:latin typeface="fkGrotesk"/>
              </a:rPr>
              <a:t>    return bool(re.match(</a:t>
            </a:r>
            <a:r>
              <a:rPr lang="en-US" dirty="0" err="1">
                <a:latin typeface="fkGrotesk"/>
              </a:rPr>
              <a:t>email_pattern</a:t>
            </a:r>
            <a:r>
              <a:rPr lang="en-US" dirty="0">
                <a:latin typeface="fkGrotesk"/>
              </a:rPr>
              <a:t>, email))</a:t>
            </a:r>
          </a:p>
          <a:p>
            <a:pPr>
              <a:buNone/>
            </a:pPr>
            <a:endParaRPr lang="en-US" dirty="0">
              <a:latin typeface="fkGrotesk"/>
            </a:endParaRPr>
          </a:p>
          <a:p>
            <a:pPr>
              <a:buNone/>
            </a:pPr>
            <a:r>
              <a:rPr lang="en-US" dirty="0">
                <a:latin typeface="fkGrotesk"/>
              </a:rPr>
              <a:t># Tests</a:t>
            </a:r>
          </a:p>
          <a:p>
            <a:pPr>
              <a:buNone/>
            </a:pPr>
            <a:r>
              <a:rPr lang="en-US" dirty="0">
                <a:latin typeface="fkGrotesk"/>
              </a:rPr>
              <a:t>print(</a:t>
            </a:r>
            <a:r>
              <a:rPr lang="en-US" dirty="0" err="1">
                <a:latin typeface="fkGrotesk"/>
              </a:rPr>
              <a:t>validate_email</a:t>
            </a:r>
            <a:r>
              <a:rPr lang="en-US" dirty="0">
                <a:latin typeface="fkGrotesk"/>
              </a:rPr>
              <a:t>("user@example.com"))   # True</a:t>
            </a:r>
          </a:p>
          <a:p>
            <a:pPr>
              <a:buNone/>
            </a:pPr>
            <a:r>
              <a:rPr lang="en-US" dirty="0">
                <a:latin typeface="fkGrotesk"/>
              </a:rPr>
              <a:t>print(</a:t>
            </a:r>
            <a:r>
              <a:rPr lang="en-US" dirty="0" err="1">
                <a:latin typeface="fkGrotesk"/>
              </a:rPr>
              <a:t>validate_email</a:t>
            </a:r>
            <a:r>
              <a:rPr lang="en-US" dirty="0">
                <a:latin typeface="fkGrotesk"/>
              </a:rPr>
              <a:t>("user.name@domain.co.in"))  # True</a:t>
            </a:r>
          </a:p>
          <a:p>
            <a:pPr>
              <a:buNone/>
            </a:pPr>
            <a:r>
              <a:rPr lang="en-US" dirty="0">
                <a:latin typeface="fkGrotesk"/>
              </a:rPr>
              <a:t>print(</a:t>
            </a:r>
            <a:r>
              <a:rPr lang="en-US" dirty="0" err="1">
                <a:latin typeface="fkGrotesk"/>
              </a:rPr>
              <a:t>validate_email</a:t>
            </a:r>
            <a:r>
              <a:rPr lang="en-US" dirty="0">
                <a:latin typeface="fkGrotesk"/>
              </a:rPr>
              <a:t>("</a:t>
            </a:r>
            <a:r>
              <a:rPr lang="en-US" dirty="0" err="1">
                <a:latin typeface="fkGrotesk"/>
              </a:rPr>
              <a:t>user@.com</a:t>
            </a:r>
            <a:r>
              <a:rPr lang="en-US" dirty="0">
                <a:latin typeface="fkGrotesk"/>
              </a:rPr>
              <a:t>"))          # False</a:t>
            </a:r>
          </a:p>
          <a:p>
            <a:pPr>
              <a:buNone/>
            </a:pPr>
            <a:endParaRPr lang="fr-FR" b="0" dirty="0">
              <a:effectLst/>
              <a:latin typeface="fkGrotesk"/>
            </a:endParaRPr>
          </a:p>
        </p:txBody>
      </p:sp>
    </p:spTree>
    <p:extLst>
      <p:ext uri="{BB962C8B-B14F-4D97-AF65-F5344CB8AC3E}">
        <p14:creationId xmlns:p14="http://schemas.microsoft.com/office/powerpoint/2010/main" val="8739147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7DB18-3F53-C756-0BB5-8F2AD03AF2D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7F91AA0-B738-712F-531C-19576F2C7B20}"/>
              </a:ext>
            </a:extLst>
          </p:cNvPr>
          <p:cNvSpPr txBox="1"/>
          <p:nvPr/>
        </p:nvSpPr>
        <p:spPr>
          <a:xfrm>
            <a:off x="944880" y="170656"/>
            <a:ext cx="8247380" cy="1477328"/>
          </a:xfrm>
          <a:prstGeom prst="rect">
            <a:avLst/>
          </a:prstGeom>
          <a:noFill/>
        </p:spPr>
        <p:txBody>
          <a:bodyPr wrap="square">
            <a:spAutoFit/>
          </a:bodyPr>
          <a:lstStyle/>
          <a:p>
            <a:pPr algn="l">
              <a:buNone/>
            </a:pPr>
            <a:r>
              <a:rPr lang="en-US" b="1" i="0" dirty="0">
                <a:effectLst/>
                <a:latin typeface="fkGroteskNeue"/>
              </a:rPr>
              <a:t>Explanation:</a:t>
            </a:r>
          </a:p>
          <a:p>
            <a:pPr algn="l">
              <a:buNone/>
            </a:pPr>
            <a:endParaRPr lang="en-US" b="0" i="0" dirty="0">
              <a:effectLst/>
              <a:latin typeface="fkGroteskNeue"/>
            </a:endParaRPr>
          </a:p>
          <a:p>
            <a:pPr algn="l">
              <a:buFont typeface="Arial" panose="020B0604020202020204" pitchFamily="34" charset="0"/>
              <a:buChar char="•"/>
            </a:pPr>
            <a:r>
              <a:rPr lang="en-US" b="0" i="0" dirty="0">
                <a:effectLst/>
                <a:latin typeface="berkeleyMono"/>
              </a:rPr>
              <a:t>^[\w.+-]+</a:t>
            </a:r>
            <a:r>
              <a:rPr lang="en-US" b="0" i="0" dirty="0">
                <a:effectLst/>
                <a:latin typeface="fkGroteskNeue"/>
              </a:rPr>
              <a:t> matches username with letters, digits, dot, plus, hyphen</a:t>
            </a:r>
          </a:p>
          <a:p>
            <a:pPr algn="l">
              <a:buFont typeface="Arial" panose="020B0604020202020204" pitchFamily="34" charset="0"/>
              <a:buChar char="•"/>
            </a:pPr>
            <a:r>
              <a:rPr lang="en-US" b="0" i="0" dirty="0">
                <a:effectLst/>
                <a:latin typeface="berkeleyMono"/>
              </a:rPr>
              <a:t>@[\w-]+</a:t>
            </a:r>
            <a:r>
              <a:rPr lang="en-US" b="0" i="0" dirty="0">
                <a:effectLst/>
                <a:latin typeface="fkGroteskNeue"/>
              </a:rPr>
              <a:t> domain name</a:t>
            </a:r>
          </a:p>
          <a:p>
            <a:pPr algn="l">
              <a:buFont typeface="Arial" panose="020B0604020202020204" pitchFamily="34" charset="0"/>
              <a:buChar char="•"/>
            </a:pPr>
            <a:r>
              <a:rPr lang="en-US" b="0" i="0" dirty="0">
                <a:effectLst/>
                <a:latin typeface="berkeleyMono"/>
              </a:rPr>
              <a:t>\.[\w.-]+$</a:t>
            </a:r>
            <a:r>
              <a:rPr lang="en-US" b="0" i="0" dirty="0">
                <a:effectLst/>
                <a:latin typeface="fkGroteskNeue"/>
              </a:rPr>
              <a:t> top-level domain</a:t>
            </a:r>
          </a:p>
        </p:txBody>
      </p:sp>
      <p:sp>
        <p:nvSpPr>
          <p:cNvPr id="5" name="TextBox 4">
            <a:extLst>
              <a:ext uri="{FF2B5EF4-FFF2-40B4-BE49-F238E27FC236}">
                <a16:creationId xmlns:a16="http://schemas.microsoft.com/office/drawing/2014/main" id="{A6821B87-0A58-CD70-36FA-C62BDFF00224}"/>
              </a:ext>
            </a:extLst>
          </p:cNvPr>
          <p:cNvSpPr txBox="1"/>
          <p:nvPr/>
        </p:nvSpPr>
        <p:spPr>
          <a:xfrm>
            <a:off x="944880" y="1772196"/>
            <a:ext cx="8247380" cy="4801314"/>
          </a:xfrm>
          <a:prstGeom prst="rect">
            <a:avLst/>
          </a:prstGeom>
          <a:noFill/>
        </p:spPr>
        <p:txBody>
          <a:bodyPr wrap="square">
            <a:spAutoFit/>
          </a:bodyPr>
          <a:lstStyle/>
          <a:p>
            <a:pPr algn="l">
              <a:buNone/>
            </a:pPr>
            <a:r>
              <a:rPr lang="en-IN" b="1" i="0" dirty="0">
                <a:effectLst/>
                <a:latin typeface="fkGrotesk"/>
              </a:rPr>
              <a:t>3. URL Validation</a:t>
            </a:r>
          </a:p>
          <a:p>
            <a:pPr algn="l">
              <a:buNone/>
            </a:pPr>
            <a:endParaRPr lang="en-IN" b="0" i="0" dirty="0">
              <a:effectLst/>
              <a:latin typeface="fkGrotesk"/>
            </a:endParaRPr>
          </a:p>
          <a:p>
            <a:pPr algn="l">
              <a:buNone/>
            </a:pPr>
            <a:r>
              <a:rPr lang="en-IN" b="0" i="0" dirty="0">
                <a:effectLst/>
                <a:latin typeface="fkGroteskNeue"/>
              </a:rPr>
              <a:t>Basic URL format:</a:t>
            </a:r>
            <a:br>
              <a:rPr lang="en-IN" b="0" i="0" dirty="0">
                <a:effectLst/>
                <a:latin typeface="fkGroteskNeue"/>
              </a:rPr>
            </a:br>
            <a:r>
              <a:rPr lang="en-IN" b="0" i="0" dirty="0">
                <a:effectLst/>
                <a:latin typeface="berkeleyMono"/>
              </a:rPr>
              <a:t>protocol://domain/path</a:t>
            </a:r>
            <a:r>
              <a:rPr lang="en-IN" b="0" i="0" dirty="0">
                <a:effectLst/>
                <a:latin typeface="fkGroteskNeue"/>
              </a:rPr>
              <a:t> (path optional)</a:t>
            </a:r>
          </a:p>
          <a:p>
            <a:pPr algn="l">
              <a:buNone/>
            </a:pPr>
            <a:endParaRPr lang="en-IN" b="0" i="0" dirty="0">
              <a:effectLst/>
              <a:latin typeface="fkGroteskNeue"/>
            </a:endParaRPr>
          </a:p>
          <a:p>
            <a:pPr algn="l">
              <a:buNone/>
            </a:pPr>
            <a:r>
              <a:rPr lang="en-IN" b="0" i="0" dirty="0">
                <a:effectLst/>
                <a:latin typeface="fkGrotesk"/>
              </a:rPr>
              <a:t>Simple Regex Pattern:</a:t>
            </a:r>
          </a:p>
          <a:p>
            <a:pPr algn="l">
              <a:buNone/>
            </a:pPr>
            <a:endParaRPr lang="en-IN" dirty="0">
              <a:latin typeface="fkGrotesk"/>
            </a:endParaRPr>
          </a:p>
          <a:p>
            <a:r>
              <a:rPr lang="en-IN" dirty="0" err="1">
                <a:latin typeface="fkGrotesk"/>
              </a:rPr>
              <a:t>url_pattern</a:t>
            </a:r>
            <a:r>
              <a:rPr lang="en-IN" dirty="0">
                <a:latin typeface="fkGrotesk"/>
              </a:rPr>
              <a:t> = r'^(https?://)?(www\.)?[\w-]+(\.[\w-]+)+(/[\w./?%&amp;=-]*)?$'</a:t>
            </a:r>
          </a:p>
          <a:p>
            <a:endParaRPr lang="en-IN" dirty="0">
              <a:latin typeface="fkGrotesk"/>
            </a:endParaRPr>
          </a:p>
          <a:p>
            <a:r>
              <a:rPr lang="en-IN" dirty="0">
                <a:latin typeface="fkGrotesk"/>
              </a:rPr>
              <a:t>def </a:t>
            </a:r>
            <a:r>
              <a:rPr lang="en-IN" dirty="0" err="1">
                <a:latin typeface="fkGrotesk"/>
              </a:rPr>
              <a:t>validate_url</a:t>
            </a:r>
            <a:r>
              <a:rPr lang="en-IN" dirty="0">
                <a:latin typeface="fkGrotesk"/>
              </a:rPr>
              <a:t>(</a:t>
            </a:r>
            <a:r>
              <a:rPr lang="en-IN" dirty="0" err="1">
                <a:latin typeface="fkGrotesk"/>
              </a:rPr>
              <a:t>url</a:t>
            </a:r>
            <a:r>
              <a:rPr lang="en-IN" dirty="0">
                <a:latin typeface="fkGrotesk"/>
              </a:rPr>
              <a:t>):</a:t>
            </a:r>
          </a:p>
          <a:p>
            <a:r>
              <a:rPr lang="en-IN" dirty="0">
                <a:latin typeface="fkGrotesk"/>
              </a:rPr>
              <a:t>    return bool(re.match(</a:t>
            </a:r>
            <a:r>
              <a:rPr lang="en-IN" dirty="0" err="1">
                <a:latin typeface="fkGrotesk"/>
              </a:rPr>
              <a:t>url_pattern</a:t>
            </a:r>
            <a:r>
              <a:rPr lang="en-IN" dirty="0">
                <a:latin typeface="fkGrotesk"/>
              </a:rPr>
              <a:t>, </a:t>
            </a:r>
            <a:r>
              <a:rPr lang="en-IN" dirty="0" err="1">
                <a:latin typeface="fkGrotesk"/>
              </a:rPr>
              <a:t>url</a:t>
            </a:r>
            <a:r>
              <a:rPr lang="en-IN" dirty="0">
                <a:latin typeface="fkGrotesk"/>
              </a:rPr>
              <a:t>))</a:t>
            </a:r>
          </a:p>
          <a:p>
            <a:endParaRPr lang="en-IN" dirty="0">
              <a:latin typeface="fkGrotesk"/>
            </a:endParaRPr>
          </a:p>
          <a:p>
            <a:r>
              <a:rPr lang="en-IN" dirty="0">
                <a:latin typeface="fkGrotesk"/>
              </a:rPr>
              <a:t># Tests</a:t>
            </a:r>
          </a:p>
          <a:p>
            <a:r>
              <a:rPr lang="en-IN" dirty="0">
                <a:latin typeface="fkGrotesk"/>
              </a:rPr>
              <a:t>print(</a:t>
            </a:r>
            <a:r>
              <a:rPr lang="en-IN" dirty="0" err="1">
                <a:latin typeface="fkGrotesk"/>
              </a:rPr>
              <a:t>validate_url</a:t>
            </a:r>
            <a:r>
              <a:rPr lang="en-IN" dirty="0">
                <a:latin typeface="fkGrotesk"/>
              </a:rPr>
              <a:t>("http://example.com"))      # True</a:t>
            </a:r>
          </a:p>
          <a:p>
            <a:r>
              <a:rPr lang="en-IN" dirty="0">
                <a:latin typeface="fkGrotesk"/>
              </a:rPr>
              <a:t>print(</a:t>
            </a:r>
            <a:r>
              <a:rPr lang="en-IN" dirty="0" err="1">
                <a:latin typeface="fkGrotesk"/>
              </a:rPr>
              <a:t>validate_url</a:t>
            </a:r>
            <a:r>
              <a:rPr lang="en-IN" dirty="0">
                <a:latin typeface="fkGrotesk"/>
              </a:rPr>
              <a:t>("https://www.site.org/path"))  # True</a:t>
            </a:r>
          </a:p>
          <a:p>
            <a:r>
              <a:rPr lang="en-IN" dirty="0">
                <a:latin typeface="fkGrotesk"/>
              </a:rPr>
              <a:t>print(</a:t>
            </a:r>
            <a:r>
              <a:rPr lang="en-IN" dirty="0" err="1">
                <a:latin typeface="fkGrotesk"/>
              </a:rPr>
              <a:t>validate_url</a:t>
            </a:r>
            <a:r>
              <a:rPr lang="en-IN" dirty="0">
                <a:latin typeface="fkGrotesk"/>
              </a:rPr>
              <a:t>("www.invalid-url"))          # False</a:t>
            </a:r>
          </a:p>
          <a:p>
            <a:pPr algn="l">
              <a:buNone/>
            </a:pPr>
            <a:endParaRPr lang="en-IN" b="0" i="0" dirty="0">
              <a:effectLst/>
              <a:latin typeface="fkGrotesk"/>
            </a:endParaRPr>
          </a:p>
        </p:txBody>
      </p:sp>
    </p:spTree>
    <p:extLst>
      <p:ext uri="{BB962C8B-B14F-4D97-AF65-F5344CB8AC3E}">
        <p14:creationId xmlns:p14="http://schemas.microsoft.com/office/powerpoint/2010/main" val="12443808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65720-005C-CCF1-F279-ADE8C17E491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77C19C1-963B-7EA4-4D93-C25BF0D7CF0E}"/>
              </a:ext>
            </a:extLst>
          </p:cNvPr>
          <p:cNvSpPr txBox="1"/>
          <p:nvPr/>
        </p:nvSpPr>
        <p:spPr>
          <a:xfrm>
            <a:off x="927100" y="160496"/>
            <a:ext cx="8450580" cy="1754326"/>
          </a:xfrm>
          <a:prstGeom prst="rect">
            <a:avLst/>
          </a:prstGeom>
          <a:noFill/>
        </p:spPr>
        <p:txBody>
          <a:bodyPr wrap="square">
            <a:spAutoFit/>
          </a:bodyPr>
          <a:lstStyle/>
          <a:p>
            <a:pPr algn="l">
              <a:buNone/>
            </a:pPr>
            <a:r>
              <a:rPr lang="en-US" b="1" i="0" dirty="0">
                <a:effectLst/>
                <a:latin typeface="fkGroteskNeue"/>
              </a:rPr>
              <a:t>Explanation:</a:t>
            </a:r>
          </a:p>
          <a:p>
            <a:pPr algn="l">
              <a:buNone/>
            </a:pPr>
            <a:endParaRPr lang="en-US" b="0" i="0" dirty="0">
              <a:effectLst/>
              <a:latin typeface="fkGroteskNeue"/>
            </a:endParaRPr>
          </a:p>
          <a:p>
            <a:pPr algn="l">
              <a:buFont typeface="Arial" panose="020B0604020202020204" pitchFamily="34" charset="0"/>
              <a:buChar char="•"/>
            </a:pPr>
            <a:r>
              <a:rPr lang="en-US" b="0" i="0" dirty="0">
                <a:effectLst/>
                <a:latin typeface="berkeleyMono"/>
              </a:rPr>
              <a:t>https?://</a:t>
            </a:r>
            <a:r>
              <a:rPr lang="en-US" b="0" i="0" dirty="0">
                <a:effectLst/>
                <a:latin typeface="fkGroteskNeue"/>
              </a:rPr>
              <a:t> matches optional http or https</a:t>
            </a:r>
          </a:p>
          <a:p>
            <a:pPr algn="l">
              <a:buFont typeface="Arial" panose="020B0604020202020204" pitchFamily="34" charset="0"/>
              <a:buChar char="•"/>
            </a:pPr>
            <a:r>
              <a:rPr lang="en-US" b="0" i="0" dirty="0">
                <a:effectLst/>
                <a:latin typeface="berkeleyMono"/>
              </a:rPr>
              <a:t>(www\.)?</a:t>
            </a:r>
            <a:r>
              <a:rPr lang="en-US" b="0" i="0" dirty="0">
                <a:effectLst/>
                <a:latin typeface="fkGroteskNeue"/>
              </a:rPr>
              <a:t> optional </a:t>
            </a:r>
            <a:r>
              <a:rPr lang="en-US" b="1" i="0" u="none" strike="noStrike" dirty="0">
                <a:effectLst/>
                <a:latin typeface="unset"/>
                <a:hlinkClick r:id="rId2"/>
              </a:rPr>
              <a:t>www</a:t>
            </a:r>
            <a:r>
              <a:rPr lang="en-US" b="0" i="0" dirty="0">
                <a:effectLst/>
                <a:latin typeface="fkGroteskNeue"/>
              </a:rPr>
              <a:t>.</a:t>
            </a:r>
          </a:p>
          <a:p>
            <a:pPr algn="l">
              <a:buFont typeface="Arial" panose="020B0604020202020204" pitchFamily="34" charset="0"/>
              <a:buChar char="•"/>
            </a:pPr>
            <a:r>
              <a:rPr lang="en-US" b="0" i="0" dirty="0">
                <a:effectLst/>
                <a:latin typeface="berkeleyMono"/>
              </a:rPr>
              <a:t>[\w-]+(\.[\w-]+)+</a:t>
            </a:r>
            <a:r>
              <a:rPr lang="en-US" b="0" i="0" dirty="0">
                <a:effectLst/>
                <a:latin typeface="fkGroteskNeue"/>
              </a:rPr>
              <a:t> domain and extensions</a:t>
            </a:r>
          </a:p>
          <a:p>
            <a:pPr algn="l">
              <a:buFont typeface="Arial" panose="020B0604020202020204" pitchFamily="34" charset="0"/>
              <a:buChar char="•"/>
            </a:pPr>
            <a:r>
              <a:rPr lang="en-US" b="0" i="0" dirty="0">
                <a:effectLst/>
                <a:latin typeface="berkeleyMono"/>
              </a:rPr>
              <a:t>(/[\w./?%&amp;=-]*)?</a:t>
            </a:r>
            <a:r>
              <a:rPr lang="en-US" b="0" i="0" dirty="0">
                <a:effectLst/>
                <a:latin typeface="fkGroteskNeue"/>
              </a:rPr>
              <a:t> optional URL path and query</a:t>
            </a:r>
          </a:p>
        </p:txBody>
      </p:sp>
    </p:spTree>
    <p:extLst>
      <p:ext uri="{BB962C8B-B14F-4D97-AF65-F5344CB8AC3E}">
        <p14:creationId xmlns:p14="http://schemas.microsoft.com/office/powerpoint/2010/main" val="111443164"/>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228</TotalTime>
  <Words>2891</Words>
  <Application>Microsoft Office PowerPoint</Application>
  <PresentationFormat>Widescreen</PresentationFormat>
  <Paragraphs>484</Paragraphs>
  <Slides>31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31</vt:i4>
      </vt:variant>
    </vt:vector>
  </HeadingPairs>
  <TitlesOfParts>
    <vt:vector size="40" baseType="lpstr">
      <vt:lpstr>Arial</vt:lpstr>
      <vt:lpstr>berkeleyMono</vt:lpstr>
      <vt:lpstr>fkGrotesk</vt:lpstr>
      <vt:lpstr>fkGroteskNeue</vt:lpstr>
      <vt:lpstr>Trebuchet MS</vt:lpstr>
      <vt:lpstr>unset</vt:lpstr>
      <vt:lpstr>Wingdings</vt:lpstr>
      <vt:lpstr>Wingdings 3</vt:lpstr>
      <vt:lpstr>Facet</vt:lpstr>
      <vt:lpstr>Python Regular Expressions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shshinde2580@gmail.com</dc:creator>
  <cp:lastModifiedBy>shshinde2580@gmail.com</cp:lastModifiedBy>
  <cp:revision>1</cp:revision>
  <dcterms:created xsi:type="dcterms:W3CDTF">2025-10-05T06:33:42Z</dcterms:created>
  <dcterms:modified xsi:type="dcterms:W3CDTF">2025-10-05T10:22:04Z</dcterms:modified>
</cp:coreProperties>
</file>