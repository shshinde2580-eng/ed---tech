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F2A5B-EFAC-403B-BDBB-A47A9D9A314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9CB85-5183-413D-B264-E43C63C7D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4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9CB85-5183-413D-B264-E43C63C7D6E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901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9CB85-5183-413D-B264-E43C63C7D6E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7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62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54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8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84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6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65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5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5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14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46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700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4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5013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095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772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9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DDA32-A82B-4495-B7E4-055597F5AA9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5A2C14-C4EB-43A2-97C6-AE8028311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0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C66A-4728-66F1-E6B5-7EEDBBA26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886" y="2232495"/>
            <a:ext cx="8468934" cy="1646302"/>
          </a:xfrm>
        </p:spPr>
        <p:txBody>
          <a:bodyPr/>
          <a:lstStyle/>
          <a:p>
            <a:pPr algn="ctr"/>
            <a:r>
              <a:rPr lang="en-IN" dirty="0"/>
              <a:t>File Handling </a:t>
            </a:r>
          </a:p>
        </p:txBody>
      </p:sp>
    </p:spTree>
    <p:extLst>
      <p:ext uri="{BB962C8B-B14F-4D97-AF65-F5344CB8AC3E}">
        <p14:creationId xmlns:p14="http://schemas.microsoft.com/office/powerpoint/2010/main" val="101573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9427-3F8F-558D-C0C7-BA81C2E3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32373E-158A-78EB-D5B3-3795464AE1A7}"/>
              </a:ext>
            </a:extLst>
          </p:cNvPr>
          <p:cNvSpPr txBox="1"/>
          <p:nvPr/>
        </p:nvSpPr>
        <p:spPr>
          <a:xfrm>
            <a:off x="924339" y="178978"/>
            <a:ext cx="83289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Types of Files in Python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Files are used to store data permanently on a disk.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 Python, files are mainly of two types: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Text files: Store data as readable characters (letters, numbers, symbols).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Binary files: Store data in bytes, such as images, videos, executables.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Python provides the ability to handle both types easily using file modes.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9DB9F-9224-19ED-0FAD-FFED15C7B15D}"/>
              </a:ext>
            </a:extLst>
          </p:cNvPr>
          <p:cNvSpPr txBox="1"/>
          <p:nvPr/>
        </p:nvSpPr>
        <p:spPr>
          <a:xfrm>
            <a:off x="924339" y="2653174"/>
            <a:ext cx="92036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Opening a File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 </a:t>
            </a:r>
            <a:r>
              <a:rPr lang="en-US" b="0" i="0" dirty="0">
                <a:effectLst/>
                <a:latin typeface="berkeleyMono"/>
              </a:rPr>
              <a:t>open()</a:t>
            </a:r>
            <a:r>
              <a:rPr lang="en-US" b="0" i="0" dirty="0">
                <a:effectLst/>
                <a:latin typeface="fkGroteskNeue"/>
              </a:rPr>
              <a:t> function is used to open a file in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Syntax: </a:t>
            </a:r>
            <a:r>
              <a:rPr lang="en-US" b="0" i="0" dirty="0">
                <a:effectLst/>
                <a:latin typeface="berkeleyMono"/>
              </a:rPr>
              <a:t>file = open(filename, mode)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filename</a:t>
            </a:r>
            <a:r>
              <a:rPr lang="en-US" b="0" i="0" dirty="0">
                <a:effectLst/>
                <a:latin typeface="fkGroteskNeue"/>
              </a:rPr>
              <a:t> is the name of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mode</a:t>
            </a:r>
            <a:r>
              <a:rPr lang="en-US" b="0" i="0" dirty="0">
                <a:effectLst/>
                <a:latin typeface="fkGroteskNeue"/>
              </a:rPr>
              <a:t> determines how the file will be used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Common modes:</a:t>
            </a:r>
          </a:p>
          <a:p>
            <a:pPr>
              <a:buNone/>
            </a:pPr>
            <a:br>
              <a:rPr lang="en-US" b="0" i="0" dirty="0">
                <a:effectLst/>
                <a:latin typeface="fkGroteskNeue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43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2BA7-9B66-5017-15C8-6B604162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A397CA-9AFE-3B73-543B-36A9C8983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165054"/>
              </p:ext>
            </p:extLst>
          </p:nvPr>
        </p:nvGraphicFramePr>
        <p:xfrm>
          <a:off x="916402" y="158121"/>
          <a:ext cx="8596311" cy="3870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33661164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24123996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424760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Mode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450554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'r'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Read (default, file must exist)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open('file.txt', 'r')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7650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'w'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Write (creates or overwrites)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open('file.txt', 'w')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924328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'a'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Append (adds at end)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open('file.txt', 'a')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71100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'x'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Create (fails if exists)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open('file.txt', 'x')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79009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'b'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Binary mode (used with other modes)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'rb'or'wb'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777243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't'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Text mode (default, used with other modes)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'rt'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040734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E2AAA4-905A-12DD-5FBA-866ED2D2B604}"/>
              </a:ext>
            </a:extLst>
          </p:cNvPr>
          <p:cNvSpPr txBox="1"/>
          <p:nvPr/>
        </p:nvSpPr>
        <p:spPr>
          <a:xfrm>
            <a:off x="916402" y="416003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</a:rPr>
              <a:t>Example:</a:t>
            </a:r>
            <a:r>
              <a:rPr lang="en-US" dirty="0">
                <a:effectLst/>
              </a:rPr>
              <a:t> Open a file for reading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921FA-5ED2-56BB-B8C9-EA6C06EB49D5}"/>
              </a:ext>
            </a:extLst>
          </p:cNvPr>
          <p:cNvSpPr txBox="1"/>
          <p:nvPr/>
        </p:nvSpPr>
        <p:spPr>
          <a:xfrm>
            <a:off x="916402" y="466031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file = open('example.txt', 'r')  # open file to read</a:t>
            </a:r>
          </a:p>
        </p:txBody>
      </p:sp>
    </p:spTree>
    <p:extLst>
      <p:ext uri="{BB962C8B-B14F-4D97-AF65-F5344CB8AC3E}">
        <p14:creationId xmlns:p14="http://schemas.microsoft.com/office/powerpoint/2010/main" val="326593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F7821-F771-54FC-9007-1D3B2526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EDDD96-7477-0EFE-49D1-8E4EF8688E77}"/>
              </a:ext>
            </a:extLst>
          </p:cNvPr>
          <p:cNvSpPr txBox="1"/>
          <p:nvPr/>
        </p:nvSpPr>
        <p:spPr>
          <a:xfrm>
            <a:off x="954157" y="120616"/>
            <a:ext cx="84482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Closing a File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Closing a file is essential to free up system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 </a:t>
            </a:r>
            <a:r>
              <a:rPr lang="en-US" b="0" i="0" dirty="0">
                <a:effectLst/>
                <a:latin typeface="berkeleyMono"/>
              </a:rPr>
              <a:t>file.close()</a:t>
            </a:r>
            <a:r>
              <a:rPr lang="en-US" b="0" i="0" dirty="0">
                <a:effectLst/>
                <a:latin typeface="fkGroteskNeue"/>
              </a:rPr>
              <a:t> to close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Using </a:t>
            </a:r>
            <a:r>
              <a:rPr lang="en-US" b="0" i="0" dirty="0">
                <a:effectLst/>
                <a:latin typeface="berkeleyMono"/>
              </a:rPr>
              <a:t>with</a:t>
            </a:r>
            <a:r>
              <a:rPr lang="en-US" b="0" i="0" dirty="0">
                <a:effectLst/>
                <a:latin typeface="fkGroteskNeue"/>
              </a:rPr>
              <a:t> statement is recommended because it automatically closes the file.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Example: Closing explicitly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0C828-0443-2A26-7C3B-1566C42DB310}"/>
              </a:ext>
            </a:extLst>
          </p:cNvPr>
          <p:cNvSpPr txBox="1"/>
          <p:nvPr/>
        </p:nvSpPr>
        <p:spPr>
          <a:xfrm>
            <a:off x="1033670" y="2727934"/>
            <a:ext cx="6102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file = open('example.txt', 'r')</a:t>
            </a:r>
          </a:p>
          <a:p>
            <a:r>
              <a:rPr lang="en-IN" dirty="0"/>
              <a:t>content = file.read()</a:t>
            </a:r>
          </a:p>
          <a:p>
            <a:r>
              <a:rPr lang="en-IN" dirty="0"/>
              <a:t>file.close()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8EF0C-9B44-9EA5-2623-94D9A49C3A56}"/>
              </a:ext>
            </a:extLst>
          </p:cNvPr>
          <p:cNvSpPr txBox="1"/>
          <p:nvPr/>
        </p:nvSpPr>
        <p:spPr>
          <a:xfrm>
            <a:off x="954157" y="3906078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Example: Using </a:t>
            </a:r>
            <a:r>
              <a:rPr lang="en-US" b="1" dirty="0">
                <a:effectLst/>
                <a:latin typeface="berkeleyMono"/>
              </a:rPr>
              <a:t>with</a:t>
            </a:r>
            <a:r>
              <a:rPr lang="en-US" b="1" dirty="0">
                <a:effectLst/>
              </a:rPr>
              <a:t> to open and auto-close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BBDAB-D877-C74A-C6B7-9E9949E23425}"/>
              </a:ext>
            </a:extLst>
          </p:cNvPr>
          <p:cNvSpPr txBox="1"/>
          <p:nvPr/>
        </p:nvSpPr>
        <p:spPr>
          <a:xfrm>
            <a:off x="954157" y="4530224"/>
            <a:ext cx="6102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open('example.txt', 'r') as file:</a:t>
            </a:r>
          </a:p>
          <a:p>
            <a:r>
              <a:rPr lang="en-IN" dirty="0"/>
              <a:t>    content = file.read()</a:t>
            </a:r>
          </a:p>
          <a:p>
            <a:r>
              <a:rPr lang="en-IN" dirty="0"/>
              <a:t># file auto-closed here</a:t>
            </a:r>
          </a:p>
        </p:txBody>
      </p:sp>
    </p:spTree>
    <p:extLst>
      <p:ext uri="{BB962C8B-B14F-4D97-AF65-F5344CB8AC3E}">
        <p14:creationId xmlns:p14="http://schemas.microsoft.com/office/powerpoint/2010/main" val="273895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8494-7369-0508-A9B9-29129973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72F7F5-451F-CEA5-0C11-A31DA3E68D31}"/>
              </a:ext>
            </a:extLst>
          </p:cNvPr>
          <p:cNvSpPr txBox="1"/>
          <p:nvPr/>
        </p:nvSpPr>
        <p:spPr>
          <a:xfrm>
            <a:off x="1053547" y="222839"/>
            <a:ext cx="8378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4.2 Knowing Whether a File Exists or Not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C0502-8968-B94C-AB20-ECE0892B809F}"/>
              </a:ext>
            </a:extLst>
          </p:cNvPr>
          <p:cNvSpPr txBox="1"/>
          <p:nvPr/>
        </p:nvSpPr>
        <p:spPr>
          <a:xfrm>
            <a:off x="775252" y="751344"/>
            <a:ext cx="86569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Theory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Before performing any operation on a file, it is important to check if the file exists to avoid errors.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Python provides multiple ways to check file existence: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Using the os.path module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Using the pathlib module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Using try-except (less preferred for simple existence checks)</a:t>
            </a:r>
            <a:endParaRPr lang="en-US" dirty="0">
              <a:latin typeface="fkGroteskNeue"/>
            </a:endParaRP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Using </a:t>
            </a:r>
            <a:r>
              <a:rPr lang="en-US" b="1" i="0" dirty="0">
                <a:effectLst/>
                <a:latin typeface="berkeleyMono"/>
              </a:rPr>
              <a:t>os.path</a:t>
            </a:r>
            <a:r>
              <a:rPr lang="en-US" b="1" i="0" dirty="0">
                <a:effectLst/>
                <a:latin typeface="fkGrotesk"/>
              </a:rPr>
              <a:t> Module</a:t>
            </a:r>
          </a:p>
          <a:p>
            <a:pPr algn="l"/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os.path.isfile(path)</a:t>
            </a:r>
            <a:r>
              <a:rPr lang="en-US" b="0" i="0" dirty="0">
                <a:effectLst/>
                <a:latin typeface="fkGroteskNeue"/>
              </a:rPr>
              <a:t> checks if the path exists </a:t>
            </a:r>
            <a:r>
              <a:rPr lang="en-US" b="0" i="1" dirty="0">
                <a:effectLst/>
                <a:latin typeface="fkGroteskNeue"/>
              </a:rPr>
              <a:t>and</a:t>
            </a:r>
            <a:r>
              <a:rPr lang="en-US" b="0" i="0" dirty="0">
                <a:effectLst/>
                <a:latin typeface="fkGroteskNeue"/>
              </a:rPr>
              <a:t> if it's a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Returns True if it exists and is a file; otherwise False.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os.path.exists(path)</a:t>
            </a:r>
            <a:r>
              <a:rPr lang="en-US" b="0" i="0" dirty="0">
                <a:effectLst/>
                <a:latin typeface="fkGroteskNeue"/>
              </a:rPr>
              <a:t> checks if the path exists (file or directory).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Returns True if the path (file or directory) exists; otherwise False.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Using </a:t>
            </a:r>
            <a:r>
              <a:rPr lang="en-US" b="1" i="0" dirty="0">
                <a:effectLst/>
                <a:latin typeface="berkeleyMono"/>
              </a:rPr>
              <a:t>pathlib</a:t>
            </a:r>
            <a:r>
              <a:rPr lang="en-US" b="1" i="0" dirty="0">
                <a:effectLst/>
                <a:latin typeface="fkGrotesk"/>
              </a:rPr>
              <a:t> Module</a:t>
            </a:r>
          </a:p>
          <a:p>
            <a:pPr algn="l"/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Path(path).is_file()</a:t>
            </a:r>
            <a:r>
              <a:rPr lang="en-US" b="0" i="0" dirty="0">
                <a:effectLst/>
                <a:latin typeface="fkGroteskNeue"/>
              </a:rPr>
              <a:t> returns True only if the path exists and is a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Path(path).exists()</a:t>
            </a:r>
            <a:r>
              <a:rPr lang="en-US" b="0" i="0" dirty="0">
                <a:effectLst/>
                <a:latin typeface="fkGroteskNeue"/>
              </a:rPr>
              <a:t> returns True if the path exists (file or directory).</a:t>
            </a:r>
          </a:p>
        </p:txBody>
      </p:sp>
    </p:spTree>
    <p:extLst>
      <p:ext uri="{BB962C8B-B14F-4D97-AF65-F5344CB8AC3E}">
        <p14:creationId xmlns:p14="http://schemas.microsoft.com/office/powerpoint/2010/main" val="210871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A8348-C39C-D1CA-C6F8-BC4F0F1D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E4FF9A-2EB4-67BA-E2FB-E70FE343C33E}"/>
              </a:ext>
            </a:extLst>
          </p:cNvPr>
          <p:cNvSpPr txBox="1"/>
          <p:nvPr/>
        </p:nvSpPr>
        <p:spPr>
          <a:xfrm>
            <a:off x="854764" y="93630"/>
            <a:ext cx="846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19E77-2A86-60A5-499D-9A7D86FBF9D6}"/>
              </a:ext>
            </a:extLst>
          </p:cNvPr>
          <p:cNvSpPr txBox="1"/>
          <p:nvPr/>
        </p:nvSpPr>
        <p:spPr>
          <a:xfrm>
            <a:off x="854764" y="552127"/>
            <a:ext cx="846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1: Using </a:t>
            </a:r>
            <a:r>
              <a:rPr lang="en-US" b="1" dirty="0">
                <a:effectLst/>
                <a:latin typeface="berkeleyMono"/>
              </a:rPr>
              <a:t>os.path.isfile()</a:t>
            </a:r>
            <a:endParaRPr lang="en-US" b="1" dirty="0">
              <a:effectLst/>
              <a:latin typeface="fk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C04C8-A41A-C6F3-25DF-453E675784F0}"/>
              </a:ext>
            </a:extLst>
          </p:cNvPr>
          <p:cNvSpPr txBox="1"/>
          <p:nvPr/>
        </p:nvSpPr>
        <p:spPr>
          <a:xfrm>
            <a:off x="854763" y="1120676"/>
            <a:ext cx="85476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os</a:t>
            </a:r>
          </a:p>
          <a:p>
            <a:endParaRPr lang="en-IN" dirty="0"/>
          </a:p>
          <a:p>
            <a:r>
              <a:rPr lang="en-IN" dirty="0"/>
              <a:t>path = 'example.txt'</a:t>
            </a:r>
          </a:p>
          <a:p>
            <a:endParaRPr lang="en-IN" dirty="0"/>
          </a:p>
          <a:p>
            <a:r>
              <a:rPr lang="en-IN" dirty="0"/>
              <a:t>if os.path.isfile(path):</a:t>
            </a:r>
          </a:p>
          <a:p>
            <a:r>
              <a:rPr lang="en-IN" dirty="0"/>
              <a:t>    print("File exists.")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print("File does not exist.")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8FC36-1744-815A-D1B2-D8557A149E2D}"/>
              </a:ext>
            </a:extLst>
          </p:cNvPr>
          <p:cNvSpPr txBox="1"/>
          <p:nvPr/>
        </p:nvSpPr>
        <p:spPr>
          <a:xfrm>
            <a:off x="854763" y="3523925"/>
            <a:ext cx="89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2: Using </a:t>
            </a:r>
            <a:r>
              <a:rPr lang="en-US" b="1" dirty="0">
                <a:effectLst/>
                <a:latin typeface="berkeleyMono"/>
              </a:rPr>
              <a:t>os.path.exists()</a:t>
            </a:r>
            <a:r>
              <a:rPr lang="en-US" b="1" dirty="0">
                <a:effectLst/>
                <a:latin typeface="fkGrotesk"/>
              </a:rPr>
              <a:t> (for file or directory)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3882C-2A3C-CA25-BA13-7D51DF33F8B2}"/>
              </a:ext>
            </a:extLst>
          </p:cNvPr>
          <p:cNvSpPr txBox="1"/>
          <p:nvPr/>
        </p:nvSpPr>
        <p:spPr>
          <a:xfrm>
            <a:off x="854763" y="4086714"/>
            <a:ext cx="87265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os</a:t>
            </a:r>
          </a:p>
          <a:p>
            <a:endParaRPr lang="en-IN" dirty="0"/>
          </a:p>
          <a:p>
            <a:r>
              <a:rPr lang="en-IN" dirty="0"/>
              <a:t>path = 'example.txt'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os.path.exists</a:t>
            </a:r>
            <a:r>
              <a:rPr lang="en-IN" dirty="0"/>
              <a:t>(path):</a:t>
            </a:r>
          </a:p>
          <a:p>
            <a:r>
              <a:rPr lang="en-IN" dirty="0"/>
              <a:t>    print("File or directory exists.")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print("File or directory does not exist.")</a:t>
            </a:r>
          </a:p>
        </p:txBody>
      </p:sp>
    </p:spTree>
    <p:extLst>
      <p:ext uri="{BB962C8B-B14F-4D97-AF65-F5344CB8AC3E}">
        <p14:creationId xmlns:p14="http://schemas.microsoft.com/office/powerpoint/2010/main" val="16517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D2DD-5A78-116E-94E5-343AB3F8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205A4F-7342-93AB-F1AE-6B12AAB4851E}"/>
              </a:ext>
            </a:extLst>
          </p:cNvPr>
          <p:cNvSpPr txBox="1"/>
          <p:nvPr/>
        </p:nvSpPr>
        <p:spPr>
          <a:xfrm>
            <a:off x="894522" y="12474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3: Using </a:t>
            </a:r>
            <a:r>
              <a:rPr lang="en-US" b="1" dirty="0" err="1">
                <a:effectLst/>
                <a:latin typeface="berkeleyMono"/>
              </a:rPr>
              <a:t>pathlib.Path.is_file</a:t>
            </a:r>
            <a:r>
              <a:rPr lang="en-US" b="1" dirty="0">
                <a:effectLst/>
                <a:latin typeface="berkeleyMono"/>
              </a:rPr>
              <a:t>()</a:t>
            </a:r>
            <a:r>
              <a:rPr lang="en-US" b="1" dirty="0">
                <a:effectLst/>
                <a:latin typeface="fkGrotesk"/>
              </a:rPr>
              <a:t> (Python 3.4+)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7D5A1-084A-183D-2A7A-2885F052D635}"/>
              </a:ext>
            </a:extLst>
          </p:cNvPr>
          <p:cNvSpPr txBox="1"/>
          <p:nvPr/>
        </p:nvSpPr>
        <p:spPr>
          <a:xfrm>
            <a:off x="1033668" y="694517"/>
            <a:ext cx="81600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pathlib import Path</a:t>
            </a:r>
          </a:p>
          <a:p>
            <a:endParaRPr lang="en-IN" dirty="0"/>
          </a:p>
          <a:p>
            <a:r>
              <a:rPr lang="en-IN" dirty="0"/>
              <a:t>path = Path('example.txt')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path.is_file</a:t>
            </a:r>
            <a:r>
              <a:rPr lang="en-IN" dirty="0"/>
              <a:t>():</a:t>
            </a:r>
          </a:p>
          <a:p>
            <a:r>
              <a:rPr lang="en-IN" dirty="0"/>
              <a:t>    print("File exists.")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print("File does not exist.")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E7EAA-712C-789D-DF43-AF504A89F0F6}"/>
              </a:ext>
            </a:extLst>
          </p:cNvPr>
          <p:cNvSpPr txBox="1"/>
          <p:nvPr/>
        </p:nvSpPr>
        <p:spPr>
          <a:xfrm>
            <a:off x="1033668" y="320328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4: Using </a:t>
            </a:r>
            <a:r>
              <a:rPr lang="en-US" b="1" dirty="0" err="1">
                <a:effectLst/>
                <a:latin typeface="berkeleyMono"/>
              </a:rPr>
              <a:t>pathlib.Path.exists</a:t>
            </a:r>
            <a:r>
              <a:rPr lang="en-US" b="1" dirty="0">
                <a:effectLst/>
                <a:latin typeface="berkeleyMono"/>
              </a:rPr>
              <a:t>()</a:t>
            </a:r>
            <a:r>
              <a:rPr lang="en-US" b="1" dirty="0">
                <a:effectLst/>
                <a:latin typeface="fkGrotesk"/>
              </a:rPr>
              <a:t> (file or directory)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999D4-1DA5-44C7-212B-9B1039A411DF}"/>
              </a:ext>
            </a:extLst>
          </p:cNvPr>
          <p:cNvSpPr txBox="1"/>
          <p:nvPr/>
        </p:nvSpPr>
        <p:spPr>
          <a:xfrm>
            <a:off x="1123122" y="3855160"/>
            <a:ext cx="61026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pathlib import Path</a:t>
            </a:r>
          </a:p>
          <a:p>
            <a:endParaRPr lang="en-IN" dirty="0"/>
          </a:p>
          <a:p>
            <a:r>
              <a:rPr lang="en-IN" dirty="0"/>
              <a:t>path = Path('example.txt')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path.exists</a:t>
            </a:r>
            <a:r>
              <a:rPr lang="en-IN" dirty="0"/>
              <a:t>():</a:t>
            </a:r>
          </a:p>
          <a:p>
            <a:r>
              <a:rPr lang="en-IN" dirty="0"/>
              <a:t>    print("File or directory exists.")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print("File or directory does not exist.")</a:t>
            </a:r>
          </a:p>
        </p:txBody>
      </p:sp>
    </p:spTree>
    <p:extLst>
      <p:ext uri="{BB962C8B-B14F-4D97-AF65-F5344CB8AC3E}">
        <p14:creationId xmlns:p14="http://schemas.microsoft.com/office/powerpoint/2010/main" val="405894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DD4D-409F-1450-98E7-CE117A29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33CDE4-D7C4-FF9C-F317-01BDC2E2A6A3}"/>
              </a:ext>
            </a:extLst>
          </p:cNvPr>
          <p:cNvSpPr txBox="1"/>
          <p:nvPr/>
        </p:nvSpPr>
        <p:spPr>
          <a:xfrm>
            <a:off x="1013792" y="133387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4.3 Working with Binary Files 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36094-07C5-A657-DD99-EABA0D414C7F}"/>
              </a:ext>
            </a:extLst>
          </p:cNvPr>
          <p:cNvSpPr txBox="1"/>
          <p:nvPr/>
        </p:nvSpPr>
        <p:spPr>
          <a:xfrm>
            <a:off x="725556" y="612844"/>
            <a:ext cx="857746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What is a Binary File?</a:t>
            </a:r>
          </a:p>
          <a:p>
            <a:pPr algn="l"/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Theory: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 binary file stores data in its original byte format rather than human-readable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Examples include images, audio files, videos, executables, and serialized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Binary files allow efficient storage and fast reading/writing of complex data structures.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Opening Binary Files in Python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You open binary files using the built-in </a:t>
            </a:r>
            <a:r>
              <a:rPr lang="en-US" b="0" i="0" dirty="0">
                <a:effectLst/>
                <a:latin typeface="berkeleyMono"/>
              </a:rPr>
              <a:t>open()</a:t>
            </a:r>
            <a:r>
              <a:rPr lang="en-US" b="0" i="0" dirty="0">
                <a:effectLst/>
                <a:latin typeface="fkGroteskNeue"/>
              </a:rPr>
              <a:t> function with modes ending with </a:t>
            </a:r>
            <a:r>
              <a:rPr lang="en-US" b="0" i="0" dirty="0">
                <a:effectLst/>
                <a:latin typeface="berkeleyMono"/>
              </a:rPr>
              <a:t>'b'</a:t>
            </a:r>
            <a:r>
              <a:rPr lang="en-US" b="0" i="0" dirty="0">
                <a:effectLst/>
                <a:latin typeface="fkGroteskNeue"/>
              </a:rPr>
              <a:t> to specify binary mode.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Common modes: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'</a:t>
            </a:r>
            <a:r>
              <a:rPr lang="en-US" b="0" i="0" dirty="0" err="1">
                <a:effectLst/>
                <a:latin typeface="berkeleyMono"/>
              </a:rPr>
              <a:t>rb</a:t>
            </a:r>
            <a:r>
              <a:rPr lang="en-US" b="0" i="0" dirty="0">
                <a:effectLst/>
                <a:latin typeface="berkeleyMono"/>
              </a:rPr>
              <a:t>'</a:t>
            </a:r>
            <a:r>
              <a:rPr lang="en-US" b="0" i="0" dirty="0">
                <a:effectLst/>
                <a:latin typeface="fkGroteskNeue"/>
              </a:rPr>
              <a:t> — open for reading binary data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'</a:t>
            </a:r>
            <a:r>
              <a:rPr lang="en-US" b="0" i="0" dirty="0" err="1">
                <a:effectLst/>
                <a:latin typeface="berkeleyMono"/>
              </a:rPr>
              <a:t>wb</a:t>
            </a:r>
            <a:r>
              <a:rPr lang="en-US" b="0" i="0" dirty="0">
                <a:effectLst/>
                <a:latin typeface="berkeleyMono"/>
              </a:rPr>
              <a:t>'</a:t>
            </a:r>
            <a:r>
              <a:rPr lang="en-US" b="0" i="0" dirty="0">
                <a:effectLst/>
                <a:latin typeface="fkGroteskNeue"/>
              </a:rPr>
              <a:t> — open for writing binary data (creates or overwrites file)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'ab'</a:t>
            </a:r>
            <a:r>
              <a:rPr lang="en-US" b="0" i="0" dirty="0">
                <a:effectLst/>
                <a:latin typeface="fkGroteskNeue"/>
              </a:rPr>
              <a:t> — open for appending binary data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Reading Binary 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When you read a binary file, the content is returned as a bytes object.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Binary data can be processed or converted as needed.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Writing Binary 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When writing to binary files, data must be in bytes.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You can convert other data types (like integers or strings) to bytes before writing.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79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A9AB-1F26-8228-C288-3749D52E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EBD8F1-217A-2D1A-7CAC-97D4A4A0EEA6}"/>
              </a:ext>
            </a:extLst>
          </p:cNvPr>
          <p:cNvSpPr txBox="1"/>
          <p:nvPr/>
        </p:nvSpPr>
        <p:spPr>
          <a:xfrm>
            <a:off x="1003853" y="144622"/>
            <a:ext cx="8408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Simple Example: Writing and Reading Binary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C3801-4FE6-3535-1794-9427A4B617E2}"/>
              </a:ext>
            </a:extLst>
          </p:cNvPr>
          <p:cNvSpPr txBox="1"/>
          <p:nvPr/>
        </p:nvSpPr>
        <p:spPr>
          <a:xfrm>
            <a:off x="1003853" y="566678"/>
            <a:ext cx="61026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Writing binary data to a file</a:t>
            </a:r>
          </a:p>
          <a:p>
            <a:r>
              <a:rPr lang="en-IN" dirty="0" err="1"/>
              <a:t>binary_data</a:t>
            </a:r>
            <a:r>
              <a:rPr lang="en-IN" dirty="0"/>
              <a:t> = b'This is some binary data.'</a:t>
            </a:r>
          </a:p>
          <a:p>
            <a:endParaRPr lang="en-IN" dirty="0"/>
          </a:p>
          <a:p>
            <a:r>
              <a:rPr lang="en-IN" dirty="0"/>
              <a:t>with open('example.bin', '</a:t>
            </a:r>
            <a:r>
              <a:rPr lang="en-IN" dirty="0" err="1"/>
              <a:t>wb</a:t>
            </a:r>
            <a:r>
              <a:rPr lang="en-IN" dirty="0"/>
              <a:t>') as file:</a:t>
            </a:r>
          </a:p>
          <a:p>
            <a:r>
              <a:rPr lang="en-IN" dirty="0"/>
              <a:t>    </a:t>
            </a:r>
            <a:r>
              <a:rPr lang="en-IN" dirty="0" err="1"/>
              <a:t>file.write</a:t>
            </a:r>
            <a:r>
              <a:rPr lang="en-IN" dirty="0"/>
              <a:t>(binary_data)</a:t>
            </a:r>
          </a:p>
          <a:p>
            <a:endParaRPr lang="en-IN" dirty="0"/>
          </a:p>
          <a:p>
            <a:r>
              <a:rPr lang="en-IN" dirty="0"/>
              <a:t># Reading binary data from the file</a:t>
            </a:r>
          </a:p>
          <a:p>
            <a:r>
              <a:rPr lang="en-IN" dirty="0"/>
              <a:t>with open('example.bin', '</a:t>
            </a:r>
            <a:r>
              <a:rPr lang="en-IN" dirty="0" err="1"/>
              <a:t>rb</a:t>
            </a:r>
            <a:r>
              <a:rPr lang="en-IN" dirty="0"/>
              <a:t>') as file:</a:t>
            </a:r>
          </a:p>
          <a:p>
            <a:r>
              <a:rPr lang="en-IN" dirty="0"/>
              <a:t>    data = file.read()</a:t>
            </a:r>
          </a:p>
          <a:p>
            <a:r>
              <a:rPr lang="en-IN" dirty="0"/>
              <a:t>    print('Read binary data:',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740C5-F7A0-117E-CE95-3BAA18313784}"/>
              </a:ext>
            </a:extLst>
          </p:cNvPr>
          <p:cNvSpPr txBox="1"/>
          <p:nvPr/>
        </p:nvSpPr>
        <p:spPr>
          <a:xfrm>
            <a:off x="1003853" y="373135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fkGroteskNeue"/>
              </a:rPr>
              <a:t>Output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FC764-6A00-0398-77B9-5E0255B4110D}"/>
              </a:ext>
            </a:extLst>
          </p:cNvPr>
          <p:cNvSpPr txBox="1"/>
          <p:nvPr/>
        </p:nvSpPr>
        <p:spPr>
          <a:xfrm>
            <a:off x="1003853" y="428794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Read binary data: b'This is some binary data.'</a:t>
            </a:r>
          </a:p>
        </p:txBody>
      </p:sp>
    </p:spTree>
    <p:extLst>
      <p:ext uri="{BB962C8B-B14F-4D97-AF65-F5344CB8AC3E}">
        <p14:creationId xmlns:p14="http://schemas.microsoft.com/office/powerpoint/2010/main" val="211653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FA5B-1EA9-38C3-A5E0-221086B5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849C62-6612-2AAE-A307-C6F9E7C0938F}"/>
              </a:ext>
            </a:extLst>
          </p:cNvPr>
          <p:cNvSpPr txBox="1"/>
          <p:nvPr/>
        </p:nvSpPr>
        <p:spPr>
          <a:xfrm>
            <a:off x="924340" y="214845"/>
            <a:ext cx="8845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Handling Complex Data: Using </a:t>
            </a:r>
            <a:r>
              <a:rPr lang="en-US" b="1" i="0" dirty="0">
                <a:effectLst/>
                <a:latin typeface="berkeleyMono"/>
              </a:rPr>
              <a:t>pickle</a:t>
            </a:r>
            <a:r>
              <a:rPr lang="en-US" b="1" i="0" dirty="0">
                <a:effectLst/>
                <a:latin typeface="fkGrotesk"/>
              </a:rPr>
              <a:t> Module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Python's </a:t>
            </a:r>
            <a:r>
              <a:rPr lang="en-US" b="0" i="0" dirty="0">
                <a:effectLst/>
                <a:latin typeface="berkeleyMono"/>
              </a:rPr>
              <a:t>pickle</a:t>
            </a:r>
            <a:r>
              <a:rPr lang="en-US" b="0" i="0" dirty="0">
                <a:effectLst/>
                <a:latin typeface="fkGroteskNeue"/>
              </a:rPr>
              <a:t> module allows storing and retrieving Python objects to/from binary files.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Example: Writing and Reading Python Objects with </a:t>
            </a:r>
            <a:r>
              <a:rPr lang="en-US" b="1" i="0" dirty="0">
                <a:effectLst/>
                <a:latin typeface="berkeleyMono"/>
              </a:rPr>
              <a:t>pickle</a:t>
            </a:r>
            <a:endParaRPr lang="en-US" b="1" i="0" dirty="0">
              <a:effectLst/>
              <a:latin typeface="fkGrotes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6DEE5-E32A-5DB4-DC24-4C0E25DD4426}"/>
              </a:ext>
            </a:extLst>
          </p:cNvPr>
          <p:cNvSpPr txBox="1"/>
          <p:nvPr/>
        </p:nvSpPr>
        <p:spPr>
          <a:xfrm>
            <a:off x="924339" y="1556483"/>
            <a:ext cx="8647043" cy="374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pickle</a:t>
            </a:r>
          </a:p>
          <a:p>
            <a:endParaRPr lang="en-IN" dirty="0"/>
          </a:p>
          <a:p>
            <a:r>
              <a:rPr lang="en-IN" dirty="0"/>
              <a:t># Data to store</a:t>
            </a:r>
          </a:p>
          <a:p>
            <a:r>
              <a:rPr lang="en-IN" dirty="0"/>
              <a:t>employee = {'id': 101, 'name': 'Raj', 'salary': 25000}</a:t>
            </a:r>
          </a:p>
          <a:p>
            <a:endParaRPr lang="en-IN" dirty="0"/>
          </a:p>
          <a:p>
            <a:r>
              <a:rPr lang="en-IN" dirty="0"/>
              <a:t># Writing to a binary file</a:t>
            </a:r>
          </a:p>
          <a:p>
            <a:r>
              <a:rPr lang="en-IN" dirty="0"/>
              <a:t>with open('employee.dat', '</a:t>
            </a:r>
            <a:r>
              <a:rPr lang="en-IN" dirty="0" err="1"/>
              <a:t>wb</a:t>
            </a:r>
            <a:r>
              <a:rPr lang="en-IN" dirty="0"/>
              <a:t>') as file:</a:t>
            </a:r>
          </a:p>
          <a:p>
            <a:r>
              <a:rPr lang="en-IN" dirty="0"/>
              <a:t>    </a:t>
            </a:r>
            <a:r>
              <a:rPr lang="en-IN" dirty="0" err="1"/>
              <a:t>pickle.dump</a:t>
            </a:r>
            <a:r>
              <a:rPr lang="en-IN" dirty="0"/>
              <a:t>(employee, file)</a:t>
            </a:r>
          </a:p>
          <a:p>
            <a:endParaRPr lang="en-IN" dirty="0"/>
          </a:p>
          <a:p>
            <a:r>
              <a:rPr lang="en-IN" dirty="0"/>
              <a:t># Reading from the binary file</a:t>
            </a:r>
          </a:p>
          <a:p>
            <a:r>
              <a:rPr lang="en-IN" dirty="0"/>
              <a:t>with open('employee.dat', '</a:t>
            </a:r>
            <a:r>
              <a:rPr lang="en-IN" dirty="0" err="1"/>
              <a:t>rb</a:t>
            </a:r>
            <a:r>
              <a:rPr lang="en-IN" dirty="0"/>
              <a:t>') as file:</a:t>
            </a:r>
          </a:p>
          <a:p>
            <a:r>
              <a:rPr lang="en-IN" dirty="0"/>
              <a:t>    loaded_employee = </a:t>
            </a:r>
            <a:r>
              <a:rPr lang="en-IN" dirty="0" err="1"/>
              <a:t>pickle.load</a:t>
            </a:r>
            <a:r>
              <a:rPr lang="en-IN" dirty="0"/>
              <a:t>(file)</a:t>
            </a:r>
          </a:p>
          <a:p>
            <a:r>
              <a:rPr lang="en-IN" dirty="0"/>
              <a:t>    print('Loaded Object:', loaded_employee)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3F0C2-7377-2E49-F08C-AEFDB53F110A}"/>
              </a:ext>
            </a:extLst>
          </p:cNvPr>
          <p:cNvSpPr txBox="1"/>
          <p:nvPr/>
        </p:nvSpPr>
        <p:spPr>
          <a:xfrm>
            <a:off x="924339" y="5484707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</a:rPr>
              <a:t>Output</a:t>
            </a:r>
            <a:r>
              <a:rPr lang="en-IN" dirty="0">
                <a:effectLst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EEF47-B6A4-1D84-C7E8-082AB10FEAB5}"/>
              </a:ext>
            </a:extLst>
          </p:cNvPr>
          <p:cNvSpPr txBox="1"/>
          <p:nvPr/>
        </p:nvSpPr>
        <p:spPr>
          <a:xfrm>
            <a:off x="924339" y="603723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Loaded Object: {'id': 101, 'name': 'Raj', 'salary': 25000}</a:t>
            </a:r>
          </a:p>
        </p:txBody>
      </p:sp>
    </p:spTree>
    <p:extLst>
      <p:ext uri="{BB962C8B-B14F-4D97-AF65-F5344CB8AC3E}">
        <p14:creationId xmlns:p14="http://schemas.microsoft.com/office/powerpoint/2010/main" val="325159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AD72-793F-01FF-3B89-21F3C5D1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C9CEBD-CB99-AA56-43AF-7A9B910C615E}"/>
              </a:ext>
            </a:extLst>
          </p:cNvPr>
          <p:cNvSpPr txBox="1"/>
          <p:nvPr/>
        </p:nvSpPr>
        <p:spPr>
          <a:xfrm>
            <a:off x="983975" y="255249"/>
            <a:ext cx="8319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Working with Structured Binary Data (e.g., integers) Using </a:t>
            </a:r>
            <a:r>
              <a:rPr lang="en-US" b="1" i="0" dirty="0">
                <a:effectLst/>
                <a:latin typeface="berkeleyMono"/>
              </a:rPr>
              <a:t>struct</a:t>
            </a:r>
            <a:r>
              <a:rPr lang="en-US" b="1" i="0" dirty="0">
                <a:effectLst/>
                <a:latin typeface="fkGrotesk"/>
              </a:rPr>
              <a:t> Module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 </a:t>
            </a:r>
            <a:r>
              <a:rPr lang="en-US" b="0" i="0" dirty="0">
                <a:effectLst/>
                <a:latin typeface="berkeleyMono"/>
              </a:rPr>
              <a:t>struct</a:t>
            </a:r>
            <a:r>
              <a:rPr lang="en-US" b="0" i="0" dirty="0">
                <a:effectLst/>
                <a:latin typeface="fkGroteskNeue"/>
              </a:rPr>
              <a:t> module packs and unpacks data types into bytes suitable for binary files.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Example: Writing and Reading an Integer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8B67D-DB74-AE9E-3A43-73441547DF98}"/>
              </a:ext>
            </a:extLst>
          </p:cNvPr>
          <p:cNvSpPr txBox="1"/>
          <p:nvPr/>
        </p:nvSpPr>
        <p:spPr>
          <a:xfrm>
            <a:off x="983974" y="1662502"/>
            <a:ext cx="87762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struct</a:t>
            </a:r>
          </a:p>
          <a:p>
            <a:endParaRPr lang="en-IN" dirty="0"/>
          </a:p>
          <a:p>
            <a:r>
              <a:rPr lang="en-IN" dirty="0"/>
              <a:t># Writing an integer to a binary file</a:t>
            </a:r>
          </a:p>
          <a:p>
            <a:r>
              <a:rPr lang="en-IN" dirty="0"/>
              <a:t>number = 42</a:t>
            </a:r>
          </a:p>
          <a:p>
            <a:r>
              <a:rPr lang="en-IN" dirty="0"/>
              <a:t>with open('</a:t>
            </a:r>
            <a:r>
              <a:rPr lang="en-IN" dirty="0" err="1"/>
              <a:t>number.bin</a:t>
            </a:r>
            <a:r>
              <a:rPr lang="en-IN" dirty="0"/>
              <a:t>', '</a:t>
            </a:r>
            <a:r>
              <a:rPr lang="en-IN" dirty="0" err="1"/>
              <a:t>wb</a:t>
            </a:r>
            <a:r>
              <a:rPr lang="en-IN" dirty="0"/>
              <a:t>') as file:</a:t>
            </a:r>
          </a:p>
          <a:p>
            <a:r>
              <a:rPr lang="en-IN" dirty="0"/>
              <a:t>    # '</a:t>
            </a:r>
            <a:r>
              <a:rPr lang="en-IN" dirty="0" err="1"/>
              <a:t>i</a:t>
            </a:r>
            <a:r>
              <a:rPr lang="en-IN" dirty="0"/>
              <a:t>' is format for integer</a:t>
            </a:r>
          </a:p>
          <a:p>
            <a:r>
              <a:rPr lang="en-IN" dirty="0"/>
              <a:t>    </a:t>
            </a:r>
            <a:r>
              <a:rPr lang="en-IN" dirty="0" err="1"/>
              <a:t>packed_data</a:t>
            </a:r>
            <a:r>
              <a:rPr lang="en-IN" dirty="0"/>
              <a:t> = </a:t>
            </a:r>
            <a:r>
              <a:rPr lang="en-IN" dirty="0" err="1"/>
              <a:t>struct.pack</a:t>
            </a:r>
            <a:r>
              <a:rPr lang="en-IN" dirty="0"/>
              <a:t>('</a:t>
            </a:r>
            <a:r>
              <a:rPr lang="en-IN" dirty="0" err="1"/>
              <a:t>i</a:t>
            </a:r>
            <a:r>
              <a:rPr lang="en-IN" dirty="0"/>
              <a:t>', number)</a:t>
            </a:r>
          </a:p>
          <a:p>
            <a:r>
              <a:rPr lang="en-IN" dirty="0"/>
              <a:t>    </a:t>
            </a:r>
            <a:r>
              <a:rPr lang="en-IN" dirty="0" err="1"/>
              <a:t>file.write</a:t>
            </a:r>
            <a:r>
              <a:rPr lang="en-IN" dirty="0"/>
              <a:t>(</a:t>
            </a:r>
            <a:r>
              <a:rPr lang="en-IN" dirty="0" err="1"/>
              <a:t>packed_data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Reading the integer back</a:t>
            </a:r>
          </a:p>
          <a:p>
            <a:r>
              <a:rPr lang="en-IN" dirty="0"/>
              <a:t>with open('</a:t>
            </a:r>
            <a:r>
              <a:rPr lang="en-IN" dirty="0" err="1"/>
              <a:t>number.bin</a:t>
            </a:r>
            <a:r>
              <a:rPr lang="en-IN" dirty="0"/>
              <a:t>', '</a:t>
            </a:r>
            <a:r>
              <a:rPr lang="en-IN" dirty="0" err="1"/>
              <a:t>rb</a:t>
            </a:r>
            <a:r>
              <a:rPr lang="en-IN" dirty="0"/>
              <a:t>') as file:</a:t>
            </a:r>
          </a:p>
          <a:p>
            <a:r>
              <a:rPr lang="en-IN" dirty="0"/>
              <a:t>    data = file.read(4)  # read 4 bytes</a:t>
            </a:r>
          </a:p>
          <a:p>
            <a:r>
              <a:rPr lang="en-IN" dirty="0"/>
              <a:t>    </a:t>
            </a:r>
            <a:r>
              <a:rPr lang="en-IN" dirty="0" err="1"/>
              <a:t>number_unpacked</a:t>
            </a:r>
            <a:r>
              <a:rPr lang="en-IN" dirty="0"/>
              <a:t> = </a:t>
            </a:r>
            <a:r>
              <a:rPr lang="en-IN" dirty="0" err="1"/>
              <a:t>struct.unpack</a:t>
            </a:r>
            <a:r>
              <a:rPr lang="en-IN" dirty="0"/>
              <a:t>('</a:t>
            </a:r>
            <a:r>
              <a:rPr lang="en-IN" dirty="0" err="1"/>
              <a:t>i</a:t>
            </a:r>
            <a:r>
              <a:rPr lang="en-IN" dirty="0"/>
              <a:t>', data)[0]</a:t>
            </a:r>
          </a:p>
          <a:p>
            <a:r>
              <a:rPr lang="en-IN" dirty="0"/>
              <a:t>    print('Number read from file:', </a:t>
            </a:r>
            <a:r>
              <a:rPr lang="en-IN" dirty="0" err="1"/>
              <a:t>number_unpacked</a:t>
            </a:r>
            <a:r>
              <a:rPr lang="en-IN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98BAF-A913-4D0F-AED0-D890154FF5A0}"/>
              </a:ext>
            </a:extLst>
          </p:cNvPr>
          <p:cNvSpPr txBox="1"/>
          <p:nvPr/>
        </p:nvSpPr>
        <p:spPr>
          <a:xfrm>
            <a:off x="983974" y="633540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Number read from file: 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4377F-75AF-53DC-DBAB-5F47B3AC5DCB}"/>
              </a:ext>
            </a:extLst>
          </p:cNvPr>
          <p:cNvSpPr txBox="1"/>
          <p:nvPr/>
        </p:nvSpPr>
        <p:spPr>
          <a:xfrm>
            <a:off x="983974" y="5799445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613801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576A-59B3-ECDC-FE62-3740CCDE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3AF3BD-E921-E7E3-A363-2A59D4209297}"/>
              </a:ext>
            </a:extLst>
          </p:cNvPr>
          <p:cNvSpPr txBox="1"/>
          <p:nvPr/>
        </p:nvSpPr>
        <p:spPr>
          <a:xfrm>
            <a:off x="924340" y="163203"/>
            <a:ext cx="846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4.4 Appending Text to a File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A4A74-C3A2-1FD0-A0ED-055407413944}"/>
              </a:ext>
            </a:extLst>
          </p:cNvPr>
          <p:cNvSpPr txBox="1"/>
          <p:nvPr/>
        </p:nvSpPr>
        <p:spPr>
          <a:xfrm>
            <a:off x="689113" y="612681"/>
            <a:ext cx="953825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Appending Text to a File in Python</a:t>
            </a:r>
          </a:p>
          <a:p>
            <a:pPr>
              <a:buNone/>
            </a:pPr>
            <a:endParaRPr lang="en-US" dirty="0"/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Theory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Appending means adding new text at the </a:t>
            </a:r>
            <a:r>
              <a:rPr lang="en-US" b="0" i="1" dirty="0">
                <a:effectLst/>
                <a:latin typeface="fkGroteskNeue"/>
              </a:rPr>
              <a:t>end</a:t>
            </a:r>
            <a:r>
              <a:rPr lang="en-US" b="0" i="0" dirty="0">
                <a:effectLst/>
                <a:latin typeface="fkGroteskNeue"/>
              </a:rPr>
              <a:t> of an existing file without deleting the current content.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To append text in Python, you open the file in append mode using mode </a:t>
            </a:r>
            <a:r>
              <a:rPr lang="en-US" b="0" i="0" dirty="0">
                <a:effectLst/>
                <a:latin typeface="berkeleyMono"/>
              </a:rPr>
              <a:t>'a'</a:t>
            </a:r>
            <a:r>
              <a:rPr lang="en-US" b="0" i="0" dirty="0">
                <a:effectLst/>
                <a:latin typeface="fkGroteskNeue"/>
              </a:rPr>
              <a:t> with the </a:t>
            </a:r>
            <a:r>
              <a:rPr lang="en-US" b="0" i="0" dirty="0">
                <a:effectLst/>
                <a:latin typeface="berkeleyMono"/>
              </a:rPr>
              <a:t>open()</a:t>
            </a:r>
            <a:r>
              <a:rPr lang="en-US" b="0" i="0" dirty="0">
                <a:effectLst/>
                <a:latin typeface="fkGroteskNeue"/>
              </a:rPr>
              <a:t> function.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If the file does not exist, Python creates a new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file pointer is positioned at the end of the file, so all writes add content after existing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To start the appended text from a new line, you should add the newline character </a:t>
            </a:r>
            <a:r>
              <a:rPr lang="en-US" b="0" i="0" dirty="0">
                <a:effectLst/>
                <a:latin typeface="berkeleyMono"/>
              </a:rPr>
              <a:t>\n</a:t>
            </a:r>
            <a:r>
              <a:rPr lang="en-US" b="0" i="0" dirty="0">
                <a:effectLst/>
                <a:latin typeface="fkGroteskNeue"/>
              </a:rPr>
              <a:t> explicitly.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i="0" dirty="0">
                <a:effectLst/>
                <a:latin typeface="fkGrotesk"/>
              </a:rPr>
              <a:t>Basic Syntax</a:t>
            </a:r>
          </a:p>
          <a:p>
            <a:pPr algn="l">
              <a:buNone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file = open('filename.txt', 'a')  # Open file in append mode</a:t>
            </a:r>
          </a:p>
          <a:p>
            <a:r>
              <a:rPr lang="en-US" dirty="0">
                <a:latin typeface="fkGrotesk"/>
              </a:rPr>
              <a:t>file.write('Text to add')         # Append text</a:t>
            </a:r>
          </a:p>
          <a:p>
            <a:r>
              <a:rPr lang="en-US" dirty="0">
                <a:latin typeface="fkGrotesk"/>
              </a:rPr>
              <a:t>file.close()                      # Close the file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Or using the recommended with statement that auto-closes:</a:t>
            </a:r>
          </a:p>
          <a:p>
            <a:endParaRPr lang="en-US" b="1" dirty="0"/>
          </a:p>
          <a:p>
            <a:r>
              <a:rPr lang="en-US" dirty="0">
                <a:latin typeface="fkGrotesk"/>
              </a:rPr>
              <a:t>with open('filename.txt', 'a') as file:</a:t>
            </a:r>
          </a:p>
          <a:p>
            <a:r>
              <a:rPr lang="en-US" dirty="0">
                <a:latin typeface="fkGrotesk"/>
              </a:rPr>
              <a:t>    file.write('Text to add')</a:t>
            </a:r>
          </a:p>
        </p:txBody>
      </p:sp>
    </p:spTree>
    <p:extLst>
      <p:ext uri="{BB962C8B-B14F-4D97-AF65-F5344CB8AC3E}">
        <p14:creationId xmlns:p14="http://schemas.microsoft.com/office/powerpoint/2010/main" val="4210282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CFC8-B0CB-2430-20D2-FB191F46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2E1309-4041-83DB-BD1B-AD955C7BA754}"/>
              </a:ext>
            </a:extLst>
          </p:cNvPr>
          <p:cNvSpPr txBox="1"/>
          <p:nvPr/>
        </p:nvSpPr>
        <p:spPr>
          <a:xfrm>
            <a:off x="725557" y="204257"/>
            <a:ext cx="94222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Examples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Example 1: Append text without new line (text will join existing last line)</a:t>
            </a:r>
          </a:p>
          <a:p>
            <a:pPr algn="l">
              <a:buNone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with open('example.txt', 'a') as file:</a:t>
            </a:r>
          </a:p>
          <a:p>
            <a:r>
              <a:rPr lang="en-US" dirty="0">
                <a:latin typeface="fkGrotesk"/>
              </a:rPr>
              <a:t>    file.write('Appended text without newline’)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r>
              <a:rPr lang="en-US" dirty="0"/>
              <a:t>If original file content ended without newline, the new text will continue on the same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8AEA6-5573-E150-9620-FCA4B7CF23D4}"/>
              </a:ext>
            </a:extLst>
          </p:cNvPr>
          <p:cNvSpPr txBox="1"/>
          <p:nvPr/>
        </p:nvSpPr>
        <p:spPr>
          <a:xfrm>
            <a:off x="636104" y="2789580"/>
            <a:ext cx="85377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2: Append text starting from new line</a:t>
            </a:r>
          </a:p>
          <a:p>
            <a:pPr>
              <a:buNone/>
            </a:pPr>
            <a:endParaRPr lang="en-US" b="1" dirty="0">
              <a:latin typeface="fkGrotesk"/>
            </a:endParaRPr>
          </a:p>
          <a:p>
            <a:pPr>
              <a:buNone/>
            </a:pPr>
            <a:r>
              <a:rPr lang="en-US" dirty="0">
                <a:latin typeface="fkGrotesk"/>
              </a:rPr>
              <a:t>with open('example.txt', 'a') as file:</a:t>
            </a:r>
          </a:p>
          <a:p>
            <a:pPr>
              <a:buNone/>
            </a:pPr>
            <a:r>
              <a:rPr lang="en-US" dirty="0">
                <a:latin typeface="fkGrotesk"/>
              </a:rPr>
              <a:t>    file.write('\nAppended text starting on new line')</a:t>
            </a:r>
          </a:p>
          <a:p>
            <a:pPr>
              <a:buNone/>
            </a:pPr>
            <a:endParaRPr lang="en-US" b="1" dirty="0">
              <a:effectLst/>
              <a:latin typeface="fk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A876B-B280-8AC0-7B78-4B9CC78B1835}"/>
              </a:ext>
            </a:extLst>
          </p:cNvPr>
          <p:cNvSpPr txBox="1"/>
          <p:nvPr/>
        </p:nvSpPr>
        <p:spPr>
          <a:xfrm>
            <a:off x="725557" y="4082242"/>
            <a:ext cx="90247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3: Append </a:t>
            </a:r>
            <a:r>
              <a:rPr lang="en-US" b="1" dirty="0">
                <a:latin typeface="fkGrotesk"/>
              </a:rPr>
              <a:t>multiple lines using </a:t>
            </a:r>
            <a:r>
              <a:rPr lang="en-US" b="1" dirty="0">
                <a:effectLst/>
                <a:latin typeface="fkGrotesk"/>
              </a:rPr>
              <a:t> writelines()</a:t>
            </a:r>
          </a:p>
          <a:p>
            <a:pPr>
              <a:buNone/>
            </a:pPr>
            <a:endParaRPr lang="en-US" b="1" dirty="0">
              <a:latin typeface="fkGrotesk"/>
            </a:endParaRPr>
          </a:p>
          <a:p>
            <a:pPr>
              <a:buNone/>
            </a:pPr>
            <a:r>
              <a:rPr lang="en-US" dirty="0">
                <a:latin typeface="fkGrotesk"/>
              </a:rPr>
              <a:t>lines = ['First appended line\n', 'Second appended line\n', 'Third appended line\n']</a:t>
            </a:r>
          </a:p>
          <a:p>
            <a:pPr>
              <a:buNone/>
            </a:pPr>
            <a:endParaRPr lang="en-US" b="1" dirty="0">
              <a:latin typeface="fkGrotesk"/>
            </a:endParaRPr>
          </a:p>
          <a:p>
            <a:pPr>
              <a:buNone/>
            </a:pPr>
            <a:r>
              <a:rPr lang="en-US" dirty="0">
                <a:latin typeface="fkGrotesk"/>
              </a:rPr>
              <a:t>with open('example.txt', 'a') as file:</a:t>
            </a:r>
          </a:p>
          <a:p>
            <a:pPr>
              <a:buNone/>
            </a:pPr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file.writelines</a:t>
            </a:r>
            <a:r>
              <a:rPr lang="en-US" dirty="0">
                <a:latin typeface="fkGrotesk"/>
              </a:rPr>
              <a:t>(lines)</a:t>
            </a:r>
          </a:p>
          <a:p>
            <a:pPr>
              <a:buNone/>
            </a:pPr>
            <a:endParaRPr lang="en-US" dirty="0">
              <a:latin typeface="fkGrotesk"/>
            </a:endParaRPr>
          </a:p>
          <a:p>
            <a:r>
              <a:rPr lang="en-US" dirty="0"/>
              <a:t>This appends all lines to the file, each starting on a new line.</a:t>
            </a:r>
          </a:p>
        </p:txBody>
      </p:sp>
    </p:spTree>
    <p:extLst>
      <p:ext uri="{BB962C8B-B14F-4D97-AF65-F5344CB8AC3E}">
        <p14:creationId xmlns:p14="http://schemas.microsoft.com/office/powerpoint/2010/main" val="136043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7B0C-3599-4185-0866-2B95A35A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8D0283-028A-E1F6-3FCD-D7B14A5D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48952"/>
              </p:ext>
            </p:extLst>
          </p:nvPr>
        </p:nvGraphicFramePr>
        <p:xfrm>
          <a:off x="904977" y="648935"/>
          <a:ext cx="8596312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88458">
                  <a:extLst>
                    <a:ext uri="{9D8B030D-6E8A-4147-A177-3AD203B41FA5}">
                      <a16:colId xmlns:a16="http://schemas.microsoft.com/office/drawing/2014/main" val="3765755558"/>
                    </a:ext>
                  </a:extLst>
                </a:gridCol>
                <a:gridCol w="5407854">
                  <a:extLst>
                    <a:ext uri="{9D8B030D-6E8A-4147-A177-3AD203B41FA5}">
                      <a16:colId xmlns:a16="http://schemas.microsoft.com/office/drawing/2014/main" val="267483698"/>
                    </a:ext>
                  </a:extLst>
                </a:gridCol>
              </a:tblGrid>
              <a:tr h="282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Step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How to do it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058038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Open file in append mode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Useopen('filename', 'a')orwith open(...) as file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02103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Write text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>
                          <a:effectLst/>
                        </a:rPr>
                        <a:t>Usefile.write</a:t>
                      </a:r>
                      <a:r>
                        <a:rPr lang="en-US" dirty="0">
                          <a:effectLst/>
                        </a:rPr>
                        <a:t>('text')</a:t>
                      </a:r>
                      <a:r>
                        <a:rPr lang="en-US" dirty="0" err="1">
                          <a:effectLst/>
                        </a:rPr>
                        <a:t>orfile.writelines</a:t>
                      </a:r>
                      <a:r>
                        <a:rPr lang="en-US" dirty="0">
                          <a:effectLst/>
                        </a:rPr>
                        <a:t>(</a:t>
                      </a:r>
                      <a:r>
                        <a:rPr lang="en-US" dirty="0" err="1">
                          <a:effectLst/>
                        </a:rPr>
                        <a:t>list_of_lines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90407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Start new line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Include\ncharacter at appropriate places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59617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Close file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>
                          <a:effectLst/>
                        </a:rPr>
                        <a:t>Eitherfile.close</a:t>
                      </a:r>
                      <a:r>
                        <a:rPr lang="en-IN" dirty="0">
                          <a:effectLst/>
                        </a:rPr>
                        <a:t>()or </a:t>
                      </a:r>
                      <a:r>
                        <a:rPr lang="en-IN" dirty="0" err="1">
                          <a:effectLst/>
                        </a:rPr>
                        <a:t>usewithstatement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2676953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A28824-5526-4770-CE60-E562079DA65F}"/>
              </a:ext>
            </a:extLst>
          </p:cNvPr>
          <p:cNvSpPr txBox="1"/>
          <p:nvPr/>
        </p:nvSpPr>
        <p:spPr>
          <a:xfrm>
            <a:off x="1083364" y="104865"/>
            <a:ext cx="8239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59054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E259-4516-6263-FD5B-2C57CB1E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192F8F-81CC-52DA-A880-5B1AC92DDC57}"/>
              </a:ext>
            </a:extLst>
          </p:cNvPr>
          <p:cNvSpPr txBox="1"/>
          <p:nvPr/>
        </p:nvSpPr>
        <p:spPr>
          <a:xfrm>
            <a:off x="834886" y="262688"/>
            <a:ext cx="8070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4.5 Understanding read functions, read(), readline() and readlines() 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78CF0-6682-D116-6209-E41ED65B1DAB}"/>
              </a:ext>
            </a:extLst>
          </p:cNvPr>
          <p:cNvSpPr txBox="1"/>
          <p:nvPr/>
        </p:nvSpPr>
        <p:spPr>
          <a:xfrm>
            <a:off x="834886" y="788814"/>
            <a:ext cx="963101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Understanding Python Read Functions: read(), readline(), and readlines()</a:t>
            </a:r>
          </a:p>
          <a:p>
            <a:pPr algn="l">
              <a:buNone/>
            </a:pPr>
            <a:endParaRPr lang="en-US" dirty="0"/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Theory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Python provides three main functions to read data from a text file: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read()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Reads the entire content of the file or a specified number of characters (bytes).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Returns the content as a single string.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If you don’t provide a size, it reads the whole file.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 startAt="2"/>
            </a:pPr>
            <a:r>
              <a:rPr lang="en-US" b="0" i="0" dirty="0">
                <a:effectLst/>
                <a:latin typeface="fkGroteskNeue"/>
              </a:rPr>
              <a:t>readline()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Reads one line at a time from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Returns a string containing that single line, including the newline character </a:t>
            </a:r>
            <a:r>
              <a:rPr lang="en-US" b="0" i="0" dirty="0">
                <a:effectLst/>
                <a:latin typeface="berkeleyMono"/>
              </a:rPr>
              <a:t>\n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Calling </a:t>
            </a:r>
            <a:r>
              <a:rPr lang="en-US" b="0" i="0" dirty="0">
                <a:effectLst/>
                <a:latin typeface="berkeleyMono"/>
              </a:rPr>
              <a:t>readline()</a:t>
            </a:r>
            <a:r>
              <a:rPr lang="en-US" b="0" i="0" dirty="0">
                <a:effectLst/>
                <a:latin typeface="fkGroteskNeue"/>
              </a:rPr>
              <a:t> repeatedly reads the lines sequentially.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 startAt="3"/>
            </a:pPr>
            <a:r>
              <a:rPr lang="en-US" b="0" i="0" dirty="0">
                <a:effectLst/>
                <a:latin typeface="fkGroteskNeue"/>
              </a:rPr>
              <a:t>readlines()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Reads all lines of the file and returns them as a list of strings.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Each element corresponds to a line, including the newline character </a:t>
            </a:r>
            <a:r>
              <a:rPr lang="en-US" b="0" i="0" dirty="0">
                <a:effectLst/>
                <a:latin typeface="berkeleyMono"/>
              </a:rPr>
              <a:t>\n</a:t>
            </a:r>
            <a:r>
              <a:rPr lang="en-US" b="0" i="0" dirty="0">
                <a:effectLst/>
                <a:latin typeface="fkGroteskNeue"/>
              </a:rPr>
              <a:t>.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Why use these?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read()</a:t>
            </a:r>
            <a:r>
              <a:rPr lang="en-US" b="0" i="0" dirty="0">
                <a:effectLst/>
                <a:latin typeface="fkGroteskNeue"/>
              </a:rPr>
              <a:t> is good when you want the whole file content at once.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readline()</a:t>
            </a:r>
            <a:r>
              <a:rPr lang="en-US" b="0" i="0" dirty="0">
                <a:effectLst/>
                <a:latin typeface="fkGroteskNeue"/>
              </a:rPr>
              <a:t> is useful to process file line by line — saving memory.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readlines()</a:t>
            </a:r>
            <a:r>
              <a:rPr lang="en-US" b="0" i="0" dirty="0">
                <a:effectLst/>
                <a:latin typeface="fkGroteskNeue"/>
              </a:rPr>
              <a:t> is helpful to get all lines as a list to iterate over.</a:t>
            </a:r>
          </a:p>
        </p:txBody>
      </p:sp>
    </p:spTree>
    <p:extLst>
      <p:ext uri="{BB962C8B-B14F-4D97-AF65-F5344CB8AC3E}">
        <p14:creationId xmlns:p14="http://schemas.microsoft.com/office/powerpoint/2010/main" val="870491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5DF2-DE57-B71D-2133-B55FAEEC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2D3A80-823F-1EB5-C46D-A069E994B892}"/>
              </a:ext>
            </a:extLst>
          </p:cNvPr>
          <p:cNvSpPr txBox="1"/>
          <p:nvPr/>
        </p:nvSpPr>
        <p:spPr>
          <a:xfrm>
            <a:off x="924339" y="124744"/>
            <a:ext cx="8110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Syntax Summary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675404-366B-375E-DF93-73C769496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891112"/>
              </p:ext>
            </p:extLst>
          </p:nvPr>
        </p:nvGraphicFramePr>
        <p:xfrm>
          <a:off x="1232452" y="651102"/>
          <a:ext cx="7025957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5083">
                  <a:extLst>
                    <a:ext uri="{9D8B030D-6E8A-4147-A177-3AD203B41FA5}">
                      <a16:colId xmlns:a16="http://schemas.microsoft.com/office/drawing/2014/main" val="1986341319"/>
                    </a:ext>
                  </a:extLst>
                </a:gridCol>
                <a:gridCol w="2074282">
                  <a:extLst>
                    <a:ext uri="{9D8B030D-6E8A-4147-A177-3AD203B41FA5}">
                      <a16:colId xmlns:a16="http://schemas.microsoft.com/office/drawing/2014/main" val="1340568930"/>
                    </a:ext>
                  </a:extLst>
                </a:gridCol>
                <a:gridCol w="3656592">
                  <a:extLst>
                    <a:ext uri="{9D8B030D-6E8A-4147-A177-3AD203B41FA5}">
                      <a16:colId xmlns:a16="http://schemas.microsoft.com/office/drawing/2014/main" val="3734936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Function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Syntax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027833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read()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file.read(size)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Readssizechars or whole file if size not given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348664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>
                          <a:effectLst/>
                        </a:rPr>
                        <a:t>readline</a:t>
                      </a:r>
                      <a:r>
                        <a:rPr lang="en-IN" dirty="0">
                          <a:effectLst/>
                        </a:rPr>
                        <a:t>()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>
                          <a:effectLst/>
                        </a:rPr>
                        <a:t>file.readline</a:t>
                      </a:r>
                      <a:r>
                        <a:rPr lang="en-IN" dirty="0">
                          <a:effectLst/>
                        </a:rPr>
                        <a:t>(size)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Reads one line up tosizebytes, or full line if size not given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548954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>
                          <a:effectLst/>
                        </a:rPr>
                        <a:t>readlines</a:t>
                      </a:r>
                      <a:r>
                        <a:rPr lang="en-IN" dirty="0">
                          <a:effectLst/>
                        </a:rPr>
                        <a:t>()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>
                          <a:effectLst/>
                        </a:rPr>
                        <a:t>file.readlines</a:t>
                      </a:r>
                      <a:r>
                        <a:rPr lang="en-IN" dirty="0">
                          <a:effectLst/>
                        </a:rPr>
                        <a:t>()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Reads all lines into list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8964023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16893C-2B9C-735F-1680-727E12E4F9FE}"/>
              </a:ext>
            </a:extLst>
          </p:cNvPr>
          <p:cNvSpPr txBox="1"/>
          <p:nvPr/>
        </p:nvSpPr>
        <p:spPr>
          <a:xfrm>
            <a:off x="924339" y="3059668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Examples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2DA52-7F10-FF24-60D7-20263C5EE076}"/>
              </a:ext>
            </a:extLst>
          </p:cNvPr>
          <p:cNvSpPr txBox="1"/>
          <p:nvPr/>
        </p:nvSpPr>
        <p:spPr>
          <a:xfrm>
            <a:off x="924339" y="3519300"/>
            <a:ext cx="7832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Assuming a text file named </a:t>
            </a:r>
            <a:r>
              <a:rPr lang="en-US" b="0" dirty="0">
                <a:effectLst/>
                <a:latin typeface="berkeleyMono"/>
              </a:rPr>
              <a:t>sample.txt</a:t>
            </a:r>
            <a:r>
              <a:rPr lang="en-US" dirty="0">
                <a:effectLst/>
              </a:rPr>
              <a:t> with the following content: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49439-AB8C-8B37-BA8F-866169B69FC7}"/>
              </a:ext>
            </a:extLst>
          </p:cNvPr>
          <p:cNvSpPr txBox="1"/>
          <p:nvPr/>
        </p:nvSpPr>
        <p:spPr>
          <a:xfrm>
            <a:off x="924339" y="3978932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Hello World</a:t>
            </a:r>
          </a:p>
          <a:p>
            <a:r>
              <a:rPr lang="en-IN" dirty="0"/>
              <a:t>Python File Handling</a:t>
            </a:r>
          </a:p>
          <a:p>
            <a:r>
              <a:rPr lang="en-IN" dirty="0"/>
              <a:t>Readline vs Readlines</a:t>
            </a:r>
          </a:p>
          <a:p>
            <a:r>
              <a:rPr lang="en-IN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111639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08249-9D43-0550-25C0-A4D93A05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82D17B-8B45-D1C0-C5DF-79E1D06E1D0B}"/>
              </a:ext>
            </a:extLst>
          </p:cNvPr>
          <p:cNvSpPr txBox="1"/>
          <p:nvPr/>
        </p:nvSpPr>
        <p:spPr>
          <a:xfrm>
            <a:off x="924339" y="24401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1: Using </a:t>
            </a:r>
            <a:r>
              <a:rPr lang="en-US" b="1" dirty="0">
                <a:effectLst/>
                <a:latin typeface="berkeleyMono"/>
              </a:rPr>
              <a:t>read()</a:t>
            </a:r>
            <a:r>
              <a:rPr lang="en-US" b="1" dirty="0">
                <a:effectLst/>
                <a:latin typeface="fkGrotesk"/>
              </a:rPr>
              <a:t> to read entire file or part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777E4-FA90-C6AD-AE06-0C53E89FD8E9}"/>
              </a:ext>
            </a:extLst>
          </p:cNvPr>
          <p:cNvSpPr txBox="1"/>
          <p:nvPr/>
        </p:nvSpPr>
        <p:spPr>
          <a:xfrm>
            <a:off x="924339" y="685226"/>
            <a:ext cx="85774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open('sample.txt', 'r') as file:</a:t>
            </a:r>
          </a:p>
          <a:p>
            <a:r>
              <a:rPr lang="en-IN" dirty="0"/>
              <a:t>    content = file.read()  # Reads entire file</a:t>
            </a:r>
          </a:p>
          <a:p>
            <a:r>
              <a:rPr lang="en-IN" dirty="0"/>
              <a:t>    print('Full content:')</a:t>
            </a:r>
          </a:p>
          <a:p>
            <a:r>
              <a:rPr lang="en-IN" dirty="0"/>
              <a:t>    print(content)</a:t>
            </a:r>
          </a:p>
          <a:p>
            <a:endParaRPr lang="en-IN" dirty="0"/>
          </a:p>
          <a:p>
            <a:r>
              <a:rPr lang="en-IN" dirty="0"/>
              <a:t>with open('sample.txt', 'r') as file:</a:t>
            </a:r>
          </a:p>
          <a:p>
            <a:r>
              <a:rPr lang="en-IN" dirty="0"/>
              <a:t>    partial = file.read(12)  # Reads first 12 characters</a:t>
            </a:r>
          </a:p>
          <a:p>
            <a:r>
              <a:rPr lang="en-IN" dirty="0"/>
              <a:t>    print('\</a:t>
            </a:r>
            <a:r>
              <a:rPr lang="en-IN" dirty="0" err="1"/>
              <a:t>nFirst</a:t>
            </a:r>
            <a:r>
              <a:rPr lang="en-IN" dirty="0"/>
              <a:t> 12 characters:')</a:t>
            </a:r>
          </a:p>
          <a:p>
            <a:r>
              <a:rPr lang="en-IN" dirty="0"/>
              <a:t>    print(partial)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BA47E-9510-571B-9149-6E1D3EB0BE57}"/>
              </a:ext>
            </a:extLst>
          </p:cNvPr>
          <p:cNvSpPr txBox="1"/>
          <p:nvPr/>
        </p:nvSpPr>
        <p:spPr>
          <a:xfrm>
            <a:off x="924338" y="3429000"/>
            <a:ext cx="892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2: Using </a:t>
            </a:r>
            <a:r>
              <a:rPr lang="en-US" b="1" dirty="0">
                <a:effectLst/>
                <a:latin typeface="berkeleyMono"/>
              </a:rPr>
              <a:t>readline()</a:t>
            </a:r>
            <a:r>
              <a:rPr lang="en-US" b="1" dirty="0">
                <a:effectLst/>
                <a:latin typeface="fkGrotesk"/>
              </a:rPr>
              <a:t> to read file line-by-line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7CC2EE-9711-5B88-3D13-F31C400E8F9F}"/>
              </a:ext>
            </a:extLst>
          </p:cNvPr>
          <p:cNvSpPr txBox="1"/>
          <p:nvPr/>
        </p:nvSpPr>
        <p:spPr>
          <a:xfrm>
            <a:off x="924338" y="3956783"/>
            <a:ext cx="84482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open('sample.txt', 'r') as file:</a:t>
            </a:r>
          </a:p>
          <a:p>
            <a:r>
              <a:rPr lang="en-IN" dirty="0"/>
              <a:t>    line1 = </a:t>
            </a:r>
            <a:r>
              <a:rPr lang="en-IN" dirty="0" err="1"/>
              <a:t>file.readline</a:t>
            </a:r>
            <a:r>
              <a:rPr lang="en-IN" dirty="0"/>
              <a:t>()  # Read first line</a:t>
            </a:r>
          </a:p>
          <a:p>
            <a:r>
              <a:rPr lang="en-IN" dirty="0"/>
              <a:t>    print('First line:')</a:t>
            </a:r>
          </a:p>
          <a:p>
            <a:r>
              <a:rPr lang="en-IN" dirty="0"/>
              <a:t>    print(line1)</a:t>
            </a:r>
          </a:p>
          <a:p>
            <a:endParaRPr lang="en-IN" dirty="0"/>
          </a:p>
          <a:p>
            <a:r>
              <a:rPr lang="en-IN" dirty="0"/>
              <a:t>    line2 = file.readline()  # Read second line</a:t>
            </a:r>
          </a:p>
          <a:p>
            <a:r>
              <a:rPr lang="en-IN" dirty="0"/>
              <a:t>    print('\nSecond line:')</a:t>
            </a:r>
          </a:p>
          <a:p>
            <a:r>
              <a:rPr lang="en-IN" dirty="0"/>
              <a:t>    print(line2)</a:t>
            </a:r>
          </a:p>
        </p:txBody>
      </p:sp>
    </p:spTree>
    <p:extLst>
      <p:ext uri="{BB962C8B-B14F-4D97-AF65-F5344CB8AC3E}">
        <p14:creationId xmlns:p14="http://schemas.microsoft.com/office/powerpoint/2010/main" val="260884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44FBA-7300-1B09-B3D3-61557BA5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6A913D-1619-74EC-84C4-7776F4B62572}"/>
              </a:ext>
            </a:extLst>
          </p:cNvPr>
          <p:cNvSpPr txBox="1"/>
          <p:nvPr/>
        </p:nvSpPr>
        <p:spPr>
          <a:xfrm>
            <a:off x="864704" y="144622"/>
            <a:ext cx="8209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3: Using </a:t>
            </a:r>
            <a:r>
              <a:rPr lang="en-US" b="1" dirty="0">
                <a:effectLst/>
                <a:latin typeface="berkeleyMono"/>
              </a:rPr>
              <a:t>readlines()</a:t>
            </a:r>
            <a:r>
              <a:rPr lang="en-US" b="1" dirty="0">
                <a:effectLst/>
                <a:latin typeface="fkGrotesk"/>
              </a:rPr>
              <a:t> to get all lines as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510C8-3E6E-5464-DC60-0659215E03CB}"/>
              </a:ext>
            </a:extLst>
          </p:cNvPr>
          <p:cNvSpPr txBox="1"/>
          <p:nvPr/>
        </p:nvSpPr>
        <p:spPr>
          <a:xfrm>
            <a:off x="864704" y="655408"/>
            <a:ext cx="82097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open('sample.txt', 'r') as file:</a:t>
            </a:r>
          </a:p>
          <a:p>
            <a:r>
              <a:rPr lang="en-IN" dirty="0"/>
              <a:t>    lines = </a:t>
            </a:r>
            <a:r>
              <a:rPr lang="en-IN" dirty="0" err="1"/>
              <a:t>file.readlines</a:t>
            </a:r>
            <a:r>
              <a:rPr lang="en-IN" dirty="0"/>
              <a:t>()  # Read all lines in a list</a:t>
            </a:r>
          </a:p>
          <a:p>
            <a:r>
              <a:rPr lang="en-IN" dirty="0"/>
              <a:t>    print('All lines as list:')</a:t>
            </a:r>
          </a:p>
          <a:p>
            <a:r>
              <a:rPr lang="en-IN" dirty="0"/>
              <a:t>    print(lines)</a:t>
            </a:r>
          </a:p>
          <a:p>
            <a:endParaRPr lang="en-IN" dirty="0"/>
          </a:p>
          <a:p>
            <a:r>
              <a:rPr lang="en-IN" dirty="0"/>
              <a:t>    # You can loop through lines</a:t>
            </a:r>
          </a:p>
          <a:p>
            <a:r>
              <a:rPr lang="en-IN" dirty="0"/>
              <a:t>    for line in lines:</a:t>
            </a:r>
          </a:p>
          <a:p>
            <a:r>
              <a:rPr lang="en-IN" dirty="0"/>
              <a:t>        print('Line:', </a:t>
            </a:r>
            <a:r>
              <a:rPr lang="en-IN" dirty="0" err="1"/>
              <a:t>line.strip</a:t>
            </a:r>
            <a:r>
              <a:rPr lang="en-IN" dirty="0"/>
              <a:t>())  # strip() removes trailing newline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FFAB9-E589-01CC-CD6D-64DA05171614}"/>
              </a:ext>
            </a:extLst>
          </p:cNvPr>
          <p:cNvSpPr txBox="1"/>
          <p:nvPr/>
        </p:nvSpPr>
        <p:spPr>
          <a:xfrm>
            <a:off x="864704" y="3105835"/>
            <a:ext cx="9024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4.6 Understanding write functions, write() and writelines()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E451B-EC18-CD96-4A3B-BADD7B4C9A0D}"/>
              </a:ext>
            </a:extLst>
          </p:cNvPr>
          <p:cNvSpPr txBox="1"/>
          <p:nvPr/>
        </p:nvSpPr>
        <p:spPr>
          <a:xfrm>
            <a:off x="974034" y="3475167"/>
            <a:ext cx="86470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Understanding </a:t>
            </a:r>
            <a:r>
              <a:rPr lang="en-US" b="1" i="0" dirty="0">
                <a:effectLst/>
                <a:latin typeface="berkeleyMono"/>
              </a:rPr>
              <a:t>write()</a:t>
            </a:r>
            <a:r>
              <a:rPr lang="en-US" b="1" i="0" dirty="0">
                <a:effectLst/>
                <a:latin typeface="fkGrotesk"/>
              </a:rPr>
              <a:t> and </a:t>
            </a:r>
            <a:r>
              <a:rPr lang="en-US" b="1" i="0" dirty="0">
                <a:effectLst/>
                <a:latin typeface="berkeleyMono"/>
              </a:rPr>
              <a:t>writelines()</a:t>
            </a:r>
            <a:r>
              <a:rPr lang="en-US" b="1" i="0" dirty="0">
                <a:effectLst/>
                <a:latin typeface="fkGrotesk"/>
              </a:rPr>
              <a:t> in Python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Let's go through the theory and examples of the </a:t>
            </a:r>
            <a:r>
              <a:rPr lang="en-US" b="0" i="0" dirty="0">
                <a:effectLst/>
                <a:latin typeface="berkeleyMono"/>
              </a:rPr>
              <a:t>write()</a:t>
            </a:r>
            <a:r>
              <a:rPr lang="en-US" b="0" i="0" dirty="0">
                <a:effectLst/>
                <a:latin typeface="fkGroteskNeue"/>
              </a:rPr>
              <a:t> and </a:t>
            </a:r>
            <a:r>
              <a:rPr lang="en-US" b="0" i="0" dirty="0">
                <a:effectLst/>
                <a:latin typeface="berkeleyMono"/>
              </a:rPr>
              <a:t>writelines()</a:t>
            </a:r>
            <a:r>
              <a:rPr lang="en-US" b="0" i="0" dirty="0">
                <a:effectLst/>
                <a:latin typeface="fkGroteskNeue"/>
              </a:rPr>
              <a:t> functions used in file handling.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 The </a:t>
            </a:r>
            <a:r>
              <a:rPr lang="en-US" b="1" i="0" dirty="0">
                <a:effectLst/>
                <a:latin typeface="berkeleyMono"/>
              </a:rPr>
              <a:t>write()</a:t>
            </a:r>
            <a:r>
              <a:rPr lang="en-US" b="1" i="0" dirty="0">
                <a:effectLst/>
                <a:latin typeface="fkGrotesk"/>
              </a:rPr>
              <a:t> Function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Purpose: Used to write a single string (text or bytes) to a file.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0" i="0" dirty="0">
                <a:effectLst/>
                <a:latin typeface="fkGroteskNeue"/>
              </a:rPr>
              <a:t>Syntax:</a:t>
            </a:r>
          </a:p>
          <a:p>
            <a:pPr algn="l"/>
            <a:endParaRPr lang="en-US" dirty="0">
              <a:latin typeface="fkGroteskNeue"/>
            </a:endParaRPr>
          </a:p>
          <a:p>
            <a:r>
              <a:rPr lang="en-US" dirty="0" err="1">
                <a:latin typeface="fkGroteskNeue"/>
              </a:rPr>
              <a:t>file.write</a:t>
            </a:r>
            <a:r>
              <a:rPr lang="en-US" dirty="0">
                <a:latin typeface="fkGroteskNeue"/>
              </a:rPr>
              <a:t>(string)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03819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65C0-234C-6349-72D2-418FD9EA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A5FD0-0B51-1623-CECE-7AE06D9E9235}"/>
              </a:ext>
            </a:extLst>
          </p:cNvPr>
          <p:cNvSpPr txBox="1"/>
          <p:nvPr/>
        </p:nvSpPr>
        <p:spPr>
          <a:xfrm>
            <a:off x="854765" y="106811"/>
            <a:ext cx="83985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Key Points: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Only one string can be written at a time.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No newline (\n) is added automatically. If you want a new line, you must include it yourself.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Returns the number of characters (or bytes in binary mode) written to the file.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r>
              <a:rPr lang="en-US" b="1" dirty="0"/>
              <a:t>Example: Writing a single line to a text file:</a:t>
            </a:r>
          </a:p>
          <a:p>
            <a:endParaRPr lang="en-US" dirty="0"/>
          </a:p>
          <a:p>
            <a:r>
              <a:rPr lang="en-US" dirty="0"/>
              <a:t>file = open("example.txt", "w")</a:t>
            </a:r>
          </a:p>
          <a:p>
            <a:r>
              <a:rPr lang="en-US" dirty="0"/>
              <a:t>file.write("Hello, Python world!\n")</a:t>
            </a:r>
          </a:p>
          <a:p>
            <a:r>
              <a:rPr lang="en-US" dirty="0"/>
              <a:t>file.write("Second Line\n")</a:t>
            </a:r>
          </a:p>
          <a:p>
            <a:r>
              <a:rPr lang="en-US" dirty="0"/>
              <a:t>file.close()</a:t>
            </a:r>
          </a:p>
          <a:p>
            <a:endParaRPr lang="en-US" dirty="0"/>
          </a:p>
          <a:p>
            <a:r>
              <a:rPr lang="en-US" dirty="0"/>
              <a:t>In this example, two lines are written to example.txt, each ending with a newline character you added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10386-362C-2376-0164-5E1B3E1B6029}"/>
              </a:ext>
            </a:extLst>
          </p:cNvPr>
          <p:cNvSpPr txBox="1"/>
          <p:nvPr/>
        </p:nvSpPr>
        <p:spPr>
          <a:xfrm>
            <a:off x="854764" y="4488671"/>
            <a:ext cx="87265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2. The </a:t>
            </a:r>
            <a:r>
              <a:rPr lang="en-US" b="1" i="0" dirty="0">
                <a:effectLst/>
                <a:latin typeface="berkeleyMono"/>
              </a:rPr>
              <a:t>writelines()</a:t>
            </a:r>
            <a:r>
              <a:rPr lang="en-US" b="1" i="0" dirty="0">
                <a:effectLst/>
                <a:latin typeface="fkGrotesk"/>
              </a:rPr>
              <a:t> Function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Purpose: Used to write a sequence (like a list or tuple) of strings to a file at once.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Syntax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file.writelines(list_of_strings)</a:t>
            </a:r>
          </a:p>
        </p:txBody>
      </p:sp>
    </p:spTree>
    <p:extLst>
      <p:ext uri="{BB962C8B-B14F-4D97-AF65-F5344CB8AC3E}">
        <p14:creationId xmlns:p14="http://schemas.microsoft.com/office/powerpoint/2010/main" val="90748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6069-F1E2-7631-48BD-F2532B17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91519-B62D-1CDC-B1E0-F9AA53920183}"/>
              </a:ext>
            </a:extLst>
          </p:cNvPr>
          <p:cNvSpPr txBox="1"/>
          <p:nvPr/>
        </p:nvSpPr>
        <p:spPr>
          <a:xfrm>
            <a:off x="735496" y="175088"/>
            <a:ext cx="85575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Key Points: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Accepts any </a:t>
            </a:r>
            <a:r>
              <a:rPr lang="en-US" b="0" i="0" dirty="0" err="1">
                <a:effectLst/>
                <a:latin typeface="fkGroteskNeue"/>
              </a:rPr>
              <a:t>iterable</a:t>
            </a:r>
            <a:r>
              <a:rPr lang="en-US" b="0" i="0" dirty="0">
                <a:effectLst/>
                <a:latin typeface="fkGroteskNeue"/>
              </a:rPr>
              <a:t> (e.g., list, tuple) containing strings.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Does not add newlines automatically; each string must include a </a:t>
            </a:r>
            <a:r>
              <a:rPr lang="en-US" b="0" i="0" dirty="0">
                <a:effectLst/>
                <a:latin typeface="berkeleyMono"/>
              </a:rPr>
              <a:t>\n</a:t>
            </a:r>
            <a:r>
              <a:rPr lang="en-US" b="0" i="0" dirty="0">
                <a:effectLst/>
                <a:latin typeface="fkGroteskNeue"/>
              </a:rPr>
              <a:t> at the end if desired.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r>
              <a:rPr lang="en-US" b="1" dirty="0"/>
              <a:t>Example: Writing multiple lines from a list:</a:t>
            </a:r>
          </a:p>
          <a:p>
            <a:br>
              <a:rPr lang="en-US" dirty="0"/>
            </a:br>
            <a:r>
              <a:rPr lang="en-US" dirty="0"/>
              <a:t>lines = ["First line\n", "Second line\n", "Third line\n"]</a:t>
            </a:r>
          </a:p>
          <a:p>
            <a:r>
              <a:rPr lang="en-US" dirty="0"/>
              <a:t>file = open("example.txt", "w")</a:t>
            </a:r>
          </a:p>
          <a:p>
            <a:r>
              <a:rPr lang="en-US" dirty="0"/>
              <a:t>file.writelines(lines)</a:t>
            </a:r>
          </a:p>
          <a:p>
            <a:r>
              <a:rPr lang="en-US" dirty="0"/>
              <a:t>file.close()</a:t>
            </a:r>
          </a:p>
          <a:p>
            <a:endParaRPr lang="en-US" b="0" i="0" dirty="0">
              <a:effectLst/>
              <a:latin typeface="fkGroteskNeue"/>
            </a:endParaRPr>
          </a:p>
          <a:p>
            <a:r>
              <a:rPr lang="en-US" dirty="0"/>
              <a:t>This will write all three lines from the list to example.txt, each on a new line because \n is included.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531989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74C8-0C46-201D-27C0-DA6CD0BC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DC3A36-4ABE-6785-7012-CA732A8811A7}"/>
              </a:ext>
            </a:extLst>
          </p:cNvPr>
          <p:cNvSpPr txBox="1"/>
          <p:nvPr/>
        </p:nvSpPr>
        <p:spPr>
          <a:xfrm>
            <a:off x="914399" y="194318"/>
            <a:ext cx="8488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3. Main Differences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642E73-5465-9411-ECC4-2ADFACE55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55893"/>
              </p:ext>
            </p:extLst>
          </p:nvPr>
        </p:nvGraphicFramePr>
        <p:xfrm>
          <a:off x="860252" y="738567"/>
          <a:ext cx="8596311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9357">
                  <a:extLst>
                    <a:ext uri="{9D8B030D-6E8A-4147-A177-3AD203B41FA5}">
                      <a16:colId xmlns:a16="http://schemas.microsoft.com/office/drawing/2014/main" val="623881833"/>
                    </a:ext>
                  </a:extLst>
                </a:gridCol>
                <a:gridCol w="3071191">
                  <a:extLst>
                    <a:ext uri="{9D8B030D-6E8A-4147-A177-3AD203B41FA5}">
                      <a16:colId xmlns:a16="http://schemas.microsoft.com/office/drawing/2014/main" val="3241361012"/>
                    </a:ext>
                  </a:extLst>
                </a:gridCol>
                <a:gridCol w="3055763">
                  <a:extLst>
                    <a:ext uri="{9D8B030D-6E8A-4147-A177-3AD203B41FA5}">
                      <a16:colId xmlns:a16="http://schemas.microsoft.com/office/drawing/2014/main" val="241498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Feature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write()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>
                          <a:effectLst/>
                        </a:rPr>
                        <a:t>writelines</a:t>
                      </a:r>
                      <a:r>
                        <a:rPr lang="en-IN" b="1" dirty="0">
                          <a:effectLst/>
                        </a:rPr>
                        <a:t>()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89698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Input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Single string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List (or any iterable) of strings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74328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Newline auto-added?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10195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Suitable for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Writing one string at a time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Writing many strings at once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8206720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F3ACA2-E81A-D18A-D39D-8F429777629C}"/>
              </a:ext>
            </a:extLst>
          </p:cNvPr>
          <p:cNvSpPr txBox="1"/>
          <p:nvPr/>
        </p:nvSpPr>
        <p:spPr>
          <a:xfrm>
            <a:off x="860251" y="2916342"/>
            <a:ext cx="8800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4.7 Manipulating file pointer using seek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F9A57-F051-5750-AAFB-DE28DEBB9F23}"/>
              </a:ext>
            </a:extLst>
          </p:cNvPr>
          <p:cNvSpPr txBox="1"/>
          <p:nvPr/>
        </p:nvSpPr>
        <p:spPr>
          <a:xfrm>
            <a:off x="655981" y="3429000"/>
            <a:ext cx="88005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Manipulating File Pointer Using </a:t>
            </a:r>
            <a:r>
              <a:rPr lang="en-US" b="1" i="0" dirty="0">
                <a:effectLst/>
                <a:latin typeface="berkeleyMono"/>
              </a:rPr>
              <a:t>seek()</a:t>
            </a:r>
            <a:endParaRPr lang="en-US" b="1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The file pointer (or cursor) determines where the next read or write will happen in a file. Manipulating the pointer allows you to access specific parts of a file, not just the start or end.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berkeleyMono"/>
              </a:rPr>
              <a:t>seek()</a:t>
            </a:r>
            <a:r>
              <a:rPr lang="en-US" b="1" i="0" dirty="0">
                <a:effectLst/>
                <a:latin typeface="fkGrotesk"/>
              </a:rPr>
              <a:t> Function — Theory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 </a:t>
            </a:r>
            <a:r>
              <a:rPr lang="en-US" b="0" i="0" dirty="0">
                <a:effectLst/>
                <a:latin typeface="berkeleyMono"/>
              </a:rPr>
              <a:t>seek()</a:t>
            </a:r>
            <a:r>
              <a:rPr lang="en-US" b="0" i="0" dirty="0">
                <a:effectLst/>
                <a:latin typeface="fkGroteskNeue"/>
              </a:rPr>
              <a:t> function is used to move the file pointer to a specific position in a file. With it, you can read or write from any part of the file—not just sequentially.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i="0" dirty="0">
                <a:effectLst/>
                <a:latin typeface="fkGroteskNeue"/>
              </a:rPr>
              <a:t>Syntax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r>
              <a:rPr lang="en-US" dirty="0" err="1">
                <a:latin typeface="fkGroteskNeue"/>
              </a:rPr>
              <a:t>file.seek</a:t>
            </a:r>
            <a:r>
              <a:rPr lang="en-US" dirty="0">
                <a:latin typeface="fkGroteskNeue"/>
              </a:rPr>
              <a:t>(offset, whence)</a:t>
            </a:r>
          </a:p>
        </p:txBody>
      </p:sp>
    </p:spTree>
    <p:extLst>
      <p:ext uri="{BB962C8B-B14F-4D97-AF65-F5344CB8AC3E}">
        <p14:creationId xmlns:p14="http://schemas.microsoft.com/office/powerpoint/2010/main" val="886217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52D7-A8CF-53A2-B79D-84AE10D8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26A98D-7607-56A4-9A8C-63720C977BB9}"/>
              </a:ext>
            </a:extLst>
          </p:cNvPr>
          <p:cNvSpPr txBox="1"/>
          <p:nvPr/>
        </p:nvSpPr>
        <p:spPr>
          <a:xfrm>
            <a:off x="864704" y="222625"/>
            <a:ext cx="905454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offset</a:t>
            </a:r>
            <a:r>
              <a:rPr lang="en-US" b="0" i="0" dirty="0">
                <a:effectLst/>
                <a:latin typeface="fkGroteskNeue"/>
              </a:rPr>
              <a:t>: Number of bytes (characters) to move the pointer.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whence</a:t>
            </a:r>
            <a:r>
              <a:rPr lang="en-US" b="0" i="0" dirty="0">
                <a:effectLst/>
                <a:latin typeface="fkGroteskNeue"/>
              </a:rPr>
              <a:t>: (Optional) Reference point. Values: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0</a:t>
            </a:r>
            <a:r>
              <a:rPr lang="en-US" b="0" i="0" dirty="0">
                <a:effectLst/>
                <a:latin typeface="fkGroteskNeue"/>
              </a:rPr>
              <a:t>: Start of file (default)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1</a:t>
            </a:r>
            <a:r>
              <a:rPr lang="en-US" b="0" i="0" dirty="0">
                <a:effectLst/>
                <a:latin typeface="fkGroteskNeue"/>
              </a:rPr>
              <a:t>: Current file position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2</a:t>
            </a:r>
            <a:r>
              <a:rPr lang="en-US" b="0" i="0" dirty="0">
                <a:effectLst/>
                <a:latin typeface="fkGroteskNeue"/>
              </a:rPr>
              <a:t>: End of file</a:t>
            </a:r>
            <a:endParaRPr lang="en-US" dirty="0">
              <a:latin typeface="fkGroteskNeue"/>
            </a:endParaRPr>
          </a:p>
          <a:p>
            <a:pPr lvl="2"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 text mode, typically only </a:t>
            </a:r>
            <a:r>
              <a:rPr lang="en-US" b="0" i="0" dirty="0">
                <a:effectLst/>
                <a:latin typeface="berkeleyMono"/>
              </a:rPr>
              <a:t>whence=0</a:t>
            </a:r>
            <a:r>
              <a:rPr lang="en-US" b="0" i="0" dirty="0">
                <a:effectLst/>
                <a:latin typeface="fkGroteskNeue"/>
              </a:rPr>
              <a:t> (from start) works for reliable results. For </a:t>
            </a:r>
            <a:r>
              <a:rPr lang="en-US" b="0" i="0" dirty="0">
                <a:effectLst/>
                <a:latin typeface="berkeleyMono"/>
              </a:rPr>
              <a:t>whence=1</a:t>
            </a:r>
            <a:r>
              <a:rPr lang="en-US" b="0" i="0" dirty="0">
                <a:effectLst/>
                <a:latin typeface="fkGroteskNeue"/>
              </a:rPr>
              <a:t> or </a:t>
            </a:r>
            <a:r>
              <a:rPr lang="en-US" b="0" i="0" dirty="0">
                <a:effectLst/>
                <a:latin typeface="berkeleyMono"/>
              </a:rPr>
              <a:t>2</a:t>
            </a:r>
            <a:r>
              <a:rPr lang="en-US" b="0" i="0" dirty="0">
                <a:effectLst/>
                <a:latin typeface="fkGroteskNeue"/>
              </a:rPr>
              <a:t>, open the file in binary mode ('</a:t>
            </a:r>
            <a:r>
              <a:rPr lang="en-US" b="0" i="0" dirty="0" err="1">
                <a:effectLst/>
                <a:latin typeface="fkGroteskNeue"/>
              </a:rPr>
              <a:t>rb</a:t>
            </a:r>
            <a:r>
              <a:rPr lang="en-US" b="0" i="0" dirty="0">
                <a:effectLst/>
                <a:latin typeface="fkGroteskNeue"/>
              </a:rPr>
              <a:t>', '</a:t>
            </a:r>
            <a:r>
              <a:rPr lang="en-US" b="0" i="0" dirty="0" err="1">
                <a:effectLst/>
                <a:latin typeface="fkGroteskNeue"/>
              </a:rPr>
              <a:t>wb</a:t>
            </a:r>
            <a:r>
              <a:rPr lang="en-US" b="0" i="0" dirty="0">
                <a:effectLst/>
                <a:latin typeface="fkGroteskNeue"/>
              </a:rPr>
              <a:t>').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seek()</a:t>
            </a:r>
            <a:r>
              <a:rPr lang="en-US" b="0" i="0" dirty="0">
                <a:effectLst/>
                <a:latin typeface="fkGroteskNeue"/>
              </a:rPr>
              <a:t> returns the new position of the file pointer.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Why Use </a:t>
            </a:r>
            <a:r>
              <a:rPr lang="en-US" b="1" i="0" dirty="0">
                <a:effectLst/>
                <a:latin typeface="berkeleyMono"/>
              </a:rPr>
              <a:t>seek()</a:t>
            </a:r>
            <a:r>
              <a:rPr lang="en-US" b="1" i="0" dirty="0">
                <a:effectLst/>
                <a:latin typeface="fkGrotesk"/>
              </a:rPr>
              <a:t>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Randomly access data (useful in large files)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Skip unwanted parts while reading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Write or modify specific sections of a file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i="0" dirty="0">
                <a:effectLst/>
                <a:latin typeface="fkGrotesk"/>
              </a:rPr>
              <a:t>Examples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Example 1: Skip First 10 Characters, Read the Rest</a:t>
            </a:r>
          </a:p>
          <a:p>
            <a:pPr algn="l">
              <a:buNone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with open("demo.txt", "r") as f:</a:t>
            </a:r>
          </a:p>
          <a:p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f.seek</a:t>
            </a:r>
            <a:r>
              <a:rPr lang="en-US" dirty="0">
                <a:latin typeface="fkGrotesk"/>
              </a:rPr>
              <a:t>(10)       # Move pointer to 10th byte/character</a:t>
            </a:r>
          </a:p>
          <a:p>
            <a:r>
              <a:rPr lang="en-US" dirty="0">
                <a:latin typeface="fkGrotesk"/>
              </a:rPr>
              <a:t>    print(</a:t>
            </a:r>
            <a:r>
              <a:rPr lang="en-US" dirty="0" err="1">
                <a:latin typeface="fkGrotesk"/>
              </a:rPr>
              <a:t>f.read</a:t>
            </a:r>
            <a:r>
              <a:rPr lang="en-US" dirty="0">
                <a:latin typeface="fkGrotesk"/>
              </a:rPr>
              <a:t>())  # Read from the 10th byte onward</a:t>
            </a:r>
          </a:p>
        </p:txBody>
      </p:sp>
    </p:spTree>
    <p:extLst>
      <p:ext uri="{BB962C8B-B14F-4D97-AF65-F5344CB8AC3E}">
        <p14:creationId xmlns:p14="http://schemas.microsoft.com/office/powerpoint/2010/main" val="874300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D5AB9-7712-91FA-A1B2-BA976AA9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CE108-EE10-2D5F-B7CD-1442CCDF27B0}"/>
              </a:ext>
            </a:extLst>
          </p:cNvPr>
          <p:cNvSpPr txBox="1"/>
          <p:nvPr/>
        </p:nvSpPr>
        <p:spPr>
          <a:xfrm>
            <a:off x="904461" y="223487"/>
            <a:ext cx="8607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</a:rPr>
              <a:t>Here, the first 10 characters are skipped, and reading begins from the 11th character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BCFC8-5070-E680-3887-D4F2EFDCF769}"/>
              </a:ext>
            </a:extLst>
          </p:cNvPr>
          <p:cNvSpPr txBox="1"/>
          <p:nvPr/>
        </p:nvSpPr>
        <p:spPr>
          <a:xfrm>
            <a:off x="974034" y="741906"/>
            <a:ext cx="85377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Example 2: Move Pointer in Binary Mode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r>
              <a:rPr lang="en-US" dirty="0">
                <a:latin typeface="fkGrotesk"/>
              </a:rPr>
              <a:t>with open("demo.txt", "</a:t>
            </a:r>
            <a:r>
              <a:rPr lang="en-US" dirty="0" err="1">
                <a:latin typeface="fkGrotesk"/>
              </a:rPr>
              <a:t>rb</a:t>
            </a:r>
            <a:r>
              <a:rPr lang="en-US" dirty="0">
                <a:latin typeface="fkGrotesk"/>
              </a:rPr>
              <a:t>") as f:</a:t>
            </a:r>
          </a:p>
          <a:p>
            <a:r>
              <a:rPr lang="en-US" dirty="0">
                <a:latin typeface="fkGrotesk"/>
              </a:rPr>
              <a:t>    f.seek(-5, 2)    # Move to 5 bytes before end</a:t>
            </a:r>
          </a:p>
          <a:p>
            <a:r>
              <a:rPr lang="en-US" dirty="0">
                <a:latin typeface="fkGrotesk"/>
              </a:rPr>
              <a:t>    print(f.read())</a:t>
            </a:r>
          </a:p>
          <a:p>
            <a:endParaRPr lang="en-US" dirty="0">
              <a:latin typeface="fkGrotesk"/>
            </a:endParaRPr>
          </a:p>
          <a:p>
            <a:r>
              <a:rPr lang="en-US" dirty="0"/>
              <a:t>This opens the file in binary mode, moving the pointer 5 bytes before the end (works only in binary mode).</a:t>
            </a:r>
          </a:p>
          <a:p>
            <a:endParaRPr lang="en-US" dirty="0">
              <a:latin typeface="fkGrotesk"/>
            </a:endParaRPr>
          </a:p>
          <a:p>
            <a:r>
              <a:rPr lang="en-US" dirty="0"/>
              <a:t>Example 3: Find File Size and Jump to Middle</a:t>
            </a:r>
          </a:p>
          <a:p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with open("example.txt", "</a:t>
            </a:r>
            <a:r>
              <a:rPr lang="en-US" dirty="0" err="1">
                <a:latin typeface="fkGrotesk"/>
              </a:rPr>
              <a:t>rb</a:t>
            </a:r>
            <a:r>
              <a:rPr lang="en-US" dirty="0">
                <a:latin typeface="fkGrotesk"/>
              </a:rPr>
              <a:t>") as f:</a:t>
            </a:r>
          </a:p>
          <a:p>
            <a:r>
              <a:rPr lang="en-US" dirty="0">
                <a:latin typeface="fkGrotesk"/>
              </a:rPr>
              <a:t>    f.seek(0, 2)            # Move to end</a:t>
            </a:r>
          </a:p>
          <a:p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file_size</a:t>
            </a:r>
            <a:r>
              <a:rPr lang="en-US" dirty="0">
                <a:latin typeface="fkGrotesk"/>
              </a:rPr>
              <a:t> = </a:t>
            </a:r>
            <a:r>
              <a:rPr lang="en-US" dirty="0" err="1">
                <a:latin typeface="fkGrotesk"/>
              </a:rPr>
              <a:t>f.tell</a:t>
            </a:r>
            <a:r>
              <a:rPr lang="en-US" dirty="0">
                <a:latin typeface="fkGrotesk"/>
              </a:rPr>
              <a:t>()    # Get total bytes</a:t>
            </a:r>
          </a:p>
          <a:p>
            <a:r>
              <a:rPr lang="en-US" dirty="0">
                <a:latin typeface="fkGrotesk"/>
              </a:rPr>
              <a:t>    middle = </a:t>
            </a:r>
            <a:r>
              <a:rPr lang="en-US" dirty="0" err="1">
                <a:latin typeface="fkGrotesk"/>
              </a:rPr>
              <a:t>file_size</a:t>
            </a:r>
            <a:r>
              <a:rPr lang="en-US" dirty="0">
                <a:latin typeface="fkGrotesk"/>
              </a:rPr>
              <a:t> // 2</a:t>
            </a:r>
          </a:p>
          <a:p>
            <a:r>
              <a:rPr lang="en-US" dirty="0">
                <a:latin typeface="fkGrotesk"/>
              </a:rPr>
              <a:t>    f.seek(middle)          # Jump to middle</a:t>
            </a:r>
          </a:p>
          <a:p>
            <a:r>
              <a:rPr lang="en-US" dirty="0">
                <a:latin typeface="fkGrotesk"/>
              </a:rPr>
              <a:t>    print(f.read(20))       # Read 20 bytes from the middle</a:t>
            </a:r>
          </a:p>
          <a:p>
            <a:endParaRPr lang="en-US" dirty="0">
              <a:latin typeface="fkGrotesk"/>
            </a:endParaRPr>
          </a:p>
          <a:p>
            <a:r>
              <a:rPr lang="en-US" dirty="0"/>
              <a:t>This lets you jump to any offset you need</a:t>
            </a:r>
            <a:endParaRPr lang="en-US" dirty="0"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1879908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3D86-DDD7-2841-123F-38D01614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3FB3C2-A497-F178-E5EF-E87A1DAFAEC7}"/>
              </a:ext>
            </a:extLst>
          </p:cNvPr>
          <p:cNvSpPr txBox="1"/>
          <p:nvPr/>
        </p:nvSpPr>
        <p:spPr>
          <a:xfrm>
            <a:off x="964094" y="232777"/>
            <a:ext cx="8388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4.8 File Exceptions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02923-AE5F-3C72-0BFD-0110C6EB8795}"/>
              </a:ext>
            </a:extLst>
          </p:cNvPr>
          <p:cNvSpPr txBox="1"/>
          <p:nvPr/>
        </p:nvSpPr>
        <p:spPr>
          <a:xfrm>
            <a:off x="964094" y="679825"/>
            <a:ext cx="81898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File Exceptions in Python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Handling exceptions during file operations is important to make sure your program doesn't crash unexpectedly. Let's cover the theory and provide clear examples suitable for diploma-level notes.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What Are File Exceptions?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Exceptions are errors that happen at runtime (while the program is running).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When working with files (reading, writing, etc.), errors can occur like: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file doesn't exist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Permission denied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 file is already open elsewhere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Trying to read/write wrong data types</a:t>
            </a:r>
          </a:p>
          <a:p>
            <a:pPr lvl="1" algn="l"/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Python provides a way to catch and handle these errors, so you can give helpful messages and prevent crashes</a:t>
            </a:r>
          </a:p>
        </p:txBody>
      </p:sp>
    </p:spTree>
    <p:extLst>
      <p:ext uri="{BB962C8B-B14F-4D97-AF65-F5344CB8AC3E}">
        <p14:creationId xmlns:p14="http://schemas.microsoft.com/office/powerpoint/2010/main" val="4037527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2134-67CA-0DE6-7B03-EAD21489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B26B4C-D7B5-732D-4A8A-49A065310386}"/>
              </a:ext>
            </a:extLst>
          </p:cNvPr>
          <p:cNvSpPr txBox="1"/>
          <p:nvPr/>
        </p:nvSpPr>
        <p:spPr>
          <a:xfrm>
            <a:off x="974035" y="141815"/>
            <a:ext cx="81799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Key Exception Types in File Handling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FileNotFoundError: Raised when a file does not exist at the given path.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PermissionError: Raised when you do not have permission to access a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IOError (or OSError): Raised when input/output operations fail (like disk full, or OS errors).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Using </a:t>
            </a:r>
            <a:r>
              <a:rPr lang="en-US" b="1" i="0" dirty="0">
                <a:effectLst/>
                <a:latin typeface="berkeleyMono"/>
              </a:rPr>
              <a:t>try</a:t>
            </a:r>
            <a:r>
              <a:rPr lang="en-US" b="1" i="0" dirty="0">
                <a:effectLst/>
                <a:latin typeface="fkGrotesk"/>
              </a:rPr>
              <a:t>, </a:t>
            </a:r>
            <a:r>
              <a:rPr lang="en-US" b="1" i="0" dirty="0">
                <a:effectLst/>
                <a:latin typeface="berkeleyMono"/>
              </a:rPr>
              <a:t>except</a:t>
            </a:r>
            <a:r>
              <a:rPr lang="en-US" b="1" i="0" dirty="0">
                <a:effectLst/>
                <a:latin typeface="fkGrotesk"/>
              </a:rPr>
              <a:t>, </a:t>
            </a:r>
            <a:r>
              <a:rPr lang="en-US" b="1" i="0" dirty="0">
                <a:effectLst/>
                <a:latin typeface="berkeleyMono"/>
              </a:rPr>
              <a:t>else</a:t>
            </a:r>
            <a:r>
              <a:rPr lang="en-US" b="1" i="0" dirty="0">
                <a:effectLst/>
                <a:latin typeface="fkGrotesk"/>
              </a:rPr>
              <a:t>, and </a:t>
            </a:r>
            <a:r>
              <a:rPr lang="en-US" b="1" i="0" dirty="0">
                <a:effectLst/>
                <a:latin typeface="berkeleyMono"/>
              </a:rPr>
              <a:t>finally</a:t>
            </a:r>
            <a:endParaRPr lang="en-US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try</a:t>
            </a:r>
            <a:r>
              <a:rPr lang="en-US" b="0" i="0" dirty="0">
                <a:effectLst/>
                <a:latin typeface="fkGroteskNeue"/>
              </a:rPr>
              <a:t>: The block where the risky code goes (e.g., opening a file).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except</a:t>
            </a:r>
            <a:r>
              <a:rPr lang="en-US" b="0" i="0" dirty="0">
                <a:effectLst/>
                <a:latin typeface="fkGroteskNeue"/>
              </a:rPr>
              <a:t>: Code to handle the exception if it happens.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else</a:t>
            </a:r>
            <a:r>
              <a:rPr lang="en-US" b="0" i="0" dirty="0">
                <a:effectLst/>
                <a:latin typeface="fkGroteskNeue"/>
              </a:rPr>
              <a:t>: Runs if the </a:t>
            </a:r>
            <a:r>
              <a:rPr lang="en-US" b="0" i="0" dirty="0">
                <a:effectLst/>
                <a:latin typeface="berkeleyMono"/>
              </a:rPr>
              <a:t>try</a:t>
            </a:r>
            <a:r>
              <a:rPr lang="en-US" b="0" i="0" dirty="0">
                <a:effectLst/>
                <a:latin typeface="fkGroteskNeue"/>
              </a:rPr>
              <a:t> block does NOT raise an exception.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rkeleyMono"/>
              </a:rPr>
              <a:t>finally</a:t>
            </a:r>
            <a:r>
              <a:rPr lang="en-US" b="0" i="0" dirty="0">
                <a:effectLst/>
                <a:latin typeface="fkGroteskNeue"/>
              </a:rPr>
              <a:t>: Runs whether an exception occurred or not (for cleanup).</a:t>
            </a:r>
          </a:p>
          <a:p>
            <a:pPr algn="l">
              <a:buNone/>
            </a:pPr>
            <a:endParaRPr lang="en-US" dirty="0"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Example 1: Handling File Not Found</a:t>
            </a:r>
          </a:p>
          <a:p>
            <a:pPr algn="l">
              <a:buNone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try:</a:t>
            </a:r>
          </a:p>
          <a:p>
            <a:r>
              <a:rPr lang="en-US" dirty="0">
                <a:latin typeface="fkGrotesk"/>
              </a:rPr>
              <a:t>    f = open('missing.txt', 'r')</a:t>
            </a:r>
          </a:p>
          <a:p>
            <a:r>
              <a:rPr lang="en-US" dirty="0">
                <a:latin typeface="fkGrotesk"/>
              </a:rPr>
              <a:t>    content = f.read()</a:t>
            </a:r>
          </a:p>
          <a:p>
            <a:r>
              <a:rPr lang="en-US" dirty="0">
                <a:latin typeface="fkGrotesk"/>
              </a:rPr>
              <a:t>    </a:t>
            </a:r>
            <a:r>
              <a:rPr lang="en-US" dirty="0" err="1">
                <a:latin typeface="fkGrotesk"/>
              </a:rPr>
              <a:t>f.close</a:t>
            </a:r>
            <a:r>
              <a:rPr lang="en-US" dirty="0">
                <a:latin typeface="fkGrotesk"/>
              </a:rPr>
              <a:t>()</a:t>
            </a:r>
          </a:p>
          <a:p>
            <a:r>
              <a:rPr lang="en-US" dirty="0">
                <a:latin typeface="fkGrotesk"/>
              </a:rPr>
              <a:t>except FileNotFoundError:</a:t>
            </a:r>
          </a:p>
          <a:p>
            <a:r>
              <a:rPr lang="en-US" dirty="0">
                <a:latin typeface="fkGrotesk"/>
              </a:rPr>
              <a:t>    print('File not found! Please check the filename.’)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r>
              <a:rPr lang="en-US" dirty="0"/>
              <a:t>If missing.txt is absent, the program prints the error and keeps running.</a:t>
            </a:r>
          </a:p>
        </p:txBody>
      </p:sp>
    </p:spTree>
    <p:extLst>
      <p:ext uri="{BB962C8B-B14F-4D97-AF65-F5344CB8AC3E}">
        <p14:creationId xmlns:p14="http://schemas.microsoft.com/office/powerpoint/2010/main" val="62661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E306-B4F7-E270-E18A-2CE78D60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23C707-4BCA-E87E-3D00-0DD8803EDA82}"/>
              </a:ext>
            </a:extLst>
          </p:cNvPr>
          <p:cNvSpPr txBox="1"/>
          <p:nvPr/>
        </p:nvSpPr>
        <p:spPr>
          <a:xfrm>
            <a:off x="924339" y="114805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2: Handling Multiple Exceptions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D0AFF-0A62-3C5E-2741-0E31662CD9C7}"/>
              </a:ext>
            </a:extLst>
          </p:cNvPr>
          <p:cNvSpPr txBox="1"/>
          <p:nvPr/>
        </p:nvSpPr>
        <p:spPr>
          <a:xfrm>
            <a:off x="924339" y="457275"/>
            <a:ext cx="8458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f = open('data.txt', 'r')</a:t>
            </a:r>
          </a:p>
          <a:p>
            <a:r>
              <a:rPr lang="en-IN" dirty="0"/>
              <a:t>    line = </a:t>
            </a:r>
            <a:r>
              <a:rPr lang="en-IN" dirty="0" err="1"/>
              <a:t>f.readline</a:t>
            </a:r>
            <a:r>
              <a:rPr lang="en-IN" dirty="0"/>
              <a:t>()</a:t>
            </a:r>
          </a:p>
          <a:p>
            <a:r>
              <a:rPr lang="en-IN" dirty="0"/>
              <a:t>    number = int(</a:t>
            </a:r>
            <a:r>
              <a:rPr lang="en-IN" dirty="0" err="1"/>
              <a:t>line.strip</a:t>
            </a:r>
            <a:r>
              <a:rPr lang="en-IN" dirty="0"/>
              <a:t>())  # May raise ValueError</a:t>
            </a:r>
          </a:p>
          <a:p>
            <a:r>
              <a:rPr lang="en-IN" dirty="0"/>
              <a:t>    </a:t>
            </a:r>
            <a:r>
              <a:rPr lang="en-IN" dirty="0" err="1"/>
              <a:t>f.close</a:t>
            </a:r>
            <a:r>
              <a:rPr lang="en-IN" dirty="0"/>
              <a:t>()</a:t>
            </a:r>
          </a:p>
          <a:p>
            <a:r>
              <a:rPr lang="en-IN" dirty="0"/>
              <a:t>except FileNotFoundError:</a:t>
            </a:r>
          </a:p>
          <a:p>
            <a:r>
              <a:rPr lang="en-IN" dirty="0"/>
              <a:t>    print('File not found!')</a:t>
            </a:r>
          </a:p>
          <a:p>
            <a:r>
              <a:rPr lang="en-IN" dirty="0"/>
              <a:t>except ValueError:</a:t>
            </a:r>
          </a:p>
          <a:p>
            <a:r>
              <a:rPr lang="en-IN" dirty="0"/>
              <a:t>    print('The first line is not a number!’)</a:t>
            </a:r>
          </a:p>
          <a:p>
            <a:endParaRPr lang="en-IN" dirty="0"/>
          </a:p>
          <a:p>
            <a:r>
              <a:rPr lang="en-US" dirty="0"/>
              <a:t>This code checks for both missing files and wrong data types.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ADC0D-2124-4BB7-EDF0-4B0DE29E8062}"/>
              </a:ext>
            </a:extLst>
          </p:cNvPr>
          <p:cNvSpPr txBox="1"/>
          <p:nvPr/>
        </p:nvSpPr>
        <p:spPr>
          <a:xfrm>
            <a:off x="924339" y="3602432"/>
            <a:ext cx="8806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fkGrotesk"/>
              </a:rPr>
              <a:t>Example 3: Using </a:t>
            </a:r>
            <a:r>
              <a:rPr lang="en-US" b="1" dirty="0">
                <a:effectLst/>
                <a:latin typeface="berkeleyMono"/>
              </a:rPr>
              <a:t>finally</a:t>
            </a:r>
            <a:r>
              <a:rPr lang="en-US" b="1" dirty="0">
                <a:effectLst/>
                <a:latin typeface="fkGrotesk"/>
              </a:rPr>
              <a:t> to Ensure File Closure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560CE-B9F6-DC0B-20B6-67AAC1B1304B}"/>
              </a:ext>
            </a:extLst>
          </p:cNvPr>
          <p:cNvSpPr txBox="1"/>
          <p:nvPr/>
        </p:nvSpPr>
        <p:spPr>
          <a:xfrm>
            <a:off x="959126" y="3995678"/>
            <a:ext cx="83886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    f = open('numbers.txt', 'r')</a:t>
            </a:r>
          </a:p>
          <a:p>
            <a:r>
              <a:rPr lang="en-IN" dirty="0"/>
              <a:t>    # Do something that might fail</a:t>
            </a:r>
          </a:p>
          <a:p>
            <a:r>
              <a:rPr lang="en-IN" dirty="0"/>
              <a:t>except Exception as e:</a:t>
            </a:r>
          </a:p>
          <a:p>
            <a:r>
              <a:rPr lang="en-IN" dirty="0"/>
              <a:t>    print('An error occurred:', e)</a:t>
            </a:r>
          </a:p>
          <a:p>
            <a:r>
              <a:rPr lang="en-IN" dirty="0"/>
              <a:t>finally:</a:t>
            </a:r>
          </a:p>
          <a:p>
            <a:r>
              <a:rPr lang="en-IN" dirty="0"/>
              <a:t>    try:</a:t>
            </a:r>
          </a:p>
          <a:p>
            <a:r>
              <a:rPr lang="en-IN" dirty="0"/>
              <a:t>        f.close()  # Ensure file is closed, even if error</a:t>
            </a:r>
          </a:p>
          <a:p>
            <a:r>
              <a:rPr lang="en-IN" dirty="0"/>
              <a:t>    except:</a:t>
            </a:r>
          </a:p>
          <a:p>
            <a:r>
              <a:rPr lang="en-IN" dirty="0"/>
              <a:t>        pass  # f might not have opened at all</a:t>
            </a:r>
          </a:p>
        </p:txBody>
      </p:sp>
    </p:spTree>
    <p:extLst>
      <p:ext uri="{BB962C8B-B14F-4D97-AF65-F5344CB8AC3E}">
        <p14:creationId xmlns:p14="http://schemas.microsoft.com/office/powerpoint/2010/main" val="1735959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2470-E9BF-C7B9-ED0A-99A1D27E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F67229-E25E-9579-3325-058CAB3BBA28}"/>
              </a:ext>
            </a:extLst>
          </p:cNvPr>
          <p:cNvSpPr txBox="1"/>
          <p:nvPr/>
        </p:nvSpPr>
        <p:spPr>
          <a:xfrm>
            <a:off x="844826" y="137278"/>
            <a:ext cx="84184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fkGrotesk"/>
              </a:rPr>
              <a:t>Why Handle Exceptions?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Enables your programs to display friendly error messages instead of crashing.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Helps you manage unexpected situations, like missing data or user mistakes.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Ensures files are always closed properly, preventing data loss or file corruption</a:t>
            </a:r>
          </a:p>
        </p:txBody>
      </p:sp>
    </p:spTree>
    <p:extLst>
      <p:ext uri="{BB962C8B-B14F-4D97-AF65-F5344CB8AC3E}">
        <p14:creationId xmlns:p14="http://schemas.microsoft.com/office/powerpoint/2010/main" val="12826501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292</TotalTime>
  <Words>3470</Words>
  <Application>Microsoft Office PowerPoint</Application>
  <PresentationFormat>Widescreen</PresentationFormat>
  <Paragraphs>470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Arial</vt:lpstr>
      <vt:lpstr>berkeleyMono</vt:lpstr>
      <vt:lpstr>fkGrotesk</vt:lpstr>
      <vt:lpstr>fkGroteskNeue</vt:lpstr>
      <vt:lpstr>Trebuchet MS</vt:lpstr>
      <vt:lpstr>Wingdings</vt:lpstr>
      <vt:lpstr>Wingdings 3</vt:lpstr>
      <vt:lpstr>Facet</vt:lpstr>
      <vt:lpstr>File Handling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5</cp:revision>
  <dcterms:created xsi:type="dcterms:W3CDTF">2025-10-04T14:50:07Z</dcterms:created>
  <dcterms:modified xsi:type="dcterms:W3CDTF">2025-10-05T06:29:38Z</dcterms:modified>
</cp:coreProperties>
</file>