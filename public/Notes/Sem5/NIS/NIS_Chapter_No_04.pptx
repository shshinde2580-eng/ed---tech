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5" r:id="rId16"/>
    <p:sldId id="270" r:id="rId17"/>
    <p:sldId id="271" r:id="rId18"/>
    <p:sldId id="272" r:id="rId19"/>
    <p:sldId id="273" r:id="rId20"/>
    <p:sldId id="274" r:id="rId21"/>
    <p:sldId id="277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9069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8700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0316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5975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4541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1795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29645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6656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37749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23857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461667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57715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773990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41015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78807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5315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968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  <p:sldLayoutId id="2147483701" r:id="rId15"/>
    <p:sldLayoutId id="2147483702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9885C-EE50-E697-AD11-F191037B84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2452" y="2723535"/>
            <a:ext cx="9340644" cy="2330245"/>
          </a:xfrm>
        </p:spPr>
        <p:txBody>
          <a:bodyPr/>
          <a:lstStyle/>
          <a:p>
            <a:pPr algn="ctr"/>
            <a:r>
              <a:rPr lang="en-US" sz="7200" dirty="0">
                <a:latin typeface="Algerian" panose="04020705040A02060702" pitchFamily="82" charset="0"/>
              </a:rPr>
              <a:t>04. Firewall &amp; intrusion detection system</a:t>
            </a:r>
            <a:endParaRPr lang="en-IN" sz="7200" dirty="0">
              <a:latin typeface="Algerian" panose="04020705040A02060702" pitchFamily="8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1F1FCB-8D90-FD61-6704-24D75DDF9E4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58968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CF137-FE63-6B48-117E-A93AF1CEA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9104"/>
            <a:ext cx="8596668" cy="747619"/>
          </a:xfrm>
        </p:spPr>
        <p:txBody>
          <a:bodyPr>
            <a:noAutofit/>
          </a:bodyPr>
          <a:lstStyle/>
          <a:p>
            <a:r>
              <a:rPr lang="en-US" dirty="0">
                <a:latin typeface="Algerian" panose="04020705040A02060702" pitchFamily="82" charset="0"/>
              </a:rPr>
              <a:t>4.1 </a:t>
            </a:r>
            <a:r>
              <a:rPr lang="en-US" u="sng" dirty="0">
                <a:latin typeface="Algerian" panose="04020705040A02060702" pitchFamily="82" charset="0"/>
              </a:rPr>
              <a:t>firewall</a:t>
            </a:r>
            <a:r>
              <a:rPr lang="en-US" dirty="0">
                <a:latin typeface="Algerian" panose="04020705040A02060702" pitchFamily="82" charset="0"/>
              </a:rPr>
              <a:t> : -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505806-8C51-8683-77EB-16E59B9A84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418615"/>
            <a:ext cx="10392697" cy="6292646"/>
          </a:xfrm>
        </p:spPr>
        <p:txBody>
          <a:bodyPr>
            <a:normAutofit lnSpcReduction="10000"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A firewall is an integrated collection of                                                                                                                                                  security measures designed to prevent                                                                                                                            unauthorized access to computer                                                                      system.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A network firewall is similar to                                                              firewalls in building construction,                                                                    because in both cases they are                                                                    intended to isolate one 'network’ or                                                                                                               'compartment' from another.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The firewall is inserted between the                                                             premises network and the internet.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u="sng" dirty="0">
                <a:solidFill>
                  <a:schemeClr val="accent1">
                    <a:lumMod val="75000"/>
                  </a:schemeClr>
                </a:solidFill>
                <a:latin typeface="Century Schoolbook" panose="02040604050505020304" pitchFamily="18" charset="0"/>
              </a:rPr>
              <a:t>Aims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Century Schoolbook" panose="02040604050505020304" pitchFamily="18" charset="0"/>
              </a:rPr>
              <a:t> : -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- Establish a controlled link.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- Protect the premises network from Internet-based attacks.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- Provide a single choke point.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35B8A5-62FF-D831-3CB3-3B7D2C0370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439" y="728515"/>
            <a:ext cx="5417530" cy="3509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7923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37460-04B8-0751-C144-AC9AB9E58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82755"/>
            <a:ext cx="8596668" cy="791238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u="sng" dirty="0">
                <a:latin typeface="Algerian" panose="04020705040A02060702" pitchFamily="82" charset="0"/>
              </a:rPr>
              <a:t>Need of firewall</a:t>
            </a:r>
            <a:r>
              <a:rPr lang="en-US" dirty="0">
                <a:latin typeface="Algerian" panose="04020705040A02060702" pitchFamily="82" charset="0"/>
              </a:rPr>
              <a:t> : -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19F012-CD31-8180-3B1C-C69EB8CC3A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73742"/>
            <a:ext cx="9871587" cy="6193503"/>
          </a:xfrm>
        </p:spPr>
        <p:txBody>
          <a:bodyPr>
            <a:normAutofit/>
          </a:bodyPr>
          <a:lstStyle/>
          <a:p>
            <a:endParaRPr lang="en-US" b="1" dirty="0">
              <a:latin typeface="Century Schoolbook" panose="02040604050505020304" pitchFamily="18" charset="0"/>
            </a:endParaRPr>
          </a:p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Century Schoolbook" panose="02040604050505020304" pitchFamily="18" charset="0"/>
              </a:rPr>
              <a:t>1. </a:t>
            </a:r>
            <a:r>
              <a:rPr lang="en-US" sz="2400" b="1" u="sng" dirty="0">
                <a:solidFill>
                  <a:schemeClr val="accent1">
                    <a:lumMod val="75000"/>
                  </a:schemeClr>
                </a:solidFill>
                <a:latin typeface="Century Schoolbook" panose="02040604050505020304" pitchFamily="18" charset="0"/>
              </a:rPr>
              <a:t>Access Control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Century Schoolbook" panose="02040604050505020304" pitchFamily="18" charset="0"/>
              </a:rPr>
              <a:t> : -</a:t>
            </a:r>
            <a:r>
              <a:rPr lang="en-US" sz="1600" b="1" dirty="0">
                <a:latin typeface="Century Schoolbook" panose="02040604050505020304" pitchFamily="18" charset="0"/>
              </a:rPr>
              <a:t> </a:t>
            </a:r>
            <a:r>
              <a:rPr lang="en-US" sz="2000" b="1" dirty="0">
                <a:latin typeface="Century Schoolbook" panose="02040604050505020304" pitchFamily="18" charset="0"/>
              </a:rPr>
              <a:t>Fire wall filters incoming and outgoing packets.</a:t>
            </a:r>
          </a:p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Century Schoolbook" panose="02040604050505020304" pitchFamily="18" charset="0"/>
              </a:rPr>
              <a:t>2. </a:t>
            </a:r>
            <a:r>
              <a:rPr lang="en-US" sz="2400" b="1" u="sng" dirty="0">
                <a:solidFill>
                  <a:schemeClr val="accent1">
                    <a:lumMod val="75000"/>
                  </a:schemeClr>
                </a:solidFill>
                <a:latin typeface="Century Schoolbook" panose="02040604050505020304" pitchFamily="18" charset="0"/>
              </a:rPr>
              <a:t>Address/Port translation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Century Schoolbook" panose="02040604050505020304" pitchFamily="18" charset="0"/>
              </a:rPr>
              <a:t> : - </a:t>
            </a:r>
            <a:r>
              <a:rPr lang="en-US" sz="2000" b="1" dirty="0">
                <a:latin typeface="Century Schoolbook" panose="02040604050505020304" pitchFamily="18" charset="0"/>
              </a:rPr>
              <a:t>National Address translation (NAT) can establish a connection with external machines on Internet. This is often done by firewalls.</a:t>
            </a:r>
          </a:p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Century Schoolbook" panose="02040604050505020304" pitchFamily="18" charset="0"/>
              </a:rPr>
              <a:t>3. </a:t>
            </a:r>
            <a:r>
              <a:rPr lang="en-US" sz="2400" b="1" u="sng" dirty="0">
                <a:solidFill>
                  <a:schemeClr val="accent1">
                    <a:lumMod val="75000"/>
                  </a:schemeClr>
                </a:solidFill>
                <a:latin typeface="Century Schoolbook" panose="02040604050505020304" pitchFamily="18" charset="0"/>
              </a:rPr>
              <a:t>Logging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Century Schoolbook" panose="02040604050505020304" pitchFamily="18" charset="0"/>
              </a:rPr>
              <a:t> : - </a:t>
            </a:r>
            <a:r>
              <a:rPr lang="en-US" sz="2000" b="1" dirty="0">
                <a:latin typeface="Century Schoolbook" panose="02040604050505020304" pitchFamily="18" charset="0"/>
              </a:rPr>
              <a:t>The firewall can log all anomalous packets which are useful for analyzing intrusion, worms, DDoS attacks.</a:t>
            </a:r>
          </a:p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Century Schoolbook" panose="02040604050505020304" pitchFamily="18" charset="0"/>
              </a:rPr>
              <a:t>4. </a:t>
            </a:r>
            <a:r>
              <a:rPr lang="en-US" sz="2400" b="1" u="sng" dirty="0">
                <a:solidFill>
                  <a:schemeClr val="accent1">
                    <a:lumMod val="75000"/>
                  </a:schemeClr>
                </a:solidFill>
                <a:latin typeface="Century Schoolbook" panose="02040604050505020304" pitchFamily="18" charset="0"/>
              </a:rPr>
              <a:t>Authentication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Century Schoolbook" panose="02040604050505020304" pitchFamily="18" charset="0"/>
              </a:rPr>
              <a:t> : - </a:t>
            </a:r>
            <a:r>
              <a:rPr lang="en-US" sz="2000" b="1" dirty="0">
                <a:latin typeface="Century Schoolbook" panose="02040604050505020304" pitchFamily="18" charset="0"/>
              </a:rPr>
              <a:t>Firewalls perform authentication of external </a:t>
            </a:r>
            <a:r>
              <a:rPr lang="en-US" sz="2000" b="1" dirty="0" err="1">
                <a:latin typeface="Century Schoolbook" panose="02040604050505020304" pitchFamily="18" charset="0"/>
              </a:rPr>
              <a:t>machiens</a:t>
            </a:r>
            <a:r>
              <a:rPr lang="en-US" sz="2000" b="1" dirty="0">
                <a:latin typeface="Century Schoolbook" panose="02040604050505020304" pitchFamily="18" charset="0"/>
              </a:rPr>
              <a:t> attempting to establish connection with machine. 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chemeClr val="accent1">
                    <a:lumMod val="75000"/>
                  </a:schemeClr>
                </a:solidFill>
                <a:latin typeface="Century Schoolbook" panose="02040604050505020304" pitchFamily="18" charset="0"/>
              </a:rPr>
              <a:t>Types of firewall</a:t>
            </a: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Century Schoolbook" panose="02040604050505020304" pitchFamily="18" charset="0"/>
              </a:rPr>
              <a:t> : -</a:t>
            </a:r>
          </a:p>
          <a:p>
            <a:r>
              <a:rPr lang="en-US" sz="2000" b="1" dirty="0">
                <a:latin typeface="Century Schoolbook" panose="02040604050505020304" pitchFamily="18" charset="0"/>
              </a:rPr>
              <a:t>1) Packet filters.</a:t>
            </a:r>
          </a:p>
          <a:p>
            <a:r>
              <a:rPr lang="en-US" sz="2000" b="1" dirty="0">
                <a:latin typeface="Century Schoolbook" panose="02040604050505020304" pitchFamily="18" charset="0"/>
              </a:rPr>
              <a:t>2) Stateful Packet Filters.</a:t>
            </a:r>
          </a:p>
          <a:p>
            <a:r>
              <a:rPr lang="en-US" sz="2000" b="1" dirty="0">
                <a:latin typeface="Century Schoolbook" panose="02040604050505020304" pitchFamily="18" charset="0"/>
              </a:rPr>
              <a:t>3) Application Gateways.</a:t>
            </a:r>
          </a:p>
          <a:p>
            <a:r>
              <a:rPr lang="en-US" sz="2000" b="1" dirty="0">
                <a:latin typeface="Century Schoolbook" panose="02040604050505020304" pitchFamily="18" charset="0"/>
              </a:rPr>
              <a:t>4) Circuit Gateways.</a:t>
            </a:r>
            <a:endParaRPr lang="en-IN" sz="20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59027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68749-68DD-5FDF-E8A0-DB39B2A0C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12252"/>
            <a:ext cx="9528549" cy="791238"/>
          </a:xfrm>
        </p:spPr>
        <p:txBody>
          <a:bodyPr>
            <a:normAutofit/>
          </a:bodyPr>
          <a:lstStyle/>
          <a:p>
            <a:r>
              <a:rPr lang="en-US" dirty="0">
                <a:latin typeface="Algerian" panose="04020705040A02060702" pitchFamily="82" charset="0"/>
              </a:rPr>
              <a:t>1. </a:t>
            </a:r>
            <a:r>
              <a:rPr lang="en-US" u="sng" dirty="0">
                <a:latin typeface="Algerian" panose="04020705040A02060702" pitchFamily="82" charset="0"/>
              </a:rPr>
              <a:t>Packet filters (stateless)</a:t>
            </a:r>
            <a:r>
              <a:rPr lang="en-US" dirty="0">
                <a:latin typeface="Algerian" panose="04020705040A02060702" pitchFamily="82" charset="0"/>
              </a:rPr>
              <a:t> : -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318529-4CA4-729F-FEF8-0D5FCC3FD4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12081"/>
            <a:ext cx="10661301" cy="6343985"/>
          </a:xfrm>
        </p:spPr>
        <p:txBody>
          <a:bodyPr>
            <a:noAutofit/>
          </a:bodyPr>
          <a:lstStyle/>
          <a:p>
            <a:endParaRPr lang="en-US" sz="2400" b="1" dirty="0">
              <a:latin typeface="Century Schoolbook" panose="020406040505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A Packet-filtering firewall operates                                                                           at Network Layer &amp; sometimes at                                                                     Transport Layer of the OS Model.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It's function is to control data flow into                                                           &amp; out of a network by inspecting                                                                 individual data packets.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Packet filtering firewalls are typically                                                         stateless i.e. they treat each packet                                                       individually &amp; independently to others.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They do not keep track of the state of a connection, or considering packets that are previously processed.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This is one of the main limitations of Packet filters.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stateless firewalls may have to be fairly restrictive in order to prevent most attacks.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B865930-2F2F-00DB-EEDD-BB4D302210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4592" y="678986"/>
            <a:ext cx="5320417" cy="3325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4873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A728C-0149-9C3D-EE46-0A82A7F04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3818"/>
            <a:ext cx="9274003" cy="791238"/>
          </a:xfrm>
        </p:spPr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2. </a:t>
            </a:r>
            <a:r>
              <a:rPr lang="en-US" u="sng" dirty="0">
                <a:latin typeface="Algerian" panose="04020705040A02060702" pitchFamily="82" charset="0"/>
              </a:rPr>
              <a:t>Stateful Packet filters</a:t>
            </a:r>
            <a:r>
              <a:rPr lang="en-US" dirty="0">
                <a:latin typeface="Algerian" panose="04020705040A02060702" pitchFamily="82" charset="0"/>
              </a:rPr>
              <a:t> : - 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704268-ECD5-577C-208C-4908D9A83C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501446"/>
            <a:ext cx="10491018" cy="6228735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A stateful Firewall is an advanced type                                                                         of firewall that provides better security                                                                 as compared to stateless packet filters.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It operates by not only inspecting                                                                           individual packets but also tracking                                                                                the state of network connections.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This tracking enables the fire wall to                                                                        make more informed decisions about                                                                         whether to allow or block traffic based                                                                                           on both context of communication and contents of packet.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The firewall monitors &amp; builds a state table which maintains information about :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- Source and Destination addresses /ports Protocols (TCP, UDP).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- Connection states (active, closing, established)</a:t>
            </a:r>
            <a:r>
              <a:rPr lang="en-IN" sz="2400" b="1" dirty="0">
                <a:latin typeface="Century Schoolbook" panose="02040604050505020304" pitchFamily="18" charset="0"/>
              </a:rPr>
              <a:t>.</a:t>
            </a:r>
            <a:endParaRPr lang="en-US" sz="2400" b="1" dirty="0">
              <a:latin typeface="Century Schoolbook" panose="020406040505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D52D2E-767D-0E0C-3A4F-4E580012E9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4090" y="737420"/>
            <a:ext cx="5282823" cy="3196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0604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C3F36-7663-F80F-F135-C368FD98E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23714"/>
            <a:ext cx="10815484" cy="880798"/>
          </a:xfrm>
        </p:spPr>
        <p:txBody>
          <a:bodyPr>
            <a:noAutofit/>
          </a:bodyPr>
          <a:lstStyle/>
          <a:p>
            <a:r>
              <a:rPr lang="en-US" dirty="0">
                <a:latin typeface="Algerian" panose="04020705040A02060702" pitchFamily="82" charset="0"/>
              </a:rPr>
              <a:t>3. </a:t>
            </a:r>
            <a:r>
              <a:rPr lang="en-US" u="sng" dirty="0">
                <a:latin typeface="Algerian" panose="04020705040A02060702" pitchFamily="82" charset="0"/>
              </a:rPr>
              <a:t>Application-level gateways</a:t>
            </a:r>
            <a:r>
              <a:rPr lang="en-US" dirty="0">
                <a:latin typeface="Algerian" panose="04020705040A02060702" pitchFamily="82" charset="0"/>
              </a:rPr>
              <a:t> : -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10E86E-4257-3C21-28F1-34124FFD22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243673"/>
            <a:ext cx="10932607" cy="6172200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Application Proxy firewall operates at                                                                         the application layer of the OSI model.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Unlike lower-layer firewalls which                                                            inspects only the headers of data                                                                      packets, an application level gateway                                                                             inspects the entire data content of the                                                                traffic.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Application-Level Gateways act as                                                        intermediaries or proxies between the                                                          internal network and external networks.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They filter traffic based on application - specific protocols like HTTP, FTP, DNS, and more.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Ex. Block user access to know worm websites.</a:t>
            </a:r>
            <a:endParaRPr lang="en-IN" sz="2400" b="1" dirty="0">
              <a:latin typeface="Century Schoolbook" panose="020406040505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1A51B4-DF5E-5872-2C73-6F9781ED8E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2542" y="757084"/>
            <a:ext cx="5307152" cy="3414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2137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D32FC-B90F-6C95-F805-D1ADE0593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72923"/>
            <a:ext cx="8596668" cy="791238"/>
          </a:xfrm>
        </p:spPr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4. </a:t>
            </a:r>
            <a:r>
              <a:rPr lang="en-US" u="sng" dirty="0">
                <a:latin typeface="Algerian" panose="04020705040A02060702" pitchFamily="82" charset="0"/>
              </a:rPr>
              <a:t>circuit-level gateways</a:t>
            </a:r>
            <a:r>
              <a:rPr lang="en-US" dirty="0">
                <a:latin typeface="Algerian" panose="04020705040A02060702" pitchFamily="82" charset="0"/>
              </a:rPr>
              <a:t> : -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D9650F-8F47-E444-5F27-120506C0F3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436960"/>
            <a:ext cx="10913806" cy="6139685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Circuit - Level Gateways is a type of                                                               firewall that operates at the session                                                             layer of the OSI Model.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It’s primary function is to monitor &amp;                                                                                                                  control the TCD and UDP connections                                                                                                                                       (or circuits) between internal &amp;                                                                              external host.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A circuit - level gateway focuses on                                                             establishing secure connections &amp; ensuring                                                                                               that only legitimate session are allowed through the firewall.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This firewall does not care about the actual data content or application protocols being used only about the integrity and validity of the session.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Ex. SOCKS package.</a:t>
            </a:r>
            <a:endParaRPr lang="en-IN" sz="2400" b="1" dirty="0">
              <a:latin typeface="Century Schoolbook" panose="020406040505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79A13F-C471-E689-FAB0-A99E2BC91C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1815" y="718315"/>
            <a:ext cx="5413037" cy="3130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6942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750C3-DFE2-7B0A-BD85-A8DA55DBD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74" y="25400"/>
            <a:ext cx="8596668" cy="791238"/>
          </a:xfrm>
        </p:spPr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4.2 </a:t>
            </a:r>
            <a:r>
              <a:rPr lang="en-US" u="sng" dirty="0">
                <a:latin typeface="Algerian" panose="04020705040A02060702" pitchFamily="82" charset="0"/>
              </a:rPr>
              <a:t>firewall policies</a:t>
            </a:r>
            <a:r>
              <a:rPr lang="en-US" dirty="0">
                <a:latin typeface="Algerian" panose="04020705040A02060702" pitchFamily="82" charset="0"/>
              </a:rPr>
              <a:t> : -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7DAECB-B805-B850-88D8-57804C48FC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574" y="521670"/>
            <a:ext cx="9813684" cy="5613659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Century Schoolbook" panose="02040604050505020304" pitchFamily="18" charset="0"/>
              </a:rPr>
              <a:t>To protect private networks and individual machines from the dangers of the greater Internet, a firewall can be employed to filter incoming or outgoing traffic based on a predefined set of rules called Firewall policies.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Century Schoolbook" panose="02040604050505020304" pitchFamily="18" charset="0"/>
              </a:rPr>
              <a:t>Packets Flowing through a firewall can have one of three outcomes : </a:t>
            </a:r>
          </a:p>
          <a:p>
            <a:r>
              <a:rPr lang="en-US" sz="2000" b="1" dirty="0">
                <a:latin typeface="Century Schoolbook" panose="02040604050505020304" pitchFamily="18" charset="0"/>
              </a:rPr>
              <a:t>- </a:t>
            </a:r>
            <a:r>
              <a:rPr lang="en-US" sz="2400" b="1" u="sng" dirty="0">
                <a:solidFill>
                  <a:schemeClr val="accent1">
                    <a:lumMod val="75000"/>
                  </a:schemeClr>
                </a:solidFill>
                <a:latin typeface="Century Schoolbook" panose="02040604050505020304" pitchFamily="18" charset="0"/>
              </a:rPr>
              <a:t>Accepted</a:t>
            </a:r>
            <a:r>
              <a:rPr lang="en-US" sz="2000" b="1" dirty="0">
                <a:latin typeface="Century Schoolbook" panose="02040604050505020304" pitchFamily="18" charset="0"/>
              </a:rPr>
              <a:t> : - Permitted through the firewall.</a:t>
            </a:r>
          </a:p>
          <a:p>
            <a:r>
              <a:rPr lang="en-US" sz="2000" b="1" dirty="0">
                <a:latin typeface="Century Schoolbook" panose="02040604050505020304" pitchFamily="18" charset="0"/>
              </a:rPr>
              <a:t>- </a:t>
            </a:r>
            <a:r>
              <a:rPr lang="en-US" sz="2400" b="1" u="sng" dirty="0">
                <a:solidFill>
                  <a:schemeClr val="accent1">
                    <a:lumMod val="75000"/>
                  </a:schemeClr>
                </a:solidFill>
                <a:latin typeface="Century Schoolbook" panose="02040604050505020304" pitchFamily="18" charset="0"/>
              </a:rPr>
              <a:t>Dropped</a:t>
            </a:r>
            <a:r>
              <a:rPr lang="en-US" sz="2000" b="1" dirty="0">
                <a:latin typeface="Century Schoolbook" panose="02040604050505020304" pitchFamily="18" charset="0"/>
              </a:rPr>
              <a:t> : - not allowed through, with no indication of failure </a:t>
            </a:r>
          </a:p>
          <a:p>
            <a:r>
              <a:rPr lang="en-US" sz="2000" b="1" dirty="0">
                <a:solidFill>
                  <a:schemeClr val="tx1"/>
                </a:solidFill>
                <a:latin typeface="Century Schoolbook" panose="02040604050505020304" pitchFamily="18" charset="0"/>
              </a:rPr>
              <a:t>- </a:t>
            </a:r>
            <a:r>
              <a:rPr lang="en-US" sz="2400" b="1" u="sng" dirty="0">
                <a:solidFill>
                  <a:schemeClr val="accent1">
                    <a:lumMod val="75000"/>
                  </a:schemeClr>
                </a:solidFill>
                <a:latin typeface="Century Schoolbook" panose="02040604050505020304" pitchFamily="18" charset="0"/>
              </a:rPr>
              <a:t>Rejected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Century Schoolbook" panose="02040604050505020304" pitchFamily="18" charset="0"/>
              </a:rPr>
              <a:t> </a:t>
            </a:r>
            <a:r>
              <a:rPr lang="en-US" sz="2000" b="1" dirty="0">
                <a:latin typeface="Century Schoolbook" panose="02040604050505020304" pitchFamily="18" charset="0"/>
              </a:rPr>
              <a:t>: - not allowed through, accompanied by an attempt to inform the source that the packet was rejected.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Century Schoolbook" panose="02040604050505020304" pitchFamily="18" charset="0"/>
              </a:rPr>
              <a:t>Policies used by the Firewall to handle packets are based on several properties of the packets being inspected, including the protocols used.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Century Schoolbook" panose="02040604050505020304" pitchFamily="18" charset="0"/>
              </a:rPr>
              <a:t>Two fundamental approaches to creating Firewall policies: Blacklist approach (default-allow) and whitelist approach (default-deny).</a:t>
            </a:r>
            <a:endParaRPr lang="en-IN" sz="20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13723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3139D-6B69-C7E5-1E33-733162B44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596668" cy="698090"/>
          </a:xfrm>
        </p:spPr>
        <p:txBody>
          <a:bodyPr>
            <a:no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u="sng" dirty="0">
                <a:latin typeface="Algerian" panose="04020705040A02060702" pitchFamily="82" charset="0"/>
              </a:rPr>
              <a:t>Firewall configuration</a:t>
            </a:r>
            <a:r>
              <a:rPr lang="en-US" dirty="0">
                <a:latin typeface="Algerian" panose="04020705040A02060702" pitchFamily="82" charset="0"/>
              </a:rPr>
              <a:t> : -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FD4693-50E0-07EF-94D5-179B3DAD10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206477"/>
            <a:ext cx="9783097" cy="2730910"/>
          </a:xfrm>
        </p:spPr>
        <p:txBody>
          <a:bodyPr>
            <a:normAutofit/>
          </a:bodyPr>
          <a:lstStyle/>
          <a:p>
            <a:endParaRPr lang="en-US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3200" b="1" u="sng" dirty="0">
                <a:latin typeface="Century Schoolbook" panose="02040604050505020304" pitchFamily="18" charset="0"/>
              </a:rPr>
              <a:t>Firewall configuration are of three types</a:t>
            </a:r>
            <a:r>
              <a:rPr lang="en-US" sz="3200" b="1" dirty="0">
                <a:latin typeface="Century Schoolbook" panose="02040604050505020304" pitchFamily="18" charset="0"/>
              </a:rPr>
              <a:t> : - </a:t>
            </a:r>
          </a:p>
          <a:p>
            <a:r>
              <a:rPr lang="en-US" sz="2800" b="1" dirty="0">
                <a:latin typeface="Century Schoolbook" panose="02040604050505020304" pitchFamily="18" charset="0"/>
              </a:rPr>
              <a:t>1) Screened host, single homed bastion host. </a:t>
            </a:r>
          </a:p>
          <a:p>
            <a:r>
              <a:rPr lang="en-US" sz="2800" b="1" dirty="0">
                <a:latin typeface="Century Schoolbook" panose="02040604050505020304" pitchFamily="18" charset="0"/>
              </a:rPr>
              <a:t>2) screened host, dual homed bastion host. </a:t>
            </a:r>
          </a:p>
          <a:p>
            <a:r>
              <a:rPr lang="en-US" sz="2800" b="1" dirty="0">
                <a:latin typeface="Century Schoolbook" panose="02040604050505020304" pitchFamily="18" charset="0"/>
              </a:rPr>
              <a:t>3) screened subnet.</a:t>
            </a:r>
          </a:p>
        </p:txBody>
      </p:sp>
    </p:spTree>
    <p:extLst>
      <p:ext uri="{BB962C8B-B14F-4D97-AF65-F5344CB8AC3E}">
        <p14:creationId xmlns:p14="http://schemas.microsoft.com/office/powerpoint/2010/main" val="26893259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5AA6C-D17B-32DF-9C23-564379A0D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88490"/>
            <a:ext cx="9274003" cy="1570962"/>
          </a:xfrm>
        </p:spPr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1. </a:t>
            </a:r>
            <a:r>
              <a:rPr lang="en-US" u="sng" dirty="0">
                <a:latin typeface="Algerian" panose="04020705040A02060702" pitchFamily="82" charset="0"/>
              </a:rPr>
              <a:t>Screened host, single homed bastion host</a:t>
            </a:r>
            <a:r>
              <a:rPr lang="en-US" dirty="0">
                <a:latin typeface="Algerian" panose="04020705040A02060702" pitchFamily="82" charset="0"/>
              </a:rPr>
              <a:t> : -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341B2D-A962-ABFD-A5D3-2F23AB8169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040020"/>
            <a:ext cx="9861755" cy="3326601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In this system, firewall consists of two system – 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1. A packet filtering router and a bastion host.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2. The bastion host performs authentication and proxy functions. This configuration affords flexibility in providing direct internet access.</a:t>
            </a:r>
            <a:endParaRPr lang="en-IN" sz="2400" b="1" dirty="0">
              <a:latin typeface="Century Schoolbook" panose="02040604050505020304" pitchFamily="18" charset="0"/>
            </a:endParaRPr>
          </a:p>
          <a:p>
            <a:endParaRPr lang="en-IN" sz="2400" b="1" dirty="0">
              <a:latin typeface="Century Schoolbook" panose="020406040505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E6BEBA-571E-6919-A64B-B832B7939F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7217" y="3429000"/>
            <a:ext cx="6199568" cy="3326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8715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F84B7-5973-26F3-CA5B-1ED0D9186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37652"/>
            <a:ext cx="10028903" cy="1520289"/>
          </a:xfrm>
        </p:spPr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2. </a:t>
            </a:r>
            <a:r>
              <a:rPr lang="en-US" u="sng" dirty="0">
                <a:latin typeface="Algerian" panose="04020705040A02060702" pitchFamily="82" charset="0"/>
              </a:rPr>
              <a:t>Screened host, dual homed bastion host</a:t>
            </a:r>
            <a:r>
              <a:rPr lang="en-US" dirty="0">
                <a:latin typeface="Algerian" panose="04020705040A02060702" pitchFamily="82" charset="0"/>
              </a:rPr>
              <a:t> : -</a:t>
            </a:r>
            <a:r>
              <a:rPr lang="en-US" u="sng" dirty="0">
                <a:latin typeface="Algerian" panose="04020705040A02060702" pitchFamily="82" charset="0"/>
              </a:rPr>
              <a:t>  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EB9A1C-3382-FB86-3F7A-BDB8620209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080845"/>
            <a:ext cx="9714271" cy="2874121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This configuration prevents a security breach.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The advantage of dual layers of security that were present in the previous configuration are present as well.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An information server or other hosts can be allowed direct communication with the router if this is in accord with the security policy.</a:t>
            </a:r>
            <a:endParaRPr lang="en-IN" sz="2400" b="1" dirty="0">
              <a:latin typeface="Century Schoolbook" panose="020406040505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62372E-6AAC-5C62-FDDF-C1B83AB780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3161" y="3716594"/>
            <a:ext cx="6803923" cy="3057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6839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F892B-30F0-6889-FA04-7F8717BD1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596668" cy="599768"/>
          </a:xfrm>
        </p:spPr>
        <p:txBody>
          <a:bodyPr>
            <a:noAutofit/>
          </a:bodyPr>
          <a:lstStyle/>
          <a:p>
            <a:r>
              <a:rPr lang="en-US" dirty="0">
                <a:latin typeface="Algerian" panose="04020705040A02060702" pitchFamily="82" charset="0"/>
              </a:rPr>
              <a:t>3. </a:t>
            </a:r>
            <a:r>
              <a:rPr lang="en-US" u="sng" dirty="0">
                <a:latin typeface="Algerian" panose="04020705040A02060702" pitchFamily="82" charset="0"/>
              </a:rPr>
              <a:t>Screened subnet</a:t>
            </a:r>
            <a:r>
              <a:rPr lang="en-US" dirty="0">
                <a:latin typeface="Algerian" panose="04020705040A02060702" pitchFamily="82" charset="0"/>
              </a:rPr>
              <a:t> : -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ECACE8-1982-2359-B959-4D1566205F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530942"/>
            <a:ext cx="9606116" cy="1347019"/>
          </a:xfrm>
        </p:spPr>
        <p:txBody>
          <a:bodyPr>
            <a:noAutofit/>
          </a:bodyPr>
          <a:lstStyle/>
          <a:p>
            <a:endParaRPr lang="en-US" sz="2800" b="1" dirty="0">
              <a:latin typeface="Century Schoolbook" panose="020406040505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b="1" dirty="0">
                <a:latin typeface="Century Schoolbook" panose="02040604050505020304" pitchFamily="18" charset="0"/>
              </a:rPr>
              <a:t>This configuration creates an isolated subnetwork which may consists of simply the bastion host but include one or more information servers and modems.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ECBD52-C13E-59CC-E7D5-6E31769BEC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279" y="2300748"/>
            <a:ext cx="7323455" cy="4454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7477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EED37-ADDC-206F-0B4B-E61D4764A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596668" cy="739877"/>
          </a:xfrm>
        </p:spPr>
        <p:txBody>
          <a:bodyPr>
            <a:no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u="sng" dirty="0">
                <a:latin typeface="Algerian" panose="04020705040A02060702" pitchFamily="82" charset="0"/>
              </a:rPr>
              <a:t>Firewall limitations</a:t>
            </a:r>
            <a:r>
              <a:rPr lang="en-US" dirty="0">
                <a:latin typeface="Algerian" panose="04020705040A02060702" pitchFamily="82" charset="0"/>
              </a:rPr>
              <a:t> : -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07CDA3-103B-8064-C945-2826EB2D14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826" y="494071"/>
            <a:ext cx="9783097" cy="4766188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Century Schoolbook" panose="02040604050505020304" pitchFamily="18" charset="0"/>
              </a:rPr>
              <a:t>1. Firewall do not protect against inside threats.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2. Packet filter firewall does not provide any content based filtering.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3. Protocol tunneling i.e. sending data from one protocol to another protocol which negates the purpose of firewall. 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4. Encrypted traffic cannot be examine and filter. 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5. Heavy traffic or complex rules can lead to reduce the network performance.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6. Firewalls rely on predefined rules, which may not adapt to evolving threats in real-time.</a:t>
            </a:r>
            <a:endParaRPr lang="en-IN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24338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85532-A4D7-59D8-EFF5-E8CE45944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8322"/>
            <a:ext cx="9635613" cy="816638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u="sng" dirty="0" err="1">
                <a:latin typeface="Algerian" panose="04020705040A02060702" pitchFamily="82" charset="0"/>
              </a:rPr>
              <a:t>Dmz</a:t>
            </a:r>
            <a:r>
              <a:rPr lang="en-US" u="sng" dirty="0">
                <a:latin typeface="Algerian" panose="04020705040A02060702" pitchFamily="82" charset="0"/>
              </a:rPr>
              <a:t> (demilitarized zone)</a:t>
            </a:r>
            <a:r>
              <a:rPr lang="en-US" dirty="0">
                <a:latin typeface="Algerian" panose="04020705040A02060702" pitchFamily="82" charset="0"/>
              </a:rPr>
              <a:t> : -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EA7A52-7EA2-6E29-E3CD-26659FA553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609600"/>
            <a:ext cx="9537290" cy="5948516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Century Schoolbook" panose="02040604050505020304" pitchFamily="18" charset="0"/>
              </a:rPr>
              <a:t>DMZ is a type of firewall Location                                                                                 which acts as a buffer zone between an                                                                      organization's internal network and                                                                             untrusted external network (internet).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Century Schoolbook" panose="02040604050505020304" pitchFamily="18" charset="0"/>
              </a:rPr>
              <a:t>The DMZ typically has at least two                                                                           Firewalls : -</a:t>
            </a:r>
          </a:p>
          <a:p>
            <a:r>
              <a:rPr lang="en-US" sz="2000" b="1" dirty="0">
                <a:latin typeface="Century Schoolbook" panose="02040604050505020304" pitchFamily="18" charset="0"/>
              </a:rPr>
              <a:t>1. </a:t>
            </a:r>
            <a:r>
              <a:rPr lang="en-US" sz="2000" b="1" u="sng" dirty="0">
                <a:solidFill>
                  <a:schemeClr val="accent1">
                    <a:lumMod val="75000"/>
                  </a:schemeClr>
                </a:solidFill>
                <a:latin typeface="Century Schoolbook" panose="02040604050505020304" pitchFamily="18" charset="0"/>
              </a:rPr>
              <a:t>External firewall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Century Schoolbook" panose="02040604050505020304" pitchFamily="18" charset="0"/>
              </a:rPr>
              <a:t> : </a:t>
            </a:r>
            <a:r>
              <a:rPr lang="en-US" sz="2000" b="1" dirty="0">
                <a:latin typeface="Century Schoolbook" panose="02040604050505020304" pitchFamily="18" charset="0"/>
              </a:rPr>
              <a:t>- This </a:t>
            </a:r>
            <a:r>
              <a:rPr lang="en-US" sz="2000" b="1" dirty="0" err="1">
                <a:latin typeface="Century Schoolbook" panose="02040604050505020304" pitchFamily="18" charset="0"/>
              </a:rPr>
              <a:t>seperates</a:t>
            </a:r>
            <a:r>
              <a:rPr lang="en-US" sz="2000" b="1" dirty="0">
                <a:latin typeface="Century Schoolbook" panose="02040604050505020304" pitchFamily="18" charset="0"/>
              </a:rPr>
              <a:t> the                                                                     DMZ from external network, controlling                                                                              incoming traffic and preventing                                                                                  unauthorized access to the internal                                                                                   network.</a:t>
            </a:r>
          </a:p>
          <a:p>
            <a:r>
              <a:rPr lang="en-US" sz="2000" b="1" dirty="0">
                <a:latin typeface="Century Schoolbook" panose="02040604050505020304" pitchFamily="18" charset="0"/>
              </a:rPr>
              <a:t>2. </a:t>
            </a:r>
            <a:r>
              <a:rPr lang="en-US" sz="2000" b="1" u="sng" dirty="0">
                <a:solidFill>
                  <a:schemeClr val="accent1">
                    <a:lumMod val="75000"/>
                  </a:schemeClr>
                </a:solidFill>
                <a:latin typeface="Century Schoolbook" panose="02040604050505020304" pitchFamily="18" charset="0"/>
              </a:rPr>
              <a:t>Internal firewall</a:t>
            </a:r>
            <a:r>
              <a:rPr lang="en-US" sz="2000" b="1" dirty="0">
                <a:latin typeface="Century Schoolbook" panose="02040604050505020304" pitchFamily="18" charset="0"/>
              </a:rPr>
              <a:t> : - This </a:t>
            </a:r>
            <a:r>
              <a:rPr lang="en-US" sz="2000" b="1" dirty="0" err="1">
                <a:latin typeface="Century Schoolbook" panose="02040604050505020304" pitchFamily="18" charset="0"/>
              </a:rPr>
              <a:t>seperates</a:t>
            </a:r>
            <a:r>
              <a:rPr lang="en-US" sz="2000" b="1" dirty="0">
                <a:latin typeface="Century Schoolbook" panose="02040604050505020304" pitchFamily="18" charset="0"/>
              </a:rPr>
              <a:t> the                                                                                    DMZ from internal network, restricting access to internal resources.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Century Schoolbook" panose="02040604050505020304" pitchFamily="18" charset="0"/>
              </a:rPr>
              <a:t>The DMZ Usually hosts services that need to be accessible from the internet: Web servers, Mail servers, FTP Servers, Proxy servers.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Century Schoolbook" panose="02040604050505020304" pitchFamily="18" charset="0"/>
              </a:rPr>
              <a:t>By placing servers in a DMZ, an organization adds an extra layer of security.</a:t>
            </a:r>
            <a:endParaRPr lang="en-IN" sz="2000" b="1" dirty="0">
              <a:latin typeface="Century Schoolbook" panose="020406040505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E63B1E-75E0-7D6F-583B-693E93B81D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1534" y="718316"/>
            <a:ext cx="6282037" cy="3814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6992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67A05-9EDA-FC33-9F67-4494413B5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2587"/>
            <a:ext cx="9704439" cy="820174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u="sng" dirty="0">
                <a:latin typeface="Algerian" panose="04020705040A02060702" pitchFamily="82" charset="0"/>
              </a:rPr>
              <a:t>Intrusion detection system</a:t>
            </a:r>
            <a:r>
              <a:rPr lang="en-US" dirty="0">
                <a:latin typeface="Algerian" panose="04020705040A02060702" pitchFamily="82" charset="0"/>
              </a:rPr>
              <a:t> : -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950B8C-95D3-697D-C696-9D456B54B5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97024"/>
            <a:ext cx="9836683" cy="6163099"/>
          </a:xfrm>
        </p:spPr>
        <p:txBody>
          <a:bodyPr>
            <a:normAutofit/>
          </a:bodyPr>
          <a:lstStyle/>
          <a:p>
            <a:endParaRPr lang="en-US" sz="2400" b="1" dirty="0">
              <a:latin typeface="Century Schoolbook" panose="020406040505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Intrusion is the act of gaining                                                        unauthorized access to a o system                                                          so as to cause loss.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Intrusion Detection is the act of                                                        detecting unwanted traffic on a                                                      network or a device.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Intrusion Detection systems (IDS)                                                      attempt to identify attacks by                                                       comparing collected data to                                                        predefined signatures known to be malicious or to be a model of legal </a:t>
            </a:r>
            <a:r>
              <a:rPr lang="en-US" sz="2400" b="1" dirty="0" err="1">
                <a:latin typeface="Century Schoolbook" panose="02040604050505020304" pitchFamily="18" charset="0"/>
              </a:rPr>
              <a:t>behaviour</a:t>
            </a:r>
            <a:r>
              <a:rPr lang="en-US" sz="2400" b="1" dirty="0">
                <a:latin typeface="Century Schoolbook" panose="02040604050505020304" pitchFamily="18" charset="0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IDs are software or hardware systems that automate the process of monitoring the events occurring in a computer system or network.</a:t>
            </a:r>
            <a:endParaRPr lang="en-IN" sz="2400" b="1" dirty="0">
              <a:latin typeface="Century Schoolbook" panose="020406040505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9B5B35-7C2C-CA08-58D3-A7C1A6B628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0128" y="727587"/>
            <a:ext cx="5619627" cy="3421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2284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456C1-1420-B630-11C5-0D6CBF137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5399"/>
            <a:ext cx="9586452" cy="859503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u="sng" dirty="0">
                <a:latin typeface="Algerian" panose="04020705040A02060702" pitchFamily="82" charset="0"/>
              </a:rPr>
              <a:t>Functions of ids</a:t>
            </a:r>
            <a:r>
              <a:rPr lang="en-US" dirty="0">
                <a:latin typeface="Algerian" panose="04020705040A02060702" pitchFamily="82" charset="0"/>
              </a:rPr>
              <a:t> : -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76F58D-7D66-4EFD-1D2D-FD10236228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619433"/>
            <a:ext cx="9861755" cy="3234813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Century Schoolbook" panose="02040604050505020304" pitchFamily="18" charset="0"/>
              </a:rPr>
              <a:t>1. Monitoring and analysis of user and system activity. 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2. Auditing of system configurations and vulnerabilities. 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3. Assessing the integrity of critical system and data Files. 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4. Recognition of activity patterns reflecting known attacks. </a:t>
            </a:r>
          </a:p>
          <a:p>
            <a:r>
              <a:rPr lang="en-US" sz="2400" b="1" dirty="0">
                <a:latin typeface="Century Schoolbook" panose="02040604050505020304" pitchFamily="18" charset="0"/>
              </a:rPr>
              <a:t>5. Statistical analysis for abnormal activity patterns.</a:t>
            </a:r>
          </a:p>
          <a:p>
            <a:endParaRPr lang="en-IN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56843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9A2FA-33B4-6E4A-8B1F-03B1FDB11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586452" cy="791238"/>
          </a:xfrm>
        </p:spPr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4.3 </a:t>
            </a:r>
            <a:r>
              <a:rPr lang="en-US" u="sng" dirty="0">
                <a:latin typeface="Algerian" panose="04020705040A02060702" pitchFamily="82" charset="0"/>
              </a:rPr>
              <a:t>vulnerability assessment</a:t>
            </a:r>
            <a:r>
              <a:rPr lang="en-US" dirty="0">
                <a:latin typeface="Algerian" panose="04020705040A02060702" pitchFamily="82" charset="0"/>
              </a:rPr>
              <a:t> : -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055A6E-02DA-B767-4076-D5A1DA5366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0"/>
            <a:ext cx="9586452" cy="3903405"/>
          </a:xfrm>
        </p:spPr>
        <p:txBody>
          <a:bodyPr>
            <a:normAutofit/>
          </a:bodyPr>
          <a:lstStyle/>
          <a:p>
            <a:endParaRPr lang="en-US" sz="2400" b="1" dirty="0">
              <a:latin typeface="Century Schoolbook" panose="020406040505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Vulnerability Assessment is a systematic review of security weaknesses in an information system.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It involves identifying security holes in software, hardware and networks or processes that could be exploited by attackers.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Tools like vulnerability scanners (</a:t>
            </a:r>
            <a:r>
              <a:rPr lang="en-US" sz="2400" b="1" dirty="0" err="1">
                <a:latin typeface="Century Schoolbook" panose="02040604050505020304" pitchFamily="18" charset="0"/>
              </a:rPr>
              <a:t>eg.</a:t>
            </a:r>
            <a:r>
              <a:rPr lang="en-US" sz="2400" b="1" dirty="0">
                <a:latin typeface="Century Schoolbook" panose="02040604050505020304" pitchFamily="18" charset="0"/>
              </a:rPr>
              <a:t> Nessus, OpenVAS) are used to scan systems for known vulnerabilities.</a:t>
            </a:r>
            <a:endParaRPr lang="en-IN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87050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6F131-A8C2-0FCC-708B-BC823C906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82755"/>
            <a:ext cx="8596668" cy="791238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u="sng" dirty="0">
                <a:latin typeface="Algerian" panose="04020705040A02060702" pitchFamily="82" charset="0"/>
              </a:rPr>
              <a:t>Misuse detection</a:t>
            </a:r>
            <a:r>
              <a:rPr lang="en-US" dirty="0">
                <a:latin typeface="Algerian" panose="04020705040A02060702" pitchFamily="82" charset="0"/>
              </a:rPr>
              <a:t> : -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B834BB-EC16-F0A0-8E9D-C61C93DD8F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315194"/>
            <a:ext cx="9724103" cy="4827078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Misuse Detection refers to identifying attacks by comparing observed </a:t>
            </a:r>
            <a:r>
              <a:rPr lang="en-US" sz="2400" b="1" dirty="0" err="1">
                <a:latin typeface="Century Schoolbook" panose="02040604050505020304" pitchFamily="18" charset="0"/>
              </a:rPr>
              <a:t>behaviours</a:t>
            </a:r>
            <a:r>
              <a:rPr lang="en-US" sz="2400" b="1" dirty="0">
                <a:latin typeface="Century Schoolbook" panose="02040604050505020304" pitchFamily="18" charset="0"/>
              </a:rPr>
              <a:t> against a predefined set of known patterns.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It rely on a database of signatures or patterns that describe known malicious activities.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The system monitors network traffic, system logs or user activities and compares them to these known signatures.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It is highly effective at identifying previously documented threats because it directly looks for pattern that have been identified and documented as malicious.</a:t>
            </a:r>
            <a:endParaRPr lang="en-IN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66938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999C4-B0AE-B6CF-228C-9D5A65F4E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351569" cy="791238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u="sng" dirty="0">
                <a:latin typeface="Algerian" panose="04020705040A02060702" pitchFamily="82" charset="0"/>
              </a:rPr>
              <a:t>Anomaly detection</a:t>
            </a:r>
            <a:r>
              <a:rPr lang="en-US" dirty="0">
                <a:latin typeface="Algerian" panose="04020705040A02060702" pitchFamily="82" charset="0"/>
              </a:rPr>
              <a:t> : -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C13076-54C3-59A2-7F51-4200A2E3AC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466774"/>
            <a:ext cx="9596284" cy="4321536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Anomaly Detection refers to identifying unusual patterns or </a:t>
            </a:r>
            <a:r>
              <a:rPr lang="en-US" sz="2400" b="1" dirty="0" err="1">
                <a:latin typeface="Century Schoolbook" panose="02040604050505020304" pitchFamily="18" charset="0"/>
              </a:rPr>
              <a:t>behaviours</a:t>
            </a:r>
            <a:r>
              <a:rPr lang="en-US" sz="2400" b="1" dirty="0">
                <a:latin typeface="Century Schoolbook" panose="02040604050505020304" pitchFamily="18" charset="0"/>
              </a:rPr>
              <a:t> that deviate from the norm.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It is widely used in cybersecurity, fraud detection and system monitoring.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It models normal </a:t>
            </a:r>
            <a:r>
              <a:rPr lang="en-US" sz="2400" b="1" dirty="0" err="1">
                <a:latin typeface="Century Schoolbook" panose="02040604050505020304" pitchFamily="18" charset="0"/>
              </a:rPr>
              <a:t>behaviour</a:t>
            </a:r>
            <a:r>
              <a:rPr lang="en-US" sz="2400" b="1" dirty="0">
                <a:latin typeface="Century Schoolbook" panose="02040604050505020304" pitchFamily="18" charset="0"/>
              </a:rPr>
              <a:t> in a system and identifies deviations from this </a:t>
            </a:r>
            <a:r>
              <a:rPr lang="en-US" sz="2400" b="1" dirty="0" err="1">
                <a:latin typeface="Century Schoolbook" panose="02040604050505020304" pitchFamily="18" charset="0"/>
              </a:rPr>
              <a:t>behavious</a:t>
            </a:r>
            <a:r>
              <a:rPr lang="en-US" sz="2400" b="1" dirty="0">
                <a:latin typeface="Century Schoolbook" panose="02040604050505020304" pitchFamily="18" charset="0"/>
              </a:rPr>
              <a:t> as potential anomalies.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Unlike misuse detection, anomaly detection can identify. previously unknown threats (zero-day attacks) as it does not rely on predefined signatures.</a:t>
            </a:r>
            <a:endParaRPr lang="en-IN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12034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854E8-B1BD-9FBC-DFD1-51D255F96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06" y="25400"/>
            <a:ext cx="8596668" cy="790677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u="sng" dirty="0">
                <a:latin typeface="Algerian" panose="04020705040A02060702" pitchFamily="82" charset="0"/>
              </a:rPr>
              <a:t>Honey pots</a:t>
            </a:r>
            <a:r>
              <a:rPr lang="en-US" dirty="0">
                <a:latin typeface="Algerian" panose="04020705040A02060702" pitchFamily="82" charset="0"/>
              </a:rPr>
              <a:t> : -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843CA8-17F4-2716-7A62-E7AD014A93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599768"/>
            <a:ext cx="9684774" cy="5073445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A Honeypot is a cybersecurity mechanism designed to Ture attackers and detect, study or divert malicious activities.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It is a "decoy" system that mimics real system, network or application, intended to appear vulnerable or valuable to attackers.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By observing the actions of attackers, honeypots help security </a:t>
            </a:r>
            <a:r>
              <a:rPr lang="en-US" sz="2400" b="1" dirty="0" err="1">
                <a:latin typeface="Century Schoolbook" panose="02040604050505020304" pitchFamily="18" charset="0"/>
              </a:rPr>
              <a:t>proffessionals</a:t>
            </a:r>
            <a:r>
              <a:rPr lang="en-US" sz="2400" b="1" dirty="0">
                <a:latin typeface="Century Schoolbook" panose="02040604050505020304" pitchFamily="18" charset="0"/>
              </a:rPr>
              <a:t> collect information about attack methods, tools and tactics used by cybercriminals.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 dirty="0">
                <a:latin typeface="Century Schoolbook" panose="02040604050505020304" pitchFamily="18" charset="0"/>
              </a:rPr>
              <a:t>Since legitimate users have no reason to interact with a honeypot, any traffic is likely to be malicious or suspicious, helping filter out potential threats.</a:t>
            </a:r>
            <a:endParaRPr lang="en-IN" sz="2400" b="1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03455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E1BB0-AE05-C89D-4DE7-A7EDBE0A1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06" y="25400"/>
            <a:ext cx="8596668" cy="791238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u="sng" dirty="0">
                <a:latin typeface="Algerian" panose="04020705040A02060702" pitchFamily="82" charset="0"/>
              </a:rPr>
              <a:t>Network-based </a:t>
            </a:r>
            <a:r>
              <a:rPr lang="en-US" u="sng" dirty="0" err="1">
                <a:latin typeface="Algerian" panose="04020705040A02060702" pitchFamily="82" charset="0"/>
              </a:rPr>
              <a:t>nids</a:t>
            </a:r>
            <a:r>
              <a:rPr lang="en-US" dirty="0">
                <a:latin typeface="Algerian" panose="04020705040A02060702" pitchFamily="82" charset="0"/>
              </a:rPr>
              <a:t> : -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235ACF-5906-4E0D-6F44-CE840BD387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307690"/>
            <a:ext cx="9763432" cy="5451986"/>
          </a:xfrm>
        </p:spPr>
        <p:txBody>
          <a:bodyPr>
            <a:normAutofit fontScale="92500" lnSpcReduction="20000"/>
          </a:bodyPr>
          <a:lstStyle/>
          <a:p>
            <a:r>
              <a:rPr lang="en-US" sz="2200" b="1" dirty="0">
                <a:latin typeface="Century Schoolbook" panose="02040604050505020304" pitchFamily="18" charset="0"/>
              </a:rPr>
              <a:t>A Network-Based Intrusion Detection System (NIDS) is a security mechanism that monitors and analyzes network traffic to detect malicious activities, policy violations, or unauthorized access attempts.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600" b="1" u="sng" dirty="0">
                <a:solidFill>
                  <a:schemeClr val="accent1">
                    <a:lumMod val="75000"/>
                  </a:schemeClr>
                </a:solidFill>
                <a:latin typeface="Century Schoolbook" panose="02040604050505020304" pitchFamily="18" charset="0"/>
              </a:rPr>
              <a:t>Functions of NIDS</a:t>
            </a:r>
            <a:r>
              <a:rPr lang="en-US" sz="2600" b="1" dirty="0">
                <a:solidFill>
                  <a:schemeClr val="accent1">
                    <a:lumMod val="75000"/>
                  </a:schemeClr>
                </a:solidFill>
                <a:latin typeface="Century Schoolbook" panose="02040604050505020304" pitchFamily="18" charset="0"/>
              </a:rPr>
              <a:t> : -</a:t>
            </a:r>
          </a:p>
          <a:p>
            <a:r>
              <a:rPr lang="en-US" sz="2200" b="1" dirty="0">
                <a:latin typeface="Century Schoolbook" panose="02040604050505020304" pitchFamily="18" charset="0"/>
              </a:rPr>
              <a:t>1. Monitoring network traffic in real-time.</a:t>
            </a:r>
          </a:p>
          <a:p>
            <a:r>
              <a:rPr lang="en-US" sz="2200" b="1" dirty="0">
                <a:latin typeface="Century Schoolbook" panose="02040604050505020304" pitchFamily="18" charset="0"/>
              </a:rPr>
              <a:t>2. Detecting and reporting suspicious or malicious activities.</a:t>
            </a:r>
          </a:p>
          <a:p>
            <a:r>
              <a:rPr lang="en-US" sz="2200" b="1" dirty="0">
                <a:latin typeface="Century Schoolbook" panose="02040604050505020304" pitchFamily="18" charset="0"/>
              </a:rPr>
              <a:t>3. Logging events for further analysis.</a:t>
            </a:r>
          </a:p>
          <a:p>
            <a:r>
              <a:rPr lang="en-US" sz="2200" b="1" dirty="0">
                <a:latin typeface="Century Schoolbook" panose="02040604050505020304" pitchFamily="18" charset="0"/>
              </a:rPr>
              <a:t>4. Providing alerts for network security incidents.</a:t>
            </a:r>
          </a:p>
          <a:p>
            <a:r>
              <a:rPr lang="en-US" sz="2200" b="1" dirty="0">
                <a:latin typeface="Century Schoolbook" panose="02040604050505020304" pitchFamily="18" charset="0"/>
              </a:rPr>
              <a:t>5. Assisting in forensic investigations after an attack.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600" b="1" u="sng" dirty="0">
                <a:solidFill>
                  <a:schemeClr val="accent1">
                    <a:lumMod val="75000"/>
                  </a:schemeClr>
                </a:solidFill>
                <a:latin typeface="Century Schoolbook" panose="02040604050505020304" pitchFamily="18" charset="0"/>
              </a:rPr>
              <a:t>Advantages</a:t>
            </a:r>
            <a:r>
              <a:rPr lang="en-US" sz="2600" b="1" dirty="0">
                <a:solidFill>
                  <a:schemeClr val="accent1">
                    <a:lumMod val="75000"/>
                  </a:schemeClr>
                </a:solidFill>
                <a:latin typeface="Century Schoolbook" panose="02040604050505020304" pitchFamily="18" charset="0"/>
              </a:rPr>
              <a:t> : -</a:t>
            </a:r>
          </a:p>
          <a:p>
            <a:r>
              <a:rPr lang="en-US" sz="2200" b="1" dirty="0">
                <a:latin typeface="Century Schoolbook" panose="02040604050505020304" pitchFamily="18" charset="0"/>
              </a:rPr>
              <a:t>1. Monitors large amounts of network traffic efficiently.</a:t>
            </a:r>
          </a:p>
          <a:p>
            <a:r>
              <a:rPr lang="en-US" sz="2200" b="1" dirty="0">
                <a:latin typeface="Century Schoolbook" panose="02040604050505020304" pitchFamily="18" charset="0"/>
              </a:rPr>
              <a:t>2. Detects attacks targeting multiple hosts.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600" b="1" u="sng" dirty="0">
                <a:solidFill>
                  <a:schemeClr val="accent1">
                    <a:lumMod val="75000"/>
                  </a:schemeClr>
                </a:solidFill>
                <a:latin typeface="Century Schoolbook" panose="02040604050505020304" pitchFamily="18" charset="0"/>
              </a:rPr>
              <a:t>Disadvantages</a:t>
            </a:r>
            <a:r>
              <a:rPr lang="en-US" sz="2600" b="1" dirty="0">
                <a:solidFill>
                  <a:schemeClr val="accent1">
                    <a:lumMod val="75000"/>
                  </a:schemeClr>
                </a:solidFill>
                <a:latin typeface="Century Schoolbook" panose="02040604050505020304" pitchFamily="18" charset="0"/>
              </a:rPr>
              <a:t> : -</a:t>
            </a:r>
          </a:p>
          <a:p>
            <a:r>
              <a:rPr lang="en-US" sz="2200" b="1" dirty="0">
                <a:latin typeface="Century Schoolbook" panose="02040604050505020304" pitchFamily="18" charset="0"/>
              </a:rPr>
              <a:t>1. Can produce false positives or false negatives.</a:t>
            </a:r>
          </a:p>
          <a:p>
            <a:r>
              <a:rPr lang="en-US" sz="2200" b="1" dirty="0">
                <a:latin typeface="Century Schoolbook" panose="02040604050505020304" pitchFamily="18" charset="0"/>
              </a:rPr>
              <a:t>2. Difficult to monitor switched or segmented networks.</a:t>
            </a:r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500577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F496CB"/>
      </a:accent1>
      <a:accent2>
        <a:srgbClr val="BC356F"/>
      </a:accent2>
      <a:accent3>
        <a:srgbClr val="E65331"/>
      </a:accent3>
      <a:accent4>
        <a:srgbClr val="F27E19"/>
      </a:accent4>
      <a:accent5>
        <a:srgbClr val="F2AC19"/>
      </a:accent5>
      <a:accent6>
        <a:srgbClr val="BC80E0"/>
      </a:accent6>
      <a:hlink>
        <a:srgbClr val="EF5285"/>
      </a:hlink>
      <a:folHlink>
        <a:srgbClr val="F77F9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23659B44-6E34-4CE8-8F0D-387DA79968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1862</TotalTime>
  <Words>1757</Words>
  <Application>Microsoft Office PowerPoint</Application>
  <PresentationFormat>Widescreen</PresentationFormat>
  <Paragraphs>133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Algerian</vt:lpstr>
      <vt:lpstr>Arial</vt:lpstr>
      <vt:lpstr>Century Schoolbook</vt:lpstr>
      <vt:lpstr>Trebuchet MS</vt:lpstr>
      <vt:lpstr>Wingdings</vt:lpstr>
      <vt:lpstr>Wingdings 3</vt:lpstr>
      <vt:lpstr>Facet</vt:lpstr>
      <vt:lpstr>04. Firewall &amp; intrusion detection system</vt:lpstr>
      <vt:lpstr>4.1 firewall : -</vt:lpstr>
      <vt:lpstr>Need of firewall : -</vt:lpstr>
      <vt:lpstr>1. Packet filters (stateless) : -</vt:lpstr>
      <vt:lpstr>2. Stateful Packet filters : - </vt:lpstr>
      <vt:lpstr>3. Application-level gateways : -</vt:lpstr>
      <vt:lpstr>4. circuit-level gateways : -</vt:lpstr>
      <vt:lpstr>4.2 firewall policies : -</vt:lpstr>
      <vt:lpstr>Firewall configuration : -</vt:lpstr>
      <vt:lpstr>1. Screened host, single homed bastion host : -</vt:lpstr>
      <vt:lpstr>2. Screened host, dual homed bastion host : -  </vt:lpstr>
      <vt:lpstr>3. Screened subnet : -</vt:lpstr>
      <vt:lpstr>Firewall limitations : -</vt:lpstr>
      <vt:lpstr>Dmz (demilitarized zone) : -</vt:lpstr>
      <vt:lpstr>Intrusion detection system : -</vt:lpstr>
      <vt:lpstr>Functions of ids : -</vt:lpstr>
      <vt:lpstr>4.3 vulnerability assessment : -</vt:lpstr>
      <vt:lpstr>Misuse detection : -</vt:lpstr>
      <vt:lpstr>Anomaly detection : -</vt:lpstr>
      <vt:lpstr>Honey pots : -</vt:lpstr>
      <vt:lpstr>Network-based nids : -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Darpan Shedge</dc:creator>
  <cp:lastModifiedBy>Darpan Shedge</cp:lastModifiedBy>
  <cp:revision>3</cp:revision>
  <dcterms:created xsi:type="dcterms:W3CDTF">2025-10-09T10:35:25Z</dcterms:created>
  <dcterms:modified xsi:type="dcterms:W3CDTF">2025-10-31T19:42:35Z</dcterms:modified>
</cp:coreProperties>
</file>