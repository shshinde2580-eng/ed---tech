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35" r:id="rId1"/>
  </p:sldMasterIdLst>
  <p:sldIdLst>
    <p:sldId id="256" r:id="rId2"/>
    <p:sldId id="260" r:id="rId3"/>
    <p:sldId id="257" r:id="rId4"/>
    <p:sldId id="258" r:id="rId5"/>
    <p:sldId id="259" r:id="rId6"/>
    <p:sldId id="261" r:id="rId7"/>
    <p:sldId id="262" r:id="rId8"/>
    <p:sldId id="263" r:id="rId9"/>
    <p:sldId id="265" r:id="rId10"/>
    <p:sldId id="264" r:id="rId11"/>
    <p:sldId id="266" r:id="rId12"/>
    <p:sldId id="267" r:id="rId13"/>
    <p:sldId id="268" r:id="rId14"/>
    <p:sldId id="269" r:id="rId15"/>
    <p:sldId id="270" r:id="rId16"/>
    <p:sldId id="271" r:id="rId17"/>
    <p:sldId id="272" r:id="rId18"/>
    <p:sldId id="275" r:id="rId19"/>
    <p:sldId id="273" r:id="rId20"/>
    <p:sldId id="274" r:id="rId21"/>
    <p:sldId id="276" r:id="rId22"/>
    <p:sldId id="277" r:id="rId23"/>
    <p:sldId id="278" r:id="rId24"/>
    <p:sldId id="280" r:id="rId25"/>
    <p:sldId id="279"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94660"/>
  </p:normalViewPr>
  <p:slideViewPr>
    <p:cSldViewPr snapToGrid="0">
      <p:cViewPr varScale="1">
        <p:scale>
          <a:sx n="78" d="100"/>
          <a:sy n="78" d="100"/>
        </p:scale>
        <p:origin x="1109"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93010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405706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0541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6725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8988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81448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68201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712478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52355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18571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41627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15161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6374550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08805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012356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704324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11/1/2025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11841589"/>
      </p:ext>
    </p:extLst>
  </p:cSld>
  <p:clrMap bg1="lt1" tx1="dk1" bg2="lt2" tx2="dk2" accent1="accent1" accent2="accent2" accent3="accent3" accent4="accent4" accent5="accent5" accent6="accent6" hlink="hlink" folHlink="folHlink"/>
  <p:sldLayoutIdLst>
    <p:sldLayoutId id="2147483836" r:id="rId1"/>
    <p:sldLayoutId id="2147483837" r:id="rId2"/>
    <p:sldLayoutId id="2147483838" r:id="rId3"/>
    <p:sldLayoutId id="2147483839" r:id="rId4"/>
    <p:sldLayoutId id="2147483840" r:id="rId5"/>
    <p:sldLayoutId id="2147483841" r:id="rId6"/>
    <p:sldLayoutId id="2147483842" r:id="rId7"/>
    <p:sldLayoutId id="2147483843" r:id="rId8"/>
    <p:sldLayoutId id="2147483844" r:id="rId9"/>
    <p:sldLayoutId id="2147483845" r:id="rId10"/>
    <p:sldLayoutId id="2147483846" r:id="rId11"/>
    <p:sldLayoutId id="2147483847" r:id="rId12"/>
    <p:sldLayoutId id="2147483848" r:id="rId13"/>
    <p:sldLayoutId id="2147483849" r:id="rId14"/>
    <p:sldLayoutId id="2147483850" r:id="rId15"/>
    <p:sldLayoutId id="2147483851"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B5DE5-EA51-0653-9424-71066FD9B7BC}"/>
              </a:ext>
            </a:extLst>
          </p:cNvPr>
          <p:cNvSpPr>
            <a:spLocks noGrp="1"/>
          </p:cNvSpPr>
          <p:nvPr>
            <p:ph type="ctrTitle"/>
          </p:nvPr>
        </p:nvSpPr>
        <p:spPr>
          <a:xfrm>
            <a:off x="328151" y="2807167"/>
            <a:ext cx="9513939" cy="2069146"/>
          </a:xfrm>
        </p:spPr>
        <p:txBody>
          <a:bodyPr/>
          <a:lstStyle/>
          <a:p>
            <a:pPr algn="ctr"/>
            <a:r>
              <a:rPr lang="en-US" sz="6000" dirty="0">
                <a:latin typeface="Algerian" panose="04020705040A02060702" pitchFamily="82" charset="0"/>
              </a:rPr>
              <a:t>01. Introduction of computer &amp; information security</a:t>
            </a:r>
            <a:endParaRPr lang="en-IN" sz="6000" dirty="0">
              <a:latin typeface="Algerian" panose="04020705040A02060702" pitchFamily="82" charset="0"/>
            </a:endParaRPr>
          </a:p>
        </p:txBody>
      </p:sp>
      <p:sp>
        <p:nvSpPr>
          <p:cNvPr id="3" name="Subtitle 2">
            <a:extLst>
              <a:ext uri="{FF2B5EF4-FFF2-40B4-BE49-F238E27FC236}">
                <a16:creationId xmlns:a16="http://schemas.microsoft.com/office/drawing/2014/main" id="{F1611270-6D6F-715A-2365-2F2029FBF93D}"/>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10284812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C12AE-BE69-1ADB-FD66-54D257F0CFDE}"/>
              </a:ext>
            </a:extLst>
          </p:cNvPr>
          <p:cNvSpPr>
            <a:spLocks noGrp="1"/>
          </p:cNvSpPr>
          <p:nvPr>
            <p:ph type="title"/>
          </p:nvPr>
        </p:nvSpPr>
        <p:spPr>
          <a:xfrm>
            <a:off x="0" y="-393290"/>
            <a:ext cx="10668000" cy="1474839"/>
          </a:xfrm>
        </p:spPr>
        <p:txBody>
          <a:bodyPr>
            <a:normAutofit/>
          </a:bodyPr>
          <a:lstStyle/>
          <a:p>
            <a:r>
              <a:rPr lang="en-US" sz="4000" dirty="0">
                <a:solidFill>
                  <a:schemeClr val="accent1">
                    <a:lumMod val="50000"/>
                  </a:schemeClr>
                </a:solidFill>
                <a:latin typeface="Algerian" panose="04020705040A02060702" pitchFamily="82" charset="0"/>
              </a:rPr>
              <a:t>1.1 </a:t>
            </a:r>
            <a:r>
              <a:rPr lang="en-US" sz="4000" u="sng" dirty="0">
                <a:solidFill>
                  <a:schemeClr val="accent1">
                    <a:lumMod val="50000"/>
                  </a:schemeClr>
                </a:solidFill>
                <a:latin typeface="Algerian" panose="04020705040A02060702" pitchFamily="82" charset="0"/>
              </a:rPr>
              <a:t>foundations of computer security</a:t>
            </a:r>
            <a:r>
              <a:rPr lang="en-US" sz="4000" dirty="0">
                <a:solidFill>
                  <a:schemeClr val="accent1">
                    <a:lumMod val="50000"/>
                  </a:schemeClr>
                </a:solidFill>
                <a:latin typeface="Algerian" panose="04020705040A02060702" pitchFamily="82" charset="0"/>
              </a:rPr>
              <a:t> : -</a:t>
            </a:r>
            <a:endParaRPr lang="en-IN" sz="4000" dirty="0">
              <a:solidFill>
                <a:schemeClr val="accent1">
                  <a:lumMod val="50000"/>
                </a:schemeClr>
              </a:solidFill>
              <a:latin typeface="Algerian" panose="04020705040A02060702" pitchFamily="82" charset="0"/>
            </a:endParaRPr>
          </a:p>
        </p:txBody>
      </p:sp>
      <p:sp>
        <p:nvSpPr>
          <p:cNvPr id="3" name="Text Placeholder 2">
            <a:extLst>
              <a:ext uri="{FF2B5EF4-FFF2-40B4-BE49-F238E27FC236}">
                <a16:creationId xmlns:a16="http://schemas.microsoft.com/office/drawing/2014/main" id="{B968185C-2214-33DA-363D-88EAE72D6BFE}"/>
              </a:ext>
            </a:extLst>
          </p:cNvPr>
          <p:cNvSpPr>
            <a:spLocks noGrp="1"/>
          </p:cNvSpPr>
          <p:nvPr>
            <p:ph type="body" idx="1"/>
          </p:nvPr>
        </p:nvSpPr>
        <p:spPr>
          <a:xfrm>
            <a:off x="-58994" y="599770"/>
            <a:ext cx="9743768" cy="4935793"/>
          </a:xfrm>
        </p:spPr>
        <p:txBody>
          <a:bodyPr>
            <a:normAutofit fontScale="92500" lnSpcReduction="20000"/>
          </a:bodyPr>
          <a:lstStyle/>
          <a:p>
            <a:pPr marL="457200" indent="-457200">
              <a:buClr>
                <a:schemeClr val="accent1">
                  <a:lumMod val="50000"/>
                </a:schemeClr>
              </a:buClr>
              <a:buFont typeface="Wingdings" panose="05000000000000000000" pitchFamily="2" charset="2"/>
              <a:buChar char="q"/>
            </a:pPr>
            <a:r>
              <a:rPr lang="en-US" sz="3500" b="1" u="sng" dirty="0">
                <a:solidFill>
                  <a:schemeClr val="accent1">
                    <a:lumMod val="75000"/>
                  </a:schemeClr>
                </a:solidFill>
                <a:latin typeface="Century Schoolbook" panose="02040604050505020304" pitchFamily="18" charset="0"/>
              </a:rPr>
              <a:t>Definition of computer system</a:t>
            </a:r>
            <a:r>
              <a:rPr lang="en-US" sz="3500" b="1" dirty="0">
                <a:solidFill>
                  <a:schemeClr val="accent1">
                    <a:lumMod val="75000"/>
                  </a:schemeClr>
                </a:solidFill>
                <a:latin typeface="Century Schoolbook" panose="02040604050505020304" pitchFamily="18" charset="0"/>
              </a:rPr>
              <a:t> : -</a:t>
            </a:r>
          </a:p>
          <a:p>
            <a:pPr>
              <a:buClr>
                <a:schemeClr val="tx1">
                  <a:lumMod val="95000"/>
                  <a:lumOff val="5000"/>
                </a:schemeClr>
              </a:buClr>
            </a:pPr>
            <a:r>
              <a:rPr lang="en-US" sz="2600" b="1" dirty="0">
                <a:solidFill>
                  <a:schemeClr val="tx1"/>
                </a:solidFill>
                <a:latin typeface="Century Schoolbook" panose="02040604050505020304" pitchFamily="18" charset="0"/>
              </a:rPr>
              <a:t>- Computer Security is the protection of computing systems and the data that they store or access.</a:t>
            </a:r>
          </a:p>
          <a:p>
            <a:pPr>
              <a:buClr>
                <a:schemeClr val="tx1">
                  <a:lumMod val="95000"/>
                  <a:lumOff val="5000"/>
                </a:schemeClr>
              </a:buClr>
            </a:pPr>
            <a:r>
              <a:rPr lang="en-US" sz="2600" b="1" dirty="0">
                <a:solidFill>
                  <a:schemeClr val="tx1"/>
                </a:solidFill>
                <a:latin typeface="Century Schoolbook" panose="02040604050505020304" pitchFamily="18" charset="0"/>
              </a:rPr>
              <a:t>- It deals with prevention and detention of unauthorized actions of user at computer system.</a:t>
            </a:r>
          </a:p>
          <a:p>
            <a:pPr>
              <a:buClr>
                <a:schemeClr val="tx1">
                  <a:lumMod val="95000"/>
                  <a:lumOff val="5000"/>
                </a:schemeClr>
              </a:buClr>
            </a:pPr>
            <a:r>
              <a:rPr lang="en-US" sz="2600" b="1" dirty="0">
                <a:solidFill>
                  <a:schemeClr val="tx1"/>
                </a:solidFill>
                <a:latin typeface="Century Schoolbook" panose="02040604050505020304" pitchFamily="18" charset="0"/>
              </a:rPr>
              <a:t>- Computer security is important for protecting the confidentiality, integrity and availability of computer system and their resources.</a:t>
            </a:r>
          </a:p>
          <a:p>
            <a:pPr>
              <a:buClr>
                <a:schemeClr val="tx1">
                  <a:lumMod val="95000"/>
                  <a:lumOff val="5000"/>
                </a:schemeClr>
              </a:buClr>
            </a:pPr>
            <a:r>
              <a:rPr lang="en-US" sz="2600" b="1" dirty="0">
                <a:solidFill>
                  <a:schemeClr val="tx1"/>
                </a:solidFill>
                <a:latin typeface="Century Schoolbook" panose="02040604050505020304" pitchFamily="18" charset="0"/>
              </a:rPr>
              <a:t>- It involves security majors such as Data Encryption, passwords antivirus, firewalls, etc.</a:t>
            </a:r>
          </a:p>
          <a:p>
            <a:pPr>
              <a:buClr>
                <a:schemeClr val="tx1">
                  <a:lumMod val="95000"/>
                  <a:lumOff val="5000"/>
                </a:schemeClr>
              </a:buClr>
            </a:pPr>
            <a:r>
              <a:rPr lang="en-US" sz="2600" b="1" dirty="0">
                <a:solidFill>
                  <a:schemeClr val="tx1"/>
                </a:solidFill>
                <a:latin typeface="Century Schoolbook" panose="02040604050505020304" pitchFamily="18" charset="0"/>
              </a:rPr>
              <a:t>- Computer security awareness helps minimize the chances of computer attacks and prevent the loss of information stored </a:t>
            </a:r>
            <a:r>
              <a:rPr lang="en-US" sz="2600" b="1" dirty="0" err="1">
                <a:solidFill>
                  <a:schemeClr val="tx1"/>
                </a:solidFill>
                <a:latin typeface="Century Schoolbook" panose="02040604050505020304" pitchFamily="18" charset="0"/>
              </a:rPr>
              <a:t>tud</a:t>
            </a:r>
            <a:r>
              <a:rPr lang="en-US" sz="2600" b="1" dirty="0">
                <a:solidFill>
                  <a:schemeClr val="tx1"/>
                </a:solidFill>
                <a:latin typeface="Century Schoolbook" panose="02040604050505020304" pitchFamily="18" charset="0"/>
              </a:rPr>
              <a:t> on the systems.</a:t>
            </a:r>
            <a:endParaRPr lang="en-IN" sz="26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39257571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ECCB9-722C-35F6-72D3-C9D760FD8CCF}"/>
              </a:ext>
            </a:extLst>
          </p:cNvPr>
          <p:cNvSpPr>
            <a:spLocks noGrp="1"/>
          </p:cNvSpPr>
          <p:nvPr>
            <p:ph type="title"/>
          </p:nvPr>
        </p:nvSpPr>
        <p:spPr>
          <a:xfrm>
            <a:off x="0" y="-146923"/>
            <a:ext cx="9274003" cy="963561"/>
          </a:xfrm>
        </p:spPr>
        <p:txBody>
          <a:bodyPr/>
          <a:lstStyle/>
          <a:p>
            <a:pPr marL="571500" indent="-571500">
              <a:buFont typeface="Wingdings" panose="05000000000000000000" pitchFamily="2" charset="2"/>
              <a:buChar char="v"/>
            </a:pPr>
            <a:r>
              <a:rPr lang="en-US" u="sng" dirty="0">
                <a:latin typeface="Algerian" panose="04020705040A02060702" pitchFamily="82" charset="0"/>
              </a:rPr>
              <a:t>Need of computer security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154E826D-AA3F-41FB-4799-D7B5812898EB}"/>
              </a:ext>
            </a:extLst>
          </p:cNvPr>
          <p:cNvSpPr>
            <a:spLocks noGrp="1"/>
          </p:cNvSpPr>
          <p:nvPr>
            <p:ph type="body" idx="1"/>
          </p:nvPr>
        </p:nvSpPr>
        <p:spPr>
          <a:xfrm>
            <a:off x="0" y="570271"/>
            <a:ext cx="9891252" cy="6287729"/>
          </a:xfrm>
        </p:spPr>
        <p:txBody>
          <a:bodyPr>
            <a:normAutofit/>
          </a:bodyPr>
          <a:lstStyle/>
          <a:p>
            <a:r>
              <a:rPr lang="en-US" sz="2400" b="1" dirty="0">
                <a:solidFill>
                  <a:schemeClr val="accent1">
                    <a:lumMod val="50000"/>
                  </a:schemeClr>
                </a:solidFill>
                <a:latin typeface="Century Schoolbook" panose="02040604050505020304" pitchFamily="18" charset="0"/>
              </a:rPr>
              <a:t>1. </a:t>
            </a:r>
            <a:r>
              <a:rPr lang="en-US" sz="2400" b="1" u="sng" dirty="0">
                <a:solidFill>
                  <a:schemeClr val="accent1">
                    <a:lumMod val="50000"/>
                  </a:schemeClr>
                </a:solidFill>
                <a:latin typeface="Century Schoolbook" panose="02040604050505020304" pitchFamily="18" charset="0"/>
              </a:rPr>
              <a:t>Protect against unauthorized Access</a:t>
            </a:r>
            <a:r>
              <a:rPr lang="en-US" sz="2400" b="1" dirty="0">
                <a:solidFill>
                  <a:schemeClr val="accent1">
                    <a:lumMod val="50000"/>
                  </a:schemeClr>
                </a:solidFill>
                <a:latin typeface="Century Schoolbook" panose="02040604050505020304" pitchFamily="18" charset="0"/>
              </a:rPr>
              <a:t> : -</a:t>
            </a:r>
            <a:r>
              <a:rPr lang="en-US" sz="2400" b="1" dirty="0">
                <a:latin typeface="Century Schoolbook" panose="02040604050505020304" pitchFamily="18" charset="0"/>
              </a:rPr>
              <a:t> </a:t>
            </a:r>
            <a:r>
              <a:rPr lang="en-US" sz="2000" b="1" dirty="0">
                <a:solidFill>
                  <a:schemeClr val="tx1"/>
                </a:solidFill>
                <a:latin typeface="Century Schoolbook" panose="02040604050505020304" pitchFamily="18" charset="0"/>
              </a:rPr>
              <a:t>Unauthorized access. can lead to theft of sensitive data, modifications, or disruption of services. computer security helps prevent these </a:t>
            </a:r>
            <a:r>
              <a:rPr lang="en-US" sz="2000" b="1" dirty="0" err="1">
                <a:solidFill>
                  <a:schemeClr val="tx1"/>
                </a:solidFill>
                <a:latin typeface="Century Schoolbook" panose="02040604050505020304" pitchFamily="18" charset="0"/>
              </a:rPr>
              <a:t>unautho</a:t>
            </a:r>
            <a:r>
              <a:rPr lang="en-US" sz="2000" b="1" dirty="0">
                <a:solidFill>
                  <a:schemeClr val="tx1"/>
                </a:solidFill>
                <a:latin typeface="Century Schoolbook" panose="02040604050505020304" pitchFamily="18" charset="0"/>
              </a:rPr>
              <a:t> </a:t>
            </a:r>
            <a:r>
              <a:rPr lang="en-US" sz="2000" b="1" dirty="0" err="1">
                <a:solidFill>
                  <a:schemeClr val="tx1"/>
                </a:solidFill>
                <a:latin typeface="Century Schoolbook" panose="02040604050505020304" pitchFamily="18" charset="0"/>
              </a:rPr>
              <a:t>rized</a:t>
            </a:r>
            <a:r>
              <a:rPr lang="en-US" sz="2000" b="1" dirty="0">
                <a:solidFill>
                  <a:schemeClr val="tx1"/>
                </a:solidFill>
                <a:latin typeface="Century Schoolbook" panose="02040604050505020304" pitchFamily="18" charset="0"/>
              </a:rPr>
              <a:t> access attempts.</a:t>
            </a:r>
          </a:p>
          <a:p>
            <a:r>
              <a:rPr lang="en-US" sz="2400" b="1" dirty="0">
                <a:solidFill>
                  <a:schemeClr val="accent1">
                    <a:lumMod val="50000"/>
                  </a:schemeClr>
                </a:solidFill>
                <a:latin typeface="Century Schoolbook" panose="02040604050505020304" pitchFamily="18" charset="0"/>
              </a:rPr>
              <a:t>2. </a:t>
            </a:r>
            <a:r>
              <a:rPr lang="en-US" sz="2400" b="1" u="sng" dirty="0">
                <a:solidFill>
                  <a:schemeClr val="accent1">
                    <a:lumMod val="50000"/>
                  </a:schemeClr>
                </a:solidFill>
                <a:latin typeface="Century Schoolbook" panose="02040604050505020304" pitchFamily="18" charset="0"/>
              </a:rPr>
              <a:t>Prevention from Data Breaches</a:t>
            </a:r>
            <a:r>
              <a:rPr lang="en-US" sz="2400" b="1" dirty="0">
                <a:solidFill>
                  <a:schemeClr val="accent1">
                    <a:lumMod val="50000"/>
                  </a:schemeClr>
                </a:solidFill>
                <a:latin typeface="Century Schoolbook" panose="02040604050505020304" pitchFamily="18" charset="0"/>
              </a:rPr>
              <a:t> : -</a:t>
            </a:r>
            <a:r>
              <a:rPr lang="en-US" sz="2400" b="1" dirty="0">
                <a:latin typeface="Century Schoolbook" panose="02040604050505020304" pitchFamily="18" charset="0"/>
              </a:rPr>
              <a:t> </a:t>
            </a:r>
            <a:r>
              <a:rPr lang="en-US" sz="2000" b="1" dirty="0">
                <a:solidFill>
                  <a:schemeClr val="tx1"/>
                </a:solidFill>
                <a:latin typeface="Century Schoolbook" panose="02040604050505020304" pitchFamily="18" charset="0"/>
              </a:rPr>
              <a:t>Data Breaches can have severe consequences, including financial losses and damage to an organization's reputation. Computer security measures protect against data breaches by safeguarding sensitive information.</a:t>
            </a:r>
          </a:p>
          <a:p>
            <a:r>
              <a:rPr lang="en-US" sz="2400" b="1" dirty="0">
                <a:solidFill>
                  <a:schemeClr val="accent1">
                    <a:lumMod val="50000"/>
                  </a:schemeClr>
                </a:solidFill>
                <a:latin typeface="Century Schoolbook" panose="02040604050505020304" pitchFamily="18" charset="0"/>
              </a:rPr>
              <a:t>3. </a:t>
            </a:r>
            <a:r>
              <a:rPr lang="en-US" sz="2400" b="1" u="sng" dirty="0">
                <a:solidFill>
                  <a:schemeClr val="accent1">
                    <a:lumMod val="50000"/>
                  </a:schemeClr>
                </a:solidFill>
                <a:latin typeface="Century Schoolbook" panose="02040604050505020304" pitchFamily="18" charset="0"/>
              </a:rPr>
              <a:t>Prevention from Malware Cyber Attacks</a:t>
            </a:r>
            <a:r>
              <a:rPr lang="en-US" sz="2400" b="1" dirty="0">
                <a:solidFill>
                  <a:schemeClr val="accent1">
                    <a:lumMod val="50000"/>
                  </a:schemeClr>
                </a:solidFill>
                <a:latin typeface="Century Schoolbook" panose="02040604050505020304" pitchFamily="18" charset="0"/>
              </a:rPr>
              <a:t> : - </a:t>
            </a:r>
            <a:r>
              <a:rPr lang="en-US" sz="2000" b="1" dirty="0">
                <a:solidFill>
                  <a:schemeClr val="tx1"/>
                </a:solidFill>
                <a:latin typeface="Century Schoolbook" panose="02040604050505020304" pitchFamily="18" charset="0"/>
              </a:rPr>
              <a:t>Malicious software (malware) and cyber attacks pose significant threats to computer system. Security measures like antivirus programs, firewalls, and </a:t>
            </a:r>
            <a:r>
              <a:rPr lang="en-US" sz="2000" b="1" dirty="0" err="1">
                <a:solidFill>
                  <a:schemeClr val="tx1"/>
                </a:solidFill>
                <a:latin typeface="Century Schoolbook" panose="02040604050505020304" pitchFamily="18" charset="0"/>
              </a:rPr>
              <a:t>instrusion</a:t>
            </a:r>
            <a:r>
              <a:rPr lang="en-US" sz="2000" b="1" dirty="0">
                <a:solidFill>
                  <a:schemeClr val="tx1"/>
                </a:solidFill>
                <a:latin typeface="Century Schoolbook" panose="02040604050505020304" pitchFamily="18" charset="0"/>
              </a:rPr>
              <a:t> detection system help prevent and mitigate the impact of these threats.</a:t>
            </a:r>
          </a:p>
          <a:p>
            <a:r>
              <a:rPr lang="en-US" sz="2400" b="1" dirty="0">
                <a:solidFill>
                  <a:schemeClr val="accent1">
                    <a:lumMod val="50000"/>
                  </a:schemeClr>
                </a:solidFill>
                <a:latin typeface="Century Schoolbook" panose="02040604050505020304" pitchFamily="18" charset="0"/>
              </a:rPr>
              <a:t>4. </a:t>
            </a:r>
            <a:r>
              <a:rPr lang="en-US" sz="2400" b="1" u="sng" dirty="0">
                <a:solidFill>
                  <a:schemeClr val="accent1">
                    <a:lumMod val="50000"/>
                  </a:schemeClr>
                </a:solidFill>
                <a:latin typeface="Century Schoolbook" panose="02040604050505020304" pitchFamily="18" charset="0"/>
              </a:rPr>
              <a:t>Business Continuity</a:t>
            </a:r>
            <a:r>
              <a:rPr lang="en-US" sz="2400" b="1" dirty="0">
                <a:solidFill>
                  <a:schemeClr val="accent1">
                    <a:lumMod val="50000"/>
                  </a:schemeClr>
                </a:solidFill>
                <a:latin typeface="Century Schoolbook" panose="02040604050505020304" pitchFamily="18" charset="0"/>
              </a:rPr>
              <a:t> : - </a:t>
            </a:r>
            <a:r>
              <a:rPr lang="en-US" sz="2000" b="1" dirty="0">
                <a:solidFill>
                  <a:schemeClr val="tx1"/>
                </a:solidFill>
                <a:latin typeface="Century Schoolbook" panose="02040604050505020304" pitchFamily="18" charset="0"/>
              </a:rPr>
              <a:t>Computer security measures contribute to business continuity by ensuring that systems and data 2ms are available and Functional, even in the face of unexpected events or disasters.</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9358176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ACAA5-ED33-BDC6-05C8-C02F84A05C1C}"/>
              </a:ext>
            </a:extLst>
          </p:cNvPr>
          <p:cNvSpPr>
            <a:spLocks noGrp="1"/>
          </p:cNvSpPr>
          <p:nvPr>
            <p:ph type="title"/>
          </p:nvPr>
        </p:nvSpPr>
        <p:spPr>
          <a:xfrm>
            <a:off x="0" y="-88490"/>
            <a:ext cx="8596668" cy="816638"/>
          </a:xfrm>
        </p:spPr>
        <p:txBody>
          <a:bodyPr>
            <a:noAutofit/>
          </a:bodyPr>
          <a:lstStyle/>
          <a:p>
            <a:pPr marL="571500" indent="-571500">
              <a:buFont typeface="Wingdings" panose="05000000000000000000" pitchFamily="2" charset="2"/>
              <a:buChar char="v"/>
            </a:pPr>
            <a:r>
              <a:rPr lang="en-US" sz="4800" u="sng" dirty="0">
                <a:solidFill>
                  <a:schemeClr val="accent1">
                    <a:lumMod val="50000"/>
                  </a:schemeClr>
                </a:solidFill>
                <a:latin typeface="Algerian" panose="04020705040A02060702" pitchFamily="82" charset="0"/>
              </a:rPr>
              <a:t>Security basics</a:t>
            </a:r>
            <a:r>
              <a:rPr lang="en-US" sz="4800" dirty="0">
                <a:solidFill>
                  <a:schemeClr val="accent1">
                    <a:lumMod val="50000"/>
                  </a:schemeClr>
                </a:solidFill>
                <a:latin typeface="Algerian" panose="04020705040A02060702" pitchFamily="82" charset="0"/>
              </a:rPr>
              <a:t> : -</a:t>
            </a:r>
            <a:endParaRPr lang="en-IN" sz="4800" dirty="0">
              <a:latin typeface="Algerian" panose="04020705040A02060702" pitchFamily="82" charset="0"/>
            </a:endParaRPr>
          </a:p>
        </p:txBody>
      </p:sp>
      <p:sp>
        <p:nvSpPr>
          <p:cNvPr id="3" name="Text Placeholder 2">
            <a:extLst>
              <a:ext uri="{FF2B5EF4-FFF2-40B4-BE49-F238E27FC236}">
                <a16:creationId xmlns:a16="http://schemas.microsoft.com/office/drawing/2014/main" id="{BBAFEEA1-49E4-5742-B0A7-F7E6B4F19B42}"/>
              </a:ext>
            </a:extLst>
          </p:cNvPr>
          <p:cNvSpPr>
            <a:spLocks noGrp="1"/>
          </p:cNvSpPr>
          <p:nvPr>
            <p:ph type="body" idx="1"/>
          </p:nvPr>
        </p:nvSpPr>
        <p:spPr>
          <a:xfrm>
            <a:off x="157317" y="422787"/>
            <a:ext cx="9950245" cy="6435213"/>
          </a:xfrm>
        </p:spPr>
        <p:txBody>
          <a:bodyPr>
            <a:normAutofit/>
          </a:bodyPr>
          <a:lstStyle/>
          <a:p>
            <a:r>
              <a:rPr lang="en-US" sz="4000" dirty="0">
                <a:solidFill>
                  <a:schemeClr val="accent1">
                    <a:lumMod val="75000"/>
                  </a:schemeClr>
                </a:solidFill>
                <a:latin typeface="Algerian" panose="04020705040A02060702" pitchFamily="82" charset="0"/>
              </a:rPr>
              <a:t>1. </a:t>
            </a:r>
            <a:r>
              <a:rPr lang="en-US" sz="4000" u="sng" dirty="0" err="1">
                <a:solidFill>
                  <a:schemeClr val="accent1">
                    <a:lumMod val="75000"/>
                  </a:schemeClr>
                </a:solidFill>
                <a:latin typeface="Algerian" panose="04020705040A02060702" pitchFamily="82" charset="0"/>
              </a:rPr>
              <a:t>confidenciality</a:t>
            </a:r>
            <a:r>
              <a:rPr lang="en-US" sz="4000" dirty="0">
                <a:solidFill>
                  <a:schemeClr val="accent1">
                    <a:lumMod val="75000"/>
                  </a:schemeClr>
                </a:solidFill>
                <a:latin typeface="Algerian" panose="04020705040A02060702" pitchFamily="82" charset="0"/>
              </a:rPr>
              <a:t> : -</a:t>
            </a:r>
          </a:p>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Confidentiality refers to limiting                                                  information access and wear                                                                           disclosure to authorized users along                                                     with preventing access by                                              unauthorized ones.</a:t>
            </a:r>
          </a:p>
          <a:p>
            <a:r>
              <a:rPr lang="en-US" sz="2400" b="1" dirty="0">
                <a:solidFill>
                  <a:schemeClr val="tx1"/>
                </a:solidFill>
                <a:latin typeface="Century Schoolbook" panose="02040604050505020304" pitchFamily="18" charset="0"/>
              </a:rPr>
              <a:t>ii) Sensitive information should be                                                                     kept secret from individuals who are                                           not authorized to see the information.</a:t>
            </a:r>
          </a:p>
          <a:p>
            <a:r>
              <a:rPr lang="en-US" sz="2400" b="1" dirty="0">
                <a:solidFill>
                  <a:schemeClr val="tx1"/>
                </a:solidFill>
                <a:latin typeface="Century Schoolbook" panose="02040604050505020304" pitchFamily="18" charset="0"/>
              </a:rPr>
              <a:t>iii) Confidentiality is not only applied to storage of data but also applies to the transmission of information.</a:t>
            </a:r>
          </a:p>
          <a:p>
            <a:r>
              <a:rPr lang="en-US" sz="2400" b="1" dirty="0">
                <a:solidFill>
                  <a:schemeClr val="tx1"/>
                </a:solidFill>
                <a:latin typeface="Century Schoolbook" panose="02040604050505020304" pitchFamily="18" charset="0"/>
              </a:rPr>
              <a:t>iv) Real life example : - Personal data of </a:t>
            </a:r>
            <a:r>
              <a:rPr lang="en-US" sz="2400" b="1" dirty="0" err="1">
                <a:solidFill>
                  <a:schemeClr val="tx1"/>
                </a:solidFill>
                <a:latin typeface="Century Schoolbook" panose="02040604050505020304" pitchFamily="18" charset="0"/>
              </a:rPr>
              <a:t>upto</a:t>
            </a:r>
            <a:r>
              <a:rPr lang="en-US" sz="2400" b="1" dirty="0">
                <a:solidFill>
                  <a:schemeClr val="tx1"/>
                </a:solidFill>
                <a:latin typeface="Century Schoolbook" panose="02040604050505020304" pitchFamily="18" charset="0"/>
              </a:rPr>
              <a:t> 87 million </a:t>
            </a:r>
            <a:r>
              <a:rPr lang="en-US" sz="2400" b="1" dirty="0" err="1">
                <a:solidFill>
                  <a:schemeClr val="tx1"/>
                </a:solidFill>
                <a:latin typeface="Century Schoolbook" panose="02040604050505020304" pitchFamily="18" charset="0"/>
              </a:rPr>
              <a:t>facebook</a:t>
            </a:r>
            <a:r>
              <a:rPr lang="en-US" sz="2400" b="1" dirty="0">
                <a:solidFill>
                  <a:schemeClr val="tx1"/>
                </a:solidFill>
                <a:latin typeface="Century Schoolbook" panose="02040604050505020304" pitchFamily="18" charset="0"/>
              </a:rPr>
              <a:t> users were harvested without consent &amp; used for political advertising, compromising user confidentiality.</a:t>
            </a:r>
            <a:endParaRPr lang="en-IN" sz="2400" b="1" dirty="0">
              <a:solidFill>
                <a:schemeClr val="tx1"/>
              </a:solidFill>
              <a:latin typeface="Century Schoolbook" panose="02040604050505020304" pitchFamily="18" charset="0"/>
            </a:endParaRPr>
          </a:p>
        </p:txBody>
      </p:sp>
      <p:pic>
        <p:nvPicPr>
          <p:cNvPr id="5" name="Picture 4">
            <a:extLst>
              <a:ext uri="{FF2B5EF4-FFF2-40B4-BE49-F238E27FC236}">
                <a16:creationId xmlns:a16="http://schemas.microsoft.com/office/drawing/2014/main" id="{61BE96B8-4BE3-DDF6-3314-B4616361F885}"/>
              </a:ext>
            </a:extLst>
          </p:cNvPr>
          <p:cNvPicPr>
            <a:picLocks noChangeAspect="1"/>
          </p:cNvPicPr>
          <p:nvPr/>
        </p:nvPicPr>
        <p:blipFill>
          <a:blip r:embed="rId2"/>
          <a:stretch>
            <a:fillRect/>
          </a:stretch>
        </p:blipFill>
        <p:spPr>
          <a:xfrm>
            <a:off x="6302298" y="1078292"/>
            <a:ext cx="5732385" cy="3070921"/>
          </a:xfrm>
          <a:prstGeom prst="rect">
            <a:avLst/>
          </a:prstGeom>
        </p:spPr>
      </p:pic>
    </p:spTree>
    <p:extLst>
      <p:ext uri="{BB962C8B-B14F-4D97-AF65-F5344CB8AC3E}">
        <p14:creationId xmlns:p14="http://schemas.microsoft.com/office/powerpoint/2010/main" val="41228202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17BBB-8EB8-D633-E2DD-9616ABE80924}"/>
              </a:ext>
            </a:extLst>
          </p:cNvPr>
          <p:cNvSpPr>
            <a:spLocks noGrp="1"/>
          </p:cNvSpPr>
          <p:nvPr>
            <p:ph type="title"/>
          </p:nvPr>
        </p:nvSpPr>
        <p:spPr>
          <a:xfrm>
            <a:off x="44386" y="-88490"/>
            <a:ext cx="8596668" cy="791238"/>
          </a:xfrm>
        </p:spPr>
        <p:txBody>
          <a:bodyPr/>
          <a:lstStyle/>
          <a:p>
            <a:r>
              <a:rPr lang="en-US" dirty="0">
                <a:latin typeface="Algerian" panose="04020705040A02060702" pitchFamily="82" charset="0"/>
              </a:rPr>
              <a:t>2. </a:t>
            </a:r>
            <a:r>
              <a:rPr lang="en-US" u="sng" dirty="0">
                <a:latin typeface="Algerian" panose="04020705040A02060702" pitchFamily="82" charset="0"/>
              </a:rPr>
              <a:t>Integrity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021D7AEC-FCA9-6070-60AE-1100D8793B4D}"/>
              </a:ext>
            </a:extLst>
          </p:cNvPr>
          <p:cNvSpPr>
            <a:spLocks noGrp="1"/>
          </p:cNvSpPr>
          <p:nvPr>
            <p:ph type="body" idx="1"/>
          </p:nvPr>
        </p:nvSpPr>
        <p:spPr>
          <a:xfrm>
            <a:off x="0" y="422786"/>
            <a:ext cx="9625781" cy="6435214"/>
          </a:xfrm>
        </p:spPr>
        <p:txBody>
          <a:bodyPr>
            <a:normAutofit/>
          </a:bodyPr>
          <a:lstStyle/>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Integrity refers to the trustworthiness                                                                  of information resources. It should not                                                be altered without detection.</a:t>
            </a:r>
          </a:p>
          <a:p>
            <a:r>
              <a:rPr lang="en-US" sz="2400" b="1" dirty="0">
                <a:solidFill>
                  <a:schemeClr val="tx1"/>
                </a:solidFill>
                <a:latin typeface="Century Schoolbook" panose="02040604050505020304" pitchFamily="18" charset="0"/>
              </a:rPr>
              <a:t>ii) when the contents of message are                                                           changed after the sender </a:t>
            </a:r>
            <a:r>
              <a:rPr lang="en-US" sz="2400" b="1" dirty="0" err="1">
                <a:solidFill>
                  <a:schemeClr val="tx1"/>
                </a:solidFill>
                <a:latin typeface="Century Schoolbook" panose="02040604050505020304" pitchFamily="18" charset="0"/>
              </a:rPr>
              <a:t>mit</a:t>
            </a:r>
            <a:r>
              <a:rPr lang="en-US" sz="2400" b="1" dirty="0">
                <a:solidFill>
                  <a:schemeClr val="tx1"/>
                </a:solidFill>
                <a:latin typeface="Century Schoolbook" panose="02040604050505020304" pitchFamily="18" charset="0"/>
              </a:rPr>
              <a:t> sends it                                                      but before it reaches it's intended                                                       recipient, we Say that the integrity of                                                        the message is lost.</a:t>
            </a:r>
          </a:p>
          <a:p>
            <a:r>
              <a:rPr lang="en-US" sz="2400" b="1" dirty="0">
                <a:solidFill>
                  <a:schemeClr val="tx1"/>
                </a:solidFill>
                <a:latin typeface="Century Schoolbook" panose="02040604050505020304" pitchFamily="18" charset="0"/>
              </a:rPr>
              <a:t>iii) Integrity ensures that information is not changed in the transit. It </a:t>
            </a:r>
            <a:r>
              <a:rPr lang="en-US" sz="2400" b="1" dirty="0" err="1">
                <a:solidFill>
                  <a:schemeClr val="tx1"/>
                </a:solidFill>
                <a:latin typeface="Century Schoolbook" panose="02040604050505020304" pitchFamily="18" charset="0"/>
              </a:rPr>
              <a:t>incluses</a:t>
            </a:r>
            <a:r>
              <a:rPr lang="en-US" sz="2400" b="1" dirty="0">
                <a:solidFill>
                  <a:schemeClr val="tx1"/>
                </a:solidFill>
                <a:latin typeface="Century Schoolbook" panose="02040604050505020304" pitchFamily="18" charset="0"/>
              </a:rPr>
              <a:t> only preservation without corruption of whatever was transmitted into the system.</a:t>
            </a:r>
          </a:p>
          <a:p>
            <a:r>
              <a:rPr lang="en-US" sz="2400" b="1" dirty="0">
                <a:solidFill>
                  <a:schemeClr val="tx1"/>
                </a:solidFill>
                <a:latin typeface="Century Schoolbook" panose="02040604050505020304" pitchFamily="18" charset="0"/>
              </a:rPr>
              <a:t>iv) Real life Example : - Hackers compromised the integrity of industrial control systems at multiple power distribution companies in Ukraine, leading to power outages for over 225,000 people.</a:t>
            </a:r>
            <a:endParaRPr lang="en-IN" sz="2400" b="1" dirty="0">
              <a:solidFill>
                <a:schemeClr val="tx1"/>
              </a:solidFill>
              <a:latin typeface="Century Schoolbook" panose="02040604050505020304" pitchFamily="18" charset="0"/>
            </a:endParaRPr>
          </a:p>
        </p:txBody>
      </p:sp>
      <p:pic>
        <p:nvPicPr>
          <p:cNvPr id="5" name="Picture 4">
            <a:extLst>
              <a:ext uri="{FF2B5EF4-FFF2-40B4-BE49-F238E27FC236}">
                <a16:creationId xmlns:a16="http://schemas.microsoft.com/office/drawing/2014/main" id="{E35AE090-8DBD-778A-09F5-41C6548C2B74}"/>
              </a:ext>
            </a:extLst>
          </p:cNvPr>
          <p:cNvPicPr>
            <a:picLocks noChangeAspect="1"/>
          </p:cNvPicPr>
          <p:nvPr/>
        </p:nvPicPr>
        <p:blipFill>
          <a:blip r:embed="rId2"/>
          <a:stretch>
            <a:fillRect/>
          </a:stretch>
        </p:blipFill>
        <p:spPr>
          <a:xfrm>
            <a:off x="6577780" y="599767"/>
            <a:ext cx="5486433" cy="3079820"/>
          </a:xfrm>
          <a:prstGeom prst="rect">
            <a:avLst/>
          </a:prstGeom>
        </p:spPr>
      </p:pic>
    </p:spTree>
    <p:extLst>
      <p:ext uri="{BB962C8B-B14F-4D97-AF65-F5344CB8AC3E}">
        <p14:creationId xmlns:p14="http://schemas.microsoft.com/office/powerpoint/2010/main" val="1239995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BE576-1FBB-D0EE-07EC-6F24D3A2182F}"/>
              </a:ext>
            </a:extLst>
          </p:cNvPr>
          <p:cNvSpPr>
            <a:spLocks noGrp="1"/>
          </p:cNvSpPr>
          <p:nvPr>
            <p:ph type="title"/>
          </p:nvPr>
        </p:nvSpPr>
        <p:spPr>
          <a:xfrm>
            <a:off x="0" y="25400"/>
            <a:ext cx="8596668" cy="791238"/>
          </a:xfrm>
        </p:spPr>
        <p:txBody>
          <a:bodyPr/>
          <a:lstStyle/>
          <a:p>
            <a:pPr marL="571500" indent="-571500">
              <a:buFont typeface="Wingdings" panose="05000000000000000000" pitchFamily="2" charset="2"/>
              <a:buChar char="v"/>
            </a:pPr>
            <a:r>
              <a:rPr lang="en-US" u="sng" dirty="0" err="1">
                <a:latin typeface="Algerian" panose="04020705040A02060702" pitchFamily="82" charset="0"/>
              </a:rPr>
              <a:t>Availibility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464E171-ABD2-365D-6BD5-F76B7DC4A944}"/>
              </a:ext>
            </a:extLst>
          </p:cNvPr>
          <p:cNvSpPr>
            <a:spLocks noGrp="1"/>
          </p:cNvSpPr>
          <p:nvPr>
            <p:ph type="body" idx="1"/>
          </p:nvPr>
        </p:nvSpPr>
        <p:spPr>
          <a:xfrm>
            <a:off x="0" y="492873"/>
            <a:ext cx="10825316" cy="6130413"/>
          </a:xfrm>
        </p:spPr>
        <p:txBody>
          <a:bodyPr>
            <a:noAutofit/>
          </a:bodyPr>
          <a:lstStyle/>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Availability refers to the availability                                            of information resources. An information                                                               system that is not available when need is                                                                  as bad as none at all.</a:t>
            </a:r>
          </a:p>
          <a:p>
            <a:r>
              <a:rPr lang="en-US" sz="2400" b="1" dirty="0">
                <a:solidFill>
                  <a:schemeClr val="tx1"/>
                </a:solidFill>
                <a:latin typeface="Century Schoolbook" panose="02040604050505020304" pitchFamily="18" charset="0"/>
              </a:rPr>
              <a:t>ii) Availability means that people who                                             are authorized to use information are not                                                   prevented to do so.</a:t>
            </a:r>
          </a:p>
          <a:p>
            <a:r>
              <a:rPr lang="en-US" sz="2400" b="1" dirty="0">
                <a:solidFill>
                  <a:schemeClr val="tx1"/>
                </a:solidFill>
                <a:latin typeface="Century Schoolbook" panose="02040604050505020304" pitchFamily="18" charset="0"/>
              </a:rPr>
              <a:t>iii) Availability may be affected by purely technical issues, natural phenomena, or human causes.</a:t>
            </a:r>
          </a:p>
          <a:p>
            <a:r>
              <a:rPr lang="en-US" sz="2400" b="1" dirty="0">
                <a:solidFill>
                  <a:schemeClr val="tx1"/>
                </a:solidFill>
                <a:latin typeface="Century Schoolbook" panose="02040604050505020304" pitchFamily="18" charset="0"/>
              </a:rPr>
              <a:t>iv) For Example, an object or service is thought to be available. if –</a:t>
            </a:r>
          </a:p>
          <a:p>
            <a:r>
              <a:rPr lang="en-US" sz="2400" b="1" dirty="0">
                <a:solidFill>
                  <a:schemeClr val="tx1"/>
                </a:solidFill>
                <a:latin typeface="Century Schoolbook" panose="02040604050505020304" pitchFamily="18" charset="0"/>
              </a:rPr>
              <a:t>1. It is present in a useable form.</a:t>
            </a:r>
          </a:p>
          <a:p>
            <a:r>
              <a:rPr lang="en-US" sz="2400" b="1" dirty="0">
                <a:solidFill>
                  <a:schemeClr val="tx1"/>
                </a:solidFill>
                <a:latin typeface="Century Schoolbook" panose="02040604050505020304" pitchFamily="18" charset="0"/>
              </a:rPr>
              <a:t>2. It has capacity enough to meet the services needs.</a:t>
            </a:r>
          </a:p>
          <a:p>
            <a:r>
              <a:rPr lang="en-US" sz="2400" b="1" dirty="0">
                <a:solidFill>
                  <a:schemeClr val="tx1"/>
                </a:solidFill>
                <a:latin typeface="Century Schoolbook" panose="02040604050505020304" pitchFamily="18" charset="0"/>
              </a:rPr>
              <a:t>3. The service is completed an acceptable period of time.</a:t>
            </a:r>
            <a:endParaRPr lang="en-IN" sz="2400" b="1" dirty="0">
              <a:solidFill>
                <a:schemeClr val="tx1"/>
              </a:solidFill>
              <a:latin typeface="Century Schoolbook" panose="02040604050505020304" pitchFamily="18" charset="0"/>
            </a:endParaRPr>
          </a:p>
        </p:txBody>
      </p:sp>
      <p:pic>
        <p:nvPicPr>
          <p:cNvPr id="5" name="Picture 4">
            <a:extLst>
              <a:ext uri="{FF2B5EF4-FFF2-40B4-BE49-F238E27FC236}">
                <a16:creationId xmlns:a16="http://schemas.microsoft.com/office/drawing/2014/main" id="{4AFE5366-E6E3-B22F-0547-923481CC0A49}"/>
              </a:ext>
            </a:extLst>
          </p:cNvPr>
          <p:cNvPicPr>
            <a:picLocks noChangeAspect="1"/>
          </p:cNvPicPr>
          <p:nvPr/>
        </p:nvPicPr>
        <p:blipFill>
          <a:blip r:embed="rId2"/>
          <a:stretch>
            <a:fillRect/>
          </a:stretch>
        </p:blipFill>
        <p:spPr>
          <a:xfrm>
            <a:off x="6705600" y="629265"/>
            <a:ext cx="5394682" cy="2928815"/>
          </a:xfrm>
          <a:prstGeom prst="rect">
            <a:avLst/>
          </a:prstGeom>
        </p:spPr>
      </p:pic>
    </p:spTree>
    <p:extLst>
      <p:ext uri="{BB962C8B-B14F-4D97-AF65-F5344CB8AC3E}">
        <p14:creationId xmlns:p14="http://schemas.microsoft.com/office/powerpoint/2010/main" val="40944753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F5A36-14F7-F4F8-B55C-C5DD981F27FE}"/>
              </a:ext>
            </a:extLst>
          </p:cNvPr>
          <p:cNvSpPr>
            <a:spLocks noGrp="1"/>
          </p:cNvSpPr>
          <p:nvPr>
            <p:ph type="title"/>
          </p:nvPr>
        </p:nvSpPr>
        <p:spPr>
          <a:xfrm>
            <a:off x="87400" y="0"/>
            <a:ext cx="8596668" cy="747252"/>
          </a:xfrm>
        </p:spPr>
        <p:txBody>
          <a:bodyPr>
            <a:noAutofit/>
          </a:bodyPr>
          <a:lstStyle/>
          <a:p>
            <a:r>
              <a:rPr lang="en-US" dirty="0">
                <a:latin typeface="Algerian" panose="04020705040A02060702" pitchFamily="82" charset="0"/>
              </a:rPr>
              <a:t>4. </a:t>
            </a:r>
            <a:r>
              <a:rPr lang="en-US" u="sng" dirty="0">
                <a:latin typeface="Algerian" panose="04020705040A02060702" pitchFamily="82" charset="0"/>
              </a:rPr>
              <a:t>authentication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C2681E6-DDFF-FF2C-6DB4-B7E842111D68}"/>
              </a:ext>
            </a:extLst>
          </p:cNvPr>
          <p:cNvSpPr>
            <a:spLocks noGrp="1"/>
          </p:cNvSpPr>
          <p:nvPr>
            <p:ph type="body" idx="1"/>
          </p:nvPr>
        </p:nvSpPr>
        <p:spPr>
          <a:xfrm>
            <a:off x="87400" y="235975"/>
            <a:ext cx="9186603" cy="5968180"/>
          </a:xfrm>
        </p:spPr>
        <p:txBody>
          <a:bodyPr>
            <a:normAutofit/>
          </a:bodyPr>
          <a:lstStyle/>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Authentication helps to establish                                                              proof of identities. The                                                    authentication process ensures                                                                  that the origin of a message is                                                correctly identified.</a:t>
            </a:r>
          </a:p>
          <a:p>
            <a:r>
              <a:rPr lang="en-US" sz="2400" b="1" dirty="0">
                <a:solidFill>
                  <a:schemeClr val="tx1"/>
                </a:solidFill>
                <a:latin typeface="Century Schoolbook" panose="02040604050505020304" pitchFamily="18" charset="0"/>
              </a:rPr>
              <a:t>ii) It includes verifying the identity                                                                    of users, systems, or processes to                                                       control access to resources.</a:t>
            </a:r>
          </a:p>
          <a:p>
            <a:r>
              <a:rPr lang="en-US" sz="2400" b="1" dirty="0">
                <a:solidFill>
                  <a:schemeClr val="tx1"/>
                </a:solidFill>
                <a:latin typeface="Century Schoolbook" panose="02040604050505020304" pitchFamily="18" charset="0"/>
              </a:rPr>
              <a:t>iii) For Example : - Attackers used                                                                                                               social engineering to trick Twitter                                                                                          employees into providing                                                    credentials that allowed access to internal systems.</a:t>
            </a:r>
            <a:br>
              <a:rPr lang="en-US" sz="2400" b="1" dirty="0">
                <a:solidFill>
                  <a:schemeClr val="tx1"/>
                </a:solidFill>
                <a:latin typeface="Century Schoolbook" panose="02040604050505020304" pitchFamily="18" charset="0"/>
              </a:rPr>
            </a:br>
            <a:endParaRPr lang="en-IN" sz="2400" b="1" dirty="0">
              <a:solidFill>
                <a:schemeClr val="tx1"/>
              </a:solidFill>
              <a:latin typeface="Century Schoolbook" panose="02040604050505020304" pitchFamily="18" charset="0"/>
            </a:endParaRPr>
          </a:p>
        </p:txBody>
      </p:sp>
      <p:pic>
        <p:nvPicPr>
          <p:cNvPr id="5" name="Picture 4">
            <a:extLst>
              <a:ext uri="{FF2B5EF4-FFF2-40B4-BE49-F238E27FC236}">
                <a16:creationId xmlns:a16="http://schemas.microsoft.com/office/drawing/2014/main" id="{D82CDBAA-19DD-6397-7924-48D79AA4A58E}"/>
              </a:ext>
            </a:extLst>
          </p:cNvPr>
          <p:cNvPicPr>
            <a:picLocks noChangeAspect="1"/>
          </p:cNvPicPr>
          <p:nvPr/>
        </p:nvPicPr>
        <p:blipFill>
          <a:blip r:embed="rId2"/>
          <a:stretch>
            <a:fillRect/>
          </a:stretch>
        </p:blipFill>
        <p:spPr>
          <a:xfrm>
            <a:off x="5791200" y="653845"/>
            <a:ext cx="6161013" cy="4001728"/>
          </a:xfrm>
          <a:prstGeom prst="rect">
            <a:avLst/>
          </a:prstGeom>
        </p:spPr>
      </p:pic>
    </p:spTree>
    <p:extLst>
      <p:ext uri="{BB962C8B-B14F-4D97-AF65-F5344CB8AC3E}">
        <p14:creationId xmlns:p14="http://schemas.microsoft.com/office/powerpoint/2010/main" val="29971554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A67BB-A1FD-035C-F21B-DB4906A150C2}"/>
              </a:ext>
            </a:extLst>
          </p:cNvPr>
          <p:cNvSpPr>
            <a:spLocks noGrp="1"/>
          </p:cNvSpPr>
          <p:nvPr>
            <p:ph type="title"/>
          </p:nvPr>
        </p:nvSpPr>
        <p:spPr>
          <a:xfrm>
            <a:off x="0" y="-1"/>
            <a:ext cx="9547124" cy="3716595"/>
          </a:xfrm>
        </p:spPr>
        <p:txBody>
          <a:bodyPr>
            <a:noAutofit/>
          </a:bodyPr>
          <a:lstStyle/>
          <a:p>
            <a:r>
              <a:rPr lang="en-US" sz="4000" dirty="0">
                <a:latin typeface="Algerian" panose="04020705040A02060702" pitchFamily="82" charset="0"/>
              </a:rPr>
              <a:t>5. </a:t>
            </a:r>
            <a:r>
              <a:rPr lang="en-US" sz="4000" u="sng" dirty="0">
                <a:latin typeface="Algerian" panose="04020705040A02060702" pitchFamily="82" charset="0"/>
              </a:rPr>
              <a:t>non-repudiation</a:t>
            </a:r>
            <a:r>
              <a:rPr lang="en-US" sz="4000" dirty="0">
                <a:latin typeface="Algerian" panose="04020705040A02060702" pitchFamily="82" charset="0"/>
              </a:rPr>
              <a:t> : - </a:t>
            </a:r>
            <a:br>
              <a:rPr lang="en-US" sz="2000" b="1" dirty="0">
                <a:latin typeface="Century Schoolbook" panose="02040604050505020304" pitchFamily="18" charset="0"/>
              </a:rPr>
            </a:br>
            <a:r>
              <a:rPr lang="en-US" sz="2000" b="1" dirty="0">
                <a:solidFill>
                  <a:schemeClr val="tx1"/>
                </a:solidFill>
                <a:latin typeface="Century Schoolbook" panose="02040604050505020304" pitchFamily="18" charset="0"/>
              </a:rPr>
              <a:t>i) Non-repudiation refers to  preventing individuals from denying their actions or transactions, providing a way to trace actions back to their source. </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ii) It is a way to guarantee that the sender of a message can't 2005 later deny having sent the message and that the receiver can't deny having received the message.</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iii) Non-repudiation is the </a:t>
            </a:r>
            <a:r>
              <a:rPr lang="en-US" sz="2000" b="1" dirty="0" err="1">
                <a:solidFill>
                  <a:schemeClr val="tx1"/>
                </a:solidFill>
                <a:latin typeface="Century Schoolbook" panose="02040604050505020304" pitchFamily="18" charset="0"/>
              </a:rPr>
              <a:t>assuarance</a:t>
            </a:r>
            <a:r>
              <a:rPr lang="en-US" sz="2000" b="1" dirty="0">
                <a:solidFill>
                  <a:schemeClr val="tx1"/>
                </a:solidFill>
                <a:latin typeface="Century Schoolbook" panose="02040604050505020304" pitchFamily="18" charset="0"/>
              </a:rPr>
              <a:t> that someone can't deny the validity of something.</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iv) Non-repudiation also provides proof to third parties.</a:t>
            </a:r>
            <a:br>
              <a:rPr lang="en-IN" sz="2000" b="1" dirty="0">
                <a:solidFill>
                  <a:schemeClr val="tx1"/>
                </a:solidFill>
                <a:latin typeface="Century Schoolbook" panose="02040604050505020304" pitchFamily="18" charset="0"/>
              </a:rPr>
            </a:br>
            <a:endParaRPr lang="en-IN" sz="2000" dirty="0">
              <a:solidFill>
                <a:schemeClr val="tx1"/>
              </a:solidFill>
              <a:latin typeface="Century Schoolbook" panose="02040604050505020304" pitchFamily="18" charset="0"/>
            </a:endParaRPr>
          </a:p>
        </p:txBody>
      </p:sp>
      <p:sp>
        <p:nvSpPr>
          <p:cNvPr id="3" name="Text Placeholder 2">
            <a:extLst>
              <a:ext uri="{FF2B5EF4-FFF2-40B4-BE49-F238E27FC236}">
                <a16:creationId xmlns:a16="http://schemas.microsoft.com/office/drawing/2014/main" id="{2F262263-8181-8742-F3CD-B2644EAB07DD}"/>
              </a:ext>
            </a:extLst>
          </p:cNvPr>
          <p:cNvSpPr>
            <a:spLocks noGrp="1"/>
          </p:cNvSpPr>
          <p:nvPr>
            <p:ph type="body" idx="1"/>
          </p:nvPr>
        </p:nvSpPr>
        <p:spPr>
          <a:xfrm>
            <a:off x="0" y="3429000"/>
            <a:ext cx="9753600" cy="3129116"/>
          </a:xfrm>
        </p:spPr>
        <p:txBody>
          <a:bodyPr>
            <a:normAutofit/>
          </a:bodyPr>
          <a:lstStyle/>
          <a:p>
            <a:r>
              <a:rPr lang="en-US" sz="4300" dirty="0">
                <a:solidFill>
                  <a:schemeClr val="accent1">
                    <a:lumMod val="75000"/>
                  </a:schemeClr>
                </a:solidFill>
                <a:latin typeface="Algerian" panose="04020705040A02060702" pitchFamily="82" charset="0"/>
              </a:rPr>
              <a:t>6. </a:t>
            </a:r>
            <a:r>
              <a:rPr lang="en-US" sz="4300" u="sng" dirty="0">
                <a:solidFill>
                  <a:schemeClr val="accent1">
                    <a:lumMod val="75000"/>
                  </a:schemeClr>
                </a:solidFill>
                <a:latin typeface="Algerian" panose="04020705040A02060702" pitchFamily="82" charset="0"/>
              </a:rPr>
              <a:t>Reliability</a:t>
            </a:r>
            <a:r>
              <a:rPr lang="en-US" sz="4300" dirty="0">
                <a:solidFill>
                  <a:schemeClr val="accent1">
                    <a:lumMod val="75000"/>
                  </a:schemeClr>
                </a:solidFill>
                <a:latin typeface="Algerian" panose="04020705040A02060702" pitchFamily="82" charset="0"/>
              </a:rPr>
              <a:t> : -</a:t>
            </a:r>
          </a:p>
          <a:p>
            <a:r>
              <a:rPr lang="en-US" sz="2000" b="1" dirty="0" err="1">
                <a:solidFill>
                  <a:schemeClr val="tx1"/>
                </a:solidFill>
                <a:latin typeface="Century Schoolbook" panose="02040604050505020304" pitchFamily="18" charset="0"/>
              </a:rPr>
              <a:t>i</a:t>
            </a:r>
            <a:r>
              <a:rPr lang="en-US" sz="2000" b="1" dirty="0">
                <a:solidFill>
                  <a:schemeClr val="tx1"/>
                </a:solidFill>
                <a:latin typeface="Century Schoolbook" panose="02040604050505020304" pitchFamily="18" charset="0"/>
              </a:rPr>
              <a:t>) Reliability in the computer world relates to component's ability to perform as close as possible to its original desired specifications.</a:t>
            </a:r>
          </a:p>
          <a:p>
            <a:r>
              <a:rPr lang="en-US" sz="2000" b="1" dirty="0">
                <a:solidFill>
                  <a:schemeClr val="tx1"/>
                </a:solidFill>
                <a:latin typeface="Century Schoolbook" panose="02040604050505020304" pitchFamily="18" charset="0"/>
              </a:rPr>
              <a:t>ii) The definition of </a:t>
            </a:r>
            <a:r>
              <a:rPr lang="en-US" sz="2000" b="1" dirty="0" err="1">
                <a:solidFill>
                  <a:schemeClr val="tx1"/>
                </a:solidFill>
                <a:latin typeface="Century Schoolbook" panose="02040604050505020304" pitchFamily="18" charset="0"/>
              </a:rPr>
              <a:t>relability</a:t>
            </a:r>
            <a:r>
              <a:rPr lang="en-US" sz="2000" b="1" dirty="0">
                <a:solidFill>
                  <a:schemeClr val="tx1"/>
                </a:solidFill>
                <a:latin typeface="Century Schoolbook" panose="02040604050505020304" pitchFamily="18" charset="0"/>
              </a:rPr>
              <a:t> can also be expanded to incorporate a computer's ability to be reliable' at protecting one’s personal information from attackers. </a:t>
            </a:r>
            <a:endParaRPr lang="en-IN" sz="2000" b="1" dirty="0">
              <a:solidFill>
                <a:schemeClr val="tx1"/>
              </a:solidFill>
              <a:latin typeface="Century Schoolbook" panose="02040604050505020304" pitchFamily="18" charset="0"/>
            </a:endParaRPr>
          </a:p>
          <a:p>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27720043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E0F27-F1ED-36CB-C878-772D8EB7DCDB}"/>
              </a:ext>
            </a:extLst>
          </p:cNvPr>
          <p:cNvSpPr>
            <a:spLocks noGrp="1"/>
          </p:cNvSpPr>
          <p:nvPr>
            <p:ph type="title"/>
          </p:nvPr>
        </p:nvSpPr>
        <p:spPr>
          <a:xfrm>
            <a:off x="0" y="10394"/>
            <a:ext cx="9832258" cy="2713140"/>
          </a:xfrm>
        </p:spPr>
        <p:txBody>
          <a:bodyPr>
            <a:noAutofit/>
          </a:bodyPr>
          <a:lstStyle/>
          <a:p>
            <a:r>
              <a:rPr lang="en-US" sz="4000" dirty="0">
                <a:latin typeface="Algerian" panose="04020705040A02060702" pitchFamily="82" charset="0"/>
              </a:rPr>
              <a:t>7. </a:t>
            </a:r>
            <a:r>
              <a:rPr lang="en-US" sz="4000" u="sng" dirty="0">
                <a:latin typeface="Algerian" panose="04020705040A02060702" pitchFamily="82" charset="0"/>
              </a:rPr>
              <a:t>Accountability</a:t>
            </a:r>
            <a:r>
              <a:rPr lang="en-US" sz="4000" dirty="0">
                <a:latin typeface="Algerian" panose="04020705040A02060702" pitchFamily="82" charset="0"/>
              </a:rPr>
              <a:t> : -</a:t>
            </a:r>
            <a:br>
              <a:rPr lang="en-US" sz="4000" dirty="0">
                <a:latin typeface="Algerian" panose="04020705040A02060702" pitchFamily="82" charset="0"/>
              </a:rPr>
            </a:br>
            <a:r>
              <a:rPr lang="en-US" sz="2000" b="1" dirty="0" err="1">
                <a:solidFill>
                  <a:schemeClr val="tx1"/>
                </a:solidFill>
                <a:latin typeface="Century Schoolbook" panose="02040604050505020304" pitchFamily="18" charset="0"/>
              </a:rPr>
              <a:t>i</a:t>
            </a:r>
            <a:r>
              <a:rPr lang="en-US" sz="2000" b="1" dirty="0">
                <a:solidFill>
                  <a:schemeClr val="tx1"/>
                </a:solidFill>
                <a:latin typeface="Century Schoolbook" panose="02040604050505020304" pitchFamily="18" charset="0"/>
              </a:rPr>
              <a:t>) Accountability refers to the principal that ensures users or entities can be held responsible for their adion's within a system.</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ii) It is the traceability of actions performed by a user, process </a:t>
            </a:r>
            <a:r>
              <a:rPr lang="en-US" sz="2000" b="1" dirty="0" err="1">
                <a:solidFill>
                  <a:schemeClr val="tx1"/>
                </a:solidFill>
                <a:latin typeface="Century Schoolbook" panose="02040604050505020304" pitchFamily="18" charset="0"/>
              </a:rPr>
              <a:t>jor</a:t>
            </a:r>
            <a:r>
              <a:rPr lang="en-US" sz="2000" b="1" dirty="0">
                <a:solidFill>
                  <a:schemeClr val="tx1"/>
                </a:solidFill>
                <a:latin typeface="Century Schoolbook" panose="02040604050505020304" pitchFamily="18" charset="0"/>
              </a:rPr>
              <a:t> or device. for example, the use of unique user identification and authentication supports accountability.</a:t>
            </a:r>
            <a:br>
              <a:rPr lang="en-US" sz="2000" b="1" dirty="0">
                <a:solidFill>
                  <a:schemeClr val="tx1"/>
                </a:solidFill>
                <a:latin typeface="Century Schoolbook" panose="02040604050505020304" pitchFamily="18" charset="0"/>
              </a:rPr>
            </a:br>
            <a:r>
              <a:rPr lang="en-US" sz="2000" b="1" dirty="0">
                <a:solidFill>
                  <a:schemeClr val="tx1"/>
                </a:solidFill>
                <a:latin typeface="Century Schoolbook" panose="02040604050505020304" pitchFamily="18" charset="0"/>
              </a:rPr>
              <a:t>iii) whereas, the use of shared user ID's and passwords destroys accountability.</a:t>
            </a:r>
            <a:endParaRPr lang="en-IN" sz="2000" b="1" dirty="0">
              <a:solidFill>
                <a:schemeClr val="tx1"/>
              </a:solidFill>
              <a:latin typeface="Century Schoolbook" panose="02040604050505020304" pitchFamily="18" charset="0"/>
            </a:endParaRPr>
          </a:p>
        </p:txBody>
      </p:sp>
      <p:sp>
        <p:nvSpPr>
          <p:cNvPr id="3" name="Text Placeholder 2">
            <a:extLst>
              <a:ext uri="{FF2B5EF4-FFF2-40B4-BE49-F238E27FC236}">
                <a16:creationId xmlns:a16="http://schemas.microsoft.com/office/drawing/2014/main" id="{F20EBE5C-0068-B761-D650-AD2A2F34BC97}"/>
              </a:ext>
            </a:extLst>
          </p:cNvPr>
          <p:cNvSpPr>
            <a:spLocks noGrp="1"/>
          </p:cNvSpPr>
          <p:nvPr>
            <p:ph type="body" idx="1"/>
          </p:nvPr>
        </p:nvSpPr>
        <p:spPr>
          <a:xfrm>
            <a:off x="0" y="2723534"/>
            <a:ext cx="10009239" cy="3048001"/>
          </a:xfrm>
        </p:spPr>
        <p:txBody>
          <a:bodyPr>
            <a:normAutofit/>
          </a:bodyPr>
          <a:lstStyle/>
          <a:p>
            <a:r>
              <a:rPr lang="en-US" sz="4000" dirty="0">
                <a:solidFill>
                  <a:schemeClr val="accent1">
                    <a:lumMod val="75000"/>
                  </a:schemeClr>
                </a:solidFill>
                <a:latin typeface="Algerian" panose="04020705040A02060702" pitchFamily="82" charset="0"/>
              </a:rPr>
              <a:t>8. </a:t>
            </a:r>
            <a:r>
              <a:rPr lang="en-US" sz="4000" u="sng" dirty="0">
                <a:solidFill>
                  <a:schemeClr val="accent1">
                    <a:lumMod val="75000"/>
                  </a:schemeClr>
                </a:solidFill>
                <a:latin typeface="Algerian" panose="04020705040A02060702" pitchFamily="82" charset="0"/>
              </a:rPr>
              <a:t>Access Control</a:t>
            </a:r>
            <a:r>
              <a:rPr lang="en-US" sz="4000" dirty="0">
                <a:solidFill>
                  <a:schemeClr val="accent1">
                    <a:lumMod val="75000"/>
                  </a:schemeClr>
                </a:solidFill>
                <a:latin typeface="Algerian" panose="04020705040A02060702" pitchFamily="82" charset="0"/>
              </a:rPr>
              <a:t> : -</a:t>
            </a:r>
            <a:br>
              <a:rPr lang="en-US" sz="4000" dirty="0">
                <a:solidFill>
                  <a:schemeClr val="accent1">
                    <a:lumMod val="75000"/>
                  </a:schemeClr>
                </a:solidFill>
                <a:latin typeface="Algerian" panose="04020705040A02060702" pitchFamily="82" charset="0"/>
              </a:rPr>
            </a:br>
            <a:r>
              <a:rPr lang="en-US" sz="2000" b="1" dirty="0" err="1">
                <a:solidFill>
                  <a:schemeClr val="tx1"/>
                </a:solidFill>
                <a:latin typeface="Century Schoolbook" panose="02040604050505020304" pitchFamily="18" charset="0"/>
              </a:rPr>
              <a:t>i</a:t>
            </a:r>
            <a:r>
              <a:rPr lang="en-US" sz="2000" b="1" dirty="0">
                <a:solidFill>
                  <a:schemeClr val="tx1"/>
                </a:solidFill>
                <a:latin typeface="Century Schoolbook" panose="02040604050505020304" pitchFamily="18" charset="0"/>
              </a:rPr>
              <a:t>) Access control refers to the mechanisms used to regulate who mall can access or use resources within a system and what they can do with those resources.</a:t>
            </a:r>
          </a:p>
          <a:p>
            <a:r>
              <a:rPr lang="en-US" sz="2000" b="1" dirty="0">
                <a:solidFill>
                  <a:schemeClr val="tx1"/>
                </a:solidFill>
                <a:latin typeface="Century Schoolbook" panose="02040604050505020304" pitchFamily="18" charset="0"/>
              </a:rPr>
              <a:t>ii) It’s main goal is to ensure that only authorized users or Move entities are allowed to perform specific actions or access particular data, while unauthorized users are denied access.</a:t>
            </a:r>
            <a:endParaRPr lang="en-IN" sz="20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52389977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01C50-46F5-3822-C67A-A4B1347B8B4C}"/>
              </a:ext>
            </a:extLst>
          </p:cNvPr>
          <p:cNvSpPr>
            <a:spLocks noGrp="1"/>
          </p:cNvSpPr>
          <p:nvPr>
            <p:ph type="title"/>
          </p:nvPr>
        </p:nvSpPr>
        <p:spPr>
          <a:xfrm>
            <a:off x="0" y="0"/>
            <a:ext cx="8596668" cy="688258"/>
          </a:xfrm>
        </p:spPr>
        <p:txBody>
          <a:bodyPr>
            <a:noAutofit/>
          </a:bodyPr>
          <a:lstStyle/>
          <a:p>
            <a:r>
              <a:rPr lang="en-US" dirty="0">
                <a:solidFill>
                  <a:schemeClr val="accent1">
                    <a:lumMod val="50000"/>
                  </a:schemeClr>
                </a:solidFill>
                <a:latin typeface="Algerian" panose="04020705040A02060702" pitchFamily="82" charset="0"/>
              </a:rPr>
              <a:t>1.2 </a:t>
            </a:r>
            <a:r>
              <a:rPr lang="en-US" u="sng" dirty="0">
                <a:solidFill>
                  <a:schemeClr val="accent1">
                    <a:lumMod val="50000"/>
                  </a:schemeClr>
                </a:solidFill>
                <a:latin typeface="Algerian" panose="04020705040A02060702" pitchFamily="82" charset="0"/>
              </a:rPr>
              <a:t>Risk &amp; threat analysis</a:t>
            </a:r>
            <a:r>
              <a:rPr lang="en-US" dirty="0">
                <a:solidFill>
                  <a:schemeClr val="accent1">
                    <a:lumMod val="50000"/>
                  </a:schemeClr>
                </a:solidFill>
                <a:latin typeface="Algerian" panose="04020705040A02060702" pitchFamily="82" charset="0"/>
              </a:rPr>
              <a:t> : -</a:t>
            </a:r>
            <a:endParaRPr lang="en-IN" dirty="0">
              <a:solidFill>
                <a:schemeClr val="accent1">
                  <a:lumMod val="50000"/>
                </a:schemeClr>
              </a:solidFill>
              <a:latin typeface="Algerian" panose="04020705040A02060702" pitchFamily="82" charset="0"/>
            </a:endParaRPr>
          </a:p>
        </p:txBody>
      </p:sp>
      <p:sp>
        <p:nvSpPr>
          <p:cNvPr id="3" name="Text Placeholder 2">
            <a:extLst>
              <a:ext uri="{FF2B5EF4-FFF2-40B4-BE49-F238E27FC236}">
                <a16:creationId xmlns:a16="http://schemas.microsoft.com/office/drawing/2014/main" id="{8188675C-1CFB-44FD-F7F5-041B84BCD0B8}"/>
              </a:ext>
            </a:extLst>
          </p:cNvPr>
          <p:cNvSpPr>
            <a:spLocks noGrp="1"/>
          </p:cNvSpPr>
          <p:nvPr>
            <p:ph type="body" idx="1"/>
          </p:nvPr>
        </p:nvSpPr>
        <p:spPr>
          <a:xfrm>
            <a:off x="127819" y="688258"/>
            <a:ext cx="9979742" cy="4739148"/>
          </a:xfrm>
        </p:spPr>
        <p:txBody>
          <a:bodyPr>
            <a:normAutofit lnSpcReduction="10000"/>
          </a:bodyPr>
          <a:lstStyle/>
          <a:p>
            <a:pPr marL="571500" indent="-571500">
              <a:buFont typeface="Wingdings" panose="05000000000000000000" pitchFamily="2" charset="2"/>
              <a:buChar char="Ø"/>
            </a:pPr>
            <a:r>
              <a:rPr lang="en-US" sz="4000" u="sng" dirty="0">
                <a:solidFill>
                  <a:schemeClr val="accent1">
                    <a:lumMod val="75000"/>
                  </a:schemeClr>
                </a:solidFill>
                <a:latin typeface="Algerian" panose="04020705040A02060702" pitchFamily="82" charset="0"/>
              </a:rPr>
              <a:t>Assets</a:t>
            </a:r>
            <a:r>
              <a:rPr lang="en-US" sz="4000" dirty="0">
                <a:solidFill>
                  <a:schemeClr val="accent1">
                    <a:lumMod val="75000"/>
                  </a:schemeClr>
                </a:solidFill>
                <a:latin typeface="Algerian" panose="04020705040A02060702" pitchFamily="82" charset="0"/>
              </a:rPr>
              <a:t> : -</a:t>
            </a:r>
            <a:r>
              <a:rPr lang="en-US" dirty="0">
                <a:latin typeface="Algerian" panose="04020705040A02060702" pitchFamily="82" charset="0"/>
              </a:rPr>
              <a:t> </a:t>
            </a:r>
          </a:p>
          <a:p>
            <a:r>
              <a:rPr lang="en-US" sz="2000" b="1" dirty="0">
                <a:solidFill>
                  <a:schemeClr val="tx1"/>
                </a:solidFill>
                <a:latin typeface="Century Schoolbook" panose="02040604050505020304" pitchFamily="18" charset="0"/>
              </a:rPr>
              <a:t>- </a:t>
            </a:r>
            <a:r>
              <a:rPr lang="en-US" sz="2400" b="1" dirty="0">
                <a:solidFill>
                  <a:schemeClr val="tx1"/>
                </a:solidFill>
                <a:latin typeface="Century Schoolbook" panose="02040604050505020304" pitchFamily="18" charset="0"/>
              </a:rPr>
              <a:t>Assets are nothing but all Hardware and software components like CPU, cables, RAM, etc.</a:t>
            </a:r>
          </a:p>
          <a:p>
            <a:r>
              <a:rPr lang="en-US" sz="2400" b="1" dirty="0">
                <a:solidFill>
                  <a:schemeClr val="tx1"/>
                </a:solidFill>
                <a:latin typeface="Century Schoolbook" panose="02040604050505020304" pitchFamily="18" charset="0"/>
              </a:rPr>
              <a:t>- They can include </a:t>
            </a:r>
            <a:r>
              <a:rPr lang="en-US" sz="2400" b="1" dirty="0" err="1">
                <a:solidFill>
                  <a:schemeClr val="tx1"/>
                </a:solidFill>
                <a:latin typeface="Century Schoolbook" panose="02040604050505020304" pitchFamily="18" charset="0"/>
              </a:rPr>
              <a:t>barizab</a:t>
            </a:r>
            <a:r>
              <a:rPr lang="en-US" sz="2400" b="1" dirty="0">
                <a:solidFill>
                  <a:schemeClr val="tx1"/>
                </a:solidFill>
                <a:latin typeface="Century Schoolbook" panose="02040604050505020304" pitchFamily="18" charset="0"/>
              </a:rPr>
              <a:t> tangible and intangible items assets often include : -</a:t>
            </a:r>
          </a:p>
          <a:p>
            <a:r>
              <a:rPr lang="en-US" sz="2400" b="1" dirty="0">
                <a:solidFill>
                  <a:schemeClr val="tx1"/>
                </a:solidFill>
                <a:latin typeface="Century Schoolbook" panose="02040604050505020304" pitchFamily="18" charset="0"/>
              </a:rPr>
              <a:t>&gt; </a:t>
            </a:r>
            <a:r>
              <a:rPr lang="en-US" sz="2400" b="1" u="sng" dirty="0">
                <a:solidFill>
                  <a:schemeClr val="accent1">
                    <a:lumMod val="75000"/>
                  </a:schemeClr>
                </a:solidFill>
                <a:latin typeface="Century Schoolbook" panose="02040604050505020304" pitchFamily="18" charset="0"/>
              </a:rPr>
              <a:t>Data</a:t>
            </a:r>
            <a:r>
              <a:rPr lang="en-US" sz="2400" b="1" dirty="0">
                <a:latin typeface="Century Schoolbook" panose="02040604050505020304" pitchFamily="18" charset="0"/>
              </a:rPr>
              <a:t> - </a:t>
            </a:r>
            <a:r>
              <a:rPr lang="en-US" sz="2400" b="1" dirty="0">
                <a:solidFill>
                  <a:schemeClr val="tx1"/>
                </a:solidFill>
                <a:latin typeface="Century Schoolbook" panose="02040604050505020304" pitchFamily="18" charset="0"/>
              </a:rPr>
              <a:t>Information stored on systems, databases, or in transit.</a:t>
            </a:r>
          </a:p>
          <a:p>
            <a:r>
              <a:rPr lang="en-US" sz="2400" b="1" dirty="0">
                <a:solidFill>
                  <a:schemeClr val="tx1"/>
                </a:solidFill>
                <a:latin typeface="Century Schoolbook" panose="02040604050505020304" pitchFamily="18" charset="0"/>
              </a:rPr>
              <a:t>&gt; </a:t>
            </a:r>
            <a:r>
              <a:rPr lang="en-US" sz="2400" b="1" u="sng" dirty="0">
                <a:solidFill>
                  <a:schemeClr val="accent1">
                    <a:lumMod val="75000"/>
                  </a:schemeClr>
                </a:solidFill>
                <a:latin typeface="Century Schoolbook" panose="02040604050505020304" pitchFamily="18" charset="0"/>
              </a:rPr>
              <a:t>Infrastructure</a:t>
            </a:r>
            <a:r>
              <a:rPr lang="en-US" sz="2400" b="1" dirty="0">
                <a:latin typeface="Century Schoolbook" panose="02040604050505020304" pitchFamily="18" charset="0"/>
              </a:rPr>
              <a:t> - </a:t>
            </a:r>
            <a:r>
              <a:rPr lang="en-US" sz="2400" b="1" dirty="0">
                <a:solidFill>
                  <a:schemeClr val="tx1"/>
                </a:solidFill>
                <a:latin typeface="Century Schoolbook" panose="02040604050505020304" pitchFamily="18" charset="0"/>
              </a:rPr>
              <a:t>Network architecture, server.</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People</a:t>
            </a:r>
            <a:r>
              <a:rPr lang="en-US" sz="2400" b="1" dirty="0">
                <a:latin typeface="Century Schoolbook" panose="02040604050505020304" pitchFamily="18" charset="0"/>
              </a:rPr>
              <a:t> - </a:t>
            </a:r>
            <a:r>
              <a:rPr lang="en-US" sz="2400" b="1" dirty="0">
                <a:solidFill>
                  <a:schemeClr val="tx1"/>
                </a:solidFill>
                <a:latin typeface="Century Schoolbook" panose="02040604050505020304" pitchFamily="18" charset="0"/>
              </a:rPr>
              <a:t>Employees, user, and other personnel.</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Reputation</a:t>
            </a:r>
            <a:r>
              <a:rPr lang="en-US" sz="2400" b="1" dirty="0">
                <a:latin typeface="Century Schoolbook" panose="02040604050505020304" pitchFamily="18" charset="0"/>
              </a:rPr>
              <a:t> - </a:t>
            </a:r>
            <a:r>
              <a:rPr lang="en-US" sz="2400" b="1" dirty="0">
                <a:solidFill>
                  <a:schemeClr val="tx1"/>
                </a:solidFill>
                <a:latin typeface="Century Schoolbook" panose="02040604050505020304" pitchFamily="18" charset="0"/>
              </a:rPr>
              <a:t>The perception and trustworthiness of organization.</a:t>
            </a:r>
            <a:endParaRPr lang="en-IN" sz="24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41730819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17897-43F9-FF6B-3886-2138F8CBC595}"/>
              </a:ext>
            </a:extLst>
          </p:cNvPr>
          <p:cNvSpPr>
            <a:spLocks noGrp="1"/>
          </p:cNvSpPr>
          <p:nvPr>
            <p:ph type="title"/>
          </p:nvPr>
        </p:nvSpPr>
        <p:spPr>
          <a:xfrm>
            <a:off x="0" y="19104"/>
            <a:ext cx="6823587" cy="688819"/>
          </a:xfrm>
        </p:spPr>
        <p:txBody>
          <a:bodyPr>
            <a:noAutofit/>
          </a:bodyPr>
          <a:lstStyle/>
          <a:p>
            <a:pPr marL="571500" indent="-571500">
              <a:buFont typeface="Wingdings" panose="05000000000000000000" pitchFamily="2" charset="2"/>
              <a:buChar char="Ø"/>
            </a:pPr>
            <a:r>
              <a:rPr lang="en-US" u="sng" dirty="0">
                <a:latin typeface="Algerian" panose="04020705040A02060702" pitchFamily="82" charset="0"/>
              </a:rPr>
              <a:t>Vulnerability</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D908C940-A305-411A-46B8-DE3D72532313}"/>
              </a:ext>
            </a:extLst>
          </p:cNvPr>
          <p:cNvSpPr>
            <a:spLocks noGrp="1"/>
          </p:cNvSpPr>
          <p:nvPr>
            <p:ph type="body" idx="1"/>
          </p:nvPr>
        </p:nvSpPr>
        <p:spPr>
          <a:xfrm>
            <a:off x="117986" y="98323"/>
            <a:ext cx="9430227" cy="5333439"/>
          </a:xfrm>
        </p:spPr>
        <p:txBody>
          <a:bodyPr>
            <a:normAutofit/>
          </a:bodyPr>
          <a:lstStyle/>
          <a:p>
            <a:r>
              <a:rPr lang="en-US" sz="2400" b="1" dirty="0">
                <a:solidFill>
                  <a:schemeClr val="tx1"/>
                </a:solidFill>
                <a:latin typeface="Century Schoolbook" panose="02040604050505020304" pitchFamily="18" charset="0"/>
              </a:rPr>
              <a:t>- Vulnerabilities are weaknesses or flaws in the security of a system or process that could be exploited by a threat.</a:t>
            </a:r>
          </a:p>
          <a:p>
            <a:r>
              <a:rPr lang="en-US" sz="2400" b="1" dirty="0">
                <a:solidFill>
                  <a:schemeClr val="tx1"/>
                </a:solidFill>
                <a:latin typeface="Century Schoolbook" panose="02040604050505020304" pitchFamily="18" charset="0"/>
              </a:rPr>
              <a:t>- These can rise from : -</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Software Bugs</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Programming errors in software code. </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Configuration Errors</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Incorrectly configured settings.</a:t>
            </a:r>
          </a:p>
          <a:p>
            <a:r>
              <a:rPr lang="en-US" sz="2400" b="1" dirty="0">
                <a:solidFill>
                  <a:schemeClr val="tx1"/>
                </a:solidFill>
                <a:latin typeface="Century Schoolbook" panose="02040604050505020304" pitchFamily="18" charset="0"/>
              </a:rPr>
              <a:t>&gt; </a:t>
            </a:r>
            <a:r>
              <a:rPr lang="en-US" sz="2400" b="1" u="sng" dirty="0">
                <a:solidFill>
                  <a:schemeClr val="accent1">
                    <a:lumMod val="75000"/>
                  </a:schemeClr>
                </a:solidFill>
                <a:latin typeface="Century Schoolbook" panose="02040604050505020304" pitchFamily="18" charset="0"/>
              </a:rPr>
              <a:t>Human Error</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Mistakes made by individual, such as accidental data deletion or misconfiguration.</a:t>
            </a:r>
          </a:p>
          <a:p>
            <a:r>
              <a:rPr lang="en-US" sz="2400" b="1" dirty="0">
                <a:latin typeface="Century Schoolbook" panose="02040604050505020304" pitchFamily="18" charset="0"/>
              </a:rPr>
              <a:t>&gt; </a:t>
            </a:r>
            <a:r>
              <a:rPr lang="en-US" sz="2400" b="1" u="sng" dirty="0">
                <a:solidFill>
                  <a:schemeClr val="accent1">
                    <a:lumMod val="75000"/>
                  </a:schemeClr>
                </a:solidFill>
                <a:latin typeface="Century Schoolbook" panose="02040604050505020304" pitchFamily="18" charset="0"/>
              </a:rPr>
              <a:t>Outdated Software</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failure to apply patches and updates to address known vulnerabilities.</a:t>
            </a:r>
            <a:endParaRPr lang="en-IN" sz="24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4387981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52861-AA00-E89B-6A88-82510669EBD3}"/>
              </a:ext>
            </a:extLst>
          </p:cNvPr>
          <p:cNvSpPr>
            <a:spLocks noGrp="1"/>
          </p:cNvSpPr>
          <p:nvPr>
            <p:ph type="title"/>
          </p:nvPr>
        </p:nvSpPr>
        <p:spPr>
          <a:xfrm>
            <a:off x="0" y="0"/>
            <a:ext cx="8596668" cy="766916"/>
          </a:xfrm>
        </p:spPr>
        <p:txBody>
          <a:bodyPr/>
          <a:lstStyle/>
          <a:p>
            <a:pPr marL="571500" indent="-571500">
              <a:buFont typeface="Wingdings" panose="05000000000000000000" pitchFamily="2" charset="2"/>
              <a:buChar char="Ø"/>
            </a:pPr>
            <a:r>
              <a:rPr lang="en-US" u="sng" dirty="0">
                <a:latin typeface="Algerian" panose="04020705040A02060702" pitchFamily="82" charset="0"/>
              </a:rPr>
              <a:t>Threat</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87A49BF8-9B10-8C83-2A6C-B01D25C755E3}"/>
              </a:ext>
            </a:extLst>
          </p:cNvPr>
          <p:cNvSpPr>
            <a:spLocks noGrp="1"/>
          </p:cNvSpPr>
          <p:nvPr>
            <p:ph type="body" idx="1"/>
          </p:nvPr>
        </p:nvSpPr>
        <p:spPr>
          <a:xfrm>
            <a:off x="0" y="668594"/>
            <a:ext cx="9733935" cy="6091084"/>
          </a:xfrm>
        </p:spPr>
        <p:txBody>
          <a:bodyPr>
            <a:noAutofit/>
          </a:bodyPr>
          <a:lstStyle/>
          <a:p>
            <a:r>
              <a:rPr lang="en-US" sz="2400" b="1" dirty="0" err="1">
                <a:solidFill>
                  <a:schemeClr val="tx1"/>
                </a:solidFill>
                <a:latin typeface="Century Schoolbook" panose="02040604050505020304" pitchFamily="18" charset="0"/>
              </a:rPr>
              <a:t>i</a:t>
            </a:r>
            <a:r>
              <a:rPr lang="en-US" sz="2400" b="1" dirty="0">
                <a:solidFill>
                  <a:schemeClr val="tx1"/>
                </a:solidFill>
                <a:latin typeface="Century Schoolbook" panose="02040604050505020304" pitchFamily="18" charset="0"/>
              </a:rPr>
              <a:t>) Threats are potential dangers that can exploit vulnerabilities and negatively impact assets.</a:t>
            </a:r>
          </a:p>
          <a:p>
            <a:r>
              <a:rPr lang="en-US" sz="2400" b="1" dirty="0">
                <a:solidFill>
                  <a:schemeClr val="tx1"/>
                </a:solidFill>
                <a:latin typeface="Century Schoolbook" panose="02040604050505020304" pitchFamily="18" charset="0"/>
              </a:rPr>
              <a:t>ii) It is a set of circumstances that has potential to cause loss or harm.</a:t>
            </a:r>
          </a:p>
          <a:p>
            <a:r>
              <a:rPr lang="en-US" sz="2400" b="1" dirty="0">
                <a:solidFill>
                  <a:schemeClr val="tx1"/>
                </a:solidFill>
                <a:latin typeface="Century Schoolbook" panose="02040604050505020304" pitchFamily="18" charset="0"/>
              </a:rPr>
              <a:t>iii) Threat is a possible danger to the system.</a:t>
            </a:r>
          </a:p>
          <a:p>
            <a:r>
              <a:rPr lang="en-US" sz="2400" b="1" dirty="0">
                <a:solidFill>
                  <a:schemeClr val="tx1"/>
                </a:solidFill>
                <a:latin typeface="Century Schoolbook" panose="02040604050505020304" pitchFamily="18" charset="0"/>
              </a:rPr>
              <a:t>iv) Types of threats include:</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Malware</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software designed to harm or exploit system, such as viruses, ransomware or spyware.</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Hackers</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Individual or groups attempting unauthorized access. to systems or data.</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Insiders</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Employees or other trusted individual who misuse </a:t>
            </a:r>
            <a:r>
              <a:rPr lang="en-US" sz="2400" b="1" dirty="0" err="1">
                <a:solidFill>
                  <a:schemeClr val="tx1"/>
                </a:solidFill>
                <a:latin typeface="Century Schoolbook" panose="02040604050505020304" pitchFamily="18" charset="0"/>
              </a:rPr>
              <a:t>olis</a:t>
            </a:r>
            <a:r>
              <a:rPr lang="en-US" sz="2400" b="1" dirty="0">
                <a:solidFill>
                  <a:schemeClr val="tx1"/>
                </a:solidFill>
                <a:latin typeface="Century Schoolbook" panose="02040604050505020304" pitchFamily="18" charset="0"/>
              </a:rPr>
              <a:t> their access.</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Natural Disasters</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Events like flood, earth quakes, or fires can </a:t>
            </a:r>
            <a:r>
              <a:rPr lang="en-US" sz="2400" b="1" dirty="0" err="1">
                <a:solidFill>
                  <a:schemeClr val="tx1"/>
                </a:solidFill>
                <a:latin typeface="Century Schoolbook" panose="02040604050505020304" pitchFamily="18" charset="0"/>
              </a:rPr>
              <a:t>hidamage</a:t>
            </a:r>
            <a:r>
              <a:rPr lang="en-US" sz="2400" b="1" dirty="0">
                <a:solidFill>
                  <a:schemeClr val="tx1"/>
                </a:solidFill>
                <a:latin typeface="Century Schoolbook" panose="02040604050505020304" pitchFamily="18" charset="0"/>
              </a:rPr>
              <a:t> physical assets.</a:t>
            </a:r>
          </a:p>
        </p:txBody>
      </p:sp>
    </p:spTree>
    <p:extLst>
      <p:ext uri="{BB962C8B-B14F-4D97-AF65-F5344CB8AC3E}">
        <p14:creationId xmlns:p14="http://schemas.microsoft.com/office/powerpoint/2010/main" val="33790285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BE083E-2CD6-DBFC-5C57-05D27E1F91B2}"/>
              </a:ext>
            </a:extLst>
          </p:cNvPr>
          <p:cNvSpPr>
            <a:spLocks noGrp="1"/>
          </p:cNvSpPr>
          <p:nvPr>
            <p:ph type="title"/>
          </p:nvPr>
        </p:nvSpPr>
        <p:spPr>
          <a:xfrm>
            <a:off x="0" y="0"/>
            <a:ext cx="10451691" cy="618871"/>
          </a:xfrm>
        </p:spPr>
        <p:txBody>
          <a:bodyPr>
            <a:normAutofit fontScale="90000"/>
          </a:bodyPr>
          <a:lstStyle/>
          <a:p>
            <a:pPr marL="571500" indent="-571500">
              <a:buFont typeface="Wingdings" panose="05000000000000000000" pitchFamily="2" charset="2"/>
              <a:buChar char="Ø"/>
            </a:pPr>
            <a:r>
              <a:rPr lang="en-US" sz="4900" u="sng" dirty="0">
                <a:latin typeface="Algerian" panose="04020705040A02060702" pitchFamily="82" charset="0"/>
              </a:rPr>
              <a:t>Risks</a:t>
            </a:r>
            <a:r>
              <a:rPr lang="en-US" sz="4900" dirty="0"/>
              <a:t> : - </a:t>
            </a:r>
            <a:r>
              <a:rPr lang="en-US" sz="3600" b="1" dirty="0">
                <a:solidFill>
                  <a:schemeClr val="tx1"/>
                </a:solidFill>
                <a:latin typeface="Century Schoolbook" panose="02040604050505020304" pitchFamily="18" charset="0"/>
              </a:rPr>
              <a:t>( Assets + Vulnerability + Threat )</a:t>
            </a:r>
            <a:endParaRPr lang="en-IN" sz="3600" dirty="0"/>
          </a:p>
        </p:txBody>
      </p:sp>
      <p:sp>
        <p:nvSpPr>
          <p:cNvPr id="3" name="Text Placeholder 2">
            <a:extLst>
              <a:ext uri="{FF2B5EF4-FFF2-40B4-BE49-F238E27FC236}">
                <a16:creationId xmlns:a16="http://schemas.microsoft.com/office/drawing/2014/main" id="{F6F3FA4F-4EF2-7988-F5EC-91AF5A1332F3}"/>
              </a:ext>
            </a:extLst>
          </p:cNvPr>
          <p:cNvSpPr>
            <a:spLocks noGrp="1"/>
          </p:cNvSpPr>
          <p:nvPr>
            <p:ph type="body" idx="1"/>
          </p:nvPr>
        </p:nvSpPr>
        <p:spPr>
          <a:xfrm>
            <a:off x="0" y="-147484"/>
            <a:ext cx="9743768" cy="5382601"/>
          </a:xfrm>
        </p:spPr>
        <p:txBody>
          <a:bodyPr>
            <a:normAutofit/>
          </a:bodyPr>
          <a:lstStyle/>
          <a:p>
            <a:r>
              <a:rPr lang="en-US" sz="2400" b="1" dirty="0">
                <a:solidFill>
                  <a:schemeClr val="tx1"/>
                </a:solidFill>
                <a:latin typeface="Century Schoolbook" panose="02040604050505020304" pitchFamily="18" charset="0"/>
              </a:rPr>
              <a:t>i) The potential for loss, damage or destruction of an asset as a result of a threat exploiting vulnerability. Risk is the intersection of assets, vulnerabilities and Threats.</a:t>
            </a:r>
          </a:p>
          <a:p>
            <a:r>
              <a:rPr lang="en-US" sz="2400" b="1" dirty="0">
                <a:solidFill>
                  <a:schemeClr val="tx1"/>
                </a:solidFill>
                <a:latin typeface="Century Schoolbook" panose="02040604050505020304" pitchFamily="18" charset="0"/>
              </a:rPr>
              <a:t>ii) </a:t>
            </a:r>
            <a:r>
              <a:rPr lang="en-US" sz="2400" b="1" dirty="0" err="1">
                <a:solidFill>
                  <a:schemeClr val="tx1"/>
                </a:solidFill>
                <a:latin typeface="Century Schoolbook" panose="02040604050505020304" pitchFamily="18" charset="0"/>
              </a:rPr>
              <a:t>Threals</a:t>
            </a:r>
            <a:r>
              <a:rPr lang="en-US" sz="2400" b="1" dirty="0">
                <a:solidFill>
                  <a:schemeClr val="tx1"/>
                </a:solidFill>
                <a:latin typeface="Century Schoolbook" panose="02040604050505020304" pitchFamily="18" charset="0"/>
              </a:rPr>
              <a:t> may exist, but if there are no vulnerabilities then there is little/no risk; similarly, you can have vulnerability but if there is no threat then you have </a:t>
            </a:r>
            <a:r>
              <a:rPr lang="en-US" sz="2400" b="1" dirty="0" err="1">
                <a:solidFill>
                  <a:schemeClr val="tx1"/>
                </a:solidFill>
                <a:latin typeface="Century Schoolbook" panose="02040604050505020304" pitchFamily="18" charset="0"/>
              </a:rPr>
              <a:t>litte</a:t>
            </a:r>
            <a:r>
              <a:rPr lang="en-US" sz="2400" b="1" dirty="0">
                <a:solidFill>
                  <a:schemeClr val="tx1"/>
                </a:solidFill>
                <a:latin typeface="Century Schoolbook" panose="02040604050505020304" pitchFamily="18" charset="0"/>
              </a:rPr>
              <a:t> /no risk.</a:t>
            </a:r>
          </a:p>
          <a:p>
            <a:r>
              <a:rPr lang="en-US" sz="2400" b="1" dirty="0">
                <a:solidFill>
                  <a:schemeClr val="tx1"/>
                </a:solidFill>
                <a:latin typeface="Century Schoolbook" panose="02040604050505020304" pitchFamily="18" charset="0"/>
              </a:rPr>
              <a:t>iii) A threat is blocked by control of </a:t>
            </a:r>
            <a:r>
              <a:rPr lang="en-US" sz="2400" b="1" dirty="0" err="1">
                <a:solidFill>
                  <a:schemeClr val="tx1"/>
                </a:solidFill>
                <a:latin typeface="Century Schoolbook" panose="02040604050505020304" pitchFamily="18" charset="0"/>
              </a:rPr>
              <a:t>vunerability</a:t>
            </a:r>
            <a:r>
              <a:rPr lang="en-US" sz="2400" b="1" dirty="0">
                <a:solidFill>
                  <a:schemeClr val="tx1"/>
                </a:solidFill>
                <a:latin typeface="Century Schoolbook" panose="02040604050505020304" pitchFamily="18" charset="0"/>
              </a:rPr>
              <a:t>. </a:t>
            </a:r>
          </a:p>
          <a:p>
            <a:r>
              <a:rPr lang="en-US" sz="2400" b="1" dirty="0">
                <a:solidFill>
                  <a:schemeClr val="tx1"/>
                </a:solidFill>
                <a:latin typeface="Century Schoolbook" panose="02040604050505020304" pitchFamily="18" charset="0"/>
              </a:rPr>
              <a:t>iv) Interception, interruption, modification and fabrication. are the system security threats.</a:t>
            </a:r>
            <a:endParaRPr lang="en-IN" sz="24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3775724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A7DD17-C3A8-62F2-53B8-6BE62936D7C1}"/>
              </a:ext>
            </a:extLst>
          </p:cNvPr>
          <p:cNvSpPr>
            <a:spLocks noGrp="1"/>
          </p:cNvSpPr>
          <p:nvPr>
            <p:ph type="title"/>
          </p:nvPr>
        </p:nvSpPr>
        <p:spPr>
          <a:xfrm>
            <a:off x="0" y="0"/>
            <a:ext cx="8596668" cy="757084"/>
          </a:xfrm>
        </p:spPr>
        <p:txBody>
          <a:bodyPr>
            <a:noAutofit/>
          </a:bodyPr>
          <a:lstStyle/>
          <a:p>
            <a:pPr marL="571500" indent="-571500">
              <a:buFont typeface="Wingdings" panose="05000000000000000000" pitchFamily="2" charset="2"/>
              <a:buChar char="Ø"/>
            </a:pPr>
            <a:r>
              <a:rPr lang="en-US" u="sng" dirty="0">
                <a:latin typeface="Algerian" panose="04020705040A02060702" pitchFamily="82" charset="0"/>
              </a:rPr>
              <a:t>Counter measure</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94669699-3BD7-E56A-609F-63D09B638FEA}"/>
              </a:ext>
            </a:extLst>
          </p:cNvPr>
          <p:cNvSpPr>
            <a:spLocks noGrp="1"/>
          </p:cNvSpPr>
          <p:nvPr>
            <p:ph type="body" idx="1"/>
          </p:nvPr>
        </p:nvSpPr>
        <p:spPr>
          <a:xfrm>
            <a:off x="78658" y="668594"/>
            <a:ext cx="9851923" cy="4139380"/>
          </a:xfrm>
        </p:spPr>
        <p:txBody>
          <a:bodyPr>
            <a:normAutofit/>
          </a:bodyPr>
          <a:lstStyle/>
          <a:p>
            <a:r>
              <a:rPr lang="en-US" sz="2400" b="1" dirty="0">
                <a:solidFill>
                  <a:schemeClr val="tx1"/>
                </a:solidFill>
                <a:latin typeface="Century Schoolbook" panose="02040604050505020304" pitchFamily="18" charset="0"/>
              </a:rPr>
              <a:t>- These are actions, device, procedure or techniques for protecting your system.</a:t>
            </a:r>
          </a:p>
          <a:p>
            <a:r>
              <a:rPr lang="en-US" sz="2400" b="1" dirty="0">
                <a:solidFill>
                  <a:schemeClr val="tx1"/>
                </a:solidFill>
                <a:latin typeface="Century Schoolbook" panose="02040604050505020304" pitchFamily="18" charset="0"/>
              </a:rPr>
              <a:t>- These can include :</a:t>
            </a:r>
          </a:p>
          <a:p>
            <a:r>
              <a:rPr lang="en-US" sz="2400" b="1" dirty="0">
                <a:solidFill>
                  <a:schemeClr val="tx1"/>
                </a:solidFill>
                <a:latin typeface="Century Schoolbook" panose="02040604050505020304" pitchFamily="18" charset="0"/>
              </a:rPr>
              <a:t>&gt;</a:t>
            </a:r>
            <a:r>
              <a:rPr lang="en-US" sz="24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Access Controls</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Implementing authentication and authorization mechanisms to control access.</a:t>
            </a:r>
          </a:p>
          <a:p>
            <a:r>
              <a:rPr lang="en-US" sz="2400" b="1" dirty="0">
                <a:latin typeface="Century Schoolbook" panose="02040604050505020304" pitchFamily="18" charset="0"/>
              </a:rPr>
              <a:t>&gt; </a:t>
            </a:r>
            <a:r>
              <a:rPr lang="en-US" sz="2400" b="1" u="sng" dirty="0">
                <a:solidFill>
                  <a:schemeClr val="accent1">
                    <a:lumMod val="75000"/>
                  </a:schemeClr>
                </a:solidFill>
                <a:latin typeface="Century Schoolbook" panose="02040604050505020304" pitchFamily="18" charset="0"/>
              </a:rPr>
              <a:t>Firewalls and Intrusion Detection/ Prevention systems</a:t>
            </a:r>
            <a:r>
              <a:rPr lang="en-US" sz="2400" b="1" dirty="0">
                <a:latin typeface="Century Schoolbook" panose="02040604050505020304" pitchFamily="18" charset="0"/>
              </a:rPr>
              <a:t> - </a:t>
            </a:r>
            <a:r>
              <a:rPr lang="en-US" sz="2400" b="1" dirty="0" err="1">
                <a:solidFill>
                  <a:schemeClr val="tx1"/>
                </a:solidFill>
                <a:latin typeface="Century Schoolbook" panose="02040604050505020304" pitchFamily="18" charset="0"/>
              </a:rPr>
              <a:t>Monitorin</a:t>
            </a:r>
            <a:r>
              <a:rPr lang="en-US" sz="2400" b="1" dirty="0">
                <a:solidFill>
                  <a:schemeClr val="tx1"/>
                </a:solidFill>
                <a:latin typeface="Century Schoolbook" panose="02040604050505020304" pitchFamily="18" charset="0"/>
              </a:rPr>
              <a:t> and filtering network traffic.</a:t>
            </a:r>
          </a:p>
          <a:p>
            <a:r>
              <a:rPr lang="en-US" sz="2400" b="1" dirty="0">
                <a:latin typeface="Century Schoolbook" panose="02040604050505020304" pitchFamily="18" charset="0"/>
              </a:rPr>
              <a:t>&gt; </a:t>
            </a:r>
            <a:r>
              <a:rPr lang="en-US" sz="2400" b="1" u="sng" dirty="0">
                <a:solidFill>
                  <a:schemeClr val="accent1">
                    <a:lumMod val="75000"/>
                  </a:schemeClr>
                </a:solidFill>
                <a:latin typeface="Century Schoolbook" panose="02040604050505020304" pitchFamily="18" charset="0"/>
              </a:rPr>
              <a:t>Encryption</a:t>
            </a:r>
            <a:r>
              <a:rPr lang="en-US" sz="2400" b="1" dirty="0">
                <a:latin typeface="Century Schoolbook" panose="02040604050505020304" pitchFamily="18" charset="0"/>
              </a:rPr>
              <a:t> </a:t>
            </a:r>
            <a:r>
              <a:rPr lang="en-US" sz="2400" b="1" dirty="0">
                <a:solidFill>
                  <a:schemeClr val="tx1"/>
                </a:solidFill>
                <a:latin typeface="Century Schoolbook" panose="02040604050505020304" pitchFamily="18" charset="0"/>
              </a:rPr>
              <a:t>- Protecting data by encoding it so that only authorize parties can access it.</a:t>
            </a:r>
            <a:endParaRPr lang="en-IN" sz="2400" b="1" dirty="0">
              <a:solidFill>
                <a:schemeClr val="tx1"/>
              </a:solidFill>
              <a:latin typeface="Century Schoolbook" panose="02040604050505020304" pitchFamily="18" charset="0"/>
            </a:endParaRPr>
          </a:p>
        </p:txBody>
      </p:sp>
    </p:spTree>
    <p:extLst>
      <p:ext uri="{BB962C8B-B14F-4D97-AF65-F5344CB8AC3E}">
        <p14:creationId xmlns:p14="http://schemas.microsoft.com/office/powerpoint/2010/main" val="13580281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948A17-1F00-0731-7F7B-DA5155917A14}"/>
              </a:ext>
            </a:extLst>
          </p:cNvPr>
          <p:cNvSpPr>
            <a:spLocks noGrp="1"/>
          </p:cNvSpPr>
          <p:nvPr>
            <p:ph type="title"/>
          </p:nvPr>
        </p:nvSpPr>
        <p:spPr>
          <a:xfrm>
            <a:off x="0" y="-82754"/>
            <a:ext cx="8596668" cy="791238"/>
          </a:xfrm>
        </p:spPr>
        <p:txBody>
          <a:bodyPr/>
          <a:lstStyle/>
          <a:p>
            <a:r>
              <a:rPr lang="en-US" dirty="0">
                <a:solidFill>
                  <a:schemeClr val="accent1">
                    <a:lumMod val="50000"/>
                  </a:schemeClr>
                </a:solidFill>
                <a:latin typeface="Algerian" panose="04020705040A02060702" pitchFamily="82" charset="0"/>
              </a:rPr>
              <a:t>1.3 </a:t>
            </a:r>
            <a:r>
              <a:rPr lang="en-US" u="sng" dirty="0">
                <a:solidFill>
                  <a:schemeClr val="accent1">
                    <a:lumMod val="50000"/>
                  </a:schemeClr>
                </a:solidFill>
                <a:latin typeface="Algerian" panose="04020705040A02060702" pitchFamily="82" charset="0"/>
              </a:rPr>
              <a:t>Threat to security</a:t>
            </a:r>
            <a:r>
              <a:rPr lang="en-US" dirty="0">
                <a:solidFill>
                  <a:schemeClr val="accent1">
                    <a:lumMod val="50000"/>
                  </a:schemeClr>
                </a:solidFill>
                <a:latin typeface="Algerian" panose="04020705040A02060702" pitchFamily="82" charset="0"/>
              </a:rPr>
              <a:t> : -</a:t>
            </a:r>
            <a:endParaRPr lang="en-IN" dirty="0">
              <a:solidFill>
                <a:schemeClr val="accent1">
                  <a:lumMod val="50000"/>
                </a:schemeClr>
              </a:solidFill>
              <a:latin typeface="Algerian" panose="04020705040A02060702" pitchFamily="82" charset="0"/>
            </a:endParaRPr>
          </a:p>
        </p:txBody>
      </p:sp>
      <p:sp>
        <p:nvSpPr>
          <p:cNvPr id="3" name="Text Placeholder 2">
            <a:extLst>
              <a:ext uri="{FF2B5EF4-FFF2-40B4-BE49-F238E27FC236}">
                <a16:creationId xmlns:a16="http://schemas.microsoft.com/office/drawing/2014/main" id="{B8B52603-668B-8AEB-14FF-4133177C7FAB}"/>
              </a:ext>
            </a:extLst>
          </p:cNvPr>
          <p:cNvSpPr>
            <a:spLocks noGrp="1"/>
          </p:cNvSpPr>
          <p:nvPr>
            <p:ph type="body" idx="1"/>
          </p:nvPr>
        </p:nvSpPr>
        <p:spPr>
          <a:xfrm>
            <a:off x="88490" y="137652"/>
            <a:ext cx="9566787" cy="6218903"/>
          </a:xfrm>
        </p:spPr>
        <p:txBody>
          <a:bodyPr>
            <a:normAutofit/>
          </a:bodyPr>
          <a:lstStyle/>
          <a:p>
            <a:pPr marL="571500" indent="-571500">
              <a:buFont typeface="Wingdings" panose="05000000000000000000" pitchFamily="2" charset="2"/>
              <a:buChar char="Ø"/>
            </a:pPr>
            <a:r>
              <a:rPr lang="en-US" sz="4000" dirty="0">
                <a:solidFill>
                  <a:schemeClr val="accent1">
                    <a:lumMod val="75000"/>
                  </a:schemeClr>
                </a:solidFill>
                <a:latin typeface="Algerian" panose="04020705040A02060702" pitchFamily="82" charset="0"/>
              </a:rPr>
              <a:t> </a:t>
            </a:r>
            <a:r>
              <a:rPr lang="en-US" sz="4000" u="sng" dirty="0">
                <a:solidFill>
                  <a:schemeClr val="accent1">
                    <a:lumMod val="75000"/>
                  </a:schemeClr>
                </a:solidFill>
                <a:latin typeface="Algerian" panose="04020705040A02060702" pitchFamily="82" charset="0"/>
              </a:rPr>
              <a:t>VIRUS</a:t>
            </a:r>
            <a:r>
              <a:rPr lang="en-US" sz="4000" dirty="0">
                <a:solidFill>
                  <a:schemeClr val="accent1">
                    <a:lumMod val="75000"/>
                  </a:schemeClr>
                </a:solidFill>
                <a:latin typeface="Algerian" panose="04020705040A02060702" pitchFamily="82" charset="0"/>
              </a:rPr>
              <a:t> : -</a:t>
            </a:r>
          </a:p>
          <a:p>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A virus is a block of code that inserts copies of itself into other programs that causes damage to data and software.</a:t>
            </a:r>
          </a:p>
          <a:p>
            <a:r>
              <a:rPr lang="en-US" sz="2400" b="1" dirty="0">
                <a:solidFill>
                  <a:schemeClr val="tx1">
                    <a:lumMod val="95000"/>
                    <a:lumOff val="5000"/>
                  </a:schemeClr>
                </a:solidFill>
                <a:latin typeface="Century Schoolbook" panose="02040604050505020304" pitchFamily="18" charset="0"/>
              </a:rPr>
              <a:t>ii) Computer virus can cause system corruption as it provides unauthorized access to sensitive information &amp; decreases system functionality. </a:t>
            </a:r>
          </a:p>
          <a:p>
            <a:r>
              <a:rPr lang="en-US" sz="2400" b="1" dirty="0">
                <a:solidFill>
                  <a:schemeClr val="tx1">
                    <a:lumMod val="95000"/>
                    <a:lumOff val="5000"/>
                  </a:schemeClr>
                </a:solidFill>
                <a:latin typeface="Century Schoolbook" panose="02040604050505020304" pitchFamily="18" charset="0"/>
              </a:rPr>
              <a:t>iii) Virus attacks are active type Trojan Horse attacks. Most viruses include a string of characters that acts as a market showing that program has been infected.</a:t>
            </a:r>
          </a:p>
          <a:p>
            <a:r>
              <a:rPr lang="en-US" sz="2400" b="1" dirty="0">
                <a:solidFill>
                  <a:schemeClr val="tx1">
                    <a:lumMod val="95000"/>
                    <a:lumOff val="5000"/>
                  </a:schemeClr>
                </a:solidFill>
                <a:latin typeface="Century Schoolbook" panose="02040604050505020304" pitchFamily="18" charset="0"/>
              </a:rPr>
              <a:t>iv) Virus does not infect an already infected file in order to prevent increasing disk space usage and allowing to infect many programs.</a:t>
            </a:r>
            <a:endParaRPr lang="en-IN" sz="24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1371681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CB4A3-3A96-0059-A149-0A2AB8FA7888}"/>
              </a:ext>
            </a:extLst>
          </p:cNvPr>
          <p:cNvSpPr>
            <a:spLocks noGrp="1"/>
          </p:cNvSpPr>
          <p:nvPr>
            <p:ph type="title"/>
          </p:nvPr>
        </p:nvSpPr>
        <p:spPr>
          <a:xfrm>
            <a:off x="0" y="68826"/>
            <a:ext cx="8596668" cy="806245"/>
          </a:xfrm>
        </p:spPr>
        <p:txBody>
          <a:bodyPr/>
          <a:lstStyle/>
          <a:p>
            <a:pPr marL="571500" indent="-571500">
              <a:buFont typeface="Wingdings" panose="05000000000000000000" pitchFamily="2" charset="2"/>
              <a:buChar char="v"/>
            </a:pPr>
            <a:r>
              <a:rPr lang="en-US" u="sng" dirty="0">
                <a:latin typeface="Algerian" panose="04020705040A02060702" pitchFamily="82" charset="0"/>
              </a:rPr>
              <a:t>Phase of viruses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CF499E1E-B9B9-591F-9CBD-24E3B539736C}"/>
              </a:ext>
            </a:extLst>
          </p:cNvPr>
          <p:cNvSpPr>
            <a:spLocks noGrp="1"/>
          </p:cNvSpPr>
          <p:nvPr>
            <p:ph type="body" idx="1"/>
          </p:nvPr>
        </p:nvSpPr>
        <p:spPr>
          <a:xfrm>
            <a:off x="167909" y="394392"/>
            <a:ext cx="8596668" cy="4084674"/>
          </a:xfrm>
        </p:spPr>
        <p:txBody>
          <a:bodyPr>
            <a:normAutofit/>
          </a:bodyPr>
          <a:lstStyle/>
          <a:p>
            <a:r>
              <a:rPr lang="en-US" sz="2800" b="1" dirty="0">
                <a:solidFill>
                  <a:schemeClr val="tx1">
                    <a:lumMod val="95000"/>
                    <a:lumOff val="5000"/>
                  </a:schemeClr>
                </a:solidFill>
                <a:latin typeface="Century Schoolbook" panose="02040604050505020304" pitchFamily="18" charset="0"/>
              </a:rPr>
              <a:t>During its lifecycle, viruses goes though these phases : -</a:t>
            </a:r>
          </a:p>
          <a:p>
            <a:pPr marL="342900" indent="-342900">
              <a:buAutoNum type="arabicPeriod"/>
            </a:pPr>
            <a:r>
              <a:rPr lang="en-US" sz="2800" b="1" dirty="0">
                <a:solidFill>
                  <a:schemeClr val="tx1">
                    <a:lumMod val="95000"/>
                    <a:lumOff val="5000"/>
                  </a:schemeClr>
                </a:solidFill>
                <a:latin typeface="Century Schoolbook" panose="02040604050505020304" pitchFamily="18" charset="0"/>
              </a:rPr>
              <a:t>Dormant Phase.</a:t>
            </a:r>
          </a:p>
          <a:p>
            <a:pPr marL="342900" indent="-342900">
              <a:buAutoNum type="arabicPeriod"/>
            </a:pPr>
            <a:r>
              <a:rPr lang="en-US" sz="2800" b="1" dirty="0">
                <a:solidFill>
                  <a:schemeClr val="tx1">
                    <a:lumMod val="95000"/>
                    <a:lumOff val="5000"/>
                  </a:schemeClr>
                </a:solidFill>
                <a:latin typeface="Century Schoolbook" panose="02040604050505020304" pitchFamily="18" charset="0"/>
              </a:rPr>
              <a:t>Propagation Phase.</a:t>
            </a:r>
          </a:p>
          <a:p>
            <a:pPr marL="342900" indent="-342900">
              <a:buAutoNum type="arabicPeriod"/>
            </a:pPr>
            <a:r>
              <a:rPr lang="en-US" sz="2800" b="1" dirty="0">
                <a:solidFill>
                  <a:schemeClr val="tx1">
                    <a:lumMod val="95000"/>
                    <a:lumOff val="5000"/>
                  </a:schemeClr>
                </a:solidFill>
                <a:latin typeface="Century Schoolbook" panose="02040604050505020304" pitchFamily="18" charset="0"/>
              </a:rPr>
              <a:t>Triggering Phase.</a:t>
            </a:r>
          </a:p>
          <a:p>
            <a:pPr marL="342900" indent="-342900">
              <a:buAutoNum type="arabicPeriod"/>
            </a:pPr>
            <a:r>
              <a:rPr lang="en-US" sz="2800" b="1" dirty="0">
                <a:solidFill>
                  <a:schemeClr val="tx1">
                    <a:lumMod val="95000"/>
                    <a:lumOff val="5000"/>
                  </a:schemeClr>
                </a:solidFill>
                <a:latin typeface="Century Schoolbook" panose="02040604050505020304" pitchFamily="18" charset="0"/>
              </a:rPr>
              <a:t>Execution Phase</a:t>
            </a:r>
            <a:r>
              <a:rPr lang="en-US" sz="2800" b="1" dirty="0">
                <a:latin typeface="Century Schoolbook" panose="02040604050505020304" pitchFamily="18" charset="0"/>
              </a:rPr>
              <a:t>.</a:t>
            </a:r>
            <a:endParaRPr lang="en-IN" sz="28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6609313E-9200-8537-B5C5-A5EB040BD405}"/>
              </a:ext>
            </a:extLst>
          </p:cNvPr>
          <p:cNvPicPr>
            <a:picLocks noChangeAspect="1"/>
          </p:cNvPicPr>
          <p:nvPr/>
        </p:nvPicPr>
        <p:blipFill>
          <a:blip r:embed="rId2"/>
          <a:stretch>
            <a:fillRect/>
          </a:stretch>
        </p:blipFill>
        <p:spPr>
          <a:xfrm>
            <a:off x="4208206" y="1582994"/>
            <a:ext cx="6744929" cy="4572000"/>
          </a:xfrm>
          <a:prstGeom prst="rect">
            <a:avLst/>
          </a:prstGeom>
        </p:spPr>
      </p:pic>
    </p:spTree>
    <p:extLst>
      <p:ext uri="{BB962C8B-B14F-4D97-AF65-F5344CB8AC3E}">
        <p14:creationId xmlns:p14="http://schemas.microsoft.com/office/powerpoint/2010/main" val="12209161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BA29A-2B4E-7E10-16C6-6137F1212BCB}"/>
              </a:ext>
            </a:extLst>
          </p:cNvPr>
          <p:cNvSpPr>
            <a:spLocks noGrp="1"/>
          </p:cNvSpPr>
          <p:nvPr>
            <p:ph type="title"/>
          </p:nvPr>
        </p:nvSpPr>
        <p:spPr>
          <a:xfrm>
            <a:off x="893645" y="0"/>
            <a:ext cx="8596668" cy="45719"/>
          </a:xfrm>
        </p:spPr>
        <p:txBody>
          <a:bodyPr>
            <a:normAutofit fontScale="90000"/>
          </a:bodyPr>
          <a:lstStyle/>
          <a:p>
            <a:endParaRPr lang="en-IN" dirty="0"/>
          </a:p>
        </p:txBody>
      </p:sp>
      <p:sp>
        <p:nvSpPr>
          <p:cNvPr id="3" name="Text Placeholder 2">
            <a:extLst>
              <a:ext uri="{FF2B5EF4-FFF2-40B4-BE49-F238E27FC236}">
                <a16:creationId xmlns:a16="http://schemas.microsoft.com/office/drawing/2014/main" id="{69551258-E2E3-88DD-EC3A-34450616733B}"/>
              </a:ext>
            </a:extLst>
          </p:cNvPr>
          <p:cNvSpPr>
            <a:spLocks noGrp="1"/>
          </p:cNvSpPr>
          <p:nvPr>
            <p:ph type="body" idx="1"/>
          </p:nvPr>
        </p:nvSpPr>
        <p:spPr>
          <a:xfrm>
            <a:off x="0" y="0"/>
            <a:ext cx="9743768" cy="5427406"/>
          </a:xfrm>
        </p:spPr>
        <p:txBody>
          <a:bodyPr>
            <a:noAutofit/>
          </a:bodyPr>
          <a:lstStyle/>
          <a:p>
            <a:endParaRPr lang="en-IN" sz="2400" b="1" dirty="0">
              <a:latin typeface="Century Schoolbook" panose="02040604050505020304" pitchFamily="18" charset="0"/>
            </a:endParaRPr>
          </a:p>
          <a:p>
            <a:r>
              <a:rPr lang="en-IN" sz="2800" b="1" dirty="0">
                <a:latin typeface="Century Schoolbook" panose="02040604050505020304" pitchFamily="18" charset="0"/>
              </a:rPr>
              <a:t>1] </a:t>
            </a:r>
            <a:r>
              <a:rPr lang="en-IN" sz="2800" b="1" u="sng" dirty="0">
                <a:solidFill>
                  <a:schemeClr val="accent1">
                    <a:lumMod val="75000"/>
                  </a:schemeClr>
                </a:solidFill>
                <a:latin typeface="Century Schoolbook" panose="02040604050505020304" pitchFamily="18" charset="0"/>
              </a:rPr>
              <a:t>Dormant Phase</a:t>
            </a:r>
            <a:r>
              <a:rPr lang="en-IN" sz="2800" b="1" dirty="0">
                <a:solidFill>
                  <a:schemeClr val="accent1">
                    <a:lumMod val="75000"/>
                  </a:schemeClr>
                </a:solidFill>
                <a:latin typeface="Century Schoolbook" panose="02040604050505020304" pitchFamily="18" charset="0"/>
              </a:rPr>
              <a:t> </a:t>
            </a:r>
            <a:r>
              <a:rPr lang="en-IN" sz="2400" b="1" dirty="0">
                <a:solidFill>
                  <a:schemeClr val="tx1">
                    <a:lumMod val="95000"/>
                    <a:lumOff val="5000"/>
                  </a:schemeClr>
                </a:solidFill>
                <a:latin typeface="Century Schoolbook" panose="02040604050505020304" pitchFamily="18" charset="0"/>
              </a:rPr>
              <a:t>: - The virus will eventually be activated by some event, such as a date, the presence of another program or file, or the capacity of the disk exceeding some limit.</a:t>
            </a:r>
          </a:p>
          <a:p>
            <a:r>
              <a:rPr lang="en-IN" sz="2800" b="1" dirty="0">
                <a:latin typeface="Century Schoolbook" panose="02040604050505020304" pitchFamily="18" charset="0"/>
              </a:rPr>
              <a:t>2] </a:t>
            </a:r>
            <a:r>
              <a:rPr lang="en-IN" sz="2800" b="1" u="sng" dirty="0">
                <a:solidFill>
                  <a:schemeClr val="accent1">
                    <a:lumMod val="75000"/>
                  </a:schemeClr>
                </a:solidFill>
                <a:latin typeface="Century Schoolbook" panose="02040604050505020304" pitchFamily="18" charset="0"/>
              </a:rPr>
              <a:t>Propagation Phase</a:t>
            </a:r>
            <a:r>
              <a:rPr lang="en-IN" sz="2400" b="1" dirty="0">
                <a:solidFill>
                  <a:schemeClr val="accent1">
                    <a:lumMod val="75000"/>
                  </a:schemeClr>
                </a:solidFill>
                <a:latin typeface="Century Schoolbook" panose="02040604050505020304" pitchFamily="18" charset="0"/>
              </a:rPr>
              <a:t> </a:t>
            </a:r>
            <a:r>
              <a:rPr lang="en-IN" sz="2400" b="1" dirty="0">
                <a:solidFill>
                  <a:schemeClr val="tx1">
                    <a:lumMod val="95000"/>
                    <a:lumOff val="5000"/>
                  </a:schemeClr>
                </a:solidFill>
                <a:latin typeface="Century Schoolbook" panose="02040604050505020304" pitchFamily="18" charset="0"/>
              </a:rPr>
              <a:t>: - The virus places an identical copy of itself into other programs Each infected program </a:t>
            </a:r>
            <a:r>
              <a:rPr lang="en-IN" sz="2400" b="1" dirty="0" err="1">
                <a:solidFill>
                  <a:schemeClr val="tx1">
                    <a:lumMod val="95000"/>
                    <a:lumOff val="5000"/>
                  </a:schemeClr>
                </a:solidFill>
                <a:latin typeface="Century Schoolbook" panose="02040604050505020304" pitchFamily="18" charset="0"/>
              </a:rPr>
              <a:t>ali</a:t>
            </a:r>
            <a:r>
              <a:rPr lang="en-IN" sz="2400" b="1" dirty="0">
                <a:solidFill>
                  <a:schemeClr val="tx1">
                    <a:lumMod val="95000"/>
                    <a:lumOff val="5000"/>
                  </a:schemeClr>
                </a:solidFill>
                <a:latin typeface="Century Schoolbook" panose="02040604050505020304" pitchFamily="18" charset="0"/>
              </a:rPr>
              <a:t> will now contain a clone of the virus, which will itself enter a propagation </a:t>
            </a:r>
            <a:r>
              <a:rPr lang="en-IN" sz="2400" b="1" dirty="0" err="1">
                <a:solidFill>
                  <a:schemeClr val="tx1">
                    <a:lumMod val="95000"/>
                    <a:lumOff val="5000"/>
                  </a:schemeClr>
                </a:solidFill>
                <a:latin typeface="Century Schoolbook" panose="02040604050505020304" pitchFamily="18" charset="0"/>
              </a:rPr>
              <a:t>phas</a:t>
            </a:r>
            <a:r>
              <a:rPr lang="en-US" sz="2400" b="1" dirty="0">
                <a:solidFill>
                  <a:schemeClr val="tx1">
                    <a:lumMod val="95000"/>
                    <a:lumOff val="5000"/>
                  </a:schemeClr>
                </a:solidFill>
                <a:latin typeface="Century Schoolbook" panose="02040604050505020304" pitchFamily="18" charset="0"/>
              </a:rPr>
              <a:t>e.</a:t>
            </a:r>
          </a:p>
          <a:p>
            <a:r>
              <a:rPr lang="en-US" sz="2800" b="1" dirty="0">
                <a:latin typeface="Century Schoolbook" panose="02040604050505020304" pitchFamily="18" charset="0"/>
              </a:rPr>
              <a:t>3] </a:t>
            </a:r>
            <a:r>
              <a:rPr lang="en-IN" sz="2800" b="1" u="sng" dirty="0">
                <a:solidFill>
                  <a:schemeClr val="accent1">
                    <a:lumMod val="75000"/>
                  </a:schemeClr>
                </a:solidFill>
                <a:latin typeface="Century Schoolbook" panose="02040604050505020304" pitchFamily="18" charset="0"/>
              </a:rPr>
              <a:t>Triggering Phase</a:t>
            </a:r>
            <a:r>
              <a:rPr lang="en-IN" sz="2800" b="1" dirty="0">
                <a:latin typeface="Century Schoolbook" panose="02040604050505020304" pitchFamily="18" charset="0"/>
              </a:rPr>
              <a:t> </a:t>
            </a:r>
            <a:r>
              <a:rPr lang="en-IN" sz="2400" b="1" dirty="0">
                <a:solidFill>
                  <a:schemeClr val="tx1">
                    <a:lumMod val="95000"/>
                    <a:lumOff val="5000"/>
                  </a:schemeClr>
                </a:solidFill>
                <a:latin typeface="Century Schoolbook" panose="02040604050505020304" pitchFamily="18" charset="0"/>
              </a:rPr>
              <a:t>: - The virus is activated to perform the function for which it was intended.</a:t>
            </a:r>
          </a:p>
          <a:p>
            <a:r>
              <a:rPr lang="en-IN" sz="2800" b="1" dirty="0">
                <a:latin typeface="Century Schoolbook" panose="02040604050505020304" pitchFamily="18" charset="0"/>
              </a:rPr>
              <a:t>4] </a:t>
            </a:r>
            <a:r>
              <a:rPr lang="en-IN" sz="2800" b="1" u="sng" dirty="0">
                <a:solidFill>
                  <a:schemeClr val="accent1">
                    <a:lumMod val="75000"/>
                  </a:schemeClr>
                </a:solidFill>
                <a:latin typeface="Century Schoolbook" panose="02040604050505020304" pitchFamily="18" charset="0"/>
              </a:rPr>
              <a:t>Execution Phase</a:t>
            </a:r>
            <a:r>
              <a:rPr lang="en-IN" sz="2400" b="1" dirty="0">
                <a:latin typeface="Century Schoolbook" panose="02040604050505020304" pitchFamily="18" charset="0"/>
              </a:rPr>
              <a:t> </a:t>
            </a:r>
            <a:r>
              <a:rPr lang="en-IN" sz="2400" b="1" dirty="0">
                <a:solidFill>
                  <a:schemeClr val="tx1">
                    <a:lumMod val="95000"/>
                    <a:lumOff val="5000"/>
                  </a:schemeClr>
                </a:solidFill>
                <a:latin typeface="Century Schoolbook" panose="02040604050505020304" pitchFamily="18" charset="0"/>
              </a:rPr>
              <a:t>: - The function is performed. The function. may be harmless, such as message on the screen, or damaging, such as the destruction of programs and data Files.</a:t>
            </a:r>
          </a:p>
        </p:txBody>
      </p:sp>
    </p:spTree>
    <p:extLst>
      <p:ext uri="{BB962C8B-B14F-4D97-AF65-F5344CB8AC3E}">
        <p14:creationId xmlns:p14="http://schemas.microsoft.com/office/powerpoint/2010/main" val="1527819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6D6D4-4798-E106-8BB1-9CE095E82E95}"/>
              </a:ext>
            </a:extLst>
          </p:cNvPr>
          <p:cNvSpPr>
            <a:spLocks noGrp="1"/>
          </p:cNvSpPr>
          <p:nvPr>
            <p:ph type="title"/>
          </p:nvPr>
        </p:nvSpPr>
        <p:spPr>
          <a:xfrm>
            <a:off x="0" y="-1"/>
            <a:ext cx="8596668" cy="727587"/>
          </a:xfrm>
        </p:spPr>
        <p:txBody>
          <a:bodyPr>
            <a:normAutofit/>
          </a:bodyPr>
          <a:lstStyle/>
          <a:p>
            <a:r>
              <a:rPr lang="en-US" sz="4000" dirty="0">
                <a:solidFill>
                  <a:schemeClr val="accent1">
                    <a:lumMod val="50000"/>
                  </a:schemeClr>
                </a:solidFill>
                <a:latin typeface="Algerian" panose="04020705040A02060702" pitchFamily="82" charset="0"/>
              </a:rPr>
              <a:t>1.4 </a:t>
            </a:r>
            <a:r>
              <a:rPr lang="en-US" sz="4000" u="sng" dirty="0">
                <a:solidFill>
                  <a:schemeClr val="accent1">
                    <a:lumMod val="50000"/>
                  </a:schemeClr>
                </a:solidFill>
                <a:latin typeface="Algerian" panose="04020705040A02060702" pitchFamily="82" charset="0"/>
              </a:rPr>
              <a:t>Types of viruses</a:t>
            </a:r>
            <a:r>
              <a:rPr lang="en-US" sz="4000" dirty="0">
                <a:solidFill>
                  <a:schemeClr val="accent1">
                    <a:lumMod val="50000"/>
                  </a:schemeClr>
                </a:solidFill>
                <a:latin typeface="Algerian" panose="04020705040A02060702" pitchFamily="82" charset="0"/>
              </a:rPr>
              <a:t> : -</a:t>
            </a:r>
            <a:endParaRPr lang="en-IN" sz="4000" dirty="0">
              <a:solidFill>
                <a:schemeClr val="accent1">
                  <a:lumMod val="50000"/>
                </a:schemeClr>
              </a:solidFill>
              <a:latin typeface="Algerian" panose="04020705040A02060702" pitchFamily="82" charset="0"/>
            </a:endParaRPr>
          </a:p>
        </p:txBody>
      </p:sp>
      <p:sp>
        <p:nvSpPr>
          <p:cNvPr id="3" name="Text Placeholder 2">
            <a:extLst>
              <a:ext uri="{FF2B5EF4-FFF2-40B4-BE49-F238E27FC236}">
                <a16:creationId xmlns:a16="http://schemas.microsoft.com/office/drawing/2014/main" id="{1AD66784-5926-33C8-896B-0E5A629471B3}"/>
              </a:ext>
            </a:extLst>
          </p:cNvPr>
          <p:cNvSpPr>
            <a:spLocks noGrp="1"/>
          </p:cNvSpPr>
          <p:nvPr>
            <p:ph type="body" idx="1"/>
          </p:nvPr>
        </p:nvSpPr>
        <p:spPr>
          <a:xfrm>
            <a:off x="0" y="363793"/>
            <a:ext cx="10687665" cy="6504038"/>
          </a:xfrm>
        </p:spPr>
        <p:txBody>
          <a:bodyPr>
            <a:normAutofit/>
          </a:bodyPr>
          <a:lstStyle/>
          <a:p>
            <a:r>
              <a:rPr lang="en-US" b="1" dirty="0">
                <a:latin typeface="Century Schoolbook" panose="02040604050505020304" pitchFamily="18" charset="0"/>
              </a:rPr>
              <a:t>1] </a:t>
            </a:r>
            <a:r>
              <a:rPr lang="en-US" b="1" u="sng" dirty="0">
                <a:solidFill>
                  <a:schemeClr val="accent1">
                    <a:lumMod val="75000"/>
                  </a:schemeClr>
                </a:solidFill>
                <a:latin typeface="Century Schoolbook" panose="02040604050505020304" pitchFamily="18" charset="0"/>
              </a:rPr>
              <a:t>Parasitic Virus</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A parasitic virus attaches itself to or executable files and replicates, when the infected program is executed, by finding other executable files to infect.</a:t>
            </a:r>
          </a:p>
          <a:p>
            <a:r>
              <a:rPr lang="en-US" b="1" dirty="0">
                <a:solidFill>
                  <a:schemeClr val="tx1">
                    <a:lumMod val="95000"/>
                    <a:lumOff val="5000"/>
                  </a:schemeClr>
                </a:solidFill>
                <a:latin typeface="Century Schoolbook" panose="02040604050505020304" pitchFamily="18" charset="0"/>
              </a:rPr>
              <a:t>2] </a:t>
            </a:r>
            <a:r>
              <a:rPr lang="en-US" b="1" u="sng" dirty="0">
                <a:solidFill>
                  <a:schemeClr val="accent1">
                    <a:lumMod val="75000"/>
                  </a:schemeClr>
                </a:solidFill>
                <a:latin typeface="Century Schoolbook" panose="02040604050505020304" pitchFamily="18" charset="0"/>
              </a:rPr>
              <a:t>Memory-resident virus</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Lodges in main memory as part of a resident system program. From that point on, the virus infects every program that executes.</a:t>
            </a:r>
          </a:p>
          <a:p>
            <a:r>
              <a:rPr lang="en-US" b="1" dirty="0">
                <a:solidFill>
                  <a:schemeClr val="tx1">
                    <a:lumMod val="95000"/>
                    <a:lumOff val="5000"/>
                  </a:schemeClr>
                </a:solidFill>
                <a:latin typeface="Century Schoolbook" panose="02040604050505020304" pitchFamily="18" charset="0"/>
              </a:rPr>
              <a:t>3] </a:t>
            </a:r>
            <a:r>
              <a:rPr lang="en-US" b="1" u="sng" dirty="0">
                <a:solidFill>
                  <a:schemeClr val="accent1">
                    <a:lumMod val="75000"/>
                  </a:schemeClr>
                </a:solidFill>
                <a:latin typeface="Century Schoolbook" panose="02040604050505020304" pitchFamily="18" charset="0"/>
              </a:rPr>
              <a:t>Boot sector virus Infects</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a master boot record or boot record and spreads when a system is booted from the disk containing the virus.</a:t>
            </a:r>
          </a:p>
          <a:p>
            <a:r>
              <a:rPr lang="en-US" b="1" dirty="0">
                <a:solidFill>
                  <a:schemeClr val="tx1">
                    <a:lumMod val="95000"/>
                    <a:lumOff val="5000"/>
                  </a:schemeClr>
                </a:solidFill>
                <a:latin typeface="Century Schoolbook" panose="02040604050505020304" pitchFamily="18" charset="0"/>
              </a:rPr>
              <a:t>4]</a:t>
            </a:r>
            <a:r>
              <a:rPr lang="en-US" b="1" dirty="0">
                <a:latin typeface="Century Schoolbook" panose="02040604050505020304" pitchFamily="18" charset="0"/>
              </a:rPr>
              <a:t> </a:t>
            </a:r>
            <a:r>
              <a:rPr lang="en-US" b="1" u="sng" dirty="0">
                <a:solidFill>
                  <a:schemeClr val="accent1">
                    <a:lumMod val="75000"/>
                  </a:schemeClr>
                </a:solidFill>
                <a:latin typeface="Century Schoolbook" panose="02040604050505020304" pitchFamily="18" charset="0"/>
              </a:rPr>
              <a:t>Stealth virus</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A form of virus explicitly designed to hide itself from detection by antivirus software.</a:t>
            </a:r>
          </a:p>
          <a:p>
            <a:r>
              <a:rPr lang="en-US" b="1" dirty="0">
                <a:solidFill>
                  <a:schemeClr val="tx1">
                    <a:lumMod val="95000"/>
                    <a:lumOff val="5000"/>
                  </a:schemeClr>
                </a:solidFill>
                <a:latin typeface="Century Schoolbook" panose="02040604050505020304" pitchFamily="18" charset="0"/>
              </a:rPr>
              <a:t>5]</a:t>
            </a:r>
            <a:r>
              <a:rPr lang="en-US" b="1" dirty="0">
                <a:latin typeface="Century Schoolbook" panose="02040604050505020304" pitchFamily="18" charset="0"/>
              </a:rPr>
              <a:t> </a:t>
            </a:r>
            <a:r>
              <a:rPr lang="en-US" b="1" u="sng" dirty="0">
                <a:solidFill>
                  <a:schemeClr val="accent1">
                    <a:lumMod val="75000"/>
                  </a:schemeClr>
                </a:solidFill>
                <a:latin typeface="Century Schoolbook" panose="02040604050505020304" pitchFamily="18" charset="0"/>
              </a:rPr>
              <a:t>Polymorphic virus</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A virus that mutates with every infection, making detection by the signature of the virus is impossible.</a:t>
            </a:r>
          </a:p>
          <a:p>
            <a:r>
              <a:rPr lang="en-US" b="1" dirty="0">
                <a:solidFill>
                  <a:schemeClr val="tx1">
                    <a:lumMod val="95000"/>
                    <a:lumOff val="5000"/>
                  </a:schemeClr>
                </a:solidFill>
                <a:latin typeface="Century Schoolbook" panose="02040604050505020304" pitchFamily="18" charset="0"/>
              </a:rPr>
              <a:t>6]</a:t>
            </a:r>
            <a:r>
              <a:rPr lang="en-US" b="1" dirty="0">
                <a:latin typeface="Century Schoolbook" panose="02040604050505020304" pitchFamily="18" charset="0"/>
              </a:rPr>
              <a:t> </a:t>
            </a:r>
            <a:r>
              <a:rPr lang="en-US" b="1" u="sng" dirty="0">
                <a:solidFill>
                  <a:schemeClr val="accent1">
                    <a:lumMod val="75000"/>
                  </a:schemeClr>
                </a:solidFill>
                <a:latin typeface="Century Schoolbook" panose="02040604050505020304" pitchFamily="18" charset="0"/>
              </a:rPr>
              <a:t>Metamorphic virus</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A metamorphic virus rewrites its elf completely at each iteration, increasing the difficulty of detection. Metamorphic viruses may change their </a:t>
            </a:r>
            <a:r>
              <a:rPr lang="en-US" b="1" dirty="0" err="1">
                <a:solidFill>
                  <a:schemeClr val="tx1">
                    <a:lumMod val="95000"/>
                    <a:lumOff val="5000"/>
                  </a:schemeClr>
                </a:solidFill>
                <a:latin typeface="Century Schoolbook" panose="02040604050505020304" pitchFamily="18" charset="0"/>
              </a:rPr>
              <a:t>behaviour</a:t>
            </a:r>
            <a:r>
              <a:rPr lang="en-US" b="1" dirty="0">
                <a:solidFill>
                  <a:schemeClr val="tx1">
                    <a:lumMod val="95000"/>
                    <a:lumOff val="5000"/>
                  </a:schemeClr>
                </a:solidFill>
                <a:latin typeface="Century Schoolbook" panose="02040604050505020304" pitchFamily="18" charset="0"/>
              </a:rPr>
              <a:t> ma as well as their appearance.</a:t>
            </a:r>
          </a:p>
          <a:p>
            <a:r>
              <a:rPr lang="en-US" b="1" dirty="0">
                <a:solidFill>
                  <a:schemeClr val="tx1">
                    <a:lumMod val="95000"/>
                    <a:lumOff val="5000"/>
                  </a:schemeClr>
                </a:solidFill>
                <a:latin typeface="Century Schoolbook" panose="02040604050505020304" pitchFamily="18" charset="0"/>
              </a:rPr>
              <a:t>7]</a:t>
            </a:r>
            <a:r>
              <a:rPr lang="en-US" b="1" dirty="0">
                <a:latin typeface="Century Schoolbook" panose="02040604050505020304" pitchFamily="18" charset="0"/>
              </a:rPr>
              <a:t> </a:t>
            </a:r>
            <a:r>
              <a:rPr lang="en-US" b="1" u="sng" dirty="0">
                <a:solidFill>
                  <a:schemeClr val="accent1">
                    <a:lumMod val="75000"/>
                  </a:schemeClr>
                </a:solidFill>
                <a:latin typeface="Century Schoolbook" panose="02040604050505020304" pitchFamily="18" charset="0"/>
              </a:rPr>
              <a:t>Macro Viruses</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Macro viruses are particularly threatening for a number of reasons.</a:t>
            </a:r>
          </a:p>
          <a:p>
            <a:r>
              <a:rPr lang="en-US" b="1" dirty="0">
                <a:solidFill>
                  <a:schemeClr val="tx1">
                    <a:lumMod val="95000"/>
                    <a:lumOff val="5000"/>
                  </a:schemeClr>
                </a:solidFill>
                <a:latin typeface="Century Schoolbook" panose="02040604050505020304" pitchFamily="18" charset="0"/>
              </a:rPr>
              <a:t>8]</a:t>
            </a:r>
            <a:r>
              <a:rPr lang="en-US" b="1" dirty="0">
                <a:latin typeface="Century Schoolbook" panose="02040604050505020304" pitchFamily="18" charset="0"/>
              </a:rPr>
              <a:t> </a:t>
            </a:r>
            <a:r>
              <a:rPr lang="en-US" b="1" u="sng" dirty="0">
                <a:solidFill>
                  <a:schemeClr val="accent1">
                    <a:lumMod val="75000"/>
                  </a:schemeClr>
                </a:solidFill>
                <a:latin typeface="Century Schoolbook" panose="02040604050505020304" pitchFamily="18" charset="0"/>
              </a:rPr>
              <a:t>E-mail viruses</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The e-mail virus sends itself to everyone on the mailing list in the user's email package. The virus does local damage. The first rapidly spreading e-mail viruses, such as Melissa, made use of a Microsoft Word Macro embedded in an attachment.</a:t>
            </a:r>
            <a:endParaRPr lang="en-IN"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30270780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5AADC-2784-15A9-6240-78551F76BCEB}"/>
              </a:ext>
            </a:extLst>
          </p:cNvPr>
          <p:cNvSpPr>
            <a:spLocks noGrp="1"/>
          </p:cNvSpPr>
          <p:nvPr>
            <p:ph type="title"/>
          </p:nvPr>
        </p:nvSpPr>
        <p:spPr>
          <a:xfrm>
            <a:off x="0" y="-48601"/>
            <a:ext cx="8596668" cy="865239"/>
          </a:xfrm>
        </p:spPr>
        <p:txBody>
          <a:bodyPr/>
          <a:lstStyle/>
          <a:p>
            <a:pPr marL="571500" indent="-571500">
              <a:buFont typeface="Wingdings" panose="05000000000000000000" pitchFamily="2" charset="2"/>
              <a:buChar char="v"/>
            </a:pPr>
            <a:r>
              <a:rPr lang="en-US" u="sng" dirty="0">
                <a:latin typeface="Algerian" panose="04020705040A02060702" pitchFamily="82" charset="0"/>
              </a:rPr>
              <a:t>During viruses</a:t>
            </a:r>
            <a:r>
              <a:rPr lang="en-US" dirty="0">
                <a:latin typeface="Algerian" panose="04020705040A02060702" pitchFamily="82" charset="0"/>
              </a:rPr>
              <a:t> :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2D297449-8F83-6C81-8985-673ED46323C7}"/>
              </a:ext>
            </a:extLst>
          </p:cNvPr>
          <p:cNvSpPr>
            <a:spLocks noGrp="1"/>
          </p:cNvSpPr>
          <p:nvPr>
            <p:ph type="body" idx="1"/>
          </p:nvPr>
        </p:nvSpPr>
        <p:spPr>
          <a:xfrm>
            <a:off x="97232" y="472508"/>
            <a:ext cx="9341736" cy="1916730"/>
          </a:xfrm>
        </p:spPr>
        <p:txBody>
          <a:bodyPr>
            <a:noAutofit/>
          </a:bodyPr>
          <a:lstStyle/>
          <a:p>
            <a:endParaRPr lang="en-US" sz="2800" b="1" dirty="0">
              <a:latin typeface="Century Schoolbook" panose="02040604050505020304" pitchFamily="18" charset="0"/>
            </a:endParaRPr>
          </a:p>
          <a:p>
            <a:pPr marL="342900" indent="-342900">
              <a:buFont typeface="Wingdings" panose="05000000000000000000" pitchFamily="2" charset="2"/>
              <a:buChar char="Ø"/>
            </a:pPr>
            <a:endParaRPr lang="en-US" sz="2800" b="1" dirty="0">
              <a:latin typeface="Century Schoolbook" panose="02040604050505020304" pitchFamily="18" charset="0"/>
            </a:endParaRPr>
          </a:p>
          <a:p>
            <a:pPr marL="342900" indent="-342900">
              <a:buFont typeface="Wingdings" panose="05000000000000000000" pitchFamily="2" charset="2"/>
              <a:buChar char="Ø"/>
            </a:pPr>
            <a:r>
              <a:rPr lang="en-US" sz="2800" b="1" dirty="0">
                <a:solidFill>
                  <a:schemeClr val="tx1">
                    <a:lumMod val="95000"/>
                    <a:lumOff val="5000"/>
                  </a:schemeClr>
                </a:solidFill>
                <a:latin typeface="Century Schoolbook" panose="02040604050505020304" pitchFamily="18" charset="0"/>
              </a:rPr>
              <a:t>Buying software only from respectable store.</a:t>
            </a:r>
          </a:p>
          <a:p>
            <a:pPr marL="342900" indent="-342900">
              <a:buFont typeface="Wingdings" panose="05000000000000000000" pitchFamily="2" charset="2"/>
              <a:buChar char="Ø"/>
            </a:pPr>
            <a:r>
              <a:rPr lang="en-US" sz="2800" b="1" dirty="0">
                <a:solidFill>
                  <a:schemeClr val="tx1">
                    <a:lumMod val="95000"/>
                    <a:lumOff val="5000"/>
                  </a:schemeClr>
                </a:solidFill>
                <a:latin typeface="Century Schoolbook" panose="02040604050505020304" pitchFamily="18" charset="0"/>
              </a:rPr>
              <a:t>Avoid uploading of free software from public domain.</a:t>
            </a:r>
          </a:p>
          <a:p>
            <a:pPr marL="342900" indent="-342900">
              <a:buFont typeface="Wingdings" panose="05000000000000000000" pitchFamily="2" charset="2"/>
              <a:buChar char="Ø"/>
            </a:pPr>
            <a:r>
              <a:rPr lang="en-US" sz="2800" b="1" dirty="0">
                <a:solidFill>
                  <a:schemeClr val="tx1">
                    <a:lumMod val="95000"/>
                    <a:lumOff val="5000"/>
                  </a:schemeClr>
                </a:solidFill>
                <a:latin typeface="Century Schoolbook" panose="02040604050505020304" pitchFamily="18" charset="0"/>
              </a:rPr>
              <a:t>Avoid borrowing program for someone whose security standards are less. </a:t>
            </a:r>
          </a:p>
        </p:txBody>
      </p:sp>
    </p:spTree>
    <p:extLst>
      <p:ext uri="{BB962C8B-B14F-4D97-AF65-F5344CB8AC3E}">
        <p14:creationId xmlns:p14="http://schemas.microsoft.com/office/powerpoint/2010/main" val="22089058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5825A-3903-1716-9F42-97194FECDD63}"/>
              </a:ext>
            </a:extLst>
          </p:cNvPr>
          <p:cNvSpPr>
            <a:spLocks noGrp="1"/>
          </p:cNvSpPr>
          <p:nvPr>
            <p:ph type="title"/>
          </p:nvPr>
        </p:nvSpPr>
        <p:spPr>
          <a:xfrm>
            <a:off x="0" y="0"/>
            <a:ext cx="8596668" cy="707923"/>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Worms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4ADCD02B-74D6-916D-FB94-547D431F1C2F}"/>
              </a:ext>
            </a:extLst>
          </p:cNvPr>
          <p:cNvSpPr>
            <a:spLocks noGrp="1"/>
          </p:cNvSpPr>
          <p:nvPr>
            <p:ph type="body" idx="1"/>
          </p:nvPr>
        </p:nvSpPr>
        <p:spPr>
          <a:xfrm>
            <a:off x="68826" y="629266"/>
            <a:ext cx="9753600" cy="4149212"/>
          </a:xfrm>
        </p:spPr>
        <p:txBody>
          <a:bodyPr>
            <a:normAutofit/>
          </a:bodyPr>
          <a:lstStyle/>
          <a:p>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Worm is a program that replicates itself by installing copies of itself on other machines </a:t>
            </a:r>
            <a:r>
              <a:rPr lang="en-US" sz="2400" b="1" dirty="0" err="1">
                <a:solidFill>
                  <a:schemeClr val="tx1">
                    <a:lumMod val="95000"/>
                    <a:lumOff val="5000"/>
                  </a:schemeClr>
                </a:solidFill>
                <a:latin typeface="Century Schoolbook" panose="02040604050505020304" pitchFamily="18" charset="0"/>
              </a:rPr>
              <a:t>accross</a:t>
            </a:r>
            <a:r>
              <a:rPr lang="en-US" sz="2400" b="1" dirty="0">
                <a:solidFill>
                  <a:schemeClr val="tx1">
                    <a:lumMod val="95000"/>
                    <a:lumOff val="5000"/>
                  </a:schemeClr>
                </a:solidFill>
                <a:latin typeface="Century Schoolbook" panose="02040604050505020304" pitchFamily="18" charset="0"/>
              </a:rPr>
              <a:t> a network.</a:t>
            </a:r>
          </a:p>
          <a:p>
            <a:r>
              <a:rPr lang="en-US" sz="2400" b="1" dirty="0">
                <a:solidFill>
                  <a:schemeClr val="tx1">
                    <a:lumMod val="95000"/>
                    <a:lumOff val="5000"/>
                  </a:schemeClr>
                </a:solidFill>
                <a:latin typeface="Century Schoolbook" panose="02040604050505020304" pitchFamily="18" charset="0"/>
              </a:rPr>
              <a:t>ii) An e-mail virus has some of the characteristics of a worm because it propagates itself from system to system, it does not need user intervention to propagate. To replicate itself, a network worm uses some sort of network vehicle.</a:t>
            </a:r>
          </a:p>
          <a:p>
            <a:r>
              <a:rPr lang="en-US" sz="2400" b="1" dirty="0">
                <a:solidFill>
                  <a:schemeClr val="tx1">
                    <a:lumMod val="95000"/>
                    <a:lumOff val="5000"/>
                  </a:schemeClr>
                </a:solidFill>
                <a:latin typeface="Century Schoolbook" panose="02040604050505020304" pitchFamily="18" charset="0"/>
              </a:rPr>
              <a:t>iii) It infects via buffer overflow, file sharing, configuration errors and other vulnerabilities.</a:t>
            </a:r>
          </a:p>
          <a:p>
            <a:r>
              <a:rPr lang="en-US" sz="2400" b="1" dirty="0">
                <a:solidFill>
                  <a:schemeClr val="tx1">
                    <a:lumMod val="95000"/>
                    <a:lumOff val="5000"/>
                  </a:schemeClr>
                </a:solidFill>
                <a:latin typeface="Century Schoolbook" panose="02040604050505020304" pitchFamily="18" charset="0"/>
              </a:rPr>
              <a:t>iv) A network worm </a:t>
            </a:r>
            <a:r>
              <a:rPr lang="en-US" sz="2400" b="1" dirty="0" err="1">
                <a:solidFill>
                  <a:schemeClr val="tx1">
                    <a:lumMod val="95000"/>
                    <a:lumOff val="5000"/>
                  </a:schemeClr>
                </a:solidFill>
                <a:latin typeface="Century Schoolbook" panose="02040604050505020304" pitchFamily="18" charset="0"/>
              </a:rPr>
              <a:t>exibits</a:t>
            </a:r>
            <a:r>
              <a:rPr lang="en-US" sz="2400" b="1" dirty="0">
                <a:solidFill>
                  <a:schemeClr val="tx1">
                    <a:lumMod val="95000"/>
                    <a:lumOff val="5000"/>
                  </a:schemeClr>
                </a:solidFill>
                <a:latin typeface="Century Schoolbook" panose="02040604050505020304" pitchFamily="18" charset="0"/>
              </a:rPr>
              <a:t> the same phases &amp; characteristics. as a computer virus.</a:t>
            </a:r>
          </a:p>
        </p:txBody>
      </p:sp>
    </p:spTree>
    <p:extLst>
      <p:ext uri="{BB962C8B-B14F-4D97-AF65-F5344CB8AC3E}">
        <p14:creationId xmlns:p14="http://schemas.microsoft.com/office/powerpoint/2010/main" val="19557750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0551E9-7285-21A4-D826-49F191FBEE2E}"/>
              </a:ext>
            </a:extLst>
          </p:cNvPr>
          <p:cNvSpPr>
            <a:spLocks noGrp="1"/>
          </p:cNvSpPr>
          <p:nvPr>
            <p:ph type="title"/>
          </p:nvPr>
        </p:nvSpPr>
        <p:spPr>
          <a:xfrm>
            <a:off x="28405" y="25400"/>
            <a:ext cx="12035775" cy="791238"/>
          </a:xfrm>
        </p:spPr>
        <p:txBody>
          <a:bodyPr>
            <a:normAutofit/>
          </a:bodyPr>
          <a:lstStyle/>
          <a:p>
            <a:pPr marL="571500" indent="-571500">
              <a:buFont typeface="Wingdings" panose="05000000000000000000" pitchFamily="2" charset="2"/>
              <a:buChar char="v"/>
            </a:pPr>
            <a:r>
              <a:rPr lang="en-US" sz="3600" u="sng" dirty="0">
                <a:latin typeface="Algerian" panose="04020705040A02060702" pitchFamily="82" charset="0"/>
              </a:rPr>
              <a:t>Difference between virus &amp; worms</a:t>
            </a:r>
            <a:r>
              <a:rPr lang="en-US" sz="3600" dirty="0">
                <a:latin typeface="Algerian" panose="04020705040A02060702" pitchFamily="82" charset="0"/>
              </a:rPr>
              <a:t> : -</a:t>
            </a:r>
            <a:endParaRPr lang="en-IN" sz="3600" dirty="0">
              <a:latin typeface="Algerian" panose="04020705040A02060702" pitchFamily="82" charset="0"/>
            </a:endParaRPr>
          </a:p>
        </p:txBody>
      </p:sp>
      <p:sp>
        <p:nvSpPr>
          <p:cNvPr id="3" name="Text Placeholder 2">
            <a:extLst>
              <a:ext uri="{FF2B5EF4-FFF2-40B4-BE49-F238E27FC236}">
                <a16:creationId xmlns:a16="http://schemas.microsoft.com/office/drawing/2014/main" id="{D2D2D163-BF33-1147-F604-476C26BF8882}"/>
              </a:ext>
            </a:extLst>
          </p:cNvPr>
          <p:cNvSpPr>
            <a:spLocks noGrp="1"/>
          </p:cNvSpPr>
          <p:nvPr>
            <p:ph type="body" idx="1"/>
          </p:nvPr>
        </p:nvSpPr>
        <p:spPr>
          <a:xfrm>
            <a:off x="0" y="894735"/>
            <a:ext cx="11169445" cy="5860026"/>
          </a:xfrm>
        </p:spPr>
        <p:txBody>
          <a:bodyPr/>
          <a:lstStyle/>
          <a:p>
            <a:endParaRPr lang="en-IN" dirty="0"/>
          </a:p>
        </p:txBody>
      </p:sp>
      <p:pic>
        <p:nvPicPr>
          <p:cNvPr id="5" name="Picture 4">
            <a:extLst>
              <a:ext uri="{FF2B5EF4-FFF2-40B4-BE49-F238E27FC236}">
                <a16:creationId xmlns:a16="http://schemas.microsoft.com/office/drawing/2014/main" id="{FEEFA489-4F2F-8AF5-5F3E-30863CEC53E3}"/>
              </a:ext>
            </a:extLst>
          </p:cNvPr>
          <p:cNvPicPr>
            <a:picLocks noChangeAspect="1"/>
          </p:cNvPicPr>
          <p:nvPr/>
        </p:nvPicPr>
        <p:blipFill>
          <a:blip r:embed="rId2"/>
          <a:stretch>
            <a:fillRect/>
          </a:stretch>
        </p:blipFill>
        <p:spPr>
          <a:xfrm>
            <a:off x="3428769" y="1104698"/>
            <a:ext cx="5334462" cy="4648603"/>
          </a:xfrm>
          <a:prstGeom prst="rect">
            <a:avLst/>
          </a:prstGeom>
        </p:spPr>
      </p:pic>
      <p:pic>
        <p:nvPicPr>
          <p:cNvPr id="7" name="Picture 6">
            <a:extLst>
              <a:ext uri="{FF2B5EF4-FFF2-40B4-BE49-F238E27FC236}">
                <a16:creationId xmlns:a16="http://schemas.microsoft.com/office/drawing/2014/main" id="{770E86CA-D95F-7273-2205-55BDB7EE1B17}"/>
              </a:ext>
            </a:extLst>
          </p:cNvPr>
          <p:cNvPicPr>
            <a:picLocks noChangeAspect="1"/>
          </p:cNvPicPr>
          <p:nvPr/>
        </p:nvPicPr>
        <p:blipFill>
          <a:blip r:embed="rId2"/>
          <a:stretch>
            <a:fillRect/>
          </a:stretch>
        </p:blipFill>
        <p:spPr>
          <a:xfrm>
            <a:off x="206478" y="737419"/>
            <a:ext cx="9183328" cy="6017341"/>
          </a:xfrm>
          <a:prstGeom prst="rect">
            <a:avLst/>
          </a:prstGeom>
        </p:spPr>
      </p:pic>
    </p:spTree>
    <p:extLst>
      <p:ext uri="{BB962C8B-B14F-4D97-AF65-F5344CB8AC3E}">
        <p14:creationId xmlns:p14="http://schemas.microsoft.com/office/powerpoint/2010/main" val="6723877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748DF-B721-553F-3B06-B089D3F4CD3B}"/>
              </a:ext>
            </a:extLst>
          </p:cNvPr>
          <p:cNvSpPr>
            <a:spLocks noGrp="1"/>
          </p:cNvSpPr>
          <p:nvPr>
            <p:ph type="title"/>
          </p:nvPr>
        </p:nvSpPr>
        <p:spPr>
          <a:xfrm>
            <a:off x="0" y="0"/>
            <a:ext cx="8596668" cy="776748"/>
          </a:xfrm>
        </p:spPr>
        <p:txBody>
          <a:bodyPr/>
          <a:lstStyle/>
          <a:p>
            <a:pPr marL="571500" indent="-571500">
              <a:buFont typeface="Wingdings" panose="05000000000000000000" pitchFamily="2" charset="2"/>
              <a:buChar char="v"/>
            </a:pPr>
            <a:r>
              <a:rPr lang="en-US" u="sng" dirty="0">
                <a:latin typeface="Algerian" panose="04020705040A02060702" pitchFamily="82" charset="0"/>
              </a:rPr>
              <a:t>Trojan horse</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1F05EF73-79DE-88C9-D825-E4C4859F60D7}"/>
              </a:ext>
            </a:extLst>
          </p:cNvPr>
          <p:cNvSpPr>
            <a:spLocks noGrp="1"/>
          </p:cNvSpPr>
          <p:nvPr>
            <p:ph type="body" idx="1"/>
          </p:nvPr>
        </p:nvSpPr>
        <p:spPr>
          <a:xfrm>
            <a:off x="0" y="550607"/>
            <a:ext cx="10019071" cy="4178710"/>
          </a:xfrm>
        </p:spPr>
        <p:txBody>
          <a:bodyPr>
            <a:normAutofit/>
          </a:bodyPr>
          <a:lstStyle/>
          <a:p>
            <a:r>
              <a:rPr lang="en-US" sz="2000" b="1" dirty="0" err="1">
                <a:solidFill>
                  <a:schemeClr val="tx1">
                    <a:lumMod val="95000"/>
                    <a:lumOff val="5000"/>
                  </a:schemeClr>
                </a:solidFill>
                <a:latin typeface="Century Schoolbook" panose="02040604050505020304" pitchFamily="18" charset="0"/>
              </a:rPr>
              <a:t>i</a:t>
            </a:r>
            <a:r>
              <a:rPr lang="en-US" sz="2000" b="1" dirty="0">
                <a:solidFill>
                  <a:schemeClr val="tx1">
                    <a:lumMod val="95000"/>
                    <a:lumOff val="5000"/>
                  </a:schemeClr>
                </a:solidFill>
                <a:latin typeface="Century Schoolbook" panose="02040604050505020304" pitchFamily="18" charset="0"/>
              </a:rPr>
              <a:t>) Trojan horse is a virus that's disguised as a harmless that sometimes carries within itself the mean to allow the programs creator to secretly access the users system.</a:t>
            </a:r>
          </a:p>
          <a:p>
            <a:r>
              <a:rPr lang="en-US" sz="2000" b="1" dirty="0">
                <a:solidFill>
                  <a:schemeClr val="tx1">
                    <a:lumMod val="95000"/>
                    <a:lumOff val="5000"/>
                  </a:schemeClr>
                </a:solidFill>
                <a:latin typeface="Century Schoolbook" panose="02040604050505020304" pitchFamily="18" charset="0"/>
              </a:rPr>
              <a:t>ii) Trojan horse attack may either be passive or active depending on the activities performed by the clandestine code.</a:t>
            </a:r>
          </a:p>
          <a:p>
            <a:r>
              <a:rPr lang="en-US" sz="2000" b="1" dirty="0">
                <a:solidFill>
                  <a:schemeClr val="tx1">
                    <a:lumMod val="95000"/>
                    <a:lumOff val="5000"/>
                  </a:schemeClr>
                </a:solidFill>
                <a:latin typeface="Century Schoolbook" panose="02040604050505020304" pitchFamily="18" charset="0"/>
              </a:rPr>
              <a:t>iii) For Example : if the clandestine code simply steals information then it is of the passive type. But if it does something more harmful like corrupting files, then it is of the active type. </a:t>
            </a:r>
          </a:p>
          <a:p>
            <a:r>
              <a:rPr lang="en-US" sz="2000" b="1" dirty="0">
                <a:solidFill>
                  <a:schemeClr val="tx1">
                    <a:lumMod val="95000"/>
                    <a:lumOff val="5000"/>
                  </a:schemeClr>
                </a:solidFill>
                <a:latin typeface="Century Schoolbook" panose="02040604050505020304" pitchFamily="18" charset="0"/>
              </a:rPr>
              <a:t>iv) Many systems have mechanisms for allowing programs. written by users to be used by other users. These program can improperly use the access rights of an executing user and leak information.</a:t>
            </a:r>
            <a:endParaRPr lang="en-IN" sz="20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8248044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EA8B2-A4D7-0236-B9EC-C480783AAAFC}"/>
              </a:ext>
            </a:extLst>
          </p:cNvPr>
          <p:cNvSpPr>
            <a:spLocks noGrp="1"/>
          </p:cNvSpPr>
          <p:nvPr>
            <p:ph type="title"/>
          </p:nvPr>
        </p:nvSpPr>
        <p:spPr>
          <a:xfrm>
            <a:off x="0" y="0"/>
            <a:ext cx="8596668" cy="658761"/>
          </a:xfrm>
        </p:spPr>
        <p:txBody>
          <a:bodyPr>
            <a:normAutofit fontScale="90000"/>
          </a:bodyPr>
          <a:lstStyle/>
          <a:p>
            <a:pPr marL="571500" indent="-571500">
              <a:buFont typeface="Wingdings" panose="05000000000000000000" pitchFamily="2" charset="2"/>
              <a:buChar char="v"/>
            </a:pPr>
            <a:r>
              <a:rPr lang="en-US" sz="4900" u="sng" dirty="0">
                <a:latin typeface="Algerian" panose="04020705040A02060702" pitchFamily="82" charset="0"/>
              </a:rPr>
              <a:t>Intruders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85894DE-DE53-8BC7-9CC4-206793B4F845}"/>
              </a:ext>
            </a:extLst>
          </p:cNvPr>
          <p:cNvSpPr>
            <a:spLocks noGrp="1"/>
          </p:cNvSpPr>
          <p:nvPr>
            <p:ph type="body" idx="1"/>
          </p:nvPr>
        </p:nvSpPr>
        <p:spPr>
          <a:xfrm>
            <a:off x="78658" y="658761"/>
            <a:ext cx="9478297" cy="4247536"/>
          </a:xfrm>
        </p:spPr>
        <p:txBody>
          <a:bodyPr>
            <a:normAutofit/>
          </a:bodyPr>
          <a:lstStyle/>
          <a:p>
            <a:r>
              <a:rPr lang="en-US" sz="2000" b="1" dirty="0" err="1">
                <a:solidFill>
                  <a:schemeClr val="tx1">
                    <a:lumMod val="95000"/>
                    <a:lumOff val="5000"/>
                  </a:schemeClr>
                </a:solidFill>
                <a:latin typeface="Century Schoolbook" panose="02040604050505020304" pitchFamily="18" charset="0"/>
              </a:rPr>
              <a:t>i</a:t>
            </a:r>
            <a:r>
              <a:rPr lang="en-US" sz="2000" b="1" dirty="0">
                <a:solidFill>
                  <a:schemeClr val="tx1">
                    <a:lumMod val="95000"/>
                    <a:lumOff val="5000"/>
                  </a:schemeClr>
                </a:solidFill>
                <a:latin typeface="Century Schoolbook" panose="02040604050505020304" pitchFamily="18" charset="0"/>
              </a:rPr>
              <a:t>) An Intruder is a person who attempts to gain unauthorized access to a system, to damage that system, or to disturb data on that system.</a:t>
            </a:r>
          </a:p>
          <a:p>
            <a:r>
              <a:rPr lang="en-US" sz="2000" b="1" dirty="0">
                <a:solidFill>
                  <a:schemeClr val="tx1">
                    <a:lumMod val="95000"/>
                    <a:lumOff val="5000"/>
                  </a:schemeClr>
                </a:solidFill>
                <a:latin typeface="Century Schoolbook" panose="02040604050505020304" pitchFamily="18" charset="0"/>
              </a:rPr>
              <a:t>ii) Three classes of intruders are masquerader, misfeasor, and clandestine user :</a:t>
            </a:r>
          </a:p>
          <a:p>
            <a:r>
              <a:rPr lang="en-US" sz="2000" b="1" dirty="0">
                <a:solidFill>
                  <a:schemeClr val="tx1">
                    <a:lumMod val="95000"/>
                    <a:lumOff val="5000"/>
                  </a:schemeClr>
                </a:solidFill>
                <a:latin typeface="Century Schoolbook" panose="02040604050505020304" pitchFamily="18" charset="0"/>
              </a:rPr>
              <a:t>1.</a:t>
            </a:r>
            <a:r>
              <a:rPr lang="en-US" sz="20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Masquerader</a:t>
            </a:r>
            <a:r>
              <a:rPr lang="en-US" sz="2400" b="1" dirty="0">
                <a:latin typeface="Century Schoolbook" panose="02040604050505020304" pitchFamily="18" charset="0"/>
              </a:rPr>
              <a:t> </a:t>
            </a:r>
            <a:r>
              <a:rPr lang="en-US" sz="2400" b="1" dirty="0">
                <a:solidFill>
                  <a:schemeClr val="tx1">
                    <a:lumMod val="95000"/>
                    <a:lumOff val="5000"/>
                  </a:schemeClr>
                </a:solidFill>
                <a:latin typeface="Century Schoolbook" panose="02040604050505020304" pitchFamily="18" charset="0"/>
              </a:rPr>
              <a:t>: - </a:t>
            </a:r>
            <a:r>
              <a:rPr lang="en-US" sz="2000" b="1" dirty="0">
                <a:solidFill>
                  <a:schemeClr val="tx1">
                    <a:lumMod val="95000"/>
                    <a:lumOff val="5000"/>
                  </a:schemeClr>
                </a:solidFill>
                <a:latin typeface="Century Schoolbook" panose="02040604050505020304" pitchFamily="18" charset="0"/>
              </a:rPr>
              <a:t>An unauthorized user who penetrates computer system's access control and gain access to user accounts.</a:t>
            </a:r>
          </a:p>
          <a:p>
            <a:r>
              <a:rPr lang="en-US" sz="2000" b="1" dirty="0">
                <a:solidFill>
                  <a:schemeClr val="tx1">
                    <a:lumMod val="95000"/>
                    <a:lumOff val="5000"/>
                  </a:schemeClr>
                </a:solidFill>
                <a:latin typeface="Century Schoolbook" panose="02040604050505020304" pitchFamily="18" charset="0"/>
              </a:rPr>
              <a:t>2.</a:t>
            </a:r>
            <a:r>
              <a:rPr lang="en-US" sz="20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Misfeasor</a:t>
            </a:r>
            <a:r>
              <a:rPr lang="en-US" sz="2400" b="1" dirty="0">
                <a:latin typeface="Century Schoolbook" panose="02040604050505020304" pitchFamily="18" charset="0"/>
              </a:rPr>
              <a:t> </a:t>
            </a:r>
            <a:r>
              <a:rPr lang="en-US" sz="2400" b="1" dirty="0">
                <a:solidFill>
                  <a:schemeClr val="tx1">
                    <a:lumMod val="95000"/>
                    <a:lumOff val="5000"/>
                  </a:schemeClr>
                </a:solidFill>
                <a:latin typeface="Century Schoolbook" panose="02040604050505020304" pitchFamily="18" charset="0"/>
              </a:rPr>
              <a:t>: - </a:t>
            </a:r>
            <a:r>
              <a:rPr lang="en-US" sz="2000" b="1" dirty="0">
                <a:solidFill>
                  <a:schemeClr val="tx1">
                    <a:lumMod val="95000"/>
                    <a:lumOff val="5000"/>
                  </a:schemeClr>
                </a:solidFill>
                <a:latin typeface="Century Schoolbook" panose="02040604050505020304" pitchFamily="18" charset="0"/>
              </a:rPr>
              <a:t>A legitimate user who accesses resources he is not authorized to access who is authorized such access </a:t>
            </a:r>
            <a:r>
              <a:rPr lang="en-US" sz="2000" b="1" dirty="0" err="1">
                <a:solidFill>
                  <a:schemeClr val="tx1">
                    <a:lumMod val="95000"/>
                    <a:lumOff val="5000"/>
                  </a:schemeClr>
                </a:solidFill>
                <a:latin typeface="Century Schoolbook" panose="02040604050505020304" pitchFamily="18" charset="0"/>
              </a:rPr>
              <a:t>butmisuses</a:t>
            </a:r>
            <a:r>
              <a:rPr lang="en-US" sz="2000" b="1" dirty="0">
                <a:solidFill>
                  <a:schemeClr val="tx1">
                    <a:lumMod val="95000"/>
                    <a:lumOff val="5000"/>
                  </a:schemeClr>
                </a:solidFill>
                <a:latin typeface="Century Schoolbook" panose="02040604050505020304" pitchFamily="18" charset="0"/>
              </a:rPr>
              <a:t> his privileges.</a:t>
            </a:r>
          </a:p>
          <a:p>
            <a:r>
              <a:rPr lang="en-US" sz="2000" b="1" dirty="0">
                <a:solidFill>
                  <a:schemeClr val="tx1">
                    <a:lumMod val="95000"/>
                    <a:lumOff val="5000"/>
                  </a:schemeClr>
                </a:solidFill>
                <a:latin typeface="Century Schoolbook" panose="02040604050505020304" pitchFamily="18" charset="0"/>
              </a:rPr>
              <a:t>3.</a:t>
            </a:r>
            <a:r>
              <a:rPr lang="en-US" sz="2000" b="1" dirty="0">
                <a:latin typeface="Century Schoolbook" panose="02040604050505020304" pitchFamily="18" charset="0"/>
              </a:rPr>
              <a:t> </a:t>
            </a:r>
            <a:r>
              <a:rPr lang="en-US" sz="2400" b="1" u="sng" dirty="0">
                <a:solidFill>
                  <a:schemeClr val="accent1">
                    <a:lumMod val="75000"/>
                  </a:schemeClr>
                </a:solidFill>
                <a:latin typeface="Century Schoolbook" panose="02040604050505020304" pitchFamily="18" charset="0"/>
              </a:rPr>
              <a:t>Clandestine user</a:t>
            </a:r>
            <a:r>
              <a:rPr lang="en-US" sz="2400" b="1" dirty="0">
                <a:latin typeface="Century Schoolbook" panose="02040604050505020304" pitchFamily="18" charset="0"/>
              </a:rPr>
              <a:t> </a:t>
            </a:r>
            <a:r>
              <a:rPr lang="en-US" sz="2400" b="1" dirty="0">
                <a:solidFill>
                  <a:schemeClr val="tx1">
                    <a:lumMod val="95000"/>
                    <a:lumOff val="5000"/>
                  </a:schemeClr>
                </a:solidFill>
                <a:latin typeface="Century Schoolbook" panose="02040604050505020304" pitchFamily="18" charset="0"/>
              </a:rPr>
              <a:t>: -</a:t>
            </a:r>
            <a:r>
              <a:rPr lang="en-US" sz="2000" b="1" dirty="0">
                <a:solidFill>
                  <a:schemeClr val="tx1">
                    <a:lumMod val="95000"/>
                    <a:lumOff val="5000"/>
                  </a:schemeClr>
                </a:solidFill>
                <a:latin typeface="Century Schoolbook" panose="02040604050505020304" pitchFamily="18" charset="0"/>
              </a:rPr>
              <a:t> A user who seizes the supervisory control of the system and uses it to evade auditing and access control.</a:t>
            </a:r>
            <a:endParaRPr lang="en-IN" sz="20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3477801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70013-7E5A-C552-7A08-349C0F335957}"/>
              </a:ext>
            </a:extLst>
          </p:cNvPr>
          <p:cNvSpPr>
            <a:spLocks noGrp="1"/>
          </p:cNvSpPr>
          <p:nvPr>
            <p:ph type="title"/>
          </p:nvPr>
        </p:nvSpPr>
        <p:spPr>
          <a:xfrm>
            <a:off x="0" y="-127819"/>
            <a:ext cx="8596668" cy="875071"/>
          </a:xfrm>
        </p:spPr>
        <p:txBody>
          <a:bodyPr/>
          <a:lstStyle/>
          <a:p>
            <a:pPr marL="571500" indent="-571500">
              <a:buFont typeface="Wingdings" panose="05000000000000000000" pitchFamily="2" charset="2"/>
              <a:buChar char="v"/>
            </a:pPr>
            <a:r>
              <a:rPr lang="en-US" u="sng" dirty="0">
                <a:latin typeface="Algerian" panose="04020705040A02060702" pitchFamily="82" charset="0"/>
              </a:rPr>
              <a:t>Insiders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14D43C2-CCA4-A37E-6769-C4E84BAE3557}"/>
              </a:ext>
            </a:extLst>
          </p:cNvPr>
          <p:cNvSpPr>
            <a:spLocks noGrp="1"/>
          </p:cNvSpPr>
          <p:nvPr>
            <p:ph type="body" idx="1"/>
          </p:nvPr>
        </p:nvSpPr>
        <p:spPr>
          <a:xfrm>
            <a:off x="0" y="481780"/>
            <a:ext cx="9645445" cy="5373329"/>
          </a:xfrm>
        </p:spPr>
        <p:txBody>
          <a:bodyPr>
            <a:normAutofit/>
          </a:bodyPr>
          <a:lstStyle/>
          <a:p>
            <a:r>
              <a:rPr lang="en-US" sz="2000" b="1" dirty="0">
                <a:solidFill>
                  <a:schemeClr val="tx1">
                    <a:lumMod val="95000"/>
                    <a:lumOff val="5000"/>
                  </a:schemeClr>
                </a:solidFill>
                <a:latin typeface="Century Schoolbook" panose="02040604050505020304" pitchFamily="18" charset="0"/>
              </a:rPr>
              <a:t>i) An Insider threat is a malicious threat to an organization that comes from people within the organization, who have inside information </a:t>
            </a:r>
            <a:r>
              <a:rPr lang="en-US" sz="2000" b="1" dirty="0" err="1">
                <a:solidFill>
                  <a:schemeClr val="tx1">
                    <a:lumMod val="95000"/>
                    <a:lumOff val="5000"/>
                  </a:schemeClr>
                </a:solidFill>
                <a:latin typeface="Century Schoolbook" panose="02040604050505020304" pitchFamily="18" charset="0"/>
              </a:rPr>
              <a:t>concuring</a:t>
            </a:r>
            <a:r>
              <a:rPr lang="en-US" sz="2000" b="1" dirty="0">
                <a:solidFill>
                  <a:schemeClr val="tx1">
                    <a:lumMod val="95000"/>
                    <a:lumOff val="5000"/>
                  </a:schemeClr>
                </a:solidFill>
                <a:latin typeface="Century Schoolbook" panose="02040604050505020304" pitchFamily="18" charset="0"/>
              </a:rPr>
              <a:t> the organization's security. practices, data and computer systems.</a:t>
            </a:r>
          </a:p>
          <a:p>
            <a:r>
              <a:rPr lang="en-US" sz="2000" b="1" dirty="0">
                <a:solidFill>
                  <a:schemeClr val="tx1">
                    <a:lumMod val="95000"/>
                    <a:lumOff val="5000"/>
                  </a:schemeClr>
                </a:solidFill>
                <a:latin typeface="Century Schoolbook" panose="02040604050505020304" pitchFamily="18" charset="0"/>
              </a:rPr>
              <a:t>ii) Insiders are more dangerous than outside Intruders. </a:t>
            </a:r>
          </a:p>
          <a:p>
            <a:r>
              <a:rPr lang="en-US" sz="2000" b="1" dirty="0">
                <a:solidFill>
                  <a:schemeClr val="tx1">
                    <a:lumMod val="95000"/>
                    <a:lumOff val="5000"/>
                  </a:schemeClr>
                </a:solidFill>
                <a:latin typeface="Century Schoolbook" panose="02040604050505020304" pitchFamily="18" charset="0"/>
              </a:rPr>
              <a:t>iii) They have the access and knowledge necessary to cause immediate damage to an organization.</a:t>
            </a:r>
          </a:p>
          <a:p>
            <a:r>
              <a:rPr lang="en-US" sz="2000" b="1" dirty="0">
                <a:solidFill>
                  <a:schemeClr val="tx1">
                    <a:lumMod val="95000"/>
                    <a:lumOff val="5000"/>
                  </a:schemeClr>
                </a:solidFill>
                <a:latin typeface="Century Schoolbook" panose="02040604050505020304" pitchFamily="18" charset="0"/>
              </a:rPr>
              <a:t>iv) Insider attacks can be motivated by revenge or simply feeling of entitlement. </a:t>
            </a:r>
          </a:p>
          <a:p>
            <a:r>
              <a:rPr lang="en-US" sz="2000" b="1" dirty="0">
                <a:solidFill>
                  <a:schemeClr val="tx1">
                    <a:lumMod val="95000"/>
                    <a:lumOff val="5000"/>
                  </a:schemeClr>
                </a:solidFill>
                <a:latin typeface="Century Schoolbook" panose="02040604050505020304" pitchFamily="18" charset="0"/>
              </a:rPr>
              <a:t>- Some of the measures taken :</a:t>
            </a:r>
          </a:p>
          <a:p>
            <a:r>
              <a:rPr lang="en-US" sz="2000" b="1" dirty="0">
                <a:solidFill>
                  <a:schemeClr val="tx1">
                    <a:lumMod val="95000"/>
                    <a:lumOff val="5000"/>
                  </a:schemeClr>
                </a:solidFill>
                <a:latin typeface="Century Schoolbook" panose="02040604050505020304" pitchFamily="18" charset="0"/>
              </a:rPr>
              <a:t>1. Enforce least privilege, only allowing access to the resources. employees need to do their job.</a:t>
            </a:r>
          </a:p>
          <a:p>
            <a:r>
              <a:rPr lang="en-US" sz="2000" b="1" dirty="0">
                <a:solidFill>
                  <a:schemeClr val="tx1">
                    <a:lumMod val="95000"/>
                    <a:lumOff val="5000"/>
                  </a:schemeClr>
                </a:solidFill>
                <a:latin typeface="Century Schoolbook" panose="02040604050505020304" pitchFamily="18" charset="0"/>
              </a:rPr>
              <a:t>2. Set logs to see what users access and what commands they are entering.</a:t>
            </a:r>
            <a:endParaRPr lang="en-IN" sz="20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9983008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CD9B7C-482B-339C-6931-D09CCF52FBDF}"/>
              </a:ext>
            </a:extLst>
          </p:cNvPr>
          <p:cNvSpPr>
            <a:spLocks noGrp="1"/>
          </p:cNvSpPr>
          <p:nvPr>
            <p:ph type="title"/>
          </p:nvPr>
        </p:nvSpPr>
        <p:spPr>
          <a:xfrm>
            <a:off x="0" y="-68826"/>
            <a:ext cx="8596668" cy="731425"/>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Types of attacks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539C8CBD-EF25-4ECD-27EA-FE378BCF4CBE}"/>
              </a:ext>
            </a:extLst>
          </p:cNvPr>
          <p:cNvSpPr>
            <a:spLocks noGrp="1"/>
          </p:cNvSpPr>
          <p:nvPr>
            <p:ph type="body" idx="1"/>
          </p:nvPr>
        </p:nvSpPr>
        <p:spPr>
          <a:xfrm>
            <a:off x="-1" y="662599"/>
            <a:ext cx="6174659" cy="6195401"/>
          </a:xfrm>
        </p:spPr>
        <p:txBody>
          <a:bodyPr>
            <a:normAutofit/>
          </a:bodyPr>
          <a:lstStyle/>
          <a:p>
            <a:r>
              <a:rPr lang="en-US" sz="4000" dirty="0">
                <a:solidFill>
                  <a:schemeClr val="accent1">
                    <a:lumMod val="75000"/>
                  </a:schemeClr>
                </a:solidFill>
                <a:latin typeface="Algerian" panose="04020705040A02060702" pitchFamily="82" charset="0"/>
              </a:rPr>
              <a:t>1. </a:t>
            </a:r>
            <a:r>
              <a:rPr lang="en-US" sz="4000" u="sng" dirty="0">
                <a:solidFill>
                  <a:schemeClr val="accent1">
                    <a:lumMod val="75000"/>
                  </a:schemeClr>
                </a:solidFill>
                <a:latin typeface="Algerian" panose="04020705040A02060702" pitchFamily="82" charset="0"/>
              </a:rPr>
              <a:t>Active attack</a:t>
            </a:r>
            <a:r>
              <a:rPr lang="en-US" sz="4000" dirty="0">
                <a:solidFill>
                  <a:schemeClr val="accent1">
                    <a:lumMod val="75000"/>
                  </a:schemeClr>
                </a:solidFill>
                <a:latin typeface="Algerian" panose="04020705040A02060702" pitchFamily="82" charset="0"/>
              </a:rPr>
              <a:t> : -</a:t>
            </a:r>
            <a:endParaRPr lang="en-IN" sz="2000" dirty="0">
              <a:solidFill>
                <a:schemeClr val="tx1">
                  <a:lumMod val="95000"/>
                  <a:lumOff val="5000"/>
                </a:schemeClr>
              </a:solidFill>
              <a:latin typeface="Century Schoolbook" panose="02040604050505020304" pitchFamily="18" charset="0"/>
            </a:endParaRPr>
          </a:p>
          <a:p>
            <a:r>
              <a:rPr lang="en-IN" sz="2400" b="1" dirty="0" err="1">
                <a:solidFill>
                  <a:schemeClr val="tx1">
                    <a:lumMod val="95000"/>
                    <a:lumOff val="5000"/>
                  </a:schemeClr>
                </a:solidFill>
                <a:latin typeface="Century Schoolbook" panose="02040604050505020304" pitchFamily="18" charset="0"/>
              </a:rPr>
              <a:t>i</a:t>
            </a:r>
            <a:r>
              <a:rPr lang="en-IN" sz="2400" b="1" dirty="0">
                <a:solidFill>
                  <a:schemeClr val="tx1">
                    <a:lumMod val="95000"/>
                    <a:lumOff val="5000"/>
                  </a:schemeClr>
                </a:solidFill>
                <a:latin typeface="Century Schoolbook" panose="02040604050505020304" pitchFamily="18" charset="0"/>
              </a:rPr>
              <a:t>) Active attacks involve some modification of the data stream or the creation of a false stream .</a:t>
            </a:r>
          </a:p>
          <a:p>
            <a:r>
              <a:rPr lang="en-IN" sz="2400" b="1" dirty="0">
                <a:solidFill>
                  <a:schemeClr val="tx1">
                    <a:lumMod val="95000"/>
                    <a:lumOff val="5000"/>
                  </a:schemeClr>
                </a:solidFill>
                <a:latin typeface="Century Schoolbook" panose="02040604050505020304" pitchFamily="18" charset="0"/>
              </a:rPr>
              <a:t>ii) These attacks can not be prevented easily.</a:t>
            </a:r>
          </a:p>
          <a:p>
            <a:r>
              <a:rPr lang="en-IN" sz="2400" b="1" dirty="0">
                <a:solidFill>
                  <a:schemeClr val="tx1">
                    <a:lumMod val="95000"/>
                    <a:lumOff val="5000"/>
                  </a:schemeClr>
                </a:solidFill>
                <a:latin typeface="Century Schoolbook" panose="02040604050505020304" pitchFamily="18" charset="0"/>
              </a:rPr>
              <a:t>iii) Active attacks can be divided into four types : -</a:t>
            </a:r>
          </a:p>
          <a:p>
            <a:r>
              <a:rPr lang="en-IN" sz="2400" b="1" dirty="0">
                <a:solidFill>
                  <a:schemeClr val="tx1">
                    <a:lumMod val="95000"/>
                    <a:lumOff val="5000"/>
                  </a:schemeClr>
                </a:solidFill>
                <a:latin typeface="Century Schoolbook" panose="02040604050505020304" pitchFamily="18" charset="0"/>
              </a:rPr>
              <a:t>1. Masquerade.</a:t>
            </a:r>
          </a:p>
          <a:p>
            <a:r>
              <a:rPr lang="en-IN" sz="2400" b="1" dirty="0">
                <a:solidFill>
                  <a:schemeClr val="tx1">
                    <a:lumMod val="95000"/>
                    <a:lumOff val="5000"/>
                  </a:schemeClr>
                </a:solidFill>
                <a:latin typeface="Century Schoolbook" panose="02040604050505020304" pitchFamily="18" charset="0"/>
              </a:rPr>
              <a:t>2. Replay.</a:t>
            </a:r>
          </a:p>
          <a:p>
            <a:r>
              <a:rPr lang="en-IN" sz="2400" b="1" dirty="0">
                <a:solidFill>
                  <a:schemeClr val="tx1">
                    <a:lumMod val="95000"/>
                    <a:lumOff val="5000"/>
                  </a:schemeClr>
                </a:solidFill>
                <a:latin typeface="Century Schoolbook" panose="02040604050505020304" pitchFamily="18" charset="0"/>
              </a:rPr>
              <a:t>3. Modification of message.</a:t>
            </a:r>
          </a:p>
          <a:p>
            <a:r>
              <a:rPr lang="en-IN" sz="2400" b="1" dirty="0">
                <a:solidFill>
                  <a:schemeClr val="tx1">
                    <a:lumMod val="95000"/>
                    <a:lumOff val="5000"/>
                  </a:schemeClr>
                </a:solidFill>
                <a:latin typeface="Century Schoolbook" panose="02040604050505020304" pitchFamily="18" charset="0"/>
              </a:rPr>
              <a:t>4. Denial of services.</a:t>
            </a:r>
          </a:p>
          <a:p>
            <a:endParaRPr lang="en-US" sz="4000" b="1" dirty="0">
              <a:solidFill>
                <a:schemeClr val="tx1">
                  <a:lumMod val="95000"/>
                  <a:lumOff val="5000"/>
                </a:schemeClr>
              </a:solidFill>
              <a:latin typeface="Algerian" panose="04020705040A02060702" pitchFamily="82" charset="0"/>
            </a:endParaRPr>
          </a:p>
        </p:txBody>
      </p:sp>
      <p:pic>
        <p:nvPicPr>
          <p:cNvPr id="5" name="Picture 4">
            <a:extLst>
              <a:ext uri="{FF2B5EF4-FFF2-40B4-BE49-F238E27FC236}">
                <a16:creationId xmlns:a16="http://schemas.microsoft.com/office/drawing/2014/main" id="{B83001AF-CB36-8921-B757-838370CA5A62}"/>
              </a:ext>
            </a:extLst>
          </p:cNvPr>
          <p:cNvPicPr>
            <a:picLocks noChangeAspect="1"/>
          </p:cNvPicPr>
          <p:nvPr/>
        </p:nvPicPr>
        <p:blipFill>
          <a:blip r:embed="rId2"/>
          <a:stretch>
            <a:fillRect/>
          </a:stretch>
        </p:blipFill>
        <p:spPr>
          <a:xfrm>
            <a:off x="6017343" y="816638"/>
            <a:ext cx="6043262" cy="3568549"/>
          </a:xfrm>
          <a:prstGeom prst="rect">
            <a:avLst/>
          </a:prstGeom>
        </p:spPr>
      </p:pic>
    </p:spTree>
    <p:extLst>
      <p:ext uri="{BB962C8B-B14F-4D97-AF65-F5344CB8AC3E}">
        <p14:creationId xmlns:p14="http://schemas.microsoft.com/office/powerpoint/2010/main" val="6294789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49BD2-3CEA-E81E-189D-259C9EFA3811}"/>
              </a:ext>
            </a:extLst>
          </p:cNvPr>
          <p:cNvSpPr>
            <a:spLocks noGrp="1"/>
          </p:cNvSpPr>
          <p:nvPr>
            <p:ph type="title"/>
          </p:nvPr>
        </p:nvSpPr>
        <p:spPr>
          <a:xfrm>
            <a:off x="18574" y="25400"/>
            <a:ext cx="8596668" cy="791238"/>
          </a:xfrm>
        </p:spPr>
        <p:txBody>
          <a:bodyPr/>
          <a:lstStyle/>
          <a:p>
            <a:r>
              <a:rPr lang="en-US" dirty="0">
                <a:latin typeface="Algerian" panose="04020705040A02060702" pitchFamily="82" charset="0"/>
              </a:rPr>
              <a:t>2. </a:t>
            </a:r>
            <a:r>
              <a:rPr lang="en-US" u="sng" dirty="0">
                <a:latin typeface="Algerian" panose="04020705040A02060702" pitchFamily="82" charset="0"/>
              </a:rPr>
              <a:t>Passive attack</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3650F47F-E89D-44BB-B6B6-8DFACF956D35}"/>
              </a:ext>
            </a:extLst>
          </p:cNvPr>
          <p:cNvSpPr>
            <a:spLocks noGrp="1"/>
          </p:cNvSpPr>
          <p:nvPr>
            <p:ph type="body" idx="1"/>
          </p:nvPr>
        </p:nvSpPr>
        <p:spPr>
          <a:xfrm>
            <a:off x="117986" y="639657"/>
            <a:ext cx="9389807" cy="4561608"/>
          </a:xfrm>
        </p:spPr>
        <p:txBody>
          <a:bodyPr>
            <a:normAutofit/>
          </a:bodyPr>
          <a:lstStyle/>
          <a:p>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A passive attack attempts to learn or make use of information From the system but does not affect system resources.</a:t>
            </a:r>
          </a:p>
          <a:p>
            <a:r>
              <a:rPr lang="en-US" sz="2400" b="1" dirty="0">
                <a:solidFill>
                  <a:schemeClr val="tx1">
                    <a:lumMod val="95000"/>
                    <a:lumOff val="5000"/>
                  </a:schemeClr>
                </a:solidFill>
                <a:latin typeface="Century Schoolbook" panose="02040604050505020304" pitchFamily="18" charset="0"/>
              </a:rPr>
              <a:t>ii) The attacker aims to obtain information that is in transit.</a:t>
            </a:r>
          </a:p>
          <a:p>
            <a:r>
              <a:rPr lang="en-US" sz="2400" b="1" dirty="0">
                <a:solidFill>
                  <a:schemeClr val="tx1">
                    <a:lumMod val="95000"/>
                    <a:lumOff val="5000"/>
                  </a:schemeClr>
                </a:solidFill>
                <a:latin typeface="Century Schoolbook" panose="02040604050505020304" pitchFamily="18" charset="0"/>
              </a:rPr>
              <a:t>iii) The term passive indicates that the attacker does not attempt to perform any modifications to the data. </a:t>
            </a:r>
          </a:p>
          <a:p>
            <a:r>
              <a:rPr lang="en-US" sz="2400" b="1" dirty="0">
                <a:solidFill>
                  <a:schemeClr val="tx1">
                    <a:lumMod val="95000"/>
                    <a:lumOff val="5000"/>
                  </a:schemeClr>
                </a:solidFill>
                <a:latin typeface="Century Schoolbook" panose="02040604050505020304" pitchFamily="18" charset="0"/>
              </a:rPr>
              <a:t>iv) Passive attacks are of two types : -</a:t>
            </a:r>
          </a:p>
          <a:p>
            <a:r>
              <a:rPr lang="en-US" sz="2400" b="1" dirty="0">
                <a:solidFill>
                  <a:schemeClr val="tx1">
                    <a:lumMod val="95000"/>
                    <a:lumOff val="5000"/>
                  </a:schemeClr>
                </a:solidFill>
                <a:latin typeface="Century Schoolbook" panose="02040604050505020304" pitchFamily="18" charset="0"/>
              </a:rPr>
              <a:t>1. Release of message contents.</a:t>
            </a:r>
          </a:p>
          <a:p>
            <a:r>
              <a:rPr lang="en-US" sz="2400" b="1" dirty="0">
                <a:solidFill>
                  <a:schemeClr val="tx1">
                    <a:lumMod val="95000"/>
                    <a:lumOff val="5000"/>
                  </a:schemeClr>
                </a:solidFill>
                <a:latin typeface="Century Schoolbook" panose="02040604050505020304" pitchFamily="18" charset="0"/>
              </a:rPr>
              <a:t>2. Traffic analysis.</a:t>
            </a:r>
            <a:endParaRPr lang="en-IN" sz="24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26123045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6E0B0-256C-78D3-785B-DDB0DD0B333E}"/>
              </a:ext>
            </a:extLst>
          </p:cNvPr>
          <p:cNvSpPr>
            <a:spLocks noGrp="1"/>
          </p:cNvSpPr>
          <p:nvPr>
            <p:ph type="title"/>
          </p:nvPr>
        </p:nvSpPr>
        <p:spPr>
          <a:xfrm>
            <a:off x="0" y="-133593"/>
            <a:ext cx="11976782" cy="791238"/>
          </a:xfrm>
        </p:spPr>
        <p:txBody>
          <a:bodyPr>
            <a:normAutofit/>
          </a:bodyPr>
          <a:lstStyle/>
          <a:p>
            <a:pPr marL="571500" indent="-571500">
              <a:buFont typeface="Wingdings" panose="05000000000000000000" pitchFamily="2" charset="2"/>
              <a:buChar char="v"/>
            </a:pPr>
            <a:r>
              <a:rPr lang="en-US" sz="2800" u="sng" dirty="0">
                <a:latin typeface="Algerian" panose="04020705040A02060702" pitchFamily="82" charset="0"/>
              </a:rPr>
              <a:t>Difference between active attack &amp; passive attack</a:t>
            </a:r>
            <a:r>
              <a:rPr lang="en-US" sz="2800" dirty="0">
                <a:latin typeface="Algerian" panose="04020705040A02060702" pitchFamily="82" charset="0"/>
              </a:rPr>
              <a:t> : -</a:t>
            </a:r>
            <a:endParaRPr lang="en-IN" sz="2800" dirty="0">
              <a:latin typeface="Algerian" panose="04020705040A02060702" pitchFamily="82" charset="0"/>
            </a:endParaRPr>
          </a:p>
        </p:txBody>
      </p:sp>
      <p:sp>
        <p:nvSpPr>
          <p:cNvPr id="3" name="Text Placeholder 2">
            <a:extLst>
              <a:ext uri="{FF2B5EF4-FFF2-40B4-BE49-F238E27FC236}">
                <a16:creationId xmlns:a16="http://schemas.microsoft.com/office/drawing/2014/main" id="{4199E49E-AFE2-1BE9-EFA7-6AE0209E7A37}"/>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314D6525-F8F0-9A85-D222-0452A5F87B72}"/>
              </a:ext>
            </a:extLst>
          </p:cNvPr>
          <p:cNvPicPr>
            <a:picLocks noChangeAspect="1"/>
          </p:cNvPicPr>
          <p:nvPr/>
        </p:nvPicPr>
        <p:blipFill>
          <a:blip r:embed="rId2"/>
          <a:stretch>
            <a:fillRect/>
          </a:stretch>
        </p:blipFill>
        <p:spPr>
          <a:xfrm>
            <a:off x="68826" y="462116"/>
            <a:ext cx="10628671" cy="6282813"/>
          </a:xfrm>
          <a:prstGeom prst="rect">
            <a:avLst/>
          </a:prstGeom>
        </p:spPr>
      </p:pic>
    </p:spTree>
    <p:extLst>
      <p:ext uri="{BB962C8B-B14F-4D97-AF65-F5344CB8AC3E}">
        <p14:creationId xmlns:p14="http://schemas.microsoft.com/office/powerpoint/2010/main" val="36019922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3C8E3-05A2-6CB7-0AF3-C778E7547A34}"/>
              </a:ext>
            </a:extLst>
          </p:cNvPr>
          <p:cNvSpPr>
            <a:spLocks noGrp="1"/>
          </p:cNvSpPr>
          <p:nvPr>
            <p:ph type="title"/>
          </p:nvPr>
        </p:nvSpPr>
        <p:spPr>
          <a:xfrm>
            <a:off x="0" y="0"/>
            <a:ext cx="5271181" cy="786581"/>
          </a:xfrm>
        </p:spPr>
        <p:txBody>
          <a:bodyPr/>
          <a:lstStyle/>
          <a:p>
            <a:pPr marL="571500" indent="-571500">
              <a:buFont typeface="Wingdings" panose="05000000000000000000" pitchFamily="2" charset="2"/>
              <a:buChar char="v"/>
            </a:pPr>
            <a:r>
              <a:rPr lang="en-US" u="sng" dirty="0" err="1">
                <a:latin typeface="Algerian" panose="04020705040A02060702" pitchFamily="82" charset="0"/>
              </a:rPr>
              <a:t>Ddos</a:t>
            </a:r>
            <a:r>
              <a:rPr lang="en-US" u="sng" dirty="0">
                <a:latin typeface="Algerian" panose="04020705040A02060702" pitchFamily="82" charset="0"/>
              </a:rPr>
              <a:t> attack</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8BC70435-A929-5CAE-6FA3-1314CA9C1939}"/>
              </a:ext>
            </a:extLst>
          </p:cNvPr>
          <p:cNvSpPr>
            <a:spLocks noGrp="1"/>
          </p:cNvSpPr>
          <p:nvPr>
            <p:ph type="body" idx="1"/>
          </p:nvPr>
        </p:nvSpPr>
        <p:spPr>
          <a:xfrm>
            <a:off x="0" y="688258"/>
            <a:ext cx="9802761" cy="5235677"/>
          </a:xfrm>
        </p:spPr>
        <p:txBody>
          <a:bodyPr>
            <a:normAutofit lnSpcReduction="10000"/>
          </a:bodyPr>
          <a:lstStyle/>
          <a:p>
            <a:r>
              <a:rPr lang="en-US" sz="2000" b="1" dirty="0" err="1">
                <a:solidFill>
                  <a:schemeClr val="tx1">
                    <a:lumMod val="95000"/>
                    <a:lumOff val="5000"/>
                  </a:schemeClr>
                </a:solidFill>
                <a:latin typeface="Century Schoolbook" panose="02040604050505020304" pitchFamily="18" charset="0"/>
              </a:rPr>
              <a:t>i</a:t>
            </a:r>
            <a:r>
              <a:rPr lang="en-US" sz="2000" b="1" dirty="0">
                <a:solidFill>
                  <a:schemeClr val="tx1">
                    <a:lumMod val="95000"/>
                    <a:lumOff val="5000"/>
                  </a:schemeClr>
                </a:solidFill>
                <a:latin typeface="Century Schoolbook" panose="02040604050505020304" pitchFamily="18" charset="0"/>
              </a:rPr>
              <a:t>) A Distributed Denial of Service (DDOS)                                                                     attack is a malicious attempt to disrupt                                                                         normal traffic of a targeted system, service                                                                                  or network.</a:t>
            </a:r>
          </a:p>
          <a:p>
            <a:r>
              <a:rPr lang="en-US" sz="2000" b="1" dirty="0">
                <a:solidFill>
                  <a:schemeClr val="tx1">
                    <a:lumMod val="95000"/>
                    <a:lumOff val="5000"/>
                  </a:schemeClr>
                </a:solidFill>
                <a:latin typeface="Century Schoolbook" panose="02040604050505020304" pitchFamily="18" charset="0"/>
              </a:rPr>
              <a:t>ii) This is done by overwhelming the target                                                                                                       or its surrounding infrastructure with a                                                                                      flood of Internet traffic.</a:t>
            </a:r>
          </a:p>
          <a:p>
            <a:r>
              <a:rPr lang="en-US" sz="2000" b="1" dirty="0">
                <a:solidFill>
                  <a:schemeClr val="tx1">
                    <a:lumMod val="95000"/>
                    <a:lumOff val="5000"/>
                  </a:schemeClr>
                </a:solidFill>
                <a:latin typeface="Century Schoolbook" panose="02040604050505020304" pitchFamily="18" charset="0"/>
              </a:rPr>
              <a:t>iii) These type of attacks are difficult to                                                                                                 prevent because the </a:t>
            </a:r>
            <a:r>
              <a:rPr lang="en-US" sz="2000" b="1" dirty="0" err="1">
                <a:solidFill>
                  <a:schemeClr val="tx1">
                    <a:lumMod val="95000"/>
                    <a:lumOff val="5000"/>
                  </a:schemeClr>
                </a:solidFill>
                <a:latin typeface="Century Schoolbook" panose="02040604050505020304" pitchFamily="18" charset="0"/>
              </a:rPr>
              <a:t>behaviour</a:t>
            </a:r>
            <a:r>
              <a:rPr lang="en-US" sz="2000" b="1" dirty="0">
                <a:solidFill>
                  <a:schemeClr val="tx1">
                    <a:lumMod val="95000"/>
                    <a:lumOff val="5000"/>
                  </a:schemeClr>
                </a:solidFill>
                <a:latin typeface="Century Schoolbook" panose="02040604050505020304" pitchFamily="18" charset="0"/>
              </a:rPr>
              <a:t> of whole                                                                 network needs to be analyzed, the behavior                                                             of small piece of code.</a:t>
            </a:r>
          </a:p>
          <a:p>
            <a:r>
              <a:rPr lang="en-US" sz="2000" b="1" dirty="0">
                <a:solidFill>
                  <a:schemeClr val="tx1">
                    <a:lumMod val="95000"/>
                    <a:lumOff val="5000"/>
                  </a:schemeClr>
                </a:solidFill>
                <a:latin typeface="Century Schoolbook" panose="02040604050505020304" pitchFamily="18" charset="0"/>
              </a:rPr>
              <a:t>iv) The goal of DDoS attack is same as DoS attack; A DOS attack employing multiple attacking systems is known as DDoS attack.</a:t>
            </a:r>
          </a:p>
          <a:p>
            <a:r>
              <a:rPr lang="en-US" sz="2000" b="1" dirty="0">
                <a:solidFill>
                  <a:schemeClr val="tx1">
                    <a:lumMod val="95000"/>
                    <a:lumOff val="5000"/>
                  </a:schemeClr>
                </a:solidFill>
                <a:latin typeface="Century Schoolbook" panose="02040604050505020304" pitchFamily="18" charset="0"/>
              </a:rPr>
              <a:t>v) A network of attack agents (zombies) are created by the attacker.</a:t>
            </a:r>
          </a:p>
          <a:p>
            <a:r>
              <a:rPr lang="en-US" sz="2000" b="1" dirty="0">
                <a:solidFill>
                  <a:schemeClr val="tx1">
                    <a:lumMod val="95000"/>
                    <a:lumOff val="5000"/>
                  </a:schemeClr>
                </a:solidFill>
                <a:latin typeface="Century Schoolbook" panose="02040604050505020304" pitchFamily="18" charset="0"/>
              </a:rPr>
              <a:t>vi) Upon receiving the attack command from attacker, the agents commence sending a specific type of traffic against the target.</a:t>
            </a:r>
            <a:endParaRPr lang="en-IN" sz="2000" b="1" dirty="0">
              <a:solidFill>
                <a:schemeClr val="tx1">
                  <a:lumMod val="95000"/>
                  <a:lumOff val="5000"/>
                </a:schemeClr>
              </a:solidFill>
              <a:latin typeface="Century Schoolbook" panose="02040604050505020304" pitchFamily="18" charset="0"/>
            </a:endParaRPr>
          </a:p>
        </p:txBody>
      </p:sp>
      <p:pic>
        <p:nvPicPr>
          <p:cNvPr id="5" name="Picture 4">
            <a:extLst>
              <a:ext uri="{FF2B5EF4-FFF2-40B4-BE49-F238E27FC236}">
                <a16:creationId xmlns:a16="http://schemas.microsoft.com/office/drawing/2014/main" id="{EDB28151-F9E0-932B-B829-F9976B89E564}"/>
              </a:ext>
            </a:extLst>
          </p:cNvPr>
          <p:cNvPicPr>
            <a:picLocks noChangeAspect="1"/>
          </p:cNvPicPr>
          <p:nvPr/>
        </p:nvPicPr>
        <p:blipFill>
          <a:blip r:embed="rId2"/>
          <a:stretch>
            <a:fillRect/>
          </a:stretch>
        </p:blipFill>
        <p:spPr>
          <a:xfrm>
            <a:off x="5968180" y="688258"/>
            <a:ext cx="6087259" cy="3246401"/>
          </a:xfrm>
          <a:prstGeom prst="rect">
            <a:avLst/>
          </a:prstGeom>
        </p:spPr>
      </p:pic>
    </p:spTree>
    <p:extLst>
      <p:ext uri="{BB962C8B-B14F-4D97-AF65-F5344CB8AC3E}">
        <p14:creationId xmlns:p14="http://schemas.microsoft.com/office/powerpoint/2010/main" val="36486272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38147-AA04-0F00-01E5-02B46053ABBF}"/>
              </a:ext>
            </a:extLst>
          </p:cNvPr>
          <p:cNvSpPr>
            <a:spLocks noGrp="1"/>
          </p:cNvSpPr>
          <p:nvPr>
            <p:ph type="title"/>
          </p:nvPr>
        </p:nvSpPr>
        <p:spPr>
          <a:xfrm>
            <a:off x="-68826" y="-68826"/>
            <a:ext cx="9274003" cy="707923"/>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Man-in-the-middle attack</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84D31CB-6FC7-BFCA-D00B-3B6D88BEF123}"/>
              </a:ext>
            </a:extLst>
          </p:cNvPr>
          <p:cNvSpPr>
            <a:spLocks noGrp="1"/>
          </p:cNvSpPr>
          <p:nvPr>
            <p:ph type="body" idx="1"/>
          </p:nvPr>
        </p:nvSpPr>
        <p:spPr>
          <a:xfrm>
            <a:off x="0" y="521110"/>
            <a:ext cx="9763432" cy="5565058"/>
          </a:xfrm>
        </p:spPr>
        <p:txBody>
          <a:bodyPr>
            <a:normAutofit/>
          </a:bodyPr>
          <a:lstStyle/>
          <a:p>
            <a:r>
              <a:rPr lang="en-US" b="1" dirty="0">
                <a:solidFill>
                  <a:schemeClr val="tx1">
                    <a:lumMod val="95000"/>
                    <a:lumOff val="5000"/>
                  </a:schemeClr>
                </a:solidFill>
                <a:latin typeface="Century Schoolbook" panose="02040604050505020304" pitchFamily="18" charset="0"/>
              </a:rPr>
              <a:t>i) A Man-In-The-Middle (MITM) attack is an attack in which                                                an attacker is able to read, insert and modify messages                                                   between two parties without either party knowing that the                                                   link between them has been compromised.</a:t>
            </a:r>
          </a:p>
          <a:p>
            <a:r>
              <a:rPr lang="en-US" b="1" dirty="0">
                <a:solidFill>
                  <a:schemeClr val="tx1">
                    <a:lumMod val="95000"/>
                    <a:lumOff val="5000"/>
                  </a:schemeClr>
                </a:solidFill>
                <a:latin typeface="Century Schoolbook" panose="02040604050505020304" pitchFamily="18" charset="0"/>
              </a:rPr>
              <a:t>ii) To prevent this attack, both sender and Receiver must                                                  authenticate each other.</a:t>
            </a:r>
          </a:p>
          <a:p>
            <a:r>
              <a:rPr lang="en-US" b="1" dirty="0">
                <a:solidFill>
                  <a:schemeClr val="tx1">
                    <a:lumMod val="95000"/>
                    <a:lumOff val="5000"/>
                  </a:schemeClr>
                </a:solidFill>
                <a:latin typeface="Century Schoolbook" panose="02040604050505020304" pitchFamily="18" charset="0"/>
              </a:rPr>
              <a:t>iii) MITM is typically used to refer to active manipulation of                                                       the messages, rather than passively eves dropping.</a:t>
            </a:r>
            <a:endParaRPr lang="en-IN" b="1" dirty="0">
              <a:solidFill>
                <a:schemeClr val="tx1">
                  <a:lumMod val="95000"/>
                  <a:lumOff val="5000"/>
                </a:schemeClr>
              </a:solidFill>
              <a:latin typeface="Century Schoolbook" panose="02040604050505020304" pitchFamily="18" charset="0"/>
            </a:endParaRPr>
          </a:p>
          <a:p>
            <a:r>
              <a:rPr lang="en-US" b="1" dirty="0">
                <a:solidFill>
                  <a:schemeClr val="tx1">
                    <a:lumMod val="95000"/>
                    <a:lumOff val="5000"/>
                  </a:schemeClr>
                </a:solidFill>
                <a:latin typeface="Century Schoolbook" panose="02040604050505020304" pitchFamily="18" charset="0"/>
              </a:rPr>
              <a:t>iv) The MITM Attack may include one or more of : </a:t>
            </a:r>
          </a:p>
          <a:p>
            <a:r>
              <a:rPr lang="en-US" b="1" dirty="0">
                <a:solidFill>
                  <a:schemeClr val="tx1">
                    <a:lumMod val="95000"/>
                    <a:lumOff val="5000"/>
                  </a:schemeClr>
                </a:solidFill>
                <a:latin typeface="Century Schoolbook" panose="02040604050505020304" pitchFamily="18" charset="0"/>
              </a:rPr>
              <a:t>1. Eavesdropping including traffic analysis.</a:t>
            </a:r>
          </a:p>
          <a:p>
            <a:r>
              <a:rPr lang="en-US" b="1" dirty="0">
                <a:solidFill>
                  <a:schemeClr val="tx1">
                    <a:lumMod val="95000"/>
                    <a:lumOff val="5000"/>
                  </a:schemeClr>
                </a:solidFill>
                <a:latin typeface="Century Schoolbook" panose="02040604050505020304" pitchFamily="18" charset="0"/>
              </a:rPr>
              <a:t>2. chosen ciphertext attack, depending on what receiver does                                               with a message that it decrypts.</a:t>
            </a:r>
          </a:p>
          <a:p>
            <a:r>
              <a:rPr lang="en-US" b="1" dirty="0">
                <a:solidFill>
                  <a:schemeClr val="tx1">
                    <a:lumMod val="95000"/>
                    <a:lumOff val="5000"/>
                  </a:schemeClr>
                </a:solidFill>
                <a:latin typeface="Century Schoolbook" panose="02040604050505020304" pitchFamily="18" charset="0"/>
              </a:rPr>
              <a:t>3. Substitution attack.</a:t>
            </a:r>
          </a:p>
          <a:p>
            <a:r>
              <a:rPr lang="en-US" b="1" dirty="0">
                <a:solidFill>
                  <a:schemeClr val="tx1">
                    <a:lumMod val="95000"/>
                    <a:lumOff val="5000"/>
                  </a:schemeClr>
                </a:solidFill>
                <a:latin typeface="Century Schoolbook" panose="02040604050505020304" pitchFamily="18" charset="0"/>
              </a:rPr>
              <a:t>4. Replay attacks.</a:t>
            </a:r>
          </a:p>
          <a:p>
            <a:r>
              <a:rPr lang="en-US" b="1" dirty="0">
                <a:solidFill>
                  <a:schemeClr val="tx1">
                    <a:lumMod val="95000"/>
                    <a:lumOff val="5000"/>
                  </a:schemeClr>
                </a:solidFill>
                <a:latin typeface="Century Schoolbook" panose="02040604050505020304" pitchFamily="18" charset="0"/>
              </a:rPr>
              <a:t>5. DOS attacks.</a:t>
            </a:r>
          </a:p>
        </p:txBody>
      </p:sp>
      <p:pic>
        <p:nvPicPr>
          <p:cNvPr id="5" name="Picture 4">
            <a:extLst>
              <a:ext uri="{FF2B5EF4-FFF2-40B4-BE49-F238E27FC236}">
                <a16:creationId xmlns:a16="http://schemas.microsoft.com/office/drawing/2014/main" id="{02E6B03F-DCD9-7C85-8771-602FB77D044F}"/>
              </a:ext>
            </a:extLst>
          </p:cNvPr>
          <p:cNvPicPr>
            <a:picLocks noChangeAspect="1"/>
          </p:cNvPicPr>
          <p:nvPr/>
        </p:nvPicPr>
        <p:blipFill>
          <a:blip r:embed="rId2"/>
          <a:stretch>
            <a:fillRect/>
          </a:stretch>
        </p:blipFill>
        <p:spPr>
          <a:xfrm>
            <a:off x="7423355" y="771832"/>
            <a:ext cx="4683670" cy="5658465"/>
          </a:xfrm>
          <a:prstGeom prst="rect">
            <a:avLst/>
          </a:prstGeom>
        </p:spPr>
      </p:pic>
    </p:spTree>
    <p:extLst>
      <p:ext uri="{BB962C8B-B14F-4D97-AF65-F5344CB8AC3E}">
        <p14:creationId xmlns:p14="http://schemas.microsoft.com/office/powerpoint/2010/main" val="19083873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C765E-C03C-FFC7-F4A0-94806F575260}"/>
              </a:ext>
            </a:extLst>
          </p:cNvPr>
          <p:cNvSpPr>
            <a:spLocks noGrp="1"/>
          </p:cNvSpPr>
          <p:nvPr>
            <p:ph type="title"/>
          </p:nvPr>
        </p:nvSpPr>
        <p:spPr>
          <a:xfrm>
            <a:off x="0" y="-9272"/>
            <a:ext cx="9448800" cy="648369"/>
          </a:xfrm>
        </p:spPr>
        <p:txBody>
          <a:bodyPr>
            <a:noAutofit/>
          </a:bodyPr>
          <a:lstStyle/>
          <a:p>
            <a:pPr marL="571500" indent="-571500">
              <a:buFont typeface="Wingdings" panose="05000000000000000000" pitchFamily="2" charset="2"/>
              <a:buChar char="v"/>
            </a:pPr>
            <a:r>
              <a:rPr lang="en-US" sz="4000" u="sng" dirty="0">
                <a:latin typeface="Algerian" panose="04020705040A02060702" pitchFamily="82" charset="0"/>
              </a:rPr>
              <a:t>Backdoor/trapdoor attack</a:t>
            </a:r>
            <a:r>
              <a:rPr lang="en-US" sz="4000" dirty="0">
                <a:latin typeface="Algerian" panose="04020705040A02060702" pitchFamily="82" charset="0"/>
              </a:rPr>
              <a:t> : -</a:t>
            </a:r>
            <a:endParaRPr lang="en-IN" sz="4000" dirty="0">
              <a:latin typeface="Algerian" panose="04020705040A02060702" pitchFamily="82" charset="0"/>
            </a:endParaRPr>
          </a:p>
        </p:txBody>
      </p:sp>
      <p:sp>
        <p:nvSpPr>
          <p:cNvPr id="3" name="Text Placeholder 2">
            <a:extLst>
              <a:ext uri="{FF2B5EF4-FFF2-40B4-BE49-F238E27FC236}">
                <a16:creationId xmlns:a16="http://schemas.microsoft.com/office/drawing/2014/main" id="{3075F30A-230E-D21D-F15E-401EB7009DAA}"/>
              </a:ext>
            </a:extLst>
          </p:cNvPr>
          <p:cNvSpPr>
            <a:spLocks noGrp="1"/>
          </p:cNvSpPr>
          <p:nvPr>
            <p:ph type="body" idx="1"/>
          </p:nvPr>
        </p:nvSpPr>
        <p:spPr>
          <a:xfrm>
            <a:off x="1" y="463529"/>
            <a:ext cx="8465574" cy="5502193"/>
          </a:xfrm>
        </p:spPr>
        <p:txBody>
          <a:bodyPr>
            <a:normAutofit/>
          </a:bodyPr>
          <a:lstStyle/>
          <a:p>
            <a:r>
              <a:rPr lang="ar-AE" sz="2000" b="1" dirty="0">
                <a:solidFill>
                  <a:schemeClr val="tx1">
                    <a:lumMod val="95000"/>
                    <a:lumOff val="5000"/>
                  </a:schemeClr>
                </a:solidFill>
                <a:latin typeface="Century Schoolbook" panose="02040604050505020304" pitchFamily="18" charset="0"/>
              </a:rPr>
              <a:t>→</a:t>
            </a:r>
            <a:r>
              <a:rPr lang="en-IN" sz="2000" b="1" dirty="0">
                <a:solidFill>
                  <a:schemeClr val="tx1">
                    <a:lumMod val="95000"/>
                    <a:lumOff val="5000"/>
                  </a:schemeClr>
                </a:solidFill>
                <a:latin typeface="Century Schoolbook" panose="02040604050505020304" pitchFamily="18" charset="0"/>
              </a:rPr>
              <a:t>i) Trapdoor is a secret undocumented entry                                                        point into a program used to grant access                                                            without normal methods of access authentication.</a:t>
            </a:r>
          </a:p>
          <a:p>
            <a:r>
              <a:rPr lang="en-IN" sz="2000" b="1" dirty="0">
                <a:solidFill>
                  <a:schemeClr val="tx1">
                    <a:lumMod val="95000"/>
                    <a:lumOff val="5000"/>
                  </a:schemeClr>
                </a:solidFill>
                <a:latin typeface="Century Schoolbook" panose="02040604050505020304" pitchFamily="18" charset="0"/>
              </a:rPr>
              <a:t>ii) This attack is initiated by gaining access to                                                     network and inserting a trapdoor program that                                                                                                            creates a backdoor for an attacker.</a:t>
            </a:r>
          </a:p>
          <a:p>
            <a:r>
              <a:rPr lang="en-IN" sz="2000" b="1" dirty="0">
                <a:solidFill>
                  <a:schemeClr val="tx1">
                    <a:lumMod val="95000"/>
                    <a:lumOff val="5000"/>
                  </a:schemeClr>
                </a:solidFill>
                <a:latin typeface="Century Schoolbook" panose="02040604050505020304" pitchFamily="18" charset="0"/>
              </a:rPr>
              <a:t>iii) Trapdoor in duding backdoor passwords are                                             unspecified and non </a:t>
            </a:r>
            <a:r>
              <a:rPr lang="en-IN" sz="2000" b="1" dirty="0" err="1">
                <a:solidFill>
                  <a:schemeClr val="tx1">
                    <a:lumMod val="95000"/>
                    <a:lumOff val="5000"/>
                  </a:schemeClr>
                </a:solidFill>
                <a:latin typeface="Century Schoolbook" panose="02040604050505020304" pitchFamily="18" charset="0"/>
              </a:rPr>
              <a:t>dowmented</a:t>
            </a:r>
            <a:r>
              <a:rPr lang="en-IN" sz="2000" b="1" dirty="0">
                <a:solidFill>
                  <a:schemeClr val="tx1">
                    <a:lumMod val="95000"/>
                    <a:lumOff val="5000"/>
                  </a:schemeClr>
                </a:solidFill>
                <a:latin typeface="Century Schoolbook" panose="02040604050505020304" pitchFamily="18" charset="0"/>
              </a:rPr>
              <a:t> entry points to                                                      the system.</a:t>
            </a:r>
          </a:p>
          <a:p>
            <a:r>
              <a:rPr lang="en-IN" sz="2000" b="1" dirty="0">
                <a:solidFill>
                  <a:schemeClr val="tx1">
                    <a:lumMod val="95000"/>
                    <a:lumOff val="5000"/>
                  </a:schemeClr>
                </a:solidFill>
                <a:latin typeface="Century Schoolbook" panose="02040604050505020304" pitchFamily="18" charset="0"/>
              </a:rPr>
              <a:t>iv) A clever trap door could be included a                                                                                compiler. It is difficult to implement OS controls                                                      for trap door.</a:t>
            </a:r>
          </a:p>
          <a:p>
            <a:r>
              <a:rPr lang="en-IN" sz="2000" b="1" dirty="0">
                <a:solidFill>
                  <a:schemeClr val="tx1">
                    <a:lumMod val="95000"/>
                    <a:lumOff val="5000"/>
                  </a:schemeClr>
                </a:solidFill>
                <a:latin typeface="Century Schoolbook" panose="02040604050505020304" pitchFamily="18" charset="0"/>
              </a:rPr>
              <a:t>v) Security measures must focus on the                                                        program development and software update                                                 activities. </a:t>
            </a:r>
          </a:p>
        </p:txBody>
      </p:sp>
      <p:pic>
        <p:nvPicPr>
          <p:cNvPr id="5" name="Picture 4">
            <a:extLst>
              <a:ext uri="{FF2B5EF4-FFF2-40B4-BE49-F238E27FC236}">
                <a16:creationId xmlns:a16="http://schemas.microsoft.com/office/drawing/2014/main" id="{F7C379E5-ED71-57E2-8ECF-E64F9DA1F9C1}"/>
              </a:ext>
            </a:extLst>
          </p:cNvPr>
          <p:cNvPicPr>
            <a:picLocks noChangeAspect="1"/>
          </p:cNvPicPr>
          <p:nvPr/>
        </p:nvPicPr>
        <p:blipFill>
          <a:blip r:embed="rId2"/>
          <a:stretch>
            <a:fillRect/>
          </a:stretch>
        </p:blipFill>
        <p:spPr>
          <a:xfrm>
            <a:off x="6685935" y="716710"/>
            <a:ext cx="5380666" cy="5153148"/>
          </a:xfrm>
          <a:prstGeom prst="rect">
            <a:avLst/>
          </a:prstGeom>
        </p:spPr>
      </p:pic>
    </p:spTree>
    <p:extLst>
      <p:ext uri="{BB962C8B-B14F-4D97-AF65-F5344CB8AC3E}">
        <p14:creationId xmlns:p14="http://schemas.microsoft.com/office/powerpoint/2010/main" val="31292084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5068B8-D36D-2CAA-E3E8-C5B6CA47919C}"/>
              </a:ext>
            </a:extLst>
          </p:cNvPr>
          <p:cNvSpPr>
            <a:spLocks noGrp="1"/>
          </p:cNvSpPr>
          <p:nvPr>
            <p:ph type="title"/>
          </p:nvPr>
        </p:nvSpPr>
        <p:spPr>
          <a:xfrm>
            <a:off x="0" y="0"/>
            <a:ext cx="8596668" cy="643194"/>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Sniffing</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28C4F82F-D8E7-DBA0-8FD0-A647470A9B05}"/>
              </a:ext>
            </a:extLst>
          </p:cNvPr>
          <p:cNvSpPr>
            <a:spLocks noGrp="1"/>
          </p:cNvSpPr>
          <p:nvPr>
            <p:ph type="body" idx="1"/>
          </p:nvPr>
        </p:nvSpPr>
        <p:spPr>
          <a:xfrm>
            <a:off x="0" y="452284"/>
            <a:ext cx="10028903" cy="6405716"/>
          </a:xfrm>
        </p:spPr>
        <p:txBody>
          <a:bodyPr>
            <a:noAutofit/>
          </a:bodyPr>
          <a:lstStyle/>
          <a:p>
            <a:r>
              <a:rPr lang="en-US" b="1" dirty="0" err="1">
                <a:solidFill>
                  <a:schemeClr val="tx1">
                    <a:lumMod val="95000"/>
                    <a:lumOff val="5000"/>
                  </a:schemeClr>
                </a:solidFill>
                <a:latin typeface="Century Schoolbook" panose="02040604050505020304" pitchFamily="18" charset="0"/>
              </a:rPr>
              <a:t>i</a:t>
            </a:r>
            <a:r>
              <a:rPr lang="en-US" b="1" dirty="0">
                <a:solidFill>
                  <a:schemeClr val="tx1">
                    <a:lumMod val="95000"/>
                    <a:lumOff val="5000"/>
                  </a:schemeClr>
                </a:solidFill>
                <a:latin typeface="Century Schoolbook" panose="02040604050505020304" pitchFamily="18" charset="0"/>
              </a:rPr>
              <a:t>) Sniffers are programs that allow a host to capture                                                                           any network packet illicitly. Active sniffer can alter                                                                                     of block network </a:t>
            </a:r>
            <a:r>
              <a:rPr lang="en-US" b="1" dirty="0" err="1">
                <a:solidFill>
                  <a:schemeClr val="tx1">
                    <a:lumMod val="95000"/>
                    <a:lumOff val="5000"/>
                  </a:schemeClr>
                </a:solidFill>
                <a:latin typeface="Century Schoolbook" panose="02040604050505020304" pitchFamily="18" charset="0"/>
              </a:rPr>
              <a:t>traffice</a:t>
            </a:r>
            <a:r>
              <a:rPr lang="en-US" b="1" dirty="0">
                <a:solidFill>
                  <a:schemeClr val="tx1">
                    <a:lumMod val="95000"/>
                    <a:lumOff val="5000"/>
                  </a:schemeClr>
                </a:solidFill>
                <a:latin typeface="Century Schoolbook" panose="02040604050505020304" pitchFamily="18" charset="0"/>
              </a:rPr>
              <a:t>; while passive sniffer can                                                                                            only monitor network traffic.</a:t>
            </a:r>
          </a:p>
          <a:p>
            <a:r>
              <a:rPr lang="en-US" b="1" dirty="0">
                <a:solidFill>
                  <a:schemeClr val="tx1">
                    <a:lumMod val="95000"/>
                    <a:lumOff val="5000"/>
                  </a:schemeClr>
                </a:solidFill>
                <a:latin typeface="Century Schoolbook" panose="02040604050505020304" pitchFamily="18" charset="0"/>
              </a:rPr>
              <a:t>ii) Packet Sniffing involves capturing, decoding,                                                                                      inspecting interpreting the information inside a                                                            network packet on a TCP/IP network.</a:t>
            </a:r>
          </a:p>
          <a:p>
            <a:r>
              <a:rPr lang="en-US" b="1" dirty="0">
                <a:solidFill>
                  <a:schemeClr val="tx1">
                    <a:lumMod val="95000"/>
                    <a:lumOff val="5000"/>
                  </a:schemeClr>
                </a:solidFill>
                <a:latin typeface="Century Schoolbook" panose="02040604050505020304" pitchFamily="18" charset="0"/>
              </a:rPr>
              <a:t>ii) Most of the Internet runs in plain text, which                                                          means that most of the information you look at is viewable                                                                                by someone with a packet sniffer.</a:t>
            </a:r>
          </a:p>
          <a:p>
            <a:r>
              <a:rPr lang="en-US" b="1" dirty="0">
                <a:solidFill>
                  <a:schemeClr val="tx1">
                    <a:lumMod val="95000"/>
                    <a:lumOff val="5000"/>
                  </a:schemeClr>
                </a:solidFill>
                <a:latin typeface="Century Schoolbook" panose="02040604050505020304" pitchFamily="18" charset="0"/>
              </a:rPr>
              <a:t>iv) Network Sniffing is a network layer attack                                                                 consisting of capturing packets from the network                                                         transmitted by other computers and reading the data content in search of sensitive information.</a:t>
            </a:r>
          </a:p>
          <a:p>
            <a:r>
              <a:rPr lang="en-US" b="1" dirty="0">
                <a:solidFill>
                  <a:schemeClr val="tx1">
                    <a:lumMod val="95000"/>
                    <a:lumOff val="5000"/>
                  </a:schemeClr>
                </a:solidFill>
                <a:latin typeface="Century Schoolbook" panose="02040604050505020304" pitchFamily="18" charset="0"/>
              </a:rPr>
              <a:t>v) There are two ways to detect a sniffer : -</a:t>
            </a:r>
          </a:p>
          <a:p>
            <a:r>
              <a:rPr lang="en-US" sz="2000" b="1" dirty="0">
                <a:solidFill>
                  <a:schemeClr val="accent1">
                    <a:lumMod val="50000"/>
                  </a:schemeClr>
                </a:solidFill>
                <a:latin typeface="Century Schoolbook" panose="02040604050505020304" pitchFamily="18" charset="0"/>
              </a:rPr>
              <a:t>1. </a:t>
            </a:r>
            <a:r>
              <a:rPr lang="en-US" sz="2000" b="1" u="sng" dirty="0">
                <a:solidFill>
                  <a:schemeClr val="accent1">
                    <a:lumMod val="50000"/>
                  </a:schemeClr>
                </a:solidFill>
                <a:latin typeface="Century Schoolbook" panose="02040604050505020304" pitchFamily="18" charset="0"/>
              </a:rPr>
              <a:t>Host-based sniffer detection</a:t>
            </a:r>
            <a:r>
              <a:rPr lang="en-US" sz="2000" b="1" dirty="0">
                <a:latin typeface="Century Schoolbook" panose="02040604050505020304" pitchFamily="18" charset="0"/>
              </a:rPr>
              <a:t> </a:t>
            </a:r>
            <a:r>
              <a:rPr lang="en-US" sz="2000" b="1" dirty="0">
                <a:solidFill>
                  <a:schemeClr val="tx1">
                    <a:lumMod val="95000"/>
                    <a:lumOff val="5000"/>
                  </a:schemeClr>
                </a:solidFill>
                <a:latin typeface="Century Schoolbook" panose="02040604050505020304" pitchFamily="18" charset="0"/>
              </a:rPr>
              <a:t>: - S</a:t>
            </a:r>
            <a:r>
              <a:rPr lang="en-US" b="1" dirty="0">
                <a:solidFill>
                  <a:schemeClr val="tx1">
                    <a:lumMod val="95000"/>
                    <a:lumOff val="5000"/>
                  </a:schemeClr>
                </a:solidFill>
                <a:latin typeface="Century Schoolbook" panose="02040604050505020304" pitchFamily="18" charset="0"/>
              </a:rPr>
              <a:t>mall utilities can used to </a:t>
            </a:r>
            <a:r>
              <a:rPr lang="en-US" b="1" dirty="0" err="1">
                <a:solidFill>
                  <a:schemeClr val="tx1">
                    <a:lumMod val="95000"/>
                    <a:lumOff val="5000"/>
                  </a:schemeClr>
                </a:solidFill>
                <a:latin typeface="Century Schoolbook" panose="02040604050505020304" pitchFamily="18" charset="0"/>
              </a:rPr>
              <a:t>delect</a:t>
            </a:r>
            <a:r>
              <a:rPr lang="en-US" b="1" dirty="0">
                <a:solidFill>
                  <a:schemeClr val="tx1">
                    <a:lumMod val="95000"/>
                    <a:lumOff val="5000"/>
                  </a:schemeClr>
                </a:solidFill>
                <a:latin typeface="Century Schoolbook" panose="02040604050505020304" pitchFamily="18" charset="0"/>
              </a:rPr>
              <a:t> if the NIC is running in a promiscuous mode on host in a network.</a:t>
            </a:r>
          </a:p>
          <a:p>
            <a:r>
              <a:rPr lang="en-US" sz="2000" b="1" dirty="0">
                <a:solidFill>
                  <a:schemeClr val="accent1">
                    <a:lumMod val="50000"/>
                  </a:schemeClr>
                </a:solidFill>
                <a:latin typeface="Century Schoolbook" panose="02040604050505020304" pitchFamily="18" charset="0"/>
              </a:rPr>
              <a:t>2. </a:t>
            </a:r>
            <a:r>
              <a:rPr lang="en-US" sz="2000" b="1" u="sng" dirty="0">
                <a:solidFill>
                  <a:schemeClr val="accent1">
                    <a:lumMod val="50000"/>
                  </a:schemeClr>
                </a:solidFill>
                <a:latin typeface="Century Schoolbook" panose="02040604050505020304" pitchFamily="18" charset="0"/>
              </a:rPr>
              <a:t>Network-based detection</a:t>
            </a:r>
            <a:r>
              <a:rPr lang="en-US" b="1" dirty="0">
                <a:latin typeface="Century Schoolbook" panose="02040604050505020304" pitchFamily="18" charset="0"/>
              </a:rPr>
              <a:t> </a:t>
            </a:r>
            <a:r>
              <a:rPr lang="en-US" b="1" dirty="0">
                <a:solidFill>
                  <a:schemeClr val="tx1">
                    <a:lumMod val="95000"/>
                    <a:lumOff val="5000"/>
                  </a:schemeClr>
                </a:solidFill>
                <a:latin typeface="Century Schoolbook" panose="02040604050505020304" pitchFamily="18" charset="0"/>
              </a:rPr>
              <a:t>: - Anti-sniffer software can be run to </a:t>
            </a:r>
            <a:r>
              <a:rPr lang="en-US" b="1" dirty="0" err="1">
                <a:solidFill>
                  <a:schemeClr val="tx1">
                    <a:lumMod val="95000"/>
                    <a:lumOff val="5000"/>
                  </a:schemeClr>
                </a:solidFill>
                <a:latin typeface="Century Schoolbook" panose="02040604050505020304" pitchFamily="18" charset="0"/>
              </a:rPr>
              <a:t>delect</a:t>
            </a:r>
            <a:r>
              <a:rPr lang="en-US" b="1" dirty="0">
                <a:solidFill>
                  <a:schemeClr val="tx1">
                    <a:lumMod val="95000"/>
                    <a:lumOff val="5000"/>
                  </a:schemeClr>
                </a:solidFill>
                <a:latin typeface="Century Schoolbook" panose="02040604050505020304" pitchFamily="18" charset="0"/>
              </a:rPr>
              <a:t> the presence of specific signature packets.</a:t>
            </a:r>
            <a:endParaRPr lang="en-IN" b="1" dirty="0">
              <a:solidFill>
                <a:schemeClr val="tx1">
                  <a:lumMod val="95000"/>
                  <a:lumOff val="5000"/>
                </a:schemeClr>
              </a:solidFill>
              <a:latin typeface="Century Schoolbook" panose="02040604050505020304" pitchFamily="18" charset="0"/>
            </a:endParaRPr>
          </a:p>
        </p:txBody>
      </p:sp>
      <p:pic>
        <p:nvPicPr>
          <p:cNvPr id="5" name="Picture 4">
            <a:extLst>
              <a:ext uri="{FF2B5EF4-FFF2-40B4-BE49-F238E27FC236}">
                <a16:creationId xmlns:a16="http://schemas.microsoft.com/office/drawing/2014/main" id="{FDE335E8-D910-476F-F896-BF4E5CFCB857}"/>
              </a:ext>
            </a:extLst>
          </p:cNvPr>
          <p:cNvPicPr>
            <a:picLocks noChangeAspect="1"/>
          </p:cNvPicPr>
          <p:nvPr/>
        </p:nvPicPr>
        <p:blipFill>
          <a:blip r:embed="rId2"/>
          <a:stretch>
            <a:fillRect/>
          </a:stretch>
        </p:blipFill>
        <p:spPr>
          <a:xfrm>
            <a:off x="6381135" y="643194"/>
            <a:ext cx="5677580" cy="3506019"/>
          </a:xfrm>
          <a:prstGeom prst="rect">
            <a:avLst/>
          </a:prstGeom>
        </p:spPr>
      </p:pic>
    </p:spTree>
    <p:extLst>
      <p:ext uri="{BB962C8B-B14F-4D97-AF65-F5344CB8AC3E}">
        <p14:creationId xmlns:p14="http://schemas.microsoft.com/office/powerpoint/2010/main" val="30787687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170F1-3A67-C362-ABE2-A6AFB2FCBB60}"/>
              </a:ext>
            </a:extLst>
          </p:cNvPr>
          <p:cNvSpPr>
            <a:spLocks noGrp="1"/>
          </p:cNvSpPr>
          <p:nvPr>
            <p:ph type="title"/>
          </p:nvPr>
        </p:nvSpPr>
        <p:spPr>
          <a:xfrm>
            <a:off x="0" y="0"/>
            <a:ext cx="8596668" cy="707923"/>
          </a:xfrm>
        </p:spPr>
        <p:txBody>
          <a:bodyPr>
            <a:noAutofit/>
          </a:bodyPr>
          <a:lstStyle/>
          <a:p>
            <a:pPr marL="571500" indent="-571500">
              <a:buFont typeface="Wingdings" panose="05000000000000000000" pitchFamily="2" charset="2"/>
              <a:buChar char="v"/>
            </a:pPr>
            <a:r>
              <a:rPr lang="en-US" u="sng" dirty="0">
                <a:latin typeface="Algerian" panose="04020705040A02060702" pitchFamily="82" charset="0"/>
              </a:rPr>
              <a:t>Spoofing</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13AE4D15-8245-42BD-8C86-54E96BC29FF1}"/>
              </a:ext>
            </a:extLst>
          </p:cNvPr>
          <p:cNvSpPr>
            <a:spLocks noGrp="1"/>
          </p:cNvSpPr>
          <p:nvPr>
            <p:ph type="body" idx="1"/>
          </p:nvPr>
        </p:nvSpPr>
        <p:spPr>
          <a:xfrm>
            <a:off x="0" y="540775"/>
            <a:ext cx="9783096" cy="5633883"/>
          </a:xfrm>
        </p:spPr>
        <p:txBody>
          <a:bodyPr>
            <a:normAutofit/>
          </a:bodyPr>
          <a:lstStyle/>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Spoofing is a situation in which one person/program successfully masquerade as another by falsify dada &amp; thereby gaining an </a:t>
            </a:r>
            <a:r>
              <a:rPr lang="en-US" sz="2400" b="1" dirty="0" err="1">
                <a:solidFill>
                  <a:schemeClr val="tx1">
                    <a:lumMod val="95000"/>
                    <a:lumOff val="5000"/>
                  </a:schemeClr>
                </a:solidFill>
                <a:latin typeface="Century Schoolbook" panose="02040604050505020304" pitchFamily="18" charset="0"/>
              </a:rPr>
              <a:t>elligimate</a:t>
            </a:r>
            <a:r>
              <a:rPr lang="en-US" sz="2400" b="1" dirty="0">
                <a:solidFill>
                  <a:schemeClr val="tx1">
                    <a:lumMod val="95000"/>
                    <a:lumOff val="5000"/>
                  </a:schemeClr>
                </a:solidFill>
                <a:latin typeface="Century Schoolbook" panose="02040604050505020304" pitchFamily="18" charset="0"/>
              </a:rPr>
              <a:t> advantage.</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Spoofing is mainly of two types : -</a:t>
            </a:r>
          </a:p>
          <a:p>
            <a:r>
              <a:rPr lang="en-US" sz="2800" b="1" dirty="0">
                <a:solidFill>
                  <a:schemeClr val="accent1">
                    <a:lumMod val="50000"/>
                  </a:schemeClr>
                </a:solidFill>
                <a:latin typeface="Century Schoolbook" panose="02040604050505020304" pitchFamily="18" charset="0"/>
              </a:rPr>
              <a:t>1. </a:t>
            </a:r>
            <a:r>
              <a:rPr lang="en-US" sz="2800" b="1" u="sng" dirty="0">
                <a:solidFill>
                  <a:schemeClr val="accent1">
                    <a:lumMod val="50000"/>
                  </a:schemeClr>
                </a:solidFill>
                <a:latin typeface="Century Schoolbook" panose="02040604050505020304" pitchFamily="18" charset="0"/>
              </a:rPr>
              <a:t>ARP Spoofing</a:t>
            </a:r>
            <a:r>
              <a:rPr lang="en-US" sz="2400" b="1" dirty="0">
                <a:solidFill>
                  <a:schemeClr val="accent1">
                    <a:lumMod val="50000"/>
                  </a:schemeClr>
                </a:solidFill>
                <a:latin typeface="Century Schoolbook" panose="02040604050505020304" pitchFamily="18" charset="0"/>
              </a:rPr>
              <a:t> : - </a:t>
            </a:r>
            <a:r>
              <a:rPr lang="en-US" sz="2400" b="1" dirty="0">
                <a:solidFill>
                  <a:schemeClr val="tx1">
                    <a:lumMod val="95000"/>
                    <a:lumOff val="5000"/>
                  </a:schemeClr>
                </a:solidFill>
                <a:latin typeface="Century Schoolbook" panose="02040604050505020304" pitchFamily="18" charset="0"/>
              </a:rPr>
              <a:t>ARP spoofing is a one                                             type of attack in which malicious actor sends                                              falsify ARP messages over a local area                                            network.</a:t>
            </a:r>
          </a:p>
          <a:p>
            <a:r>
              <a:rPr lang="en-US" sz="2800" b="1" dirty="0">
                <a:solidFill>
                  <a:schemeClr val="accent1">
                    <a:lumMod val="50000"/>
                  </a:schemeClr>
                </a:solidFill>
                <a:latin typeface="Century Schoolbook" panose="02040604050505020304" pitchFamily="18" charset="0"/>
              </a:rPr>
              <a:t>2. </a:t>
            </a:r>
            <a:r>
              <a:rPr lang="en-US" sz="2800" b="1" u="sng" dirty="0">
                <a:solidFill>
                  <a:schemeClr val="accent1">
                    <a:lumMod val="50000"/>
                  </a:schemeClr>
                </a:solidFill>
                <a:latin typeface="Century Schoolbook" panose="02040604050505020304" pitchFamily="18" charset="0"/>
              </a:rPr>
              <a:t>IP Spoofing</a:t>
            </a:r>
            <a:r>
              <a:rPr lang="en-US" sz="2800" b="1" dirty="0">
                <a:solidFill>
                  <a:schemeClr val="accent1">
                    <a:lumMod val="50000"/>
                  </a:schemeClr>
                </a:solidFill>
                <a:latin typeface="Century Schoolbook" panose="02040604050505020304" pitchFamily="18" charset="0"/>
              </a:rPr>
              <a:t> </a:t>
            </a:r>
            <a:r>
              <a:rPr lang="en-US" sz="2400" b="1" dirty="0">
                <a:solidFill>
                  <a:schemeClr val="accent1">
                    <a:lumMod val="50000"/>
                  </a:schemeClr>
                </a:solidFill>
                <a:latin typeface="Century Schoolbook" panose="02040604050505020304" pitchFamily="18" charset="0"/>
              </a:rPr>
              <a:t>: - </a:t>
            </a:r>
            <a:r>
              <a:rPr lang="en-US" sz="2400" b="1" dirty="0">
                <a:solidFill>
                  <a:schemeClr val="tx1">
                    <a:lumMod val="95000"/>
                    <a:lumOff val="5000"/>
                  </a:schemeClr>
                </a:solidFill>
                <a:latin typeface="Century Schoolbook" panose="02040604050505020304" pitchFamily="18" charset="0"/>
              </a:rPr>
              <a:t>IP spoofing is a hijacking                                          technique in which the attacker masquerades                                         as a trusted host to conceal his identify,                                                 hijacker browser or gain access to a network.</a:t>
            </a:r>
          </a:p>
          <a:p>
            <a:endParaRPr lang="en-IN" sz="2400" b="1" dirty="0">
              <a:latin typeface="Century Schoolbook" panose="02040604050505020304" pitchFamily="18" charset="0"/>
            </a:endParaRPr>
          </a:p>
        </p:txBody>
      </p:sp>
      <p:pic>
        <p:nvPicPr>
          <p:cNvPr id="5" name="Picture 4">
            <a:extLst>
              <a:ext uri="{FF2B5EF4-FFF2-40B4-BE49-F238E27FC236}">
                <a16:creationId xmlns:a16="http://schemas.microsoft.com/office/drawing/2014/main" id="{6C5FD6EF-96D7-D60C-AA15-C654985C0945}"/>
              </a:ext>
            </a:extLst>
          </p:cNvPr>
          <p:cNvPicPr>
            <a:picLocks noChangeAspect="1"/>
          </p:cNvPicPr>
          <p:nvPr/>
        </p:nvPicPr>
        <p:blipFill>
          <a:blip r:embed="rId2"/>
          <a:stretch>
            <a:fillRect/>
          </a:stretch>
        </p:blipFill>
        <p:spPr>
          <a:xfrm>
            <a:off x="7483108" y="1705896"/>
            <a:ext cx="4599976" cy="2408903"/>
          </a:xfrm>
          <a:prstGeom prst="rect">
            <a:avLst/>
          </a:prstGeom>
        </p:spPr>
      </p:pic>
      <p:pic>
        <p:nvPicPr>
          <p:cNvPr id="7" name="Picture 6">
            <a:extLst>
              <a:ext uri="{FF2B5EF4-FFF2-40B4-BE49-F238E27FC236}">
                <a16:creationId xmlns:a16="http://schemas.microsoft.com/office/drawing/2014/main" id="{995E51E4-F879-AD2C-C994-15C2100E2A5A}"/>
              </a:ext>
            </a:extLst>
          </p:cNvPr>
          <p:cNvPicPr>
            <a:picLocks noChangeAspect="1"/>
          </p:cNvPicPr>
          <p:nvPr/>
        </p:nvPicPr>
        <p:blipFill>
          <a:blip r:embed="rId3"/>
          <a:stretch>
            <a:fillRect/>
          </a:stretch>
        </p:blipFill>
        <p:spPr>
          <a:xfrm>
            <a:off x="7483108" y="4193456"/>
            <a:ext cx="4599976" cy="2408903"/>
          </a:xfrm>
          <a:prstGeom prst="rect">
            <a:avLst/>
          </a:prstGeom>
        </p:spPr>
      </p:pic>
    </p:spTree>
    <p:extLst>
      <p:ext uri="{BB962C8B-B14F-4D97-AF65-F5344CB8AC3E}">
        <p14:creationId xmlns:p14="http://schemas.microsoft.com/office/powerpoint/2010/main" val="80717163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814D-F019-1BB2-EB02-5DA02834AA62}"/>
              </a:ext>
            </a:extLst>
          </p:cNvPr>
          <p:cNvSpPr>
            <a:spLocks noGrp="1"/>
          </p:cNvSpPr>
          <p:nvPr>
            <p:ph type="title"/>
          </p:nvPr>
        </p:nvSpPr>
        <p:spPr>
          <a:xfrm>
            <a:off x="0" y="1"/>
            <a:ext cx="8596668" cy="599768"/>
          </a:xfrm>
        </p:spPr>
        <p:txBody>
          <a:bodyPr>
            <a:noAutofit/>
          </a:bodyPr>
          <a:lstStyle/>
          <a:p>
            <a:pPr marL="571500" indent="-571500">
              <a:buFont typeface="Wingdings" panose="05000000000000000000" pitchFamily="2" charset="2"/>
              <a:buChar char="v"/>
            </a:pPr>
            <a:r>
              <a:rPr lang="en-US" u="sng" dirty="0" err="1">
                <a:latin typeface="Algerian" panose="04020705040A02060702" pitchFamily="82" charset="0"/>
              </a:rPr>
              <a:t>Tcp</a:t>
            </a:r>
            <a:r>
              <a:rPr lang="en-US" u="sng" dirty="0">
                <a:latin typeface="Algerian" panose="04020705040A02060702" pitchFamily="82" charset="0"/>
              </a:rPr>
              <a:t>/</a:t>
            </a:r>
            <a:r>
              <a:rPr lang="en-US" u="sng" dirty="0" err="1">
                <a:latin typeface="Algerian" panose="04020705040A02060702" pitchFamily="82" charset="0"/>
              </a:rPr>
              <a:t>ip</a:t>
            </a:r>
            <a:r>
              <a:rPr lang="en-US" u="sng" dirty="0">
                <a:latin typeface="Algerian" panose="04020705040A02060702" pitchFamily="82" charset="0"/>
              </a:rPr>
              <a:t> hacking</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07E90E69-02BC-2F3B-A4D6-AF063BFD15DB}"/>
              </a:ext>
            </a:extLst>
          </p:cNvPr>
          <p:cNvSpPr>
            <a:spLocks noGrp="1"/>
          </p:cNvSpPr>
          <p:nvPr>
            <p:ph type="body" idx="1"/>
          </p:nvPr>
        </p:nvSpPr>
        <p:spPr>
          <a:xfrm>
            <a:off x="0" y="580105"/>
            <a:ext cx="10274709" cy="6258231"/>
          </a:xfrm>
        </p:spPr>
        <p:txBody>
          <a:bodyPr>
            <a:noAutofit/>
          </a:bodyPr>
          <a:lstStyle/>
          <a:p>
            <a:r>
              <a:rPr lang="en-US" sz="2000" b="1" dirty="0" err="1">
                <a:solidFill>
                  <a:schemeClr val="tx1">
                    <a:lumMod val="95000"/>
                    <a:lumOff val="5000"/>
                  </a:schemeClr>
                </a:solidFill>
                <a:latin typeface="Century Schoolbook" panose="02040604050505020304" pitchFamily="18" charset="0"/>
              </a:rPr>
              <a:t>i</a:t>
            </a:r>
            <a:r>
              <a:rPr lang="en-US" sz="2000" b="1" dirty="0">
                <a:solidFill>
                  <a:schemeClr val="tx1">
                    <a:lumMod val="95000"/>
                    <a:lumOff val="5000"/>
                  </a:schemeClr>
                </a:solidFill>
                <a:latin typeface="Century Schoolbook" panose="02040604050505020304" pitchFamily="18" charset="0"/>
              </a:rPr>
              <a:t>) Hacking is a term used to refer to activities aimed at exploiting security flaws to obtain critical information For gaining access to secured networks.</a:t>
            </a:r>
          </a:p>
          <a:p>
            <a:r>
              <a:rPr lang="en-US" sz="2000" b="1" dirty="0">
                <a:solidFill>
                  <a:schemeClr val="tx1">
                    <a:lumMod val="95000"/>
                    <a:lumOff val="5000"/>
                  </a:schemeClr>
                </a:solidFill>
                <a:latin typeface="Century Schoolbook" panose="02040604050505020304" pitchFamily="18" charset="0"/>
              </a:rPr>
              <a:t>ii) TCP/IP Hacking is called as Active sniffing. </a:t>
            </a:r>
          </a:p>
          <a:p>
            <a:r>
              <a:rPr lang="en-US" sz="2000" b="1" dirty="0">
                <a:solidFill>
                  <a:schemeClr val="tx1">
                    <a:lumMod val="95000"/>
                    <a:lumOff val="5000"/>
                  </a:schemeClr>
                </a:solidFill>
                <a:latin typeface="Century Schoolbook" panose="02040604050505020304" pitchFamily="18" charset="0"/>
              </a:rPr>
              <a:t>iii) It is a process of taking control of an already existing session between client and server.</a:t>
            </a:r>
          </a:p>
          <a:p>
            <a:r>
              <a:rPr lang="en-US" sz="2000" b="1" dirty="0">
                <a:solidFill>
                  <a:schemeClr val="tx1">
                    <a:lumMod val="95000"/>
                    <a:lumOff val="5000"/>
                  </a:schemeClr>
                </a:solidFill>
                <a:latin typeface="Century Schoolbook" panose="02040604050505020304" pitchFamily="18" charset="0"/>
              </a:rPr>
              <a:t>iv) It involves attacker gaining access to a host in the network and logically disconnecting it from the network.</a:t>
            </a:r>
          </a:p>
          <a:p>
            <a:r>
              <a:rPr lang="en-US" sz="2400" b="1" dirty="0">
                <a:solidFill>
                  <a:schemeClr val="tx1">
                    <a:lumMod val="95000"/>
                    <a:lumOff val="5000"/>
                  </a:schemeClr>
                </a:solidFill>
                <a:latin typeface="Century Schoolbook" panose="02040604050505020304" pitchFamily="18" charset="0"/>
              </a:rPr>
              <a:t>1] </a:t>
            </a:r>
            <a:r>
              <a:rPr lang="en-US" sz="2400" b="1" u="sng" dirty="0">
                <a:solidFill>
                  <a:schemeClr val="accent1">
                    <a:lumMod val="50000"/>
                  </a:schemeClr>
                </a:solidFill>
                <a:latin typeface="Century Schoolbook" panose="02040604050505020304" pitchFamily="18" charset="0"/>
              </a:rPr>
              <a:t>White Hat Hackers</a:t>
            </a:r>
            <a:r>
              <a:rPr lang="en-US" sz="2000" b="1" dirty="0">
                <a:latin typeface="Century Schoolbook" panose="02040604050505020304" pitchFamily="18" charset="0"/>
              </a:rPr>
              <a:t> </a:t>
            </a:r>
            <a:r>
              <a:rPr lang="en-US" sz="2000" b="1" dirty="0">
                <a:solidFill>
                  <a:schemeClr val="tx1">
                    <a:lumMod val="95000"/>
                    <a:lumOff val="5000"/>
                  </a:schemeClr>
                </a:solidFill>
                <a:latin typeface="Century Schoolbook" panose="02040604050505020304" pitchFamily="18" charset="0"/>
              </a:rPr>
              <a:t>: - It is also known as Ethical Hackers. They never intent to harm a system, rather than they try to find out weaknesses in a computer or a network system as a part of vulnerability assessments.</a:t>
            </a:r>
          </a:p>
          <a:p>
            <a:r>
              <a:rPr lang="en-US" sz="2400" b="1" dirty="0">
                <a:solidFill>
                  <a:schemeClr val="tx1">
                    <a:lumMod val="95000"/>
                    <a:lumOff val="5000"/>
                  </a:schemeClr>
                </a:solidFill>
                <a:latin typeface="Century Schoolbook" panose="02040604050505020304" pitchFamily="18" charset="0"/>
              </a:rPr>
              <a:t>2]</a:t>
            </a:r>
            <a:r>
              <a:rPr lang="en-US" sz="2400" b="1" dirty="0">
                <a:latin typeface="Century Schoolbook" panose="02040604050505020304" pitchFamily="18" charset="0"/>
              </a:rPr>
              <a:t> </a:t>
            </a:r>
            <a:r>
              <a:rPr lang="en-US" sz="2400" b="1" u="sng" dirty="0">
                <a:solidFill>
                  <a:schemeClr val="accent1">
                    <a:lumMod val="50000"/>
                  </a:schemeClr>
                </a:solidFill>
                <a:latin typeface="Century Schoolbook" panose="02040604050505020304" pitchFamily="18" charset="0"/>
              </a:rPr>
              <a:t>Black Hat Hackers</a:t>
            </a:r>
            <a:r>
              <a:rPr lang="en-US" sz="2000" b="1" dirty="0">
                <a:latin typeface="Century Schoolbook" panose="02040604050505020304" pitchFamily="18" charset="0"/>
              </a:rPr>
              <a:t> </a:t>
            </a:r>
            <a:r>
              <a:rPr lang="en-US" sz="2000" b="1" dirty="0">
                <a:solidFill>
                  <a:schemeClr val="tx1">
                    <a:lumMod val="95000"/>
                    <a:lumOff val="5000"/>
                  </a:schemeClr>
                </a:solidFill>
                <a:latin typeface="Century Schoolbook" panose="02040604050505020304" pitchFamily="18" charset="0"/>
              </a:rPr>
              <a:t>: - It is also known as crackers, are those who hack in order to gain unauthorized access to a system and harm its operations or steal sensitive information.</a:t>
            </a:r>
          </a:p>
          <a:p>
            <a:r>
              <a:rPr lang="en-US" sz="2400" b="1" dirty="0">
                <a:solidFill>
                  <a:schemeClr val="tx1">
                    <a:lumMod val="95000"/>
                    <a:lumOff val="5000"/>
                  </a:schemeClr>
                </a:solidFill>
                <a:latin typeface="Century Schoolbook" panose="02040604050505020304" pitchFamily="18" charset="0"/>
              </a:rPr>
              <a:t>3]</a:t>
            </a:r>
            <a:r>
              <a:rPr lang="en-US" sz="2400" b="1" dirty="0">
                <a:latin typeface="Century Schoolbook" panose="02040604050505020304" pitchFamily="18" charset="0"/>
              </a:rPr>
              <a:t> </a:t>
            </a:r>
            <a:r>
              <a:rPr lang="en-US" sz="2400" b="1" u="sng" dirty="0">
                <a:solidFill>
                  <a:schemeClr val="accent1">
                    <a:lumMod val="50000"/>
                  </a:schemeClr>
                </a:solidFill>
                <a:latin typeface="Century Schoolbook" panose="02040604050505020304" pitchFamily="18" charset="0"/>
              </a:rPr>
              <a:t>Grey Hat Hackers</a:t>
            </a:r>
            <a:r>
              <a:rPr lang="en-US" sz="2400" b="1" dirty="0">
                <a:latin typeface="Century Schoolbook" panose="02040604050505020304" pitchFamily="18" charset="0"/>
              </a:rPr>
              <a:t> </a:t>
            </a:r>
            <a:r>
              <a:rPr lang="en-US" sz="2400" b="1" dirty="0">
                <a:solidFill>
                  <a:schemeClr val="tx1">
                    <a:lumMod val="95000"/>
                    <a:lumOff val="5000"/>
                  </a:schemeClr>
                </a:solidFill>
                <a:latin typeface="Century Schoolbook" panose="02040604050505020304" pitchFamily="18" charset="0"/>
              </a:rPr>
              <a:t>: -</a:t>
            </a:r>
            <a:r>
              <a:rPr lang="en-US" sz="2000" b="1" dirty="0">
                <a:solidFill>
                  <a:schemeClr val="tx1">
                    <a:lumMod val="95000"/>
                    <a:lumOff val="5000"/>
                  </a:schemeClr>
                </a:solidFill>
                <a:latin typeface="Century Schoolbook" panose="02040604050505020304" pitchFamily="18" charset="0"/>
              </a:rPr>
              <a:t> are a blend of both black and white. hat hackers. They act without malicious intent but for their fun, they exploit a security weakness in a system. network without the owner's permission or knowledge.</a:t>
            </a:r>
          </a:p>
        </p:txBody>
      </p:sp>
    </p:spTree>
    <p:extLst>
      <p:ext uri="{BB962C8B-B14F-4D97-AF65-F5344CB8AC3E}">
        <p14:creationId xmlns:p14="http://schemas.microsoft.com/office/powerpoint/2010/main" val="40681240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2261B-617A-43A0-3A47-6B7A37CCA627}"/>
              </a:ext>
            </a:extLst>
          </p:cNvPr>
          <p:cNvSpPr>
            <a:spLocks noGrp="1"/>
          </p:cNvSpPr>
          <p:nvPr>
            <p:ph type="title"/>
          </p:nvPr>
        </p:nvSpPr>
        <p:spPr>
          <a:xfrm>
            <a:off x="0" y="-88489"/>
            <a:ext cx="8596668" cy="816638"/>
          </a:xfrm>
        </p:spPr>
        <p:txBody>
          <a:bodyPr/>
          <a:lstStyle/>
          <a:p>
            <a:pPr marL="571500" indent="-571500">
              <a:buFont typeface="Wingdings" panose="05000000000000000000" pitchFamily="2" charset="2"/>
              <a:buChar char="v"/>
            </a:pPr>
            <a:r>
              <a:rPr lang="en-US" u="sng" dirty="0">
                <a:latin typeface="Algerian" panose="04020705040A02060702" pitchFamily="82" charset="0"/>
              </a:rPr>
              <a:t>Encryption attacks</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A15E6F0B-2A53-C1FD-1BF5-3BFD65BF5D59}"/>
              </a:ext>
            </a:extLst>
          </p:cNvPr>
          <p:cNvSpPr>
            <a:spLocks noGrp="1"/>
          </p:cNvSpPr>
          <p:nvPr>
            <p:ph type="body" idx="1"/>
          </p:nvPr>
        </p:nvSpPr>
        <p:spPr>
          <a:xfrm>
            <a:off x="0" y="629266"/>
            <a:ext cx="9274003" cy="5279921"/>
          </a:xfrm>
        </p:spPr>
        <p:txBody>
          <a:bodyPr>
            <a:normAutofit/>
          </a:bodyPr>
          <a:lstStyle/>
          <a:p>
            <a:r>
              <a:rPr lang="en-US" sz="2000" b="1" dirty="0">
                <a:solidFill>
                  <a:schemeClr val="tx1">
                    <a:lumMod val="95000"/>
                    <a:lumOff val="5000"/>
                  </a:schemeClr>
                </a:solidFill>
                <a:latin typeface="Century Schoolbook" panose="02040604050505020304" pitchFamily="18" charset="0"/>
              </a:rPr>
              <a:t>Types of attacks on Encrypted msg – </a:t>
            </a:r>
          </a:p>
          <a:p>
            <a:r>
              <a:rPr lang="en-US" sz="2000" b="1" dirty="0" err="1">
                <a:solidFill>
                  <a:schemeClr val="tx1">
                    <a:lumMod val="95000"/>
                    <a:lumOff val="5000"/>
                  </a:schemeClr>
                </a:solidFill>
                <a:latin typeface="Century Schoolbook" panose="02040604050505020304" pitchFamily="18" charset="0"/>
              </a:rPr>
              <a:t>i</a:t>
            </a:r>
            <a:r>
              <a:rPr lang="en-US" sz="2000" b="1" dirty="0">
                <a:solidFill>
                  <a:schemeClr val="tx1">
                    <a:lumMod val="95000"/>
                    <a:lumOff val="5000"/>
                  </a:schemeClr>
                </a:solidFill>
                <a:latin typeface="Century Schoolbook" panose="02040604050505020304" pitchFamily="18" charset="0"/>
              </a:rPr>
              <a:t>) Encryption attacks target encrypted data                                                         to gain unauthorized access to plaintext                                                                information.</a:t>
            </a:r>
          </a:p>
          <a:p>
            <a:r>
              <a:rPr lang="en-US" sz="2000" b="1" dirty="0">
                <a:solidFill>
                  <a:schemeClr val="tx1">
                    <a:lumMod val="95000"/>
                    <a:lumOff val="5000"/>
                  </a:schemeClr>
                </a:solidFill>
                <a:latin typeface="Century Schoolbook" panose="02040604050505020304" pitchFamily="18" charset="0"/>
              </a:rPr>
              <a:t>ii) These attacks aim to access the                                                            encrypted information without the                                                             decryption key, compromising                                                                confidentiality, integrity and authenticity                                                            of the data.</a:t>
            </a:r>
          </a:p>
          <a:p>
            <a:r>
              <a:rPr lang="en-US" sz="2000" b="1" dirty="0">
                <a:solidFill>
                  <a:schemeClr val="tx1">
                    <a:lumMod val="95000"/>
                    <a:lumOff val="5000"/>
                  </a:schemeClr>
                </a:solidFill>
                <a:latin typeface="Century Schoolbook" panose="02040604050505020304" pitchFamily="18" charset="0"/>
              </a:rPr>
              <a:t>iii) Using strong Keys, ensuring proper key                                             management and </a:t>
            </a:r>
            <a:r>
              <a:rPr lang="en-US" sz="2000" b="1" dirty="0" err="1">
                <a:solidFill>
                  <a:schemeClr val="tx1">
                    <a:lumMod val="95000"/>
                    <a:lumOff val="5000"/>
                  </a:schemeClr>
                </a:solidFill>
                <a:latin typeface="Century Schoolbook" panose="02040604050505020304" pitchFamily="18" charset="0"/>
              </a:rPr>
              <a:t>requirely</a:t>
            </a:r>
            <a:r>
              <a:rPr lang="en-US" sz="2000" b="1" dirty="0">
                <a:solidFill>
                  <a:schemeClr val="tx1">
                    <a:lumMod val="95000"/>
                    <a:lumOff val="5000"/>
                  </a:schemeClr>
                </a:solidFill>
                <a:latin typeface="Century Schoolbook" panose="02040604050505020304" pitchFamily="18" charset="0"/>
              </a:rPr>
              <a:t> updating                                               cryptographic protocols are essential to                                                  defend against these attacks.</a:t>
            </a:r>
          </a:p>
          <a:p>
            <a:r>
              <a:rPr lang="en-US" sz="2000" b="1" dirty="0">
                <a:solidFill>
                  <a:schemeClr val="tx1">
                    <a:lumMod val="95000"/>
                    <a:lumOff val="5000"/>
                  </a:schemeClr>
                </a:solidFill>
                <a:latin typeface="Century Schoolbook" panose="02040604050505020304" pitchFamily="18" charset="0"/>
              </a:rPr>
              <a:t>iv) Types-Ciphertext only, known Plaintext, chosen plaintext, Chosen Ciphertext, chosen text.</a:t>
            </a:r>
            <a:endParaRPr lang="en-IN" sz="2000" b="1" dirty="0">
              <a:solidFill>
                <a:schemeClr val="tx1">
                  <a:lumMod val="95000"/>
                  <a:lumOff val="5000"/>
                </a:schemeClr>
              </a:solidFill>
              <a:latin typeface="Century Schoolbook" panose="02040604050505020304" pitchFamily="18" charset="0"/>
            </a:endParaRPr>
          </a:p>
        </p:txBody>
      </p:sp>
      <p:pic>
        <p:nvPicPr>
          <p:cNvPr id="5" name="Picture 4">
            <a:extLst>
              <a:ext uri="{FF2B5EF4-FFF2-40B4-BE49-F238E27FC236}">
                <a16:creationId xmlns:a16="http://schemas.microsoft.com/office/drawing/2014/main" id="{31827C1F-6482-F284-1919-25831FD92478}"/>
              </a:ext>
            </a:extLst>
          </p:cNvPr>
          <p:cNvPicPr>
            <a:picLocks noChangeAspect="1"/>
          </p:cNvPicPr>
          <p:nvPr/>
        </p:nvPicPr>
        <p:blipFill>
          <a:blip r:embed="rId2"/>
          <a:stretch>
            <a:fillRect/>
          </a:stretch>
        </p:blipFill>
        <p:spPr>
          <a:xfrm>
            <a:off x="5961078" y="728149"/>
            <a:ext cx="6125496" cy="4001167"/>
          </a:xfrm>
          <a:prstGeom prst="rect">
            <a:avLst/>
          </a:prstGeom>
        </p:spPr>
      </p:pic>
    </p:spTree>
    <p:extLst>
      <p:ext uri="{BB962C8B-B14F-4D97-AF65-F5344CB8AC3E}">
        <p14:creationId xmlns:p14="http://schemas.microsoft.com/office/powerpoint/2010/main" val="10332446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AD350-6D65-7F17-A5A9-B3EFC38E9F84}"/>
              </a:ext>
            </a:extLst>
          </p:cNvPr>
          <p:cNvSpPr>
            <a:spLocks noGrp="1"/>
          </p:cNvSpPr>
          <p:nvPr>
            <p:ph type="title"/>
          </p:nvPr>
        </p:nvSpPr>
        <p:spPr>
          <a:xfrm>
            <a:off x="0" y="-68826"/>
            <a:ext cx="9274003" cy="806245"/>
          </a:xfrm>
        </p:spPr>
        <p:txBody>
          <a:bodyPr>
            <a:normAutofit fontScale="90000"/>
          </a:bodyPr>
          <a:lstStyle/>
          <a:p>
            <a:r>
              <a:rPr lang="en-US" dirty="0">
                <a:solidFill>
                  <a:schemeClr val="accent1">
                    <a:lumMod val="50000"/>
                  </a:schemeClr>
                </a:solidFill>
                <a:latin typeface="Algerian" panose="04020705040A02060702" pitchFamily="82" charset="0"/>
              </a:rPr>
              <a:t>1.5 </a:t>
            </a:r>
            <a:r>
              <a:rPr lang="en-US" u="sng" dirty="0">
                <a:solidFill>
                  <a:schemeClr val="accent1">
                    <a:lumMod val="50000"/>
                  </a:schemeClr>
                </a:solidFill>
                <a:latin typeface="Algerian" panose="04020705040A02060702" pitchFamily="82" charset="0"/>
              </a:rPr>
              <a:t>Operating system security</a:t>
            </a:r>
            <a:r>
              <a:rPr lang="en-US" dirty="0">
                <a:solidFill>
                  <a:schemeClr val="accent1">
                    <a:lumMod val="50000"/>
                  </a:schemeClr>
                </a:solidFill>
                <a:latin typeface="Algerian" panose="04020705040A02060702" pitchFamily="82" charset="0"/>
              </a:rPr>
              <a:t> : -</a:t>
            </a:r>
            <a:endParaRPr lang="en-IN" dirty="0">
              <a:solidFill>
                <a:schemeClr val="accent1">
                  <a:lumMod val="50000"/>
                </a:schemeClr>
              </a:solidFill>
              <a:latin typeface="Algerian" panose="04020705040A02060702" pitchFamily="82" charset="0"/>
            </a:endParaRPr>
          </a:p>
        </p:txBody>
      </p:sp>
      <p:sp>
        <p:nvSpPr>
          <p:cNvPr id="3" name="Text Placeholder 2">
            <a:extLst>
              <a:ext uri="{FF2B5EF4-FFF2-40B4-BE49-F238E27FC236}">
                <a16:creationId xmlns:a16="http://schemas.microsoft.com/office/drawing/2014/main" id="{28C98BCB-8658-CF04-D5AA-4C6B58B8FDD2}"/>
              </a:ext>
            </a:extLst>
          </p:cNvPr>
          <p:cNvSpPr>
            <a:spLocks noGrp="1"/>
          </p:cNvSpPr>
          <p:nvPr>
            <p:ph type="body" idx="1"/>
          </p:nvPr>
        </p:nvSpPr>
        <p:spPr>
          <a:xfrm>
            <a:off x="0" y="639098"/>
            <a:ext cx="9674942" cy="4955458"/>
          </a:xfrm>
        </p:spPr>
        <p:txBody>
          <a:bodyPr>
            <a:normAutofit/>
          </a:bodyPr>
          <a:lstStyle/>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Operating System (OS) Security refers to the process of protecting the operating system from threats, vulnerabilities, and unauthorized access that may harm the system or compromise data integrity.</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It ensures the confidentiality, integrity, and availability of system resources and user information.</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An operating system acts as the interface between the user and the hardware.</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Therefore, it is responsible for enforcing security policies that control how programs and users access resources such as memory, files, and devices.</a:t>
            </a:r>
          </a:p>
          <a:p>
            <a:endParaRPr lang="en-IN" sz="24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8100930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77346E-FE52-8C41-A557-9EBEC0B6989E}"/>
              </a:ext>
            </a:extLst>
          </p:cNvPr>
          <p:cNvSpPr>
            <a:spLocks noGrp="1"/>
          </p:cNvSpPr>
          <p:nvPr>
            <p:ph type="title"/>
          </p:nvPr>
        </p:nvSpPr>
        <p:spPr>
          <a:xfrm>
            <a:off x="0" y="0"/>
            <a:ext cx="8596668" cy="717755"/>
          </a:xfrm>
        </p:spPr>
        <p:txBody>
          <a:bodyPr>
            <a:normAutofit fontScale="90000"/>
          </a:bodyPr>
          <a:lstStyle/>
          <a:p>
            <a:pPr marL="571500" indent="-571500">
              <a:buFont typeface="Wingdings" panose="05000000000000000000" pitchFamily="2" charset="2"/>
              <a:buChar char="v"/>
            </a:pPr>
            <a:r>
              <a:rPr lang="en-US" dirty="0">
                <a:latin typeface="Algerian" panose="04020705040A02060702" pitchFamily="82" charset="0"/>
              </a:rPr>
              <a:t>Operating system updates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EC53C856-117A-C610-96F1-E63021A638E8}"/>
              </a:ext>
            </a:extLst>
          </p:cNvPr>
          <p:cNvSpPr>
            <a:spLocks noGrp="1"/>
          </p:cNvSpPr>
          <p:nvPr>
            <p:ph type="body" idx="1"/>
          </p:nvPr>
        </p:nvSpPr>
        <p:spPr>
          <a:xfrm>
            <a:off x="88490" y="609600"/>
            <a:ext cx="9655278" cy="3234813"/>
          </a:xfrm>
        </p:spPr>
        <p:txBody>
          <a:bodyPr>
            <a:normAutofit/>
          </a:bodyPr>
          <a:lstStyle/>
          <a:p>
            <a:r>
              <a:rPr lang="en-US" sz="3600" dirty="0">
                <a:solidFill>
                  <a:schemeClr val="accent1">
                    <a:lumMod val="75000"/>
                  </a:schemeClr>
                </a:solidFill>
                <a:latin typeface="Algerian" panose="04020705040A02060702" pitchFamily="82" charset="0"/>
              </a:rPr>
              <a:t>1] </a:t>
            </a:r>
            <a:r>
              <a:rPr lang="en-US" sz="3600" u="sng" dirty="0">
                <a:solidFill>
                  <a:schemeClr val="accent1">
                    <a:lumMod val="75000"/>
                  </a:schemeClr>
                </a:solidFill>
                <a:latin typeface="Algerian" panose="04020705040A02060702" pitchFamily="82" charset="0"/>
              </a:rPr>
              <a:t>Hotfix</a:t>
            </a:r>
            <a:r>
              <a:rPr lang="en-US" sz="3600" dirty="0">
                <a:solidFill>
                  <a:schemeClr val="accent1">
                    <a:lumMod val="75000"/>
                  </a:schemeClr>
                </a:solidFill>
                <a:latin typeface="Algerian" panose="04020705040A02060702" pitchFamily="82" charset="0"/>
              </a:rPr>
              <a:t> : - </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A Hotfix is a single, cumulative package that includes one or more files that are used to address a problem in a software product (i.e. a software bug).</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Hotfixes are Microsoft's version of patches. </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Microsoft bundles hotfixes into service packs for easier installation.</a:t>
            </a:r>
          </a:p>
        </p:txBody>
      </p:sp>
    </p:spTree>
    <p:extLst>
      <p:ext uri="{BB962C8B-B14F-4D97-AF65-F5344CB8AC3E}">
        <p14:creationId xmlns:p14="http://schemas.microsoft.com/office/powerpoint/2010/main" val="5018030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A2CD3-CC48-8147-5D28-F2B577C12635}"/>
              </a:ext>
            </a:extLst>
          </p:cNvPr>
          <p:cNvSpPr>
            <a:spLocks noGrp="1"/>
          </p:cNvSpPr>
          <p:nvPr>
            <p:ph type="title"/>
          </p:nvPr>
        </p:nvSpPr>
        <p:spPr>
          <a:xfrm>
            <a:off x="0" y="0"/>
            <a:ext cx="8596668" cy="609600"/>
          </a:xfrm>
        </p:spPr>
        <p:txBody>
          <a:bodyPr>
            <a:noAutofit/>
          </a:bodyPr>
          <a:lstStyle/>
          <a:p>
            <a:r>
              <a:rPr lang="en-US" dirty="0">
                <a:latin typeface="Algerian" panose="04020705040A02060702" pitchFamily="82" charset="0"/>
              </a:rPr>
              <a:t>2. </a:t>
            </a:r>
            <a:r>
              <a:rPr lang="en-US" u="sng" dirty="0">
                <a:latin typeface="Algerian" panose="04020705040A02060702" pitchFamily="82" charset="0"/>
              </a:rPr>
              <a:t>Patch</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F81C2751-8458-9395-ABA3-725B86B09A4D}"/>
              </a:ext>
            </a:extLst>
          </p:cNvPr>
          <p:cNvSpPr>
            <a:spLocks noGrp="1"/>
          </p:cNvSpPr>
          <p:nvPr>
            <p:ph type="body" idx="1"/>
          </p:nvPr>
        </p:nvSpPr>
        <p:spPr>
          <a:xfrm>
            <a:off x="0" y="609600"/>
            <a:ext cx="9537290" cy="4483510"/>
          </a:xfrm>
        </p:spPr>
        <p:txBody>
          <a:bodyPr>
            <a:noAutofit/>
          </a:bodyPr>
          <a:lstStyle/>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A patch is a program that changes to software installed on a computer software companies is patches to fix bugs in their programs.</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It is a software update comprised code inserted (or patched) into the code of an executable patches may do-</a:t>
            </a:r>
          </a:p>
          <a:p>
            <a:r>
              <a:rPr lang="en-US" sz="2400" b="1" dirty="0">
                <a:solidFill>
                  <a:schemeClr val="tx1">
                    <a:lumMod val="95000"/>
                    <a:lumOff val="5000"/>
                  </a:schemeClr>
                </a:solidFill>
                <a:latin typeface="Century Schoolbook" panose="02040604050505020304" pitchFamily="18" charset="0"/>
              </a:rPr>
              <a:t>1. fix a Software bug.</a:t>
            </a:r>
          </a:p>
          <a:p>
            <a:r>
              <a:rPr lang="en-US" sz="2400" b="1" dirty="0">
                <a:solidFill>
                  <a:schemeClr val="tx1">
                    <a:lumMod val="95000"/>
                    <a:lumOff val="5000"/>
                  </a:schemeClr>
                </a:solidFill>
                <a:latin typeface="Century Schoolbook" panose="02040604050505020304" pitchFamily="18" charset="0"/>
              </a:rPr>
              <a:t>2. Install new drivers.</a:t>
            </a:r>
          </a:p>
          <a:p>
            <a:r>
              <a:rPr lang="en-US" sz="2400" b="1" dirty="0">
                <a:solidFill>
                  <a:schemeClr val="tx1">
                    <a:lumMod val="95000"/>
                    <a:lumOff val="5000"/>
                  </a:schemeClr>
                </a:solidFill>
                <a:latin typeface="Century Schoolbook" panose="02040604050505020304" pitchFamily="18" charset="0"/>
              </a:rPr>
              <a:t>3. Address new security vulnerabilities.</a:t>
            </a:r>
          </a:p>
          <a:p>
            <a:r>
              <a:rPr lang="en-US" sz="2400" b="1" dirty="0">
                <a:solidFill>
                  <a:schemeClr val="tx1">
                    <a:lumMod val="95000"/>
                    <a:lumOff val="5000"/>
                  </a:schemeClr>
                </a:solidFill>
                <a:latin typeface="Century Schoolbook" panose="02040604050505020304" pitchFamily="18" charset="0"/>
              </a:rPr>
              <a:t>4. Address software stability issues.</a:t>
            </a:r>
          </a:p>
          <a:p>
            <a:r>
              <a:rPr lang="en-US" sz="2400" b="1" dirty="0">
                <a:solidFill>
                  <a:schemeClr val="tx1">
                    <a:lumMod val="95000"/>
                    <a:lumOff val="5000"/>
                  </a:schemeClr>
                </a:solidFill>
                <a:latin typeface="Century Schoolbook" panose="02040604050505020304" pitchFamily="18" charset="0"/>
              </a:rPr>
              <a:t>5. Upgrade the software.</a:t>
            </a:r>
          </a:p>
        </p:txBody>
      </p:sp>
    </p:spTree>
    <p:extLst>
      <p:ext uri="{BB962C8B-B14F-4D97-AF65-F5344CB8AC3E}">
        <p14:creationId xmlns:p14="http://schemas.microsoft.com/office/powerpoint/2010/main" val="17611869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0E39C1-CD45-A013-C796-4AB16C2744A2}"/>
              </a:ext>
            </a:extLst>
          </p:cNvPr>
          <p:cNvSpPr>
            <a:spLocks noGrp="1"/>
          </p:cNvSpPr>
          <p:nvPr>
            <p:ph type="title"/>
          </p:nvPr>
        </p:nvSpPr>
        <p:spPr>
          <a:xfrm>
            <a:off x="0" y="0"/>
            <a:ext cx="8596668" cy="682523"/>
          </a:xfrm>
        </p:spPr>
        <p:txBody>
          <a:bodyPr>
            <a:noAutofit/>
          </a:bodyPr>
          <a:lstStyle/>
          <a:p>
            <a:r>
              <a:rPr lang="en-US" dirty="0">
                <a:latin typeface="Algerian" panose="04020705040A02060702" pitchFamily="82" charset="0"/>
              </a:rPr>
              <a:t>3. </a:t>
            </a:r>
            <a:r>
              <a:rPr lang="en-US" u="sng" dirty="0">
                <a:latin typeface="Algerian" panose="04020705040A02060702" pitchFamily="82" charset="0"/>
              </a:rPr>
              <a:t>Service pack</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B2E95931-FAED-328F-0824-805B335F2AF9}"/>
              </a:ext>
            </a:extLst>
          </p:cNvPr>
          <p:cNvSpPr>
            <a:spLocks noGrp="1"/>
          </p:cNvSpPr>
          <p:nvPr>
            <p:ph type="body" idx="1"/>
          </p:nvPr>
        </p:nvSpPr>
        <p:spPr>
          <a:xfrm>
            <a:off x="68826" y="682523"/>
            <a:ext cx="9379974" cy="3673167"/>
          </a:xfrm>
        </p:spPr>
        <p:txBody>
          <a:bodyPr>
            <a:normAutofit/>
          </a:bodyPr>
          <a:lstStyle/>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Large update that fixes issues, normally includes all Patches, Hotfixes, maintain many outstanding releases that predate the service Pack.</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A service pack is a window update, often combining previously released updates, that helps to make windows. more reliable.</a:t>
            </a:r>
          </a:p>
          <a:p>
            <a:pPr marL="342900" indent="-342900">
              <a:buFont typeface="Wingdings" panose="05000000000000000000" pitchFamily="2" charset="2"/>
              <a:buChar char="Ø"/>
            </a:pPr>
            <a:r>
              <a:rPr lang="en-US" sz="2400" b="1" dirty="0">
                <a:solidFill>
                  <a:schemeClr val="tx1">
                    <a:lumMod val="95000"/>
                    <a:lumOff val="5000"/>
                  </a:schemeClr>
                </a:solidFill>
                <a:latin typeface="Century Schoolbook" panose="02040604050505020304" pitchFamily="18" charset="0"/>
              </a:rPr>
              <a:t>Service packs which are provided free of charge include security and performance improvements.</a:t>
            </a:r>
            <a:endParaRPr lang="en-IN" sz="2400" b="1" dirty="0">
              <a:solidFill>
                <a:schemeClr val="tx1">
                  <a:lumMod val="95000"/>
                  <a:lumOff val="5000"/>
                </a:schemeClr>
              </a:solidFill>
              <a:latin typeface="Century Schoolbook" panose="02040604050505020304" pitchFamily="18" charset="0"/>
            </a:endParaRPr>
          </a:p>
          <a:p>
            <a:endParaRPr lang="en-IN" sz="2400" b="1" dirty="0">
              <a:latin typeface="Century Schoolbook" panose="02040604050505020304" pitchFamily="18" charset="0"/>
            </a:endParaRPr>
          </a:p>
        </p:txBody>
      </p:sp>
    </p:spTree>
    <p:extLst>
      <p:ext uri="{BB962C8B-B14F-4D97-AF65-F5344CB8AC3E}">
        <p14:creationId xmlns:p14="http://schemas.microsoft.com/office/powerpoint/2010/main" val="33283584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A0B267-FE37-3144-589B-4646A90C6D84}"/>
              </a:ext>
            </a:extLst>
          </p:cNvPr>
          <p:cNvSpPr>
            <a:spLocks noGrp="1"/>
          </p:cNvSpPr>
          <p:nvPr>
            <p:ph type="title"/>
          </p:nvPr>
        </p:nvSpPr>
        <p:spPr>
          <a:xfrm>
            <a:off x="-1" y="-88491"/>
            <a:ext cx="8596668" cy="717755"/>
          </a:xfrm>
        </p:spPr>
        <p:txBody>
          <a:bodyPr>
            <a:noAutofit/>
          </a:bodyPr>
          <a:lstStyle/>
          <a:p>
            <a:r>
              <a:rPr lang="en-US" sz="4000" dirty="0">
                <a:solidFill>
                  <a:schemeClr val="accent1">
                    <a:lumMod val="50000"/>
                  </a:schemeClr>
                </a:solidFill>
                <a:latin typeface="Algerian" panose="04020705040A02060702" pitchFamily="82" charset="0"/>
              </a:rPr>
              <a:t>1.6 </a:t>
            </a:r>
            <a:r>
              <a:rPr lang="en-US" sz="4000" u="sng" dirty="0">
                <a:solidFill>
                  <a:schemeClr val="accent1">
                    <a:lumMod val="50000"/>
                  </a:schemeClr>
                </a:solidFill>
                <a:latin typeface="Algerian" panose="04020705040A02060702" pitchFamily="82" charset="0"/>
              </a:rPr>
              <a:t>Information</a:t>
            </a:r>
            <a:r>
              <a:rPr lang="en-US" sz="4000" dirty="0">
                <a:solidFill>
                  <a:schemeClr val="accent1">
                    <a:lumMod val="50000"/>
                  </a:schemeClr>
                </a:solidFill>
                <a:latin typeface="Algerian" panose="04020705040A02060702" pitchFamily="82" charset="0"/>
              </a:rPr>
              <a:t> : -</a:t>
            </a:r>
            <a:endParaRPr lang="en-IN" sz="4000" dirty="0">
              <a:solidFill>
                <a:schemeClr val="accent1">
                  <a:lumMod val="50000"/>
                </a:schemeClr>
              </a:solidFill>
              <a:latin typeface="Algerian" panose="04020705040A02060702" pitchFamily="82" charset="0"/>
            </a:endParaRPr>
          </a:p>
        </p:txBody>
      </p:sp>
      <p:sp>
        <p:nvSpPr>
          <p:cNvPr id="3" name="Text Placeholder 2">
            <a:extLst>
              <a:ext uri="{FF2B5EF4-FFF2-40B4-BE49-F238E27FC236}">
                <a16:creationId xmlns:a16="http://schemas.microsoft.com/office/drawing/2014/main" id="{985646A5-3EDE-E192-2C47-B741B45219FD}"/>
              </a:ext>
            </a:extLst>
          </p:cNvPr>
          <p:cNvSpPr>
            <a:spLocks noGrp="1"/>
          </p:cNvSpPr>
          <p:nvPr>
            <p:ph type="body" idx="1"/>
          </p:nvPr>
        </p:nvSpPr>
        <p:spPr>
          <a:xfrm>
            <a:off x="0" y="648928"/>
            <a:ext cx="10009239" cy="6395883"/>
          </a:xfrm>
        </p:spPr>
        <p:txBody>
          <a:bodyPr>
            <a:normAutofit lnSpcReduction="10000"/>
          </a:bodyPr>
          <a:lstStyle/>
          <a:p>
            <a:pPr marL="285750" indent="-285750">
              <a:buFont typeface="Wingdings" panose="05000000000000000000" pitchFamily="2" charset="2"/>
              <a:buChar char="v"/>
            </a:pPr>
            <a:r>
              <a:rPr lang="en-US" sz="3600" u="sng" dirty="0">
                <a:solidFill>
                  <a:schemeClr val="accent1">
                    <a:lumMod val="75000"/>
                  </a:schemeClr>
                </a:solidFill>
                <a:latin typeface="Algerian" panose="04020705040A02060702" pitchFamily="82" charset="0"/>
              </a:rPr>
              <a:t> </a:t>
            </a:r>
            <a:r>
              <a:rPr lang="en-US" sz="3200" u="sng" dirty="0">
                <a:solidFill>
                  <a:schemeClr val="accent1">
                    <a:lumMod val="75000"/>
                  </a:schemeClr>
                </a:solidFill>
                <a:latin typeface="Algerian" panose="04020705040A02060702" pitchFamily="82" charset="0"/>
              </a:rPr>
              <a:t>Need and Importance of Information</a:t>
            </a:r>
            <a:r>
              <a:rPr lang="en-US" sz="3200" dirty="0">
                <a:solidFill>
                  <a:schemeClr val="accent1">
                    <a:lumMod val="75000"/>
                  </a:schemeClr>
                </a:solidFill>
                <a:latin typeface="Algerian" panose="04020705040A02060702" pitchFamily="82" charset="0"/>
              </a:rPr>
              <a:t> : -</a:t>
            </a:r>
          </a:p>
          <a:p>
            <a:r>
              <a:rPr lang="en-US" sz="2400" b="1" dirty="0">
                <a:solidFill>
                  <a:schemeClr val="tx1">
                    <a:lumMod val="95000"/>
                    <a:lumOff val="5000"/>
                  </a:schemeClr>
                </a:solidFill>
                <a:latin typeface="Century Schoolbook" panose="02040604050505020304" pitchFamily="18" charset="0"/>
              </a:rPr>
              <a:t>i) Information is a service that supports decision making within organizations.</a:t>
            </a:r>
          </a:p>
          <a:p>
            <a:r>
              <a:rPr lang="en-US" sz="2400" b="1" dirty="0">
                <a:solidFill>
                  <a:schemeClr val="tx1">
                    <a:lumMod val="95000"/>
                    <a:lumOff val="5000"/>
                  </a:schemeClr>
                </a:solidFill>
                <a:latin typeface="Century Schoolbook" panose="02040604050505020304" pitchFamily="18" charset="0"/>
              </a:rPr>
              <a:t>ii) Managing in formation through the process becomes an exercise in knowing when to formalize, and eventually discard information.</a:t>
            </a:r>
          </a:p>
          <a:p>
            <a:r>
              <a:rPr lang="en-US" sz="2400" b="1" dirty="0">
                <a:solidFill>
                  <a:schemeClr val="tx1">
                    <a:lumMod val="95000"/>
                    <a:lumOff val="5000"/>
                  </a:schemeClr>
                </a:solidFill>
                <a:latin typeface="Century Schoolbook" panose="02040604050505020304" pitchFamily="18" charset="0"/>
              </a:rPr>
              <a:t>iii) Information is essential to any business.</a:t>
            </a:r>
          </a:p>
          <a:p>
            <a:r>
              <a:rPr lang="en-US" sz="2400" b="1" dirty="0">
                <a:solidFill>
                  <a:schemeClr val="tx1">
                    <a:lumMod val="95000"/>
                    <a:lumOff val="5000"/>
                  </a:schemeClr>
                </a:solidFill>
                <a:latin typeface="Century Schoolbook" panose="02040604050505020304" pitchFamily="18" charset="0"/>
              </a:rPr>
              <a:t>iv) Information Lifecycle Management ( ILM ) is a process for managing information through its life cycle.</a:t>
            </a:r>
          </a:p>
          <a:p>
            <a:pPr marL="342900" indent="-342900">
              <a:buFont typeface="Wingdings" panose="05000000000000000000" pitchFamily="2" charset="2"/>
              <a:buChar char="v"/>
            </a:pPr>
            <a:r>
              <a:rPr lang="en-US" sz="3200" u="sng" dirty="0">
                <a:solidFill>
                  <a:schemeClr val="accent1">
                    <a:lumMod val="75000"/>
                  </a:schemeClr>
                </a:solidFill>
                <a:latin typeface="Algerian" panose="04020705040A02060702" pitchFamily="82" charset="0"/>
              </a:rPr>
              <a:t>Information classification</a:t>
            </a:r>
            <a:r>
              <a:rPr lang="en-US" sz="3200" dirty="0">
                <a:solidFill>
                  <a:schemeClr val="accent1">
                    <a:lumMod val="75000"/>
                  </a:schemeClr>
                </a:solidFill>
                <a:latin typeface="Algerian" panose="04020705040A02060702" pitchFamily="82" charset="0"/>
              </a:rPr>
              <a:t> : -</a:t>
            </a:r>
          </a:p>
          <a:p>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The main reason for classifying is that not all information have the same level of importance to an organization.</a:t>
            </a:r>
          </a:p>
          <a:p>
            <a:r>
              <a:rPr lang="en-US" sz="2400" b="1" dirty="0">
                <a:solidFill>
                  <a:schemeClr val="tx1">
                    <a:lumMod val="95000"/>
                    <a:lumOff val="5000"/>
                  </a:schemeClr>
                </a:solidFill>
                <a:latin typeface="Century Schoolbook" panose="02040604050505020304" pitchFamily="18" charset="0"/>
              </a:rPr>
              <a:t>ii) Classification of information is used to prevent the unauthorized disclosure, and the resultant failure of Confidentiality.</a:t>
            </a:r>
            <a:endParaRPr lang="en-IN" sz="2400" b="1" dirty="0">
              <a:solidFill>
                <a:schemeClr val="tx1">
                  <a:lumMod val="95000"/>
                  <a:lumOff val="5000"/>
                </a:schemeClr>
              </a:solidFill>
              <a:latin typeface="Century Schoolbook" panose="02040604050505020304" pitchFamily="18" charset="0"/>
            </a:endParaRPr>
          </a:p>
          <a:p>
            <a:endParaRPr lang="en-US" sz="2400" b="1" dirty="0">
              <a:latin typeface="Century Schoolbook" panose="02040604050505020304" pitchFamily="18" charset="0"/>
            </a:endParaRPr>
          </a:p>
        </p:txBody>
      </p:sp>
    </p:spTree>
    <p:extLst>
      <p:ext uri="{BB962C8B-B14F-4D97-AF65-F5344CB8AC3E}">
        <p14:creationId xmlns:p14="http://schemas.microsoft.com/office/powerpoint/2010/main" val="37126815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52A04B-CE77-F22F-66E7-6C4C7E37C8B8}"/>
              </a:ext>
            </a:extLst>
          </p:cNvPr>
          <p:cNvSpPr>
            <a:spLocks noGrp="1"/>
          </p:cNvSpPr>
          <p:nvPr>
            <p:ph type="title"/>
          </p:nvPr>
        </p:nvSpPr>
        <p:spPr>
          <a:xfrm>
            <a:off x="0" y="-87930"/>
            <a:ext cx="9802761" cy="697530"/>
          </a:xfrm>
        </p:spPr>
        <p:txBody>
          <a:bodyPr>
            <a:noAutofit/>
          </a:bodyPr>
          <a:lstStyle/>
          <a:p>
            <a:pPr marL="457200" indent="-457200">
              <a:buFont typeface="Wingdings" panose="05000000000000000000" pitchFamily="2" charset="2"/>
              <a:buChar char="v"/>
            </a:pPr>
            <a:r>
              <a:rPr lang="en-US" sz="3200" u="sng" dirty="0">
                <a:latin typeface="Algerian" panose="04020705040A02060702" pitchFamily="82" charset="0"/>
              </a:rPr>
              <a:t>Criteria for information classification</a:t>
            </a:r>
            <a:r>
              <a:rPr lang="en-US" dirty="0">
                <a:latin typeface="Algerian" panose="04020705040A02060702" pitchFamily="82" charset="0"/>
              </a:rPr>
              <a:t> : -</a:t>
            </a:r>
            <a:endParaRPr lang="en-IN" dirty="0">
              <a:latin typeface="Algerian" panose="04020705040A02060702" pitchFamily="82" charset="0"/>
            </a:endParaRPr>
          </a:p>
        </p:txBody>
      </p:sp>
      <p:sp>
        <p:nvSpPr>
          <p:cNvPr id="3" name="Text Placeholder 2">
            <a:extLst>
              <a:ext uri="{FF2B5EF4-FFF2-40B4-BE49-F238E27FC236}">
                <a16:creationId xmlns:a16="http://schemas.microsoft.com/office/drawing/2014/main" id="{45082430-D895-CB1D-EDA8-DFE5EA4DA017}"/>
              </a:ext>
            </a:extLst>
          </p:cNvPr>
          <p:cNvSpPr>
            <a:spLocks noGrp="1"/>
          </p:cNvSpPr>
          <p:nvPr>
            <p:ph type="body" idx="1"/>
          </p:nvPr>
        </p:nvSpPr>
        <p:spPr>
          <a:xfrm>
            <a:off x="88489" y="432620"/>
            <a:ext cx="9802761" cy="4552336"/>
          </a:xfrm>
        </p:spPr>
        <p:txBody>
          <a:bodyPr>
            <a:normAutofit/>
          </a:bodyPr>
          <a:lstStyle/>
          <a:p>
            <a:r>
              <a:rPr lang="en-US" sz="2800" b="1" dirty="0">
                <a:solidFill>
                  <a:schemeClr val="accent1">
                    <a:lumMod val="75000"/>
                  </a:schemeClr>
                </a:solidFill>
                <a:latin typeface="Century Schoolbook" panose="02040604050505020304" pitchFamily="18" charset="0"/>
              </a:rPr>
              <a:t>1. </a:t>
            </a:r>
            <a:r>
              <a:rPr lang="en-US" sz="2800" b="1" u="sng" dirty="0">
                <a:solidFill>
                  <a:schemeClr val="accent1">
                    <a:lumMod val="75000"/>
                  </a:schemeClr>
                </a:solidFill>
                <a:latin typeface="Century Schoolbook" panose="02040604050505020304" pitchFamily="18" charset="0"/>
              </a:rPr>
              <a:t>Value</a:t>
            </a:r>
            <a:r>
              <a:rPr lang="en-US" sz="2800" b="1" dirty="0">
                <a:solidFill>
                  <a:schemeClr val="accent1">
                    <a:lumMod val="75000"/>
                  </a:schemeClr>
                </a:solidFill>
                <a:latin typeface="Century Schoolbook" panose="02040604050505020304" pitchFamily="18" charset="0"/>
              </a:rPr>
              <a:t> </a:t>
            </a:r>
            <a:r>
              <a:rPr lang="en-US" sz="2400" b="1" dirty="0">
                <a:solidFill>
                  <a:schemeClr val="tx1">
                    <a:lumMod val="95000"/>
                    <a:lumOff val="5000"/>
                  </a:schemeClr>
                </a:solidFill>
                <a:latin typeface="Century Schoolbook" panose="02040604050505020304" pitchFamily="18" charset="0"/>
              </a:rPr>
              <a:t>: - It is the most commonly used criteria for classifying data in private sector. If information is </a:t>
            </a:r>
            <a:r>
              <a:rPr lang="en-US" sz="2400" b="1" dirty="0" err="1">
                <a:solidFill>
                  <a:schemeClr val="tx1">
                    <a:lumMod val="95000"/>
                    <a:lumOff val="5000"/>
                  </a:schemeClr>
                </a:solidFill>
                <a:latin typeface="Century Schoolbook" panose="02040604050505020304" pitchFamily="18" charset="0"/>
              </a:rPr>
              <a:t>valueable</a:t>
            </a:r>
            <a:r>
              <a:rPr lang="en-US" sz="2400" b="1" dirty="0">
                <a:solidFill>
                  <a:schemeClr val="tx1">
                    <a:lumMod val="95000"/>
                    <a:lumOff val="5000"/>
                  </a:schemeClr>
                </a:solidFill>
                <a:latin typeface="Century Schoolbook" panose="02040604050505020304" pitchFamily="18" charset="0"/>
              </a:rPr>
              <a:t>, it needs to be classified.</a:t>
            </a:r>
          </a:p>
          <a:p>
            <a:r>
              <a:rPr lang="en-US" sz="2800" b="1" dirty="0">
                <a:solidFill>
                  <a:schemeClr val="accent1">
                    <a:lumMod val="75000"/>
                  </a:schemeClr>
                </a:solidFill>
                <a:latin typeface="Century Schoolbook" panose="02040604050505020304" pitchFamily="18" charset="0"/>
              </a:rPr>
              <a:t>2. </a:t>
            </a:r>
            <a:r>
              <a:rPr lang="en-US" sz="2800" b="1" u="sng" dirty="0">
                <a:solidFill>
                  <a:schemeClr val="accent1">
                    <a:lumMod val="75000"/>
                  </a:schemeClr>
                </a:solidFill>
                <a:latin typeface="Century Schoolbook" panose="02040604050505020304" pitchFamily="18" charset="0"/>
              </a:rPr>
              <a:t>Age</a:t>
            </a:r>
            <a:r>
              <a:rPr lang="en-US" sz="2400" b="1" dirty="0">
                <a:solidFill>
                  <a:schemeClr val="accent1">
                    <a:lumMod val="75000"/>
                  </a:schemeClr>
                </a:solidFill>
                <a:latin typeface="Century Schoolbook" panose="02040604050505020304" pitchFamily="18" charset="0"/>
              </a:rPr>
              <a:t> </a:t>
            </a:r>
            <a:r>
              <a:rPr lang="en-US" sz="2400" b="1" dirty="0">
                <a:solidFill>
                  <a:schemeClr val="tx1">
                    <a:lumMod val="95000"/>
                    <a:lumOff val="5000"/>
                  </a:schemeClr>
                </a:solidFill>
                <a:latin typeface="Century Schoolbook" panose="02040604050505020304" pitchFamily="18" charset="0"/>
              </a:rPr>
              <a:t>: - The </a:t>
            </a:r>
            <a:r>
              <a:rPr lang="en-US" sz="2400" b="1" dirty="0" err="1">
                <a:solidFill>
                  <a:schemeClr val="tx1">
                    <a:lumMod val="95000"/>
                    <a:lumOff val="5000"/>
                  </a:schemeClr>
                </a:solidFill>
                <a:latin typeface="Century Schoolbook" panose="02040604050505020304" pitchFamily="18" charset="0"/>
              </a:rPr>
              <a:t>classifica</a:t>
            </a:r>
            <a:r>
              <a:rPr lang="en-US" sz="2400" b="1" dirty="0">
                <a:solidFill>
                  <a:schemeClr val="tx1">
                    <a:lumMod val="95000"/>
                    <a:lumOff val="5000"/>
                  </a:schemeClr>
                </a:solidFill>
                <a:latin typeface="Century Schoolbook" panose="02040604050505020304" pitchFamily="18" charset="0"/>
              </a:rPr>
              <a:t> Hon may be lowered if the information valve decreases over the time.</a:t>
            </a:r>
          </a:p>
          <a:p>
            <a:r>
              <a:rPr lang="en-US" sz="2800" b="1" dirty="0">
                <a:solidFill>
                  <a:schemeClr val="accent1">
                    <a:lumMod val="75000"/>
                  </a:schemeClr>
                </a:solidFill>
                <a:latin typeface="Century Schoolbook" panose="02040604050505020304" pitchFamily="18" charset="0"/>
              </a:rPr>
              <a:t>3. </a:t>
            </a:r>
            <a:r>
              <a:rPr lang="en-US" sz="2800" b="1" u="sng" dirty="0">
                <a:solidFill>
                  <a:schemeClr val="accent1">
                    <a:lumMod val="75000"/>
                  </a:schemeClr>
                </a:solidFill>
                <a:latin typeface="Century Schoolbook" panose="02040604050505020304" pitchFamily="18" charset="0"/>
              </a:rPr>
              <a:t>Useful life</a:t>
            </a:r>
            <a:r>
              <a:rPr lang="en-US" sz="2800" b="1" dirty="0">
                <a:solidFill>
                  <a:schemeClr val="accent1">
                    <a:lumMod val="75000"/>
                  </a:schemeClr>
                </a:solidFill>
                <a:latin typeface="Century Schoolbook" panose="02040604050505020304" pitchFamily="18" charset="0"/>
              </a:rPr>
              <a:t> </a:t>
            </a:r>
            <a:r>
              <a:rPr lang="en-US" sz="2400" b="1" dirty="0">
                <a:solidFill>
                  <a:schemeClr val="tx1">
                    <a:lumMod val="95000"/>
                    <a:lumOff val="5000"/>
                  </a:schemeClr>
                </a:solidFill>
                <a:latin typeface="Century Schoolbook" panose="02040604050505020304" pitchFamily="18" charset="0"/>
              </a:rPr>
              <a:t>: - If the information has been made available to new information, important changes to the information can be often considered.</a:t>
            </a:r>
          </a:p>
          <a:p>
            <a:r>
              <a:rPr lang="en-US" sz="2800" b="1" dirty="0">
                <a:solidFill>
                  <a:schemeClr val="accent1">
                    <a:lumMod val="75000"/>
                  </a:schemeClr>
                </a:solidFill>
                <a:latin typeface="Century Schoolbook" panose="02040604050505020304" pitchFamily="18" charset="0"/>
              </a:rPr>
              <a:t>4. </a:t>
            </a:r>
            <a:r>
              <a:rPr lang="en-US" sz="2800" b="1" u="sng" dirty="0">
                <a:solidFill>
                  <a:schemeClr val="accent1">
                    <a:lumMod val="75000"/>
                  </a:schemeClr>
                </a:solidFill>
                <a:latin typeface="Century Schoolbook" panose="02040604050505020304" pitchFamily="18" charset="0"/>
              </a:rPr>
              <a:t>Personal Association</a:t>
            </a:r>
            <a:r>
              <a:rPr lang="en-US" sz="2800" b="1" dirty="0">
                <a:solidFill>
                  <a:schemeClr val="accent1">
                    <a:lumMod val="75000"/>
                  </a:schemeClr>
                </a:solidFill>
                <a:latin typeface="Century Schoolbook" panose="02040604050505020304" pitchFamily="18" charset="0"/>
              </a:rPr>
              <a:t> </a:t>
            </a:r>
            <a:r>
              <a:rPr lang="en-US" sz="2400" b="1" dirty="0">
                <a:solidFill>
                  <a:schemeClr val="tx1">
                    <a:lumMod val="95000"/>
                    <a:lumOff val="5000"/>
                  </a:schemeClr>
                </a:solidFill>
                <a:latin typeface="Century Schoolbook" panose="02040604050505020304" pitchFamily="18" charset="0"/>
              </a:rPr>
              <a:t>: - If the info is addressed by privacy law then it may need to be classified.</a:t>
            </a:r>
          </a:p>
        </p:txBody>
      </p:sp>
    </p:spTree>
    <p:extLst>
      <p:ext uri="{BB962C8B-B14F-4D97-AF65-F5344CB8AC3E}">
        <p14:creationId xmlns:p14="http://schemas.microsoft.com/office/powerpoint/2010/main" val="288693098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A99EEA-8836-EF9B-7C03-D99B884486F7}"/>
              </a:ext>
            </a:extLst>
          </p:cNvPr>
          <p:cNvSpPr>
            <a:spLocks noGrp="1"/>
          </p:cNvSpPr>
          <p:nvPr>
            <p:ph type="title"/>
          </p:nvPr>
        </p:nvSpPr>
        <p:spPr>
          <a:xfrm>
            <a:off x="0" y="0"/>
            <a:ext cx="9812594" cy="3067665"/>
          </a:xfrm>
        </p:spPr>
        <p:txBody>
          <a:bodyPr>
            <a:noAutofit/>
          </a:bodyPr>
          <a:lstStyle/>
          <a:p>
            <a:pPr marL="457200" indent="-457200">
              <a:buFont typeface="Wingdings" panose="05000000000000000000" pitchFamily="2" charset="2"/>
              <a:buChar char="v"/>
            </a:pPr>
            <a:r>
              <a:rPr lang="en-US" sz="3600" u="sng" dirty="0">
                <a:latin typeface="Algerian" panose="04020705040A02060702" pitchFamily="82" charset="0"/>
              </a:rPr>
              <a:t>Need of Security</a:t>
            </a:r>
            <a:r>
              <a:rPr lang="en-US" sz="3600" dirty="0">
                <a:latin typeface="Algerian" panose="04020705040A02060702" pitchFamily="82" charset="0"/>
              </a:rPr>
              <a:t> : -</a:t>
            </a:r>
            <a:br>
              <a:rPr lang="en-US" sz="3600" dirty="0">
                <a:latin typeface="Algerian" panose="04020705040A02060702" pitchFamily="82" charset="0"/>
              </a:rPr>
            </a:br>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The information security is important in organization because it can protect the confidential information.</a:t>
            </a:r>
            <a:br>
              <a:rPr lang="en-US" sz="2400" b="1" dirty="0">
                <a:solidFill>
                  <a:schemeClr val="tx1">
                    <a:lumMod val="95000"/>
                    <a:lumOff val="5000"/>
                  </a:schemeClr>
                </a:solidFill>
                <a:latin typeface="Century Schoolbook" panose="02040604050505020304" pitchFamily="18" charset="0"/>
              </a:rPr>
            </a:br>
            <a:r>
              <a:rPr lang="en-US" sz="2400" b="1" dirty="0">
                <a:solidFill>
                  <a:schemeClr val="tx1">
                    <a:lumMod val="95000"/>
                    <a:lumOff val="5000"/>
                  </a:schemeClr>
                </a:solidFill>
                <a:latin typeface="Century Schoolbook" panose="02040604050505020304" pitchFamily="18" charset="0"/>
              </a:rPr>
              <a:t>ii) Enables the organization function, also enables the safe operation of application implemented on the organization IT system, and information is an asset for an organization.</a:t>
            </a:r>
            <a:br>
              <a:rPr lang="en-US" sz="2400" b="1" dirty="0">
                <a:solidFill>
                  <a:schemeClr val="tx1">
                    <a:lumMod val="95000"/>
                    <a:lumOff val="5000"/>
                  </a:schemeClr>
                </a:solidFill>
                <a:latin typeface="Century Schoolbook" panose="02040604050505020304" pitchFamily="18" charset="0"/>
              </a:rPr>
            </a:br>
            <a:endParaRPr lang="en-IN" sz="2400" b="1" dirty="0">
              <a:solidFill>
                <a:schemeClr val="tx1">
                  <a:lumMod val="95000"/>
                  <a:lumOff val="5000"/>
                </a:schemeClr>
              </a:solidFill>
              <a:latin typeface="Century Schoolbook" panose="02040604050505020304" pitchFamily="18" charset="0"/>
            </a:endParaRPr>
          </a:p>
        </p:txBody>
      </p:sp>
      <p:sp>
        <p:nvSpPr>
          <p:cNvPr id="3" name="Text Placeholder 2">
            <a:extLst>
              <a:ext uri="{FF2B5EF4-FFF2-40B4-BE49-F238E27FC236}">
                <a16:creationId xmlns:a16="http://schemas.microsoft.com/office/drawing/2014/main" id="{B97F62D6-FC14-8552-DB90-E1FC7BE9CD43}"/>
              </a:ext>
            </a:extLst>
          </p:cNvPr>
          <p:cNvSpPr>
            <a:spLocks noGrp="1"/>
          </p:cNvSpPr>
          <p:nvPr>
            <p:ph type="body" idx="1"/>
          </p:nvPr>
        </p:nvSpPr>
        <p:spPr>
          <a:xfrm>
            <a:off x="0" y="2635045"/>
            <a:ext cx="9812594" cy="3249561"/>
          </a:xfrm>
        </p:spPr>
        <p:txBody>
          <a:bodyPr>
            <a:normAutofit/>
          </a:bodyPr>
          <a:lstStyle/>
          <a:p>
            <a:pPr marL="571500" indent="-571500">
              <a:buFont typeface="Wingdings" panose="05000000000000000000" pitchFamily="2" charset="2"/>
              <a:buChar char="v"/>
            </a:pPr>
            <a:r>
              <a:rPr lang="en-US" sz="3600" u="sng" dirty="0">
                <a:solidFill>
                  <a:schemeClr val="accent1">
                    <a:lumMod val="75000"/>
                  </a:schemeClr>
                </a:solidFill>
                <a:latin typeface="Algerian" panose="04020705040A02060702" pitchFamily="82" charset="0"/>
              </a:rPr>
              <a:t>Basic Principles of security</a:t>
            </a:r>
            <a:r>
              <a:rPr lang="en-US" sz="3600" dirty="0">
                <a:solidFill>
                  <a:schemeClr val="accent1">
                    <a:lumMod val="75000"/>
                  </a:schemeClr>
                </a:solidFill>
                <a:latin typeface="Algerian" panose="04020705040A02060702" pitchFamily="82" charset="0"/>
              </a:rPr>
              <a:t> : -</a:t>
            </a:r>
          </a:p>
          <a:p>
            <a:r>
              <a:rPr lang="en-US" sz="2400" b="1" dirty="0" err="1">
                <a:solidFill>
                  <a:schemeClr val="tx1">
                    <a:lumMod val="95000"/>
                    <a:lumOff val="5000"/>
                  </a:schemeClr>
                </a:solidFill>
                <a:latin typeface="Century Schoolbook" panose="02040604050505020304" pitchFamily="18" charset="0"/>
              </a:rPr>
              <a:t>i</a:t>
            </a:r>
            <a:r>
              <a:rPr lang="en-US" sz="2400" b="1" dirty="0">
                <a:solidFill>
                  <a:schemeClr val="tx1">
                    <a:lumMod val="95000"/>
                    <a:lumOff val="5000"/>
                  </a:schemeClr>
                </a:solidFill>
                <a:latin typeface="Century Schoolbook" panose="02040604050505020304" pitchFamily="18" charset="0"/>
              </a:rPr>
              <a:t>) Principle which is a core requirement of information security for the safe utilization, flow and storage of information is the CIA triad.</a:t>
            </a:r>
          </a:p>
          <a:p>
            <a:r>
              <a:rPr lang="en-US" sz="2400" b="1" dirty="0">
                <a:solidFill>
                  <a:schemeClr val="tx1">
                    <a:lumMod val="95000"/>
                    <a:lumOff val="5000"/>
                  </a:schemeClr>
                </a:solidFill>
                <a:latin typeface="Century Schoolbook" panose="02040604050505020304" pitchFamily="18" charset="0"/>
              </a:rPr>
              <a:t>ii) CIA stands for confidentiality, </a:t>
            </a:r>
            <a:r>
              <a:rPr lang="en-US" sz="2400" b="1" dirty="0" err="1">
                <a:solidFill>
                  <a:schemeClr val="tx1">
                    <a:lumMod val="95000"/>
                    <a:lumOff val="5000"/>
                  </a:schemeClr>
                </a:solidFill>
                <a:latin typeface="Century Schoolbook" panose="02040604050505020304" pitchFamily="18" charset="0"/>
              </a:rPr>
              <a:t>interity</a:t>
            </a:r>
            <a:r>
              <a:rPr lang="en-US" sz="2400" b="1" dirty="0">
                <a:solidFill>
                  <a:schemeClr val="tx1">
                    <a:lumMod val="95000"/>
                    <a:lumOff val="5000"/>
                  </a:schemeClr>
                </a:solidFill>
                <a:latin typeface="Century Schoolbook" panose="02040604050505020304" pitchFamily="18" charset="0"/>
              </a:rPr>
              <a:t> and availability and these are the three main objectives. core of information security.</a:t>
            </a:r>
            <a:endParaRPr lang="en-IN" sz="2400" b="1" dirty="0">
              <a:solidFill>
                <a:schemeClr val="tx1">
                  <a:lumMod val="95000"/>
                  <a:lumOff val="5000"/>
                </a:schemeClr>
              </a:solidFill>
              <a:latin typeface="Century Schoolbook" panose="02040604050505020304" pitchFamily="18" charset="0"/>
            </a:endParaRPr>
          </a:p>
        </p:txBody>
      </p:sp>
    </p:spTree>
    <p:extLst>
      <p:ext uri="{BB962C8B-B14F-4D97-AF65-F5344CB8AC3E}">
        <p14:creationId xmlns:p14="http://schemas.microsoft.com/office/powerpoint/2010/main" val="422407982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4170</TotalTime>
  <Words>4266</Words>
  <Application>Microsoft Office PowerPoint</Application>
  <PresentationFormat>Widescreen</PresentationFormat>
  <Paragraphs>242</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Algerian</vt:lpstr>
      <vt:lpstr>Arial</vt:lpstr>
      <vt:lpstr>Century Schoolbook</vt:lpstr>
      <vt:lpstr>Trebuchet MS</vt:lpstr>
      <vt:lpstr>Wingdings</vt:lpstr>
      <vt:lpstr>Wingdings 3</vt:lpstr>
      <vt:lpstr>Facet</vt:lpstr>
      <vt:lpstr>01. Introduction of computer &amp; information security</vt:lpstr>
      <vt:lpstr>1.1 foundations of computer security : -</vt:lpstr>
      <vt:lpstr>Need of computer security : -</vt:lpstr>
      <vt:lpstr>Security basics : -</vt:lpstr>
      <vt:lpstr>2. Integrity : -</vt:lpstr>
      <vt:lpstr>Availibility : -</vt:lpstr>
      <vt:lpstr>4. authentication : -</vt:lpstr>
      <vt:lpstr>5. non-repudiation : -  i) Non-repudiation refers to  preventing individuals from denying their actions or transactions, providing a way to trace actions back to their source.  ii) It is a way to guarantee that the sender of a message can't 2005 later deny having sent the message and that the receiver can't deny having received the message. iii) Non-repudiation is the assuarance that someone can't deny the validity of something. iv) Non-repudiation also provides proof to third parties. </vt:lpstr>
      <vt:lpstr>7. Accountability : - i) Accountability refers to the principal that ensures users or entities can be held responsible for their adion's within a system. ii) It is the traceability of actions performed by a user, process jor or device. for example, the use of unique user identification and authentication supports accountability. iii) whereas, the use of shared user ID's and passwords destroys accountability.</vt:lpstr>
      <vt:lpstr>1.2 Risk &amp; threat analysis : -</vt:lpstr>
      <vt:lpstr>Vulnerability : -</vt:lpstr>
      <vt:lpstr>Threat : -</vt:lpstr>
      <vt:lpstr>Risks : - ( Assets + Vulnerability + Threat )</vt:lpstr>
      <vt:lpstr>Counter measure : -</vt:lpstr>
      <vt:lpstr>1.3 Threat to security : -</vt:lpstr>
      <vt:lpstr>Phase of viruses : -</vt:lpstr>
      <vt:lpstr>PowerPoint Presentation</vt:lpstr>
      <vt:lpstr>1.4 Types of viruses : -</vt:lpstr>
      <vt:lpstr>During viruses : - </vt:lpstr>
      <vt:lpstr>Worms : -</vt:lpstr>
      <vt:lpstr>Difference between virus &amp; worms : -</vt:lpstr>
      <vt:lpstr>Trojan horse : -</vt:lpstr>
      <vt:lpstr>Intruders : -</vt:lpstr>
      <vt:lpstr>Insiders : -</vt:lpstr>
      <vt:lpstr>Types of attacks : -</vt:lpstr>
      <vt:lpstr>2. Passive attack : -</vt:lpstr>
      <vt:lpstr>Difference between active attack &amp; passive attack : -</vt:lpstr>
      <vt:lpstr>Ddos attack : -</vt:lpstr>
      <vt:lpstr>Man-in-the-middle attack : -</vt:lpstr>
      <vt:lpstr>Backdoor/trapdoor attack : -</vt:lpstr>
      <vt:lpstr>Sniffing : -</vt:lpstr>
      <vt:lpstr>Spoofing : -</vt:lpstr>
      <vt:lpstr>Tcp/ip hacking : -</vt:lpstr>
      <vt:lpstr>Encryption attacks : -</vt:lpstr>
      <vt:lpstr>1.5 Operating system security : -</vt:lpstr>
      <vt:lpstr>Operating system updates : -</vt:lpstr>
      <vt:lpstr>2. Patch : -</vt:lpstr>
      <vt:lpstr>3. Service pack : -</vt:lpstr>
      <vt:lpstr>1.6 Information : -</vt:lpstr>
      <vt:lpstr>Criteria for information classification : -</vt:lpstr>
      <vt:lpstr>Need of Security : - i) The information security is important in organization because it can protect the confidential information. ii) Enables the organization function, also enables the safe operation of application implemented on the organization IT system, and information is an asset for an organization.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Darpan Shedge</dc:creator>
  <cp:lastModifiedBy>Darpan Shedge</cp:lastModifiedBy>
  <cp:revision>2</cp:revision>
  <dcterms:created xsi:type="dcterms:W3CDTF">2025-10-02T11:21:53Z</dcterms:created>
  <dcterms:modified xsi:type="dcterms:W3CDTF">2025-10-31T19:38:28Z</dcterms:modified>
</cp:coreProperties>
</file>