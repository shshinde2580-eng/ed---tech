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6"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E180FB-EB47-415A-AB0E-151F55F8CA3E}" v="29" dt="2025-10-18T09:56:48.4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59782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32949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7284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70563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946909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09760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1588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15804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72855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7437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766605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7657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888117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137390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96018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4416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2613422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3C50D-3F28-9B42-34F7-3870DBF6BB4D}"/>
              </a:ext>
            </a:extLst>
          </p:cNvPr>
          <p:cNvSpPr>
            <a:spLocks noGrp="1"/>
          </p:cNvSpPr>
          <p:nvPr>
            <p:ph type="ctrTitle"/>
          </p:nvPr>
        </p:nvSpPr>
        <p:spPr>
          <a:xfrm>
            <a:off x="707921" y="3227682"/>
            <a:ext cx="8858865" cy="1646302"/>
          </a:xfrm>
        </p:spPr>
        <p:txBody>
          <a:bodyPr/>
          <a:lstStyle/>
          <a:p>
            <a:pPr algn="ctr"/>
            <a:r>
              <a:rPr lang="en-US" sz="6000" dirty="0">
                <a:latin typeface="Algerian" panose="04020705040A02060702" pitchFamily="82" charset="0"/>
              </a:rPr>
              <a:t>05. Network security cyber laws &amp; compliance standard</a:t>
            </a:r>
            <a:endParaRPr lang="en-IN" sz="6000" dirty="0">
              <a:latin typeface="Algerian" panose="04020705040A02060702" pitchFamily="82" charset="0"/>
            </a:endParaRPr>
          </a:p>
        </p:txBody>
      </p:sp>
      <p:sp>
        <p:nvSpPr>
          <p:cNvPr id="3" name="Subtitle 2">
            <a:extLst>
              <a:ext uri="{FF2B5EF4-FFF2-40B4-BE49-F238E27FC236}">
                <a16:creationId xmlns:a16="http://schemas.microsoft.com/office/drawing/2014/main" id="{4C929EAD-5C5E-C02B-4286-A59F6830A46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316978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D765A-367E-23D1-39A3-47D140654E16}"/>
              </a:ext>
            </a:extLst>
          </p:cNvPr>
          <p:cNvSpPr>
            <a:spLocks noGrp="1"/>
          </p:cNvSpPr>
          <p:nvPr>
            <p:ph type="title"/>
          </p:nvPr>
        </p:nvSpPr>
        <p:spPr>
          <a:xfrm>
            <a:off x="52985" y="-131916"/>
            <a:ext cx="9274003" cy="866058"/>
          </a:xfrm>
        </p:spPr>
        <p:txBody>
          <a:bodyPr>
            <a:normAutofit/>
          </a:bodyPr>
          <a:lstStyle/>
          <a:p>
            <a:r>
              <a:rPr lang="en-US" dirty="0">
                <a:latin typeface="Algerian" panose="04020705040A02060702" pitchFamily="82" charset="0"/>
              </a:rPr>
              <a:t>5.1] </a:t>
            </a:r>
            <a:r>
              <a:rPr lang="en-US" u="sng" dirty="0">
                <a:latin typeface="Algerian" panose="04020705040A02060702" pitchFamily="82" charset="0"/>
              </a:rPr>
              <a:t>Kerberos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31CA96AD-0F26-0D63-F614-85C5C00F3DB5}"/>
              </a:ext>
            </a:extLst>
          </p:cNvPr>
          <p:cNvSpPr>
            <a:spLocks noGrp="1"/>
          </p:cNvSpPr>
          <p:nvPr>
            <p:ph type="body" idx="1"/>
          </p:nvPr>
        </p:nvSpPr>
        <p:spPr>
          <a:xfrm>
            <a:off x="0" y="442452"/>
            <a:ext cx="9950245" cy="4080387"/>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Kerberos is an authentication protocol. It provides a authenticate clients to services to each other through a trusted third party.</a:t>
            </a:r>
          </a:p>
          <a:p>
            <a:pPr marL="342900" indent="-342900">
              <a:buFont typeface="Wingdings" panose="05000000000000000000" pitchFamily="2" charset="2"/>
              <a:buChar char="Ø"/>
            </a:pPr>
            <a:r>
              <a:rPr lang="en-US" sz="2400" b="1" dirty="0">
                <a:latin typeface="Century Schoolbook" panose="02040604050505020304" pitchFamily="18" charset="0"/>
              </a:rPr>
              <a:t>Kerberos makes the assumption that the connection between a client and service is insecure.</a:t>
            </a:r>
          </a:p>
          <a:p>
            <a:pPr marL="342900" indent="-342900">
              <a:buFont typeface="Wingdings" panose="05000000000000000000" pitchFamily="2" charset="2"/>
              <a:buChar char="Ø"/>
            </a:pPr>
            <a:r>
              <a:rPr lang="en-US" sz="2400" b="1" dirty="0">
                <a:latin typeface="Century Schoolbook" panose="02040604050505020304" pitchFamily="18" charset="0"/>
              </a:rPr>
              <a:t>Passwords are encrypted to prevent others from reading them.</a:t>
            </a:r>
          </a:p>
          <a:p>
            <a:pPr marL="342900" indent="-342900">
              <a:buFont typeface="Wingdings" panose="05000000000000000000" pitchFamily="2" charset="2"/>
              <a:buChar char="Ø"/>
            </a:pPr>
            <a:r>
              <a:rPr lang="en-US" sz="2400" b="1" dirty="0">
                <a:latin typeface="Century Schoolbook" panose="02040604050505020304" pitchFamily="18" charset="0"/>
              </a:rPr>
              <a:t>Clients only have to authenticate once during a pre-defined lifetime.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84373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CCAF8-DA50-5055-77B9-C00120A4E0EC}"/>
              </a:ext>
            </a:extLst>
          </p:cNvPr>
          <p:cNvSpPr>
            <a:spLocks noGrp="1"/>
          </p:cNvSpPr>
          <p:nvPr>
            <p:ph type="title"/>
          </p:nvPr>
        </p:nvSpPr>
        <p:spPr>
          <a:xfrm>
            <a:off x="0" y="-72922"/>
            <a:ext cx="8596668" cy="791238"/>
          </a:xfrm>
        </p:spPr>
        <p:txBody>
          <a:bodyPr/>
          <a:lstStyle/>
          <a:p>
            <a:pPr marL="571500" indent="-571500">
              <a:buFont typeface="Wingdings" panose="05000000000000000000" pitchFamily="2" charset="2"/>
              <a:buChar char="v"/>
            </a:pPr>
            <a:r>
              <a:rPr lang="en-US" u="sng" dirty="0">
                <a:latin typeface="Algerian" panose="04020705040A02060702" pitchFamily="82" charset="0"/>
              </a:rPr>
              <a:t>Working of Kerberos</a:t>
            </a:r>
            <a:r>
              <a:rPr lang="en-US" dirty="0">
                <a:latin typeface="Algerian" panose="04020705040A02060702" pitchFamily="82" charset="0"/>
              </a:rPr>
              <a:t> :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B90A509E-E6AB-5862-79CD-00EF76012836}"/>
              </a:ext>
            </a:extLst>
          </p:cNvPr>
          <p:cNvSpPr>
            <a:spLocks noGrp="1"/>
          </p:cNvSpPr>
          <p:nvPr>
            <p:ph type="body" idx="1"/>
          </p:nvPr>
        </p:nvSpPr>
        <p:spPr>
          <a:xfrm>
            <a:off x="0" y="619992"/>
            <a:ext cx="10923639" cy="6238007"/>
          </a:xfrm>
        </p:spPr>
        <p:txBody>
          <a:bodyPr>
            <a:normAutofit lnSpcReduction="10000"/>
          </a:bodyPr>
          <a:lstStyle/>
          <a:p>
            <a:r>
              <a:rPr lang="en-US" sz="2000" b="1" dirty="0">
                <a:latin typeface="Century Schoolbook" panose="02040604050505020304" pitchFamily="18" charset="0"/>
              </a:rPr>
              <a:t>1. The AS receives the request by the client &amp; verifies that the client is </a:t>
            </a:r>
            <a:r>
              <a:rPr lang="en-US" sz="2000" b="1" dirty="0" err="1">
                <a:latin typeface="Century Schoolbook" panose="02040604050505020304" pitchFamily="18" charset="0"/>
              </a:rPr>
              <a:t>inded</a:t>
            </a:r>
            <a:r>
              <a:rPr lang="en-US" sz="2000" b="1" dirty="0">
                <a:latin typeface="Century Schoolbook" panose="02040604050505020304" pitchFamily="18" charset="0"/>
              </a:rPr>
              <a:t> the computer it claims to be .</a:t>
            </a:r>
          </a:p>
          <a:p>
            <a:r>
              <a:rPr lang="en-US" sz="2000" b="1" dirty="0">
                <a:latin typeface="Century Schoolbook" panose="02040604050505020304" pitchFamily="18" charset="0"/>
              </a:rPr>
              <a:t>2. Upon verification, a timestamp is created. This puts the current time in a user session, along with an expiration date. The default expiration date is 8 hours.</a:t>
            </a:r>
          </a:p>
          <a:p>
            <a:r>
              <a:rPr lang="en-US" sz="2000" b="1" dirty="0">
                <a:latin typeface="Century Schoolbook" panose="02040604050505020304" pitchFamily="18" charset="0"/>
              </a:rPr>
              <a:t>3. The encryption key is then created. The timestamp ensures that when 8 hours are up, the key is useless.</a:t>
            </a:r>
          </a:p>
          <a:p>
            <a:r>
              <a:rPr lang="en-US" sz="2000" b="1" dirty="0">
                <a:latin typeface="Century Schoolbook" panose="02040604050505020304" pitchFamily="18" charset="0"/>
              </a:rPr>
              <a:t>4. The key is sent back to the client in the form of TGT. It is used for authentication of the client for future reference.</a:t>
            </a:r>
          </a:p>
          <a:p>
            <a:r>
              <a:rPr lang="en-US" sz="2000" b="1" dirty="0">
                <a:latin typeface="Century Schoolbook" panose="02040604050505020304" pitchFamily="18" charset="0"/>
              </a:rPr>
              <a:t>5. The client submits the TGT to the TGS to get authenticated.</a:t>
            </a:r>
          </a:p>
          <a:p>
            <a:r>
              <a:rPr lang="en-US" sz="2000" b="1" dirty="0">
                <a:latin typeface="Century Schoolbook" panose="02040604050505020304" pitchFamily="18" charset="0"/>
              </a:rPr>
              <a:t>6. The TGS creates an encrypted key with a timestamp and grants the client a service ticket.</a:t>
            </a:r>
          </a:p>
          <a:p>
            <a:r>
              <a:rPr lang="en-US" sz="2000" b="1" dirty="0">
                <a:latin typeface="Century Schoolbook" panose="02040604050505020304" pitchFamily="18" charset="0"/>
              </a:rPr>
              <a:t>7. The client decrypts the ticket, tells the TGS it has done so, and then its own encrypted keys to the service.</a:t>
            </a:r>
          </a:p>
          <a:p>
            <a:r>
              <a:rPr lang="en-US" sz="2000" b="1" dirty="0">
                <a:latin typeface="Century Schoolbook" panose="02040604050505020304" pitchFamily="18" charset="0"/>
              </a:rPr>
              <a:t>8. The service decrypts the keys and makes sure the timestamp is still valid. If it is the service contacts the key distribution center to receive a session that is returned to the client.</a:t>
            </a:r>
          </a:p>
          <a:p>
            <a:r>
              <a:rPr lang="en-US" sz="2000" b="1" dirty="0">
                <a:latin typeface="Century Schoolbook" panose="02040604050505020304" pitchFamily="18" charset="0"/>
              </a:rPr>
              <a:t>9. The client decrypts the ticket. If the keys are still valid, communication is initiated between client &amp; server.</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858468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083B4-2985-5546-7D15-F58316D455DF}"/>
              </a:ext>
            </a:extLst>
          </p:cNvPr>
          <p:cNvSpPr>
            <a:spLocks noGrp="1"/>
          </p:cNvSpPr>
          <p:nvPr>
            <p:ph type="title"/>
          </p:nvPr>
        </p:nvSpPr>
        <p:spPr>
          <a:xfrm>
            <a:off x="28405" y="-78658"/>
            <a:ext cx="8596668" cy="816638"/>
          </a:xfrm>
        </p:spPr>
        <p:txBody>
          <a:bodyPr/>
          <a:lstStyle/>
          <a:p>
            <a:pPr marL="571500" indent="-571500">
              <a:buFont typeface="Wingdings" panose="05000000000000000000" pitchFamily="2" charset="2"/>
              <a:buChar char="v"/>
            </a:pPr>
            <a:r>
              <a:rPr lang="en-US" u="sng" dirty="0">
                <a:latin typeface="Algerian" panose="04020705040A02060702" pitchFamily="82" charset="0"/>
              </a:rPr>
              <a:t>Kerberos terminology</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F178E0E9-EE24-C576-E33D-9D01B140C90C}"/>
              </a:ext>
            </a:extLst>
          </p:cNvPr>
          <p:cNvSpPr>
            <a:spLocks noGrp="1"/>
          </p:cNvSpPr>
          <p:nvPr>
            <p:ph type="body" idx="1"/>
          </p:nvPr>
        </p:nvSpPr>
        <p:spPr>
          <a:xfrm>
            <a:off x="28405" y="492172"/>
            <a:ext cx="9538381" cy="4561607"/>
          </a:xfrm>
        </p:spPr>
        <p:txBody>
          <a:bodyPr>
            <a:normAutofit/>
          </a:bodyPr>
          <a:lstStyle/>
          <a:p>
            <a:pPr marL="342900" indent="-342900">
              <a:buFont typeface="Wingdings" panose="05000000000000000000" pitchFamily="2" charset="2"/>
              <a:buChar char="ü"/>
            </a:pPr>
            <a:r>
              <a:rPr lang="en-US" sz="2800" b="1" u="sng" dirty="0">
                <a:solidFill>
                  <a:schemeClr val="accent1">
                    <a:lumMod val="75000"/>
                  </a:schemeClr>
                </a:solidFill>
                <a:latin typeface="Century Schoolbook" panose="02040604050505020304" pitchFamily="18" charset="0"/>
              </a:rPr>
              <a:t>Authentication Server (AS)</a:t>
            </a:r>
            <a:r>
              <a:rPr lang="en-US" sz="2800" b="1" dirty="0">
                <a:solidFill>
                  <a:schemeClr val="accent1">
                    <a:lumMod val="75000"/>
                  </a:schemeClr>
                </a:solidFill>
                <a:latin typeface="Century Schoolbook" panose="02040604050505020304" pitchFamily="18" charset="0"/>
              </a:rPr>
              <a:t> : - </a:t>
            </a:r>
            <a:r>
              <a:rPr lang="en-US" sz="2400" b="1" dirty="0">
                <a:latin typeface="Century Schoolbook" panose="02040604050505020304" pitchFamily="18" charset="0"/>
              </a:rPr>
              <a:t>A server that issues tickets for a desired service which are in turn given to users for access to the service.</a:t>
            </a:r>
          </a:p>
          <a:p>
            <a:pPr marL="342900" indent="-342900">
              <a:buFont typeface="Wingdings" panose="05000000000000000000" pitchFamily="2" charset="2"/>
              <a:buChar char="ü"/>
            </a:pPr>
            <a:r>
              <a:rPr lang="en-US" sz="2800" b="1" u="sng" dirty="0">
                <a:solidFill>
                  <a:schemeClr val="accent1">
                    <a:lumMod val="75000"/>
                  </a:schemeClr>
                </a:solidFill>
                <a:latin typeface="Century Schoolbook" panose="02040604050505020304" pitchFamily="18" charset="0"/>
              </a:rPr>
              <a:t>TGS (Ticket-Granting Service)</a:t>
            </a:r>
            <a:r>
              <a:rPr lang="en-US" sz="2800" b="1" dirty="0">
                <a:solidFill>
                  <a:schemeClr val="accent1">
                    <a:lumMod val="75000"/>
                  </a:schemeClr>
                </a:solidFill>
                <a:latin typeface="Century Schoolbook" panose="02040604050505020304" pitchFamily="18" charset="0"/>
              </a:rPr>
              <a:t> : - </a:t>
            </a:r>
            <a:r>
              <a:rPr lang="en-US" sz="2400" b="1" dirty="0" err="1">
                <a:latin typeface="Century Schoolbook" panose="02040604050505020304" pitchFamily="18" charset="0"/>
              </a:rPr>
              <a:t>Issuess</a:t>
            </a:r>
            <a:r>
              <a:rPr lang="en-US" sz="2400" b="1" dirty="0">
                <a:latin typeface="Century Schoolbook" panose="02040604050505020304" pitchFamily="18" charset="0"/>
              </a:rPr>
              <a:t> service tickets based on the TGT (Ticket-Granting - Ticket). TGs runs on the same host as the KDC (Key </a:t>
            </a:r>
            <a:r>
              <a:rPr lang="en-US" sz="2400" b="1" dirty="0" err="1">
                <a:latin typeface="Century Schoolbook" panose="02040604050505020304" pitchFamily="18" charset="0"/>
              </a:rPr>
              <a:t>Destribution</a:t>
            </a:r>
            <a:r>
              <a:rPr lang="en-US" sz="2400" b="1" dirty="0">
                <a:latin typeface="Century Schoolbook" panose="02040604050505020304" pitchFamily="18" charset="0"/>
              </a:rPr>
              <a:t> Center).</a:t>
            </a:r>
          </a:p>
          <a:p>
            <a:pPr marL="342900" indent="-342900">
              <a:buFont typeface="Wingdings" panose="05000000000000000000" pitchFamily="2" charset="2"/>
              <a:buChar char="ü"/>
            </a:pPr>
            <a:r>
              <a:rPr lang="en-US" sz="2800" b="1" u="sng" dirty="0">
                <a:solidFill>
                  <a:schemeClr val="accent1">
                    <a:lumMod val="75000"/>
                  </a:schemeClr>
                </a:solidFill>
                <a:latin typeface="Century Schoolbook" panose="02040604050505020304" pitchFamily="18" charset="0"/>
              </a:rPr>
              <a:t>SS (Security Service)</a:t>
            </a:r>
            <a:r>
              <a:rPr lang="en-US" sz="2800" b="1" dirty="0">
                <a:solidFill>
                  <a:schemeClr val="accent1">
                    <a:lumMod val="75000"/>
                  </a:schemeClr>
                </a:solidFill>
                <a:latin typeface="Century Schoolbook" panose="02040604050505020304" pitchFamily="18" charset="0"/>
              </a:rPr>
              <a:t> : -</a:t>
            </a:r>
            <a:r>
              <a:rPr lang="en-US" sz="2400" b="1" dirty="0">
                <a:latin typeface="Century Schoolbook" panose="02040604050505020304" pitchFamily="18" charset="0"/>
              </a:rPr>
              <a:t> It covers the key concepts &amp; components related to securing authentication within </a:t>
            </a:r>
            <a:r>
              <a:rPr lang="en-US" sz="2400" b="1" dirty="0" err="1">
                <a:latin typeface="Century Schoolbook" panose="02040604050505020304" pitchFamily="18" charset="0"/>
              </a:rPr>
              <a:t>kerberos</a:t>
            </a:r>
            <a:r>
              <a:rPr lang="en-US" sz="2400" b="1" dirty="0">
                <a:latin typeface="Century Schoolbook" panose="02040604050505020304" pitchFamily="18" charset="0"/>
              </a:rPr>
              <a:t>.</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6579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3FF8A-1F99-0AED-F68F-D09F15C90DF1}"/>
              </a:ext>
            </a:extLst>
          </p:cNvPr>
          <p:cNvSpPr>
            <a:spLocks noGrp="1"/>
          </p:cNvSpPr>
          <p:nvPr>
            <p:ph type="title"/>
          </p:nvPr>
        </p:nvSpPr>
        <p:spPr>
          <a:xfrm>
            <a:off x="0" y="-137653"/>
            <a:ext cx="8596668" cy="901291"/>
          </a:xfrm>
        </p:spPr>
        <p:txBody>
          <a:bodyPr>
            <a:normAutofit/>
          </a:bodyPr>
          <a:lstStyle/>
          <a:p>
            <a:r>
              <a:rPr lang="en-US" dirty="0">
                <a:latin typeface="Algerian" panose="04020705040A02060702" pitchFamily="82" charset="0"/>
              </a:rPr>
              <a:t>5.2] </a:t>
            </a:r>
            <a:r>
              <a:rPr lang="en-US" u="sng" dirty="0" err="1">
                <a:latin typeface="Algerian" panose="04020705040A02060702" pitchFamily="82" charset="0"/>
              </a:rPr>
              <a:t>ip</a:t>
            </a:r>
            <a:r>
              <a:rPr lang="en-US" u="sng" dirty="0">
                <a:latin typeface="Algerian" panose="04020705040A02060702" pitchFamily="82" charset="0"/>
              </a:rPr>
              <a:t> security</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883F1F64-1110-94C3-7F4C-789BD4DD609D}"/>
              </a:ext>
            </a:extLst>
          </p:cNvPr>
          <p:cNvSpPr>
            <a:spLocks noGrp="1"/>
          </p:cNvSpPr>
          <p:nvPr>
            <p:ph type="body" idx="1"/>
          </p:nvPr>
        </p:nvSpPr>
        <p:spPr>
          <a:xfrm>
            <a:off x="0" y="566994"/>
            <a:ext cx="9468465" cy="3887020"/>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IP Security (IPSec) is the capability that can be added to present versions of Internet Protocol (IPv4 and IPV6) by means of additional headers for secure communication across LAN, WAN and Internet.</a:t>
            </a:r>
          </a:p>
          <a:p>
            <a:pPr marL="342900" indent="-342900">
              <a:buFont typeface="Wingdings" panose="05000000000000000000" pitchFamily="2" charset="2"/>
              <a:buChar char="Ø"/>
            </a:pPr>
            <a:r>
              <a:rPr lang="en-US" sz="2400" b="1" dirty="0">
                <a:latin typeface="Century Schoolbook" panose="02040604050505020304" pitchFamily="18" charset="0"/>
              </a:rPr>
              <a:t>IPSec is a set of protocols that provide confidentiality, authentication, integrity and replay detection at IP layer.</a:t>
            </a:r>
          </a:p>
          <a:p>
            <a:pPr marL="342900" indent="-342900">
              <a:buFont typeface="Wingdings" panose="05000000000000000000" pitchFamily="2" charset="2"/>
              <a:buChar char="Ø"/>
            </a:pPr>
            <a:r>
              <a:rPr lang="en-US" sz="2400" b="1" dirty="0">
                <a:latin typeface="Century Schoolbook" panose="02040604050505020304" pitchFamily="18" charset="0"/>
              </a:rPr>
              <a:t>The device (fire wall or gateway) on which the IP Sec mechanism resides is called as security gateway.</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9771916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1D868-AB1C-A897-3C71-FED7685B41E9}"/>
              </a:ext>
            </a:extLst>
          </p:cNvPr>
          <p:cNvSpPr>
            <a:spLocks noGrp="1"/>
          </p:cNvSpPr>
          <p:nvPr>
            <p:ph type="title"/>
          </p:nvPr>
        </p:nvSpPr>
        <p:spPr>
          <a:xfrm>
            <a:off x="8740" y="-108155"/>
            <a:ext cx="12183260" cy="1691149"/>
          </a:xfrm>
        </p:spPr>
        <p:txBody>
          <a:bodyPr>
            <a:normAutofit/>
          </a:bodyPr>
          <a:lstStyle/>
          <a:p>
            <a:pPr marL="571500" indent="-571500">
              <a:buFont typeface="Wingdings" panose="05000000000000000000" pitchFamily="2" charset="2"/>
              <a:buChar char="v"/>
            </a:pPr>
            <a:r>
              <a:rPr lang="en-US" sz="3200" u="sng" dirty="0" err="1">
                <a:latin typeface="Algerian" panose="04020705040A02060702" pitchFamily="82" charset="0"/>
              </a:rPr>
              <a:t>Ipsec</a:t>
            </a:r>
            <a:r>
              <a:rPr lang="en-US" sz="3200" u="sng" dirty="0">
                <a:latin typeface="Algerian" panose="04020705040A02060702" pitchFamily="82" charset="0"/>
              </a:rPr>
              <a:t> uses two protocols for message security</a:t>
            </a:r>
            <a:r>
              <a:rPr lang="en-US" sz="3200" dirty="0">
                <a:latin typeface="Algerian" panose="04020705040A02060702" pitchFamily="82" charset="0"/>
              </a:rPr>
              <a:t> : -</a:t>
            </a:r>
            <a:br>
              <a:rPr lang="en-US" sz="3200" dirty="0">
                <a:latin typeface="Algerian" panose="04020705040A02060702" pitchFamily="82" charset="0"/>
              </a:rPr>
            </a:br>
            <a:r>
              <a:rPr lang="en-US" sz="2800" b="1" dirty="0">
                <a:solidFill>
                  <a:schemeClr val="tx1">
                    <a:lumMod val="95000"/>
                    <a:lumOff val="5000"/>
                  </a:schemeClr>
                </a:solidFill>
                <a:latin typeface="Century Schoolbook" panose="02040604050505020304" pitchFamily="18" charset="0"/>
              </a:rPr>
              <a:t>1. Authentication Header (AH) Protocol.</a:t>
            </a:r>
            <a:br>
              <a:rPr lang="en-US" sz="2800" b="1" dirty="0">
                <a:solidFill>
                  <a:schemeClr val="tx1">
                    <a:lumMod val="95000"/>
                    <a:lumOff val="5000"/>
                  </a:schemeClr>
                </a:solidFill>
                <a:latin typeface="Century Schoolbook" panose="02040604050505020304" pitchFamily="18" charset="0"/>
              </a:rPr>
            </a:br>
            <a:r>
              <a:rPr lang="en-US" sz="2800" b="1" dirty="0">
                <a:solidFill>
                  <a:schemeClr val="tx1">
                    <a:lumMod val="95000"/>
                    <a:lumOff val="5000"/>
                  </a:schemeClr>
                </a:solidFill>
                <a:latin typeface="Century Schoolbook" panose="02040604050505020304" pitchFamily="18" charset="0"/>
              </a:rPr>
              <a:t>2. Encapsulating Security Payload (ESP) Protocol.</a:t>
            </a:r>
            <a:endParaRPr lang="en-IN" sz="3200" dirty="0">
              <a:latin typeface="Algerian" panose="04020705040A02060702" pitchFamily="82" charset="0"/>
            </a:endParaRPr>
          </a:p>
        </p:txBody>
      </p:sp>
      <p:sp>
        <p:nvSpPr>
          <p:cNvPr id="3" name="Text Placeholder 2">
            <a:extLst>
              <a:ext uri="{FF2B5EF4-FFF2-40B4-BE49-F238E27FC236}">
                <a16:creationId xmlns:a16="http://schemas.microsoft.com/office/drawing/2014/main" id="{65152762-41CC-4F6E-EE32-78154A77FFDA}"/>
              </a:ext>
            </a:extLst>
          </p:cNvPr>
          <p:cNvSpPr>
            <a:spLocks noGrp="1"/>
          </p:cNvSpPr>
          <p:nvPr>
            <p:ph type="body" idx="1"/>
          </p:nvPr>
        </p:nvSpPr>
        <p:spPr>
          <a:xfrm>
            <a:off x="8740" y="1209366"/>
            <a:ext cx="9823518" cy="5363497"/>
          </a:xfrm>
        </p:spPr>
        <p:txBody>
          <a:bodyPr>
            <a:normAutofit/>
          </a:bodyPr>
          <a:lstStyle/>
          <a:p>
            <a:r>
              <a:rPr lang="en-US" sz="2800" b="1" dirty="0">
                <a:solidFill>
                  <a:schemeClr val="accent1">
                    <a:lumMod val="75000"/>
                  </a:schemeClr>
                </a:solidFill>
                <a:latin typeface="Century Schoolbook" panose="02040604050505020304" pitchFamily="18" charset="0"/>
              </a:rPr>
              <a:t>1. </a:t>
            </a:r>
            <a:r>
              <a:rPr lang="en-US" sz="2800" b="1" u="sng" dirty="0">
                <a:solidFill>
                  <a:schemeClr val="accent1">
                    <a:lumMod val="75000"/>
                  </a:schemeClr>
                </a:solidFill>
                <a:latin typeface="Century Schoolbook" panose="02040604050505020304" pitchFamily="18" charset="0"/>
              </a:rPr>
              <a:t>Authentication Header (AH) Protocol</a:t>
            </a:r>
            <a:r>
              <a:rPr lang="en-US" sz="2800" b="1" dirty="0">
                <a:solidFill>
                  <a:schemeClr val="accent1">
                    <a:lumMod val="75000"/>
                  </a:schemeClr>
                </a:solidFill>
                <a:latin typeface="Century Schoolbook" panose="02040604050505020304" pitchFamily="18" charset="0"/>
              </a:rPr>
              <a:t> : -</a:t>
            </a:r>
          </a:p>
          <a:p>
            <a:r>
              <a:rPr lang="en-US" sz="2400" b="1" dirty="0" err="1">
                <a:latin typeface="Century Schoolbook" panose="02040604050505020304" pitchFamily="18" charset="0"/>
              </a:rPr>
              <a:t>i</a:t>
            </a:r>
            <a:r>
              <a:rPr lang="en-US" sz="2400" b="1" dirty="0">
                <a:latin typeface="Century Schoolbook" panose="02040604050505020304" pitchFamily="18" charset="0"/>
              </a:rPr>
              <a:t>) AH ensures that the data within the IP packet has not been altered during transit.</a:t>
            </a:r>
          </a:p>
          <a:p>
            <a:r>
              <a:rPr lang="en-US" sz="2400" b="1" dirty="0">
                <a:latin typeface="Century Schoolbook" panose="02040604050505020304" pitchFamily="18" charset="0"/>
              </a:rPr>
              <a:t>ii) It computes a cryptographic hash off the packet's content and sends this hash along with the packet.</a:t>
            </a:r>
          </a:p>
          <a:p>
            <a:r>
              <a:rPr lang="en-US" sz="2800" b="1" dirty="0">
                <a:solidFill>
                  <a:schemeClr val="accent1">
                    <a:lumMod val="75000"/>
                  </a:schemeClr>
                </a:solidFill>
                <a:latin typeface="Century Schoolbook" panose="02040604050505020304" pitchFamily="18" charset="0"/>
              </a:rPr>
              <a:t>2. </a:t>
            </a:r>
            <a:r>
              <a:rPr lang="en-US" sz="2800" b="1" u="sng" dirty="0">
                <a:solidFill>
                  <a:schemeClr val="accent1">
                    <a:lumMod val="75000"/>
                  </a:schemeClr>
                </a:solidFill>
                <a:latin typeface="Century Schoolbook" panose="02040604050505020304" pitchFamily="18" charset="0"/>
              </a:rPr>
              <a:t>ESP Protocol</a:t>
            </a:r>
            <a:r>
              <a:rPr lang="en-US" sz="2800" b="1" dirty="0">
                <a:solidFill>
                  <a:schemeClr val="accent1">
                    <a:lumMod val="75000"/>
                  </a:schemeClr>
                </a:solidFill>
                <a:latin typeface="Century Schoolbook" panose="02040604050505020304" pitchFamily="18" charset="0"/>
              </a:rPr>
              <a:t> : -</a:t>
            </a:r>
          </a:p>
          <a:p>
            <a:r>
              <a:rPr lang="en-US" sz="2400" b="1" dirty="0" err="1">
                <a:latin typeface="Century Schoolbook" panose="02040604050505020304" pitchFamily="18" charset="0"/>
              </a:rPr>
              <a:t>i</a:t>
            </a:r>
            <a:r>
              <a:rPr lang="en-US" sz="2400" b="1" dirty="0">
                <a:latin typeface="Century Schoolbook" panose="02040604050505020304" pitchFamily="18" charset="0"/>
              </a:rPr>
              <a:t>) ESP ensures that the payload of the IP packet is encrypted, protecting it from eavesdropping.</a:t>
            </a:r>
          </a:p>
          <a:p>
            <a:r>
              <a:rPr lang="en-US" sz="2400" b="1" dirty="0">
                <a:latin typeface="Century Schoolbook" panose="02040604050505020304" pitchFamily="18" charset="0"/>
              </a:rPr>
              <a:t>ii) Unlike AH Protocol, ESP can offer confidentiality through encryption, making it a more widely used protocol.</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831391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01739-62F2-CFA9-75D3-C6B271C0C6B1}"/>
              </a:ext>
            </a:extLst>
          </p:cNvPr>
          <p:cNvSpPr>
            <a:spLocks noGrp="1"/>
          </p:cNvSpPr>
          <p:nvPr>
            <p:ph type="title"/>
          </p:nvPr>
        </p:nvSpPr>
        <p:spPr>
          <a:xfrm>
            <a:off x="0" y="-117987"/>
            <a:ext cx="11249194" cy="1789471"/>
          </a:xfrm>
        </p:spPr>
        <p:txBody>
          <a:bodyPr>
            <a:normAutofit/>
          </a:bodyPr>
          <a:lstStyle/>
          <a:p>
            <a:pPr marL="571500" indent="-571500">
              <a:buFont typeface="Wingdings" panose="05000000000000000000" pitchFamily="2" charset="2"/>
              <a:buChar char="v"/>
            </a:pPr>
            <a:r>
              <a:rPr lang="en-US" sz="4000" u="sng" dirty="0" err="1">
                <a:latin typeface="Algerian" panose="04020705040A02060702" pitchFamily="82" charset="0"/>
              </a:rPr>
              <a:t>Ipsec</a:t>
            </a:r>
            <a:r>
              <a:rPr lang="en-US" sz="4000" u="sng" dirty="0">
                <a:latin typeface="Algerian" panose="04020705040A02060702" pitchFamily="82" charset="0"/>
              </a:rPr>
              <a:t> has two modes of operation</a:t>
            </a:r>
            <a:r>
              <a:rPr lang="en-US" sz="4000" dirty="0">
                <a:latin typeface="Algerian" panose="04020705040A02060702" pitchFamily="82" charset="0"/>
              </a:rPr>
              <a:t> : -</a:t>
            </a:r>
            <a:br>
              <a:rPr lang="en-US" sz="4000" dirty="0">
                <a:latin typeface="Algerian" panose="04020705040A02060702" pitchFamily="82" charset="0"/>
              </a:rPr>
            </a:br>
            <a:r>
              <a:rPr lang="en-US" sz="2800" b="1" dirty="0">
                <a:solidFill>
                  <a:schemeClr val="tx1"/>
                </a:solidFill>
                <a:latin typeface="Century Schoolbook" panose="02040604050505020304" pitchFamily="18" charset="0"/>
              </a:rPr>
              <a:t>1. Transport Mode.</a:t>
            </a:r>
            <a:br>
              <a:rPr lang="en-US" sz="2800" b="1" dirty="0">
                <a:solidFill>
                  <a:schemeClr val="tx1"/>
                </a:solidFill>
                <a:latin typeface="Century Schoolbook" panose="02040604050505020304" pitchFamily="18" charset="0"/>
              </a:rPr>
            </a:br>
            <a:r>
              <a:rPr lang="en-US" sz="2800" b="1" dirty="0">
                <a:solidFill>
                  <a:schemeClr val="tx1"/>
                </a:solidFill>
                <a:latin typeface="Century Schoolbook" panose="02040604050505020304" pitchFamily="18" charset="0"/>
              </a:rPr>
              <a:t>2. Tunnel Mode.</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E1E76D5C-1977-2240-F3B3-0C87A7669B4B}"/>
              </a:ext>
            </a:extLst>
          </p:cNvPr>
          <p:cNvSpPr>
            <a:spLocks noGrp="1"/>
          </p:cNvSpPr>
          <p:nvPr>
            <p:ph type="body" idx="1"/>
          </p:nvPr>
        </p:nvSpPr>
        <p:spPr>
          <a:xfrm>
            <a:off x="1" y="1445343"/>
            <a:ext cx="9684774" cy="4178709"/>
          </a:xfrm>
        </p:spPr>
        <p:txBody>
          <a:bodyPr>
            <a:normAutofit/>
          </a:bodyPr>
          <a:lstStyle/>
          <a:p>
            <a:r>
              <a:rPr lang="en-US" sz="3600" b="1" dirty="0">
                <a:solidFill>
                  <a:schemeClr val="accent1">
                    <a:lumMod val="75000"/>
                  </a:schemeClr>
                </a:solidFill>
                <a:latin typeface="Century Schoolbook" panose="02040604050505020304" pitchFamily="18" charset="0"/>
              </a:rPr>
              <a:t>1. </a:t>
            </a:r>
            <a:r>
              <a:rPr lang="en-US" sz="3600" b="1" u="sng" dirty="0">
                <a:solidFill>
                  <a:schemeClr val="accent1">
                    <a:lumMod val="75000"/>
                  </a:schemeClr>
                </a:solidFill>
                <a:latin typeface="Century Schoolbook" panose="02040604050505020304" pitchFamily="18" charset="0"/>
              </a:rPr>
              <a:t>Transport Mode</a:t>
            </a:r>
            <a:r>
              <a:rPr lang="en-US" sz="3600" b="1" dirty="0">
                <a:solidFill>
                  <a:schemeClr val="accent1">
                    <a:lumMod val="75000"/>
                  </a:schemeClr>
                </a:solidFill>
                <a:latin typeface="Century Schoolbook" panose="02040604050505020304" pitchFamily="18" charset="0"/>
              </a:rPr>
              <a:t> : -</a:t>
            </a:r>
          </a:p>
          <a:p>
            <a:pPr marL="342900" indent="-342900">
              <a:buFont typeface="Wingdings" panose="05000000000000000000" pitchFamily="2" charset="2"/>
              <a:buChar char="Ø"/>
            </a:pPr>
            <a:r>
              <a:rPr lang="en-US" sz="2400" b="1" dirty="0">
                <a:latin typeface="Century Schoolbook" panose="02040604050505020304" pitchFamily="18" charset="0"/>
              </a:rPr>
              <a:t>Transport mode mainly provide protection for upper layer protocols. The protection extends to the payload of IP packet.</a:t>
            </a:r>
          </a:p>
          <a:p>
            <a:pPr marL="342900" indent="-342900">
              <a:buFont typeface="Wingdings" panose="05000000000000000000" pitchFamily="2" charset="2"/>
              <a:buChar char="Ø"/>
            </a:pPr>
            <a:r>
              <a:rPr lang="en-US" sz="2400" b="1" dirty="0">
                <a:latin typeface="Century Schoolbook" panose="02040604050505020304" pitchFamily="18" charset="0"/>
              </a:rPr>
              <a:t>The Transport mode is suitable for end-to-end communication between two work stations.</a:t>
            </a:r>
          </a:p>
          <a:p>
            <a:pPr marL="342900" indent="-342900">
              <a:buFont typeface="Wingdings" panose="05000000000000000000" pitchFamily="2" charset="2"/>
              <a:buChar char="Ø"/>
            </a:pPr>
            <a:r>
              <a:rPr lang="en-US" sz="2400" b="1" dirty="0">
                <a:latin typeface="Century Schoolbook" panose="02040604050505020304" pitchFamily="18" charset="0"/>
              </a:rPr>
              <a:t>In this mode, ESP encrypts the IP payload excluding IP header.</a:t>
            </a:r>
          </a:p>
          <a:p>
            <a:pPr marL="342900" indent="-342900">
              <a:buFont typeface="Wingdings" panose="05000000000000000000" pitchFamily="2" charset="2"/>
              <a:buChar char="Ø"/>
            </a:pPr>
            <a:r>
              <a:rPr lang="en-US" sz="2400" b="1" dirty="0">
                <a:latin typeface="Century Schoolbook" panose="02040604050505020304" pitchFamily="18" charset="0"/>
              </a:rPr>
              <a:t>AH authenticates the IP payload which is optional.</a:t>
            </a:r>
          </a:p>
        </p:txBody>
      </p:sp>
    </p:spTree>
    <p:extLst>
      <p:ext uri="{BB962C8B-B14F-4D97-AF65-F5344CB8AC3E}">
        <p14:creationId xmlns:p14="http://schemas.microsoft.com/office/powerpoint/2010/main" val="1322189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77894-0D7B-ADF8-938D-4C10A7A5E6C7}"/>
              </a:ext>
            </a:extLst>
          </p:cNvPr>
          <p:cNvSpPr>
            <a:spLocks noGrp="1"/>
          </p:cNvSpPr>
          <p:nvPr>
            <p:ph type="title"/>
          </p:nvPr>
        </p:nvSpPr>
        <p:spPr>
          <a:xfrm>
            <a:off x="0" y="0"/>
            <a:ext cx="10432026" cy="717755"/>
          </a:xfrm>
        </p:spPr>
        <p:txBody>
          <a:bodyPr>
            <a:noAutofit/>
          </a:bodyPr>
          <a:lstStyle/>
          <a:p>
            <a:r>
              <a:rPr lang="en-US" dirty="0">
                <a:latin typeface="Algerian" panose="04020705040A02060702" pitchFamily="82" charset="0"/>
              </a:rPr>
              <a:t>2. </a:t>
            </a:r>
            <a:r>
              <a:rPr lang="en-US" u="sng" dirty="0">
                <a:latin typeface="Algerian" panose="04020705040A02060702" pitchFamily="82" charset="0"/>
              </a:rPr>
              <a:t>Tunnel mode</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94CAF775-0EA0-CB08-8BDC-DFE7594D1ABE}"/>
              </a:ext>
            </a:extLst>
          </p:cNvPr>
          <p:cNvSpPr>
            <a:spLocks noGrp="1"/>
          </p:cNvSpPr>
          <p:nvPr>
            <p:ph type="body" idx="1"/>
          </p:nvPr>
        </p:nvSpPr>
        <p:spPr>
          <a:xfrm>
            <a:off x="0" y="442451"/>
            <a:ext cx="9822426" cy="3755923"/>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The Tunnel mode provides protection to the entire JP packets.</a:t>
            </a:r>
          </a:p>
          <a:p>
            <a:pPr marL="342900" indent="-342900">
              <a:buFont typeface="Wingdings" panose="05000000000000000000" pitchFamily="2" charset="2"/>
              <a:buChar char="Ø"/>
            </a:pPr>
            <a:r>
              <a:rPr lang="en-US" sz="2400" b="1" dirty="0">
                <a:latin typeface="Century Schoolbook" panose="02040604050505020304" pitchFamily="18" charset="0"/>
              </a:rPr>
              <a:t>Security fields are added to IP packets &amp; entire packet (AH or ESP Packet + security Packet) is a new IP packet with new header entire new packet travels through a tunnel from one point to other over IP network.</a:t>
            </a:r>
          </a:p>
          <a:p>
            <a:pPr marL="342900" indent="-342900">
              <a:buFont typeface="Wingdings" panose="05000000000000000000" pitchFamily="2" charset="2"/>
              <a:buChar char="Ø"/>
            </a:pPr>
            <a:r>
              <a:rPr lang="en-US" sz="2400" b="1" dirty="0">
                <a:latin typeface="Century Schoolbook" panose="02040604050505020304" pitchFamily="18" charset="0"/>
              </a:rPr>
              <a:t>No router over the network are able to detect inner IP header.</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43354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24636-6437-C956-5634-0F76E4129B2F}"/>
              </a:ext>
            </a:extLst>
          </p:cNvPr>
          <p:cNvSpPr>
            <a:spLocks noGrp="1"/>
          </p:cNvSpPr>
          <p:nvPr>
            <p:ph type="title"/>
          </p:nvPr>
        </p:nvSpPr>
        <p:spPr>
          <a:xfrm>
            <a:off x="0" y="-72922"/>
            <a:ext cx="8596668" cy="791238"/>
          </a:xfrm>
        </p:spPr>
        <p:txBody>
          <a:bodyPr>
            <a:normAutofit/>
          </a:bodyPr>
          <a:lstStyle/>
          <a:p>
            <a:r>
              <a:rPr lang="en-US" dirty="0">
                <a:latin typeface="Algerian" panose="04020705040A02060702" pitchFamily="82" charset="0"/>
              </a:rPr>
              <a:t>5.3] </a:t>
            </a:r>
            <a:r>
              <a:rPr lang="en-US" u="sng" dirty="0">
                <a:latin typeface="Algerian" panose="04020705040A02060702" pitchFamily="82" charset="0"/>
              </a:rPr>
              <a:t>email security</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53A7C3BA-0555-ED3F-B763-7C5B2D70FDBE}"/>
              </a:ext>
            </a:extLst>
          </p:cNvPr>
          <p:cNvSpPr>
            <a:spLocks noGrp="1"/>
          </p:cNvSpPr>
          <p:nvPr>
            <p:ph type="body" idx="1"/>
          </p:nvPr>
        </p:nvSpPr>
        <p:spPr>
          <a:xfrm>
            <a:off x="0" y="-72922"/>
            <a:ext cx="9636705" cy="3607878"/>
          </a:xfrm>
        </p:spPr>
        <p:txBody>
          <a:bodyPr>
            <a:normAutofit/>
          </a:bodyPr>
          <a:lstStyle/>
          <a:p>
            <a:endParaRPr lang="en-US" sz="2400" b="1" dirty="0">
              <a:latin typeface="Century Schoolbook" panose="02040604050505020304" pitchFamily="18" charset="0"/>
            </a:endParaRPr>
          </a:p>
          <a:p>
            <a:pPr marL="342900" indent="-342900">
              <a:buFont typeface="Wingdings" panose="05000000000000000000" pitchFamily="2" charset="2"/>
              <a:buChar char="Ø"/>
            </a:pPr>
            <a:r>
              <a:rPr lang="en-US" sz="2400" b="1" dirty="0">
                <a:latin typeface="Century Schoolbook" panose="02040604050505020304" pitchFamily="18" charset="0"/>
              </a:rPr>
              <a:t>Email security describes various techniques for keeping sensitive information in email communication &amp; accounts secure against unauthorized access, loss or compromise.</a:t>
            </a:r>
          </a:p>
          <a:p>
            <a:pPr marL="342900" indent="-342900">
              <a:buFont typeface="Wingdings" panose="05000000000000000000" pitchFamily="2" charset="2"/>
              <a:buChar char="Ø"/>
            </a:pPr>
            <a:r>
              <a:rPr lang="en-US" sz="2400" b="1" dirty="0">
                <a:latin typeface="Century Schoolbook" panose="02040604050505020304" pitchFamily="18" charset="0"/>
              </a:rPr>
              <a:t>Email remains a key productivity tool for today's organizations, as well as a successful attack vector for cyber criminals. </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0329683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1556C-8DE4-5047-4056-F213A1324F91}"/>
              </a:ext>
            </a:extLst>
          </p:cNvPr>
          <p:cNvSpPr>
            <a:spLocks noGrp="1"/>
          </p:cNvSpPr>
          <p:nvPr>
            <p:ph type="title"/>
          </p:nvPr>
        </p:nvSpPr>
        <p:spPr>
          <a:xfrm>
            <a:off x="0" y="-102419"/>
            <a:ext cx="9735026" cy="791238"/>
          </a:xfrm>
        </p:spPr>
        <p:txBody>
          <a:bodyPr/>
          <a:lstStyle/>
          <a:p>
            <a:r>
              <a:rPr lang="en-US" dirty="0">
                <a:latin typeface="Algerian" panose="04020705040A02060702" pitchFamily="82" charset="0"/>
              </a:rPr>
              <a:t>1. </a:t>
            </a:r>
            <a:r>
              <a:rPr lang="en-US" u="sng" dirty="0">
                <a:latin typeface="Algerian" panose="04020705040A02060702" pitchFamily="82" charset="0"/>
              </a:rPr>
              <a:t>Smtp</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F33CAA5D-B115-3DCC-AA2E-327CAB92B7E0}"/>
              </a:ext>
            </a:extLst>
          </p:cNvPr>
          <p:cNvSpPr>
            <a:spLocks noGrp="1"/>
          </p:cNvSpPr>
          <p:nvPr>
            <p:ph type="body" idx="1"/>
          </p:nvPr>
        </p:nvSpPr>
        <p:spPr>
          <a:xfrm>
            <a:off x="0" y="422787"/>
            <a:ext cx="9665110" cy="6213168"/>
          </a:xfrm>
        </p:spPr>
        <p:txBody>
          <a:bodyPr>
            <a:normAutofit lnSpcReduction="10000"/>
          </a:bodyPr>
          <a:lstStyle/>
          <a:p>
            <a:pPr marL="342900" indent="-342900">
              <a:buFont typeface="Wingdings" panose="05000000000000000000" pitchFamily="2" charset="2"/>
              <a:buChar char="Ø"/>
            </a:pPr>
            <a:r>
              <a:rPr lang="en-US" sz="2000" b="1" dirty="0">
                <a:latin typeface="Century Schoolbook" panose="02040604050505020304" pitchFamily="18" charset="0"/>
              </a:rPr>
              <a:t>SMTP stands for simple Mail Transfer Protocol.</a:t>
            </a:r>
          </a:p>
          <a:p>
            <a:pPr marL="342900" indent="-342900">
              <a:buFont typeface="Wingdings" panose="05000000000000000000" pitchFamily="2" charset="2"/>
              <a:buChar char="Ø"/>
            </a:pPr>
            <a:r>
              <a:rPr lang="en-US" sz="2000" b="1" dirty="0">
                <a:latin typeface="Century Schoolbook" panose="02040604050505020304" pitchFamily="18" charset="0"/>
              </a:rPr>
              <a:t>SMTP is a set of communication guidelines that allow Software to transmit an electronic mail over the internet. </a:t>
            </a:r>
          </a:p>
          <a:p>
            <a:pPr marL="342900" indent="-342900">
              <a:buFont typeface="Wingdings" panose="05000000000000000000" pitchFamily="2" charset="2"/>
              <a:buChar char="Ø"/>
            </a:pPr>
            <a:r>
              <a:rPr lang="en-US" sz="2000" b="1" dirty="0">
                <a:latin typeface="Century Schoolbook" panose="02040604050505020304" pitchFamily="18" charset="0"/>
              </a:rPr>
              <a:t>It is a request-response based activity for sending messages to other computer users based on email addresses.</a:t>
            </a:r>
          </a:p>
          <a:p>
            <a:pPr marL="342900" indent="-342900">
              <a:buFont typeface="Wingdings" panose="05000000000000000000" pitchFamily="2" charset="2"/>
              <a:buChar char="Ø"/>
            </a:pPr>
            <a:r>
              <a:rPr lang="en-US" sz="2000" b="1" dirty="0">
                <a:latin typeface="Century Schoolbook" panose="02040604050505020304" pitchFamily="18" charset="0"/>
              </a:rPr>
              <a:t>SMTP provides email exchange process along with : -</a:t>
            </a:r>
          </a:p>
          <a:p>
            <a:r>
              <a:rPr lang="en-US" sz="2000" b="1" dirty="0">
                <a:latin typeface="Century Schoolbook" panose="02040604050505020304" pitchFamily="18" charset="0"/>
              </a:rPr>
              <a:t>- It can send a single message to one or more </a:t>
            </a:r>
            <a:r>
              <a:rPr lang="en-US" sz="2000" b="1" dirty="0" err="1">
                <a:latin typeface="Century Schoolbook" panose="02040604050505020304" pitchFamily="18" charset="0"/>
              </a:rPr>
              <a:t>receipents</a:t>
            </a:r>
            <a:r>
              <a:rPr lang="en-US" sz="2000" b="1" dirty="0">
                <a:latin typeface="Century Schoolbook" panose="02040604050505020304" pitchFamily="18" charset="0"/>
              </a:rPr>
              <a:t>." </a:t>
            </a:r>
          </a:p>
          <a:p>
            <a:r>
              <a:rPr lang="en-US" sz="2000" b="1" dirty="0">
                <a:latin typeface="Century Schoolbook" panose="02040604050505020304" pitchFamily="18" charset="0"/>
              </a:rPr>
              <a:t>- Sending message can include text, voice, video or graphics.</a:t>
            </a:r>
          </a:p>
          <a:p>
            <a:r>
              <a:rPr lang="en-US" sz="2000" b="1" dirty="0">
                <a:latin typeface="Century Schoolbook" panose="02040604050505020304" pitchFamily="18" charset="0"/>
              </a:rPr>
              <a:t>- It can also send messages on network outside the internet. </a:t>
            </a:r>
          </a:p>
          <a:p>
            <a:pPr marL="342900" indent="-342900">
              <a:buFont typeface="Wingdings" panose="05000000000000000000" pitchFamily="2" charset="2"/>
              <a:buChar char="Ø"/>
            </a:pPr>
            <a:r>
              <a:rPr lang="en-US" sz="2000" b="1" dirty="0">
                <a:latin typeface="Century Schoolbook" panose="02040604050505020304" pitchFamily="18" charset="0"/>
              </a:rPr>
              <a:t>SMTP attempts to provide reliable service but not guarantees- to sure recovery from failure.</a:t>
            </a:r>
          </a:p>
          <a:p>
            <a:pPr marL="342900" indent="-342900">
              <a:buFont typeface="Wingdings" panose="05000000000000000000" pitchFamily="2" charset="2"/>
              <a:buChar char="Ø"/>
            </a:pPr>
            <a:r>
              <a:rPr lang="en-US" sz="2000" b="1" dirty="0">
                <a:latin typeface="Century Schoolbook" panose="02040604050505020304" pitchFamily="18" charset="0"/>
              </a:rPr>
              <a:t>SMTP server breaks into two components: User agent (UA) and Mail Transfer Agent (MTA)."!</a:t>
            </a:r>
          </a:p>
          <a:p>
            <a:r>
              <a:rPr lang="en-US" sz="2000" b="1" dirty="0">
                <a:latin typeface="Century Schoolbook" panose="02040604050505020304" pitchFamily="18" charset="0"/>
              </a:rPr>
              <a:t>- UA : - Prepares the message, creates the envelop and then puts the message in the envelope.</a:t>
            </a:r>
          </a:p>
          <a:p>
            <a:r>
              <a:rPr lang="en-US" sz="2000" b="1" dirty="0">
                <a:latin typeface="Century Schoolbook" panose="02040604050505020304" pitchFamily="18" charset="0"/>
              </a:rPr>
              <a:t>- MTA : - Transfers the mail across the internet.</a:t>
            </a:r>
            <a:endParaRPr lang="en-IN" sz="2000" b="1" dirty="0">
              <a:latin typeface="Century Schoolbook" panose="02040604050505020304" pitchFamily="18" charset="0"/>
            </a:endParaRPr>
          </a:p>
        </p:txBody>
      </p:sp>
    </p:spTree>
    <p:extLst>
      <p:ext uri="{BB962C8B-B14F-4D97-AF65-F5344CB8AC3E}">
        <p14:creationId xmlns:p14="http://schemas.microsoft.com/office/powerpoint/2010/main" val="3355752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C1310-1BDF-D404-00E2-1C0EC5788CF3}"/>
              </a:ext>
            </a:extLst>
          </p:cNvPr>
          <p:cNvSpPr>
            <a:spLocks noGrp="1"/>
          </p:cNvSpPr>
          <p:nvPr>
            <p:ph type="title"/>
          </p:nvPr>
        </p:nvSpPr>
        <p:spPr>
          <a:xfrm>
            <a:off x="14620" y="-9271"/>
            <a:ext cx="10269922" cy="825909"/>
          </a:xfrm>
        </p:spPr>
        <p:txBody>
          <a:bodyPr/>
          <a:lstStyle/>
          <a:p>
            <a:pPr marL="571500" indent="-571500">
              <a:buFont typeface="Wingdings" panose="05000000000000000000" pitchFamily="2" charset="2"/>
              <a:buChar char="v"/>
            </a:pPr>
            <a:r>
              <a:rPr lang="en-US" u="sng" dirty="0">
                <a:latin typeface="Algerian" panose="04020705040A02060702" pitchFamily="82" charset="0"/>
              </a:rPr>
              <a:t>Working on SMTP</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29927BEC-7D76-5E70-5BE0-3103B1162C34}"/>
              </a:ext>
            </a:extLst>
          </p:cNvPr>
          <p:cNvSpPr>
            <a:spLocks noGrp="1"/>
          </p:cNvSpPr>
          <p:nvPr>
            <p:ph type="body" idx="1"/>
          </p:nvPr>
        </p:nvSpPr>
        <p:spPr>
          <a:xfrm>
            <a:off x="14620" y="566162"/>
            <a:ext cx="5304632" cy="3356909"/>
          </a:xfrm>
        </p:spPr>
        <p:txBody>
          <a:bodyPr>
            <a:normAutofit/>
          </a:bodyPr>
          <a:lstStyle/>
          <a:p>
            <a:pPr marL="342900" indent="-342900">
              <a:buFont typeface="Wingdings" panose="05000000000000000000" pitchFamily="2" charset="2"/>
              <a:buChar char="ü"/>
            </a:pPr>
            <a:r>
              <a:rPr lang="en-US" sz="2400" b="1" dirty="0">
                <a:latin typeface="Century Schoolbook" panose="02040604050505020304" pitchFamily="18" charset="0"/>
              </a:rPr>
              <a:t>Composition of mail.</a:t>
            </a:r>
          </a:p>
          <a:p>
            <a:pPr marL="342900" indent="-342900">
              <a:buFont typeface="Wingdings" panose="05000000000000000000" pitchFamily="2" charset="2"/>
              <a:buChar char="ü"/>
            </a:pPr>
            <a:r>
              <a:rPr lang="en-US" sz="2400" b="1" dirty="0">
                <a:latin typeface="Century Schoolbook" panose="02040604050505020304" pitchFamily="18" charset="0"/>
              </a:rPr>
              <a:t>Submission of mail.</a:t>
            </a:r>
          </a:p>
          <a:p>
            <a:pPr marL="342900" indent="-342900">
              <a:buFont typeface="Wingdings" panose="05000000000000000000" pitchFamily="2" charset="2"/>
              <a:buChar char="ü"/>
            </a:pPr>
            <a:r>
              <a:rPr lang="en-US" sz="2400" b="1" dirty="0">
                <a:latin typeface="Century Schoolbook" panose="02040604050505020304" pitchFamily="18" charset="0"/>
              </a:rPr>
              <a:t>Delivery of mail.</a:t>
            </a:r>
          </a:p>
          <a:p>
            <a:pPr marL="342900" indent="-342900">
              <a:buFont typeface="Wingdings" panose="05000000000000000000" pitchFamily="2" charset="2"/>
              <a:buChar char="ü"/>
            </a:pPr>
            <a:r>
              <a:rPr lang="en-US" sz="2400" b="1" dirty="0">
                <a:latin typeface="Century Schoolbook" panose="02040604050505020304" pitchFamily="18" charset="0"/>
              </a:rPr>
              <a:t>Receipt &amp; processing of mail.</a:t>
            </a:r>
          </a:p>
          <a:p>
            <a:pPr marL="342900" indent="-342900">
              <a:buFont typeface="Wingdings" panose="05000000000000000000" pitchFamily="2" charset="2"/>
              <a:buChar char="ü"/>
            </a:pPr>
            <a:r>
              <a:rPr lang="en-US" sz="2400" b="1" dirty="0">
                <a:latin typeface="Century Schoolbook" panose="02040604050505020304" pitchFamily="18" charset="0"/>
              </a:rPr>
              <a:t>Access &amp; retrieval of mail.</a:t>
            </a:r>
          </a:p>
          <a:p>
            <a:pPr marL="342900" indent="-342900">
              <a:buFont typeface="Wingdings" panose="05000000000000000000" pitchFamily="2" charset="2"/>
              <a:buChar char="ü"/>
            </a:pP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86884EE1-32BA-2B65-DB56-0D159DF3110E}"/>
              </a:ext>
            </a:extLst>
          </p:cNvPr>
          <p:cNvPicPr>
            <a:picLocks noChangeAspect="1"/>
          </p:cNvPicPr>
          <p:nvPr/>
        </p:nvPicPr>
        <p:blipFill>
          <a:blip r:embed="rId2"/>
          <a:stretch>
            <a:fillRect/>
          </a:stretch>
        </p:blipFill>
        <p:spPr>
          <a:xfrm>
            <a:off x="5230761" y="747811"/>
            <a:ext cx="6818381" cy="4630433"/>
          </a:xfrm>
          <a:prstGeom prst="rect">
            <a:avLst/>
          </a:prstGeom>
        </p:spPr>
      </p:pic>
    </p:spTree>
    <p:extLst>
      <p:ext uri="{BB962C8B-B14F-4D97-AF65-F5344CB8AC3E}">
        <p14:creationId xmlns:p14="http://schemas.microsoft.com/office/powerpoint/2010/main" val="4040916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9B9B3-54B9-93E4-BD6F-32ACC1345922}"/>
              </a:ext>
            </a:extLst>
          </p:cNvPr>
          <p:cNvSpPr>
            <a:spLocks noGrp="1"/>
          </p:cNvSpPr>
          <p:nvPr>
            <p:ph type="title"/>
          </p:nvPr>
        </p:nvSpPr>
        <p:spPr>
          <a:xfrm>
            <a:off x="57903" y="-83573"/>
            <a:ext cx="8596668" cy="835741"/>
          </a:xfrm>
        </p:spPr>
        <p:txBody>
          <a:bodyPr>
            <a:normAutofit/>
          </a:bodyPr>
          <a:lstStyle/>
          <a:p>
            <a:r>
              <a:rPr lang="en-US" dirty="0">
                <a:latin typeface="Algerian" panose="04020705040A02060702" pitchFamily="82" charset="0"/>
              </a:rPr>
              <a:t>2. </a:t>
            </a:r>
            <a:r>
              <a:rPr lang="en-US" u="sng" dirty="0">
                <a:latin typeface="Algerian" panose="04020705040A02060702" pitchFamily="82" charset="0"/>
              </a:rPr>
              <a:t>Pem</a:t>
            </a:r>
            <a:r>
              <a:rPr lang="en-US" dirty="0">
                <a:latin typeface="Algerian" panose="04020705040A02060702" pitchFamily="82" charset="0"/>
              </a:rPr>
              <a:t> :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E548AE31-32FE-6810-ACFD-C5768E10EB99}"/>
              </a:ext>
            </a:extLst>
          </p:cNvPr>
          <p:cNvSpPr>
            <a:spLocks noGrp="1"/>
          </p:cNvSpPr>
          <p:nvPr>
            <p:ph type="body" idx="1"/>
          </p:nvPr>
        </p:nvSpPr>
        <p:spPr>
          <a:xfrm>
            <a:off x="0" y="435897"/>
            <a:ext cx="9621521" cy="6422103"/>
          </a:xfrm>
        </p:spPr>
        <p:txBody>
          <a:bodyPr>
            <a:normAutofit lnSpcReduction="10000"/>
          </a:bodyPr>
          <a:lstStyle/>
          <a:p>
            <a:pPr marL="342900" indent="-342900">
              <a:buFont typeface="Wingdings" panose="05000000000000000000" pitchFamily="2" charset="2"/>
              <a:buChar char="Ø"/>
            </a:pPr>
            <a:r>
              <a:rPr lang="en-US" sz="2400" b="1" dirty="0">
                <a:latin typeface="Century Schoolbook" panose="02040604050505020304" pitchFamily="18" charset="0"/>
              </a:rPr>
              <a:t>PEM stands for Privacy Enhanced Mail.</a:t>
            </a:r>
          </a:p>
          <a:p>
            <a:pPr marL="342900" indent="-342900">
              <a:buFont typeface="Wingdings" panose="05000000000000000000" pitchFamily="2" charset="2"/>
              <a:buChar char="Ø"/>
            </a:pPr>
            <a:r>
              <a:rPr lang="en-US" sz="2400" b="1" dirty="0">
                <a:latin typeface="Century Schoolbook" panose="02040604050505020304" pitchFamily="18" charset="0"/>
              </a:rPr>
              <a:t>Primary goal of PEM is to add security services for email users in the internet community.</a:t>
            </a:r>
          </a:p>
          <a:p>
            <a:pPr marL="342900" indent="-342900">
              <a:buFont typeface="Wingdings" panose="05000000000000000000" pitchFamily="2" charset="2"/>
              <a:buChar char="Ø"/>
            </a:pPr>
            <a:r>
              <a:rPr lang="en-US" sz="2400" b="1" dirty="0">
                <a:latin typeface="Century Schoolbook" panose="02040604050505020304" pitchFamily="18" charset="0"/>
              </a:rPr>
              <a:t>It consists of extension to existing message processing software, plus a key management </a:t>
            </a:r>
            <a:r>
              <a:rPr lang="en-US" sz="2400" b="1" dirty="0" err="1">
                <a:latin typeface="Century Schoolbook" panose="02040604050505020304" pitchFamily="18" charset="0"/>
              </a:rPr>
              <a:t>infrastructured</a:t>
            </a:r>
            <a:r>
              <a:rPr lang="en-US" sz="2400" b="1" dirty="0">
                <a:latin typeface="Century Schoolbook" panose="02040604050505020304" pitchFamily="18" charset="0"/>
              </a:rPr>
              <a:t> bar to developed by IETF, to add encryption, source authentication and integrity protection to email.</a:t>
            </a:r>
          </a:p>
          <a:p>
            <a:pPr marL="342900" indent="-342900">
              <a:buFont typeface="Wingdings" panose="05000000000000000000" pitchFamily="2" charset="2"/>
              <a:buChar char="Ø"/>
            </a:pPr>
            <a:r>
              <a:rPr lang="en-US" sz="2400" b="1" dirty="0">
                <a:latin typeface="Century Schoolbook" panose="02040604050505020304" pitchFamily="18" charset="0"/>
              </a:rPr>
              <a:t>Allows both public &amp; secret long-terms keys and message key Is always symmetric.</a:t>
            </a:r>
          </a:p>
          <a:p>
            <a:pPr marL="342900" indent="-342900">
              <a:buFont typeface="Wingdings" panose="05000000000000000000" pitchFamily="2" charset="2"/>
              <a:buChar char="Ø"/>
            </a:pPr>
            <a:r>
              <a:rPr lang="en-US" sz="2400" b="1" dirty="0">
                <a:latin typeface="Century Schoolbook" panose="02040604050505020304" pitchFamily="18" charset="0"/>
              </a:rPr>
              <a:t>It also </a:t>
            </a:r>
            <a:r>
              <a:rPr lang="en-US" sz="2400" b="1" dirty="0" err="1">
                <a:latin typeface="Century Schoolbook" panose="02040604050505020304" pitchFamily="18" charset="0"/>
              </a:rPr>
              <a:t>specifles</a:t>
            </a:r>
            <a:r>
              <a:rPr lang="en-US" sz="2400" b="1" dirty="0">
                <a:latin typeface="Century Schoolbook" panose="02040604050505020304" pitchFamily="18" charset="0"/>
              </a:rPr>
              <a:t> a detailed certification hierarchy.</a:t>
            </a:r>
          </a:p>
          <a:p>
            <a:pPr marL="342900" indent="-342900">
              <a:buFont typeface="Wingdings" panose="05000000000000000000" pitchFamily="2" charset="2"/>
              <a:buChar char="Ø"/>
            </a:pPr>
            <a:r>
              <a:rPr lang="en-US" sz="2800" b="1" u="sng" dirty="0">
                <a:solidFill>
                  <a:schemeClr val="accent1">
                    <a:lumMod val="75000"/>
                  </a:schemeClr>
                </a:solidFill>
                <a:latin typeface="Century Schoolbook" panose="02040604050505020304" pitchFamily="18" charset="0"/>
              </a:rPr>
              <a:t>Working of PEM</a:t>
            </a:r>
            <a:r>
              <a:rPr lang="en-US" sz="2800" b="1" dirty="0">
                <a:solidFill>
                  <a:schemeClr val="accent1">
                    <a:lumMod val="75000"/>
                  </a:schemeClr>
                </a:solidFill>
                <a:latin typeface="Century Schoolbook" panose="02040604050505020304" pitchFamily="18" charset="0"/>
              </a:rPr>
              <a:t> : -</a:t>
            </a:r>
          </a:p>
          <a:p>
            <a:r>
              <a:rPr lang="en-US" sz="2000" b="1" dirty="0">
                <a:solidFill>
                  <a:schemeClr val="tx1"/>
                </a:solidFill>
                <a:latin typeface="Century Schoolbook" panose="02040604050505020304" pitchFamily="18" charset="0"/>
              </a:rPr>
              <a:t>1. Canonical Conversion.</a:t>
            </a:r>
          </a:p>
          <a:p>
            <a:r>
              <a:rPr lang="en-US" sz="2000" b="1" dirty="0">
                <a:solidFill>
                  <a:schemeClr val="tx1"/>
                </a:solidFill>
                <a:latin typeface="Century Schoolbook" panose="02040604050505020304" pitchFamily="18" charset="0"/>
              </a:rPr>
              <a:t>2. Digital Signature.</a:t>
            </a:r>
          </a:p>
          <a:p>
            <a:r>
              <a:rPr lang="en-US" sz="2000" b="1" dirty="0">
                <a:solidFill>
                  <a:schemeClr val="tx1"/>
                </a:solidFill>
                <a:latin typeface="Century Schoolbook" panose="02040604050505020304" pitchFamily="18" charset="0"/>
              </a:rPr>
              <a:t>3. Encryption.</a:t>
            </a:r>
          </a:p>
          <a:p>
            <a:r>
              <a:rPr lang="en-US" sz="2000" b="1" dirty="0">
                <a:solidFill>
                  <a:schemeClr val="tx1"/>
                </a:solidFill>
                <a:latin typeface="Century Schoolbook" panose="02040604050505020304" pitchFamily="18" charset="0"/>
              </a:rPr>
              <a:t>4</a:t>
            </a:r>
            <a:r>
              <a:rPr lang="en-IN" sz="2000" b="1" dirty="0">
                <a:solidFill>
                  <a:schemeClr val="tx1"/>
                </a:solidFill>
                <a:latin typeface="Century Schoolbook" panose="02040604050505020304" pitchFamily="18" charset="0"/>
              </a:rPr>
              <a:t>. Base-64 Encoding.</a:t>
            </a:r>
            <a:endParaRPr lang="en-US"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3101179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76BD0-F124-B53F-7267-20397DB14B7A}"/>
              </a:ext>
            </a:extLst>
          </p:cNvPr>
          <p:cNvSpPr>
            <a:spLocks noGrp="1"/>
          </p:cNvSpPr>
          <p:nvPr>
            <p:ph type="title"/>
          </p:nvPr>
        </p:nvSpPr>
        <p:spPr>
          <a:xfrm>
            <a:off x="16934" y="-101600"/>
            <a:ext cx="9777305" cy="816638"/>
          </a:xfrm>
        </p:spPr>
        <p:txBody>
          <a:bodyPr/>
          <a:lstStyle/>
          <a:p>
            <a:r>
              <a:rPr lang="en-US" dirty="0">
                <a:latin typeface="Algerian" panose="04020705040A02060702" pitchFamily="82" charset="0"/>
              </a:rPr>
              <a:t>3. </a:t>
            </a:r>
            <a:r>
              <a:rPr lang="en-US" u="sng" dirty="0" err="1">
                <a:latin typeface="Algerian" panose="04020705040A02060702" pitchFamily="82" charset="0"/>
              </a:rPr>
              <a:t>Pgp</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2D378EA8-01DE-A4F3-DD5F-E65CABBD087F}"/>
              </a:ext>
            </a:extLst>
          </p:cNvPr>
          <p:cNvSpPr>
            <a:spLocks noGrp="1"/>
          </p:cNvSpPr>
          <p:nvPr>
            <p:ph type="body" idx="1"/>
          </p:nvPr>
        </p:nvSpPr>
        <p:spPr>
          <a:xfrm>
            <a:off x="16934" y="508000"/>
            <a:ext cx="10681546" cy="6268720"/>
          </a:xfrm>
        </p:spPr>
        <p:txBody>
          <a:bodyPr>
            <a:normAutofit/>
          </a:bodyPr>
          <a:lstStyle/>
          <a:p>
            <a:pPr marL="342900" indent="-342900">
              <a:buFont typeface="Wingdings" panose="05000000000000000000" pitchFamily="2" charset="2"/>
              <a:buChar char="Ø"/>
            </a:pPr>
            <a:r>
              <a:rPr lang="en-US" sz="2000" b="1" dirty="0">
                <a:latin typeface="Century Schoolbook" panose="02040604050505020304" pitchFamily="18" charset="0"/>
              </a:rPr>
              <a:t>PGP stands for Pretty Good Privacy.</a:t>
            </a:r>
          </a:p>
          <a:p>
            <a:pPr marL="342900" indent="-342900">
              <a:buFont typeface="Wingdings" panose="05000000000000000000" pitchFamily="2" charset="2"/>
              <a:buChar char="Ø"/>
            </a:pPr>
            <a:r>
              <a:rPr lang="en-US" sz="2000" b="1" dirty="0">
                <a:latin typeface="Century Schoolbook" panose="02040604050505020304" pitchFamily="18" charset="0"/>
              </a:rPr>
              <a:t>PGP was designed to provide all four                                                                       aspects of security i.e., Privacy, Integrity,                                               authentication &amp; non-repudiation in the                                                                        sending of email.</a:t>
            </a:r>
          </a:p>
          <a:p>
            <a:pPr marL="342900" indent="-342900">
              <a:buFont typeface="Wingdings" panose="05000000000000000000" pitchFamily="2" charset="2"/>
              <a:buChar char="Ø"/>
            </a:pPr>
            <a:r>
              <a:rPr lang="en-US" sz="2000" b="1" dirty="0">
                <a:latin typeface="Century Schoolbook" panose="02040604050505020304" pitchFamily="18" charset="0"/>
              </a:rPr>
              <a:t>PGP uses the concept of Digital signature                                               (combination Of </a:t>
            </a:r>
            <a:r>
              <a:rPr lang="en-US" sz="2000" b="1" dirty="0" err="1">
                <a:latin typeface="Century Schoolbook" panose="02040604050505020304" pitchFamily="18" charset="0"/>
              </a:rPr>
              <a:t>hasing</a:t>
            </a:r>
            <a:r>
              <a:rPr lang="en-US" sz="2000" b="1" dirty="0">
                <a:latin typeface="Century Schoolbook" panose="02040604050505020304" pitchFamily="18" charset="0"/>
              </a:rPr>
              <a:t> and public key                                                   encryption) to provide integrity,                                                       authentication &amp; non-repudiation.</a:t>
            </a:r>
          </a:p>
          <a:p>
            <a:pPr marL="342900" indent="-342900">
              <a:buFont typeface="Wingdings" panose="05000000000000000000" pitchFamily="2" charset="2"/>
              <a:buChar char="Ø"/>
            </a:pPr>
            <a:r>
              <a:rPr lang="en-US" sz="2000" b="1" dirty="0">
                <a:latin typeface="Century Schoolbook" panose="02040604050505020304" pitchFamily="18" charset="0"/>
              </a:rPr>
              <a:t>PGP uses a combination of secret key                                                                 encryption and public key encryption to                                                           provide privacy. </a:t>
            </a:r>
          </a:p>
          <a:p>
            <a:pPr marL="342900" indent="-342900">
              <a:buFont typeface="Wingdings" panose="05000000000000000000" pitchFamily="2" charset="2"/>
              <a:buChar char="Ø"/>
            </a:pPr>
            <a:r>
              <a:rPr lang="en-US" sz="2000" b="1" dirty="0">
                <a:latin typeface="Century Schoolbook" panose="02040604050505020304" pitchFamily="18" charset="0"/>
              </a:rPr>
              <a:t>Thus, we can say, The Digital signature uses one hash function, one secret Key and two private-public key pairs.</a:t>
            </a:r>
          </a:p>
          <a:p>
            <a:pPr marL="342900" indent="-342900">
              <a:buFont typeface="Wingdings" panose="05000000000000000000" pitchFamily="2" charset="2"/>
              <a:buChar char="Ø"/>
            </a:pPr>
            <a:r>
              <a:rPr lang="en-US" sz="2000" b="1" dirty="0">
                <a:latin typeface="Century Schoolbook" panose="02040604050505020304" pitchFamily="18" charset="0"/>
              </a:rPr>
              <a:t>PGP is an open source of freely available software package for email security.</a:t>
            </a:r>
          </a:p>
          <a:p>
            <a:pPr marL="342900" indent="-342900">
              <a:buFont typeface="Wingdings" panose="05000000000000000000" pitchFamily="2" charset="2"/>
              <a:buChar char="Ø"/>
            </a:pPr>
            <a:r>
              <a:rPr lang="en-US" sz="2000" b="1" dirty="0">
                <a:latin typeface="Century Schoolbook" panose="02040604050505020304" pitchFamily="18" charset="0"/>
              </a:rPr>
              <a:t>It provides </a:t>
            </a:r>
            <a:r>
              <a:rPr lang="en-US" sz="2000" b="1" dirty="0" err="1">
                <a:latin typeface="Century Schoolbook" panose="02040604050505020304" pitchFamily="18" charset="0"/>
              </a:rPr>
              <a:t>confidentality</a:t>
            </a:r>
            <a:r>
              <a:rPr lang="en-US" sz="2000" b="1" dirty="0">
                <a:latin typeface="Century Schoolbook" panose="02040604050505020304" pitchFamily="18" charset="0"/>
              </a:rPr>
              <a:t> through the use of symmetric block encryption.</a:t>
            </a:r>
            <a:endParaRPr lang="en-IN" sz="20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98CB4BE7-9DD3-4FE5-F1A1-429C1D9CB2DD}"/>
              </a:ext>
            </a:extLst>
          </p:cNvPr>
          <p:cNvPicPr>
            <a:picLocks noChangeAspect="1"/>
          </p:cNvPicPr>
          <p:nvPr/>
        </p:nvPicPr>
        <p:blipFill>
          <a:blip r:embed="rId2"/>
          <a:stretch>
            <a:fillRect/>
          </a:stretch>
        </p:blipFill>
        <p:spPr>
          <a:xfrm>
            <a:off x="6014720" y="715038"/>
            <a:ext cx="6091090" cy="3596952"/>
          </a:xfrm>
          <a:prstGeom prst="rect">
            <a:avLst/>
          </a:prstGeom>
        </p:spPr>
      </p:pic>
    </p:spTree>
    <p:extLst>
      <p:ext uri="{BB962C8B-B14F-4D97-AF65-F5344CB8AC3E}">
        <p14:creationId xmlns:p14="http://schemas.microsoft.com/office/powerpoint/2010/main" val="9857915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2286A-A149-9733-32B0-01156CEA067D}"/>
              </a:ext>
            </a:extLst>
          </p:cNvPr>
          <p:cNvSpPr>
            <a:spLocks noGrp="1"/>
          </p:cNvSpPr>
          <p:nvPr>
            <p:ph type="title"/>
          </p:nvPr>
        </p:nvSpPr>
        <p:spPr>
          <a:xfrm>
            <a:off x="-1" y="25400"/>
            <a:ext cx="10312401" cy="791238"/>
          </a:xfrm>
        </p:spPr>
        <p:txBody>
          <a:bodyPr>
            <a:normAutofit/>
          </a:bodyPr>
          <a:lstStyle/>
          <a:p>
            <a:r>
              <a:rPr lang="en-US" dirty="0">
                <a:latin typeface="Algerian" panose="04020705040A02060702" pitchFamily="82" charset="0"/>
              </a:rPr>
              <a:t>5.4] </a:t>
            </a:r>
            <a:r>
              <a:rPr lang="en-US" u="sng" dirty="0">
                <a:latin typeface="Algerian" panose="04020705040A02060702" pitchFamily="82" charset="0"/>
              </a:rPr>
              <a:t>public key infrastructure</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5B6CFF30-E351-EB9F-83EF-120DDA7CD706}"/>
              </a:ext>
            </a:extLst>
          </p:cNvPr>
          <p:cNvSpPr>
            <a:spLocks noGrp="1"/>
          </p:cNvSpPr>
          <p:nvPr>
            <p:ph type="body" idx="1"/>
          </p:nvPr>
        </p:nvSpPr>
        <p:spPr>
          <a:xfrm>
            <a:off x="0" y="511838"/>
            <a:ext cx="9611360" cy="4639282"/>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PKI is a well-known technology that can be used to establish identities, encrypt information and digitally sign documents. </a:t>
            </a:r>
          </a:p>
          <a:p>
            <a:pPr marL="342900" indent="-342900">
              <a:buFont typeface="Wingdings" panose="05000000000000000000" pitchFamily="2" charset="2"/>
              <a:buChar char="Ø"/>
            </a:pPr>
            <a:r>
              <a:rPr lang="en-US" sz="2400" b="1" dirty="0">
                <a:latin typeface="Century Schoolbook" panose="02040604050505020304" pitchFamily="18" charset="0"/>
              </a:rPr>
              <a:t>PKI identifies and manages relationships of parties in an Exchange, serving a wide array of security needs.</a:t>
            </a:r>
          </a:p>
          <a:p>
            <a:pPr marL="342900" indent="-342900">
              <a:buFont typeface="Wingdings" panose="05000000000000000000" pitchFamily="2" charset="2"/>
              <a:buChar char="Ø"/>
            </a:pPr>
            <a:r>
              <a:rPr lang="en-US" sz="2400" b="1" dirty="0">
                <a:latin typeface="Century Schoolbook" panose="02040604050505020304" pitchFamily="18" charset="0"/>
              </a:rPr>
              <a:t>PKI uses unique Digital certificates (DC) to secure ecommerce, email, data exchange and VPN &amp; also to verify identity and privileges of each user.</a:t>
            </a:r>
          </a:p>
          <a:p>
            <a:pPr marL="342900" indent="-342900">
              <a:buFont typeface="Wingdings" panose="05000000000000000000" pitchFamily="2" charset="2"/>
              <a:buChar char="Ø"/>
            </a:pPr>
            <a:r>
              <a:rPr lang="en-US" sz="2400" b="1" dirty="0">
                <a:latin typeface="Century Schoolbook" panose="02040604050505020304" pitchFamily="18" charset="0"/>
              </a:rPr>
              <a:t>The Certificate Authority (CA) provides a full life-cycle management of public keys and certificates.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122852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C7BD3-F188-C4E0-346C-6D72A78F82A4}"/>
              </a:ext>
            </a:extLst>
          </p:cNvPr>
          <p:cNvSpPr>
            <a:spLocks noGrp="1"/>
          </p:cNvSpPr>
          <p:nvPr>
            <p:ph type="title"/>
          </p:nvPr>
        </p:nvSpPr>
        <p:spPr>
          <a:xfrm>
            <a:off x="37254" y="-106680"/>
            <a:ext cx="8596668" cy="909320"/>
          </a:xfrm>
        </p:spPr>
        <p:txBody>
          <a:bodyPr/>
          <a:lstStyle/>
          <a:p>
            <a:pPr marL="571500" indent="-571500">
              <a:buFont typeface="Wingdings" panose="05000000000000000000" pitchFamily="2" charset="2"/>
              <a:buChar char="v"/>
            </a:pPr>
            <a:r>
              <a:rPr lang="en-US" u="sng" dirty="0">
                <a:latin typeface="Algerian" panose="04020705040A02060702" pitchFamily="82" charset="0"/>
              </a:rPr>
              <a:t>Certificate</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F9852BC1-F3FF-EDC1-FC83-B430D3B2A208}"/>
              </a:ext>
            </a:extLst>
          </p:cNvPr>
          <p:cNvSpPr>
            <a:spLocks noGrp="1"/>
          </p:cNvSpPr>
          <p:nvPr>
            <p:ph type="body" idx="1"/>
          </p:nvPr>
        </p:nvSpPr>
        <p:spPr>
          <a:xfrm>
            <a:off x="37254" y="304800"/>
            <a:ext cx="9472506" cy="4531360"/>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Certificates are digital documents that are used for secure authentication of communicating parties.</a:t>
            </a:r>
          </a:p>
          <a:p>
            <a:pPr marL="342900" indent="-342900">
              <a:buFont typeface="Wingdings" panose="05000000000000000000" pitchFamily="2" charset="2"/>
              <a:buChar char="Ø"/>
            </a:pPr>
            <a:r>
              <a:rPr lang="en-US" sz="2400" b="1" dirty="0">
                <a:latin typeface="Century Schoolbook" panose="02040604050505020304" pitchFamily="18" charset="0"/>
              </a:rPr>
              <a:t>A certificate binds identity information about an entity to the entity's public key for a certain validity period.</a:t>
            </a:r>
          </a:p>
          <a:p>
            <a:pPr marL="342900" indent="-342900">
              <a:buFont typeface="Wingdings" panose="05000000000000000000" pitchFamily="2" charset="2"/>
              <a:buChar char="Ø"/>
            </a:pPr>
            <a:r>
              <a:rPr lang="en-US" sz="2400" b="1" dirty="0">
                <a:latin typeface="Century Schoolbook" panose="02040604050505020304" pitchFamily="18" charset="0"/>
              </a:rPr>
              <a:t>A certificate is digitally signed by a Trusted Third Party (TTP) who verifies that the key pair actually belongs to the entity.</a:t>
            </a:r>
          </a:p>
          <a:p>
            <a:pPr marL="342900" indent="-342900">
              <a:buFont typeface="Wingdings" panose="05000000000000000000" pitchFamily="2" charset="2"/>
              <a:buChar char="Ø"/>
            </a:pPr>
            <a:r>
              <a:rPr lang="en-US" sz="2400" b="1" dirty="0">
                <a:latin typeface="Century Schoolbook" panose="02040604050505020304" pitchFamily="18" charset="0"/>
              </a:rPr>
              <a:t>Certificates can be thought of as analogous to pass ports that guarantee the identity of their bearers.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093984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6AD1C-4443-DDCD-A3F3-CE495C15DA21}"/>
              </a:ext>
            </a:extLst>
          </p:cNvPr>
          <p:cNvSpPr>
            <a:spLocks noGrp="1"/>
          </p:cNvSpPr>
          <p:nvPr>
            <p:ph type="title"/>
          </p:nvPr>
        </p:nvSpPr>
        <p:spPr>
          <a:xfrm>
            <a:off x="0" y="-101600"/>
            <a:ext cx="8596668" cy="816638"/>
          </a:xfrm>
        </p:spPr>
        <p:txBody>
          <a:bodyPr>
            <a:normAutofit/>
          </a:bodyPr>
          <a:lstStyle/>
          <a:p>
            <a:pPr marL="571500" indent="-571500">
              <a:buFont typeface="Wingdings" panose="05000000000000000000" pitchFamily="2" charset="2"/>
              <a:buChar char="v"/>
            </a:pPr>
            <a:r>
              <a:rPr lang="en-US" u="sng" dirty="0">
                <a:latin typeface="Algerian" panose="04020705040A02060702" pitchFamily="82" charset="0"/>
              </a:rPr>
              <a:t>Certification authority</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29BC240B-60DC-CFE5-F4F2-4B37D09BF963}"/>
              </a:ext>
            </a:extLst>
          </p:cNvPr>
          <p:cNvSpPr>
            <a:spLocks noGrp="1"/>
          </p:cNvSpPr>
          <p:nvPr>
            <p:ph type="body" idx="1"/>
          </p:nvPr>
        </p:nvSpPr>
        <p:spPr>
          <a:xfrm>
            <a:off x="0" y="306719"/>
            <a:ext cx="9865360" cy="4364962"/>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The trusted third party who issues certificates to the identified- end entities is called a Certification Authority (CA).</a:t>
            </a:r>
          </a:p>
          <a:p>
            <a:pPr marL="342900" indent="-342900">
              <a:buFont typeface="Wingdings" panose="05000000000000000000" pitchFamily="2" charset="2"/>
              <a:buChar char="Ø"/>
            </a:pPr>
            <a:r>
              <a:rPr lang="en-US" sz="2400" b="1" dirty="0">
                <a:latin typeface="Century Schoolbook" panose="02040604050505020304" pitchFamily="18" charset="0"/>
              </a:rPr>
              <a:t>A CA can be managed by an external certification service provider or it can belong to the same organization as the end entities.</a:t>
            </a:r>
          </a:p>
          <a:p>
            <a:pPr marL="342900" indent="-342900">
              <a:buFont typeface="Wingdings" panose="05000000000000000000" pitchFamily="2" charset="2"/>
              <a:buChar char="Ø"/>
            </a:pPr>
            <a:r>
              <a:rPr lang="en-US" sz="2400" b="1" dirty="0">
                <a:latin typeface="Century Schoolbook" panose="02040604050505020304" pitchFamily="18" charset="0"/>
              </a:rPr>
              <a:t>CAs can also issue certificates to other (sub) CAS. This leads to a tree-like certification hierarchy</a:t>
            </a:r>
          </a:p>
          <a:p>
            <a:pPr marL="342900" indent="-342900">
              <a:buFont typeface="Wingdings" panose="05000000000000000000" pitchFamily="2" charset="2"/>
              <a:buChar char="Ø"/>
            </a:pPr>
            <a:r>
              <a:rPr lang="en-US" sz="2400" b="1" dirty="0">
                <a:latin typeface="Century Schoolbook" panose="02040604050505020304" pitchFamily="18" charset="0"/>
              </a:rPr>
              <a:t>The highest trusted CA in the tree is called a root CA.</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167302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1C40E-9D36-FB88-0E43-36A040A67D8A}"/>
              </a:ext>
            </a:extLst>
          </p:cNvPr>
          <p:cNvSpPr>
            <a:spLocks noGrp="1"/>
          </p:cNvSpPr>
          <p:nvPr>
            <p:ph type="title"/>
          </p:nvPr>
        </p:nvSpPr>
        <p:spPr>
          <a:xfrm>
            <a:off x="20320" y="-71120"/>
            <a:ext cx="8596668" cy="816638"/>
          </a:xfrm>
        </p:spPr>
        <p:txBody>
          <a:bodyPr/>
          <a:lstStyle/>
          <a:p>
            <a:pPr marL="571500" indent="-571500">
              <a:buFont typeface="Wingdings" panose="05000000000000000000" pitchFamily="2" charset="2"/>
              <a:buChar char="v"/>
            </a:pPr>
            <a:r>
              <a:rPr lang="en-US" u="sng" dirty="0">
                <a:latin typeface="Algerian" panose="04020705040A02060702" pitchFamily="82" charset="0"/>
              </a:rPr>
              <a:t>Registration authority</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D61F9238-5027-CCF0-09E3-62FEFB230353}"/>
              </a:ext>
            </a:extLst>
          </p:cNvPr>
          <p:cNvSpPr>
            <a:spLocks noGrp="1"/>
          </p:cNvSpPr>
          <p:nvPr>
            <p:ph type="body" idx="1"/>
          </p:nvPr>
        </p:nvSpPr>
        <p:spPr>
          <a:xfrm>
            <a:off x="0" y="589280"/>
            <a:ext cx="9621520" cy="5476240"/>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The Registration Authority (RA) is entity responsible split for validating and verifying the identity of individuals or organizations before they are issued a digital certificate.</a:t>
            </a:r>
          </a:p>
          <a:p>
            <a:pPr marL="342900" indent="-342900">
              <a:buFont typeface="Wingdings" panose="05000000000000000000" pitchFamily="2" charset="2"/>
              <a:buChar char="Ø"/>
            </a:pPr>
            <a:r>
              <a:rPr lang="en-US" sz="2400" b="1" dirty="0">
                <a:latin typeface="Century Schoolbook" panose="02040604050505020304" pitchFamily="18" charset="0"/>
              </a:rPr>
              <a:t>The RA acts as an intermediary between the applicant and the CA.</a:t>
            </a:r>
          </a:p>
          <a:p>
            <a:pPr marL="342900" indent="-342900">
              <a:buFont typeface="Wingdings" panose="05000000000000000000" pitchFamily="2" charset="2"/>
              <a:buChar char="Ø"/>
            </a:pPr>
            <a:r>
              <a:rPr lang="en-US" sz="2400" b="1" dirty="0">
                <a:latin typeface="Century Schoolbook" panose="02040604050505020304" pitchFamily="18" charset="0"/>
              </a:rPr>
              <a:t>RA ensures that the person or organization requesting in the certificate is who they claim to be.</a:t>
            </a:r>
          </a:p>
          <a:p>
            <a:pPr marL="342900" indent="-342900">
              <a:buFont typeface="Wingdings" panose="05000000000000000000" pitchFamily="2" charset="2"/>
              <a:buChar char="Ø"/>
            </a:pPr>
            <a:r>
              <a:rPr lang="en-US" sz="2400" b="1" dirty="0">
                <a:latin typeface="Century Schoolbook" panose="02040604050505020304" pitchFamily="18" charset="0"/>
              </a:rPr>
              <a:t>Based on verification, the RA either approves or denies the request for a digital certificate.</a:t>
            </a:r>
          </a:p>
          <a:p>
            <a:pPr marL="342900" indent="-342900">
              <a:buFont typeface="Wingdings" panose="05000000000000000000" pitchFamily="2" charset="2"/>
              <a:buChar char="Ø"/>
            </a:pPr>
            <a:r>
              <a:rPr lang="en-US" sz="2400" b="1" dirty="0">
                <a:latin typeface="Century Schoolbook" panose="02040604050505020304" pitchFamily="18" charset="0"/>
              </a:rPr>
              <a:t>Once verified, RA forwards the approved certificate request to the CA for the actual issuance of the Certificate.</a:t>
            </a:r>
          </a:p>
        </p:txBody>
      </p:sp>
    </p:spTree>
    <p:extLst>
      <p:ext uri="{BB962C8B-B14F-4D97-AF65-F5344CB8AC3E}">
        <p14:creationId xmlns:p14="http://schemas.microsoft.com/office/powerpoint/2010/main" val="736119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C55E5-1359-3722-117A-076CDE3CDD75}"/>
              </a:ext>
            </a:extLst>
          </p:cNvPr>
          <p:cNvSpPr>
            <a:spLocks noGrp="1"/>
          </p:cNvSpPr>
          <p:nvPr>
            <p:ph type="title"/>
          </p:nvPr>
        </p:nvSpPr>
        <p:spPr>
          <a:xfrm>
            <a:off x="-3386" y="-101844"/>
            <a:ext cx="10681546" cy="877409"/>
          </a:xfrm>
        </p:spPr>
        <p:txBody>
          <a:bodyPr>
            <a:normAutofit/>
          </a:bodyPr>
          <a:lstStyle/>
          <a:p>
            <a:pPr marL="571500" indent="-571500">
              <a:buFont typeface="Wingdings" panose="05000000000000000000" pitchFamily="2" charset="2"/>
              <a:buChar char="v"/>
            </a:pPr>
            <a:r>
              <a:rPr lang="en-US" u="sng" dirty="0">
                <a:latin typeface="Algerian" panose="04020705040A02060702" pitchFamily="82" charset="0"/>
              </a:rPr>
              <a:t>X.509/</a:t>
            </a:r>
            <a:r>
              <a:rPr lang="en-US" u="sng" dirty="0" err="1">
                <a:latin typeface="Algerian" panose="04020705040A02060702" pitchFamily="82" charset="0"/>
              </a:rPr>
              <a:t>pkix</a:t>
            </a:r>
            <a:r>
              <a:rPr lang="en-US" u="sng" dirty="0">
                <a:latin typeface="Algerian" panose="04020705040A02060702" pitchFamily="82" charset="0"/>
              </a:rPr>
              <a:t> certificate format</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8B6344A7-5600-5A31-9D13-5D54BF0C9264}"/>
              </a:ext>
            </a:extLst>
          </p:cNvPr>
          <p:cNvSpPr>
            <a:spLocks noGrp="1"/>
          </p:cNvSpPr>
          <p:nvPr>
            <p:ph type="body" idx="1"/>
          </p:nvPr>
        </p:nvSpPr>
        <p:spPr>
          <a:xfrm>
            <a:off x="0" y="0"/>
            <a:ext cx="9777306" cy="4124959"/>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X.509 is a set of servers which maintains a database information about users and other attributes.</a:t>
            </a:r>
          </a:p>
          <a:p>
            <a:pPr marL="342900" indent="-342900">
              <a:buFont typeface="Wingdings" panose="05000000000000000000" pitchFamily="2" charset="2"/>
              <a:buChar char="Ø"/>
            </a:pPr>
            <a:r>
              <a:rPr lang="en-US" sz="2400" b="1" dirty="0">
                <a:latin typeface="Century Schoolbook" panose="02040604050505020304" pitchFamily="18" charset="0"/>
              </a:rPr>
              <a:t>X.509 defines authentication services, certificate structure, alternative authentication protocols base on use of public key certificates.</a:t>
            </a:r>
          </a:p>
          <a:p>
            <a:pPr marL="342900" indent="-342900">
              <a:buFont typeface="Wingdings" panose="05000000000000000000" pitchFamily="2" charset="2"/>
              <a:buChar char="Ø"/>
            </a:pPr>
            <a:r>
              <a:rPr lang="en-US" sz="2400" b="1" dirty="0">
                <a:latin typeface="Century Schoolbook" panose="02040604050505020304" pitchFamily="18" charset="0"/>
              </a:rPr>
              <a:t>The current version of the standard is version 3, known as X.509V3.</a:t>
            </a:r>
            <a:endParaRPr lang="en-IN" sz="2400" b="1" dirty="0">
              <a:latin typeface="Century Schoolbook" panose="02040604050505020304" pitchFamily="18" charset="0"/>
            </a:endParaRPr>
          </a:p>
        </p:txBody>
      </p:sp>
      <p:pic>
        <p:nvPicPr>
          <p:cNvPr id="7" name="Picture 6">
            <a:extLst>
              <a:ext uri="{FF2B5EF4-FFF2-40B4-BE49-F238E27FC236}">
                <a16:creationId xmlns:a16="http://schemas.microsoft.com/office/drawing/2014/main" id="{F25D6193-0925-9E44-8F6B-5EE4ED5D1B8F}"/>
              </a:ext>
            </a:extLst>
          </p:cNvPr>
          <p:cNvPicPr>
            <a:picLocks noChangeAspect="1"/>
          </p:cNvPicPr>
          <p:nvPr/>
        </p:nvPicPr>
        <p:blipFill>
          <a:blip r:embed="rId2"/>
          <a:stretch>
            <a:fillRect/>
          </a:stretch>
        </p:blipFill>
        <p:spPr>
          <a:xfrm>
            <a:off x="99398" y="3429000"/>
            <a:ext cx="8810922" cy="3429000"/>
          </a:xfrm>
          <a:prstGeom prst="rect">
            <a:avLst/>
          </a:prstGeom>
        </p:spPr>
      </p:pic>
    </p:spTree>
    <p:extLst>
      <p:ext uri="{BB962C8B-B14F-4D97-AF65-F5344CB8AC3E}">
        <p14:creationId xmlns:p14="http://schemas.microsoft.com/office/powerpoint/2010/main" val="174007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CAD-12BF-BAA4-C9DC-7B0C424F16EB}"/>
              </a:ext>
            </a:extLst>
          </p:cNvPr>
          <p:cNvSpPr>
            <a:spLocks noGrp="1"/>
          </p:cNvSpPr>
          <p:nvPr>
            <p:ph type="title"/>
          </p:nvPr>
        </p:nvSpPr>
        <p:spPr>
          <a:xfrm>
            <a:off x="0" y="-71120"/>
            <a:ext cx="11887200" cy="589280"/>
          </a:xfrm>
        </p:spPr>
        <p:txBody>
          <a:bodyPr>
            <a:noAutofit/>
          </a:bodyPr>
          <a:lstStyle/>
          <a:p>
            <a:pPr marL="571500" indent="-571500">
              <a:buFont typeface="Wingdings" panose="05000000000000000000" pitchFamily="2" charset="2"/>
              <a:buChar char="v"/>
            </a:pPr>
            <a:r>
              <a:rPr lang="en-US" sz="3200" b="1" u="sng" dirty="0">
                <a:latin typeface="Century Schoolbook" panose="02040604050505020304" pitchFamily="18" charset="0"/>
              </a:rPr>
              <a:t>The certificate includes the elements given below</a:t>
            </a:r>
            <a:r>
              <a:rPr lang="en-US" sz="3200" b="1" dirty="0">
                <a:latin typeface="Century Schoolbook" panose="02040604050505020304" pitchFamily="18" charset="0"/>
              </a:rPr>
              <a:t> : -</a:t>
            </a:r>
            <a:endParaRPr lang="en-IN" sz="3200" b="1"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034AB06C-344D-A5D7-E0E9-2268EA1790B8}"/>
              </a:ext>
            </a:extLst>
          </p:cNvPr>
          <p:cNvSpPr>
            <a:spLocks noGrp="1"/>
          </p:cNvSpPr>
          <p:nvPr>
            <p:ph type="body" idx="1"/>
          </p:nvPr>
        </p:nvSpPr>
        <p:spPr>
          <a:xfrm>
            <a:off x="0" y="518160"/>
            <a:ext cx="10739120" cy="6339840"/>
          </a:xfrm>
        </p:spPr>
        <p:txBody>
          <a:bodyPr>
            <a:normAutofit fontScale="92500"/>
          </a:bodyPr>
          <a:lstStyle/>
          <a:p>
            <a:pPr marL="285750" indent="-285750" fontAlgn="base">
              <a:buFont typeface="Wingdings" panose="05000000000000000000" pitchFamily="2" charset="2"/>
              <a:buChar char="q"/>
            </a:pPr>
            <a:r>
              <a:rPr lang="en-US" sz="2400" b="1" u="sng" dirty="0">
                <a:solidFill>
                  <a:schemeClr val="accent1">
                    <a:lumMod val="75000"/>
                  </a:schemeClr>
                </a:solidFill>
                <a:latin typeface="Century Schoolbook" panose="02040604050505020304" pitchFamily="18" charset="0"/>
              </a:rPr>
              <a:t>Version number</a:t>
            </a:r>
            <a:r>
              <a:rPr lang="en-US" sz="2400" b="1" dirty="0">
                <a:solidFill>
                  <a:schemeClr val="accent1">
                    <a:lumMod val="75000"/>
                  </a:schemeClr>
                </a:solidFill>
                <a:latin typeface="Century Schoolbook" panose="02040604050505020304" pitchFamily="18" charset="0"/>
              </a:rPr>
              <a:t> : -</a:t>
            </a:r>
            <a:r>
              <a:rPr lang="en-US" sz="2000" b="1" dirty="0">
                <a:latin typeface="Century Schoolbook" panose="02040604050505020304" pitchFamily="18" charset="0"/>
              </a:rPr>
              <a:t> </a:t>
            </a:r>
            <a:r>
              <a:rPr lang="en-US" sz="2200" b="1" dirty="0">
                <a:latin typeface="Century Schoolbook" panose="02040604050505020304" pitchFamily="18" charset="0"/>
              </a:rPr>
              <a:t>It defines the X.509 version that concerns the certificate.</a:t>
            </a:r>
          </a:p>
          <a:p>
            <a:pPr marL="285750" indent="-285750" fontAlgn="base">
              <a:buFont typeface="Wingdings" panose="05000000000000000000" pitchFamily="2" charset="2"/>
              <a:buChar char="q"/>
            </a:pPr>
            <a:r>
              <a:rPr lang="en-US" sz="2400" b="1" u="sng" dirty="0">
                <a:solidFill>
                  <a:schemeClr val="accent1">
                    <a:lumMod val="75000"/>
                  </a:schemeClr>
                </a:solidFill>
                <a:latin typeface="Century Schoolbook" panose="02040604050505020304" pitchFamily="18" charset="0"/>
              </a:rPr>
              <a:t>Serial number</a:t>
            </a:r>
            <a:r>
              <a:rPr lang="en-US" sz="2400" b="1" dirty="0">
                <a:solidFill>
                  <a:schemeClr val="accent1">
                    <a:lumMod val="75000"/>
                  </a:schemeClr>
                </a:solidFill>
                <a:latin typeface="Century Schoolbook" panose="02040604050505020304" pitchFamily="18" charset="0"/>
              </a:rPr>
              <a:t> : -</a:t>
            </a:r>
            <a:r>
              <a:rPr lang="en-US" b="1" dirty="0">
                <a:latin typeface="Century Schoolbook" panose="02040604050505020304" pitchFamily="18" charset="0"/>
              </a:rPr>
              <a:t> </a:t>
            </a:r>
            <a:r>
              <a:rPr lang="en-US" sz="2200" b="1" dirty="0">
                <a:latin typeface="Century Schoolbook" panose="02040604050505020304" pitchFamily="18" charset="0"/>
              </a:rPr>
              <a:t>It is the unique number that the certified authority issues.</a:t>
            </a:r>
          </a:p>
          <a:p>
            <a:pPr marL="285750" indent="-285750" fontAlgn="base">
              <a:buFont typeface="Wingdings" panose="05000000000000000000" pitchFamily="2" charset="2"/>
              <a:buChar char="q"/>
            </a:pPr>
            <a:r>
              <a:rPr lang="en-US" sz="2400" b="1" u="sng" dirty="0">
                <a:solidFill>
                  <a:schemeClr val="accent1">
                    <a:lumMod val="75000"/>
                  </a:schemeClr>
                </a:solidFill>
                <a:latin typeface="Century Schoolbook" panose="02040604050505020304" pitchFamily="18" charset="0"/>
              </a:rPr>
              <a:t>Signature Algorithm Identifier</a:t>
            </a:r>
            <a:r>
              <a:rPr lang="en-US" sz="2400" b="1" dirty="0">
                <a:solidFill>
                  <a:schemeClr val="accent1">
                    <a:lumMod val="75000"/>
                  </a:schemeClr>
                </a:solidFill>
                <a:latin typeface="Century Schoolbook" panose="02040604050505020304" pitchFamily="18" charset="0"/>
              </a:rPr>
              <a:t> : - </a:t>
            </a:r>
            <a:r>
              <a:rPr lang="en-US" sz="2200" b="1" dirty="0">
                <a:latin typeface="Century Schoolbook" panose="02040604050505020304" pitchFamily="18" charset="0"/>
              </a:rPr>
              <a:t>This is the algorithm that is used for signing the certificate.</a:t>
            </a:r>
            <a:endParaRPr lang="en-US" b="1" dirty="0">
              <a:latin typeface="Century Schoolbook" panose="02040604050505020304" pitchFamily="18" charset="0"/>
            </a:endParaRPr>
          </a:p>
          <a:p>
            <a:pPr marL="285750" indent="-285750" fontAlgn="base">
              <a:buFont typeface="Wingdings" panose="05000000000000000000" pitchFamily="2" charset="2"/>
              <a:buChar char="q"/>
            </a:pPr>
            <a:r>
              <a:rPr lang="en-US" sz="2400" b="1" u="sng" dirty="0">
                <a:solidFill>
                  <a:schemeClr val="accent1">
                    <a:lumMod val="75000"/>
                  </a:schemeClr>
                </a:solidFill>
                <a:latin typeface="Century Schoolbook" panose="02040604050505020304" pitchFamily="18" charset="0"/>
              </a:rPr>
              <a:t>Issuer name</a:t>
            </a:r>
            <a:r>
              <a:rPr lang="en-US" sz="2400" b="1" dirty="0">
                <a:solidFill>
                  <a:schemeClr val="accent1">
                    <a:lumMod val="75000"/>
                  </a:schemeClr>
                </a:solidFill>
                <a:latin typeface="Century Schoolbook" panose="02040604050505020304" pitchFamily="18" charset="0"/>
              </a:rPr>
              <a:t> : - </a:t>
            </a:r>
            <a:r>
              <a:rPr lang="en-US" sz="2200" b="1" dirty="0">
                <a:latin typeface="Century Schoolbook" panose="02040604050505020304" pitchFamily="18" charset="0"/>
              </a:rPr>
              <a:t>Tells about the X.509 name of the certified authority which signed and created the certificate.</a:t>
            </a:r>
          </a:p>
          <a:p>
            <a:pPr marL="285750" indent="-285750" fontAlgn="base">
              <a:buFont typeface="Wingdings" panose="05000000000000000000" pitchFamily="2" charset="2"/>
              <a:buChar char="q"/>
            </a:pPr>
            <a:r>
              <a:rPr lang="en-US" sz="2400" b="1" u="sng" dirty="0">
                <a:solidFill>
                  <a:schemeClr val="accent1">
                    <a:lumMod val="75000"/>
                  </a:schemeClr>
                </a:solidFill>
                <a:latin typeface="Century Schoolbook" panose="02040604050505020304" pitchFamily="18" charset="0"/>
              </a:rPr>
              <a:t>Period of Validity</a:t>
            </a:r>
            <a:r>
              <a:rPr lang="en-US" sz="2400" b="1" dirty="0">
                <a:solidFill>
                  <a:schemeClr val="accent1">
                    <a:lumMod val="75000"/>
                  </a:schemeClr>
                </a:solidFill>
                <a:latin typeface="Century Schoolbook" panose="02040604050505020304" pitchFamily="18" charset="0"/>
              </a:rPr>
              <a:t> : - </a:t>
            </a:r>
            <a:r>
              <a:rPr lang="en-US" sz="2200" b="1" dirty="0">
                <a:latin typeface="Century Schoolbook" panose="02040604050505020304" pitchFamily="18" charset="0"/>
              </a:rPr>
              <a:t>It defines the period for which the certificate is valid.</a:t>
            </a:r>
          </a:p>
          <a:p>
            <a:pPr marL="285750" indent="-285750" fontAlgn="base">
              <a:buFont typeface="Wingdings" panose="05000000000000000000" pitchFamily="2" charset="2"/>
              <a:buChar char="q"/>
            </a:pPr>
            <a:r>
              <a:rPr lang="en-US" sz="2400" b="1" u="sng" dirty="0">
                <a:solidFill>
                  <a:schemeClr val="accent1">
                    <a:lumMod val="75000"/>
                  </a:schemeClr>
                </a:solidFill>
                <a:latin typeface="Century Schoolbook" panose="02040604050505020304" pitchFamily="18" charset="0"/>
              </a:rPr>
              <a:t>Subject Name</a:t>
            </a:r>
            <a:r>
              <a:rPr lang="en-US" sz="2400" b="1" dirty="0">
                <a:solidFill>
                  <a:schemeClr val="accent1">
                    <a:lumMod val="75000"/>
                  </a:schemeClr>
                </a:solidFill>
                <a:latin typeface="Century Schoolbook" panose="02040604050505020304" pitchFamily="18" charset="0"/>
              </a:rPr>
              <a:t> : -</a:t>
            </a:r>
            <a:r>
              <a:rPr lang="en-US" sz="2000" b="1" dirty="0">
                <a:latin typeface="Century Schoolbook" panose="02040604050505020304" pitchFamily="18" charset="0"/>
              </a:rPr>
              <a:t> </a:t>
            </a:r>
            <a:r>
              <a:rPr lang="en-US" sz="2200" b="1" dirty="0">
                <a:latin typeface="Century Schoolbook" panose="02040604050505020304" pitchFamily="18" charset="0"/>
              </a:rPr>
              <a:t>Tells about the name of the user to whom this certificate has been issued.</a:t>
            </a:r>
            <a:endParaRPr lang="en-US" b="1" dirty="0">
              <a:latin typeface="Century Schoolbook" panose="02040604050505020304" pitchFamily="18" charset="0"/>
            </a:endParaRPr>
          </a:p>
          <a:p>
            <a:pPr marL="285750" indent="-285750" fontAlgn="base">
              <a:buFont typeface="Wingdings" panose="05000000000000000000" pitchFamily="2" charset="2"/>
              <a:buChar char="q"/>
            </a:pPr>
            <a:r>
              <a:rPr lang="en-US" sz="2400" b="1" u="sng" dirty="0">
                <a:solidFill>
                  <a:schemeClr val="accent1">
                    <a:lumMod val="75000"/>
                  </a:schemeClr>
                </a:solidFill>
                <a:latin typeface="Century Schoolbook" panose="02040604050505020304" pitchFamily="18" charset="0"/>
              </a:rPr>
              <a:t>Subject’s public key information</a:t>
            </a:r>
            <a:r>
              <a:rPr lang="en-US" sz="2400" b="1" dirty="0">
                <a:solidFill>
                  <a:schemeClr val="accent1">
                    <a:lumMod val="75000"/>
                  </a:schemeClr>
                </a:solidFill>
                <a:latin typeface="Century Schoolbook" panose="02040604050505020304" pitchFamily="18" charset="0"/>
              </a:rPr>
              <a:t> : - </a:t>
            </a:r>
            <a:r>
              <a:rPr lang="en-US" sz="2200" b="1" dirty="0">
                <a:latin typeface="Century Schoolbook" panose="02040604050505020304" pitchFamily="18" charset="0"/>
              </a:rPr>
              <a:t>It defines the subject’s public key along with an identifier of the algorithm for which this key is supposed to be used.</a:t>
            </a:r>
            <a:endParaRPr lang="en-US" sz="1900" b="1" dirty="0">
              <a:latin typeface="Century Schoolbook" panose="02040604050505020304" pitchFamily="18" charset="0"/>
            </a:endParaRPr>
          </a:p>
          <a:p>
            <a:pPr marL="285750" indent="-285750" fontAlgn="base">
              <a:buFont typeface="Wingdings" panose="05000000000000000000" pitchFamily="2" charset="2"/>
              <a:buChar char="q"/>
            </a:pPr>
            <a:r>
              <a:rPr lang="en-US" sz="2400" b="1" u="sng" dirty="0">
                <a:solidFill>
                  <a:schemeClr val="accent1">
                    <a:lumMod val="75000"/>
                  </a:schemeClr>
                </a:solidFill>
                <a:latin typeface="Century Schoolbook" panose="02040604050505020304" pitchFamily="18" charset="0"/>
              </a:rPr>
              <a:t>Extension block</a:t>
            </a:r>
            <a:r>
              <a:rPr lang="en-US" sz="2400" b="1" dirty="0">
                <a:solidFill>
                  <a:schemeClr val="accent1">
                    <a:lumMod val="75000"/>
                  </a:schemeClr>
                </a:solidFill>
                <a:latin typeface="Century Schoolbook" panose="02040604050505020304" pitchFamily="18" charset="0"/>
              </a:rPr>
              <a:t> : - </a:t>
            </a:r>
            <a:r>
              <a:rPr lang="en-US" sz="2200" b="1" dirty="0">
                <a:latin typeface="Century Schoolbook" panose="02040604050505020304" pitchFamily="18" charset="0"/>
              </a:rPr>
              <a:t>This field contains additional standard information.</a:t>
            </a:r>
          </a:p>
          <a:p>
            <a:pPr marL="285750" indent="-285750" fontAlgn="base">
              <a:buFont typeface="Wingdings" panose="05000000000000000000" pitchFamily="2" charset="2"/>
              <a:buChar char="q"/>
            </a:pPr>
            <a:r>
              <a:rPr lang="en-US" sz="2400" b="1" u="sng" dirty="0">
                <a:solidFill>
                  <a:schemeClr val="accent1">
                    <a:lumMod val="75000"/>
                  </a:schemeClr>
                </a:solidFill>
                <a:latin typeface="Century Schoolbook" panose="02040604050505020304" pitchFamily="18" charset="0"/>
              </a:rPr>
              <a:t>Signature</a:t>
            </a:r>
            <a:r>
              <a:rPr lang="en-US" sz="2400" b="1" dirty="0">
                <a:solidFill>
                  <a:schemeClr val="accent1">
                    <a:lumMod val="75000"/>
                  </a:schemeClr>
                </a:solidFill>
                <a:latin typeface="Century Schoolbook" panose="02040604050505020304" pitchFamily="18" charset="0"/>
              </a:rPr>
              <a:t> : -</a:t>
            </a:r>
            <a:r>
              <a:rPr lang="en-US" sz="2000" b="1" dirty="0">
                <a:latin typeface="Century Schoolbook" panose="02040604050505020304" pitchFamily="18" charset="0"/>
              </a:rPr>
              <a:t> </a:t>
            </a:r>
            <a:r>
              <a:rPr lang="en-US" sz="2200" b="1" dirty="0">
                <a:latin typeface="Century Schoolbook" panose="02040604050505020304" pitchFamily="18" charset="0"/>
              </a:rPr>
              <a:t>This field contains the hash code of all other fields which is encrypted by the certified authority private key.</a:t>
            </a:r>
          </a:p>
          <a:p>
            <a:endParaRPr lang="en-IN" b="1" dirty="0">
              <a:latin typeface="Century Schoolbook" panose="02040604050505020304" pitchFamily="18" charset="0"/>
            </a:endParaRPr>
          </a:p>
        </p:txBody>
      </p:sp>
    </p:spTree>
    <p:extLst>
      <p:ext uri="{BB962C8B-B14F-4D97-AF65-F5344CB8AC3E}">
        <p14:creationId xmlns:p14="http://schemas.microsoft.com/office/powerpoint/2010/main" val="218993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59D42-1296-C628-0A6B-FA590EF97B02}"/>
              </a:ext>
            </a:extLst>
          </p:cNvPr>
          <p:cNvSpPr>
            <a:spLocks noGrp="1"/>
          </p:cNvSpPr>
          <p:nvPr>
            <p:ph type="title"/>
          </p:nvPr>
        </p:nvSpPr>
        <p:spPr>
          <a:xfrm>
            <a:off x="0" y="0"/>
            <a:ext cx="8596668" cy="816638"/>
          </a:xfrm>
        </p:spPr>
        <p:txBody>
          <a:bodyPr>
            <a:normAutofit/>
          </a:bodyPr>
          <a:lstStyle/>
          <a:p>
            <a:r>
              <a:rPr lang="en-US" dirty="0">
                <a:latin typeface="Algerian" panose="04020705040A02060702" pitchFamily="82" charset="0"/>
              </a:rPr>
              <a:t>5.5] </a:t>
            </a:r>
            <a:r>
              <a:rPr lang="en-US" u="sng" dirty="0">
                <a:latin typeface="Algerian" panose="04020705040A02060702" pitchFamily="82" charset="0"/>
              </a:rPr>
              <a:t>cyber crime</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82051A8A-0B5B-2DC5-F346-894245F64B01}"/>
              </a:ext>
            </a:extLst>
          </p:cNvPr>
          <p:cNvSpPr>
            <a:spLocks noGrp="1"/>
          </p:cNvSpPr>
          <p:nvPr>
            <p:ph type="body" idx="1"/>
          </p:nvPr>
        </p:nvSpPr>
        <p:spPr>
          <a:xfrm>
            <a:off x="0" y="603278"/>
            <a:ext cx="9509760" cy="5157442"/>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A crime committed using a computer and internet to access. personal information, steal a person's identity, sell illegal goods, or </a:t>
            </a:r>
            <a:r>
              <a:rPr lang="en-US" sz="2400" b="1" dirty="0" err="1">
                <a:latin typeface="Century Schoolbook" panose="02040604050505020304" pitchFamily="18" charset="0"/>
              </a:rPr>
              <a:t>dishub</a:t>
            </a:r>
            <a:r>
              <a:rPr lang="en-US" sz="2400" b="1" dirty="0">
                <a:latin typeface="Century Schoolbook" panose="02040604050505020304" pitchFamily="18" charset="0"/>
              </a:rPr>
              <a:t> any operations with malicious program is known as "Cyber Crime" for it.</a:t>
            </a:r>
          </a:p>
          <a:p>
            <a:pPr marL="342900" indent="-342900">
              <a:buFont typeface="Wingdings" panose="05000000000000000000" pitchFamily="2" charset="2"/>
              <a:buChar char="Ø"/>
            </a:pPr>
            <a:r>
              <a:rPr lang="en-US" sz="2400" b="1" dirty="0">
                <a:latin typeface="Century Schoolbook" panose="02040604050505020304" pitchFamily="18" charset="0"/>
              </a:rPr>
              <a:t>Cyber Crime may also be </a:t>
            </a:r>
            <a:r>
              <a:rPr lang="en-US" sz="2400" b="1" dirty="0" err="1">
                <a:latin typeface="Century Schoolbook" panose="02040604050505020304" pitchFamily="18" charset="0"/>
              </a:rPr>
              <a:t>refferred</a:t>
            </a:r>
            <a:r>
              <a:rPr lang="en-US" sz="2400" b="1" dirty="0">
                <a:latin typeface="Century Schoolbook" panose="02040604050505020304" pitchFamily="18" charset="0"/>
              </a:rPr>
              <a:t> to as computer crime or any illegal activity done through the internet.</a:t>
            </a:r>
          </a:p>
          <a:p>
            <a:pPr marL="342900" indent="-342900">
              <a:buFont typeface="Wingdings" panose="05000000000000000000" pitchFamily="2" charset="2"/>
              <a:buChar char="Ø"/>
            </a:pPr>
            <a:r>
              <a:rPr lang="en-US" sz="2400" b="1" dirty="0">
                <a:latin typeface="Century Schoolbook" panose="02040604050505020304" pitchFamily="18" charset="0"/>
              </a:rPr>
              <a:t>A cybercriminal is an individual who commits cybercrimes, where he/she makes use of computer either as a tool or target or both.</a:t>
            </a:r>
          </a:p>
          <a:p>
            <a:pPr marL="342900" indent="-342900">
              <a:buFont typeface="Wingdings" panose="05000000000000000000" pitchFamily="2" charset="2"/>
              <a:buChar char="Ø"/>
            </a:pPr>
            <a:r>
              <a:rPr lang="en-US" sz="2400" b="1" dirty="0">
                <a:latin typeface="Century Schoolbook" panose="02040604050505020304" pitchFamily="18" charset="0"/>
              </a:rPr>
              <a:t>Cybercrime requires no physical contact with victims. </a:t>
            </a:r>
          </a:p>
          <a:p>
            <a:pPr marL="342900" indent="-342900">
              <a:buFont typeface="Wingdings" panose="05000000000000000000" pitchFamily="2" charset="2"/>
              <a:buChar char="Ø"/>
            </a:pPr>
            <a:r>
              <a:rPr lang="en-US" sz="2400" b="1" dirty="0">
                <a:latin typeface="Century Schoolbook" panose="02040604050505020304" pitchFamily="18" charset="0"/>
              </a:rPr>
              <a:t>They can be located any where in the world, this reduces the chances of being caught.</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45637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832A2-C678-EAA3-1902-44F0B146626D}"/>
              </a:ext>
            </a:extLst>
          </p:cNvPr>
          <p:cNvSpPr>
            <a:spLocks noGrp="1"/>
          </p:cNvSpPr>
          <p:nvPr>
            <p:ph type="title"/>
          </p:nvPr>
        </p:nvSpPr>
        <p:spPr>
          <a:xfrm>
            <a:off x="0" y="0"/>
            <a:ext cx="10058400" cy="543560"/>
          </a:xfrm>
        </p:spPr>
        <p:txBody>
          <a:bodyPr>
            <a:noAutofit/>
          </a:bodyPr>
          <a:lstStyle/>
          <a:p>
            <a:pPr marL="571500" indent="-571500">
              <a:buFont typeface="Wingdings" panose="05000000000000000000" pitchFamily="2" charset="2"/>
              <a:buChar char="v"/>
            </a:pPr>
            <a:r>
              <a:rPr lang="en-US" sz="3200" b="1" u="sng" dirty="0">
                <a:latin typeface="Century Schoolbook" panose="02040604050505020304" pitchFamily="18" charset="0"/>
              </a:rPr>
              <a:t>Cyber crime involves such activities like</a:t>
            </a:r>
            <a:r>
              <a:rPr lang="en-US" sz="3200" b="1" dirty="0">
                <a:latin typeface="Century Schoolbook" panose="02040604050505020304" pitchFamily="18" charset="0"/>
              </a:rPr>
              <a:t> : -</a:t>
            </a:r>
            <a:endParaRPr lang="en-IN" sz="3200" b="1"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CF00B4D9-5BF0-8401-79D1-478B3C0A0F43}"/>
              </a:ext>
            </a:extLst>
          </p:cNvPr>
          <p:cNvSpPr>
            <a:spLocks noGrp="1"/>
          </p:cNvSpPr>
          <p:nvPr>
            <p:ph type="body" idx="1"/>
          </p:nvPr>
        </p:nvSpPr>
        <p:spPr>
          <a:xfrm>
            <a:off x="0" y="543560"/>
            <a:ext cx="9784080" cy="6416040"/>
          </a:xfrm>
        </p:spPr>
        <p:txBody>
          <a:bodyPr>
            <a:normAutofit/>
          </a:bodyPr>
          <a:lstStyle/>
          <a:p>
            <a:pPr marL="342900" indent="-342900">
              <a:buFont typeface="Wingdings" panose="05000000000000000000" pitchFamily="2" charset="2"/>
              <a:buChar char="ü"/>
            </a:pPr>
            <a:r>
              <a:rPr lang="en-IN" sz="2400" b="1" dirty="0">
                <a:latin typeface="Century Schoolbook" panose="02040604050505020304" pitchFamily="18" charset="0"/>
              </a:rPr>
              <a:t>Child Pornography.</a:t>
            </a:r>
          </a:p>
          <a:p>
            <a:pPr marL="342900" indent="-342900">
              <a:buFont typeface="Wingdings" panose="05000000000000000000" pitchFamily="2" charset="2"/>
              <a:buChar char="ü"/>
            </a:pPr>
            <a:r>
              <a:rPr lang="en-IN" sz="2400" b="1" dirty="0">
                <a:latin typeface="Century Schoolbook" panose="02040604050505020304" pitchFamily="18" charset="0"/>
              </a:rPr>
              <a:t>Credit Card fault fraud.</a:t>
            </a:r>
          </a:p>
          <a:p>
            <a:pPr marL="342900" indent="-342900">
              <a:buFont typeface="Wingdings" panose="05000000000000000000" pitchFamily="2" charset="2"/>
              <a:buChar char="ü"/>
            </a:pPr>
            <a:r>
              <a:rPr lang="en-IN" sz="2400" b="1" dirty="0">
                <a:latin typeface="Century Schoolbook" panose="02040604050505020304" pitchFamily="18" charset="0"/>
              </a:rPr>
              <a:t>Cyberstalking.</a:t>
            </a:r>
          </a:p>
          <a:p>
            <a:pPr marL="342900" indent="-342900">
              <a:buFont typeface="Wingdings" panose="05000000000000000000" pitchFamily="2" charset="2"/>
              <a:buChar char="ü"/>
            </a:pPr>
            <a:r>
              <a:rPr lang="en-IN" sz="2400" b="1" dirty="0">
                <a:latin typeface="Century Schoolbook" panose="02040604050505020304" pitchFamily="18" charset="0"/>
              </a:rPr>
              <a:t>Cyber Defamation.</a:t>
            </a:r>
          </a:p>
          <a:p>
            <a:pPr marL="342900" indent="-342900">
              <a:buFont typeface="Wingdings" panose="05000000000000000000" pitchFamily="2" charset="2"/>
              <a:buChar char="ü"/>
            </a:pPr>
            <a:r>
              <a:rPr lang="en-IN" sz="2400" b="1" dirty="0">
                <a:latin typeface="Century Schoolbook" panose="02040604050505020304" pitchFamily="18" charset="0"/>
              </a:rPr>
              <a:t>Software Privacy.</a:t>
            </a:r>
          </a:p>
          <a:p>
            <a:pPr marL="342900" indent="-342900">
              <a:buFont typeface="Wingdings" panose="05000000000000000000" pitchFamily="2" charset="2"/>
              <a:buChar char="ü"/>
            </a:pPr>
            <a:r>
              <a:rPr lang="en-IN" sz="2400" b="1" dirty="0">
                <a:latin typeface="Century Schoolbook" panose="02040604050505020304" pitchFamily="18" charset="0"/>
              </a:rPr>
              <a:t>Gaining unauthorized access to a system.</a:t>
            </a:r>
          </a:p>
          <a:p>
            <a:pPr marL="342900" indent="-342900">
              <a:buFont typeface="Wingdings" panose="05000000000000000000" pitchFamily="2" charset="2"/>
              <a:buChar char="ü"/>
            </a:pPr>
            <a:r>
              <a:rPr lang="en-IN" sz="2400" b="1" dirty="0">
                <a:latin typeface="Century Schoolbook" panose="02040604050505020304" pitchFamily="18" charset="0"/>
              </a:rPr>
              <a:t>Overriding encryption to make illegal copies.</a:t>
            </a:r>
          </a:p>
          <a:p>
            <a:pPr marL="342900" indent="-342900">
              <a:buFont typeface="Wingdings" panose="05000000000000000000" pitchFamily="2" charset="2"/>
              <a:buChar char="ü"/>
            </a:pPr>
            <a:r>
              <a:rPr lang="en-IN" sz="2400" b="1" dirty="0">
                <a:latin typeface="Century Schoolbook" panose="02040604050505020304" pitchFamily="18" charset="0"/>
              </a:rPr>
              <a:t>stealing another's identity to perform criminal act.</a:t>
            </a:r>
          </a:p>
          <a:p>
            <a:pPr marL="342900" indent="-342900">
              <a:buFont typeface="Wingdings" panose="05000000000000000000" pitchFamily="2" charset="2"/>
              <a:buChar char="ü"/>
            </a:pPr>
            <a:r>
              <a:rPr lang="en-IN" sz="2400" b="1" dirty="0">
                <a:latin typeface="Century Schoolbook" panose="02040604050505020304" pitchFamily="18" charset="0"/>
              </a:rPr>
              <a:t>Copyright infringing software fake antivirus.</a:t>
            </a:r>
          </a:p>
          <a:p>
            <a:pPr marL="342900" indent="-342900">
              <a:buFont typeface="Wingdings" panose="05000000000000000000" pitchFamily="2" charset="2"/>
              <a:buChar char="ü"/>
            </a:pPr>
            <a:r>
              <a:rPr lang="en-IN" sz="2400" b="1" dirty="0">
                <a:latin typeface="Century Schoolbook" panose="02040604050505020304" pitchFamily="18" charset="0"/>
              </a:rPr>
              <a:t>Hacking digital for </a:t>
            </a:r>
            <a:r>
              <a:rPr lang="en-IN" sz="2400" b="1" dirty="0" err="1">
                <a:latin typeface="Century Schoolbook" panose="02040604050505020304" pitchFamily="18" charset="0"/>
              </a:rPr>
              <a:t>gery</a:t>
            </a:r>
            <a:r>
              <a:rPr lang="en-IN" sz="2400" b="1" dirty="0">
                <a:latin typeface="Century Schoolbook" panose="02040604050505020304" pitchFamily="18" charset="0"/>
              </a:rPr>
              <a:t>.</a:t>
            </a:r>
          </a:p>
          <a:p>
            <a:pPr marL="342900" indent="-342900">
              <a:buFont typeface="Wingdings" panose="05000000000000000000" pitchFamily="2" charset="2"/>
              <a:buChar char="ü"/>
            </a:pPr>
            <a:r>
              <a:rPr lang="en-IN" sz="2400" b="1" dirty="0">
                <a:latin typeface="Century Schoolbook" panose="02040604050505020304" pitchFamily="18" charset="0"/>
              </a:rPr>
              <a:t>Welfare fraud.</a:t>
            </a:r>
          </a:p>
          <a:p>
            <a:pPr marL="342900" indent="-342900">
              <a:buFont typeface="Wingdings" panose="05000000000000000000" pitchFamily="2" charset="2"/>
              <a:buChar char="ü"/>
            </a:pPr>
            <a:r>
              <a:rPr lang="en-IN" sz="2400" b="1" dirty="0">
                <a:latin typeface="Century Schoolbook" panose="02040604050505020304" pitchFamily="18" charset="0"/>
              </a:rPr>
              <a:t>Spamming.</a:t>
            </a:r>
          </a:p>
          <a:p>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2828971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8E5A0-DB68-057C-316D-7020EE72C8F0}"/>
              </a:ext>
            </a:extLst>
          </p:cNvPr>
          <p:cNvSpPr>
            <a:spLocks noGrp="1"/>
          </p:cNvSpPr>
          <p:nvPr>
            <p:ph type="title"/>
          </p:nvPr>
        </p:nvSpPr>
        <p:spPr>
          <a:xfrm>
            <a:off x="0" y="0"/>
            <a:ext cx="10813625" cy="711200"/>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Types of cyber crimes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49CAA7F2-E15D-50E7-DCC1-F561277F9AA7}"/>
              </a:ext>
            </a:extLst>
          </p:cNvPr>
          <p:cNvSpPr>
            <a:spLocks noGrp="1"/>
          </p:cNvSpPr>
          <p:nvPr>
            <p:ph type="body" idx="1"/>
          </p:nvPr>
        </p:nvSpPr>
        <p:spPr>
          <a:xfrm>
            <a:off x="0" y="538480"/>
            <a:ext cx="9743440" cy="5313680"/>
          </a:xfrm>
        </p:spPr>
        <p:txBody>
          <a:bodyPr>
            <a:normAutofit/>
          </a:bodyPr>
          <a:lstStyle/>
          <a:p>
            <a:r>
              <a:rPr lang="en-US" sz="2800" b="1" dirty="0">
                <a:solidFill>
                  <a:schemeClr val="accent1">
                    <a:lumMod val="75000"/>
                  </a:schemeClr>
                </a:solidFill>
                <a:latin typeface="Century Schoolbook" panose="02040604050505020304" pitchFamily="18" charset="0"/>
              </a:rPr>
              <a:t>1. </a:t>
            </a:r>
            <a:r>
              <a:rPr lang="en-US" sz="2800" b="1" u="sng" dirty="0">
                <a:solidFill>
                  <a:schemeClr val="accent1">
                    <a:lumMod val="75000"/>
                  </a:schemeClr>
                </a:solidFill>
                <a:latin typeface="Century Schoolbook" panose="02040604050505020304" pitchFamily="18" charset="0"/>
              </a:rPr>
              <a:t>Hacking</a:t>
            </a:r>
            <a:r>
              <a:rPr lang="en-US" sz="2800" b="1" dirty="0">
                <a:solidFill>
                  <a:schemeClr val="accent1">
                    <a:lumMod val="75000"/>
                  </a:schemeClr>
                </a:solidFill>
                <a:latin typeface="Century Schoolbook" panose="02040604050505020304" pitchFamily="18" charset="0"/>
              </a:rPr>
              <a:t> : - </a:t>
            </a:r>
            <a:r>
              <a:rPr lang="en-US" sz="2400" b="1" dirty="0">
                <a:latin typeface="Century Schoolbook" panose="02040604050505020304" pitchFamily="18" charset="0"/>
              </a:rPr>
              <a:t>This is a type of crime where in a person's computer is broken into so that his personal or sensitive Top information can be accessed.</a:t>
            </a:r>
          </a:p>
          <a:p>
            <a:r>
              <a:rPr lang="en-US" sz="2800" b="1" dirty="0">
                <a:solidFill>
                  <a:schemeClr val="accent1">
                    <a:lumMod val="75000"/>
                  </a:schemeClr>
                </a:solidFill>
                <a:latin typeface="Century Schoolbook" panose="02040604050505020304" pitchFamily="18" charset="0"/>
              </a:rPr>
              <a:t>2. </a:t>
            </a:r>
            <a:r>
              <a:rPr lang="en-US" sz="2800" b="1" u="sng" dirty="0">
                <a:solidFill>
                  <a:schemeClr val="accent1">
                    <a:lumMod val="75000"/>
                  </a:schemeClr>
                </a:solidFill>
                <a:latin typeface="Century Schoolbook" panose="02040604050505020304" pitchFamily="18" charset="0"/>
              </a:rPr>
              <a:t>Digital Forgery</a:t>
            </a:r>
            <a:r>
              <a:rPr lang="en-US" sz="2800" b="1" dirty="0">
                <a:solidFill>
                  <a:schemeClr val="accent1">
                    <a:lumMod val="75000"/>
                  </a:schemeClr>
                </a:solidFill>
                <a:latin typeface="Century Schoolbook" panose="02040604050505020304" pitchFamily="18" charset="0"/>
              </a:rPr>
              <a:t> : -</a:t>
            </a:r>
            <a:r>
              <a:rPr lang="en-US" sz="2400" b="1" dirty="0">
                <a:latin typeface="Century Schoolbook" panose="02040604050505020304" pitchFamily="18" charset="0"/>
              </a:rPr>
              <a:t> It refers to the manipulation of digital content such as images, videos, audios, documents to deceive or mislead.</a:t>
            </a:r>
          </a:p>
          <a:p>
            <a:r>
              <a:rPr lang="en-US" sz="2800" b="1" dirty="0">
                <a:solidFill>
                  <a:schemeClr val="accent1">
                    <a:lumMod val="75000"/>
                  </a:schemeClr>
                </a:solidFill>
                <a:latin typeface="Century Schoolbook" panose="02040604050505020304" pitchFamily="18" charset="0"/>
              </a:rPr>
              <a:t>3. </a:t>
            </a:r>
            <a:r>
              <a:rPr lang="en-US" sz="2800" b="1" u="sng" dirty="0">
                <a:solidFill>
                  <a:schemeClr val="accent1">
                    <a:lumMod val="75000"/>
                  </a:schemeClr>
                </a:solidFill>
                <a:latin typeface="Century Schoolbook" panose="02040604050505020304" pitchFamily="18" charset="0"/>
              </a:rPr>
              <a:t>Theft</a:t>
            </a:r>
            <a:r>
              <a:rPr lang="en-US" sz="2800" b="1" dirty="0">
                <a:solidFill>
                  <a:schemeClr val="accent1">
                    <a:lumMod val="75000"/>
                  </a:schemeClr>
                </a:solidFill>
                <a:latin typeface="Century Schoolbook" panose="02040604050505020304" pitchFamily="18" charset="0"/>
              </a:rPr>
              <a:t> : - </a:t>
            </a:r>
            <a:r>
              <a:rPr lang="en-US" sz="2400" b="1" dirty="0">
                <a:latin typeface="Century Schoolbook" panose="02040604050505020304" pitchFamily="18" charset="0"/>
              </a:rPr>
              <a:t>This crime </a:t>
            </a:r>
            <a:r>
              <a:rPr lang="en-US" sz="2400" b="1" dirty="0" err="1">
                <a:latin typeface="Century Schoolbook" panose="02040604050505020304" pitchFamily="18" charset="0"/>
              </a:rPr>
              <a:t>occures</a:t>
            </a:r>
            <a:r>
              <a:rPr lang="en-US" sz="2400" b="1" dirty="0">
                <a:latin typeface="Century Schoolbook" panose="02040604050505020304" pitchFamily="18" charset="0"/>
              </a:rPr>
              <a:t> when a person violates copyrights and download music, movies, games and software.</a:t>
            </a:r>
          </a:p>
          <a:p>
            <a:r>
              <a:rPr lang="en-US" sz="2800" b="1" dirty="0">
                <a:solidFill>
                  <a:schemeClr val="accent1">
                    <a:lumMod val="75000"/>
                  </a:schemeClr>
                </a:solidFill>
                <a:latin typeface="Century Schoolbook" panose="02040604050505020304" pitchFamily="18" charset="0"/>
              </a:rPr>
              <a:t>4. </a:t>
            </a:r>
            <a:r>
              <a:rPr lang="en-US" sz="2800" b="1" u="sng" dirty="0">
                <a:solidFill>
                  <a:schemeClr val="accent1">
                    <a:lumMod val="75000"/>
                  </a:schemeClr>
                </a:solidFill>
                <a:latin typeface="Century Schoolbook" panose="02040604050505020304" pitchFamily="18" charset="0"/>
              </a:rPr>
              <a:t>Cyberstalking</a:t>
            </a:r>
            <a:r>
              <a:rPr lang="en-US" sz="2800" b="1" dirty="0">
                <a:solidFill>
                  <a:schemeClr val="accent1">
                    <a:lumMod val="75000"/>
                  </a:schemeClr>
                </a:solidFill>
                <a:latin typeface="Century Schoolbook" panose="02040604050505020304" pitchFamily="18" charset="0"/>
              </a:rPr>
              <a:t> : -</a:t>
            </a:r>
            <a:r>
              <a:rPr lang="en-US" sz="2400" b="1" dirty="0">
                <a:latin typeface="Century Schoolbook" panose="02040604050505020304" pitchFamily="18" charset="0"/>
              </a:rPr>
              <a:t> This is a kind of online harassment wherein the victim is subjected to a barrage of online messages and emails.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8779862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51AC5-C01E-4564-3228-091FE48803CD}"/>
              </a:ext>
            </a:extLst>
          </p:cNvPr>
          <p:cNvSpPr>
            <a:spLocks noGrp="1"/>
          </p:cNvSpPr>
          <p:nvPr>
            <p:ph type="title"/>
          </p:nvPr>
        </p:nvSpPr>
        <p:spPr>
          <a:xfrm>
            <a:off x="768775" y="-467360"/>
            <a:ext cx="8596668" cy="467360"/>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99554498-52D3-EF9A-D59A-69EB56FB753F}"/>
              </a:ext>
            </a:extLst>
          </p:cNvPr>
          <p:cNvSpPr>
            <a:spLocks noGrp="1"/>
          </p:cNvSpPr>
          <p:nvPr>
            <p:ph type="body" idx="1"/>
          </p:nvPr>
        </p:nvSpPr>
        <p:spPr>
          <a:xfrm>
            <a:off x="0" y="0"/>
            <a:ext cx="9702800" cy="5181600"/>
          </a:xfrm>
        </p:spPr>
        <p:txBody>
          <a:bodyPr>
            <a:normAutofit/>
          </a:bodyPr>
          <a:lstStyle/>
          <a:p>
            <a:r>
              <a:rPr lang="en-US" sz="2800" b="1" dirty="0">
                <a:solidFill>
                  <a:schemeClr val="accent1">
                    <a:lumMod val="75000"/>
                  </a:schemeClr>
                </a:solidFill>
                <a:latin typeface="Century Schoolbook" panose="02040604050505020304" pitchFamily="18" charset="0"/>
              </a:rPr>
              <a:t>5. </a:t>
            </a:r>
            <a:r>
              <a:rPr lang="en-US" sz="2800" b="1" u="sng" dirty="0">
                <a:solidFill>
                  <a:schemeClr val="accent1">
                    <a:lumMod val="75000"/>
                  </a:schemeClr>
                </a:solidFill>
                <a:latin typeface="Century Schoolbook" panose="02040604050505020304" pitchFamily="18" charset="0"/>
              </a:rPr>
              <a:t>Identity Theft</a:t>
            </a:r>
            <a:r>
              <a:rPr lang="en-US" sz="2800" b="1" dirty="0">
                <a:solidFill>
                  <a:schemeClr val="accent1">
                    <a:lumMod val="75000"/>
                  </a:schemeClr>
                </a:solidFill>
                <a:latin typeface="Century Schoolbook" panose="02040604050505020304" pitchFamily="18" charset="0"/>
              </a:rPr>
              <a:t> : - </a:t>
            </a:r>
            <a:r>
              <a:rPr lang="en-US" sz="2400" b="1" dirty="0">
                <a:latin typeface="Century Schoolbook" panose="02040604050505020304" pitchFamily="18" charset="0"/>
              </a:rPr>
              <a:t>In this cyber crime, a criminal accesses (point of data about a person's bank account, credit cards, debit cards and other sensitive information to siphon money or to buy things online in the victim's name.</a:t>
            </a:r>
          </a:p>
          <a:p>
            <a:r>
              <a:rPr lang="en-US" sz="2800" b="1" dirty="0">
                <a:solidFill>
                  <a:schemeClr val="accent1">
                    <a:lumMod val="75000"/>
                  </a:schemeClr>
                </a:solidFill>
                <a:latin typeface="Century Schoolbook" panose="02040604050505020304" pitchFamily="18" charset="0"/>
              </a:rPr>
              <a:t>6. </a:t>
            </a:r>
            <a:r>
              <a:rPr lang="en-US" sz="2800" b="1" u="sng" dirty="0">
                <a:solidFill>
                  <a:schemeClr val="accent1">
                    <a:lumMod val="75000"/>
                  </a:schemeClr>
                </a:solidFill>
                <a:latin typeface="Century Schoolbook" panose="02040604050505020304" pitchFamily="18" charset="0"/>
              </a:rPr>
              <a:t>Malicious software</a:t>
            </a:r>
            <a:r>
              <a:rPr lang="en-US" sz="2800" b="1" dirty="0">
                <a:solidFill>
                  <a:schemeClr val="accent1">
                    <a:lumMod val="75000"/>
                  </a:schemeClr>
                </a:solidFill>
                <a:latin typeface="Century Schoolbook" panose="02040604050505020304" pitchFamily="18" charset="0"/>
              </a:rPr>
              <a:t> : -</a:t>
            </a:r>
            <a:r>
              <a:rPr lang="en-US" sz="2400" b="1" dirty="0">
                <a:latin typeface="Century Schoolbook" panose="02040604050505020304" pitchFamily="18" charset="0"/>
              </a:rPr>
              <a:t> These are internet-based software that are used to disrupt a network, to gain access to a system, to steal sensitive data or cause damage to software present in the system.</a:t>
            </a:r>
          </a:p>
          <a:p>
            <a:r>
              <a:rPr lang="en-US" sz="2800" b="1" dirty="0">
                <a:solidFill>
                  <a:schemeClr val="accent1">
                    <a:lumMod val="75000"/>
                  </a:schemeClr>
                </a:solidFill>
                <a:latin typeface="Century Schoolbook" panose="02040604050505020304" pitchFamily="18" charset="0"/>
              </a:rPr>
              <a:t>7. </a:t>
            </a:r>
            <a:r>
              <a:rPr lang="en-US" sz="2800" b="1" u="sng" dirty="0">
                <a:solidFill>
                  <a:schemeClr val="accent1">
                    <a:lumMod val="75000"/>
                  </a:schemeClr>
                </a:solidFill>
                <a:latin typeface="Century Schoolbook" panose="02040604050505020304" pitchFamily="18" charset="0"/>
              </a:rPr>
              <a:t>Child Abuse</a:t>
            </a:r>
            <a:r>
              <a:rPr lang="en-US" sz="2800" b="1" dirty="0">
                <a:solidFill>
                  <a:schemeClr val="accent1">
                    <a:lumMod val="75000"/>
                  </a:schemeClr>
                </a:solidFill>
                <a:latin typeface="Century Schoolbook" panose="02040604050505020304" pitchFamily="18" charset="0"/>
              </a:rPr>
              <a:t> : - </a:t>
            </a:r>
            <a:r>
              <a:rPr lang="en-US" sz="2400" b="1" dirty="0">
                <a:latin typeface="Century Schoolbook" panose="02040604050505020304" pitchFamily="18" charset="0"/>
              </a:rPr>
              <a:t>In this, criminals solicit minors via chat rooms for the purpose of child pornography. The people who are sexually attracted to children are called "Pedophile" who force minors to engage in sexual activities.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5036150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5DB70-D9B4-23EA-55C7-6C7F1A8537D0}"/>
              </a:ext>
            </a:extLst>
          </p:cNvPr>
          <p:cNvSpPr>
            <a:spLocks noGrp="1"/>
          </p:cNvSpPr>
          <p:nvPr>
            <p:ph type="title"/>
          </p:nvPr>
        </p:nvSpPr>
        <p:spPr>
          <a:xfrm>
            <a:off x="0" y="-111760"/>
            <a:ext cx="8890000" cy="816638"/>
          </a:xfrm>
        </p:spPr>
        <p:txBody>
          <a:bodyPr>
            <a:normAutofit/>
          </a:bodyPr>
          <a:lstStyle/>
          <a:p>
            <a:pPr marL="571500" indent="-571500">
              <a:buFont typeface="Wingdings" panose="05000000000000000000" pitchFamily="2" charset="2"/>
              <a:buChar char="v"/>
            </a:pPr>
            <a:r>
              <a:rPr lang="en-US" u="sng" dirty="0">
                <a:latin typeface="Algerian" panose="04020705040A02060702" pitchFamily="82" charset="0"/>
              </a:rPr>
              <a:t>Types of cyber criminals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4A38D940-42EF-5D93-923B-DE1CB9B5D4A8}"/>
              </a:ext>
            </a:extLst>
          </p:cNvPr>
          <p:cNvSpPr>
            <a:spLocks noGrp="1"/>
          </p:cNvSpPr>
          <p:nvPr>
            <p:ph type="body" idx="1"/>
          </p:nvPr>
        </p:nvSpPr>
        <p:spPr>
          <a:xfrm>
            <a:off x="0" y="518160"/>
            <a:ext cx="10078720" cy="6339840"/>
          </a:xfrm>
        </p:spPr>
        <p:txBody>
          <a:bodyPr>
            <a:normAutofit lnSpcReduction="10000"/>
          </a:bodyPr>
          <a:lstStyle/>
          <a:p>
            <a:r>
              <a:rPr lang="en-US" sz="3000" b="1" dirty="0">
                <a:solidFill>
                  <a:schemeClr val="accent1">
                    <a:lumMod val="75000"/>
                  </a:schemeClr>
                </a:solidFill>
                <a:latin typeface="Century Schoolbook" panose="02040604050505020304" pitchFamily="18" charset="0"/>
              </a:rPr>
              <a:t>1. Hungry for Recognition : - </a:t>
            </a:r>
          </a:p>
          <a:p>
            <a:pPr marL="342900" indent="-342900">
              <a:buFontTx/>
              <a:buChar char="-"/>
            </a:pPr>
            <a:r>
              <a:rPr lang="en-US" sz="2200" b="1" dirty="0">
                <a:latin typeface="Century Schoolbook" panose="02040604050505020304" pitchFamily="18" charset="0"/>
              </a:rPr>
              <a:t>Hobby Hackers.</a:t>
            </a:r>
          </a:p>
          <a:p>
            <a:pPr marL="342900" indent="-342900">
              <a:buFontTx/>
              <a:buChar char="-"/>
            </a:pPr>
            <a:r>
              <a:rPr lang="en-US" sz="2200" b="1" dirty="0">
                <a:latin typeface="Century Schoolbook" panose="02040604050505020304" pitchFamily="18" charset="0"/>
              </a:rPr>
              <a:t>IT Professionals.</a:t>
            </a:r>
          </a:p>
          <a:p>
            <a:pPr marL="342900" indent="-342900">
              <a:buFontTx/>
              <a:buChar char="-"/>
            </a:pPr>
            <a:r>
              <a:rPr lang="en-US" sz="2200" b="1" dirty="0">
                <a:latin typeface="Century Schoolbook" panose="02040604050505020304" pitchFamily="18" charset="0"/>
              </a:rPr>
              <a:t>Politically motivated Hackens.</a:t>
            </a:r>
          </a:p>
          <a:p>
            <a:pPr marL="342900" indent="-342900">
              <a:buFontTx/>
              <a:buChar char="-"/>
            </a:pPr>
            <a:r>
              <a:rPr lang="en-US" sz="2200" b="1" dirty="0">
                <a:latin typeface="Century Schoolbook" panose="02040604050505020304" pitchFamily="18" charset="0"/>
              </a:rPr>
              <a:t>Terrorist organizations.</a:t>
            </a:r>
          </a:p>
          <a:p>
            <a:r>
              <a:rPr lang="en-US" sz="3000" b="1" dirty="0">
                <a:solidFill>
                  <a:schemeClr val="accent1">
                    <a:lumMod val="75000"/>
                  </a:schemeClr>
                </a:solidFill>
                <a:latin typeface="Century Schoolbook" panose="02040604050505020304" pitchFamily="18" charset="0"/>
              </a:rPr>
              <a:t>2. Not interested in Recognition : - </a:t>
            </a:r>
          </a:p>
          <a:p>
            <a:pPr marL="342900" indent="-342900">
              <a:buFontTx/>
              <a:buChar char="-"/>
            </a:pPr>
            <a:r>
              <a:rPr lang="en-US" sz="2200" b="1" dirty="0">
                <a:latin typeface="Century Schoolbook" panose="02040604050505020304" pitchFamily="18" charset="0"/>
              </a:rPr>
              <a:t>Psychological spoiled.</a:t>
            </a:r>
          </a:p>
          <a:p>
            <a:pPr marL="342900" indent="-342900">
              <a:buFontTx/>
              <a:buChar char="-"/>
            </a:pPr>
            <a:r>
              <a:rPr lang="en-US" sz="2200" b="1" dirty="0">
                <a:latin typeface="Century Schoolbook" panose="02040604050505020304" pitchFamily="18" charset="0"/>
              </a:rPr>
              <a:t>Financially motivated Hackers </a:t>
            </a:r>
          </a:p>
          <a:p>
            <a:pPr marL="342900" indent="-342900">
              <a:buFontTx/>
              <a:buChar char="-"/>
            </a:pPr>
            <a:r>
              <a:rPr lang="en-US" sz="2200" b="1" dirty="0">
                <a:latin typeface="Century Schoolbook" panose="02040604050505020304" pitchFamily="18" charset="0"/>
              </a:rPr>
              <a:t>State-sponsored hacking</a:t>
            </a:r>
          </a:p>
          <a:p>
            <a:pPr marL="342900" indent="-342900">
              <a:buFontTx/>
              <a:buChar char="-"/>
            </a:pPr>
            <a:r>
              <a:rPr lang="en-US" sz="2200" b="1" dirty="0">
                <a:latin typeface="Century Schoolbook" panose="02040604050505020304" pitchFamily="18" charset="0"/>
              </a:rPr>
              <a:t>Organized Criminals.</a:t>
            </a:r>
          </a:p>
          <a:p>
            <a:r>
              <a:rPr lang="en-US" sz="3000" b="1" dirty="0">
                <a:solidFill>
                  <a:schemeClr val="accent1">
                    <a:lumMod val="75000"/>
                  </a:schemeClr>
                </a:solidFill>
                <a:latin typeface="Century Schoolbook" panose="02040604050505020304" pitchFamily="18" charset="0"/>
              </a:rPr>
              <a:t>3. The Insiders : - </a:t>
            </a:r>
          </a:p>
          <a:p>
            <a:pPr marL="342900" indent="-342900">
              <a:buFontTx/>
              <a:buChar char="-"/>
            </a:pPr>
            <a:r>
              <a:rPr lang="en-US" sz="2200" b="1" dirty="0">
                <a:latin typeface="Century Schoolbook" panose="02040604050505020304" pitchFamily="18" charset="0"/>
              </a:rPr>
              <a:t>Disgruntled or former employees seeking revenge.</a:t>
            </a:r>
          </a:p>
          <a:p>
            <a:pPr marL="342900" indent="-342900">
              <a:buFontTx/>
              <a:buChar char="-"/>
            </a:pPr>
            <a:r>
              <a:rPr lang="en-US" sz="2200" b="1" dirty="0">
                <a:latin typeface="Century Schoolbook" panose="02040604050505020304" pitchFamily="18" charset="0"/>
              </a:rPr>
              <a:t>Competing companies using employees to gain economic advantage through damage/theft.</a:t>
            </a:r>
            <a:endParaRPr lang="en-IN" sz="2200" b="1" dirty="0">
              <a:latin typeface="Century Schoolbook" panose="02040604050505020304" pitchFamily="18" charset="0"/>
            </a:endParaRPr>
          </a:p>
        </p:txBody>
      </p:sp>
    </p:spTree>
    <p:extLst>
      <p:ext uri="{BB962C8B-B14F-4D97-AF65-F5344CB8AC3E}">
        <p14:creationId xmlns:p14="http://schemas.microsoft.com/office/powerpoint/2010/main" val="23477282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5A05D-DB47-A7A3-D252-7D1366EC02A9}"/>
              </a:ext>
            </a:extLst>
          </p:cNvPr>
          <p:cNvSpPr>
            <a:spLocks noGrp="1"/>
          </p:cNvSpPr>
          <p:nvPr>
            <p:ph type="title"/>
          </p:nvPr>
        </p:nvSpPr>
        <p:spPr>
          <a:xfrm>
            <a:off x="27095" y="-106680"/>
            <a:ext cx="8596668" cy="791238"/>
          </a:xfrm>
        </p:spPr>
        <p:txBody>
          <a:bodyPr/>
          <a:lstStyle/>
          <a:p>
            <a:r>
              <a:rPr lang="en-US" dirty="0">
                <a:latin typeface="Algerian" panose="04020705040A02060702" pitchFamily="82" charset="0"/>
              </a:rPr>
              <a:t>5.6] </a:t>
            </a:r>
            <a:r>
              <a:rPr lang="en-US" u="sng" dirty="0">
                <a:latin typeface="Algerian" panose="04020705040A02060702" pitchFamily="82" charset="0"/>
              </a:rPr>
              <a:t>cyber terrorism</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E242B17D-7205-D013-C265-FFE003B7987B}"/>
              </a:ext>
            </a:extLst>
          </p:cNvPr>
          <p:cNvSpPr>
            <a:spLocks noGrp="1"/>
          </p:cNvSpPr>
          <p:nvPr>
            <p:ph type="body" idx="1"/>
          </p:nvPr>
        </p:nvSpPr>
        <p:spPr>
          <a:xfrm>
            <a:off x="0" y="430558"/>
            <a:ext cx="9652000" cy="6254722"/>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Cyberterrorism is the premeditated, politically motivated attack against information, computer systems, computer programs and data which results in violence against non-combatant targets by sub national groups.</a:t>
            </a:r>
          </a:p>
          <a:p>
            <a:pPr marL="342900" indent="-342900">
              <a:buFont typeface="Wingdings" panose="05000000000000000000" pitchFamily="2" charset="2"/>
              <a:buChar char="Ø"/>
            </a:pPr>
            <a:r>
              <a:rPr lang="en-US" sz="2400" b="1" dirty="0">
                <a:latin typeface="Century Schoolbook" panose="02040604050505020304" pitchFamily="18" charset="0"/>
              </a:rPr>
              <a:t>Cyberterrorism is "any person, group or organization who with terrorist intent, utilizes, accesses or aids in accessing a computer, network, electronic system or device by any available means and thereby knowingly engages in a terrorist act.</a:t>
            </a:r>
          </a:p>
          <a:p>
            <a:pPr marL="342900" indent="-342900">
              <a:buFont typeface="Wingdings" panose="05000000000000000000" pitchFamily="2" charset="2"/>
              <a:buChar char="Ø"/>
            </a:pPr>
            <a:r>
              <a:rPr lang="en-US" sz="2800" b="1" u="sng" dirty="0">
                <a:solidFill>
                  <a:schemeClr val="accent1">
                    <a:lumMod val="75000"/>
                  </a:schemeClr>
                </a:solidFill>
                <a:latin typeface="Century Schoolbook" panose="02040604050505020304" pitchFamily="18" charset="0"/>
              </a:rPr>
              <a:t>Types of cyber terrorism</a:t>
            </a:r>
            <a:r>
              <a:rPr lang="en-US" sz="2800" b="1" dirty="0">
                <a:solidFill>
                  <a:schemeClr val="accent1">
                    <a:lumMod val="75000"/>
                  </a:schemeClr>
                </a:solidFill>
                <a:latin typeface="Century Schoolbook" panose="02040604050505020304" pitchFamily="18" charset="0"/>
              </a:rPr>
              <a:t> : -</a:t>
            </a:r>
            <a:endParaRPr lang="en-US" sz="2400" b="1" dirty="0">
              <a:solidFill>
                <a:schemeClr val="accent1">
                  <a:lumMod val="75000"/>
                </a:schemeClr>
              </a:solidFill>
              <a:latin typeface="Century Schoolbook" panose="02040604050505020304" pitchFamily="18" charset="0"/>
            </a:endParaRPr>
          </a:p>
          <a:p>
            <a:r>
              <a:rPr lang="en-US" sz="2400" b="1" dirty="0">
                <a:latin typeface="Century Schoolbook" panose="02040604050505020304" pitchFamily="18" charset="0"/>
              </a:rPr>
              <a:t>1. State-sponsored group.</a:t>
            </a:r>
          </a:p>
          <a:p>
            <a:r>
              <a:rPr lang="en-US" sz="2400" b="1" dirty="0">
                <a:latin typeface="Century Schoolbook" panose="02040604050505020304" pitchFamily="18" charset="0"/>
              </a:rPr>
              <a:t>2. </a:t>
            </a:r>
            <a:r>
              <a:rPr lang="en-US" sz="2400" b="1" dirty="0" err="1">
                <a:latin typeface="Century Schoolbook" panose="02040604050505020304" pitchFamily="18" charset="0"/>
              </a:rPr>
              <a:t>Hactivist</a:t>
            </a:r>
            <a:r>
              <a:rPr lang="en-US" sz="2400" b="1" dirty="0">
                <a:latin typeface="Century Schoolbook" panose="02040604050505020304" pitchFamily="18" charset="0"/>
              </a:rPr>
              <a:t> group.</a:t>
            </a:r>
          </a:p>
          <a:p>
            <a:r>
              <a:rPr lang="en-US" sz="2400" b="1" dirty="0">
                <a:latin typeface="Century Schoolbook" panose="02040604050505020304" pitchFamily="18" charset="0"/>
              </a:rPr>
              <a:t>3. Independent actors.</a:t>
            </a:r>
          </a:p>
          <a:p>
            <a:r>
              <a:rPr lang="en-US" sz="2400" b="1" dirty="0">
                <a:latin typeface="Century Schoolbook" panose="02040604050505020304" pitchFamily="18" charset="0"/>
              </a:rPr>
              <a:t>4. Small Groups.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7636580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264DA-5B9B-F660-7EF1-9690D671CFF9}"/>
              </a:ext>
            </a:extLst>
          </p:cNvPr>
          <p:cNvSpPr>
            <a:spLocks noGrp="1"/>
          </p:cNvSpPr>
          <p:nvPr>
            <p:ph type="title"/>
          </p:nvPr>
        </p:nvSpPr>
        <p:spPr>
          <a:xfrm>
            <a:off x="0" y="-90819"/>
            <a:ext cx="9133840" cy="791238"/>
          </a:xfrm>
        </p:spPr>
        <p:txBody>
          <a:bodyPr/>
          <a:lstStyle/>
          <a:p>
            <a:pPr marL="571500" indent="-571500">
              <a:buFont typeface="Wingdings" panose="05000000000000000000" pitchFamily="2" charset="2"/>
              <a:buChar char="v"/>
            </a:pPr>
            <a:r>
              <a:rPr lang="en-US" u="sng" dirty="0">
                <a:latin typeface="Algerian" panose="04020705040A02060702" pitchFamily="82" charset="0"/>
              </a:rPr>
              <a:t>Cyber laws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E884AF9B-77BE-F814-FFBB-82FB5A05A033}"/>
              </a:ext>
            </a:extLst>
          </p:cNvPr>
          <p:cNvSpPr>
            <a:spLocks noGrp="1"/>
          </p:cNvSpPr>
          <p:nvPr>
            <p:ph type="body" idx="1"/>
          </p:nvPr>
        </p:nvSpPr>
        <p:spPr>
          <a:xfrm>
            <a:off x="0" y="479439"/>
            <a:ext cx="9652000" cy="6041362"/>
          </a:xfrm>
        </p:spPr>
        <p:txBody>
          <a:bodyPr>
            <a:normAutofit lnSpcReduction="10000"/>
          </a:bodyPr>
          <a:lstStyle/>
          <a:p>
            <a:pPr marL="342900" indent="-342900">
              <a:buFont typeface="Wingdings" panose="05000000000000000000" pitchFamily="2" charset="2"/>
              <a:buChar char="Ø"/>
            </a:pPr>
            <a:r>
              <a:rPr lang="en-US" sz="2400" b="1" dirty="0">
                <a:latin typeface="Century Schoolbook" panose="02040604050505020304" pitchFamily="18" charset="0"/>
              </a:rPr>
              <a:t>Cyber Law is a law governing cyber space.</a:t>
            </a:r>
          </a:p>
          <a:p>
            <a:pPr marL="342900" indent="-342900">
              <a:buFont typeface="Wingdings" panose="05000000000000000000" pitchFamily="2" charset="2"/>
              <a:buChar char="Ø"/>
            </a:pPr>
            <a:r>
              <a:rPr lang="en-US" sz="2400" b="1" dirty="0">
                <a:latin typeface="Century Schoolbook" panose="02040604050505020304" pitchFamily="18" charset="0"/>
              </a:rPr>
              <a:t>Low encompasses the rules of conduct : </a:t>
            </a:r>
          </a:p>
          <a:p>
            <a:pPr marL="457200" indent="-457200">
              <a:buAutoNum type="arabicPeriod"/>
            </a:pPr>
            <a:r>
              <a:rPr lang="en-US" sz="2400" b="1" dirty="0">
                <a:latin typeface="Century Schoolbook" panose="02040604050505020304" pitchFamily="18" charset="0"/>
              </a:rPr>
              <a:t>That have been approved by the government. </a:t>
            </a:r>
          </a:p>
          <a:p>
            <a:pPr marL="457200" indent="-457200">
              <a:buAutoNum type="arabicPeriod"/>
            </a:pPr>
            <a:r>
              <a:rPr lang="en-US" sz="2400" b="1" dirty="0">
                <a:latin typeface="Century Schoolbook" panose="02040604050505020304" pitchFamily="18" charset="0"/>
              </a:rPr>
              <a:t>Which are in force over a certain territory.</a:t>
            </a:r>
          </a:p>
          <a:p>
            <a:pPr marL="457200" indent="-457200">
              <a:buAutoNum type="arabicPeriod"/>
            </a:pPr>
            <a:r>
              <a:rPr lang="en-US" sz="2400" b="1" dirty="0">
                <a:latin typeface="Century Schoolbook" panose="02040604050505020304" pitchFamily="18" charset="0"/>
              </a:rPr>
              <a:t>Which must be obeyed by all persons on that territory.</a:t>
            </a:r>
          </a:p>
          <a:p>
            <a:pPr marL="342900" indent="-342900">
              <a:buFont typeface="Wingdings" panose="05000000000000000000" pitchFamily="2" charset="2"/>
              <a:buChar char="Ø"/>
            </a:pPr>
            <a:r>
              <a:rPr lang="en-US" sz="2400" b="1" dirty="0" err="1">
                <a:latin typeface="Century Schoolbook" panose="02040604050505020304" pitchFamily="18" charset="0"/>
              </a:rPr>
              <a:t>Violatation</a:t>
            </a:r>
            <a:r>
              <a:rPr lang="en-US" sz="2400" b="1" dirty="0">
                <a:latin typeface="Century Schoolbook" panose="02040604050505020304" pitchFamily="18" charset="0"/>
              </a:rPr>
              <a:t> of these rules could lead to government action such as imprisonment or fine or an order to pay compensation.</a:t>
            </a:r>
          </a:p>
          <a:p>
            <a:pPr marL="342900" indent="-342900">
              <a:buFont typeface="Wingdings" panose="05000000000000000000" pitchFamily="2" charset="2"/>
              <a:buChar char="Ø"/>
            </a:pPr>
            <a:r>
              <a:rPr lang="en-US" sz="2400" b="1" dirty="0">
                <a:latin typeface="Century Schoolbook" panose="02040604050505020304" pitchFamily="18" charset="0"/>
              </a:rPr>
              <a:t>Cyber law encompasses laws relating to : </a:t>
            </a:r>
          </a:p>
          <a:p>
            <a:pPr marL="457200" indent="-457200">
              <a:buAutoNum type="arabicPeriod"/>
            </a:pPr>
            <a:r>
              <a:rPr lang="en-US" sz="2400" b="1" dirty="0">
                <a:latin typeface="Century Schoolbook" panose="02040604050505020304" pitchFamily="18" charset="0"/>
              </a:rPr>
              <a:t>Cyber crimes.</a:t>
            </a:r>
          </a:p>
          <a:p>
            <a:pPr marL="457200" indent="-457200">
              <a:buAutoNum type="arabicPeriod"/>
            </a:pPr>
            <a:r>
              <a:rPr lang="en-US" sz="2400" b="1" dirty="0">
                <a:latin typeface="Century Schoolbook" panose="02040604050505020304" pitchFamily="18" charset="0"/>
              </a:rPr>
              <a:t>Electronic &amp; Digital signature.</a:t>
            </a:r>
          </a:p>
          <a:p>
            <a:pPr marL="457200" indent="-457200">
              <a:buAutoNum type="arabicPeriod"/>
            </a:pPr>
            <a:r>
              <a:rPr lang="en-US" sz="2400" b="1" dirty="0">
                <a:latin typeface="Century Schoolbook" panose="02040604050505020304" pitchFamily="18" charset="0"/>
              </a:rPr>
              <a:t>Intellectual Property.</a:t>
            </a:r>
          </a:p>
          <a:p>
            <a:pPr marL="457200" indent="-457200">
              <a:buAutoNum type="arabicPeriod"/>
            </a:pPr>
            <a:r>
              <a:rPr lang="en-US" sz="2400" b="1" dirty="0">
                <a:latin typeface="Century Schoolbook" panose="02040604050505020304" pitchFamily="18" charset="0"/>
              </a:rPr>
              <a:t>Data Protection and Privacy.</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6482090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2E777-4C91-24B6-A81D-89CAC744A7E6}"/>
              </a:ext>
            </a:extLst>
          </p:cNvPr>
          <p:cNvSpPr>
            <a:spLocks noGrp="1"/>
          </p:cNvSpPr>
          <p:nvPr>
            <p:ph type="title"/>
          </p:nvPr>
        </p:nvSpPr>
        <p:spPr>
          <a:xfrm>
            <a:off x="0" y="-120678"/>
            <a:ext cx="9723120" cy="791238"/>
          </a:xfrm>
        </p:spPr>
        <p:txBody>
          <a:bodyPr/>
          <a:lstStyle/>
          <a:p>
            <a:pPr marL="571500" indent="-571500">
              <a:buFont typeface="Wingdings" panose="05000000000000000000" pitchFamily="2" charset="2"/>
              <a:buChar char="v"/>
            </a:pPr>
            <a:r>
              <a:rPr lang="en-US" u="sng" dirty="0">
                <a:latin typeface="Algerian" panose="04020705040A02060702" pitchFamily="82" charset="0"/>
              </a:rPr>
              <a:t>Cyber </a:t>
            </a:r>
            <a:r>
              <a:rPr lang="en-US" u="sng" dirty="0" err="1">
                <a:latin typeface="Algerian" panose="04020705040A02060702" pitchFamily="82" charset="0"/>
              </a:rPr>
              <a:t>delhi</a:t>
            </a:r>
            <a:r>
              <a:rPr lang="en-US" u="sng" dirty="0">
                <a:latin typeface="Algerian" panose="04020705040A02060702" pitchFamily="82" charset="0"/>
              </a:rPr>
              <a:t> </a:t>
            </a:r>
            <a:r>
              <a:rPr lang="en-US" u="sng" dirty="0" err="1">
                <a:latin typeface="Algerian" panose="04020705040A02060702" pitchFamily="82" charset="0"/>
              </a:rPr>
              <a:t>jon</a:t>
            </a:r>
            <a:r>
              <a:rPr lang="en-US" u="sng" dirty="0">
                <a:latin typeface="Algerian" panose="04020705040A02060702" pitchFamily="82" charset="0"/>
              </a:rPr>
              <a:t> cyber laws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14FA0CFD-4212-7389-B7A6-84AC30110ADC}"/>
              </a:ext>
            </a:extLst>
          </p:cNvPr>
          <p:cNvSpPr>
            <a:spLocks noGrp="1"/>
          </p:cNvSpPr>
          <p:nvPr>
            <p:ph type="body" idx="1"/>
          </p:nvPr>
        </p:nvSpPr>
        <p:spPr>
          <a:xfrm>
            <a:off x="0" y="447040"/>
            <a:ext cx="9834880" cy="4531360"/>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Cyber laws in Delhi are governed by the national frame- work under the "Information Technology (IT) Act, 2000".</a:t>
            </a:r>
          </a:p>
          <a:p>
            <a:pPr marL="342900" indent="-342900">
              <a:buFont typeface="Wingdings" panose="05000000000000000000" pitchFamily="2" charset="2"/>
              <a:buChar char="Ø"/>
            </a:pPr>
            <a:r>
              <a:rPr lang="en-US" sz="2400" b="1" dirty="0">
                <a:latin typeface="Century Schoolbook" panose="02040604050505020304" pitchFamily="18" charset="0"/>
              </a:rPr>
              <a:t>This law provides legal recognition to electronic documents, transactions and issues related to cybercrimes.</a:t>
            </a:r>
          </a:p>
          <a:p>
            <a:pPr marL="342900" indent="-342900">
              <a:buFont typeface="Wingdings" panose="05000000000000000000" pitchFamily="2" charset="2"/>
              <a:buChar char="Ø"/>
            </a:pPr>
            <a:r>
              <a:rPr lang="en-US" sz="2400" b="1" dirty="0">
                <a:latin typeface="Century Schoolbook" panose="02040604050505020304" pitchFamily="18" charset="0"/>
              </a:rPr>
              <a:t>The IT Act is the primary law dealing with cybercrimes and e-commerce in India.</a:t>
            </a:r>
          </a:p>
          <a:p>
            <a:pPr marL="342900" indent="-342900">
              <a:buFont typeface="Wingdings" panose="05000000000000000000" pitchFamily="2" charset="2"/>
              <a:buChar char="Ø"/>
            </a:pPr>
            <a:r>
              <a:rPr lang="en-US" sz="2400" b="1" dirty="0">
                <a:latin typeface="Century Schoolbook" panose="02040604050505020304" pitchFamily="18" charset="0"/>
              </a:rPr>
              <a:t>Amendments to the IT Act in 2008 expanded its scope to include more cybercrimes like cyberterrorism, identity theft and child pornography.</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1385985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CC9D1-7F60-94B9-0C72-787E2585AD91}"/>
              </a:ext>
            </a:extLst>
          </p:cNvPr>
          <p:cNvSpPr>
            <a:spLocks noGrp="1"/>
          </p:cNvSpPr>
          <p:nvPr>
            <p:ph type="title"/>
          </p:nvPr>
        </p:nvSpPr>
        <p:spPr>
          <a:xfrm>
            <a:off x="0" y="-76200"/>
            <a:ext cx="10576560" cy="791238"/>
          </a:xfrm>
        </p:spPr>
        <p:txBody>
          <a:bodyPr>
            <a:normAutofit/>
          </a:bodyPr>
          <a:lstStyle/>
          <a:p>
            <a:pPr marL="571500" indent="-571500">
              <a:buFont typeface="Wingdings" panose="05000000000000000000" pitchFamily="2" charset="2"/>
              <a:buChar char="v"/>
            </a:pPr>
            <a:r>
              <a:rPr lang="en-US" u="sng" dirty="0">
                <a:latin typeface="Algerian" panose="04020705040A02060702" pitchFamily="82" charset="0"/>
              </a:rPr>
              <a:t>Need of cyber law</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8675460A-A538-3582-2520-7352030D38FE}"/>
              </a:ext>
            </a:extLst>
          </p:cNvPr>
          <p:cNvSpPr>
            <a:spLocks noGrp="1"/>
          </p:cNvSpPr>
          <p:nvPr>
            <p:ph type="body" idx="1"/>
          </p:nvPr>
        </p:nvSpPr>
        <p:spPr>
          <a:xfrm>
            <a:off x="0" y="447040"/>
            <a:ext cx="9550400" cy="3820160"/>
          </a:xfrm>
        </p:spPr>
        <p:txBody>
          <a:bodyPr>
            <a:normAutofit/>
          </a:bodyPr>
          <a:lstStyle/>
          <a:p>
            <a:r>
              <a:rPr lang="en-US" sz="2400" b="1" dirty="0">
                <a:latin typeface="Century Schoolbook" panose="02040604050505020304" pitchFamily="18" charset="0"/>
              </a:rPr>
              <a:t>1. Cyberspace is an </a:t>
            </a:r>
            <a:r>
              <a:rPr lang="en-US" sz="2400" b="1" dirty="0" err="1">
                <a:latin typeface="Century Schoolbook" panose="02040604050505020304" pitchFamily="18" charset="0"/>
              </a:rPr>
              <a:t>intagible</a:t>
            </a:r>
            <a:r>
              <a:rPr lang="en-US" sz="2400" b="1" dirty="0">
                <a:latin typeface="Century Schoolbook" panose="02040604050505020304" pitchFamily="18" charset="0"/>
              </a:rPr>
              <a:t> dimension that is impossible to govern and regulate using conventional law.</a:t>
            </a:r>
          </a:p>
          <a:p>
            <a:r>
              <a:rPr lang="en-US" sz="2400" b="1" dirty="0">
                <a:latin typeface="Century Schoolbook" panose="02040604050505020304" pitchFamily="18" charset="0"/>
              </a:rPr>
              <a:t>2. cyberspace has complete disrespect for </a:t>
            </a:r>
            <a:r>
              <a:rPr lang="en-US" sz="2400" b="1" dirty="0" err="1">
                <a:latin typeface="Century Schoolbook" panose="02040604050505020304" pitchFamily="18" charset="0"/>
              </a:rPr>
              <a:t>judis</a:t>
            </a:r>
            <a:r>
              <a:rPr lang="en-US" sz="2400" b="1" dirty="0">
                <a:latin typeface="Century Schoolbook" panose="02040604050505020304" pitchFamily="18" charset="0"/>
              </a:rPr>
              <a:t> dictional boundaries.</a:t>
            </a:r>
          </a:p>
          <a:p>
            <a:r>
              <a:rPr lang="en-US" sz="2400" b="1" dirty="0">
                <a:latin typeface="Century Schoolbook" panose="02040604050505020304" pitchFamily="18" charset="0"/>
              </a:rPr>
              <a:t>3. Cyberspace is absolutely open to participation by all old minors.</a:t>
            </a:r>
          </a:p>
          <a:p>
            <a:r>
              <a:rPr lang="en-US" sz="2400" b="1" dirty="0">
                <a:latin typeface="Century Schoolbook" panose="02040604050505020304" pitchFamily="18" charset="0"/>
              </a:rPr>
              <a:t>4. Cyberspace offers enormous potential for anonymity to its age to members.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53440038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1587</TotalTime>
  <Words>2661</Words>
  <Application>Microsoft Office PowerPoint</Application>
  <PresentationFormat>Widescreen</PresentationFormat>
  <Paragraphs>188</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Algerian</vt:lpstr>
      <vt:lpstr>Arial</vt:lpstr>
      <vt:lpstr>Century Schoolbook</vt:lpstr>
      <vt:lpstr>Trebuchet MS</vt:lpstr>
      <vt:lpstr>Wingdings</vt:lpstr>
      <vt:lpstr>Wingdings 3</vt:lpstr>
      <vt:lpstr>Facet</vt:lpstr>
      <vt:lpstr>05. Network security cyber laws &amp; compliance standard</vt:lpstr>
      <vt:lpstr>5.1] Kerberos : -</vt:lpstr>
      <vt:lpstr>Working of Kerberos : - </vt:lpstr>
      <vt:lpstr>Kerberos terminology : -</vt:lpstr>
      <vt:lpstr>5.2] ip security : -</vt:lpstr>
      <vt:lpstr>Ipsec uses two protocols for message security : - 1. Authentication Header (AH) Protocol. 2. Encapsulating Security Payload (ESP) Protocol.</vt:lpstr>
      <vt:lpstr>Ipsec has two modes of operation : - 1. Transport Mode. 2. Tunnel Mode.</vt:lpstr>
      <vt:lpstr>2. Tunnel mode : -</vt:lpstr>
      <vt:lpstr>5.3] email security : -</vt:lpstr>
      <vt:lpstr>1. Smtp : -</vt:lpstr>
      <vt:lpstr>Working on SMTP : -</vt:lpstr>
      <vt:lpstr>2. Pem : - </vt:lpstr>
      <vt:lpstr>3. Pgp : -</vt:lpstr>
      <vt:lpstr>5.4] public key infrastructure : -</vt:lpstr>
      <vt:lpstr>Certificate : -</vt:lpstr>
      <vt:lpstr>Certification authority : -</vt:lpstr>
      <vt:lpstr>Registration authority : -</vt:lpstr>
      <vt:lpstr>X.509/pkix certificate format : -</vt:lpstr>
      <vt:lpstr>The certificate includes the elements given below : -</vt:lpstr>
      <vt:lpstr>5.5] cyber crime : -</vt:lpstr>
      <vt:lpstr>Cyber crime involves such activities like : -</vt:lpstr>
      <vt:lpstr>Types of cyber crimes : -</vt:lpstr>
      <vt:lpstr>PowerPoint Presentation</vt:lpstr>
      <vt:lpstr>Types of cyber criminals : -</vt:lpstr>
      <vt:lpstr>5.6] cyber terrorism : -</vt:lpstr>
      <vt:lpstr>Cyber laws : -</vt:lpstr>
      <vt:lpstr>Cyber delhi jon cyber laws : -</vt:lpstr>
      <vt:lpstr>Need of cyber law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2</cp:revision>
  <dcterms:created xsi:type="dcterms:W3CDTF">2025-10-17T07:32:34Z</dcterms:created>
  <dcterms:modified xsi:type="dcterms:W3CDTF">2025-10-31T19:43:13Z</dcterms:modified>
</cp:coreProperties>
</file>