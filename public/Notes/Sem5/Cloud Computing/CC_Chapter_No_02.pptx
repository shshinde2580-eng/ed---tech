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332E3A-A93E-4C97-ADBF-A845F2D6C27B}" v="19" dt="2025-10-12T08:20:54.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0801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2005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3578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5936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557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47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9998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8071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Tree>
    <p:extLst>
      <p:ext uri="{BB962C8B-B14F-4D97-AF65-F5344CB8AC3E}">
        <p14:creationId xmlns:p14="http://schemas.microsoft.com/office/powerpoint/2010/main" val="198454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2180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1167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9436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6030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4831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1765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531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626298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0624-D855-393C-7D3F-513962825FBF}"/>
              </a:ext>
            </a:extLst>
          </p:cNvPr>
          <p:cNvSpPr>
            <a:spLocks noGrp="1"/>
          </p:cNvSpPr>
          <p:nvPr>
            <p:ph type="ctrTitle"/>
          </p:nvPr>
        </p:nvSpPr>
        <p:spPr>
          <a:xfrm>
            <a:off x="560439" y="2404531"/>
            <a:ext cx="9153832" cy="1646302"/>
          </a:xfrm>
        </p:spPr>
        <p:txBody>
          <a:bodyPr/>
          <a:lstStyle/>
          <a:p>
            <a:pPr algn="ctr"/>
            <a:r>
              <a:rPr lang="en-US" sz="7200" dirty="0">
                <a:latin typeface="Algerian" panose="04020705040A02060702" pitchFamily="82" charset="0"/>
              </a:rPr>
              <a:t>02. virtualization</a:t>
            </a:r>
            <a:endParaRPr lang="en-IN" sz="7200" dirty="0">
              <a:latin typeface="Algerian" panose="04020705040A02060702" pitchFamily="82" charset="0"/>
            </a:endParaRPr>
          </a:p>
        </p:txBody>
      </p:sp>
      <p:sp>
        <p:nvSpPr>
          <p:cNvPr id="3" name="Subtitle 2">
            <a:extLst>
              <a:ext uri="{FF2B5EF4-FFF2-40B4-BE49-F238E27FC236}">
                <a16:creationId xmlns:a16="http://schemas.microsoft.com/office/drawing/2014/main" id="{6BE32766-AC30-917D-BE1D-9EAB12575F7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1323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5D0C-8771-DB97-73D4-961A0578C692}"/>
              </a:ext>
            </a:extLst>
          </p:cNvPr>
          <p:cNvSpPr>
            <a:spLocks noGrp="1"/>
          </p:cNvSpPr>
          <p:nvPr>
            <p:ph type="title"/>
          </p:nvPr>
        </p:nvSpPr>
        <p:spPr>
          <a:xfrm>
            <a:off x="0" y="-88490"/>
            <a:ext cx="10019072" cy="747252"/>
          </a:xfrm>
        </p:spPr>
        <p:txBody>
          <a:bodyPr>
            <a:noAutofit/>
          </a:bodyPr>
          <a:lstStyle/>
          <a:p>
            <a:r>
              <a:rPr lang="en-US" sz="4000" dirty="0">
                <a:latin typeface="Algerian" panose="04020705040A02060702" pitchFamily="82" charset="0"/>
              </a:rPr>
              <a:t>2.1 </a:t>
            </a:r>
            <a:r>
              <a:rPr lang="en-US" sz="4000" u="sng" dirty="0">
                <a:latin typeface="Algerian" panose="04020705040A02060702" pitchFamily="82" charset="0"/>
              </a:rPr>
              <a:t>introduction of virtualization</a:t>
            </a:r>
            <a:r>
              <a:rPr lang="en-US" sz="4000" dirty="0">
                <a:latin typeface="Algerian" panose="04020705040A02060702" pitchFamily="82" charset="0"/>
              </a:rPr>
              <a:t> : -</a:t>
            </a:r>
            <a:endParaRPr lang="en-IN" sz="4000" dirty="0">
              <a:latin typeface="Algerian" panose="04020705040A02060702" pitchFamily="82" charset="0"/>
            </a:endParaRPr>
          </a:p>
        </p:txBody>
      </p:sp>
      <p:sp>
        <p:nvSpPr>
          <p:cNvPr id="3" name="Text Placeholder 2">
            <a:extLst>
              <a:ext uri="{FF2B5EF4-FFF2-40B4-BE49-F238E27FC236}">
                <a16:creationId xmlns:a16="http://schemas.microsoft.com/office/drawing/2014/main" id="{E94F05A2-0A2E-BF6F-4535-C35D93B831B9}"/>
              </a:ext>
            </a:extLst>
          </p:cNvPr>
          <p:cNvSpPr>
            <a:spLocks noGrp="1"/>
          </p:cNvSpPr>
          <p:nvPr>
            <p:ph type="body" idx="1"/>
          </p:nvPr>
        </p:nvSpPr>
        <p:spPr>
          <a:xfrm>
            <a:off x="0" y="285136"/>
            <a:ext cx="9320981" cy="6199238"/>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A technology that you can use to create                                                                     virtual representations of servers,                                                                        storage, networks and other physical                                                                   machines is called Virtualization.</a:t>
            </a:r>
          </a:p>
          <a:p>
            <a:pPr marL="342900" indent="-342900">
              <a:buFont typeface="Wingdings" panose="05000000000000000000" pitchFamily="2" charset="2"/>
              <a:buChar char="Ø"/>
            </a:pPr>
            <a:r>
              <a:rPr lang="en-US" sz="2000" b="1" dirty="0">
                <a:latin typeface="Century Schoolbook" panose="02040604050505020304" pitchFamily="18" charset="0"/>
              </a:rPr>
              <a:t>Virtual software mimics the functions                                                               of physical hardware to run multiple                                                                virtual machines simultaneously on a                                                                    singles physical machine.</a:t>
            </a:r>
          </a:p>
          <a:p>
            <a:pPr marL="342900" indent="-342900">
              <a:buFont typeface="Wingdings" panose="05000000000000000000" pitchFamily="2" charset="2"/>
              <a:buChar char="Ø"/>
            </a:pPr>
            <a:r>
              <a:rPr lang="en-US" sz="2000" b="1" dirty="0">
                <a:latin typeface="Century Schoolbook" panose="02040604050505020304" pitchFamily="18" charset="0"/>
              </a:rPr>
              <a:t>Virtualization uses a software to create                                                        an abstraction layer over computer                                                      hardware that allows the hardware                                                            elements of a single computer to be                                                           divided into multiple virtual computers, commonly called virtual machines (VMS).</a:t>
            </a:r>
          </a:p>
          <a:p>
            <a:pPr marL="342900" indent="-342900">
              <a:buFont typeface="Wingdings" panose="05000000000000000000" pitchFamily="2" charset="2"/>
              <a:buChar char="Ø"/>
            </a:pPr>
            <a:r>
              <a:rPr lang="en-US" sz="2000" b="1" dirty="0">
                <a:latin typeface="Century Schoolbook" panose="02040604050505020304" pitchFamily="18" charset="0"/>
              </a:rPr>
              <a:t>Each VM runs it's own operating system and behaves like an independent computer, even though it is </a:t>
            </a:r>
            <a:r>
              <a:rPr lang="en-US" sz="2000" b="1" dirty="0" err="1">
                <a:latin typeface="Century Schoolbook" panose="02040604050505020304" pitchFamily="18" charset="0"/>
              </a:rPr>
              <a:t>runing</a:t>
            </a:r>
            <a:r>
              <a:rPr lang="en-US" sz="2000" b="1" dirty="0">
                <a:latin typeface="Century Schoolbook" panose="02040604050505020304" pitchFamily="18" charset="0"/>
              </a:rPr>
              <a:t> on just a portion of the actual underlying computer hardware..</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BA058B27-E015-956C-60AB-91ADB57E7938}"/>
              </a:ext>
            </a:extLst>
          </p:cNvPr>
          <p:cNvPicPr>
            <a:picLocks noChangeAspect="1"/>
          </p:cNvPicPr>
          <p:nvPr/>
        </p:nvPicPr>
        <p:blipFill>
          <a:blip r:embed="rId2"/>
          <a:stretch>
            <a:fillRect/>
          </a:stretch>
        </p:blipFill>
        <p:spPr>
          <a:xfrm>
            <a:off x="5742038" y="658762"/>
            <a:ext cx="6334074" cy="3647767"/>
          </a:xfrm>
          <a:prstGeom prst="rect">
            <a:avLst/>
          </a:prstGeom>
        </p:spPr>
      </p:pic>
    </p:spTree>
    <p:extLst>
      <p:ext uri="{BB962C8B-B14F-4D97-AF65-F5344CB8AC3E}">
        <p14:creationId xmlns:p14="http://schemas.microsoft.com/office/powerpoint/2010/main" val="497431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4E1C4-6BA9-A271-5D9F-0181AC857B6E}"/>
              </a:ext>
            </a:extLst>
          </p:cNvPr>
          <p:cNvSpPr>
            <a:spLocks noGrp="1"/>
          </p:cNvSpPr>
          <p:nvPr>
            <p:ph type="title"/>
          </p:nvPr>
        </p:nvSpPr>
        <p:spPr>
          <a:xfrm>
            <a:off x="-2" y="-71284"/>
            <a:ext cx="10648335" cy="651388"/>
          </a:xfrm>
        </p:spPr>
        <p:txBody>
          <a:bodyPr>
            <a:noAutofit/>
          </a:bodyPr>
          <a:lstStyle/>
          <a:p>
            <a:pPr marL="457200" indent="-457200">
              <a:buFont typeface="Wingdings" panose="05000000000000000000" pitchFamily="2" charset="2"/>
              <a:buChar char="v"/>
            </a:pPr>
            <a:r>
              <a:rPr lang="en-US" sz="3200" u="sng" dirty="0">
                <a:latin typeface="Algerian" panose="04020705040A02060702" pitchFamily="82" charset="0"/>
              </a:rPr>
              <a:t>Characteristics of virtualized environment</a:t>
            </a:r>
            <a:r>
              <a:rPr lang="en-US" sz="3200" dirty="0">
                <a:latin typeface="Algerian" panose="04020705040A02060702" pitchFamily="82" charset="0"/>
              </a:rPr>
              <a:t> : -</a:t>
            </a:r>
            <a:endParaRPr lang="en-IN" sz="3200" dirty="0">
              <a:latin typeface="Algerian" panose="04020705040A02060702" pitchFamily="82" charset="0"/>
            </a:endParaRPr>
          </a:p>
        </p:txBody>
      </p:sp>
      <p:sp>
        <p:nvSpPr>
          <p:cNvPr id="3" name="Text Placeholder 2">
            <a:extLst>
              <a:ext uri="{FF2B5EF4-FFF2-40B4-BE49-F238E27FC236}">
                <a16:creationId xmlns:a16="http://schemas.microsoft.com/office/drawing/2014/main" id="{E1E1DB01-45E3-31DC-B797-957BD577A5F8}"/>
              </a:ext>
            </a:extLst>
          </p:cNvPr>
          <p:cNvSpPr>
            <a:spLocks noGrp="1"/>
          </p:cNvSpPr>
          <p:nvPr>
            <p:ph type="body" idx="1"/>
          </p:nvPr>
        </p:nvSpPr>
        <p:spPr>
          <a:xfrm>
            <a:off x="-2" y="385917"/>
            <a:ext cx="10648335" cy="6393425"/>
          </a:xfrm>
        </p:spPr>
        <p:txBody>
          <a:bodyPr>
            <a:normAutofit fontScale="92500"/>
          </a:bodyPr>
          <a:lstStyle/>
          <a:p>
            <a:r>
              <a:rPr lang="en-US" sz="2400" b="1" dirty="0">
                <a:solidFill>
                  <a:schemeClr val="accent2">
                    <a:lumMod val="50000"/>
                  </a:schemeClr>
                </a:solidFill>
                <a:latin typeface="Century Schoolbook" panose="02040604050505020304" pitchFamily="18" charset="0"/>
              </a:rPr>
              <a:t>1. </a:t>
            </a:r>
            <a:r>
              <a:rPr lang="en-US" sz="2400" b="1" u="sng" dirty="0">
                <a:solidFill>
                  <a:schemeClr val="accent1">
                    <a:lumMod val="75000"/>
                  </a:schemeClr>
                </a:solidFill>
                <a:latin typeface="Century Schoolbook" panose="02040604050505020304" pitchFamily="18" charset="0"/>
              </a:rPr>
              <a:t>Increased Security</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The ability to control the execution of a guest program in a completely transparent manner opens new possibilities for delivering a secure, controlled execution environment.</a:t>
            </a:r>
          </a:p>
          <a:p>
            <a:r>
              <a:rPr lang="en-US" sz="2400" b="1" dirty="0">
                <a:solidFill>
                  <a:schemeClr val="accent2">
                    <a:lumMod val="50000"/>
                  </a:schemeClr>
                </a:solidFill>
                <a:latin typeface="Century Schoolbook" panose="02040604050505020304" pitchFamily="18" charset="0"/>
              </a:rPr>
              <a:t>2. </a:t>
            </a:r>
            <a:r>
              <a:rPr lang="en-US" sz="2400" b="1" u="sng" dirty="0">
                <a:solidFill>
                  <a:schemeClr val="accent2">
                    <a:lumMod val="50000"/>
                  </a:schemeClr>
                </a:solidFill>
                <a:latin typeface="Century Schoolbook" panose="02040604050505020304" pitchFamily="18" charset="0"/>
              </a:rPr>
              <a:t>Sharing</a:t>
            </a:r>
            <a:r>
              <a:rPr lang="en-US" sz="2400" b="1" dirty="0">
                <a:solidFill>
                  <a:schemeClr val="accent2">
                    <a:lumMod val="50000"/>
                  </a:schemeClr>
                </a:solidFill>
                <a:latin typeface="Century Schoolbook" panose="02040604050505020304" pitchFamily="18" charset="0"/>
              </a:rPr>
              <a:t> : - </a:t>
            </a:r>
            <a:r>
              <a:rPr lang="en-US" sz="2000" b="1" dirty="0">
                <a:latin typeface="Century Schoolbook" panose="02040604050505020304" pitchFamily="18" charset="0"/>
              </a:rPr>
              <a:t>Virtualization allows the creation of a </a:t>
            </a:r>
            <a:r>
              <a:rPr lang="en-US" sz="2000" b="1" dirty="0" err="1">
                <a:latin typeface="Century Schoolbook" panose="02040604050505020304" pitchFamily="18" charset="0"/>
              </a:rPr>
              <a:t>seperate</a:t>
            </a:r>
            <a:r>
              <a:rPr lang="en-US" sz="2000" b="1" dirty="0">
                <a:latin typeface="Century Schoolbook" panose="02040604050505020304" pitchFamily="18" charset="0"/>
              </a:rPr>
              <a:t> computing environment on the same host. This basic feature is used to reduce the no. of active servers and limit power consumption.</a:t>
            </a:r>
          </a:p>
          <a:p>
            <a:r>
              <a:rPr lang="en-US" sz="2400" b="1" dirty="0">
                <a:solidFill>
                  <a:schemeClr val="accent2">
                    <a:lumMod val="50000"/>
                  </a:schemeClr>
                </a:solidFill>
                <a:latin typeface="Century Schoolbook" panose="02040604050505020304" pitchFamily="18" charset="0"/>
              </a:rPr>
              <a:t>3. </a:t>
            </a:r>
            <a:r>
              <a:rPr lang="en-US" sz="2400" b="1" u="sng" dirty="0">
                <a:solidFill>
                  <a:schemeClr val="accent2">
                    <a:lumMod val="50000"/>
                  </a:schemeClr>
                </a:solidFill>
                <a:latin typeface="Century Schoolbook" panose="02040604050505020304" pitchFamily="18" charset="0"/>
              </a:rPr>
              <a:t>Aggregation</a:t>
            </a:r>
            <a:r>
              <a:rPr lang="en-US" sz="2400" b="1" dirty="0">
                <a:solidFill>
                  <a:schemeClr val="accent2">
                    <a:lumMod val="50000"/>
                  </a:schemeClr>
                </a:solidFill>
                <a:latin typeface="Century Schoolbook" panose="02040604050505020304" pitchFamily="18" charset="0"/>
              </a:rPr>
              <a:t> : - </a:t>
            </a:r>
            <a:r>
              <a:rPr lang="en-US" sz="2000" b="1" dirty="0">
                <a:latin typeface="Century Schoolbook" panose="02040604050505020304" pitchFamily="18" charset="0"/>
              </a:rPr>
              <a:t>A group of </a:t>
            </a:r>
            <a:r>
              <a:rPr lang="en-US" sz="2000" b="1" dirty="0" err="1">
                <a:latin typeface="Century Schoolbook" panose="02040604050505020304" pitchFamily="18" charset="0"/>
              </a:rPr>
              <a:t>seperate</a:t>
            </a:r>
            <a:r>
              <a:rPr lang="en-US" sz="2000" b="1" dirty="0">
                <a:latin typeface="Century Schoolbook" panose="02040604050505020304" pitchFamily="18" charset="0"/>
              </a:rPr>
              <a:t> hosts can be tied together and represented to guests as a single virtual host. This </a:t>
            </a:r>
            <a:r>
              <a:rPr lang="en-US" sz="2000" b="1" dirty="0" err="1">
                <a:latin typeface="Century Schoolbook" panose="02040604050505020304" pitchFamily="18" charset="0"/>
              </a:rPr>
              <a:t>funactionality</a:t>
            </a:r>
            <a:r>
              <a:rPr lang="en-US" sz="2000" b="1" dirty="0">
                <a:latin typeface="Century Schoolbook" panose="02040604050505020304" pitchFamily="18" charset="0"/>
              </a:rPr>
              <a:t> is implemented with cluster management software, which harnesses the physical resources of a homogenous group of machines and represents them as a single resource.</a:t>
            </a:r>
          </a:p>
          <a:p>
            <a:r>
              <a:rPr lang="en-US" sz="2400" b="1" dirty="0">
                <a:solidFill>
                  <a:schemeClr val="accent2">
                    <a:lumMod val="50000"/>
                  </a:schemeClr>
                </a:solidFill>
                <a:latin typeface="Century Schoolbook" panose="02040604050505020304" pitchFamily="18" charset="0"/>
              </a:rPr>
              <a:t>4. </a:t>
            </a:r>
            <a:r>
              <a:rPr lang="en-US" sz="2400" b="1" u="sng" dirty="0">
                <a:solidFill>
                  <a:schemeClr val="accent2">
                    <a:lumMod val="50000"/>
                  </a:schemeClr>
                </a:solidFill>
                <a:latin typeface="Century Schoolbook" panose="02040604050505020304" pitchFamily="18" charset="0"/>
              </a:rPr>
              <a:t>Resource sharing</a:t>
            </a:r>
            <a:r>
              <a:rPr lang="en-US" sz="2400" b="1" dirty="0">
                <a:solidFill>
                  <a:schemeClr val="accent2">
                    <a:lumMod val="50000"/>
                  </a:schemeClr>
                </a:solidFill>
                <a:latin typeface="Century Schoolbook" panose="02040604050505020304" pitchFamily="18" charset="0"/>
              </a:rPr>
              <a:t> : - </a:t>
            </a:r>
            <a:r>
              <a:rPr lang="en-US" sz="2000" b="1" dirty="0">
                <a:latin typeface="Century Schoolbook" panose="02040604050505020304" pitchFamily="18" charset="0"/>
              </a:rPr>
              <a:t>Virtualization allows multiple virtual machines to share the resources of a single physical machine. such as CPU, memory, storage and network band width.</a:t>
            </a:r>
          </a:p>
          <a:p>
            <a:r>
              <a:rPr lang="en-US" sz="2400" b="1" dirty="0">
                <a:solidFill>
                  <a:schemeClr val="accent2">
                    <a:lumMod val="50000"/>
                  </a:schemeClr>
                </a:solidFill>
                <a:latin typeface="Century Schoolbook" panose="02040604050505020304" pitchFamily="18" charset="0"/>
              </a:rPr>
              <a:t>5. </a:t>
            </a:r>
            <a:r>
              <a:rPr lang="en-US" sz="2400" b="1" u="sng" dirty="0">
                <a:solidFill>
                  <a:schemeClr val="accent2">
                    <a:lumMod val="50000"/>
                  </a:schemeClr>
                </a:solidFill>
                <a:latin typeface="Century Schoolbook" panose="02040604050505020304" pitchFamily="18" charset="0"/>
              </a:rPr>
              <a:t>Flexibility</a:t>
            </a:r>
            <a:r>
              <a:rPr lang="en-US" sz="2400" b="1" dirty="0">
                <a:solidFill>
                  <a:schemeClr val="accent2">
                    <a:lumMod val="50000"/>
                  </a:schemeClr>
                </a:solidFill>
                <a:latin typeface="Century Schoolbook" panose="02040604050505020304" pitchFamily="18" charset="0"/>
              </a:rPr>
              <a:t> : -</a:t>
            </a:r>
            <a:r>
              <a:rPr lang="en-US" b="1" dirty="0">
                <a:latin typeface="Century Schoolbook" panose="02040604050505020304" pitchFamily="18" charset="0"/>
              </a:rPr>
              <a:t> </a:t>
            </a:r>
            <a:r>
              <a:rPr lang="en-US" sz="2000" b="1" dirty="0">
                <a:latin typeface="Century Schoolbook" panose="02040604050505020304" pitchFamily="18" charset="0"/>
              </a:rPr>
              <a:t>Virtualization allow IT administrators to quickly and easily create, modify, or delete virtual machines as needed, without the need to purchase and configure additional physical hardware.</a:t>
            </a:r>
          </a:p>
          <a:p>
            <a:r>
              <a:rPr lang="en-US" sz="2400" b="1" dirty="0">
                <a:solidFill>
                  <a:schemeClr val="accent2">
                    <a:lumMod val="50000"/>
                  </a:schemeClr>
                </a:solidFill>
                <a:latin typeface="Century Schoolbook" panose="02040604050505020304" pitchFamily="18" charset="0"/>
              </a:rPr>
              <a:t>6. </a:t>
            </a:r>
            <a:r>
              <a:rPr lang="en-US" sz="2400" b="1" u="sng" dirty="0">
                <a:solidFill>
                  <a:schemeClr val="accent2">
                    <a:lumMod val="50000"/>
                  </a:schemeClr>
                </a:solidFill>
                <a:latin typeface="Century Schoolbook" panose="02040604050505020304" pitchFamily="18" charset="0"/>
              </a:rPr>
              <a:t>Scalability</a:t>
            </a:r>
            <a:r>
              <a:rPr lang="en-US" sz="2400" b="1" dirty="0">
                <a:solidFill>
                  <a:schemeClr val="accent2">
                    <a:lumMod val="50000"/>
                  </a:schemeClr>
                </a:solidFill>
                <a:latin typeface="Century Schoolbook" panose="02040604050505020304" pitchFamily="18" charset="0"/>
              </a:rPr>
              <a:t> : - </a:t>
            </a:r>
            <a:r>
              <a:rPr lang="en-US" sz="2000" b="1" dirty="0">
                <a:latin typeface="Century Schoolbook" panose="02040604050505020304" pitchFamily="18" charset="0"/>
              </a:rPr>
              <a:t>Virtualization allows organizations to scale their computing resources up or down as needed, depending on changing business requirements.</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675769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B32C-AC52-17F4-4232-3A546BC869E7}"/>
              </a:ext>
            </a:extLst>
          </p:cNvPr>
          <p:cNvSpPr>
            <a:spLocks noGrp="1"/>
          </p:cNvSpPr>
          <p:nvPr>
            <p:ph type="title"/>
          </p:nvPr>
        </p:nvSpPr>
        <p:spPr>
          <a:xfrm>
            <a:off x="18574" y="25400"/>
            <a:ext cx="8596668" cy="692355"/>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Types of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206D0B2-4818-4479-99A5-4CB60D5D29A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21F65450-1BB4-7AD7-96E5-428BDCFD4FDA}"/>
              </a:ext>
            </a:extLst>
          </p:cNvPr>
          <p:cNvPicPr>
            <a:picLocks noChangeAspect="1"/>
          </p:cNvPicPr>
          <p:nvPr/>
        </p:nvPicPr>
        <p:blipFill>
          <a:blip r:embed="rId2"/>
          <a:stretch>
            <a:fillRect/>
          </a:stretch>
        </p:blipFill>
        <p:spPr>
          <a:xfrm>
            <a:off x="18574" y="717755"/>
            <a:ext cx="9560494" cy="4837471"/>
          </a:xfrm>
          <a:prstGeom prst="rect">
            <a:avLst/>
          </a:prstGeom>
        </p:spPr>
      </p:pic>
    </p:spTree>
    <p:extLst>
      <p:ext uri="{BB962C8B-B14F-4D97-AF65-F5344CB8AC3E}">
        <p14:creationId xmlns:p14="http://schemas.microsoft.com/office/powerpoint/2010/main" val="1186117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759C5-FC02-08BC-ECCF-76AA92FDDBB0}"/>
              </a:ext>
            </a:extLst>
          </p:cNvPr>
          <p:cNvSpPr>
            <a:spLocks noGrp="1"/>
          </p:cNvSpPr>
          <p:nvPr>
            <p:ph type="title"/>
          </p:nvPr>
        </p:nvSpPr>
        <p:spPr>
          <a:xfrm>
            <a:off x="0" y="-30369"/>
            <a:ext cx="10146890" cy="639969"/>
          </a:xfrm>
        </p:spPr>
        <p:txBody>
          <a:bodyPr>
            <a:noAutofit/>
          </a:bodyPr>
          <a:lstStyle/>
          <a:p>
            <a:r>
              <a:rPr lang="en-US" dirty="0">
                <a:latin typeface="Algerian" panose="04020705040A02060702" pitchFamily="82" charset="0"/>
              </a:rPr>
              <a:t>1. </a:t>
            </a:r>
            <a:r>
              <a:rPr lang="en-US" u="sng" dirty="0">
                <a:latin typeface="Algerian" panose="04020705040A02060702" pitchFamily="82" charset="0"/>
              </a:rPr>
              <a:t>Application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AFAC127-5483-2418-0B7E-918BE0C006EE}"/>
              </a:ext>
            </a:extLst>
          </p:cNvPr>
          <p:cNvSpPr>
            <a:spLocks noGrp="1"/>
          </p:cNvSpPr>
          <p:nvPr>
            <p:ph type="body" idx="1"/>
          </p:nvPr>
        </p:nvSpPr>
        <p:spPr>
          <a:xfrm>
            <a:off x="0" y="481780"/>
            <a:ext cx="9763432" cy="555031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Application Virtualization helps                                                         a user to have remote access to                                                          an application from a server.</a:t>
            </a:r>
          </a:p>
          <a:p>
            <a:pPr marL="342900" indent="-342900">
              <a:buFont typeface="Wingdings" panose="05000000000000000000" pitchFamily="2" charset="2"/>
              <a:buChar char="Ø"/>
            </a:pPr>
            <a:r>
              <a:rPr lang="en-US" sz="2400" b="1" dirty="0">
                <a:latin typeface="Century Schoolbook" panose="02040604050505020304" pitchFamily="18" charset="0"/>
              </a:rPr>
              <a:t>The server stores all personal                                                             information &amp; characteristics of                                                            the application but can still run                                                                                 on a local workstation through                                                internet.</a:t>
            </a:r>
          </a:p>
          <a:p>
            <a:pPr marL="342900" indent="-342900">
              <a:buFont typeface="Wingdings" panose="05000000000000000000" pitchFamily="2" charset="2"/>
              <a:buChar char="Ø"/>
            </a:pPr>
            <a:r>
              <a:rPr lang="en-US" sz="2400" b="1" dirty="0">
                <a:latin typeface="Century Schoolbook" panose="02040604050505020304" pitchFamily="18" charset="0"/>
              </a:rPr>
              <a:t>An example of this would be a                                                          user who needs to run two different versions of the same software.</a:t>
            </a:r>
          </a:p>
          <a:p>
            <a:pPr marL="342900" indent="-342900">
              <a:buFont typeface="Wingdings" panose="05000000000000000000" pitchFamily="2" charset="2"/>
              <a:buChar char="Ø"/>
            </a:pPr>
            <a:r>
              <a:rPr lang="en-US" sz="2400" b="1" dirty="0">
                <a:latin typeface="Century Schoolbook" panose="02040604050505020304" pitchFamily="18" charset="0"/>
              </a:rPr>
              <a:t>Technologies that use Application Virtualization are Hosted and Packaged applications.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32284C61-F4CC-12E1-6DB3-B397C75297DD}"/>
              </a:ext>
            </a:extLst>
          </p:cNvPr>
          <p:cNvPicPr>
            <a:picLocks noChangeAspect="1"/>
          </p:cNvPicPr>
          <p:nvPr/>
        </p:nvPicPr>
        <p:blipFill>
          <a:blip r:embed="rId2"/>
          <a:stretch>
            <a:fillRect/>
          </a:stretch>
        </p:blipFill>
        <p:spPr>
          <a:xfrm>
            <a:off x="5614219" y="698089"/>
            <a:ext cx="6441832" cy="3303639"/>
          </a:xfrm>
          <a:prstGeom prst="rect">
            <a:avLst/>
          </a:prstGeom>
        </p:spPr>
      </p:pic>
    </p:spTree>
    <p:extLst>
      <p:ext uri="{BB962C8B-B14F-4D97-AF65-F5344CB8AC3E}">
        <p14:creationId xmlns:p14="http://schemas.microsoft.com/office/powerpoint/2010/main" val="3985860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020A-7E84-ED51-68C4-2CBBAF824567}"/>
              </a:ext>
            </a:extLst>
          </p:cNvPr>
          <p:cNvSpPr>
            <a:spLocks noGrp="1"/>
          </p:cNvSpPr>
          <p:nvPr>
            <p:ph type="title"/>
          </p:nvPr>
        </p:nvSpPr>
        <p:spPr>
          <a:xfrm>
            <a:off x="0" y="-78658"/>
            <a:ext cx="8596668" cy="816638"/>
          </a:xfrm>
        </p:spPr>
        <p:txBody>
          <a:bodyPr/>
          <a:lstStyle/>
          <a:p>
            <a:r>
              <a:rPr lang="en-US" dirty="0">
                <a:latin typeface="Algerian" panose="04020705040A02060702" pitchFamily="82" charset="0"/>
              </a:rPr>
              <a:t>2. </a:t>
            </a:r>
            <a:r>
              <a:rPr lang="en-US" u="sng" dirty="0">
                <a:latin typeface="Algerian" panose="04020705040A02060702" pitchFamily="82" charset="0"/>
              </a:rPr>
              <a:t>Network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FAD0328-EBAE-596D-FD1D-1B494E16C11B}"/>
              </a:ext>
            </a:extLst>
          </p:cNvPr>
          <p:cNvSpPr>
            <a:spLocks noGrp="1"/>
          </p:cNvSpPr>
          <p:nvPr>
            <p:ph type="body" idx="1"/>
          </p:nvPr>
        </p:nvSpPr>
        <p:spPr>
          <a:xfrm>
            <a:off x="0" y="403121"/>
            <a:ext cx="9596284" cy="6105833"/>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Network Virtualization is the ability                                                       to run multiple virtual networks                                                        with each having a </a:t>
            </a:r>
            <a:r>
              <a:rPr lang="en-US" sz="2400" b="1" dirty="0" err="1">
                <a:latin typeface="Century Schoolbook" panose="02040604050505020304" pitchFamily="18" charset="0"/>
              </a:rPr>
              <a:t>seperate</a:t>
            </a:r>
            <a:r>
              <a:rPr lang="en-US" sz="2400" b="1" dirty="0">
                <a:latin typeface="Century Schoolbook" panose="02040604050505020304" pitchFamily="18" charset="0"/>
              </a:rPr>
              <a:t> control                                                     and data plan.</a:t>
            </a:r>
          </a:p>
          <a:p>
            <a:pPr marL="342900" indent="-342900">
              <a:buFont typeface="Wingdings" panose="05000000000000000000" pitchFamily="2" charset="2"/>
              <a:buChar char="Ø"/>
            </a:pPr>
            <a:r>
              <a:rPr lang="en-US" sz="2400" b="1" dirty="0">
                <a:latin typeface="Century Schoolbook" panose="02040604050505020304" pitchFamily="18" charset="0"/>
              </a:rPr>
              <a:t>It co-exists together on top of one                                                    physical network.</a:t>
            </a:r>
          </a:p>
          <a:p>
            <a:pPr marL="342900" indent="-342900">
              <a:buFont typeface="Wingdings" panose="05000000000000000000" pitchFamily="2" charset="2"/>
              <a:buChar char="Ø"/>
            </a:pPr>
            <a:r>
              <a:rPr lang="en-US" sz="2400" b="1" dirty="0">
                <a:latin typeface="Century Schoolbook" panose="02040604050505020304" pitchFamily="18" charset="0"/>
              </a:rPr>
              <a:t>It can be managed by individual                                                         parties that are potentially                                                     confidential to each other.</a:t>
            </a:r>
          </a:p>
          <a:p>
            <a:pPr marL="342900" indent="-342900">
              <a:buFont typeface="Wingdings" panose="05000000000000000000" pitchFamily="2" charset="2"/>
              <a:buChar char="Ø"/>
            </a:pPr>
            <a:r>
              <a:rPr lang="en-US" sz="2400" b="1" dirty="0">
                <a:latin typeface="Century Schoolbook" panose="02040604050505020304" pitchFamily="18" charset="0"/>
              </a:rPr>
              <a:t>Network Virtualization provides a facility to create and provision virtual networks, logical switches, routers, firewalls, load balancers, Virtual Private Networks (VPN), and workload security within. days or even weeks.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9F84938F-C800-096A-0FE5-E240C43E993E}"/>
              </a:ext>
            </a:extLst>
          </p:cNvPr>
          <p:cNvPicPr>
            <a:picLocks noChangeAspect="1"/>
          </p:cNvPicPr>
          <p:nvPr/>
        </p:nvPicPr>
        <p:blipFill>
          <a:blip r:embed="rId2"/>
          <a:stretch>
            <a:fillRect/>
          </a:stretch>
        </p:blipFill>
        <p:spPr>
          <a:xfrm>
            <a:off x="6233652" y="737980"/>
            <a:ext cx="5808009" cy="3666872"/>
          </a:xfrm>
          <a:prstGeom prst="rect">
            <a:avLst/>
          </a:prstGeom>
        </p:spPr>
      </p:pic>
    </p:spTree>
    <p:extLst>
      <p:ext uri="{BB962C8B-B14F-4D97-AF65-F5344CB8AC3E}">
        <p14:creationId xmlns:p14="http://schemas.microsoft.com/office/powerpoint/2010/main" val="533283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7F489-4903-387A-383D-38EFD0F32CDC}"/>
              </a:ext>
            </a:extLst>
          </p:cNvPr>
          <p:cNvSpPr>
            <a:spLocks noGrp="1"/>
          </p:cNvSpPr>
          <p:nvPr>
            <p:ph type="title"/>
          </p:nvPr>
        </p:nvSpPr>
        <p:spPr>
          <a:xfrm>
            <a:off x="-1" y="0"/>
            <a:ext cx="9783097" cy="816638"/>
          </a:xfrm>
        </p:spPr>
        <p:txBody>
          <a:bodyPr/>
          <a:lstStyle/>
          <a:p>
            <a:r>
              <a:rPr lang="en-US" dirty="0">
                <a:latin typeface="Algerian" panose="04020705040A02060702" pitchFamily="82" charset="0"/>
              </a:rPr>
              <a:t>3. </a:t>
            </a:r>
            <a:r>
              <a:rPr lang="en-US" u="sng" dirty="0">
                <a:latin typeface="Algerian" panose="04020705040A02060702" pitchFamily="82" charset="0"/>
              </a:rPr>
              <a:t>Desktop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BD995B6-3131-5708-7074-317428B3ACAA}"/>
              </a:ext>
            </a:extLst>
          </p:cNvPr>
          <p:cNvSpPr>
            <a:spLocks noGrp="1"/>
          </p:cNvSpPr>
          <p:nvPr>
            <p:ph type="body" idx="1"/>
          </p:nvPr>
        </p:nvSpPr>
        <p:spPr>
          <a:xfrm>
            <a:off x="0" y="541895"/>
            <a:ext cx="9783096" cy="5224724"/>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Desktop Virtualization allow the users                                        OS to be remotely stored on a server in                                        the data center.</a:t>
            </a:r>
          </a:p>
          <a:p>
            <a:pPr marL="342900" indent="-342900">
              <a:buFont typeface="Wingdings" panose="05000000000000000000" pitchFamily="2" charset="2"/>
              <a:buChar char="Ø"/>
            </a:pPr>
            <a:r>
              <a:rPr lang="en-US" sz="2400" b="1" dirty="0">
                <a:latin typeface="Century Schoolbook" panose="02040604050505020304" pitchFamily="18" charset="0"/>
              </a:rPr>
              <a:t>It allows the user to access their desktop                                                                              virtually, from any location by a                                             different machine.</a:t>
            </a:r>
          </a:p>
          <a:p>
            <a:pPr marL="342900" indent="-342900">
              <a:buFont typeface="Wingdings" panose="05000000000000000000" pitchFamily="2" charset="2"/>
              <a:buChar char="Ø"/>
            </a:pPr>
            <a:r>
              <a:rPr lang="en-US" sz="2400" b="1" dirty="0">
                <a:latin typeface="Century Schoolbook" panose="02040604050505020304" pitchFamily="18" charset="0"/>
              </a:rPr>
              <a:t>Users who want specific operating                                    systems other than windows server will                                         need to have a virtual desktop.</a:t>
            </a:r>
          </a:p>
          <a:p>
            <a:pPr marL="342900" indent="-342900">
              <a:buFont typeface="Wingdings" panose="05000000000000000000" pitchFamily="2" charset="2"/>
              <a:buChar char="Ø"/>
            </a:pPr>
            <a:r>
              <a:rPr lang="en-US" sz="2400" b="1" dirty="0">
                <a:latin typeface="Century Schoolbook" panose="02040604050505020304" pitchFamily="18" charset="0"/>
              </a:rPr>
              <a:t>The main </a:t>
            </a:r>
            <a:r>
              <a:rPr lang="en-US" sz="2400" b="1" dirty="0" err="1">
                <a:latin typeface="Century Schoolbook" panose="02040604050505020304" pitchFamily="18" charset="0"/>
              </a:rPr>
              <a:t>benifits</a:t>
            </a:r>
            <a:r>
              <a:rPr lang="en-US" sz="2400" b="1" dirty="0">
                <a:latin typeface="Century Schoolbook" panose="02040604050505020304" pitchFamily="18" charset="0"/>
              </a:rPr>
              <a:t> of desktop virtualization are user mobility, portability and easy management of software installation.</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17F52FC9-C36F-985E-AFD4-36CBF78E223E}"/>
              </a:ext>
            </a:extLst>
          </p:cNvPr>
          <p:cNvPicPr>
            <a:picLocks noChangeAspect="1"/>
          </p:cNvPicPr>
          <p:nvPr/>
        </p:nvPicPr>
        <p:blipFill>
          <a:blip r:embed="rId2"/>
          <a:stretch>
            <a:fillRect/>
          </a:stretch>
        </p:blipFill>
        <p:spPr>
          <a:xfrm>
            <a:off x="6902245" y="816638"/>
            <a:ext cx="5176031" cy="3116265"/>
          </a:xfrm>
          <a:prstGeom prst="rect">
            <a:avLst/>
          </a:prstGeom>
        </p:spPr>
      </p:pic>
    </p:spTree>
    <p:extLst>
      <p:ext uri="{BB962C8B-B14F-4D97-AF65-F5344CB8AC3E}">
        <p14:creationId xmlns:p14="http://schemas.microsoft.com/office/powerpoint/2010/main" val="122313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C185-7487-418A-8E0A-0EBA23D022D8}"/>
              </a:ext>
            </a:extLst>
          </p:cNvPr>
          <p:cNvSpPr>
            <a:spLocks noGrp="1"/>
          </p:cNvSpPr>
          <p:nvPr>
            <p:ph type="title"/>
          </p:nvPr>
        </p:nvSpPr>
        <p:spPr>
          <a:xfrm>
            <a:off x="0" y="-83573"/>
            <a:ext cx="8596668" cy="791238"/>
          </a:xfrm>
        </p:spPr>
        <p:txBody>
          <a:bodyPr/>
          <a:lstStyle/>
          <a:p>
            <a:r>
              <a:rPr lang="en-US" dirty="0">
                <a:latin typeface="Algerian" panose="04020705040A02060702" pitchFamily="82" charset="0"/>
              </a:rPr>
              <a:t>4. </a:t>
            </a:r>
            <a:r>
              <a:rPr lang="en-US" u="sng" dirty="0">
                <a:latin typeface="Algerian" panose="04020705040A02060702" pitchFamily="82" charset="0"/>
              </a:rPr>
              <a:t>Storage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2114516-6442-81E5-88DD-2524172CCF73}"/>
              </a:ext>
            </a:extLst>
          </p:cNvPr>
          <p:cNvSpPr>
            <a:spLocks noGrp="1"/>
          </p:cNvSpPr>
          <p:nvPr>
            <p:ph type="body" idx="1"/>
          </p:nvPr>
        </p:nvSpPr>
        <p:spPr>
          <a:xfrm>
            <a:off x="0" y="452284"/>
            <a:ext cx="9274003" cy="6096000"/>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Storage Virtualization is an array of                                         servers that are managed by a virtual                                      storage system.</a:t>
            </a:r>
          </a:p>
          <a:p>
            <a:pPr marL="342900" indent="-342900">
              <a:buFont typeface="Wingdings" panose="05000000000000000000" pitchFamily="2" charset="2"/>
              <a:buChar char="Ø"/>
            </a:pPr>
            <a:r>
              <a:rPr lang="en-US" sz="2400" b="1" dirty="0">
                <a:latin typeface="Century Schoolbook" panose="02040604050505020304" pitchFamily="18" charset="0"/>
              </a:rPr>
              <a:t>The Servers aren't aware of exactly                                                   where their data is stored and instead                                function more like worker bees in a                                        hive.</a:t>
            </a:r>
          </a:p>
          <a:p>
            <a:pPr marL="342900" indent="-342900">
              <a:buFont typeface="Wingdings" panose="05000000000000000000" pitchFamily="2" charset="2"/>
              <a:buChar char="Ø"/>
            </a:pPr>
            <a:r>
              <a:rPr lang="en-US" sz="2400" b="1" dirty="0">
                <a:latin typeface="Century Schoolbook" panose="02040604050505020304" pitchFamily="18" charset="0"/>
              </a:rPr>
              <a:t>It makes managing storage from                                               multiple sources be manage and                                             utilized as a single repository.</a:t>
            </a:r>
          </a:p>
          <a:p>
            <a:pPr marL="342900" indent="-342900">
              <a:buFont typeface="Wingdings" panose="05000000000000000000" pitchFamily="2" charset="2"/>
              <a:buChar char="Ø"/>
            </a:pPr>
            <a:r>
              <a:rPr lang="en-US" sz="2400" b="1" dirty="0">
                <a:latin typeface="Century Schoolbook" panose="02040604050505020304" pitchFamily="18" charset="0"/>
              </a:rPr>
              <a:t>Storage Virtualization maintains                                                   smooth operations, consistent                                          performance and a continuous suite                                               of advanced functions.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B096DB97-0B18-6F3A-A06B-CD50A2DFE7EB}"/>
              </a:ext>
            </a:extLst>
          </p:cNvPr>
          <p:cNvPicPr>
            <a:picLocks noChangeAspect="1"/>
          </p:cNvPicPr>
          <p:nvPr/>
        </p:nvPicPr>
        <p:blipFill>
          <a:blip r:embed="rId2"/>
          <a:stretch>
            <a:fillRect/>
          </a:stretch>
        </p:blipFill>
        <p:spPr>
          <a:xfrm>
            <a:off x="6479458" y="707664"/>
            <a:ext cx="5584723" cy="4822981"/>
          </a:xfrm>
          <a:prstGeom prst="rect">
            <a:avLst/>
          </a:prstGeom>
        </p:spPr>
      </p:pic>
    </p:spTree>
    <p:extLst>
      <p:ext uri="{BB962C8B-B14F-4D97-AF65-F5344CB8AC3E}">
        <p14:creationId xmlns:p14="http://schemas.microsoft.com/office/powerpoint/2010/main" val="3384700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49DA-DA26-8D71-A8E8-90E9BB628EF4}"/>
              </a:ext>
            </a:extLst>
          </p:cNvPr>
          <p:cNvSpPr>
            <a:spLocks noGrp="1"/>
          </p:cNvSpPr>
          <p:nvPr>
            <p:ph type="title"/>
          </p:nvPr>
        </p:nvSpPr>
        <p:spPr>
          <a:xfrm>
            <a:off x="0" y="-78658"/>
            <a:ext cx="9448800" cy="791238"/>
          </a:xfrm>
        </p:spPr>
        <p:txBody>
          <a:bodyPr/>
          <a:lstStyle/>
          <a:p>
            <a:r>
              <a:rPr lang="en-US" dirty="0">
                <a:latin typeface="Algerian" panose="04020705040A02060702" pitchFamily="82" charset="0"/>
              </a:rPr>
              <a:t>5. </a:t>
            </a:r>
            <a:r>
              <a:rPr lang="en-US" u="sng" dirty="0">
                <a:latin typeface="Algerian" panose="04020705040A02060702" pitchFamily="82" charset="0"/>
              </a:rPr>
              <a:t>Server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4E3989E-5417-2884-C483-1A6F10FF094D}"/>
              </a:ext>
            </a:extLst>
          </p:cNvPr>
          <p:cNvSpPr>
            <a:spLocks noGrp="1"/>
          </p:cNvSpPr>
          <p:nvPr>
            <p:ph type="body" idx="1"/>
          </p:nvPr>
        </p:nvSpPr>
        <p:spPr>
          <a:xfrm>
            <a:off x="0" y="540774"/>
            <a:ext cx="9724103" cy="5132439"/>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In Server Virtualization the masking of                                  server resources takes place.</a:t>
            </a:r>
          </a:p>
          <a:p>
            <a:pPr marL="342900" indent="-342900">
              <a:buFont typeface="Wingdings" panose="05000000000000000000" pitchFamily="2" charset="2"/>
              <a:buChar char="Ø"/>
            </a:pPr>
            <a:r>
              <a:rPr lang="en-US" sz="2400" b="1" dirty="0">
                <a:latin typeface="Century Schoolbook" panose="02040604050505020304" pitchFamily="18" charset="0"/>
              </a:rPr>
              <a:t>Here, the central (Physical) server is                                    divided into multiple different virtual                                  servers by changing the identity number                                             and processors.</a:t>
            </a:r>
          </a:p>
          <a:p>
            <a:pPr marL="342900" indent="-342900">
              <a:buFont typeface="Wingdings" panose="05000000000000000000" pitchFamily="2" charset="2"/>
              <a:buChar char="Ø"/>
            </a:pPr>
            <a:r>
              <a:rPr lang="en-US" sz="2400" b="1" dirty="0">
                <a:latin typeface="Century Schoolbook" panose="02040604050505020304" pitchFamily="18" charset="0"/>
              </a:rPr>
              <a:t>So, each system can operate its OS in as                                                   isolated manner.</a:t>
            </a:r>
          </a:p>
          <a:p>
            <a:pPr marL="342900" indent="-342900">
              <a:buFont typeface="Wingdings" panose="05000000000000000000" pitchFamily="2" charset="2"/>
              <a:buChar char="Ø"/>
            </a:pPr>
            <a:r>
              <a:rPr lang="en-US" sz="2400" b="1" dirty="0">
                <a:latin typeface="Century Schoolbook" panose="02040604050505020304" pitchFamily="18" charset="0"/>
              </a:rPr>
              <a:t>Where, each sub-server knows the identity                                of the central server. </a:t>
            </a:r>
          </a:p>
          <a:p>
            <a:pPr marL="342900" indent="-342900">
              <a:buFont typeface="Wingdings" panose="05000000000000000000" pitchFamily="2" charset="2"/>
              <a:buChar char="Ø"/>
            </a:pPr>
            <a:r>
              <a:rPr lang="en-US" sz="2400" b="1" dirty="0">
                <a:latin typeface="Century Schoolbook" panose="02040604050505020304" pitchFamily="18" charset="0"/>
              </a:rPr>
              <a:t>It's beneficial in virtual migration, reducing energy consumption, reducing infrastructural costs, etc.</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0A30F36A-66EE-9CE8-1110-C0194AAE6050}"/>
              </a:ext>
            </a:extLst>
          </p:cNvPr>
          <p:cNvPicPr>
            <a:picLocks noChangeAspect="1"/>
          </p:cNvPicPr>
          <p:nvPr/>
        </p:nvPicPr>
        <p:blipFill>
          <a:blip r:embed="rId2"/>
          <a:stretch>
            <a:fillRect/>
          </a:stretch>
        </p:blipFill>
        <p:spPr>
          <a:xfrm>
            <a:off x="7256206" y="693183"/>
            <a:ext cx="4818018" cy="3908314"/>
          </a:xfrm>
          <a:prstGeom prst="rect">
            <a:avLst/>
          </a:prstGeom>
        </p:spPr>
      </p:pic>
    </p:spTree>
    <p:extLst>
      <p:ext uri="{BB962C8B-B14F-4D97-AF65-F5344CB8AC3E}">
        <p14:creationId xmlns:p14="http://schemas.microsoft.com/office/powerpoint/2010/main" val="129896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18F24-4F10-42D7-3F45-FEEBC216DF3B}"/>
              </a:ext>
            </a:extLst>
          </p:cNvPr>
          <p:cNvSpPr>
            <a:spLocks noGrp="1"/>
          </p:cNvSpPr>
          <p:nvPr>
            <p:ph type="title"/>
          </p:nvPr>
        </p:nvSpPr>
        <p:spPr>
          <a:xfrm>
            <a:off x="-1" y="0"/>
            <a:ext cx="9409471" cy="816638"/>
          </a:xfrm>
        </p:spPr>
        <p:txBody>
          <a:bodyPr/>
          <a:lstStyle/>
          <a:p>
            <a:r>
              <a:rPr lang="en-US" dirty="0">
                <a:latin typeface="Algerian" panose="04020705040A02060702" pitchFamily="82" charset="0"/>
              </a:rPr>
              <a:t>6.</a:t>
            </a:r>
            <a:r>
              <a:rPr lang="en-US" dirty="0"/>
              <a:t> </a:t>
            </a:r>
            <a:r>
              <a:rPr lang="en-US" u="sng" dirty="0">
                <a:latin typeface="Algerian" panose="04020705040A02060702" pitchFamily="82" charset="0"/>
              </a:rPr>
              <a:t>Data virtualization</a:t>
            </a:r>
            <a:r>
              <a:rPr lang="en-US" dirty="0"/>
              <a:t> : -</a:t>
            </a:r>
            <a:endParaRPr lang="en-IN" dirty="0"/>
          </a:p>
        </p:txBody>
      </p:sp>
      <p:sp>
        <p:nvSpPr>
          <p:cNvPr id="3" name="Text Placeholder 2">
            <a:extLst>
              <a:ext uri="{FF2B5EF4-FFF2-40B4-BE49-F238E27FC236}">
                <a16:creationId xmlns:a16="http://schemas.microsoft.com/office/drawing/2014/main" id="{E58B833A-8B29-112B-DA0F-62CAC9E9B9A9}"/>
              </a:ext>
            </a:extLst>
          </p:cNvPr>
          <p:cNvSpPr>
            <a:spLocks noGrp="1"/>
          </p:cNvSpPr>
          <p:nvPr>
            <p:ph type="body" idx="1"/>
          </p:nvPr>
        </p:nvSpPr>
        <p:spPr>
          <a:xfrm>
            <a:off x="0" y="561000"/>
            <a:ext cx="9881419" cy="5584162"/>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In Data Virtualization the data is                                              collected from various sources and                                         managed at a single place without                                                   knowing more about the technical                                       information.</a:t>
            </a:r>
          </a:p>
          <a:p>
            <a:pPr marL="342900" indent="-342900">
              <a:buFont typeface="Wingdings" panose="05000000000000000000" pitchFamily="2" charset="2"/>
              <a:buChar char="Ø"/>
            </a:pPr>
            <a:r>
              <a:rPr lang="en-US" sz="2400" b="1" dirty="0">
                <a:latin typeface="Century Schoolbook" panose="02040604050505020304" pitchFamily="18" charset="0"/>
              </a:rPr>
              <a:t>Like how the data is collected, stored                                             and formatted then arranged that data                                         logically.</a:t>
            </a:r>
          </a:p>
          <a:p>
            <a:pPr marL="342900" indent="-342900">
              <a:buFont typeface="Wingdings" panose="05000000000000000000" pitchFamily="2" charset="2"/>
              <a:buChar char="Ø"/>
            </a:pPr>
            <a:r>
              <a:rPr lang="en-US" sz="2400" b="1" dirty="0">
                <a:latin typeface="Century Schoolbook" panose="02040604050505020304" pitchFamily="18" charset="0"/>
              </a:rPr>
              <a:t>So that its virtual view can be accessed                                by its interested people and stakeholders, and users through the various cloud services remotely.</a:t>
            </a:r>
          </a:p>
          <a:p>
            <a:pPr marL="342900" indent="-342900">
              <a:buFont typeface="Wingdings" panose="05000000000000000000" pitchFamily="2" charset="2"/>
              <a:buChar char="Ø"/>
            </a:pPr>
            <a:r>
              <a:rPr lang="en-US" sz="2400" b="1" dirty="0">
                <a:latin typeface="Century Schoolbook" panose="02040604050505020304" pitchFamily="18" charset="0"/>
              </a:rPr>
              <a:t>Many big giant companies are providing their services like Oracle, IBM, At scale, data, etc.</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C55A6425-D5AA-BAFB-D278-8A9EB8CDC4A4}"/>
              </a:ext>
            </a:extLst>
          </p:cNvPr>
          <p:cNvPicPr>
            <a:picLocks noChangeAspect="1"/>
          </p:cNvPicPr>
          <p:nvPr/>
        </p:nvPicPr>
        <p:blipFill>
          <a:blip r:embed="rId2"/>
          <a:stretch>
            <a:fillRect/>
          </a:stretch>
        </p:blipFill>
        <p:spPr>
          <a:xfrm>
            <a:off x="6741272" y="712838"/>
            <a:ext cx="5336395" cy="3371904"/>
          </a:xfrm>
          <a:prstGeom prst="rect">
            <a:avLst/>
          </a:prstGeom>
        </p:spPr>
      </p:pic>
    </p:spTree>
    <p:extLst>
      <p:ext uri="{BB962C8B-B14F-4D97-AF65-F5344CB8AC3E}">
        <p14:creationId xmlns:p14="http://schemas.microsoft.com/office/powerpoint/2010/main" val="33162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7878D-DCF2-98B7-B172-E921846B0079}"/>
              </a:ext>
            </a:extLst>
          </p:cNvPr>
          <p:cNvSpPr>
            <a:spLocks noGrp="1"/>
          </p:cNvSpPr>
          <p:nvPr>
            <p:ph type="title"/>
          </p:nvPr>
        </p:nvSpPr>
        <p:spPr>
          <a:xfrm>
            <a:off x="0" y="335207"/>
            <a:ext cx="10334794" cy="556928"/>
          </a:xfrm>
        </p:spPr>
        <p:txBody>
          <a:bodyPr>
            <a:normAutofit fontScale="90000"/>
          </a:bodyPr>
          <a:lstStyle/>
          <a:p>
            <a:r>
              <a:rPr lang="en-US" dirty="0">
                <a:latin typeface="Algerian" panose="04020705040A02060702" pitchFamily="82" charset="0"/>
              </a:rPr>
              <a:t>2.3 </a:t>
            </a:r>
            <a:r>
              <a:rPr lang="en-US" u="sng" dirty="0">
                <a:latin typeface="Algerian" panose="04020705040A02060702" pitchFamily="82" charset="0"/>
              </a:rPr>
              <a:t>technology examples</a:t>
            </a:r>
            <a:r>
              <a:rPr lang="en-US" dirty="0">
                <a:latin typeface="Algerian" panose="04020705040A02060702" pitchFamily="82" charset="0"/>
              </a:rPr>
              <a:t> : -              </a:t>
            </a:r>
            <a:br>
              <a:rPr lang="en-US" dirty="0">
                <a:latin typeface="Algerian" panose="04020705040A02060702" pitchFamily="82" charset="0"/>
              </a:rPr>
            </a:b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883FF81-BFCC-57AE-E26A-66C575798C5A}"/>
              </a:ext>
            </a:extLst>
          </p:cNvPr>
          <p:cNvSpPr>
            <a:spLocks noGrp="1"/>
          </p:cNvSpPr>
          <p:nvPr>
            <p:ph type="body" idx="1"/>
          </p:nvPr>
        </p:nvSpPr>
        <p:spPr>
          <a:xfrm>
            <a:off x="0" y="140677"/>
            <a:ext cx="10451690" cy="6788850"/>
          </a:xfrm>
        </p:spPr>
        <p:txBody>
          <a:bodyPr>
            <a:noAutofit/>
          </a:bodyPr>
          <a:lstStyle/>
          <a:p>
            <a:pPr marL="342900" indent="-3429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VMWare : (Full Virtualization)</a:t>
            </a:r>
            <a:r>
              <a:rPr lang="en-US" sz="3200" dirty="0">
                <a:solidFill>
                  <a:schemeClr val="accent1">
                    <a:lumMod val="75000"/>
                  </a:schemeClr>
                </a:solidFill>
                <a:latin typeface="Algerian" panose="04020705040A02060702" pitchFamily="82" charset="0"/>
              </a:rPr>
              <a:t> : -</a:t>
            </a:r>
            <a:endParaRPr lang="en-US" sz="3200" u="sng" dirty="0">
              <a:solidFill>
                <a:schemeClr val="accent1">
                  <a:lumMod val="75000"/>
                </a:schemeClr>
              </a:solidFill>
              <a:latin typeface="Algerian" panose="04020705040A02060702" pitchFamily="82" charset="0"/>
            </a:endParaRPr>
          </a:p>
          <a:p>
            <a:r>
              <a:rPr lang="en-US" sz="2400" b="1" dirty="0">
                <a:latin typeface="Century Schoolbook" panose="02040604050505020304" pitchFamily="18" charset="0"/>
              </a:rPr>
              <a:t>- VMware is based on the concept of full                                                                                                       virtualization which involves duplicating                                                          the underlying hardware and presenting                                                        it to the guest OS.</a:t>
            </a:r>
          </a:p>
          <a:p>
            <a:r>
              <a:rPr lang="en-US" sz="2400" b="1" dirty="0">
                <a:latin typeface="Century Schoolbook" panose="02040604050505020304" pitchFamily="18" charset="0"/>
              </a:rPr>
              <a:t>- Full Virtualization allows multiple VM                                                          to run on a single physical host with                                                              different OS as Linux, Windows.</a:t>
            </a:r>
          </a:p>
          <a:p>
            <a:r>
              <a:rPr lang="en-US" sz="2400" b="1" dirty="0">
                <a:latin typeface="Century Schoolbook" panose="02040604050505020304" pitchFamily="18" charset="0"/>
              </a:rPr>
              <a:t>- VM Ware implements full virtualization                                                         either in the desktop environment by                                                      means of Type </a:t>
            </a:r>
            <a:r>
              <a:rPr lang="en-US" sz="2400" b="1" dirty="0" err="1">
                <a:latin typeface="Century Schoolbook" panose="02040604050505020304" pitchFamily="18" charset="0"/>
              </a:rPr>
              <a:t>ll</a:t>
            </a:r>
            <a:r>
              <a:rPr lang="en-US" sz="2400" b="1" dirty="0">
                <a:latin typeface="Century Schoolbook" panose="02040604050505020304" pitchFamily="18" charset="0"/>
              </a:rPr>
              <a:t> Hypervisors, or in the                                              server environment by means of Type 1 Hypervisors.</a:t>
            </a:r>
          </a:p>
          <a:p>
            <a:r>
              <a:rPr lang="en-US" sz="2400" b="1" dirty="0">
                <a:latin typeface="Century Schoolbook" panose="02040604050505020304" pitchFamily="18" charset="0"/>
              </a:rPr>
              <a:t>- Besides these two core solutions, VMware provides additional tools and software that simplify the use of Virtualization.</a:t>
            </a:r>
          </a:p>
        </p:txBody>
      </p:sp>
      <p:pic>
        <p:nvPicPr>
          <p:cNvPr id="5" name="Picture 4">
            <a:extLst>
              <a:ext uri="{FF2B5EF4-FFF2-40B4-BE49-F238E27FC236}">
                <a16:creationId xmlns:a16="http://schemas.microsoft.com/office/drawing/2014/main" id="{97FF2AA9-E500-1DBF-95CA-7B26F77396EE}"/>
              </a:ext>
            </a:extLst>
          </p:cNvPr>
          <p:cNvPicPr>
            <a:picLocks noChangeAspect="1"/>
          </p:cNvPicPr>
          <p:nvPr/>
        </p:nvPicPr>
        <p:blipFill>
          <a:blip r:embed="rId2"/>
          <a:stretch>
            <a:fillRect/>
          </a:stretch>
        </p:blipFill>
        <p:spPr>
          <a:xfrm>
            <a:off x="6715433" y="1197779"/>
            <a:ext cx="5349838" cy="3926880"/>
          </a:xfrm>
          <a:prstGeom prst="rect">
            <a:avLst/>
          </a:prstGeom>
        </p:spPr>
      </p:pic>
    </p:spTree>
    <p:extLst>
      <p:ext uri="{BB962C8B-B14F-4D97-AF65-F5344CB8AC3E}">
        <p14:creationId xmlns:p14="http://schemas.microsoft.com/office/powerpoint/2010/main" val="3352843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86C0-0F51-3EE0-8AC6-96CC258C4D8C}"/>
              </a:ext>
            </a:extLst>
          </p:cNvPr>
          <p:cNvSpPr>
            <a:spLocks noGrp="1"/>
          </p:cNvSpPr>
          <p:nvPr>
            <p:ph type="title"/>
          </p:nvPr>
        </p:nvSpPr>
        <p:spPr>
          <a:xfrm>
            <a:off x="0" y="25400"/>
            <a:ext cx="8596668"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Microsoft </a:t>
            </a:r>
            <a:r>
              <a:rPr lang="en-US" u="sng" dirty="0" err="1">
                <a:latin typeface="Algerian" panose="04020705040A02060702" pitchFamily="82" charset="0"/>
              </a:rPr>
              <a:t>hyper-v</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745F4F16-59E8-9313-5330-E4CBF8303259}"/>
              </a:ext>
            </a:extLst>
          </p:cNvPr>
          <p:cNvSpPr>
            <a:spLocks noGrp="1"/>
          </p:cNvSpPr>
          <p:nvPr>
            <p:ph type="body" idx="1"/>
          </p:nvPr>
        </p:nvSpPr>
        <p:spPr>
          <a:xfrm>
            <a:off x="0" y="675961"/>
            <a:ext cx="9274003" cy="424773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Hyper-V is an Infrastructure                                           virtualization solution developed                                                        by Microsoft for server virtualization.</a:t>
            </a:r>
          </a:p>
          <a:p>
            <a:pPr marL="342900" indent="-342900">
              <a:buFont typeface="Wingdings" panose="05000000000000000000" pitchFamily="2" charset="2"/>
              <a:buChar char="Ø"/>
            </a:pPr>
            <a:r>
              <a:rPr lang="en-US" sz="2400" b="1" dirty="0">
                <a:latin typeface="Century Schoolbook" panose="02040604050505020304" pitchFamily="18" charset="0"/>
              </a:rPr>
              <a:t>It allows you to create and manage                                                       VMs on Windows-based servers.</a:t>
            </a:r>
          </a:p>
          <a:p>
            <a:pPr marL="342900" indent="-342900">
              <a:buFont typeface="Wingdings" panose="05000000000000000000" pitchFamily="2" charset="2"/>
              <a:buChar char="Ø"/>
            </a:pPr>
            <a:r>
              <a:rPr lang="en-US" sz="2400" b="1" dirty="0">
                <a:latin typeface="Century Schoolbook" panose="02040604050505020304" pitchFamily="18" charset="0"/>
              </a:rPr>
              <a:t>Hyper-V is commonly used in data                                               centers, enterprise environment and                                  cloud services.</a:t>
            </a:r>
          </a:p>
          <a:p>
            <a:pPr marL="342900" indent="-342900">
              <a:buFont typeface="Wingdings" panose="05000000000000000000" pitchFamily="2" charset="2"/>
              <a:buChar char="Ø"/>
            </a:pPr>
            <a:r>
              <a:rPr lang="en-US" sz="2400" b="1" dirty="0">
                <a:latin typeface="Century Schoolbook" panose="02040604050505020304" pitchFamily="18" charset="0"/>
              </a:rPr>
              <a:t>It uses a hypervisor-based approach                                                   to hardware virtualization.</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6C3F8A8F-BD8C-F546-665B-1B84253A35F9}"/>
              </a:ext>
            </a:extLst>
          </p:cNvPr>
          <p:cNvPicPr>
            <a:picLocks noChangeAspect="1"/>
          </p:cNvPicPr>
          <p:nvPr/>
        </p:nvPicPr>
        <p:blipFill>
          <a:blip r:embed="rId2"/>
          <a:stretch>
            <a:fillRect/>
          </a:stretch>
        </p:blipFill>
        <p:spPr>
          <a:xfrm>
            <a:off x="6497842" y="816638"/>
            <a:ext cx="5552322" cy="3495855"/>
          </a:xfrm>
          <a:prstGeom prst="rect">
            <a:avLst/>
          </a:prstGeom>
        </p:spPr>
      </p:pic>
    </p:spTree>
    <p:extLst>
      <p:ext uri="{BB962C8B-B14F-4D97-AF65-F5344CB8AC3E}">
        <p14:creationId xmlns:p14="http://schemas.microsoft.com/office/powerpoint/2010/main" val="112171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2A8D-E01D-CCD9-6B8A-DDCB42D3AFA5}"/>
              </a:ext>
            </a:extLst>
          </p:cNvPr>
          <p:cNvSpPr>
            <a:spLocks noGrp="1"/>
          </p:cNvSpPr>
          <p:nvPr>
            <p:ph type="title"/>
          </p:nvPr>
        </p:nvSpPr>
        <p:spPr>
          <a:xfrm>
            <a:off x="0" y="-50148"/>
            <a:ext cx="9988062" cy="791238"/>
          </a:xfrm>
        </p:spPr>
        <p:txBody>
          <a:bodyPr>
            <a:normAutofit/>
          </a:bodyPr>
          <a:lstStyle/>
          <a:p>
            <a:pPr marL="571500" indent="-571500">
              <a:buFont typeface="Wingdings" panose="05000000000000000000" pitchFamily="2" charset="2"/>
              <a:buChar char="v"/>
            </a:pPr>
            <a:r>
              <a:rPr lang="en-US" u="sng" dirty="0" err="1">
                <a:latin typeface="Algerian" panose="04020705040A02060702" pitchFamily="82" charset="0"/>
              </a:rPr>
              <a:t>Kvm</a:t>
            </a:r>
            <a:r>
              <a:rPr lang="en-US" u="sng" dirty="0">
                <a:latin typeface="Algerian" panose="04020705040A02060702" pitchFamily="82" charset="0"/>
              </a:rPr>
              <a:t> – based architecture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5E52DBC-E2FF-B695-F4B2-23F16A8D21AE}"/>
              </a:ext>
            </a:extLst>
          </p:cNvPr>
          <p:cNvSpPr>
            <a:spLocks noGrp="1"/>
          </p:cNvSpPr>
          <p:nvPr>
            <p:ph type="body" idx="1"/>
          </p:nvPr>
        </p:nvSpPr>
        <p:spPr>
          <a:xfrm>
            <a:off x="0" y="655865"/>
            <a:ext cx="9274003" cy="455923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KVM is a Full virtualization solution                                            in the Linux kernel, that allows the                                            kernel to function as a Hypervisor.</a:t>
            </a:r>
          </a:p>
          <a:p>
            <a:pPr marL="285750" indent="-285750">
              <a:buFont typeface="Wingdings" panose="05000000000000000000" pitchFamily="2" charset="2"/>
              <a:buChar char="Ø"/>
            </a:pPr>
            <a:r>
              <a:rPr lang="en-US" sz="2400" b="1" dirty="0">
                <a:latin typeface="Century Schoolbook" panose="02040604050505020304" pitchFamily="18" charset="0"/>
              </a:rPr>
              <a:t>KVM can turn any Linux Machine                                               into a bare-metal hypervisor.</a:t>
            </a:r>
          </a:p>
          <a:p>
            <a:pPr marL="285750" indent="-285750">
              <a:buFont typeface="Wingdings" panose="05000000000000000000" pitchFamily="2" charset="2"/>
              <a:buChar char="Ø"/>
            </a:pPr>
            <a:r>
              <a:rPr lang="en-US" sz="2400" b="1" dirty="0">
                <a:latin typeface="Century Schoolbook" panose="02040604050505020304" pitchFamily="18" charset="0"/>
              </a:rPr>
              <a:t>A normal </a:t>
            </a:r>
            <a:r>
              <a:rPr lang="en-US" sz="2400" b="1" dirty="0" err="1">
                <a:latin typeface="Century Schoolbook" panose="02040604050505020304" pitchFamily="18" charset="0"/>
              </a:rPr>
              <a:t>linux</a:t>
            </a:r>
            <a:r>
              <a:rPr lang="en-US" sz="2400" b="1" dirty="0">
                <a:latin typeface="Century Schoolbook" panose="02040604050505020304" pitchFamily="18" charset="0"/>
              </a:rPr>
              <a:t> processor has two                                           modes of execution : </a:t>
            </a:r>
            <a:r>
              <a:rPr lang="en-US" sz="2400" b="1" dirty="0" err="1">
                <a:latin typeface="Century Schoolbook" panose="02040604050505020304" pitchFamily="18" charset="0"/>
              </a:rPr>
              <a:t>kernal</a:t>
            </a:r>
            <a:r>
              <a:rPr lang="en-US" sz="2400" b="1" dirty="0">
                <a:latin typeface="Century Schoolbook" panose="02040604050505020304" pitchFamily="18" charset="0"/>
              </a:rPr>
              <a:t> and user.                                                 KVM adds a third mode: Guest mode.                                      </a:t>
            </a:r>
          </a:p>
          <a:p>
            <a:pPr marL="285750" indent="-285750">
              <a:buFont typeface="Wingdings" panose="05000000000000000000" pitchFamily="2" charset="2"/>
              <a:buChar char="Ø"/>
            </a:pPr>
            <a:r>
              <a:rPr lang="en-US" sz="2400" b="1" dirty="0">
                <a:latin typeface="Century Schoolbook" panose="02040604050505020304" pitchFamily="18" charset="0"/>
              </a:rPr>
              <a:t>An IT department can use KVM to                                                      host multiple </a:t>
            </a:r>
            <a:r>
              <a:rPr lang="en-US" sz="2400" b="1" dirty="0" err="1">
                <a:latin typeface="Century Schoolbook" panose="02040604050505020304" pitchFamily="18" charset="0"/>
              </a:rPr>
              <a:t>linux</a:t>
            </a:r>
            <a:r>
              <a:rPr lang="en-US" sz="2400" b="1" dirty="0">
                <a:latin typeface="Century Schoolbook" panose="02040604050505020304" pitchFamily="18" charset="0"/>
              </a:rPr>
              <a:t> and windows                                                    server on single physical machine.</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932F3FEF-282B-F896-68D2-269EB11CD8AA}"/>
              </a:ext>
            </a:extLst>
          </p:cNvPr>
          <p:cNvPicPr>
            <a:picLocks noChangeAspect="1"/>
          </p:cNvPicPr>
          <p:nvPr/>
        </p:nvPicPr>
        <p:blipFill>
          <a:blip r:embed="rId2"/>
          <a:stretch>
            <a:fillRect/>
          </a:stretch>
        </p:blipFill>
        <p:spPr>
          <a:xfrm>
            <a:off x="6338337" y="816638"/>
            <a:ext cx="5685013" cy="3977985"/>
          </a:xfrm>
          <a:prstGeom prst="rect">
            <a:avLst/>
          </a:prstGeom>
        </p:spPr>
      </p:pic>
    </p:spTree>
    <p:extLst>
      <p:ext uri="{BB962C8B-B14F-4D97-AF65-F5344CB8AC3E}">
        <p14:creationId xmlns:p14="http://schemas.microsoft.com/office/powerpoint/2010/main" val="1971184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32B64-9251-4761-57B5-3927448CA9C8}"/>
              </a:ext>
            </a:extLst>
          </p:cNvPr>
          <p:cNvSpPr>
            <a:spLocks noGrp="1"/>
          </p:cNvSpPr>
          <p:nvPr>
            <p:ph type="title"/>
          </p:nvPr>
        </p:nvSpPr>
        <p:spPr>
          <a:xfrm>
            <a:off x="0" y="-21120"/>
            <a:ext cx="10687665" cy="7912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Xen (para-virtualization)</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FD07C63-4847-47CF-B5EE-13462B971D55}"/>
              </a:ext>
            </a:extLst>
          </p:cNvPr>
          <p:cNvSpPr>
            <a:spLocks noGrp="1"/>
          </p:cNvSpPr>
          <p:nvPr>
            <p:ph type="body" idx="1"/>
          </p:nvPr>
        </p:nvSpPr>
        <p:spPr>
          <a:xfrm>
            <a:off x="0" y="698651"/>
            <a:ext cx="10225548" cy="4945065"/>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Xen is an open-source platform based                                        on paravirtualization.</a:t>
            </a:r>
          </a:p>
          <a:p>
            <a:pPr marL="342900" indent="-342900">
              <a:buFont typeface="Wingdings" panose="05000000000000000000" pitchFamily="2" charset="2"/>
              <a:buChar char="Ø"/>
            </a:pPr>
            <a:r>
              <a:rPr lang="en-US" sz="2400" b="1" dirty="0">
                <a:latin typeface="Century Schoolbook" panose="02040604050505020304" pitchFamily="18" charset="0"/>
              </a:rPr>
              <a:t>Initially developed at the University of                          Cambridge in UK.</a:t>
            </a:r>
          </a:p>
          <a:p>
            <a:pPr marL="342900" indent="-342900">
              <a:buFont typeface="Wingdings" panose="05000000000000000000" pitchFamily="2" charset="2"/>
              <a:buChar char="Ø"/>
            </a:pPr>
            <a:r>
              <a:rPr lang="en-US" sz="2400" b="1" dirty="0">
                <a:latin typeface="Century Schoolbook" panose="02040604050505020304" pitchFamily="18" charset="0"/>
              </a:rPr>
              <a:t>Paravirtualization involves modifying                                      the </a:t>
            </a:r>
            <a:r>
              <a:rPr lang="en-US" sz="2400" b="1" dirty="0" err="1">
                <a:latin typeface="Century Schoolbook" panose="02040604050505020304" pitchFamily="18" charset="0"/>
              </a:rPr>
              <a:t>os</a:t>
            </a:r>
            <a:r>
              <a:rPr lang="en-US" sz="2400" b="1" dirty="0">
                <a:latin typeface="Century Schoolbook" panose="02040604050505020304" pitchFamily="18" charset="0"/>
              </a:rPr>
              <a:t> running inside a VM to make it                                          aware of its Virtualized environment.</a:t>
            </a:r>
          </a:p>
          <a:p>
            <a:pPr marL="342900" indent="-342900">
              <a:buFont typeface="Wingdings" panose="05000000000000000000" pitchFamily="2" charset="2"/>
              <a:buChar char="Ø"/>
            </a:pPr>
            <a:r>
              <a:rPr lang="en-US" sz="2400" b="1" dirty="0">
                <a:latin typeface="Century Schoolbook" panose="02040604050505020304" pitchFamily="18" charset="0"/>
              </a:rPr>
              <a:t>Xen-based technology is used for either                                        desktop virtualization or server                                        virtualization.</a:t>
            </a:r>
          </a:p>
          <a:p>
            <a:pPr marL="342900" indent="-342900">
              <a:buFont typeface="Wingdings" panose="05000000000000000000" pitchFamily="2" charset="2"/>
              <a:buChar char="Ø"/>
            </a:pPr>
            <a:r>
              <a:rPr lang="en-US" sz="2400" b="1" dirty="0">
                <a:latin typeface="Century Schoolbook" panose="02040604050505020304" pitchFamily="18" charset="0"/>
              </a:rPr>
              <a:t>It has also been used to provide cloud computing solutions by means of Xen cloud Platform (XCP)</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3F80564B-5E73-A39B-23B3-EF738C340105}"/>
              </a:ext>
            </a:extLst>
          </p:cNvPr>
          <p:cNvPicPr>
            <a:picLocks noChangeAspect="1"/>
          </p:cNvPicPr>
          <p:nvPr/>
        </p:nvPicPr>
        <p:blipFill>
          <a:blip r:embed="rId2"/>
          <a:stretch>
            <a:fillRect/>
          </a:stretch>
        </p:blipFill>
        <p:spPr>
          <a:xfrm>
            <a:off x="6764594" y="770118"/>
            <a:ext cx="5309419" cy="4016088"/>
          </a:xfrm>
          <a:prstGeom prst="rect">
            <a:avLst/>
          </a:prstGeom>
        </p:spPr>
      </p:pic>
    </p:spTree>
    <p:extLst>
      <p:ext uri="{BB962C8B-B14F-4D97-AF65-F5344CB8AC3E}">
        <p14:creationId xmlns:p14="http://schemas.microsoft.com/office/powerpoint/2010/main" val="2328776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74A1-3DE4-2017-36BD-58C6AE990F8D}"/>
              </a:ext>
            </a:extLst>
          </p:cNvPr>
          <p:cNvSpPr>
            <a:spLocks noGrp="1"/>
          </p:cNvSpPr>
          <p:nvPr>
            <p:ph type="title"/>
          </p:nvPr>
        </p:nvSpPr>
        <p:spPr>
          <a:xfrm>
            <a:off x="0" y="-68826"/>
            <a:ext cx="9881419" cy="658761"/>
          </a:xfrm>
        </p:spPr>
        <p:txBody>
          <a:bodyPr>
            <a:normAutofit fontScale="90000"/>
          </a:bodyPr>
          <a:lstStyle/>
          <a:p>
            <a:r>
              <a:rPr lang="en-US" dirty="0">
                <a:latin typeface="Algerian" panose="04020705040A02060702" pitchFamily="82" charset="0"/>
              </a:rPr>
              <a:t>2.4 </a:t>
            </a:r>
            <a:r>
              <a:rPr lang="en-US" u="sng" dirty="0">
                <a:latin typeface="Algerian" panose="04020705040A02060702" pitchFamily="82" charset="0"/>
              </a:rPr>
              <a:t>Advantages of virtualization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881BCBD-93D2-A48B-6F11-15CBE22E7E48}"/>
              </a:ext>
            </a:extLst>
          </p:cNvPr>
          <p:cNvSpPr>
            <a:spLocks noGrp="1"/>
          </p:cNvSpPr>
          <p:nvPr>
            <p:ph type="body" idx="1"/>
          </p:nvPr>
        </p:nvSpPr>
        <p:spPr>
          <a:xfrm>
            <a:off x="0" y="255638"/>
            <a:ext cx="9881419" cy="5132439"/>
          </a:xfrm>
        </p:spPr>
        <p:txBody>
          <a:bodyPr>
            <a:noAutofit/>
          </a:bodyPr>
          <a:lstStyle/>
          <a:p>
            <a:endParaRPr lang="en-US" sz="2000" b="1" dirty="0">
              <a:latin typeface="Century Schoolbook" panose="02040604050505020304" pitchFamily="18" charset="0"/>
            </a:endParaRPr>
          </a:p>
          <a:p>
            <a:r>
              <a:rPr lang="en-US" sz="2400" b="1" dirty="0">
                <a:solidFill>
                  <a:schemeClr val="accent1">
                    <a:lumMod val="75000"/>
                  </a:schemeClr>
                </a:solidFill>
                <a:latin typeface="Century Schoolbook" panose="02040604050505020304" pitchFamily="18" charset="0"/>
              </a:rPr>
              <a:t>1. </a:t>
            </a:r>
            <a:r>
              <a:rPr lang="en-US" sz="2400" b="1" u="sng" dirty="0">
                <a:solidFill>
                  <a:schemeClr val="accent1">
                    <a:lumMod val="75000"/>
                  </a:schemeClr>
                </a:solidFill>
                <a:latin typeface="Century Schoolbook" panose="02040604050505020304" pitchFamily="18" charset="0"/>
              </a:rPr>
              <a:t>Utilization of Hardware Efficiency</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With the help of Virtualization, Hardware is efficiently used by user as well as cloud Service provider.</a:t>
            </a:r>
          </a:p>
          <a:p>
            <a:r>
              <a:rPr lang="en-US" sz="2400" b="1" dirty="0">
                <a:solidFill>
                  <a:schemeClr val="accent1">
                    <a:lumMod val="75000"/>
                  </a:schemeClr>
                </a:solidFill>
                <a:latin typeface="Century Schoolbook" panose="02040604050505020304" pitchFamily="18" charset="0"/>
              </a:rPr>
              <a:t>2. </a:t>
            </a:r>
            <a:r>
              <a:rPr lang="en-US" sz="2400" b="1" u="sng" dirty="0">
                <a:solidFill>
                  <a:schemeClr val="accent1">
                    <a:lumMod val="75000"/>
                  </a:schemeClr>
                </a:solidFill>
                <a:latin typeface="Century Schoolbook" panose="02040604050505020304" pitchFamily="18" charset="0"/>
              </a:rPr>
              <a:t>High Availability</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One of the main </a:t>
            </a:r>
            <a:r>
              <a:rPr lang="en-US" sz="2000" b="1" dirty="0" err="1">
                <a:latin typeface="Century Schoolbook" panose="02040604050505020304" pitchFamily="18" charset="0"/>
              </a:rPr>
              <a:t>benifit</a:t>
            </a:r>
            <a:r>
              <a:rPr lang="en-US" sz="2000" b="1" dirty="0">
                <a:latin typeface="Century Schoolbook" panose="02040604050505020304" pitchFamily="18" charset="0"/>
              </a:rPr>
              <a:t> of virtualization is that it provides advance Features which allow virtual instances to be available all the times.</a:t>
            </a:r>
          </a:p>
          <a:p>
            <a:r>
              <a:rPr lang="en-US" sz="2400" b="1" dirty="0">
                <a:solidFill>
                  <a:schemeClr val="accent1">
                    <a:lumMod val="75000"/>
                  </a:schemeClr>
                </a:solidFill>
                <a:latin typeface="Century Schoolbook" panose="02040604050505020304" pitchFamily="18" charset="0"/>
              </a:rPr>
              <a:t>3. </a:t>
            </a:r>
            <a:r>
              <a:rPr lang="en-US" sz="2400" b="1" u="sng" dirty="0">
                <a:solidFill>
                  <a:schemeClr val="accent1">
                    <a:lumMod val="75000"/>
                  </a:schemeClr>
                </a:solidFill>
                <a:latin typeface="Century Schoolbook" panose="02040604050505020304" pitchFamily="18" charset="0"/>
              </a:rPr>
              <a:t>Disaster Recovery is efficient and easy</a:t>
            </a:r>
            <a:r>
              <a:rPr lang="en-US" sz="2400" b="1" dirty="0">
                <a:solidFill>
                  <a:schemeClr val="accent1">
                    <a:lumMod val="75000"/>
                  </a:schemeClr>
                </a:solidFill>
                <a:latin typeface="Century Schoolbook" panose="02040604050505020304" pitchFamily="18" charset="0"/>
              </a:rPr>
              <a:t> : -</a:t>
            </a:r>
            <a:r>
              <a:rPr lang="en-US" sz="2000" b="1" dirty="0">
                <a:solidFill>
                  <a:schemeClr val="accent1">
                    <a:lumMod val="75000"/>
                  </a:schemeClr>
                </a:solidFill>
                <a:latin typeface="Century Schoolbook" panose="02040604050505020304" pitchFamily="18" charset="0"/>
              </a:rPr>
              <a:t> </a:t>
            </a:r>
            <a:r>
              <a:rPr lang="en-US" sz="2000" b="1" dirty="0">
                <a:latin typeface="Century Schoolbook" panose="02040604050505020304" pitchFamily="18" charset="0"/>
              </a:rPr>
              <a:t>In traditional method, if somehow due to some disaster if server system Damaged then the surety of Data Recovery is very less. But with the tools of virtualization, real time data backup recovery &amp; mirroring become easy.</a:t>
            </a:r>
          </a:p>
          <a:p>
            <a:r>
              <a:rPr lang="en-US" sz="2400" b="1" u="sng" dirty="0">
                <a:solidFill>
                  <a:schemeClr val="accent1">
                    <a:lumMod val="75000"/>
                  </a:schemeClr>
                </a:solidFill>
                <a:latin typeface="Century Schoolbook" panose="02040604050505020304" pitchFamily="18" charset="0"/>
              </a:rPr>
              <a:t>4. Saves Energy</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Virtualization will help to save energy because while moving from physical servers to virtual servers; the no. of servers decreases due to this </a:t>
            </a:r>
            <a:r>
              <a:rPr lang="en-US" sz="2000" b="1" dirty="0" err="1">
                <a:latin typeface="Century Schoolbook" panose="02040604050505020304" pitchFamily="18" charset="0"/>
              </a:rPr>
              <a:t>montly</a:t>
            </a:r>
            <a:r>
              <a:rPr lang="en-US" sz="2000" b="1" dirty="0">
                <a:latin typeface="Century Schoolbook" panose="02040604050505020304" pitchFamily="18" charset="0"/>
              </a:rPr>
              <a:t> power &amp; cooling cost decreases which will save money as well.</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1941945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63B6-7279-5A8D-6693-741ACC15EFC9}"/>
              </a:ext>
            </a:extLst>
          </p:cNvPr>
          <p:cNvSpPr>
            <a:spLocks noGrp="1"/>
          </p:cNvSpPr>
          <p:nvPr>
            <p:ph type="title"/>
          </p:nvPr>
        </p:nvSpPr>
        <p:spPr>
          <a:xfrm>
            <a:off x="0" y="-72922"/>
            <a:ext cx="8596668" cy="712019"/>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Vm</a:t>
            </a:r>
            <a:r>
              <a:rPr lang="en-US" u="sng" dirty="0">
                <a:latin typeface="Algerian" panose="04020705040A02060702" pitchFamily="82" charset="0"/>
              </a:rPr>
              <a:t> migration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93E9213-1831-C16A-CEF3-1048924937D3}"/>
              </a:ext>
            </a:extLst>
          </p:cNvPr>
          <p:cNvSpPr>
            <a:spLocks noGrp="1"/>
          </p:cNvSpPr>
          <p:nvPr>
            <p:ph type="body" idx="1"/>
          </p:nvPr>
        </p:nvSpPr>
        <p:spPr>
          <a:xfrm>
            <a:off x="1" y="481782"/>
            <a:ext cx="9684774" cy="5624052"/>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Virtual Machine Migration is the process of moving a running virtual Machine from one physical hardware environment to another.</a:t>
            </a:r>
          </a:p>
          <a:p>
            <a:pPr marL="342900" indent="-342900">
              <a:buFont typeface="Wingdings" panose="05000000000000000000" pitchFamily="2" charset="2"/>
              <a:buChar char="Ø"/>
            </a:pPr>
            <a:r>
              <a:rPr lang="en-US" sz="2400" b="1" dirty="0">
                <a:latin typeface="Century Schoolbook" panose="02040604050505020304" pitchFamily="18" charset="0"/>
              </a:rPr>
              <a:t>VM Migration is a valuable tool in cloud computing for migrating operating system instances across various physical machines.</a:t>
            </a:r>
          </a:p>
          <a:p>
            <a:pPr marL="342900" indent="-342900">
              <a:buFont typeface="Wingdings" panose="05000000000000000000" pitchFamily="2" charset="2"/>
              <a:buChar char="Ø"/>
            </a:pPr>
            <a:r>
              <a:rPr lang="en-US" sz="2400" b="1" dirty="0">
                <a:solidFill>
                  <a:schemeClr val="accent1">
                    <a:lumMod val="75000"/>
                  </a:schemeClr>
                </a:solidFill>
                <a:latin typeface="Century Schoolbook" panose="02040604050505020304" pitchFamily="18" charset="0"/>
              </a:rPr>
              <a:t>Types of VM Migration :</a:t>
            </a:r>
            <a:r>
              <a:rPr lang="en-US" sz="2400" b="1" dirty="0">
                <a:latin typeface="Century Schoolbook" panose="02040604050505020304" pitchFamily="18" charset="0"/>
              </a:rPr>
              <a:t> -</a:t>
            </a:r>
          </a:p>
          <a:p>
            <a:r>
              <a:rPr lang="en-US" sz="2800" b="1" dirty="0">
                <a:solidFill>
                  <a:schemeClr val="accent1">
                    <a:lumMod val="75000"/>
                  </a:schemeClr>
                </a:solidFill>
                <a:latin typeface="Century Schoolbook" panose="02040604050505020304" pitchFamily="18" charset="0"/>
              </a:rPr>
              <a:t>1. </a:t>
            </a:r>
            <a:r>
              <a:rPr lang="en-US" sz="2800" b="1" u="sng" dirty="0">
                <a:solidFill>
                  <a:schemeClr val="accent1">
                    <a:lumMod val="75000"/>
                  </a:schemeClr>
                </a:solidFill>
                <a:latin typeface="Century Schoolbook" panose="02040604050505020304" pitchFamily="18" charset="0"/>
              </a:rPr>
              <a:t>Live Migration</a:t>
            </a:r>
            <a:r>
              <a:rPr lang="en-US" sz="28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The VM is moved while its still running ensuring no downtime used for tasks like maintenance, load balancing and disaster recovery.</a:t>
            </a:r>
          </a:p>
          <a:p>
            <a:r>
              <a:rPr lang="en-US" sz="2800" b="1" dirty="0">
                <a:solidFill>
                  <a:schemeClr val="accent1">
                    <a:lumMod val="75000"/>
                  </a:schemeClr>
                </a:solidFill>
                <a:latin typeface="Century Schoolbook" panose="02040604050505020304" pitchFamily="18" charset="0"/>
              </a:rPr>
              <a:t>2. </a:t>
            </a:r>
            <a:r>
              <a:rPr lang="en-US" sz="2800" b="1" u="sng" dirty="0">
                <a:solidFill>
                  <a:schemeClr val="accent1">
                    <a:lumMod val="75000"/>
                  </a:schemeClr>
                </a:solidFill>
                <a:latin typeface="Century Schoolbook" panose="02040604050505020304" pitchFamily="18" charset="0"/>
              </a:rPr>
              <a:t>Cold Migration</a:t>
            </a:r>
            <a:r>
              <a:rPr lang="en-US" sz="2800" b="1" dirty="0">
                <a:solidFill>
                  <a:schemeClr val="accent1">
                    <a:lumMod val="75000"/>
                  </a:schemeClr>
                </a:solidFill>
                <a:latin typeface="Century Schoolbook" panose="02040604050505020304" pitchFamily="18" charset="0"/>
              </a:rPr>
              <a:t> : -</a:t>
            </a:r>
            <a:r>
              <a:rPr lang="en-US" sz="2400" b="1" dirty="0">
                <a:solidFill>
                  <a:schemeClr val="accent1">
                    <a:lumMod val="75000"/>
                  </a:schemeClr>
                </a:solidFill>
                <a:latin typeface="Century Schoolbook" panose="02040604050505020304" pitchFamily="18" charset="0"/>
              </a:rPr>
              <a:t> </a:t>
            </a:r>
            <a:r>
              <a:rPr lang="en-US" sz="2400" b="1" dirty="0">
                <a:latin typeface="Century Schoolbook" panose="02040604050505020304" pitchFamily="18" charset="0"/>
              </a:rPr>
              <a:t>The VM is shut down before being moved  and can be used for less time-sensitive task or where shared storage isn't available.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27156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3855F-98D1-B968-C8D4-C1100D91FB72}"/>
              </a:ext>
            </a:extLst>
          </p:cNvPr>
          <p:cNvSpPr>
            <a:spLocks noGrp="1"/>
          </p:cNvSpPr>
          <p:nvPr>
            <p:ph type="title"/>
          </p:nvPr>
        </p:nvSpPr>
        <p:spPr>
          <a:xfrm>
            <a:off x="0" y="0"/>
            <a:ext cx="8596668" cy="707923"/>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Vm</a:t>
            </a:r>
            <a:r>
              <a:rPr lang="en-US" u="sng" dirty="0">
                <a:latin typeface="Algerian" panose="04020705040A02060702" pitchFamily="82" charset="0"/>
              </a:rPr>
              <a:t> consolidation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1424542-4611-9BA8-1048-75B03F610AE8}"/>
              </a:ext>
            </a:extLst>
          </p:cNvPr>
          <p:cNvSpPr>
            <a:spLocks noGrp="1"/>
          </p:cNvSpPr>
          <p:nvPr>
            <p:ph type="body" idx="1"/>
          </p:nvPr>
        </p:nvSpPr>
        <p:spPr>
          <a:xfrm>
            <a:off x="0" y="589936"/>
            <a:ext cx="9340646" cy="4571999"/>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Virtual Machine consolidation involves reducing the no. of active physical hosts by moving VMs onto fewer server, maximizing resource utilization &amp; minimizing costs.</a:t>
            </a:r>
          </a:p>
          <a:p>
            <a:pPr marL="342900" indent="-342900">
              <a:buFont typeface="Wingdings" panose="05000000000000000000" pitchFamily="2" charset="2"/>
              <a:buChar char="Ø"/>
            </a:pPr>
            <a:r>
              <a:rPr lang="en-US" sz="2400" b="1" dirty="0">
                <a:latin typeface="Century Schoolbook" panose="02040604050505020304" pitchFamily="18" charset="0"/>
              </a:rPr>
              <a:t>To fix the error 'Virtual Machine Consolidation Needed’, right-click on the virtual machine and select VM &gt; snapshots → consolidate.</a:t>
            </a:r>
          </a:p>
          <a:p>
            <a:pPr marL="342900" indent="-342900">
              <a:buFont typeface="Wingdings" panose="05000000000000000000" pitchFamily="2" charset="2"/>
              <a:buChar char="Ø"/>
            </a:pPr>
            <a:r>
              <a:rPr lang="en-US" sz="2400" b="1" dirty="0">
                <a:latin typeface="Century Schoolbook" panose="02040604050505020304" pitchFamily="18" charset="0"/>
              </a:rPr>
              <a:t>VM consolidation simplifies IT management by consolidating workloads onto fewer machines.</a:t>
            </a:r>
          </a:p>
          <a:p>
            <a:pPr marL="342900" indent="-342900">
              <a:buFont typeface="Wingdings" panose="05000000000000000000" pitchFamily="2" charset="2"/>
              <a:buChar char="Ø"/>
            </a:pPr>
            <a:r>
              <a:rPr lang="en-US" sz="2400" b="1" dirty="0">
                <a:latin typeface="Century Schoolbook" panose="02040604050505020304" pitchFamily="18" charset="0"/>
              </a:rPr>
              <a:t>It also enables easier scaling of resources in response to demand.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693775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0CE9-1EEE-3EC1-BC0E-5FB8D887F75D}"/>
              </a:ext>
            </a:extLst>
          </p:cNvPr>
          <p:cNvSpPr>
            <a:spLocks noGrp="1"/>
          </p:cNvSpPr>
          <p:nvPr>
            <p:ph type="title"/>
          </p:nvPr>
        </p:nvSpPr>
        <p:spPr>
          <a:xfrm>
            <a:off x="0" y="-72923"/>
            <a:ext cx="10176387" cy="791238"/>
          </a:xfrm>
        </p:spPr>
        <p:txBody>
          <a:bodyPr/>
          <a:lstStyle/>
          <a:p>
            <a:pPr marL="571500" indent="-571500">
              <a:buFont typeface="Wingdings" panose="05000000000000000000" pitchFamily="2" charset="2"/>
              <a:buChar char="v"/>
            </a:pPr>
            <a:r>
              <a:rPr lang="en-US" u="sng" dirty="0" err="1">
                <a:latin typeface="Algerian" panose="04020705040A02060702" pitchFamily="82" charset="0"/>
              </a:rPr>
              <a:t>Vm</a:t>
            </a:r>
            <a:r>
              <a:rPr lang="en-US" u="sng" dirty="0">
                <a:latin typeface="Algerian" panose="04020705040A02060702" pitchFamily="82" charset="0"/>
              </a:rPr>
              <a:t> management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B5BC4FD-14D9-A84E-02F5-A49A4B8D6E05}"/>
              </a:ext>
            </a:extLst>
          </p:cNvPr>
          <p:cNvSpPr>
            <a:spLocks noGrp="1"/>
          </p:cNvSpPr>
          <p:nvPr>
            <p:ph type="body" idx="1"/>
          </p:nvPr>
        </p:nvSpPr>
        <p:spPr>
          <a:xfrm>
            <a:off x="0" y="471949"/>
            <a:ext cx="9714271" cy="313649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Virtual Machine management software communicates with virtual environment as well as the underlying physical hardware to ease resource administration, improve data analytics, and expedite operations.</a:t>
            </a:r>
          </a:p>
          <a:p>
            <a:pPr marL="342900" indent="-342900">
              <a:buFont typeface="Wingdings" panose="05000000000000000000" pitchFamily="2" charset="2"/>
              <a:buChar char="Ø"/>
            </a:pPr>
            <a:r>
              <a:rPr lang="en-US" sz="2400" b="1" dirty="0">
                <a:latin typeface="Century Schoolbook" panose="02040604050505020304" pitchFamily="18" charset="0"/>
              </a:rPr>
              <a:t>Each VM Management system is unique, but most have an easy-to-use user interface, assign resources, create reports, and enforce policies automatically.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59755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557E6-C1E8-51B8-C9EF-CF9122248C94}"/>
              </a:ext>
            </a:extLst>
          </p:cNvPr>
          <p:cNvSpPr>
            <a:spLocks noGrp="1"/>
          </p:cNvSpPr>
          <p:nvPr>
            <p:ph type="title"/>
          </p:nvPr>
        </p:nvSpPr>
        <p:spPr>
          <a:xfrm>
            <a:off x="54337" y="25400"/>
            <a:ext cx="10838076" cy="607646"/>
          </a:xfrm>
        </p:spPr>
        <p:txBody>
          <a:bodyPr>
            <a:normAutofit fontScale="90000"/>
          </a:bodyPr>
          <a:lstStyle/>
          <a:p>
            <a:r>
              <a:rPr lang="en-US" dirty="0">
                <a:latin typeface="Algerian" panose="04020705040A02060702" pitchFamily="82" charset="0"/>
              </a:rPr>
              <a:t>2.5 </a:t>
            </a:r>
            <a:r>
              <a:rPr lang="en-US" u="sng" dirty="0">
                <a:latin typeface="Algerian" panose="04020705040A02060702" pitchFamily="82" charset="0"/>
              </a:rPr>
              <a:t>disadvantages of virtualization</a:t>
            </a:r>
            <a:r>
              <a:rPr lang="en-US" dirty="0">
                <a:latin typeface="Algerian" panose="04020705040A02060702" pitchFamily="82" charset="0"/>
              </a:rPr>
              <a:t> : -</a:t>
            </a:r>
            <a:endParaRPr lang="en-IN" dirty="0">
              <a:effectLst>
                <a:outerShdw blurRad="38100" dist="38100" dir="2700000" algn="tl">
                  <a:srgbClr val="000000">
                    <a:alpha val="43137"/>
                  </a:srgbClr>
                </a:outerShdw>
              </a:effectLst>
              <a:latin typeface="Algerian" panose="04020705040A02060702" pitchFamily="82" charset="0"/>
            </a:endParaRPr>
          </a:p>
        </p:txBody>
      </p:sp>
      <p:sp>
        <p:nvSpPr>
          <p:cNvPr id="3" name="Text Placeholder 2">
            <a:extLst>
              <a:ext uri="{FF2B5EF4-FFF2-40B4-BE49-F238E27FC236}">
                <a16:creationId xmlns:a16="http://schemas.microsoft.com/office/drawing/2014/main" id="{9C5897AB-6E17-4169-5774-B3DDD5C4D1AF}"/>
              </a:ext>
            </a:extLst>
          </p:cNvPr>
          <p:cNvSpPr>
            <a:spLocks noGrp="1"/>
          </p:cNvSpPr>
          <p:nvPr>
            <p:ph type="body" idx="1"/>
          </p:nvPr>
        </p:nvSpPr>
        <p:spPr>
          <a:xfrm>
            <a:off x="-1" y="633046"/>
            <a:ext cx="9606225" cy="4521758"/>
          </a:xfrm>
        </p:spPr>
        <p:txBody>
          <a:bodyPr>
            <a:noAutofit/>
          </a:bodyPr>
          <a:lstStyle/>
          <a:p>
            <a:r>
              <a:rPr lang="en-US" sz="2800" b="1" dirty="0">
                <a:solidFill>
                  <a:schemeClr val="accent1">
                    <a:lumMod val="75000"/>
                  </a:schemeClr>
                </a:solidFill>
                <a:latin typeface="Century Schoolbook" panose="02040604050505020304" pitchFamily="18" charset="0"/>
              </a:rPr>
              <a:t>1. </a:t>
            </a:r>
            <a:r>
              <a:rPr lang="en-US" sz="2800" b="1" u="sng" dirty="0">
                <a:solidFill>
                  <a:schemeClr val="accent1">
                    <a:lumMod val="75000"/>
                  </a:schemeClr>
                </a:solidFill>
                <a:latin typeface="Century Schoolbook" panose="02040604050505020304" pitchFamily="18" charset="0"/>
              </a:rPr>
              <a:t>High Cost Implementation</a:t>
            </a:r>
            <a:r>
              <a:rPr lang="en-US" sz="2800" b="1" dirty="0">
                <a:solidFill>
                  <a:schemeClr val="accent1">
                    <a:lumMod val="75000"/>
                  </a:schemeClr>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When considering virtualization, the average individual or corporation will incur relatively low costs.</a:t>
            </a:r>
          </a:p>
          <a:p>
            <a:r>
              <a:rPr lang="en-US" sz="2400" b="1" dirty="0">
                <a:latin typeface="Century Schoolbook" panose="02040604050505020304" pitchFamily="18" charset="0"/>
              </a:rPr>
              <a:t>ii) However, the implementation expenses for virtualized environment providers can be fairly significant.</a:t>
            </a:r>
          </a:p>
          <a:p>
            <a:r>
              <a:rPr lang="en-US" sz="2800" b="1" dirty="0">
                <a:solidFill>
                  <a:schemeClr val="accent1">
                    <a:lumMod val="75000"/>
                  </a:schemeClr>
                </a:solidFill>
                <a:latin typeface="Century Schoolbook" panose="02040604050505020304" pitchFamily="18" charset="0"/>
              </a:rPr>
              <a:t>2. </a:t>
            </a:r>
            <a:r>
              <a:rPr lang="en-US" sz="2800" b="1" u="sng" dirty="0">
                <a:solidFill>
                  <a:schemeClr val="accent1">
                    <a:lumMod val="75000"/>
                  </a:schemeClr>
                </a:solidFill>
                <a:latin typeface="Century Schoolbook" panose="02040604050505020304" pitchFamily="18" charset="0"/>
              </a:rPr>
              <a:t>Security Risks</a:t>
            </a:r>
            <a:r>
              <a:rPr lang="en-US" sz="2800" b="1" dirty="0">
                <a:solidFill>
                  <a:schemeClr val="accent1">
                    <a:lumMod val="75000"/>
                  </a:schemeClr>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Virtualizations opens the door to a capability of emulating a host in a completely transparent manner.</a:t>
            </a:r>
          </a:p>
          <a:p>
            <a:r>
              <a:rPr lang="en-US" sz="2400" b="1" dirty="0">
                <a:latin typeface="Century Schoolbook" panose="02040604050505020304" pitchFamily="18" charset="0"/>
              </a:rPr>
              <a:t>ii) Also malicious programs can preload themselves before the operating system.</a:t>
            </a:r>
          </a:p>
        </p:txBody>
      </p:sp>
    </p:spTree>
    <p:extLst>
      <p:ext uri="{BB962C8B-B14F-4D97-AF65-F5344CB8AC3E}">
        <p14:creationId xmlns:p14="http://schemas.microsoft.com/office/powerpoint/2010/main" val="927905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564FA-1BC5-9831-6A0F-42A74E4D3105}"/>
              </a:ext>
            </a:extLst>
          </p:cNvPr>
          <p:cNvSpPr>
            <a:spLocks noGrp="1"/>
          </p:cNvSpPr>
          <p:nvPr>
            <p:ph type="title"/>
          </p:nvPr>
        </p:nvSpPr>
        <p:spPr>
          <a:xfrm>
            <a:off x="677335" y="-321546"/>
            <a:ext cx="8596668" cy="170822"/>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7D05B019-EF96-22D5-F630-C465D1849E41}"/>
              </a:ext>
            </a:extLst>
          </p:cNvPr>
          <p:cNvSpPr>
            <a:spLocks noGrp="1"/>
          </p:cNvSpPr>
          <p:nvPr>
            <p:ph type="body" idx="1"/>
          </p:nvPr>
        </p:nvSpPr>
        <p:spPr>
          <a:xfrm>
            <a:off x="0" y="0"/>
            <a:ext cx="9867481" cy="5998866"/>
          </a:xfrm>
        </p:spPr>
        <p:txBody>
          <a:bodyPr>
            <a:normAutofit/>
          </a:bodyPr>
          <a:lstStyle/>
          <a:p>
            <a:r>
              <a:rPr lang="en-US" sz="2800" b="1" dirty="0">
                <a:solidFill>
                  <a:schemeClr val="accent1">
                    <a:lumMod val="75000"/>
                  </a:schemeClr>
                </a:solidFill>
                <a:latin typeface="Century Schoolbook" panose="02040604050505020304" pitchFamily="18" charset="0"/>
              </a:rPr>
              <a:t>3. </a:t>
            </a:r>
            <a:r>
              <a:rPr lang="en-US" sz="2800" b="1" u="sng" dirty="0">
                <a:solidFill>
                  <a:schemeClr val="accent1">
                    <a:lumMod val="75000"/>
                  </a:schemeClr>
                </a:solidFill>
                <a:latin typeface="Century Schoolbook" panose="02040604050505020304" pitchFamily="18" charset="0"/>
              </a:rPr>
              <a:t>External attack</a:t>
            </a:r>
            <a:r>
              <a:rPr lang="en-US" sz="2800" b="1" dirty="0">
                <a:solidFill>
                  <a:schemeClr val="accent1">
                    <a:lumMod val="75000"/>
                  </a:schemeClr>
                </a:solidFill>
                <a:latin typeface="Century Schoolbook" panose="02040604050505020304" pitchFamily="18" charset="0"/>
              </a:rPr>
              <a:t> : -</a:t>
            </a:r>
          </a:p>
          <a:p>
            <a:r>
              <a:rPr lang="en-US" sz="2400" b="1" dirty="0">
                <a:latin typeface="Century Schoolbook" panose="02040604050505020304" pitchFamily="18" charset="0"/>
              </a:rPr>
              <a:t>i) Virtual machines can potentially be infected with viruses, spyware and ransomware.</a:t>
            </a:r>
          </a:p>
          <a:p>
            <a:r>
              <a:rPr lang="en-US" sz="2400" b="1" dirty="0">
                <a:latin typeface="Century Schoolbook" panose="02040604050505020304" pitchFamily="18" charset="0"/>
              </a:rPr>
              <a:t>ii) These attacks can be launched by infected VM images or by people who have not received adequate security training.</a:t>
            </a:r>
            <a:endParaRPr lang="en-US" b="1" dirty="0">
              <a:latin typeface="Century Schoolbook" panose="02040604050505020304" pitchFamily="18" charset="0"/>
            </a:endParaRPr>
          </a:p>
          <a:p>
            <a:r>
              <a:rPr lang="en-US" sz="2800" b="1" dirty="0">
                <a:solidFill>
                  <a:schemeClr val="accent1">
                    <a:lumMod val="75000"/>
                  </a:schemeClr>
                </a:solidFill>
                <a:latin typeface="Century Schoolbook" panose="02040604050505020304" pitchFamily="18" charset="0"/>
              </a:rPr>
              <a:t>4. </a:t>
            </a:r>
            <a:r>
              <a:rPr lang="en-US" sz="2800" b="1" u="sng" dirty="0">
                <a:solidFill>
                  <a:schemeClr val="accent1">
                    <a:lumMod val="75000"/>
                  </a:schemeClr>
                </a:solidFill>
                <a:latin typeface="Century Schoolbook" panose="02040604050505020304" pitchFamily="18" charset="0"/>
              </a:rPr>
              <a:t>Performance Degradation</a:t>
            </a:r>
            <a:r>
              <a:rPr lang="en-US" sz="2800" b="1" dirty="0">
                <a:solidFill>
                  <a:schemeClr val="accent1">
                    <a:lumMod val="75000"/>
                  </a:schemeClr>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since virtualization interposes an abstraction layer between the guest and host, the guest can experience increased latencies.</a:t>
            </a:r>
          </a:p>
          <a:p>
            <a:r>
              <a:rPr lang="en-US" sz="2400" b="1" dirty="0">
                <a:latin typeface="Century Schoolbook" panose="02040604050505020304" pitchFamily="18" charset="0"/>
              </a:rPr>
              <a:t>ii) The causes of performance degradation can be traced back to the overhead by: Maintaining the status of Virtual processors, support </a:t>
            </a:r>
            <a:r>
              <a:rPr lang="en-US" sz="2400" b="1" dirty="0" err="1">
                <a:latin typeface="Century Schoolbook" panose="02040604050505020304" pitchFamily="18" charset="0"/>
              </a:rPr>
              <a:t>priveleged</a:t>
            </a:r>
            <a:r>
              <a:rPr lang="en-US" sz="2400" b="1" dirty="0">
                <a:latin typeface="Century Schoolbook" panose="02040604050505020304" pitchFamily="18" charset="0"/>
              </a:rPr>
              <a:t> instructions, support of paging within VM.</a:t>
            </a:r>
            <a:endParaRPr lang="en-IN" sz="2400" b="1" dirty="0">
              <a:latin typeface="Century Schoolbook" panose="02040604050505020304" pitchFamily="18" charset="0"/>
            </a:endParaRPr>
          </a:p>
          <a:p>
            <a:endParaRPr lang="en-IN" dirty="0"/>
          </a:p>
        </p:txBody>
      </p:sp>
    </p:spTree>
    <p:extLst>
      <p:ext uri="{BB962C8B-B14F-4D97-AF65-F5344CB8AC3E}">
        <p14:creationId xmlns:p14="http://schemas.microsoft.com/office/powerpoint/2010/main" val="104269317"/>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2134</TotalTime>
  <Words>1734</Words>
  <Application>Microsoft Office PowerPoint</Application>
  <PresentationFormat>Widescreen</PresentationFormat>
  <Paragraphs>100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Algerian</vt:lpstr>
      <vt:lpstr>Arial</vt:lpstr>
      <vt:lpstr>Century Schoolbook</vt:lpstr>
      <vt:lpstr>Trebuchet MS</vt:lpstr>
      <vt:lpstr>Wingdings</vt:lpstr>
      <vt:lpstr>Wingdings 3</vt:lpstr>
      <vt:lpstr>Facet</vt:lpstr>
      <vt:lpstr>02. virtualization</vt:lpstr>
      <vt:lpstr>2.1 introduction of virtualization : -</vt:lpstr>
      <vt:lpstr>Characteristics of virtualized environment : -</vt:lpstr>
      <vt:lpstr>Types of virtualization : -</vt:lpstr>
      <vt:lpstr>1. Application virtualization : -</vt:lpstr>
      <vt:lpstr>2. Network virtualization : -</vt:lpstr>
      <vt:lpstr>3. Desktop virtualization : -</vt:lpstr>
      <vt:lpstr>4. Storage virtualization : -</vt:lpstr>
      <vt:lpstr>5. Server virtualization : -</vt:lpstr>
      <vt:lpstr>6. Data virtualization : -</vt:lpstr>
      <vt:lpstr>2.3 technology examples : -               </vt:lpstr>
      <vt:lpstr>Microsoft hyper-v : -</vt:lpstr>
      <vt:lpstr>Kvm – based architecture : -</vt:lpstr>
      <vt:lpstr>Xen (para-virtualization) : - </vt:lpstr>
      <vt:lpstr>2.4 Advantages of virtualization : -</vt:lpstr>
      <vt:lpstr>Vm migration : -</vt:lpstr>
      <vt:lpstr>Vm consolidation : -</vt:lpstr>
      <vt:lpstr>Vm management : -</vt:lpstr>
      <vt:lpstr>2.5 disadvantages of virtualization :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2025-10-10T17:07:51Z</dcterms:created>
  <dcterms:modified xsi:type="dcterms:W3CDTF">2025-10-31T19:25:44Z</dcterms:modified>
</cp:coreProperties>
</file>