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sldIdLst>
    <p:sldId id="256" r:id="rId2"/>
    <p:sldId id="257" r:id="rId3"/>
    <p:sldId id="258" r:id="rId4"/>
    <p:sldId id="263" r:id="rId5"/>
    <p:sldId id="264" r:id="rId6"/>
    <p:sldId id="265" r:id="rId7"/>
    <p:sldId id="259" r:id="rId8"/>
    <p:sldId id="260" r:id="rId9"/>
    <p:sldId id="261" r:id="rId10"/>
    <p:sldId id="262" r:id="rId11"/>
    <p:sldId id="266" r:id="rId12"/>
    <p:sldId id="267" r:id="rId13"/>
    <p:sldId id="268" r:id="rId14"/>
    <p:sldId id="269" r:id="rId15"/>
    <p:sldId id="270" r:id="rId16"/>
    <p:sldId id="271" r:id="rId17"/>
    <p:sldId id="273" r:id="rId18"/>
    <p:sldId id="274" r:id="rId19"/>
    <p:sldId id="277" r:id="rId20"/>
    <p:sldId id="278"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7" autoAdjust="0"/>
    <p:restoredTop sz="94660"/>
  </p:normalViewPr>
  <p:slideViewPr>
    <p:cSldViewPr snapToGrid="0">
      <p:cViewPr varScale="1">
        <p:scale>
          <a:sx n="78" d="100"/>
          <a:sy n="78" d="100"/>
        </p:scale>
        <p:origin x="66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891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635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298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056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979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0495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8834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58961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Tree>
    <p:extLst>
      <p:ext uri="{BB962C8B-B14F-4D97-AF65-F5344CB8AC3E}">
        <p14:creationId xmlns:p14="http://schemas.microsoft.com/office/powerpoint/2010/main" val="1394689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162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46263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6215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9347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23364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6964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1929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33100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D2BE-D063-22CE-60A4-025A14D6E386}"/>
              </a:ext>
            </a:extLst>
          </p:cNvPr>
          <p:cNvSpPr>
            <a:spLocks noGrp="1"/>
          </p:cNvSpPr>
          <p:nvPr>
            <p:ph type="ctrTitle"/>
          </p:nvPr>
        </p:nvSpPr>
        <p:spPr>
          <a:xfrm>
            <a:off x="432620" y="2068019"/>
            <a:ext cx="9458633" cy="2531263"/>
          </a:xfrm>
        </p:spPr>
        <p:txBody>
          <a:bodyPr/>
          <a:lstStyle/>
          <a:p>
            <a:pPr algn="ctr"/>
            <a:r>
              <a:rPr lang="en-US" sz="6600" dirty="0">
                <a:latin typeface="Algerian" panose="04020705040A02060702" pitchFamily="82" charset="0"/>
              </a:rPr>
              <a:t>04. Cloud monitoring &amp; management </a:t>
            </a:r>
            <a:endParaRPr lang="en-IN" sz="6600" dirty="0">
              <a:latin typeface="Algerian" panose="04020705040A02060702" pitchFamily="82" charset="0"/>
            </a:endParaRPr>
          </a:p>
        </p:txBody>
      </p:sp>
      <p:sp>
        <p:nvSpPr>
          <p:cNvPr id="3" name="Subtitle 2">
            <a:extLst>
              <a:ext uri="{FF2B5EF4-FFF2-40B4-BE49-F238E27FC236}">
                <a16:creationId xmlns:a16="http://schemas.microsoft.com/office/drawing/2014/main" id="{88F2C61B-E70F-3CCE-D8A4-B7819C9CEF4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64490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CA30-6360-96BA-0258-1BFDBBC5FC18}"/>
              </a:ext>
            </a:extLst>
          </p:cNvPr>
          <p:cNvSpPr>
            <a:spLocks noGrp="1"/>
          </p:cNvSpPr>
          <p:nvPr>
            <p:ph type="title"/>
          </p:nvPr>
        </p:nvSpPr>
        <p:spPr>
          <a:xfrm>
            <a:off x="0" y="-137652"/>
            <a:ext cx="10245213" cy="928329"/>
          </a:xfrm>
        </p:spPr>
        <p:txBody>
          <a:bodyPr>
            <a:noAutofit/>
          </a:bodyPr>
          <a:lstStyle/>
          <a:p>
            <a:r>
              <a:rPr lang="en-US" sz="4000" dirty="0">
                <a:latin typeface="Algerian" panose="04020705040A02060702" pitchFamily="82" charset="0"/>
              </a:rPr>
              <a:t>4.1] </a:t>
            </a:r>
            <a:r>
              <a:rPr lang="en-US" sz="4000" u="sng" dirty="0">
                <a:latin typeface="Algerian" panose="04020705040A02060702" pitchFamily="82" charset="0"/>
              </a:rPr>
              <a:t>cloud service provider &amp; users</a:t>
            </a:r>
            <a:r>
              <a:rPr lang="en-US" sz="4000" dirty="0">
                <a:latin typeface="Algerian" panose="04020705040A02060702" pitchFamily="82" charset="0"/>
              </a:rPr>
              <a:t> : -</a:t>
            </a:r>
            <a:endParaRPr lang="en-IN" sz="4000" dirty="0">
              <a:latin typeface="Algerian" panose="04020705040A02060702" pitchFamily="82" charset="0"/>
            </a:endParaRPr>
          </a:p>
        </p:txBody>
      </p:sp>
      <p:sp>
        <p:nvSpPr>
          <p:cNvPr id="3" name="Text Placeholder 2">
            <a:extLst>
              <a:ext uri="{FF2B5EF4-FFF2-40B4-BE49-F238E27FC236}">
                <a16:creationId xmlns:a16="http://schemas.microsoft.com/office/drawing/2014/main" id="{C85B70C2-6028-E535-A022-4FA628B2099C}"/>
              </a:ext>
            </a:extLst>
          </p:cNvPr>
          <p:cNvSpPr>
            <a:spLocks noGrp="1"/>
          </p:cNvSpPr>
          <p:nvPr>
            <p:ph type="body" idx="1"/>
          </p:nvPr>
        </p:nvSpPr>
        <p:spPr>
          <a:xfrm>
            <a:off x="0" y="540775"/>
            <a:ext cx="11336594" cy="6317225"/>
          </a:xfrm>
        </p:spPr>
        <p:txBody>
          <a:bodyPr>
            <a:normAutofit fontScale="92500" lnSpcReduction="20000"/>
          </a:bodyPr>
          <a:lstStyle/>
          <a:p>
            <a:pPr marL="342900" indent="-342900">
              <a:buFont typeface="Wingdings" panose="05000000000000000000" pitchFamily="2" charset="2"/>
              <a:buChar char="Ø"/>
            </a:pPr>
            <a:r>
              <a:rPr lang="en-US" sz="2400" b="1" dirty="0">
                <a:latin typeface="Century Schoolbook" panose="02040604050505020304" pitchFamily="18" charset="0"/>
              </a:rPr>
              <a:t>Cloud Service Providers (CSP) provides on-demand cloud based services like computing power, data storage or applications over the internet.</a:t>
            </a:r>
          </a:p>
          <a:p>
            <a:pPr marL="342900" indent="-342900">
              <a:buFont typeface="Wingdings" panose="05000000000000000000" pitchFamily="2" charset="2"/>
              <a:buChar char="Ø"/>
            </a:pPr>
            <a:r>
              <a:rPr lang="en-US" sz="2400" b="1" dirty="0">
                <a:latin typeface="Century Schoolbook" panose="02040604050505020304" pitchFamily="18" charset="0"/>
              </a:rPr>
              <a:t>CSP offers these services to the user, and user can choose a CSP based on their needs and the services offered.</a:t>
            </a:r>
          </a:p>
          <a:p>
            <a:pPr marL="342900" indent="-342900">
              <a:buFont typeface="Wingdings" panose="05000000000000000000" pitchFamily="2" charset="2"/>
              <a:buChar char="Ø"/>
            </a:pPr>
            <a:r>
              <a:rPr lang="en-US" sz="2400" b="1" dirty="0">
                <a:latin typeface="Century Schoolbook" panose="02040604050505020304" pitchFamily="18" charset="0"/>
              </a:rPr>
              <a:t>Instead of building your own infrastructure for services, you can rent services from a cloud service provider.</a:t>
            </a:r>
          </a:p>
          <a:p>
            <a:pPr marL="342900" indent="-342900">
              <a:buFont typeface="Wingdings" panose="05000000000000000000" pitchFamily="2" charset="2"/>
              <a:buChar char="Ø"/>
            </a:pPr>
            <a:r>
              <a:rPr lang="en-US" sz="2400" b="1" dirty="0">
                <a:latin typeface="Century Schoolbook" panose="02040604050505020304" pitchFamily="18" charset="0"/>
              </a:rPr>
              <a:t>For Example- Amazon Web Services (AWS), Microsoft Azure, Google Cloud Platform, IBM Cloud Services, etc.</a:t>
            </a:r>
          </a:p>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IaaS Service Provider</a:t>
            </a:r>
            <a:r>
              <a:rPr lang="en-US" sz="2400" b="1" dirty="0">
                <a:solidFill>
                  <a:srgbClr val="0070C0"/>
                </a:solidFill>
                <a:latin typeface="Century Schoolbook" panose="02040604050505020304" pitchFamily="18" charset="0"/>
              </a:rPr>
              <a:t> : -</a:t>
            </a:r>
          </a:p>
          <a:p>
            <a:r>
              <a:rPr lang="en-US" sz="2200" b="1" dirty="0" err="1">
                <a:latin typeface="Century Schoolbook" panose="02040604050505020304" pitchFamily="18" charset="0"/>
              </a:rPr>
              <a:t>i</a:t>
            </a:r>
            <a:r>
              <a:rPr lang="en-US" sz="2200" b="1" dirty="0">
                <a:latin typeface="Century Schoolbook" panose="02040604050505020304" pitchFamily="18" charset="0"/>
              </a:rPr>
              <a:t>) Amazon Web Service (AWS).</a:t>
            </a:r>
          </a:p>
          <a:p>
            <a:r>
              <a:rPr lang="en-US" sz="2200" b="1" dirty="0">
                <a:latin typeface="Century Schoolbook" panose="02040604050505020304" pitchFamily="18" charset="0"/>
              </a:rPr>
              <a:t>ii) Microsoft Azure.</a:t>
            </a:r>
          </a:p>
          <a:p>
            <a:r>
              <a:rPr lang="en-US" sz="2200" b="1" dirty="0">
                <a:latin typeface="Century Schoolbook" panose="02040604050505020304" pitchFamily="18" charset="0"/>
              </a:rPr>
              <a:t>iii) Google Cloud Platform (GCP).</a:t>
            </a:r>
            <a:endParaRPr lang="en-US" sz="2400" b="1" dirty="0">
              <a:latin typeface="Century Schoolbook" panose="02040604050505020304" pitchFamily="18" charset="0"/>
            </a:endParaRP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PaaS Service Provider</a:t>
            </a:r>
            <a:r>
              <a:rPr lang="en-US" sz="2400" b="1" dirty="0">
                <a:solidFill>
                  <a:srgbClr val="0070C0"/>
                </a:solidFill>
                <a:latin typeface="Century Schoolbook" panose="02040604050505020304" pitchFamily="18" charset="0"/>
              </a:rPr>
              <a:t> : -</a:t>
            </a:r>
          </a:p>
          <a:p>
            <a:r>
              <a:rPr lang="en-US" sz="2200" b="1" dirty="0" err="1">
                <a:latin typeface="Century Schoolbook" panose="02040604050505020304" pitchFamily="18" charset="0"/>
              </a:rPr>
              <a:t>i</a:t>
            </a:r>
            <a:r>
              <a:rPr lang="en-US" sz="2200" b="1" dirty="0">
                <a:latin typeface="Century Schoolbook" panose="02040604050505020304" pitchFamily="18" charset="0"/>
              </a:rPr>
              <a:t>) Heroku.</a:t>
            </a:r>
          </a:p>
          <a:p>
            <a:r>
              <a:rPr lang="en-US" sz="2200" b="1" dirty="0">
                <a:latin typeface="Century Schoolbook" panose="02040604050505020304" pitchFamily="18" charset="0"/>
              </a:rPr>
              <a:t>ii) Google App Engine.</a:t>
            </a:r>
          </a:p>
          <a:p>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SaaS Service Provider</a:t>
            </a:r>
            <a:r>
              <a:rPr lang="en-US" sz="2400" b="1" dirty="0">
                <a:solidFill>
                  <a:srgbClr val="0070C0"/>
                </a:solidFill>
                <a:latin typeface="Century Schoolbook" panose="02040604050505020304" pitchFamily="18" charset="0"/>
              </a:rPr>
              <a:t> : -</a:t>
            </a:r>
          </a:p>
          <a:p>
            <a:r>
              <a:rPr lang="en-US" sz="2200" b="1" dirty="0" err="1">
                <a:latin typeface="Century Schoolbook" panose="02040604050505020304" pitchFamily="18" charset="0"/>
              </a:rPr>
              <a:t>i</a:t>
            </a:r>
            <a:r>
              <a:rPr lang="en-US" sz="2200" b="1" dirty="0">
                <a:latin typeface="Century Schoolbook" panose="02040604050505020304" pitchFamily="18" charset="0"/>
              </a:rPr>
              <a:t>) Google Workspace.</a:t>
            </a:r>
          </a:p>
        </p:txBody>
      </p:sp>
    </p:spTree>
    <p:extLst>
      <p:ext uri="{BB962C8B-B14F-4D97-AF65-F5344CB8AC3E}">
        <p14:creationId xmlns:p14="http://schemas.microsoft.com/office/powerpoint/2010/main" val="2537905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086BC-B6CB-BFFA-BDEC-451DC38C7271}"/>
              </a:ext>
            </a:extLst>
          </p:cNvPr>
          <p:cNvSpPr>
            <a:spLocks noGrp="1"/>
          </p:cNvSpPr>
          <p:nvPr>
            <p:ph type="title"/>
          </p:nvPr>
        </p:nvSpPr>
        <p:spPr>
          <a:xfrm>
            <a:off x="0" y="-68826"/>
            <a:ext cx="9891252" cy="737980"/>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Users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184533B-0432-73D2-E253-C6E7FE3108D0}"/>
              </a:ext>
            </a:extLst>
          </p:cNvPr>
          <p:cNvSpPr>
            <a:spLocks noGrp="1"/>
          </p:cNvSpPr>
          <p:nvPr>
            <p:ph type="body" idx="1"/>
          </p:nvPr>
        </p:nvSpPr>
        <p:spPr>
          <a:xfrm>
            <a:off x="0" y="679547"/>
            <a:ext cx="9576619" cy="5603827"/>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'user' in context of CSP is a person, group or entity who utilizes the CSPS services and resources.</a:t>
            </a:r>
          </a:p>
          <a:p>
            <a:pPr marL="285750" indent="-285750">
              <a:buFont typeface="Wingdings" panose="05000000000000000000" pitchFamily="2" charset="2"/>
              <a:buChar char="Ø"/>
            </a:pPr>
            <a:r>
              <a:rPr lang="en-US" sz="2400" b="1" dirty="0">
                <a:latin typeface="Century Schoolbook" panose="02040604050505020304" pitchFamily="18" charset="0"/>
              </a:rPr>
              <a:t>The platform of the CSP is used by the users to access and make use of a variety of cloud services including computing capacity, storage, networking &amp; software applications.</a:t>
            </a:r>
            <a:endParaRPr lang="en-US" sz="2000" b="1" dirty="0">
              <a:latin typeface="Century Schoolbook" panose="02040604050505020304" pitchFamily="18" charset="0"/>
            </a:endParaRPr>
          </a:p>
          <a:p>
            <a:pPr marL="285750" indent="-285750">
              <a:buFont typeface="Wingdings" panose="05000000000000000000" pitchFamily="2" charset="2"/>
              <a:buChar char="Ø"/>
            </a:pPr>
            <a:r>
              <a:rPr lang="en-US" sz="2400" b="1" dirty="0">
                <a:latin typeface="Century Schoolbook" panose="02040604050505020304" pitchFamily="18" charset="0"/>
              </a:rPr>
              <a:t>Cloud service users are as Follows : -</a:t>
            </a:r>
            <a:endParaRPr lang="en-US" sz="2000" b="1" dirty="0">
              <a:latin typeface="Century Schoolbook" panose="02040604050505020304" pitchFamily="18" charset="0"/>
            </a:endParaRPr>
          </a:p>
          <a:p>
            <a:r>
              <a:rPr lang="en-US" sz="2400" b="1" dirty="0">
                <a:latin typeface="Century Schoolbook" panose="02040604050505020304" pitchFamily="18" charset="0"/>
              </a:rPr>
              <a:t>1. Individuals.</a:t>
            </a:r>
          </a:p>
          <a:p>
            <a:r>
              <a:rPr lang="en-US" sz="2400" b="1" dirty="0">
                <a:latin typeface="Century Schoolbook" panose="02040604050505020304" pitchFamily="18" charset="0"/>
              </a:rPr>
              <a:t>2. Small Businesses.</a:t>
            </a:r>
          </a:p>
          <a:p>
            <a:r>
              <a:rPr lang="en-US" sz="2400" b="1" dirty="0">
                <a:latin typeface="Century Schoolbook" panose="02040604050505020304" pitchFamily="18" charset="0"/>
              </a:rPr>
              <a:t>3. Large Enterprises.</a:t>
            </a:r>
          </a:p>
          <a:p>
            <a:r>
              <a:rPr lang="en-US" sz="2400" b="1" dirty="0">
                <a:latin typeface="Century Schoolbook" panose="02040604050505020304" pitchFamily="18" charset="0"/>
              </a:rPr>
              <a:t>4. Developers.</a:t>
            </a:r>
          </a:p>
          <a:p>
            <a:r>
              <a:rPr lang="en-US" sz="2400" b="1" dirty="0">
                <a:latin typeface="Century Schoolbook" panose="02040604050505020304" pitchFamily="18" charset="0"/>
              </a:rPr>
              <a:t>5. </a:t>
            </a:r>
            <a:r>
              <a:rPr lang="en-US" sz="2400" b="1" dirty="0" err="1">
                <a:latin typeface="Century Schoolbook" panose="02040604050505020304" pitchFamily="18" charset="0"/>
              </a:rPr>
              <a:t>Eductional</a:t>
            </a:r>
            <a:r>
              <a:rPr lang="en-US" sz="2400" b="1" dirty="0">
                <a:latin typeface="Century Schoolbook" panose="02040604050505020304" pitchFamily="18" charset="0"/>
              </a:rPr>
              <a:t> Institutions.</a:t>
            </a:r>
          </a:p>
          <a:p>
            <a:r>
              <a:rPr lang="en-US" sz="2400" b="1" dirty="0">
                <a:latin typeface="Century Schoolbook" panose="02040604050505020304" pitchFamily="18" charset="0"/>
              </a:rPr>
              <a:t>6. Government Agencies.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892905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9863-FEBA-9B94-0043-9E1ACA951C10}"/>
              </a:ext>
            </a:extLst>
          </p:cNvPr>
          <p:cNvSpPr>
            <a:spLocks noGrp="1"/>
          </p:cNvSpPr>
          <p:nvPr>
            <p:ph type="title"/>
          </p:nvPr>
        </p:nvSpPr>
        <p:spPr>
          <a:xfrm>
            <a:off x="8740" y="0"/>
            <a:ext cx="12183259" cy="640080"/>
          </a:xfrm>
        </p:spPr>
        <p:txBody>
          <a:bodyPr>
            <a:noAutofit/>
          </a:bodyPr>
          <a:lstStyle/>
          <a:p>
            <a:r>
              <a:rPr lang="en-US" sz="3200" dirty="0">
                <a:latin typeface="Algerian" panose="04020705040A02060702" pitchFamily="82" charset="0"/>
              </a:rPr>
              <a:t>4.2] </a:t>
            </a:r>
            <a:r>
              <a:rPr lang="en-US" sz="3200" u="sng" dirty="0">
                <a:latin typeface="Algerian" panose="04020705040A02060702" pitchFamily="82" charset="0"/>
              </a:rPr>
              <a:t>Architecture of Federated Cloud Computing</a:t>
            </a:r>
            <a:r>
              <a:rPr lang="en-US" sz="3200" dirty="0">
                <a:latin typeface="Algerian" panose="04020705040A02060702" pitchFamily="82" charset="0"/>
              </a:rPr>
              <a:t> : -</a:t>
            </a:r>
            <a:endParaRPr lang="en-IN" sz="3200" dirty="0">
              <a:latin typeface="Algerian" panose="04020705040A02060702" pitchFamily="82" charset="0"/>
            </a:endParaRPr>
          </a:p>
        </p:txBody>
      </p:sp>
      <p:sp>
        <p:nvSpPr>
          <p:cNvPr id="3" name="Text Placeholder 2">
            <a:extLst>
              <a:ext uri="{FF2B5EF4-FFF2-40B4-BE49-F238E27FC236}">
                <a16:creationId xmlns:a16="http://schemas.microsoft.com/office/drawing/2014/main" id="{F4775DB4-17A5-371A-4419-E9BBD00A5E4B}"/>
              </a:ext>
            </a:extLst>
          </p:cNvPr>
          <p:cNvSpPr>
            <a:spLocks noGrp="1"/>
          </p:cNvSpPr>
          <p:nvPr>
            <p:ph type="body" idx="1"/>
          </p:nvPr>
        </p:nvSpPr>
        <p:spPr>
          <a:xfrm>
            <a:off x="0" y="487680"/>
            <a:ext cx="10027920" cy="500888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Federated Cloud Computing is an advanced cloud model where multiple independent cloud service providers collaborate to share resources, services, and infrastructures.</a:t>
            </a:r>
          </a:p>
          <a:p>
            <a:pPr marL="342900" indent="-342900">
              <a:buFont typeface="Wingdings" panose="05000000000000000000" pitchFamily="2" charset="2"/>
              <a:buChar char="Ø"/>
            </a:pPr>
            <a:r>
              <a:rPr lang="en-US" sz="2400" b="1" dirty="0">
                <a:latin typeface="Century Schoolbook" panose="02040604050505020304" pitchFamily="18" charset="0"/>
              </a:rPr>
              <a:t>The main objective of this architecture is to overcome the limitations of a single cloud provider, such as resource shortage, geographic restrictions, or service unavailability.</a:t>
            </a:r>
          </a:p>
          <a:p>
            <a:pPr marL="342900" indent="-342900">
              <a:buFont typeface="Wingdings" panose="05000000000000000000" pitchFamily="2" charset="2"/>
              <a:buChar char="Ø"/>
            </a:pPr>
            <a:r>
              <a:rPr lang="en-US" sz="2400" b="1" dirty="0">
                <a:latin typeface="Century Schoolbook" panose="02040604050505020304" pitchFamily="18" charset="0"/>
              </a:rPr>
              <a:t>The architecture of federated cloud computing consists of several key components that work together to ensure interoperability, scalability, and efficient resource utilization across multiple clouds.</a:t>
            </a: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70867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DC898-7111-9F16-7391-1B8460B85EF1}"/>
              </a:ext>
            </a:extLst>
          </p:cNvPr>
          <p:cNvSpPr>
            <a:spLocks noGrp="1"/>
          </p:cNvSpPr>
          <p:nvPr>
            <p:ph type="title"/>
          </p:nvPr>
        </p:nvSpPr>
        <p:spPr>
          <a:xfrm>
            <a:off x="677335" y="-504162"/>
            <a:ext cx="8596668" cy="457200"/>
          </a:xfrm>
        </p:spPr>
        <p:txBody>
          <a:bodyPr>
            <a:normAutofit fontScale="90000"/>
          </a:bodyPr>
          <a:lstStyle/>
          <a:p>
            <a:endParaRPr lang="en-IN"/>
          </a:p>
        </p:txBody>
      </p:sp>
      <p:sp>
        <p:nvSpPr>
          <p:cNvPr id="3" name="Text Placeholder 2">
            <a:extLst>
              <a:ext uri="{FF2B5EF4-FFF2-40B4-BE49-F238E27FC236}">
                <a16:creationId xmlns:a16="http://schemas.microsoft.com/office/drawing/2014/main" id="{A08034BB-A75C-E561-7E19-999A9E4645D7}"/>
              </a:ext>
            </a:extLst>
          </p:cNvPr>
          <p:cNvSpPr>
            <a:spLocks noGrp="1"/>
          </p:cNvSpPr>
          <p:nvPr>
            <p:ph type="body" idx="1"/>
          </p:nvPr>
        </p:nvSpPr>
        <p:spPr>
          <a:xfrm>
            <a:off x="0" y="0"/>
            <a:ext cx="9591040" cy="6858000"/>
          </a:xfrm>
        </p:spPr>
        <p:txBody>
          <a:bodyPr>
            <a:normAutofit lnSpcReduction="10000"/>
          </a:bodyPr>
          <a:lstStyle/>
          <a:p>
            <a:r>
              <a:rPr lang="en-US" sz="2400" dirty="0">
                <a:solidFill>
                  <a:srgbClr val="0070C0"/>
                </a:solidFill>
                <a:latin typeface="Algerian" panose="04020705040A02060702" pitchFamily="82" charset="0"/>
              </a:rPr>
              <a:t>1. </a:t>
            </a:r>
            <a:r>
              <a:rPr lang="en-US" sz="2400" u="sng" dirty="0">
                <a:solidFill>
                  <a:srgbClr val="0070C0"/>
                </a:solidFill>
                <a:latin typeface="Algerian" panose="04020705040A02060702" pitchFamily="82" charset="0"/>
              </a:rPr>
              <a:t>Cloud Providers</a:t>
            </a:r>
            <a:r>
              <a:rPr lang="en-US" sz="2400" dirty="0">
                <a:solidFill>
                  <a:srgbClr val="0070C0"/>
                </a:solidFill>
                <a:latin typeface="Algerian" panose="04020705040A02060702" pitchFamily="82" charset="0"/>
              </a:rPr>
              <a:t> : - </a:t>
            </a:r>
            <a:r>
              <a:rPr lang="en-US" sz="2000" b="1" dirty="0">
                <a:latin typeface="Century Schoolbook" panose="02040604050505020304" pitchFamily="18" charset="0"/>
              </a:rPr>
              <a:t>These are independent cloud service providers (public or private) that contribute computing resources such as storage, processing power, or applications to the federation.</a:t>
            </a:r>
          </a:p>
          <a:p>
            <a:r>
              <a:rPr lang="en-US" sz="2400" dirty="0">
                <a:solidFill>
                  <a:srgbClr val="0070C0"/>
                </a:solidFill>
                <a:latin typeface="Algerian" panose="04020705040A02060702" pitchFamily="82" charset="0"/>
              </a:rPr>
              <a:t>2. </a:t>
            </a:r>
            <a:r>
              <a:rPr lang="en-US" sz="2400" u="sng" dirty="0">
                <a:solidFill>
                  <a:srgbClr val="0070C0"/>
                </a:solidFill>
                <a:latin typeface="Algerian" panose="04020705040A02060702" pitchFamily="82" charset="0"/>
              </a:rPr>
              <a:t>Cloud Broker</a:t>
            </a:r>
            <a:r>
              <a:rPr lang="en-US" sz="2400" dirty="0">
                <a:solidFill>
                  <a:srgbClr val="0070C0"/>
                </a:solidFill>
                <a:latin typeface="Algerian" panose="04020705040A02060702" pitchFamily="82" charset="0"/>
              </a:rPr>
              <a:t> : - </a:t>
            </a:r>
            <a:r>
              <a:rPr lang="en-US" sz="2000" b="1" dirty="0">
                <a:latin typeface="Century Schoolbook" panose="02040604050505020304" pitchFamily="18" charset="0"/>
              </a:rPr>
              <a:t>The broker acts as an intermediary between the user and multiple cloud providers. It helps in selecting the best provider based on parameters like cost, performance and availability.</a:t>
            </a:r>
          </a:p>
          <a:p>
            <a:r>
              <a:rPr lang="en-US" sz="2400" dirty="0">
                <a:solidFill>
                  <a:srgbClr val="0070C0"/>
                </a:solidFill>
                <a:latin typeface="Algerian" panose="04020705040A02060702" pitchFamily="82" charset="0"/>
              </a:rPr>
              <a:t>3. </a:t>
            </a:r>
            <a:r>
              <a:rPr lang="en-US" sz="2400" u="sng" dirty="0">
                <a:solidFill>
                  <a:srgbClr val="0070C0"/>
                </a:solidFill>
                <a:latin typeface="Algerian" panose="04020705040A02060702" pitchFamily="82" charset="0"/>
              </a:rPr>
              <a:t>Cloud Coordinator (Manager)</a:t>
            </a:r>
            <a:r>
              <a:rPr lang="en-US" sz="2400" dirty="0">
                <a:solidFill>
                  <a:srgbClr val="0070C0"/>
                </a:solidFill>
                <a:latin typeface="Algerian" panose="04020705040A02060702" pitchFamily="82" charset="0"/>
              </a:rPr>
              <a:t> : - </a:t>
            </a:r>
            <a:r>
              <a:rPr lang="en-US" sz="2000" b="1" dirty="0">
                <a:latin typeface="Century Schoolbook" panose="02040604050505020304" pitchFamily="18" charset="0"/>
              </a:rPr>
              <a:t>Each cloud in the federation has a coordinator responsible for managing local resources and handling communication with other clouds in the federation.</a:t>
            </a:r>
            <a:endParaRPr lang="en-US" b="1" dirty="0">
              <a:latin typeface="Century Schoolbook" panose="02040604050505020304" pitchFamily="18" charset="0"/>
            </a:endParaRPr>
          </a:p>
          <a:p>
            <a:r>
              <a:rPr lang="en-US" sz="2400" dirty="0">
                <a:solidFill>
                  <a:srgbClr val="0070C0"/>
                </a:solidFill>
                <a:latin typeface="Algerian" panose="04020705040A02060702" pitchFamily="82" charset="0"/>
              </a:rPr>
              <a:t>4. </a:t>
            </a:r>
            <a:r>
              <a:rPr lang="en-US" sz="2400" u="sng" dirty="0">
                <a:solidFill>
                  <a:srgbClr val="0070C0"/>
                </a:solidFill>
                <a:latin typeface="Algerian" panose="04020705040A02060702" pitchFamily="82" charset="0"/>
              </a:rPr>
              <a:t>Cloud Exchange (Marketplace)</a:t>
            </a:r>
            <a:r>
              <a:rPr lang="en-US" sz="2400" dirty="0">
                <a:solidFill>
                  <a:srgbClr val="0070C0"/>
                </a:solidFill>
                <a:latin typeface="Algerian" panose="04020705040A02060702" pitchFamily="82" charset="0"/>
              </a:rPr>
              <a:t> : - </a:t>
            </a:r>
            <a:r>
              <a:rPr lang="en-US" sz="2000" b="1" dirty="0">
                <a:latin typeface="Century Schoolbook" panose="02040604050505020304" pitchFamily="18" charset="0"/>
              </a:rPr>
              <a:t>The exchange acts as a trading platform where cloud providers publish their available resources and users or brokers can negotiate for the best deal.</a:t>
            </a:r>
          </a:p>
          <a:p>
            <a:r>
              <a:rPr lang="en-US" sz="2400" dirty="0">
                <a:solidFill>
                  <a:srgbClr val="0070C0"/>
                </a:solidFill>
                <a:latin typeface="Algerian" panose="04020705040A02060702" pitchFamily="82" charset="0"/>
              </a:rPr>
              <a:t>5. </a:t>
            </a:r>
            <a:r>
              <a:rPr lang="en-US" sz="2400" u="sng" dirty="0">
                <a:solidFill>
                  <a:srgbClr val="0070C0"/>
                </a:solidFill>
                <a:latin typeface="Algerian" panose="04020705040A02060702" pitchFamily="82" charset="0"/>
              </a:rPr>
              <a:t>Federation Manager</a:t>
            </a:r>
            <a:r>
              <a:rPr lang="en-US" sz="2400" dirty="0">
                <a:solidFill>
                  <a:srgbClr val="0070C0"/>
                </a:solidFill>
                <a:latin typeface="Algerian" panose="04020705040A02060702" pitchFamily="82" charset="0"/>
              </a:rPr>
              <a:t> : -</a:t>
            </a:r>
            <a:r>
              <a:rPr lang="en-US" b="1" dirty="0"/>
              <a:t> </a:t>
            </a:r>
            <a:r>
              <a:rPr lang="en-US" sz="2000" b="1" dirty="0">
                <a:latin typeface="Century Schoolbook" panose="02040604050505020304" pitchFamily="18" charset="0"/>
              </a:rPr>
              <a:t>This component is responsible for maintaining agreements and policies between the participating clouds. It ensures trust, authentication, and resource sharing according to defined service-level agreements (SLAs).</a:t>
            </a:r>
          </a:p>
          <a:p>
            <a:r>
              <a:rPr lang="en-US" sz="2400" dirty="0">
                <a:solidFill>
                  <a:srgbClr val="0070C0"/>
                </a:solidFill>
                <a:latin typeface="Algerian" panose="04020705040A02060702" pitchFamily="82" charset="0"/>
              </a:rPr>
              <a:t>6. </a:t>
            </a:r>
            <a:r>
              <a:rPr lang="en-US" sz="2400" u="sng" dirty="0">
                <a:solidFill>
                  <a:srgbClr val="0070C0"/>
                </a:solidFill>
                <a:latin typeface="Algerian" panose="04020705040A02060702" pitchFamily="82" charset="0"/>
              </a:rPr>
              <a:t>Users or Clients</a:t>
            </a:r>
            <a:r>
              <a:rPr lang="en-US" sz="2400" dirty="0">
                <a:solidFill>
                  <a:srgbClr val="0070C0"/>
                </a:solidFill>
                <a:latin typeface="Algerian" panose="04020705040A02060702" pitchFamily="82" charset="0"/>
              </a:rPr>
              <a:t> : - </a:t>
            </a:r>
            <a:r>
              <a:rPr lang="en-US" sz="2000" b="1" dirty="0">
                <a:latin typeface="Century Schoolbook" panose="02040604050505020304" pitchFamily="18" charset="0"/>
              </a:rPr>
              <a:t>End-users submit their application or service requests to the federated system. The system automatically allocates resources from the best available cloud provider(s).</a:t>
            </a:r>
          </a:p>
          <a:p>
            <a:endParaRPr lang="en-IN" dirty="0"/>
          </a:p>
        </p:txBody>
      </p:sp>
    </p:spTree>
    <p:extLst>
      <p:ext uri="{BB962C8B-B14F-4D97-AF65-F5344CB8AC3E}">
        <p14:creationId xmlns:p14="http://schemas.microsoft.com/office/powerpoint/2010/main" val="370429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5EA16-1851-DA08-E61D-A72CA0CC8FAD}"/>
              </a:ext>
            </a:extLst>
          </p:cNvPr>
          <p:cNvSpPr>
            <a:spLocks noGrp="1"/>
          </p:cNvSpPr>
          <p:nvPr>
            <p:ph type="title"/>
          </p:nvPr>
        </p:nvSpPr>
        <p:spPr>
          <a:xfrm>
            <a:off x="0" y="-71120"/>
            <a:ext cx="10200640" cy="791238"/>
          </a:xfrm>
        </p:spPr>
        <p:txBody>
          <a:bodyPr>
            <a:normAutofit fontScale="90000"/>
          </a:bodyPr>
          <a:lstStyle/>
          <a:p>
            <a:r>
              <a:rPr lang="en-US" dirty="0">
                <a:latin typeface="Algerian" panose="04020705040A02060702" pitchFamily="82" charset="0"/>
              </a:rPr>
              <a:t>4.3] </a:t>
            </a:r>
            <a:r>
              <a:rPr lang="en-US" u="sng" dirty="0">
                <a:latin typeface="Algerian" panose="04020705040A02060702" pitchFamily="82" charset="0"/>
              </a:rPr>
              <a:t>service level agreement (</a:t>
            </a:r>
            <a:r>
              <a:rPr lang="en-US" u="sng" dirty="0" err="1">
                <a:latin typeface="Algerian" panose="04020705040A02060702" pitchFamily="82" charset="0"/>
              </a:rPr>
              <a:t>sla</a:t>
            </a:r>
            <a:r>
              <a:rPr lang="en-US" u="sng" dirty="0">
                <a:latin typeface="Algerian" panose="04020705040A02060702" pitchFamily="82" charset="0"/>
              </a:rPr>
              <a: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5B42CAE-86E5-6E80-2B86-D6EB514C44AF}"/>
              </a:ext>
            </a:extLst>
          </p:cNvPr>
          <p:cNvSpPr>
            <a:spLocks noGrp="1"/>
          </p:cNvSpPr>
          <p:nvPr>
            <p:ph type="body" idx="1"/>
          </p:nvPr>
        </p:nvSpPr>
        <p:spPr>
          <a:xfrm>
            <a:off x="0" y="470706"/>
            <a:ext cx="9645445" cy="613788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Service Level Agreement (SLA) is a formal contract between a service provider and a customer that defines the expected level of service. </a:t>
            </a:r>
          </a:p>
          <a:p>
            <a:pPr marL="342900" indent="-342900">
              <a:buFont typeface="Wingdings" panose="05000000000000000000" pitchFamily="2" charset="2"/>
              <a:buChar char="Ø"/>
            </a:pPr>
            <a:r>
              <a:rPr lang="en-US" sz="2400" b="1" dirty="0">
                <a:latin typeface="Century Schoolbook" panose="02040604050505020304" pitchFamily="18" charset="0"/>
              </a:rPr>
              <a:t>It specifies measurable performance metrics, responsibilities, and guarantees regarding service quality, availability, and responsiveness.</a:t>
            </a:r>
          </a:p>
          <a:p>
            <a:pPr marL="342900" indent="-342900">
              <a:buFont typeface="Wingdings" panose="05000000000000000000" pitchFamily="2" charset="2"/>
              <a:buChar char="Ø"/>
            </a:pPr>
            <a:r>
              <a:rPr lang="en-US" sz="2400" b="1" dirty="0">
                <a:latin typeface="Century Schoolbook" panose="02040604050505020304" pitchFamily="18" charset="0"/>
              </a:rPr>
              <a:t>SLA Management refers to the process of creating, monitoring, and maintaining these agreements to ensure that both parties meet their commitments. </a:t>
            </a:r>
          </a:p>
          <a:p>
            <a:pPr marL="342900" indent="-342900">
              <a:buFont typeface="Wingdings" panose="05000000000000000000" pitchFamily="2" charset="2"/>
              <a:buChar char="Ø"/>
            </a:pPr>
            <a:r>
              <a:rPr lang="en-US" sz="2400" b="1" dirty="0">
                <a:latin typeface="Century Schoolbook" panose="02040604050505020304" pitchFamily="18" charset="0"/>
              </a:rPr>
              <a:t>It plays a crucial role in cloud computing, networking, and IT service management by ensuring transparency and accountability between users and service providers.</a:t>
            </a:r>
          </a:p>
          <a:p>
            <a:pPr marL="342900" indent="-342900">
              <a:buFont typeface="Wingdings" panose="05000000000000000000" pitchFamily="2" charset="2"/>
              <a:buChar char="Ø"/>
            </a:pPr>
            <a:endParaRPr lang="en-US" sz="2400" b="1" dirty="0">
              <a:latin typeface="Century Schoolbook" panose="02040604050505020304" pitchFamily="18" charset="0"/>
            </a:endParaRP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82209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5D551-BEFB-DDBB-4C44-4B55553E2B37}"/>
              </a:ext>
            </a:extLst>
          </p:cNvPr>
          <p:cNvSpPr>
            <a:spLocks noGrp="1"/>
          </p:cNvSpPr>
          <p:nvPr>
            <p:ph type="title"/>
          </p:nvPr>
        </p:nvSpPr>
        <p:spPr>
          <a:xfrm>
            <a:off x="0" y="-1"/>
            <a:ext cx="9567878" cy="698651"/>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sla</a:t>
            </a:r>
            <a:r>
              <a:rPr lang="en-US" u="sng" dirty="0">
                <a:latin typeface="Algerian" panose="04020705040A02060702" pitchFamily="82" charset="0"/>
              </a:rPr>
              <a:t> management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13DC7AC-0480-849F-6AB3-0AA62F0778B7}"/>
              </a:ext>
            </a:extLst>
          </p:cNvPr>
          <p:cNvSpPr>
            <a:spLocks noGrp="1"/>
          </p:cNvSpPr>
          <p:nvPr>
            <p:ph type="body" idx="1"/>
          </p:nvPr>
        </p:nvSpPr>
        <p:spPr>
          <a:xfrm>
            <a:off x="0" y="619432"/>
            <a:ext cx="9665110" cy="528483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service level Agreement (SLA) is the bond for performance negotiated between the cloud services provider of clients.</a:t>
            </a:r>
          </a:p>
          <a:p>
            <a:pPr marL="342900" indent="-342900">
              <a:buFont typeface="Wingdings" panose="05000000000000000000" pitchFamily="2" charset="2"/>
              <a:buChar char="Ø"/>
            </a:pPr>
            <a:r>
              <a:rPr lang="en-US" sz="2400" b="1" dirty="0">
                <a:latin typeface="Century Schoolbook" panose="02040604050505020304" pitchFamily="18" charset="0"/>
              </a:rPr>
              <a:t>SLA provides a framework within which both seller an buyer of a service can pursue a profitable service business relationship.</a:t>
            </a:r>
          </a:p>
          <a:p>
            <a:pPr marL="342900" indent="-342900">
              <a:buFont typeface="Wingdings" panose="05000000000000000000" pitchFamily="2" charset="2"/>
              <a:buChar char="Ø"/>
            </a:pPr>
            <a:r>
              <a:rPr lang="en-US" sz="2400" b="1" dirty="0">
                <a:latin typeface="Century Schoolbook" panose="02040604050505020304" pitchFamily="18" charset="0"/>
              </a:rPr>
              <a:t>It set expectations and </a:t>
            </a:r>
            <a:r>
              <a:rPr lang="en-US" sz="2400" b="1" dirty="0" err="1">
                <a:latin typeface="Century Schoolbook" panose="02040604050505020304" pitchFamily="18" charset="0"/>
              </a:rPr>
              <a:t>responsiblities</a:t>
            </a:r>
            <a:r>
              <a:rPr lang="en-US" sz="2400" b="1" dirty="0">
                <a:latin typeface="Century Schoolbook" panose="02040604050505020304" pitchFamily="18" charset="0"/>
              </a:rPr>
              <a:t> of both involved parties.</a:t>
            </a:r>
          </a:p>
          <a:p>
            <a:r>
              <a:rPr lang="en-US" sz="2400" b="1" dirty="0">
                <a:latin typeface="Century Schoolbook" panose="02040604050505020304" pitchFamily="18" charset="0"/>
              </a:rPr>
              <a:t>• </a:t>
            </a:r>
            <a:r>
              <a:rPr lang="en-US" sz="2400" b="1" dirty="0">
                <a:solidFill>
                  <a:srgbClr val="0070C0"/>
                </a:solidFill>
                <a:latin typeface="Century Schoolbook" panose="02040604050505020304" pitchFamily="18" charset="0"/>
              </a:rPr>
              <a:t>Types of SLA:</a:t>
            </a:r>
          </a:p>
          <a:p>
            <a:r>
              <a:rPr lang="en-US" sz="2400" b="1" dirty="0">
                <a:latin typeface="Century Schoolbook" panose="02040604050505020304" pitchFamily="18" charset="0"/>
              </a:rPr>
              <a:t>1) Customer-based SLA.</a:t>
            </a:r>
          </a:p>
          <a:p>
            <a:r>
              <a:rPr lang="en-US" sz="2400" b="1" dirty="0">
                <a:latin typeface="Century Schoolbook" panose="02040604050505020304" pitchFamily="18" charset="0"/>
              </a:rPr>
              <a:t>2) service-based SLA.</a:t>
            </a:r>
          </a:p>
          <a:p>
            <a:r>
              <a:rPr lang="en-US" sz="2400" b="1" dirty="0">
                <a:latin typeface="Century Schoolbook" panose="02040604050505020304" pitchFamily="18" charset="0"/>
              </a:rPr>
              <a:t>3) Multilevel SLA.</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228105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CDFA-34B7-7B24-BE81-862B8CD18217}"/>
              </a:ext>
            </a:extLst>
          </p:cNvPr>
          <p:cNvSpPr>
            <a:spLocks noGrp="1"/>
          </p:cNvSpPr>
          <p:nvPr>
            <p:ph type="title"/>
          </p:nvPr>
        </p:nvSpPr>
        <p:spPr>
          <a:xfrm>
            <a:off x="28406" y="0"/>
            <a:ext cx="8596668" cy="816638"/>
          </a:xfrm>
        </p:spPr>
        <p:txBody>
          <a:bodyPr/>
          <a:lstStyle/>
          <a:p>
            <a:r>
              <a:rPr lang="en-US" dirty="0">
                <a:latin typeface="Algerian" panose="04020705040A02060702" pitchFamily="82" charset="0"/>
              </a:rPr>
              <a:t>1. </a:t>
            </a:r>
            <a:r>
              <a:rPr lang="en-US" u="sng" dirty="0">
                <a:latin typeface="Algerian" panose="04020705040A02060702" pitchFamily="82" charset="0"/>
              </a:rPr>
              <a:t>Customer-level </a:t>
            </a:r>
            <a:r>
              <a:rPr lang="en-US" u="sng" dirty="0" err="1">
                <a:latin typeface="Algerian" panose="04020705040A02060702" pitchFamily="82" charset="0"/>
              </a:rPr>
              <a:t>sla</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B3E6807-89F3-E37C-6A6E-6B6E08683B1F}"/>
              </a:ext>
            </a:extLst>
          </p:cNvPr>
          <p:cNvSpPr>
            <a:spLocks noGrp="1"/>
          </p:cNvSpPr>
          <p:nvPr>
            <p:ph type="body" idx="1"/>
          </p:nvPr>
        </p:nvSpPr>
        <p:spPr>
          <a:xfrm>
            <a:off x="28406" y="577387"/>
            <a:ext cx="9961169" cy="337518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An agreement that covers all the services used by a individual customer.</a:t>
            </a:r>
          </a:p>
          <a:p>
            <a:pPr marL="342900" indent="-342900">
              <a:buFont typeface="Wingdings" panose="05000000000000000000" pitchFamily="2" charset="2"/>
              <a:buChar char="Ø"/>
            </a:pPr>
            <a:r>
              <a:rPr lang="en-US" sz="2400" b="1" dirty="0">
                <a:latin typeface="Century Schoolbook" panose="02040604050505020304" pitchFamily="18" charset="0"/>
              </a:rPr>
              <a:t>It can include details on service availability, responsible, procedures and cancellation terms.</a:t>
            </a:r>
          </a:p>
          <a:p>
            <a:pPr marL="342900" indent="-342900">
              <a:buFont typeface="Wingdings" panose="05000000000000000000" pitchFamily="2" charset="2"/>
              <a:buChar char="Ø"/>
            </a:pPr>
            <a:r>
              <a:rPr lang="en-US" sz="2400" b="1" dirty="0">
                <a:latin typeface="Century Schoolbook" panose="02040604050505020304" pitchFamily="18" charset="0"/>
              </a:rPr>
              <a:t>The services also differ with each customer so the service provider makes a unique SLA for each customer.</a:t>
            </a:r>
          </a:p>
          <a:p>
            <a:pPr marL="342900" indent="-342900">
              <a:buFont typeface="Wingdings" panose="05000000000000000000" pitchFamily="2" charset="2"/>
              <a:buChar char="Ø"/>
            </a:pPr>
            <a:r>
              <a:rPr lang="en-US" sz="2400" b="1" dirty="0">
                <a:latin typeface="Century Schoolbook" panose="02040604050505020304" pitchFamily="18" charset="0"/>
              </a:rPr>
              <a:t>A telecom company may have a customer-based SLA.</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19125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DF53-5F1A-C351-276B-70C79AFEDCBD}"/>
              </a:ext>
            </a:extLst>
          </p:cNvPr>
          <p:cNvSpPr>
            <a:spLocks noGrp="1"/>
          </p:cNvSpPr>
          <p:nvPr>
            <p:ph type="title"/>
          </p:nvPr>
        </p:nvSpPr>
        <p:spPr>
          <a:xfrm>
            <a:off x="0" y="0"/>
            <a:ext cx="8596668" cy="816638"/>
          </a:xfrm>
        </p:spPr>
        <p:txBody>
          <a:bodyPr/>
          <a:lstStyle/>
          <a:p>
            <a:r>
              <a:rPr lang="en-US" dirty="0">
                <a:latin typeface="Algerian" panose="04020705040A02060702" pitchFamily="82" charset="0"/>
              </a:rPr>
              <a:t>2. </a:t>
            </a:r>
            <a:r>
              <a:rPr lang="en-US" u="sng" dirty="0">
                <a:latin typeface="Algerian" panose="04020705040A02060702" pitchFamily="82" charset="0"/>
              </a:rPr>
              <a:t>Service-level </a:t>
            </a:r>
            <a:r>
              <a:rPr lang="en-US" u="sng" dirty="0" err="1">
                <a:latin typeface="Algerian" panose="04020705040A02060702" pitchFamily="82" charset="0"/>
              </a:rPr>
              <a:t>sla</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BFB65FA-76A4-7A46-A0EB-CEBD523B9AFE}"/>
              </a:ext>
            </a:extLst>
          </p:cNvPr>
          <p:cNvSpPr>
            <a:spLocks noGrp="1"/>
          </p:cNvSpPr>
          <p:nvPr>
            <p:ph type="body" idx="1"/>
          </p:nvPr>
        </p:nvSpPr>
        <p:spPr>
          <a:xfrm>
            <a:off x="0" y="576826"/>
            <a:ext cx="9537290" cy="366087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contract that details a service offered to multiple customers.</a:t>
            </a:r>
          </a:p>
          <a:p>
            <a:pPr marL="342900" indent="-342900">
              <a:buFont typeface="Wingdings" panose="05000000000000000000" pitchFamily="2" charset="2"/>
              <a:buChar char="Ø"/>
            </a:pPr>
            <a:r>
              <a:rPr lang="en-US" sz="2400" b="1" dirty="0">
                <a:latin typeface="Century Schoolbook" panose="02040604050505020304" pitchFamily="18" charset="0"/>
              </a:rPr>
              <a:t>It standardizes the terms and conditions for all customers who use that service.</a:t>
            </a:r>
          </a:p>
          <a:p>
            <a:pPr marL="342900" indent="-342900">
              <a:buFont typeface="Wingdings" panose="05000000000000000000" pitchFamily="2" charset="2"/>
              <a:buChar char="Ø"/>
            </a:pPr>
            <a:r>
              <a:rPr lang="en-US" sz="2400" b="1" dirty="0">
                <a:latin typeface="Century Schoolbook" panose="02040604050505020304" pitchFamily="18" charset="0"/>
              </a:rPr>
              <a:t>A CSP may offer a service-based SLA guaranteeing 99.9% uptime to all its customers.</a:t>
            </a:r>
          </a:p>
          <a:p>
            <a:pPr marL="342900" indent="-342900">
              <a:buFont typeface="Wingdings" panose="05000000000000000000" pitchFamily="2" charset="2"/>
              <a:buChar char="Ø"/>
            </a:pPr>
            <a:r>
              <a:rPr lang="en-US" sz="2400" b="1" dirty="0">
                <a:latin typeface="Century Schoolbook" panose="02040604050505020304" pitchFamily="18" charset="0"/>
              </a:rPr>
              <a:t>For ex. An agreement of insurance between a company and its customer.</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26777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55FA-1C11-8322-84D9-A8C27C4C5AF1}"/>
              </a:ext>
            </a:extLst>
          </p:cNvPr>
          <p:cNvSpPr>
            <a:spLocks noGrp="1"/>
          </p:cNvSpPr>
          <p:nvPr>
            <p:ph type="title"/>
          </p:nvPr>
        </p:nvSpPr>
        <p:spPr>
          <a:xfrm>
            <a:off x="0" y="-72923"/>
            <a:ext cx="8596668" cy="662858"/>
          </a:xfrm>
        </p:spPr>
        <p:txBody>
          <a:bodyPr>
            <a:noAutofit/>
          </a:bodyPr>
          <a:lstStyle/>
          <a:p>
            <a:r>
              <a:rPr lang="en-US" dirty="0">
                <a:latin typeface="Algerian" panose="04020705040A02060702" pitchFamily="82" charset="0"/>
              </a:rPr>
              <a:t>3. </a:t>
            </a:r>
            <a:r>
              <a:rPr lang="en-US" u="sng" dirty="0">
                <a:latin typeface="Algerian" panose="04020705040A02060702" pitchFamily="82" charset="0"/>
              </a:rPr>
              <a:t>multi-level </a:t>
            </a:r>
            <a:r>
              <a:rPr lang="en-US" u="sng" dirty="0" err="1">
                <a:latin typeface="Algerian" panose="04020705040A02060702" pitchFamily="82" charset="0"/>
              </a:rPr>
              <a:t>sla</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809890B-841D-FC16-5CBB-0AF6FA777119}"/>
              </a:ext>
            </a:extLst>
          </p:cNvPr>
          <p:cNvSpPr>
            <a:spLocks noGrp="1"/>
          </p:cNvSpPr>
          <p:nvPr>
            <p:ph type="body" idx="1"/>
          </p:nvPr>
        </p:nvSpPr>
        <p:spPr>
          <a:xfrm>
            <a:off x="0" y="481779"/>
            <a:ext cx="9694607" cy="5024285"/>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multi-level SLA divides the agreement into multiple levels,  each addressing a different aspects of service.</a:t>
            </a:r>
          </a:p>
          <a:p>
            <a:pPr marL="342900" indent="-342900">
              <a:buFont typeface="Wingdings" panose="05000000000000000000" pitchFamily="2" charset="2"/>
              <a:buChar char="Ø"/>
            </a:pPr>
            <a:r>
              <a:rPr lang="en-US" sz="2400" b="1" dirty="0">
                <a:latin typeface="Century Schoolbook" panose="02040604050505020304" pitchFamily="18" charset="0"/>
              </a:rPr>
              <a:t>This type of agreement is suitable for providers with many customers using their product at different price ranges.</a:t>
            </a:r>
          </a:p>
          <a:p>
            <a:pPr marL="342900" indent="-342900">
              <a:buFont typeface="Wingdings" panose="05000000000000000000" pitchFamily="2" charset="2"/>
              <a:buChar char="Ø"/>
            </a:pPr>
            <a:r>
              <a:rPr lang="en-US" sz="2400" b="1" dirty="0">
                <a:latin typeface="Century Schoolbook" panose="02040604050505020304" pitchFamily="18" charset="0"/>
              </a:rPr>
              <a:t>It allows user to integrate several conditions into the same system to create a more suitable service.</a:t>
            </a:r>
          </a:p>
          <a:p>
            <a:pPr marL="342900" indent="-342900">
              <a:buFont typeface="Wingdings" panose="05000000000000000000" pitchFamily="2" charset="2"/>
              <a:buChar char="Ø"/>
            </a:pPr>
            <a:r>
              <a:rPr lang="en-US" sz="2400" b="1" dirty="0">
                <a:latin typeface="Century Schoolbook" panose="02040604050505020304" pitchFamily="18" charset="0"/>
              </a:rPr>
              <a:t>For ex. An IT service provider may have a corporate-level SLA for all customers, A customer-level SLA for specific document/department needs, and a service-level SLA for distinct services like software support and network maintenance.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35359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1EE5-FBF5-B64F-A92D-0CA28D3353BB}"/>
              </a:ext>
            </a:extLst>
          </p:cNvPr>
          <p:cNvSpPr>
            <a:spLocks noGrp="1"/>
          </p:cNvSpPr>
          <p:nvPr>
            <p:ph type="title"/>
          </p:nvPr>
        </p:nvSpPr>
        <p:spPr>
          <a:xfrm>
            <a:off x="0" y="-111760"/>
            <a:ext cx="9743440"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Life cycle of </a:t>
            </a:r>
            <a:r>
              <a:rPr lang="en-US" u="sng" dirty="0" err="1">
                <a:latin typeface="Algerian" panose="04020705040A02060702" pitchFamily="82" charset="0"/>
              </a:rPr>
              <a:t>sla</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1FE1A43-D61C-BB4B-35C0-E27CFFE28359}"/>
              </a:ext>
            </a:extLst>
          </p:cNvPr>
          <p:cNvSpPr>
            <a:spLocks noGrp="1"/>
          </p:cNvSpPr>
          <p:nvPr>
            <p:ph type="body" idx="1"/>
          </p:nvPr>
        </p:nvSpPr>
        <p:spPr>
          <a:xfrm>
            <a:off x="0" y="704878"/>
            <a:ext cx="10190480" cy="6153122"/>
          </a:xfrm>
        </p:spPr>
        <p:txBody>
          <a:bodyPr/>
          <a:lstStyle/>
          <a:p>
            <a:endParaRPr lang="en-US" dirty="0"/>
          </a:p>
          <a:p>
            <a:endParaRPr lang="en-IN" dirty="0"/>
          </a:p>
        </p:txBody>
      </p:sp>
      <p:pic>
        <p:nvPicPr>
          <p:cNvPr id="5" name="Picture 4">
            <a:extLst>
              <a:ext uri="{FF2B5EF4-FFF2-40B4-BE49-F238E27FC236}">
                <a16:creationId xmlns:a16="http://schemas.microsoft.com/office/drawing/2014/main" id="{39081CB3-98E7-BB55-2AE3-D1A892FBF5A4}"/>
              </a:ext>
            </a:extLst>
          </p:cNvPr>
          <p:cNvPicPr>
            <a:picLocks noChangeAspect="1"/>
          </p:cNvPicPr>
          <p:nvPr/>
        </p:nvPicPr>
        <p:blipFill>
          <a:blip r:embed="rId2"/>
          <a:stretch>
            <a:fillRect/>
          </a:stretch>
        </p:blipFill>
        <p:spPr>
          <a:xfrm>
            <a:off x="7565297" y="584003"/>
            <a:ext cx="4529006" cy="4181037"/>
          </a:xfrm>
          <a:prstGeom prst="rect">
            <a:avLst/>
          </a:prstGeom>
        </p:spPr>
      </p:pic>
      <p:sp>
        <p:nvSpPr>
          <p:cNvPr id="7" name="TextBox 6">
            <a:extLst>
              <a:ext uri="{FF2B5EF4-FFF2-40B4-BE49-F238E27FC236}">
                <a16:creationId xmlns:a16="http://schemas.microsoft.com/office/drawing/2014/main" id="{9AC9EA74-A09F-522A-852B-BCAD63110EE3}"/>
              </a:ext>
            </a:extLst>
          </p:cNvPr>
          <p:cNvSpPr txBox="1"/>
          <p:nvPr/>
        </p:nvSpPr>
        <p:spPr>
          <a:xfrm>
            <a:off x="0" y="584003"/>
            <a:ext cx="12192000" cy="6124754"/>
          </a:xfrm>
          <a:prstGeom prst="rect">
            <a:avLst/>
          </a:prstGeom>
          <a:noFill/>
        </p:spPr>
        <p:txBody>
          <a:bodyPr wrap="square">
            <a:spAutoFit/>
          </a:bodyPr>
          <a:lstStyle/>
          <a:p>
            <a:r>
              <a:rPr lang="en-IN" sz="2400" b="1" dirty="0">
                <a:solidFill>
                  <a:srgbClr val="0070C0"/>
                </a:solidFill>
                <a:latin typeface="Century Schoolbook" panose="02040604050505020304" pitchFamily="18" charset="0"/>
              </a:rPr>
              <a:t>1. </a:t>
            </a:r>
            <a:r>
              <a:rPr lang="en-IN" sz="2400" b="1" u="sng" dirty="0">
                <a:solidFill>
                  <a:srgbClr val="0070C0"/>
                </a:solidFill>
                <a:latin typeface="Century Schoolbook" panose="02040604050505020304" pitchFamily="18" charset="0"/>
              </a:rPr>
              <a:t>Discover Service Provider</a:t>
            </a:r>
            <a:r>
              <a:rPr lang="en-IN" sz="2400" b="1" dirty="0">
                <a:solidFill>
                  <a:srgbClr val="0070C0"/>
                </a:solidFill>
                <a:latin typeface="Century Schoolbook" panose="02040604050505020304" pitchFamily="18" charset="0"/>
              </a:rPr>
              <a:t> : -</a:t>
            </a:r>
            <a:r>
              <a:rPr lang="en-IN" sz="2400" dirty="0">
                <a:solidFill>
                  <a:srgbClr val="0070C0"/>
                </a:solidFill>
                <a:latin typeface="Algerian" panose="04020705040A02060702" pitchFamily="82" charset="0"/>
              </a:rPr>
              <a:t> </a:t>
            </a:r>
            <a:r>
              <a:rPr lang="en-IN" sz="2000" b="1" dirty="0">
                <a:latin typeface="Century Schoolbook" panose="02040604050505020304" pitchFamily="18" charset="0"/>
              </a:rPr>
              <a:t>This step involves identifying a                                                                service provider that can meet the needs of the organization                                                    and has the capability to provide the required services.</a:t>
            </a:r>
          </a:p>
          <a:p>
            <a:r>
              <a:rPr lang="en-IN" sz="2400" b="1" dirty="0">
                <a:solidFill>
                  <a:srgbClr val="0070C0"/>
                </a:solidFill>
                <a:latin typeface="Century Schoolbook" panose="02040604050505020304" pitchFamily="18" charset="0"/>
              </a:rPr>
              <a:t>2. </a:t>
            </a:r>
            <a:r>
              <a:rPr lang="en-IN" sz="2400" b="1" u="sng" dirty="0">
                <a:solidFill>
                  <a:srgbClr val="0070C0"/>
                </a:solidFill>
                <a:latin typeface="Century Schoolbook" panose="02040604050505020304" pitchFamily="18" charset="0"/>
              </a:rPr>
              <a:t>Define SLA</a:t>
            </a:r>
            <a:r>
              <a:rPr lang="en-IN" sz="2400" b="1" dirty="0">
                <a:solidFill>
                  <a:srgbClr val="0070C0"/>
                </a:solidFill>
                <a:latin typeface="Century Schoolbook" panose="02040604050505020304" pitchFamily="18" charset="0"/>
              </a:rPr>
              <a:t> : - </a:t>
            </a:r>
            <a:r>
              <a:rPr lang="en-IN" sz="2000" b="1" dirty="0">
                <a:latin typeface="Century Schoolbook" panose="02040604050505020304" pitchFamily="18" charset="0"/>
              </a:rPr>
              <a:t>In this step, the service level                                                                        requirements are defined and agreed upon between                                                                                   the service provider and the organization.</a:t>
            </a:r>
          </a:p>
          <a:p>
            <a:r>
              <a:rPr lang="en-IN" sz="2400" b="1" dirty="0">
                <a:solidFill>
                  <a:srgbClr val="0070C0"/>
                </a:solidFill>
                <a:latin typeface="Century Schoolbook" panose="02040604050505020304" pitchFamily="18" charset="0"/>
              </a:rPr>
              <a:t>3. </a:t>
            </a:r>
            <a:r>
              <a:rPr lang="en-IN" sz="2400" b="1" u="sng" dirty="0">
                <a:solidFill>
                  <a:srgbClr val="0070C0"/>
                </a:solidFill>
                <a:latin typeface="Century Schoolbook" panose="02040604050505020304" pitchFamily="18" charset="0"/>
              </a:rPr>
              <a:t>Establish Agreement</a:t>
            </a:r>
            <a:r>
              <a:rPr lang="en-IN" sz="2400" b="1" dirty="0">
                <a:solidFill>
                  <a:srgbClr val="0070C0"/>
                </a:solidFill>
                <a:latin typeface="Century Schoolbook" panose="02040604050505020304" pitchFamily="18" charset="0"/>
              </a:rPr>
              <a:t> : - </a:t>
            </a:r>
            <a:r>
              <a:rPr lang="en-IN" sz="2000" b="1" dirty="0">
                <a:latin typeface="Century Schoolbook" panose="02040604050505020304" pitchFamily="18" charset="0"/>
              </a:rPr>
              <a:t>After the service level                                                                      requirements have been defined, an agreement is established                                                      between the organization and the service provider                                                                      outlining the term and conditions of the service.                          </a:t>
            </a:r>
            <a:endParaRPr lang="en-IN" sz="2800" b="1" dirty="0">
              <a:latin typeface="Century Schoolbook" panose="02040604050505020304" pitchFamily="18" charset="0"/>
            </a:endParaRPr>
          </a:p>
          <a:p>
            <a:r>
              <a:rPr lang="en-IN" sz="2400" b="1" dirty="0">
                <a:solidFill>
                  <a:srgbClr val="0070C0"/>
                </a:solidFill>
                <a:latin typeface="Century Schoolbook" panose="02040604050505020304" pitchFamily="18" charset="0"/>
              </a:rPr>
              <a:t>4. </a:t>
            </a:r>
            <a:r>
              <a:rPr lang="en-IN" sz="2400" b="1" u="sng" dirty="0">
                <a:solidFill>
                  <a:srgbClr val="0070C0"/>
                </a:solidFill>
                <a:latin typeface="Century Schoolbook" panose="02040604050505020304" pitchFamily="18" charset="0"/>
              </a:rPr>
              <a:t>Monitor SLA Violation</a:t>
            </a:r>
            <a:r>
              <a:rPr lang="en-IN" sz="2400" b="1" dirty="0">
                <a:solidFill>
                  <a:srgbClr val="0070C0"/>
                </a:solidFill>
                <a:latin typeface="Century Schoolbook" panose="02040604050505020304" pitchFamily="18" charset="0"/>
              </a:rPr>
              <a:t> : -</a:t>
            </a:r>
            <a:r>
              <a:rPr lang="en-IN" sz="2800" b="1" dirty="0">
                <a:latin typeface="Century Schoolbook" panose="02040604050505020304" pitchFamily="18" charset="0"/>
              </a:rPr>
              <a:t> </a:t>
            </a:r>
            <a:r>
              <a:rPr lang="en-IN" sz="2000" b="1" dirty="0">
                <a:latin typeface="Century Schoolbook" panose="02040604050505020304" pitchFamily="18" charset="0"/>
              </a:rPr>
              <a:t>provider is unable to meet the                                                                                           service level objectives, this step regularly monitoring the                                                         service level objectives to ensure that the service provider is meeting                                           their commitments.</a:t>
            </a:r>
          </a:p>
          <a:p>
            <a:r>
              <a:rPr lang="en-IN" sz="2400" b="1" dirty="0">
                <a:solidFill>
                  <a:srgbClr val="0070C0"/>
                </a:solidFill>
                <a:latin typeface="Century Schoolbook" panose="02040604050505020304" pitchFamily="18" charset="0"/>
              </a:rPr>
              <a:t>5. </a:t>
            </a:r>
            <a:r>
              <a:rPr lang="en-IN" sz="2400" b="1" u="sng" dirty="0">
                <a:solidFill>
                  <a:srgbClr val="0070C0"/>
                </a:solidFill>
                <a:latin typeface="Century Schoolbook" panose="02040604050505020304" pitchFamily="18" charset="0"/>
              </a:rPr>
              <a:t>Terminate SLA</a:t>
            </a:r>
            <a:r>
              <a:rPr lang="en-IN" sz="2400" b="1" dirty="0">
                <a:solidFill>
                  <a:srgbClr val="0070C0"/>
                </a:solidFill>
                <a:latin typeface="Century Schoolbook" panose="02040604050505020304" pitchFamily="18" charset="0"/>
              </a:rPr>
              <a:t> : -</a:t>
            </a:r>
            <a:r>
              <a:rPr lang="en-IN" sz="2400" b="1" dirty="0">
                <a:latin typeface="Century Schoolbook" panose="02040604050505020304" pitchFamily="18" charset="0"/>
              </a:rPr>
              <a:t> </a:t>
            </a:r>
            <a:r>
              <a:rPr lang="en-IN" sz="2000" b="1" dirty="0">
                <a:latin typeface="Century Schoolbook" panose="02040604050505020304" pitchFamily="18" charset="0"/>
              </a:rPr>
              <a:t>If the service r if the organization is not satisfied with the service provided, the SLA can be terminated. </a:t>
            </a:r>
          </a:p>
          <a:p>
            <a:r>
              <a:rPr lang="en-IN" sz="2400" b="1" dirty="0">
                <a:solidFill>
                  <a:srgbClr val="0070C0"/>
                </a:solidFill>
                <a:latin typeface="Century Schoolbook" panose="02040604050505020304" pitchFamily="18" charset="0"/>
              </a:rPr>
              <a:t>6. </a:t>
            </a:r>
            <a:r>
              <a:rPr lang="en-IN" sz="2400" b="1" u="sng" dirty="0">
                <a:solidFill>
                  <a:srgbClr val="0070C0"/>
                </a:solidFill>
                <a:latin typeface="Century Schoolbook" panose="02040604050505020304" pitchFamily="18" charset="0"/>
              </a:rPr>
              <a:t>Enforce penalties for SLA Violation</a:t>
            </a:r>
            <a:r>
              <a:rPr lang="en-IN" sz="2400" b="1" dirty="0">
                <a:solidFill>
                  <a:srgbClr val="0070C0"/>
                </a:solidFill>
                <a:latin typeface="Century Schoolbook" panose="02040604050505020304" pitchFamily="18" charset="0"/>
              </a:rPr>
              <a:t> : -</a:t>
            </a:r>
            <a:r>
              <a:rPr lang="en-IN" sz="2800" b="1" dirty="0">
                <a:solidFill>
                  <a:srgbClr val="0070C0"/>
                </a:solidFill>
                <a:latin typeface="Century Schoolbook" panose="02040604050505020304" pitchFamily="18" charset="0"/>
              </a:rPr>
              <a:t> </a:t>
            </a:r>
            <a:r>
              <a:rPr lang="en-IN" sz="2000" b="1" dirty="0">
                <a:latin typeface="Century Schoolbook" panose="02040604050505020304" pitchFamily="18" charset="0"/>
              </a:rPr>
              <a:t>If the service provider is found to be in violation of the SLA, Penalties can be imposed as outlined in the agreement. </a:t>
            </a:r>
          </a:p>
        </p:txBody>
      </p:sp>
    </p:spTree>
    <p:extLst>
      <p:ext uri="{BB962C8B-B14F-4D97-AF65-F5344CB8AC3E}">
        <p14:creationId xmlns:p14="http://schemas.microsoft.com/office/powerpoint/2010/main" val="3883607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F3D03-FF8F-B1D7-2851-D7962D7C693C}"/>
              </a:ext>
            </a:extLst>
          </p:cNvPr>
          <p:cNvSpPr>
            <a:spLocks noGrp="1"/>
          </p:cNvSpPr>
          <p:nvPr>
            <p:ph type="title"/>
          </p:nvPr>
        </p:nvSpPr>
        <p:spPr>
          <a:xfrm>
            <a:off x="37254" y="25400"/>
            <a:ext cx="9899225" cy="791238"/>
          </a:xfrm>
        </p:spPr>
        <p:txBody>
          <a:bodyPr/>
          <a:lstStyle/>
          <a:p>
            <a:r>
              <a:rPr lang="en-US" dirty="0">
                <a:latin typeface="Algerian" panose="04020705040A02060702" pitchFamily="82" charset="0"/>
              </a:rPr>
              <a:t>4.4] </a:t>
            </a:r>
            <a:r>
              <a:rPr lang="en-US" u="sng" dirty="0">
                <a:latin typeface="Algerian" panose="04020705040A02060702" pitchFamily="82" charset="0"/>
              </a:rPr>
              <a:t>service </a:t>
            </a:r>
            <a:r>
              <a:rPr lang="en-US" u="sng" dirty="0" err="1">
                <a:latin typeface="Algerian" panose="04020705040A02060702" pitchFamily="82" charset="0"/>
              </a:rPr>
              <a:t>catlog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5D4A4C4-5D43-29AA-86AD-37B3F0A66660}"/>
              </a:ext>
            </a:extLst>
          </p:cNvPr>
          <p:cNvSpPr>
            <a:spLocks noGrp="1"/>
          </p:cNvSpPr>
          <p:nvPr>
            <p:ph type="body" idx="1"/>
          </p:nvPr>
        </p:nvSpPr>
        <p:spPr>
          <a:xfrm>
            <a:off x="37254" y="684558"/>
            <a:ext cx="9563947" cy="399288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Service </a:t>
            </a:r>
            <a:r>
              <a:rPr lang="en-US" sz="2400" b="1" dirty="0" err="1">
                <a:latin typeface="Century Schoolbook" panose="02040604050505020304" pitchFamily="18" charset="0"/>
              </a:rPr>
              <a:t>catlog</a:t>
            </a:r>
            <a:r>
              <a:rPr lang="en-US" sz="2400" b="1" dirty="0">
                <a:latin typeface="Century Schoolbook" panose="02040604050505020304" pitchFamily="18" charset="0"/>
              </a:rPr>
              <a:t> is a centralized list of cloud services that users can browse, request and understand.</a:t>
            </a:r>
          </a:p>
          <a:p>
            <a:pPr marL="342900" indent="-342900">
              <a:buFont typeface="Wingdings" panose="05000000000000000000" pitchFamily="2" charset="2"/>
              <a:buChar char="Ø"/>
            </a:pPr>
            <a:r>
              <a:rPr lang="en-US" sz="2400" b="1" dirty="0">
                <a:latin typeface="Century Schoolbook" panose="02040604050505020304" pitchFamily="18" charset="0"/>
              </a:rPr>
              <a:t>It helps organizations manage IT services, ensure compliance and improve visibility into cloud resources.</a:t>
            </a:r>
          </a:p>
          <a:p>
            <a:pPr marL="342900" indent="-342900">
              <a:buFont typeface="Wingdings" panose="05000000000000000000" pitchFamily="2" charset="2"/>
              <a:buChar char="Ø"/>
            </a:pPr>
            <a:r>
              <a:rPr lang="en-US" sz="2400" b="1" dirty="0">
                <a:latin typeface="Century Schoolbook" panose="02040604050505020304" pitchFamily="18" charset="0"/>
              </a:rPr>
              <a:t>The purpose is to enable users to easily request services.</a:t>
            </a:r>
          </a:p>
          <a:p>
            <a:pPr marL="342900" indent="-342900">
              <a:buFont typeface="Wingdings" panose="05000000000000000000" pitchFamily="2" charset="2"/>
              <a:buChar char="Ø"/>
            </a:pPr>
            <a:r>
              <a:rPr lang="en-US" sz="2400" b="1" dirty="0">
                <a:latin typeface="Century Schoolbook" panose="02040604050505020304" pitchFamily="18" charset="0"/>
              </a:rPr>
              <a:t>Users can self-provision cloud services without going through IT departments.</a:t>
            </a:r>
          </a:p>
          <a:p>
            <a:pPr marL="342900" indent="-342900">
              <a:buFont typeface="Wingdings" panose="05000000000000000000" pitchFamily="2" charset="2"/>
              <a:buChar char="Ø"/>
            </a:pPr>
            <a:r>
              <a:rPr lang="en-US" sz="2400" b="1" dirty="0">
                <a:latin typeface="Century Schoolbook" panose="02040604050505020304" pitchFamily="18" charset="0"/>
              </a:rPr>
              <a:t>The service </a:t>
            </a:r>
            <a:r>
              <a:rPr lang="en-US" sz="2400" b="1" dirty="0" err="1">
                <a:latin typeface="Century Schoolbook" panose="02040604050505020304" pitchFamily="18" charset="0"/>
              </a:rPr>
              <a:t>catlog</a:t>
            </a:r>
            <a:r>
              <a:rPr lang="en-US" sz="2400" b="1" dirty="0">
                <a:latin typeface="Century Schoolbook" panose="02040604050505020304" pitchFamily="18" charset="0"/>
              </a:rPr>
              <a:t> Includes detailed descriptions, pricing and service Level agreements (SLA).</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156127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1849-ADDB-2232-81E1-38ABC38E395D}"/>
              </a:ext>
            </a:extLst>
          </p:cNvPr>
          <p:cNvSpPr>
            <a:spLocks noGrp="1"/>
          </p:cNvSpPr>
          <p:nvPr>
            <p:ph type="title"/>
          </p:nvPr>
        </p:nvSpPr>
        <p:spPr>
          <a:xfrm>
            <a:off x="0" y="152400"/>
            <a:ext cx="9611360" cy="3515360"/>
          </a:xfrm>
        </p:spPr>
        <p:txBody>
          <a:bodyPr>
            <a:normAutofit fontScale="90000"/>
          </a:bodyPr>
          <a:lstStyle/>
          <a:p>
            <a:pPr marL="571500" indent="-571500">
              <a:buFont typeface="Wingdings" panose="05000000000000000000" pitchFamily="2" charset="2"/>
              <a:buChar char="v"/>
            </a:pPr>
            <a:r>
              <a:rPr lang="en-US" u="sng" dirty="0">
                <a:latin typeface="Algerian" panose="04020705040A02060702" pitchFamily="82" charset="0"/>
              </a:rPr>
              <a:t>Service management</a:t>
            </a:r>
            <a:r>
              <a:rPr lang="en-US" dirty="0">
                <a:latin typeface="Algerian" panose="04020705040A02060702" pitchFamily="82" charset="0"/>
              </a:rPr>
              <a:t> : -</a:t>
            </a:r>
            <a:br>
              <a:rPr lang="en-US" dirty="0">
                <a:latin typeface="Algerian" panose="04020705040A02060702" pitchFamily="82" charset="0"/>
              </a:rPr>
            </a:br>
            <a:r>
              <a:rPr lang="en-US" sz="2700" b="1" dirty="0" err="1">
                <a:solidFill>
                  <a:schemeClr val="tx1">
                    <a:lumMod val="95000"/>
                    <a:lumOff val="5000"/>
                  </a:schemeClr>
                </a:solidFill>
                <a:latin typeface="Century Schoolbook" panose="02040604050505020304" pitchFamily="18" charset="0"/>
              </a:rPr>
              <a:t>i</a:t>
            </a:r>
            <a:r>
              <a:rPr lang="en-US" sz="2700" b="1" dirty="0">
                <a:solidFill>
                  <a:schemeClr val="tx1">
                    <a:lumMod val="95000"/>
                    <a:lumOff val="5000"/>
                  </a:schemeClr>
                </a:solidFill>
                <a:latin typeface="Century Schoolbook" panose="02040604050505020304" pitchFamily="18" charset="0"/>
              </a:rPr>
              <a:t>) Cloud service Management refers to the management of data, content and applications in cloud computing.</a:t>
            </a:r>
            <a:br>
              <a:rPr lang="en-US" sz="2700" b="1" dirty="0">
                <a:solidFill>
                  <a:schemeClr val="tx1">
                    <a:lumMod val="95000"/>
                    <a:lumOff val="5000"/>
                  </a:schemeClr>
                </a:solidFill>
                <a:latin typeface="Century Schoolbook" panose="02040604050505020304" pitchFamily="18" charset="0"/>
              </a:rPr>
            </a:br>
            <a:r>
              <a:rPr lang="en-US" sz="2700" b="1" dirty="0">
                <a:solidFill>
                  <a:schemeClr val="tx1">
                    <a:lumMod val="95000"/>
                    <a:lumOff val="5000"/>
                  </a:schemeClr>
                </a:solidFill>
                <a:latin typeface="Century Schoolbook" panose="02040604050505020304" pitchFamily="18" charset="0"/>
              </a:rPr>
              <a:t>ii) A Managed Service Provider (MSP) can manage these individually or all together</a:t>
            </a:r>
            <a:br>
              <a:rPr lang="en-US" sz="2700" b="1" dirty="0">
                <a:solidFill>
                  <a:schemeClr val="tx1">
                    <a:lumMod val="95000"/>
                    <a:lumOff val="5000"/>
                  </a:schemeClr>
                </a:solidFill>
                <a:latin typeface="Century Schoolbook" panose="02040604050505020304" pitchFamily="18" charset="0"/>
              </a:rPr>
            </a:br>
            <a:r>
              <a:rPr lang="en-US" sz="2700" b="1" dirty="0">
                <a:solidFill>
                  <a:schemeClr val="tx1">
                    <a:lumMod val="95000"/>
                    <a:lumOff val="5000"/>
                  </a:schemeClr>
                </a:solidFill>
                <a:latin typeface="Century Schoolbook" panose="02040604050505020304" pitchFamily="18" charset="0"/>
              </a:rPr>
              <a:t>iii) Backup and disaster recovery plans are in place to ensure data safety and quick recovery in case of Failures.</a:t>
            </a:r>
            <a:br>
              <a:rPr lang="en-US" sz="2700" b="1" dirty="0">
                <a:solidFill>
                  <a:schemeClr val="tx1">
                    <a:lumMod val="95000"/>
                    <a:lumOff val="5000"/>
                  </a:schemeClr>
                </a:solidFill>
                <a:latin typeface="Century Schoolbook" panose="02040604050505020304" pitchFamily="18" charset="0"/>
              </a:rPr>
            </a:br>
            <a:endParaRPr lang="en-IN" b="1" dirty="0">
              <a:solidFill>
                <a:schemeClr val="tx1">
                  <a:lumMod val="95000"/>
                  <a:lumOff val="5000"/>
                </a:schemeClr>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82F75210-EBA9-AC0D-90F8-258F432CE680}"/>
              </a:ext>
            </a:extLst>
          </p:cNvPr>
          <p:cNvSpPr>
            <a:spLocks noGrp="1"/>
          </p:cNvSpPr>
          <p:nvPr>
            <p:ph type="body" idx="1"/>
          </p:nvPr>
        </p:nvSpPr>
        <p:spPr>
          <a:xfrm>
            <a:off x="0" y="2987040"/>
            <a:ext cx="9611360" cy="3271520"/>
          </a:xfrm>
        </p:spPr>
        <p:txBody>
          <a:bodyPr>
            <a:normAutofit fontScale="92500" lnSpcReduction="20000"/>
          </a:bodyPr>
          <a:lstStyle/>
          <a:p>
            <a:endParaRPr lang="en-US" sz="2400" b="1" dirty="0">
              <a:latin typeface="Century Schoolbook" panose="02040604050505020304" pitchFamily="18" charset="0"/>
            </a:endParaRPr>
          </a:p>
          <a:p>
            <a:pPr marL="342900" indent="-342900">
              <a:buFont typeface="Wingdings" panose="05000000000000000000" pitchFamily="2" charset="2"/>
              <a:buChar char="v"/>
            </a:pPr>
            <a:r>
              <a:rPr lang="en-US" sz="3000" dirty="0">
                <a:solidFill>
                  <a:srgbClr val="0070C0"/>
                </a:solidFill>
                <a:latin typeface="Algerian" panose="04020705040A02060702" pitchFamily="82" charset="0"/>
              </a:rPr>
              <a:t> </a:t>
            </a:r>
            <a:r>
              <a:rPr lang="en-US" sz="4000" u="sng" dirty="0">
                <a:solidFill>
                  <a:srgbClr val="0070C0"/>
                </a:solidFill>
                <a:latin typeface="Algerian" panose="04020705040A02060702" pitchFamily="82" charset="0"/>
              </a:rPr>
              <a:t>Functional Interfaces of services</a:t>
            </a:r>
            <a:r>
              <a:rPr lang="en-US" sz="4000" dirty="0">
                <a:solidFill>
                  <a:srgbClr val="0070C0"/>
                </a:solidFill>
                <a:latin typeface="Algerian" panose="04020705040A02060702" pitchFamily="82" charset="0"/>
              </a:rPr>
              <a:t> : -</a:t>
            </a:r>
          </a:p>
          <a:p>
            <a:r>
              <a:rPr lang="en-US" sz="2600" b="1" dirty="0" err="1">
                <a:latin typeface="Century Schoolbook" panose="02040604050505020304" pitchFamily="18" charset="0"/>
              </a:rPr>
              <a:t>i</a:t>
            </a:r>
            <a:r>
              <a:rPr lang="en-US" sz="2600" b="1" dirty="0">
                <a:latin typeface="Century Schoolbook" panose="02040604050505020304" pitchFamily="18" charset="0"/>
              </a:rPr>
              <a:t>) It refers to how users or systems interact with a service, typically through user interface (UI) APIs.</a:t>
            </a:r>
          </a:p>
          <a:p>
            <a:r>
              <a:rPr lang="en-US" sz="2600" b="1" dirty="0">
                <a:latin typeface="Century Schoolbook" panose="02040604050505020304" pitchFamily="18" charset="0"/>
              </a:rPr>
              <a:t>ii) Ensures consistent and uniform methods of interacting with services.</a:t>
            </a:r>
          </a:p>
          <a:p>
            <a:r>
              <a:rPr lang="en-US" sz="2600" b="1" dirty="0">
                <a:latin typeface="Century Schoolbook" panose="02040604050505020304" pitchFamily="18" charset="0"/>
              </a:rPr>
              <a:t>iii) Functional interfaces refers to way services are designed to interact with each other.</a:t>
            </a:r>
            <a:endParaRPr lang="en-IN" sz="2600" b="1" dirty="0">
              <a:latin typeface="Century Schoolbook" panose="02040604050505020304" pitchFamily="18" charset="0"/>
            </a:endParaRPr>
          </a:p>
        </p:txBody>
      </p:sp>
    </p:spTree>
    <p:extLst>
      <p:ext uri="{BB962C8B-B14F-4D97-AF65-F5344CB8AC3E}">
        <p14:creationId xmlns:p14="http://schemas.microsoft.com/office/powerpoint/2010/main" val="2134381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FEC8-2391-ACE9-E77F-248A06F3778C}"/>
              </a:ext>
            </a:extLst>
          </p:cNvPr>
          <p:cNvSpPr>
            <a:spLocks noGrp="1"/>
          </p:cNvSpPr>
          <p:nvPr>
            <p:ph type="title"/>
          </p:nvPr>
        </p:nvSpPr>
        <p:spPr>
          <a:xfrm>
            <a:off x="0" y="0"/>
            <a:ext cx="11877040" cy="725198"/>
          </a:xfrm>
        </p:spPr>
        <p:txBody>
          <a:bodyPr>
            <a:noAutofit/>
          </a:bodyPr>
          <a:lstStyle/>
          <a:p>
            <a:r>
              <a:rPr lang="en-US" dirty="0">
                <a:latin typeface="Algerian" panose="04020705040A02060702" pitchFamily="82" charset="0"/>
              </a:rPr>
              <a:t>4.5] </a:t>
            </a:r>
            <a:r>
              <a:rPr lang="en-US" u="sng" dirty="0">
                <a:latin typeface="Algerian" panose="04020705040A02060702" pitchFamily="82" charset="0"/>
              </a:rPr>
              <a:t>cloud portal &amp; its functions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5D6A4EE-09E0-F3AF-6FCF-C2DB95DCFBC1}"/>
              </a:ext>
            </a:extLst>
          </p:cNvPr>
          <p:cNvSpPr>
            <a:spLocks noGrp="1"/>
          </p:cNvSpPr>
          <p:nvPr>
            <p:ph type="body" idx="1"/>
          </p:nvPr>
        </p:nvSpPr>
        <p:spPr>
          <a:xfrm>
            <a:off x="0" y="568960"/>
            <a:ext cx="10139680" cy="5425440"/>
          </a:xfrm>
        </p:spPr>
        <p:txBody>
          <a:bodyPr>
            <a:noAutofit/>
          </a:bodyPr>
          <a:lstStyle/>
          <a:p>
            <a:endParaRPr lang="en-US" sz="2400" b="1" dirty="0">
              <a:latin typeface="Century Schoolbook" panose="02040604050505020304" pitchFamily="18" charset="0"/>
            </a:endParaRPr>
          </a:p>
          <a:p>
            <a:pPr marL="342900" indent="-342900">
              <a:buFont typeface="Wingdings" panose="05000000000000000000" pitchFamily="2" charset="2"/>
              <a:buChar char="Ø"/>
            </a:pPr>
            <a:r>
              <a:rPr lang="en-US" sz="2400" b="1" dirty="0">
                <a:latin typeface="Century Schoolbook" panose="02040604050505020304" pitchFamily="18" charset="0"/>
              </a:rPr>
              <a:t>It is a web based interface that allows users to access &amp; manage cloud-based services and resources.</a:t>
            </a:r>
          </a:p>
          <a:p>
            <a:pPr marL="342900" indent="-342900">
              <a:buFont typeface="Wingdings" panose="05000000000000000000" pitchFamily="2" charset="2"/>
              <a:buChar char="Ø"/>
            </a:pPr>
            <a:r>
              <a:rPr lang="en-US" sz="2400" b="1" dirty="0">
                <a:latin typeface="Century Schoolbook" panose="02040604050505020304" pitchFamily="18" charset="0"/>
              </a:rPr>
              <a:t>Cloud Portals can be private or public. Private portals are build accessed only by a single company / organization, while public portals are accessible by other users on a subscription.</a:t>
            </a:r>
          </a:p>
          <a:p>
            <a:pPr marL="342900" indent="-342900">
              <a:buFont typeface="Wingdings" panose="05000000000000000000" pitchFamily="2" charset="2"/>
              <a:buChar char="Ø"/>
            </a:pPr>
            <a:r>
              <a:rPr lang="en-US" sz="2400" b="1" dirty="0">
                <a:latin typeface="Century Schoolbook" panose="02040604050505020304" pitchFamily="18" charset="0"/>
              </a:rPr>
              <a:t>The cloud Portal provides information about the services for which the user has an active subscription.</a:t>
            </a:r>
          </a:p>
          <a:p>
            <a:pPr marL="342900" indent="-342900">
              <a:buFont typeface="Wingdings" panose="05000000000000000000" pitchFamily="2" charset="2"/>
              <a:buChar char="Ø"/>
            </a:pPr>
            <a:r>
              <a:rPr lang="en-US" sz="2400" b="1" u="sng" dirty="0">
                <a:latin typeface="Century Schoolbook" panose="02040604050505020304" pitchFamily="18" charset="0"/>
              </a:rPr>
              <a:t>Examples</a:t>
            </a:r>
            <a:r>
              <a:rPr lang="en-US" sz="2400" b="1" dirty="0">
                <a:latin typeface="Century Schoolbook" panose="02040604050505020304" pitchFamily="18" charset="0"/>
              </a:rPr>
              <a:t> : -</a:t>
            </a:r>
          </a:p>
          <a:p>
            <a:r>
              <a:rPr lang="en-US" sz="2400" b="1" dirty="0">
                <a:latin typeface="Century Schoolbook" panose="02040604050505020304" pitchFamily="18" charset="0"/>
              </a:rPr>
              <a:t>1. AWS Management console (AWS).</a:t>
            </a:r>
          </a:p>
          <a:p>
            <a:r>
              <a:rPr lang="en-US" sz="2400" b="1" dirty="0">
                <a:latin typeface="Century Schoolbook" panose="02040604050505020304" pitchFamily="18" charset="0"/>
              </a:rPr>
              <a:t>2. Google Cloud console (GCP).</a:t>
            </a:r>
          </a:p>
          <a:p>
            <a:r>
              <a:rPr lang="en-US" sz="2400" b="1" dirty="0">
                <a:latin typeface="Century Schoolbook" panose="02040604050505020304" pitchFamily="18" charset="0"/>
              </a:rPr>
              <a:t>3. Azure Portal (Microsoft Azure).</a:t>
            </a:r>
          </a:p>
          <a:p>
            <a:r>
              <a:rPr lang="en-US" sz="2400" b="1" dirty="0">
                <a:latin typeface="Century Schoolbook" panose="02040604050505020304" pitchFamily="18" charset="0"/>
              </a:rPr>
              <a:t>4. IBM Cloud Console (IBM).</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67827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F782-387A-3F65-7040-B139DBBAE47A}"/>
              </a:ext>
            </a:extLst>
          </p:cNvPr>
          <p:cNvSpPr>
            <a:spLocks noGrp="1"/>
          </p:cNvSpPr>
          <p:nvPr>
            <p:ph type="title"/>
          </p:nvPr>
        </p:nvSpPr>
        <p:spPr>
          <a:xfrm>
            <a:off x="0" y="208280"/>
            <a:ext cx="9855200" cy="791238"/>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Functions of cloud portal</a:t>
            </a:r>
            <a:r>
              <a:rPr lang="en-US" dirty="0">
                <a:latin typeface="Algerian" panose="04020705040A02060702" pitchFamily="82" charset="0"/>
              </a:rPr>
              <a:t> : -</a:t>
            </a:r>
            <a:br>
              <a:rPr lang="en-US" dirty="0">
                <a:latin typeface="Algerian" panose="04020705040A02060702" pitchFamily="82" charset="0"/>
              </a:rPr>
            </a:b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EFE1F48-5EC7-70A9-FEE5-9BF8A4E33491}"/>
              </a:ext>
            </a:extLst>
          </p:cNvPr>
          <p:cNvSpPr>
            <a:spLocks noGrp="1"/>
          </p:cNvSpPr>
          <p:nvPr>
            <p:ph type="body" idx="1"/>
          </p:nvPr>
        </p:nvSpPr>
        <p:spPr>
          <a:xfrm>
            <a:off x="86360" y="-35560"/>
            <a:ext cx="9682480" cy="5650202"/>
          </a:xfrm>
        </p:spPr>
        <p:txBody>
          <a:bodyPr>
            <a:normAutofit/>
          </a:bodyPr>
          <a:lstStyle/>
          <a:p>
            <a:endParaRPr lang="en-US" sz="2400" b="1" dirty="0">
              <a:latin typeface="Century Schoolbook" panose="02040604050505020304" pitchFamily="18" charset="0"/>
            </a:endParaRPr>
          </a:p>
          <a:p>
            <a:r>
              <a:rPr lang="en-US" sz="2800" b="1" dirty="0">
                <a:solidFill>
                  <a:srgbClr val="0070C0"/>
                </a:solidFill>
                <a:latin typeface="Century Schoolbook" panose="02040604050505020304" pitchFamily="18" charset="0"/>
              </a:rPr>
              <a:t>1. </a:t>
            </a:r>
            <a:r>
              <a:rPr lang="en-US" sz="2800" b="1" u="sng" dirty="0">
                <a:solidFill>
                  <a:srgbClr val="0070C0"/>
                </a:solidFill>
                <a:latin typeface="Century Schoolbook" panose="02040604050505020304" pitchFamily="18" charset="0"/>
              </a:rPr>
              <a:t>Resource Provisioning</a:t>
            </a:r>
            <a:r>
              <a:rPr lang="en-US" sz="2800" b="1" dirty="0">
                <a:solidFill>
                  <a:srgbClr val="0070C0"/>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Through this portal, users can provision and configure virtual machines, storage, databases and other cloud resources.</a:t>
            </a:r>
          </a:p>
          <a:p>
            <a:r>
              <a:rPr lang="en-US" sz="2400" b="1" dirty="0">
                <a:latin typeface="Century Schoolbook" panose="02040604050505020304" pitchFamily="18" charset="0"/>
              </a:rPr>
              <a:t>ii) This allows easy scalability and flexibility in managing cloud infrastructure.</a:t>
            </a:r>
          </a:p>
          <a:p>
            <a:r>
              <a:rPr lang="en-US" sz="2800" b="1" dirty="0">
                <a:solidFill>
                  <a:srgbClr val="0070C0"/>
                </a:solidFill>
                <a:latin typeface="Century Schoolbook" panose="02040604050505020304" pitchFamily="18" charset="0"/>
              </a:rPr>
              <a:t>2. </a:t>
            </a:r>
            <a:r>
              <a:rPr lang="en-US" sz="2800" b="1" u="sng" dirty="0">
                <a:solidFill>
                  <a:srgbClr val="0070C0"/>
                </a:solidFill>
                <a:latin typeface="Century Schoolbook" panose="02040604050505020304" pitchFamily="18" charset="0"/>
              </a:rPr>
              <a:t>Monitoring and Analytics</a:t>
            </a:r>
            <a:r>
              <a:rPr lang="en-US" sz="2800" b="1" dirty="0">
                <a:solidFill>
                  <a:srgbClr val="0070C0"/>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It provides real time insights and analytics on the performance, usage and health of cloud resources.</a:t>
            </a:r>
          </a:p>
          <a:p>
            <a:r>
              <a:rPr lang="en-US" sz="2400" b="1" dirty="0">
                <a:latin typeface="Century Schoolbook" panose="02040604050505020304" pitchFamily="18" charset="0"/>
              </a:rPr>
              <a:t>ii) You can monitor metrics, track usage and identify areas for optimization and improvement.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28894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DE72D-EA0D-5B00-F4DB-A1ACFF33AEEE}"/>
              </a:ext>
            </a:extLst>
          </p:cNvPr>
          <p:cNvSpPr>
            <a:spLocks noGrp="1"/>
          </p:cNvSpPr>
          <p:nvPr>
            <p:ph type="title"/>
          </p:nvPr>
        </p:nvSpPr>
        <p:spPr>
          <a:xfrm>
            <a:off x="677335" y="-670560"/>
            <a:ext cx="8596668" cy="57912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9152FFC6-CEF0-1782-FD5B-11461FCBED62}"/>
              </a:ext>
            </a:extLst>
          </p:cNvPr>
          <p:cNvSpPr>
            <a:spLocks noGrp="1"/>
          </p:cNvSpPr>
          <p:nvPr>
            <p:ph type="body" idx="1"/>
          </p:nvPr>
        </p:nvSpPr>
        <p:spPr>
          <a:xfrm>
            <a:off x="0" y="-193040"/>
            <a:ext cx="9966960" cy="5313680"/>
          </a:xfrm>
        </p:spPr>
        <p:txBody>
          <a:bodyPr>
            <a:normAutofit/>
          </a:bodyPr>
          <a:lstStyle/>
          <a:p>
            <a:r>
              <a:rPr lang="en-US" sz="2800" b="1" dirty="0">
                <a:solidFill>
                  <a:srgbClr val="0070C0"/>
                </a:solidFill>
                <a:latin typeface="Century Schoolbook" panose="02040604050505020304" pitchFamily="18" charset="0"/>
              </a:rPr>
              <a:t>3. </a:t>
            </a:r>
            <a:r>
              <a:rPr lang="en-US" sz="2800" b="1" u="sng" dirty="0">
                <a:solidFill>
                  <a:srgbClr val="0070C0"/>
                </a:solidFill>
                <a:latin typeface="Century Schoolbook" panose="02040604050505020304" pitchFamily="18" charset="0"/>
              </a:rPr>
              <a:t>Security and Access Control</a:t>
            </a:r>
            <a:r>
              <a:rPr lang="en-US" sz="2800" b="1" dirty="0">
                <a:solidFill>
                  <a:srgbClr val="0070C0"/>
                </a:solidFill>
                <a:latin typeface="Century Schoolbook" panose="02040604050505020304" pitchFamily="18" charset="0"/>
              </a:rPr>
              <a:t> : -</a:t>
            </a:r>
          </a:p>
          <a:p>
            <a:r>
              <a:rPr lang="en-US" sz="2400" b="1" dirty="0">
                <a:latin typeface="Century Schoolbook" panose="02040604050505020304" pitchFamily="18" charset="0"/>
              </a:rPr>
              <a:t>i) The portals allow users to set up and manage security measures such as authentication, authorization and encryption.</a:t>
            </a:r>
          </a:p>
          <a:p>
            <a:r>
              <a:rPr lang="en-US" sz="2400" b="1" dirty="0">
                <a:latin typeface="Century Schoolbook" panose="02040604050505020304" pitchFamily="18" charset="0"/>
              </a:rPr>
              <a:t>ii) This ensures the protection of cloud environment and data.</a:t>
            </a:r>
          </a:p>
          <a:p>
            <a:r>
              <a:rPr lang="en-US" sz="2800" b="1" dirty="0">
                <a:solidFill>
                  <a:srgbClr val="0070C0"/>
                </a:solidFill>
                <a:latin typeface="Century Schoolbook" panose="02040604050505020304" pitchFamily="18" charset="0"/>
              </a:rPr>
              <a:t>4. </a:t>
            </a:r>
            <a:r>
              <a:rPr lang="en-US" sz="2800" b="1" u="sng" dirty="0">
                <a:solidFill>
                  <a:srgbClr val="0070C0"/>
                </a:solidFill>
                <a:latin typeface="Century Schoolbook" panose="02040604050505020304" pitchFamily="18" charset="0"/>
              </a:rPr>
              <a:t>Cost Management</a:t>
            </a:r>
            <a:r>
              <a:rPr lang="en-US" sz="2800" b="1" dirty="0">
                <a:solidFill>
                  <a:srgbClr val="0070C0"/>
                </a:solidFill>
                <a:latin typeface="Century Schoolbook" panose="02040604050505020304" pitchFamily="18" charset="0"/>
              </a:rPr>
              <a:t> : -</a:t>
            </a:r>
          </a:p>
          <a:p>
            <a:r>
              <a:rPr lang="en-US" sz="2400" b="1" dirty="0">
                <a:latin typeface="Century Schoolbook" panose="02040604050505020304" pitchFamily="18" charset="0"/>
              </a:rPr>
              <a:t>i) Cloud portal offer features to track and manage your cloud  expenses.</a:t>
            </a:r>
          </a:p>
          <a:p>
            <a:r>
              <a:rPr lang="en-US" sz="2400" b="1" dirty="0">
                <a:latin typeface="Century Schoolbook" panose="02040604050505020304" pitchFamily="18" charset="0"/>
              </a:rPr>
              <a:t>ii) You can monitor resource usage, analyze costs and optimize spending to ensure efficient resource allocation.</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674990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34DA-9FB8-EFEB-5A8B-B1648E3E7765}"/>
              </a:ext>
            </a:extLst>
          </p:cNvPr>
          <p:cNvSpPr>
            <a:spLocks noGrp="1"/>
          </p:cNvSpPr>
          <p:nvPr>
            <p:ph type="title"/>
          </p:nvPr>
        </p:nvSpPr>
        <p:spPr>
          <a:xfrm>
            <a:off x="0" y="44656"/>
            <a:ext cx="11938000" cy="771982"/>
          </a:xfrm>
        </p:spPr>
        <p:txBody>
          <a:bodyPr/>
          <a:lstStyle/>
          <a:p>
            <a:r>
              <a:rPr lang="en-US" dirty="0">
                <a:latin typeface="Algerian" panose="04020705040A02060702" pitchFamily="82" charset="0"/>
              </a:rPr>
              <a:t>4.6] </a:t>
            </a:r>
            <a:r>
              <a:rPr lang="en-US" u="sng" dirty="0">
                <a:latin typeface="Algerian" panose="04020705040A02060702" pitchFamily="82" charset="0"/>
              </a:rPr>
              <a:t>Cloud Service life cycle phases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55B6469-09E7-806E-18DF-12BED89C4DD4}"/>
              </a:ext>
            </a:extLst>
          </p:cNvPr>
          <p:cNvSpPr>
            <a:spLocks noGrp="1"/>
          </p:cNvSpPr>
          <p:nvPr>
            <p:ph type="body" idx="1"/>
          </p:nvPr>
        </p:nvSpPr>
        <p:spPr>
          <a:xfrm>
            <a:off x="0" y="680542"/>
            <a:ext cx="10129520" cy="6041362"/>
          </a:xfrm>
        </p:spPr>
        <p:txBody>
          <a:bodyPr>
            <a:normAutofit fontScale="92500"/>
          </a:bodyPr>
          <a:lstStyle/>
          <a:p>
            <a:r>
              <a:rPr lang="en-US" sz="2800" b="1" dirty="0">
                <a:solidFill>
                  <a:srgbClr val="0070C0"/>
                </a:solidFill>
                <a:latin typeface="Century Schoolbook" panose="02040604050505020304" pitchFamily="18" charset="0"/>
              </a:rPr>
              <a:t>1. </a:t>
            </a:r>
            <a:r>
              <a:rPr lang="en-US" sz="2800" b="1" u="sng" dirty="0">
                <a:solidFill>
                  <a:srgbClr val="0070C0"/>
                </a:solidFill>
                <a:latin typeface="Century Schoolbook" panose="02040604050505020304" pitchFamily="18" charset="0"/>
              </a:rPr>
              <a:t>Service Planning / strategy</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 </a:t>
            </a:r>
          </a:p>
          <a:p>
            <a:pPr marL="342900" indent="-342900">
              <a:buFont typeface="Wingdings" panose="05000000000000000000" pitchFamily="2" charset="2"/>
              <a:buChar char="Ø"/>
            </a:pPr>
            <a:r>
              <a:rPr lang="en-US" sz="2200" b="1" dirty="0">
                <a:latin typeface="Century Schoolbook" panose="02040604050505020304" pitchFamily="18" charset="0"/>
              </a:rPr>
              <a:t>Define business objectives, assess cloud                                                   readiness and select the appropriate cloud                                            model.</a:t>
            </a:r>
          </a:p>
          <a:p>
            <a:pPr marL="342900" indent="-342900">
              <a:buFont typeface="Wingdings" panose="05000000000000000000" pitchFamily="2" charset="2"/>
              <a:buChar char="Ø"/>
            </a:pPr>
            <a:r>
              <a:rPr lang="en-US" sz="2200" b="1" dirty="0">
                <a:latin typeface="Century Schoolbook" panose="02040604050505020304" pitchFamily="18" charset="0"/>
              </a:rPr>
              <a:t>It includes planning for resource needs,                           security, and compliance.</a:t>
            </a:r>
          </a:p>
          <a:p>
            <a:r>
              <a:rPr lang="en-US" sz="2800" b="1" dirty="0">
                <a:solidFill>
                  <a:srgbClr val="0070C0"/>
                </a:solidFill>
                <a:latin typeface="Century Schoolbook" panose="02040604050505020304" pitchFamily="18" charset="0"/>
              </a:rPr>
              <a:t>2. </a:t>
            </a:r>
            <a:r>
              <a:rPr lang="en-US" sz="2800" b="1" u="sng" dirty="0">
                <a:solidFill>
                  <a:srgbClr val="0070C0"/>
                </a:solidFill>
                <a:latin typeface="Century Schoolbook" panose="02040604050505020304" pitchFamily="18" charset="0"/>
              </a:rPr>
              <a:t>Service creation / Design</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 </a:t>
            </a:r>
          </a:p>
          <a:p>
            <a:pPr marL="342900" indent="-342900">
              <a:buFont typeface="Wingdings" panose="05000000000000000000" pitchFamily="2" charset="2"/>
              <a:buChar char="Ø"/>
            </a:pPr>
            <a:r>
              <a:rPr lang="en-US" sz="2200" b="1" dirty="0">
                <a:latin typeface="Century Schoolbook" panose="02040604050505020304" pitchFamily="18" charset="0"/>
              </a:rPr>
              <a:t>Design and build the </a:t>
            </a:r>
            <a:r>
              <a:rPr lang="en-US" sz="2200" b="1" dirty="0" err="1">
                <a:latin typeface="Century Schoolbook" panose="02040604050505020304" pitchFamily="18" charset="0"/>
              </a:rPr>
              <a:t>doud</a:t>
            </a:r>
            <a:r>
              <a:rPr lang="en-US" sz="2200" b="1" dirty="0">
                <a:latin typeface="Century Schoolbook" panose="02040604050505020304" pitchFamily="18" charset="0"/>
              </a:rPr>
              <a:t> infrastructure or                                                                                services, including configuration &amp;                                          deployment.</a:t>
            </a:r>
          </a:p>
          <a:p>
            <a:pPr marL="342900" indent="-342900">
              <a:buFont typeface="Wingdings" panose="05000000000000000000" pitchFamily="2" charset="2"/>
              <a:buChar char="Ø"/>
            </a:pPr>
            <a:r>
              <a:rPr lang="en-US" sz="2200" b="1" dirty="0">
                <a:latin typeface="Century Schoolbook" panose="02040604050505020304" pitchFamily="18" charset="0"/>
              </a:rPr>
              <a:t>This phase ensures the solution meets the                                                                                                                                    defined requirements.</a:t>
            </a:r>
            <a:endParaRPr lang="en-US" sz="2400" b="1" dirty="0">
              <a:latin typeface="Century Schoolbook" panose="02040604050505020304" pitchFamily="18" charset="0"/>
            </a:endParaRPr>
          </a:p>
          <a:p>
            <a:r>
              <a:rPr lang="en-US" sz="2600" b="1" dirty="0">
                <a:solidFill>
                  <a:srgbClr val="0070C0"/>
                </a:solidFill>
                <a:latin typeface="Century Schoolbook" panose="02040604050505020304" pitchFamily="18" charset="0"/>
              </a:rPr>
              <a:t>3. </a:t>
            </a:r>
            <a:r>
              <a:rPr lang="en-US" sz="2600" b="1" u="sng" dirty="0">
                <a:solidFill>
                  <a:srgbClr val="0070C0"/>
                </a:solidFill>
                <a:latin typeface="Century Schoolbook" panose="02040604050505020304" pitchFamily="18" charset="0"/>
              </a:rPr>
              <a:t>Service Transition</a:t>
            </a:r>
            <a:r>
              <a:rPr lang="en-US" sz="2600" b="1" dirty="0">
                <a:solidFill>
                  <a:srgbClr val="0070C0"/>
                </a:solidFill>
                <a:latin typeface="Century Schoolbook" panose="02040604050505020304" pitchFamily="18" charset="0"/>
              </a:rPr>
              <a:t> : -</a:t>
            </a:r>
            <a:r>
              <a:rPr lang="en-US" sz="2400" b="1" dirty="0">
                <a:latin typeface="Century Schoolbook" panose="02040604050505020304" pitchFamily="18" charset="0"/>
              </a:rPr>
              <a:t> </a:t>
            </a:r>
          </a:p>
          <a:p>
            <a:pPr marL="342900" indent="-342900">
              <a:buFont typeface="Wingdings" panose="05000000000000000000" pitchFamily="2" charset="2"/>
              <a:buChar char="Ø"/>
            </a:pPr>
            <a:r>
              <a:rPr lang="en-US" sz="2200" b="1" dirty="0">
                <a:latin typeface="Century Schoolbook" panose="02040604050505020304" pitchFamily="18" charset="0"/>
              </a:rPr>
              <a:t>Migrate existing services or deploy new ones to the cloud environment.</a:t>
            </a:r>
          </a:p>
          <a:p>
            <a:pPr marL="342900" indent="-342900">
              <a:buFont typeface="Wingdings" panose="05000000000000000000" pitchFamily="2" charset="2"/>
              <a:buChar char="Ø"/>
            </a:pPr>
            <a:r>
              <a:rPr lang="en-US" sz="2200" b="1" dirty="0">
                <a:latin typeface="Century Schoolbook" panose="02040604050505020304" pitchFamily="18" charset="0"/>
              </a:rPr>
              <a:t>It involves testing, Haining and addressing any potential disruptions during the transition.</a:t>
            </a:r>
            <a:endParaRPr lang="en-IN" sz="22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7687A936-BA0C-5025-434B-1241C4F2EADE}"/>
              </a:ext>
            </a:extLst>
          </p:cNvPr>
          <p:cNvPicPr>
            <a:picLocks noChangeAspect="1"/>
          </p:cNvPicPr>
          <p:nvPr/>
        </p:nvPicPr>
        <p:blipFill>
          <a:blip r:embed="rId2"/>
          <a:stretch>
            <a:fillRect/>
          </a:stretch>
        </p:blipFill>
        <p:spPr>
          <a:xfrm>
            <a:off x="6339839" y="816638"/>
            <a:ext cx="5762697" cy="3562322"/>
          </a:xfrm>
          <a:prstGeom prst="rect">
            <a:avLst/>
          </a:prstGeom>
        </p:spPr>
      </p:pic>
    </p:spTree>
    <p:extLst>
      <p:ext uri="{BB962C8B-B14F-4D97-AF65-F5344CB8AC3E}">
        <p14:creationId xmlns:p14="http://schemas.microsoft.com/office/powerpoint/2010/main" val="167215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3FC22-DC79-4DEB-2743-95B7B5FE30A0}"/>
              </a:ext>
            </a:extLst>
          </p:cNvPr>
          <p:cNvSpPr>
            <a:spLocks noGrp="1"/>
          </p:cNvSpPr>
          <p:nvPr>
            <p:ph type="title"/>
          </p:nvPr>
        </p:nvSpPr>
        <p:spPr>
          <a:xfrm>
            <a:off x="677335" y="-375920"/>
            <a:ext cx="8596668" cy="375920"/>
          </a:xfrm>
        </p:spPr>
        <p:txBody>
          <a:bodyPr>
            <a:normAutofit fontScale="90000"/>
          </a:bodyPr>
          <a:lstStyle/>
          <a:p>
            <a:endParaRPr lang="en-IN"/>
          </a:p>
        </p:txBody>
      </p:sp>
      <p:sp>
        <p:nvSpPr>
          <p:cNvPr id="3" name="Text Placeholder 2">
            <a:extLst>
              <a:ext uri="{FF2B5EF4-FFF2-40B4-BE49-F238E27FC236}">
                <a16:creationId xmlns:a16="http://schemas.microsoft.com/office/drawing/2014/main" id="{0F84EB8E-A264-4ED5-4B03-35F1670A7FD3}"/>
              </a:ext>
            </a:extLst>
          </p:cNvPr>
          <p:cNvSpPr>
            <a:spLocks noGrp="1"/>
          </p:cNvSpPr>
          <p:nvPr>
            <p:ph type="body" idx="1"/>
          </p:nvPr>
        </p:nvSpPr>
        <p:spPr>
          <a:xfrm>
            <a:off x="0" y="0"/>
            <a:ext cx="9845040" cy="5628640"/>
          </a:xfrm>
        </p:spPr>
        <p:txBody>
          <a:bodyPr/>
          <a:lstStyle/>
          <a:p>
            <a:r>
              <a:rPr lang="en-US" sz="2400" b="1" dirty="0">
                <a:solidFill>
                  <a:srgbClr val="0070C0"/>
                </a:solidFill>
                <a:latin typeface="Century Schoolbook" panose="02040604050505020304" pitchFamily="18" charset="0"/>
              </a:rPr>
              <a:t>4. </a:t>
            </a:r>
            <a:r>
              <a:rPr lang="en-US" sz="2400" b="1" u="sng" dirty="0">
                <a:solidFill>
                  <a:srgbClr val="0070C0"/>
                </a:solidFill>
                <a:latin typeface="Century Schoolbook" panose="02040604050505020304" pitchFamily="18" charset="0"/>
              </a:rPr>
              <a:t>Service operation</a:t>
            </a:r>
            <a:r>
              <a:rPr lang="en-US" sz="2400" b="1" dirty="0">
                <a:solidFill>
                  <a:srgbClr val="0070C0"/>
                </a:solidFill>
                <a:latin typeface="Century Schoolbook" panose="02040604050505020304" pitchFamily="18" charset="0"/>
              </a:rPr>
              <a:t> : -</a:t>
            </a:r>
          </a:p>
          <a:p>
            <a:pPr marL="285750" indent="-285750">
              <a:buFont typeface="Wingdings" panose="05000000000000000000" pitchFamily="2" charset="2"/>
              <a:buChar char="Ø"/>
            </a:pPr>
            <a:r>
              <a:rPr lang="en-US" sz="2000" b="1" dirty="0">
                <a:latin typeface="Century Schoolbook" panose="02040604050505020304" pitchFamily="18" charset="0"/>
              </a:rPr>
              <a:t>Manage, monitor and optimize the cloud services to ensure performance, availability and security.</a:t>
            </a:r>
          </a:p>
          <a:p>
            <a:pPr marL="285750" indent="-285750">
              <a:buFont typeface="Wingdings" panose="05000000000000000000" pitchFamily="2" charset="2"/>
              <a:buChar char="Ø"/>
            </a:pPr>
            <a:r>
              <a:rPr lang="en-US" sz="2000" b="1" dirty="0">
                <a:latin typeface="Century Schoolbook" panose="02040604050505020304" pitchFamily="18" charset="0"/>
              </a:rPr>
              <a:t>Continuous monitoring and scaling occur to meet operational demands.</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5. </a:t>
            </a:r>
            <a:r>
              <a:rPr lang="en-US" sz="2400" b="1" u="sng" dirty="0">
                <a:solidFill>
                  <a:srgbClr val="0070C0"/>
                </a:solidFill>
                <a:latin typeface="Century Schoolbook" panose="02040604050505020304" pitchFamily="18" charset="0"/>
              </a:rPr>
              <a:t>Service Improvement</a:t>
            </a:r>
            <a:r>
              <a:rPr lang="en-US" sz="2400" b="1" dirty="0">
                <a:solidFill>
                  <a:srgbClr val="0070C0"/>
                </a:solidFill>
                <a:latin typeface="Century Schoolbook" panose="02040604050505020304" pitchFamily="18" charset="0"/>
              </a:rPr>
              <a:t> : - </a:t>
            </a:r>
          </a:p>
          <a:p>
            <a:pPr marL="285750" indent="-285750">
              <a:buFont typeface="Wingdings" panose="05000000000000000000" pitchFamily="2" charset="2"/>
              <a:buChar char="Ø"/>
            </a:pPr>
            <a:r>
              <a:rPr lang="en-US" sz="2000" b="1" dirty="0">
                <a:latin typeface="Century Schoolbook" panose="02040604050505020304" pitchFamily="18" charset="0"/>
              </a:rPr>
              <a:t>Regularly review the services for performance, cost-efficiently and innovation.</a:t>
            </a:r>
          </a:p>
          <a:p>
            <a:pPr marL="285750" indent="-285750">
              <a:buFont typeface="Wingdings" panose="05000000000000000000" pitchFamily="2" charset="2"/>
              <a:buChar char="Ø"/>
            </a:pPr>
            <a:r>
              <a:rPr lang="en-US" sz="2000" b="1" dirty="0">
                <a:latin typeface="Century Schoolbook" panose="02040604050505020304" pitchFamily="18" charset="0"/>
              </a:rPr>
              <a:t>This phase focuses on refining &amp; improving services to adapt to changing needs</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6. </a:t>
            </a:r>
            <a:r>
              <a:rPr lang="en-US" sz="2400" b="1" u="sng" dirty="0">
                <a:solidFill>
                  <a:srgbClr val="0070C0"/>
                </a:solidFill>
                <a:latin typeface="Century Schoolbook" panose="02040604050505020304" pitchFamily="18" charset="0"/>
              </a:rPr>
              <a:t>Service Termination</a:t>
            </a:r>
            <a:r>
              <a:rPr lang="en-US" sz="2400" b="1" dirty="0">
                <a:solidFill>
                  <a:srgbClr val="0070C0"/>
                </a:solidFill>
                <a:latin typeface="Century Schoolbook" panose="02040604050505020304" pitchFamily="18" charset="0"/>
              </a:rPr>
              <a:t> : - </a:t>
            </a:r>
          </a:p>
          <a:p>
            <a:pPr marL="285750" indent="-285750">
              <a:buFont typeface="Wingdings" panose="05000000000000000000" pitchFamily="2" charset="2"/>
              <a:buChar char="Ø"/>
            </a:pPr>
            <a:r>
              <a:rPr lang="en-US" sz="2000" b="1" dirty="0">
                <a:latin typeface="Century Schoolbook" panose="02040604050505020304" pitchFamily="18" charset="0"/>
              </a:rPr>
              <a:t>Retire cloud services that are no longer needed or have been replaced.</a:t>
            </a:r>
          </a:p>
          <a:p>
            <a:pPr marL="285750" indent="-285750">
              <a:buFont typeface="Wingdings" panose="05000000000000000000" pitchFamily="2" charset="2"/>
              <a:buChar char="Ø"/>
            </a:pPr>
            <a:r>
              <a:rPr lang="en-US" sz="2000" b="1" dirty="0">
                <a:latin typeface="Century Schoolbook" panose="02040604050505020304" pitchFamily="18" charset="0"/>
              </a:rPr>
              <a:t>This includes securely handling data, releasing resources, and ensuring minimal impact on operations.</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3950228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66AB-EFFE-2BF0-66B7-C3C68DCF1955}"/>
              </a:ext>
            </a:extLst>
          </p:cNvPr>
          <p:cNvSpPr>
            <a:spLocks noGrp="1"/>
          </p:cNvSpPr>
          <p:nvPr>
            <p:ph type="title"/>
          </p:nvPr>
        </p:nvSpPr>
        <p:spPr>
          <a:xfrm>
            <a:off x="0" y="-71120"/>
            <a:ext cx="10454640" cy="791238"/>
          </a:xfrm>
        </p:spPr>
        <p:txBody>
          <a:bodyPr>
            <a:noAutofit/>
          </a:bodyPr>
          <a:lstStyle/>
          <a:p>
            <a:r>
              <a:rPr lang="en-US" dirty="0">
                <a:latin typeface="Algerian" panose="04020705040A02060702" pitchFamily="82" charset="0"/>
              </a:rPr>
              <a:t>4.7] </a:t>
            </a:r>
            <a:r>
              <a:rPr lang="en-US" u="sng" dirty="0">
                <a:latin typeface="Algerian" panose="04020705040A02060702" pitchFamily="82" charset="0"/>
              </a:rPr>
              <a:t>cloud resource management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294E1D2-4BDD-ADB0-8E50-4C88FEE72085}"/>
              </a:ext>
            </a:extLst>
          </p:cNvPr>
          <p:cNvSpPr>
            <a:spLocks noGrp="1"/>
          </p:cNvSpPr>
          <p:nvPr>
            <p:ph type="body" idx="1"/>
          </p:nvPr>
        </p:nvSpPr>
        <p:spPr>
          <a:xfrm>
            <a:off x="0" y="557558"/>
            <a:ext cx="9773920" cy="548764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Cloud Resource Management is a process of efficiently allocating, scheduling, and controlling cloud computing resources such as CPU, memory, storage, and network bandwidth to meet user requirements and service level agreements (SLAs). </a:t>
            </a:r>
          </a:p>
          <a:p>
            <a:pPr marL="342900" indent="-342900">
              <a:buFont typeface="Wingdings" panose="05000000000000000000" pitchFamily="2" charset="2"/>
              <a:buChar char="Ø"/>
            </a:pPr>
            <a:r>
              <a:rPr lang="en-US" sz="2400" b="1" dirty="0">
                <a:latin typeface="Century Schoolbook" panose="02040604050505020304" pitchFamily="18" charset="0"/>
              </a:rPr>
              <a:t>The main goal of resource management is to ensure optimal performance, cost-effectiveness, scalability, and reliability in a cloud environment.</a:t>
            </a:r>
          </a:p>
          <a:p>
            <a:pPr marL="342900" indent="-342900">
              <a:buFont typeface="Wingdings" panose="05000000000000000000" pitchFamily="2" charset="2"/>
              <a:buChar char="Ø"/>
            </a:pPr>
            <a:r>
              <a:rPr lang="en-US" sz="2400" b="1" dirty="0">
                <a:latin typeface="Century Schoolbook" panose="02040604050505020304" pitchFamily="18" charset="0"/>
              </a:rPr>
              <a:t>It involves two major phases : -</a:t>
            </a:r>
          </a:p>
          <a:p>
            <a:r>
              <a:rPr lang="en-US" sz="2400" b="1" dirty="0">
                <a:solidFill>
                  <a:srgbClr val="0070C0"/>
                </a:solidFill>
                <a:latin typeface="Century Schoolbook" panose="02040604050505020304" pitchFamily="18" charset="0"/>
              </a:rPr>
              <a:t>1. Ab-initio Resource Assignment.</a:t>
            </a:r>
          </a:p>
          <a:p>
            <a:r>
              <a:rPr lang="en-US" sz="2400" b="1" dirty="0">
                <a:solidFill>
                  <a:srgbClr val="0070C0"/>
                </a:solidFill>
                <a:latin typeface="Century Schoolbook" panose="02040604050505020304" pitchFamily="18" charset="0"/>
              </a:rPr>
              <a:t>2. Periodic Resource Optimization.</a:t>
            </a: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151769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861B-8AB3-36FF-89C6-F27C02A4B7E5}"/>
              </a:ext>
            </a:extLst>
          </p:cNvPr>
          <p:cNvSpPr>
            <a:spLocks noGrp="1"/>
          </p:cNvSpPr>
          <p:nvPr>
            <p:ph type="title"/>
          </p:nvPr>
        </p:nvSpPr>
        <p:spPr>
          <a:xfrm>
            <a:off x="0" y="-76200"/>
            <a:ext cx="10590105" cy="791238"/>
          </a:xfrm>
        </p:spPr>
        <p:txBody>
          <a:bodyPr/>
          <a:lstStyle/>
          <a:p>
            <a:r>
              <a:rPr lang="en-US" dirty="0">
                <a:latin typeface="Algerian" panose="04020705040A02060702" pitchFamily="82" charset="0"/>
              </a:rPr>
              <a:t>1. </a:t>
            </a:r>
            <a:r>
              <a:rPr lang="en-US" u="sng" dirty="0">
                <a:latin typeface="Algerian" panose="04020705040A02060702" pitchFamily="82" charset="0"/>
              </a:rPr>
              <a:t>ab-initio resource assignment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B2DEC9E-3E51-4A3F-0C56-51661C30BAC7}"/>
              </a:ext>
            </a:extLst>
          </p:cNvPr>
          <p:cNvSpPr>
            <a:spLocks noGrp="1"/>
          </p:cNvSpPr>
          <p:nvPr>
            <p:ph type="body" idx="1"/>
          </p:nvPr>
        </p:nvSpPr>
        <p:spPr>
          <a:xfrm>
            <a:off x="0" y="518160"/>
            <a:ext cx="9743440" cy="4734560"/>
          </a:xfrm>
        </p:spPr>
        <p:txBody>
          <a:bodyPr>
            <a:normAutofit/>
          </a:bodyPr>
          <a:lstStyle/>
          <a:p>
            <a:pPr marL="285750" indent="-285750">
              <a:buFont typeface="Wingdings" panose="05000000000000000000" pitchFamily="2" charset="2"/>
              <a:buChar char="Ø"/>
            </a:pPr>
            <a:r>
              <a:rPr lang="en-US" sz="2400" b="1" dirty="0">
                <a:latin typeface="Century Schoolbook" panose="02040604050505020304" pitchFamily="18" charset="0"/>
              </a:rPr>
              <a:t>Ab-initio Resource Assignment refers to the initial allocation of resources when a new application, service, or virtual machine (VM) is deployed in the cloud.</a:t>
            </a:r>
          </a:p>
          <a:p>
            <a:pPr marL="285750" indent="-285750">
              <a:buFont typeface="Wingdings" panose="05000000000000000000" pitchFamily="2" charset="2"/>
              <a:buChar char="Ø"/>
            </a:pPr>
            <a:r>
              <a:rPr lang="en-US" sz="2400" b="1" dirty="0">
                <a:latin typeface="Century Schoolbook" panose="02040604050505020304" pitchFamily="18" charset="0"/>
              </a:rPr>
              <a:t>It determines how much CPU, memory, and storage will be assigned to each task or user based on initial requirements and workload predictions.</a:t>
            </a:r>
          </a:p>
          <a:p>
            <a:pPr marL="285750" indent="-285750">
              <a:buFont typeface="Wingdings" panose="05000000000000000000" pitchFamily="2" charset="2"/>
              <a:buChar char="Ø"/>
            </a:pPr>
            <a:r>
              <a:rPr lang="en-US" sz="2400" b="1" u="sng" dirty="0">
                <a:solidFill>
                  <a:srgbClr val="0070C0"/>
                </a:solidFill>
                <a:latin typeface="Century Schoolbook" panose="02040604050505020304" pitchFamily="18" charset="0"/>
              </a:rPr>
              <a:t>Example</a:t>
            </a:r>
            <a:r>
              <a:rPr lang="en-US" sz="2400" b="1" dirty="0">
                <a:solidFill>
                  <a:srgbClr val="0070C0"/>
                </a:solidFill>
                <a:latin typeface="Century Schoolbook" panose="02040604050505020304" pitchFamily="18" charset="0"/>
              </a:rPr>
              <a:t> : - </a:t>
            </a:r>
            <a:r>
              <a:rPr lang="en-US" sz="2400" b="1" dirty="0">
                <a:latin typeface="Century Schoolbook" panose="02040604050505020304" pitchFamily="18" charset="0"/>
              </a:rPr>
              <a:t>When a new virtual machine is launched, the cloud management system assigns initial CPU cores, memory, and storage based on the requested instance type.</a:t>
            </a: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81395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6313-DAF9-8FAB-630F-31F7EDA7A813}"/>
              </a:ext>
            </a:extLst>
          </p:cNvPr>
          <p:cNvSpPr>
            <a:spLocks noGrp="1"/>
          </p:cNvSpPr>
          <p:nvPr>
            <p:ph type="title"/>
          </p:nvPr>
        </p:nvSpPr>
        <p:spPr>
          <a:xfrm>
            <a:off x="0" y="0"/>
            <a:ext cx="10701866" cy="721360"/>
          </a:xfrm>
        </p:spPr>
        <p:txBody>
          <a:bodyPr>
            <a:noAutofit/>
          </a:bodyPr>
          <a:lstStyle/>
          <a:p>
            <a:r>
              <a:rPr lang="en-US" dirty="0">
                <a:latin typeface="Algerian" panose="04020705040A02060702" pitchFamily="82" charset="0"/>
              </a:rPr>
              <a:t>2. </a:t>
            </a:r>
            <a:r>
              <a:rPr lang="en-US" u="sng" dirty="0">
                <a:latin typeface="Algerian" panose="04020705040A02060702" pitchFamily="82" charset="0"/>
              </a:rPr>
              <a:t>Periodic resource optimization</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FF1C12D-B5AB-4962-C2A8-269F8FE9C40E}"/>
              </a:ext>
            </a:extLst>
          </p:cNvPr>
          <p:cNvSpPr>
            <a:spLocks noGrp="1"/>
          </p:cNvSpPr>
          <p:nvPr>
            <p:ph type="body" idx="1"/>
          </p:nvPr>
        </p:nvSpPr>
        <p:spPr>
          <a:xfrm>
            <a:off x="0" y="582958"/>
            <a:ext cx="9865360" cy="4375122"/>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Periodic Resource Optimization is the process of re-evaluating and adjusting resource allocation during runtime to maintain efficiency as workloads change over time.</a:t>
            </a:r>
          </a:p>
          <a:p>
            <a:pPr marL="342900" indent="-342900">
              <a:buFont typeface="Wingdings" panose="05000000000000000000" pitchFamily="2" charset="2"/>
              <a:buChar char="Ø"/>
            </a:pPr>
            <a:r>
              <a:rPr lang="en-US" sz="2400" b="1" dirty="0">
                <a:latin typeface="Century Schoolbook" panose="02040604050505020304" pitchFamily="18" charset="0"/>
              </a:rPr>
              <a:t>It ensures continuous performance improvement and energy efficiency in the cloud environment.</a:t>
            </a:r>
          </a:p>
          <a:p>
            <a:pPr marL="342900" indent="-342900">
              <a:buFont typeface="Wingdings" panose="05000000000000000000" pitchFamily="2" charset="2"/>
              <a:buChar char="Ø"/>
            </a:pPr>
            <a:r>
              <a:rPr lang="en-US" sz="2400" b="1" u="sng" dirty="0">
                <a:solidFill>
                  <a:srgbClr val="0070C0"/>
                </a:solidFill>
                <a:latin typeface="Century Schoolbook" panose="02040604050505020304" pitchFamily="18" charset="0"/>
              </a:rPr>
              <a:t>Example</a:t>
            </a:r>
            <a:r>
              <a:rPr lang="en-US" sz="2400" b="1" dirty="0">
                <a:solidFill>
                  <a:srgbClr val="0070C0"/>
                </a:solidFill>
                <a:latin typeface="Century Schoolbook" panose="02040604050505020304" pitchFamily="18" charset="0"/>
              </a:rPr>
              <a:t> : - </a:t>
            </a:r>
            <a:r>
              <a:rPr lang="en-US" sz="2400" b="1" dirty="0">
                <a:latin typeface="Century Schoolbook" panose="02040604050505020304" pitchFamily="18" charset="0"/>
              </a:rPr>
              <a:t>If a VM becomes idle, the system may consolidate its tasks to another machine and power down the idle server to save energy.</a:t>
            </a: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212339308"/>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1375</TotalTime>
  <Words>2090</Words>
  <Application>Microsoft Office PowerPoint</Application>
  <PresentationFormat>Widescreen</PresentationFormat>
  <Paragraphs>139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Algerian</vt:lpstr>
      <vt:lpstr>Arial</vt:lpstr>
      <vt:lpstr>Century Schoolbook</vt:lpstr>
      <vt:lpstr>Trebuchet MS</vt:lpstr>
      <vt:lpstr>Wingdings</vt:lpstr>
      <vt:lpstr>Wingdings 3</vt:lpstr>
      <vt:lpstr>Facet</vt:lpstr>
      <vt:lpstr>04. Cloud monitoring &amp; management </vt:lpstr>
      <vt:lpstr>4.1] cloud service provider &amp; users : -</vt:lpstr>
      <vt:lpstr>Users : -</vt:lpstr>
      <vt:lpstr>4.2] Architecture of Federated Cloud Computing : -</vt:lpstr>
      <vt:lpstr>PowerPoint Presentation</vt:lpstr>
      <vt:lpstr>4.3] service level agreement (sla) : -</vt:lpstr>
      <vt:lpstr>sla management : -</vt:lpstr>
      <vt:lpstr>1. Customer-level sla : - </vt:lpstr>
      <vt:lpstr>2. Service-level sla : -</vt:lpstr>
      <vt:lpstr>3. multi-level sla : -</vt:lpstr>
      <vt:lpstr>Life cycle of sla : -</vt:lpstr>
      <vt:lpstr>4.4] service catlog : -</vt:lpstr>
      <vt:lpstr>Service management : - i) Cloud service Management refers to the management of data, content and applications in cloud computing. ii) A Managed Service Provider (MSP) can manage these individually or all together iii) Backup and disaster recovery plans are in place to ensure data safety and quick recovery in case of Failures. </vt:lpstr>
      <vt:lpstr>4.5] cloud portal &amp; its functions : -</vt:lpstr>
      <vt:lpstr>Functions of cloud portal : - </vt:lpstr>
      <vt:lpstr>PowerPoint Presentation</vt:lpstr>
      <vt:lpstr>4.6] Cloud Service life cycle phases : -</vt:lpstr>
      <vt:lpstr>PowerPoint Presentation</vt:lpstr>
      <vt:lpstr>4.7] cloud resource management : -</vt:lpstr>
      <vt:lpstr>1. ab-initio resource assignment : -</vt:lpstr>
      <vt:lpstr>2. Periodic resource optimization :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4</cp:revision>
  <dcterms:created xsi:type="dcterms:W3CDTF">2025-10-13T10:55:37Z</dcterms:created>
  <dcterms:modified xsi:type="dcterms:W3CDTF">2025-10-31T19:26:52Z</dcterms:modified>
</cp:coreProperties>
</file>