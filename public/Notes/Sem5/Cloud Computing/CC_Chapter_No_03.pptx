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2" r:id="rId1"/>
  </p:sldMasterIdLst>
  <p:notesMasterIdLst>
    <p:notesMasterId r:id="rId19"/>
  </p:notesMasterIdLst>
  <p:sldIdLst>
    <p:sldId id="256" r:id="rId2"/>
    <p:sldId id="257" r:id="rId3"/>
    <p:sldId id="260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5E771-257E-4334-980B-7B8579B91092}" v="1" dt="2025-10-29T17:36:23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167AB-AE5A-4C22-90FF-EDD03A63CBC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79A40-55A1-46E9-B3F6-1252234DE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27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79A40-55A1-46E9-B3F6-1252234DE0D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603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45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64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49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0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39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728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88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7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6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1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8095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229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0851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180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22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71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69A9-2220-A0EF-C952-F7CFC650C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303" y="3227682"/>
            <a:ext cx="9389805" cy="1646302"/>
          </a:xfrm>
        </p:spPr>
        <p:txBody>
          <a:bodyPr/>
          <a:lstStyle/>
          <a:p>
            <a:pPr algn="ctr"/>
            <a:r>
              <a:rPr lang="en-US" sz="8000" dirty="0">
                <a:solidFill>
                  <a:srgbClr val="0070C0"/>
                </a:solidFill>
                <a:latin typeface="Algerian" panose="04020705040A02060702" pitchFamily="82" charset="0"/>
              </a:rPr>
              <a:t>03. Storage in cloud</a:t>
            </a:r>
            <a:endParaRPr lang="en-IN" sz="80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769C8-6F37-E81C-4778-0C14BA7CB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36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7B8BD-501D-22B4-2935-AB1C45CD7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180"/>
            <a:ext cx="11927619" cy="79123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u="sng" dirty="0">
                <a:solidFill>
                  <a:srgbClr val="0070C0"/>
                </a:solidFill>
                <a:latin typeface="Algerian" panose="04020705040A02060702" pitchFamily="82" charset="0"/>
              </a:rPr>
              <a:t>Storage System Architecture</a:t>
            </a:r>
            <a:r>
              <a:rPr lang="en-IN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A132E-B4F6-6731-819D-FD16E880F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8" y="538742"/>
            <a:ext cx="12154852" cy="1919234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) The design and arrangement of data storage resources &amp;                                     services inside a cloud computing environment is storage                                    system architecture.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ii) It manages and stores a lot of data, necessitating                                         specialized solutions with higher dependability &amp; manageability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.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640A7-5B5B-C9C9-5920-E7AFABF6F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71" y="2457976"/>
            <a:ext cx="7217266" cy="411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9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83C3-BAB6-9623-1609-EAA6D532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0" y="-128474"/>
            <a:ext cx="12113342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84840-5FED-2202-A315-B478EE3C4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-82755"/>
            <a:ext cx="12192000" cy="701040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Public API is for Data and Management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Public APIs allow users and applications to interact with, manage, and access stored data programmatically through standardized interfaces.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Virtualized Compute server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A Virtualized compute server enables the allocation of virtual machines to efficiently process. data. It performs compute task while interacting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with storage.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Object storage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Object storage organizes data into objects, each containing the data itself, metadata, and a unique identifier, making it ideal for unstructured data. It provides scalable and cost - effective storage with easy retrieval.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4.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Block storage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Block storage divides data into fixed - size blocks, each managed separately, offering high - performance storage.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5.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File/object storage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File storage organizes data in hierarchical file system, making it suitable for shared access, object storage on the other hand stores data as discrete objects with metadata and unique identifiers.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6.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Logical storage Pool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A logical storage pool is an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abstrackted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 collection of physical storage resources, unified into a single entity. It enables dynamic allocation &amp; scaling of storage capacity without direct interaction with the underlying hardware.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7.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Physical storage Server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A physical storage server is the hardware infrastructure where data is physically stored such as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harddrivers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 in data centers.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8. </a:t>
            </a:r>
            <a:r>
              <a:rPr lang="en-US" sz="20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Cloud Storage Location</a:t>
            </a:r>
            <a:r>
              <a:rPr lang="en-US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It represents different geographical locations where cloud provider's store data. The choice of service location affects service latency, availability,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etc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…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12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2B85-C022-906A-7B3C-E9E642A7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923"/>
            <a:ext cx="10746659" cy="830006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Virtualized data center (vdc)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B04AD-BF42-F2BE-7512-6E7BA0F8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490" y="540774"/>
            <a:ext cx="9724104" cy="5083278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A Virtualized Data Center (VDC) refers to a data center where the physical infrastructure is abstracted or virtualized into logical units using software.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Physical resources like CPU, memory and storage are pooled together and allocated dynamically to virtual machines based on demand. (Resource Pooling).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By running multiple VMs on a single physical server, the hardware is utilized while reducing the need for excess physical infrastructure.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VDC is a type of Infrastructure-as-a-Service (IAAS), where a cloud provider delivers storage, applications, networking components and computing on demand."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8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B884-6B65-32B9-98EB-C66F2070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8658"/>
            <a:ext cx="12192000" cy="76691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Vdc architecture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CDD9E-230D-C68F-B23A-77E342EB5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32792"/>
            <a:ext cx="12192000" cy="4318685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It is a framework that facilitates the deployment and                              management of virtual resources within a data center.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A Virtualized Data Center (VDC) Architecture is a logical           framework that integrates physical IT resources such as                                            servers, storage, and networking into                                                                              a virtualized environment to deliver                                                                      computing resources as services.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It abstracts, pools, and manages these                                                      resources virtualization and cloud                                                                                           management technologies.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There are four phases to achieve VDC : -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Phase 1 : Virtualized Infrastructure.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Phase 2 : Virtualized compute.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Phase 3: Virtualized Network.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Phase 4 : Virtualized storage.</a:t>
            </a:r>
            <a:endParaRPr lang="en-IN" sz="2000" b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FB131-81CC-7E20-D2BF-838E5C202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606" y="2401556"/>
            <a:ext cx="5422052" cy="431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8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33D5-E31D-36FD-A664-F47CA9CA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Vdc environment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F7DA1-F490-15DF-7425-0EF8C83FC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87477"/>
            <a:ext cx="10982632" cy="5683046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Provides a flexible, scalable and dynamic environment for       hosting applications.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Virtual Data Center (VDC) Environment is a complete IT                  setup where computing, storage, and networking resources                 are virtualized, pooled, and delivered as services through a centralized management system.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acts like a software-defined version of a traditional data center.</a:t>
            </a:r>
            <a:endParaRPr lang="en-IN" sz="2400" b="1" dirty="0">
              <a:latin typeface="Century Schoolbook" panose="02040604050505020304" pitchFamily="18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Components of VDC environment</a:t>
            </a:r>
            <a:r>
              <a:rPr lang="en-IN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Hypervisor</a:t>
            </a:r>
            <a:r>
              <a:rPr lang="en-IN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-</a:t>
            </a:r>
            <a:r>
              <a:rPr lang="en-IN" sz="2400" b="1" dirty="0">
                <a:latin typeface="Century Schoolbook" panose="02040604050505020304" pitchFamily="18" charset="0"/>
              </a:rPr>
              <a:t> Controls VMs and manages resource allocation.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Virtual Network</a:t>
            </a:r>
            <a:r>
              <a:rPr lang="en-IN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- </a:t>
            </a:r>
            <a:r>
              <a:rPr lang="en-IN" sz="2400" b="1" dirty="0">
                <a:latin typeface="Century Schoolbook" panose="02040604050505020304" pitchFamily="18" charset="0"/>
              </a:rPr>
              <a:t>Allow seamless communication between VMS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Storage Virtualization</a:t>
            </a:r>
            <a:r>
              <a:rPr lang="en-IN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- </a:t>
            </a:r>
            <a:r>
              <a:rPr lang="en-IN" sz="2400" b="1" dirty="0">
                <a:latin typeface="Century Schoolbook" panose="02040604050505020304" pitchFamily="18" charset="0"/>
              </a:rPr>
              <a:t>Pooling storage for easier                 management.</a:t>
            </a:r>
          </a:p>
        </p:txBody>
      </p:sp>
    </p:spTree>
    <p:extLst>
      <p:ext uri="{BB962C8B-B14F-4D97-AF65-F5344CB8AC3E}">
        <p14:creationId xmlns:p14="http://schemas.microsoft.com/office/powerpoint/2010/main" val="163867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F1B3-6EA8-AB98-363E-1495A1FA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4282"/>
            <a:ext cx="12192000" cy="882036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0070C0"/>
                </a:solidFill>
                <a:latin typeface="Algerian" panose="04020705040A02060702" pitchFamily="82" charset="0"/>
              </a:rPr>
              <a:t>Block &amp; file level storage virtualization</a:t>
            </a:r>
            <a:r>
              <a:rPr lang="en-US" sz="3600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012B6-49A1-D566-66A5-34215420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7819"/>
            <a:ext cx="9469555" cy="2644878"/>
          </a:xfrm>
        </p:spPr>
        <p:txBody>
          <a:bodyPr/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600" b="1" u="sng" dirty="0">
                <a:solidFill>
                  <a:schemeClr val="tx1"/>
                </a:solidFill>
                <a:latin typeface="Century Schoolbook" panose="02040604050505020304" pitchFamily="18" charset="0"/>
              </a:rPr>
              <a:t>Types of storage virtualization</a:t>
            </a:r>
            <a:r>
              <a:rPr lang="en-US" sz="36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Block – level storage virtualization.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File – level storage virtualization.</a:t>
            </a:r>
            <a:endParaRPr lang="en-US" sz="2800" b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754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688D-E523-CEA7-C3BC-2ED65DB3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322"/>
            <a:ext cx="11307097" cy="81663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1. </a:t>
            </a: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block-level storage virtualization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3C4F4-2F01-0864-D041-679D5B067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272" y="159705"/>
            <a:ext cx="10767093" cy="5039248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abstracts physical storage into virtual blocks                                                        that can be used by any OS or application.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divides the data into fixed size blocks and                                                                           storing them on block devices such as hard                                               drives.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Storage can be easily scaled up or down by                                                          removing blocks.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Block storage is commonly used for application                                          latency, high performance storage such as                                                        databases or virtual machine.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32FDD-05A0-F2A7-FC41-1EC0D8F92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761" y="702316"/>
            <a:ext cx="3797967" cy="48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1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C4BA-D80D-6B18-101F-55118D0B4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7819"/>
            <a:ext cx="11573659" cy="924232"/>
          </a:xfrm>
        </p:spPr>
        <p:txBody>
          <a:bodyPr/>
          <a:lstStyle/>
          <a:p>
            <a:pPr marL="571500" indent="-571500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File-level storage virtualization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5E8F8-D281-C930-1DF7-2B7FEA15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134" y="626454"/>
            <a:ext cx="9650960" cy="4176658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aggregates file storage across multiple                                             devices into a unified file system.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stores data as files and present it to the                                         final users as a hierarchical structure.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File storage is more affordable than block                                                storage, especially for storing large amount                                           of unstructured data.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also creates a logical pool of storage                                               enabling to use a logical path rather than a                                   physical path to access files.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0A2A6-5934-18DF-DF10-3EA9F7A2C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466" y="757083"/>
            <a:ext cx="4111400" cy="480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9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D0B8-8B9C-5C42-0749-9E3716F0F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883"/>
            <a:ext cx="8596668" cy="8166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Virtual provisioning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B4D07-F69E-508A-4046-16B08C7A7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21111"/>
            <a:ext cx="9576619" cy="3677264"/>
          </a:xfrm>
        </p:spPr>
        <p:txBody>
          <a:bodyPr>
            <a:normAutofit lnSpcReduction="10000"/>
          </a:bodyPr>
          <a:lstStyle/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allocates storage on - demand, without needing to pre - allocate the full amount of physical storage.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Virtual Provisioning is also </a:t>
            </a:r>
            <a:r>
              <a:rPr lang="en-US" sz="2400" b="1" dirty="0" err="1">
                <a:latin typeface="Century Schoolbook" panose="02040604050505020304" pitchFamily="18" charset="0"/>
              </a:rPr>
              <a:t>reffered</a:t>
            </a:r>
            <a:r>
              <a:rPr lang="en-US" sz="2400" b="1" dirty="0">
                <a:latin typeface="Century Schoolbook" panose="02040604050505020304" pitchFamily="18" charset="0"/>
              </a:rPr>
              <a:t> as thin provisioning.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ability to deliver a LUN (logical Unit Number) to a compute system with more capacity than LUN on the physical storage array is known as virtual provisioning.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can be used in storage layer and compute layer implementations.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19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7787-887D-2101-DF11-20DC0F35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00"/>
            <a:ext cx="9754691" cy="721852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Automated storage tiering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53331-C9DB-1F92-A521-8C926EEDB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85262"/>
            <a:ext cx="9754691" cy="3632458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It moves data between High-performance (SSD) and lower- performance (HDD) storage tiers based on usage patterns.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Storage tiering prioritizes storage blocks into different categories </a:t>
            </a:r>
            <a:r>
              <a:rPr lang="en-US" sz="2800" b="1" dirty="0" err="1">
                <a:latin typeface="Century Schoolbook" panose="02040604050505020304" pitchFamily="18" charset="0"/>
              </a:rPr>
              <a:t>refferred</a:t>
            </a:r>
            <a:r>
              <a:rPr lang="en-US" sz="2800" b="1" dirty="0">
                <a:latin typeface="Century Schoolbook" panose="02040604050505020304" pitchFamily="18" charset="0"/>
              </a:rPr>
              <a:t> to as storage Hers.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It is a real-time intelligent mechanism.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It has easy to use GUI based management tools.</a:t>
            </a:r>
            <a:endParaRPr lang="en-IN" sz="2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27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B554-63B9-41F9-7247-493619AE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6866"/>
            <a:ext cx="11926529" cy="865239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Virtual storage area network (VSAN) 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23F35-F787-E6C5-E8C1-211025E3B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58" y="489237"/>
            <a:ext cx="10532401" cy="6032144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VSAN is a software - defined solution                                                                      that pools physical storage into a                                                                            virtualized </a:t>
            </a:r>
            <a:r>
              <a:rPr lang="en-IN" sz="2400" b="1" dirty="0" err="1">
                <a:latin typeface="Century Schoolbook" panose="02040604050505020304" pitchFamily="18" charset="0"/>
              </a:rPr>
              <a:t>stalable</a:t>
            </a:r>
            <a:r>
              <a:rPr lang="en-IN" sz="2400" b="1" dirty="0">
                <a:latin typeface="Century Schoolbook" panose="02040604050505020304" pitchFamily="18" charset="0"/>
              </a:rPr>
              <a:t> network.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VSAN enable efficient storage                                                                                management and data isolation                                                                    across virtual machines. 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It enhance performance by pooling                                                                               storage resources and allow for easy                                                                 scalability.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They provide secure, flexible storage solutions.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It dynamically allocates storage for VMs according to the requirements.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VSAN is especially well-suited for cloud computing environments.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F75CE-061E-CAA2-1D8B-2373BBA0D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367" y="599768"/>
            <a:ext cx="5569975" cy="360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60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D5AA-37F6-8504-FF3A-D7930751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8826"/>
            <a:ext cx="8596668" cy="81508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Benefits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B4B9-2E4C-3B2D-0AF6-F50C4FC26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320"/>
            <a:ext cx="9596284" cy="589051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Cost-Effectiveness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: -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VSAN does not require physical storage arrays therefore it is less expensive than conventional storage systems.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Scalability</a:t>
            </a: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VSAN is well-suited for could computing environment that can be simply scaled to meet changing storage requirements.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Increased Performance</a:t>
            </a: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To deliver quick and dependable storage performance, VSAN makes use of high-speed interconnects.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4. </a:t>
            </a:r>
            <a:r>
              <a:rPr lang="en-US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Flexibility</a:t>
            </a: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Block and file storage are supported by VSAN, giving clients the option to select the type of storage that best suits their requirements.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5. </a:t>
            </a:r>
            <a:r>
              <a:rPr lang="en-US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Data Security</a:t>
            </a: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VSAN has tools that guard against data loss and guarantee that information is always accessible.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6. </a:t>
            </a:r>
            <a:r>
              <a:rPr lang="en-US" sz="2400" b="1" u="sng" dirty="0">
                <a:solidFill>
                  <a:srgbClr val="0070C0"/>
                </a:solidFill>
                <a:latin typeface="Century Schoolbook" panose="02040604050505020304" pitchFamily="18" charset="0"/>
              </a:rPr>
              <a:t>Simplified Management</a:t>
            </a:r>
            <a:r>
              <a:rPr lang="en-US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Administration is made easier because of VSAN'S Integration with the VMware vSphere virtualization technology, which offers a single management panel.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649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943B-24F1-91A6-38FA-45FBD4FE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68814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Cloud file system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6721DF-9648-94AC-96F3-762AF2E013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638037"/>
            <a:ext cx="9743768" cy="5975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A Cloud File System (CFS) is a storage system that allows users and applications to store, manage, and access files over the internet through cloud computing infrastructure instead of using local storage devices.</a:t>
            </a:r>
            <a:endParaRPr lang="en-IN" sz="2000" b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A cloud file system is a distributed file storage service provided in the cloud that behaves like a traditional file system but is hosted on remote servers managed by cloud providers.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A cloud file system works like your computer’s folder and file storage, but the files actually live on the cloud servers, making them more flexible, secure, and easily accessible.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Examples of cloud file system : -</a:t>
            </a:r>
          </a:p>
          <a:p>
            <a:pPr>
              <a:buClr>
                <a:schemeClr val="tx1"/>
              </a:buClr>
            </a:pPr>
            <a:r>
              <a:rPr lang="en-IN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- Amazon Elastic File System (EFS).</a:t>
            </a:r>
          </a:p>
          <a:p>
            <a:r>
              <a:rPr lang="en-IN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- Google Cloud File store.</a:t>
            </a:r>
          </a:p>
          <a:p>
            <a:r>
              <a:rPr lang="en-IN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- Microsoft Azure Files.</a:t>
            </a:r>
          </a:p>
          <a:p>
            <a:r>
              <a:rPr lang="en-IN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- Dropbox, Google Drive, OneDrive (consumer-level cloud file storage).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910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917B-159F-E513-5E8D-4F8DC9F6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8658"/>
            <a:ext cx="8596668" cy="70464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1. </a:t>
            </a: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GFS (google file system)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A634-F304-6B0F-F01B-1110C0CA3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96453"/>
            <a:ext cx="11071123" cy="2353187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) The Google file system (GFS) is designed to manage relatively large files using a very large distributed cluster to commodity servers connected by a high-speed network.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ii) Google File System is another name for GFS.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iii) It manages two types of data namely file data and file metadata.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iv) The GF node cluster consist of a single master and several chunk servers that various client systems regularly access.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79C31-6EF0-90D6-1EB0-A7020F178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3234812"/>
            <a:ext cx="9792066" cy="362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0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DE9E0-AA4E-71A0-D3A2-53D56C4E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1937"/>
            <a:ext cx="12320911" cy="785031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u="sng" dirty="0" err="1">
                <a:solidFill>
                  <a:srgbClr val="0070C0"/>
                </a:solidFill>
                <a:latin typeface="Algerian" panose="04020705040A02060702" pitchFamily="82" charset="0"/>
              </a:rPr>
              <a:t>Hdfs</a:t>
            </a:r>
            <a:r>
              <a:rPr lang="en-US" sz="4000" u="sng" dirty="0">
                <a:solidFill>
                  <a:srgbClr val="0070C0"/>
                </a:solidFill>
                <a:latin typeface="Algerian" panose="04020705040A02060702" pitchFamily="82" charset="0"/>
              </a:rPr>
              <a:t> (Hadoop distributed file system)</a:t>
            </a:r>
            <a:r>
              <a:rPr lang="en-US" sz="4000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B8255-0487-3F20-E37E-F2B8FBA98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39" y="413243"/>
            <a:ext cx="9998109" cy="4600886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) HDFS is a unique design that                                                                               provides storage for large files with                                                                                streaming data access.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ii) It is a open source distributed file                                                                                 system inspired by GFS.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iii) HDFS consist of a single master                                                                                  manages multiple slave nodes that                                                                     store actual data.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iv) HDFS follows a write-once, read                                                                                                       many model, meaning files are                                                                                      typically written once but can be read multiple times.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64905-DDEC-9DD1-D20B-0D708745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455" y="775200"/>
            <a:ext cx="5761784" cy="355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2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C48E-5B74-9D8F-BA4D-3244543D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9" y="25679"/>
            <a:ext cx="12063975" cy="667657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070C0"/>
                </a:solidFill>
                <a:latin typeface="Algerian" panose="04020705040A02060702" pitchFamily="82" charset="0"/>
              </a:rPr>
              <a:t>Difference between HDFS &amp; GFD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51C48-B119-C7E8-73A7-9D7A60278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93336"/>
            <a:ext cx="12192000" cy="616466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4AAEB-B289-C261-BAEA-73659CD5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998"/>
            <a:ext cx="10008157" cy="623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136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1911</TotalTime>
  <Words>1520</Words>
  <Application>Microsoft Office PowerPoint</Application>
  <PresentationFormat>Widescreen</PresentationFormat>
  <Paragraphs>76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Algerian</vt:lpstr>
      <vt:lpstr>Arial</vt:lpstr>
      <vt:lpstr>Calibri</vt:lpstr>
      <vt:lpstr>Century Schoolbook</vt:lpstr>
      <vt:lpstr>Trebuchet MS</vt:lpstr>
      <vt:lpstr>Wingdings</vt:lpstr>
      <vt:lpstr>Wingdings 3</vt:lpstr>
      <vt:lpstr>Facet</vt:lpstr>
      <vt:lpstr>03. Storage in cloud</vt:lpstr>
      <vt:lpstr>Storage System Architecture : -</vt:lpstr>
      <vt:lpstr>PowerPoint Presentation</vt:lpstr>
      <vt:lpstr>Virtualized data center (vdc) : -</vt:lpstr>
      <vt:lpstr>Vdc architecture : -</vt:lpstr>
      <vt:lpstr>Vdc environment : -</vt:lpstr>
      <vt:lpstr>Block &amp; file level storage virtualization : -</vt:lpstr>
      <vt:lpstr>1. block-level storage virtualization : -</vt:lpstr>
      <vt:lpstr>File-level storage virtualization : -</vt:lpstr>
      <vt:lpstr>Virtual provisioning : -</vt:lpstr>
      <vt:lpstr>Automated storage tiering : -</vt:lpstr>
      <vt:lpstr>Virtual storage area network (VSAN) : -</vt:lpstr>
      <vt:lpstr>Benefits : -</vt:lpstr>
      <vt:lpstr>Cloud file system : -</vt:lpstr>
      <vt:lpstr>1. GFS (google file system) : -</vt:lpstr>
      <vt:lpstr>Hdfs (Hadoop distributed file system) : -</vt:lpstr>
      <vt:lpstr>Difference between HDFS &amp; GFD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2025-09-29T13:18:39Z</dcterms:created>
  <dcterms:modified xsi:type="dcterms:W3CDTF">2025-10-31T09:38:11Z</dcterms:modified>
</cp:coreProperties>
</file>