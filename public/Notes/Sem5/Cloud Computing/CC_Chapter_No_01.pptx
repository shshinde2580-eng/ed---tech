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1"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09AA45-90C3-4437-B0AD-1DCD07170029}" v="26" dt="2025-10-13T10:49:26.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634" autoAdjust="0"/>
  </p:normalViewPr>
  <p:slideViewPr>
    <p:cSldViewPr snapToGrid="0">
      <p:cViewPr varScale="1">
        <p:scale>
          <a:sx n="75" d="100"/>
          <a:sy n="75" d="100"/>
        </p:scale>
        <p:origin x="97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4488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9170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40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8412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35667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4035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27329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6331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Tree>
    <p:extLst>
      <p:ext uri="{BB962C8B-B14F-4D97-AF65-F5344CB8AC3E}">
        <p14:creationId xmlns:p14="http://schemas.microsoft.com/office/powerpoint/2010/main" val="913355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6302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95425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4938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62970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48348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60490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0757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605468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83858-F108-ED7D-5BBC-C3E2CB9B158A}"/>
              </a:ext>
            </a:extLst>
          </p:cNvPr>
          <p:cNvSpPr>
            <a:spLocks noGrp="1"/>
          </p:cNvSpPr>
          <p:nvPr>
            <p:ph type="ctrTitle"/>
          </p:nvPr>
        </p:nvSpPr>
        <p:spPr>
          <a:xfrm>
            <a:off x="186813" y="2379680"/>
            <a:ext cx="9901084" cy="2098640"/>
          </a:xfrm>
        </p:spPr>
        <p:txBody>
          <a:bodyPr/>
          <a:lstStyle/>
          <a:p>
            <a:pPr algn="ctr"/>
            <a:r>
              <a:rPr lang="en-US" sz="6600" dirty="0">
                <a:latin typeface="Algerian" panose="04020705040A02060702" pitchFamily="82" charset="0"/>
              </a:rPr>
              <a:t>01. fundamentals of cloud computing </a:t>
            </a:r>
            <a:endParaRPr lang="en-IN" sz="6600" dirty="0">
              <a:latin typeface="Algerian" panose="04020705040A02060702" pitchFamily="82" charset="0"/>
            </a:endParaRPr>
          </a:p>
        </p:txBody>
      </p:sp>
      <p:sp>
        <p:nvSpPr>
          <p:cNvPr id="3" name="Subtitle 2">
            <a:extLst>
              <a:ext uri="{FF2B5EF4-FFF2-40B4-BE49-F238E27FC236}">
                <a16:creationId xmlns:a16="http://schemas.microsoft.com/office/drawing/2014/main" id="{0D96B2D7-9D23-DE25-AB4D-C3E9FB5ADBE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46027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281FF-FB2D-8A7D-70AC-7F4078227DD7}"/>
              </a:ext>
            </a:extLst>
          </p:cNvPr>
          <p:cNvSpPr>
            <a:spLocks noGrp="1"/>
          </p:cNvSpPr>
          <p:nvPr>
            <p:ph type="title"/>
          </p:nvPr>
        </p:nvSpPr>
        <p:spPr>
          <a:xfrm>
            <a:off x="28405" y="25400"/>
            <a:ext cx="9245597" cy="692355"/>
          </a:xfrm>
        </p:spPr>
        <p:txBody>
          <a:bodyPr>
            <a:noAutofit/>
          </a:bodyPr>
          <a:lstStyle/>
          <a:p>
            <a:r>
              <a:rPr lang="en-US" dirty="0">
                <a:latin typeface="Algerian" panose="04020705040A02060702" pitchFamily="82" charset="0"/>
              </a:rPr>
              <a:t>1.1] </a:t>
            </a:r>
            <a:r>
              <a:rPr lang="en-US" u="sng" dirty="0">
                <a:latin typeface="Algerian" panose="04020705040A02060702" pitchFamily="82" charset="0"/>
              </a:rPr>
              <a:t>define cloud computing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AA58E90-6AAC-0F89-71EF-6B8CA57CBA91}"/>
              </a:ext>
            </a:extLst>
          </p:cNvPr>
          <p:cNvSpPr>
            <a:spLocks noGrp="1"/>
          </p:cNvSpPr>
          <p:nvPr>
            <p:ph type="body" idx="1"/>
          </p:nvPr>
        </p:nvSpPr>
        <p:spPr>
          <a:xfrm>
            <a:off x="0" y="639097"/>
            <a:ext cx="10137058" cy="6193503"/>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Cloud Computing is the on-demand </a:t>
            </a:r>
            <a:r>
              <a:rPr lang="en-US" sz="2400" b="1" dirty="0" err="1">
                <a:latin typeface="Century Schoolbook" panose="02040604050505020304" pitchFamily="18" charset="0"/>
              </a:rPr>
              <a:t>availbility</a:t>
            </a:r>
            <a:r>
              <a:rPr lang="en-US" sz="2400" b="1" dirty="0">
                <a:latin typeface="Century Schoolbook" panose="02040604050505020304" pitchFamily="18" charset="0"/>
              </a:rPr>
              <a:t> of computer system resources, especially data storage (cloud storage) and computing power, without direct active management by the user.</a:t>
            </a:r>
          </a:p>
          <a:p>
            <a:pPr marL="342900" indent="-342900">
              <a:buFont typeface="Wingdings" panose="05000000000000000000" pitchFamily="2" charset="2"/>
              <a:buChar char="Ø"/>
            </a:pPr>
            <a:r>
              <a:rPr lang="en-US" sz="2400" b="1" dirty="0">
                <a:latin typeface="Century Schoolbook" panose="02040604050505020304" pitchFamily="18" charset="0"/>
              </a:rPr>
              <a:t>The term is generally used to describe data centers available to many users over the Internet.</a:t>
            </a:r>
          </a:p>
          <a:p>
            <a:pPr marL="342900" indent="-342900">
              <a:buFont typeface="Wingdings" panose="05000000000000000000" pitchFamily="2" charset="2"/>
              <a:buChar char="Ø"/>
            </a:pPr>
            <a:r>
              <a:rPr lang="en-US" sz="2400" b="1" dirty="0">
                <a:latin typeface="Century Schoolbook" panose="02040604050505020304" pitchFamily="18" charset="0"/>
              </a:rPr>
              <a:t>Clouds may be limited to a single organization (enterprise cloud) or be available to multiple organizations (public cloud).</a:t>
            </a:r>
          </a:p>
          <a:p>
            <a:pPr marL="342900" indent="-342900">
              <a:buFont typeface="Wingdings" panose="05000000000000000000" pitchFamily="2" charset="2"/>
              <a:buChar char="Ø"/>
            </a:pPr>
            <a:r>
              <a:rPr lang="en-US" sz="2400" b="1" dirty="0">
                <a:latin typeface="Century Schoolbook" panose="02040604050505020304" pitchFamily="18" charset="0"/>
              </a:rPr>
              <a:t>These computing services include servers, storage, databases, networking, software, analytics &amp; intelligence are moved outside an organization's firewall &amp; can be accessed via the web.</a:t>
            </a:r>
          </a:p>
          <a:p>
            <a:pPr marL="342900" indent="-342900">
              <a:buFont typeface="Wingdings" panose="05000000000000000000" pitchFamily="2" charset="2"/>
              <a:buChar char="Ø"/>
            </a:pPr>
            <a:r>
              <a:rPr lang="en-US" sz="2400" b="1" dirty="0">
                <a:latin typeface="Century Schoolbook" panose="02040604050505020304" pitchFamily="18" charset="0"/>
              </a:rPr>
              <a:t>Cloud computing offers platform independency, as the software is not required to be installed locally on the PC.</a:t>
            </a:r>
          </a:p>
        </p:txBody>
      </p:sp>
    </p:spTree>
    <p:extLst>
      <p:ext uri="{BB962C8B-B14F-4D97-AF65-F5344CB8AC3E}">
        <p14:creationId xmlns:p14="http://schemas.microsoft.com/office/powerpoint/2010/main" val="145631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DD6E2-6828-3748-4738-84BF90EA67C4}"/>
              </a:ext>
            </a:extLst>
          </p:cNvPr>
          <p:cNvSpPr>
            <a:spLocks noGrp="1"/>
          </p:cNvSpPr>
          <p:nvPr>
            <p:ph type="title"/>
          </p:nvPr>
        </p:nvSpPr>
        <p:spPr>
          <a:xfrm>
            <a:off x="0" y="25400"/>
            <a:ext cx="11641395" cy="554703"/>
          </a:xfrm>
        </p:spPr>
        <p:txBody>
          <a:bodyPr>
            <a:normAutofit fontScale="90000"/>
          </a:bodyPr>
          <a:lstStyle/>
          <a:p>
            <a:pPr marL="571500" indent="-571500">
              <a:buFont typeface="Wingdings" panose="05000000000000000000" pitchFamily="2" charset="2"/>
              <a:buChar char="v"/>
            </a:pPr>
            <a:r>
              <a:rPr lang="en-US" sz="3600" u="sng" dirty="0">
                <a:latin typeface="Algerian" panose="04020705040A02060702" pitchFamily="82" charset="0"/>
              </a:rPr>
              <a:t>Essential characteristics of cloud computing</a:t>
            </a:r>
            <a:r>
              <a:rPr lang="en-US" sz="3600" dirty="0">
                <a:latin typeface="Algerian" panose="04020705040A02060702" pitchFamily="82" charset="0"/>
              </a:rPr>
              <a:t> : -</a:t>
            </a:r>
            <a:endParaRPr lang="en-IN" sz="3600" dirty="0">
              <a:latin typeface="Algerian" panose="04020705040A02060702" pitchFamily="82" charset="0"/>
            </a:endParaRPr>
          </a:p>
        </p:txBody>
      </p:sp>
      <p:sp>
        <p:nvSpPr>
          <p:cNvPr id="3" name="Text Placeholder 2">
            <a:extLst>
              <a:ext uri="{FF2B5EF4-FFF2-40B4-BE49-F238E27FC236}">
                <a16:creationId xmlns:a16="http://schemas.microsoft.com/office/drawing/2014/main" id="{FC74D192-3D2B-599A-E2CE-76798095380F}"/>
              </a:ext>
            </a:extLst>
          </p:cNvPr>
          <p:cNvSpPr>
            <a:spLocks noGrp="1"/>
          </p:cNvSpPr>
          <p:nvPr>
            <p:ph type="body" idx="1"/>
          </p:nvPr>
        </p:nvSpPr>
        <p:spPr>
          <a:xfrm>
            <a:off x="0" y="511276"/>
            <a:ext cx="9763432" cy="6145163"/>
          </a:xfrm>
        </p:spPr>
        <p:txBody>
          <a:bodyPr>
            <a:normAutofit fontScale="92500" lnSpcReduction="20000"/>
          </a:bodyPr>
          <a:lstStyle/>
          <a:p>
            <a:r>
              <a:rPr lang="en-US" sz="2600" b="1" dirty="0">
                <a:latin typeface="Century Schoolbook" panose="02040604050505020304" pitchFamily="18" charset="0"/>
              </a:rPr>
              <a:t>There are basically five essential characteristics of cloud computing : -</a:t>
            </a:r>
          </a:p>
          <a:p>
            <a:r>
              <a:rPr lang="en-US" sz="3000" b="1" dirty="0">
                <a:solidFill>
                  <a:srgbClr val="0070C0"/>
                </a:solidFill>
                <a:latin typeface="Century Schoolbook" panose="02040604050505020304" pitchFamily="18" charset="0"/>
              </a:rPr>
              <a:t>1. </a:t>
            </a:r>
            <a:r>
              <a:rPr lang="en-US" sz="3000" b="1" u="sng" dirty="0">
                <a:solidFill>
                  <a:srgbClr val="0070C0"/>
                </a:solidFill>
                <a:latin typeface="Century Schoolbook" panose="02040604050505020304" pitchFamily="18" charset="0"/>
              </a:rPr>
              <a:t>ON-Demand Self Service</a:t>
            </a:r>
            <a:r>
              <a:rPr lang="en-US" sz="3000" b="1" dirty="0">
                <a:solidFill>
                  <a:srgbClr val="0070C0"/>
                </a:solidFill>
                <a:latin typeface="Century Schoolbook" panose="02040604050505020304" pitchFamily="18" charset="0"/>
              </a:rPr>
              <a:t> : - </a:t>
            </a:r>
            <a:r>
              <a:rPr lang="en-US" sz="2600" b="1" dirty="0">
                <a:solidFill>
                  <a:schemeClr val="tx1">
                    <a:lumMod val="95000"/>
                    <a:lumOff val="5000"/>
                  </a:schemeClr>
                </a:solidFill>
                <a:latin typeface="Century Schoolbook" panose="02040604050505020304" pitchFamily="18" charset="0"/>
              </a:rPr>
              <a:t>Cloud customers can quickly sign up, pay for, and start using cloud resources on their own without help from a sales agent.</a:t>
            </a:r>
          </a:p>
          <a:p>
            <a:r>
              <a:rPr lang="en-US" sz="3000" b="1" dirty="0">
                <a:solidFill>
                  <a:srgbClr val="0070C0"/>
                </a:solidFill>
                <a:latin typeface="Century Schoolbook" panose="02040604050505020304" pitchFamily="18" charset="0"/>
              </a:rPr>
              <a:t>2. </a:t>
            </a:r>
            <a:r>
              <a:rPr lang="en-US" sz="3000" b="1" u="sng" dirty="0">
                <a:solidFill>
                  <a:srgbClr val="0070C0"/>
                </a:solidFill>
                <a:latin typeface="Century Schoolbook" panose="02040604050505020304" pitchFamily="18" charset="0"/>
              </a:rPr>
              <a:t>Broad Network Access</a:t>
            </a:r>
            <a:r>
              <a:rPr lang="en-US" sz="3000" b="1" dirty="0">
                <a:solidFill>
                  <a:srgbClr val="0070C0"/>
                </a:solidFill>
                <a:latin typeface="Century Schoolbook" panose="02040604050505020304" pitchFamily="18" charset="0"/>
              </a:rPr>
              <a:t> : - </a:t>
            </a:r>
            <a:r>
              <a:rPr lang="en-US" sz="2600" b="1" dirty="0">
                <a:latin typeface="Century Schoolbook" panose="02040604050505020304" pitchFamily="18" charset="0"/>
              </a:rPr>
              <a:t>Customers access cloud services via the internet.</a:t>
            </a:r>
            <a:endParaRPr lang="en-US" sz="2000" b="1" dirty="0">
              <a:latin typeface="Century Schoolbook" panose="02040604050505020304" pitchFamily="18" charset="0"/>
            </a:endParaRPr>
          </a:p>
          <a:p>
            <a:r>
              <a:rPr lang="en-US" sz="3000" b="1" dirty="0">
                <a:solidFill>
                  <a:srgbClr val="0070C0"/>
                </a:solidFill>
                <a:latin typeface="Century Schoolbook" panose="02040604050505020304" pitchFamily="18" charset="0"/>
              </a:rPr>
              <a:t>3. </a:t>
            </a:r>
            <a:r>
              <a:rPr lang="en-US" sz="3000" b="1" u="sng" dirty="0">
                <a:solidFill>
                  <a:srgbClr val="0070C0"/>
                </a:solidFill>
                <a:latin typeface="Century Schoolbook" panose="02040604050505020304" pitchFamily="18" charset="0"/>
              </a:rPr>
              <a:t>Resource Pooling</a:t>
            </a:r>
            <a:r>
              <a:rPr lang="en-US" sz="3000" b="1" dirty="0">
                <a:solidFill>
                  <a:srgbClr val="0070C0"/>
                </a:solidFill>
                <a:latin typeface="Century Schoolbook" panose="02040604050505020304" pitchFamily="18" charset="0"/>
              </a:rPr>
              <a:t> : - </a:t>
            </a:r>
            <a:r>
              <a:rPr lang="en-US" sz="2600" b="1" dirty="0">
                <a:latin typeface="Century Schoolbook" panose="02040604050505020304" pitchFamily="18" charset="0"/>
              </a:rPr>
              <a:t>Different types of customers (individuals, organizations, or different departments within an organization) all use the same servers, storage, or other computing resources.</a:t>
            </a:r>
          </a:p>
          <a:p>
            <a:r>
              <a:rPr lang="en-US" sz="3000" b="1" dirty="0">
                <a:solidFill>
                  <a:srgbClr val="0070C0"/>
                </a:solidFill>
                <a:latin typeface="Century Schoolbook" panose="02040604050505020304" pitchFamily="18" charset="0"/>
              </a:rPr>
              <a:t>4. </a:t>
            </a:r>
            <a:r>
              <a:rPr lang="en-US" sz="3000" b="1" u="sng" dirty="0">
                <a:solidFill>
                  <a:srgbClr val="0070C0"/>
                </a:solidFill>
                <a:latin typeface="Century Schoolbook" panose="02040604050505020304" pitchFamily="18" charset="0"/>
              </a:rPr>
              <a:t>Rapid elasticity or expansion</a:t>
            </a:r>
            <a:r>
              <a:rPr lang="en-US" sz="3000" b="1" dirty="0">
                <a:solidFill>
                  <a:srgbClr val="0070C0"/>
                </a:solidFill>
                <a:latin typeface="Century Schoolbook" panose="02040604050505020304" pitchFamily="18" charset="0"/>
              </a:rPr>
              <a:t> : -</a:t>
            </a:r>
            <a:r>
              <a:rPr lang="en-US" sz="2600" b="1" dirty="0">
                <a:solidFill>
                  <a:srgbClr val="0070C0"/>
                </a:solidFill>
                <a:latin typeface="Century Schoolbook" panose="02040604050505020304" pitchFamily="18" charset="0"/>
              </a:rPr>
              <a:t> </a:t>
            </a:r>
            <a:r>
              <a:rPr lang="en-US" sz="2600" b="1" dirty="0">
                <a:solidFill>
                  <a:schemeClr val="tx1">
                    <a:lumMod val="95000"/>
                    <a:lumOff val="5000"/>
                  </a:schemeClr>
                </a:solidFill>
                <a:latin typeface="Century Schoolbook" panose="02040604050505020304" pitchFamily="18" charset="0"/>
              </a:rPr>
              <a:t>C</a:t>
            </a:r>
            <a:r>
              <a:rPr lang="en-US" sz="2600" b="1" dirty="0">
                <a:latin typeface="Century Schoolbook" panose="02040604050505020304" pitchFamily="18" charset="0"/>
              </a:rPr>
              <a:t>loud customers can easily scale their use of resources up or down as their needs change.</a:t>
            </a:r>
          </a:p>
          <a:p>
            <a:r>
              <a:rPr lang="en-US" sz="3000" b="1" dirty="0">
                <a:solidFill>
                  <a:srgbClr val="0070C0"/>
                </a:solidFill>
                <a:latin typeface="Century Schoolbook" panose="02040604050505020304" pitchFamily="18" charset="0"/>
              </a:rPr>
              <a:t>5. </a:t>
            </a:r>
            <a:r>
              <a:rPr lang="en-US" sz="3000" b="1" u="sng" dirty="0">
                <a:solidFill>
                  <a:srgbClr val="0070C0"/>
                </a:solidFill>
                <a:latin typeface="Century Schoolbook" panose="02040604050505020304" pitchFamily="18" charset="0"/>
              </a:rPr>
              <a:t>Measured service</a:t>
            </a:r>
            <a:r>
              <a:rPr lang="en-US" sz="3000" b="1" dirty="0">
                <a:solidFill>
                  <a:srgbClr val="0070C0"/>
                </a:solidFill>
                <a:latin typeface="Century Schoolbook" panose="02040604050505020304" pitchFamily="18" charset="0"/>
              </a:rPr>
              <a:t> : -</a:t>
            </a:r>
            <a:r>
              <a:rPr lang="en-US" sz="3000" b="1" dirty="0">
                <a:solidFill>
                  <a:schemeClr val="accent1">
                    <a:lumMod val="75000"/>
                  </a:schemeClr>
                </a:solidFill>
                <a:latin typeface="Century Schoolbook" panose="02040604050505020304" pitchFamily="18" charset="0"/>
              </a:rPr>
              <a:t> </a:t>
            </a:r>
            <a:r>
              <a:rPr lang="en-US" sz="2600" b="1" dirty="0">
                <a:latin typeface="Century Schoolbook" panose="02040604050505020304" pitchFamily="18" charset="0"/>
              </a:rPr>
              <a:t>Customers pay for the amount of resources they use in a given period of time rather than paying for hardware or software upfront.</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84331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9BDD-D995-884C-3D56-77553D3747BF}"/>
              </a:ext>
            </a:extLst>
          </p:cNvPr>
          <p:cNvSpPr>
            <a:spLocks noGrp="1"/>
          </p:cNvSpPr>
          <p:nvPr>
            <p:ph type="title"/>
          </p:nvPr>
        </p:nvSpPr>
        <p:spPr>
          <a:xfrm>
            <a:off x="18573" y="25400"/>
            <a:ext cx="10383955" cy="791238"/>
          </a:xfrm>
        </p:spPr>
        <p:txBody>
          <a:bodyPr/>
          <a:lstStyle/>
          <a:p>
            <a:r>
              <a:rPr lang="en-US" dirty="0">
                <a:latin typeface="Algerian" panose="04020705040A02060702" pitchFamily="82" charset="0"/>
              </a:rPr>
              <a:t>1.2] </a:t>
            </a:r>
            <a:r>
              <a:rPr lang="en-US" u="sng" dirty="0">
                <a:latin typeface="Algerian" panose="04020705040A02060702" pitchFamily="82" charset="0"/>
              </a:rPr>
              <a:t>cloud deployment model</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8C6B5EA-1CB4-2173-A4EB-F636459B4094}"/>
              </a:ext>
            </a:extLst>
          </p:cNvPr>
          <p:cNvSpPr>
            <a:spLocks noGrp="1"/>
          </p:cNvSpPr>
          <p:nvPr>
            <p:ph type="body" idx="1"/>
          </p:nvPr>
        </p:nvSpPr>
        <p:spPr>
          <a:xfrm>
            <a:off x="18573" y="560438"/>
            <a:ext cx="9724103" cy="5269271"/>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Cloud Deployment Model is defined according to where the infrastructure for the deployment resides and who has control over that infrastructure.</a:t>
            </a:r>
          </a:p>
          <a:p>
            <a:pPr marL="342900" indent="-342900">
              <a:buFont typeface="Wingdings" panose="05000000000000000000" pitchFamily="2" charset="2"/>
              <a:buChar char="Ø"/>
            </a:pPr>
            <a:r>
              <a:rPr lang="en-US" sz="2400" b="1" dirty="0">
                <a:latin typeface="Century Schoolbook" panose="02040604050505020304" pitchFamily="18" charset="0"/>
              </a:rPr>
              <a:t>Deciding which deployment model you will go with is one of the most important cloud deployment decisions you will make.</a:t>
            </a:r>
          </a:p>
          <a:p>
            <a:pPr marL="342900" indent="-342900">
              <a:buFont typeface="Wingdings" panose="05000000000000000000" pitchFamily="2" charset="2"/>
              <a:buChar char="Ø"/>
            </a:pPr>
            <a:r>
              <a:rPr lang="en-US" sz="2400" b="1" dirty="0">
                <a:latin typeface="Century Schoolbook" panose="02040604050505020304" pitchFamily="18" charset="0"/>
              </a:rPr>
              <a:t>Each cloud deployment model satisfies different organizational needs, so it's important that you choose a model that will satisfy the needs of your organization.</a:t>
            </a:r>
          </a:p>
          <a:p>
            <a:pPr marL="342900" indent="-342900">
              <a:buFont typeface="Wingdings" panose="05000000000000000000" pitchFamily="2" charset="2"/>
              <a:buChar char="Ø"/>
            </a:pPr>
            <a:r>
              <a:rPr lang="en-US" sz="2400" b="1" dirty="0">
                <a:latin typeface="Century Schoolbook" panose="02040604050505020304" pitchFamily="18" charset="0"/>
              </a:rPr>
              <a:t>Perhaps even more important is the fact that each cloud deployment model has a different value proposition &amp; different costs associated with it.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84295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76066-CC44-C11C-D12C-2FF1EF71B0A0}"/>
              </a:ext>
            </a:extLst>
          </p:cNvPr>
          <p:cNvSpPr>
            <a:spLocks noGrp="1"/>
          </p:cNvSpPr>
          <p:nvPr>
            <p:ph type="title"/>
          </p:nvPr>
        </p:nvSpPr>
        <p:spPr>
          <a:xfrm>
            <a:off x="8740" y="0"/>
            <a:ext cx="9381065" cy="8166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Public cloud</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4E8271B-685C-7300-4184-74D97716DBB5}"/>
              </a:ext>
            </a:extLst>
          </p:cNvPr>
          <p:cNvSpPr>
            <a:spLocks noGrp="1"/>
          </p:cNvSpPr>
          <p:nvPr>
            <p:ph type="body" idx="1"/>
          </p:nvPr>
        </p:nvSpPr>
        <p:spPr>
          <a:xfrm>
            <a:off x="0" y="570831"/>
            <a:ext cx="9989574" cy="6041362"/>
          </a:xfrm>
        </p:spPr>
        <p:txBody>
          <a:bodyPr>
            <a:noAutofit/>
          </a:bodyPr>
          <a:lstStyle/>
          <a:p>
            <a:pPr marL="342900" indent="-342900">
              <a:buFont typeface="Wingdings" panose="05000000000000000000" pitchFamily="2" charset="2"/>
              <a:buChar char="Ø"/>
            </a:pPr>
            <a:r>
              <a:rPr lang="en-US" sz="2000" b="1" dirty="0">
                <a:latin typeface="Century Schoolbook" panose="02040604050505020304" pitchFamily="18" charset="0"/>
              </a:rPr>
              <a:t>The public cloud makes it possible for anybody                                                     to access system &amp; services. It may be less secure                                                          as it is open to everyone.</a:t>
            </a:r>
          </a:p>
          <a:p>
            <a:pPr marL="342900" indent="-342900">
              <a:buFont typeface="Wingdings" panose="05000000000000000000" pitchFamily="2" charset="2"/>
              <a:buChar char="Ø"/>
            </a:pPr>
            <a:r>
              <a:rPr lang="en-US" sz="2000" b="1" dirty="0">
                <a:latin typeface="Century Schoolbook" panose="02040604050505020304" pitchFamily="18" charset="0"/>
              </a:rPr>
              <a:t>In public cloud, computing resources are                                                                             managed &amp; operated by the cloud service                                                                                                            provider (CSP).</a:t>
            </a:r>
          </a:p>
          <a:p>
            <a:pPr marL="342900" indent="-342900">
              <a:buFont typeface="Wingdings" panose="05000000000000000000" pitchFamily="2" charset="2"/>
              <a:buChar char="Ø"/>
            </a:pPr>
            <a:r>
              <a:rPr lang="en-US" sz="2000" b="1" dirty="0">
                <a:latin typeface="Century Schoolbook" panose="02040604050505020304" pitchFamily="18" charset="0"/>
              </a:rPr>
              <a:t>Most common uses of public clouds are for                                                                                                                              application development and testing,                                                               non-mission-critical tasks such as file-sharing,                                                      and e-mail service.</a:t>
            </a:r>
          </a:p>
          <a:p>
            <a:pPr marL="342900" indent="-342900">
              <a:buFont typeface="Wingdings" panose="05000000000000000000" pitchFamily="2" charset="2"/>
              <a:buChar char="Ø"/>
            </a:pPr>
            <a:r>
              <a:rPr lang="en-US" sz="2000" b="1" dirty="0">
                <a:latin typeface="Century Schoolbook" panose="02040604050505020304" pitchFamily="18" charset="0"/>
              </a:rPr>
              <a:t>A public cloud can offer any kind of service:                                                           infrastructure, platform or applications.                                                               For Example : -</a:t>
            </a:r>
          </a:p>
          <a:p>
            <a:r>
              <a:rPr lang="en-US" sz="2000" b="1" dirty="0">
                <a:latin typeface="Century Schoolbook" panose="02040604050505020304" pitchFamily="18" charset="0"/>
              </a:rPr>
              <a:t>(a) Amazon EC2.</a:t>
            </a:r>
          </a:p>
          <a:p>
            <a:r>
              <a:rPr lang="en-US" sz="2000" b="1" dirty="0">
                <a:latin typeface="Century Schoolbook" panose="02040604050505020304" pitchFamily="18" charset="0"/>
              </a:rPr>
              <a:t>(b) Google App Engine.</a:t>
            </a:r>
          </a:p>
          <a:p>
            <a:r>
              <a:rPr lang="en-US" sz="2000" b="1" dirty="0">
                <a:latin typeface="Century Schoolbook" panose="02040604050505020304" pitchFamily="18" charset="0"/>
              </a:rPr>
              <a:t>(c) Salesforce.com</a:t>
            </a:r>
            <a:endParaRPr lang="en-IN" sz="2000" b="1" dirty="0">
              <a:latin typeface="Century Schoolbook" panose="02040604050505020304" pitchFamily="18" charset="0"/>
            </a:endParaRPr>
          </a:p>
        </p:txBody>
      </p:sp>
      <p:pic>
        <p:nvPicPr>
          <p:cNvPr id="7" name="Picture 6">
            <a:extLst>
              <a:ext uri="{FF2B5EF4-FFF2-40B4-BE49-F238E27FC236}">
                <a16:creationId xmlns:a16="http://schemas.microsoft.com/office/drawing/2014/main" id="{3BBB912A-8071-E18F-3A52-DA58D5F2B69F}"/>
              </a:ext>
            </a:extLst>
          </p:cNvPr>
          <p:cNvPicPr>
            <a:picLocks noChangeAspect="1"/>
          </p:cNvPicPr>
          <p:nvPr/>
        </p:nvPicPr>
        <p:blipFill>
          <a:blip r:embed="rId2"/>
          <a:stretch>
            <a:fillRect/>
          </a:stretch>
        </p:blipFill>
        <p:spPr>
          <a:xfrm>
            <a:off x="6912078" y="734723"/>
            <a:ext cx="5137754" cy="4171573"/>
          </a:xfrm>
          <a:prstGeom prst="rect">
            <a:avLst/>
          </a:prstGeom>
        </p:spPr>
      </p:pic>
    </p:spTree>
    <p:extLst>
      <p:ext uri="{BB962C8B-B14F-4D97-AF65-F5344CB8AC3E}">
        <p14:creationId xmlns:p14="http://schemas.microsoft.com/office/powerpoint/2010/main" val="2323755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3E5BB-0EB1-B882-3AF3-3A5351BC032A}"/>
              </a:ext>
            </a:extLst>
          </p:cNvPr>
          <p:cNvSpPr>
            <a:spLocks noGrp="1"/>
          </p:cNvSpPr>
          <p:nvPr>
            <p:ph type="title"/>
          </p:nvPr>
        </p:nvSpPr>
        <p:spPr>
          <a:xfrm>
            <a:off x="18574" y="-72922"/>
            <a:ext cx="8596668" cy="7912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Private cloud</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8D33E71-2750-1267-7ACC-DA8952532C37}"/>
              </a:ext>
            </a:extLst>
          </p:cNvPr>
          <p:cNvSpPr>
            <a:spLocks noGrp="1"/>
          </p:cNvSpPr>
          <p:nvPr>
            <p:ph type="body" idx="1"/>
          </p:nvPr>
        </p:nvSpPr>
        <p:spPr>
          <a:xfrm>
            <a:off x="0" y="467248"/>
            <a:ext cx="9636369" cy="5923503"/>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Private cloud is known as internal cloud or                                                                                                                                                          corporate cloud, is typically infrastructure used                                                      by a single organization.</a:t>
            </a:r>
          </a:p>
          <a:p>
            <a:pPr marL="342900" indent="-342900">
              <a:buFont typeface="Wingdings" panose="05000000000000000000" pitchFamily="2" charset="2"/>
              <a:buChar char="Ø"/>
            </a:pPr>
            <a:r>
              <a:rPr lang="en-US" sz="2000" b="1" dirty="0">
                <a:latin typeface="Century Schoolbook" panose="02040604050505020304" pitchFamily="18" charset="0"/>
              </a:rPr>
              <a:t>It is used by organizations to build and manage                                                                                 their own data centers internally or by the third                                                                  party.</a:t>
            </a:r>
          </a:p>
          <a:p>
            <a:pPr marL="342900" indent="-342900">
              <a:buFont typeface="Wingdings" panose="05000000000000000000" pitchFamily="2" charset="2"/>
              <a:buChar char="Ø"/>
            </a:pPr>
            <a:r>
              <a:rPr lang="en-US" sz="2000" b="1" dirty="0">
                <a:latin typeface="Century Schoolbook" panose="02040604050505020304" pitchFamily="18" charset="0"/>
              </a:rPr>
              <a:t>Private Clouds are more expensive than public                                                                                                                                               clouds due to the capital expenditure involve in                                                               acquiring &amp; maintaining them.</a:t>
            </a:r>
          </a:p>
          <a:p>
            <a:pPr marL="342900" indent="-342900">
              <a:buFont typeface="Wingdings" panose="05000000000000000000" pitchFamily="2" charset="2"/>
              <a:buChar char="Ø"/>
            </a:pPr>
            <a:r>
              <a:rPr lang="en-US" sz="2000" b="1" dirty="0">
                <a:latin typeface="Century Schoolbook" panose="02040604050505020304" pitchFamily="18" charset="0"/>
              </a:rPr>
              <a:t>However, private clouds are better to able to                                                         address the security and privacy concerns of                                                   organizations.</a:t>
            </a:r>
          </a:p>
          <a:p>
            <a:pPr marL="342900" indent="-342900">
              <a:buFont typeface="Wingdings" panose="05000000000000000000" pitchFamily="2" charset="2"/>
              <a:buChar char="Ø"/>
            </a:pPr>
            <a:r>
              <a:rPr lang="en-US" sz="2000" b="1" dirty="0">
                <a:latin typeface="Century Schoolbook" panose="02040604050505020304" pitchFamily="18" charset="0"/>
              </a:rPr>
              <a:t>Private clouds can be deployed using Opensource tools such as </a:t>
            </a:r>
            <a:r>
              <a:rPr lang="en-US" sz="2000" b="1" dirty="0" err="1">
                <a:latin typeface="Century Schoolbook" panose="02040604050505020304" pitchFamily="18" charset="0"/>
              </a:rPr>
              <a:t>openstack</a:t>
            </a:r>
            <a:r>
              <a:rPr lang="en-US" sz="2000" b="1" dirty="0">
                <a:latin typeface="Century Schoolbook" panose="02040604050505020304" pitchFamily="18" charset="0"/>
              </a:rPr>
              <a:t> and eucalyptus.</a:t>
            </a:r>
          </a:p>
          <a:p>
            <a:pPr marL="342900" indent="-342900">
              <a:buFont typeface="Wingdings" panose="05000000000000000000" pitchFamily="2" charset="2"/>
              <a:buChar char="Ø"/>
            </a:pPr>
            <a:r>
              <a:rPr lang="en-US" sz="2000" b="1" dirty="0">
                <a:latin typeface="Century Schoolbook" panose="02040604050505020304" pitchFamily="18" charset="0"/>
              </a:rPr>
              <a:t>Examples: VMware vSphere, </a:t>
            </a:r>
            <a:r>
              <a:rPr lang="en-US" sz="2000" b="1" dirty="0" err="1">
                <a:latin typeface="Century Schoolbook" panose="02040604050505020304" pitchFamily="18" charset="0"/>
              </a:rPr>
              <a:t>openstack</a:t>
            </a:r>
            <a:r>
              <a:rPr lang="en-US" sz="2000" b="1" dirty="0">
                <a:latin typeface="Century Schoolbook" panose="02040604050505020304" pitchFamily="18" charset="0"/>
              </a:rPr>
              <a:t>, Microsoft Azure Stack, oracle Cloud at customer, &amp; IBM Cloud Private.</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6919983D-011C-6666-EBCF-FCD771E71928}"/>
              </a:ext>
            </a:extLst>
          </p:cNvPr>
          <p:cNvPicPr>
            <a:picLocks noChangeAspect="1"/>
          </p:cNvPicPr>
          <p:nvPr/>
        </p:nvPicPr>
        <p:blipFill>
          <a:blip r:embed="rId2"/>
          <a:stretch>
            <a:fillRect/>
          </a:stretch>
        </p:blipFill>
        <p:spPr>
          <a:xfrm>
            <a:off x="6862916" y="656067"/>
            <a:ext cx="5230761" cy="4132243"/>
          </a:xfrm>
          <a:prstGeom prst="rect">
            <a:avLst/>
          </a:prstGeom>
        </p:spPr>
      </p:pic>
    </p:spTree>
    <p:extLst>
      <p:ext uri="{BB962C8B-B14F-4D97-AF65-F5344CB8AC3E}">
        <p14:creationId xmlns:p14="http://schemas.microsoft.com/office/powerpoint/2010/main" val="3487556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75171-D716-BC8B-43E7-8F62D3F88682}"/>
              </a:ext>
            </a:extLst>
          </p:cNvPr>
          <p:cNvSpPr>
            <a:spLocks noGrp="1"/>
          </p:cNvSpPr>
          <p:nvPr>
            <p:ph type="title"/>
          </p:nvPr>
        </p:nvSpPr>
        <p:spPr>
          <a:xfrm>
            <a:off x="0" y="-49880"/>
            <a:ext cx="8596668" cy="747252"/>
          </a:xfrm>
        </p:spPr>
        <p:txBody>
          <a:bodyPr>
            <a:noAutofit/>
          </a:bodyPr>
          <a:lstStyle/>
          <a:p>
            <a:pPr marL="571500" indent="-571500">
              <a:buFont typeface="Wingdings" panose="05000000000000000000" pitchFamily="2" charset="2"/>
              <a:buChar char="v"/>
            </a:pPr>
            <a:r>
              <a:rPr lang="en-US" u="sng" dirty="0" err="1">
                <a:latin typeface="Algerian" panose="04020705040A02060702" pitchFamily="82" charset="0"/>
              </a:rPr>
              <a:t>Communiity</a:t>
            </a:r>
            <a:r>
              <a:rPr lang="en-US" u="sng" dirty="0">
                <a:latin typeface="Algerian" panose="04020705040A02060702" pitchFamily="82" charset="0"/>
              </a:rPr>
              <a:t> cloud</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CF38080F-1BC7-48DB-D123-A801EF4FA512}"/>
              </a:ext>
            </a:extLst>
          </p:cNvPr>
          <p:cNvSpPr>
            <a:spLocks noGrp="1"/>
          </p:cNvSpPr>
          <p:nvPr>
            <p:ph type="body" idx="1"/>
          </p:nvPr>
        </p:nvSpPr>
        <p:spPr>
          <a:xfrm>
            <a:off x="0" y="599049"/>
            <a:ext cx="9940413" cy="5074163"/>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This deployment model supports multiple                                                              organizations sharing computing                                                                           resources that are part of a community.</a:t>
            </a:r>
          </a:p>
          <a:p>
            <a:pPr marL="342900" indent="-342900">
              <a:buFont typeface="Wingdings" panose="05000000000000000000" pitchFamily="2" charset="2"/>
              <a:buChar char="Ø"/>
            </a:pPr>
            <a:r>
              <a:rPr lang="en-US" sz="2000" b="1" dirty="0">
                <a:latin typeface="Century Schoolbook" panose="02040604050505020304" pitchFamily="18" charset="0"/>
              </a:rPr>
              <a:t>Examples include universities cooperating                                                               in certain areas of research, or police                                                                          departments within a country or state                                                                     sharing computing resources.</a:t>
            </a:r>
          </a:p>
          <a:p>
            <a:pPr marL="342900" indent="-342900">
              <a:buFont typeface="Wingdings" panose="05000000000000000000" pitchFamily="2" charset="2"/>
              <a:buChar char="Ø"/>
            </a:pPr>
            <a:r>
              <a:rPr lang="en-US" sz="2000" b="1" dirty="0">
                <a:latin typeface="Century Schoolbook" panose="02040604050505020304" pitchFamily="18" charset="0"/>
              </a:rPr>
              <a:t>It is generally managed by a third party or                                                                by the combination of one or more                                                                  organizations in the community.</a:t>
            </a:r>
          </a:p>
          <a:p>
            <a:pPr marL="342900" indent="-342900">
              <a:buFont typeface="Wingdings" panose="05000000000000000000" pitchFamily="2" charset="2"/>
              <a:buChar char="Ø"/>
            </a:pPr>
            <a:r>
              <a:rPr lang="en-US" sz="2000" b="1" dirty="0">
                <a:latin typeface="Century Schoolbook" panose="02040604050505020304" pitchFamily="18" charset="0"/>
              </a:rPr>
              <a:t>Access to a community cloud environment                                                                                      is typically restricted to the members of the community.</a:t>
            </a:r>
          </a:p>
          <a:p>
            <a:pPr marL="342900" indent="-342900">
              <a:buFont typeface="Wingdings" panose="05000000000000000000" pitchFamily="2" charset="2"/>
              <a:buChar char="Ø"/>
            </a:pPr>
            <a:r>
              <a:rPr lang="en-US" sz="2000" b="1" dirty="0">
                <a:latin typeface="Century Schoolbook" panose="02040604050505020304" pitchFamily="18" charset="0"/>
              </a:rPr>
              <a:t>Ex. Health care Community.</a:t>
            </a:r>
          </a:p>
          <a:p>
            <a:endParaRPr lang="en-US"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288078F2-4D34-556E-62DA-B3CC10615C4D}"/>
              </a:ext>
            </a:extLst>
          </p:cNvPr>
          <p:cNvPicPr>
            <a:picLocks noChangeAspect="1"/>
          </p:cNvPicPr>
          <p:nvPr/>
        </p:nvPicPr>
        <p:blipFill>
          <a:blip r:embed="rId2"/>
          <a:stretch>
            <a:fillRect/>
          </a:stretch>
        </p:blipFill>
        <p:spPr>
          <a:xfrm>
            <a:off x="6174658" y="599049"/>
            <a:ext cx="5907852" cy="3787468"/>
          </a:xfrm>
          <a:prstGeom prst="rect">
            <a:avLst/>
          </a:prstGeom>
        </p:spPr>
      </p:pic>
    </p:spTree>
    <p:extLst>
      <p:ext uri="{BB962C8B-B14F-4D97-AF65-F5344CB8AC3E}">
        <p14:creationId xmlns:p14="http://schemas.microsoft.com/office/powerpoint/2010/main" val="67872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EAAF-844E-FDC0-8670-801EF7C3F006}"/>
              </a:ext>
            </a:extLst>
          </p:cNvPr>
          <p:cNvSpPr>
            <a:spLocks noGrp="1"/>
          </p:cNvSpPr>
          <p:nvPr>
            <p:ph type="title"/>
          </p:nvPr>
        </p:nvSpPr>
        <p:spPr>
          <a:xfrm>
            <a:off x="28406" y="0"/>
            <a:ext cx="9656368" cy="816638"/>
          </a:xfrm>
        </p:spPr>
        <p:txBody>
          <a:bodyPr/>
          <a:lstStyle/>
          <a:p>
            <a:pPr marL="571500" indent="-571500">
              <a:buFont typeface="Wingdings" panose="05000000000000000000" pitchFamily="2" charset="2"/>
              <a:buChar char="v"/>
            </a:pPr>
            <a:r>
              <a:rPr lang="en-US" u="sng" dirty="0">
                <a:latin typeface="Algerian" panose="04020705040A02060702" pitchFamily="82" charset="0"/>
              </a:rPr>
              <a:t>Hybrid cloud</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358368E-EDC1-0A89-59FC-3807F8ABD3F8}"/>
              </a:ext>
            </a:extLst>
          </p:cNvPr>
          <p:cNvSpPr>
            <a:spLocks noGrp="1"/>
          </p:cNvSpPr>
          <p:nvPr>
            <p:ph type="body" idx="1"/>
          </p:nvPr>
        </p:nvSpPr>
        <p:spPr>
          <a:xfrm>
            <a:off x="0" y="645652"/>
            <a:ext cx="9163665" cy="4319639"/>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In a Hybrid cloud, the organization makes                                                       use of inter-connected private and public                                                   cloud infrastructure.</a:t>
            </a:r>
          </a:p>
          <a:p>
            <a:pPr marL="342900" indent="-342900">
              <a:buFont typeface="Wingdings" panose="05000000000000000000" pitchFamily="2" charset="2"/>
              <a:buChar char="Ø"/>
            </a:pPr>
            <a:r>
              <a:rPr lang="en-US" sz="2000" b="1" dirty="0">
                <a:latin typeface="Century Schoolbook" panose="02040604050505020304" pitchFamily="18" charset="0"/>
              </a:rPr>
              <a:t>With a hybrid solution, you may host the                                                       app in a safe environment while taking                                                  advantage of the public cloud's cost savings.</a:t>
            </a:r>
          </a:p>
          <a:p>
            <a:pPr marL="342900" indent="-342900">
              <a:buFont typeface="Wingdings" panose="05000000000000000000" pitchFamily="2" charset="2"/>
              <a:buChar char="Ø"/>
            </a:pPr>
            <a:r>
              <a:rPr lang="en-US" sz="2000" b="1" dirty="0">
                <a:latin typeface="Century Schoolbook" panose="02040604050505020304" pitchFamily="18" charset="0"/>
              </a:rPr>
              <a:t>Many organizations make use of this model                                              when they need to scale up their IT                                                   infrastructure rapidly.</a:t>
            </a:r>
          </a:p>
          <a:p>
            <a:pPr marL="342900" indent="-342900">
              <a:buFont typeface="Wingdings" panose="05000000000000000000" pitchFamily="2" charset="2"/>
              <a:buChar char="Ø"/>
            </a:pPr>
            <a:r>
              <a:rPr lang="en-US" sz="2000" b="1" dirty="0">
                <a:latin typeface="Century Schoolbook" panose="02040604050505020304" pitchFamily="18" charset="0"/>
              </a:rPr>
              <a:t>Examples : - Google Application suite (Gmail,                                          Google Apps, and Google Drive), Amazon Web                                           Services.</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0C81A4A7-5FB9-DDCD-534C-ADEB600FE0C2}"/>
              </a:ext>
            </a:extLst>
          </p:cNvPr>
          <p:cNvPicPr>
            <a:picLocks noChangeAspect="1"/>
          </p:cNvPicPr>
          <p:nvPr/>
        </p:nvPicPr>
        <p:blipFill>
          <a:blip r:embed="rId2"/>
          <a:stretch>
            <a:fillRect/>
          </a:stretch>
        </p:blipFill>
        <p:spPr>
          <a:xfrm>
            <a:off x="6292645" y="816638"/>
            <a:ext cx="5754318" cy="3371904"/>
          </a:xfrm>
          <a:prstGeom prst="rect">
            <a:avLst/>
          </a:prstGeom>
        </p:spPr>
      </p:pic>
    </p:spTree>
    <p:extLst>
      <p:ext uri="{BB962C8B-B14F-4D97-AF65-F5344CB8AC3E}">
        <p14:creationId xmlns:p14="http://schemas.microsoft.com/office/powerpoint/2010/main" val="3999652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65757-F40F-720B-56E9-ACAF0C04F5A3}"/>
              </a:ext>
            </a:extLst>
          </p:cNvPr>
          <p:cNvSpPr>
            <a:spLocks noGrp="1"/>
          </p:cNvSpPr>
          <p:nvPr>
            <p:ph type="title"/>
          </p:nvPr>
        </p:nvSpPr>
        <p:spPr>
          <a:xfrm>
            <a:off x="-1" y="25400"/>
            <a:ext cx="9556955" cy="791238"/>
          </a:xfrm>
        </p:spPr>
        <p:txBody>
          <a:bodyPr/>
          <a:lstStyle/>
          <a:p>
            <a:r>
              <a:rPr lang="en-US" dirty="0">
                <a:latin typeface="Algerian" panose="04020705040A02060702" pitchFamily="82" charset="0"/>
              </a:rPr>
              <a:t>1.3] </a:t>
            </a:r>
            <a:r>
              <a:rPr lang="en-US" u="sng" dirty="0">
                <a:latin typeface="Algerian" panose="04020705040A02060702" pitchFamily="82" charset="0"/>
              </a:rPr>
              <a:t>cloud service models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DB8A005-D5AB-0BCC-4A19-7D4B63466674}"/>
              </a:ext>
            </a:extLst>
          </p:cNvPr>
          <p:cNvSpPr>
            <a:spLocks noGrp="1"/>
          </p:cNvSpPr>
          <p:nvPr>
            <p:ph type="body" idx="1"/>
          </p:nvPr>
        </p:nvSpPr>
        <p:spPr>
          <a:xfrm>
            <a:off x="0" y="734701"/>
            <a:ext cx="9556955" cy="4073273"/>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cloud service model refers to the structure and methodology by which cloud computing services are provided. </a:t>
            </a:r>
          </a:p>
          <a:p>
            <a:pPr marL="342900" indent="-342900">
              <a:buFont typeface="Wingdings" panose="05000000000000000000" pitchFamily="2" charset="2"/>
              <a:buChar char="Ø"/>
            </a:pPr>
            <a:r>
              <a:rPr lang="en-US" sz="2400" b="1" dirty="0">
                <a:latin typeface="Century Schoolbook" panose="02040604050505020304" pitchFamily="18" charset="0"/>
              </a:rPr>
              <a:t>It defines the division of responsibilities between cloud service provider and the customer.</a:t>
            </a:r>
          </a:p>
          <a:p>
            <a:pPr marL="342900" indent="-342900">
              <a:buFont typeface="Wingdings" panose="05000000000000000000" pitchFamily="2" charset="2"/>
              <a:buChar char="Ø"/>
            </a:pPr>
            <a:r>
              <a:rPr lang="en-US" sz="2400" b="1" dirty="0">
                <a:latin typeface="Century Schoolbook" panose="02040604050505020304" pitchFamily="18" charset="0"/>
              </a:rPr>
              <a:t>Cloud Service Models : -</a:t>
            </a:r>
          </a:p>
          <a:p>
            <a:r>
              <a:rPr lang="en-US" sz="2400" b="1" dirty="0">
                <a:latin typeface="Century Schoolbook" panose="02040604050505020304" pitchFamily="18" charset="0"/>
              </a:rPr>
              <a:t>1. Infrastructure-as-a-Service [IaaS].</a:t>
            </a:r>
          </a:p>
          <a:p>
            <a:r>
              <a:rPr lang="en-US" sz="2400" b="1" dirty="0">
                <a:latin typeface="Century Schoolbook" panose="02040604050505020304" pitchFamily="18" charset="0"/>
              </a:rPr>
              <a:t>2. Platform-as-a-Service [PaaS].</a:t>
            </a:r>
          </a:p>
          <a:p>
            <a:r>
              <a:rPr lang="en-US" sz="2400" b="1" dirty="0">
                <a:latin typeface="Century Schoolbook" panose="02040604050505020304" pitchFamily="18" charset="0"/>
              </a:rPr>
              <a:t>3. Software-as-a-Service [SaaS].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41931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63BA-791B-2CEA-8AD8-3150C2C3DCD7}"/>
              </a:ext>
            </a:extLst>
          </p:cNvPr>
          <p:cNvSpPr>
            <a:spLocks noGrp="1"/>
          </p:cNvSpPr>
          <p:nvPr>
            <p:ph type="title"/>
          </p:nvPr>
        </p:nvSpPr>
        <p:spPr>
          <a:xfrm>
            <a:off x="0" y="-68826"/>
            <a:ext cx="9379974" cy="677218"/>
          </a:xfrm>
        </p:spPr>
        <p:txBody>
          <a:bodyPr>
            <a:normAutofit fontScale="90000"/>
          </a:bodyPr>
          <a:lstStyle/>
          <a:p>
            <a:r>
              <a:rPr lang="en-US" dirty="0">
                <a:latin typeface="Algerian" panose="04020705040A02060702" pitchFamily="82" charset="0"/>
              </a:rPr>
              <a:t>1. </a:t>
            </a:r>
            <a:r>
              <a:rPr lang="en-US" u="sng" dirty="0" err="1">
                <a:latin typeface="Algerian" panose="04020705040A02060702" pitchFamily="82" charset="0"/>
              </a:rPr>
              <a:t>Iaas</a:t>
            </a:r>
            <a:r>
              <a:rPr lang="en-US" u="sng" dirty="0">
                <a:latin typeface="Algerian" panose="04020705040A02060702" pitchFamily="82" charset="0"/>
              </a:rPr>
              <a:t> </a:t>
            </a:r>
            <a:r>
              <a:rPr lang="en-US" sz="3600" b="1" u="sng" dirty="0">
                <a:latin typeface="Century Schoolbook" panose="02040604050505020304" pitchFamily="18" charset="0"/>
              </a:rPr>
              <a:t>(infrastructure-as-a-service) </a:t>
            </a:r>
            <a:r>
              <a:rPr lang="en-US" sz="3600" b="1" dirty="0">
                <a:latin typeface="Century Schoolbook" panose="02040604050505020304" pitchFamily="18" charset="0"/>
              </a:rPr>
              <a:t>: -</a:t>
            </a:r>
            <a:endParaRPr lang="en-IN" sz="36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CED6E9DB-0587-39D5-85E0-50047EAFB34A}"/>
              </a:ext>
            </a:extLst>
          </p:cNvPr>
          <p:cNvSpPr>
            <a:spLocks noGrp="1"/>
          </p:cNvSpPr>
          <p:nvPr>
            <p:ph type="body" idx="1"/>
          </p:nvPr>
        </p:nvSpPr>
        <p:spPr>
          <a:xfrm>
            <a:off x="0" y="492173"/>
            <a:ext cx="9881419" cy="6015962"/>
          </a:xfrm>
        </p:spPr>
        <p:txBody>
          <a:bodyPr>
            <a:noAutofit/>
          </a:bodyPr>
          <a:lstStyle/>
          <a:p>
            <a:pPr marL="342900" indent="-342900">
              <a:buFont typeface="Wingdings" panose="05000000000000000000" pitchFamily="2" charset="2"/>
              <a:buChar char="Ø"/>
            </a:pPr>
            <a:r>
              <a:rPr lang="en-US" sz="2000" b="1" dirty="0" err="1">
                <a:latin typeface="Century Schoolbook" panose="02040604050505020304" pitchFamily="18" charset="0"/>
              </a:rPr>
              <a:t>Iaas</a:t>
            </a:r>
            <a:r>
              <a:rPr lang="en-US" sz="2000" b="1" dirty="0">
                <a:latin typeface="Century Schoolbook" panose="02040604050505020304" pitchFamily="18" charset="0"/>
              </a:rPr>
              <a:t> is also known as Hardware-as-a-                                                                   Service (Haas). It allows the cloud provider                                                             to Freely locate the infrastructure over the                                                                 Internet in a cost-effective manner.</a:t>
            </a:r>
          </a:p>
          <a:p>
            <a:pPr marL="342900" indent="-342900">
              <a:buFont typeface="Wingdings" panose="05000000000000000000" pitchFamily="2" charset="2"/>
              <a:buChar char="Ø"/>
            </a:pPr>
            <a:r>
              <a:rPr lang="en-US" sz="2000" b="1" dirty="0" err="1">
                <a:latin typeface="Century Schoolbook" panose="02040604050505020304" pitchFamily="18" charset="0"/>
              </a:rPr>
              <a:t>Iaas</a:t>
            </a:r>
            <a:r>
              <a:rPr lang="en-US" sz="2000" b="1" dirty="0">
                <a:latin typeface="Century Schoolbook" panose="02040604050505020304" pitchFamily="18" charset="0"/>
              </a:rPr>
              <a:t> allows the customer to access computing                                                                   resources through administrative access to                                                            virtual machines.</a:t>
            </a:r>
          </a:p>
          <a:p>
            <a:pPr marL="342900" indent="-342900">
              <a:buFont typeface="Wingdings" panose="05000000000000000000" pitchFamily="2" charset="2"/>
              <a:buChar char="Ø"/>
            </a:pPr>
            <a:r>
              <a:rPr lang="en-US" sz="2000" b="1" dirty="0" err="1">
                <a:latin typeface="Century Schoolbook" panose="02040604050505020304" pitchFamily="18" charset="0"/>
              </a:rPr>
              <a:t>Iaas</a:t>
            </a:r>
            <a:r>
              <a:rPr lang="en-US" sz="2000" b="1" dirty="0">
                <a:latin typeface="Century Schoolbook" panose="02040604050505020304" pitchFamily="18" charset="0"/>
              </a:rPr>
              <a:t> provides access to fundamental                                                                                  resources such as physical machines,                                                                  virtual machines, virtual storage, bandwidth,                                                                                IP address, monitoring services, Firewalls, </a:t>
            </a:r>
            <a:r>
              <a:rPr lang="en-US" sz="2000" b="1" dirty="0" err="1">
                <a:latin typeface="Century Schoolbook" panose="02040604050505020304" pitchFamily="18" charset="0"/>
              </a:rPr>
              <a:t>ete</a:t>
            </a:r>
            <a:r>
              <a:rPr lang="en-US" sz="2000" b="1" dirty="0">
                <a:latin typeface="Century Schoolbook" panose="02040604050505020304" pitchFamily="18" charset="0"/>
              </a:rPr>
              <a:t> to the customer on rent.</a:t>
            </a:r>
          </a:p>
          <a:p>
            <a:pPr marL="342900" indent="-342900">
              <a:buFont typeface="Wingdings" panose="05000000000000000000" pitchFamily="2" charset="2"/>
              <a:buChar char="Ø"/>
            </a:pPr>
            <a:r>
              <a:rPr lang="en-US" sz="2000" b="1" dirty="0">
                <a:latin typeface="Century Schoolbook" panose="02040604050505020304" pitchFamily="18" charset="0"/>
              </a:rPr>
              <a:t>The payment is based upon the amount of time the customer retains a resource also with administrative access to virtual machines, the customer can run any software, even an operating system.</a:t>
            </a:r>
          </a:p>
          <a:p>
            <a:pPr marL="342900" indent="-342900">
              <a:buFont typeface="Wingdings" panose="05000000000000000000" pitchFamily="2" charset="2"/>
              <a:buChar char="Ø"/>
            </a:pPr>
            <a:r>
              <a:rPr lang="en-US" sz="2000" b="1" dirty="0" err="1">
                <a:latin typeface="Century Schoolbook" panose="02040604050505020304" pitchFamily="18" charset="0"/>
              </a:rPr>
              <a:t>Iaas</a:t>
            </a:r>
            <a:r>
              <a:rPr lang="en-US" sz="2000" b="1" dirty="0">
                <a:latin typeface="Century Schoolbook" panose="02040604050505020304" pitchFamily="18" charset="0"/>
              </a:rPr>
              <a:t> is generally used by Network Architects.</a:t>
            </a:r>
          </a:p>
          <a:p>
            <a:pPr marL="342900" indent="-342900">
              <a:buFont typeface="Wingdings" panose="05000000000000000000" pitchFamily="2" charset="2"/>
              <a:buChar char="Ø"/>
            </a:pPr>
            <a:r>
              <a:rPr lang="en-US" sz="2000" b="1" dirty="0">
                <a:latin typeface="Century Schoolbook" panose="02040604050505020304" pitchFamily="18" charset="0"/>
              </a:rPr>
              <a:t>Examples : - Amazon Web Services (AWS), Rackspace, Cisco </a:t>
            </a:r>
            <a:r>
              <a:rPr lang="en-US" sz="2000" b="1" dirty="0" err="1">
                <a:latin typeface="Century Schoolbook" panose="02040604050505020304" pitchFamily="18" charset="0"/>
              </a:rPr>
              <a:t>Metopod</a:t>
            </a:r>
            <a:r>
              <a:rPr lang="en-US" sz="2000" b="1" dirty="0">
                <a:latin typeface="Century Schoolbook" panose="02040604050505020304" pitchFamily="18" charset="0"/>
              </a:rPr>
              <a:t>, Microsoft Azure, Google Compute Engine (GCE).</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5AFE76E8-2D24-DC33-1C3F-1FE1F2750433}"/>
              </a:ext>
            </a:extLst>
          </p:cNvPr>
          <p:cNvPicPr>
            <a:picLocks noChangeAspect="1"/>
          </p:cNvPicPr>
          <p:nvPr/>
        </p:nvPicPr>
        <p:blipFill>
          <a:blip r:embed="rId2"/>
          <a:stretch>
            <a:fillRect/>
          </a:stretch>
        </p:blipFill>
        <p:spPr>
          <a:xfrm>
            <a:off x="6430297" y="608392"/>
            <a:ext cx="5643715" cy="3214588"/>
          </a:xfrm>
          <a:prstGeom prst="rect">
            <a:avLst/>
          </a:prstGeom>
        </p:spPr>
      </p:pic>
    </p:spTree>
    <p:extLst>
      <p:ext uri="{BB962C8B-B14F-4D97-AF65-F5344CB8AC3E}">
        <p14:creationId xmlns:p14="http://schemas.microsoft.com/office/powerpoint/2010/main" val="3825941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19AB8-44A5-2048-A38E-4891603CC8B2}"/>
              </a:ext>
            </a:extLst>
          </p:cNvPr>
          <p:cNvSpPr>
            <a:spLocks noGrp="1"/>
          </p:cNvSpPr>
          <p:nvPr>
            <p:ph type="title"/>
          </p:nvPr>
        </p:nvSpPr>
        <p:spPr>
          <a:xfrm>
            <a:off x="18573" y="-92587"/>
            <a:ext cx="10629761" cy="791238"/>
          </a:xfrm>
        </p:spPr>
        <p:txBody>
          <a:bodyPr>
            <a:normAutofit/>
          </a:bodyPr>
          <a:lstStyle/>
          <a:p>
            <a:pPr marL="571500" indent="-571500">
              <a:buFont typeface="Wingdings" panose="05000000000000000000" pitchFamily="2" charset="2"/>
              <a:buChar char="v"/>
            </a:pPr>
            <a:r>
              <a:rPr lang="en-US" u="sng" dirty="0" err="1">
                <a:latin typeface="Algerian" panose="04020705040A02060702" pitchFamily="82" charset="0"/>
              </a:rPr>
              <a:t>Paas</a:t>
            </a:r>
            <a:r>
              <a:rPr lang="en-US" u="sng" dirty="0">
                <a:latin typeface="Algerian" panose="04020705040A02060702" pitchFamily="82" charset="0"/>
              </a:rPr>
              <a:t> </a:t>
            </a:r>
            <a:r>
              <a:rPr lang="en-US" sz="3600" b="1" u="sng" dirty="0">
                <a:latin typeface="Century Schoolbook" panose="02040604050505020304" pitchFamily="18" charset="0"/>
              </a:rPr>
              <a:t>(platform-as-a-service)</a:t>
            </a:r>
            <a:r>
              <a:rPr lang="en-US" sz="3600" b="1" dirty="0">
                <a:latin typeface="Century Schoolbook" panose="02040604050505020304" pitchFamily="18"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A30C5A4-CF70-8803-0046-4EFA9A8AA4CA}"/>
              </a:ext>
            </a:extLst>
          </p:cNvPr>
          <p:cNvSpPr>
            <a:spLocks noGrp="1"/>
          </p:cNvSpPr>
          <p:nvPr>
            <p:ph type="body" idx="1"/>
          </p:nvPr>
        </p:nvSpPr>
        <p:spPr>
          <a:xfrm>
            <a:off x="18573" y="458429"/>
            <a:ext cx="10648334" cy="5322939"/>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PaaS provides customers a complete platform                                                                    for the programmer to develop, test, run and                                                                               manage the applications.</a:t>
            </a:r>
          </a:p>
          <a:p>
            <a:pPr marL="342900" indent="-342900">
              <a:buFont typeface="Wingdings" panose="05000000000000000000" pitchFamily="2" charset="2"/>
              <a:buChar char="Ø"/>
            </a:pPr>
            <a:r>
              <a:rPr lang="en-US" sz="2000" b="1" dirty="0">
                <a:latin typeface="Century Schoolbook" panose="02040604050505020304" pitchFamily="18" charset="0"/>
              </a:rPr>
              <a:t>PaaS has a feature of point-and-click tools                                                                        that enables non-developers to create web                                                               applications.</a:t>
            </a:r>
          </a:p>
          <a:p>
            <a:pPr marL="342900" indent="-342900">
              <a:buFont typeface="Wingdings" panose="05000000000000000000" pitchFamily="2" charset="2"/>
              <a:buChar char="Ø"/>
            </a:pPr>
            <a:r>
              <a:rPr lang="en-US" sz="2000" b="1" dirty="0">
                <a:latin typeface="Century Schoolbook" panose="02040604050505020304" pitchFamily="18" charset="0"/>
              </a:rPr>
              <a:t>In this customers need not bother about the                                                             administration because it is the responsibility                                                                                    of the cloud service Provider.</a:t>
            </a:r>
          </a:p>
          <a:p>
            <a:pPr marL="342900" indent="-342900">
              <a:buFont typeface="Wingdings" panose="05000000000000000000" pitchFamily="2" charset="2"/>
              <a:buChar char="Ø"/>
            </a:pPr>
            <a:r>
              <a:rPr lang="en-US" sz="2000" b="1" dirty="0">
                <a:latin typeface="Century Schoolbook" panose="02040604050505020304" pitchFamily="18" charset="0"/>
              </a:rPr>
              <a:t>Customer need not purchase expensive                                                                         hardware, servers, power and data storage.</a:t>
            </a:r>
          </a:p>
          <a:p>
            <a:pPr marL="342900" indent="-342900">
              <a:buFont typeface="Wingdings" panose="05000000000000000000" pitchFamily="2" charset="2"/>
              <a:buChar char="Ø"/>
            </a:pPr>
            <a:r>
              <a:rPr lang="en-US" sz="2000" b="1" dirty="0">
                <a:latin typeface="Century Schoolbook" panose="02040604050505020304" pitchFamily="18" charset="0"/>
              </a:rPr>
              <a:t>PaaS is generally used by developers.</a:t>
            </a:r>
          </a:p>
          <a:p>
            <a:pPr marL="342900" indent="-342900">
              <a:buFont typeface="Wingdings" panose="05000000000000000000" pitchFamily="2" charset="2"/>
              <a:buChar char="Ø"/>
            </a:pPr>
            <a:r>
              <a:rPr lang="en-US" sz="2000" b="1" dirty="0">
                <a:latin typeface="Century Schoolbook" panose="02040604050505020304" pitchFamily="18" charset="0"/>
              </a:rPr>
              <a:t>Examples : - Windows Azure, Heroku, Force.com, Google App Engine, Apache </a:t>
            </a:r>
            <a:r>
              <a:rPr lang="en-US" sz="2000" b="1" dirty="0" err="1">
                <a:latin typeface="Century Schoolbook" panose="02040604050505020304" pitchFamily="18" charset="0"/>
              </a:rPr>
              <a:t>Statos</a:t>
            </a:r>
            <a:r>
              <a:rPr lang="en-US" sz="2000" b="1" dirty="0">
                <a:latin typeface="Century Schoolbook" panose="02040604050505020304" pitchFamily="18" charset="0"/>
              </a:rPr>
              <a:t>, </a:t>
            </a:r>
            <a:r>
              <a:rPr lang="en-US" sz="2000" b="1" dirty="0" err="1">
                <a:latin typeface="Century Schoolbook" panose="02040604050505020304" pitchFamily="18" charset="0"/>
              </a:rPr>
              <a:t>Openshift</a:t>
            </a:r>
            <a:r>
              <a:rPr lang="en-US" sz="2000" b="1" dirty="0">
                <a:latin typeface="Century Schoolbook" panose="02040604050505020304" pitchFamily="18" charset="0"/>
              </a:rPr>
              <a:t>.</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D9D29E27-6701-E8AC-9FC9-A7C580DA150C}"/>
              </a:ext>
            </a:extLst>
          </p:cNvPr>
          <p:cNvPicPr>
            <a:picLocks noChangeAspect="1"/>
          </p:cNvPicPr>
          <p:nvPr/>
        </p:nvPicPr>
        <p:blipFill>
          <a:blip r:embed="rId2"/>
          <a:stretch>
            <a:fillRect/>
          </a:stretch>
        </p:blipFill>
        <p:spPr>
          <a:xfrm>
            <a:off x="6577781" y="698651"/>
            <a:ext cx="5489620" cy="3922509"/>
          </a:xfrm>
          <a:prstGeom prst="rect">
            <a:avLst/>
          </a:prstGeom>
        </p:spPr>
      </p:pic>
    </p:spTree>
    <p:extLst>
      <p:ext uri="{BB962C8B-B14F-4D97-AF65-F5344CB8AC3E}">
        <p14:creationId xmlns:p14="http://schemas.microsoft.com/office/powerpoint/2010/main" val="337965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433D2-206E-5136-CB6F-B8034BCCFE3D}"/>
              </a:ext>
            </a:extLst>
          </p:cNvPr>
          <p:cNvSpPr>
            <a:spLocks noGrp="1"/>
          </p:cNvSpPr>
          <p:nvPr>
            <p:ph type="title"/>
          </p:nvPr>
        </p:nvSpPr>
        <p:spPr>
          <a:xfrm>
            <a:off x="0" y="-102419"/>
            <a:ext cx="8596668" cy="791238"/>
          </a:xfrm>
        </p:spPr>
        <p:txBody>
          <a:bodyPr>
            <a:normAutofit/>
          </a:bodyPr>
          <a:lstStyle/>
          <a:p>
            <a:pPr marL="571500" indent="-571500">
              <a:buFont typeface="Wingdings" panose="05000000000000000000" pitchFamily="2" charset="2"/>
              <a:buChar char="v"/>
            </a:pPr>
            <a:r>
              <a:rPr lang="en-US" u="sng" dirty="0" err="1">
                <a:latin typeface="Algerian" panose="04020705040A02060702" pitchFamily="82" charset="0"/>
              </a:rPr>
              <a:t>saas</a:t>
            </a:r>
            <a:r>
              <a:rPr lang="en-US" u="sng" dirty="0">
                <a:latin typeface="Algerian" panose="04020705040A02060702" pitchFamily="82" charset="0"/>
              </a:rPr>
              <a:t> </a:t>
            </a:r>
            <a:r>
              <a:rPr lang="en-US" sz="3600" b="1" u="sng" dirty="0">
                <a:latin typeface="Century Schoolbook" panose="02040604050505020304" pitchFamily="18" charset="0"/>
              </a:rPr>
              <a:t>(Software-as-a-service)</a:t>
            </a:r>
            <a:r>
              <a:rPr lang="en-US" sz="3600" b="1" dirty="0">
                <a:latin typeface="Century Schoolbook" panose="02040604050505020304" pitchFamily="18"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8A6BD5D-64D8-3123-B06A-A492CDCD1211}"/>
              </a:ext>
            </a:extLst>
          </p:cNvPr>
          <p:cNvSpPr>
            <a:spLocks noGrp="1"/>
          </p:cNvSpPr>
          <p:nvPr>
            <p:ph type="body" idx="1"/>
          </p:nvPr>
        </p:nvSpPr>
        <p:spPr>
          <a:xfrm>
            <a:off x="0" y="482342"/>
            <a:ext cx="11208774" cy="6262329"/>
          </a:xfrm>
        </p:spPr>
        <p:txBody>
          <a:bodyPr>
            <a:noAutofit/>
          </a:bodyPr>
          <a:lstStyle/>
          <a:p>
            <a:pPr marL="342900" indent="-342900">
              <a:buFont typeface="Wingdings" panose="05000000000000000000" pitchFamily="2" charset="2"/>
              <a:buChar char="Ø"/>
            </a:pPr>
            <a:r>
              <a:rPr lang="en-US" sz="2000" b="1" dirty="0">
                <a:latin typeface="Century Schoolbook" panose="02040604050505020304" pitchFamily="18" charset="0"/>
              </a:rPr>
              <a:t>Saas is also known as " on-demand software"                                                                   which provide software applications as a service                                                                         to end-users. Users can access these applications                                                        with the help of internet connection and web                                                                browser.</a:t>
            </a:r>
          </a:p>
          <a:p>
            <a:pPr marL="342900" indent="-342900">
              <a:buFont typeface="Wingdings" panose="05000000000000000000" pitchFamily="2" charset="2"/>
              <a:buChar char="Ø"/>
            </a:pPr>
            <a:r>
              <a:rPr lang="en-US" sz="2000" b="1" dirty="0">
                <a:latin typeface="Century Schoolbook" panose="02040604050505020304" pitchFamily="18" charset="0"/>
              </a:rPr>
              <a:t>In this model, an Independent Software Vendor                                                                  (ISU) may contract a third-party cloud provider                                                                    to host the application.</a:t>
            </a:r>
          </a:p>
          <a:p>
            <a:pPr marL="342900" indent="-342900">
              <a:buFont typeface="Wingdings" panose="05000000000000000000" pitchFamily="2" charset="2"/>
              <a:buChar char="Ø"/>
            </a:pPr>
            <a:r>
              <a:rPr lang="en-US" sz="2000" b="1" dirty="0">
                <a:latin typeface="Century Schoolbook" panose="02040604050505020304" pitchFamily="18" charset="0"/>
              </a:rPr>
              <a:t>The Saas application deployment requires a little                                                                                or no client-side software installation.</a:t>
            </a:r>
          </a:p>
          <a:p>
            <a:pPr marL="342900" indent="-342900">
              <a:buFont typeface="Wingdings" panose="05000000000000000000" pitchFamily="2" charset="2"/>
              <a:buChar char="Ø"/>
            </a:pPr>
            <a:r>
              <a:rPr lang="en-US" sz="2000" b="1" dirty="0">
                <a:latin typeface="Century Schoolbook" panose="02040604050505020304" pitchFamily="18" charset="0"/>
              </a:rPr>
              <a:t>Thus, there is no requirement for complex software packages on the client-side.</a:t>
            </a:r>
          </a:p>
          <a:p>
            <a:pPr marL="342900" indent="-342900">
              <a:buFont typeface="Wingdings" panose="05000000000000000000" pitchFamily="2" charset="2"/>
              <a:buChar char="Ø"/>
            </a:pPr>
            <a:r>
              <a:rPr lang="en-US" sz="2000" b="1" dirty="0">
                <a:latin typeface="Century Schoolbook" panose="02040604050505020304" pitchFamily="18" charset="0"/>
              </a:rPr>
              <a:t>Customers can customize their application without affecting the core Functionality.</a:t>
            </a:r>
          </a:p>
          <a:p>
            <a:pPr marL="342900" indent="-342900">
              <a:buFont typeface="Wingdings" panose="05000000000000000000" pitchFamily="2" charset="2"/>
              <a:buChar char="Ø"/>
            </a:pPr>
            <a:r>
              <a:rPr lang="en-US" sz="2000" b="1" dirty="0">
                <a:latin typeface="Century Schoolbook" panose="02040604050505020304" pitchFamily="18" charset="0"/>
              </a:rPr>
              <a:t>Saas provides us with an Application Programming Interface (API), which allows the developer to develop a customized application.</a:t>
            </a:r>
          </a:p>
          <a:p>
            <a:pPr marL="342900" indent="-342900">
              <a:buFont typeface="Wingdings" panose="05000000000000000000" pitchFamily="2" charset="2"/>
              <a:buChar char="Ø"/>
            </a:pPr>
            <a:r>
              <a:rPr lang="en-US" sz="2000" b="1" dirty="0">
                <a:latin typeface="Century Schoolbook" panose="02040604050505020304" pitchFamily="18" charset="0"/>
              </a:rPr>
              <a:t>Saas is generally used by the end-user.</a:t>
            </a:r>
          </a:p>
          <a:p>
            <a:pPr marL="342900" indent="-342900">
              <a:buFont typeface="Wingdings" panose="05000000000000000000" pitchFamily="2" charset="2"/>
              <a:buChar char="Ø"/>
            </a:pPr>
            <a:r>
              <a:rPr lang="en-US" sz="2000" b="1" dirty="0">
                <a:latin typeface="Century Schoolbook" panose="02040604050505020304" pitchFamily="18" charset="0"/>
              </a:rPr>
              <a:t>Examples : - Google Workspace, Salesforce, Concur, Gmail, Microsoft office.</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9B312F46-A807-5000-CFE2-41B4927D695C}"/>
              </a:ext>
            </a:extLst>
          </p:cNvPr>
          <p:cNvPicPr>
            <a:picLocks noChangeAspect="1"/>
          </p:cNvPicPr>
          <p:nvPr/>
        </p:nvPicPr>
        <p:blipFill>
          <a:blip r:embed="rId2"/>
          <a:stretch>
            <a:fillRect/>
          </a:stretch>
        </p:blipFill>
        <p:spPr>
          <a:xfrm>
            <a:off x="6941574" y="688819"/>
            <a:ext cx="5134168" cy="3177815"/>
          </a:xfrm>
          <a:prstGeom prst="rect">
            <a:avLst/>
          </a:prstGeom>
        </p:spPr>
      </p:pic>
    </p:spTree>
    <p:extLst>
      <p:ext uri="{BB962C8B-B14F-4D97-AF65-F5344CB8AC3E}">
        <p14:creationId xmlns:p14="http://schemas.microsoft.com/office/powerpoint/2010/main" val="3361058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E3BEA-75C9-131E-BA92-AF7FFEE9BB9F}"/>
              </a:ext>
            </a:extLst>
          </p:cNvPr>
          <p:cNvSpPr>
            <a:spLocks noGrp="1"/>
          </p:cNvSpPr>
          <p:nvPr>
            <p:ph type="title"/>
          </p:nvPr>
        </p:nvSpPr>
        <p:spPr>
          <a:xfrm>
            <a:off x="0" y="0"/>
            <a:ext cx="9301316" cy="648929"/>
          </a:xfrm>
        </p:spPr>
        <p:txBody>
          <a:bodyPr>
            <a:normAutofit fontScale="90000"/>
          </a:bodyPr>
          <a:lstStyle/>
          <a:p>
            <a:r>
              <a:rPr lang="en-US" dirty="0">
                <a:latin typeface="Algerian" panose="04020705040A02060702" pitchFamily="82" charset="0"/>
              </a:rPr>
              <a:t>1.4] </a:t>
            </a:r>
            <a:r>
              <a:rPr lang="en-US" u="sng" dirty="0">
                <a:latin typeface="Algerian" panose="04020705040A02060702" pitchFamily="82" charset="0"/>
              </a:rPr>
              <a:t>cloud economics &amp; benefits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56DE8A0-962D-3830-B854-2A03693079B7}"/>
              </a:ext>
            </a:extLst>
          </p:cNvPr>
          <p:cNvSpPr>
            <a:spLocks noGrp="1"/>
          </p:cNvSpPr>
          <p:nvPr>
            <p:ph type="body" idx="1"/>
          </p:nvPr>
        </p:nvSpPr>
        <p:spPr>
          <a:xfrm>
            <a:off x="1" y="648928"/>
            <a:ext cx="9694606" cy="5456903"/>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Cloud Economics in cloud computing refers to the study &amp; analysis of the Financial implications of using cloud services.</a:t>
            </a:r>
          </a:p>
          <a:p>
            <a:pPr marL="342900" indent="-342900">
              <a:buFont typeface="Wingdings" panose="05000000000000000000" pitchFamily="2" charset="2"/>
              <a:buChar char="Ø"/>
            </a:pPr>
            <a:r>
              <a:rPr lang="en-US" sz="2400" b="1" dirty="0">
                <a:latin typeface="Century Schoolbook" panose="02040604050505020304" pitchFamily="18" charset="0"/>
              </a:rPr>
              <a:t>It involves understanding and managing the costs, benefits and Financial trade-offs associated with cloud adoption.</a:t>
            </a:r>
          </a:p>
          <a:p>
            <a:pPr marL="342900" indent="-342900">
              <a:buFont typeface="Wingdings" panose="05000000000000000000" pitchFamily="2" charset="2"/>
              <a:buChar char="Ø"/>
            </a:pPr>
            <a:r>
              <a:rPr lang="en-US" sz="2400" b="1" dirty="0">
                <a:latin typeface="Century Schoolbook" panose="02040604050505020304" pitchFamily="18" charset="0"/>
              </a:rPr>
              <a:t>Following are the key aspects of Cloud Economics -</a:t>
            </a:r>
          </a:p>
          <a:p>
            <a:r>
              <a:rPr lang="en-US" sz="2800" b="1" dirty="0">
                <a:solidFill>
                  <a:srgbClr val="0070C0"/>
                </a:solidFill>
                <a:latin typeface="Century Schoolbook" panose="02040604050505020304" pitchFamily="18" charset="0"/>
              </a:rPr>
              <a:t>1. Cost Models : -</a:t>
            </a:r>
          </a:p>
          <a:p>
            <a:r>
              <a:rPr lang="en-US" sz="2800" b="1" dirty="0">
                <a:solidFill>
                  <a:srgbClr val="0070C0"/>
                </a:solidFill>
                <a:latin typeface="Century Schoolbook" panose="02040604050505020304" pitchFamily="18" charset="0"/>
              </a:rPr>
              <a:t>2. Cost Management and optimization : -</a:t>
            </a:r>
          </a:p>
          <a:p>
            <a:r>
              <a:rPr lang="en-US" sz="2800" b="1" dirty="0">
                <a:solidFill>
                  <a:srgbClr val="0070C0"/>
                </a:solidFill>
                <a:latin typeface="Century Schoolbook" panose="02040604050505020304" pitchFamily="18" charset="0"/>
              </a:rPr>
              <a:t>3. Total cost of ownership : -</a:t>
            </a:r>
          </a:p>
          <a:p>
            <a:r>
              <a:rPr lang="en-US" sz="2800" b="1" dirty="0">
                <a:solidFill>
                  <a:srgbClr val="0070C0"/>
                </a:solidFill>
                <a:latin typeface="Century Schoolbook" panose="02040604050505020304" pitchFamily="18" charset="0"/>
              </a:rPr>
              <a:t>4. Return of Investment : -</a:t>
            </a:r>
          </a:p>
          <a:p>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1211063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D1FD-A26E-BD33-67B6-96522609CEB0}"/>
              </a:ext>
            </a:extLst>
          </p:cNvPr>
          <p:cNvSpPr>
            <a:spLocks noGrp="1"/>
          </p:cNvSpPr>
          <p:nvPr>
            <p:ph type="title"/>
          </p:nvPr>
        </p:nvSpPr>
        <p:spPr>
          <a:xfrm>
            <a:off x="0" y="-72923"/>
            <a:ext cx="8596668" cy="791238"/>
          </a:xfrm>
        </p:spPr>
        <p:txBody>
          <a:bodyPr/>
          <a:lstStyle/>
          <a:p>
            <a:r>
              <a:rPr lang="en-US" dirty="0">
                <a:latin typeface="Algerian" panose="04020705040A02060702" pitchFamily="82" charset="0"/>
              </a:rPr>
              <a:t>1. </a:t>
            </a:r>
            <a:r>
              <a:rPr lang="en-US" u="sng" dirty="0">
                <a:latin typeface="Algerian" panose="04020705040A02060702" pitchFamily="82" charset="0"/>
              </a:rPr>
              <a:t>Cost models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0288C895-26C5-BCFA-1BBE-58B8CB149836}"/>
              </a:ext>
            </a:extLst>
          </p:cNvPr>
          <p:cNvSpPr>
            <a:spLocks noGrp="1"/>
          </p:cNvSpPr>
          <p:nvPr>
            <p:ph type="body" idx="1"/>
          </p:nvPr>
        </p:nvSpPr>
        <p:spPr>
          <a:xfrm>
            <a:off x="0" y="412955"/>
            <a:ext cx="9625781" cy="4306527"/>
          </a:xfrm>
        </p:spPr>
        <p:txBody>
          <a:bodyPr>
            <a:normAutofit/>
          </a:bodyPr>
          <a:lstStyle/>
          <a:p>
            <a:r>
              <a:rPr lang="en-US" sz="2800" b="1" dirty="0">
                <a:solidFill>
                  <a:srgbClr val="0070C0"/>
                </a:solidFill>
                <a:latin typeface="Century Schoolbook" panose="02040604050505020304" pitchFamily="18" charset="0"/>
              </a:rPr>
              <a:t>a) </a:t>
            </a:r>
            <a:r>
              <a:rPr lang="en-US" sz="2800" b="1" u="sng" dirty="0">
                <a:solidFill>
                  <a:srgbClr val="0070C0"/>
                </a:solidFill>
                <a:latin typeface="Century Schoolbook" panose="02040604050505020304" pitchFamily="18" charset="0"/>
              </a:rPr>
              <a:t>Pay-as-you-go</a:t>
            </a:r>
            <a:r>
              <a:rPr lang="en-US" sz="2800" b="1" dirty="0">
                <a:solidFill>
                  <a:srgbClr val="0070C0"/>
                </a:solidFill>
                <a:latin typeface="Century Schoolbook" panose="02040604050505020304" pitchFamily="18" charset="0"/>
              </a:rPr>
              <a:t> : - </a:t>
            </a:r>
            <a:r>
              <a:rPr lang="en-US" sz="2400" b="1" dirty="0">
                <a:latin typeface="Century Schoolbook" panose="02040604050505020304" pitchFamily="18" charset="0"/>
              </a:rPr>
              <a:t>Users pay only for the resources they consume, such as computing power, storage and data transfer. This model helps in avoiding large upfront capital expenditures.</a:t>
            </a:r>
          </a:p>
          <a:p>
            <a:r>
              <a:rPr lang="en-US" sz="2800" b="1" dirty="0">
                <a:solidFill>
                  <a:srgbClr val="0070C0"/>
                </a:solidFill>
                <a:latin typeface="Century Schoolbook" panose="02040604050505020304" pitchFamily="18" charset="0"/>
              </a:rPr>
              <a:t>b) </a:t>
            </a:r>
            <a:r>
              <a:rPr lang="en-US" sz="2800" b="1" u="sng" dirty="0">
                <a:solidFill>
                  <a:srgbClr val="0070C0"/>
                </a:solidFill>
                <a:latin typeface="Century Schoolbook" panose="02040604050505020304" pitchFamily="18" charset="0"/>
              </a:rPr>
              <a:t>Subscription-Based</a:t>
            </a:r>
            <a:r>
              <a:rPr lang="en-US" sz="2800" b="1" dirty="0">
                <a:solidFill>
                  <a:srgbClr val="0070C0"/>
                </a:solidFill>
                <a:latin typeface="Century Schoolbook" panose="02040604050505020304" pitchFamily="18" charset="0"/>
              </a:rPr>
              <a:t> : - </a:t>
            </a:r>
            <a:r>
              <a:rPr lang="en-US" sz="2400" b="1" dirty="0">
                <a:latin typeface="Century Schoolbook" panose="02040604050505020304" pitchFamily="18" charset="0"/>
              </a:rPr>
              <a:t>fixed fees for predefined levels of service, offering predictability in costs.</a:t>
            </a:r>
          </a:p>
          <a:p>
            <a:r>
              <a:rPr lang="en-US" sz="2800" b="1" dirty="0">
                <a:solidFill>
                  <a:srgbClr val="0070C0"/>
                </a:solidFill>
                <a:latin typeface="Century Schoolbook" panose="02040604050505020304" pitchFamily="18" charset="0"/>
              </a:rPr>
              <a:t>c) </a:t>
            </a:r>
            <a:r>
              <a:rPr lang="en-US" sz="2800" b="1" u="sng" dirty="0">
                <a:solidFill>
                  <a:srgbClr val="0070C0"/>
                </a:solidFill>
                <a:latin typeface="Century Schoolbook" panose="02040604050505020304" pitchFamily="18" charset="0"/>
              </a:rPr>
              <a:t>Reserved Instances</a:t>
            </a:r>
            <a:r>
              <a:rPr lang="en-US" sz="2800" b="1" dirty="0">
                <a:solidFill>
                  <a:srgbClr val="0070C0"/>
                </a:solidFill>
                <a:latin typeface="Century Schoolbook" panose="02040604050505020304" pitchFamily="18" charset="0"/>
              </a:rPr>
              <a:t> : -</a:t>
            </a:r>
            <a:r>
              <a:rPr lang="en-US" sz="2400" b="1" dirty="0">
                <a:latin typeface="Century Schoolbook" panose="02040604050505020304" pitchFamily="18" charset="0"/>
              </a:rPr>
              <a:t> Discounts offered for committing to use specific cloud services over a longer period.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599749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BDAD-AB61-D315-8C89-67FD56F65A92}"/>
              </a:ext>
            </a:extLst>
          </p:cNvPr>
          <p:cNvSpPr>
            <a:spLocks noGrp="1"/>
          </p:cNvSpPr>
          <p:nvPr>
            <p:ph type="title"/>
          </p:nvPr>
        </p:nvSpPr>
        <p:spPr>
          <a:xfrm>
            <a:off x="-1" y="25400"/>
            <a:ext cx="10402529" cy="702187"/>
          </a:xfrm>
        </p:spPr>
        <p:txBody>
          <a:bodyPr>
            <a:normAutofit fontScale="90000"/>
          </a:bodyPr>
          <a:lstStyle/>
          <a:p>
            <a:r>
              <a:rPr lang="en-US" dirty="0">
                <a:latin typeface="Algerian" panose="04020705040A02060702" pitchFamily="82" charset="0"/>
              </a:rPr>
              <a:t>2. </a:t>
            </a:r>
            <a:r>
              <a:rPr lang="en-US" u="sng" dirty="0">
                <a:latin typeface="Algerian" panose="04020705040A02060702" pitchFamily="82" charset="0"/>
              </a:rPr>
              <a:t>Cost management &amp; optimization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938BE80-BFCD-5349-9476-78A107212771}"/>
              </a:ext>
            </a:extLst>
          </p:cNvPr>
          <p:cNvSpPr>
            <a:spLocks noGrp="1"/>
          </p:cNvSpPr>
          <p:nvPr>
            <p:ph type="body" idx="1"/>
          </p:nvPr>
        </p:nvSpPr>
        <p:spPr>
          <a:xfrm>
            <a:off x="0" y="619430"/>
            <a:ext cx="9556955" cy="3647769"/>
          </a:xfrm>
        </p:spPr>
        <p:txBody>
          <a:bodyPr>
            <a:normAutofit/>
          </a:bodyPr>
          <a:lstStyle/>
          <a:p>
            <a:r>
              <a:rPr lang="en-US" sz="2800" b="1" dirty="0">
                <a:solidFill>
                  <a:srgbClr val="0070C0"/>
                </a:solidFill>
                <a:latin typeface="Century Schoolbook" panose="02040604050505020304" pitchFamily="18" charset="0"/>
              </a:rPr>
              <a:t>a) </a:t>
            </a:r>
            <a:r>
              <a:rPr lang="en-US" sz="2800" b="1" u="sng" dirty="0">
                <a:solidFill>
                  <a:srgbClr val="0070C0"/>
                </a:solidFill>
                <a:latin typeface="Century Schoolbook" panose="02040604050505020304" pitchFamily="18" charset="0"/>
              </a:rPr>
              <a:t>Resource Allocation</a:t>
            </a:r>
            <a:r>
              <a:rPr lang="en-US" sz="2800" b="1" dirty="0">
                <a:solidFill>
                  <a:srgbClr val="0070C0"/>
                </a:solidFill>
                <a:latin typeface="Century Schoolbook" panose="02040604050505020304" pitchFamily="18" charset="0"/>
              </a:rPr>
              <a:t> - </a:t>
            </a:r>
            <a:r>
              <a:rPr lang="en-US" sz="2400" b="1" dirty="0">
                <a:latin typeface="Century Schoolbook" panose="02040604050505020304" pitchFamily="18" charset="0"/>
              </a:rPr>
              <a:t>Efficiently managing and allocating resources to minimize waste and reduce cost.</a:t>
            </a:r>
          </a:p>
          <a:p>
            <a:r>
              <a:rPr lang="en-US" sz="2800" b="1" dirty="0">
                <a:solidFill>
                  <a:srgbClr val="0070C0"/>
                </a:solidFill>
                <a:latin typeface="Century Schoolbook" panose="02040604050505020304" pitchFamily="18" charset="0"/>
              </a:rPr>
              <a:t>b) </a:t>
            </a:r>
            <a:r>
              <a:rPr lang="en-US" sz="2800" b="1" u="sng" dirty="0">
                <a:solidFill>
                  <a:srgbClr val="0070C0"/>
                </a:solidFill>
                <a:latin typeface="Century Schoolbook" panose="02040604050505020304" pitchFamily="18" charset="0"/>
              </a:rPr>
              <a:t>Auto Scaling</a:t>
            </a:r>
            <a:r>
              <a:rPr lang="en-US" sz="2800" b="1" dirty="0">
                <a:solidFill>
                  <a:srgbClr val="0070C0"/>
                </a:solidFill>
                <a:latin typeface="Century Schoolbook" panose="02040604050505020304" pitchFamily="18" charset="0"/>
              </a:rPr>
              <a:t> - </a:t>
            </a:r>
            <a:r>
              <a:rPr lang="en-US" sz="2400" b="1" dirty="0">
                <a:latin typeface="Century Schoolbook" panose="02040604050505020304" pitchFamily="18" charset="0"/>
              </a:rPr>
              <a:t>Automatically adjusting resources based on demand, preventing over-provisioning &amp; reducing expenses.</a:t>
            </a:r>
          </a:p>
          <a:p>
            <a:r>
              <a:rPr lang="en-US" sz="2800" b="1" dirty="0">
                <a:solidFill>
                  <a:srgbClr val="0070C0"/>
                </a:solidFill>
                <a:latin typeface="Century Schoolbook" panose="02040604050505020304" pitchFamily="18" charset="0"/>
              </a:rPr>
              <a:t>c) </a:t>
            </a:r>
            <a:r>
              <a:rPr lang="en-US" sz="2800" b="1" u="sng" dirty="0">
                <a:solidFill>
                  <a:srgbClr val="0070C0"/>
                </a:solidFill>
                <a:latin typeface="Century Schoolbook" panose="02040604050505020304" pitchFamily="18" charset="0"/>
              </a:rPr>
              <a:t>Monitoring &amp; Reporting</a:t>
            </a:r>
            <a:r>
              <a:rPr lang="en-US" sz="2800" b="1" dirty="0">
                <a:solidFill>
                  <a:srgbClr val="0070C0"/>
                </a:solidFill>
                <a:latin typeface="Century Schoolbook" panose="02040604050505020304" pitchFamily="18" charset="0"/>
              </a:rPr>
              <a:t> - </a:t>
            </a:r>
            <a:r>
              <a:rPr lang="en-US" sz="2400" b="1" dirty="0">
                <a:latin typeface="Century Schoolbook" panose="02040604050505020304" pitchFamily="18" charset="0"/>
              </a:rPr>
              <a:t>Tools and services that provide insights into resource usage and costs, helping in budget management.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954118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93C36-6415-0533-615B-3FDA12CB9C8E}"/>
              </a:ext>
            </a:extLst>
          </p:cNvPr>
          <p:cNvSpPr>
            <a:spLocks noGrp="1"/>
          </p:cNvSpPr>
          <p:nvPr>
            <p:ph type="title"/>
          </p:nvPr>
        </p:nvSpPr>
        <p:spPr>
          <a:xfrm>
            <a:off x="8740" y="25399"/>
            <a:ext cx="9833349" cy="2806291"/>
          </a:xfrm>
        </p:spPr>
        <p:txBody>
          <a:bodyPr>
            <a:noAutofit/>
          </a:bodyPr>
          <a:lstStyle/>
          <a:p>
            <a:r>
              <a:rPr lang="en-US" sz="4000" dirty="0">
                <a:solidFill>
                  <a:srgbClr val="0070C0"/>
                </a:solidFill>
                <a:latin typeface="Algerian" panose="04020705040A02060702" pitchFamily="82" charset="0"/>
              </a:rPr>
              <a:t>3. </a:t>
            </a:r>
            <a:r>
              <a:rPr lang="en-US" sz="4000" u="sng" dirty="0">
                <a:solidFill>
                  <a:srgbClr val="0070C0"/>
                </a:solidFill>
                <a:latin typeface="Algerian" panose="04020705040A02060702" pitchFamily="82" charset="0"/>
              </a:rPr>
              <a:t>Total Cost of ownership (TCO)</a:t>
            </a:r>
            <a:r>
              <a:rPr lang="en-US" sz="4000" dirty="0">
                <a:solidFill>
                  <a:srgbClr val="0070C0"/>
                </a:solidFill>
                <a:latin typeface="Algerian" panose="04020705040A02060702" pitchFamily="82" charset="0"/>
              </a:rPr>
              <a:t> : -</a:t>
            </a:r>
            <a:br>
              <a:rPr lang="en-US" sz="2000" dirty="0">
                <a:solidFill>
                  <a:srgbClr val="0070C0"/>
                </a:solidFill>
              </a:rPr>
            </a:br>
            <a:r>
              <a:rPr lang="en-US" sz="2800" b="1" dirty="0">
                <a:solidFill>
                  <a:srgbClr val="0070C0"/>
                </a:solidFill>
                <a:latin typeface="Century Schoolbook" panose="02040604050505020304" pitchFamily="18" charset="0"/>
              </a:rPr>
              <a:t>a) </a:t>
            </a:r>
            <a:r>
              <a:rPr lang="en-US" sz="2800" b="1" u="sng" dirty="0">
                <a:solidFill>
                  <a:srgbClr val="0070C0"/>
                </a:solidFill>
                <a:latin typeface="Century Schoolbook" panose="02040604050505020304" pitchFamily="18" charset="0"/>
              </a:rPr>
              <a:t>Direct Costs</a:t>
            </a:r>
            <a:r>
              <a:rPr lang="en-US" sz="2800" b="1" dirty="0">
                <a:solidFill>
                  <a:srgbClr val="0070C0"/>
                </a:solidFill>
                <a:latin typeface="Century Schoolbook" panose="02040604050505020304" pitchFamily="18" charset="0"/>
              </a:rPr>
              <a:t> : - </a:t>
            </a:r>
            <a:r>
              <a:rPr lang="en-US" sz="2400" b="1" dirty="0">
                <a:solidFill>
                  <a:schemeClr val="tx1">
                    <a:lumMod val="95000"/>
                    <a:lumOff val="5000"/>
                  </a:schemeClr>
                </a:solidFill>
                <a:latin typeface="Century Schoolbook" panose="02040604050505020304" pitchFamily="18" charset="0"/>
              </a:rPr>
              <a:t>Expenses for cloud services, including</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computing, storage and data transfer.</a:t>
            </a:r>
            <a:br>
              <a:rPr lang="en-US" sz="2400" b="1" dirty="0">
                <a:solidFill>
                  <a:schemeClr val="tx1">
                    <a:lumMod val="95000"/>
                    <a:lumOff val="5000"/>
                  </a:schemeClr>
                </a:solidFill>
                <a:latin typeface="Century Schoolbook" panose="02040604050505020304" pitchFamily="18" charset="0"/>
              </a:rPr>
            </a:br>
            <a:r>
              <a:rPr lang="en-US" sz="2800" b="1" dirty="0">
                <a:solidFill>
                  <a:srgbClr val="0070C0"/>
                </a:solidFill>
                <a:latin typeface="Century Schoolbook" panose="02040604050505020304" pitchFamily="18" charset="0"/>
              </a:rPr>
              <a:t>b) </a:t>
            </a:r>
            <a:r>
              <a:rPr lang="en-US" sz="2800" b="1" u="sng" dirty="0">
                <a:solidFill>
                  <a:srgbClr val="0070C0"/>
                </a:solidFill>
                <a:latin typeface="Century Schoolbook" panose="02040604050505020304" pitchFamily="18" charset="0"/>
              </a:rPr>
              <a:t>Indirect Costs</a:t>
            </a:r>
            <a:r>
              <a:rPr lang="en-US" sz="2800" b="1" dirty="0">
                <a:solidFill>
                  <a:srgbClr val="0070C0"/>
                </a:solidFill>
                <a:latin typeface="Century Schoolbook" panose="02040604050505020304" pitchFamily="18" charset="0"/>
              </a:rPr>
              <a:t> : - </a:t>
            </a:r>
            <a:r>
              <a:rPr lang="en-US" sz="2400" b="1" dirty="0">
                <a:solidFill>
                  <a:schemeClr val="tx1">
                    <a:lumMod val="95000"/>
                    <a:lumOff val="5000"/>
                  </a:schemeClr>
                </a:solidFill>
                <a:latin typeface="Century Schoolbook" panose="02040604050505020304" pitchFamily="18" charset="0"/>
              </a:rPr>
              <a:t>Costs related to training, migration, compliance and security.</a:t>
            </a:r>
            <a:br>
              <a:rPr lang="en-US" sz="2400" b="1" dirty="0">
                <a:solidFill>
                  <a:schemeClr val="tx1">
                    <a:lumMod val="95000"/>
                    <a:lumOff val="5000"/>
                  </a:schemeClr>
                </a:solidFill>
                <a:latin typeface="Century Schoolbook" panose="02040604050505020304" pitchFamily="18" charset="0"/>
              </a:rPr>
            </a:br>
            <a:br>
              <a:rPr lang="en-US" sz="2000" dirty="0">
                <a:solidFill>
                  <a:schemeClr val="tx1">
                    <a:lumMod val="95000"/>
                    <a:lumOff val="5000"/>
                  </a:schemeClr>
                </a:solidFill>
              </a:rPr>
            </a:br>
            <a:endParaRPr lang="en-IN" sz="2000" dirty="0">
              <a:solidFill>
                <a:schemeClr val="tx1">
                  <a:lumMod val="95000"/>
                  <a:lumOff val="5000"/>
                </a:schemeClr>
              </a:solidFill>
            </a:endParaRPr>
          </a:p>
        </p:txBody>
      </p:sp>
      <p:sp>
        <p:nvSpPr>
          <p:cNvPr id="3" name="Text Placeholder 2">
            <a:extLst>
              <a:ext uri="{FF2B5EF4-FFF2-40B4-BE49-F238E27FC236}">
                <a16:creationId xmlns:a16="http://schemas.microsoft.com/office/drawing/2014/main" id="{4C8ACE3E-A852-E862-4779-629AE9853301}"/>
              </a:ext>
            </a:extLst>
          </p:cNvPr>
          <p:cNvSpPr>
            <a:spLocks noGrp="1"/>
          </p:cNvSpPr>
          <p:nvPr>
            <p:ph type="body" idx="1"/>
          </p:nvPr>
        </p:nvSpPr>
        <p:spPr>
          <a:xfrm>
            <a:off x="0" y="1828800"/>
            <a:ext cx="9763432" cy="2543686"/>
          </a:xfrm>
        </p:spPr>
        <p:txBody>
          <a:bodyPr>
            <a:normAutofit/>
          </a:bodyPr>
          <a:lstStyle/>
          <a:p>
            <a:endParaRPr lang="en-US" dirty="0"/>
          </a:p>
          <a:p>
            <a:r>
              <a:rPr lang="en-US" sz="4000" dirty="0">
                <a:solidFill>
                  <a:srgbClr val="0070C0"/>
                </a:solidFill>
                <a:latin typeface="Algerian" panose="04020705040A02060702" pitchFamily="82" charset="0"/>
              </a:rPr>
              <a:t>4. </a:t>
            </a:r>
            <a:r>
              <a:rPr lang="en-US" sz="4000" u="sng" dirty="0">
                <a:solidFill>
                  <a:srgbClr val="0070C0"/>
                </a:solidFill>
                <a:latin typeface="Algerian" panose="04020705040A02060702" pitchFamily="82" charset="0"/>
              </a:rPr>
              <a:t>Return of Investment (ROI)</a:t>
            </a:r>
            <a:r>
              <a:rPr lang="en-US" sz="4000" dirty="0">
                <a:solidFill>
                  <a:srgbClr val="0070C0"/>
                </a:solidFill>
                <a:latin typeface="Algerian" panose="04020705040A02060702" pitchFamily="82" charset="0"/>
              </a:rPr>
              <a:t> : -</a:t>
            </a:r>
          </a:p>
          <a:p>
            <a:r>
              <a:rPr lang="en-US" sz="2800" b="1" dirty="0">
                <a:solidFill>
                  <a:srgbClr val="0070C0"/>
                </a:solidFill>
                <a:latin typeface="Century Schoolbook" panose="02040604050505020304" pitchFamily="18" charset="0"/>
              </a:rPr>
              <a:t>a) </a:t>
            </a:r>
            <a:r>
              <a:rPr lang="en-US" sz="2800" b="1" u="sng" dirty="0">
                <a:solidFill>
                  <a:srgbClr val="0070C0"/>
                </a:solidFill>
                <a:latin typeface="Century Schoolbook" panose="02040604050505020304" pitchFamily="18" charset="0"/>
              </a:rPr>
              <a:t>Value Assessment</a:t>
            </a:r>
            <a:r>
              <a:rPr lang="en-US" sz="2800" b="1" dirty="0">
                <a:solidFill>
                  <a:srgbClr val="0070C0"/>
                </a:solidFill>
                <a:latin typeface="Century Schoolbook" panose="02040604050505020304" pitchFamily="18" charset="0"/>
              </a:rPr>
              <a:t> -</a:t>
            </a:r>
            <a:r>
              <a:rPr lang="en-US" sz="2800" b="1" dirty="0">
                <a:latin typeface="Century Schoolbook" panose="02040604050505020304" pitchFamily="18" charset="0"/>
              </a:rPr>
              <a:t> </a:t>
            </a:r>
            <a:r>
              <a:rPr lang="en-US" sz="2400" b="1" dirty="0">
                <a:latin typeface="Century Schoolbook" panose="02040604050505020304" pitchFamily="18" charset="0"/>
              </a:rPr>
              <a:t>Evaluating the financial </a:t>
            </a:r>
            <a:r>
              <a:rPr lang="en-US" sz="2400" b="1" dirty="0" err="1">
                <a:latin typeface="Century Schoolbook" panose="02040604050505020304" pitchFamily="18" charset="0"/>
              </a:rPr>
              <a:t>benifits</a:t>
            </a:r>
            <a:r>
              <a:rPr lang="en-US" sz="2400" b="1" dirty="0">
                <a:latin typeface="Century Schoolbook" panose="02040604050505020304" pitchFamily="18" charset="0"/>
              </a:rPr>
              <a:t> and savings from using cloud services, compared to traditional IT infrastructure.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777260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A6B80-D6F1-02EC-F5BB-2917FF8BA62A}"/>
              </a:ext>
            </a:extLst>
          </p:cNvPr>
          <p:cNvSpPr>
            <a:spLocks noGrp="1"/>
          </p:cNvSpPr>
          <p:nvPr>
            <p:ph type="title"/>
          </p:nvPr>
        </p:nvSpPr>
        <p:spPr>
          <a:xfrm>
            <a:off x="0" y="-82755"/>
            <a:ext cx="9882511" cy="692355"/>
          </a:xfrm>
        </p:spPr>
        <p:txBody>
          <a:bodyPr>
            <a:normAutofit fontScale="90000"/>
          </a:bodyPr>
          <a:lstStyle/>
          <a:p>
            <a:pPr marL="571500" indent="-571500">
              <a:buFont typeface="Wingdings" panose="05000000000000000000" pitchFamily="2" charset="2"/>
              <a:buChar char="v"/>
            </a:pPr>
            <a:r>
              <a:rPr lang="en-US" u="sng" dirty="0">
                <a:latin typeface="Algerian" panose="04020705040A02060702" pitchFamily="82" charset="0"/>
              </a:rPr>
              <a:t>Benefits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B7F0161-F323-B080-D1B0-E4843DB55159}"/>
              </a:ext>
            </a:extLst>
          </p:cNvPr>
          <p:cNvSpPr>
            <a:spLocks noGrp="1"/>
          </p:cNvSpPr>
          <p:nvPr>
            <p:ph type="body" idx="1"/>
          </p:nvPr>
        </p:nvSpPr>
        <p:spPr>
          <a:xfrm>
            <a:off x="0" y="540773"/>
            <a:ext cx="11857703" cy="6248399"/>
          </a:xfrm>
        </p:spPr>
        <p:txBody>
          <a:bodyPr>
            <a:noAutofit/>
          </a:bodyPr>
          <a:lstStyle/>
          <a:p>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Scalability</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Easily scalable resources up or down based on demand. If the business demand increases you can easily increase your cloud capacity without having to invest in physical infrastructure.</a:t>
            </a: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Improved Collaboration</a:t>
            </a:r>
            <a:r>
              <a:rPr lang="en-US" sz="2400" b="1" dirty="0">
                <a:solidFill>
                  <a:srgbClr val="0070C0"/>
                </a:solidFill>
                <a:latin typeface="Century Schoolbook" panose="02040604050505020304" pitchFamily="18" charset="0"/>
              </a:rPr>
              <a:t> : -</a:t>
            </a:r>
            <a:r>
              <a:rPr lang="en-US" sz="2000" b="1" dirty="0">
                <a:latin typeface="Century Schoolbook" panose="02040604050505020304" pitchFamily="18" charset="0"/>
              </a:rPr>
              <a:t> </a:t>
            </a:r>
            <a:r>
              <a:rPr lang="en-US" sz="2000" b="1" dirty="0">
                <a:solidFill>
                  <a:schemeClr val="tx1">
                    <a:lumMod val="95000"/>
                    <a:lumOff val="5000"/>
                  </a:schemeClr>
                </a:solidFill>
                <a:latin typeface="Century Schoolbook" panose="02040604050505020304" pitchFamily="18" charset="0"/>
              </a:rPr>
              <a:t>The cloud computing platform helps employees who are located in different geographies to collaborate in a highly convenient &amp; secure manner.</a:t>
            </a:r>
          </a:p>
          <a:p>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Data Security</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Cloud storage provides us implementation protection for their platforms and the data they process such as authentication, access control &amp; encryption.</a:t>
            </a:r>
          </a:p>
          <a:p>
            <a:r>
              <a:rPr lang="en-US" sz="2400" b="1" dirty="0">
                <a:solidFill>
                  <a:srgbClr val="0070C0"/>
                </a:solidFill>
                <a:latin typeface="Century Schoolbook" panose="02040604050505020304" pitchFamily="18" charset="0"/>
              </a:rPr>
              <a:t>4) </a:t>
            </a:r>
            <a:r>
              <a:rPr lang="en-US" sz="2400" b="1" u="sng" dirty="0">
                <a:solidFill>
                  <a:srgbClr val="0070C0"/>
                </a:solidFill>
                <a:latin typeface="Century Schoolbook" panose="02040604050505020304" pitchFamily="18" charset="0"/>
              </a:rPr>
              <a:t>Back-up and restore data</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Once the data is stored in a cloud, it is easier to get the back-up &amp; recovery of that, which is otherwise very time taking process on premise.</a:t>
            </a:r>
          </a:p>
          <a:p>
            <a:r>
              <a:rPr lang="en-US" sz="2400" b="1" dirty="0">
                <a:solidFill>
                  <a:srgbClr val="0070C0"/>
                </a:solidFill>
                <a:latin typeface="Century Schoolbook" panose="02040604050505020304" pitchFamily="18" charset="0"/>
              </a:rPr>
              <a:t>5) </a:t>
            </a:r>
            <a:r>
              <a:rPr lang="en-US" sz="2400" b="1" u="sng" dirty="0">
                <a:solidFill>
                  <a:srgbClr val="0070C0"/>
                </a:solidFill>
                <a:latin typeface="Century Schoolbook" panose="02040604050505020304" pitchFamily="18" charset="0"/>
              </a:rPr>
              <a:t>Flexibility</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Access resources and applications from any-where with an internet connection.</a:t>
            </a:r>
          </a:p>
          <a:p>
            <a:r>
              <a:rPr lang="en-US" sz="2400" b="1" dirty="0">
                <a:solidFill>
                  <a:srgbClr val="0070C0"/>
                </a:solidFill>
                <a:latin typeface="Century Schoolbook" panose="02040604050505020304" pitchFamily="18" charset="0"/>
              </a:rPr>
              <a:t>6) </a:t>
            </a:r>
            <a:r>
              <a:rPr lang="en-US" sz="2400" b="1" u="sng" dirty="0">
                <a:solidFill>
                  <a:srgbClr val="0070C0"/>
                </a:solidFill>
                <a:latin typeface="Century Schoolbook" panose="02040604050505020304" pitchFamily="18" charset="0"/>
              </a:rPr>
              <a:t>Pay-per-use-Model</a:t>
            </a:r>
            <a:r>
              <a:rPr lang="en-US" sz="2400" b="1" dirty="0">
                <a:solidFill>
                  <a:srgbClr val="0070C0"/>
                </a:solidFill>
                <a:latin typeface="Century Schoolbook" panose="02040604050505020304" pitchFamily="18" charset="0"/>
              </a:rPr>
              <a:t> : - </a:t>
            </a:r>
            <a:r>
              <a:rPr lang="en-US" sz="2000" b="1" dirty="0">
                <a:solidFill>
                  <a:schemeClr val="tx1">
                    <a:lumMod val="95000"/>
                    <a:lumOff val="5000"/>
                  </a:schemeClr>
                </a:solidFill>
                <a:latin typeface="Century Schoolbook" panose="02040604050505020304" pitchFamily="18" charset="0"/>
              </a:rPr>
              <a:t>Cloud computing uses Pay-per-us Model that enables companies to pay for the services they really utilize. This method is affordable, eliminates the need for up-front investments and offers budget management Flexibility for IT.</a:t>
            </a:r>
            <a:endParaRPr lang="en-IN" sz="20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98892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EFCB0-9EAA-639D-5FB5-38D91723F380}"/>
              </a:ext>
            </a:extLst>
          </p:cNvPr>
          <p:cNvSpPr>
            <a:spLocks noGrp="1"/>
          </p:cNvSpPr>
          <p:nvPr>
            <p:ph type="title"/>
          </p:nvPr>
        </p:nvSpPr>
        <p:spPr>
          <a:xfrm>
            <a:off x="0" y="-92587"/>
            <a:ext cx="10972800" cy="791238"/>
          </a:xfrm>
        </p:spPr>
        <p:txBody>
          <a:bodyPr>
            <a:normAutofit fontScale="90000"/>
          </a:bodyPr>
          <a:lstStyle/>
          <a:p>
            <a:r>
              <a:rPr lang="en-US" dirty="0">
                <a:latin typeface="Algerian" panose="04020705040A02060702" pitchFamily="82" charset="0"/>
              </a:rPr>
              <a:t>1.5] </a:t>
            </a:r>
            <a:r>
              <a:rPr lang="en-US" u="sng" dirty="0">
                <a:latin typeface="Algerian" panose="04020705040A02060702" pitchFamily="82" charset="0"/>
              </a:rPr>
              <a:t>architecture of cloud computing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A1AE887-7135-54E4-3037-C56AC30C6A13}"/>
              </a:ext>
            </a:extLst>
          </p:cNvPr>
          <p:cNvSpPr>
            <a:spLocks noGrp="1"/>
          </p:cNvSpPr>
          <p:nvPr>
            <p:ph type="body" idx="1"/>
          </p:nvPr>
        </p:nvSpPr>
        <p:spPr>
          <a:xfrm>
            <a:off x="0" y="462677"/>
            <a:ext cx="9645445" cy="6316665"/>
          </a:xfrm>
        </p:spPr>
        <p:txBody>
          <a:bodyPr>
            <a:noAutofit/>
          </a:bodyPr>
          <a:lstStyle/>
          <a:p>
            <a:r>
              <a:rPr lang="en-US" sz="2400" b="1" dirty="0">
                <a:latin typeface="Century Schoolbook" panose="02040604050505020304" pitchFamily="18" charset="0"/>
              </a:rPr>
              <a:t>- Cloud computing Architecture is a combination of service- oriented architecture and Event-driven architecture.</a:t>
            </a:r>
          </a:p>
          <a:p>
            <a:r>
              <a:rPr lang="en-US" sz="2400" b="1" dirty="0">
                <a:latin typeface="Century Schoolbook" panose="02040604050505020304" pitchFamily="18" charset="0"/>
              </a:rPr>
              <a:t>* </a:t>
            </a:r>
            <a:r>
              <a:rPr lang="en-US" sz="2400" b="1" u="sng" dirty="0">
                <a:solidFill>
                  <a:srgbClr val="0070C0"/>
                </a:solidFill>
                <a:latin typeface="Century Schoolbook" panose="02040604050505020304" pitchFamily="18" charset="0"/>
              </a:rPr>
              <a:t>FRONT END</a:t>
            </a:r>
            <a:r>
              <a:rPr lang="en-US" sz="2400" b="1" dirty="0">
                <a:solidFill>
                  <a:srgbClr val="0070C0"/>
                </a:solidFill>
                <a:latin typeface="Century Schoolbook" panose="02040604050505020304" pitchFamily="18" charset="0"/>
              </a:rPr>
              <a:t> : -</a:t>
            </a:r>
          </a:p>
          <a:p>
            <a:r>
              <a:rPr lang="en-US" sz="2000" b="1" dirty="0" err="1">
                <a:latin typeface="Century Schoolbook" panose="02040604050505020304" pitchFamily="18" charset="0"/>
              </a:rPr>
              <a:t>i</a:t>
            </a:r>
            <a:r>
              <a:rPr lang="en-US" sz="2000" b="1" dirty="0">
                <a:latin typeface="Century Schoolbook" panose="02040604050505020304" pitchFamily="18" charset="0"/>
              </a:rPr>
              <a:t>) Front End is used by the Client.</a:t>
            </a:r>
          </a:p>
          <a:p>
            <a:r>
              <a:rPr lang="en-US" sz="2000" b="1" dirty="0">
                <a:latin typeface="Century Schoolbook" panose="02040604050505020304" pitchFamily="18" charset="0"/>
              </a:rPr>
              <a:t>ii) It contains client-side interfaces and applications that</a:t>
            </a:r>
          </a:p>
          <a:p>
            <a:r>
              <a:rPr lang="en-US" sz="2000" b="1" dirty="0">
                <a:latin typeface="Century Schoolbook" panose="02040604050505020304" pitchFamily="18" charset="0"/>
              </a:rPr>
              <a:t>are required to access the cloud computing platforms.</a:t>
            </a:r>
          </a:p>
          <a:p>
            <a:r>
              <a:rPr lang="en-US" sz="2000" b="1" dirty="0">
                <a:latin typeface="Century Schoolbook" panose="02040604050505020304" pitchFamily="18" charset="0"/>
              </a:rPr>
              <a:t>iii) The front end includes web servers (including Chrome, Firefox, internet explorer, </a:t>
            </a:r>
            <a:r>
              <a:rPr lang="en-US" sz="2000" b="1" dirty="0" err="1">
                <a:latin typeface="Century Schoolbook" panose="02040604050505020304" pitchFamily="18" charset="0"/>
              </a:rPr>
              <a:t>etc</a:t>
            </a:r>
            <a:r>
              <a:rPr lang="en-US" sz="2000" b="1" dirty="0">
                <a:latin typeface="Century Schoolbook" panose="02040604050505020304" pitchFamily="18" charset="0"/>
              </a:rPr>
              <a:t>), thin &amp; fat client, tablets, and mobile devices.</a:t>
            </a:r>
            <a:endParaRPr lang="en-US" sz="2400" b="1" dirty="0">
              <a:latin typeface="Century Schoolbook" panose="02040604050505020304" pitchFamily="18" charset="0"/>
            </a:endParaRPr>
          </a:p>
          <a:p>
            <a:r>
              <a:rPr lang="en-US" sz="2400" b="1" dirty="0">
                <a:latin typeface="Century Schoolbook" panose="02040604050505020304" pitchFamily="18" charset="0"/>
              </a:rPr>
              <a:t>* </a:t>
            </a:r>
            <a:r>
              <a:rPr lang="en-US" sz="2400" b="1" u="sng" dirty="0">
                <a:solidFill>
                  <a:srgbClr val="0070C0"/>
                </a:solidFill>
                <a:latin typeface="Century Schoolbook" panose="02040604050505020304" pitchFamily="18" charset="0"/>
              </a:rPr>
              <a:t>BACK END</a:t>
            </a:r>
            <a:r>
              <a:rPr lang="en-US" sz="2400" b="1" dirty="0">
                <a:solidFill>
                  <a:srgbClr val="0070C0"/>
                </a:solidFill>
                <a:latin typeface="Century Schoolbook" panose="02040604050505020304" pitchFamily="18" charset="0"/>
              </a:rPr>
              <a:t> : -</a:t>
            </a:r>
          </a:p>
          <a:p>
            <a:r>
              <a:rPr lang="en-US" sz="2000" b="1" dirty="0" err="1">
                <a:latin typeface="Century Schoolbook" panose="02040604050505020304" pitchFamily="18" charset="0"/>
              </a:rPr>
              <a:t>i</a:t>
            </a:r>
            <a:r>
              <a:rPr lang="en-US" sz="2000" b="1" dirty="0">
                <a:latin typeface="Century Schoolbook" panose="02040604050505020304" pitchFamily="18" charset="0"/>
              </a:rPr>
              <a:t>) The back end is used by the service provider.</a:t>
            </a:r>
          </a:p>
          <a:p>
            <a:r>
              <a:rPr lang="en-US" sz="2000" b="1" dirty="0">
                <a:latin typeface="Century Schoolbook" panose="02040604050505020304" pitchFamily="18" charset="0"/>
              </a:rPr>
              <a:t>ii) It manages all the resources that are required to provide cloud computing services.</a:t>
            </a:r>
          </a:p>
          <a:p>
            <a:r>
              <a:rPr lang="en-US" sz="2000" b="1" dirty="0">
                <a:latin typeface="Century Schoolbook" panose="02040604050505020304" pitchFamily="18" charset="0"/>
              </a:rPr>
              <a:t>iii) It includes a huge amount of data storage, security mechanism, virtual machines, deploying models, servers, traffic control mechanisms, etc.</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184923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75BE1-389D-FCD2-DB90-082A5DAE0FE2}"/>
              </a:ext>
            </a:extLst>
          </p:cNvPr>
          <p:cNvSpPr>
            <a:spLocks noGrp="1"/>
          </p:cNvSpPr>
          <p:nvPr>
            <p:ph type="title"/>
          </p:nvPr>
        </p:nvSpPr>
        <p:spPr>
          <a:xfrm>
            <a:off x="0" y="0"/>
            <a:ext cx="8596668" cy="3403600"/>
          </a:xfrm>
        </p:spPr>
        <p:txBody>
          <a:bodyPr/>
          <a:lstStyle/>
          <a:p>
            <a:endParaRPr lang="en-IN"/>
          </a:p>
        </p:txBody>
      </p:sp>
      <p:sp>
        <p:nvSpPr>
          <p:cNvPr id="3" name="Text Placeholder 2">
            <a:extLst>
              <a:ext uri="{FF2B5EF4-FFF2-40B4-BE49-F238E27FC236}">
                <a16:creationId xmlns:a16="http://schemas.microsoft.com/office/drawing/2014/main" id="{9BA46B32-36D7-7CDC-7FBD-8E9F4F68EE85}"/>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996DD30F-B23B-F5E7-36D3-A4A066B0AF58}"/>
              </a:ext>
            </a:extLst>
          </p:cNvPr>
          <p:cNvPicPr>
            <a:picLocks noChangeAspect="1"/>
          </p:cNvPicPr>
          <p:nvPr/>
        </p:nvPicPr>
        <p:blipFill>
          <a:blip r:embed="rId2"/>
          <a:stretch>
            <a:fillRect/>
          </a:stretch>
        </p:blipFill>
        <p:spPr>
          <a:xfrm>
            <a:off x="294967" y="292509"/>
            <a:ext cx="10235381" cy="6272981"/>
          </a:xfrm>
          <a:prstGeom prst="rect">
            <a:avLst/>
          </a:prstGeom>
        </p:spPr>
      </p:pic>
    </p:spTree>
    <p:extLst>
      <p:ext uri="{BB962C8B-B14F-4D97-AF65-F5344CB8AC3E}">
        <p14:creationId xmlns:p14="http://schemas.microsoft.com/office/powerpoint/2010/main" val="2863568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4B30-D405-18A5-0784-FE307221E654}"/>
              </a:ext>
            </a:extLst>
          </p:cNvPr>
          <p:cNvSpPr>
            <a:spLocks noGrp="1"/>
          </p:cNvSpPr>
          <p:nvPr>
            <p:ph type="title"/>
          </p:nvPr>
        </p:nvSpPr>
        <p:spPr>
          <a:xfrm>
            <a:off x="18574" y="-629264"/>
            <a:ext cx="8596668" cy="629264"/>
          </a:xfrm>
        </p:spPr>
        <p:txBody>
          <a:bodyPr>
            <a:normAutofit fontScale="90000"/>
          </a:bodyPr>
          <a:lstStyle/>
          <a:p>
            <a:endParaRPr lang="en-IN"/>
          </a:p>
        </p:txBody>
      </p:sp>
      <p:sp>
        <p:nvSpPr>
          <p:cNvPr id="3" name="Text Placeholder 2">
            <a:extLst>
              <a:ext uri="{FF2B5EF4-FFF2-40B4-BE49-F238E27FC236}">
                <a16:creationId xmlns:a16="http://schemas.microsoft.com/office/drawing/2014/main" id="{72323C20-24B6-BF5A-C3C8-F3AB2054F666}"/>
              </a:ext>
            </a:extLst>
          </p:cNvPr>
          <p:cNvSpPr>
            <a:spLocks noGrp="1"/>
          </p:cNvSpPr>
          <p:nvPr>
            <p:ph type="body" idx="1"/>
          </p:nvPr>
        </p:nvSpPr>
        <p:spPr>
          <a:xfrm>
            <a:off x="18574" y="0"/>
            <a:ext cx="10826408" cy="6858000"/>
          </a:xfrm>
        </p:spPr>
        <p:txBody>
          <a:bodyPr>
            <a:normAutofit fontScale="92500" lnSpcReduction="20000"/>
          </a:bodyPr>
          <a:lstStyle/>
          <a:p>
            <a:r>
              <a:rPr lang="en-US" sz="2400" b="1" dirty="0">
                <a:solidFill>
                  <a:srgbClr val="0070C0"/>
                </a:solidFill>
                <a:latin typeface="Century Schoolbook" panose="02040604050505020304" pitchFamily="18" charset="0"/>
              </a:rPr>
              <a:t>1. </a:t>
            </a:r>
            <a:r>
              <a:rPr lang="en-US" sz="2400" b="1" u="sng" dirty="0">
                <a:solidFill>
                  <a:srgbClr val="0070C0"/>
                </a:solidFill>
                <a:latin typeface="Century Schoolbook" panose="02040604050505020304" pitchFamily="18" charset="0"/>
              </a:rPr>
              <a:t>Client Infrastructure</a:t>
            </a:r>
            <a:r>
              <a:rPr lang="en-US" sz="2400" b="1" dirty="0">
                <a:solidFill>
                  <a:srgbClr val="0070C0"/>
                </a:solidFill>
                <a:latin typeface="Century Schoolbook" panose="02040604050505020304" pitchFamily="18" charset="0"/>
              </a:rPr>
              <a:t> : - </a:t>
            </a:r>
            <a:r>
              <a:rPr lang="en-US" sz="2200" b="1" dirty="0">
                <a:latin typeface="Century Schoolbook" panose="02040604050505020304" pitchFamily="18" charset="0"/>
              </a:rPr>
              <a:t>Client Infrastructure is a front end component. It provides GUI to interact with the cloud.</a:t>
            </a:r>
            <a:endParaRPr lang="en-US" b="1" dirty="0">
              <a:latin typeface="Century Schoolbook" panose="02040604050505020304" pitchFamily="18" charset="0"/>
            </a:endParaRPr>
          </a:p>
          <a:p>
            <a:r>
              <a:rPr lang="en-US" sz="2400" b="1" dirty="0">
                <a:solidFill>
                  <a:srgbClr val="0070C0"/>
                </a:solidFill>
                <a:latin typeface="Century Schoolbook" panose="02040604050505020304" pitchFamily="18" charset="0"/>
              </a:rPr>
              <a:t>2. </a:t>
            </a:r>
            <a:r>
              <a:rPr lang="en-US" sz="2400" b="1" u="sng" dirty="0">
                <a:solidFill>
                  <a:srgbClr val="0070C0"/>
                </a:solidFill>
                <a:latin typeface="Century Schoolbook" panose="02040604050505020304" pitchFamily="18" charset="0"/>
              </a:rPr>
              <a:t>Application</a:t>
            </a:r>
            <a:r>
              <a:rPr lang="en-US" sz="2400" b="1" dirty="0">
                <a:solidFill>
                  <a:srgbClr val="0070C0"/>
                </a:solidFill>
                <a:latin typeface="Century Schoolbook" panose="02040604050505020304" pitchFamily="18" charset="0"/>
              </a:rPr>
              <a:t> : - </a:t>
            </a:r>
            <a:r>
              <a:rPr lang="en-US" sz="2200" b="1" dirty="0">
                <a:latin typeface="Century Schoolbook" panose="02040604050505020304" pitchFamily="18" charset="0"/>
              </a:rPr>
              <a:t>The application may be any software or platform that a client wants to access.</a:t>
            </a:r>
            <a:endParaRPr lang="en-US" b="1" dirty="0">
              <a:latin typeface="Century Schoolbook" panose="02040604050505020304" pitchFamily="18" charset="0"/>
            </a:endParaRPr>
          </a:p>
          <a:p>
            <a:r>
              <a:rPr lang="en-US" sz="2400" b="1" dirty="0">
                <a:solidFill>
                  <a:srgbClr val="0070C0"/>
                </a:solidFill>
                <a:latin typeface="Century Schoolbook" panose="02040604050505020304" pitchFamily="18" charset="0"/>
              </a:rPr>
              <a:t>3. </a:t>
            </a:r>
            <a:r>
              <a:rPr lang="en-US" sz="2400" b="1" u="sng" dirty="0">
                <a:solidFill>
                  <a:srgbClr val="0070C0"/>
                </a:solidFill>
                <a:latin typeface="Century Schoolbook" panose="02040604050505020304" pitchFamily="18" charset="0"/>
              </a:rPr>
              <a:t>Service</a:t>
            </a:r>
            <a:r>
              <a:rPr lang="en-US" sz="2400" b="1" dirty="0">
                <a:solidFill>
                  <a:srgbClr val="0070C0"/>
                </a:solidFill>
                <a:latin typeface="Century Schoolbook" panose="02040604050505020304" pitchFamily="18" charset="0"/>
              </a:rPr>
              <a:t> : - </a:t>
            </a:r>
            <a:r>
              <a:rPr lang="en-US" sz="2200" b="1" dirty="0">
                <a:latin typeface="Century Schoolbook" panose="02040604050505020304" pitchFamily="18" charset="0"/>
              </a:rPr>
              <a:t>A Cloud Services manages that which type of service you access according to the client's requirement.</a:t>
            </a:r>
          </a:p>
          <a:p>
            <a:r>
              <a:rPr lang="en-US" sz="2400" b="1" dirty="0">
                <a:solidFill>
                  <a:srgbClr val="0070C0"/>
                </a:solidFill>
                <a:latin typeface="Century Schoolbook" panose="02040604050505020304" pitchFamily="18" charset="0"/>
              </a:rPr>
              <a:t>4. </a:t>
            </a:r>
            <a:r>
              <a:rPr lang="en-US" sz="2400" b="1" u="sng" dirty="0">
                <a:solidFill>
                  <a:srgbClr val="0070C0"/>
                </a:solidFill>
                <a:latin typeface="Century Schoolbook" panose="02040604050505020304" pitchFamily="18" charset="0"/>
              </a:rPr>
              <a:t>Runtime Cloud</a:t>
            </a:r>
            <a:r>
              <a:rPr lang="en-US" sz="2400" b="1" dirty="0">
                <a:solidFill>
                  <a:srgbClr val="0070C0"/>
                </a:solidFill>
                <a:latin typeface="Century Schoolbook" panose="02040604050505020304" pitchFamily="18" charset="0"/>
              </a:rPr>
              <a:t> : -</a:t>
            </a:r>
            <a:r>
              <a:rPr lang="en-US" b="1" dirty="0">
                <a:latin typeface="Century Schoolbook" panose="02040604050505020304" pitchFamily="18" charset="0"/>
              </a:rPr>
              <a:t> </a:t>
            </a:r>
            <a:r>
              <a:rPr lang="en-US" sz="2200" b="1" dirty="0">
                <a:latin typeface="Century Schoolbook" panose="02040604050505020304" pitchFamily="18" charset="0"/>
              </a:rPr>
              <a:t>Runtime Cloud provides the execution &amp; runtime environment to the virtual machines.</a:t>
            </a:r>
            <a:endParaRPr lang="en-US" b="1" dirty="0">
              <a:latin typeface="Century Schoolbook" panose="02040604050505020304" pitchFamily="18" charset="0"/>
            </a:endParaRPr>
          </a:p>
          <a:p>
            <a:r>
              <a:rPr lang="en-US" sz="2400" b="1" dirty="0">
                <a:solidFill>
                  <a:srgbClr val="0070C0"/>
                </a:solidFill>
                <a:latin typeface="Century Schoolbook" panose="02040604050505020304" pitchFamily="18" charset="0"/>
              </a:rPr>
              <a:t>5. </a:t>
            </a:r>
            <a:r>
              <a:rPr lang="en-US" sz="2400" b="1" u="sng" dirty="0">
                <a:solidFill>
                  <a:srgbClr val="0070C0"/>
                </a:solidFill>
                <a:latin typeface="Century Schoolbook" panose="02040604050505020304" pitchFamily="18" charset="0"/>
              </a:rPr>
              <a:t>Storage</a:t>
            </a:r>
            <a:r>
              <a:rPr lang="en-US" sz="2400" b="1" dirty="0">
                <a:solidFill>
                  <a:srgbClr val="0070C0"/>
                </a:solidFill>
                <a:latin typeface="Century Schoolbook" panose="02040604050505020304" pitchFamily="18" charset="0"/>
              </a:rPr>
              <a:t> : - </a:t>
            </a:r>
            <a:r>
              <a:rPr lang="en-US" sz="2400" b="1" dirty="0">
                <a:solidFill>
                  <a:schemeClr val="tx1">
                    <a:lumMod val="95000"/>
                    <a:lumOff val="5000"/>
                  </a:schemeClr>
                </a:solidFill>
                <a:latin typeface="Century Schoolbook" panose="02040604050505020304" pitchFamily="18" charset="0"/>
              </a:rPr>
              <a:t>S</a:t>
            </a:r>
            <a:r>
              <a:rPr lang="en-US" sz="2200" b="1" dirty="0">
                <a:latin typeface="Century Schoolbook" panose="02040604050505020304" pitchFamily="18" charset="0"/>
              </a:rPr>
              <a:t>torage is one of the most important components cloud computing. It provides a huge amount of storage capacity in the cloud to store and manage data.</a:t>
            </a:r>
            <a:endParaRPr lang="en-US" b="1" dirty="0">
              <a:latin typeface="Century Schoolbook" panose="02040604050505020304" pitchFamily="18" charset="0"/>
            </a:endParaRPr>
          </a:p>
          <a:p>
            <a:r>
              <a:rPr lang="en-US" sz="2400" b="1" dirty="0">
                <a:solidFill>
                  <a:srgbClr val="0070C0"/>
                </a:solidFill>
                <a:latin typeface="Century Schoolbook" panose="02040604050505020304" pitchFamily="18" charset="0"/>
              </a:rPr>
              <a:t>6. </a:t>
            </a:r>
            <a:r>
              <a:rPr lang="en-US" sz="2400" b="1" u="sng" dirty="0">
                <a:solidFill>
                  <a:srgbClr val="0070C0"/>
                </a:solidFill>
                <a:latin typeface="Century Schoolbook" panose="02040604050505020304" pitchFamily="18" charset="0"/>
              </a:rPr>
              <a:t>Infrastructure</a:t>
            </a:r>
            <a:r>
              <a:rPr lang="en-US" sz="2400" b="1" dirty="0">
                <a:solidFill>
                  <a:srgbClr val="0070C0"/>
                </a:solidFill>
                <a:latin typeface="Century Schoolbook" panose="02040604050505020304" pitchFamily="18" charset="0"/>
              </a:rPr>
              <a:t> : -</a:t>
            </a:r>
            <a:r>
              <a:rPr lang="en-US" b="1" dirty="0">
                <a:latin typeface="Century Schoolbook" panose="02040604050505020304" pitchFamily="18" charset="0"/>
              </a:rPr>
              <a:t> </a:t>
            </a:r>
            <a:r>
              <a:rPr lang="en-US" sz="2200" b="1" dirty="0">
                <a:latin typeface="Century Schoolbook" panose="02040604050505020304" pitchFamily="18" charset="0"/>
              </a:rPr>
              <a:t>It provides services on the host level, application level and network level. cloud infrastructure includes hardware &amp; software components such as servers, storage, network devices, virtualization software, and other storage resources that are needed to support the cloud computing model.</a:t>
            </a:r>
          </a:p>
          <a:p>
            <a:r>
              <a:rPr lang="en-US" sz="2400" b="1" dirty="0">
                <a:solidFill>
                  <a:srgbClr val="0070C0"/>
                </a:solidFill>
                <a:latin typeface="Century Schoolbook" panose="02040604050505020304" pitchFamily="18" charset="0"/>
              </a:rPr>
              <a:t>7. </a:t>
            </a:r>
            <a:r>
              <a:rPr lang="en-US" sz="2400" b="1" u="sng" dirty="0">
                <a:solidFill>
                  <a:srgbClr val="0070C0"/>
                </a:solidFill>
                <a:latin typeface="Century Schoolbook" panose="02040604050505020304" pitchFamily="18" charset="0"/>
              </a:rPr>
              <a:t>Management</a:t>
            </a:r>
            <a:r>
              <a:rPr lang="en-US" sz="2400" b="1" dirty="0">
                <a:solidFill>
                  <a:srgbClr val="0070C0"/>
                </a:solidFill>
                <a:latin typeface="Century Schoolbook" panose="02040604050505020304" pitchFamily="18" charset="0"/>
              </a:rPr>
              <a:t> : - </a:t>
            </a:r>
            <a:r>
              <a:rPr lang="en-US" sz="2200" b="1" dirty="0">
                <a:latin typeface="Century Schoolbook" panose="02040604050505020304" pitchFamily="18" charset="0"/>
              </a:rPr>
              <a:t>It manages components such as application, service, runtime cloud, storage, infrastructure, and other security issues in the backend and establish coordination between them.</a:t>
            </a:r>
          </a:p>
          <a:p>
            <a:r>
              <a:rPr lang="en-US" sz="2400" b="1" dirty="0">
                <a:solidFill>
                  <a:srgbClr val="0070C0"/>
                </a:solidFill>
                <a:latin typeface="Century Schoolbook" panose="02040604050505020304" pitchFamily="18" charset="0"/>
              </a:rPr>
              <a:t>8. </a:t>
            </a:r>
            <a:r>
              <a:rPr lang="en-US" sz="2400" b="1" u="sng" dirty="0">
                <a:solidFill>
                  <a:srgbClr val="0070C0"/>
                </a:solidFill>
                <a:latin typeface="Century Schoolbook" panose="02040604050505020304" pitchFamily="18" charset="0"/>
              </a:rPr>
              <a:t>Security</a:t>
            </a:r>
            <a:r>
              <a:rPr lang="en-US" sz="2400" b="1" dirty="0">
                <a:solidFill>
                  <a:srgbClr val="0070C0"/>
                </a:solidFill>
                <a:latin typeface="Century Schoolbook" panose="02040604050505020304" pitchFamily="18" charset="0"/>
              </a:rPr>
              <a:t> : - </a:t>
            </a:r>
            <a:r>
              <a:rPr lang="en-US" sz="2200" b="1" dirty="0">
                <a:latin typeface="Century Schoolbook" panose="02040604050505020304" pitchFamily="18" charset="0"/>
              </a:rPr>
              <a:t>Security is an in-built back end component of cloud computing. It implements a security mechanism in the back-end.</a:t>
            </a:r>
          </a:p>
          <a:p>
            <a:r>
              <a:rPr lang="en-US" sz="2400" b="1" dirty="0">
                <a:solidFill>
                  <a:srgbClr val="0070C0"/>
                </a:solidFill>
                <a:latin typeface="Century Schoolbook" panose="02040604050505020304" pitchFamily="18" charset="0"/>
              </a:rPr>
              <a:t>9. </a:t>
            </a:r>
            <a:r>
              <a:rPr lang="en-US" sz="2400" b="1" u="sng" dirty="0">
                <a:solidFill>
                  <a:srgbClr val="0070C0"/>
                </a:solidFill>
                <a:latin typeface="Century Schoolbook" panose="02040604050505020304" pitchFamily="18" charset="0"/>
              </a:rPr>
              <a:t>Internet</a:t>
            </a:r>
            <a:r>
              <a:rPr lang="en-US" sz="2400" b="1" dirty="0">
                <a:solidFill>
                  <a:srgbClr val="0070C0"/>
                </a:solidFill>
                <a:latin typeface="Century Schoolbook" panose="02040604050505020304" pitchFamily="18" charset="0"/>
              </a:rPr>
              <a:t> : - </a:t>
            </a:r>
            <a:r>
              <a:rPr lang="en-US" sz="2200" b="1" dirty="0">
                <a:latin typeface="Century Schoolbook" panose="02040604050505020304" pitchFamily="18" charset="0"/>
              </a:rPr>
              <a:t>It is a medium through which frontend and backend can interact of communicate with each other.</a:t>
            </a:r>
            <a:endParaRPr lang="en-IN" b="1" dirty="0">
              <a:latin typeface="Century Schoolbook" panose="02040604050505020304" pitchFamily="18" charset="0"/>
            </a:endParaRPr>
          </a:p>
        </p:txBody>
      </p:sp>
    </p:spTree>
    <p:extLst>
      <p:ext uri="{BB962C8B-B14F-4D97-AF65-F5344CB8AC3E}">
        <p14:creationId xmlns:p14="http://schemas.microsoft.com/office/powerpoint/2010/main" val="107023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E66A7-D68B-8DA0-966F-A9942CB94BBE}"/>
              </a:ext>
            </a:extLst>
          </p:cNvPr>
          <p:cNvSpPr>
            <a:spLocks noGrp="1"/>
          </p:cNvSpPr>
          <p:nvPr>
            <p:ph type="title"/>
          </p:nvPr>
        </p:nvSpPr>
        <p:spPr>
          <a:xfrm>
            <a:off x="-1" y="-137651"/>
            <a:ext cx="10589343" cy="816638"/>
          </a:xfrm>
        </p:spPr>
        <p:txBody>
          <a:bodyPr>
            <a:normAutofit fontScale="90000"/>
          </a:bodyPr>
          <a:lstStyle/>
          <a:p>
            <a:r>
              <a:rPr lang="en-US" dirty="0">
                <a:latin typeface="Algerian" panose="04020705040A02060702" pitchFamily="82" charset="0"/>
              </a:rPr>
              <a:t>1.6] </a:t>
            </a:r>
            <a:r>
              <a:rPr lang="en-US" u="sng" dirty="0">
                <a:latin typeface="Algerian" panose="04020705040A02060702" pitchFamily="82" charset="0"/>
              </a:rPr>
              <a:t>cloud computing infrastructure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CA35317-2132-0093-A2E0-CE9D12F9DE80}"/>
              </a:ext>
            </a:extLst>
          </p:cNvPr>
          <p:cNvSpPr>
            <a:spLocks noGrp="1"/>
          </p:cNvSpPr>
          <p:nvPr>
            <p:ph type="body" idx="1"/>
          </p:nvPr>
        </p:nvSpPr>
        <p:spPr>
          <a:xfrm>
            <a:off x="-1" y="372268"/>
            <a:ext cx="9824721" cy="6268065"/>
          </a:xfrm>
        </p:spPr>
        <p:txBody>
          <a:bodyPr>
            <a:normAutofit lnSpcReduction="10000"/>
          </a:bodyPr>
          <a:lstStyle/>
          <a:p>
            <a:pPr marL="342900" indent="-342900">
              <a:buFont typeface="Wingdings" panose="05000000000000000000" pitchFamily="2" charset="2"/>
              <a:buChar char="Ø"/>
            </a:pPr>
            <a:r>
              <a:rPr lang="en-US" sz="2400" b="1" dirty="0">
                <a:latin typeface="Century Schoolbook" panose="02040604050505020304" pitchFamily="18" charset="0"/>
              </a:rPr>
              <a:t>Cloud infrastructure which comes                                                      under the backend part of cloud                                                        architecture represents the hardware                                                     &amp; software components such as                                                                 server, storage, networking,                                                             management software, deployment                                                  software &amp; virtualization software.</a:t>
            </a:r>
          </a:p>
          <a:p>
            <a:pPr marL="342900" indent="-342900">
              <a:buFont typeface="Wingdings" panose="05000000000000000000" pitchFamily="2" charset="2"/>
              <a:buChar char="Ø"/>
            </a:pPr>
            <a:r>
              <a:rPr lang="en-US" sz="2400" b="1" dirty="0">
                <a:latin typeface="Century Schoolbook" panose="02040604050505020304" pitchFamily="18" charset="0"/>
              </a:rPr>
              <a:t>It is a collection of hardware and                                                             software elements needed to enable                                                              cloud computing.</a:t>
            </a:r>
          </a:p>
          <a:p>
            <a:pPr marL="342900" indent="-342900">
              <a:buFont typeface="Wingdings" panose="05000000000000000000" pitchFamily="2" charset="2"/>
              <a:buChar char="Ø"/>
            </a:pPr>
            <a:r>
              <a:rPr lang="en-US" sz="2400" b="1" dirty="0">
                <a:latin typeface="Century Schoolbook" panose="02040604050505020304" pitchFamily="18" charset="0"/>
              </a:rPr>
              <a:t>Cloud infrastructure has more capabilities of providing the same services as the physical infrastructure to the customers.</a:t>
            </a:r>
          </a:p>
          <a:p>
            <a:pPr marL="342900" indent="-342900">
              <a:buFont typeface="Wingdings" panose="05000000000000000000" pitchFamily="2" charset="2"/>
              <a:buChar char="Ø"/>
            </a:pPr>
            <a:r>
              <a:rPr lang="en-US" sz="2400" b="1" dirty="0">
                <a:latin typeface="Century Schoolbook" panose="02040604050505020304" pitchFamily="18" charset="0"/>
              </a:rPr>
              <a:t>It is available for private cloud, public cloud and </a:t>
            </a:r>
            <a:r>
              <a:rPr lang="en-US" sz="2400" b="1" dirty="0" err="1">
                <a:latin typeface="Century Schoolbook" panose="02040604050505020304" pitchFamily="18" charset="0"/>
              </a:rPr>
              <a:t>hybald</a:t>
            </a:r>
            <a:r>
              <a:rPr lang="en-US" sz="2400" b="1" dirty="0">
                <a:latin typeface="Century Schoolbook" panose="02040604050505020304" pitchFamily="18" charset="0"/>
              </a:rPr>
              <a:t> cloud systems with low cost, greater flexibility and scalability.</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CE8DF79C-48B9-DA7A-059E-DA24C7AAC121}"/>
              </a:ext>
            </a:extLst>
          </p:cNvPr>
          <p:cNvPicPr>
            <a:picLocks noChangeAspect="1"/>
          </p:cNvPicPr>
          <p:nvPr/>
        </p:nvPicPr>
        <p:blipFill>
          <a:blip r:embed="rId2"/>
          <a:stretch>
            <a:fillRect/>
          </a:stretch>
        </p:blipFill>
        <p:spPr>
          <a:xfrm>
            <a:off x="6441440" y="816638"/>
            <a:ext cx="5560547" cy="3322608"/>
          </a:xfrm>
          <a:prstGeom prst="rect">
            <a:avLst/>
          </a:prstGeom>
        </p:spPr>
      </p:pic>
    </p:spTree>
    <p:extLst>
      <p:ext uri="{BB962C8B-B14F-4D97-AF65-F5344CB8AC3E}">
        <p14:creationId xmlns:p14="http://schemas.microsoft.com/office/powerpoint/2010/main" val="3418419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A25CC-2907-2A31-AAC4-596631DA5BAA}"/>
              </a:ext>
            </a:extLst>
          </p:cNvPr>
          <p:cNvSpPr>
            <a:spLocks noGrp="1"/>
          </p:cNvSpPr>
          <p:nvPr>
            <p:ph type="title"/>
          </p:nvPr>
        </p:nvSpPr>
        <p:spPr>
          <a:xfrm>
            <a:off x="0" y="222170"/>
            <a:ext cx="10424160" cy="3403600"/>
          </a:xfrm>
        </p:spPr>
        <p:txBody>
          <a:bodyPr>
            <a:normAutofit fontScale="90000"/>
          </a:bodyPr>
          <a:lstStyle/>
          <a:p>
            <a:r>
              <a:rPr lang="en-US" dirty="0">
                <a:latin typeface="Algerian" panose="04020705040A02060702" pitchFamily="82" charset="0"/>
              </a:rPr>
              <a:t>1. </a:t>
            </a:r>
            <a:r>
              <a:rPr lang="en-US" u="sng" dirty="0">
                <a:latin typeface="Algerian" panose="04020705040A02060702" pitchFamily="82" charset="0"/>
              </a:rPr>
              <a:t>Hypervisor</a:t>
            </a:r>
            <a:r>
              <a:rPr lang="en-US" dirty="0">
                <a:latin typeface="Algerian" panose="04020705040A02060702" pitchFamily="82" charset="0"/>
              </a:rPr>
              <a:t> : -</a:t>
            </a:r>
            <a:br>
              <a:rPr lang="en-US" dirty="0">
                <a:latin typeface="Algerian" panose="04020705040A02060702" pitchFamily="82" charset="0"/>
              </a:rPr>
            </a:br>
            <a:r>
              <a:rPr lang="en-US" sz="2700" b="1" dirty="0">
                <a:solidFill>
                  <a:schemeClr val="tx1">
                    <a:lumMod val="95000"/>
                    <a:lumOff val="5000"/>
                  </a:schemeClr>
                </a:solidFill>
                <a:latin typeface="Century Schoolbook" panose="02040604050505020304" pitchFamily="18" charset="0"/>
              </a:rPr>
              <a:t>i) Hypervisor is a firmware or a low level program which is a key to enable virtualization.</a:t>
            </a:r>
            <a:br>
              <a:rPr lang="en-US" sz="2700" b="1" dirty="0">
                <a:solidFill>
                  <a:schemeClr val="tx1">
                    <a:lumMod val="95000"/>
                    <a:lumOff val="5000"/>
                  </a:schemeClr>
                </a:solidFill>
                <a:latin typeface="Century Schoolbook" panose="02040604050505020304" pitchFamily="18" charset="0"/>
              </a:rPr>
            </a:br>
            <a:r>
              <a:rPr lang="en-US" sz="2700" b="1" dirty="0">
                <a:solidFill>
                  <a:schemeClr val="tx1">
                    <a:lumMod val="95000"/>
                    <a:lumOff val="5000"/>
                  </a:schemeClr>
                </a:solidFill>
                <a:latin typeface="Century Schoolbook" panose="02040604050505020304" pitchFamily="18" charset="0"/>
              </a:rPr>
              <a:t>ii) It is used to divide and allocate cloud resources between several customers.</a:t>
            </a:r>
            <a:br>
              <a:rPr lang="en-US" sz="2700" b="1" dirty="0">
                <a:solidFill>
                  <a:schemeClr val="tx1">
                    <a:lumMod val="95000"/>
                    <a:lumOff val="5000"/>
                  </a:schemeClr>
                </a:solidFill>
                <a:latin typeface="Century Schoolbook" panose="02040604050505020304" pitchFamily="18" charset="0"/>
              </a:rPr>
            </a:br>
            <a:r>
              <a:rPr lang="en-US" sz="2700" b="1" dirty="0">
                <a:solidFill>
                  <a:schemeClr val="tx1">
                    <a:lumMod val="95000"/>
                    <a:lumOff val="5000"/>
                  </a:schemeClr>
                </a:solidFill>
                <a:latin typeface="Century Schoolbook" panose="02040604050505020304" pitchFamily="18" charset="0"/>
              </a:rPr>
              <a:t>iii) As it monitors and manages cloud services, Hypervisor is called as VMM (Virtual Machine Monitor) or (Virtual Machine Manager).</a:t>
            </a:r>
            <a:br>
              <a:rPr lang="en-US" sz="2700" b="1" dirty="0">
                <a:solidFill>
                  <a:schemeClr val="tx1">
                    <a:lumMod val="95000"/>
                    <a:lumOff val="5000"/>
                  </a:schemeClr>
                </a:solidFill>
                <a:latin typeface="Century Schoolbook" panose="02040604050505020304" pitchFamily="18" charset="0"/>
              </a:rPr>
            </a:br>
            <a:endParaRPr lang="en-IN" b="1" dirty="0">
              <a:solidFill>
                <a:schemeClr val="tx1">
                  <a:lumMod val="95000"/>
                  <a:lumOff val="5000"/>
                </a:schemeClr>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868C6D67-6BA6-FDBF-295E-81ED4C08C6D1}"/>
              </a:ext>
            </a:extLst>
          </p:cNvPr>
          <p:cNvSpPr>
            <a:spLocks noGrp="1"/>
          </p:cNvSpPr>
          <p:nvPr>
            <p:ph type="body" idx="1"/>
          </p:nvPr>
        </p:nvSpPr>
        <p:spPr>
          <a:xfrm>
            <a:off x="0" y="2931289"/>
            <a:ext cx="10424160" cy="3052822"/>
          </a:xfrm>
        </p:spPr>
        <p:txBody>
          <a:bodyPr>
            <a:normAutofit/>
          </a:bodyPr>
          <a:lstStyle/>
          <a:p>
            <a:r>
              <a:rPr lang="en-US" sz="4000" dirty="0">
                <a:solidFill>
                  <a:srgbClr val="0070C0"/>
                </a:solidFill>
                <a:latin typeface="Algerian" panose="04020705040A02060702" pitchFamily="82" charset="0"/>
              </a:rPr>
              <a:t>2. </a:t>
            </a:r>
            <a:r>
              <a:rPr lang="en-US" sz="4000" u="sng" dirty="0">
                <a:solidFill>
                  <a:srgbClr val="0070C0"/>
                </a:solidFill>
                <a:latin typeface="Algerian" panose="04020705040A02060702" pitchFamily="82" charset="0"/>
              </a:rPr>
              <a:t>Management Software</a:t>
            </a:r>
            <a:r>
              <a:rPr lang="en-US" sz="4000" dirty="0">
                <a:solidFill>
                  <a:srgbClr val="0070C0"/>
                </a:solidFill>
                <a:latin typeface="Algerian" panose="04020705040A02060702" pitchFamily="82" charset="0"/>
              </a:rPr>
              <a:t> : -</a:t>
            </a:r>
          </a:p>
          <a:p>
            <a:r>
              <a:rPr lang="en-US" sz="2400" b="1" dirty="0">
                <a:latin typeface="Century Schoolbook" panose="02040604050505020304" pitchFamily="18" charset="0"/>
              </a:rPr>
              <a:t>i) Management software helps in maintaining and configuring the infrastructure.</a:t>
            </a:r>
          </a:p>
          <a:p>
            <a:r>
              <a:rPr lang="en-US" sz="2400" b="1" dirty="0">
                <a:latin typeface="Century Schoolbook" panose="02040604050505020304" pitchFamily="18" charset="0"/>
              </a:rPr>
              <a:t>ii) It monitors and optimizes resources, data, applications and services.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590613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8E15-CF52-E377-BC5E-75B740F1BF7D}"/>
              </a:ext>
            </a:extLst>
          </p:cNvPr>
          <p:cNvSpPr>
            <a:spLocks noGrp="1"/>
          </p:cNvSpPr>
          <p:nvPr>
            <p:ph type="title"/>
          </p:nvPr>
        </p:nvSpPr>
        <p:spPr>
          <a:xfrm>
            <a:off x="29153" y="14468"/>
            <a:ext cx="9612558" cy="2589836"/>
          </a:xfrm>
        </p:spPr>
        <p:txBody>
          <a:bodyPr>
            <a:noAutofit/>
          </a:bodyPr>
          <a:lstStyle/>
          <a:p>
            <a:r>
              <a:rPr lang="en-US" sz="4000" dirty="0">
                <a:latin typeface="Algerian" panose="04020705040A02060702" pitchFamily="82" charset="0"/>
              </a:rPr>
              <a:t>3. </a:t>
            </a:r>
            <a:r>
              <a:rPr lang="en-US" sz="4000" u="sng" dirty="0">
                <a:latin typeface="Algerian" panose="04020705040A02060702" pitchFamily="82" charset="0"/>
              </a:rPr>
              <a:t>Deployment Software</a:t>
            </a:r>
            <a:r>
              <a:rPr lang="en-US" sz="4000" dirty="0">
                <a:latin typeface="Algerian" panose="04020705040A02060702" pitchFamily="82" charset="0"/>
              </a:rPr>
              <a:t> : -</a:t>
            </a:r>
            <a:br>
              <a:rPr lang="en-US" sz="4000" dirty="0">
                <a:latin typeface="Algerian" panose="04020705040A02060702" pitchFamily="82" charset="0"/>
              </a:rPr>
            </a:br>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Deployment software helps in deploying and integrating</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the application on the cloud.</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ii) So, typically it helps in building a virtual computing</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environment.</a:t>
            </a:r>
            <a:br>
              <a:rPr lang="en-US" sz="2400" b="1" dirty="0">
                <a:solidFill>
                  <a:schemeClr val="tx1">
                    <a:lumMod val="95000"/>
                    <a:lumOff val="5000"/>
                  </a:schemeClr>
                </a:solidFill>
                <a:latin typeface="Century Schoolbook" panose="02040604050505020304" pitchFamily="18" charset="0"/>
              </a:rPr>
            </a:br>
            <a:endParaRPr lang="en-IN" sz="2400" b="1" dirty="0">
              <a:solidFill>
                <a:schemeClr val="tx1">
                  <a:lumMod val="95000"/>
                  <a:lumOff val="5000"/>
                </a:schemeClr>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C3B126B8-918D-C09C-425D-26DBC1C1DCFC}"/>
              </a:ext>
            </a:extLst>
          </p:cNvPr>
          <p:cNvSpPr>
            <a:spLocks noGrp="1"/>
          </p:cNvSpPr>
          <p:nvPr>
            <p:ph type="body" idx="1"/>
          </p:nvPr>
        </p:nvSpPr>
        <p:spPr>
          <a:xfrm>
            <a:off x="0" y="1724628"/>
            <a:ext cx="9780608" cy="3854369"/>
          </a:xfrm>
        </p:spPr>
        <p:txBody>
          <a:bodyPr>
            <a:normAutofit/>
          </a:bodyPr>
          <a:lstStyle/>
          <a:p>
            <a:endParaRPr lang="en-US" dirty="0"/>
          </a:p>
          <a:p>
            <a:r>
              <a:rPr lang="en-US" sz="4000" dirty="0">
                <a:solidFill>
                  <a:srgbClr val="0070C0"/>
                </a:solidFill>
                <a:latin typeface="Algerian" panose="04020705040A02060702" pitchFamily="82" charset="0"/>
              </a:rPr>
              <a:t>4. </a:t>
            </a:r>
            <a:r>
              <a:rPr lang="en-US" sz="4000" u="sng" dirty="0">
                <a:solidFill>
                  <a:srgbClr val="0070C0"/>
                </a:solidFill>
                <a:latin typeface="Algerian" panose="04020705040A02060702" pitchFamily="82" charset="0"/>
              </a:rPr>
              <a:t>Network</a:t>
            </a:r>
            <a:r>
              <a:rPr lang="en-US" sz="4000" dirty="0">
                <a:solidFill>
                  <a:srgbClr val="0070C0"/>
                </a:solidFill>
                <a:latin typeface="Algerian" panose="04020705040A02060702" pitchFamily="82"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It is one of the key components of cloud infrastructure which is responsible for connecting cloud services over the internet.</a:t>
            </a:r>
          </a:p>
          <a:p>
            <a:r>
              <a:rPr lang="en-US" sz="2400" b="1" dirty="0">
                <a:latin typeface="Century Schoolbook" panose="02040604050505020304" pitchFamily="18" charset="0"/>
              </a:rPr>
              <a:t>ii) It is also possible to deliver network as a utility over the Internet, which means, the customer can customize the network route and protocol.</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836669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0C8F-078B-E2D9-DF30-7E58818F9C44}"/>
              </a:ext>
            </a:extLst>
          </p:cNvPr>
          <p:cNvSpPr>
            <a:spLocks noGrp="1"/>
          </p:cNvSpPr>
          <p:nvPr>
            <p:ph type="title"/>
          </p:nvPr>
        </p:nvSpPr>
        <p:spPr>
          <a:xfrm>
            <a:off x="-1" y="256894"/>
            <a:ext cx="9525965" cy="3403600"/>
          </a:xfrm>
        </p:spPr>
        <p:txBody>
          <a:bodyPr>
            <a:noAutofit/>
          </a:bodyPr>
          <a:lstStyle/>
          <a:p>
            <a:r>
              <a:rPr lang="en-US" sz="4000" dirty="0">
                <a:latin typeface="Algerian" panose="04020705040A02060702" pitchFamily="82" charset="0"/>
              </a:rPr>
              <a:t>5. </a:t>
            </a:r>
            <a:r>
              <a:rPr lang="en-US" sz="4000" u="sng" dirty="0">
                <a:latin typeface="Algerian" panose="04020705040A02060702" pitchFamily="82" charset="0"/>
              </a:rPr>
              <a:t>Server</a:t>
            </a:r>
            <a:r>
              <a:rPr lang="en-US" sz="4000" dirty="0">
                <a:latin typeface="Algerian" panose="04020705040A02060702" pitchFamily="82" charset="0"/>
              </a:rPr>
              <a:t> : -</a:t>
            </a:r>
            <a:br>
              <a:rPr lang="en-US" sz="4000" dirty="0">
                <a:latin typeface="Algerian" panose="04020705040A02060702" pitchFamily="82" charset="0"/>
              </a:rPr>
            </a:br>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server is responsible for managing and delivering cloud</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services for various services and partners, maintaining</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security, etc.</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ii) The server helps to compute the resource sharing and offers other services such as resource allocation &amp; de-allocation, etc.</a:t>
            </a:r>
            <a:br>
              <a:rPr lang="en-US" sz="2400" b="1" dirty="0">
                <a:solidFill>
                  <a:schemeClr val="tx1">
                    <a:lumMod val="95000"/>
                    <a:lumOff val="5000"/>
                  </a:schemeClr>
                </a:solidFill>
                <a:latin typeface="Century Schoolbook" panose="02040604050505020304" pitchFamily="18" charset="0"/>
              </a:rPr>
            </a:br>
            <a:br>
              <a:rPr lang="en-US" sz="2400" b="1" dirty="0">
                <a:latin typeface="Century Schoolbook" panose="02040604050505020304" pitchFamily="18" charset="0"/>
              </a:rPr>
            </a:br>
            <a:endParaRPr lang="en-IN" sz="24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9489CA42-B506-8FC3-BC41-5355053672F3}"/>
              </a:ext>
            </a:extLst>
          </p:cNvPr>
          <p:cNvSpPr>
            <a:spLocks noGrp="1"/>
          </p:cNvSpPr>
          <p:nvPr>
            <p:ph type="body" idx="1"/>
          </p:nvPr>
        </p:nvSpPr>
        <p:spPr>
          <a:xfrm>
            <a:off x="-1" y="2271532"/>
            <a:ext cx="9274004" cy="3787815"/>
          </a:xfrm>
        </p:spPr>
        <p:txBody>
          <a:bodyPr>
            <a:normAutofit fontScale="47500" lnSpcReduction="20000"/>
          </a:bodyPr>
          <a:lstStyle/>
          <a:p>
            <a:endParaRPr lang="en-US" dirty="0"/>
          </a:p>
          <a:p>
            <a:endParaRPr lang="en-US" dirty="0"/>
          </a:p>
          <a:p>
            <a:r>
              <a:rPr lang="en-US" sz="8400" dirty="0">
                <a:solidFill>
                  <a:srgbClr val="0070C0"/>
                </a:solidFill>
                <a:latin typeface="Algerian" panose="04020705040A02060702" pitchFamily="82" charset="0"/>
              </a:rPr>
              <a:t>6. </a:t>
            </a:r>
            <a:r>
              <a:rPr lang="en-US" sz="8400" u="sng" dirty="0">
                <a:solidFill>
                  <a:srgbClr val="0070C0"/>
                </a:solidFill>
                <a:latin typeface="Algerian" panose="04020705040A02060702" pitchFamily="82" charset="0"/>
              </a:rPr>
              <a:t>Storage</a:t>
            </a:r>
            <a:r>
              <a:rPr lang="en-US" sz="8400" dirty="0">
                <a:solidFill>
                  <a:srgbClr val="0070C0"/>
                </a:solidFill>
                <a:latin typeface="Algerian" panose="04020705040A02060702" pitchFamily="82" charset="0"/>
              </a:rPr>
              <a:t> : -</a:t>
            </a:r>
          </a:p>
          <a:p>
            <a:r>
              <a:rPr lang="en-US" sz="5100" b="1" dirty="0" err="1">
                <a:latin typeface="Century Schoolbook" panose="02040604050505020304" pitchFamily="18" charset="0"/>
              </a:rPr>
              <a:t>i</a:t>
            </a:r>
            <a:r>
              <a:rPr lang="en-US" sz="5100" b="1" dirty="0">
                <a:latin typeface="Century Schoolbook" panose="02040604050505020304" pitchFamily="18" charset="0"/>
              </a:rPr>
              <a:t>) storage provides storing and managing data.</a:t>
            </a:r>
          </a:p>
          <a:p>
            <a:r>
              <a:rPr lang="en-US" sz="5100" b="1" dirty="0">
                <a:latin typeface="Century Schoolbook" panose="02040604050505020304" pitchFamily="18" charset="0"/>
              </a:rPr>
              <a:t>ii) Cloud Keeps multiple replicas of storage. If one of the</a:t>
            </a:r>
          </a:p>
          <a:p>
            <a:r>
              <a:rPr lang="en-US" sz="5100" b="1" dirty="0">
                <a:latin typeface="Century Schoolbook" panose="02040604050505020304" pitchFamily="18" charset="0"/>
              </a:rPr>
              <a:t>storage resources fails, then it can be extracted from</a:t>
            </a:r>
          </a:p>
          <a:p>
            <a:r>
              <a:rPr lang="en-US" sz="5100" b="1" dirty="0">
                <a:latin typeface="Century Schoolbook" panose="02040604050505020304" pitchFamily="18" charset="0"/>
              </a:rPr>
              <a:t>another one, which makes cloud computing more reliable.</a:t>
            </a:r>
            <a:endParaRPr lang="en-IN" sz="2900" b="1" dirty="0">
              <a:latin typeface="Century Schoolbook" panose="02040604050505020304" pitchFamily="18" charset="0"/>
            </a:endParaRPr>
          </a:p>
        </p:txBody>
      </p:sp>
    </p:spTree>
    <p:extLst>
      <p:ext uri="{BB962C8B-B14F-4D97-AF65-F5344CB8AC3E}">
        <p14:creationId xmlns:p14="http://schemas.microsoft.com/office/powerpoint/2010/main" val="928224572"/>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CC_Chapter_No_01</Template>
  <TotalTime>1</TotalTime>
  <Words>2538</Words>
  <Application>Microsoft Office PowerPoint</Application>
  <PresentationFormat>Widescreen</PresentationFormat>
  <Paragraphs>144</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Algerian</vt:lpstr>
      <vt:lpstr>Arial</vt:lpstr>
      <vt:lpstr>Century Schoolbook</vt:lpstr>
      <vt:lpstr>Trebuchet MS</vt:lpstr>
      <vt:lpstr>Wingdings</vt:lpstr>
      <vt:lpstr>Wingdings 3</vt:lpstr>
      <vt:lpstr>Facet</vt:lpstr>
      <vt:lpstr>01. fundamentals of cloud computing </vt:lpstr>
      <vt:lpstr>1.1] define cloud computing : -</vt:lpstr>
      <vt:lpstr>Essential characteristics of cloud computing : -</vt:lpstr>
      <vt:lpstr>1.2] cloud deployment model : -</vt:lpstr>
      <vt:lpstr>Public cloud : -</vt:lpstr>
      <vt:lpstr>Private cloud : -</vt:lpstr>
      <vt:lpstr>Communiity cloud : -</vt:lpstr>
      <vt:lpstr>Hybrid cloud : -</vt:lpstr>
      <vt:lpstr>1.3] cloud service models : -</vt:lpstr>
      <vt:lpstr>1. Iaas (infrastructure-as-a-service) : -</vt:lpstr>
      <vt:lpstr>Paas (platform-as-a-service) : -</vt:lpstr>
      <vt:lpstr>saas (Software-as-a-service) : -</vt:lpstr>
      <vt:lpstr>1.4] cloud economics &amp; benefits : -</vt:lpstr>
      <vt:lpstr>1. Cost models : -</vt:lpstr>
      <vt:lpstr>2. Cost management &amp; optimization : -</vt:lpstr>
      <vt:lpstr>3. Total Cost of ownership (TCO) : - a) Direct Costs : - Expenses for cloud services, including computing, storage and data transfer. b) Indirect Costs : - Costs related to training, migration, compliance and security.  </vt:lpstr>
      <vt:lpstr>Benefits : -</vt:lpstr>
      <vt:lpstr>1.5] architecture of cloud computing : -</vt:lpstr>
      <vt:lpstr>PowerPoint Presentation</vt:lpstr>
      <vt:lpstr>PowerPoint Presentation</vt:lpstr>
      <vt:lpstr>1.6] cloud computing infrastructure : -</vt:lpstr>
      <vt:lpstr>1. Hypervisor : - i) Hypervisor is a firmware or a low level program which is a key to enable virtualization. ii) It is used to divide and allocate cloud resources between several customers. iii) As it monitors and manages cloud services, Hypervisor is called as VMM (Virtual Machine Monitor) or (Virtual Machine Manager). </vt:lpstr>
      <vt:lpstr>3. Deployment Software : - i) Deployment software helps in deploying and integrating the application on the cloud. ii) So, typically it helps in building a virtual computing environment. </vt:lpstr>
      <vt:lpstr>5. Server : - i) server is responsible for managing and delivering cloud services for various services and partners, maintaining security, etc. ii) The server helps to compute the resource sharing and offers other services such as resource allocation &amp; de-allocation, etc.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1</cp:revision>
  <dcterms:created xsi:type="dcterms:W3CDTF">2025-10-31T19:23:16Z</dcterms:created>
  <dcterms:modified xsi:type="dcterms:W3CDTF">2025-10-31T19:24:36Z</dcterms:modified>
</cp:coreProperties>
</file>