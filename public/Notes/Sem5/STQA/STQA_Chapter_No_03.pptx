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66"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9E9BFA-3D72-49B8-8D64-FB3A01856E0A}" v="1" dt="2025-10-27T14:43:45.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8826BF-8A18-4F0F-9A34-2AC425734B52}"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97A8C-770E-4AD5-8FB3-0A632518A825}" type="slidenum">
              <a:rPr lang="en-IN" smtClean="0"/>
              <a:t>‹#›</a:t>
            </a:fld>
            <a:endParaRPr lang="en-IN"/>
          </a:p>
        </p:txBody>
      </p:sp>
    </p:spTree>
    <p:extLst>
      <p:ext uri="{BB962C8B-B14F-4D97-AF65-F5344CB8AC3E}">
        <p14:creationId xmlns:p14="http://schemas.microsoft.com/office/powerpoint/2010/main" val="1891333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B97A8C-770E-4AD5-8FB3-0A632518A825}" type="slidenum">
              <a:rPr lang="en-IN" smtClean="0"/>
              <a:t>19</a:t>
            </a:fld>
            <a:endParaRPr lang="en-IN"/>
          </a:p>
        </p:txBody>
      </p:sp>
    </p:spTree>
    <p:extLst>
      <p:ext uri="{BB962C8B-B14F-4D97-AF65-F5344CB8AC3E}">
        <p14:creationId xmlns:p14="http://schemas.microsoft.com/office/powerpoint/2010/main" val="1183990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endParaRPr lang="en-IN" dirty="0"/>
          </a:p>
        </p:txBody>
      </p:sp>
      <p:sp>
        <p:nvSpPr>
          <p:cNvPr id="4" name="Slide Number Placeholder 3"/>
          <p:cNvSpPr>
            <a:spLocks noGrp="1"/>
          </p:cNvSpPr>
          <p:nvPr>
            <p:ph type="sldNum" sz="quarter" idx="5"/>
          </p:nvPr>
        </p:nvSpPr>
        <p:spPr/>
        <p:txBody>
          <a:bodyPr/>
          <a:lstStyle/>
          <a:p>
            <a:fld id="{2DB97A8C-770E-4AD5-8FB3-0A632518A825}" type="slidenum">
              <a:rPr lang="en-IN" smtClean="0"/>
              <a:t>21</a:t>
            </a:fld>
            <a:endParaRPr lang="en-IN"/>
          </a:p>
        </p:txBody>
      </p:sp>
    </p:spTree>
    <p:extLst>
      <p:ext uri="{BB962C8B-B14F-4D97-AF65-F5344CB8AC3E}">
        <p14:creationId xmlns:p14="http://schemas.microsoft.com/office/powerpoint/2010/main" val="1348480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B97A8C-770E-4AD5-8FB3-0A632518A825}" type="slidenum">
              <a:rPr lang="en-IN" smtClean="0"/>
              <a:t>36</a:t>
            </a:fld>
            <a:endParaRPr lang="en-IN"/>
          </a:p>
        </p:txBody>
      </p:sp>
    </p:spTree>
    <p:extLst>
      <p:ext uri="{BB962C8B-B14F-4D97-AF65-F5344CB8AC3E}">
        <p14:creationId xmlns:p14="http://schemas.microsoft.com/office/powerpoint/2010/main" val="444703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16E5-39AD-8972-5067-978E6935C767}"/>
              </a:ext>
            </a:extLst>
          </p:cNvPr>
          <p:cNvSpPr>
            <a:spLocks noGrp="1"/>
          </p:cNvSpPr>
          <p:nvPr>
            <p:ph type="ctrTitle"/>
          </p:nvPr>
        </p:nvSpPr>
        <p:spPr>
          <a:xfrm>
            <a:off x="245806" y="1436600"/>
            <a:ext cx="11543071" cy="2959509"/>
          </a:xfrm>
        </p:spPr>
        <p:txBody>
          <a:bodyPr>
            <a:normAutofit/>
          </a:bodyPr>
          <a:lstStyle/>
          <a:p>
            <a:pPr algn="ctr"/>
            <a:r>
              <a:rPr lang="en-US" sz="7200" dirty="0">
                <a:solidFill>
                  <a:srgbClr val="FFFF00"/>
                </a:solidFill>
                <a:latin typeface="Algerian" panose="04020705040A02060702" pitchFamily="82" charset="0"/>
              </a:rPr>
              <a:t>03. Levels of testing </a:t>
            </a:r>
            <a:br>
              <a:rPr lang="en-US" sz="7200" dirty="0">
                <a:solidFill>
                  <a:srgbClr val="FFFF00"/>
                </a:solidFill>
                <a:latin typeface="Algerian" panose="04020705040A02060702" pitchFamily="82" charset="0"/>
              </a:rPr>
            </a:br>
            <a:r>
              <a:rPr lang="en-US" sz="7200" dirty="0">
                <a:solidFill>
                  <a:srgbClr val="FFFF00"/>
                </a:solidFill>
                <a:latin typeface="Algerian" panose="04020705040A02060702" pitchFamily="82" charset="0"/>
              </a:rPr>
              <a:t>&amp; special tests</a:t>
            </a:r>
            <a:endParaRPr lang="en-IN" sz="72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44AB4E67-5662-5A7E-149D-6F8A54BD7BE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47142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E1B2-8178-F9E7-43F6-22404E229D5E}"/>
              </a:ext>
            </a:extLst>
          </p:cNvPr>
          <p:cNvSpPr>
            <a:spLocks noGrp="1"/>
          </p:cNvSpPr>
          <p:nvPr>
            <p:ph type="title"/>
          </p:nvPr>
        </p:nvSpPr>
        <p:spPr>
          <a:xfrm>
            <a:off x="0" y="-80387"/>
            <a:ext cx="10131427" cy="919315"/>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Unit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8E77C20C-2F85-DF15-C7AB-7CD097D50DC4}"/>
              </a:ext>
            </a:extLst>
          </p:cNvPr>
          <p:cNvSpPr>
            <a:spLocks noGrp="1"/>
          </p:cNvSpPr>
          <p:nvPr>
            <p:ph type="body" idx="1"/>
          </p:nvPr>
        </p:nvSpPr>
        <p:spPr>
          <a:xfrm>
            <a:off x="0" y="1685027"/>
            <a:ext cx="12192000" cy="3072579"/>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Unit testing is a type of software testing                                                                where individual units (individual function,                                                                                            method, procedure, module or object) of a                                                               software are tested.</a:t>
            </a:r>
          </a:p>
          <a:p>
            <a:pPr marL="342900" indent="-342900">
              <a:buFont typeface="Wingdings" panose="05000000000000000000" pitchFamily="2" charset="2"/>
              <a:buChar char="Ø"/>
            </a:pPr>
            <a:r>
              <a:rPr lang="en-US" sz="2400" b="1" dirty="0">
                <a:latin typeface="Century Schoolbook" panose="02040604050505020304" pitchFamily="18" charset="0"/>
              </a:rPr>
              <a:t>The purpose is to validate that each unit of                                                                    the software code performs as expected.</a:t>
            </a:r>
          </a:p>
          <a:p>
            <a:pPr marL="342900" indent="-342900">
              <a:buFont typeface="Wingdings" panose="05000000000000000000" pitchFamily="2" charset="2"/>
              <a:buChar char="Ø"/>
            </a:pPr>
            <a:r>
              <a:rPr lang="en-US" sz="2400" b="1" dirty="0">
                <a:latin typeface="Century Schoolbook" panose="02040604050505020304" pitchFamily="18" charset="0"/>
              </a:rPr>
              <a:t>Unit Testing is done during the development                                                            (coding phase) of an application by the                                                              developers.</a:t>
            </a:r>
          </a:p>
          <a:p>
            <a:pPr marL="342900" indent="-342900">
              <a:buFont typeface="Wingdings" panose="05000000000000000000" pitchFamily="2" charset="2"/>
              <a:buChar char="Ø"/>
            </a:pPr>
            <a:r>
              <a:rPr lang="en-US" sz="2400" b="1" dirty="0">
                <a:latin typeface="Century Schoolbook" panose="02040604050505020304" pitchFamily="18" charset="0"/>
              </a:rPr>
              <a:t>Unit testing, also known as Component Testing.</a:t>
            </a:r>
          </a:p>
          <a:p>
            <a:pPr marL="342900" indent="-342900">
              <a:buFont typeface="Wingdings" panose="05000000000000000000" pitchFamily="2" charset="2"/>
              <a:buChar char="Ø"/>
            </a:pPr>
            <a:r>
              <a:rPr lang="en-US" sz="2400" b="1" dirty="0">
                <a:latin typeface="Century Schoolbook" panose="02040604050505020304" pitchFamily="18" charset="0"/>
              </a:rPr>
              <a:t>In a testing level hierarchy, unit testing is the first level of testing done before integration and other remaining levels of the testing.</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F7896E87-36F5-AD15-9635-7BB5963CA87B}"/>
              </a:ext>
            </a:extLst>
          </p:cNvPr>
          <p:cNvPicPr>
            <a:picLocks noChangeAspect="1"/>
          </p:cNvPicPr>
          <p:nvPr/>
        </p:nvPicPr>
        <p:blipFill>
          <a:blip r:embed="rId2"/>
          <a:stretch>
            <a:fillRect/>
          </a:stretch>
        </p:blipFill>
        <p:spPr>
          <a:xfrm>
            <a:off x="7697036" y="716551"/>
            <a:ext cx="4371035" cy="3645514"/>
          </a:xfrm>
          <a:prstGeom prst="rect">
            <a:avLst/>
          </a:prstGeom>
        </p:spPr>
      </p:pic>
    </p:spTree>
    <p:extLst>
      <p:ext uri="{BB962C8B-B14F-4D97-AF65-F5344CB8AC3E}">
        <p14:creationId xmlns:p14="http://schemas.microsoft.com/office/powerpoint/2010/main" val="254215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8CAFD-FDA1-E707-064E-E7D7F20A7A2C}"/>
              </a:ext>
            </a:extLst>
          </p:cNvPr>
          <p:cNvSpPr>
            <a:spLocks noGrp="1"/>
          </p:cNvSpPr>
          <p:nvPr>
            <p:ph type="title"/>
          </p:nvPr>
        </p:nvSpPr>
        <p:spPr>
          <a:xfrm>
            <a:off x="0" y="-123927"/>
            <a:ext cx="10131427" cy="909374"/>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Stubs &amp; drivers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903D500-69D0-702D-0325-00B192C28587}"/>
              </a:ext>
            </a:extLst>
          </p:cNvPr>
          <p:cNvSpPr>
            <a:spLocks noGrp="1"/>
          </p:cNvSpPr>
          <p:nvPr>
            <p:ph type="body" idx="1"/>
          </p:nvPr>
        </p:nvSpPr>
        <p:spPr>
          <a:xfrm>
            <a:off x="0" y="200967"/>
            <a:ext cx="12192000" cy="4547956"/>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Stubs and drivers are the dummy programs in integration testing used to facilitate the software testing activity.</a:t>
            </a:r>
          </a:p>
          <a:p>
            <a:pPr marL="457200" indent="-457200">
              <a:buFont typeface="Wingdings" panose="05000000000000000000" pitchFamily="2" charset="2"/>
              <a:buChar char="Ø"/>
            </a:pPr>
            <a:r>
              <a:rPr lang="en-US" sz="2400" b="1" dirty="0">
                <a:latin typeface="Century Schoolbook" panose="02040604050505020304" pitchFamily="18" charset="0"/>
              </a:rPr>
              <a:t>These programs act as a substitutes for missing modules in the testing.</a:t>
            </a:r>
          </a:p>
          <a:p>
            <a:pPr marL="457200" indent="-457200">
              <a:buFont typeface="Wingdings" panose="05000000000000000000" pitchFamily="2" charset="2"/>
              <a:buChar char="Ø"/>
            </a:pPr>
            <a:r>
              <a:rPr lang="en-US" sz="2400" b="1" dirty="0">
                <a:latin typeface="Century Schoolbook" panose="02040604050505020304" pitchFamily="18" charset="0"/>
              </a:rPr>
              <a:t>They do not implement the entire programming logic of + module but they simulate data communication with the calling module while testing.</a:t>
            </a:r>
          </a:p>
          <a:p>
            <a:pPr marL="457200" indent="-457200">
              <a:buFont typeface="Wingdings" panose="05000000000000000000" pitchFamily="2" charset="2"/>
              <a:buChar char="Ø"/>
            </a:pPr>
            <a:r>
              <a:rPr lang="en-US" sz="2800" b="1" u="sng" dirty="0">
                <a:solidFill>
                  <a:srgbClr val="FFFF00"/>
                </a:solidFill>
                <a:latin typeface="Century Schoolbook" panose="02040604050505020304" pitchFamily="18" charset="0"/>
              </a:rPr>
              <a:t>Stubs</a:t>
            </a:r>
            <a:r>
              <a:rPr lang="en-US" sz="2400" b="1" dirty="0">
                <a:latin typeface="Century Schoolbook" panose="02040604050505020304" pitchFamily="18" charset="0"/>
              </a:rPr>
              <a:t> - called by the module under test.</a:t>
            </a:r>
          </a:p>
          <a:p>
            <a:pPr marL="457200" indent="-457200">
              <a:buFont typeface="Wingdings" panose="05000000000000000000" pitchFamily="2" charset="2"/>
              <a:buChar char="Ø"/>
            </a:pPr>
            <a:r>
              <a:rPr lang="en-US" sz="2800" b="1" u="sng" dirty="0">
                <a:solidFill>
                  <a:srgbClr val="FFFF00"/>
                </a:solidFill>
                <a:latin typeface="Century Schoolbook" panose="02040604050505020304" pitchFamily="18" charset="0"/>
              </a:rPr>
              <a:t>Drivers</a:t>
            </a:r>
            <a:r>
              <a:rPr lang="en-US" sz="2400" b="1" dirty="0">
                <a:latin typeface="Century Schoolbook" panose="02040604050505020304" pitchFamily="18" charset="0"/>
              </a:rPr>
              <a:t> - calls the module to be tested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029666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082F-A2BC-8697-528D-8975260B03DF}"/>
              </a:ext>
            </a:extLst>
          </p:cNvPr>
          <p:cNvSpPr>
            <a:spLocks noGrp="1"/>
          </p:cNvSpPr>
          <p:nvPr>
            <p:ph type="title"/>
          </p:nvPr>
        </p:nvSpPr>
        <p:spPr>
          <a:xfrm>
            <a:off x="46704" y="78660"/>
            <a:ext cx="12066638" cy="766915"/>
          </a:xfrm>
        </p:spPr>
        <p:txBody>
          <a:bodyPr>
            <a:no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err="1">
                <a:solidFill>
                  <a:srgbClr val="FFFF00"/>
                </a:solidFill>
                <a:latin typeface="Algerian" panose="04020705040A02060702" pitchFamily="82" charset="0"/>
              </a:rPr>
              <a:t>Differnce</a:t>
            </a:r>
            <a:r>
              <a:rPr lang="en-US" sz="4000" u="sng" dirty="0">
                <a:solidFill>
                  <a:srgbClr val="FFFF00"/>
                </a:solidFill>
                <a:latin typeface="Algerian" panose="04020705040A02060702" pitchFamily="82" charset="0"/>
              </a:rPr>
              <a:t> between stubs &amp; drivers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29804E4-E440-D713-7028-890E0829B68D}"/>
              </a:ext>
            </a:extLst>
          </p:cNvPr>
          <p:cNvSpPr>
            <a:spLocks noGrp="1"/>
          </p:cNvSpPr>
          <p:nvPr>
            <p:ph type="body" idx="1"/>
          </p:nvPr>
        </p:nvSpPr>
        <p:spPr>
          <a:xfrm>
            <a:off x="125362" y="914399"/>
            <a:ext cx="11987980" cy="5864941"/>
          </a:xfrm>
        </p:spPr>
        <p:txBody>
          <a:bodyPr/>
          <a:lstStyle/>
          <a:p>
            <a:endParaRPr lang="en-IN" dirty="0"/>
          </a:p>
        </p:txBody>
      </p:sp>
      <p:pic>
        <p:nvPicPr>
          <p:cNvPr id="5" name="Picture 4">
            <a:extLst>
              <a:ext uri="{FF2B5EF4-FFF2-40B4-BE49-F238E27FC236}">
                <a16:creationId xmlns:a16="http://schemas.microsoft.com/office/drawing/2014/main" id="{8B485319-9477-3651-E351-DFC2306DC9E2}"/>
              </a:ext>
            </a:extLst>
          </p:cNvPr>
          <p:cNvPicPr>
            <a:picLocks noChangeAspect="1"/>
          </p:cNvPicPr>
          <p:nvPr/>
        </p:nvPicPr>
        <p:blipFill>
          <a:blip r:embed="rId2"/>
          <a:stretch>
            <a:fillRect/>
          </a:stretch>
        </p:blipFill>
        <p:spPr>
          <a:xfrm>
            <a:off x="345348" y="1012723"/>
            <a:ext cx="11469350" cy="5509603"/>
          </a:xfrm>
          <a:prstGeom prst="rect">
            <a:avLst/>
          </a:prstGeom>
        </p:spPr>
      </p:pic>
    </p:spTree>
    <p:extLst>
      <p:ext uri="{BB962C8B-B14F-4D97-AF65-F5344CB8AC3E}">
        <p14:creationId xmlns:p14="http://schemas.microsoft.com/office/powerpoint/2010/main" val="322558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3B84-C8DE-FFEF-D6C5-C20E6E6EF0EE}"/>
              </a:ext>
            </a:extLst>
          </p:cNvPr>
          <p:cNvSpPr>
            <a:spLocks noGrp="1"/>
          </p:cNvSpPr>
          <p:nvPr>
            <p:ph type="title"/>
          </p:nvPr>
        </p:nvSpPr>
        <p:spPr>
          <a:xfrm>
            <a:off x="0" y="-117986"/>
            <a:ext cx="10131427" cy="845574"/>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Integration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364D25E-92AA-CF69-D338-FE8B393EE94C}"/>
              </a:ext>
            </a:extLst>
          </p:cNvPr>
          <p:cNvSpPr>
            <a:spLocks noGrp="1"/>
          </p:cNvSpPr>
          <p:nvPr>
            <p:ph type="body" idx="1"/>
          </p:nvPr>
        </p:nvSpPr>
        <p:spPr>
          <a:xfrm>
            <a:off x="98322" y="479322"/>
            <a:ext cx="11641393" cy="4771103"/>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Integration testing is defined as a type of testing where software modules are integrated logically and tested as a group.</a:t>
            </a:r>
          </a:p>
          <a:p>
            <a:pPr marL="457200" indent="-457200">
              <a:buFont typeface="Wingdings" panose="05000000000000000000" pitchFamily="2" charset="2"/>
              <a:buChar char="Ø"/>
            </a:pPr>
            <a:r>
              <a:rPr lang="en-US" sz="2400" b="1" dirty="0">
                <a:latin typeface="Century Schoolbook" panose="02040604050505020304" pitchFamily="18" charset="0"/>
              </a:rPr>
              <a:t>The purpose of this level of testing is to expose defects in the interaction between these software modules when they are integrated.</a:t>
            </a:r>
          </a:p>
          <a:p>
            <a:pPr marL="457200" indent="-457200">
              <a:buFont typeface="Wingdings" panose="05000000000000000000" pitchFamily="2" charset="2"/>
              <a:buChar char="Ø"/>
            </a:pPr>
            <a:r>
              <a:rPr lang="en-US" sz="2400" b="1" dirty="0">
                <a:latin typeface="Century Schoolbook" panose="02040604050505020304" pitchFamily="18" charset="0"/>
              </a:rPr>
              <a:t>Integration testing is the second level of the software testing process comes after unit testing, unit testing uses modules for testing purpose, and these modules are combined and tested in integration testing.</a:t>
            </a:r>
          </a:p>
          <a:p>
            <a:pPr marL="457200" indent="-457200">
              <a:buFont typeface="Wingdings" panose="05000000000000000000" pitchFamily="2" charset="2"/>
              <a:buChar char="Ø"/>
            </a:pPr>
            <a:r>
              <a:rPr lang="en-US" sz="2400" b="1" dirty="0">
                <a:latin typeface="Century Schoolbook" panose="02040604050505020304" pitchFamily="18" charset="0"/>
              </a:rPr>
              <a:t>The goal of integration testing is to check the correctness of communication among all the modules.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23529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07929-9EB4-8757-E34D-E4BF99D0C316}"/>
              </a:ext>
            </a:extLst>
          </p:cNvPr>
          <p:cNvSpPr>
            <a:spLocks noGrp="1"/>
          </p:cNvSpPr>
          <p:nvPr>
            <p:ph type="title"/>
          </p:nvPr>
        </p:nvSpPr>
        <p:spPr>
          <a:xfrm>
            <a:off x="0" y="-19512"/>
            <a:ext cx="11938818" cy="796412"/>
          </a:xfrm>
        </p:spPr>
        <p:txBody>
          <a:bodyPr>
            <a:noAutofit/>
          </a:bodyPr>
          <a:lstStyle/>
          <a:p>
            <a:pPr marL="571500" indent="-571500">
              <a:buFont typeface="Wingdings" panose="05000000000000000000" pitchFamily="2" charset="2"/>
              <a:buChar char="v"/>
            </a:pPr>
            <a:r>
              <a:rPr lang="en-US" sz="4800" u="sng" dirty="0">
                <a:solidFill>
                  <a:srgbClr val="FFFF00"/>
                </a:solidFill>
                <a:latin typeface="Algerian" panose="04020705040A02060702" pitchFamily="82" charset="0"/>
              </a:rPr>
              <a:t>Types of integration tasting</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86BED4A-980F-F736-5F7D-0BEB211BF0C8}"/>
              </a:ext>
            </a:extLst>
          </p:cNvPr>
          <p:cNvSpPr>
            <a:spLocks noGrp="1"/>
          </p:cNvSpPr>
          <p:nvPr>
            <p:ph type="body" idx="1"/>
          </p:nvPr>
        </p:nvSpPr>
        <p:spPr>
          <a:xfrm>
            <a:off x="125361" y="1049593"/>
            <a:ext cx="11938819" cy="5680585"/>
          </a:xfrm>
        </p:spPr>
        <p:txBody>
          <a:bodyPr/>
          <a:lstStyle/>
          <a:p>
            <a:endParaRPr lang="en-IN" dirty="0"/>
          </a:p>
        </p:txBody>
      </p:sp>
      <p:pic>
        <p:nvPicPr>
          <p:cNvPr id="5" name="Picture 4">
            <a:extLst>
              <a:ext uri="{FF2B5EF4-FFF2-40B4-BE49-F238E27FC236}">
                <a16:creationId xmlns:a16="http://schemas.microsoft.com/office/drawing/2014/main" id="{ED0DE55E-A0AE-1E30-D023-14CC24C86726}"/>
              </a:ext>
            </a:extLst>
          </p:cNvPr>
          <p:cNvPicPr>
            <a:picLocks noChangeAspect="1"/>
          </p:cNvPicPr>
          <p:nvPr/>
        </p:nvPicPr>
        <p:blipFill>
          <a:blip r:embed="rId2"/>
          <a:stretch>
            <a:fillRect/>
          </a:stretch>
        </p:blipFill>
        <p:spPr>
          <a:xfrm>
            <a:off x="757084" y="1049593"/>
            <a:ext cx="10648334" cy="5267634"/>
          </a:xfrm>
          <a:prstGeom prst="rect">
            <a:avLst/>
          </a:prstGeom>
        </p:spPr>
      </p:pic>
    </p:spTree>
    <p:extLst>
      <p:ext uri="{BB962C8B-B14F-4D97-AF65-F5344CB8AC3E}">
        <p14:creationId xmlns:p14="http://schemas.microsoft.com/office/powerpoint/2010/main" val="406312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15FB8-14E2-883E-A391-F214415537B3}"/>
              </a:ext>
            </a:extLst>
          </p:cNvPr>
          <p:cNvSpPr>
            <a:spLocks noGrp="1"/>
          </p:cNvSpPr>
          <p:nvPr>
            <p:ph type="title"/>
          </p:nvPr>
        </p:nvSpPr>
        <p:spPr>
          <a:xfrm>
            <a:off x="0" y="-88489"/>
            <a:ext cx="10131427" cy="806245"/>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Incremental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5E56D29-490B-0921-2A10-04CD518C68D7}"/>
              </a:ext>
            </a:extLst>
          </p:cNvPr>
          <p:cNvSpPr>
            <a:spLocks noGrp="1"/>
          </p:cNvSpPr>
          <p:nvPr>
            <p:ph type="body" idx="1"/>
          </p:nvPr>
        </p:nvSpPr>
        <p:spPr>
          <a:xfrm>
            <a:off x="0" y="462117"/>
            <a:ext cx="11879826" cy="5680587"/>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Incremental Testing is performed by connecting two or more modules together that are logically related and testing them before integrating with next modules. </a:t>
            </a:r>
          </a:p>
          <a:p>
            <a:pPr marL="457200" indent="-457200">
              <a:buFont typeface="Wingdings" panose="05000000000000000000" pitchFamily="2" charset="2"/>
              <a:buChar char="Ø"/>
            </a:pPr>
            <a:r>
              <a:rPr lang="en-US" sz="2400" b="1" dirty="0">
                <a:latin typeface="Century Schoolbook" panose="02040604050505020304" pitchFamily="18" charset="0"/>
              </a:rPr>
              <a:t>This approach helps identify and fix errors early, isolate faults and monitor the integration process.</a:t>
            </a:r>
          </a:p>
          <a:p>
            <a:pPr marL="457200" indent="-457200">
              <a:buFont typeface="Wingdings" panose="05000000000000000000" pitchFamily="2" charset="2"/>
              <a:buChar char="Ø"/>
            </a:pPr>
            <a:r>
              <a:rPr lang="en-US" sz="2400" b="1" dirty="0">
                <a:latin typeface="Century Schoolbook" panose="02040604050505020304" pitchFamily="18" charset="0"/>
              </a:rPr>
              <a:t>In this type of testing, there is a strong relationship between the dependent modules, suppose we take two or more modules and verify that the data flow between the is working fine. If it is then add more modules and test again.</a:t>
            </a:r>
          </a:p>
          <a:p>
            <a:pPr marL="457200" indent="-457200">
              <a:buFont typeface="Wingdings" panose="05000000000000000000" pitchFamily="2" charset="2"/>
              <a:buChar char="Ø"/>
            </a:pPr>
            <a:r>
              <a:rPr lang="en-US" sz="2400" b="1" dirty="0">
                <a:latin typeface="Century Schoolbook" panose="02040604050505020304" pitchFamily="18" charset="0"/>
              </a:rPr>
              <a:t>It is a method of testing often used in Agile projects where a module is tested, then integrated with another module.</a:t>
            </a:r>
          </a:p>
          <a:p>
            <a:pPr marL="457200" indent="-457200">
              <a:buFont typeface="Wingdings" panose="05000000000000000000" pitchFamily="2" charset="2"/>
              <a:buChar char="Ø"/>
            </a:pPr>
            <a:r>
              <a:rPr lang="en-US" sz="2400" b="1" dirty="0">
                <a:latin typeface="Century Schoolbook" panose="02040604050505020304" pitchFamily="18" charset="0"/>
              </a:rPr>
              <a:t>It's further divided into Top-Down Approach Bottom-up Approach and sandwich Approach</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250847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28FF0-4D66-392F-C933-A53030A732A5}"/>
              </a:ext>
            </a:extLst>
          </p:cNvPr>
          <p:cNvSpPr>
            <a:spLocks noGrp="1"/>
          </p:cNvSpPr>
          <p:nvPr>
            <p:ph type="title"/>
          </p:nvPr>
        </p:nvSpPr>
        <p:spPr>
          <a:xfrm>
            <a:off x="0" y="-78658"/>
            <a:ext cx="11882282" cy="816076"/>
          </a:xfrm>
        </p:spPr>
        <p:txBody>
          <a:bodyPr>
            <a:noAutofit/>
          </a:bodyPr>
          <a:lstStyle/>
          <a:p>
            <a:r>
              <a:rPr lang="en-US" sz="4400" dirty="0">
                <a:solidFill>
                  <a:srgbClr val="FFFF00"/>
                </a:solidFill>
                <a:latin typeface="Algerian" panose="04020705040A02060702" pitchFamily="82" charset="0"/>
              </a:rPr>
              <a:t>1. </a:t>
            </a:r>
            <a:r>
              <a:rPr lang="en-US" sz="4400" u="sng" dirty="0">
                <a:solidFill>
                  <a:srgbClr val="FFFF00"/>
                </a:solidFill>
                <a:latin typeface="Algerian" panose="04020705040A02060702" pitchFamily="82" charset="0"/>
              </a:rPr>
              <a:t>top – down integration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4F9670F-7BFC-D803-705D-3D06B877104B}"/>
              </a:ext>
            </a:extLst>
          </p:cNvPr>
          <p:cNvSpPr>
            <a:spLocks noGrp="1"/>
          </p:cNvSpPr>
          <p:nvPr>
            <p:ph type="body" idx="1"/>
          </p:nvPr>
        </p:nvSpPr>
        <p:spPr>
          <a:xfrm>
            <a:off x="9832" y="513736"/>
            <a:ext cx="12192000" cy="5404743"/>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It is a type of incremental integration                                                                                 testing in which testing is done by                                                                                      integrating or joining two or more                                                                                       modules by moving from top to                                                                                 bottom through the control flow of                                                                                       the architecture.</a:t>
            </a:r>
          </a:p>
          <a:p>
            <a:pPr marL="457200" indent="-457200">
              <a:buFont typeface="Wingdings" panose="05000000000000000000" pitchFamily="2" charset="2"/>
              <a:buChar char="Ø"/>
            </a:pPr>
            <a:r>
              <a:rPr lang="en-US" sz="2400" b="1" dirty="0">
                <a:latin typeface="Century Schoolbook" panose="02040604050505020304" pitchFamily="18" charset="0"/>
              </a:rPr>
              <a:t>High level modules are tested first,                                                                                             &amp; then low-level modules are tested.</a:t>
            </a:r>
          </a:p>
          <a:p>
            <a:pPr marL="457200" indent="-457200">
              <a:buFont typeface="Wingdings" panose="05000000000000000000" pitchFamily="2" charset="2"/>
              <a:buChar char="Ø"/>
            </a:pPr>
            <a:r>
              <a:rPr lang="en-US" sz="2400" b="1" dirty="0">
                <a:latin typeface="Century Schoolbook" panose="02040604050505020304" pitchFamily="18" charset="0"/>
              </a:rPr>
              <a:t>As there is a possibility that the lower level modules might not have been developed while top modules are tested, stubs are used instead of those not ready module.</a:t>
            </a:r>
          </a:p>
          <a:p>
            <a:pPr marL="457200" indent="-457200">
              <a:buFont typeface="Wingdings" panose="05000000000000000000" pitchFamily="2" charset="2"/>
              <a:buChar char="Ø"/>
            </a:pPr>
            <a:r>
              <a:rPr lang="en-US" sz="2400" b="1" dirty="0">
                <a:latin typeface="Century Schoolbook" panose="02040604050505020304" pitchFamily="18" charset="0"/>
              </a:rPr>
              <a:t>Major design flaws can be detected and fixed early because </a:t>
            </a:r>
            <a:r>
              <a:rPr lang="en-US" sz="2400" b="1" dirty="0" err="1">
                <a:latin typeface="Century Schoolbook" panose="02040604050505020304" pitchFamily="18" charset="0"/>
              </a:rPr>
              <a:t>vitical</a:t>
            </a:r>
            <a:r>
              <a:rPr lang="en-US" sz="2400" b="1" dirty="0">
                <a:latin typeface="Century Schoolbook" panose="02040604050505020304" pitchFamily="18" charset="0"/>
              </a:rPr>
              <a:t> modules are tested first.</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4EC128D0-3683-15E0-C5B3-89BF380C36B8}"/>
              </a:ext>
            </a:extLst>
          </p:cNvPr>
          <p:cNvPicPr>
            <a:picLocks noChangeAspect="1"/>
          </p:cNvPicPr>
          <p:nvPr/>
        </p:nvPicPr>
        <p:blipFill>
          <a:blip r:embed="rId2"/>
          <a:stretch>
            <a:fillRect/>
          </a:stretch>
        </p:blipFill>
        <p:spPr>
          <a:xfrm>
            <a:off x="6601767" y="737418"/>
            <a:ext cx="5440290" cy="2990520"/>
          </a:xfrm>
          <a:prstGeom prst="rect">
            <a:avLst/>
          </a:prstGeom>
        </p:spPr>
      </p:pic>
    </p:spTree>
    <p:extLst>
      <p:ext uri="{BB962C8B-B14F-4D97-AF65-F5344CB8AC3E}">
        <p14:creationId xmlns:p14="http://schemas.microsoft.com/office/powerpoint/2010/main" val="59890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6F8F-318E-2965-008A-13FA4BAA1C23}"/>
              </a:ext>
            </a:extLst>
          </p:cNvPr>
          <p:cNvSpPr>
            <a:spLocks noGrp="1"/>
          </p:cNvSpPr>
          <p:nvPr>
            <p:ph type="title"/>
          </p:nvPr>
        </p:nvSpPr>
        <p:spPr>
          <a:xfrm>
            <a:off x="0" y="-688259"/>
            <a:ext cx="11965858" cy="570272"/>
          </a:xfrm>
        </p:spPr>
        <p:txBody>
          <a:bodyPr>
            <a:normAutofit fontScale="90000"/>
          </a:bodyPr>
          <a:lstStyle/>
          <a:p>
            <a:pPr marL="571500" indent="-571500">
              <a:buFont typeface="Wingdings" panose="05000000000000000000" pitchFamily="2" charset="2"/>
              <a:buChar char="v"/>
            </a:pPr>
            <a:endParaRPr lang="en-IN" sz="3600" b="1" dirty="0">
              <a:latin typeface="Algerian" panose="04020705040A02060702" pitchFamily="82" charset="0"/>
            </a:endParaRPr>
          </a:p>
        </p:txBody>
      </p:sp>
      <p:sp>
        <p:nvSpPr>
          <p:cNvPr id="3" name="Text Placeholder 2">
            <a:extLst>
              <a:ext uri="{FF2B5EF4-FFF2-40B4-BE49-F238E27FC236}">
                <a16:creationId xmlns:a16="http://schemas.microsoft.com/office/drawing/2014/main" id="{88F48A67-DFFB-B997-1ACF-F606023D8E26}"/>
              </a:ext>
            </a:extLst>
          </p:cNvPr>
          <p:cNvSpPr>
            <a:spLocks noGrp="1"/>
          </p:cNvSpPr>
          <p:nvPr>
            <p:ph type="body" idx="1"/>
          </p:nvPr>
        </p:nvSpPr>
        <p:spPr>
          <a:xfrm>
            <a:off x="124133" y="0"/>
            <a:ext cx="11965858" cy="4650658"/>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Advantages</a:t>
            </a:r>
            <a:r>
              <a:rPr lang="en-US" sz="4400" dirty="0">
                <a:solidFill>
                  <a:srgbClr val="FFFF00"/>
                </a:solidFill>
                <a:latin typeface="Algerian" panose="04020705040A02060702" pitchFamily="82" charset="0"/>
              </a:rPr>
              <a:t> : -</a:t>
            </a:r>
            <a:endParaRPr lang="en-US" sz="6000" dirty="0">
              <a:solidFill>
                <a:srgbClr val="FFFF00"/>
              </a:solidFill>
              <a:latin typeface="Algerian" panose="04020705040A02060702" pitchFamily="82" charset="0"/>
            </a:endParaRPr>
          </a:p>
          <a:p>
            <a:pPr marL="457200" indent="-457200">
              <a:buAutoNum type="arabicPeriod"/>
            </a:pPr>
            <a:r>
              <a:rPr lang="en-US" sz="2400" b="1" dirty="0">
                <a:latin typeface="Century Schoolbook" panose="02040604050505020304" pitchFamily="18" charset="0"/>
              </a:rPr>
              <a:t>Fault localization is easier.</a:t>
            </a:r>
          </a:p>
          <a:p>
            <a:pPr marL="457200" indent="-457200">
              <a:buAutoNum type="arabicPeriod"/>
            </a:pPr>
            <a:r>
              <a:rPr lang="en-US" sz="2400" b="1" dirty="0">
                <a:latin typeface="Century Schoolbook" panose="02040604050505020304" pitchFamily="18" charset="0"/>
              </a:rPr>
              <a:t>The test product is extremely consistent.</a:t>
            </a:r>
          </a:p>
          <a:p>
            <a:pPr marL="457200" indent="-457200">
              <a:buAutoNum type="arabicPeriod"/>
            </a:pPr>
            <a:r>
              <a:rPr lang="en-US" sz="2400" b="1" dirty="0">
                <a:latin typeface="Century Schoolbook" panose="02040604050505020304" pitchFamily="18" charset="0"/>
              </a:rPr>
              <a:t>Critical modules are tested on priority.</a:t>
            </a:r>
          </a:p>
          <a:p>
            <a:pPr marL="571500" indent="-571500">
              <a:buFont typeface="Wingdings" panose="05000000000000000000" pitchFamily="2" charset="2"/>
              <a:buChar char="v"/>
            </a:pPr>
            <a:r>
              <a:rPr lang="en-US" sz="4400" u="sng" dirty="0" err="1">
                <a:solidFill>
                  <a:srgbClr val="FFFF00"/>
                </a:solidFill>
                <a:latin typeface="Algerian" panose="04020705040A02060702" pitchFamily="82" charset="0"/>
              </a:rPr>
              <a:t>disAdvantages</a:t>
            </a:r>
            <a:r>
              <a:rPr lang="en-US" sz="4400" dirty="0">
                <a:solidFill>
                  <a:srgbClr val="FFFF00"/>
                </a:solidFill>
                <a:latin typeface="Algerian" panose="04020705040A02060702" pitchFamily="82" charset="0"/>
              </a:rPr>
              <a:t> : -</a:t>
            </a:r>
            <a:r>
              <a:rPr lang="en-US" sz="3200" dirty="0">
                <a:solidFill>
                  <a:srgbClr val="FFFF00"/>
                </a:solidFill>
                <a:latin typeface="Century Schoolbook" panose="02040604050505020304" pitchFamily="18" charset="0"/>
              </a:rPr>
              <a:t>     </a:t>
            </a:r>
          </a:p>
          <a:p>
            <a:pPr marL="457200" indent="-457200">
              <a:buAutoNum type="arabicPeriod"/>
            </a:pPr>
            <a:r>
              <a:rPr lang="en-US" sz="2400" b="1" dirty="0">
                <a:latin typeface="Century Schoolbook" panose="02040604050505020304" pitchFamily="18" charset="0"/>
              </a:rPr>
              <a:t>Requires several stubs.</a:t>
            </a:r>
            <a:endParaRPr lang="en-US" sz="2400" b="1" dirty="0">
              <a:solidFill>
                <a:srgbClr val="FFFF00"/>
              </a:solidFill>
              <a:latin typeface="Century Schoolbook" panose="02040604050505020304" pitchFamily="18" charset="0"/>
            </a:endParaRPr>
          </a:p>
          <a:p>
            <a:pPr marL="457200" indent="-457200">
              <a:buAutoNum type="arabicPeriod"/>
            </a:pPr>
            <a:r>
              <a:rPr lang="en-US" sz="2400" b="1" dirty="0">
                <a:latin typeface="Century Schoolbook" panose="02040604050505020304" pitchFamily="18" charset="0"/>
              </a:rPr>
              <a:t>Poor supports for early release.</a:t>
            </a:r>
          </a:p>
          <a:p>
            <a:pPr marL="457200" indent="-457200">
              <a:buAutoNum type="arabicPeriod"/>
            </a:pPr>
            <a:r>
              <a:rPr lang="en-US" sz="2400" b="1" dirty="0">
                <a:latin typeface="Century Schoolbook" panose="02040604050505020304" pitchFamily="18" charset="0"/>
              </a:rPr>
              <a:t>Basic functionality is tested at the end of the cycle</a:t>
            </a:r>
            <a:r>
              <a:rPr lang="en-US" sz="3200" b="1" dirty="0">
                <a:latin typeface="Century Schoolbook" panose="02040604050505020304" pitchFamily="18" charset="0"/>
              </a:rPr>
              <a:t>.</a:t>
            </a:r>
            <a:endParaRPr lang="en-US" sz="3200" dirty="0">
              <a:latin typeface="Century Schoolbook" panose="02040604050505020304" pitchFamily="18" charset="0"/>
            </a:endParaRPr>
          </a:p>
        </p:txBody>
      </p:sp>
    </p:spTree>
    <p:extLst>
      <p:ext uri="{BB962C8B-B14F-4D97-AF65-F5344CB8AC3E}">
        <p14:creationId xmlns:p14="http://schemas.microsoft.com/office/powerpoint/2010/main" val="2414540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72015-2DDA-D09A-0030-3A3A586E8FAD}"/>
              </a:ext>
            </a:extLst>
          </p:cNvPr>
          <p:cNvSpPr>
            <a:spLocks noGrp="1"/>
          </p:cNvSpPr>
          <p:nvPr>
            <p:ph type="title"/>
          </p:nvPr>
        </p:nvSpPr>
        <p:spPr>
          <a:xfrm>
            <a:off x="0" y="-167147"/>
            <a:ext cx="11899489" cy="929148"/>
          </a:xfrm>
        </p:spPr>
        <p:txBody>
          <a:bodyPr>
            <a:normAutofit/>
          </a:bodyPr>
          <a:lstStyle/>
          <a:p>
            <a:r>
              <a:rPr lang="en-US" sz="4400" dirty="0">
                <a:solidFill>
                  <a:srgbClr val="FFFF00"/>
                </a:solidFill>
                <a:latin typeface="Algerian" panose="04020705040A02060702" pitchFamily="82" charset="0"/>
              </a:rPr>
              <a:t>2. </a:t>
            </a:r>
            <a:r>
              <a:rPr lang="en-US" sz="4400" u="sng" dirty="0">
                <a:solidFill>
                  <a:srgbClr val="FFFF00"/>
                </a:solidFill>
                <a:latin typeface="Algerian" panose="04020705040A02060702" pitchFamily="82" charset="0"/>
              </a:rPr>
              <a:t>Bottom – up integration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375FFA8-678D-2370-1556-0ABD06C51BBB}"/>
              </a:ext>
            </a:extLst>
          </p:cNvPr>
          <p:cNvSpPr>
            <a:spLocks noGrp="1"/>
          </p:cNvSpPr>
          <p:nvPr>
            <p:ph type="body" idx="1"/>
          </p:nvPr>
        </p:nvSpPr>
        <p:spPr>
          <a:xfrm>
            <a:off x="1" y="430161"/>
            <a:ext cx="12027308" cy="5213556"/>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bottom-up approach starts                                                                                        with testing the lowest units of the                                                                                                     application and gradually moving                                                                                      up one-by-one through the control                                                                   flow of structure.</a:t>
            </a:r>
          </a:p>
          <a:p>
            <a:pPr marL="342900" indent="-342900">
              <a:buFont typeface="Wingdings" panose="05000000000000000000" pitchFamily="2" charset="2"/>
              <a:buChar char="Ø"/>
            </a:pPr>
            <a:r>
              <a:rPr lang="en-US" sz="2400" b="1" dirty="0">
                <a:latin typeface="Century Schoolbook" panose="02040604050505020304" pitchFamily="18" charset="0"/>
              </a:rPr>
              <a:t>Low level modules are tested first                                                                                  and then high-level modules are                                                                     tested.</a:t>
            </a:r>
          </a:p>
          <a:p>
            <a:pPr marL="342900" indent="-342900">
              <a:buFont typeface="Wingdings" panose="05000000000000000000" pitchFamily="2" charset="2"/>
              <a:buChar char="Ø"/>
            </a:pPr>
            <a:r>
              <a:rPr lang="en-US" sz="2400" b="1" dirty="0">
                <a:latin typeface="Century Schoolbook" panose="02040604050505020304" pitchFamily="18" charset="0"/>
              </a:rPr>
              <a:t>There is possibility that the higher level modules might not have been developed by the time lower modules are Si tested, drivers are used to simulate the functionality of missing modules..!!!</a:t>
            </a:r>
          </a:p>
          <a:p>
            <a:pPr marL="342900" indent="-342900">
              <a:buFont typeface="Wingdings" panose="05000000000000000000" pitchFamily="2" charset="2"/>
              <a:buChar char="Ø"/>
            </a:pPr>
            <a:r>
              <a:rPr lang="en-US" sz="2400" b="1" dirty="0">
                <a:latin typeface="Century Schoolbook" panose="02040604050505020304" pitchFamily="18" charset="0"/>
              </a:rPr>
              <a:t>Top level critical modules are tested at last, so it may cause a defect.</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C7614553-841C-5714-5940-D7492B18C28B}"/>
              </a:ext>
            </a:extLst>
          </p:cNvPr>
          <p:cNvPicPr>
            <a:picLocks noChangeAspect="1"/>
          </p:cNvPicPr>
          <p:nvPr/>
        </p:nvPicPr>
        <p:blipFill>
          <a:blip r:embed="rId2"/>
          <a:stretch>
            <a:fillRect/>
          </a:stretch>
        </p:blipFill>
        <p:spPr>
          <a:xfrm>
            <a:off x="6223821" y="671053"/>
            <a:ext cx="5840362" cy="3075037"/>
          </a:xfrm>
          <a:prstGeom prst="rect">
            <a:avLst/>
          </a:prstGeom>
        </p:spPr>
      </p:pic>
    </p:spTree>
    <p:extLst>
      <p:ext uri="{BB962C8B-B14F-4D97-AF65-F5344CB8AC3E}">
        <p14:creationId xmlns:p14="http://schemas.microsoft.com/office/powerpoint/2010/main" val="2862107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0572C-746E-BF7A-AF86-6DF4E796C521}"/>
              </a:ext>
            </a:extLst>
          </p:cNvPr>
          <p:cNvSpPr>
            <a:spLocks noGrp="1"/>
          </p:cNvSpPr>
          <p:nvPr>
            <p:ph type="title"/>
          </p:nvPr>
        </p:nvSpPr>
        <p:spPr>
          <a:xfrm>
            <a:off x="0" y="-349045"/>
            <a:ext cx="12044517" cy="3401960"/>
          </a:xfrm>
        </p:spPr>
        <p:txBody>
          <a:bodyPr>
            <a:normAutofit/>
          </a:bodyPr>
          <a:lstStyle/>
          <a:p>
            <a:pPr marL="457200" indent="-457200">
              <a:buFont typeface="Wingdings" panose="05000000000000000000" pitchFamily="2" charset="2"/>
              <a:buChar char="v"/>
            </a:pPr>
            <a:r>
              <a:rPr lang="en-US" sz="4400" u="sng" dirty="0">
                <a:solidFill>
                  <a:srgbClr val="FFFF00"/>
                </a:solidFill>
                <a:latin typeface="Algerian" panose="04020705040A02060702" pitchFamily="82" charset="0"/>
              </a:rPr>
              <a:t>Advantages</a:t>
            </a:r>
            <a:r>
              <a:rPr lang="en-US" sz="4400" dirty="0">
                <a:solidFill>
                  <a:srgbClr val="FFFF00"/>
                </a:solidFill>
                <a:latin typeface="Algerian" panose="04020705040A02060702" pitchFamily="82" charset="0"/>
              </a:rPr>
              <a:t> : -</a:t>
            </a:r>
            <a:br>
              <a:rPr lang="en-US" sz="4400" dirty="0">
                <a:solidFill>
                  <a:srgbClr val="FFFF00"/>
                </a:solidFill>
                <a:latin typeface="Algerian" panose="04020705040A02060702" pitchFamily="82" charset="0"/>
              </a:rPr>
            </a:br>
            <a:r>
              <a:rPr lang="en-US" sz="2800" b="1" dirty="0">
                <a:latin typeface="Century Schoolbook" panose="02040604050505020304" pitchFamily="18" charset="0"/>
              </a:rPr>
              <a:t>1. Development &amp; testing can be done together so the product will be efficient.</a:t>
            </a:r>
            <a:br>
              <a:rPr lang="en-US" sz="2800" b="1" dirty="0">
                <a:latin typeface="Century Schoolbook" panose="02040604050505020304" pitchFamily="18" charset="0"/>
              </a:rPr>
            </a:br>
            <a:r>
              <a:rPr lang="en-US" sz="2800" b="1" dirty="0">
                <a:latin typeface="Century Schoolbook" panose="02040604050505020304" pitchFamily="18" charset="0"/>
              </a:rPr>
              <a:t>2. Test conditions are much easy to detect.</a:t>
            </a:r>
            <a:br>
              <a:rPr lang="en-US" sz="3600" b="1" dirty="0">
                <a:solidFill>
                  <a:srgbClr val="FFFF00"/>
                </a:solidFill>
                <a:latin typeface="Algerian" panose="04020705040A02060702" pitchFamily="82" charset="0"/>
              </a:rPr>
            </a:br>
            <a:endParaRPr lang="en-IN" sz="4400" b="1" dirty="0"/>
          </a:p>
        </p:txBody>
      </p:sp>
      <p:sp>
        <p:nvSpPr>
          <p:cNvPr id="3" name="Text Placeholder 2">
            <a:extLst>
              <a:ext uri="{FF2B5EF4-FFF2-40B4-BE49-F238E27FC236}">
                <a16:creationId xmlns:a16="http://schemas.microsoft.com/office/drawing/2014/main" id="{C0F2F9E1-BEC3-5721-3C2D-074F6C61BF8C}"/>
              </a:ext>
            </a:extLst>
          </p:cNvPr>
          <p:cNvSpPr>
            <a:spLocks noGrp="1"/>
          </p:cNvSpPr>
          <p:nvPr>
            <p:ph type="body" idx="1"/>
          </p:nvPr>
        </p:nvSpPr>
        <p:spPr>
          <a:xfrm>
            <a:off x="0" y="1796844"/>
            <a:ext cx="12044517" cy="3050459"/>
          </a:xfrm>
        </p:spPr>
        <p:txBody>
          <a:bodyPr>
            <a:normAutofit/>
          </a:bodyPr>
          <a:lstStyle/>
          <a:p>
            <a:pPr marL="342900" indent="-342900">
              <a:buFont typeface="Wingdings" panose="05000000000000000000" pitchFamily="2" charset="2"/>
              <a:buChar char="v"/>
            </a:pPr>
            <a:r>
              <a:rPr lang="en-US" sz="4400" u="sng" dirty="0" err="1">
                <a:solidFill>
                  <a:srgbClr val="FFFF00"/>
                </a:solidFill>
                <a:latin typeface="Algerian" panose="04020705040A02060702" pitchFamily="82" charset="0"/>
              </a:rPr>
              <a:t>disAdvantages</a:t>
            </a:r>
            <a:r>
              <a:rPr lang="en-US" sz="4400" dirty="0">
                <a:solidFill>
                  <a:srgbClr val="FFFF00"/>
                </a:solidFill>
                <a:latin typeface="Algerian" panose="04020705040A02060702" pitchFamily="82" charset="0"/>
              </a:rPr>
              <a:t> : -</a:t>
            </a:r>
          </a:p>
          <a:p>
            <a:r>
              <a:rPr lang="en-US" sz="3600" dirty="0">
                <a:latin typeface="Century Schoolbook" panose="02040604050505020304" pitchFamily="18" charset="0"/>
              </a:rPr>
              <a:t>   </a:t>
            </a:r>
            <a:r>
              <a:rPr lang="en-US" sz="2800" b="1" dirty="0">
                <a:latin typeface="Century Schoolbook" panose="02040604050505020304" pitchFamily="18" charset="0"/>
              </a:rPr>
              <a:t>1. Requires several drivers.</a:t>
            </a:r>
          </a:p>
          <a:p>
            <a:r>
              <a:rPr lang="en-US" sz="2800" b="1" dirty="0">
                <a:latin typeface="Century Schoolbook" panose="02040604050505020304" pitchFamily="18" charset="0"/>
              </a:rPr>
              <a:t>    2. Data flow is tested very late.</a:t>
            </a:r>
          </a:p>
          <a:p>
            <a:r>
              <a:rPr lang="en-US" sz="2800" b="1" dirty="0">
                <a:latin typeface="Century Schoolbook" panose="02040604050505020304" pitchFamily="18" charset="0"/>
              </a:rPr>
              <a:t>    3. Key interfaces defects are detected late.</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87597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6D7D-3195-5082-6A7F-C21F40A8B4D3}"/>
              </a:ext>
            </a:extLst>
          </p:cNvPr>
          <p:cNvSpPr>
            <a:spLocks noGrp="1"/>
          </p:cNvSpPr>
          <p:nvPr>
            <p:ph type="title"/>
          </p:nvPr>
        </p:nvSpPr>
        <p:spPr>
          <a:xfrm>
            <a:off x="0" y="-159293"/>
            <a:ext cx="12624619" cy="806244"/>
          </a:xfrm>
        </p:spPr>
        <p:txBody>
          <a:bodyPr>
            <a:noAutofit/>
          </a:bodyPr>
          <a:lstStyle/>
          <a:p>
            <a:pPr marL="457200" indent="-457200">
              <a:buFont typeface="Wingdings" panose="05000000000000000000" pitchFamily="2" charset="2"/>
              <a:buChar char="v"/>
            </a:pPr>
            <a:r>
              <a:rPr lang="en-US" u="sng" dirty="0">
                <a:solidFill>
                  <a:srgbClr val="FFFF00"/>
                </a:solidFill>
                <a:latin typeface="Algerian" panose="04020705040A02060702" pitchFamily="82" charset="0"/>
              </a:rPr>
              <a:t>Bi-directional testing / sandwich integration testing </a:t>
            </a:r>
            <a:r>
              <a:rPr lang="en-US" dirty="0">
                <a:solidFill>
                  <a:srgbClr val="FFFF00"/>
                </a:solidFill>
                <a:latin typeface="Algerian" panose="04020705040A02060702" pitchFamily="82" charset="0"/>
              </a:rPr>
              <a:t>: -</a:t>
            </a: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AC2BC5A-F3FC-E61B-EC5E-5A46385CF2EA}"/>
              </a:ext>
            </a:extLst>
          </p:cNvPr>
          <p:cNvSpPr>
            <a:spLocks noGrp="1"/>
          </p:cNvSpPr>
          <p:nvPr>
            <p:ph type="body" idx="1"/>
          </p:nvPr>
        </p:nvSpPr>
        <p:spPr>
          <a:xfrm>
            <a:off x="0" y="322429"/>
            <a:ext cx="12066639" cy="5174019"/>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In this testing, both Top - down approach                                                                        and Bottom - up approach are combined                                                                          for testing, </a:t>
            </a:r>
            <a:r>
              <a:rPr lang="en-US" sz="2400" b="1" dirty="0" err="1">
                <a:latin typeface="Century Schoolbook" panose="02040604050505020304" pitchFamily="18" charset="0"/>
              </a:rPr>
              <a:t>ie</a:t>
            </a:r>
            <a:r>
              <a:rPr lang="en-US" sz="2400" b="1" dirty="0">
                <a:latin typeface="Century Schoolbook" panose="02040604050505020304" pitchFamily="18" charset="0"/>
              </a:rPr>
              <a:t>. top level modules are                                                                            tested with lower level modules and                                                                         lower level modules are tested with                                                                            high-level modules                                                               simultaneously.</a:t>
            </a:r>
          </a:p>
          <a:p>
            <a:pPr marL="457200" indent="-457200">
              <a:buFont typeface="Wingdings" panose="05000000000000000000" pitchFamily="2" charset="2"/>
              <a:buChar char="Ø"/>
            </a:pPr>
            <a:r>
              <a:rPr lang="en-US" sz="2400" b="1" dirty="0">
                <a:latin typeface="Century Schoolbook" panose="02040604050505020304" pitchFamily="18" charset="0"/>
              </a:rPr>
              <a:t>This approach is also known as sandwich                                                                       integration testing or mixed integration                                                             testing.</a:t>
            </a:r>
          </a:p>
          <a:p>
            <a:pPr marL="457200" indent="-457200">
              <a:buFont typeface="Wingdings" panose="05000000000000000000" pitchFamily="2" charset="2"/>
              <a:buChar char="Ø"/>
            </a:pPr>
            <a:r>
              <a:rPr lang="en-US" sz="2400" b="1" dirty="0">
                <a:latin typeface="Century Schoolbook" panose="02040604050505020304" pitchFamily="18" charset="0"/>
              </a:rPr>
              <a:t>It makes use of both stubs as well as drivers.</a:t>
            </a:r>
          </a:p>
          <a:p>
            <a:pPr marL="457200" indent="-457200">
              <a:buFont typeface="Wingdings" panose="05000000000000000000" pitchFamily="2" charset="2"/>
              <a:buChar char="Ø"/>
            </a:pPr>
            <a:r>
              <a:rPr lang="en-US" sz="2400" b="1" dirty="0">
                <a:latin typeface="Century Schoolbook" panose="02040604050505020304" pitchFamily="18" charset="0"/>
              </a:rPr>
              <a:t>There is less possibility of occurrence of defect because each module interface is tested.</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D85F96BB-BB9E-D5AB-47A2-2523CA48E15C}"/>
              </a:ext>
            </a:extLst>
          </p:cNvPr>
          <p:cNvPicPr>
            <a:picLocks noChangeAspect="1"/>
          </p:cNvPicPr>
          <p:nvPr/>
        </p:nvPicPr>
        <p:blipFill>
          <a:blip r:embed="rId2"/>
          <a:stretch>
            <a:fillRect/>
          </a:stretch>
        </p:blipFill>
        <p:spPr>
          <a:xfrm>
            <a:off x="7164475" y="646951"/>
            <a:ext cx="4902164" cy="3392485"/>
          </a:xfrm>
          <a:prstGeom prst="rect">
            <a:avLst/>
          </a:prstGeom>
        </p:spPr>
      </p:pic>
    </p:spTree>
    <p:extLst>
      <p:ext uri="{BB962C8B-B14F-4D97-AF65-F5344CB8AC3E}">
        <p14:creationId xmlns:p14="http://schemas.microsoft.com/office/powerpoint/2010/main" val="1241881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EAC7-08F3-C454-6413-723CB10417FF}"/>
              </a:ext>
            </a:extLst>
          </p:cNvPr>
          <p:cNvSpPr>
            <a:spLocks noGrp="1"/>
          </p:cNvSpPr>
          <p:nvPr>
            <p:ph type="title"/>
          </p:nvPr>
        </p:nvSpPr>
        <p:spPr>
          <a:xfrm>
            <a:off x="0" y="-344129"/>
            <a:ext cx="11897033" cy="2644878"/>
          </a:xfrm>
        </p:spPr>
        <p:txBody>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Advantages</a:t>
            </a:r>
            <a:r>
              <a:rPr lang="en-US" sz="4400" dirty="0">
                <a:solidFill>
                  <a:srgbClr val="FFFF00"/>
                </a:solidFill>
                <a:latin typeface="Algerian" panose="04020705040A02060702" pitchFamily="82" charset="0"/>
              </a:rPr>
              <a:t> : -</a:t>
            </a:r>
            <a:br>
              <a:rPr lang="en-US" sz="3600" dirty="0">
                <a:solidFill>
                  <a:srgbClr val="FFFF00"/>
                </a:solidFill>
                <a:latin typeface="Algerian" panose="04020705040A02060702" pitchFamily="82" charset="0"/>
              </a:rPr>
            </a:br>
            <a:r>
              <a:rPr lang="en-US" sz="2800" b="1" dirty="0">
                <a:latin typeface="Century Schoolbook" panose="02040604050505020304" pitchFamily="18" charset="0"/>
              </a:rPr>
              <a:t>1. Useful for large enterprise &amp; huge projects</a:t>
            </a:r>
            <a:br>
              <a:rPr lang="en-US" sz="2800" b="1" dirty="0">
                <a:latin typeface="Century Schoolbook" panose="02040604050505020304" pitchFamily="18" charset="0"/>
              </a:rPr>
            </a:br>
            <a:r>
              <a:rPr lang="en-US" sz="2800" b="1" dirty="0">
                <a:latin typeface="Century Schoolbook" panose="02040604050505020304" pitchFamily="18" charset="0"/>
              </a:rPr>
              <a:t>2. Efficiency.</a:t>
            </a:r>
            <a:br>
              <a:rPr lang="en-US" sz="2800" b="1" dirty="0">
                <a:latin typeface="Century Schoolbook" panose="02040604050505020304" pitchFamily="18" charset="0"/>
              </a:rPr>
            </a:br>
            <a:r>
              <a:rPr lang="en-US" sz="2800" b="1" dirty="0">
                <a:latin typeface="Century Schoolbook" panose="02040604050505020304" pitchFamily="18" charset="0"/>
              </a:rPr>
              <a:t>3. Improved maintainability.</a:t>
            </a:r>
            <a:endParaRPr lang="en-IN" b="1" dirty="0"/>
          </a:p>
        </p:txBody>
      </p:sp>
      <p:sp>
        <p:nvSpPr>
          <p:cNvPr id="3" name="Text Placeholder 2">
            <a:extLst>
              <a:ext uri="{FF2B5EF4-FFF2-40B4-BE49-F238E27FC236}">
                <a16:creationId xmlns:a16="http://schemas.microsoft.com/office/drawing/2014/main" id="{4AEBE81E-D956-A629-48A1-16AE82C2561F}"/>
              </a:ext>
            </a:extLst>
          </p:cNvPr>
          <p:cNvSpPr>
            <a:spLocks noGrp="1"/>
          </p:cNvSpPr>
          <p:nvPr>
            <p:ph type="body" idx="1"/>
          </p:nvPr>
        </p:nvSpPr>
        <p:spPr>
          <a:xfrm>
            <a:off x="0" y="2052483"/>
            <a:ext cx="11897033" cy="2396612"/>
          </a:xfrm>
        </p:spPr>
        <p:txBody>
          <a:bodyPr>
            <a:normAutofit fontScale="92500" lnSpcReduction="10000"/>
          </a:bodyPr>
          <a:lstStyle/>
          <a:p>
            <a:pPr marL="685800" indent="-685800">
              <a:buFont typeface="Wingdings" panose="05000000000000000000" pitchFamily="2" charset="2"/>
              <a:buChar char="v"/>
            </a:pPr>
            <a:r>
              <a:rPr lang="en-US" sz="4800" u="sng" dirty="0" err="1">
                <a:solidFill>
                  <a:srgbClr val="FFFF00"/>
                </a:solidFill>
                <a:latin typeface="Algerian" panose="04020705040A02060702" pitchFamily="82" charset="0"/>
              </a:rPr>
              <a:t>disAdvantages</a:t>
            </a:r>
            <a:r>
              <a:rPr lang="en-US" sz="4800" dirty="0">
                <a:solidFill>
                  <a:srgbClr val="FFFF00"/>
                </a:solidFill>
                <a:latin typeface="Algerian" panose="04020705040A02060702" pitchFamily="82" charset="0"/>
              </a:rPr>
              <a:t> : -  </a:t>
            </a:r>
          </a:p>
          <a:p>
            <a:r>
              <a:rPr lang="en-US" sz="3200" dirty="0">
                <a:latin typeface="Century Schoolbook" panose="02040604050505020304" pitchFamily="18" charset="0"/>
              </a:rPr>
              <a:t>     </a:t>
            </a:r>
            <a:r>
              <a:rPr lang="en-US" sz="3000" b="1" dirty="0">
                <a:latin typeface="Century Schoolbook" panose="02040604050505020304" pitchFamily="18" charset="0"/>
              </a:rPr>
              <a:t>1. The cost requirement is high.</a:t>
            </a:r>
          </a:p>
          <a:p>
            <a:r>
              <a:rPr lang="en-US" sz="3000" b="1" dirty="0">
                <a:latin typeface="Century Schoolbook" panose="02040604050505020304" pitchFamily="18" charset="0"/>
              </a:rPr>
              <a:t>     2. Cannot be used in smaller system.</a:t>
            </a:r>
          </a:p>
          <a:p>
            <a:r>
              <a:rPr lang="en-US" sz="3000" b="1" dirty="0">
                <a:latin typeface="Century Schoolbook" panose="02040604050505020304" pitchFamily="18" charset="0"/>
              </a:rPr>
              <a:t>     3. Different skills set are required.</a:t>
            </a:r>
          </a:p>
          <a:p>
            <a:endParaRPr lang="en-IN" dirty="0"/>
          </a:p>
        </p:txBody>
      </p:sp>
    </p:spTree>
    <p:extLst>
      <p:ext uri="{BB962C8B-B14F-4D97-AF65-F5344CB8AC3E}">
        <p14:creationId xmlns:p14="http://schemas.microsoft.com/office/powerpoint/2010/main" val="2082424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9ADA-C74D-7264-FEEB-D9168CC06606}"/>
              </a:ext>
            </a:extLst>
          </p:cNvPr>
          <p:cNvSpPr>
            <a:spLocks noGrp="1"/>
          </p:cNvSpPr>
          <p:nvPr>
            <p:ph type="title"/>
          </p:nvPr>
        </p:nvSpPr>
        <p:spPr>
          <a:xfrm>
            <a:off x="-78658" y="304800"/>
            <a:ext cx="12496800" cy="540771"/>
          </a:xfrm>
        </p:spPr>
        <p:txBody>
          <a:bodyPr>
            <a:noAutofit/>
          </a:bodyPr>
          <a:lstStyle/>
          <a:p>
            <a:pPr marL="457200" indent="-457200">
              <a:buFont typeface="Wingdings" panose="05000000000000000000" pitchFamily="2" charset="2"/>
              <a:buChar char="v"/>
            </a:pPr>
            <a:r>
              <a:rPr lang="en-US" u="sng" dirty="0">
                <a:solidFill>
                  <a:srgbClr val="FFFF00"/>
                </a:solidFill>
                <a:latin typeface="Algerian" panose="04020705040A02060702" pitchFamily="82" charset="0"/>
              </a:rPr>
              <a:t>Non – incremental integration/big bang integration</a:t>
            </a:r>
            <a:r>
              <a:rPr lang="en-US" dirty="0">
                <a:solidFill>
                  <a:srgbClr val="FFFF00"/>
                </a:solidFill>
                <a:latin typeface="Algerian" panose="04020705040A02060702" pitchFamily="82" charset="0"/>
              </a:rPr>
              <a:t> : -</a:t>
            </a:r>
            <a:br>
              <a:rPr lang="en-US" dirty="0"/>
            </a:br>
            <a:endParaRPr lang="en-IN" dirty="0"/>
          </a:p>
        </p:txBody>
      </p:sp>
      <p:sp>
        <p:nvSpPr>
          <p:cNvPr id="3" name="Text Placeholder 2">
            <a:extLst>
              <a:ext uri="{FF2B5EF4-FFF2-40B4-BE49-F238E27FC236}">
                <a16:creationId xmlns:a16="http://schemas.microsoft.com/office/drawing/2014/main" id="{7099977D-49DC-93B0-60E3-6EF4A16C5C75}"/>
              </a:ext>
            </a:extLst>
          </p:cNvPr>
          <p:cNvSpPr>
            <a:spLocks noGrp="1"/>
          </p:cNvSpPr>
          <p:nvPr>
            <p:ph type="body" idx="1"/>
          </p:nvPr>
        </p:nvSpPr>
        <p:spPr>
          <a:xfrm>
            <a:off x="137652" y="304800"/>
            <a:ext cx="11710219" cy="4257367"/>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In this testing approach, All the components or modules are integrated together at once and then tested as a unit.</a:t>
            </a:r>
          </a:p>
          <a:p>
            <a:pPr marL="457200" indent="-457200">
              <a:buFont typeface="Wingdings" panose="05000000000000000000" pitchFamily="2" charset="2"/>
              <a:buChar char="Ø"/>
            </a:pPr>
            <a:r>
              <a:rPr lang="en-US" sz="2400" b="1" dirty="0">
                <a:latin typeface="Century Schoolbook" panose="02040604050505020304" pitchFamily="18" charset="0"/>
              </a:rPr>
              <a:t>Non - incremental testing is only available when all the components are ready and complete.</a:t>
            </a:r>
          </a:p>
          <a:p>
            <a:pPr marL="457200" indent="-457200">
              <a:buFont typeface="Wingdings" panose="05000000000000000000" pitchFamily="2" charset="2"/>
              <a:buChar char="Ø"/>
            </a:pPr>
            <a:r>
              <a:rPr lang="en-US" sz="2400" b="1" dirty="0">
                <a:latin typeface="Century Schoolbook" panose="02040604050505020304" pitchFamily="18" charset="0"/>
              </a:rPr>
              <a:t>It is convenient for small software systems, if used for large software system identification of defects is difficult.</a:t>
            </a:r>
          </a:p>
          <a:p>
            <a:pPr marL="457200" indent="-457200">
              <a:buFont typeface="Wingdings" panose="05000000000000000000" pitchFamily="2" charset="2"/>
              <a:buChar char="Ø"/>
            </a:pPr>
            <a:r>
              <a:rPr lang="en-US" sz="2400" b="1" dirty="0">
                <a:latin typeface="Century Schoolbook" panose="02040604050505020304" pitchFamily="18" charset="0"/>
              </a:rPr>
              <a:t>Generally uses fewer resources since its done altogether While it offers simplicity and comprehensive coverage it can be complex and challenging, especially for large systems.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329581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26723-06B8-A9C9-6B84-CC628E35CDE6}"/>
              </a:ext>
            </a:extLst>
          </p:cNvPr>
          <p:cNvSpPr>
            <a:spLocks noGrp="1"/>
          </p:cNvSpPr>
          <p:nvPr>
            <p:ph type="title"/>
          </p:nvPr>
        </p:nvSpPr>
        <p:spPr>
          <a:xfrm>
            <a:off x="55921" y="-471948"/>
            <a:ext cx="12080157" cy="3569110"/>
          </a:xfrm>
        </p:spPr>
        <p:txBody>
          <a:bodyPr>
            <a:normAutofit/>
          </a:bodyPr>
          <a:lstStyle/>
          <a:p>
            <a:pPr marL="457200" indent="-457200">
              <a:buFont typeface="Wingdings" panose="05000000000000000000" pitchFamily="2" charset="2"/>
              <a:buChar char="v"/>
            </a:pP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a:t>
            </a:r>
            <a:br>
              <a:rPr lang="en-US" sz="4000" dirty="0">
                <a:solidFill>
                  <a:srgbClr val="FFFF00"/>
                </a:solidFill>
                <a:latin typeface="Algerian" panose="04020705040A02060702" pitchFamily="82" charset="0"/>
              </a:rPr>
            </a:br>
            <a:r>
              <a:rPr lang="en-US" b="1" dirty="0">
                <a:latin typeface="Century Schoolbook" panose="02040604050505020304" pitchFamily="18" charset="0"/>
              </a:rPr>
              <a:t>1. Early detection of major issues.</a:t>
            </a:r>
            <a:br>
              <a:rPr lang="en-US" b="1" dirty="0">
                <a:latin typeface="Century Schoolbook" panose="02040604050505020304" pitchFamily="18" charset="0"/>
              </a:rPr>
            </a:br>
            <a:r>
              <a:rPr lang="en-US" b="1" dirty="0">
                <a:latin typeface="Century Schoolbook" panose="02040604050505020304" pitchFamily="18" charset="0"/>
              </a:rPr>
              <a:t>2. Time efficient for small project.</a:t>
            </a:r>
            <a:br>
              <a:rPr lang="en-US" b="1" dirty="0">
                <a:latin typeface="Century Schoolbook" panose="02040604050505020304" pitchFamily="18" charset="0"/>
              </a:rPr>
            </a:br>
            <a:r>
              <a:rPr lang="en-US" b="1" dirty="0">
                <a:latin typeface="Century Schoolbook" panose="02040604050505020304" pitchFamily="18" charset="0"/>
              </a:rPr>
              <a:t>3. Comprehensive.</a:t>
            </a:r>
            <a:endParaRPr lang="en-IN"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8201D13A-E509-FD12-0B35-03B30A7E7BAD}"/>
              </a:ext>
            </a:extLst>
          </p:cNvPr>
          <p:cNvSpPr>
            <a:spLocks noGrp="1"/>
          </p:cNvSpPr>
          <p:nvPr>
            <p:ph type="body" idx="1"/>
          </p:nvPr>
        </p:nvSpPr>
        <p:spPr>
          <a:xfrm>
            <a:off x="55921" y="2477728"/>
            <a:ext cx="11928986" cy="2738283"/>
          </a:xfrm>
        </p:spPr>
        <p:txBody>
          <a:bodyPr/>
          <a:lstStyle/>
          <a:p>
            <a:pPr marL="342900" indent="-3429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Disadvantages</a:t>
            </a:r>
            <a:r>
              <a:rPr lang="en-US" sz="4000" dirty="0">
                <a:solidFill>
                  <a:srgbClr val="FFFF00"/>
                </a:solidFill>
                <a:latin typeface="Algerian" panose="04020705040A02060702" pitchFamily="82" charset="0"/>
              </a:rPr>
              <a:t> : -</a:t>
            </a:r>
          </a:p>
          <a:p>
            <a:r>
              <a:rPr lang="en-US" dirty="0"/>
              <a:t>          </a:t>
            </a:r>
            <a:r>
              <a:rPr lang="en-US" sz="3200" b="1" dirty="0">
                <a:latin typeface="Century Schoolbook" panose="02040604050505020304" pitchFamily="18" charset="0"/>
              </a:rPr>
              <a:t>1.Complex debugging.</a:t>
            </a:r>
          </a:p>
          <a:p>
            <a:r>
              <a:rPr lang="en-US" sz="3200" b="1" dirty="0">
                <a:latin typeface="Century Schoolbook" panose="02040604050505020304" pitchFamily="18" charset="0"/>
              </a:rPr>
              <a:t>     2.Risk of measure failure.</a:t>
            </a:r>
          </a:p>
          <a:p>
            <a:r>
              <a:rPr lang="en-US" sz="3200" b="1" dirty="0">
                <a:latin typeface="Century Schoolbook" panose="02040604050505020304" pitchFamily="18" charset="0"/>
              </a:rPr>
              <a:t>     3. Difficult to isolate errors.</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1415106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0889-54A7-BAAE-2213-1344C3B00313}"/>
              </a:ext>
            </a:extLst>
          </p:cNvPr>
          <p:cNvSpPr>
            <a:spLocks noGrp="1"/>
          </p:cNvSpPr>
          <p:nvPr>
            <p:ph type="title"/>
          </p:nvPr>
        </p:nvSpPr>
        <p:spPr>
          <a:xfrm>
            <a:off x="31955" y="-71281"/>
            <a:ext cx="11978148" cy="791495"/>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system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618490A-C3FC-501E-0C15-BBC3088A0931}"/>
              </a:ext>
            </a:extLst>
          </p:cNvPr>
          <p:cNvSpPr>
            <a:spLocks noGrp="1"/>
          </p:cNvSpPr>
          <p:nvPr>
            <p:ph type="body" idx="1"/>
          </p:nvPr>
        </p:nvSpPr>
        <p:spPr>
          <a:xfrm>
            <a:off x="181897" y="157315"/>
            <a:ext cx="11518490" cy="5628965"/>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System testing is a level of testing that validates the complete and fully integrated software product.</a:t>
            </a:r>
          </a:p>
          <a:p>
            <a:pPr marL="457200" indent="-457200">
              <a:buFont typeface="Wingdings" panose="05000000000000000000" pitchFamily="2" charset="2"/>
              <a:buChar char="Ø"/>
            </a:pPr>
            <a:r>
              <a:rPr lang="en-US" sz="2400" b="1" dirty="0">
                <a:latin typeface="Century Schoolbook" panose="02040604050505020304" pitchFamily="18" charset="0"/>
              </a:rPr>
              <a:t>In this testing, integration testing passed components are taken as input.</a:t>
            </a:r>
          </a:p>
          <a:p>
            <a:pPr marL="457200" indent="-457200">
              <a:buFont typeface="Wingdings" panose="05000000000000000000" pitchFamily="2" charset="2"/>
              <a:buChar char="Ø"/>
            </a:pPr>
            <a:r>
              <a:rPr lang="en-US" sz="2400" b="1" dirty="0">
                <a:latin typeface="Century Schoolbook" panose="02040604050505020304" pitchFamily="18" charset="0"/>
              </a:rPr>
              <a:t>The purpose of a system test is to evaluate the end-to-end system specifications.</a:t>
            </a:r>
          </a:p>
          <a:p>
            <a:pPr marL="457200" indent="-457200">
              <a:buFont typeface="Wingdings" panose="05000000000000000000" pitchFamily="2" charset="2"/>
              <a:buChar char="Ø"/>
            </a:pPr>
            <a:r>
              <a:rPr lang="en-US" sz="2400" b="1" dirty="0">
                <a:latin typeface="Century Schoolbook" panose="02040604050505020304" pitchFamily="18" charset="0"/>
              </a:rPr>
              <a:t>System testing tests the design and </a:t>
            </a:r>
            <a:r>
              <a:rPr lang="en-US" sz="2400" b="1" dirty="0" err="1">
                <a:latin typeface="Century Schoolbook" panose="02040604050505020304" pitchFamily="18" charset="0"/>
              </a:rPr>
              <a:t>behaviour</a:t>
            </a:r>
            <a:r>
              <a:rPr lang="en-US" sz="2400" b="1" dirty="0">
                <a:latin typeface="Century Schoolbook" panose="02040604050505020304" pitchFamily="18" charset="0"/>
              </a:rPr>
              <a:t> of the system and also the expectations of the customer.</a:t>
            </a:r>
          </a:p>
          <a:p>
            <a:pPr marL="457200" indent="-457200">
              <a:buFont typeface="Wingdings" panose="05000000000000000000" pitchFamily="2" charset="2"/>
              <a:buChar char="Ø"/>
            </a:pPr>
            <a:r>
              <a:rPr lang="en-US" sz="2400" b="1" dirty="0">
                <a:latin typeface="Century Schoolbook" panose="02040604050505020304" pitchFamily="18" charset="0"/>
              </a:rPr>
              <a:t>System testing is a black box testing.</a:t>
            </a:r>
          </a:p>
          <a:p>
            <a:pPr marL="457200" indent="-457200">
              <a:buFont typeface="Wingdings" panose="05000000000000000000" pitchFamily="2" charset="2"/>
              <a:buChar char="Ø"/>
            </a:pPr>
            <a:r>
              <a:rPr lang="en-US" sz="2400" b="1" dirty="0">
                <a:latin typeface="Century Schoolbook" panose="02040604050505020304" pitchFamily="18" charset="0"/>
              </a:rPr>
              <a:t>It is performed in the context of a System Requirement Specification (SRS) or Functional Requirement Specification (FRS).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88258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09C2F-CC50-79E4-E230-5940D1BF52BA}"/>
              </a:ext>
            </a:extLst>
          </p:cNvPr>
          <p:cNvSpPr>
            <a:spLocks noGrp="1"/>
          </p:cNvSpPr>
          <p:nvPr>
            <p:ph type="title"/>
          </p:nvPr>
        </p:nvSpPr>
        <p:spPr>
          <a:xfrm>
            <a:off x="95865" y="117989"/>
            <a:ext cx="11997812" cy="78657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Types of system software</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2754FAB-BF2F-5950-2ECD-8ECC49238348}"/>
              </a:ext>
            </a:extLst>
          </p:cNvPr>
          <p:cNvSpPr>
            <a:spLocks noGrp="1"/>
          </p:cNvSpPr>
          <p:nvPr>
            <p:ph type="body" idx="1"/>
          </p:nvPr>
        </p:nvSpPr>
        <p:spPr>
          <a:xfrm>
            <a:off x="656303" y="216310"/>
            <a:ext cx="11997812" cy="5717456"/>
          </a:xfrm>
        </p:spPr>
        <p:txBody>
          <a:bodyPr>
            <a:normAutofit/>
          </a:bodyPr>
          <a:lstStyle/>
          <a:p>
            <a:pPr marL="457200" indent="-457200">
              <a:buFont typeface="+mj-lt"/>
              <a:buAutoNum type="arabicParenR"/>
            </a:pPr>
            <a:r>
              <a:rPr lang="en-US" sz="3600" b="1" dirty="0">
                <a:latin typeface="Century Schoolbook" panose="02040604050505020304" pitchFamily="18" charset="0"/>
              </a:rPr>
              <a:t> </a:t>
            </a:r>
            <a:r>
              <a:rPr lang="en-US" sz="3200" b="1" dirty="0">
                <a:latin typeface="Century Schoolbook" panose="02040604050505020304" pitchFamily="18" charset="0"/>
              </a:rPr>
              <a:t>Usability Testing.</a:t>
            </a:r>
          </a:p>
          <a:p>
            <a:pPr marL="457200" indent="-457200">
              <a:buFont typeface="+mj-lt"/>
              <a:buAutoNum type="arabicParenR"/>
            </a:pPr>
            <a:r>
              <a:rPr lang="en-US" sz="3200" b="1" dirty="0">
                <a:latin typeface="Century Schoolbook" panose="02040604050505020304" pitchFamily="18" charset="0"/>
              </a:rPr>
              <a:t> Recoverable Testing.</a:t>
            </a:r>
          </a:p>
          <a:p>
            <a:pPr marL="457200" indent="-457200">
              <a:buFont typeface="+mj-lt"/>
              <a:buAutoNum type="arabicParenR"/>
            </a:pPr>
            <a:r>
              <a:rPr lang="en-US" sz="3200" b="1" dirty="0">
                <a:latin typeface="Century Schoolbook" panose="02040604050505020304" pitchFamily="18" charset="0"/>
              </a:rPr>
              <a:t> Performance Testing.</a:t>
            </a:r>
          </a:p>
          <a:p>
            <a:pPr marL="457200" indent="-457200">
              <a:buFont typeface="+mj-lt"/>
              <a:buAutoNum type="arabicParenR"/>
            </a:pPr>
            <a:r>
              <a:rPr lang="en-US" sz="3200" b="1" dirty="0">
                <a:latin typeface="Century Schoolbook" panose="02040604050505020304" pitchFamily="18" charset="0"/>
              </a:rPr>
              <a:t> Compatibility Testing.</a:t>
            </a:r>
          </a:p>
          <a:p>
            <a:pPr marL="457200" indent="-457200">
              <a:buFont typeface="+mj-lt"/>
              <a:buAutoNum type="arabicParenR"/>
            </a:pPr>
            <a:r>
              <a:rPr lang="en-US" sz="3200" b="1" dirty="0">
                <a:latin typeface="Century Schoolbook" panose="02040604050505020304" pitchFamily="18" charset="0"/>
              </a:rPr>
              <a:t> Load Testing.</a:t>
            </a:r>
          </a:p>
          <a:p>
            <a:pPr marL="457200" indent="-457200">
              <a:buFont typeface="+mj-lt"/>
              <a:buAutoNum type="arabicParenR"/>
            </a:pPr>
            <a:r>
              <a:rPr lang="en-US" sz="3200" b="1" dirty="0">
                <a:latin typeface="Century Schoolbook" panose="02040604050505020304" pitchFamily="18" charset="0"/>
              </a:rPr>
              <a:t> Stress Testing.</a:t>
            </a:r>
          </a:p>
          <a:p>
            <a:pPr marL="457200" indent="-457200">
              <a:buFont typeface="+mj-lt"/>
              <a:buAutoNum type="arabicParenR"/>
            </a:pPr>
            <a:r>
              <a:rPr lang="en-US" sz="3200" b="1" dirty="0">
                <a:latin typeface="Century Schoolbook" panose="02040604050505020304" pitchFamily="18" charset="0"/>
              </a:rPr>
              <a:t> Security Testing.</a:t>
            </a:r>
            <a:endParaRPr lang="en-IN" sz="3600" b="1" dirty="0">
              <a:latin typeface="Century Schoolbook" panose="02040604050505020304" pitchFamily="18" charset="0"/>
            </a:endParaRPr>
          </a:p>
        </p:txBody>
      </p:sp>
    </p:spTree>
    <p:extLst>
      <p:ext uri="{BB962C8B-B14F-4D97-AF65-F5344CB8AC3E}">
        <p14:creationId xmlns:p14="http://schemas.microsoft.com/office/powerpoint/2010/main" val="921403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21CE4-5EEF-0FB7-A3AA-6ED8C14D5AFA}"/>
              </a:ext>
            </a:extLst>
          </p:cNvPr>
          <p:cNvSpPr>
            <a:spLocks noGrp="1"/>
          </p:cNvSpPr>
          <p:nvPr>
            <p:ph type="title"/>
          </p:nvPr>
        </p:nvSpPr>
        <p:spPr>
          <a:xfrm>
            <a:off x="0" y="589937"/>
            <a:ext cx="12192000" cy="6931742"/>
          </a:xfrm>
        </p:spPr>
        <p:txBody>
          <a:bodyPr>
            <a:normAutofit fontScale="90000"/>
          </a:bodyPr>
          <a:lstStyle/>
          <a:p>
            <a:r>
              <a:rPr lang="en-US" sz="2700" b="1" dirty="0">
                <a:solidFill>
                  <a:srgbClr val="FFFF00"/>
                </a:solidFill>
                <a:latin typeface="Century Schoolbook" panose="02040604050505020304" pitchFamily="18" charset="0"/>
              </a:rPr>
              <a:t>1. </a:t>
            </a:r>
            <a:r>
              <a:rPr lang="en-US" sz="2700" b="1" u="sng" dirty="0">
                <a:solidFill>
                  <a:srgbClr val="FFFF00"/>
                </a:solidFill>
                <a:latin typeface="Century Schoolbook" panose="02040604050505020304" pitchFamily="18" charset="0"/>
              </a:rPr>
              <a:t>Usability testing</a:t>
            </a:r>
            <a:r>
              <a:rPr lang="en-US" sz="2700" b="1" dirty="0">
                <a:solidFill>
                  <a:srgbClr val="FFFF00"/>
                </a:solidFill>
                <a:latin typeface="Century Schoolbook" panose="02040604050505020304" pitchFamily="18" charset="0"/>
              </a:rPr>
              <a:t> : - </a:t>
            </a:r>
            <a:r>
              <a:rPr lang="en-US" sz="2700" b="1" dirty="0">
                <a:latin typeface="Century Schoolbook" panose="02040604050505020304" pitchFamily="18" charset="0"/>
              </a:rPr>
              <a:t>It is a testing method for measuring how easy &amp; user - friendly a software application.</a:t>
            </a:r>
            <a:br>
              <a:rPr lang="en-US" sz="2200" b="1" dirty="0">
                <a:latin typeface="Century Schoolbook" panose="02040604050505020304" pitchFamily="18" charset="0"/>
              </a:rPr>
            </a:br>
            <a:r>
              <a:rPr lang="en-US" sz="2700" b="1" dirty="0">
                <a:solidFill>
                  <a:srgbClr val="FFFF00"/>
                </a:solidFill>
                <a:latin typeface="Century Schoolbook" panose="02040604050505020304" pitchFamily="18" charset="0"/>
              </a:rPr>
              <a:t>2. </a:t>
            </a:r>
            <a:r>
              <a:rPr lang="en-US" sz="2700" b="1" u="sng" dirty="0">
                <a:solidFill>
                  <a:srgbClr val="FFFF00"/>
                </a:solidFill>
                <a:latin typeface="Century Schoolbook" panose="02040604050505020304" pitchFamily="18" charset="0"/>
              </a:rPr>
              <a:t>Recoverability testing</a:t>
            </a:r>
            <a:r>
              <a:rPr lang="en-US" sz="2700" b="1" dirty="0">
                <a:solidFill>
                  <a:srgbClr val="FFFF00"/>
                </a:solidFill>
                <a:latin typeface="Century Schoolbook" panose="02040604050505020304" pitchFamily="18" charset="0"/>
              </a:rPr>
              <a:t> : - </a:t>
            </a:r>
            <a:r>
              <a:rPr lang="en-US" sz="2700" b="1" dirty="0">
                <a:latin typeface="Century Schoolbook" panose="02040604050505020304" pitchFamily="18" charset="0"/>
              </a:rPr>
              <a:t>It is an software testing that checks, how well on application can recover from </a:t>
            </a:r>
            <a:r>
              <a:rPr lang="en-US" sz="2700" b="1" dirty="0" err="1">
                <a:latin typeface="Century Schoolbook" panose="02040604050505020304" pitchFamily="18" charset="0"/>
              </a:rPr>
              <a:t>craches</a:t>
            </a:r>
            <a:r>
              <a:rPr lang="en-US" sz="2700" b="1" dirty="0">
                <a:latin typeface="Century Schoolbook" panose="02040604050505020304" pitchFamily="18" charset="0"/>
              </a:rPr>
              <a:t>, failure or other unexpected issues.</a:t>
            </a:r>
            <a:br>
              <a:rPr lang="en-US" sz="3100" b="1" dirty="0">
                <a:latin typeface="Century Schoolbook" panose="02040604050505020304" pitchFamily="18" charset="0"/>
              </a:rPr>
            </a:br>
            <a:r>
              <a:rPr lang="en-US" sz="2700" b="1" dirty="0">
                <a:solidFill>
                  <a:srgbClr val="FFFF00"/>
                </a:solidFill>
                <a:latin typeface="Century Schoolbook" panose="02040604050505020304" pitchFamily="18" charset="0"/>
              </a:rPr>
              <a:t>3. </a:t>
            </a:r>
            <a:r>
              <a:rPr lang="en-US" sz="2700" b="1" u="sng" dirty="0">
                <a:solidFill>
                  <a:srgbClr val="FFFF00"/>
                </a:solidFill>
                <a:latin typeface="Century Schoolbook" panose="02040604050505020304" pitchFamily="18" charset="0"/>
              </a:rPr>
              <a:t>Performance testing</a:t>
            </a:r>
            <a:r>
              <a:rPr lang="en-US" sz="2700" b="1" dirty="0">
                <a:solidFill>
                  <a:srgbClr val="FFFF00"/>
                </a:solidFill>
                <a:latin typeface="Century Schoolbook" panose="02040604050505020304" pitchFamily="18" charset="0"/>
              </a:rPr>
              <a:t> : - </a:t>
            </a:r>
            <a:r>
              <a:rPr lang="en-US" sz="2700" b="1" dirty="0">
                <a:latin typeface="Century Schoolbook" panose="02040604050505020304" pitchFamily="18" charset="0"/>
              </a:rPr>
              <a:t>It is a testing process used for testing the speed, response time, stability, reliability, scalability &amp; resource usage of a software application under particular workload.</a:t>
            </a:r>
            <a:br>
              <a:rPr lang="en-US" sz="2700" b="1" dirty="0">
                <a:latin typeface="Century Schoolbook" panose="02040604050505020304" pitchFamily="18" charset="0"/>
              </a:rPr>
            </a:br>
            <a:r>
              <a:rPr lang="en-US" sz="2700" b="1" dirty="0">
                <a:solidFill>
                  <a:srgbClr val="FFFF00"/>
                </a:solidFill>
                <a:latin typeface="Century Schoolbook" panose="02040604050505020304" pitchFamily="18" charset="0"/>
              </a:rPr>
              <a:t>4. </a:t>
            </a:r>
            <a:r>
              <a:rPr lang="en-US" sz="2700" b="1" u="sng" dirty="0">
                <a:solidFill>
                  <a:srgbClr val="FFFF00"/>
                </a:solidFill>
                <a:latin typeface="Century Schoolbook" panose="02040604050505020304" pitchFamily="18" charset="0"/>
              </a:rPr>
              <a:t>Compatibility testing</a:t>
            </a:r>
            <a:r>
              <a:rPr lang="en-US" sz="2700" b="1" dirty="0">
                <a:solidFill>
                  <a:srgbClr val="FFFF00"/>
                </a:solidFill>
                <a:latin typeface="Century Schoolbook" panose="02040604050505020304" pitchFamily="18" charset="0"/>
              </a:rPr>
              <a:t> : - </a:t>
            </a:r>
            <a:r>
              <a:rPr lang="en-US" sz="2700" b="1" dirty="0">
                <a:latin typeface="Century Schoolbook" panose="02040604050505020304" pitchFamily="18" charset="0"/>
              </a:rPr>
              <a:t>It is a type of software testing to check whether your software is capable of running on different hardware, operating system, application, network environments or mobile devices.</a:t>
            </a:r>
            <a:br>
              <a:rPr lang="en-US" sz="2700" b="1" dirty="0">
                <a:latin typeface="Century Schoolbook" panose="02040604050505020304" pitchFamily="18" charset="0"/>
              </a:rPr>
            </a:br>
            <a:r>
              <a:rPr lang="en-US" sz="2700" b="1" dirty="0">
                <a:solidFill>
                  <a:srgbClr val="FFFF00"/>
                </a:solidFill>
                <a:latin typeface="Century Schoolbook" panose="02040604050505020304" pitchFamily="18" charset="0"/>
              </a:rPr>
              <a:t>5. </a:t>
            </a:r>
            <a:r>
              <a:rPr lang="en-US" sz="2700" b="1" u="sng" dirty="0">
                <a:solidFill>
                  <a:srgbClr val="FFFF00"/>
                </a:solidFill>
                <a:latin typeface="Century Schoolbook" panose="02040604050505020304" pitchFamily="18" charset="0"/>
              </a:rPr>
              <a:t>Load testing</a:t>
            </a:r>
            <a:r>
              <a:rPr lang="en-US" sz="2700" b="1" dirty="0">
                <a:solidFill>
                  <a:srgbClr val="FFFF00"/>
                </a:solidFill>
                <a:latin typeface="Century Schoolbook" panose="02040604050505020304" pitchFamily="18" charset="0"/>
              </a:rPr>
              <a:t> : -</a:t>
            </a:r>
            <a:r>
              <a:rPr lang="en-US" sz="2400" b="1" dirty="0">
                <a:solidFill>
                  <a:srgbClr val="FFFF00"/>
                </a:solidFill>
                <a:latin typeface="Century Schoolbook" panose="02040604050505020304" pitchFamily="18" charset="0"/>
              </a:rPr>
              <a:t> </a:t>
            </a:r>
            <a:r>
              <a:rPr lang="en-US" sz="2700" b="1" dirty="0">
                <a:latin typeface="Century Schoolbook" panose="02040604050505020304" pitchFamily="18" charset="0"/>
              </a:rPr>
              <a:t>It a non - functional testing process in which the performance of the software application is tested under a specific expected load.</a:t>
            </a:r>
            <a:br>
              <a:rPr lang="en-US" sz="2700" b="1" dirty="0">
                <a:latin typeface="Century Schoolbook" panose="02040604050505020304" pitchFamily="18" charset="0"/>
              </a:rPr>
            </a:br>
            <a:r>
              <a:rPr lang="en-US" sz="2700" b="1" dirty="0">
                <a:solidFill>
                  <a:srgbClr val="FFFF00"/>
                </a:solidFill>
                <a:latin typeface="Century Schoolbook" panose="02040604050505020304" pitchFamily="18" charset="0"/>
              </a:rPr>
              <a:t>6. </a:t>
            </a:r>
            <a:r>
              <a:rPr lang="en-US" sz="2700" b="1" u="sng" dirty="0">
                <a:solidFill>
                  <a:srgbClr val="FFFF00"/>
                </a:solidFill>
                <a:latin typeface="Century Schoolbook" panose="02040604050505020304" pitchFamily="18" charset="0"/>
              </a:rPr>
              <a:t>Stress testing</a:t>
            </a:r>
            <a:r>
              <a:rPr lang="en-US" sz="2700" b="1" dirty="0">
                <a:solidFill>
                  <a:srgbClr val="FFFF00"/>
                </a:solidFill>
                <a:latin typeface="Century Schoolbook" panose="02040604050505020304" pitchFamily="18" charset="0"/>
              </a:rPr>
              <a:t> : -</a:t>
            </a:r>
            <a:r>
              <a:rPr lang="en-US" sz="2700" dirty="0">
                <a:solidFill>
                  <a:srgbClr val="FFFF00"/>
                </a:solidFill>
                <a:latin typeface="Algerian" panose="04020705040A02060702" pitchFamily="82" charset="0"/>
              </a:rPr>
              <a:t> </a:t>
            </a:r>
            <a:r>
              <a:rPr lang="en-US" sz="2700" b="1" dirty="0">
                <a:latin typeface="Century Schoolbook" panose="02040604050505020304" pitchFamily="18" charset="0"/>
              </a:rPr>
              <a:t>Stress testing is a type of software testing that verifies stability &amp; reliability of software application.</a:t>
            </a:r>
            <a:br>
              <a:rPr lang="en-US" sz="2700" b="1" dirty="0">
                <a:latin typeface="Century Schoolbook" panose="02040604050505020304" pitchFamily="18" charset="0"/>
              </a:rPr>
            </a:br>
            <a:r>
              <a:rPr lang="en-US" sz="2700" b="1" dirty="0">
                <a:solidFill>
                  <a:srgbClr val="FFFF00"/>
                </a:solidFill>
                <a:latin typeface="Century Schoolbook" panose="02040604050505020304" pitchFamily="18" charset="0"/>
              </a:rPr>
              <a:t>7. </a:t>
            </a:r>
            <a:r>
              <a:rPr lang="en-US" sz="2700" b="1" u="sng" dirty="0">
                <a:solidFill>
                  <a:srgbClr val="FFFF00"/>
                </a:solidFill>
                <a:latin typeface="Century Schoolbook" panose="02040604050505020304" pitchFamily="18" charset="0"/>
              </a:rPr>
              <a:t>Security testing</a:t>
            </a:r>
            <a:r>
              <a:rPr lang="en-US" sz="2700" b="1" dirty="0">
                <a:solidFill>
                  <a:srgbClr val="FFFF00"/>
                </a:solidFill>
                <a:latin typeface="Century Schoolbook" panose="02040604050505020304" pitchFamily="18" charset="0"/>
              </a:rPr>
              <a:t> : </a:t>
            </a:r>
            <a:r>
              <a:rPr lang="en-US" sz="3100" b="1" dirty="0">
                <a:solidFill>
                  <a:srgbClr val="FFFF00"/>
                </a:solidFill>
                <a:latin typeface="Century Schoolbook" panose="02040604050505020304" pitchFamily="18" charset="0"/>
              </a:rPr>
              <a:t>- </a:t>
            </a:r>
            <a:r>
              <a:rPr lang="en-US" sz="2200" b="1" dirty="0">
                <a:latin typeface="Century Schoolbook" panose="02040604050505020304" pitchFamily="18" charset="0"/>
              </a:rPr>
              <a:t>It is a type of software testing that uncovers </a:t>
            </a:r>
            <a:r>
              <a:rPr lang="en-US" sz="2200" b="1" dirty="0" err="1">
                <a:latin typeface="Century Schoolbook" panose="02040604050505020304" pitchFamily="18" charset="0"/>
              </a:rPr>
              <a:t>vulner</a:t>
            </a:r>
            <a:r>
              <a:rPr lang="en-US" sz="2200" b="1" dirty="0">
                <a:latin typeface="Century Schoolbook" panose="02040604050505020304" pitchFamily="18" charset="0"/>
              </a:rPr>
              <a:t> abilities of resources of the system are protected from possible intruders or risks.</a:t>
            </a:r>
            <a:br>
              <a:rPr lang="en-US" sz="2200" b="1" dirty="0">
                <a:latin typeface="Century Schoolbook" panose="02040604050505020304" pitchFamily="18" charset="0"/>
              </a:rPr>
            </a:br>
            <a:br>
              <a:rPr lang="en-US" sz="3600" b="1" dirty="0">
                <a:latin typeface="Century Schoolbook" panose="02040604050505020304" pitchFamily="18" charset="0"/>
              </a:rPr>
            </a:br>
            <a:br>
              <a:rPr lang="en-US" dirty="0">
                <a:latin typeface="Century Schoolbook" panose="02040604050505020304" pitchFamily="18" charset="0"/>
              </a:rPr>
            </a:b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6CEF92A-F7B6-F488-10B8-B3CA47ED0163}"/>
              </a:ext>
            </a:extLst>
          </p:cNvPr>
          <p:cNvSpPr>
            <a:spLocks noGrp="1"/>
          </p:cNvSpPr>
          <p:nvPr>
            <p:ph type="body" idx="1"/>
          </p:nvPr>
        </p:nvSpPr>
        <p:spPr>
          <a:xfrm rot="10800000">
            <a:off x="685800" y="7000568"/>
            <a:ext cx="10131428" cy="1219200"/>
          </a:xfrm>
        </p:spPr>
        <p:txBody>
          <a:bodyPr/>
          <a:lstStyle/>
          <a:p>
            <a:endParaRPr lang="en-IN" dirty="0"/>
          </a:p>
        </p:txBody>
      </p:sp>
    </p:spTree>
    <p:extLst>
      <p:ext uri="{BB962C8B-B14F-4D97-AF65-F5344CB8AC3E}">
        <p14:creationId xmlns:p14="http://schemas.microsoft.com/office/powerpoint/2010/main" val="8921004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6387B-A8FE-C800-66B1-B8646E46DFE9}"/>
              </a:ext>
            </a:extLst>
          </p:cNvPr>
          <p:cNvSpPr>
            <a:spLocks noGrp="1"/>
          </p:cNvSpPr>
          <p:nvPr>
            <p:ph type="title"/>
          </p:nvPr>
        </p:nvSpPr>
        <p:spPr>
          <a:xfrm>
            <a:off x="0" y="-125851"/>
            <a:ext cx="10131427" cy="855406"/>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acceptance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1636B85-68B9-092F-A3B3-BD2227622EC0}"/>
              </a:ext>
            </a:extLst>
          </p:cNvPr>
          <p:cNvSpPr>
            <a:spLocks noGrp="1"/>
          </p:cNvSpPr>
          <p:nvPr>
            <p:ph type="body" idx="1"/>
          </p:nvPr>
        </p:nvSpPr>
        <p:spPr>
          <a:xfrm>
            <a:off x="0" y="761020"/>
            <a:ext cx="12192000" cy="5766616"/>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It is a software testing where system is tested for acceptability FG.</a:t>
            </a:r>
          </a:p>
          <a:p>
            <a:pPr marL="342900" indent="-342900">
              <a:buFont typeface="Wingdings" panose="05000000000000000000" pitchFamily="2" charset="2"/>
              <a:buChar char="Ø"/>
            </a:pPr>
            <a:r>
              <a:rPr lang="en-US" sz="2400" b="1" dirty="0">
                <a:latin typeface="Century Schoolbook" panose="02040604050505020304" pitchFamily="18" charset="0"/>
              </a:rPr>
              <a:t>The major aim of this test is to evaluate the compliance pay of the system with the business requirements and assess whether it is acceptance for delivery or not. </a:t>
            </a:r>
          </a:p>
          <a:p>
            <a:pPr marL="342900" indent="-342900">
              <a:buFont typeface="Wingdings" panose="05000000000000000000" pitchFamily="2" charset="2"/>
              <a:buChar char="Ø"/>
            </a:pPr>
            <a:r>
              <a:rPr lang="en-US" sz="2400" b="1" dirty="0">
                <a:latin typeface="Century Schoolbook" panose="02040604050505020304" pitchFamily="18" charset="0"/>
              </a:rPr>
              <a:t>Acceptance Testing is the last phase of software testing performed after system testing and before making the system available for actual use.</a:t>
            </a:r>
          </a:p>
          <a:p>
            <a:pPr marL="342900" indent="-342900">
              <a:buFont typeface="Wingdings" panose="05000000000000000000" pitchFamily="2" charset="2"/>
              <a:buChar char="Ø"/>
            </a:pPr>
            <a:r>
              <a:rPr lang="en-US" sz="2800" b="1" u="sng" dirty="0">
                <a:solidFill>
                  <a:srgbClr val="FFFF00"/>
                </a:solidFill>
                <a:latin typeface="Century Schoolbook" panose="02040604050505020304" pitchFamily="18" charset="0"/>
              </a:rPr>
              <a:t>Types of Acceptance testing</a:t>
            </a:r>
            <a:r>
              <a:rPr lang="en-US" sz="2800" b="1" dirty="0">
                <a:solidFill>
                  <a:srgbClr val="FFFF00"/>
                </a:solidFill>
                <a:latin typeface="Century Schoolbook" panose="02040604050505020304" pitchFamily="18" charset="0"/>
              </a:rPr>
              <a:t> : -</a:t>
            </a:r>
            <a:endParaRPr lang="en-US" sz="2400" b="1" dirty="0">
              <a:solidFill>
                <a:srgbClr val="FFFF00"/>
              </a:solidFill>
              <a:latin typeface="Century Schoolbook" panose="02040604050505020304" pitchFamily="18" charset="0"/>
            </a:endParaRPr>
          </a:p>
          <a:p>
            <a:pPr marL="457200" indent="-457200">
              <a:buAutoNum type="arabicParenR"/>
            </a:pPr>
            <a:r>
              <a:rPr lang="en-US" b="1" dirty="0">
                <a:latin typeface="Century Schoolbook" panose="02040604050505020304" pitchFamily="18" charset="0"/>
              </a:rPr>
              <a:t>User Acceptance Testing (UAT).</a:t>
            </a:r>
          </a:p>
          <a:p>
            <a:pPr marL="457200" indent="-457200">
              <a:buAutoNum type="arabicParenR"/>
            </a:pPr>
            <a:r>
              <a:rPr lang="en-US" b="1" dirty="0">
                <a:latin typeface="Century Schoolbook" panose="02040604050505020304" pitchFamily="18" charset="0"/>
              </a:rPr>
              <a:t>Business Acceptance Testing (BAT).</a:t>
            </a:r>
          </a:p>
          <a:p>
            <a:pPr marL="457200" indent="-457200">
              <a:buAutoNum type="arabicParenR"/>
            </a:pPr>
            <a:r>
              <a:rPr lang="en-US" b="1" dirty="0">
                <a:latin typeface="Century Schoolbook" panose="02040604050505020304" pitchFamily="18" charset="0"/>
              </a:rPr>
              <a:t>Contract Acceptance Testing (CAT).</a:t>
            </a:r>
          </a:p>
          <a:p>
            <a:pPr marL="457200" indent="-457200">
              <a:buAutoNum type="arabicParenR"/>
            </a:pPr>
            <a:r>
              <a:rPr lang="en-US" b="1" dirty="0">
                <a:latin typeface="Century Schoolbook" panose="02040604050505020304" pitchFamily="18" charset="0"/>
              </a:rPr>
              <a:t>Regulations Acceptance Testing (RAT).</a:t>
            </a:r>
          </a:p>
          <a:p>
            <a:pPr marL="457200" indent="-457200">
              <a:buAutoNum type="arabicParenR"/>
            </a:pPr>
            <a:r>
              <a:rPr lang="en-US" b="1" dirty="0">
                <a:latin typeface="Century Schoolbook" panose="02040604050505020304" pitchFamily="18" charset="0"/>
              </a:rPr>
              <a:t>Operational Acceptance Testing (OAT).</a:t>
            </a:r>
          </a:p>
          <a:p>
            <a:pPr marL="457200" indent="-457200">
              <a:buAutoNum type="arabicParenR"/>
            </a:pPr>
            <a:r>
              <a:rPr lang="en-US" b="1" dirty="0">
                <a:latin typeface="Century Schoolbook" panose="02040604050505020304" pitchFamily="18" charset="0"/>
              </a:rPr>
              <a:t>Alpha testing.</a:t>
            </a:r>
          </a:p>
          <a:p>
            <a:pPr marL="457200" indent="-457200">
              <a:buAutoNum type="arabicParenR"/>
            </a:pPr>
            <a:r>
              <a:rPr lang="en-US" b="1" dirty="0">
                <a:latin typeface="Century Schoolbook" panose="02040604050505020304" pitchFamily="18" charset="0"/>
              </a:rPr>
              <a:t>Beta Testing.</a:t>
            </a:r>
          </a:p>
        </p:txBody>
      </p:sp>
    </p:spTree>
    <p:extLst>
      <p:ext uri="{BB962C8B-B14F-4D97-AF65-F5344CB8AC3E}">
        <p14:creationId xmlns:p14="http://schemas.microsoft.com/office/powerpoint/2010/main" val="4148016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BEBF-3355-5D2B-7EAD-5B204B507A8A}"/>
              </a:ext>
            </a:extLst>
          </p:cNvPr>
          <p:cNvSpPr>
            <a:spLocks noGrp="1"/>
          </p:cNvSpPr>
          <p:nvPr>
            <p:ph type="title"/>
          </p:nvPr>
        </p:nvSpPr>
        <p:spPr>
          <a:xfrm>
            <a:off x="0" y="-105531"/>
            <a:ext cx="10131427" cy="816077"/>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types of acceptance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14F6F63-D0F6-294C-5AD9-22A8CEC8A291}"/>
              </a:ext>
            </a:extLst>
          </p:cNvPr>
          <p:cNvSpPr>
            <a:spLocks noGrp="1"/>
          </p:cNvSpPr>
          <p:nvPr>
            <p:ph type="body" idx="1"/>
          </p:nvPr>
        </p:nvSpPr>
        <p:spPr>
          <a:xfrm>
            <a:off x="0" y="779372"/>
            <a:ext cx="12192000" cy="5739579"/>
          </a:xfrm>
        </p:spPr>
        <p:txBody>
          <a:bodyPr>
            <a:noAutofit/>
          </a:bodyPr>
          <a:lstStyle/>
          <a:p>
            <a:pPr marL="457200" indent="-457200">
              <a:buAutoNum type="arabicPeriod"/>
            </a:pPr>
            <a:r>
              <a:rPr lang="en-US" sz="2400" b="1" u="sng" dirty="0">
                <a:solidFill>
                  <a:srgbClr val="FFFF00"/>
                </a:solidFill>
                <a:latin typeface="Century Schoolbook" panose="02040604050505020304" pitchFamily="18" charset="0"/>
              </a:rPr>
              <a:t>User acceptance testing (VAT)</a:t>
            </a:r>
            <a:r>
              <a:rPr lang="en-US" sz="2400" b="1" dirty="0">
                <a:solidFill>
                  <a:srgbClr val="FFFF00"/>
                </a:solidFill>
                <a:latin typeface="Century Schoolbook" panose="02040604050505020304" pitchFamily="18" charset="0"/>
              </a:rPr>
              <a:t> </a:t>
            </a:r>
            <a:r>
              <a:rPr lang="en-US" sz="2400" b="1" dirty="0">
                <a:latin typeface="Century Schoolbook" panose="02040604050505020304" pitchFamily="18" charset="0"/>
              </a:rPr>
              <a:t>-</a:t>
            </a:r>
            <a:r>
              <a:rPr lang="en-US" b="1" dirty="0">
                <a:latin typeface="Century Schoolbook" panose="02040604050505020304" pitchFamily="18" charset="0"/>
              </a:rPr>
              <a:t> It is used to determine whether the product is working for the user correctly.</a:t>
            </a:r>
          </a:p>
          <a:p>
            <a:pPr marL="457200" indent="-457200">
              <a:buAutoNum type="arabicPeriod"/>
            </a:pPr>
            <a:r>
              <a:rPr lang="en-US" sz="2400" b="1" u="sng" dirty="0">
                <a:solidFill>
                  <a:srgbClr val="FFFF00"/>
                </a:solidFill>
                <a:latin typeface="Century Schoolbook" panose="02040604050505020304" pitchFamily="18" charset="0"/>
              </a:rPr>
              <a:t>Business Acceptance Testing (BAT)</a:t>
            </a:r>
            <a:r>
              <a:rPr lang="en-US" sz="2400" b="1" dirty="0">
                <a:solidFill>
                  <a:srgbClr val="FFFF00"/>
                </a:solidFill>
                <a:latin typeface="Century Schoolbook" panose="02040604050505020304" pitchFamily="18" charset="0"/>
              </a:rPr>
              <a:t> </a:t>
            </a:r>
            <a:r>
              <a:rPr lang="en-US" sz="2400" b="1" dirty="0">
                <a:latin typeface="Century Schoolbook" panose="02040604050505020304" pitchFamily="18" charset="0"/>
              </a:rPr>
              <a:t>- </a:t>
            </a:r>
            <a:r>
              <a:rPr lang="en-US" b="1" dirty="0">
                <a:latin typeface="Century Schoolbook" panose="02040604050505020304" pitchFamily="18" charset="0"/>
              </a:rPr>
              <a:t>It is used to determine whether the product meets the business goals or not.</a:t>
            </a:r>
          </a:p>
          <a:p>
            <a:pPr marL="457200" indent="-457200">
              <a:buAutoNum type="arabicPeriod"/>
            </a:pPr>
            <a:r>
              <a:rPr lang="en-US" sz="2400" b="1" u="sng" dirty="0">
                <a:solidFill>
                  <a:srgbClr val="FFFF00"/>
                </a:solidFill>
                <a:latin typeface="Century Schoolbook" panose="02040604050505020304" pitchFamily="18" charset="0"/>
              </a:rPr>
              <a:t>Contract Acceptance testing (CAT)</a:t>
            </a:r>
            <a:r>
              <a:rPr lang="en-US" sz="2400" b="1" dirty="0">
                <a:latin typeface="Century Schoolbook" panose="02040604050505020304" pitchFamily="18" charset="0"/>
              </a:rPr>
              <a:t> - </a:t>
            </a:r>
            <a:r>
              <a:rPr lang="en-US" b="1" dirty="0">
                <a:latin typeface="Century Schoolbook" panose="02040604050505020304" pitchFamily="18" charset="0"/>
              </a:rPr>
              <a:t>CAT is a contract that specifies that once the product goes live, within a </a:t>
            </a:r>
            <a:r>
              <a:rPr lang="en-US" b="1" dirty="0" err="1">
                <a:latin typeface="Century Schoolbook" panose="02040604050505020304" pitchFamily="18" charset="0"/>
              </a:rPr>
              <a:t>predeter</a:t>
            </a:r>
            <a:r>
              <a:rPr lang="en-US" b="1" dirty="0">
                <a:latin typeface="Century Schoolbook" panose="02040604050505020304" pitchFamily="18" charset="0"/>
              </a:rPr>
              <a:t> mined period, the acceptance test must be performed, and </a:t>
            </a:r>
            <a:r>
              <a:rPr lang="en-US" b="1" dirty="0" err="1">
                <a:latin typeface="Century Schoolbook" panose="02040604050505020304" pitchFamily="18" charset="0"/>
              </a:rPr>
              <a:t>mimit</a:t>
            </a:r>
            <a:r>
              <a:rPr lang="en-US" b="1" dirty="0">
                <a:latin typeface="Century Schoolbook" panose="02040604050505020304" pitchFamily="18" charset="0"/>
              </a:rPr>
              <a:t> should pass all the acceptance use cases.</a:t>
            </a:r>
          </a:p>
          <a:p>
            <a:pPr marL="457200" indent="-457200">
              <a:buAutoNum type="arabicPeriod"/>
            </a:pPr>
            <a:r>
              <a:rPr lang="en-US" sz="2400" b="1" u="sng" dirty="0">
                <a:solidFill>
                  <a:srgbClr val="FFFF00"/>
                </a:solidFill>
                <a:latin typeface="Century Schoolbook" panose="02040604050505020304" pitchFamily="18" charset="0"/>
              </a:rPr>
              <a:t>Regulations Acceptance Testing (RAT)</a:t>
            </a:r>
            <a:r>
              <a:rPr lang="en-US" sz="2400" b="1" dirty="0">
                <a:latin typeface="Century Schoolbook" panose="02040604050505020304" pitchFamily="18" charset="0"/>
              </a:rPr>
              <a:t> - </a:t>
            </a:r>
            <a:r>
              <a:rPr lang="en-US" b="1" dirty="0">
                <a:latin typeface="Century Schoolbook" panose="02040604050505020304" pitchFamily="18" charset="0"/>
              </a:rPr>
              <a:t>RAT is used to determine whether the product violates the rules and </a:t>
            </a:r>
            <a:r>
              <a:rPr lang="en-US" b="1" dirty="0" err="1">
                <a:latin typeface="Century Schoolbook" panose="02040604050505020304" pitchFamily="18" charset="0"/>
              </a:rPr>
              <a:t>Thregulations</a:t>
            </a:r>
            <a:r>
              <a:rPr lang="en-US" b="1" dirty="0">
                <a:latin typeface="Century Schoolbook" panose="02040604050505020304" pitchFamily="18" charset="0"/>
              </a:rPr>
              <a:t> that are defined by the government of the country where it is been released.</a:t>
            </a:r>
          </a:p>
          <a:p>
            <a:pPr marL="457200" indent="-457200">
              <a:buAutoNum type="arabicPeriod"/>
            </a:pPr>
            <a:r>
              <a:rPr lang="en-US" sz="2400" b="1" u="sng" dirty="0">
                <a:solidFill>
                  <a:srgbClr val="FFFF00"/>
                </a:solidFill>
                <a:latin typeface="Century Schoolbook" panose="02040604050505020304" pitchFamily="18" charset="0"/>
              </a:rPr>
              <a:t>Operational acceptance Testing (OAT)</a:t>
            </a:r>
            <a:r>
              <a:rPr lang="en-US" sz="2400" b="1" dirty="0">
                <a:latin typeface="Century Schoolbook" panose="02040604050505020304" pitchFamily="18" charset="0"/>
              </a:rPr>
              <a:t> - </a:t>
            </a:r>
            <a:r>
              <a:rPr lang="en-US" b="1" dirty="0">
                <a:latin typeface="Century Schoolbook" panose="02040604050505020304" pitchFamily="18" charset="0"/>
              </a:rPr>
              <a:t>used to determine the operational readiness of the product.</a:t>
            </a:r>
          </a:p>
          <a:p>
            <a:pPr marL="457200" indent="-457200">
              <a:buAutoNum type="arabicPeriod"/>
            </a:pPr>
            <a:r>
              <a:rPr lang="en-US" sz="2400" b="1" u="sng" dirty="0">
                <a:solidFill>
                  <a:srgbClr val="FFFF00"/>
                </a:solidFill>
                <a:latin typeface="Century Schoolbook" panose="02040604050505020304" pitchFamily="18" charset="0"/>
              </a:rPr>
              <a:t>Alpha testing</a:t>
            </a:r>
            <a:r>
              <a:rPr lang="en-US" sz="2400" b="1" dirty="0">
                <a:latin typeface="Century Schoolbook" panose="02040604050505020304" pitchFamily="18" charset="0"/>
              </a:rPr>
              <a:t> - </a:t>
            </a:r>
            <a:r>
              <a:rPr lang="en-US" b="1" dirty="0">
                <a:latin typeface="Century Schoolbook" panose="02040604050505020304" pitchFamily="18" charset="0"/>
              </a:rPr>
              <a:t>used to determine the product in the development testing environment by a testers team.</a:t>
            </a:r>
          </a:p>
          <a:p>
            <a:pPr marL="457200" indent="-457200">
              <a:buAutoNum type="arabicPeriod"/>
            </a:pPr>
            <a:r>
              <a:rPr lang="en-US" sz="2400" b="1" u="sng" dirty="0">
                <a:solidFill>
                  <a:srgbClr val="FFFF00"/>
                </a:solidFill>
                <a:latin typeface="Century Schoolbook" panose="02040604050505020304" pitchFamily="18" charset="0"/>
              </a:rPr>
              <a:t>Beta Testing</a:t>
            </a:r>
            <a:r>
              <a:rPr lang="en-US" sz="2400" b="1" dirty="0">
                <a:latin typeface="Century Schoolbook" panose="02040604050505020304" pitchFamily="18" charset="0"/>
              </a:rPr>
              <a:t> - </a:t>
            </a:r>
            <a:r>
              <a:rPr lang="en-US" b="1" dirty="0">
                <a:latin typeface="Century Schoolbook" panose="02040604050505020304" pitchFamily="18" charset="0"/>
              </a:rPr>
              <a:t>used to access the product by exposing to the real end users, typically called beta testers.</a:t>
            </a:r>
          </a:p>
        </p:txBody>
      </p:sp>
    </p:spTree>
    <p:extLst>
      <p:ext uri="{BB962C8B-B14F-4D97-AF65-F5344CB8AC3E}">
        <p14:creationId xmlns:p14="http://schemas.microsoft.com/office/powerpoint/2010/main" val="4026832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ABBBB-E8FC-54D4-E76F-7BD5AD5116E8}"/>
              </a:ext>
            </a:extLst>
          </p:cNvPr>
          <p:cNvSpPr>
            <a:spLocks noGrp="1"/>
          </p:cNvSpPr>
          <p:nvPr>
            <p:ph type="title"/>
          </p:nvPr>
        </p:nvSpPr>
        <p:spPr>
          <a:xfrm>
            <a:off x="0" y="-85457"/>
            <a:ext cx="10131427" cy="782319"/>
          </a:xfrm>
        </p:spPr>
        <p:txBody>
          <a:bodyPr>
            <a:norm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acceptance criteria</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042076B-595A-621C-DE11-F49E80230306}"/>
              </a:ext>
            </a:extLst>
          </p:cNvPr>
          <p:cNvSpPr>
            <a:spLocks noGrp="1"/>
          </p:cNvSpPr>
          <p:nvPr>
            <p:ph type="body" idx="1"/>
          </p:nvPr>
        </p:nvSpPr>
        <p:spPr>
          <a:xfrm>
            <a:off x="0" y="521110"/>
            <a:ext cx="11975690" cy="6199238"/>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acceptance criteria consists of various predefined requirements and conditions, which are required to be met and accomplished, to make the software acceptable for end users and customers.</a:t>
            </a:r>
          </a:p>
          <a:p>
            <a:pPr marL="342900" indent="-342900">
              <a:buFont typeface="Wingdings" panose="05000000000000000000" pitchFamily="2" charset="2"/>
              <a:buChar char="Ø"/>
            </a:pPr>
            <a:r>
              <a:rPr lang="en-US" sz="2400" b="1" dirty="0">
                <a:latin typeface="Century Schoolbook" panose="02040604050505020304" pitchFamily="18" charset="0"/>
              </a:rPr>
              <a:t>Acceptance criteria validates the development of the software as well as ensure that it fulfills its expected purpose, without any issue.</a:t>
            </a:r>
          </a:p>
          <a:p>
            <a:pPr marL="342900" indent="-342900">
              <a:buFont typeface="Wingdings" panose="05000000000000000000" pitchFamily="2" charset="2"/>
              <a:buChar char="Ø"/>
            </a:pPr>
            <a:r>
              <a:rPr lang="en-US" sz="2400" b="1" dirty="0">
                <a:latin typeface="Century Schoolbook" panose="02040604050505020304" pitchFamily="18" charset="0"/>
              </a:rPr>
              <a:t>In short, acceptance criteria can be termed as a validation technique.</a:t>
            </a:r>
          </a:p>
          <a:p>
            <a:pPr marL="342900" indent="-342900">
              <a:buFont typeface="Wingdings" panose="05000000000000000000" pitchFamily="2" charset="2"/>
              <a:buChar char="Ø"/>
            </a:pPr>
            <a:r>
              <a:rPr lang="en-US" sz="2400" b="1" dirty="0">
                <a:latin typeface="Century Schoolbook" panose="02040604050505020304" pitchFamily="18" charset="0"/>
              </a:rPr>
              <a:t>Acceptance criteria are conditions in which a software application should satisfy to be accepted by a user or customer.</a:t>
            </a:r>
            <a:endParaRPr lang="en-US" b="1" dirty="0">
              <a:latin typeface="Century Schoolbook" panose="02040604050505020304" pitchFamily="18" charset="0"/>
            </a:endParaRPr>
          </a:p>
          <a:p>
            <a:pPr marL="342900" indent="-342900">
              <a:buFont typeface="Wingdings" panose="05000000000000000000" pitchFamily="2" charset="2"/>
              <a:buChar char="Ø"/>
            </a:pPr>
            <a:r>
              <a:rPr lang="en-US" sz="2400" b="1" dirty="0">
                <a:latin typeface="Century Schoolbook" panose="02040604050505020304" pitchFamily="18" charset="0"/>
              </a:rPr>
              <a:t>Acceptance criteria are defined on the basis of the following attributes -</a:t>
            </a:r>
          </a:p>
          <a:p>
            <a:pPr marL="457200" indent="-457200">
              <a:buAutoNum type="arabicPeriod"/>
            </a:pPr>
            <a:r>
              <a:rPr lang="en-US" b="1" dirty="0">
                <a:latin typeface="Century Schoolbook" panose="02040604050505020304" pitchFamily="18" charset="0"/>
              </a:rPr>
              <a:t>Functional correctness and completeness. </a:t>
            </a:r>
          </a:p>
          <a:p>
            <a:pPr marL="457200" indent="-457200">
              <a:buAutoNum type="arabicPeriod"/>
            </a:pPr>
            <a:r>
              <a:rPr lang="en-US" b="1" dirty="0">
                <a:latin typeface="Century Schoolbook" panose="02040604050505020304" pitchFamily="18" charset="0"/>
              </a:rPr>
              <a:t>Data Integrity.-</a:t>
            </a:r>
          </a:p>
          <a:p>
            <a:pPr marL="457200" indent="-457200">
              <a:buAutoNum type="arabicPeriod"/>
            </a:pPr>
            <a:r>
              <a:rPr lang="en-US" b="1" dirty="0">
                <a:latin typeface="Century Schoolbook" panose="02040604050505020304" pitchFamily="18" charset="0"/>
              </a:rPr>
              <a:t>Usability.</a:t>
            </a:r>
          </a:p>
          <a:p>
            <a:pPr marL="457200" indent="-457200">
              <a:buAutoNum type="arabicPeriod"/>
            </a:pPr>
            <a:r>
              <a:rPr lang="en-US" b="1" dirty="0">
                <a:latin typeface="Century Schoolbook" panose="02040604050505020304" pitchFamily="18" charset="0"/>
              </a:rPr>
              <a:t>Performance.</a:t>
            </a:r>
          </a:p>
          <a:p>
            <a:pPr marL="457200" indent="-457200">
              <a:buAutoNum type="arabicPeriod"/>
            </a:pPr>
            <a:r>
              <a:rPr lang="en-US" b="1" dirty="0">
                <a:latin typeface="Century Schoolbook" panose="02040604050505020304" pitchFamily="18" charset="0"/>
              </a:rPr>
              <a:t>Scalability.</a:t>
            </a:r>
            <a:endParaRPr lang="en-IN" b="1" dirty="0">
              <a:latin typeface="Century Schoolbook" panose="02040604050505020304" pitchFamily="18" charset="0"/>
            </a:endParaRPr>
          </a:p>
        </p:txBody>
      </p:sp>
    </p:spTree>
    <p:extLst>
      <p:ext uri="{BB962C8B-B14F-4D97-AF65-F5344CB8AC3E}">
        <p14:creationId xmlns:p14="http://schemas.microsoft.com/office/powerpoint/2010/main" val="2533926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D3E6D-C62C-A629-1931-7CA6999119C7}"/>
              </a:ext>
            </a:extLst>
          </p:cNvPr>
          <p:cNvSpPr>
            <a:spLocks noGrp="1"/>
          </p:cNvSpPr>
          <p:nvPr>
            <p:ph type="title"/>
          </p:nvPr>
        </p:nvSpPr>
        <p:spPr>
          <a:xfrm>
            <a:off x="137652" y="-586657"/>
            <a:ext cx="12054348" cy="586657"/>
          </a:xfrm>
        </p:spPr>
        <p:txBody>
          <a:bodyPr>
            <a:normAutofit/>
          </a:bodyPr>
          <a:lstStyle/>
          <a:p>
            <a:pPr marL="457200" indent="-457200">
              <a:buFont typeface="Wingdings" panose="05000000000000000000" pitchFamily="2" charset="2"/>
              <a:buChar char="v"/>
            </a:pPr>
            <a:endParaRPr lang="en-IN" sz="28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C98D3359-69C5-35FF-ADCF-131FBE2B33BB}"/>
              </a:ext>
            </a:extLst>
          </p:cNvPr>
          <p:cNvSpPr>
            <a:spLocks noGrp="1"/>
          </p:cNvSpPr>
          <p:nvPr>
            <p:ph type="body" idx="1"/>
          </p:nvPr>
        </p:nvSpPr>
        <p:spPr>
          <a:xfrm>
            <a:off x="137652" y="1"/>
            <a:ext cx="11395587" cy="5574890"/>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Alpha testing </a:t>
            </a:r>
            <a:r>
              <a:rPr lang="en-US" sz="4400" dirty="0">
                <a:solidFill>
                  <a:srgbClr val="FFFF00"/>
                </a:solidFill>
                <a:latin typeface="Algerian" panose="04020705040A02060702" pitchFamily="82" charset="0"/>
              </a:rPr>
              <a:t>: -</a:t>
            </a:r>
          </a:p>
          <a:p>
            <a:r>
              <a:rPr lang="en-US" sz="2400" b="1" dirty="0">
                <a:latin typeface="Century Schoolbook" panose="02040604050505020304" pitchFamily="18" charset="0"/>
              </a:rPr>
              <a:t>1. Alpha testing is a type of acceptance testing : performed to identify all possible issues and bugs before releasing the final product to the end users.“</a:t>
            </a:r>
          </a:p>
          <a:p>
            <a:r>
              <a:rPr lang="en-US" sz="2400" b="1" dirty="0">
                <a:latin typeface="Century Schoolbook" panose="02040604050505020304" pitchFamily="18" charset="0"/>
              </a:rPr>
              <a:t>2. It is performed at developer's site.</a:t>
            </a:r>
            <a:endParaRPr lang="en-US" sz="3600" b="1" dirty="0">
              <a:latin typeface="Century Schoolbook" panose="02040604050505020304" pitchFamily="18" charset="0"/>
            </a:endParaRPr>
          </a:p>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Beta testing </a:t>
            </a:r>
            <a:r>
              <a:rPr lang="en-US" sz="4400" dirty="0">
                <a:solidFill>
                  <a:srgbClr val="FFFF00"/>
                </a:solidFill>
                <a:latin typeface="Algerian" panose="04020705040A02060702" pitchFamily="82" charset="0"/>
              </a:rPr>
              <a:t>: -</a:t>
            </a:r>
            <a:endParaRPr lang="en-US" sz="4400" u="sng" dirty="0">
              <a:solidFill>
                <a:srgbClr val="FFFF00"/>
              </a:solidFill>
              <a:latin typeface="Algerian" panose="04020705040A02060702" pitchFamily="82" charset="0"/>
            </a:endParaRPr>
          </a:p>
          <a:p>
            <a:r>
              <a:rPr lang="en-US" sz="2400" b="1" dirty="0">
                <a:latin typeface="Century Schoolbook" panose="02040604050505020304" pitchFamily="18" charset="0"/>
              </a:rPr>
              <a:t>1. It is performed by "real users" of the software application in                    real environment" and it can be considered as a form of external user acceptance testing.</a:t>
            </a:r>
          </a:p>
          <a:p>
            <a:r>
              <a:rPr lang="en-US" sz="2400" b="1" dirty="0">
                <a:latin typeface="Century Schoolbook" panose="02040604050505020304" pitchFamily="18" charset="0"/>
              </a:rPr>
              <a:t>2. It is the final test before shipping a product to the customers.</a:t>
            </a:r>
          </a:p>
          <a:p>
            <a:r>
              <a:rPr lang="en-US" sz="2400" b="1" dirty="0">
                <a:latin typeface="Century Schoolbook" panose="02040604050505020304" pitchFamily="18" charset="0"/>
              </a:rPr>
              <a:t>3. Testing is performed at client site.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912759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559B-6FDC-C59A-6246-E575FFABD989}"/>
              </a:ext>
            </a:extLst>
          </p:cNvPr>
          <p:cNvSpPr>
            <a:spLocks noGrp="1"/>
          </p:cNvSpPr>
          <p:nvPr>
            <p:ph type="title"/>
          </p:nvPr>
        </p:nvSpPr>
        <p:spPr>
          <a:xfrm>
            <a:off x="116841" y="-74397"/>
            <a:ext cx="11943079" cy="822959"/>
          </a:xfrm>
        </p:spPr>
        <p:txBody>
          <a:bodyPr>
            <a:normAutofit/>
          </a:bodyPr>
          <a:lstStyle/>
          <a:p>
            <a:pPr marL="457200" indent="-457200">
              <a:buFont typeface="Wingdings" panose="05000000000000000000" pitchFamily="2" charset="2"/>
              <a:buChar char="v"/>
            </a:pPr>
            <a:r>
              <a:rPr lang="en-US" dirty="0">
                <a:solidFill>
                  <a:srgbClr val="FFFF00"/>
                </a:solidFill>
                <a:latin typeface="Algerian" panose="04020705040A02060702" pitchFamily="82" charset="0"/>
              </a:rPr>
              <a:t>Difference between alpha testing &amp; beta testing : -</a:t>
            </a: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FB9879C-310C-4A87-1BE7-5D8B12DBF72D}"/>
              </a:ext>
            </a:extLst>
          </p:cNvPr>
          <p:cNvSpPr>
            <a:spLocks noGrp="1"/>
          </p:cNvSpPr>
          <p:nvPr>
            <p:ph type="body" idx="1"/>
          </p:nvPr>
        </p:nvSpPr>
        <p:spPr>
          <a:xfrm>
            <a:off x="116840" y="1071879"/>
            <a:ext cx="11943080" cy="5654039"/>
          </a:xfrm>
        </p:spPr>
        <p:txBody>
          <a:bodyPr/>
          <a:lstStyle/>
          <a:p>
            <a:endParaRPr lang="en-IN" dirty="0"/>
          </a:p>
        </p:txBody>
      </p:sp>
      <p:pic>
        <p:nvPicPr>
          <p:cNvPr id="5" name="Picture 4">
            <a:extLst>
              <a:ext uri="{FF2B5EF4-FFF2-40B4-BE49-F238E27FC236}">
                <a16:creationId xmlns:a16="http://schemas.microsoft.com/office/drawing/2014/main" id="{0A2454B5-DCA8-75E4-EA44-A9CBC743DDCC}"/>
              </a:ext>
            </a:extLst>
          </p:cNvPr>
          <p:cNvPicPr>
            <a:picLocks noChangeAspect="1"/>
          </p:cNvPicPr>
          <p:nvPr/>
        </p:nvPicPr>
        <p:blipFill>
          <a:blip r:embed="rId2"/>
          <a:stretch>
            <a:fillRect/>
          </a:stretch>
        </p:blipFill>
        <p:spPr>
          <a:xfrm>
            <a:off x="2241756" y="748562"/>
            <a:ext cx="7895304" cy="5977356"/>
          </a:xfrm>
          <a:prstGeom prst="rect">
            <a:avLst/>
          </a:prstGeom>
        </p:spPr>
      </p:pic>
    </p:spTree>
    <p:extLst>
      <p:ext uri="{BB962C8B-B14F-4D97-AF65-F5344CB8AC3E}">
        <p14:creationId xmlns:p14="http://schemas.microsoft.com/office/powerpoint/2010/main" val="2138542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60E82-482E-4CA1-148E-A7739E2614F2}"/>
              </a:ext>
            </a:extLst>
          </p:cNvPr>
          <p:cNvSpPr>
            <a:spLocks noGrp="1"/>
          </p:cNvSpPr>
          <p:nvPr>
            <p:ph type="title"/>
          </p:nvPr>
        </p:nvSpPr>
        <p:spPr>
          <a:xfrm>
            <a:off x="0" y="-143877"/>
            <a:ext cx="10131427" cy="955039"/>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Smoke </a:t>
            </a:r>
            <a:r>
              <a:rPr lang="en-US" sz="4400" u="sng" dirty="0" err="1">
                <a:solidFill>
                  <a:srgbClr val="FFFF00"/>
                </a:solidFill>
                <a:latin typeface="Algerian" panose="04020705040A02060702" pitchFamily="82" charset="0"/>
              </a:rPr>
              <a:t>tesing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EAB7A85-C4A0-19D3-966C-EC154EEFBEE9}"/>
              </a:ext>
            </a:extLst>
          </p:cNvPr>
          <p:cNvSpPr>
            <a:spLocks noGrp="1"/>
          </p:cNvSpPr>
          <p:nvPr>
            <p:ph type="body" idx="1"/>
          </p:nvPr>
        </p:nvSpPr>
        <p:spPr>
          <a:xfrm>
            <a:off x="104140" y="264653"/>
            <a:ext cx="11983719" cy="5664199"/>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It is a software testing process                                                                        that determines whether the                                                                                             deployed software build is stable                                                                                         or not.</a:t>
            </a:r>
          </a:p>
          <a:p>
            <a:pPr marL="342900" indent="-342900">
              <a:buFont typeface="Wingdings" panose="05000000000000000000" pitchFamily="2" charset="2"/>
              <a:buChar char="Ø"/>
            </a:pPr>
            <a:r>
              <a:rPr lang="en-US" sz="2400" b="1" dirty="0">
                <a:latin typeface="Century Schoolbook" panose="02040604050505020304" pitchFamily="18" charset="0"/>
              </a:rPr>
              <a:t>Smoke testing is a confirmation                                                                               for QA team to proceed with further                                                                                  software testing.</a:t>
            </a:r>
          </a:p>
          <a:p>
            <a:pPr marL="342900" indent="-342900">
              <a:buFont typeface="Wingdings" panose="05000000000000000000" pitchFamily="2" charset="2"/>
              <a:buChar char="Ø"/>
            </a:pPr>
            <a:r>
              <a:rPr lang="en-US" sz="2400" b="1" dirty="0">
                <a:latin typeface="Century Schoolbook" panose="02040604050505020304" pitchFamily="18" charset="0"/>
              </a:rPr>
              <a:t>It is also called as “Build Verification                                                                                               Testing” or “Confidence Testing”.</a:t>
            </a:r>
          </a:p>
          <a:p>
            <a:pPr marL="342900" indent="-342900">
              <a:buFont typeface="Wingdings" panose="05000000000000000000" pitchFamily="2" charset="2"/>
              <a:buChar char="Ø"/>
            </a:pPr>
            <a:r>
              <a:rPr lang="en-US" sz="2400" b="1" dirty="0">
                <a:latin typeface="Century Schoolbook" panose="02040604050505020304" pitchFamily="18" charset="0"/>
              </a:rPr>
              <a:t>The main aim of smoke testing is to detect early major issues.</a:t>
            </a:r>
          </a:p>
          <a:p>
            <a:pPr marL="342900" indent="-342900">
              <a:buFont typeface="Wingdings" panose="05000000000000000000" pitchFamily="2" charset="2"/>
              <a:buChar char="Ø"/>
            </a:pPr>
            <a:r>
              <a:rPr lang="en-US" sz="2400" b="1" dirty="0">
                <a:latin typeface="Century Schoolbook" panose="02040604050505020304" pitchFamily="18" charset="0"/>
              </a:rPr>
              <a:t>The another aim is to refrain from wasting resources on extensive testing if the core functionality aren't by </a:t>
            </a:r>
            <a:r>
              <a:rPr lang="en-US" sz="2400" b="1" dirty="0" err="1">
                <a:latin typeface="Century Schoolbook" panose="02040604050505020304" pitchFamily="18" charset="0"/>
              </a:rPr>
              <a:t>tho</a:t>
            </a:r>
            <a:r>
              <a:rPr lang="en-US" sz="2400" b="1" dirty="0">
                <a:latin typeface="Century Schoolbook" panose="02040604050505020304" pitchFamily="18" charset="0"/>
              </a:rPr>
              <a:t> working properly. </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17B234C9-8BFC-8B85-B55F-37EC7A5E9D61}"/>
              </a:ext>
            </a:extLst>
          </p:cNvPr>
          <p:cNvPicPr>
            <a:picLocks noChangeAspect="1"/>
          </p:cNvPicPr>
          <p:nvPr/>
        </p:nvPicPr>
        <p:blipFill>
          <a:blip r:embed="rId2"/>
          <a:stretch>
            <a:fillRect/>
          </a:stretch>
        </p:blipFill>
        <p:spPr>
          <a:xfrm>
            <a:off x="6532633" y="707923"/>
            <a:ext cx="5555226" cy="3539613"/>
          </a:xfrm>
          <a:prstGeom prst="rect">
            <a:avLst/>
          </a:prstGeom>
        </p:spPr>
      </p:pic>
    </p:spTree>
    <p:extLst>
      <p:ext uri="{BB962C8B-B14F-4D97-AF65-F5344CB8AC3E}">
        <p14:creationId xmlns:p14="http://schemas.microsoft.com/office/powerpoint/2010/main" val="1359453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D0C1-C32B-1C80-0FF6-A83855F3D384}"/>
              </a:ext>
            </a:extLst>
          </p:cNvPr>
          <p:cNvSpPr>
            <a:spLocks noGrp="1"/>
          </p:cNvSpPr>
          <p:nvPr>
            <p:ph type="title"/>
          </p:nvPr>
        </p:nvSpPr>
        <p:spPr>
          <a:xfrm>
            <a:off x="0" y="-127816"/>
            <a:ext cx="11829025" cy="2307301"/>
          </a:xfrm>
        </p:spPr>
        <p:txBody>
          <a:bodyPr/>
          <a:lstStyle/>
          <a:p>
            <a:pPr marL="457200" indent="-457200">
              <a:buFont typeface="Wingdings" panose="05000000000000000000" pitchFamily="2" charset="2"/>
              <a:buChar char="v"/>
            </a:pP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a:t>
            </a:r>
            <a:br>
              <a:rPr lang="en-US" sz="4000" dirty="0">
                <a:solidFill>
                  <a:srgbClr val="FFFF00"/>
                </a:solidFill>
                <a:latin typeface="Algerian" panose="04020705040A02060702" pitchFamily="82" charset="0"/>
              </a:rPr>
            </a:br>
            <a:r>
              <a:rPr lang="en-US" sz="2800" b="1" dirty="0">
                <a:latin typeface="Century Schoolbook" panose="02040604050505020304" pitchFamily="18" charset="0"/>
              </a:rPr>
              <a:t>1. Easy to perform.</a:t>
            </a:r>
            <a:br>
              <a:rPr lang="en-US" sz="2800" b="1" dirty="0">
                <a:latin typeface="Century Schoolbook" panose="02040604050505020304" pitchFamily="18" charset="0"/>
              </a:rPr>
            </a:br>
            <a:r>
              <a:rPr lang="en-US" sz="2800" b="1" dirty="0">
                <a:latin typeface="Century Schoolbook" panose="02040604050505020304" pitchFamily="18" charset="0"/>
              </a:rPr>
              <a:t>2. Helps in identifying defects in early stages.</a:t>
            </a:r>
            <a:br>
              <a:rPr lang="en-US" sz="2800" b="1" dirty="0">
                <a:latin typeface="Century Schoolbook" panose="02040604050505020304" pitchFamily="18" charset="0"/>
              </a:rPr>
            </a:br>
            <a:r>
              <a:rPr lang="en-US" sz="2800" b="1" dirty="0">
                <a:latin typeface="Century Schoolbook" panose="02040604050505020304" pitchFamily="18" charset="0"/>
              </a:rPr>
              <a:t>3. Saves test efforts and time.</a:t>
            </a:r>
            <a:endParaRPr lang="en-IN"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C0A2F9A1-F64A-0D09-0405-B1AD044AE0DD}"/>
              </a:ext>
            </a:extLst>
          </p:cNvPr>
          <p:cNvSpPr>
            <a:spLocks noGrp="1"/>
          </p:cNvSpPr>
          <p:nvPr>
            <p:ph type="body" idx="1"/>
          </p:nvPr>
        </p:nvSpPr>
        <p:spPr>
          <a:xfrm>
            <a:off x="98323" y="1868128"/>
            <a:ext cx="11621729" cy="3551082"/>
          </a:xfrm>
        </p:spPr>
        <p:txBody>
          <a:bodyPr>
            <a:normAutofit/>
          </a:bodyPr>
          <a:lstStyle/>
          <a:p>
            <a:pPr marL="342900" indent="-342900">
              <a:buFont typeface="Wingdings" panose="05000000000000000000" pitchFamily="2" charset="2"/>
              <a:buChar char="v"/>
            </a:pPr>
            <a:r>
              <a:rPr lang="en-US" sz="4300" u="sng" dirty="0">
                <a:solidFill>
                  <a:srgbClr val="FFFF00"/>
                </a:solidFill>
                <a:latin typeface="Algerian" panose="04020705040A02060702" pitchFamily="82" charset="0"/>
              </a:rPr>
              <a:t>Disadvantages</a:t>
            </a:r>
            <a:r>
              <a:rPr lang="en-US" sz="4300" dirty="0">
                <a:solidFill>
                  <a:srgbClr val="FFFF00"/>
                </a:solidFill>
                <a:latin typeface="Algerian" panose="04020705040A02060702" pitchFamily="82" charset="0"/>
              </a:rPr>
              <a:t> : -</a:t>
            </a:r>
            <a:endParaRPr lang="en-US" sz="3900" dirty="0">
              <a:solidFill>
                <a:srgbClr val="FFFF00"/>
              </a:solidFill>
              <a:latin typeface="Algerian" panose="04020705040A02060702" pitchFamily="82" charset="0"/>
            </a:endParaRPr>
          </a:p>
          <a:p>
            <a:r>
              <a:rPr lang="en-US" sz="3600" dirty="0">
                <a:solidFill>
                  <a:srgbClr val="FFFF00"/>
                </a:solidFill>
                <a:latin typeface="Algerian" panose="04020705040A02060702" pitchFamily="82" charset="0"/>
              </a:rPr>
              <a:t> </a:t>
            </a:r>
            <a:r>
              <a:rPr lang="en-US" sz="3200" b="1" dirty="0">
                <a:latin typeface="Century Schoolbook" panose="02040604050505020304" pitchFamily="18" charset="0"/>
              </a:rPr>
              <a:t>1.</a:t>
            </a:r>
            <a:r>
              <a:rPr lang="en-US" sz="3200" dirty="0">
                <a:latin typeface="Century Schoolbook" panose="02040604050505020304" pitchFamily="18" charset="0"/>
              </a:rPr>
              <a:t> </a:t>
            </a:r>
            <a:r>
              <a:rPr lang="en-US" sz="2800" b="1" dirty="0">
                <a:latin typeface="Century Schoolbook" panose="02040604050505020304" pitchFamily="18" charset="0"/>
              </a:rPr>
              <a:t>It does not cover all the functionality in the application.</a:t>
            </a:r>
          </a:p>
          <a:p>
            <a:r>
              <a:rPr lang="en-US" sz="2800" b="1" dirty="0">
                <a:latin typeface="Century Schoolbook" panose="02040604050505020304" pitchFamily="18" charset="0"/>
              </a:rPr>
              <a:t> 2. Errors may occur even after implementing all the smoke     tests.</a:t>
            </a:r>
          </a:p>
          <a:p>
            <a:r>
              <a:rPr lang="en-US" sz="2800" b="1" dirty="0">
                <a:latin typeface="Century Schoolbook" panose="02040604050505020304" pitchFamily="18" charset="0"/>
              </a:rPr>
              <a:t> 3. It will not be implemented against the negative tests or with invalid inputs.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36765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9FB8-1EAD-AE96-DB0F-30CB49E4B4F2}"/>
              </a:ext>
            </a:extLst>
          </p:cNvPr>
          <p:cNvSpPr>
            <a:spLocks noGrp="1"/>
          </p:cNvSpPr>
          <p:nvPr>
            <p:ph type="title"/>
          </p:nvPr>
        </p:nvSpPr>
        <p:spPr>
          <a:xfrm>
            <a:off x="0" y="0"/>
            <a:ext cx="10131427" cy="786581"/>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Sanity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38A95C3-CC4E-A355-8F61-9A4F1FF55240}"/>
              </a:ext>
            </a:extLst>
          </p:cNvPr>
          <p:cNvSpPr>
            <a:spLocks noGrp="1"/>
          </p:cNvSpPr>
          <p:nvPr>
            <p:ph type="body" idx="1"/>
          </p:nvPr>
        </p:nvSpPr>
        <p:spPr>
          <a:xfrm>
            <a:off x="88491" y="393290"/>
            <a:ext cx="11562736" cy="5592096"/>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It is a kind of software testing that is performed after receiving a software build, with minor changes in code, or functionality to ascertain that the bugs have been fixed and no further issues are introduced due to these changes.</a:t>
            </a:r>
          </a:p>
          <a:p>
            <a:pPr marL="342900" indent="-342900">
              <a:buFont typeface="Wingdings" panose="05000000000000000000" pitchFamily="2" charset="2"/>
              <a:buChar char="Ø"/>
            </a:pPr>
            <a:r>
              <a:rPr lang="en-US" sz="2400" b="1" dirty="0">
                <a:latin typeface="Century Schoolbook" panose="02040604050505020304" pitchFamily="18" charset="0"/>
              </a:rPr>
              <a:t>It is a quick and basic test that's performed on a stable build of the software to ensure that the code changes are working properly.</a:t>
            </a:r>
          </a:p>
          <a:p>
            <a:pPr marL="342900" indent="-342900">
              <a:buFont typeface="Wingdings" panose="05000000000000000000" pitchFamily="2" charset="2"/>
              <a:buChar char="Ø"/>
            </a:pPr>
            <a:r>
              <a:rPr lang="en-US" sz="2400" b="1" dirty="0">
                <a:latin typeface="Century Schoolbook" panose="02040604050505020304" pitchFamily="18" charset="0"/>
              </a:rPr>
              <a:t>Sanity testing is a crucial checkpoint to decide whether to proceed with further testing and if the sanity test fails, the testing team rejects the build.</a:t>
            </a:r>
          </a:p>
          <a:p>
            <a:pPr marL="342900" indent="-342900">
              <a:buFont typeface="Wingdings" panose="05000000000000000000" pitchFamily="2" charset="2"/>
              <a:buChar char="Ø"/>
            </a:pPr>
            <a:r>
              <a:rPr lang="en-US" sz="2400" b="1" dirty="0">
                <a:latin typeface="Century Schoolbook" panose="02040604050505020304" pitchFamily="18" charset="0"/>
              </a:rPr>
              <a:t>Sanity testing typically occurs after smoke testing.</a:t>
            </a:r>
          </a:p>
          <a:p>
            <a:pPr marL="342900" indent="-342900">
              <a:buFont typeface="Wingdings" panose="05000000000000000000" pitchFamily="2" charset="2"/>
              <a:buChar char="Ø"/>
            </a:pPr>
            <a:r>
              <a:rPr lang="en-US" sz="2400" b="1" dirty="0">
                <a:latin typeface="Century Schoolbook" panose="02040604050505020304" pitchFamily="18" charset="0"/>
              </a:rPr>
              <a:t>It is a subset of regression testing and focuses on the smaller section of the application.</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772366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2B61D-BA59-C335-918F-D5D3F2AF40AF}"/>
              </a:ext>
            </a:extLst>
          </p:cNvPr>
          <p:cNvSpPr>
            <a:spLocks noGrp="1"/>
          </p:cNvSpPr>
          <p:nvPr>
            <p:ph type="title"/>
          </p:nvPr>
        </p:nvSpPr>
        <p:spPr>
          <a:xfrm>
            <a:off x="0" y="-678426"/>
            <a:ext cx="12192000" cy="3429000"/>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  </a:t>
            </a:r>
            <a:br>
              <a:rPr lang="en-US" sz="4000" dirty="0">
                <a:solidFill>
                  <a:srgbClr val="FFFF00"/>
                </a:solidFill>
                <a:latin typeface="Algerian" panose="04020705040A02060702" pitchFamily="82" charset="0"/>
              </a:rPr>
            </a:br>
            <a:r>
              <a:rPr lang="en-US" sz="2800" b="1" dirty="0">
                <a:latin typeface="Century Schoolbook" panose="02040604050505020304" pitchFamily="18" charset="0"/>
              </a:rPr>
              <a:t>1. Helps to quickly identified defects in core functionality.</a:t>
            </a:r>
            <a:br>
              <a:rPr lang="en-US" sz="2800" b="1" dirty="0">
                <a:latin typeface="Century Schoolbook" panose="02040604050505020304" pitchFamily="18" charset="0"/>
              </a:rPr>
            </a:br>
            <a:r>
              <a:rPr lang="en-US" sz="2800" b="1" dirty="0">
                <a:latin typeface="Century Schoolbook" panose="02040604050505020304" pitchFamily="18" charset="0"/>
              </a:rPr>
              <a:t>2. Not expensive as compared to another type of testing.</a:t>
            </a:r>
            <a:br>
              <a:rPr lang="en-US" sz="2800" b="1" dirty="0">
                <a:latin typeface="Century Schoolbook" panose="02040604050505020304" pitchFamily="18" charset="0"/>
              </a:rPr>
            </a:br>
            <a:r>
              <a:rPr lang="en-US" sz="2800" b="1" dirty="0">
                <a:latin typeface="Century Schoolbook" panose="02040604050505020304" pitchFamily="18" charset="0"/>
              </a:rPr>
              <a:t>3. Increase confidence in built stability.</a:t>
            </a:r>
            <a:endParaRPr lang="en-IN" b="1"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C354234-79F5-6321-4693-48CCAC720C34}"/>
              </a:ext>
            </a:extLst>
          </p:cNvPr>
          <p:cNvSpPr>
            <a:spLocks noGrp="1"/>
          </p:cNvSpPr>
          <p:nvPr>
            <p:ph type="body" idx="1"/>
          </p:nvPr>
        </p:nvSpPr>
        <p:spPr>
          <a:xfrm>
            <a:off x="68826" y="1667797"/>
            <a:ext cx="12192000" cy="3522406"/>
          </a:xfrm>
        </p:spPr>
        <p:txBody>
          <a:bodyPr>
            <a:normAutofit/>
          </a:bodyPr>
          <a:lstStyle/>
          <a:p>
            <a:pPr marL="342900" indent="-3429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Disadvantages</a:t>
            </a:r>
            <a:r>
              <a:rPr lang="en-US" sz="4000" dirty="0">
                <a:solidFill>
                  <a:srgbClr val="FFFF00"/>
                </a:solidFill>
                <a:latin typeface="Algerian" panose="04020705040A02060702" pitchFamily="82" charset="0"/>
              </a:rPr>
              <a:t> : -</a:t>
            </a:r>
          </a:p>
          <a:p>
            <a:r>
              <a:rPr lang="en-US" sz="2800" b="1" dirty="0">
                <a:latin typeface="Century Schoolbook" panose="02040604050505020304" pitchFamily="18" charset="0"/>
              </a:rPr>
              <a:t>1. </a:t>
            </a:r>
            <a:r>
              <a:rPr lang="en-US" sz="2800" b="1" dirty="0" err="1">
                <a:latin typeface="Century Schoolbook" panose="02040604050505020304" pitchFamily="18" charset="0"/>
              </a:rPr>
              <a:t>Dependancy</a:t>
            </a:r>
            <a:r>
              <a:rPr lang="en-US" sz="2800" b="1" dirty="0">
                <a:latin typeface="Century Schoolbook" panose="02040604050505020304" pitchFamily="18" charset="0"/>
              </a:rPr>
              <a:t> on </a:t>
            </a:r>
            <a:r>
              <a:rPr lang="en-US" sz="2800" b="1" dirty="0" err="1">
                <a:latin typeface="Century Schoolbook" panose="02040604050505020304" pitchFamily="18" charset="0"/>
              </a:rPr>
              <a:t>extertise</a:t>
            </a:r>
            <a:r>
              <a:rPr lang="en-US" sz="2800" b="1" dirty="0">
                <a:latin typeface="Century Schoolbook" panose="02040604050505020304" pitchFamily="18" charset="0"/>
              </a:rPr>
              <a:t>.</a:t>
            </a:r>
          </a:p>
          <a:p>
            <a:r>
              <a:rPr lang="en-US" sz="2800" b="1" dirty="0">
                <a:latin typeface="Century Schoolbook" panose="02040604050505020304" pitchFamily="18" charset="0"/>
              </a:rPr>
              <a:t>2. Sanity testing is unscripted, hence future reference are     not available.</a:t>
            </a:r>
          </a:p>
          <a:p>
            <a:r>
              <a:rPr lang="en-US" sz="2800" b="1" dirty="0">
                <a:latin typeface="Century Schoolbook" panose="02040604050505020304" pitchFamily="18" charset="0"/>
              </a:rPr>
              <a:t>3. Doesn’t cover design structure.</a:t>
            </a:r>
            <a:endParaRPr lang="en-IN" sz="4000" b="1" dirty="0">
              <a:solidFill>
                <a:srgbClr val="FFFF00"/>
              </a:solidFill>
              <a:latin typeface="Algerian" panose="04020705040A02060702" pitchFamily="82" charset="0"/>
            </a:endParaRPr>
          </a:p>
        </p:txBody>
      </p:sp>
    </p:spTree>
    <p:extLst>
      <p:ext uri="{BB962C8B-B14F-4D97-AF65-F5344CB8AC3E}">
        <p14:creationId xmlns:p14="http://schemas.microsoft.com/office/powerpoint/2010/main" val="147172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4F966-F7F0-9788-1557-649021F96FCF}"/>
              </a:ext>
            </a:extLst>
          </p:cNvPr>
          <p:cNvSpPr>
            <a:spLocks noGrp="1"/>
          </p:cNvSpPr>
          <p:nvPr>
            <p:ph type="title"/>
          </p:nvPr>
        </p:nvSpPr>
        <p:spPr>
          <a:xfrm>
            <a:off x="0" y="108604"/>
            <a:ext cx="12192000" cy="697642"/>
          </a:xfrm>
        </p:spPr>
        <p:txBody>
          <a:bodyPr>
            <a:normAutofit/>
          </a:bodyPr>
          <a:lstStyle/>
          <a:p>
            <a:pPr marL="457200" indent="-457200">
              <a:buFont typeface="Wingdings" panose="05000000000000000000" pitchFamily="2" charset="2"/>
              <a:buChar char="v"/>
            </a:pPr>
            <a:r>
              <a:rPr lang="en-US" dirty="0">
                <a:solidFill>
                  <a:srgbClr val="FFFF00"/>
                </a:solidFill>
                <a:latin typeface="Algerian" panose="04020705040A02060702" pitchFamily="82" charset="0"/>
              </a:rPr>
              <a:t>Difference between sanity testing &amp; smoke testing : -</a:t>
            </a: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23B2367-B86D-D07F-01C2-2672C29A8CB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25A0E90-4400-A75C-F45D-F95E6EAC3213}"/>
              </a:ext>
            </a:extLst>
          </p:cNvPr>
          <p:cNvPicPr>
            <a:picLocks noChangeAspect="1"/>
          </p:cNvPicPr>
          <p:nvPr/>
        </p:nvPicPr>
        <p:blipFill>
          <a:blip r:embed="rId2"/>
          <a:stretch>
            <a:fillRect/>
          </a:stretch>
        </p:blipFill>
        <p:spPr>
          <a:xfrm>
            <a:off x="1120876" y="806246"/>
            <a:ext cx="9979743" cy="5943150"/>
          </a:xfrm>
          <a:prstGeom prst="rect">
            <a:avLst/>
          </a:prstGeom>
        </p:spPr>
      </p:pic>
    </p:spTree>
    <p:extLst>
      <p:ext uri="{BB962C8B-B14F-4D97-AF65-F5344CB8AC3E}">
        <p14:creationId xmlns:p14="http://schemas.microsoft.com/office/powerpoint/2010/main" val="1626395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DA975-EE6C-5FF6-A704-7E3967443FA7}"/>
              </a:ext>
            </a:extLst>
          </p:cNvPr>
          <p:cNvSpPr>
            <a:spLocks noGrp="1"/>
          </p:cNvSpPr>
          <p:nvPr>
            <p:ph type="title"/>
          </p:nvPr>
        </p:nvSpPr>
        <p:spPr>
          <a:xfrm>
            <a:off x="0" y="24580"/>
            <a:ext cx="11987979" cy="757083"/>
          </a:xfrm>
        </p:spPr>
        <p:txBody>
          <a:bodyPr>
            <a:no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Regression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017E6EA-1D84-310F-B338-7145006D803D}"/>
              </a:ext>
            </a:extLst>
          </p:cNvPr>
          <p:cNvSpPr>
            <a:spLocks noGrp="1"/>
          </p:cNvSpPr>
          <p:nvPr>
            <p:ph type="body" idx="1"/>
          </p:nvPr>
        </p:nvSpPr>
        <p:spPr>
          <a:xfrm>
            <a:off x="115530" y="255638"/>
            <a:ext cx="11592232" cy="4748981"/>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It is a type of software testing that verifies that update to a software product don't break existing functionality.</a:t>
            </a:r>
          </a:p>
          <a:p>
            <a:pPr marL="457200" indent="-457200">
              <a:buFont typeface="Wingdings" panose="05000000000000000000" pitchFamily="2" charset="2"/>
              <a:buChar char="Ø"/>
            </a:pPr>
            <a:r>
              <a:rPr lang="en-US" sz="2400" b="1" dirty="0">
                <a:latin typeface="Century Schoolbook" panose="02040604050505020304" pitchFamily="18" charset="0"/>
              </a:rPr>
              <a:t>Regression testing is like a software quality checkup after any changes are made.</a:t>
            </a:r>
          </a:p>
          <a:p>
            <a:pPr marL="457200" indent="-457200">
              <a:buFont typeface="Wingdings" panose="05000000000000000000" pitchFamily="2" charset="2"/>
              <a:buChar char="Ø"/>
            </a:pPr>
            <a:r>
              <a:rPr lang="en-US" sz="2400" b="1" dirty="0">
                <a:latin typeface="Century Schoolbook" panose="02040604050505020304" pitchFamily="18" charset="0"/>
              </a:rPr>
              <a:t>It involves running tests to make sure that everything! The still works as it should, even after updates or tweaks to the code.</a:t>
            </a:r>
          </a:p>
          <a:p>
            <a:pPr marL="457200" indent="-457200">
              <a:buFont typeface="Wingdings" panose="05000000000000000000" pitchFamily="2" charset="2"/>
              <a:buChar char="Ø"/>
            </a:pPr>
            <a:r>
              <a:rPr lang="en-US" sz="2400" b="1" dirty="0">
                <a:latin typeface="Century Schoolbook" panose="02040604050505020304" pitchFamily="18" charset="0"/>
              </a:rPr>
              <a:t>This testing ensures that the software remains reliable and functions properly, maintaining the integrity throughout is development lifecycle.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785032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33A19-BC1F-9539-78F9-E2A153763EAE}"/>
              </a:ext>
            </a:extLst>
          </p:cNvPr>
          <p:cNvSpPr>
            <a:spLocks noGrp="1"/>
          </p:cNvSpPr>
          <p:nvPr>
            <p:ph type="title"/>
          </p:nvPr>
        </p:nvSpPr>
        <p:spPr>
          <a:xfrm>
            <a:off x="0" y="-609600"/>
            <a:ext cx="11919155" cy="3301179"/>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a:t>
            </a:r>
            <a:br>
              <a:rPr lang="en-US" sz="4000" dirty="0">
                <a:solidFill>
                  <a:srgbClr val="FFFF00"/>
                </a:solidFill>
                <a:latin typeface="Algerian" panose="04020705040A02060702" pitchFamily="82" charset="0"/>
              </a:rPr>
            </a:br>
            <a:r>
              <a:rPr lang="en-US" sz="2800" b="1" dirty="0">
                <a:latin typeface="Century Schoolbook" panose="02040604050505020304" pitchFamily="18" charset="0"/>
              </a:rPr>
              <a:t>1. Improve product quality.</a:t>
            </a:r>
            <a:br>
              <a:rPr lang="en-US" sz="2800" b="1" dirty="0">
                <a:latin typeface="Century Schoolbook" panose="02040604050505020304" pitchFamily="18" charset="0"/>
              </a:rPr>
            </a:br>
            <a:r>
              <a:rPr lang="en-US" sz="2800" b="1" dirty="0">
                <a:latin typeface="Century Schoolbook" panose="02040604050505020304" pitchFamily="18" charset="0"/>
              </a:rPr>
              <a:t>2. Reusability.</a:t>
            </a:r>
            <a:br>
              <a:rPr lang="en-US" sz="2800" b="1" dirty="0">
                <a:latin typeface="Century Schoolbook" panose="02040604050505020304" pitchFamily="18" charset="0"/>
              </a:rPr>
            </a:br>
            <a:r>
              <a:rPr lang="en-US" sz="2800" b="1" dirty="0">
                <a:latin typeface="Century Schoolbook" panose="02040604050505020304" pitchFamily="18" charset="0"/>
              </a:rPr>
              <a:t>3. Time efficiency.</a:t>
            </a:r>
            <a:endParaRPr lang="en-IN" sz="4000" b="1"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312B946-B898-3435-A018-5DC73766C1C4}"/>
              </a:ext>
            </a:extLst>
          </p:cNvPr>
          <p:cNvSpPr>
            <a:spLocks noGrp="1"/>
          </p:cNvSpPr>
          <p:nvPr>
            <p:ph type="body" idx="1"/>
          </p:nvPr>
        </p:nvSpPr>
        <p:spPr>
          <a:xfrm>
            <a:off x="72513" y="1551036"/>
            <a:ext cx="12046974" cy="3301179"/>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Disadvantages</a:t>
            </a:r>
            <a:r>
              <a:rPr lang="en-US" sz="4000" dirty="0">
                <a:solidFill>
                  <a:srgbClr val="FFFF00"/>
                </a:solidFill>
                <a:latin typeface="Algerian" panose="04020705040A02060702" pitchFamily="82" charset="0"/>
              </a:rPr>
              <a:t> : -</a:t>
            </a:r>
          </a:p>
          <a:p>
            <a:r>
              <a:rPr lang="en-US" sz="2800" b="1" dirty="0">
                <a:latin typeface="Century Schoolbook" panose="02040604050505020304" pitchFamily="18" charset="0"/>
              </a:rPr>
              <a:t>1. It required even after very small changes in    the code.</a:t>
            </a:r>
          </a:p>
          <a:p>
            <a:r>
              <a:rPr lang="en-US" sz="2800" b="1" dirty="0">
                <a:latin typeface="Century Schoolbook" panose="02040604050505020304" pitchFamily="18" charset="0"/>
              </a:rPr>
              <a:t>2. Test data management challenge.</a:t>
            </a:r>
          </a:p>
          <a:p>
            <a:r>
              <a:rPr lang="en-US" sz="2800" b="1" dirty="0">
                <a:latin typeface="Century Schoolbook" panose="02040604050505020304" pitchFamily="18" charset="0"/>
              </a:rPr>
              <a:t>3. Resources required.</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259748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9DEE-29C4-3A5E-496F-0BD257A5ED23}"/>
              </a:ext>
            </a:extLst>
          </p:cNvPr>
          <p:cNvSpPr>
            <a:spLocks noGrp="1"/>
          </p:cNvSpPr>
          <p:nvPr>
            <p:ph type="title"/>
          </p:nvPr>
        </p:nvSpPr>
        <p:spPr>
          <a:xfrm>
            <a:off x="95865" y="0"/>
            <a:ext cx="10131427" cy="893506"/>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Gui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8F3D022-5121-B047-3689-0ADA52ED5701}"/>
              </a:ext>
            </a:extLst>
          </p:cNvPr>
          <p:cNvSpPr>
            <a:spLocks noGrp="1"/>
          </p:cNvSpPr>
          <p:nvPr>
            <p:ph type="body" idx="1"/>
          </p:nvPr>
        </p:nvSpPr>
        <p:spPr>
          <a:xfrm>
            <a:off x="95865" y="224913"/>
            <a:ext cx="11476703" cy="5818237"/>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It is a testing method that checks the Graphical User Interface of the software.</a:t>
            </a:r>
          </a:p>
          <a:p>
            <a:pPr marL="457200" indent="-457200">
              <a:buFont typeface="Wingdings" panose="05000000000000000000" pitchFamily="2" charset="2"/>
              <a:buChar char="Ø"/>
            </a:pPr>
            <a:r>
              <a:rPr lang="en-US" sz="2400" b="1" dirty="0">
                <a:latin typeface="Century Schoolbook" panose="02040604050505020304" pitchFamily="18" charset="0"/>
              </a:rPr>
              <a:t>The purpose of Graphical User Interface (GUI) testing is to ensure that the functionalities of the software application works as per specifications by checking screens and controls like menus, buttons, icons, etc.</a:t>
            </a:r>
          </a:p>
          <a:p>
            <a:pPr marL="457200" indent="-457200">
              <a:buFont typeface="Wingdings" panose="05000000000000000000" pitchFamily="2" charset="2"/>
              <a:buChar char="Ø"/>
            </a:pPr>
            <a:r>
              <a:rPr lang="en-US" sz="2400" b="1" dirty="0">
                <a:latin typeface="Century Schoolbook" panose="02040604050505020304" pitchFamily="18" charset="0"/>
              </a:rPr>
              <a:t>GUI testing processes may be either manual or automate and are often performed by third party companies, rather than developers or end users.</a:t>
            </a:r>
          </a:p>
          <a:p>
            <a:pPr marL="457200" indent="-457200">
              <a:buFont typeface="Wingdings" panose="05000000000000000000" pitchFamily="2" charset="2"/>
              <a:buChar char="Ø"/>
            </a:pPr>
            <a:r>
              <a:rPr lang="en-US" sz="2400" b="1" dirty="0">
                <a:latin typeface="Century Schoolbook" panose="02040604050505020304" pitchFamily="18" charset="0"/>
              </a:rPr>
              <a:t>It provides customizable test reports.</a:t>
            </a:r>
          </a:p>
          <a:p>
            <a:pPr marL="457200" indent="-457200">
              <a:buFont typeface="Wingdings" panose="05000000000000000000" pitchFamily="2" charset="2"/>
              <a:buChar char="Ø"/>
            </a:pPr>
            <a:r>
              <a:rPr lang="en-US" sz="2400" b="1" dirty="0">
                <a:latin typeface="Century Schoolbook" panose="02040604050505020304" pitchFamily="18" charset="0"/>
              </a:rPr>
              <a:t>It tests the functionality from the user’s perspective.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751781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10FD-6E55-07C6-A7A4-802CB98FA699}"/>
              </a:ext>
            </a:extLst>
          </p:cNvPr>
          <p:cNvSpPr>
            <a:spLocks noGrp="1"/>
          </p:cNvSpPr>
          <p:nvPr>
            <p:ph type="title"/>
          </p:nvPr>
        </p:nvSpPr>
        <p:spPr>
          <a:xfrm>
            <a:off x="0" y="-481781"/>
            <a:ext cx="12015018" cy="3124199"/>
          </a:xfrm>
        </p:spPr>
        <p:txBody>
          <a:bodyPr>
            <a:normAutofit/>
          </a:bodyPr>
          <a:lstStyle/>
          <a:p>
            <a:pPr marL="457200" indent="-457200">
              <a:buFont typeface="Wingdings" panose="05000000000000000000" pitchFamily="2" charset="2"/>
              <a:buChar char="v"/>
            </a:pP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a:t>
            </a:r>
            <a:r>
              <a:rPr lang="en-US" sz="4000" dirty="0"/>
              <a:t> </a:t>
            </a:r>
            <a:br>
              <a:rPr lang="en-US" dirty="0"/>
            </a:br>
            <a:r>
              <a:rPr lang="en-US" sz="2800" b="1" dirty="0">
                <a:latin typeface="Century Schoolbook" panose="02040604050505020304" pitchFamily="18" charset="0"/>
              </a:rPr>
              <a:t>1) Releases an error free application.</a:t>
            </a:r>
            <a:br>
              <a:rPr lang="en-US" sz="2800" b="1" dirty="0">
                <a:latin typeface="Century Schoolbook" panose="02040604050505020304" pitchFamily="18" charset="0"/>
              </a:rPr>
            </a:br>
            <a:r>
              <a:rPr lang="en-US" sz="2800" b="1" dirty="0">
                <a:latin typeface="Century Schoolbook" panose="02040604050505020304" pitchFamily="18" charset="0"/>
              </a:rPr>
              <a:t>2) Increase the efficiency of application.</a:t>
            </a:r>
            <a:br>
              <a:rPr lang="en-US" sz="2800" b="1" dirty="0">
                <a:latin typeface="Century Schoolbook" panose="02040604050505020304" pitchFamily="18" charset="0"/>
              </a:rPr>
            </a:br>
            <a:r>
              <a:rPr lang="en-US" sz="2800" b="1" dirty="0">
                <a:latin typeface="Century Schoolbook" panose="02040604050505020304" pitchFamily="18" charset="0"/>
              </a:rPr>
              <a:t>3) Improves the software quality.</a:t>
            </a:r>
            <a:endParaRPr lang="en-IN"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C3D50ED4-FB11-FC9F-FEE4-0C0CB27CDEED}"/>
              </a:ext>
            </a:extLst>
          </p:cNvPr>
          <p:cNvSpPr>
            <a:spLocks noGrp="1"/>
          </p:cNvSpPr>
          <p:nvPr>
            <p:ph type="body" idx="1"/>
          </p:nvPr>
        </p:nvSpPr>
        <p:spPr>
          <a:xfrm>
            <a:off x="0" y="1150373"/>
            <a:ext cx="11838036" cy="4227871"/>
          </a:xfrm>
        </p:spPr>
        <p:txBody>
          <a:bodyPr>
            <a:normAutofit/>
          </a:bodyPr>
          <a:lstStyle/>
          <a:p>
            <a:pPr marL="342900" indent="-342900">
              <a:buFont typeface="Wingdings" panose="05000000000000000000" pitchFamily="2" charset="2"/>
              <a:buChar char="v"/>
            </a:pPr>
            <a:r>
              <a:rPr lang="en-US" sz="4000" u="sng" dirty="0">
                <a:solidFill>
                  <a:srgbClr val="FFFF00"/>
                </a:solidFill>
                <a:latin typeface="Algerian" panose="04020705040A02060702" pitchFamily="82" charset="0"/>
              </a:rPr>
              <a:t>Disadvantages</a:t>
            </a:r>
            <a:r>
              <a:rPr lang="en-US" sz="4000" dirty="0">
                <a:solidFill>
                  <a:srgbClr val="FFFF00"/>
                </a:solidFill>
                <a:latin typeface="Algerian" panose="04020705040A02060702" pitchFamily="82" charset="0"/>
              </a:rPr>
              <a:t> : -</a:t>
            </a:r>
          </a:p>
          <a:p>
            <a:r>
              <a:rPr lang="en-US" sz="3200" dirty="0">
                <a:latin typeface="Century Schoolbook" panose="02040604050505020304" pitchFamily="18" charset="0"/>
              </a:rPr>
              <a:t>   </a:t>
            </a:r>
            <a:r>
              <a:rPr lang="en-US" sz="2800" b="1" dirty="0">
                <a:latin typeface="Century Schoolbook" panose="02040604050505020304" pitchFamily="18" charset="0"/>
              </a:rPr>
              <a:t>1) Time consuming.</a:t>
            </a:r>
          </a:p>
          <a:p>
            <a:r>
              <a:rPr lang="en-US" sz="2800" b="1" dirty="0">
                <a:latin typeface="Century Schoolbook" panose="02040604050505020304" pitchFamily="18" charset="0"/>
              </a:rPr>
              <a:t>   2) Extra software required. </a:t>
            </a:r>
          </a:p>
          <a:p>
            <a:r>
              <a:rPr lang="en-US" sz="2800" b="1" dirty="0">
                <a:latin typeface="Century Schoolbook" panose="02040604050505020304" pitchFamily="18" charset="0"/>
              </a:rPr>
              <a:t>   3) Frequent updates Needed.</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70266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3453-D6BA-57FC-2C1C-434A054C3E5C}"/>
              </a:ext>
            </a:extLst>
          </p:cNvPr>
          <p:cNvSpPr>
            <a:spLocks noGrp="1"/>
          </p:cNvSpPr>
          <p:nvPr>
            <p:ph type="title"/>
          </p:nvPr>
        </p:nvSpPr>
        <p:spPr>
          <a:xfrm>
            <a:off x="154859" y="137653"/>
            <a:ext cx="10131427" cy="786579"/>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Object oriented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95DC11C-8BE1-CAD4-25D0-97D12BA27FB2}"/>
              </a:ext>
            </a:extLst>
          </p:cNvPr>
          <p:cNvSpPr>
            <a:spLocks noGrp="1"/>
          </p:cNvSpPr>
          <p:nvPr>
            <p:ph type="body" idx="1"/>
          </p:nvPr>
        </p:nvSpPr>
        <p:spPr>
          <a:xfrm>
            <a:off x="0" y="481780"/>
            <a:ext cx="12074012" cy="98323"/>
          </a:xfrm>
        </p:spPr>
        <p:txBody>
          <a:bodyPr>
            <a:noAutofit/>
          </a:bodyPr>
          <a:lstStyle/>
          <a:p>
            <a:r>
              <a:rPr lang="en-US" sz="2400" b="1" dirty="0">
                <a:latin typeface="Century Schoolbook" panose="02040604050505020304" pitchFamily="18" charset="0"/>
              </a:rPr>
              <a:t>5) Object oriented Testing -</a:t>
            </a:r>
          </a:p>
          <a:p>
            <a:r>
              <a:rPr lang="en-US" sz="2400" b="1" dirty="0" err="1">
                <a:latin typeface="Century Schoolbook" panose="02040604050505020304" pitchFamily="18" charset="0"/>
              </a:rPr>
              <a:t>i</a:t>
            </a:r>
            <a:r>
              <a:rPr lang="en-US" sz="2400" b="1" dirty="0">
                <a:latin typeface="Century Schoolbook" panose="02040604050505020304" pitchFamily="18" charset="0"/>
              </a:rPr>
              <a:t>) </a:t>
            </a: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endParaRPr lang="en-US" sz="2400" b="1" dirty="0">
              <a:latin typeface="Century Schoolbook" panose="02040604050505020304" pitchFamily="18" charset="0"/>
            </a:endParaRPr>
          </a:p>
          <a:p>
            <a:pPr marL="342900" indent="-342900">
              <a:buFont typeface="Wingdings" panose="05000000000000000000" pitchFamily="2" charset="2"/>
              <a:buChar char="Ø"/>
            </a:pPr>
            <a:r>
              <a:rPr lang="en-US" b="1" dirty="0">
                <a:latin typeface="Century Schoolbook" panose="02040604050505020304" pitchFamily="18" charset="0"/>
              </a:rPr>
              <a:t>Whenever large scale systems are designed object oriented testing is done rather than the conventional testing strategies.</a:t>
            </a:r>
          </a:p>
          <a:p>
            <a:pPr marL="342900" indent="-342900">
              <a:buFont typeface="Wingdings" panose="05000000000000000000" pitchFamily="2" charset="2"/>
              <a:buChar char="Ø"/>
            </a:pPr>
            <a:r>
              <a:rPr lang="en-US" b="1" dirty="0">
                <a:latin typeface="Century Schoolbook" panose="02040604050505020304" pitchFamily="18" charset="0"/>
              </a:rPr>
              <a:t>The whole object oriented testing revolves around the fundamental entity know as "class".</a:t>
            </a:r>
          </a:p>
          <a:p>
            <a:pPr marL="342900" indent="-342900">
              <a:buFont typeface="Wingdings" panose="05000000000000000000" pitchFamily="2" charset="2"/>
              <a:buChar char="Ø"/>
            </a:pPr>
            <a:r>
              <a:rPr lang="en-US" b="1" dirty="0">
                <a:latin typeface="Century Schoolbook" panose="02040604050505020304" pitchFamily="18" charset="0"/>
              </a:rPr>
              <a:t>With the help of class concept, larger systems are divided into small well defined units which can be implemented separately.</a:t>
            </a:r>
          </a:p>
          <a:p>
            <a:pPr marL="342900" indent="-342900">
              <a:buFont typeface="Wingdings" panose="05000000000000000000" pitchFamily="2" charset="2"/>
              <a:buChar char="Ø"/>
            </a:pPr>
            <a:r>
              <a:rPr lang="en-US" b="1" dirty="0">
                <a:latin typeface="Century Schoolbook" panose="02040604050505020304" pitchFamily="18" charset="0"/>
              </a:rPr>
              <a:t>Levels  of object oriented testing : -</a:t>
            </a:r>
          </a:p>
          <a:p>
            <a:pPr marL="457200" indent="-457200">
              <a:buAutoNum type="arabicParenR"/>
            </a:pPr>
            <a:r>
              <a:rPr lang="en-US" b="1" u="sng" dirty="0">
                <a:solidFill>
                  <a:srgbClr val="FFFF00"/>
                </a:solidFill>
                <a:latin typeface="Century Schoolbook" panose="02040604050505020304" pitchFamily="18" charset="0"/>
              </a:rPr>
              <a:t>Class Testing</a:t>
            </a:r>
            <a:r>
              <a:rPr lang="en-US" b="1" dirty="0">
                <a:solidFill>
                  <a:srgbClr val="FFFF00"/>
                </a:solidFill>
                <a:latin typeface="Century Schoolbook" panose="02040604050505020304" pitchFamily="18" charset="0"/>
              </a:rPr>
              <a:t> : -</a:t>
            </a:r>
          </a:p>
          <a:p>
            <a:r>
              <a:rPr lang="en-US" b="1" dirty="0" err="1">
                <a:latin typeface="Century Schoolbook" panose="02040604050505020304" pitchFamily="18" charset="0"/>
              </a:rPr>
              <a:t>i</a:t>
            </a:r>
            <a:r>
              <a:rPr lang="en-US" b="1" dirty="0">
                <a:latin typeface="Century Schoolbook" panose="02040604050505020304" pitchFamily="18" charset="0"/>
              </a:rPr>
              <a:t>) It is also known as unit testing. </a:t>
            </a:r>
          </a:p>
          <a:p>
            <a:r>
              <a:rPr lang="en-US" b="1" dirty="0">
                <a:latin typeface="Century Schoolbook" panose="02040604050505020304" pitchFamily="18" charset="0"/>
              </a:rPr>
              <a:t>ii) class testing </a:t>
            </a:r>
            <a:r>
              <a:rPr lang="en-US" b="1" dirty="0" err="1">
                <a:latin typeface="Century Schoolbook" panose="02040604050505020304" pitchFamily="18" charset="0"/>
              </a:rPr>
              <a:t>ensuvies</a:t>
            </a:r>
            <a:r>
              <a:rPr lang="en-US" b="1" dirty="0">
                <a:latin typeface="Century Schoolbook" panose="02040604050505020304" pitchFamily="18" charset="0"/>
              </a:rPr>
              <a:t> that the attributes of class are Implemented as per the design and specifications, it also checks the interfaces and methods are error free.</a:t>
            </a:r>
          </a:p>
          <a:p>
            <a:r>
              <a:rPr lang="en-US" b="1" dirty="0">
                <a:latin typeface="Century Schoolbook" panose="02040604050505020304" pitchFamily="18" charset="0"/>
              </a:rPr>
              <a:t>2) </a:t>
            </a:r>
            <a:r>
              <a:rPr lang="en-US" b="1" u="sng" dirty="0">
                <a:solidFill>
                  <a:srgbClr val="FFFF00"/>
                </a:solidFill>
                <a:latin typeface="Century Schoolbook" panose="02040604050505020304" pitchFamily="18" charset="0"/>
              </a:rPr>
              <a:t>Inter-class Testing</a:t>
            </a:r>
            <a:r>
              <a:rPr lang="en-US" b="1" dirty="0">
                <a:solidFill>
                  <a:srgbClr val="FFFF00"/>
                </a:solidFill>
                <a:latin typeface="Century Schoolbook" panose="02040604050505020304" pitchFamily="18" charset="0"/>
              </a:rPr>
              <a:t> : -</a:t>
            </a:r>
          </a:p>
          <a:p>
            <a:r>
              <a:rPr lang="en-US" b="1" dirty="0" err="1">
                <a:latin typeface="Century Schoolbook" panose="02040604050505020304" pitchFamily="18" charset="0"/>
              </a:rPr>
              <a:t>i</a:t>
            </a:r>
            <a:r>
              <a:rPr lang="en-US" b="1" dirty="0">
                <a:latin typeface="Century Schoolbook" panose="02040604050505020304" pitchFamily="18" charset="0"/>
              </a:rPr>
              <a:t>) It is also called as integration testing.</a:t>
            </a:r>
          </a:p>
          <a:p>
            <a:r>
              <a:rPr lang="en-US" b="1" dirty="0">
                <a:latin typeface="Century Schoolbook" panose="02040604050505020304" pitchFamily="18" charset="0"/>
              </a:rPr>
              <a:t>ii) Inter class testing involves the testing of modules or subsystems and their coordination with other modules.</a:t>
            </a:r>
            <a:endParaRPr lang="en-IN" b="1" dirty="0">
              <a:latin typeface="Century Schoolbook" panose="02040604050505020304" pitchFamily="18" charset="0"/>
            </a:endParaRPr>
          </a:p>
        </p:txBody>
      </p:sp>
    </p:spTree>
    <p:extLst>
      <p:ext uri="{BB962C8B-B14F-4D97-AF65-F5344CB8AC3E}">
        <p14:creationId xmlns:p14="http://schemas.microsoft.com/office/powerpoint/2010/main" val="4054175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6E5C-35BF-00CC-59A0-A249C37FADAB}"/>
              </a:ext>
            </a:extLst>
          </p:cNvPr>
          <p:cNvSpPr>
            <a:spLocks noGrp="1"/>
          </p:cNvSpPr>
          <p:nvPr>
            <p:ph type="title"/>
          </p:nvPr>
        </p:nvSpPr>
        <p:spPr>
          <a:xfrm>
            <a:off x="135194" y="-90946"/>
            <a:ext cx="10131427" cy="948811"/>
          </a:xfrm>
        </p:spPr>
        <p:txBody>
          <a:bodyPr>
            <a:normAutofit/>
          </a:bodyPr>
          <a:lstStyle/>
          <a:p>
            <a:r>
              <a:rPr lang="en-US" sz="4400" dirty="0">
                <a:solidFill>
                  <a:srgbClr val="FFFF00"/>
                </a:solidFill>
                <a:latin typeface="Algerian" panose="04020705040A02060702" pitchFamily="82" charset="0"/>
              </a:rPr>
              <a:t>3. </a:t>
            </a:r>
            <a:r>
              <a:rPr lang="en-US" sz="4400" u="sng" dirty="0">
                <a:solidFill>
                  <a:srgbClr val="FFFF00"/>
                </a:solidFill>
                <a:latin typeface="Algerian" panose="04020705040A02060702" pitchFamily="82" charset="0"/>
              </a:rPr>
              <a:t>System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4B47322D-7572-E9BC-9092-D21545A0AA67}"/>
              </a:ext>
            </a:extLst>
          </p:cNvPr>
          <p:cNvSpPr>
            <a:spLocks noGrp="1"/>
          </p:cNvSpPr>
          <p:nvPr>
            <p:ph type="body" idx="1"/>
          </p:nvPr>
        </p:nvSpPr>
        <p:spPr>
          <a:xfrm>
            <a:off x="135194" y="530942"/>
            <a:ext cx="11921612" cy="4630993"/>
          </a:xfrm>
        </p:spPr>
        <p:txBody>
          <a:bodyPr>
            <a:normAutofit lnSpcReduction="10000"/>
          </a:bodyPr>
          <a:lstStyle/>
          <a:p>
            <a:pPr marL="571500" indent="-571500">
              <a:buFont typeface="+mj-lt"/>
              <a:buAutoNum type="romanLcPeriod"/>
            </a:pPr>
            <a:r>
              <a:rPr lang="en-US" sz="2400" b="1" dirty="0">
                <a:latin typeface="Century Schoolbook" panose="02040604050505020304" pitchFamily="18" charset="0"/>
              </a:rPr>
              <a:t>The system is tested as whole &amp; primary functional testing techniques are used to test the system.</a:t>
            </a:r>
          </a:p>
          <a:p>
            <a:pPr marL="571500" indent="-571500">
              <a:buFont typeface="+mj-lt"/>
              <a:buAutoNum type="romanLcPeriod"/>
            </a:pPr>
            <a:r>
              <a:rPr lang="en-US" sz="2400" b="1" dirty="0">
                <a:latin typeface="Century Schoolbook" panose="02040604050505020304" pitchFamily="18" charset="0"/>
              </a:rPr>
              <a:t>Non-functional requirements like performance are also tested.</a:t>
            </a:r>
          </a:p>
          <a:p>
            <a:pPr marL="342900" indent="-342900">
              <a:buFont typeface="Wingdings" panose="05000000000000000000" pitchFamily="2" charset="2"/>
              <a:buChar char="Ø"/>
            </a:pPr>
            <a:r>
              <a:rPr lang="en-US" sz="3600" u="sng" dirty="0">
                <a:solidFill>
                  <a:srgbClr val="FFFF00"/>
                </a:solidFill>
                <a:latin typeface="Algerian" panose="04020705040A02060702" pitchFamily="82" charset="0"/>
              </a:rPr>
              <a:t>ADVANTAGES</a:t>
            </a:r>
            <a:r>
              <a:rPr lang="en-US" sz="3600" b="1" dirty="0">
                <a:latin typeface="Century Schoolbook" panose="02040604050505020304" pitchFamily="18" charset="0"/>
              </a:rPr>
              <a:t> : -</a:t>
            </a:r>
          </a:p>
          <a:p>
            <a:r>
              <a:rPr lang="en-US" sz="2400" b="1" dirty="0">
                <a:latin typeface="Century Schoolbook" panose="02040604050505020304" pitchFamily="18" charset="0"/>
              </a:rPr>
              <a:t>1. Reusable code.</a:t>
            </a:r>
          </a:p>
          <a:p>
            <a:r>
              <a:rPr lang="en-US" sz="2400" b="1" dirty="0">
                <a:latin typeface="Century Schoolbook" panose="02040604050505020304" pitchFamily="18" charset="0"/>
              </a:rPr>
              <a:t>2. Managing testing.</a:t>
            </a:r>
          </a:p>
          <a:p>
            <a:pPr marL="342900" indent="-342900">
              <a:buFont typeface="Wingdings" panose="05000000000000000000" pitchFamily="2" charset="2"/>
              <a:buChar char="Ø"/>
            </a:pPr>
            <a:r>
              <a:rPr lang="en-US" sz="3600" u="sng" dirty="0">
                <a:solidFill>
                  <a:srgbClr val="FFFF00"/>
                </a:solidFill>
                <a:latin typeface="Algerian" panose="04020705040A02060702" pitchFamily="82" charset="0"/>
              </a:rPr>
              <a:t>DISADVANTAGES</a:t>
            </a:r>
            <a:r>
              <a:rPr lang="en-US" sz="3600" b="1" dirty="0">
                <a:latin typeface="Century Schoolbook" panose="02040604050505020304" pitchFamily="18" charset="0"/>
              </a:rPr>
              <a:t> :</a:t>
            </a:r>
            <a:r>
              <a:rPr lang="en-IN" sz="3600" b="1" dirty="0">
                <a:latin typeface="Century Schoolbook" panose="02040604050505020304" pitchFamily="18" charset="0"/>
              </a:rPr>
              <a:t> -</a:t>
            </a:r>
          </a:p>
          <a:p>
            <a:r>
              <a:rPr lang="en-IN" sz="2400" b="1" dirty="0">
                <a:latin typeface="Century Schoolbook" panose="02040604050505020304" pitchFamily="18" charset="0"/>
              </a:rPr>
              <a:t>1. Complexity.</a:t>
            </a:r>
          </a:p>
          <a:p>
            <a:r>
              <a:rPr lang="en-IN" sz="2400" b="1" dirty="0">
                <a:latin typeface="Century Schoolbook" panose="02040604050505020304" pitchFamily="18" charset="0"/>
              </a:rPr>
              <a:t>2. Performance issue.</a:t>
            </a:r>
            <a:endParaRPr lang="en-US" sz="2400" b="1" dirty="0">
              <a:latin typeface="Century Schoolbook" panose="02040604050505020304" pitchFamily="18" charset="0"/>
            </a:endParaRPr>
          </a:p>
        </p:txBody>
      </p:sp>
    </p:spTree>
    <p:extLst>
      <p:ext uri="{BB962C8B-B14F-4D97-AF65-F5344CB8AC3E}">
        <p14:creationId xmlns:p14="http://schemas.microsoft.com/office/powerpoint/2010/main" val="467615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85CB5-512D-07A6-7C06-447D7333BA7B}"/>
              </a:ext>
            </a:extLst>
          </p:cNvPr>
          <p:cNvSpPr>
            <a:spLocks noGrp="1"/>
          </p:cNvSpPr>
          <p:nvPr>
            <p:ph type="title"/>
          </p:nvPr>
        </p:nvSpPr>
        <p:spPr>
          <a:xfrm>
            <a:off x="36870" y="0"/>
            <a:ext cx="10131427" cy="747250"/>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Application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0E8B6C3-E878-0C43-8E17-82EDDC9D4C18}"/>
              </a:ext>
            </a:extLst>
          </p:cNvPr>
          <p:cNvSpPr>
            <a:spLocks noGrp="1"/>
          </p:cNvSpPr>
          <p:nvPr>
            <p:ph type="body" idx="1"/>
          </p:nvPr>
        </p:nvSpPr>
        <p:spPr>
          <a:xfrm>
            <a:off x="174522" y="-78661"/>
            <a:ext cx="11474246" cy="428686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It is the process of evaluating software application to ensure they meet their requirements and functions properly.</a:t>
            </a:r>
          </a:p>
          <a:p>
            <a:pPr marL="342900" indent="-342900">
              <a:buFont typeface="Wingdings" panose="05000000000000000000" pitchFamily="2" charset="2"/>
              <a:buChar char="Ø"/>
            </a:pPr>
            <a:r>
              <a:rPr lang="en-US" sz="2400" b="1" dirty="0">
                <a:latin typeface="Century Schoolbook" panose="02040604050505020304" pitchFamily="18" charset="0"/>
              </a:rPr>
              <a:t>It helps identify and fixed issues early in the development process which can save time and money.</a:t>
            </a:r>
          </a:p>
          <a:p>
            <a:pPr marL="342900" indent="-342900">
              <a:buFont typeface="Wingdings" panose="05000000000000000000" pitchFamily="2" charset="2"/>
              <a:buChar char="Ø"/>
            </a:pPr>
            <a:r>
              <a:rPr lang="en-US" sz="2400" b="1" dirty="0">
                <a:latin typeface="Century Schoolbook" panose="02040604050505020304" pitchFamily="18" charset="0"/>
              </a:rPr>
              <a:t> Client - server testing.</a:t>
            </a:r>
          </a:p>
          <a:p>
            <a:pPr marL="342900" indent="-342900">
              <a:buFont typeface="Wingdings" panose="05000000000000000000" pitchFamily="2" charset="2"/>
              <a:buChar char="Ø"/>
            </a:pPr>
            <a:r>
              <a:rPr lang="en-US" sz="2400" b="1" dirty="0">
                <a:latin typeface="Century Schoolbook" panose="02040604050505020304" pitchFamily="18" charset="0"/>
              </a:rPr>
              <a:t> Web based Testing.</a:t>
            </a:r>
            <a:endParaRPr lang="en-IN" sz="3200" b="1" dirty="0">
              <a:latin typeface="Century Schoolbook" panose="02040604050505020304" pitchFamily="18" charset="0"/>
            </a:endParaRPr>
          </a:p>
        </p:txBody>
      </p:sp>
    </p:spTree>
    <p:extLst>
      <p:ext uri="{BB962C8B-B14F-4D97-AF65-F5344CB8AC3E}">
        <p14:creationId xmlns:p14="http://schemas.microsoft.com/office/powerpoint/2010/main" val="1604721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03E87-A881-1ADA-339A-916544911A7B}"/>
              </a:ext>
            </a:extLst>
          </p:cNvPr>
          <p:cNvSpPr>
            <a:spLocks noGrp="1"/>
          </p:cNvSpPr>
          <p:nvPr>
            <p:ph type="title"/>
          </p:nvPr>
        </p:nvSpPr>
        <p:spPr>
          <a:xfrm>
            <a:off x="0" y="0"/>
            <a:ext cx="10131427" cy="747251"/>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Client - server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AD4EE0C-35B2-F377-5B97-C8B0035DA026}"/>
              </a:ext>
            </a:extLst>
          </p:cNvPr>
          <p:cNvSpPr>
            <a:spLocks noGrp="1"/>
          </p:cNvSpPr>
          <p:nvPr>
            <p:ph type="body" idx="1"/>
          </p:nvPr>
        </p:nvSpPr>
        <p:spPr>
          <a:xfrm>
            <a:off x="0" y="481781"/>
            <a:ext cx="12083845" cy="6238568"/>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Type of testing that verify the functionality and interactions between a client and server in a distributed system.</a:t>
            </a:r>
          </a:p>
          <a:p>
            <a:pPr marL="342900" indent="-342900">
              <a:buFont typeface="Wingdings" panose="05000000000000000000" pitchFamily="2" charset="2"/>
              <a:buChar char="Ø"/>
            </a:pPr>
            <a:r>
              <a:rPr lang="en-US" sz="2400" b="1" dirty="0">
                <a:latin typeface="Century Schoolbook" panose="02040604050505020304" pitchFamily="18" charset="0"/>
              </a:rPr>
              <a:t>Client server applications run on two or more systems. </a:t>
            </a:r>
          </a:p>
          <a:p>
            <a:pPr marL="342900" indent="-342900">
              <a:buFont typeface="Wingdings" panose="05000000000000000000" pitchFamily="2" charset="2"/>
              <a:buChar char="Ø"/>
            </a:pPr>
            <a:r>
              <a:rPr lang="en-US" sz="2400" b="1" dirty="0">
                <a:latin typeface="Century Schoolbook" panose="02040604050505020304" pitchFamily="18" charset="0"/>
              </a:rPr>
              <a:t>In this testing, the client sends a request to the server and the server sends a response back to the client with the required information.</a:t>
            </a:r>
          </a:p>
          <a:p>
            <a:pPr marL="342900" indent="-342900">
              <a:buFont typeface="Wingdings" panose="05000000000000000000" pitchFamily="2" charset="2"/>
              <a:buChar char="Ø"/>
            </a:pPr>
            <a:r>
              <a:rPr lang="en-US" sz="2400" b="1" dirty="0">
                <a:latin typeface="Century Schoolbook" panose="02040604050505020304" pitchFamily="18" charset="0"/>
              </a:rPr>
              <a:t>It is also known as Two-Tier application testing.</a:t>
            </a:r>
          </a:p>
          <a:p>
            <a:pPr marL="342900" indent="-342900">
              <a:buFont typeface="Wingdings" panose="05000000000000000000" pitchFamily="2" charset="2"/>
              <a:buChar char="Ø"/>
            </a:pPr>
            <a:r>
              <a:rPr lang="en-US" sz="3200" u="sng" dirty="0">
                <a:solidFill>
                  <a:srgbClr val="FFFF00"/>
                </a:solidFill>
                <a:latin typeface="Algerian" panose="04020705040A02060702" pitchFamily="82" charset="0"/>
              </a:rPr>
              <a:t>Advantages</a:t>
            </a:r>
            <a:r>
              <a:rPr lang="en-US" sz="3200" dirty="0">
                <a:solidFill>
                  <a:srgbClr val="FFFF00"/>
                </a:solidFill>
                <a:latin typeface="Algerian" panose="04020705040A02060702" pitchFamily="82" charset="0"/>
              </a:rPr>
              <a:t> : -</a:t>
            </a:r>
            <a:endParaRPr lang="en-US" sz="3200" u="sng" dirty="0">
              <a:solidFill>
                <a:srgbClr val="FFFF00"/>
              </a:solidFill>
              <a:latin typeface="Algerian" panose="04020705040A02060702" pitchFamily="82" charset="0"/>
            </a:endParaRPr>
          </a:p>
          <a:p>
            <a:r>
              <a:rPr lang="en-US" sz="2400" b="1" dirty="0">
                <a:latin typeface="Century Schoolbook" panose="02040604050505020304" pitchFamily="18" charset="0"/>
              </a:rPr>
              <a:t>1) GUI feature is available on both client and server side machine.</a:t>
            </a:r>
          </a:p>
          <a:p>
            <a:r>
              <a:rPr lang="en-US" sz="2400" b="1" dirty="0">
                <a:latin typeface="Century Schoolbook" panose="02040604050505020304" pitchFamily="18" charset="0"/>
              </a:rPr>
              <a:t>2) Data can be accessed efficiently.</a:t>
            </a:r>
          </a:p>
          <a:p>
            <a:pPr marL="342900" indent="-342900">
              <a:buFont typeface="Wingdings" panose="05000000000000000000" pitchFamily="2" charset="2"/>
              <a:buChar char="Ø"/>
            </a:pPr>
            <a:r>
              <a:rPr lang="en-US" sz="3200" u="sng" dirty="0">
                <a:solidFill>
                  <a:srgbClr val="FFFF00"/>
                </a:solidFill>
                <a:latin typeface="Algerian" panose="04020705040A02060702" pitchFamily="82" charset="0"/>
              </a:rPr>
              <a:t>Disadvantages</a:t>
            </a:r>
            <a:r>
              <a:rPr lang="en-US" sz="3200" dirty="0">
                <a:solidFill>
                  <a:srgbClr val="FFFF00"/>
                </a:solidFill>
                <a:latin typeface="Algerian" panose="04020705040A02060702" pitchFamily="82" charset="0"/>
              </a:rPr>
              <a:t> : -</a:t>
            </a:r>
          </a:p>
          <a:p>
            <a:r>
              <a:rPr lang="en-US" sz="2400" b="1" dirty="0">
                <a:latin typeface="Century Schoolbook" panose="02040604050505020304" pitchFamily="18" charset="0"/>
              </a:rPr>
              <a:t>1) The cost of setting and maintenance is high.</a:t>
            </a:r>
          </a:p>
          <a:p>
            <a:r>
              <a:rPr lang="en-US" sz="2400" b="1" dirty="0">
                <a:latin typeface="Century Schoolbook" panose="02040604050505020304" pitchFamily="18" charset="0"/>
              </a:rPr>
              <a:t>2) If the server fails none of the client requests can be fulfilled.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848025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A2E9-27BE-54F3-DF2E-93E641F43907}"/>
              </a:ext>
            </a:extLst>
          </p:cNvPr>
          <p:cNvSpPr>
            <a:spLocks noGrp="1"/>
          </p:cNvSpPr>
          <p:nvPr>
            <p:ph type="title"/>
          </p:nvPr>
        </p:nvSpPr>
        <p:spPr>
          <a:xfrm>
            <a:off x="0" y="-78658"/>
            <a:ext cx="10131427" cy="845575"/>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Web – based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75C1991-61F9-141C-4223-207E70382EF6}"/>
              </a:ext>
            </a:extLst>
          </p:cNvPr>
          <p:cNvSpPr>
            <a:spLocks noGrp="1"/>
          </p:cNvSpPr>
          <p:nvPr>
            <p:ph type="body" idx="1"/>
          </p:nvPr>
        </p:nvSpPr>
        <p:spPr>
          <a:xfrm>
            <a:off x="108154" y="929149"/>
            <a:ext cx="11779045" cy="5914103"/>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testing technique to test web applications or websites for finding errors and bugs.</a:t>
            </a:r>
          </a:p>
          <a:p>
            <a:pPr marL="342900" indent="-342900">
              <a:buFont typeface="Wingdings" panose="05000000000000000000" pitchFamily="2" charset="2"/>
              <a:buChar char="Ø"/>
            </a:pPr>
            <a:r>
              <a:rPr lang="en-US" sz="2400" b="1" dirty="0">
                <a:latin typeface="Century Schoolbook" panose="02040604050505020304" pitchFamily="18" charset="0"/>
              </a:rPr>
              <a:t>A web application must be tested properly before it goes to the end-users, testing a web application does not only mean finding common bugs or errors but also testing the quality related risks.</a:t>
            </a:r>
          </a:p>
          <a:p>
            <a:pPr marL="342900" indent="-342900">
              <a:buFont typeface="Wingdings" panose="05000000000000000000" pitchFamily="2" charset="2"/>
              <a:buChar char="Ø"/>
            </a:pPr>
            <a:r>
              <a:rPr lang="en-US" sz="2400" b="1" dirty="0">
                <a:latin typeface="Century Schoolbook" panose="02040604050505020304" pitchFamily="18" charset="0"/>
              </a:rPr>
              <a:t>Types of web based testing : -</a:t>
            </a:r>
          </a:p>
          <a:p>
            <a:r>
              <a:rPr lang="en-US" b="1" dirty="0">
                <a:latin typeface="Century Schoolbook" panose="02040604050505020304" pitchFamily="18" charset="0"/>
              </a:rPr>
              <a:t>1) Functional testing.</a:t>
            </a:r>
          </a:p>
          <a:p>
            <a:r>
              <a:rPr lang="en-US" b="1" dirty="0">
                <a:latin typeface="Century Schoolbook" panose="02040604050505020304" pitchFamily="18" charset="0"/>
              </a:rPr>
              <a:t>2) Usability testing.</a:t>
            </a:r>
          </a:p>
          <a:p>
            <a:r>
              <a:rPr lang="en-US" b="1" dirty="0">
                <a:latin typeface="Century Schoolbook" panose="02040604050505020304" pitchFamily="18" charset="0"/>
              </a:rPr>
              <a:t>3) Compatibility testing.</a:t>
            </a:r>
          </a:p>
          <a:p>
            <a:r>
              <a:rPr lang="en-US" b="1" dirty="0">
                <a:latin typeface="Century Schoolbook" panose="02040604050505020304" pitchFamily="18" charset="0"/>
              </a:rPr>
              <a:t>4) Performance testing. </a:t>
            </a:r>
          </a:p>
          <a:p>
            <a:r>
              <a:rPr lang="en-US" b="1" dirty="0">
                <a:latin typeface="Century Schoolbook" panose="02040604050505020304" pitchFamily="18" charset="0"/>
              </a:rPr>
              <a:t>5) Static website testing.</a:t>
            </a:r>
          </a:p>
          <a:p>
            <a:r>
              <a:rPr lang="en-US" b="1" dirty="0">
                <a:latin typeface="Century Schoolbook" panose="02040604050505020304" pitchFamily="18" charset="0"/>
              </a:rPr>
              <a:t>6) Mobile based web testing. </a:t>
            </a:r>
          </a:p>
          <a:p>
            <a:r>
              <a:rPr lang="en-US" b="1" dirty="0">
                <a:latin typeface="Century Schoolbook" panose="02040604050505020304" pitchFamily="18" charset="0"/>
              </a:rPr>
              <a:t>7) E-commerce website testing. </a:t>
            </a:r>
          </a:p>
          <a:p>
            <a:r>
              <a:rPr lang="en-US" b="1" dirty="0">
                <a:latin typeface="Century Schoolbook" panose="02040604050505020304" pitchFamily="18" charset="0"/>
              </a:rPr>
              <a:t>8) Dynamic website testing.</a:t>
            </a:r>
          </a:p>
          <a:p>
            <a:pPr marL="342900" indent="-342900">
              <a:buFont typeface="Wingdings" panose="05000000000000000000" pitchFamily="2" charset="2"/>
              <a:buChar char="Ø"/>
            </a:pP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977944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FC46E-5754-C756-5578-FC4600EF3FC8}"/>
              </a:ext>
            </a:extLst>
          </p:cNvPr>
          <p:cNvSpPr>
            <a:spLocks noGrp="1"/>
          </p:cNvSpPr>
          <p:nvPr>
            <p:ph type="title"/>
          </p:nvPr>
        </p:nvSpPr>
        <p:spPr>
          <a:xfrm>
            <a:off x="587478" y="-457199"/>
            <a:ext cx="10131427" cy="45719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D310B4A9-0C60-066C-5718-9A9725BD8BC2}"/>
              </a:ext>
            </a:extLst>
          </p:cNvPr>
          <p:cNvSpPr>
            <a:spLocks noGrp="1"/>
          </p:cNvSpPr>
          <p:nvPr>
            <p:ph type="body" idx="1"/>
          </p:nvPr>
        </p:nvSpPr>
        <p:spPr>
          <a:xfrm>
            <a:off x="157316" y="0"/>
            <a:ext cx="12034683" cy="4119716"/>
          </a:xfrm>
        </p:spPr>
        <p:txBody>
          <a:bodyPr>
            <a:normAutofit/>
          </a:bodyPr>
          <a:lstStyle/>
          <a:p>
            <a:pPr marL="342900" indent="-342900">
              <a:buFont typeface="Wingdings" panose="05000000000000000000" pitchFamily="2" charset="2"/>
              <a:buChar char="Ø"/>
            </a:pPr>
            <a:r>
              <a:rPr lang="en-US" sz="4000" u="sng" dirty="0">
                <a:solidFill>
                  <a:srgbClr val="FFFF00"/>
                </a:solidFill>
                <a:latin typeface="Algerian" panose="04020705040A02060702" pitchFamily="82" charset="0"/>
              </a:rPr>
              <a:t>Advantages</a:t>
            </a:r>
            <a:r>
              <a:rPr lang="en-US" sz="4000" dirty="0">
                <a:solidFill>
                  <a:srgbClr val="FFFF00"/>
                </a:solidFill>
                <a:latin typeface="Algerian" panose="04020705040A02060702" pitchFamily="82" charset="0"/>
              </a:rPr>
              <a:t> : -</a:t>
            </a:r>
          </a:p>
          <a:p>
            <a:r>
              <a:rPr lang="en-US" sz="2800" b="1" dirty="0">
                <a:latin typeface="Century Schoolbook" panose="02040604050505020304" pitchFamily="18" charset="0"/>
              </a:rPr>
              <a:t>1) Browser compatibility.</a:t>
            </a:r>
          </a:p>
          <a:p>
            <a:r>
              <a:rPr lang="en-US" sz="2800" b="1" dirty="0">
                <a:latin typeface="Century Schoolbook" panose="02040604050505020304" pitchFamily="18" charset="0"/>
              </a:rPr>
              <a:t>2) Scalability &amp; Cost Effectiveness.</a:t>
            </a:r>
            <a:endParaRPr lang="en-US" b="1" dirty="0">
              <a:latin typeface="Century Schoolbook" panose="02040604050505020304" pitchFamily="18" charset="0"/>
            </a:endParaRPr>
          </a:p>
          <a:p>
            <a:pPr marL="342900" indent="-342900">
              <a:buFont typeface="Wingdings" panose="05000000000000000000" pitchFamily="2" charset="2"/>
              <a:buChar char="Ø"/>
            </a:pPr>
            <a:r>
              <a:rPr lang="en-US" sz="4000" u="sng" dirty="0">
                <a:solidFill>
                  <a:srgbClr val="FFFF00"/>
                </a:solidFill>
                <a:latin typeface="Algerian" panose="04020705040A02060702" pitchFamily="82" charset="0"/>
              </a:rPr>
              <a:t>Disadvantages</a:t>
            </a:r>
            <a:r>
              <a:rPr lang="en-US" sz="4000" dirty="0">
                <a:solidFill>
                  <a:srgbClr val="FFFF00"/>
                </a:solidFill>
                <a:latin typeface="Algerian" panose="04020705040A02060702" pitchFamily="82" charset="0"/>
              </a:rPr>
              <a:t> : -</a:t>
            </a:r>
            <a:endParaRPr lang="en-US" sz="4000" u="sng" dirty="0">
              <a:solidFill>
                <a:srgbClr val="FFFF00"/>
              </a:solidFill>
              <a:latin typeface="Algerian" panose="04020705040A02060702" pitchFamily="82" charset="0"/>
            </a:endParaRPr>
          </a:p>
          <a:p>
            <a:r>
              <a:rPr lang="en-US" sz="2800" b="1" dirty="0">
                <a:latin typeface="Century Schoolbook" panose="02040604050505020304" pitchFamily="18" charset="0"/>
              </a:rPr>
              <a:t>1) security concerns.</a:t>
            </a:r>
          </a:p>
          <a:p>
            <a:r>
              <a:rPr lang="en-US" sz="2800" b="1" dirty="0">
                <a:latin typeface="Century Schoolbook" panose="02040604050505020304" pitchFamily="18" charset="0"/>
              </a:rPr>
              <a:t>2) complexity in Responsive design testing.</a:t>
            </a:r>
            <a:endParaRPr lang="en-IN" sz="2800" b="1" dirty="0">
              <a:latin typeface="Century Schoolbook" panose="02040604050505020304" pitchFamily="18" charset="0"/>
            </a:endParaRPr>
          </a:p>
          <a:p>
            <a:endParaRPr lang="en-IN" dirty="0"/>
          </a:p>
        </p:txBody>
      </p:sp>
    </p:spTree>
    <p:extLst>
      <p:ext uri="{BB962C8B-B14F-4D97-AF65-F5344CB8AC3E}">
        <p14:creationId xmlns:p14="http://schemas.microsoft.com/office/powerpoint/2010/main" val="27895970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7542</TotalTime>
  <Words>3083</Words>
  <Application>Microsoft Office PowerPoint</Application>
  <PresentationFormat>Widescreen</PresentationFormat>
  <Paragraphs>239</Paragraphs>
  <Slides>38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Algerian</vt:lpstr>
      <vt:lpstr>Arial</vt:lpstr>
      <vt:lpstr>Calibri</vt:lpstr>
      <vt:lpstr>Calibri Light</vt:lpstr>
      <vt:lpstr>Century Schoolbook</vt:lpstr>
      <vt:lpstr>Wingdings</vt:lpstr>
      <vt:lpstr>Celestial</vt:lpstr>
      <vt:lpstr>03. Levels of testing  &amp; special tests</vt:lpstr>
      <vt:lpstr>Unit testing : -</vt:lpstr>
      <vt:lpstr>Stubs &amp; drivers : -</vt:lpstr>
      <vt:lpstr> Differnce between stubs &amp; drivers : -</vt:lpstr>
      <vt:lpstr>Integration testing : -</vt:lpstr>
      <vt:lpstr>Types of integration tasting : -</vt:lpstr>
      <vt:lpstr>Incremental testing : -</vt:lpstr>
      <vt:lpstr>1. top – down integration testing : -</vt:lpstr>
      <vt:lpstr>PowerPoint Presentation</vt:lpstr>
      <vt:lpstr>2. Bottom – up integration testing : -</vt:lpstr>
      <vt:lpstr>Advantages : - 1. Development &amp; testing can be done together so the product will be efficient. 2. Test conditions are much easy to detect. </vt:lpstr>
      <vt:lpstr>Bi-directional testing / sandwich integration testing : -</vt:lpstr>
      <vt:lpstr> Advantages : - 1. Useful for large enterprise &amp; huge projects 2. Efficiency. 3. Improved maintainability.</vt:lpstr>
      <vt:lpstr>Non – incremental integration/big bang integration : - </vt:lpstr>
      <vt:lpstr>Advantages : - 1. Early detection of major issues. 2. Time efficient for small project. 3. Comprehensive.</vt:lpstr>
      <vt:lpstr> system testing : -</vt:lpstr>
      <vt:lpstr>Types of system software : -</vt:lpstr>
      <vt:lpstr>1. Usability testing : - It is a testing method for measuring how easy &amp; user - friendly a software application. 2. Recoverability testing : - It is an software testing that checks, how well on application can recover from craches, failure or other unexpected issues. 3. Performance testing : - It is a testing process used for testing the speed, response time, stability, reliability, scalability &amp; resource usage of a software application under particular workload. 4. Compatibility testing : - It is a type of software testing to check whether your software is capable of running on different hardware, operating system, application, network environments or mobile devices. 5. Load testing : - It a non - functional testing process in which the performance of the software application is tested under a specific expected load. 6. Stress testing : - Stress testing is a type of software testing that verifies stability &amp; reliability of software application. 7. Security testing : - It is a type of software testing that uncovers vulner abilities of resources of the system are protected from possible intruders or risks.   </vt:lpstr>
      <vt:lpstr> acceptance testing : -</vt:lpstr>
      <vt:lpstr> types of acceptance testing : -</vt:lpstr>
      <vt:lpstr> acceptance criteria : -</vt:lpstr>
      <vt:lpstr>PowerPoint Presentation</vt:lpstr>
      <vt:lpstr>Difference between alpha testing &amp; beta testing : -</vt:lpstr>
      <vt:lpstr> Smoke tesing : -</vt:lpstr>
      <vt:lpstr>Advantages : - 1. Easy to perform. 2. Helps in identifying defects in early stages. 3. Saves test efforts and time.</vt:lpstr>
      <vt:lpstr>Sanity testing : -</vt:lpstr>
      <vt:lpstr> Advantages : -   1. Helps to quickly identified defects in core functionality. 2. Not expensive as compared to another type of testing. 3. Increase confidence in built stability.</vt:lpstr>
      <vt:lpstr>Difference between sanity testing &amp; smoke testing : -</vt:lpstr>
      <vt:lpstr>Regression testing : -</vt:lpstr>
      <vt:lpstr>Advantages : - 1. Improve product quality. 2. Reusability. 3. Time efficiency.</vt:lpstr>
      <vt:lpstr>Gui testing : -</vt:lpstr>
      <vt:lpstr>Advantages : -  1) Releases an error free application. 2) Increase the efficiency of application. 3) Improves the software quality.</vt:lpstr>
      <vt:lpstr>Object oriented testing : -</vt:lpstr>
      <vt:lpstr>3. System testing : -</vt:lpstr>
      <vt:lpstr>Application testing : -</vt:lpstr>
      <vt:lpstr>Client - server testing : -</vt:lpstr>
      <vt:lpstr>Web – based testing :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2025-09-21T15:28:56Z</dcterms:created>
  <dcterms:modified xsi:type="dcterms:W3CDTF">2025-11-03T06:17:45Z</dcterms:modified>
</cp:coreProperties>
</file>