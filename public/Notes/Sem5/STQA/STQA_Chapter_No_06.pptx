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11/3/2025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79CD1-018B-1B3D-94F2-0439C6FD6DD5}"/>
              </a:ext>
            </a:extLst>
          </p:cNvPr>
          <p:cNvSpPr>
            <a:spLocks noGrp="1"/>
          </p:cNvSpPr>
          <p:nvPr>
            <p:ph type="ctrTitle"/>
          </p:nvPr>
        </p:nvSpPr>
        <p:spPr>
          <a:xfrm>
            <a:off x="103239" y="1964268"/>
            <a:ext cx="11985522" cy="2421464"/>
          </a:xfrm>
        </p:spPr>
        <p:txBody>
          <a:bodyPr>
            <a:normAutofit/>
          </a:bodyPr>
          <a:lstStyle/>
          <a:p>
            <a:pPr algn="ctr"/>
            <a:r>
              <a:rPr lang="en-US" sz="7200" dirty="0">
                <a:solidFill>
                  <a:srgbClr val="FFFF00"/>
                </a:solidFill>
                <a:latin typeface="Algerian" panose="04020705040A02060702" pitchFamily="82" charset="0"/>
              </a:rPr>
              <a:t>06. Testing tools &amp; measurements </a:t>
            </a:r>
            <a:endParaRPr lang="en-IN" sz="7200" dirty="0">
              <a:solidFill>
                <a:srgbClr val="FFFF00"/>
              </a:solidFill>
              <a:latin typeface="Algerian" panose="04020705040A02060702" pitchFamily="82" charset="0"/>
            </a:endParaRPr>
          </a:p>
        </p:txBody>
      </p:sp>
      <p:sp>
        <p:nvSpPr>
          <p:cNvPr id="3" name="Subtitle 2">
            <a:extLst>
              <a:ext uri="{FF2B5EF4-FFF2-40B4-BE49-F238E27FC236}">
                <a16:creationId xmlns:a16="http://schemas.microsoft.com/office/drawing/2014/main" id="{997F3AC3-4F26-A1C9-E1A9-9FB572132EC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14908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6FA11-25F9-3AA0-C858-F8A4F5A1072A}"/>
              </a:ext>
            </a:extLst>
          </p:cNvPr>
          <p:cNvSpPr>
            <a:spLocks noGrp="1"/>
          </p:cNvSpPr>
          <p:nvPr>
            <p:ph type="title"/>
          </p:nvPr>
        </p:nvSpPr>
        <p:spPr>
          <a:xfrm>
            <a:off x="95866" y="108156"/>
            <a:ext cx="10131427" cy="825910"/>
          </a:xfrm>
        </p:spPr>
        <p:txBody>
          <a:bodyPr>
            <a:normAutofit/>
          </a:bodyPr>
          <a:lstStyle/>
          <a:p>
            <a:pPr marL="571500" indent="-571500">
              <a:buFont typeface="Wingdings" panose="05000000000000000000" pitchFamily="2" charset="2"/>
              <a:buChar char="v"/>
            </a:pPr>
            <a:r>
              <a:rPr lang="en-US" sz="4800" u="sng" dirty="0">
                <a:solidFill>
                  <a:srgbClr val="FFFF00"/>
                </a:solidFill>
                <a:latin typeface="Algerian" panose="04020705040A02060702" pitchFamily="82" charset="0"/>
              </a:rPr>
              <a:t>Manual testing</a:t>
            </a:r>
            <a:r>
              <a:rPr lang="en-US" sz="4800" dirty="0">
                <a:solidFill>
                  <a:srgbClr val="FFFF00"/>
                </a:solidFill>
                <a:latin typeface="Algerian" panose="04020705040A02060702" pitchFamily="82" charset="0"/>
              </a:rPr>
              <a:t> : -</a:t>
            </a:r>
            <a:endParaRPr lang="en-IN" sz="48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C0EFB9C3-4644-7341-7521-4D8036A8C677}"/>
              </a:ext>
            </a:extLst>
          </p:cNvPr>
          <p:cNvSpPr>
            <a:spLocks noGrp="1"/>
          </p:cNvSpPr>
          <p:nvPr>
            <p:ph type="body" idx="1"/>
          </p:nvPr>
        </p:nvSpPr>
        <p:spPr>
          <a:xfrm>
            <a:off x="0" y="459657"/>
            <a:ext cx="11987980" cy="4063181"/>
          </a:xfrm>
        </p:spPr>
        <p:txBody>
          <a:bodyPr>
            <a:normAutofit/>
          </a:bodyPr>
          <a:lstStyle/>
          <a:p>
            <a:pPr marL="342900" indent="-342900">
              <a:buFont typeface="Wingdings" panose="05000000000000000000" pitchFamily="2" charset="2"/>
              <a:buChar char="Ø"/>
            </a:pPr>
            <a:r>
              <a:rPr lang="en-US" sz="3200" b="1" dirty="0">
                <a:latin typeface="Century Schoolbook" panose="02040604050505020304" pitchFamily="18" charset="0"/>
              </a:rPr>
              <a:t> Manual testing is a software testing process in which test cases are executed manually without using any automated tool and all test cases are executed by the testers manually according to the end user's perspective.</a:t>
            </a:r>
          </a:p>
          <a:p>
            <a:pPr marL="342900" indent="-342900">
              <a:buFont typeface="Wingdings" panose="05000000000000000000" pitchFamily="2" charset="2"/>
              <a:buChar char="Ø"/>
            </a:pPr>
            <a:r>
              <a:rPr lang="en-US" sz="3200" b="1" dirty="0">
                <a:latin typeface="Century Schoolbook" panose="02040604050505020304" pitchFamily="18" charset="0"/>
              </a:rPr>
              <a:t> Test case reports are also generated manually.</a:t>
            </a:r>
            <a:endParaRPr lang="en-IN" sz="3200" b="1" dirty="0">
              <a:latin typeface="Century Schoolbook" panose="02040604050505020304" pitchFamily="18" charset="0"/>
            </a:endParaRPr>
          </a:p>
        </p:txBody>
      </p:sp>
    </p:spTree>
    <p:extLst>
      <p:ext uri="{BB962C8B-B14F-4D97-AF65-F5344CB8AC3E}">
        <p14:creationId xmlns:p14="http://schemas.microsoft.com/office/powerpoint/2010/main" val="288977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DAC12-DFFA-847B-F1E1-8C748DA94E16}"/>
              </a:ext>
            </a:extLst>
          </p:cNvPr>
          <p:cNvSpPr>
            <a:spLocks noGrp="1"/>
          </p:cNvSpPr>
          <p:nvPr>
            <p:ph type="title"/>
          </p:nvPr>
        </p:nvSpPr>
        <p:spPr>
          <a:xfrm>
            <a:off x="0" y="0"/>
            <a:ext cx="9842090" cy="894734"/>
          </a:xfrm>
        </p:spPr>
        <p:txBody>
          <a:bodyPr>
            <a:normAutofit/>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Limitations of manual testing</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14B8CAC-7CE4-DCBC-177C-6CAF38BAAF85}"/>
              </a:ext>
            </a:extLst>
          </p:cNvPr>
          <p:cNvSpPr>
            <a:spLocks noGrp="1"/>
          </p:cNvSpPr>
          <p:nvPr>
            <p:ph type="body" idx="1"/>
          </p:nvPr>
        </p:nvSpPr>
        <p:spPr>
          <a:xfrm>
            <a:off x="0" y="353961"/>
            <a:ext cx="12270658" cy="5968181"/>
          </a:xfrm>
        </p:spPr>
        <p:txBody>
          <a:bodyPr>
            <a:normAutofit/>
          </a:bodyPr>
          <a:lstStyle/>
          <a:p>
            <a:pPr marL="457200" indent="-457200">
              <a:buAutoNum type="arabicParenR"/>
            </a:pPr>
            <a:r>
              <a:rPr lang="en-US" sz="2400" b="1" dirty="0">
                <a:latin typeface="Century Schoolbook" panose="02040604050505020304" pitchFamily="18" charset="0"/>
              </a:rPr>
              <a:t>Manual testing requires more resources and time as the complete process is manual.</a:t>
            </a:r>
          </a:p>
          <a:p>
            <a:pPr marL="457200" indent="-457200">
              <a:buAutoNum type="arabicParenR"/>
            </a:pPr>
            <a:r>
              <a:rPr lang="en-US" sz="2400" b="1" dirty="0">
                <a:latin typeface="Century Schoolbook" panose="02040604050505020304" pitchFamily="18" charset="0"/>
              </a:rPr>
              <a:t>It's prone to human error for the cases where intensive data. calculation is involved</a:t>
            </a:r>
          </a:p>
          <a:p>
            <a:pPr marL="457200" indent="-457200">
              <a:buAutoNum type="arabicParenR"/>
            </a:pPr>
            <a:r>
              <a:rPr lang="en-US" sz="2400" b="1" dirty="0">
                <a:latin typeface="Century Schoolbook" panose="02040604050505020304" pitchFamily="18" charset="0"/>
              </a:rPr>
              <a:t>It is not suitable for large scale and time bounded projects. </a:t>
            </a:r>
          </a:p>
          <a:p>
            <a:pPr marL="457200" indent="-457200">
              <a:buAutoNum type="arabicParenR"/>
            </a:pPr>
            <a:r>
              <a:rPr lang="en-US" sz="2400" b="1" dirty="0">
                <a:latin typeface="Century Schoolbook" panose="02040604050505020304" pitchFamily="18" charset="0"/>
              </a:rPr>
              <a:t>Verifying a large amount of data is not possible.</a:t>
            </a:r>
          </a:p>
          <a:p>
            <a:pPr marL="457200" indent="-457200">
              <a:buAutoNum type="arabicParenR"/>
            </a:pPr>
            <a:r>
              <a:rPr lang="en-US" sz="2400" b="1" dirty="0">
                <a:latin typeface="Century Schoolbook" panose="02040604050505020304" pitchFamily="18" charset="0"/>
              </a:rPr>
              <a:t>Performance testing is impractical manually.</a:t>
            </a:r>
          </a:p>
          <a:p>
            <a:pPr marL="457200" indent="-457200">
              <a:buAutoNum type="arabicParenR"/>
            </a:pPr>
            <a:r>
              <a:rPr lang="en-US" sz="2400" b="1" dirty="0">
                <a:latin typeface="Century Schoolbook" panose="02040604050505020304" pitchFamily="18" charset="0"/>
              </a:rPr>
              <a:t>GUT difference, component size are difficult to verify manually. </a:t>
            </a:r>
          </a:p>
          <a:p>
            <a:pPr marL="457200" indent="-457200">
              <a:buAutoNum type="arabicParenR"/>
            </a:pPr>
            <a:r>
              <a:rPr lang="en-US" sz="2400" b="1" dirty="0">
                <a:latin typeface="Century Schoolbook" panose="02040604050505020304" pitchFamily="18" charset="0"/>
              </a:rPr>
              <a:t>GUI objects size difference and color combination </a:t>
            </a:r>
            <a:r>
              <a:rPr lang="en-US" sz="2400" b="1" dirty="0" err="1">
                <a:latin typeface="Century Schoolbook" panose="02040604050505020304" pitchFamily="18" charset="0"/>
              </a:rPr>
              <a:t>etc</a:t>
            </a:r>
            <a:r>
              <a:rPr lang="en-US" sz="2400" b="1" dirty="0">
                <a:latin typeface="Century Schoolbook" panose="02040604050505020304" pitchFamily="18" charset="0"/>
              </a:rPr>
              <a:t> is not easy to find out in manual testing.</a:t>
            </a:r>
          </a:p>
          <a:p>
            <a:pPr marL="457200" indent="-457200">
              <a:buAutoNum type="arabicParenR"/>
            </a:pPr>
            <a:r>
              <a:rPr lang="en-US" sz="2400" b="1" dirty="0">
                <a:latin typeface="Century Schoolbook" panose="02040604050505020304" pitchFamily="18" charset="0"/>
              </a:rPr>
              <a:t>Regression test cases are time consuming it </a:t>
            </a:r>
            <a:r>
              <a:rPr lang="en-US" sz="2400" b="1" dirty="0" err="1">
                <a:latin typeface="Century Schoolbook" panose="02040604050505020304" pitchFamily="18" charset="0"/>
              </a:rPr>
              <a:t>it</a:t>
            </a:r>
            <a:r>
              <a:rPr lang="en-US" sz="2400" b="1" dirty="0">
                <a:latin typeface="Century Schoolbook" panose="02040604050505020304" pitchFamily="18" charset="0"/>
              </a:rPr>
              <a:t> is manual testing.</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430822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93AE1-70A6-D145-43A1-4FD285DEB272}"/>
              </a:ext>
            </a:extLst>
          </p:cNvPr>
          <p:cNvSpPr>
            <a:spLocks noGrp="1"/>
          </p:cNvSpPr>
          <p:nvPr>
            <p:ph type="title"/>
          </p:nvPr>
        </p:nvSpPr>
        <p:spPr>
          <a:xfrm>
            <a:off x="0" y="0"/>
            <a:ext cx="10817228" cy="806244"/>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Automation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CDCC69AB-E5FE-9967-BF2F-A569C94B4A3E}"/>
              </a:ext>
            </a:extLst>
          </p:cNvPr>
          <p:cNvSpPr>
            <a:spLocks noGrp="1"/>
          </p:cNvSpPr>
          <p:nvPr>
            <p:ph type="body" idx="1"/>
          </p:nvPr>
        </p:nvSpPr>
        <p:spPr>
          <a:xfrm>
            <a:off x="0" y="540773"/>
            <a:ext cx="12192000" cy="6051756"/>
          </a:xfrm>
        </p:spPr>
        <p:txBody>
          <a:bodyPr>
            <a:normAutofit/>
          </a:bodyPr>
          <a:lstStyle/>
          <a:p>
            <a:pPr marL="342900" indent="-342900">
              <a:buFont typeface="Wingdings" panose="05000000000000000000" pitchFamily="2" charset="2"/>
              <a:buChar char="Ø"/>
            </a:pPr>
            <a:r>
              <a:rPr lang="en-US" sz="2800" b="1" dirty="0">
                <a:latin typeface="Century Schoolbook" panose="02040604050505020304" pitchFamily="18" charset="0"/>
              </a:rPr>
              <a:t>Automation testing is the application of tools and technology. to testing software with the goal of reducing testing efforts. delivering capability faster and more affordably.</a:t>
            </a:r>
          </a:p>
          <a:p>
            <a:pPr marL="342900" indent="-342900">
              <a:buFont typeface="Wingdings" panose="05000000000000000000" pitchFamily="2" charset="2"/>
              <a:buChar char="Ø"/>
            </a:pPr>
            <a:r>
              <a:rPr lang="en-US" sz="2800" b="1" dirty="0">
                <a:latin typeface="Century Schoolbook" panose="02040604050505020304" pitchFamily="18" charset="0"/>
              </a:rPr>
              <a:t>It helps in building better quality software with less effort.</a:t>
            </a:r>
          </a:p>
          <a:p>
            <a:pPr marL="342900" indent="-342900">
              <a:buFont typeface="Wingdings" panose="05000000000000000000" pitchFamily="2" charset="2"/>
              <a:buChar char="Ø"/>
            </a:pPr>
            <a:r>
              <a:rPr lang="en-US" sz="2800" b="1" dirty="0">
                <a:latin typeface="Century Schoolbook" panose="02040604050505020304" pitchFamily="18" charset="0"/>
              </a:rPr>
              <a:t>Automation testing tools not only help us to perform regression tests but also helps us to automate data". generation, product installation, GUI interaction, defect" logging, etc. </a:t>
            </a:r>
          </a:p>
          <a:p>
            <a:pPr marL="342900" indent="-342900">
              <a:buFont typeface="Wingdings" panose="05000000000000000000" pitchFamily="2" charset="2"/>
              <a:buChar char="Ø"/>
            </a:pPr>
            <a:r>
              <a:rPr lang="en-US" sz="2800" b="1" dirty="0">
                <a:latin typeface="Century Schoolbook" panose="02040604050505020304" pitchFamily="18" charset="0"/>
              </a:rPr>
              <a:t>Therefore these tools are used for both Functional and Non-functional testing.</a:t>
            </a:r>
          </a:p>
          <a:p>
            <a:pPr marL="342900" indent="-342900">
              <a:buFont typeface="Wingdings" panose="05000000000000000000" pitchFamily="2" charset="2"/>
              <a:buChar char="Ø"/>
            </a:pPr>
            <a:r>
              <a:rPr lang="en-US" sz="2800" b="1" dirty="0">
                <a:latin typeface="Century Schoolbook" panose="02040604050505020304" pitchFamily="18" charset="0"/>
              </a:rPr>
              <a:t>The goal is to reduce the number of test cases to be executed manually but not to eliminate manual testing.</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915465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BA2E8-6403-78B9-047E-2D7B02B5B7E7}"/>
              </a:ext>
            </a:extLst>
          </p:cNvPr>
          <p:cNvSpPr>
            <a:spLocks noGrp="1"/>
          </p:cNvSpPr>
          <p:nvPr>
            <p:ph type="title"/>
          </p:nvPr>
        </p:nvSpPr>
        <p:spPr>
          <a:xfrm>
            <a:off x="0" y="1"/>
            <a:ext cx="10131427" cy="747252"/>
          </a:xfrm>
        </p:spPr>
        <p:txBody>
          <a:bodyPr>
            <a:normAutofit/>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need for automation testing</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03F6D560-6D30-88B1-11F3-6C1593D2BB56}"/>
              </a:ext>
            </a:extLst>
          </p:cNvPr>
          <p:cNvSpPr>
            <a:spLocks noGrp="1"/>
          </p:cNvSpPr>
          <p:nvPr>
            <p:ph type="body" idx="1"/>
          </p:nvPr>
        </p:nvSpPr>
        <p:spPr>
          <a:xfrm>
            <a:off x="-1" y="548148"/>
            <a:ext cx="12192001" cy="5995219"/>
          </a:xfrm>
        </p:spPr>
        <p:txBody>
          <a:bodyPr>
            <a:normAutofit lnSpcReduction="10000"/>
          </a:bodyPr>
          <a:lstStyle/>
          <a:p>
            <a:pPr marL="457200" indent="-457200">
              <a:buAutoNum type="arabicParenR"/>
            </a:pPr>
            <a:r>
              <a:rPr lang="en-IN" b="1" dirty="0">
                <a:latin typeface="Century Schoolbook" panose="02040604050505020304" pitchFamily="18" charset="0"/>
              </a:rPr>
              <a:t>Test automation helps you reduce the feedback cycle and bring faster validation for phases in the </a:t>
            </a:r>
            <a:r>
              <a:rPr lang="en-IN" b="1" dirty="0" err="1">
                <a:latin typeface="Century Schoolbook" panose="02040604050505020304" pitchFamily="18" charset="0"/>
              </a:rPr>
              <a:t>developm</a:t>
            </a:r>
            <a:r>
              <a:rPr lang="en-IN" b="1" dirty="0">
                <a:latin typeface="Century Schoolbook" panose="02040604050505020304" pitchFamily="18" charset="0"/>
              </a:rPr>
              <a:t>- </a:t>
            </a:r>
            <a:r>
              <a:rPr lang="en-IN" b="1" dirty="0" err="1">
                <a:latin typeface="Century Schoolbook" panose="02040604050505020304" pitchFamily="18" charset="0"/>
              </a:rPr>
              <a:t>ent</a:t>
            </a:r>
            <a:r>
              <a:rPr lang="en-IN" b="1" dirty="0">
                <a:latin typeface="Century Schoolbook" panose="02040604050505020304" pitchFamily="18" charset="0"/>
              </a:rPr>
              <a:t> of your product.</a:t>
            </a:r>
          </a:p>
          <a:p>
            <a:pPr marL="457200" indent="-457200">
              <a:buAutoNum type="arabicParenR"/>
            </a:pPr>
            <a:r>
              <a:rPr lang="en-IN" b="1" dirty="0">
                <a:latin typeface="Century Schoolbook" panose="02040604050505020304" pitchFamily="18" charset="0"/>
              </a:rPr>
              <a:t>By automating your testing procedure, team has to spend very less time validating newly developed features.</a:t>
            </a:r>
          </a:p>
          <a:p>
            <a:pPr marL="457200" indent="-457200">
              <a:buAutoNum type="arabicParenR"/>
            </a:pPr>
            <a:r>
              <a:rPr lang="en-IN" b="1" dirty="0">
                <a:latin typeface="Century Schoolbook" panose="02040604050505020304" pitchFamily="18" charset="0"/>
              </a:rPr>
              <a:t>When using an automated test environment, company will save money as fewer resources are spent on testing your product.</a:t>
            </a:r>
          </a:p>
          <a:p>
            <a:pPr marL="457200" indent="-457200">
              <a:buAutoNum type="arabicParenR"/>
            </a:pPr>
            <a:r>
              <a:rPr lang="en-IN" b="1" dirty="0">
                <a:latin typeface="Century Schoolbook" panose="02040604050505020304" pitchFamily="18" charset="0"/>
              </a:rPr>
              <a:t>The scripts are reusable and don't need new </a:t>
            </a:r>
            <a:r>
              <a:rPr lang="en-IN" b="1" dirty="0" err="1">
                <a:latin typeface="Century Schoolbook" panose="02040604050505020304" pitchFamily="18" charset="0"/>
              </a:rPr>
              <a:t>sveipts</a:t>
            </a:r>
            <a:r>
              <a:rPr lang="en-IN" b="1" dirty="0">
                <a:latin typeface="Century Schoolbook" panose="02040604050505020304" pitchFamily="18" charset="0"/>
              </a:rPr>
              <a:t> every time. </a:t>
            </a:r>
          </a:p>
          <a:p>
            <a:pPr marL="457200" indent="-457200">
              <a:buAutoNum type="arabicParenR"/>
            </a:pPr>
            <a:r>
              <a:rPr lang="en-IN" b="1" dirty="0">
                <a:latin typeface="Century Schoolbook" panose="02040604050505020304" pitchFamily="18" charset="0"/>
              </a:rPr>
              <a:t>Automation helps you find bugs in early stages of software development, reducing expenses and working hours to fix these problems as well.</a:t>
            </a:r>
          </a:p>
          <a:p>
            <a:pPr marL="457200" indent="-457200">
              <a:buAutoNum type="arabicParenR"/>
            </a:pPr>
            <a:r>
              <a:rPr lang="en-IN" b="1" dirty="0">
                <a:latin typeface="Century Schoolbook" panose="02040604050505020304" pitchFamily="18" charset="0"/>
              </a:rPr>
              <a:t>Automated testing provides better insights than manual testing when some tests fail! It shows memory contents,- data tables, file contents, etc to help developers determine.</a:t>
            </a:r>
          </a:p>
          <a:p>
            <a:pPr marL="457200" indent="-457200">
              <a:buAutoNum type="arabicParenR"/>
            </a:pPr>
            <a:r>
              <a:rPr lang="en-IN" b="1" dirty="0">
                <a:latin typeface="Century Schoolbook" panose="02040604050505020304" pitchFamily="18" charset="0"/>
              </a:rPr>
              <a:t>When testing a complex use case, fault </a:t>
            </a:r>
            <a:r>
              <a:rPr lang="en-IN" b="1" dirty="0" err="1">
                <a:latin typeface="Century Schoolbook" panose="02040604050505020304" pitchFamily="18" charset="0"/>
              </a:rPr>
              <a:t>occuves</a:t>
            </a:r>
            <a:r>
              <a:rPr lang="en-IN" b="1" dirty="0">
                <a:latin typeface="Century Schoolbook" panose="02040604050505020304" pitchFamily="18" charset="0"/>
              </a:rPr>
              <a:t> on the other side, automated tests can execute tests with 100 percent accuracy as they produce the same result every- time you run them.</a:t>
            </a:r>
          </a:p>
          <a:p>
            <a:pPr marL="457200" indent="-457200">
              <a:buAutoNum type="arabicParenR"/>
            </a:pPr>
            <a:r>
              <a:rPr lang="en-IN" b="1" dirty="0">
                <a:latin typeface="Century Schoolbook" panose="02040604050505020304" pitchFamily="18" charset="0"/>
              </a:rPr>
              <a:t>Automation testing increases the test coverage of </a:t>
            </a:r>
            <a:r>
              <a:rPr lang="en-IN" b="1" dirty="0" err="1">
                <a:latin typeface="Century Schoolbook" panose="02040604050505020304" pitchFamily="18" charset="0"/>
              </a:rPr>
              <a:t>produc</a:t>
            </a:r>
            <a:r>
              <a:rPr lang="en-IN" b="1" dirty="0">
                <a:latin typeface="Century Schoolbook" panose="02040604050505020304" pitchFamily="18" charset="0"/>
              </a:rPr>
              <a:t> so more features are properly tested resulting in a higher quality application.</a:t>
            </a:r>
            <a:br>
              <a:rPr lang="en-IN" b="1" dirty="0">
                <a:latin typeface="Century Schoolbook" panose="02040604050505020304" pitchFamily="18" charset="0"/>
              </a:rPr>
            </a:br>
            <a:r>
              <a:rPr lang="en-IN" b="1" dirty="0" err="1">
                <a:latin typeface="Century Schoolbook" panose="02040604050505020304" pitchFamily="18" charset="0"/>
              </a:rPr>
              <a:t>mation</a:t>
            </a:r>
            <a:r>
              <a:rPr lang="en-IN" b="1" dirty="0">
                <a:latin typeface="Century Schoolbook" panose="02040604050505020304" pitchFamily="18" charset="0"/>
              </a:rPr>
              <a:t> </a:t>
            </a:r>
            <a:r>
              <a:rPr lang="en-IN" b="1" dirty="0" err="1">
                <a:latin typeface="Century Schoolbook" panose="02040604050505020304" pitchFamily="18" charset="0"/>
              </a:rPr>
              <a:t>trating</a:t>
            </a:r>
            <a:r>
              <a:rPr lang="en-IN" b="1" dirty="0">
                <a:latin typeface="Century Schoolbook" panose="02040604050505020304" pitchFamily="18" charset="0"/>
              </a:rPr>
              <a:t> ١/٢ Manual</a:t>
            </a:r>
          </a:p>
        </p:txBody>
      </p:sp>
    </p:spTree>
    <p:extLst>
      <p:ext uri="{BB962C8B-B14F-4D97-AF65-F5344CB8AC3E}">
        <p14:creationId xmlns:p14="http://schemas.microsoft.com/office/powerpoint/2010/main" val="2113404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94B09-A505-9C45-2771-86A47836A244}"/>
              </a:ext>
            </a:extLst>
          </p:cNvPr>
          <p:cNvSpPr>
            <a:spLocks noGrp="1"/>
          </p:cNvSpPr>
          <p:nvPr>
            <p:ph type="title"/>
          </p:nvPr>
        </p:nvSpPr>
        <p:spPr>
          <a:xfrm>
            <a:off x="0" y="0"/>
            <a:ext cx="12192000" cy="796413"/>
          </a:xfrm>
        </p:spPr>
        <p:txBody>
          <a:bodyPr>
            <a:normAutofit fontScale="90000"/>
          </a:bodyPr>
          <a:lstStyle/>
          <a:p>
            <a:pPr marL="457200" indent="-457200">
              <a:buFont typeface="Wingdings" panose="05000000000000000000" pitchFamily="2" charset="2"/>
              <a:buChar char="v"/>
            </a:pPr>
            <a:r>
              <a:rPr lang="en-US" u="sng" dirty="0">
                <a:solidFill>
                  <a:srgbClr val="FFFF00"/>
                </a:solidFill>
                <a:latin typeface="Algerian" panose="04020705040A02060702" pitchFamily="82" charset="0"/>
              </a:rPr>
              <a:t>Difference between manual testing &amp; automation testing</a:t>
            </a:r>
            <a:r>
              <a:rPr lang="en-US" dirty="0">
                <a:solidFill>
                  <a:srgbClr val="FFFF00"/>
                </a:solidFill>
                <a:latin typeface="Algerian" panose="04020705040A02060702" pitchFamily="82" charset="0"/>
              </a:rPr>
              <a:t> : </a:t>
            </a:r>
            <a:endParaRPr lang="en-IN"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5ACD6EDA-7E33-1C3A-12DE-836683B93964}"/>
              </a:ext>
            </a:extLst>
          </p:cNvPr>
          <p:cNvSpPr>
            <a:spLocks noGrp="1"/>
          </p:cNvSpPr>
          <p:nvPr>
            <p:ph type="body" idx="1"/>
          </p:nvPr>
        </p:nvSpPr>
        <p:spPr>
          <a:xfrm>
            <a:off x="-1" y="921774"/>
            <a:ext cx="12192001" cy="5936226"/>
          </a:xfrm>
        </p:spPr>
        <p:txBody>
          <a:bodyPr/>
          <a:lstStyle/>
          <a:p>
            <a:endParaRPr lang="en-IN" dirty="0"/>
          </a:p>
        </p:txBody>
      </p:sp>
      <p:pic>
        <p:nvPicPr>
          <p:cNvPr id="5" name="Picture 4">
            <a:extLst>
              <a:ext uri="{FF2B5EF4-FFF2-40B4-BE49-F238E27FC236}">
                <a16:creationId xmlns:a16="http://schemas.microsoft.com/office/drawing/2014/main" id="{AF7343B6-76DB-9E93-356E-763E4ACEE09F}"/>
              </a:ext>
            </a:extLst>
          </p:cNvPr>
          <p:cNvPicPr>
            <a:picLocks noChangeAspect="1"/>
          </p:cNvPicPr>
          <p:nvPr/>
        </p:nvPicPr>
        <p:blipFill>
          <a:blip r:embed="rId2"/>
          <a:stretch>
            <a:fillRect/>
          </a:stretch>
        </p:blipFill>
        <p:spPr>
          <a:xfrm>
            <a:off x="1494503" y="796413"/>
            <a:ext cx="9163665" cy="5936226"/>
          </a:xfrm>
          <a:prstGeom prst="rect">
            <a:avLst/>
          </a:prstGeom>
        </p:spPr>
      </p:pic>
    </p:spTree>
    <p:extLst>
      <p:ext uri="{BB962C8B-B14F-4D97-AF65-F5344CB8AC3E}">
        <p14:creationId xmlns:p14="http://schemas.microsoft.com/office/powerpoint/2010/main" val="2955743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C3C7C-90BB-C201-67BA-5B8164C44E74}"/>
              </a:ext>
            </a:extLst>
          </p:cNvPr>
          <p:cNvSpPr>
            <a:spLocks noGrp="1"/>
          </p:cNvSpPr>
          <p:nvPr>
            <p:ph type="title"/>
          </p:nvPr>
        </p:nvSpPr>
        <p:spPr>
          <a:xfrm>
            <a:off x="0" y="0"/>
            <a:ext cx="10817228" cy="629264"/>
          </a:xfrm>
        </p:spPr>
        <p:txBody>
          <a:bodyPr>
            <a:noAutofit/>
          </a:bodyPr>
          <a:lstStyle/>
          <a:p>
            <a:pPr marL="457200" indent="-457200">
              <a:buFont typeface="Wingdings" panose="05000000000000000000" pitchFamily="2" charset="2"/>
              <a:buChar char="v"/>
            </a:pPr>
            <a:r>
              <a:rPr lang="en-US" sz="4000" u="sng" dirty="0">
                <a:solidFill>
                  <a:srgbClr val="FFFF00"/>
                </a:solidFill>
                <a:latin typeface="Algerian" panose="04020705040A02060702" pitchFamily="82" charset="0"/>
              </a:rPr>
              <a:t>Automation testing tools</a:t>
            </a:r>
            <a:r>
              <a:rPr lang="en-US" sz="4000" dirty="0">
                <a:solidFill>
                  <a:srgbClr val="FFFF00"/>
                </a:solidFill>
                <a:latin typeface="Algerian" panose="04020705040A02060702" pitchFamily="82" charset="0"/>
              </a:rPr>
              <a:t> : -</a:t>
            </a:r>
            <a:endParaRPr lang="en-IN" sz="4000" u="sng"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CCB9D77A-5D35-6BFF-CBBA-E826E7D82201}"/>
              </a:ext>
            </a:extLst>
          </p:cNvPr>
          <p:cNvSpPr>
            <a:spLocks noGrp="1"/>
          </p:cNvSpPr>
          <p:nvPr>
            <p:ph type="body" idx="1"/>
          </p:nvPr>
        </p:nvSpPr>
        <p:spPr>
          <a:xfrm>
            <a:off x="0" y="629264"/>
            <a:ext cx="12192000" cy="6228736"/>
          </a:xfrm>
        </p:spPr>
        <p:txBody>
          <a:bodyPr>
            <a:normAutofit fontScale="92500" lnSpcReduction="20000"/>
          </a:bodyPr>
          <a:lstStyle/>
          <a:p>
            <a:pPr marL="742950" indent="-742950">
              <a:buAutoNum type="arabicPeriod"/>
            </a:pPr>
            <a:r>
              <a:rPr lang="en-US" sz="3600" u="sng" dirty="0">
                <a:solidFill>
                  <a:srgbClr val="FFFF00"/>
                </a:solidFill>
                <a:latin typeface="Algerian" panose="04020705040A02060702" pitchFamily="82" charset="0"/>
              </a:rPr>
              <a:t>Selenium</a:t>
            </a:r>
            <a:r>
              <a:rPr lang="en-US" sz="3600" dirty="0">
                <a:solidFill>
                  <a:srgbClr val="FFFF00"/>
                </a:solidFill>
                <a:latin typeface="Algerian" panose="04020705040A02060702" pitchFamily="82" charset="0"/>
              </a:rPr>
              <a:t> : -</a:t>
            </a:r>
          </a:p>
          <a:p>
            <a:pPr marL="342900" indent="-342900">
              <a:buFontTx/>
              <a:buChar char="-"/>
            </a:pPr>
            <a:r>
              <a:rPr lang="en-US" sz="2400" b="1" dirty="0">
                <a:latin typeface="Century Schoolbook" panose="02040604050505020304" pitchFamily="18" charset="0"/>
              </a:rPr>
              <a:t>Selenium is an </a:t>
            </a:r>
            <a:r>
              <a:rPr lang="en-US" sz="2400" b="1" dirty="0" err="1">
                <a:latin typeface="Century Schoolbook" panose="02040604050505020304" pitchFamily="18" charset="0"/>
              </a:rPr>
              <a:t>Opensowice</a:t>
            </a:r>
            <a:r>
              <a:rPr lang="en-US" sz="2400" b="1" dirty="0">
                <a:latin typeface="Century Schoolbook" panose="02040604050505020304" pitchFamily="18" charset="0"/>
              </a:rPr>
              <a:t> framework for automating web browsers.</a:t>
            </a:r>
          </a:p>
          <a:p>
            <a:pPr marL="342900" indent="-342900">
              <a:buFontTx/>
              <a:buChar char="-"/>
            </a:pPr>
            <a:r>
              <a:rPr lang="en-US" sz="2400" b="1" dirty="0">
                <a:latin typeface="Century Schoolbook" panose="02040604050505020304" pitchFamily="18" charset="0"/>
              </a:rPr>
              <a:t>It is used to test web applications, performing auto - </a:t>
            </a:r>
            <a:r>
              <a:rPr lang="en-US" sz="2400" b="1" dirty="0" err="1">
                <a:latin typeface="Century Schoolbook" panose="02040604050505020304" pitchFamily="18" charset="0"/>
              </a:rPr>
              <a:t>mation</a:t>
            </a:r>
            <a:r>
              <a:rPr lang="en-US" sz="2400" b="1" dirty="0">
                <a:latin typeface="Century Schoolbook" panose="02040604050505020304" pitchFamily="18" charset="0"/>
              </a:rPr>
              <a:t> tasks and scraping data from websites.</a:t>
            </a:r>
          </a:p>
          <a:p>
            <a:pPr marL="342900" indent="-342900">
              <a:buFontTx/>
              <a:buChar char="-"/>
            </a:pPr>
            <a:r>
              <a:rPr lang="en-US" sz="2400" b="1" dirty="0">
                <a:latin typeface="Century Schoolbook" panose="02040604050505020304" pitchFamily="18" charset="0"/>
              </a:rPr>
              <a:t>It supports multiple programming languages including Java, Python, c-sharp, </a:t>
            </a:r>
            <a:r>
              <a:rPr lang="en-US" sz="2400" b="1" dirty="0" err="1">
                <a:latin typeface="Century Schoolbook" panose="02040604050505020304" pitchFamily="18" charset="0"/>
              </a:rPr>
              <a:t>Php</a:t>
            </a:r>
            <a:r>
              <a:rPr lang="en-US" sz="2400" b="1" dirty="0">
                <a:latin typeface="Century Schoolbook" panose="02040604050505020304" pitchFamily="18" charset="0"/>
              </a:rPr>
              <a:t>, Ruby. </a:t>
            </a:r>
          </a:p>
          <a:p>
            <a:pPr marL="342900" indent="-342900">
              <a:buFontTx/>
              <a:buChar char="-"/>
            </a:pPr>
            <a:r>
              <a:rPr lang="en-US" sz="2400" b="1" dirty="0">
                <a:latin typeface="Century Schoolbook" panose="02040604050505020304" pitchFamily="18" charset="0"/>
              </a:rPr>
              <a:t>Selenium is not a single tool but rather a suite of </a:t>
            </a:r>
            <a:r>
              <a:rPr lang="en-US" sz="2400" b="1" dirty="0" err="1">
                <a:latin typeface="Century Schoolbook" panose="02040604050505020304" pitchFamily="18" charset="0"/>
              </a:rPr>
              <a:t>softw</a:t>
            </a:r>
            <a:r>
              <a:rPr lang="en-US" sz="2400" b="1" dirty="0">
                <a:latin typeface="Century Schoolbook" panose="02040604050505020304" pitchFamily="18" charset="0"/>
              </a:rPr>
              <a:t> are that includes various tools :</a:t>
            </a:r>
            <a:br>
              <a:rPr lang="en-US" sz="2400" b="1" dirty="0">
                <a:latin typeface="Century Schoolbook" panose="02040604050505020304" pitchFamily="18" charset="0"/>
              </a:rPr>
            </a:br>
            <a:r>
              <a:rPr lang="en-US" sz="2400" b="1" dirty="0" err="1">
                <a:latin typeface="Century Schoolbook" panose="02040604050505020304" pitchFamily="18" charset="0"/>
              </a:rPr>
              <a:t>i</a:t>
            </a:r>
            <a:r>
              <a:rPr lang="en-US" sz="2400" b="1" dirty="0">
                <a:latin typeface="Century Schoolbook" panose="02040604050505020304" pitchFamily="18" charset="0"/>
              </a:rPr>
              <a:t>) selenium web Driver: It is used for automating browser, interactions.</a:t>
            </a:r>
            <a:br>
              <a:rPr lang="en-US" sz="2400" b="1" dirty="0">
                <a:latin typeface="Century Schoolbook" panose="02040604050505020304" pitchFamily="18" charset="0"/>
              </a:rPr>
            </a:br>
            <a:r>
              <a:rPr lang="en-US" sz="2400" b="1" dirty="0">
                <a:latin typeface="Century Schoolbook" panose="02040604050505020304" pitchFamily="18" charset="0"/>
              </a:rPr>
              <a:t>ii) selenium IDE : It is an integrated development environment for </a:t>
            </a:r>
            <a:r>
              <a:rPr lang="en-US" sz="2400" b="1" dirty="0" err="1">
                <a:latin typeface="Century Schoolbook" panose="02040604050505020304" pitchFamily="18" charset="0"/>
              </a:rPr>
              <a:t>vreating</a:t>
            </a:r>
            <a:r>
              <a:rPr lang="en-US" sz="2400" b="1" dirty="0">
                <a:latin typeface="Century Schoolbook" panose="02040604050505020304" pitchFamily="18" charset="0"/>
              </a:rPr>
              <a:t> and running selenium test cases.</a:t>
            </a:r>
            <a:br>
              <a:rPr lang="en-US" sz="2400" b="1" dirty="0">
                <a:latin typeface="Century Schoolbook" panose="02040604050505020304" pitchFamily="18" charset="0"/>
              </a:rPr>
            </a:br>
            <a:r>
              <a:rPr lang="en-US" sz="2400" b="1" dirty="0">
                <a:latin typeface="Century Schoolbook" panose="02040604050505020304" pitchFamily="18" charset="0"/>
              </a:rPr>
              <a:t>iii) selenium Grid : It is used for parallel testing on multiple machines or browsers.</a:t>
            </a:r>
            <a:br>
              <a:rPr lang="en-US" sz="2400" b="1" dirty="0">
                <a:latin typeface="Century Schoolbook" panose="02040604050505020304" pitchFamily="18" charset="0"/>
              </a:rPr>
            </a:br>
            <a:r>
              <a:rPr lang="en-US" sz="2400" b="1" dirty="0">
                <a:latin typeface="Century Schoolbook" panose="02040604050505020304" pitchFamily="18" charset="0"/>
              </a:rPr>
              <a:t>iv) selenium Remote control : It allows programmers to code in different programming languages.</a:t>
            </a:r>
          </a:p>
          <a:p>
            <a:pPr marL="342900" indent="-342900">
              <a:buFontTx/>
              <a:buChar char="-"/>
            </a:pPr>
            <a:r>
              <a:rPr lang="en-US" sz="2400" b="1" dirty="0">
                <a:latin typeface="Century Schoolbook" panose="02040604050505020304" pitchFamily="18" charset="0"/>
              </a:rPr>
              <a:t>The key advantage of using selenium is its ability to simulate real world user interactions with web application which helps to identify potential issues and bugs in the applications before they become a problem for users. selenium has large and active community and open. </a:t>
            </a:r>
            <a:r>
              <a:rPr lang="en-US" sz="2400" b="1" dirty="0" err="1">
                <a:latin typeface="Century Schoolbook" panose="02040604050505020304" pitchFamily="18" charset="0"/>
              </a:rPr>
              <a:t>sowice</a:t>
            </a:r>
            <a:r>
              <a:rPr lang="en-US" sz="2400" b="1" dirty="0">
                <a:latin typeface="Century Schoolbook" panose="02040604050505020304" pitchFamily="18" charset="0"/>
              </a:rPr>
              <a:t> nature of selenium means that it is free to use and can be modified.</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065800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A81EC-10E2-5DDF-0663-9508C71AA9AD}"/>
              </a:ext>
            </a:extLst>
          </p:cNvPr>
          <p:cNvSpPr>
            <a:spLocks noGrp="1"/>
          </p:cNvSpPr>
          <p:nvPr>
            <p:ph type="title"/>
          </p:nvPr>
        </p:nvSpPr>
        <p:spPr>
          <a:xfrm>
            <a:off x="36871" y="1"/>
            <a:ext cx="10131427" cy="678426"/>
          </a:xfrm>
        </p:spPr>
        <p:txBody>
          <a:bodyPr>
            <a:noAutofit/>
          </a:bodyPr>
          <a:lstStyle/>
          <a:p>
            <a:r>
              <a:rPr lang="en-US" sz="4000" dirty="0">
                <a:solidFill>
                  <a:srgbClr val="FFFF00"/>
                </a:solidFill>
                <a:latin typeface="Algerian" panose="04020705040A02060702" pitchFamily="82" charset="0"/>
              </a:rPr>
              <a:t>2. </a:t>
            </a:r>
            <a:r>
              <a:rPr lang="en-US" sz="4000" u="sng" dirty="0" err="1">
                <a:solidFill>
                  <a:srgbClr val="FFFF00"/>
                </a:solidFill>
                <a:latin typeface="Algerian" panose="04020705040A02060702" pitchFamily="82" charset="0"/>
              </a:rPr>
              <a:t>Katalon</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FB76E1C-E5AE-950A-FE06-89E73D444343}"/>
              </a:ext>
            </a:extLst>
          </p:cNvPr>
          <p:cNvSpPr>
            <a:spLocks noGrp="1"/>
          </p:cNvSpPr>
          <p:nvPr>
            <p:ph type="body" idx="1"/>
          </p:nvPr>
        </p:nvSpPr>
        <p:spPr>
          <a:xfrm>
            <a:off x="36871" y="213851"/>
            <a:ext cx="12155129" cy="6044380"/>
          </a:xfrm>
        </p:spPr>
        <p:txBody>
          <a:bodyPr>
            <a:normAutofit/>
          </a:bodyPr>
          <a:lstStyle/>
          <a:p>
            <a:pPr marL="342900" indent="-342900">
              <a:buFont typeface="Wingdings" panose="05000000000000000000" pitchFamily="2" charset="2"/>
              <a:buChar char="Ø"/>
            </a:pPr>
            <a:r>
              <a:rPr lang="en-US" sz="2800" b="1" dirty="0">
                <a:latin typeface="Century Schoolbook" panose="02040604050505020304" pitchFamily="18" charset="0"/>
              </a:rPr>
              <a:t>It is a comprehensive test automation tool that allows you to create and execute automated tests for web, API, mobile and desktop applications.</a:t>
            </a:r>
          </a:p>
          <a:p>
            <a:pPr marL="342900" indent="-342900">
              <a:buFont typeface="Wingdings" panose="05000000000000000000" pitchFamily="2" charset="2"/>
              <a:buChar char="Ø"/>
            </a:pPr>
            <a:r>
              <a:rPr lang="en-US" sz="2800" b="1" dirty="0" err="1">
                <a:latin typeface="Century Schoolbook" panose="02040604050505020304" pitchFamily="18" charset="0"/>
              </a:rPr>
              <a:t>katalon</a:t>
            </a:r>
            <a:r>
              <a:rPr lang="en-US" sz="2800" b="1" dirty="0">
                <a:latin typeface="Century Schoolbook" panose="02040604050505020304" pitchFamily="18" charset="0"/>
              </a:rPr>
              <a:t> studio provides a </a:t>
            </a:r>
            <a:r>
              <a:rPr lang="en-US" sz="2800" b="1" dirty="0" err="1">
                <a:latin typeface="Century Schoolbook" panose="02040604050505020304" pitchFamily="18" charset="0"/>
              </a:rPr>
              <a:t>wer</a:t>
            </a:r>
            <a:r>
              <a:rPr lang="en-US" sz="2800" b="1" dirty="0">
                <a:latin typeface="Century Schoolbook" panose="02040604050505020304" pitchFamily="18" charset="0"/>
              </a:rPr>
              <a:t> friendly interface that enables you to create automated test without requiring extensive programming knowledge...</a:t>
            </a:r>
          </a:p>
          <a:p>
            <a:pPr marL="342900" indent="-342900">
              <a:buFont typeface="Wingdings" panose="05000000000000000000" pitchFamily="2" charset="2"/>
              <a:buChar char="Ø"/>
            </a:pPr>
            <a:r>
              <a:rPr lang="en-US" sz="2800" b="1" dirty="0">
                <a:latin typeface="Century Schoolbook" panose="02040604050505020304" pitchFamily="18" charset="0"/>
              </a:rPr>
              <a:t>It provides a range of features such as record and </a:t>
            </a:r>
            <a:r>
              <a:rPr lang="en-US" sz="2800" b="1" dirty="0" err="1">
                <a:latin typeface="Century Schoolbook" panose="02040604050505020304" pitchFamily="18" charset="0"/>
              </a:rPr>
              <a:t>pla</a:t>
            </a:r>
            <a:r>
              <a:rPr lang="en-US" sz="2800" b="1" dirty="0">
                <a:latin typeface="Century Schoolbook" panose="02040604050505020304" pitchFamily="18" charset="0"/>
              </a:rPr>
              <a:t> </a:t>
            </a:r>
            <a:r>
              <a:rPr lang="en-US" sz="2800" b="1" dirty="0" err="1">
                <a:latin typeface="Century Schoolbook" panose="02040604050505020304" pitchFamily="18" charset="0"/>
              </a:rPr>
              <a:t>yback</a:t>
            </a:r>
            <a:r>
              <a:rPr lang="en-US" sz="2800" b="1" dirty="0">
                <a:latin typeface="Century Schoolbook" panose="02040604050505020304" pitchFamily="18" charset="0"/>
              </a:rPr>
              <a:t>, object repository, data-driven testing and custom keywords.</a:t>
            </a:r>
          </a:p>
          <a:p>
            <a:pPr marL="342900" indent="-342900">
              <a:buFont typeface="Wingdings" panose="05000000000000000000" pitchFamily="2" charset="2"/>
              <a:buChar char="Ø"/>
            </a:pPr>
            <a:r>
              <a:rPr lang="en-US" sz="2800" b="1" dirty="0" err="1">
                <a:latin typeface="Century Schoolbook" panose="02040604050505020304" pitchFamily="18" charset="0"/>
              </a:rPr>
              <a:t>katalon</a:t>
            </a:r>
            <a:r>
              <a:rPr lang="en-US" sz="2800" b="1" dirty="0">
                <a:latin typeface="Century Schoolbook" panose="02040604050505020304" pitchFamily="18" charset="0"/>
              </a:rPr>
              <a:t> studio is built on top of selenium and Appium frameworks and supports integration with various tools. like JIRA and Jenkins.</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3057042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1311-CBC5-1F5D-E18F-177D24E605B6}"/>
              </a:ext>
            </a:extLst>
          </p:cNvPr>
          <p:cNvSpPr>
            <a:spLocks noGrp="1"/>
          </p:cNvSpPr>
          <p:nvPr>
            <p:ph type="title"/>
          </p:nvPr>
        </p:nvSpPr>
        <p:spPr>
          <a:xfrm>
            <a:off x="0" y="0"/>
            <a:ext cx="10817228" cy="639096"/>
          </a:xfrm>
        </p:spPr>
        <p:txBody>
          <a:bodyPr>
            <a:normAutofit fontScale="90000"/>
          </a:bodyPr>
          <a:lstStyle/>
          <a:p>
            <a:r>
              <a:rPr lang="en-US" sz="4400" dirty="0">
                <a:solidFill>
                  <a:srgbClr val="FFFF00"/>
                </a:solidFill>
                <a:latin typeface="Algerian" panose="04020705040A02060702" pitchFamily="82" charset="0"/>
              </a:rPr>
              <a:t>3. </a:t>
            </a:r>
            <a:r>
              <a:rPr lang="en-US" sz="4400" u="sng" dirty="0">
                <a:solidFill>
                  <a:srgbClr val="FFFF00"/>
                </a:solidFill>
                <a:latin typeface="Algerian" panose="04020705040A02060702" pitchFamily="82" charset="0"/>
              </a:rPr>
              <a:t>Bugzilla</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A6099EEC-BD2C-2B03-F781-FA9B6DA80704}"/>
              </a:ext>
            </a:extLst>
          </p:cNvPr>
          <p:cNvSpPr>
            <a:spLocks noGrp="1"/>
          </p:cNvSpPr>
          <p:nvPr>
            <p:ph type="body" idx="1"/>
          </p:nvPr>
        </p:nvSpPr>
        <p:spPr>
          <a:xfrm>
            <a:off x="0" y="-373626"/>
            <a:ext cx="12192000" cy="6218904"/>
          </a:xfrm>
        </p:spPr>
        <p:txBody>
          <a:bodyPr>
            <a:normAutofit/>
          </a:bodyPr>
          <a:lstStyle/>
          <a:p>
            <a:pPr marL="342900" indent="-342900">
              <a:buFont typeface="Wingdings" panose="05000000000000000000" pitchFamily="2" charset="2"/>
              <a:buChar char="Ø"/>
            </a:pPr>
            <a:r>
              <a:rPr lang="en-US" sz="3200" b="1" dirty="0">
                <a:latin typeface="Century Schoolbook" panose="02040604050505020304" pitchFamily="18" charset="0"/>
              </a:rPr>
              <a:t>An open source bug tracking system that allows developers- to keep track of outstanding problems with their product.</a:t>
            </a:r>
          </a:p>
          <a:p>
            <a:pPr marL="342900" indent="-342900">
              <a:buFont typeface="Wingdings" panose="05000000000000000000" pitchFamily="2" charset="2"/>
              <a:buChar char="Ø"/>
            </a:pPr>
            <a:r>
              <a:rPr lang="en-US" sz="3200" b="1" dirty="0">
                <a:latin typeface="Century Schoolbook" panose="02040604050505020304" pitchFamily="18" charset="0"/>
              </a:rPr>
              <a:t>Bugzilla tool is written in </a:t>
            </a:r>
            <a:r>
              <a:rPr lang="en-US" sz="3200" b="1" dirty="0" err="1">
                <a:latin typeface="Century Schoolbook" panose="02040604050505020304" pitchFamily="18" charset="0"/>
              </a:rPr>
              <a:t>perl</a:t>
            </a:r>
            <a:r>
              <a:rPr lang="en-US" sz="3200" b="1" dirty="0">
                <a:latin typeface="Century Schoolbook" panose="02040604050505020304" pitchFamily="18" charset="0"/>
              </a:rPr>
              <a:t> language and it uses </a:t>
            </a:r>
            <a:r>
              <a:rPr lang="en-US" sz="3200" b="1" dirty="0" err="1">
                <a:latin typeface="Century Schoolbook" panose="02040604050505020304" pitchFamily="18" charset="0"/>
              </a:rPr>
              <a:t>Mysal</a:t>
            </a:r>
            <a:r>
              <a:rPr lang="en-US" sz="3200" b="1" dirty="0">
                <a:latin typeface="Century Schoolbook" panose="02040604050505020304" pitchFamily="18" charset="0"/>
              </a:rPr>
              <a:t> database.</a:t>
            </a:r>
          </a:p>
          <a:p>
            <a:pPr marL="342900" indent="-342900">
              <a:buFont typeface="Wingdings" panose="05000000000000000000" pitchFamily="2" charset="2"/>
              <a:buChar char="Ø"/>
            </a:pPr>
            <a:r>
              <a:rPr lang="en-US" sz="3200" b="1" dirty="0">
                <a:latin typeface="Century Schoolbook" panose="02040604050505020304" pitchFamily="18" charset="0"/>
              </a:rPr>
              <a:t>It can be used as a test management tool as it can be- easily linked with other test management tools like Quality center, </a:t>
            </a:r>
            <a:r>
              <a:rPr lang="en-US" sz="3200" b="1" dirty="0" err="1">
                <a:latin typeface="Century Schoolbook" panose="02040604050505020304" pitchFamily="18" charset="0"/>
              </a:rPr>
              <a:t>Testlink</a:t>
            </a:r>
            <a:r>
              <a:rPr lang="en-US" sz="3200" b="1" dirty="0">
                <a:latin typeface="Century Schoolbook" panose="02040604050505020304" pitchFamily="18" charset="0"/>
              </a:rPr>
              <a:t>, </a:t>
            </a:r>
            <a:r>
              <a:rPr lang="en-US" sz="3200" b="1" dirty="0" err="1">
                <a:latin typeface="Century Schoolbook" panose="02040604050505020304" pitchFamily="18" charset="0"/>
              </a:rPr>
              <a:t>etc</a:t>
            </a:r>
            <a:r>
              <a:rPr lang="en-US" sz="3200" b="1" dirty="0">
                <a:latin typeface="Century Schoolbook" panose="02040604050505020304" pitchFamily="18" charset="0"/>
              </a:rPr>
              <a:t>…</a:t>
            </a:r>
            <a:endParaRPr lang="en-IN" sz="3200" b="1" dirty="0">
              <a:latin typeface="Century Schoolbook" panose="02040604050505020304" pitchFamily="18" charset="0"/>
            </a:endParaRPr>
          </a:p>
        </p:txBody>
      </p:sp>
    </p:spTree>
    <p:extLst>
      <p:ext uri="{BB962C8B-B14F-4D97-AF65-F5344CB8AC3E}">
        <p14:creationId xmlns:p14="http://schemas.microsoft.com/office/powerpoint/2010/main" val="3150072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86269-60CC-2835-448A-F18FA2917B72}"/>
              </a:ext>
            </a:extLst>
          </p:cNvPr>
          <p:cNvSpPr>
            <a:spLocks noGrp="1"/>
          </p:cNvSpPr>
          <p:nvPr>
            <p:ph type="title"/>
          </p:nvPr>
        </p:nvSpPr>
        <p:spPr>
          <a:xfrm>
            <a:off x="0" y="0"/>
            <a:ext cx="10131427" cy="796413"/>
          </a:xfrm>
        </p:spPr>
        <p:txBody>
          <a:bodyPr>
            <a:normAutofit/>
          </a:bodyPr>
          <a:lstStyle/>
          <a:p>
            <a:r>
              <a:rPr lang="en-US" sz="4000" dirty="0">
                <a:solidFill>
                  <a:srgbClr val="FFFF00"/>
                </a:solidFill>
                <a:latin typeface="Algerian" panose="04020705040A02060702" pitchFamily="82" charset="0"/>
              </a:rPr>
              <a:t>4. </a:t>
            </a:r>
            <a:r>
              <a:rPr lang="en-US" sz="4000" u="sng" dirty="0">
                <a:solidFill>
                  <a:srgbClr val="FFFF00"/>
                </a:solidFill>
                <a:latin typeface="Algerian" panose="04020705040A02060702" pitchFamily="82" charset="0"/>
              </a:rPr>
              <a:t>QTP</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7F7EDF95-D9BE-734C-F977-58C39417EEC0}"/>
              </a:ext>
            </a:extLst>
          </p:cNvPr>
          <p:cNvSpPr>
            <a:spLocks noGrp="1"/>
          </p:cNvSpPr>
          <p:nvPr>
            <p:ph type="body" idx="1"/>
          </p:nvPr>
        </p:nvSpPr>
        <p:spPr>
          <a:xfrm>
            <a:off x="0" y="-523569"/>
            <a:ext cx="12192000" cy="5946058"/>
          </a:xfrm>
        </p:spPr>
        <p:txBody>
          <a:bodyPr>
            <a:normAutofit/>
          </a:bodyPr>
          <a:lstStyle/>
          <a:p>
            <a:pPr marL="342900" indent="-342900">
              <a:buFont typeface="Wingdings" panose="05000000000000000000" pitchFamily="2" charset="2"/>
              <a:buChar char="Ø"/>
            </a:pPr>
            <a:r>
              <a:rPr lang="en-US" sz="3200" b="1" dirty="0">
                <a:latin typeface="Century Schoolbook" panose="02040604050505020304" pitchFamily="18" charset="0"/>
              </a:rPr>
              <a:t>Full form of QTP is Quick Test Professionals.</a:t>
            </a:r>
          </a:p>
          <a:p>
            <a:pPr marL="342900" indent="-342900">
              <a:buFont typeface="Wingdings" panose="05000000000000000000" pitchFamily="2" charset="2"/>
              <a:buChar char="Ø"/>
            </a:pPr>
            <a:r>
              <a:rPr lang="en-US" sz="3200" b="1" dirty="0">
                <a:latin typeface="Century Schoolbook" panose="02040604050505020304" pitchFamily="18" charset="0"/>
              </a:rPr>
              <a:t>QTP tool is used to test functional regression test cases, for the web-based applications.</a:t>
            </a:r>
          </a:p>
          <a:p>
            <a:pPr marL="342900" indent="-342900">
              <a:buFont typeface="Wingdings" panose="05000000000000000000" pitchFamily="2" charset="2"/>
              <a:buChar char="Ø"/>
            </a:pPr>
            <a:r>
              <a:rPr lang="en-US" sz="3200" b="1" dirty="0">
                <a:latin typeface="Century Schoolbook" panose="02040604050505020304" pitchFamily="18" charset="0"/>
              </a:rPr>
              <a:t>QTP is designed on the scripting language like VB </a:t>
            </a:r>
            <a:r>
              <a:rPr lang="en-US" sz="3200" b="1" dirty="0" err="1">
                <a:latin typeface="Century Schoolbook" panose="02040604050505020304" pitchFamily="18" charset="0"/>
              </a:rPr>
              <a:t>swipt</a:t>
            </a:r>
            <a:r>
              <a:rPr lang="en-US" sz="3200" b="1" dirty="0">
                <a:latin typeface="Century Schoolbook" panose="02040604050505020304" pitchFamily="18" charset="0"/>
              </a:rPr>
              <a:t>. to automate the application.</a:t>
            </a:r>
          </a:p>
          <a:p>
            <a:pPr marL="342900" indent="-342900">
              <a:buFont typeface="Wingdings" panose="05000000000000000000" pitchFamily="2" charset="2"/>
              <a:buChar char="Ø"/>
            </a:pPr>
            <a:r>
              <a:rPr lang="en-US" sz="3200" b="1" dirty="0">
                <a:latin typeface="Century Schoolbook" panose="02040604050505020304" pitchFamily="18" charset="0"/>
              </a:rPr>
              <a:t>Both technical and non technical tester can use QTP.</a:t>
            </a:r>
            <a:endParaRPr lang="en-IN" sz="3200" b="1" dirty="0">
              <a:latin typeface="Century Schoolbook" panose="02040604050505020304" pitchFamily="18" charset="0"/>
            </a:endParaRPr>
          </a:p>
        </p:txBody>
      </p:sp>
    </p:spTree>
    <p:extLst>
      <p:ext uri="{BB962C8B-B14F-4D97-AF65-F5344CB8AC3E}">
        <p14:creationId xmlns:p14="http://schemas.microsoft.com/office/powerpoint/2010/main" val="1529900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E443E-E267-FDA7-6DEB-DCE3584D894A}"/>
              </a:ext>
            </a:extLst>
          </p:cNvPr>
          <p:cNvSpPr>
            <a:spLocks noGrp="1"/>
          </p:cNvSpPr>
          <p:nvPr>
            <p:ph type="title"/>
          </p:nvPr>
        </p:nvSpPr>
        <p:spPr>
          <a:xfrm>
            <a:off x="17206" y="1"/>
            <a:ext cx="10131427" cy="835742"/>
          </a:xfrm>
        </p:spPr>
        <p:txBody>
          <a:bodyPr>
            <a:normAutofit/>
          </a:bodyPr>
          <a:lstStyle/>
          <a:p>
            <a:r>
              <a:rPr lang="en-US" sz="4000" dirty="0">
                <a:solidFill>
                  <a:srgbClr val="FFFF00"/>
                </a:solidFill>
                <a:latin typeface="Algerian" panose="04020705040A02060702" pitchFamily="82" charset="0"/>
              </a:rPr>
              <a:t>5. </a:t>
            </a:r>
            <a:r>
              <a:rPr lang="en-US" sz="4000" u="sng" dirty="0">
                <a:solidFill>
                  <a:srgbClr val="FFFF00"/>
                </a:solidFill>
                <a:latin typeface="Algerian" panose="04020705040A02060702" pitchFamily="82" charset="0"/>
              </a:rPr>
              <a:t>Appium</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9B5FC6F6-AF63-BD23-5738-AAB931D569E9}"/>
              </a:ext>
            </a:extLst>
          </p:cNvPr>
          <p:cNvSpPr>
            <a:spLocks noGrp="1"/>
          </p:cNvSpPr>
          <p:nvPr>
            <p:ph type="body" idx="1"/>
          </p:nvPr>
        </p:nvSpPr>
        <p:spPr>
          <a:xfrm>
            <a:off x="0" y="-285135"/>
            <a:ext cx="12157588" cy="5923934"/>
          </a:xfrm>
        </p:spPr>
        <p:txBody>
          <a:bodyPr>
            <a:normAutofit/>
          </a:bodyPr>
          <a:lstStyle/>
          <a:p>
            <a:pPr marL="342900" indent="-342900">
              <a:buFont typeface="Wingdings" panose="05000000000000000000" pitchFamily="2" charset="2"/>
              <a:buChar char="Ø"/>
            </a:pPr>
            <a:r>
              <a:rPr lang="en-US" sz="3200" b="1" dirty="0">
                <a:latin typeface="Century Schoolbook" panose="02040604050505020304" pitchFamily="18" charset="0"/>
              </a:rPr>
              <a:t>An open source test automation tool used to automate mobile applications for Android, </a:t>
            </a:r>
            <a:r>
              <a:rPr lang="en-US" sz="3200" b="1" dirty="0" err="1">
                <a:latin typeface="Century Schoolbook" panose="02040604050505020304" pitchFamily="18" charset="0"/>
              </a:rPr>
              <a:t>iOs</a:t>
            </a:r>
            <a:r>
              <a:rPr lang="en-US" sz="3200" b="1" dirty="0">
                <a:latin typeface="Century Schoolbook" panose="02040604050505020304" pitchFamily="18" charset="0"/>
              </a:rPr>
              <a:t> and windows.</a:t>
            </a:r>
          </a:p>
          <a:p>
            <a:pPr marL="342900" indent="-342900">
              <a:buFont typeface="Wingdings" panose="05000000000000000000" pitchFamily="2" charset="2"/>
              <a:buChar char="Ø"/>
            </a:pPr>
            <a:r>
              <a:rPr lang="en-US" sz="3200" b="1" dirty="0">
                <a:latin typeface="Century Schoolbook" panose="02040604050505020304" pitchFamily="18" charset="0"/>
              </a:rPr>
              <a:t>Appium support cross platform compatibility </a:t>
            </a:r>
            <a:r>
              <a:rPr lang="en-US" sz="3200" b="1" dirty="0" err="1">
                <a:latin typeface="Century Schoolbook" panose="02040604050505020304" pitchFamily="18" charset="0"/>
              </a:rPr>
              <a:t>ie</a:t>
            </a:r>
            <a:r>
              <a:rPr lang="en-US" sz="3200" b="1" dirty="0">
                <a:latin typeface="Century Schoolbook" panose="02040604050505020304" pitchFamily="18" charset="0"/>
              </a:rPr>
              <a:t> </a:t>
            </a:r>
            <a:r>
              <a:rPr lang="en-US" sz="3200" b="1" dirty="0" err="1">
                <a:latin typeface="Century Schoolbook" panose="02040604050505020304" pitchFamily="18" charset="0"/>
              </a:rPr>
              <a:t>supporty</a:t>
            </a:r>
            <a:r>
              <a:rPr lang="en-US" sz="3200" b="1" dirty="0">
                <a:latin typeface="Century Schoolbook" panose="02040604050505020304" pitchFamily="18" charset="0"/>
              </a:rPr>
              <a:t> multiple programming languages including Java, Python, </a:t>
            </a:r>
            <a:r>
              <a:rPr lang="en-US" sz="3200" b="1" dirty="0" err="1">
                <a:latin typeface="Century Schoolbook" panose="02040604050505020304" pitchFamily="18" charset="0"/>
              </a:rPr>
              <a:t>Php</a:t>
            </a:r>
            <a:r>
              <a:rPr lang="en-US" sz="3200" b="1" dirty="0">
                <a:latin typeface="Century Schoolbook" panose="02040604050505020304" pitchFamily="18" charset="0"/>
              </a:rPr>
              <a:t>, and Ruby.</a:t>
            </a:r>
          </a:p>
          <a:p>
            <a:pPr marL="342900" indent="-342900">
              <a:buFont typeface="Wingdings" panose="05000000000000000000" pitchFamily="2" charset="2"/>
              <a:buChar char="Ø"/>
            </a:pPr>
            <a:r>
              <a:rPr lang="en-US" sz="3200" b="1" dirty="0">
                <a:latin typeface="Century Schoolbook" panose="02040604050505020304" pitchFamily="18" charset="0"/>
              </a:rPr>
              <a:t>Appium uses the web </a:t>
            </a:r>
            <a:r>
              <a:rPr lang="en-US" sz="3200" b="1" dirty="0" err="1">
                <a:latin typeface="Century Schoolbook" panose="02040604050505020304" pitchFamily="18" charset="0"/>
              </a:rPr>
              <a:t>priver</a:t>
            </a:r>
            <a:r>
              <a:rPr lang="en-US" sz="3200" b="1" dirty="0">
                <a:latin typeface="Century Schoolbook" panose="02040604050505020304" pitchFamily="18" charset="0"/>
              </a:rPr>
              <a:t> protocol which is commonly used for web application testing.</a:t>
            </a:r>
            <a:endParaRPr lang="en-IN" sz="3200" b="1" dirty="0">
              <a:latin typeface="Century Schoolbook" panose="02040604050505020304" pitchFamily="18" charset="0"/>
            </a:endParaRPr>
          </a:p>
        </p:txBody>
      </p:sp>
    </p:spTree>
    <p:extLst>
      <p:ext uri="{BB962C8B-B14F-4D97-AF65-F5344CB8AC3E}">
        <p14:creationId xmlns:p14="http://schemas.microsoft.com/office/powerpoint/2010/main" val="618354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9E5E-359D-C52B-E24F-645EBFAEE1BB}"/>
              </a:ext>
            </a:extLst>
          </p:cNvPr>
          <p:cNvSpPr>
            <a:spLocks noGrp="1"/>
          </p:cNvSpPr>
          <p:nvPr>
            <p:ph type="title"/>
          </p:nvPr>
        </p:nvSpPr>
        <p:spPr>
          <a:xfrm>
            <a:off x="0" y="1"/>
            <a:ext cx="10131427" cy="914400"/>
          </a:xfrm>
        </p:spPr>
        <p:txBody>
          <a:bodyPr>
            <a:normAutofit/>
          </a:bodyPr>
          <a:lstStyle/>
          <a:p>
            <a:r>
              <a:rPr lang="en-US" sz="4000" dirty="0">
                <a:solidFill>
                  <a:srgbClr val="FFFF00"/>
                </a:solidFill>
                <a:latin typeface="Algerian" panose="04020705040A02060702" pitchFamily="82" charset="0"/>
              </a:rPr>
              <a:t>6. </a:t>
            </a:r>
            <a:r>
              <a:rPr lang="en-US" sz="4000" u="sng" dirty="0">
                <a:solidFill>
                  <a:srgbClr val="FFFF00"/>
                </a:solidFill>
                <a:latin typeface="Algerian" panose="04020705040A02060702" pitchFamily="82" charset="0"/>
              </a:rPr>
              <a:t>Lambda test</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4AC2760-68D4-F025-72EF-87E46E008B00}"/>
              </a:ext>
            </a:extLst>
          </p:cNvPr>
          <p:cNvSpPr>
            <a:spLocks noGrp="1"/>
          </p:cNvSpPr>
          <p:nvPr>
            <p:ph type="body" idx="1"/>
          </p:nvPr>
        </p:nvSpPr>
        <p:spPr>
          <a:xfrm>
            <a:off x="0" y="457201"/>
            <a:ext cx="12123174" cy="4399933"/>
          </a:xfrm>
        </p:spPr>
        <p:txBody>
          <a:bodyPr>
            <a:normAutofit/>
          </a:bodyPr>
          <a:lstStyle/>
          <a:p>
            <a:pPr marL="457200" indent="-457200">
              <a:buFont typeface="Wingdings" panose="05000000000000000000" pitchFamily="2" charset="2"/>
              <a:buChar char="Ø"/>
            </a:pPr>
            <a:r>
              <a:rPr lang="en-US" sz="3200" b="1" dirty="0">
                <a:latin typeface="Century Schoolbook" panose="02040604050505020304" pitchFamily="18" charset="0"/>
              </a:rPr>
              <a:t>It is a cloud based automation testing tool for desktop and mobile application.</a:t>
            </a:r>
          </a:p>
          <a:p>
            <a:pPr marL="457200" indent="-457200">
              <a:buFont typeface="Wingdings" panose="05000000000000000000" pitchFamily="2" charset="2"/>
              <a:buChar char="Ø"/>
            </a:pPr>
            <a:r>
              <a:rPr lang="en-US" sz="3200" b="1" dirty="0">
                <a:latin typeface="Century Schoolbook" panose="02040604050505020304" pitchFamily="18" charset="0"/>
              </a:rPr>
              <a:t>It provides an easy-to-use interface for testing your web apps on a large variety of configurations without the need to set up a local infrastructure.</a:t>
            </a:r>
          </a:p>
          <a:p>
            <a:pPr marL="342900" indent="-342900">
              <a:buFont typeface="Wingdings" panose="05000000000000000000" pitchFamily="2" charset="2"/>
              <a:buChar char="Ø"/>
            </a:pPr>
            <a:r>
              <a:rPr lang="en-US" sz="3200" b="1" dirty="0">
                <a:latin typeface="Century Schoolbook" panose="02040604050505020304" pitchFamily="18" charset="0"/>
              </a:rPr>
              <a:t>It covers a wide range of browsers, devices and operating system.</a:t>
            </a:r>
            <a:endParaRPr lang="en-IN" sz="3200" b="1" dirty="0">
              <a:latin typeface="Century Schoolbook" panose="02040604050505020304" pitchFamily="18" charset="0"/>
            </a:endParaRPr>
          </a:p>
        </p:txBody>
      </p:sp>
    </p:spTree>
    <p:extLst>
      <p:ext uri="{BB962C8B-B14F-4D97-AF65-F5344CB8AC3E}">
        <p14:creationId xmlns:p14="http://schemas.microsoft.com/office/powerpoint/2010/main" val="2189507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C561-AE9E-47DF-BFD5-03A10DEC409B}"/>
              </a:ext>
            </a:extLst>
          </p:cNvPr>
          <p:cNvSpPr>
            <a:spLocks noGrp="1"/>
          </p:cNvSpPr>
          <p:nvPr>
            <p:ph type="title"/>
          </p:nvPr>
        </p:nvSpPr>
        <p:spPr>
          <a:xfrm>
            <a:off x="46704" y="68827"/>
            <a:ext cx="10131427" cy="904568"/>
          </a:xfrm>
        </p:spPr>
        <p:txBody>
          <a:bodyPr>
            <a:normAutofit/>
          </a:bodyPr>
          <a:lstStyle/>
          <a:p>
            <a:pPr marL="457200" indent="-457200">
              <a:buFont typeface="Wingdings" panose="05000000000000000000" pitchFamily="2" charset="2"/>
              <a:buChar char="v"/>
            </a:pPr>
            <a:r>
              <a:rPr lang="en-US" sz="4000" dirty="0">
                <a:latin typeface="Algerian" panose="04020705040A02060702" pitchFamily="82" charset="0"/>
              </a:rPr>
              <a:t> </a:t>
            </a:r>
            <a:r>
              <a:rPr lang="en-US" sz="4000" u="sng" dirty="0">
                <a:solidFill>
                  <a:srgbClr val="FFFF00"/>
                </a:solidFill>
                <a:latin typeface="Algerian" panose="04020705040A02060702" pitchFamily="82" charset="0"/>
              </a:rPr>
              <a:t>Features of test tools : -</a:t>
            </a:r>
            <a:endParaRPr lang="en-IN" sz="4000" u="sng"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0A4D612F-1D91-2249-D7C8-72A847C67078}"/>
              </a:ext>
            </a:extLst>
          </p:cNvPr>
          <p:cNvSpPr>
            <a:spLocks noGrp="1"/>
          </p:cNvSpPr>
          <p:nvPr>
            <p:ph type="body" idx="1"/>
          </p:nvPr>
        </p:nvSpPr>
        <p:spPr>
          <a:xfrm>
            <a:off x="0" y="1627239"/>
            <a:ext cx="12145296" cy="3603521"/>
          </a:xfrm>
        </p:spPr>
        <p:txBody>
          <a:bodyPr>
            <a:noAutofit/>
          </a:bodyPr>
          <a:lstStyle/>
          <a:p>
            <a:r>
              <a:rPr lang="en-US" sz="3600" b="1" dirty="0">
                <a:solidFill>
                  <a:srgbClr val="FFFF00"/>
                </a:solidFill>
                <a:latin typeface="Century Schoolbook" panose="02040604050505020304" pitchFamily="18" charset="0"/>
              </a:rPr>
              <a:t>1) </a:t>
            </a:r>
            <a:r>
              <a:rPr lang="en-US" sz="3600" b="1" u="sng" dirty="0">
                <a:solidFill>
                  <a:srgbClr val="FFFF00"/>
                </a:solidFill>
                <a:latin typeface="Century Schoolbook" panose="02040604050505020304" pitchFamily="18" charset="0"/>
              </a:rPr>
              <a:t>Static Test tools</a:t>
            </a:r>
            <a:r>
              <a:rPr lang="en-US" sz="3600" b="1" dirty="0">
                <a:solidFill>
                  <a:srgbClr val="FFFF00"/>
                </a:solidFill>
                <a:latin typeface="Century Schoolbook" panose="02040604050505020304" pitchFamily="18" charset="0"/>
              </a:rPr>
              <a:t> : -</a:t>
            </a:r>
          </a:p>
          <a:p>
            <a:pPr marL="342900" indent="-342900">
              <a:buFont typeface="Wingdings" panose="05000000000000000000" pitchFamily="2" charset="2"/>
              <a:buChar char="Ø"/>
            </a:pPr>
            <a:r>
              <a:rPr lang="en-US" sz="2400" b="1" dirty="0">
                <a:latin typeface="Century Schoolbook" panose="02040604050505020304" pitchFamily="18" charset="0"/>
              </a:rPr>
              <a:t>These tools do not involve actual input and output. Rather they take a symbolic approach to testing </a:t>
            </a:r>
            <a:r>
              <a:rPr lang="en-US" sz="2400" b="1" dirty="0" err="1">
                <a:latin typeface="Century Schoolbook" panose="02040604050505020304" pitchFamily="18" charset="0"/>
              </a:rPr>
              <a:t>ie</a:t>
            </a:r>
            <a:r>
              <a:rPr lang="en-US" sz="2400" b="1" dirty="0">
                <a:latin typeface="Century Schoolbook" panose="02040604050505020304" pitchFamily="18" charset="0"/>
              </a:rPr>
              <a:t> they do not test the actual execution of the software.</a:t>
            </a:r>
          </a:p>
          <a:p>
            <a:pPr marL="342900" indent="-342900">
              <a:buFont typeface="Wingdings" panose="05000000000000000000" pitchFamily="2" charset="2"/>
              <a:buChar char="Ø"/>
            </a:pPr>
            <a:r>
              <a:rPr lang="en-US" sz="2400" b="1" dirty="0">
                <a:latin typeface="Century Schoolbook" panose="02040604050505020304" pitchFamily="18" charset="0"/>
              </a:rPr>
              <a:t>These tools include the following:</a:t>
            </a:r>
            <a:br>
              <a:rPr lang="en-US" sz="2400" b="1" dirty="0">
                <a:latin typeface="Century Schoolbook" panose="02040604050505020304" pitchFamily="18" charset="0"/>
              </a:rPr>
            </a:br>
            <a:r>
              <a:rPr lang="en-US" sz="2400" b="1" dirty="0" err="1">
                <a:latin typeface="Century Schoolbook" panose="02040604050505020304" pitchFamily="18" charset="0"/>
              </a:rPr>
              <a:t>i</a:t>
            </a:r>
            <a:r>
              <a:rPr lang="en-US" sz="2400" b="1" dirty="0">
                <a:latin typeface="Century Schoolbook" panose="02040604050505020304" pitchFamily="18" charset="0"/>
              </a:rPr>
              <a:t>) </a:t>
            </a:r>
            <a:r>
              <a:rPr lang="en-US" sz="2400" b="1" dirty="0">
                <a:solidFill>
                  <a:srgbClr val="FFFF00"/>
                </a:solidFill>
                <a:latin typeface="Century Schoolbook" panose="02040604050505020304" pitchFamily="18" charset="0"/>
              </a:rPr>
              <a:t>Flow analyzers : </a:t>
            </a:r>
            <a:r>
              <a:rPr lang="en-US" sz="2400" b="1" dirty="0">
                <a:latin typeface="Century Schoolbook" panose="02040604050505020304" pitchFamily="18" charset="0"/>
              </a:rPr>
              <a:t>They ensure consistency in data flow from input to output..</a:t>
            </a:r>
            <a:br>
              <a:rPr lang="en-US" sz="2400" b="1" dirty="0">
                <a:latin typeface="Century Schoolbook" panose="02040604050505020304" pitchFamily="18" charset="0"/>
              </a:rPr>
            </a:br>
            <a:r>
              <a:rPr lang="en-US" sz="2400" b="1" dirty="0">
                <a:latin typeface="Century Schoolbook" panose="02040604050505020304" pitchFamily="18" charset="0"/>
              </a:rPr>
              <a:t>ii) </a:t>
            </a:r>
            <a:r>
              <a:rPr lang="en-US" sz="2400" b="1" dirty="0">
                <a:solidFill>
                  <a:srgbClr val="FFFF00"/>
                </a:solidFill>
                <a:latin typeface="Century Schoolbook" panose="02040604050505020304" pitchFamily="18" charset="0"/>
              </a:rPr>
              <a:t>Path tests :</a:t>
            </a:r>
            <a:r>
              <a:rPr lang="en-US" sz="2400" b="1" dirty="0">
                <a:latin typeface="Century Schoolbook" panose="02040604050505020304" pitchFamily="18" charset="0"/>
              </a:rPr>
              <a:t> They find unused code and code with contradictions.</a:t>
            </a:r>
            <a:br>
              <a:rPr lang="en-US" sz="2400" b="1" dirty="0">
                <a:latin typeface="Century Schoolbook" panose="02040604050505020304" pitchFamily="18" charset="0"/>
              </a:rPr>
            </a:br>
            <a:r>
              <a:rPr lang="en-US" sz="2400" b="1" dirty="0">
                <a:latin typeface="Century Schoolbook" panose="02040604050505020304" pitchFamily="18" charset="0"/>
              </a:rPr>
              <a:t>iii) </a:t>
            </a:r>
            <a:r>
              <a:rPr lang="en-US" sz="2400" b="1" dirty="0">
                <a:solidFill>
                  <a:srgbClr val="FFFF00"/>
                </a:solidFill>
                <a:latin typeface="Century Schoolbook" panose="02040604050505020304" pitchFamily="18" charset="0"/>
              </a:rPr>
              <a:t>Coverage analyzers :</a:t>
            </a:r>
            <a:r>
              <a:rPr lang="en-US" sz="2400" b="1" dirty="0">
                <a:latin typeface="Century Schoolbook" panose="02040604050505020304" pitchFamily="18" charset="0"/>
              </a:rPr>
              <a:t> It ensures that all logic paths are tested.</a:t>
            </a:r>
            <a:br>
              <a:rPr lang="en-US" sz="2400" b="1" dirty="0">
                <a:latin typeface="Century Schoolbook" panose="02040604050505020304" pitchFamily="18" charset="0"/>
              </a:rPr>
            </a:br>
            <a:r>
              <a:rPr lang="en-US" sz="2400" b="1" dirty="0">
                <a:latin typeface="Century Schoolbook" panose="02040604050505020304" pitchFamily="18" charset="0"/>
              </a:rPr>
              <a:t>iv) </a:t>
            </a:r>
            <a:r>
              <a:rPr lang="en-US" sz="2400" b="1" dirty="0">
                <a:solidFill>
                  <a:srgbClr val="FFFF00"/>
                </a:solidFill>
                <a:latin typeface="Century Schoolbook" panose="02040604050505020304" pitchFamily="18" charset="0"/>
              </a:rPr>
              <a:t>Interface analyzers : </a:t>
            </a:r>
            <a:r>
              <a:rPr lang="en-US" sz="2400" b="1" dirty="0">
                <a:latin typeface="Century Schoolbook" panose="02040604050505020304" pitchFamily="18" charset="0"/>
              </a:rPr>
              <a:t>It examines the effects of passing variables and data between modules.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453929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D440-DF1D-3625-3E97-A2D765EC5940}"/>
              </a:ext>
            </a:extLst>
          </p:cNvPr>
          <p:cNvSpPr>
            <a:spLocks noGrp="1"/>
          </p:cNvSpPr>
          <p:nvPr>
            <p:ph type="title"/>
          </p:nvPr>
        </p:nvSpPr>
        <p:spPr>
          <a:xfrm>
            <a:off x="0" y="39329"/>
            <a:ext cx="10178130" cy="835742"/>
          </a:xfrm>
        </p:spPr>
        <p:txBody>
          <a:bodyPr>
            <a:noAutofit/>
          </a:bodyPr>
          <a:lstStyle/>
          <a:p>
            <a:r>
              <a:rPr lang="en-US" sz="5400" dirty="0">
                <a:solidFill>
                  <a:srgbClr val="FFFF00"/>
                </a:solidFill>
                <a:latin typeface="Algerian" panose="04020705040A02060702" pitchFamily="82" charset="0"/>
              </a:rPr>
              <a:t>2. </a:t>
            </a:r>
            <a:r>
              <a:rPr lang="en-US" sz="5400" u="sng" dirty="0">
                <a:solidFill>
                  <a:srgbClr val="FFFF00"/>
                </a:solidFill>
                <a:latin typeface="Algerian" panose="04020705040A02060702" pitchFamily="82" charset="0"/>
              </a:rPr>
              <a:t>Dynamic Test Tools</a:t>
            </a:r>
            <a:r>
              <a:rPr lang="en-US" sz="5400" dirty="0">
                <a:solidFill>
                  <a:srgbClr val="FFFF00"/>
                </a:solidFill>
                <a:latin typeface="Algerian" panose="04020705040A02060702" pitchFamily="82" charset="0"/>
              </a:rPr>
              <a:t> : -</a:t>
            </a:r>
            <a:endParaRPr lang="en-IN" sz="5400" dirty="0"/>
          </a:p>
        </p:txBody>
      </p:sp>
      <p:sp>
        <p:nvSpPr>
          <p:cNvPr id="3" name="Text Placeholder 2">
            <a:extLst>
              <a:ext uri="{FF2B5EF4-FFF2-40B4-BE49-F238E27FC236}">
                <a16:creationId xmlns:a16="http://schemas.microsoft.com/office/drawing/2014/main" id="{AE512A29-CDDE-37CC-A7EF-A1EA6F9A140B}"/>
              </a:ext>
            </a:extLst>
          </p:cNvPr>
          <p:cNvSpPr>
            <a:spLocks noGrp="1"/>
          </p:cNvSpPr>
          <p:nvPr>
            <p:ph type="body" idx="1"/>
          </p:nvPr>
        </p:nvSpPr>
        <p:spPr>
          <a:xfrm>
            <a:off x="0" y="1504335"/>
            <a:ext cx="12007645" cy="3156155"/>
          </a:xfrm>
        </p:spPr>
        <p:txBody>
          <a:bodyPr>
            <a:noAutofit/>
          </a:bodyPr>
          <a:lstStyle/>
          <a:p>
            <a:pPr marL="457200" indent="-457200">
              <a:buFont typeface="Wingdings" panose="05000000000000000000" pitchFamily="2" charset="2"/>
              <a:buChar char="Ø"/>
            </a:pPr>
            <a:r>
              <a:rPr lang="en-US" sz="2800" b="1" dirty="0">
                <a:latin typeface="Century Schoolbook" panose="02040604050505020304" pitchFamily="18" charset="0"/>
              </a:rPr>
              <a:t>These tools test the software system with 'live' data. </a:t>
            </a:r>
          </a:p>
          <a:p>
            <a:pPr marL="457200" indent="-457200">
              <a:buFont typeface="Wingdings" panose="05000000000000000000" pitchFamily="2" charset="2"/>
              <a:buChar char="Ø"/>
            </a:pPr>
            <a:r>
              <a:rPr lang="en-US" sz="2800" b="1" dirty="0">
                <a:latin typeface="Century Schoolbook" panose="02040604050505020304" pitchFamily="18" charset="0"/>
              </a:rPr>
              <a:t>Dynamic test tools </a:t>
            </a:r>
            <a:r>
              <a:rPr lang="en-US" sz="2800" b="1" dirty="0" err="1">
                <a:latin typeface="Century Schoolbook" panose="02040604050505020304" pitchFamily="18" charset="0"/>
              </a:rPr>
              <a:t>indude</a:t>
            </a:r>
            <a:r>
              <a:rPr lang="en-US" sz="2800" b="1" dirty="0">
                <a:latin typeface="Century Schoolbook" panose="02040604050505020304" pitchFamily="18" charset="0"/>
              </a:rPr>
              <a:t> : -</a:t>
            </a:r>
          </a:p>
          <a:p>
            <a:r>
              <a:rPr lang="en-US" sz="2800" b="1" dirty="0" err="1">
                <a:solidFill>
                  <a:srgbClr val="FFFF00"/>
                </a:solidFill>
                <a:latin typeface="Century Schoolbook" panose="02040604050505020304" pitchFamily="18" charset="0"/>
              </a:rPr>
              <a:t>i</a:t>
            </a:r>
            <a:r>
              <a:rPr lang="en-US" sz="2800" b="1" dirty="0">
                <a:solidFill>
                  <a:srgbClr val="FFFF00"/>
                </a:solidFill>
                <a:latin typeface="Century Schoolbook" panose="02040604050505020304" pitchFamily="18" charset="0"/>
              </a:rPr>
              <a:t>)</a:t>
            </a:r>
            <a:r>
              <a:rPr lang="en-US" sz="2800" b="1" dirty="0">
                <a:latin typeface="Century Schoolbook" panose="02040604050505020304" pitchFamily="18" charset="0"/>
              </a:rPr>
              <a:t> </a:t>
            </a:r>
            <a:r>
              <a:rPr lang="en-US" sz="2800" b="1" dirty="0">
                <a:solidFill>
                  <a:srgbClr val="FFFF00"/>
                </a:solidFill>
                <a:latin typeface="Century Schoolbook" panose="02040604050505020304" pitchFamily="18" charset="0"/>
              </a:rPr>
              <a:t>Test driver : </a:t>
            </a:r>
            <a:r>
              <a:rPr lang="en-US" sz="2800" b="1" dirty="0">
                <a:latin typeface="Century Schoolbook" panose="02040604050505020304" pitchFamily="18" charset="0"/>
              </a:rPr>
              <a:t>It inputs data into a module - under-test (MUT). </a:t>
            </a:r>
          </a:p>
          <a:p>
            <a:r>
              <a:rPr lang="en-US" sz="2800" b="1" dirty="0">
                <a:solidFill>
                  <a:srgbClr val="FFFF00"/>
                </a:solidFill>
                <a:latin typeface="Century Schoolbook" panose="02040604050505020304" pitchFamily="18" charset="0"/>
              </a:rPr>
              <a:t>ii) Test beds : </a:t>
            </a:r>
            <a:r>
              <a:rPr lang="en-US" sz="2800" b="1" dirty="0">
                <a:latin typeface="Century Schoolbook" panose="02040604050505020304" pitchFamily="18" charset="0"/>
              </a:rPr>
              <a:t>It simultaneously displays source code along with the program under execution.</a:t>
            </a:r>
            <a:br>
              <a:rPr lang="en-US" sz="2800" b="1" dirty="0">
                <a:latin typeface="Century Schoolbook" panose="02040604050505020304" pitchFamily="18" charset="0"/>
              </a:rPr>
            </a:br>
            <a:r>
              <a:rPr lang="en-US" sz="2800" b="1" dirty="0">
                <a:solidFill>
                  <a:srgbClr val="FFFF00"/>
                </a:solidFill>
                <a:latin typeface="Century Schoolbook" panose="02040604050505020304" pitchFamily="18" charset="0"/>
              </a:rPr>
              <a:t>iii) Emulators : </a:t>
            </a:r>
            <a:r>
              <a:rPr lang="en-US" sz="2800" b="1" dirty="0">
                <a:latin typeface="Century Schoolbook" panose="02040604050505020304" pitchFamily="18" charset="0"/>
              </a:rPr>
              <a:t>The response facilities are used to emulate parts of the system not yet developed.</a:t>
            </a:r>
            <a:br>
              <a:rPr lang="en-US" sz="2800" b="1" dirty="0">
                <a:latin typeface="Century Schoolbook" panose="02040604050505020304" pitchFamily="18" charset="0"/>
              </a:rPr>
            </a:br>
            <a:r>
              <a:rPr lang="en-US" sz="2800" b="1" dirty="0">
                <a:solidFill>
                  <a:srgbClr val="FFFF00"/>
                </a:solidFill>
                <a:latin typeface="Century Schoolbook" panose="02040604050505020304" pitchFamily="18" charset="0"/>
              </a:rPr>
              <a:t>iv) Mutation analyzers : </a:t>
            </a:r>
            <a:r>
              <a:rPr lang="en-US" sz="2800" b="1" dirty="0">
                <a:latin typeface="Century Schoolbook" panose="02040604050505020304" pitchFamily="18" charset="0"/>
              </a:rPr>
              <a:t>The errors are deliberately 'fed' into the code in order to test fault tolerance of the system.</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1280517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631DD-F106-EE8F-9C53-E052DFB21FD7}"/>
              </a:ext>
            </a:extLst>
          </p:cNvPr>
          <p:cNvSpPr>
            <a:spLocks noGrp="1"/>
          </p:cNvSpPr>
          <p:nvPr>
            <p:ph type="title"/>
          </p:nvPr>
        </p:nvSpPr>
        <p:spPr>
          <a:xfrm>
            <a:off x="0" y="0"/>
            <a:ext cx="12085074" cy="727585"/>
          </a:xfrm>
        </p:spPr>
        <p:txBody>
          <a:bodyPr>
            <a:normAutofit fontScale="90000"/>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a:t>
            </a:r>
            <a:r>
              <a:rPr lang="en-US" sz="4900" u="sng" dirty="0">
                <a:solidFill>
                  <a:srgbClr val="FFFF00"/>
                </a:solidFill>
                <a:latin typeface="Algerian" panose="04020705040A02060702" pitchFamily="82" charset="0"/>
              </a:rPr>
              <a:t>advantages of using tools</a:t>
            </a:r>
            <a:r>
              <a:rPr lang="en-US" sz="4900" dirty="0">
                <a:solidFill>
                  <a:srgbClr val="FFFF00"/>
                </a:solidFill>
                <a:latin typeface="Algerian" panose="04020705040A02060702" pitchFamily="82" charset="0"/>
              </a:rPr>
              <a:t> : -</a:t>
            </a:r>
            <a:endParaRPr lang="en-IN" sz="49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AC2676D-8196-EEFC-B175-7C3E5773826D}"/>
              </a:ext>
            </a:extLst>
          </p:cNvPr>
          <p:cNvSpPr>
            <a:spLocks noGrp="1"/>
          </p:cNvSpPr>
          <p:nvPr>
            <p:ph type="body" idx="1"/>
          </p:nvPr>
        </p:nvSpPr>
        <p:spPr>
          <a:xfrm>
            <a:off x="0" y="292510"/>
            <a:ext cx="12085074" cy="5729746"/>
          </a:xfrm>
        </p:spPr>
        <p:txBody>
          <a:bodyPr>
            <a:normAutofit/>
          </a:bodyPr>
          <a:lstStyle/>
          <a:p>
            <a:r>
              <a:rPr lang="en-US" sz="2800" b="1" dirty="0">
                <a:solidFill>
                  <a:srgbClr val="FFFF00"/>
                </a:solidFill>
                <a:latin typeface="Century Schoolbook" panose="02040604050505020304" pitchFamily="18" charset="0"/>
              </a:rPr>
              <a:t>1. Speed and Efficiency :</a:t>
            </a:r>
            <a:r>
              <a:rPr lang="en-US" sz="2800" b="1" dirty="0">
                <a:latin typeface="Century Schoolbook" panose="02040604050505020304" pitchFamily="18" charset="0"/>
              </a:rPr>
              <a:t> Automation tools execute tests faster than manual methods reducing the time and enables frequent and continuous testing.</a:t>
            </a:r>
            <a:br>
              <a:rPr lang="en-US" sz="2800" b="1" dirty="0">
                <a:latin typeface="Century Schoolbook" panose="02040604050505020304" pitchFamily="18" charset="0"/>
              </a:rPr>
            </a:br>
            <a:r>
              <a:rPr lang="en-US" sz="2800" b="1" dirty="0">
                <a:solidFill>
                  <a:srgbClr val="FFFF00"/>
                </a:solidFill>
                <a:latin typeface="Century Schoolbook" panose="02040604050505020304" pitchFamily="18" charset="0"/>
              </a:rPr>
              <a:t>2. Reusability : </a:t>
            </a:r>
            <a:r>
              <a:rPr lang="en-US" sz="2800" b="1" dirty="0">
                <a:latin typeface="Century Schoolbook" panose="02040604050505020304" pitchFamily="18" charset="0"/>
              </a:rPr>
              <a:t>Once you write a test scripts, you can reuse it for future tests, like regression testing.</a:t>
            </a:r>
            <a:br>
              <a:rPr lang="en-US" sz="2800" b="1" dirty="0">
                <a:latin typeface="Century Schoolbook" panose="02040604050505020304" pitchFamily="18" charset="0"/>
              </a:rPr>
            </a:br>
            <a:r>
              <a:rPr lang="en-US" sz="2800" b="1" dirty="0">
                <a:solidFill>
                  <a:srgbClr val="FFFF00"/>
                </a:solidFill>
                <a:latin typeface="Century Schoolbook" panose="02040604050505020304" pitchFamily="18" charset="0"/>
              </a:rPr>
              <a:t>3. More Accurate : </a:t>
            </a:r>
            <a:r>
              <a:rPr lang="en-US" sz="2800" b="1" dirty="0">
                <a:latin typeface="Century Schoolbook" panose="02040604050505020304" pitchFamily="18" charset="0"/>
              </a:rPr>
              <a:t>Tools don't make mistakes like human. might during repetitive tasks. (Reducing human error)</a:t>
            </a:r>
            <a:br>
              <a:rPr lang="en-US" sz="2800" b="1" dirty="0">
                <a:latin typeface="Century Schoolbook" panose="02040604050505020304" pitchFamily="18" charset="0"/>
              </a:rPr>
            </a:br>
            <a:r>
              <a:rPr lang="en-US" sz="2800" b="1" dirty="0">
                <a:solidFill>
                  <a:srgbClr val="FFFF00"/>
                </a:solidFill>
                <a:latin typeface="Century Schoolbook" panose="02040604050505020304" pitchFamily="18" charset="0"/>
              </a:rPr>
              <a:t>4. Detailed Reports : </a:t>
            </a:r>
            <a:r>
              <a:rPr lang="en-US" sz="2800" b="1" dirty="0">
                <a:latin typeface="Century Schoolbook" panose="02040604050505020304" pitchFamily="18" charset="0"/>
              </a:rPr>
              <a:t>Tools give clear reports, making it easier to find and fix bugs.</a:t>
            </a:r>
            <a:br>
              <a:rPr lang="en-US" sz="2800" b="1" dirty="0">
                <a:latin typeface="Century Schoolbook" panose="02040604050505020304" pitchFamily="18" charset="0"/>
              </a:rPr>
            </a:br>
            <a:r>
              <a:rPr lang="en-US" sz="2800" b="1" dirty="0">
                <a:solidFill>
                  <a:srgbClr val="FFFF00"/>
                </a:solidFill>
                <a:latin typeface="Century Schoolbook" panose="02040604050505020304" pitchFamily="18" charset="0"/>
              </a:rPr>
              <a:t>5. Saves money Over Time :</a:t>
            </a:r>
            <a:r>
              <a:rPr lang="en-US" sz="2800" b="1" dirty="0">
                <a:latin typeface="Century Schoolbook" panose="02040604050505020304" pitchFamily="18" charset="0"/>
              </a:rPr>
              <a:t> Although costly at first, saves money in long run.</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524803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D2DA6-BDF7-309E-96C2-01C9A52AE7E7}"/>
              </a:ext>
            </a:extLst>
          </p:cNvPr>
          <p:cNvSpPr>
            <a:spLocks noGrp="1"/>
          </p:cNvSpPr>
          <p:nvPr>
            <p:ph type="title"/>
          </p:nvPr>
        </p:nvSpPr>
        <p:spPr>
          <a:xfrm>
            <a:off x="56535" y="98323"/>
            <a:ext cx="12056807" cy="648929"/>
          </a:xfrm>
        </p:spPr>
        <p:txBody>
          <a:bodyPr>
            <a:no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Disadvantages of testing tools</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F3E7C2BF-9DDC-F655-8122-FD43D391CF74}"/>
              </a:ext>
            </a:extLst>
          </p:cNvPr>
          <p:cNvSpPr>
            <a:spLocks noGrp="1"/>
          </p:cNvSpPr>
          <p:nvPr>
            <p:ph type="body" idx="1"/>
          </p:nvPr>
        </p:nvSpPr>
        <p:spPr>
          <a:xfrm>
            <a:off x="0" y="530942"/>
            <a:ext cx="12034684" cy="4508089"/>
          </a:xfrm>
        </p:spPr>
        <p:txBody>
          <a:bodyPr>
            <a:normAutofit/>
          </a:bodyPr>
          <a:lstStyle/>
          <a:p>
            <a:pPr marL="457200" indent="-457200">
              <a:buAutoNum type="arabicPeriod"/>
            </a:pPr>
            <a:r>
              <a:rPr lang="en-US" sz="2800" b="1" dirty="0">
                <a:solidFill>
                  <a:srgbClr val="FFFF00"/>
                </a:solidFill>
                <a:latin typeface="Century Schoolbook" panose="02040604050505020304" pitchFamily="18" charset="0"/>
              </a:rPr>
              <a:t>Expensive setup :</a:t>
            </a:r>
            <a:r>
              <a:rPr lang="en-US" sz="2800" b="1" dirty="0">
                <a:latin typeface="Century Schoolbook" panose="02040604050505020304" pitchFamily="18" charset="0"/>
              </a:rPr>
              <a:t> Buying tools and training staff costs a lot initially.</a:t>
            </a:r>
          </a:p>
          <a:p>
            <a:pPr marL="457200" indent="-457200">
              <a:buAutoNum type="arabicPeriod"/>
            </a:pPr>
            <a:r>
              <a:rPr lang="en-US" sz="2800" b="1" dirty="0">
                <a:solidFill>
                  <a:srgbClr val="FFFF00"/>
                </a:solidFill>
                <a:latin typeface="Century Schoolbook" panose="02040604050505020304" pitchFamily="18" charset="0"/>
              </a:rPr>
              <a:t>Needs Maintenance : </a:t>
            </a:r>
            <a:r>
              <a:rPr lang="en-US" sz="2800" b="1" dirty="0">
                <a:latin typeface="Century Schoolbook" panose="02040604050505020304" pitchFamily="18" charset="0"/>
              </a:rPr>
              <a:t>Test scripts need updates whenever your software changes.</a:t>
            </a:r>
          </a:p>
          <a:p>
            <a:pPr marL="457200" indent="-457200">
              <a:buAutoNum type="arabicPeriod"/>
            </a:pPr>
            <a:r>
              <a:rPr lang="en-US" sz="2800" b="1" dirty="0">
                <a:solidFill>
                  <a:srgbClr val="FFFF00"/>
                </a:solidFill>
                <a:latin typeface="Century Schoolbook" panose="02040604050505020304" pitchFamily="18" charset="0"/>
              </a:rPr>
              <a:t>Not always useful for small projects : </a:t>
            </a:r>
            <a:r>
              <a:rPr lang="en-US" sz="2800" b="1" dirty="0">
                <a:latin typeface="Century Schoolbook" panose="02040604050505020304" pitchFamily="18" charset="0"/>
              </a:rPr>
              <a:t>For small projects, setting up automation might take more effort than its worth.</a:t>
            </a:r>
          </a:p>
          <a:p>
            <a:pPr marL="457200" indent="-457200">
              <a:buAutoNum type="arabicPeriod"/>
            </a:pPr>
            <a:r>
              <a:rPr lang="en-US" sz="2800" b="1" dirty="0">
                <a:solidFill>
                  <a:srgbClr val="FFFF00"/>
                </a:solidFill>
                <a:latin typeface="Century Schoolbook" panose="02040604050505020304" pitchFamily="18" charset="0"/>
              </a:rPr>
              <a:t>Skilled People Required : </a:t>
            </a:r>
            <a:r>
              <a:rPr lang="en-US" sz="2800" b="1" dirty="0">
                <a:latin typeface="Century Schoolbook" panose="02040604050505020304" pitchFamily="18" charset="0"/>
              </a:rPr>
              <a:t>You need experienced testers to create and maintain automated scripts.</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2262486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9F442-3EF0-AF7E-CAD9-7C9BED027FB2}"/>
              </a:ext>
            </a:extLst>
          </p:cNvPr>
          <p:cNvSpPr>
            <a:spLocks noGrp="1"/>
          </p:cNvSpPr>
          <p:nvPr>
            <p:ph type="title"/>
          </p:nvPr>
        </p:nvSpPr>
        <p:spPr>
          <a:xfrm>
            <a:off x="115530" y="78661"/>
            <a:ext cx="11968315" cy="1337184"/>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5400" u="sng" dirty="0">
                <a:solidFill>
                  <a:srgbClr val="FFFF00"/>
                </a:solidFill>
                <a:latin typeface="Algerian" panose="04020705040A02060702" pitchFamily="82" charset="0"/>
              </a:rPr>
              <a:t>Selecting a testing tool</a:t>
            </a:r>
            <a:r>
              <a:rPr lang="en-US" sz="5400" dirty="0">
                <a:solidFill>
                  <a:srgbClr val="FFFF00"/>
                </a:solidFill>
                <a:latin typeface="Algerian" panose="04020705040A02060702" pitchFamily="82" charset="0"/>
              </a:rPr>
              <a:t> : -</a:t>
            </a:r>
            <a:endParaRPr lang="en-IN" sz="5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AFD1166-B5CC-6513-C7AB-29BEA826833A}"/>
              </a:ext>
            </a:extLst>
          </p:cNvPr>
          <p:cNvSpPr>
            <a:spLocks noGrp="1"/>
          </p:cNvSpPr>
          <p:nvPr>
            <p:ph type="body" idx="1"/>
          </p:nvPr>
        </p:nvSpPr>
        <p:spPr>
          <a:xfrm>
            <a:off x="0" y="1120877"/>
            <a:ext cx="11968316" cy="2816939"/>
          </a:xfrm>
        </p:spPr>
        <p:txBody>
          <a:bodyPr>
            <a:normAutofit/>
          </a:bodyPr>
          <a:lstStyle/>
          <a:p>
            <a:pPr marL="342900" indent="-342900">
              <a:buFont typeface="Wingdings" panose="05000000000000000000" pitchFamily="2" charset="2"/>
              <a:buChar char="Ø"/>
            </a:pPr>
            <a:r>
              <a:rPr lang="en-US" sz="3600" b="1" dirty="0">
                <a:latin typeface="Century Schoolbook" panose="02040604050505020304" pitchFamily="18" charset="0"/>
              </a:rPr>
              <a:t> Steps 1 : Identify the requirement for tools.</a:t>
            </a:r>
          </a:p>
          <a:p>
            <a:pPr marL="342900" indent="-342900">
              <a:buFont typeface="Wingdings" panose="05000000000000000000" pitchFamily="2" charset="2"/>
              <a:buChar char="Ø"/>
            </a:pPr>
            <a:r>
              <a:rPr lang="en-US" sz="3600" b="1" dirty="0">
                <a:latin typeface="Century Schoolbook" panose="02040604050505020304" pitchFamily="18" charset="0"/>
              </a:rPr>
              <a:t> Steps 2 : Evaluate the tools and vendors.</a:t>
            </a:r>
          </a:p>
          <a:p>
            <a:pPr marL="342900" indent="-342900">
              <a:buFont typeface="Wingdings" panose="05000000000000000000" pitchFamily="2" charset="2"/>
              <a:buChar char="Ø"/>
            </a:pPr>
            <a:r>
              <a:rPr lang="en-US" sz="3600" b="1" dirty="0">
                <a:latin typeface="Century Schoolbook" panose="02040604050505020304" pitchFamily="18" charset="0"/>
              </a:rPr>
              <a:t> Steps 3 : Estimate cost and benefit.</a:t>
            </a:r>
          </a:p>
          <a:p>
            <a:pPr marL="342900" indent="-342900">
              <a:buFont typeface="Wingdings" panose="05000000000000000000" pitchFamily="2" charset="2"/>
              <a:buChar char="Ø"/>
            </a:pPr>
            <a:r>
              <a:rPr lang="en-US" sz="3600" b="1" dirty="0">
                <a:latin typeface="Century Schoolbook" panose="02040604050505020304" pitchFamily="18" charset="0"/>
              </a:rPr>
              <a:t> Steps 4 : Make the final decision.</a:t>
            </a:r>
            <a:endParaRPr lang="en-IN" sz="3600" b="1" dirty="0">
              <a:latin typeface="Century Schoolbook" panose="02040604050505020304" pitchFamily="18" charset="0"/>
            </a:endParaRPr>
          </a:p>
        </p:txBody>
      </p:sp>
    </p:spTree>
    <p:extLst>
      <p:ext uri="{BB962C8B-B14F-4D97-AF65-F5344CB8AC3E}">
        <p14:creationId xmlns:p14="http://schemas.microsoft.com/office/powerpoint/2010/main" val="845937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43869-8E3B-5D0E-C676-290CD80BDC08}"/>
              </a:ext>
            </a:extLst>
          </p:cNvPr>
          <p:cNvSpPr>
            <a:spLocks noGrp="1"/>
          </p:cNvSpPr>
          <p:nvPr>
            <p:ph type="title"/>
          </p:nvPr>
        </p:nvSpPr>
        <p:spPr>
          <a:xfrm>
            <a:off x="0" y="0"/>
            <a:ext cx="11928985" cy="1032387"/>
          </a:xfrm>
        </p:spPr>
        <p:txBody>
          <a:bodyPr>
            <a:normAutofit fontScale="90000"/>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When to use automated test tools : - </a:t>
            </a:r>
            <a:br>
              <a:rPr lang="en-US" sz="4000" dirty="0">
                <a:solidFill>
                  <a:srgbClr val="FFFF00"/>
                </a:solidFill>
                <a:latin typeface="Algerian" panose="04020705040A02060702" pitchFamily="82" charset="0"/>
              </a:rPr>
            </a:br>
            <a:r>
              <a:rPr lang="en-US" b="1" dirty="0">
                <a:latin typeface="Century Schoolbook" panose="02040604050505020304" pitchFamily="18" charset="0"/>
              </a:rPr>
              <a:t>Situations where automated testing is most beneficial :</a:t>
            </a:r>
            <a:endParaRPr lang="en-IN" b="1"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DD30BD18-AF04-1487-6279-CABB49D48ED4}"/>
              </a:ext>
            </a:extLst>
          </p:cNvPr>
          <p:cNvSpPr>
            <a:spLocks noGrp="1"/>
          </p:cNvSpPr>
          <p:nvPr>
            <p:ph type="body" idx="1"/>
          </p:nvPr>
        </p:nvSpPr>
        <p:spPr>
          <a:xfrm>
            <a:off x="0" y="884903"/>
            <a:ext cx="12192000" cy="5707623"/>
          </a:xfrm>
        </p:spPr>
        <p:txBody>
          <a:bodyPr>
            <a:normAutofit/>
          </a:bodyPr>
          <a:lstStyle/>
          <a:p>
            <a:r>
              <a:rPr lang="en-US" sz="2400" b="1" dirty="0">
                <a:solidFill>
                  <a:srgbClr val="FFFF00"/>
                </a:solidFill>
                <a:latin typeface="Century Schoolbook" panose="02040604050505020304" pitchFamily="18" charset="0"/>
              </a:rPr>
              <a:t>1. Repetitive Testing : - </a:t>
            </a:r>
            <a:r>
              <a:rPr lang="en-US" sz="2400" b="1" dirty="0">
                <a:latin typeface="Century Schoolbook" panose="02040604050505020304" pitchFamily="18" charset="0"/>
              </a:rPr>
              <a:t>Tests that need to be run repeatedly during development, such as regression tests are prime candidates for automation.</a:t>
            </a:r>
            <a:endParaRPr lang="en-US" sz="2400" b="1" dirty="0">
              <a:solidFill>
                <a:srgbClr val="FFFF00"/>
              </a:solidFill>
              <a:latin typeface="Century Schoolbook" panose="02040604050505020304" pitchFamily="18" charset="0"/>
            </a:endParaRPr>
          </a:p>
          <a:p>
            <a:r>
              <a:rPr lang="en-US" sz="2400" b="1" dirty="0">
                <a:solidFill>
                  <a:srgbClr val="FFFF00"/>
                </a:solidFill>
                <a:latin typeface="Century Schoolbook" panose="02040604050505020304" pitchFamily="18" charset="0"/>
              </a:rPr>
              <a:t>2. Large test suits : - </a:t>
            </a:r>
            <a:r>
              <a:rPr lang="en-US" sz="2400" b="1" dirty="0">
                <a:latin typeface="Century Schoolbook" panose="02040604050505020304" pitchFamily="18" charset="0"/>
              </a:rPr>
              <a:t>When there are many test cases to execute, automation ensures faster &amp; more accurate results.</a:t>
            </a:r>
            <a:endParaRPr lang="en-US" sz="2400" b="1" dirty="0">
              <a:solidFill>
                <a:srgbClr val="FFFF00"/>
              </a:solidFill>
              <a:latin typeface="Century Schoolbook" panose="02040604050505020304" pitchFamily="18" charset="0"/>
            </a:endParaRPr>
          </a:p>
          <a:p>
            <a:r>
              <a:rPr lang="en-US" sz="2400" b="1" dirty="0">
                <a:solidFill>
                  <a:srgbClr val="FFFF00"/>
                </a:solidFill>
                <a:latin typeface="Century Schoolbook" panose="02040604050505020304" pitchFamily="18" charset="0"/>
              </a:rPr>
              <a:t>3. Performance Testing : - </a:t>
            </a:r>
            <a:r>
              <a:rPr lang="en-US" sz="2400" b="1" dirty="0">
                <a:latin typeface="Century Schoolbook" panose="02040604050505020304" pitchFamily="18" charset="0"/>
              </a:rPr>
              <a:t>To test how the system handles heavy traffic or many users.</a:t>
            </a:r>
            <a:endParaRPr lang="en-US" sz="2400" b="1" dirty="0">
              <a:solidFill>
                <a:srgbClr val="FFFF00"/>
              </a:solidFill>
              <a:latin typeface="Century Schoolbook" panose="02040604050505020304" pitchFamily="18" charset="0"/>
            </a:endParaRPr>
          </a:p>
          <a:p>
            <a:r>
              <a:rPr lang="en-US" sz="2400" b="1" dirty="0">
                <a:solidFill>
                  <a:srgbClr val="FFFF00"/>
                </a:solidFill>
                <a:latin typeface="Century Schoolbook" panose="02040604050505020304" pitchFamily="18" charset="0"/>
              </a:rPr>
              <a:t>4. Critical functions : - </a:t>
            </a:r>
            <a:r>
              <a:rPr lang="en-US" sz="2400" b="1" dirty="0">
                <a:latin typeface="Century Schoolbook" panose="02040604050505020304" pitchFamily="18" charset="0"/>
              </a:rPr>
              <a:t>For important features like payment systems or security.</a:t>
            </a:r>
            <a:endParaRPr lang="en-US" sz="2400" b="1" dirty="0">
              <a:solidFill>
                <a:srgbClr val="FFFF00"/>
              </a:solidFill>
              <a:latin typeface="Century Schoolbook" panose="02040604050505020304" pitchFamily="18" charset="0"/>
            </a:endParaRPr>
          </a:p>
          <a:p>
            <a:r>
              <a:rPr lang="en-US" sz="2400" b="1" dirty="0">
                <a:solidFill>
                  <a:srgbClr val="FFFF00"/>
                </a:solidFill>
                <a:latin typeface="Century Schoolbook" panose="02040604050505020304" pitchFamily="18" charset="0"/>
              </a:rPr>
              <a:t>5. Tests &amp; need speed : - </a:t>
            </a:r>
            <a:r>
              <a:rPr lang="en-US" sz="2400" b="1" dirty="0">
                <a:latin typeface="Century Schoolbook" panose="02040604050505020304" pitchFamily="18" charset="0"/>
              </a:rPr>
              <a:t>Automation is faster than manual testing for large test cases.</a:t>
            </a:r>
            <a:endParaRPr lang="en-US" sz="2400" b="1" dirty="0">
              <a:solidFill>
                <a:srgbClr val="FFFF00"/>
              </a:solidFill>
              <a:latin typeface="Century Schoolbook" panose="02040604050505020304" pitchFamily="18" charset="0"/>
            </a:endParaRPr>
          </a:p>
          <a:p>
            <a:r>
              <a:rPr lang="en-US" sz="2400" b="1" dirty="0">
                <a:solidFill>
                  <a:srgbClr val="FFFF00"/>
                </a:solidFill>
                <a:latin typeface="Century Schoolbook" panose="02040604050505020304" pitchFamily="18" charset="0"/>
              </a:rPr>
              <a:t>6. Cross – test platform : - </a:t>
            </a:r>
            <a:r>
              <a:rPr lang="en-US" sz="2400" b="1" dirty="0">
                <a:latin typeface="Century Schoolbook" panose="02040604050505020304" pitchFamily="18" charset="0"/>
              </a:rPr>
              <a:t>To </a:t>
            </a:r>
            <a:r>
              <a:rPr lang="en-US" sz="2400" b="1" dirty="0" err="1">
                <a:latin typeface="Century Schoolbook" panose="02040604050505020304" pitchFamily="18" charset="0"/>
              </a:rPr>
              <a:t>chech</a:t>
            </a:r>
            <a:r>
              <a:rPr lang="en-US" sz="2400" b="1" dirty="0">
                <a:latin typeface="Century Schoolbook" panose="02040604050505020304" pitchFamily="18" charset="0"/>
              </a:rPr>
              <a:t> if the app works on different browsers, devices or operating systems.</a:t>
            </a:r>
            <a:endParaRPr lang="en-US" sz="2400" b="1" dirty="0">
              <a:solidFill>
                <a:srgbClr val="FFFF00"/>
              </a:solidFill>
              <a:latin typeface="Century Schoolbook" panose="02040604050505020304" pitchFamily="18" charset="0"/>
            </a:endParaRPr>
          </a:p>
        </p:txBody>
      </p:sp>
    </p:spTree>
    <p:extLst>
      <p:ext uri="{BB962C8B-B14F-4D97-AF65-F5344CB8AC3E}">
        <p14:creationId xmlns:p14="http://schemas.microsoft.com/office/powerpoint/2010/main" val="410108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AAFE4-1CFE-6858-E744-412FAB3E9988}"/>
              </a:ext>
            </a:extLst>
          </p:cNvPr>
          <p:cNvSpPr>
            <a:spLocks noGrp="1"/>
          </p:cNvSpPr>
          <p:nvPr>
            <p:ph type="title"/>
          </p:nvPr>
        </p:nvSpPr>
        <p:spPr>
          <a:xfrm>
            <a:off x="27040" y="78659"/>
            <a:ext cx="12086302" cy="747251"/>
          </a:xfrm>
        </p:spPr>
        <p:txBody>
          <a:bodyPr>
            <a:normAutofit/>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Testing using automated tools</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907559AD-34AA-D191-E26F-AE634964B016}"/>
              </a:ext>
            </a:extLst>
          </p:cNvPr>
          <p:cNvSpPr>
            <a:spLocks noGrp="1"/>
          </p:cNvSpPr>
          <p:nvPr>
            <p:ph type="body" idx="1"/>
          </p:nvPr>
        </p:nvSpPr>
        <p:spPr>
          <a:xfrm>
            <a:off x="52849" y="717755"/>
            <a:ext cx="12034684" cy="5225843"/>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Testing using automated tools is a process where specialized software tools are used to execute pre-scripted tests on a system application or product.</a:t>
            </a:r>
          </a:p>
          <a:p>
            <a:pPr marL="342900" indent="-342900">
              <a:buFont typeface="Wingdings" panose="05000000000000000000" pitchFamily="2" charset="2"/>
              <a:buChar char="Ø"/>
            </a:pPr>
            <a:r>
              <a:rPr lang="en-US" sz="2400" b="1" dirty="0">
                <a:latin typeface="Century Schoolbook" panose="02040604050505020304" pitchFamily="18" charset="0"/>
              </a:rPr>
              <a:t>Automated tools help streamline the process of verifying whether a system or application works expected, reducing manual effort and increasing efficiency.</a:t>
            </a:r>
          </a:p>
          <a:p>
            <a:pPr marL="342900" indent="-342900">
              <a:buFont typeface="Wingdings" panose="05000000000000000000" pitchFamily="2" charset="2"/>
              <a:buChar char="Ø"/>
            </a:pPr>
            <a:r>
              <a:rPr lang="en-US" sz="2400" b="1" dirty="0">
                <a:latin typeface="Century Schoolbook" panose="02040604050505020304" pitchFamily="18" charset="0"/>
              </a:rPr>
              <a:t>Common uses : -</a:t>
            </a:r>
            <a:br>
              <a:rPr lang="en-US" sz="2400" b="1" dirty="0">
                <a:latin typeface="Century Schoolbook" panose="02040604050505020304" pitchFamily="18" charset="0"/>
              </a:rPr>
            </a:br>
            <a:r>
              <a:rPr lang="en-US" sz="2400" b="1" dirty="0">
                <a:solidFill>
                  <a:srgbClr val="FFFF00"/>
                </a:solidFill>
                <a:latin typeface="Century Schoolbook" panose="02040604050505020304" pitchFamily="18" charset="0"/>
              </a:rPr>
              <a:t>1) Regression testing : </a:t>
            </a:r>
            <a:r>
              <a:rPr lang="en-US" sz="2400" b="1" dirty="0">
                <a:latin typeface="Century Schoolbook" panose="02040604050505020304" pitchFamily="18" charset="0"/>
              </a:rPr>
              <a:t>Ensuring new code changes don't break existing functionality.</a:t>
            </a:r>
            <a:br>
              <a:rPr lang="en-US" sz="2400" b="1" dirty="0">
                <a:latin typeface="Century Schoolbook" panose="02040604050505020304" pitchFamily="18" charset="0"/>
              </a:rPr>
            </a:br>
            <a:r>
              <a:rPr lang="en-US" sz="2400" b="1" dirty="0">
                <a:solidFill>
                  <a:srgbClr val="FFFF00"/>
                </a:solidFill>
                <a:latin typeface="Century Schoolbook" panose="02040604050505020304" pitchFamily="18" charset="0"/>
              </a:rPr>
              <a:t>2) Performance testing :</a:t>
            </a:r>
            <a:r>
              <a:rPr lang="en-US" sz="2400" b="1" dirty="0">
                <a:latin typeface="Century Schoolbook" panose="02040604050505020304" pitchFamily="18" charset="0"/>
              </a:rPr>
              <a:t> checking how an application performs under heavy load.</a:t>
            </a:r>
            <a:br>
              <a:rPr lang="en-US" sz="2400" b="1" dirty="0">
                <a:latin typeface="Century Schoolbook" panose="02040604050505020304" pitchFamily="18" charset="0"/>
              </a:rPr>
            </a:br>
            <a:r>
              <a:rPr lang="en-US" sz="2400" b="1" dirty="0">
                <a:solidFill>
                  <a:srgbClr val="FFFF00"/>
                </a:solidFill>
                <a:latin typeface="Century Schoolbook" panose="02040604050505020304" pitchFamily="18" charset="0"/>
              </a:rPr>
              <a:t>3) functional testing :</a:t>
            </a:r>
            <a:r>
              <a:rPr lang="en-US" sz="2400" b="1" dirty="0">
                <a:latin typeface="Century Schoolbook" panose="02040604050505020304" pitchFamily="18" charset="0"/>
              </a:rPr>
              <a:t> Validating that individual functions of the application work correctly.</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349333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E9FED-C4B8-F8D3-6C5B-338954075AD7}"/>
              </a:ext>
            </a:extLst>
          </p:cNvPr>
          <p:cNvSpPr>
            <a:spLocks noGrp="1"/>
          </p:cNvSpPr>
          <p:nvPr>
            <p:ph type="title"/>
          </p:nvPr>
        </p:nvSpPr>
        <p:spPr>
          <a:xfrm>
            <a:off x="95866" y="78659"/>
            <a:ext cx="11987978" cy="698089"/>
          </a:xfrm>
        </p:spPr>
        <p:txBody>
          <a:bodyPr>
            <a:no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What are metrics &amp; measurements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30F15E77-F155-6B81-F755-7BD89DE12281}"/>
              </a:ext>
            </a:extLst>
          </p:cNvPr>
          <p:cNvSpPr>
            <a:spLocks noGrp="1"/>
          </p:cNvSpPr>
          <p:nvPr>
            <p:ph type="body" idx="1"/>
          </p:nvPr>
        </p:nvSpPr>
        <p:spPr>
          <a:xfrm>
            <a:off x="95866" y="648929"/>
            <a:ext cx="11987978" cy="5914102"/>
          </a:xfrm>
        </p:spPr>
        <p:txBody>
          <a:bodyPr>
            <a:normAutofit/>
          </a:bodyPr>
          <a:lstStyle/>
          <a:p>
            <a:pPr marL="457200" indent="-457200">
              <a:buFont typeface="Wingdings" panose="05000000000000000000" pitchFamily="2" charset="2"/>
              <a:buChar char="Ø"/>
            </a:pPr>
            <a:r>
              <a:rPr lang="en-US" sz="4000" b="1" u="sng" dirty="0">
                <a:solidFill>
                  <a:srgbClr val="FFFF00"/>
                </a:solidFill>
                <a:latin typeface="Century Schoolbook" panose="02040604050505020304" pitchFamily="18" charset="0"/>
              </a:rPr>
              <a:t>Measurements</a:t>
            </a:r>
            <a:r>
              <a:rPr lang="en-US" sz="4000" b="1" dirty="0">
                <a:solidFill>
                  <a:srgbClr val="FFFF00"/>
                </a:solidFill>
                <a:latin typeface="Century Schoolbook" panose="02040604050505020304" pitchFamily="18" charset="0"/>
              </a:rPr>
              <a:t> : - </a:t>
            </a:r>
          </a:p>
          <a:p>
            <a:r>
              <a:rPr lang="en-US" sz="3200" b="1" dirty="0">
                <a:latin typeface="Century Schoolbook" panose="02040604050505020304" pitchFamily="18" charset="0"/>
              </a:rPr>
              <a:t>Measurements are raw, quantifiable data points collected during the testing process.</a:t>
            </a:r>
          </a:p>
          <a:p>
            <a:r>
              <a:rPr lang="en-US" sz="3200" b="1" dirty="0">
                <a:latin typeface="Century Schoolbook" panose="02040604050505020304" pitchFamily="18" charset="0"/>
              </a:rPr>
              <a:t>They represent the actual values obtained from various</a:t>
            </a:r>
          </a:p>
          <a:p>
            <a:r>
              <a:rPr lang="en-US" sz="3200" b="1" dirty="0">
                <a:latin typeface="Century Schoolbook" panose="02040604050505020304" pitchFamily="18" charset="0"/>
              </a:rPr>
              <a:t>testing activities.</a:t>
            </a:r>
          </a:p>
          <a:p>
            <a:r>
              <a:rPr lang="en-US" sz="3200" b="1" dirty="0">
                <a:latin typeface="Century Schoolbook" panose="02040604050505020304" pitchFamily="18" charset="0"/>
              </a:rPr>
              <a:t>Measurements provide the input for calculating metrics.</a:t>
            </a:r>
            <a:endParaRPr lang="en-IN" sz="3200" b="1" dirty="0">
              <a:latin typeface="Century Schoolbook" panose="02040604050505020304" pitchFamily="18" charset="0"/>
            </a:endParaRPr>
          </a:p>
          <a:p>
            <a:r>
              <a:rPr lang="en-US" sz="3200" b="1" dirty="0">
                <a:solidFill>
                  <a:srgbClr val="FFFF00"/>
                </a:solidFill>
                <a:latin typeface="Century Schoolbook" panose="02040604050505020304" pitchFamily="18" charset="0"/>
              </a:rPr>
              <a:t>Eg : - </a:t>
            </a:r>
            <a:r>
              <a:rPr lang="en-US" sz="3200" b="1" dirty="0">
                <a:latin typeface="Century Schoolbook" panose="02040604050505020304" pitchFamily="18" charset="0"/>
              </a:rPr>
              <a:t>Number of test cases executed.</a:t>
            </a:r>
          </a:p>
          <a:p>
            <a:r>
              <a:rPr lang="en-US" sz="3200" b="1" dirty="0">
                <a:latin typeface="Century Schoolbook" panose="02040604050505020304" pitchFamily="18" charset="0"/>
              </a:rPr>
              <a:t>Number of defects identified.</a:t>
            </a:r>
          </a:p>
        </p:txBody>
      </p:sp>
    </p:spTree>
    <p:extLst>
      <p:ext uri="{BB962C8B-B14F-4D97-AF65-F5344CB8AC3E}">
        <p14:creationId xmlns:p14="http://schemas.microsoft.com/office/powerpoint/2010/main" val="3442272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F1199-B8FF-4D4F-3F70-F97ADAD62DB3}"/>
              </a:ext>
            </a:extLst>
          </p:cNvPr>
          <p:cNvSpPr>
            <a:spLocks noGrp="1"/>
          </p:cNvSpPr>
          <p:nvPr>
            <p:ph type="title"/>
          </p:nvPr>
        </p:nvSpPr>
        <p:spPr>
          <a:xfrm>
            <a:off x="0" y="88492"/>
            <a:ext cx="10131427" cy="727586"/>
          </a:xfrm>
        </p:spPr>
        <p:txBody>
          <a:bodyPr>
            <a:no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Metrics</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FBE2E03-7E9F-E919-31FE-78E77325EBAD}"/>
              </a:ext>
            </a:extLst>
          </p:cNvPr>
          <p:cNvSpPr>
            <a:spLocks noGrp="1"/>
          </p:cNvSpPr>
          <p:nvPr>
            <p:ph type="body" idx="1"/>
          </p:nvPr>
        </p:nvSpPr>
        <p:spPr>
          <a:xfrm>
            <a:off x="0" y="88492"/>
            <a:ext cx="11997813" cy="5818238"/>
          </a:xfrm>
        </p:spPr>
        <p:txBody>
          <a:bodyPr>
            <a:normAutofit/>
          </a:bodyPr>
          <a:lstStyle/>
          <a:p>
            <a:pPr marL="457200" indent="-457200">
              <a:buFont typeface="Wingdings" panose="05000000000000000000" pitchFamily="2" charset="2"/>
              <a:buChar char="Ø"/>
            </a:pPr>
            <a:r>
              <a:rPr lang="en-US" sz="3200" b="1" dirty="0">
                <a:latin typeface="Century Schoolbook" panose="02040604050505020304" pitchFamily="18" charset="0"/>
              </a:rPr>
              <a:t>Testing metrics are the quantitative measures used to estimate the progress, quality, productivity and health of the software testing process.</a:t>
            </a:r>
          </a:p>
          <a:p>
            <a:pPr marL="457200" indent="-457200">
              <a:buFont typeface="Wingdings" panose="05000000000000000000" pitchFamily="2" charset="2"/>
              <a:buChar char="Ø"/>
            </a:pPr>
            <a:r>
              <a:rPr lang="en-US" sz="3200" b="1" dirty="0">
                <a:latin typeface="Century Schoolbook" panose="02040604050505020304" pitchFamily="18" charset="0"/>
              </a:rPr>
              <a:t>The goal of metrics is to improve the efficiency and effectiveness in the software testing process.</a:t>
            </a:r>
          </a:p>
          <a:p>
            <a:pPr marL="457200" indent="-457200">
              <a:buFont typeface="Wingdings" panose="05000000000000000000" pitchFamily="2" charset="2"/>
              <a:buChar char="Ø"/>
            </a:pPr>
            <a:r>
              <a:rPr lang="en-US" sz="3200" b="1" dirty="0">
                <a:latin typeface="Century Schoolbook" panose="02040604050505020304" pitchFamily="18" charset="0"/>
              </a:rPr>
              <a:t>Metrics are used to analyze trends, measure performance and make decisions.</a:t>
            </a:r>
            <a:endParaRPr lang="en-IN" sz="3200" b="1" dirty="0">
              <a:latin typeface="Century Schoolbook" panose="02040604050505020304" pitchFamily="18" charset="0"/>
            </a:endParaRPr>
          </a:p>
          <a:p>
            <a:pPr marL="457200" indent="-457200">
              <a:buFont typeface="Wingdings" panose="05000000000000000000" pitchFamily="2" charset="2"/>
              <a:buChar char="Ø"/>
            </a:pPr>
            <a:r>
              <a:rPr lang="en-US" sz="3200" b="1" dirty="0">
                <a:solidFill>
                  <a:srgbClr val="FFFF00"/>
                </a:solidFill>
                <a:latin typeface="Century Schoolbook" panose="02040604050505020304" pitchFamily="18" charset="0"/>
              </a:rPr>
              <a:t>Eg : -</a:t>
            </a:r>
            <a:r>
              <a:rPr lang="en-US" sz="3200" b="1" dirty="0">
                <a:latin typeface="Century Schoolbook" panose="02040604050505020304" pitchFamily="18" charset="0"/>
              </a:rPr>
              <a:t> Test coverage, Defect Density.</a:t>
            </a:r>
          </a:p>
        </p:txBody>
      </p:sp>
    </p:spTree>
    <p:extLst>
      <p:ext uri="{BB962C8B-B14F-4D97-AF65-F5344CB8AC3E}">
        <p14:creationId xmlns:p14="http://schemas.microsoft.com/office/powerpoint/2010/main" val="3919659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BA39F-640D-A900-618C-FB2749A15116}"/>
              </a:ext>
            </a:extLst>
          </p:cNvPr>
          <p:cNvSpPr>
            <a:spLocks noGrp="1"/>
          </p:cNvSpPr>
          <p:nvPr>
            <p:ph type="title"/>
          </p:nvPr>
        </p:nvSpPr>
        <p:spPr>
          <a:xfrm>
            <a:off x="105698" y="88492"/>
            <a:ext cx="10131427" cy="717753"/>
          </a:xfrm>
        </p:spPr>
        <p:txBody>
          <a:bodyPr>
            <a:norm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Types of metrics</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A0CD61C2-CA74-6F36-5E76-92AEDE7A1BFA}"/>
              </a:ext>
            </a:extLst>
          </p:cNvPr>
          <p:cNvSpPr>
            <a:spLocks noGrp="1"/>
          </p:cNvSpPr>
          <p:nvPr>
            <p:ph type="body" idx="1"/>
          </p:nvPr>
        </p:nvSpPr>
        <p:spPr>
          <a:xfrm>
            <a:off x="105698" y="666135"/>
            <a:ext cx="11948650" cy="5926392"/>
          </a:xfrm>
        </p:spPr>
        <p:txBody>
          <a:bodyPr>
            <a:noAutofit/>
          </a:bodyPr>
          <a:lstStyle/>
          <a:p>
            <a:pPr marL="457200" indent="-457200">
              <a:buAutoNum type="arabicPeriod"/>
            </a:pPr>
            <a:r>
              <a:rPr lang="en-US" sz="3200" b="1" u="sng" dirty="0">
                <a:solidFill>
                  <a:srgbClr val="FFFF00"/>
                </a:solidFill>
                <a:latin typeface="Century Schoolbook" panose="02040604050505020304" pitchFamily="18" charset="0"/>
              </a:rPr>
              <a:t>Process metrics</a:t>
            </a:r>
            <a:r>
              <a:rPr lang="en-US" sz="3200" b="1" dirty="0">
                <a:solidFill>
                  <a:srgbClr val="FFFF00"/>
                </a:solidFill>
                <a:latin typeface="Century Schoolbook" panose="02040604050505020304" pitchFamily="18" charset="0"/>
              </a:rPr>
              <a:t> : – </a:t>
            </a:r>
          </a:p>
          <a:p>
            <a:r>
              <a:rPr lang="en-US" sz="2400" b="1" dirty="0">
                <a:latin typeface="Century Schoolbook" panose="02040604050505020304" pitchFamily="18" charset="0"/>
              </a:rPr>
              <a:t>- A projects characteristics and execution are defined by process metrics.</a:t>
            </a:r>
          </a:p>
          <a:p>
            <a:r>
              <a:rPr lang="en-US" sz="2400" b="1" dirty="0">
                <a:latin typeface="Century Schoolbook" panose="02040604050505020304" pitchFamily="18" charset="0"/>
              </a:rPr>
              <a:t>- It can be used to improve the process efficiency of the SDLC (software development lifecycle).</a:t>
            </a:r>
          </a:p>
          <a:p>
            <a:r>
              <a:rPr lang="en-US" sz="2400" b="1" dirty="0">
                <a:latin typeface="Century Schoolbook" panose="02040604050505020304" pitchFamily="18" charset="0"/>
              </a:rPr>
              <a:t>2. </a:t>
            </a:r>
            <a:r>
              <a:rPr lang="en-US" sz="3200" b="1" u="sng" dirty="0">
                <a:solidFill>
                  <a:srgbClr val="FFFF00"/>
                </a:solidFill>
                <a:latin typeface="Century Schoolbook" panose="02040604050505020304" pitchFamily="18" charset="0"/>
              </a:rPr>
              <a:t>Product Metrics</a:t>
            </a:r>
            <a:r>
              <a:rPr lang="en-US" sz="3200" b="1" dirty="0">
                <a:solidFill>
                  <a:srgbClr val="FFFF00"/>
                </a:solidFill>
                <a:latin typeface="Century Schoolbook" panose="02040604050505020304" pitchFamily="18" charset="0"/>
              </a:rPr>
              <a:t> : – </a:t>
            </a:r>
          </a:p>
          <a:p>
            <a:r>
              <a:rPr lang="en-US" sz="2400" b="1" dirty="0">
                <a:latin typeface="Century Schoolbook" panose="02040604050505020304" pitchFamily="18" charset="0"/>
              </a:rPr>
              <a:t>- A product's size, design, performance, quality and complexity are defined by product metrics.</a:t>
            </a:r>
          </a:p>
          <a:p>
            <a:r>
              <a:rPr lang="en-US" sz="2400" b="1" dirty="0">
                <a:latin typeface="Century Schoolbook" panose="02040604050505020304" pitchFamily="18" charset="0"/>
              </a:rPr>
              <a:t>- It deals with the quality of the software product.</a:t>
            </a:r>
          </a:p>
          <a:p>
            <a:r>
              <a:rPr lang="en-US" sz="2400" b="1" dirty="0">
                <a:latin typeface="Century Schoolbook" panose="02040604050505020304" pitchFamily="18" charset="0"/>
              </a:rPr>
              <a:t>3. </a:t>
            </a:r>
            <a:r>
              <a:rPr lang="en-US" sz="3200" b="1" u="sng" dirty="0">
                <a:solidFill>
                  <a:srgbClr val="FFFF00"/>
                </a:solidFill>
                <a:latin typeface="Century Schoolbook" panose="02040604050505020304" pitchFamily="18" charset="0"/>
              </a:rPr>
              <a:t>Project Metrics</a:t>
            </a:r>
            <a:r>
              <a:rPr lang="en-US" sz="3200" b="1" dirty="0">
                <a:solidFill>
                  <a:srgbClr val="FFFF00"/>
                </a:solidFill>
                <a:latin typeface="Century Schoolbook" panose="02040604050505020304" pitchFamily="18" charset="0"/>
              </a:rPr>
              <a:t> : – </a:t>
            </a:r>
          </a:p>
          <a:p>
            <a:r>
              <a:rPr lang="en-US" sz="2400" b="1" dirty="0">
                <a:latin typeface="Century Schoolbook" panose="02040604050505020304" pitchFamily="18" charset="0"/>
              </a:rPr>
              <a:t>- Project Metrics are used to assess a project's overall quality.</a:t>
            </a:r>
          </a:p>
          <a:p>
            <a:r>
              <a:rPr lang="en-US" sz="2400" b="1" dirty="0">
                <a:latin typeface="Century Schoolbook" panose="02040604050505020304" pitchFamily="18" charset="0"/>
              </a:rPr>
              <a:t>- It can be wed to measure the efficiency of a project team or any testing tools being wed by the team members.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9162712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docProps/app.xml><?xml version="1.0" encoding="utf-8"?>
<Properties xmlns="http://schemas.openxmlformats.org/officeDocument/2006/extended-properties" xmlns:vt="http://schemas.openxmlformats.org/officeDocument/2006/docPropsVTypes">
  <Template>Celestial</Template>
  <TotalTime>1312</TotalTime>
  <Words>1943</Words>
  <Application>Microsoft Office PowerPoint</Application>
  <PresentationFormat>Widescreen</PresentationFormat>
  <Paragraphs>113</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Algerian</vt:lpstr>
      <vt:lpstr>Arial</vt:lpstr>
      <vt:lpstr>Calibri</vt:lpstr>
      <vt:lpstr>Calibri Light</vt:lpstr>
      <vt:lpstr>Century Schoolbook</vt:lpstr>
      <vt:lpstr>Wingdings</vt:lpstr>
      <vt:lpstr>Celestial</vt:lpstr>
      <vt:lpstr>06. Testing tools &amp; measurements </vt:lpstr>
      <vt:lpstr>Manual testing : -</vt:lpstr>
      <vt:lpstr> Limitations of manual testing : -</vt:lpstr>
      <vt:lpstr>Automation testing : -</vt:lpstr>
      <vt:lpstr> need for automation testing : -</vt:lpstr>
      <vt:lpstr>Difference between manual testing &amp; automation testing : </vt:lpstr>
      <vt:lpstr>Automation testing tools : -</vt:lpstr>
      <vt:lpstr>2. Katalon : -</vt:lpstr>
      <vt:lpstr>3. Bugzilla : -</vt:lpstr>
      <vt:lpstr>4. QTP : -</vt:lpstr>
      <vt:lpstr>5. Appium : -</vt:lpstr>
      <vt:lpstr>6. Lambda test : -</vt:lpstr>
      <vt:lpstr> Features of test tools : -</vt:lpstr>
      <vt:lpstr>2. Dynamic Test Tools : -</vt:lpstr>
      <vt:lpstr> advantages of using tools : -</vt:lpstr>
      <vt:lpstr>Disadvantages of testing tools : -</vt:lpstr>
      <vt:lpstr> Selecting a testing tool : -</vt:lpstr>
      <vt:lpstr> When to use automated test tools : -  Situations where automated testing is most beneficial :</vt:lpstr>
      <vt:lpstr> Testing using automated tools : -</vt:lpstr>
      <vt:lpstr> What are metrics &amp; measurements : -</vt:lpstr>
      <vt:lpstr>Metrics : -</vt:lpstr>
      <vt:lpstr>Types of metrics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2025-09-26T12:30:28Z</dcterms:created>
  <dcterms:modified xsi:type="dcterms:W3CDTF">2025-11-03T06:23:51Z</dcterms:modified>
</cp:coreProperties>
</file>