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7495EA-E70D-4CA6-9EB1-A5F9ED97F619}" v="2" dt="2025-10-26T15:08:50.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CE0D44-016F-4173-ACE5-B2C6319A0E8A}" type="datetimeFigureOut">
              <a:rPr lang="en-IN" smtClean="0"/>
              <a:t>03-11-2025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15891D-F89A-4B1F-AA97-7571041DD3F4}" type="slidenum">
              <a:rPr lang="en-IN" smtClean="0"/>
              <a:t>‹#›</a:t>
            </a:fld>
            <a:endParaRPr lang="en-IN"/>
          </a:p>
        </p:txBody>
      </p:sp>
    </p:spTree>
    <p:extLst>
      <p:ext uri="{BB962C8B-B14F-4D97-AF65-F5344CB8AC3E}">
        <p14:creationId xmlns:p14="http://schemas.microsoft.com/office/powerpoint/2010/main" val="2089767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15891D-F89A-4B1F-AA97-7571041DD3F4}" type="slidenum">
              <a:rPr lang="en-IN" smtClean="0"/>
              <a:t>2</a:t>
            </a:fld>
            <a:endParaRPr lang="en-IN"/>
          </a:p>
        </p:txBody>
      </p:sp>
    </p:spTree>
    <p:extLst>
      <p:ext uri="{BB962C8B-B14F-4D97-AF65-F5344CB8AC3E}">
        <p14:creationId xmlns:p14="http://schemas.microsoft.com/office/powerpoint/2010/main" val="28805815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15891D-F89A-4B1F-AA97-7571041DD3F4}" type="slidenum">
              <a:rPr lang="en-IN" smtClean="0"/>
              <a:t>5</a:t>
            </a:fld>
            <a:endParaRPr lang="en-IN"/>
          </a:p>
        </p:txBody>
      </p:sp>
    </p:spTree>
    <p:extLst>
      <p:ext uri="{BB962C8B-B14F-4D97-AF65-F5344CB8AC3E}">
        <p14:creationId xmlns:p14="http://schemas.microsoft.com/office/powerpoint/2010/main" val="35571358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11/3/2025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A823A-B635-80C5-F808-6A8DAC39F4BD}"/>
              </a:ext>
            </a:extLst>
          </p:cNvPr>
          <p:cNvSpPr>
            <a:spLocks noGrp="1"/>
          </p:cNvSpPr>
          <p:nvPr>
            <p:ph type="ctrTitle"/>
          </p:nvPr>
        </p:nvSpPr>
        <p:spPr>
          <a:xfrm>
            <a:off x="0" y="1066801"/>
            <a:ext cx="12034684" cy="2421464"/>
          </a:xfrm>
        </p:spPr>
        <p:txBody>
          <a:bodyPr>
            <a:normAutofit/>
          </a:bodyPr>
          <a:lstStyle/>
          <a:p>
            <a:pPr algn="ctr"/>
            <a:r>
              <a:rPr lang="en-US" sz="6600" dirty="0">
                <a:solidFill>
                  <a:srgbClr val="FFFF00"/>
                </a:solidFill>
                <a:latin typeface="Algerian" panose="04020705040A02060702" pitchFamily="82" charset="0"/>
              </a:rPr>
              <a:t>05. </a:t>
            </a:r>
            <a:r>
              <a:rPr lang="en-US" sz="6600" u="sng" dirty="0">
                <a:solidFill>
                  <a:srgbClr val="FFFF00"/>
                </a:solidFill>
                <a:latin typeface="Algerian" panose="04020705040A02060702" pitchFamily="82" charset="0"/>
              </a:rPr>
              <a:t>Defect management</a:t>
            </a:r>
            <a:endParaRPr lang="en-IN" sz="6600" u="sng" dirty="0">
              <a:solidFill>
                <a:srgbClr val="FFFF00"/>
              </a:solidFill>
              <a:latin typeface="Algerian" panose="04020705040A02060702" pitchFamily="82" charset="0"/>
            </a:endParaRPr>
          </a:p>
        </p:txBody>
      </p:sp>
      <p:sp>
        <p:nvSpPr>
          <p:cNvPr id="3" name="Subtitle 2">
            <a:extLst>
              <a:ext uri="{FF2B5EF4-FFF2-40B4-BE49-F238E27FC236}">
                <a16:creationId xmlns:a16="http://schemas.microsoft.com/office/drawing/2014/main" id="{F6A4406E-3625-90F7-5E0F-6BCE9ECC6FA1}"/>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6984774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EA1C-0F9D-4A92-BD18-53E7BD7E9F45}"/>
              </a:ext>
            </a:extLst>
          </p:cNvPr>
          <p:cNvSpPr>
            <a:spLocks noGrp="1"/>
          </p:cNvSpPr>
          <p:nvPr>
            <p:ph type="title"/>
          </p:nvPr>
        </p:nvSpPr>
        <p:spPr>
          <a:xfrm>
            <a:off x="0" y="0"/>
            <a:ext cx="10131427" cy="698090"/>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Introduction</a:t>
            </a:r>
            <a:r>
              <a:rPr lang="en-US" sz="4000" dirty="0">
                <a:solidFill>
                  <a:srgbClr val="FFFF00"/>
                </a:solidFill>
                <a:latin typeface="Algerian" panose="04020705040A02060702" pitchFamily="82" charset="0"/>
              </a:rPr>
              <a:t> : -</a:t>
            </a:r>
            <a:endParaRPr lang="en-IN" sz="4000" u="sng"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3B330401-15FD-1AF0-F000-9176AF72A984}"/>
              </a:ext>
            </a:extLst>
          </p:cNvPr>
          <p:cNvSpPr>
            <a:spLocks noGrp="1"/>
          </p:cNvSpPr>
          <p:nvPr>
            <p:ph type="body" idx="1"/>
          </p:nvPr>
        </p:nvSpPr>
        <p:spPr>
          <a:xfrm>
            <a:off x="117987" y="447369"/>
            <a:ext cx="11484078" cy="4675237"/>
          </a:xfrm>
        </p:spPr>
        <p:txBody>
          <a:bodyPr>
            <a:normAutofit/>
          </a:bodyPr>
          <a:lstStyle/>
          <a:p>
            <a:pPr marL="342900" indent="-342900">
              <a:buFont typeface="Wingdings" panose="05000000000000000000" pitchFamily="2" charset="2"/>
              <a:buChar char="Ø"/>
            </a:pPr>
            <a:r>
              <a:rPr lang="en-IN" sz="3600" dirty="0">
                <a:solidFill>
                  <a:srgbClr val="FFFF00"/>
                </a:solidFill>
                <a:latin typeface="Algerian" panose="04020705040A02060702" pitchFamily="82" charset="0"/>
              </a:rPr>
              <a:t> </a:t>
            </a:r>
            <a:r>
              <a:rPr lang="en-IN" sz="3600" u="sng" dirty="0">
                <a:solidFill>
                  <a:srgbClr val="FFFF00"/>
                </a:solidFill>
                <a:latin typeface="Algerian" panose="04020705040A02060702" pitchFamily="82" charset="0"/>
              </a:rPr>
              <a:t>A Defect</a:t>
            </a:r>
            <a:r>
              <a:rPr lang="en-IN" sz="3600" dirty="0">
                <a:solidFill>
                  <a:srgbClr val="FFFF00"/>
                </a:solidFill>
                <a:latin typeface="Algerian" panose="04020705040A02060702" pitchFamily="82" charset="0"/>
              </a:rPr>
              <a:t> : -</a:t>
            </a:r>
            <a:r>
              <a:rPr lang="en-IN" sz="3600" dirty="0"/>
              <a:t> </a:t>
            </a:r>
            <a:r>
              <a:rPr lang="en-IN" sz="2400" b="1" dirty="0">
                <a:latin typeface="Century Schoolbook" panose="02040604050505020304" pitchFamily="18" charset="0"/>
              </a:rPr>
              <a:t>Defect is the difference between expected result and actual result, due to which software starts to show abnormal behaviours during its use. So it is one of the most important responsibilities of the tester to find as much as defects possible to ensure the quality of the product is not affected.</a:t>
            </a:r>
            <a:endParaRPr lang="en-IN" sz="2800" b="1" dirty="0">
              <a:latin typeface="Century Schoolbook" panose="02040604050505020304" pitchFamily="18" charset="0"/>
            </a:endParaRPr>
          </a:p>
          <a:p>
            <a:pPr marL="342900" indent="-342900">
              <a:buFont typeface="Wingdings" panose="05000000000000000000" pitchFamily="2" charset="2"/>
              <a:buChar char="Ø"/>
            </a:pPr>
            <a:r>
              <a:rPr lang="en-IN" sz="3600" dirty="0">
                <a:solidFill>
                  <a:srgbClr val="FFFF00"/>
                </a:solidFill>
                <a:latin typeface="Algerian" panose="04020705040A02060702" pitchFamily="82" charset="0"/>
              </a:rPr>
              <a:t> </a:t>
            </a:r>
            <a:r>
              <a:rPr lang="en-IN" sz="3600" u="sng" dirty="0">
                <a:solidFill>
                  <a:srgbClr val="FFFF00"/>
                </a:solidFill>
                <a:latin typeface="Algerian" panose="04020705040A02060702" pitchFamily="82" charset="0"/>
              </a:rPr>
              <a:t>Defect Management</a:t>
            </a:r>
            <a:r>
              <a:rPr lang="en-IN" sz="3600" dirty="0">
                <a:solidFill>
                  <a:srgbClr val="FFFF00"/>
                </a:solidFill>
                <a:latin typeface="Algerian" panose="04020705040A02060702" pitchFamily="82" charset="0"/>
              </a:rPr>
              <a:t> : - </a:t>
            </a:r>
            <a:r>
              <a:rPr lang="en-IN" sz="2400" b="1" dirty="0">
                <a:latin typeface="Century Schoolbook" panose="02040604050505020304" pitchFamily="18" charset="0"/>
              </a:rPr>
              <a:t>Defect Management encompasses the entire lifecycle of identifying, documenting, prioritizing, fixing and verifying defects in software.</a:t>
            </a:r>
            <a:r>
              <a:rPr lang="en-US" sz="2400" b="1" dirty="0">
                <a:latin typeface="Century Schoolbook" panose="02040604050505020304" pitchFamily="18" charset="0"/>
              </a:rPr>
              <a:t> </a:t>
            </a:r>
            <a:r>
              <a:rPr lang="en-IN" sz="2400" b="1" dirty="0">
                <a:latin typeface="Century Schoolbook" panose="02040604050505020304" pitchFamily="18" charset="0"/>
              </a:rPr>
              <a:t>It involves a systematic approach to managing issues from discovery to resolution, ensuring that the software meets the specified requirements and quality standard.</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57027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A8DEB-6987-35A1-15C7-6C5D35D6F73E}"/>
              </a:ext>
            </a:extLst>
          </p:cNvPr>
          <p:cNvSpPr>
            <a:spLocks noGrp="1"/>
          </p:cNvSpPr>
          <p:nvPr>
            <p:ph type="title"/>
          </p:nvPr>
        </p:nvSpPr>
        <p:spPr>
          <a:xfrm>
            <a:off x="0" y="-98321"/>
            <a:ext cx="10131427" cy="757083"/>
          </a:xfrm>
        </p:spPr>
        <p:txBody>
          <a:bodyPr>
            <a:normAutofit/>
          </a:bodyPr>
          <a:lstStyle/>
          <a:p>
            <a:pPr marL="457200" indent="-457200">
              <a:buFont typeface="Wingdings" panose="05000000000000000000" pitchFamily="2" charset="2"/>
              <a:buChar char="v"/>
            </a:pPr>
            <a:r>
              <a:rPr lang="en-US" sz="4000" dirty="0">
                <a:solidFill>
                  <a:srgbClr val="FFFF00"/>
                </a:solidFill>
                <a:latin typeface="Algerian" panose="04020705040A02060702" pitchFamily="82" charset="0"/>
              </a:rPr>
              <a:t> </a:t>
            </a:r>
            <a:r>
              <a:rPr lang="en-US" sz="4000" u="sng" dirty="0">
                <a:solidFill>
                  <a:srgbClr val="FFFF00"/>
                </a:solidFill>
                <a:latin typeface="Algerian" panose="04020705040A02060702" pitchFamily="82" charset="0"/>
              </a:rPr>
              <a:t>Defect classification</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03655B2F-D879-8BD1-7056-654BF4DB4986}"/>
              </a:ext>
            </a:extLst>
          </p:cNvPr>
          <p:cNvSpPr>
            <a:spLocks noGrp="1"/>
          </p:cNvSpPr>
          <p:nvPr>
            <p:ph type="body" idx="1"/>
          </p:nvPr>
        </p:nvSpPr>
        <p:spPr>
          <a:xfrm>
            <a:off x="0" y="530942"/>
            <a:ext cx="12192000" cy="6327058"/>
          </a:xfrm>
        </p:spPr>
        <p:txBody>
          <a:bodyPr>
            <a:noAutofit/>
          </a:bodyPr>
          <a:lstStyle/>
          <a:p>
            <a:r>
              <a:rPr lang="en-US" sz="1800" b="1" dirty="0">
                <a:solidFill>
                  <a:srgbClr val="FFFF00"/>
                </a:solidFill>
                <a:latin typeface="Century Schoolbook" panose="02040604050505020304" pitchFamily="18" charset="0"/>
              </a:rPr>
              <a:t>1. </a:t>
            </a:r>
            <a:r>
              <a:rPr lang="en-US" sz="1800" b="1" u="sng" dirty="0">
                <a:solidFill>
                  <a:srgbClr val="FFFF00"/>
                </a:solidFill>
                <a:latin typeface="Century Schoolbook" panose="02040604050505020304" pitchFamily="18" charset="0"/>
              </a:rPr>
              <a:t>Arithmetic Defects</a:t>
            </a:r>
            <a:r>
              <a:rPr lang="en-US" sz="1800" b="1" dirty="0">
                <a:solidFill>
                  <a:srgbClr val="FFFF00"/>
                </a:solidFill>
                <a:latin typeface="Century Schoolbook" panose="02040604050505020304" pitchFamily="18" charset="0"/>
              </a:rPr>
              <a:t> : -</a:t>
            </a:r>
            <a:r>
              <a:rPr lang="en-US" sz="1800" b="1" dirty="0">
                <a:latin typeface="Century Schoolbook" panose="02040604050505020304" pitchFamily="18" charset="0"/>
              </a:rPr>
              <a:t> It includes the defects made by the developer in some arithmetic expression or mistake in finding solution such as arithmetic expression.</a:t>
            </a:r>
          </a:p>
          <a:p>
            <a:r>
              <a:rPr lang="en-US" sz="1800" b="1" dirty="0">
                <a:solidFill>
                  <a:srgbClr val="FFFF00"/>
                </a:solidFill>
                <a:latin typeface="Century Schoolbook" panose="02040604050505020304" pitchFamily="18" charset="0"/>
              </a:rPr>
              <a:t>2. </a:t>
            </a:r>
            <a:r>
              <a:rPr lang="en-US" sz="1800" b="1" u="sng" dirty="0">
                <a:solidFill>
                  <a:srgbClr val="FFFF00"/>
                </a:solidFill>
                <a:latin typeface="Century Schoolbook" panose="02040604050505020304" pitchFamily="18" charset="0"/>
              </a:rPr>
              <a:t>Logical Defects</a:t>
            </a:r>
            <a:r>
              <a:rPr lang="en-US" sz="1800" b="1" dirty="0">
                <a:solidFill>
                  <a:srgbClr val="FFFF00"/>
                </a:solidFill>
                <a:latin typeface="Century Schoolbook" panose="02040604050505020304" pitchFamily="18" charset="0"/>
              </a:rPr>
              <a:t> : -</a:t>
            </a:r>
            <a:r>
              <a:rPr lang="en-US" sz="1800" b="1" dirty="0">
                <a:latin typeface="Century Schoolbook" panose="02040604050505020304" pitchFamily="18" charset="0"/>
              </a:rPr>
              <a:t> When the programmer doesn't understand the problem clearly and mistakes are done regarding the implementation of the code, logical defects happen.</a:t>
            </a:r>
          </a:p>
          <a:p>
            <a:r>
              <a:rPr lang="en-US" sz="1800" b="1" dirty="0">
                <a:solidFill>
                  <a:srgbClr val="FFFF00"/>
                </a:solidFill>
                <a:latin typeface="Century Schoolbook" panose="02040604050505020304" pitchFamily="18" charset="0"/>
              </a:rPr>
              <a:t>3. </a:t>
            </a:r>
            <a:r>
              <a:rPr lang="en-US" sz="1800" b="1" u="sng" dirty="0">
                <a:solidFill>
                  <a:srgbClr val="FFFF00"/>
                </a:solidFill>
                <a:latin typeface="Century Schoolbook" panose="02040604050505020304" pitchFamily="18" charset="0"/>
              </a:rPr>
              <a:t>Syntax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syntax defects means mistakes in the writing style of the code.</a:t>
            </a:r>
          </a:p>
          <a:p>
            <a:r>
              <a:rPr lang="en-US" sz="1800" b="1" dirty="0">
                <a:solidFill>
                  <a:srgbClr val="FFFF00"/>
                </a:solidFill>
                <a:latin typeface="Century Schoolbook" panose="02040604050505020304" pitchFamily="18" charset="0"/>
              </a:rPr>
              <a:t>4. </a:t>
            </a:r>
            <a:r>
              <a:rPr lang="en-US" sz="1800" b="1" u="sng" dirty="0">
                <a:solidFill>
                  <a:srgbClr val="FFFF00"/>
                </a:solidFill>
                <a:latin typeface="Century Schoolbook" panose="02040604050505020304" pitchFamily="18" charset="0"/>
              </a:rPr>
              <a:t>Multithreading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Multithreading means executing multiple tasks at the same time, hence there is possibility of complex debugging.</a:t>
            </a:r>
          </a:p>
          <a:p>
            <a:r>
              <a:rPr lang="en-US" sz="1800" b="1" dirty="0">
                <a:solidFill>
                  <a:srgbClr val="FFFF00"/>
                </a:solidFill>
                <a:latin typeface="Century Schoolbook" panose="02040604050505020304" pitchFamily="18" charset="0"/>
              </a:rPr>
              <a:t>5. </a:t>
            </a:r>
            <a:r>
              <a:rPr lang="en-US" sz="1800" b="1" u="sng" dirty="0">
                <a:solidFill>
                  <a:srgbClr val="FFFF00"/>
                </a:solidFill>
                <a:latin typeface="Century Schoolbook" panose="02040604050505020304" pitchFamily="18" charset="0"/>
              </a:rPr>
              <a:t>Interface Defects</a:t>
            </a:r>
            <a:r>
              <a:rPr lang="en-US" sz="1800" b="1" dirty="0">
                <a:solidFill>
                  <a:srgbClr val="FFFF00"/>
                </a:solidFill>
                <a:latin typeface="Century Schoolbook" panose="02040604050505020304" pitchFamily="18" charset="0"/>
              </a:rPr>
              <a:t> : -</a:t>
            </a:r>
            <a:r>
              <a:rPr lang="en-US" sz="1800" b="1" dirty="0">
                <a:latin typeface="Century Schoolbook" panose="02040604050505020304" pitchFamily="18" charset="0"/>
              </a:rPr>
              <a:t> The defects in the interaction of the software and the users.</a:t>
            </a:r>
          </a:p>
          <a:p>
            <a:r>
              <a:rPr lang="en-US" sz="1800" b="1" dirty="0">
                <a:solidFill>
                  <a:srgbClr val="FFFF00"/>
                </a:solidFill>
                <a:latin typeface="Century Schoolbook" panose="02040604050505020304" pitchFamily="18" charset="0"/>
              </a:rPr>
              <a:t>6. </a:t>
            </a:r>
            <a:r>
              <a:rPr lang="en-US" sz="1800" b="1" u="sng" dirty="0">
                <a:solidFill>
                  <a:srgbClr val="FFFF00"/>
                </a:solidFill>
                <a:latin typeface="Century Schoolbook" panose="02040604050505020304" pitchFamily="18" charset="0"/>
              </a:rPr>
              <a:t>Performance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When the software application is unable to meet the desired &amp; expected result, Performance defect.</a:t>
            </a:r>
          </a:p>
          <a:p>
            <a:r>
              <a:rPr lang="en-US" sz="1800" b="1" dirty="0">
                <a:solidFill>
                  <a:srgbClr val="FFFF00"/>
                </a:solidFill>
                <a:latin typeface="Century Schoolbook" panose="02040604050505020304" pitchFamily="18" charset="0"/>
              </a:rPr>
              <a:t>7. </a:t>
            </a:r>
            <a:r>
              <a:rPr lang="en-US" sz="1800" b="1" u="sng" dirty="0">
                <a:solidFill>
                  <a:srgbClr val="FFFF00"/>
                </a:solidFill>
                <a:latin typeface="Century Schoolbook" panose="02040604050505020304" pitchFamily="18" charset="0"/>
              </a:rPr>
              <a:t>Data Validation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It involves failing to validate user inputs leading to potential </a:t>
            </a:r>
            <a:r>
              <a:rPr lang="en-US" sz="1800" b="1" dirty="0" err="1">
                <a:latin typeface="Century Schoolbook" panose="02040604050505020304" pitchFamily="18" charset="0"/>
              </a:rPr>
              <a:t>seunity</a:t>
            </a:r>
            <a:r>
              <a:rPr lang="en-US" sz="1800" b="1" dirty="0">
                <a:latin typeface="Century Schoolbook" panose="02040604050505020304" pitchFamily="18" charset="0"/>
              </a:rPr>
              <a:t> vulnerabilities.</a:t>
            </a:r>
          </a:p>
          <a:p>
            <a:r>
              <a:rPr lang="en-US" sz="1800" b="1" dirty="0">
                <a:solidFill>
                  <a:srgbClr val="FFFF00"/>
                </a:solidFill>
                <a:latin typeface="Century Schoolbook" panose="02040604050505020304" pitchFamily="18" charset="0"/>
              </a:rPr>
              <a:t>8. </a:t>
            </a:r>
            <a:r>
              <a:rPr lang="en-US" sz="1800" b="1" u="sng" dirty="0">
                <a:solidFill>
                  <a:srgbClr val="FFFF00"/>
                </a:solidFill>
                <a:latin typeface="Century Schoolbook" panose="02040604050505020304" pitchFamily="18" charset="0"/>
              </a:rPr>
              <a:t>Deployment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It includes setup mistakes, Installation issues and problems that stops the software from functioning properly in real world.</a:t>
            </a:r>
          </a:p>
          <a:p>
            <a:r>
              <a:rPr lang="en-US" sz="1800" b="1" dirty="0">
                <a:solidFill>
                  <a:srgbClr val="FFFF00"/>
                </a:solidFill>
                <a:latin typeface="Century Schoolbook" panose="02040604050505020304" pitchFamily="18" charset="0"/>
              </a:rPr>
              <a:t>9. </a:t>
            </a:r>
            <a:r>
              <a:rPr lang="en-US" sz="1800" b="1" u="sng" dirty="0">
                <a:solidFill>
                  <a:srgbClr val="FFFF00"/>
                </a:solidFill>
                <a:latin typeface="Century Schoolbook" panose="02040604050505020304" pitchFamily="18" charset="0"/>
              </a:rPr>
              <a:t>Integration Defects</a:t>
            </a:r>
            <a:r>
              <a:rPr lang="en-US" sz="1800" b="1" dirty="0">
                <a:solidFill>
                  <a:srgbClr val="FFFF00"/>
                </a:solidFill>
                <a:latin typeface="Century Schoolbook" panose="02040604050505020304" pitchFamily="18" charset="0"/>
              </a:rPr>
              <a:t> : -</a:t>
            </a:r>
            <a:r>
              <a:rPr lang="en-US" sz="1800" b="1" dirty="0">
                <a:latin typeface="Century Schoolbook" panose="02040604050505020304" pitchFamily="18" charset="0"/>
              </a:rPr>
              <a:t> When different software: modules or components do not function well together, integration errors result.</a:t>
            </a:r>
          </a:p>
          <a:p>
            <a:r>
              <a:rPr lang="en-US" sz="1800" b="1" dirty="0">
                <a:solidFill>
                  <a:srgbClr val="FFFF00"/>
                </a:solidFill>
                <a:latin typeface="Century Schoolbook" panose="02040604050505020304" pitchFamily="18" charset="0"/>
              </a:rPr>
              <a:t>10. </a:t>
            </a:r>
            <a:r>
              <a:rPr lang="en-US" sz="1800" b="1" u="sng" dirty="0">
                <a:solidFill>
                  <a:srgbClr val="FFFF00"/>
                </a:solidFill>
                <a:latin typeface="Century Schoolbook" panose="02040604050505020304" pitchFamily="18" charset="0"/>
              </a:rPr>
              <a:t>Documentation Defects</a:t>
            </a:r>
            <a:r>
              <a:rPr lang="en-US" sz="1800" b="1" dirty="0">
                <a:solidFill>
                  <a:srgbClr val="FFFF00"/>
                </a:solidFill>
                <a:latin typeface="Century Schoolbook" panose="02040604050505020304" pitchFamily="18" charset="0"/>
              </a:rPr>
              <a:t> : - </a:t>
            </a:r>
            <a:r>
              <a:rPr lang="en-US" sz="1800" b="1" dirty="0">
                <a:latin typeface="Century Schoolbook" panose="02040604050505020304" pitchFamily="18" charset="0"/>
              </a:rPr>
              <a:t>These refer to errors or issue in the accompanying documentation, Including user manuals, help Files or API documentation.</a:t>
            </a:r>
            <a:endParaRPr lang="en-IN" sz="1800" b="1" dirty="0">
              <a:latin typeface="Century Schoolbook" panose="02040604050505020304" pitchFamily="18" charset="0"/>
            </a:endParaRPr>
          </a:p>
        </p:txBody>
      </p:sp>
    </p:spTree>
    <p:extLst>
      <p:ext uri="{BB962C8B-B14F-4D97-AF65-F5344CB8AC3E}">
        <p14:creationId xmlns:p14="http://schemas.microsoft.com/office/powerpoint/2010/main" val="241561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C0205-3735-B2F3-2312-6D22205C74F2}"/>
              </a:ext>
            </a:extLst>
          </p:cNvPr>
          <p:cNvSpPr>
            <a:spLocks noGrp="1"/>
          </p:cNvSpPr>
          <p:nvPr>
            <p:ph type="title"/>
          </p:nvPr>
        </p:nvSpPr>
        <p:spPr>
          <a:xfrm>
            <a:off x="9833" y="-127816"/>
            <a:ext cx="11673348" cy="938978"/>
          </a:xfrm>
        </p:spPr>
        <p:txBody>
          <a:bodyPr>
            <a:normAutofit/>
          </a:bodyPr>
          <a:lstStyle/>
          <a:p>
            <a:pPr marL="685800" indent="-685800">
              <a:buFont typeface="Wingdings" panose="05000000000000000000" pitchFamily="2" charset="2"/>
              <a:buChar char="v"/>
            </a:pPr>
            <a:r>
              <a:rPr lang="en-US" sz="4800" u="sng" dirty="0">
                <a:solidFill>
                  <a:srgbClr val="FFFF00"/>
                </a:solidFill>
                <a:latin typeface="Algerian" panose="04020705040A02060702" pitchFamily="82" charset="0"/>
              </a:rPr>
              <a:t>Defect management process</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EBA166C8-12BF-2587-C7F6-39A5AB3BD4BD}"/>
              </a:ext>
            </a:extLst>
          </p:cNvPr>
          <p:cNvSpPr>
            <a:spLocks noGrp="1"/>
          </p:cNvSpPr>
          <p:nvPr>
            <p:ph type="body" idx="1"/>
          </p:nvPr>
        </p:nvSpPr>
        <p:spPr>
          <a:xfrm>
            <a:off x="145026" y="442452"/>
            <a:ext cx="11901948" cy="1469919"/>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The defect management process is a systematic approach to identify, track &amp; resolve defects in software development. </a:t>
            </a:r>
            <a:endParaRPr lang="en-IN" sz="28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EA54E333-8F40-4879-0A97-DC2A5F4F930D}"/>
              </a:ext>
            </a:extLst>
          </p:cNvPr>
          <p:cNvPicPr>
            <a:picLocks noChangeAspect="1"/>
          </p:cNvPicPr>
          <p:nvPr/>
        </p:nvPicPr>
        <p:blipFill>
          <a:blip r:embed="rId2"/>
          <a:stretch>
            <a:fillRect/>
          </a:stretch>
        </p:blipFill>
        <p:spPr>
          <a:xfrm>
            <a:off x="1986116" y="1836975"/>
            <a:ext cx="8249266" cy="4750638"/>
          </a:xfrm>
          <a:prstGeom prst="rect">
            <a:avLst/>
          </a:prstGeom>
        </p:spPr>
      </p:pic>
    </p:spTree>
    <p:extLst>
      <p:ext uri="{BB962C8B-B14F-4D97-AF65-F5344CB8AC3E}">
        <p14:creationId xmlns:p14="http://schemas.microsoft.com/office/powerpoint/2010/main" val="42940824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D511E-DA20-3598-7951-966575431A5A}"/>
              </a:ext>
            </a:extLst>
          </p:cNvPr>
          <p:cNvSpPr>
            <a:spLocks noGrp="1"/>
          </p:cNvSpPr>
          <p:nvPr>
            <p:ph type="title"/>
          </p:nvPr>
        </p:nvSpPr>
        <p:spPr>
          <a:xfrm>
            <a:off x="135194" y="2"/>
            <a:ext cx="11774128" cy="5968180"/>
          </a:xfrm>
        </p:spPr>
        <p:txBody>
          <a:bodyPr>
            <a:noAutofit/>
          </a:bodyPr>
          <a:lstStyle/>
          <a:p>
            <a:r>
              <a:rPr lang="en-US" sz="2400" b="1" dirty="0">
                <a:solidFill>
                  <a:srgbClr val="FFFF00"/>
                </a:solidFill>
                <a:latin typeface="Century Schoolbook" panose="02040604050505020304" pitchFamily="18" charset="0"/>
              </a:rPr>
              <a:t>1. </a:t>
            </a:r>
            <a:r>
              <a:rPr lang="en-US" sz="2400" b="1" u="sng" dirty="0">
                <a:solidFill>
                  <a:srgbClr val="FFFF00"/>
                </a:solidFill>
                <a:latin typeface="Century Schoolbook" panose="02040604050505020304" pitchFamily="18" charset="0"/>
              </a:rPr>
              <a:t>Defect Identification</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Defects are identified through various testing activities, such as unit testing, integration testing, and user acceptance testing.</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2. </a:t>
            </a:r>
            <a:r>
              <a:rPr lang="en-US" sz="2400" b="1" u="sng" dirty="0">
                <a:solidFill>
                  <a:srgbClr val="FFFF00"/>
                </a:solidFill>
                <a:latin typeface="Century Schoolbook" panose="02040604050505020304" pitchFamily="18" charset="0"/>
              </a:rPr>
              <a:t>Defect logging</a:t>
            </a:r>
            <a:r>
              <a:rPr lang="en-US" sz="2400" b="1" dirty="0">
                <a:solidFill>
                  <a:srgbClr val="FFFF00"/>
                </a:solidFill>
                <a:latin typeface="Century Schoolbook" panose="02040604050505020304" pitchFamily="18" charset="0"/>
              </a:rPr>
              <a:t> : -</a:t>
            </a:r>
            <a:r>
              <a:rPr lang="en-US" sz="2400" b="1" dirty="0">
                <a:latin typeface="Century Schoolbook" panose="02040604050505020304" pitchFamily="18" charset="0"/>
              </a:rPr>
              <a:t> </a:t>
            </a:r>
            <a:r>
              <a:rPr lang="en-US" sz="2000" b="1" dirty="0">
                <a:latin typeface="Century Schoolbook" panose="02040604050505020304" pitchFamily="18" charset="0"/>
              </a:rPr>
              <a:t>Defects are logged in a defect hacking system, along with details such as description, severity and priority.</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3. </a:t>
            </a:r>
            <a:r>
              <a:rPr lang="en-US" sz="2400" b="1" u="sng" dirty="0">
                <a:solidFill>
                  <a:srgbClr val="FFFF00"/>
                </a:solidFill>
                <a:latin typeface="Century Schoolbook" panose="02040604050505020304" pitchFamily="18" charset="0"/>
              </a:rPr>
              <a:t>Defect triage</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The triage process involves evaluating the defects to determine their priority and the resources required to resolve them...</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4. </a:t>
            </a:r>
            <a:r>
              <a:rPr lang="en-US" sz="2400" b="1" u="sng" dirty="0">
                <a:solidFill>
                  <a:srgbClr val="FFFF00"/>
                </a:solidFill>
                <a:latin typeface="Century Schoolbook" panose="02040604050505020304" pitchFamily="18" charset="0"/>
              </a:rPr>
              <a:t>Defect assignment</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Defects are assigned to developers or testers for resolution, based on their expertise &amp; availability.</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5. </a:t>
            </a:r>
            <a:r>
              <a:rPr lang="en-US" sz="2400" b="1" u="sng" dirty="0">
                <a:solidFill>
                  <a:srgbClr val="FFFF00"/>
                </a:solidFill>
                <a:latin typeface="Century Schoolbook" panose="02040604050505020304" pitchFamily="18" charset="0"/>
              </a:rPr>
              <a:t>Defect resolution</a:t>
            </a:r>
            <a:r>
              <a:rPr lang="en-US" sz="2400" b="1" dirty="0">
                <a:solidFill>
                  <a:srgbClr val="FFFF00"/>
                </a:solidFill>
                <a:latin typeface="Century Schoolbook" panose="02040604050505020304" pitchFamily="18" charset="0"/>
              </a:rPr>
              <a:t> : -</a:t>
            </a:r>
            <a:r>
              <a:rPr lang="en-US" sz="2400" b="1" dirty="0">
                <a:latin typeface="Century Schoolbook" panose="02040604050505020304" pitchFamily="18" charset="0"/>
              </a:rPr>
              <a:t> </a:t>
            </a:r>
            <a:r>
              <a:rPr lang="en-US" sz="2000" b="1" dirty="0">
                <a:latin typeface="Century Schoolbook" panose="02040604050505020304" pitchFamily="18" charset="0"/>
              </a:rPr>
              <a:t>The assigned personal work on resolving the defects by Fixing the code, updating the documentation or perform other necessary actions...</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6. </a:t>
            </a:r>
            <a:r>
              <a:rPr lang="en-US" sz="2400" b="1" u="sng" dirty="0">
                <a:solidFill>
                  <a:srgbClr val="FFFF00"/>
                </a:solidFill>
                <a:latin typeface="Century Schoolbook" panose="02040604050505020304" pitchFamily="18" charset="0"/>
              </a:rPr>
              <a:t>Defect Verification</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Once the defect is resolved, it is verified by the tester to ensure that it has been fixed correctly and does not introduce any new defects.</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7. </a:t>
            </a:r>
            <a:r>
              <a:rPr lang="en-US" sz="2400" b="1" u="sng" dirty="0">
                <a:solidFill>
                  <a:srgbClr val="FFFF00"/>
                </a:solidFill>
                <a:latin typeface="Century Schoolbook" panose="02040604050505020304" pitchFamily="18" charset="0"/>
              </a:rPr>
              <a:t>Defect closure</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Once the defect has been verified, it is closed and the status is updated in the defect tracking system.</a:t>
            </a:r>
            <a:br>
              <a:rPr lang="en-US" sz="2000" b="1" dirty="0">
                <a:latin typeface="Century Schoolbook" panose="02040604050505020304" pitchFamily="18" charset="0"/>
              </a:rPr>
            </a:br>
            <a:r>
              <a:rPr lang="en-US" sz="2400" b="1" dirty="0">
                <a:solidFill>
                  <a:srgbClr val="FFFF00"/>
                </a:solidFill>
                <a:latin typeface="Century Schoolbook" panose="02040604050505020304" pitchFamily="18" charset="0"/>
              </a:rPr>
              <a:t>8. </a:t>
            </a:r>
            <a:r>
              <a:rPr lang="en-US" sz="2400" b="1" u="sng" dirty="0">
                <a:solidFill>
                  <a:srgbClr val="FFFF00"/>
                </a:solidFill>
                <a:latin typeface="Century Schoolbook" panose="02040604050505020304" pitchFamily="18" charset="0"/>
              </a:rPr>
              <a:t>Defect Reporting</a:t>
            </a:r>
            <a:r>
              <a:rPr lang="en-US" sz="2400" b="1" dirty="0">
                <a:solidFill>
                  <a:srgbClr val="FFFF00"/>
                </a:solidFill>
                <a:latin typeface="Century Schoolbook" panose="02040604050505020304" pitchFamily="18" charset="0"/>
              </a:rPr>
              <a:t> : - </a:t>
            </a:r>
            <a:r>
              <a:rPr lang="en-US" sz="2000" b="1" dirty="0">
                <a:latin typeface="Century Schoolbook" panose="02040604050505020304" pitchFamily="18" charset="0"/>
              </a:rPr>
              <a:t>Regulate reports on the status of defects, including </a:t>
            </a:r>
            <a:r>
              <a:rPr lang="en-US" sz="2000" b="1">
                <a:latin typeface="Century Schoolbook" panose="02040604050505020304" pitchFamily="18" charset="0"/>
              </a:rPr>
              <a:t>the no. </a:t>
            </a:r>
            <a:r>
              <a:rPr lang="en-US" sz="2000" b="1" dirty="0">
                <a:latin typeface="Century Schoolbook" panose="02040604050505020304" pitchFamily="18" charset="0"/>
              </a:rPr>
              <a:t>of open defects, the no. of defects resolved, and the average time to resolve defects, are generated to provide visibility into the Defect Management Process.</a:t>
            </a:r>
            <a:endParaRPr lang="en-IN" sz="2000"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256D2477-A5DD-A039-4EE8-50C02403A1DB}"/>
              </a:ext>
            </a:extLst>
          </p:cNvPr>
          <p:cNvSpPr>
            <a:spLocks noGrp="1"/>
          </p:cNvSpPr>
          <p:nvPr>
            <p:ph type="body" idx="1"/>
          </p:nvPr>
        </p:nvSpPr>
        <p:spPr>
          <a:xfrm flipV="1">
            <a:off x="135194" y="7197212"/>
            <a:ext cx="11909322" cy="1101213"/>
          </a:xfrm>
        </p:spPr>
        <p:txBody>
          <a:bodyPr/>
          <a:lstStyle/>
          <a:p>
            <a:endParaRPr lang="en-IN" dirty="0"/>
          </a:p>
        </p:txBody>
      </p:sp>
    </p:spTree>
    <p:extLst>
      <p:ext uri="{BB962C8B-B14F-4D97-AF65-F5344CB8AC3E}">
        <p14:creationId xmlns:p14="http://schemas.microsoft.com/office/powerpoint/2010/main" val="3569049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0B16B5-6E06-15DA-58C8-DF82E78104DA}"/>
              </a:ext>
            </a:extLst>
          </p:cNvPr>
          <p:cNvSpPr>
            <a:spLocks noGrp="1"/>
          </p:cNvSpPr>
          <p:nvPr>
            <p:ph type="title"/>
          </p:nvPr>
        </p:nvSpPr>
        <p:spPr>
          <a:xfrm>
            <a:off x="0" y="-42585"/>
            <a:ext cx="11761838" cy="796412"/>
          </a:xfrm>
        </p:spPr>
        <p:txBody>
          <a:bodyPr>
            <a:noAutofit/>
          </a:bodyPr>
          <a:lstStyle/>
          <a:p>
            <a:pPr marL="571500" indent="-571500">
              <a:buFont typeface="Wingdings" panose="05000000000000000000" pitchFamily="2" charset="2"/>
              <a:buChar char="v"/>
            </a:pPr>
            <a:r>
              <a:rPr lang="en-US" sz="4800" u="sng" dirty="0">
                <a:solidFill>
                  <a:srgbClr val="FFFF00"/>
                </a:solidFill>
                <a:latin typeface="Algerian" panose="04020705040A02060702" pitchFamily="82" charset="0"/>
              </a:rPr>
              <a:t>Defect life cycle</a:t>
            </a:r>
            <a:r>
              <a:rPr lang="en-US" sz="4800" dirty="0">
                <a:solidFill>
                  <a:srgbClr val="FFFF00"/>
                </a:solidFill>
                <a:latin typeface="Algerian" panose="04020705040A02060702" pitchFamily="82" charset="0"/>
              </a:rPr>
              <a:t> : -</a:t>
            </a:r>
            <a:endParaRPr lang="en-IN" sz="48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7B18BCAE-B7C4-1A35-CB99-3355F411B9C7}"/>
              </a:ext>
            </a:extLst>
          </p:cNvPr>
          <p:cNvSpPr>
            <a:spLocks noGrp="1"/>
          </p:cNvSpPr>
          <p:nvPr>
            <p:ph type="body" idx="1"/>
          </p:nvPr>
        </p:nvSpPr>
        <p:spPr>
          <a:xfrm>
            <a:off x="20893" y="453085"/>
            <a:ext cx="11877368" cy="5651088"/>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The Defect Life Cycle is the life cycle of a                                                                                  defect or it goes through covering a                                                                                               specific set of states in its early life.</a:t>
            </a:r>
          </a:p>
          <a:p>
            <a:pPr marL="342900" indent="-342900">
              <a:buFont typeface="Wingdings" panose="05000000000000000000" pitchFamily="2" charset="2"/>
              <a:buChar char="Ø"/>
            </a:pPr>
            <a:r>
              <a:rPr lang="en-US" sz="2400" b="1" dirty="0">
                <a:latin typeface="Century Schoolbook" panose="02040604050505020304" pitchFamily="18" charset="0"/>
              </a:rPr>
              <a:t>Mainly bug life cycle refers to its entire                                                                                 state starting from a new defect detected                                                                             to the closing off to that defect by the                                                                      tester.</a:t>
            </a:r>
          </a:p>
          <a:p>
            <a:pPr marL="342900" indent="-342900">
              <a:buFont typeface="Wingdings" panose="05000000000000000000" pitchFamily="2" charset="2"/>
              <a:buChar char="Ø"/>
            </a:pPr>
            <a:r>
              <a:rPr lang="en-US" sz="2400" b="1" dirty="0">
                <a:latin typeface="Century Schoolbook" panose="02040604050505020304" pitchFamily="18" charset="0"/>
              </a:rPr>
              <a:t>Alternatively, it is also called a Bug Life                                                                   Cycle will booted Defect status is the                                                                            current state from which the defect is                                                                                         currently going through. The given                                                                                  diagram illustrates all the possible states                                                                          of the defect :</a:t>
            </a:r>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125B4EF8-8462-4BE0-5910-29DF1951AF76}"/>
              </a:ext>
            </a:extLst>
          </p:cNvPr>
          <p:cNvPicPr>
            <a:picLocks noChangeAspect="1"/>
          </p:cNvPicPr>
          <p:nvPr/>
        </p:nvPicPr>
        <p:blipFill>
          <a:blip r:embed="rId2"/>
          <a:stretch>
            <a:fillRect/>
          </a:stretch>
        </p:blipFill>
        <p:spPr>
          <a:xfrm>
            <a:off x="7177549" y="753827"/>
            <a:ext cx="4857136" cy="5350346"/>
          </a:xfrm>
          <a:prstGeom prst="rect">
            <a:avLst/>
          </a:prstGeom>
        </p:spPr>
      </p:pic>
    </p:spTree>
    <p:extLst>
      <p:ext uri="{BB962C8B-B14F-4D97-AF65-F5344CB8AC3E}">
        <p14:creationId xmlns:p14="http://schemas.microsoft.com/office/powerpoint/2010/main" val="1148930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893BC-A4DF-8551-A6DC-B71B991BD819}"/>
              </a:ext>
            </a:extLst>
          </p:cNvPr>
          <p:cNvSpPr>
            <a:spLocks noGrp="1"/>
          </p:cNvSpPr>
          <p:nvPr>
            <p:ph type="title"/>
          </p:nvPr>
        </p:nvSpPr>
        <p:spPr>
          <a:xfrm>
            <a:off x="0" y="0"/>
            <a:ext cx="12192000" cy="6672106"/>
          </a:xfrm>
        </p:spPr>
        <p:txBody>
          <a:bodyPr>
            <a:normAutofit fontScale="90000"/>
          </a:bodyPr>
          <a:lstStyle/>
          <a:p>
            <a:r>
              <a:rPr lang="en-US" b="1" dirty="0">
                <a:solidFill>
                  <a:srgbClr val="FFFF00"/>
                </a:solidFill>
                <a:latin typeface="Century Schoolbook" panose="02040604050505020304" pitchFamily="18" charset="0"/>
              </a:rPr>
              <a:t>1. </a:t>
            </a:r>
            <a:r>
              <a:rPr lang="en-US" b="1" u="sng" dirty="0">
                <a:solidFill>
                  <a:srgbClr val="FFFF00"/>
                </a:solidFill>
                <a:latin typeface="Century Schoolbook" panose="02040604050505020304" pitchFamily="18" charset="0"/>
              </a:rPr>
              <a:t>New</a:t>
            </a:r>
            <a:r>
              <a:rPr lang="en-US" b="1" dirty="0">
                <a:solidFill>
                  <a:srgbClr val="FFFF00"/>
                </a:solidFill>
                <a:latin typeface="Century Schoolbook" panose="02040604050505020304" pitchFamily="18" charset="0"/>
              </a:rPr>
              <a:t> : - </a:t>
            </a:r>
            <a:r>
              <a:rPr lang="en-US" b="1" dirty="0">
                <a:latin typeface="Century Schoolbook" panose="02040604050505020304" pitchFamily="18" charset="0"/>
              </a:rPr>
              <a:t>when any new defect is Identified by the tester, it falls. in the 'new' state. The </a:t>
            </a:r>
            <a:r>
              <a:rPr lang="en-US" b="1" dirty="0" err="1">
                <a:latin typeface="Century Schoolbook" panose="02040604050505020304" pitchFamily="18" charset="0"/>
              </a:rPr>
              <a:t>testere</a:t>
            </a:r>
            <a:r>
              <a:rPr lang="en-US" b="1" dirty="0">
                <a:latin typeface="Century Schoolbook" panose="02040604050505020304" pitchFamily="18" charset="0"/>
              </a:rPr>
              <a:t> provides a proper Defect document to the development team so that they can fix the defect accordingly.</a:t>
            </a:r>
            <a:br>
              <a:rPr lang="en-US" b="1" dirty="0">
                <a:latin typeface="Century Schoolbook" panose="02040604050505020304" pitchFamily="18" charset="0"/>
              </a:rPr>
            </a:br>
            <a:r>
              <a:rPr lang="en-US" b="1" dirty="0">
                <a:solidFill>
                  <a:srgbClr val="FFFF00"/>
                </a:solidFill>
                <a:latin typeface="Century Schoolbook" panose="02040604050505020304" pitchFamily="18" charset="0"/>
              </a:rPr>
              <a:t>2. </a:t>
            </a:r>
            <a:r>
              <a:rPr lang="en-US" b="1" u="sng" dirty="0">
                <a:solidFill>
                  <a:srgbClr val="FFFF00"/>
                </a:solidFill>
                <a:latin typeface="Century Schoolbook" panose="02040604050505020304" pitchFamily="18" charset="0"/>
              </a:rPr>
              <a:t>Assigned</a:t>
            </a:r>
            <a:r>
              <a:rPr lang="en-US" b="1" dirty="0">
                <a:solidFill>
                  <a:srgbClr val="FFFF00"/>
                </a:solidFill>
                <a:latin typeface="Century Schoolbook" panose="02040604050505020304" pitchFamily="18" charset="0"/>
              </a:rPr>
              <a:t> : - </a:t>
            </a:r>
            <a:r>
              <a:rPr lang="en-US" b="1" dirty="0">
                <a:latin typeface="Century Schoolbook" panose="02040604050505020304" pitchFamily="18" charset="0"/>
              </a:rPr>
              <a:t>Defects in the New state are approved and is assigned to the developer team, the status of bug changes to 'Assigned“ state.</a:t>
            </a:r>
            <a:br>
              <a:rPr lang="en-US" b="1" dirty="0">
                <a:latin typeface="Century Schoolbook" panose="02040604050505020304" pitchFamily="18" charset="0"/>
              </a:rPr>
            </a:br>
            <a:r>
              <a:rPr lang="en-US" b="1" dirty="0">
                <a:solidFill>
                  <a:srgbClr val="FFFF00"/>
                </a:solidFill>
                <a:latin typeface="Century Schoolbook" panose="02040604050505020304" pitchFamily="18" charset="0"/>
              </a:rPr>
              <a:t>3. </a:t>
            </a:r>
            <a:r>
              <a:rPr lang="en-US" b="1" u="sng" dirty="0">
                <a:solidFill>
                  <a:srgbClr val="FFFF00"/>
                </a:solidFill>
                <a:latin typeface="Century Schoolbook" panose="02040604050505020304" pitchFamily="18" charset="0"/>
              </a:rPr>
              <a:t>Open</a:t>
            </a:r>
            <a:r>
              <a:rPr lang="en-US" b="1" dirty="0">
                <a:solidFill>
                  <a:srgbClr val="FFFF00"/>
                </a:solidFill>
                <a:latin typeface="Century Schoolbook" panose="02040604050505020304" pitchFamily="18" charset="0"/>
              </a:rPr>
              <a:t> :- </a:t>
            </a:r>
            <a:r>
              <a:rPr lang="en-US" b="1" dirty="0">
                <a:latin typeface="Century Schoolbook" panose="02040604050505020304" pitchFamily="18" charset="0"/>
              </a:rPr>
              <a:t>In this state the defect is being addressed by the developer team and the team works on the defect for fixing the bug. Based on some specific reason, if the developer team feels that the defect is not appropriate then it is transferred to either the 'Rejected' or 'Deferred' state.</a:t>
            </a:r>
            <a:br>
              <a:rPr lang="en-US" b="1" dirty="0">
                <a:latin typeface="Century Schoolbook" panose="02040604050505020304" pitchFamily="18" charset="0"/>
              </a:rPr>
            </a:br>
            <a:r>
              <a:rPr lang="en-US" b="1" dirty="0">
                <a:solidFill>
                  <a:srgbClr val="FFFF00"/>
                </a:solidFill>
                <a:latin typeface="Century Schoolbook" panose="02040604050505020304" pitchFamily="18" charset="0"/>
              </a:rPr>
              <a:t>4. </a:t>
            </a:r>
            <a:r>
              <a:rPr lang="en-US" b="1" u="sng" dirty="0">
                <a:solidFill>
                  <a:srgbClr val="FFFF00"/>
                </a:solidFill>
                <a:latin typeface="Century Schoolbook" panose="02040604050505020304" pitchFamily="18" charset="0"/>
              </a:rPr>
              <a:t>Fixed</a:t>
            </a:r>
            <a:r>
              <a:rPr lang="en-US" b="1" dirty="0">
                <a:solidFill>
                  <a:srgbClr val="FFFF00"/>
                </a:solidFill>
                <a:latin typeface="Century Schoolbook" panose="02040604050505020304" pitchFamily="18" charset="0"/>
              </a:rPr>
              <a:t> : - </a:t>
            </a:r>
            <a:r>
              <a:rPr lang="en-US" b="1" dirty="0">
                <a:latin typeface="Century Schoolbook" panose="02040604050505020304" pitchFamily="18" charset="0"/>
              </a:rPr>
              <a:t>After necessary changes of codes or after fixing identified bug </a:t>
            </a:r>
            <a:r>
              <a:rPr lang="en-US" b="1" dirty="0" err="1">
                <a:latin typeface="Century Schoolbook" panose="02040604050505020304" pitchFamily="18" charset="0"/>
              </a:rPr>
              <a:t>developey</a:t>
            </a:r>
            <a:r>
              <a:rPr lang="en-US" b="1" dirty="0">
                <a:latin typeface="Century Schoolbook" panose="02040604050505020304" pitchFamily="18" charset="0"/>
              </a:rPr>
              <a:t> team marks the state as 'fixed'.</a:t>
            </a:r>
            <a:endParaRPr lang="en-IN" b="1" dirty="0">
              <a:latin typeface="Century Schoolbook" panose="02040604050505020304" pitchFamily="18" charset="0"/>
            </a:endParaRPr>
          </a:p>
        </p:txBody>
      </p:sp>
      <p:sp>
        <p:nvSpPr>
          <p:cNvPr id="3" name="Text Placeholder 2">
            <a:extLst>
              <a:ext uri="{FF2B5EF4-FFF2-40B4-BE49-F238E27FC236}">
                <a16:creationId xmlns:a16="http://schemas.microsoft.com/office/drawing/2014/main" id="{76632F6B-F156-C2BE-C283-8D8C2865E692}"/>
              </a:ext>
            </a:extLst>
          </p:cNvPr>
          <p:cNvSpPr>
            <a:spLocks noGrp="1"/>
          </p:cNvSpPr>
          <p:nvPr>
            <p:ph type="body" idx="1"/>
          </p:nvPr>
        </p:nvSpPr>
        <p:spPr>
          <a:xfrm>
            <a:off x="685800" y="6858000"/>
            <a:ext cx="10131428" cy="165798"/>
          </a:xfrm>
        </p:spPr>
        <p:txBody>
          <a:bodyPr>
            <a:normAutofit fontScale="25000" lnSpcReduction="20000"/>
          </a:bodyPr>
          <a:lstStyle/>
          <a:p>
            <a:endParaRPr lang="en-IN" dirty="0"/>
          </a:p>
        </p:txBody>
      </p:sp>
    </p:spTree>
    <p:extLst>
      <p:ext uri="{BB962C8B-B14F-4D97-AF65-F5344CB8AC3E}">
        <p14:creationId xmlns:p14="http://schemas.microsoft.com/office/powerpoint/2010/main" val="2973636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0011F-AFD6-4233-FC72-E47A34D45F35}"/>
              </a:ext>
            </a:extLst>
          </p:cNvPr>
          <p:cNvSpPr>
            <a:spLocks noGrp="1"/>
          </p:cNvSpPr>
          <p:nvPr>
            <p:ph type="title"/>
          </p:nvPr>
        </p:nvSpPr>
        <p:spPr>
          <a:xfrm flipV="1">
            <a:off x="135194" y="-383458"/>
            <a:ext cx="10131427" cy="383458"/>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ED9BB853-2076-082E-BA64-55340D31465F}"/>
              </a:ext>
            </a:extLst>
          </p:cNvPr>
          <p:cNvSpPr>
            <a:spLocks noGrp="1"/>
          </p:cNvSpPr>
          <p:nvPr>
            <p:ph type="body" idx="1"/>
          </p:nvPr>
        </p:nvSpPr>
        <p:spPr>
          <a:xfrm>
            <a:off x="135194" y="312174"/>
            <a:ext cx="11928987" cy="5641258"/>
          </a:xfrm>
        </p:spPr>
        <p:txBody>
          <a:bodyPr>
            <a:noAutofit/>
          </a:bodyPr>
          <a:lstStyle/>
          <a:p>
            <a:r>
              <a:rPr lang="en-US" sz="2400" b="1" dirty="0">
                <a:solidFill>
                  <a:srgbClr val="FFFF00"/>
                </a:solidFill>
                <a:latin typeface="Century Schoolbook" panose="02040604050505020304" pitchFamily="18" charset="0"/>
              </a:rPr>
              <a:t>5. </a:t>
            </a:r>
            <a:r>
              <a:rPr lang="en-US" sz="2400" b="1" u="sng" dirty="0">
                <a:solidFill>
                  <a:srgbClr val="FFFF00"/>
                </a:solidFill>
                <a:latin typeface="Century Schoolbook" panose="02040604050505020304" pitchFamily="18" charset="0"/>
              </a:rPr>
              <a:t>Pending Request</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During the fixing of the defect is done, the </a:t>
            </a:r>
            <a:r>
              <a:rPr lang="en-US" sz="2400" b="1" dirty="0" err="1">
                <a:latin typeface="Century Schoolbook" panose="02040604050505020304" pitchFamily="18" charset="0"/>
              </a:rPr>
              <a:t>Inteam</a:t>
            </a:r>
            <a:r>
              <a:rPr lang="en-US" sz="2400" b="1" dirty="0">
                <a:latin typeface="Century Schoolbook" panose="02040604050505020304" pitchFamily="18" charset="0"/>
              </a:rPr>
              <a:t> passes the new code to the testing </a:t>
            </a:r>
            <a:r>
              <a:rPr lang="en-US" sz="2400" b="1" dirty="0" err="1">
                <a:latin typeface="Century Schoolbook" panose="02040604050505020304" pitchFamily="18" charset="0"/>
              </a:rPr>
              <a:t>leam</a:t>
            </a:r>
            <a:r>
              <a:rPr lang="en-US" sz="2400" b="1" dirty="0">
                <a:latin typeface="Century Schoolbook" panose="02040604050505020304" pitchFamily="18" charset="0"/>
              </a:rPr>
              <a:t> for retesting. And the code is pending for </a:t>
            </a:r>
            <a:r>
              <a:rPr lang="en-US" sz="2400" b="1" dirty="0" err="1">
                <a:latin typeface="Century Schoolbook" panose="02040604050505020304" pitchFamily="18" charset="0"/>
              </a:rPr>
              <a:t>relesting</a:t>
            </a:r>
            <a:r>
              <a:rPr lang="en-US" sz="2400" b="1" dirty="0">
                <a:latin typeface="Century Schoolbook" panose="02040604050505020304" pitchFamily="18" charset="0"/>
              </a:rPr>
              <a:t> on the Testing side so the status is assigned as 'Pending Request!</a:t>
            </a:r>
          </a:p>
          <a:p>
            <a:r>
              <a:rPr lang="en-US" sz="2400" b="1" dirty="0">
                <a:solidFill>
                  <a:srgbClr val="FFFF00"/>
                </a:solidFill>
                <a:latin typeface="Century Schoolbook" panose="02040604050505020304" pitchFamily="18" charset="0"/>
              </a:rPr>
              <a:t>6. </a:t>
            </a:r>
            <a:r>
              <a:rPr lang="en-US" sz="2400" b="1" u="sng" dirty="0">
                <a:solidFill>
                  <a:srgbClr val="FFFF00"/>
                </a:solidFill>
                <a:latin typeface="Century Schoolbook" panose="02040604050505020304" pitchFamily="18" charset="0"/>
              </a:rPr>
              <a:t>Retest</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The </a:t>
            </a:r>
            <a:r>
              <a:rPr lang="en-US" sz="2400" b="1" dirty="0" err="1">
                <a:latin typeface="Century Schoolbook" panose="02040604050505020304" pitchFamily="18" charset="0"/>
              </a:rPr>
              <a:t>testen</a:t>
            </a:r>
            <a:r>
              <a:rPr lang="en-US" sz="2400" b="1" dirty="0">
                <a:latin typeface="Century Schoolbook" panose="02040604050505020304" pitchFamily="18" charset="0"/>
              </a:rPr>
              <a:t> </a:t>
            </a:r>
            <a:r>
              <a:rPr lang="en-US" sz="2400" b="1" dirty="0" err="1">
                <a:latin typeface="Century Schoolbook" panose="02040604050505020304" pitchFamily="18" charset="0"/>
              </a:rPr>
              <a:t>stayts</a:t>
            </a:r>
            <a:r>
              <a:rPr lang="en-US" sz="2400" b="1" dirty="0">
                <a:latin typeface="Century Schoolbook" panose="02040604050505020304" pitchFamily="18" charset="0"/>
              </a:rPr>
              <a:t> work of retesting the defect to check whether the defect is fixed or not, and status is marked as 'Retesting!</a:t>
            </a:r>
          </a:p>
          <a:p>
            <a:r>
              <a:rPr lang="en-US" sz="2400" b="1" dirty="0">
                <a:solidFill>
                  <a:srgbClr val="FFFF00"/>
                </a:solidFill>
                <a:latin typeface="Century Schoolbook" panose="02040604050505020304" pitchFamily="18" charset="0"/>
              </a:rPr>
              <a:t>7. </a:t>
            </a:r>
            <a:r>
              <a:rPr lang="en-US" sz="2400" b="1" u="sng" dirty="0">
                <a:solidFill>
                  <a:srgbClr val="FFFF00"/>
                </a:solidFill>
                <a:latin typeface="Century Schoolbook" panose="02040604050505020304" pitchFamily="18" charset="0"/>
              </a:rPr>
              <a:t>Reopen</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After Retesting' if the team found that the bug continues even after it has fixed, then the status of the bug is again changed to 'Reopened'. Once again bug goes to the 'open' state and goes through the life cycle again. This means it goes for Re-fixing by the developer team.</a:t>
            </a:r>
          </a:p>
          <a:p>
            <a:r>
              <a:rPr lang="en-US" sz="2400" b="1" dirty="0">
                <a:solidFill>
                  <a:srgbClr val="FFFF00"/>
                </a:solidFill>
                <a:latin typeface="Century Schoolbook" panose="02040604050505020304" pitchFamily="18" charset="0"/>
              </a:rPr>
              <a:t>8. </a:t>
            </a:r>
            <a:r>
              <a:rPr lang="en-US" sz="2400" b="1" u="sng" dirty="0">
                <a:solidFill>
                  <a:srgbClr val="FFFF00"/>
                </a:solidFill>
                <a:latin typeface="Century Schoolbook" panose="02040604050505020304" pitchFamily="18" charset="0"/>
              </a:rPr>
              <a:t>IF Verified</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If the tester does not find any kind of defect then the status is assigned is 'verified.</a:t>
            </a:r>
          </a:p>
          <a:p>
            <a:r>
              <a:rPr lang="en-US" sz="2400" b="1" dirty="0">
                <a:solidFill>
                  <a:srgbClr val="FFFF00"/>
                </a:solidFill>
                <a:latin typeface="Century Schoolbook" panose="02040604050505020304" pitchFamily="18" charset="0"/>
              </a:rPr>
              <a:t>9. </a:t>
            </a:r>
            <a:r>
              <a:rPr lang="en-US" sz="2400" b="1" u="sng" dirty="0">
                <a:solidFill>
                  <a:srgbClr val="FFFF00"/>
                </a:solidFill>
                <a:latin typeface="Century Schoolbook" panose="02040604050505020304" pitchFamily="18" charset="0"/>
              </a:rPr>
              <a:t>Closed</a:t>
            </a:r>
            <a:r>
              <a:rPr lang="en-US" sz="2400" b="1" dirty="0">
                <a:solidFill>
                  <a:srgbClr val="FFFF00"/>
                </a:solidFill>
                <a:latin typeface="Century Schoolbook" panose="02040604050505020304" pitchFamily="18" charset="0"/>
              </a:rPr>
              <a:t> : - </a:t>
            </a:r>
            <a:r>
              <a:rPr lang="en-US" sz="2400" b="1" dirty="0">
                <a:latin typeface="Century Schoolbook" panose="02040604050505020304" pitchFamily="18" charset="0"/>
              </a:rPr>
              <a:t>It is final state of the Defect life cycle, after fixing the defect, when testing found that the bug has been resolved and it does not persist then they mark the defect as a ‘closed’ state.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4641528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D150C-DB2A-342E-9324-78359A8BCFD5}"/>
              </a:ext>
            </a:extLst>
          </p:cNvPr>
          <p:cNvSpPr>
            <a:spLocks noGrp="1"/>
          </p:cNvSpPr>
          <p:nvPr>
            <p:ph type="title"/>
          </p:nvPr>
        </p:nvSpPr>
        <p:spPr>
          <a:xfrm>
            <a:off x="145027" y="147486"/>
            <a:ext cx="10131427" cy="727586"/>
          </a:xfrm>
        </p:spPr>
        <p:txBody>
          <a:bodyPr>
            <a:noAutofit/>
          </a:bodyPr>
          <a:lstStyle/>
          <a:p>
            <a:pPr marL="571500" indent="-571500">
              <a:buFont typeface="Wingdings" panose="05000000000000000000" pitchFamily="2" charset="2"/>
              <a:buChar char="v"/>
            </a:pPr>
            <a:r>
              <a:rPr lang="en-US" sz="4800" u="sng" dirty="0">
                <a:solidFill>
                  <a:srgbClr val="FFFF00"/>
                </a:solidFill>
                <a:latin typeface="Algerian" panose="04020705040A02060702" pitchFamily="82" charset="0"/>
              </a:rPr>
              <a:t>Defect template</a:t>
            </a:r>
            <a:r>
              <a:rPr lang="en-US" sz="4800" dirty="0">
                <a:solidFill>
                  <a:srgbClr val="FFFF00"/>
                </a:solidFill>
                <a:latin typeface="Algerian" panose="04020705040A02060702" pitchFamily="82" charset="0"/>
              </a:rPr>
              <a:t> : </a:t>
            </a:r>
            <a:r>
              <a:rPr lang="en-US" sz="4400" dirty="0">
                <a:solidFill>
                  <a:srgbClr val="FFFF00"/>
                </a:solidFill>
                <a:latin typeface="Algerian" panose="04020705040A02060702" pitchFamily="82" charset="0"/>
              </a:rPr>
              <a:t>-</a:t>
            </a:r>
            <a:endParaRPr lang="en-IN" sz="4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BBA9B3B4-496C-22BD-1BB5-94B40ABB5E95}"/>
              </a:ext>
            </a:extLst>
          </p:cNvPr>
          <p:cNvSpPr>
            <a:spLocks noGrp="1"/>
          </p:cNvSpPr>
          <p:nvPr>
            <p:ph type="body" idx="1"/>
          </p:nvPr>
        </p:nvSpPr>
        <p:spPr>
          <a:xfrm>
            <a:off x="145027" y="-186810"/>
            <a:ext cx="11702844" cy="4159044"/>
          </a:xfrm>
        </p:spPr>
        <p:txBody>
          <a:bodyPr>
            <a:normAutofit/>
          </a:bodyPr>
          <a:lstStyle/>
          <a:p>
            <a:pPr marL="342900" indent="-342900">
              <a:buFont typeface="Wingdings" panose="05000000000000000000" pitchFamily="2" charset="2"/>
              <a:buChar char="Ø"/>
            </a:pPr>
            <a:r>
              <a:rPr lang="en-US" sz="2800" b="1" dirty="0">
                <a:latin typeface="Century Schoolbook" panose="02040604050505020304" pitchFamily="18" charset="0"/>
              </a:rPr>
              <a:t>A defect template is a structural format used to log, track and manage software defects during testing phase.</a:t>
            </a:r>
          </a:p>
          <a:p>
            <a:pPr marL="342900" indent="-342900">
              <a:buFont typeface="Wingdings" panose="05000000000000000000" pitchFamily="2" charset="2"/>
              <a:buChar char="Ø"/>
            </a:pPr>
            <a:r>
              <a:rPr lang="en-US" sz="2800" b="1" dirty="0">
                <a:latin typeface="Century Schoolbook" panose="02040604050505020304" pitchFamily="18" charset="0"/>
              </a:rPr>
              <a:t>A typical defect template contains the information in an </a:t>
            </a:r>
            <a:r>
              <a:rPr lang="en-US" sz="2800" b="1" dirty="0" err="1">
                <a:latin typeface="Century Schoolbook" panose="02040604050505020304" pitchFamily="18" charset="0"/>
              </a:rPr>
              <a:t>xls</a:t>
            </a:r>
            <a:r>
              <a:rPr lang="en-US" sz="2800" b="1" dirty="0">
                <a:latin typeface="Century Schoolbook" panose="02040604050505020304" pitchFamily="18" charset="0"/>
              </a:rPr>
              <a:t> sheet as follow :</a:t>
            </a:r>
            <a:endParaRPr lang="en-IN" sz="2800" b="1" dirty="0">
              <a:latin typeface="Century Schoolbook" panose="02040604050505020304" pitchFamily="18" charset="0"/>
            </a:endParaRPr>
          </a:p>
        </p:txBody>
      </p:sp>
    </p:spTree>
    <p:extLst>
      <p:ext uri="{BB962C8B-B14F-4D97-AF65-F5344CB8AC3E}">
        <p14:creationId xmlns:p14="http://schemas.microsoft.com/office/powerpoint/2010/main" val="3910556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A9B9E-B8C8-91B8-0A7C-446DD1F5775C}"/>
              </a:ext>
            </a:extLst>
          </p:cNvPr>
          <p:cNvSpPr>
            <a:spLocks noGrp="1"/>
          </p:cNvSpPr>
          <p:nvPr>
            <p:ph type="title"/>
          </p:nvPr>
        </p:nvSpPr>
        <p:spPr>
          <a:xfrm>
            <a:off x="245807" y="452285"/>
            <a:ext cx="12054347" cy="5378244"/>
          </a:xfrm>
        </p:spPr>
        <p:txBody>
          <a:bodyPr>
            <a:noAutofit/>
          </a:bodyPr>
          <a:lstStyle/>
          <a:p>
            <a:r>
              <a:rPr lang="en-US" sz="1800" b="1" dirty="0">
                <a:latin typeface="Century Schoolbook" panose="02040604050505020304" pitchFamily="18" charset="0"/>
              </a:rPr>
              <a:t>Defect ID: A unique serial number of defects in report :</a:t>
            </a:r>
            <a:br>
              <a:rPr lang="en-US" sz="1800" b="1" dirty="0">
                <a:latin typeface="Century Schoolbook" panose="02040604050505020304" pitchFamily="18" charset="0"/>
              </a:rPr>
            </a:br>
            <a:r>
              <a:rPr lang="en-US" sz="1800" b="1" dirty="0">
                <a:latin typeface="Century Schoolbook" panose="02040604050505020304" pitchFamily="18" charset="0"/>
              </a:rPr>
              <a:t>Description: Detailed and clear description of the defect. </a:t>
            </a:r>
            <a:br>
              <a:rPr lang="en-US" sz="1800" b="1" dirty="0">
                <a:latin typeface="Century Schoolbook" panose="02040604050505020304" pitchFamily="18" charset="0"/>
              </a:rPr>
            </a:br>
            <a:r>
              <a:rPr lang="en-US" sz="1800" b="1" dirty="0">
                <a:latin typeface="Century Schoolbook" panose="02040604050505020304" pitchFamily="18" charset="0"/>
              </a:rPr>
              <a:t>Action Steps: What the QA did in an application that results in the defect, step by step actions.</a:t>
            </a:r>
            <a:br>
              <a:rPr lang="en-US" sz="1800" b="1" dirty="0">
                <a:latin typeface="Century Schoolbook" panose="02040604050505020304" pitchFamily="18" charset="0"/>
              </a:rPr>
            </a:br>
            <a:r>
              <a:rPr lang="en-US" sz="1800" b="1" dirty="0">
                <a:latin typeface="Century Schoolbook" panose="02040604050505020304" pitchFamily="18" charset="0"/>
              </a:rPr>
              <a:t>Expected Result: What results are expected as per the requirements when performing the action steps mentioned. </a:t>
            </a:r>
            <a:br>
              <a:rPr lang="en-US" sz="1800" b="1" dirty="0">
                <a:latin typeface="Century Schoolbook" panose="02040604050505020304" pitchFamily="18" charset="0"/>
              </a:rPr>
            </a:br>
            <a:r>
              <a:rPr lang="en-US" sz="1800" b="1" dirty="0">
                <a:latin typeface="Century Schoolbook" panose="02040604050505020304" pitchFamily="18" charset="0"/>
              </a:rPr>
              <a:t>Actual Result: what results are </a:t>
            </a:r>
            <a:r>
              <a:rPr lang="en-US" sz="1800" b="1" dirty="0" err="1">
                <a:latin typeface="Century Schoolbook" panose="02040604050505020304" pitchFamily="18" charset="0"/>
              </a:rPr>
              <a:t>adually</a:t>
            </a:r>
            <a:r>
              <a:rPr lang="en-US" sz="1800" b="1" dirty="0">
                <a:latin typeface="Century Schoolbook" panose="02040604050505020304" pitchFamily="18" charset="0"/>
              </a:rPr>
              <a:t> showing up when performing the action steps.</a:t>
            </a:r>
            <a:br>
              <a:rPr lang="en-US" sz="1800" b="1" dirty="0">
                <a:latin typeface="Century Schoolbook" panose="02040604050505020304" pitchFamily="18" charset="0"/>
              </a:rPr>
            </a:br>
            <a:r>
              <a:rPr lang="en-US" sz="1800" b="1" dirty="0">
                <a:latin typeface="Century Schoolbook" panose="02040604050505020304" pitchFamily="18" charset="0"/>
              </a:rPr>
              <a:t>Severity: The impact of the defect on the system: Critical, Major, Medium, Lower.</a:t>
            </a:r>
            <a:br>
              <a:rPr lang="en-US" sz="1800" b="1" dirty="0">
                <a:latin typeface="Century Schoolbook" panose="02040604050505020304" pitchFamily="18" charset="0"/>
              </a:rPr>
            </a:br>
            <a:r>
              <a:rPr lang="en-US" sz="1800" b="1" dirty="0">
                <a:latin typeface="Century Schoolbook" panose="02040604050505020304" pitchFamily="18" charset="0"/>
              </a:rPr>
              <a:t>Priority: How urgently the defect needs to be addressed: Urgent, High, Medium, Low. </a:t>
            </a:r>
            <a:br>
              <a:rPr lang="en-US" sz="1800" b="1" dirty="0">
                <a:latin typeface="Century Schoolbook" panose="02040604050505020304" pitchFamily="18" charset="0"/>
              </a:rPr>
            </a:br>
            <a:r>
              <a:rPr lang="en-US" sz="1800" b="1" dirty="0">
                <a:latin typeface="Century Schoolbook" panose="02040604050505020304" pitchFamily="18" charset="0"/>
              </a:rPr>
              <a:t>Assigned to: The name of the developer or team who is responsible for fixing the defect.</a:t>
            </a:r>
            <a:br>
              <a:rPr lang="en-US" sz="1800" b="1" dirty="0">
                <a:latin typeface="Century Schoolbook" panose="02040604050505020304" pitchFamily="18" charset="0"/>
              </a:rPr>
            </a:br>
            <a:r>
              <a:rPr lang="en-US" sz="1800" b="1" dirty="0">
                <a:latin typeface="Century Schoolbook" panose="02040604050505020304" pitchFamily="18" charset="0"/>
              </a:rPr>
              <a:t>Reported by: The name of the tester who discovered the defect. </a:t>
            </a:r>
            <a:br>
              <a:rPr lang="en-US" sz="1800" b="1" dirty="0">
                <a:latin typeface="Century Schoolbook" panose="02040604050505020304" pitchFamily="18" charset="0"/>
              </a:rPr>
            </a:br>
            <a:r>
              <a:rPr lang="en-US" sz="1800" b="1" dirty="0">
                <a:latin typeface="Century Schoolbook" panose="02040604050505020304" pitchFamily="18" charset="0"/>
              </a:rPr>
              <a:t>status: The current state of the defect</a:t>
            </a:r>
            <a:br>
              <a:rPr lang="en-US" sz="1800" b="1" dirty="0">
                <a:latin typeface="Century Schoolbook" panose="02040604050505020304" pitchFamily="18" charset="0"/>
              </a:rPr>
            </a:br>
            <a:r>
              <a:rPr lang="en-US" sz="1800" b="1" dirty="0">
                <a:latin typeface="Century Schoolbook" panose="02040604050505020304" pitchFamily="18" charset="0"/>
              </a:rPr>
              <a:t>Dale logged: The dale on which the defect was reported. </a:t>
            </a:r>
            <a:br>
              <a:rPr lang="en-US" sz="1800" b="1" dirty="0">
                <a:latin typeface="Century Schoolbook" panose="02040604050505020304" pitchFamily="18" charset="0"/>
              </a:rPr>
            </a:br>
            <a:r>
              <a:rPr lang="en-US" sz="1800" b="1" dirty="0">
                <a:latin typeface="Century Schoolbook" panose="02040604050505020304" pitchFamily="18" charset="0"/>
              </a:rPr>
              <a:t>Due date: The date Hill which the defect should be fixed. </a:t>
            </a:r>
            <a:br>
              <a:rPr lang="en-US" sz="1800" b="1" dirty="0">
                <a:latin typeface="Century Schoolbook" panose="02040604050505020304" pitchFamily="18" charset="0"/>
              </a:rPr>
            </a:br>
            <a:r>
              <a:rPr lang="en-US" sz="1800" b="1" dirty="0">
                <a:latin typeface="Century Schoolbook" panose="02040604050505020304" pitchFamily="18" charset="0"/>
              </a:rPr>
              <a:t>Environment-The environment in which the defect was Found ( </a:t>
            </a:r>
            <a:r>
              <a:rPr lang="en-US" sz="1800" b="1" dirty="0" err="1">
                <a:latin typeface="Century Schoolbook" panose="02040604050505020304" pitchFamily="18" charset="0"/>
              </a:rPr>
              <a:t>eg.</a:t>
            </a:r>
            <a:r>
              <a:rPr lang="en-US" sz="1800" b="1" dirty="0">
                <a:latin typeface="Century Schoolbook" panose="02040604050505020304" pitchFamily="18" charset="0"/>
              </a:rPr>
              <a:t> browser version, </a:t>
            </a:r>
            <a:r>
              <a:rPr lang="en-US" sz="1800" b="1" dirty="0" err="1">
                <a:latin typeface="Century Schoolbook" panose="02040604050505020304" pitchFamily="18" charset="0"/>
              </a:rPr>
              <a:t>os</a:t>
            </a:r>
            <a:r>
              <a:rPr lang="en-US" sz="1800" b="1" dirty="0">
                <a:latin typeface="Century Schoolbook" panose="02040604050505020304" pitchFamily="18" charset="0"/>
              </a:rPr>
              <a:t>, test environment ) </a:t>
            </a:r>
            <a:br>
              <a:rPr lang="en-US" sz="1800" b="1" dirty="0">
                <a:latin typeface="Century Schoolbook" panose="02040604050505020304" pitchFamily="18" charset="0"/>
              </a:rPr>
            </a:br>
            <a:r>
              <a:rPr lang="en-US" sz="1800" b="1" dirty="0" err="1">
                <a:latin typeface="Century Schoolbook" panose="02040604050505020304" pitchFamily="18" charset="0"/>
              </a:rPr>
              <a:t>Atachments</a:t>
            </a:r>
            <a:r>
              <a:rPr lang="en-US" sz="1800" b="1" dirty="0">
                <a:latin typeface="Century Schoolbook" panose="02040604050505020304" pitchFamily="18" charset="0"/>
              </a:rPr>
              <a:t>-Any relevant Files like screen shots, logs or videos that provide further context for the defect. </a:t>
            </a:r>
            <a:br>
              <a:rPr lang="en-US" sz="1800" b="1" dirty="0">
                <a:latin typeface="Century Schoolbook" panose="02040604050505020304" pitchFamily="18" charset="0"/>
              </a:rPr>
            </a:br>
            <a:r>
              <a:rPr lang="en-US" sz="1800" b="1" dirty="0">
                <a:latin typeface="Century Schoolbook" panose="02040604050505020304" pitchFamily="18" charset="0"/>
              </a:rPr>
              <a:t>Additional Information - Additional notes or discussions related to the defect.</a:t>
            </a:r>
            <a:br>
              <a:rPr lang="en-IN" sz="1800" b="1" dirty="0">
                <a:latin typeface="Century Schoolbook" panose="02040604050505020304" pitchFamily="18" charset="0"/>
              </a:rPr>
            </a:br>
            <a:endParaRPr lang="en-IN" sz="1800" b="1" dirty="0"/>
          </a:p>
        </p:txBody>
      </p:sp>
      <p:sp>
        <p:nvSpPr>
          <p:cNvPr id="3" name="Text Placeholder 2">
            <a:extLst>
              <a:ext uri="{FF2B5EF4-FFF2-40B4-BE49-F238E27FC236}">
                <a16:creationId xmlns:a16="http://schemas.microsoft.com/office/drawing/2014/main" id="{E5A044E8-EDAA-1DC5-520A-AFA5CD426148}"/>
              </a:ext>
            </a:extLst>
          </p:cNvPr>
          <p:cNvSpPr>
            <a:spLocks noGrp="1"/>
          </p:cNvSpPr>
          <p:nvPr>
            <p:ph type="body" idx="1"/>
          </p:nvPr>
        </p:nvSpPr>
        <p:spPr>
          <a:xfrm>
            <a:off x="383458" y="5830529"/>
            <a:ext cx="11425084" cy="707922"/>
          </a:xfrm>
        </p:spPr>
        <p:txBody>
          <a:bodyPr/>
          <a:lstStyle/>
          <a:p>
            <a:pPr algn="ctr"/>
            <a:r>
              <a:rPr lang="en-US" dirty="0"/>
              <a:t> </a:t>
            </a:r>
            <a:r>
              <a:rPr lang="en-US" sz="4000" dirty="0">
                <a:solidFill>
                  <a:srgbClr val="FFFF00"/>
                </a:solidFill>
                <a:latin typeface="Algerian" panose="04020705040A02060702" pitchFamily="82" charset="0"/>
              </a:rPr>
              <a:t>Figure : Defect report template</a:t>
            </a:r>
            <a:endParaRPr lang="en-IN" sz="4000" dirty="0">
              <a:solidFill>
                <a:srgbClr val="FFFF00"/>
              </a:solidFill>
              <a:latin typeface="Algerian" panose="04020705040A02060702" pitchFamily="82" charset="0"/>
            </a:endParaRPr>
          </a:p>
        </p:txBody>
      </p:sp>
      <p:sp>
        <p:nvSpPr>
          <p:cNvPr id="4" name="Rectangle 3">
            <a:extLst>
              <a:ext uri="{FF2B5EF4-FFF2-40B4-BE49-F238E27FC236}">
                <a16:creationId xmlns:a16="http://schemas.microsoft.com/office/drawing/2014/main" id="{C58642F6-7EFB-AE20-501D-4D6BAA9AAEB5}"/>
              </a:ext>
            </a:extLst>
          </p:cNvPr>
          <p:cNvSpPr/>
          <p:nvPr/>
        </p:nvSpPr>
        <p:spPr>
          <a:xfrm>
            <a:off x="68826" y="452285"/>
            <a:ext cx="12054347" cy="521109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Century Schoolbook" panose="02040604050505020304" pitchFamily="18" charset="0"/>
              </a:rPr>
              <a:t>Defect ID: A unique serial number of defects in report :</a:t>
            </a:r>
            <a:br>
              <a:rPr lang="en-US" b="1" dirty="0">
                <a:latin typeface="Century Schoolbook" panose="02040604050505020304" pitchFamily="18" charset="0"/>
              </a:rPr>
            </a:br>
            <a:r>
              <a:rPr lang="en-US" b="1" dirty="0">
                <a:latin typeface="Century Schoolbook" panose="02040604050505020304" pitchFamily="18" charset="0"/>
              </a:rPr>
              <a:t>Description: Detailed and clear description of the defect. </a:t>
            </a:r>
            <a:br>
              <a:rPr lang="en-US" b="1" dirty="0">
                <a:latin typeface="Century Schoolbook" panose="02040604050505020304" pitchFamily="18" charset="0"/>
              </a:rPr>
            </a:br>
            <a:r>
              <a:rPr lang="en-US" b="1" dirty="0">
                <a:latin typeface="Century Schoolbook" panose="02040604050505020304" pitchFamily="18" charset="0"/>
              </a:rPr>
              <a:t>Action Steps: What the QA did in an application that results in the defect, step by step actions.</a:t>
            </a:r>
            <a:br>
              <a:rPr lang="en-US" b="1" dirty="0">
                <a:latin typeface="Century Schoolbook" panose="02040604050505020304" pitchFamily="18" charset="0"/>
              </a:rPr>
            </a:br>
            <a:r>
              <a:rPr lang="en-US" b="1" dirty="0">
                <a:latin typeface="Century Schoolbook" panose="02040604050505020304" pitchFamily="18" charset="0"/>
              </a:rPr>
              <a:t>Expected Result: What results are expected as per the requirements when performing the action steps mentioned. </a:t>
            </a:r>
            <a:br>
              <a:rPr lang="en-US" b="1" dirty="0">
                <a:latin typeface="Century Schoolbook" panose="02040604050505020304" pitchFamily="18" charset="0"/>
              </a:rPr>
            </a:br>
            <a:r>
              <a:rPr lang="en-US" b="1" dirty="0">
                <a:latin typeface="Century Schoolbook" panose="02040604050505020304" pitchFamily="18" charset="0"/>
              </a:rPr>
              <a:t>Actual Result: what results are </a:t>
            </a:r>
            <a:r>
              <a:rPr lang="en-US" b="1" dirty="0" err="1">
                <a:latin typeface="Century Schoolbook" panose="02040604050505020304" pitchFamily="18" charset="0"/>
              </a:rPr>
              <a:t>adually</a:t>
            </a:r>
            <a:r>
              <a:rPr lang="en-US" b="1" dirty="0">
                <a:latin typeface="Century Schoolbook" panose="02040604050505020304" pitchFamily="18" charset="0"/>
              </a:rPr>
              <a:t> showing up when performing the action steps.</a:t>
            </a:r>
            <a:br>
              <a:rPr lang="en-US" b="1" dirty="0">
                <a:latin typeface="Century Schoolbook" panose="02040604050505020304" pitchFamily="18" charset="0"/>
              </a:rPr>
            </a:br>
            <a:r>
              <a:rPr lang="en-US" b="1" dirty="0">
                <a:latin typeface="Century Schoolbook" panose="02040604050505020304" pitchFamily="18" charset="0"/>
              </a:rPr>
              <a:t>Severity: The impact of the defect on the system: Critical, Major, Medium, Lower.</a:t>
            </a:r>
            <a:br>
              <a:rPr lang="en-US" b="1" dirty="0">
                <a:latin typeface="Century Schoolbook" panose="02040604050505020304" pitchFamily="18" charset="0"/>
              </a:rPr>
            </a:br>
            <a:r>
              <a:rPr lang="en-US" b="1" dirty="0">
                <a:latin typeface="Century Schoolbook" panose="02040604050505020304" pitchFamily="18" charset="0"/>
              </a:rPr>
              <a:t>Priority: How urgently the defect needs to be addressed: Urgent, High, Medium, Low. </a:t>
            </a:r>
            <a:br>
              <a:rPr lang="en-US" b="1" dirty="0">
                <a:latin typeface="Century Schoolbook" panose="02040604050505020304" pitchFamily="18" charset="0"/>
              </a:rPr>
            </a:br>
            <a:r>
              <a:rPr lang="en-US" b="1" dirty="0">
                <a:latin typeface="Century Schoolbook" panose="02040604050505020304" pitchFamily="18" charset="0"/>
              </a:rPr>
              <a:t>Assigned to: The name of the developer or team who is responsible for fixing the defect.</a:t>
            </a:r>
            <a:br>
              <a:rPr lang="en-US" b="1" dirty="0">
                <a:latin typeface="Century Schoolbook" panose="02040604050505020304" pitchFamily="18" charset="0"/>
              </a:rPr>
            </a:br>
            <a:r>
              <a:rPr lang="en-US" b="1" dirty="0">
                <a:latin typeface="Century Schoolbook" panose="02040604050505020304" pitchFamily="18" charset="0"/>
              </a:rPr>
              <a:t>Reported by: The name of the tester who discovered the defect. </a:t>
            </a:r>
            <a:br>
              <a:rPr lang="en-US" b="1" dirty="0">
                <a:latin typeface="Century Schoolbook" panose="02040604050505020304" pitchFamily="18" charset="0"/>
              </a:rPr>
            </a:br>
            <a:r>
              <a:rPr lang="en-US" b="1" dirty="0">
                <a:latin typeface="Century Schoolbook" panose="02040604050505020304" pitchFamily="18" charset="0"/>
              </a:rPr>
              <a:t>status: The current state of the defect</a:t>
            </a:r>
            <a:br>
              <a:rPr lang="en-US" b="1" dirty="0">
                <a:latin typeface="Century Schoolbook" panose="02040604050505020304" pitchFamily="18" charset="0"/>
              </a:rPr>
            </a:br>
            <a:r>
              <a:rPr lang="en-US" b="1" dirty="0">
                <a:latin typeface="Century Schoolbook" panose="02040604050505020304" pitchFamily="18" charset="0"/>
              </a:rPr>
              <a:t>Dale logged: The dale on which the defect was reported. </a:t>
            </a:r>
            <a:br>
              <a:rPr lang="en-US" b="1" dirty="0">
                <a:latin typeface="Century Schoolbook" panose="02040604050505020304" pitchFamily="18" charset="0"/>
              </a:rPr>
            </a:br>
            <a:r>
              <a:rPr lang="en-US" b="1" dirty="0">
                <a:latin typeface="Century Schoolbook" panose="02040604050505020304" pitchFamily="18" charset="0"/>
              </a:rPr>
              <a:t>Due date: The date Hill which the defect should be fixed. </a:t>
            </a:r>
            <a:br>
              <a:rPr lang="en-US" b="1" dirty="0">
                <a:latin typeface="Century Schoolbook" panose="02040604050505020304" pitchFamily="18" charset="0"/>
              </a:rPr>
            </a:br>
            <a:r>
              <a:rPr lang="en-US" b="1" dirty="0">
                <a:latin typeface="Century Schoolbook" panose="02040604050505020304" pitchFamily="18" charset="0"/>
              </a:rPr>
              <a:t>Environment-The environment in which the defect was Found ( </a:t>
            </a:r>
            <a:r>
              <a:rPr lang="en-US" b="1" dirty="0" err="1">
                <a:latin typeface="Century Schoolbook" panose="02040604050505020304" pitchFamily="18" charset="0"/>
              </a:rPr>
              <a:t>eg.</a:t>
            </a:r>
            <a:r>
              <a:rPr lang="en-US" b="1" dirty="0">
                <a:latin typeface="Century Schoolbook" panose="02040604050505020304" pitchFamily="18" charset="0"/>
              </a:rPr>
              <a:t> browser version, </a:t>
            </a:r>
            <a:r>
              <a:rPr lang="en-US" b="1" dirty="0" err="1">
                <a:latin typeface="Century Schoolbook" panose="02040604050505020304" pitchFamily="18" charset="0"/>
              </a:rPr>
              <a:t>os</a:t>
            </a:r>
            <a:r>
              <a:rPr lang="en-US" b="1" dirty="0">
                <a:latin typeface="Century Schoolbook" panose="02040604050505020304" pitchFamily="18" charset="0"/>
              </a:rPr>
              <a:t>, test environment ) </a:t>
            </a:r>
            <a:br>
              <a:rPr lang="en-US" b="1" dirty="0">
                <a:latin typeface="Century Schoolbook" panose="02040604050505020304" pitchFamily="18" charset="0"/>
              </a:rPr>
            </a:br>
            <a:r>
              <a:rPr lang="en-US" b="1" dirty="0" err="1">
                <a:latin typeface="Century Schoolbook" panose="02040604050505020304" pitchFamily="18" charset="0"/>
              </a:rPr>
              <a:t>Atachments</a:t>
            </a:r>
            <a:r>
              <a:rPr lang="en-US" b="1" dirty="0">
                <a:latin typeface="Century Schoolbook" panose="02040604050505020304" pitchFamily="18" charset="0"/>
              </a:rPr>
              <a:t>-Any relevant Files like screen shots, logs or videos that provide further context for the defect. </a:t>
            </a:r>
            <a:br>
              <a:rPr lang="en-US" b="1" dirty="0">
                <a:latin typeface="Century Schoolbook" panose="02040604050505020304" pitchFamily="18" charset="0"/>
              </a:rPr>
            </a:br>
            <a:r>
              <a:rPr lang="en-US" b="1" dirty="0">
                <a:latin typeface="Century Schoolbook" panose="02040604050505020304" pitchFamily="18" charset="0"/>
              </a:rPr>
              <a:t>Additional Information - Additional notes or discussions related to the defect.</a:t>
            </a:r>
            <a:endParaRPr lang="en-IN" dirty="0"/>
          </a:p>
        </p:txBody>
      </p:sp>
    </p:spTree>
    <p:extLst>
      <p:ext uri="{BB962C8B-B14F-4D97-AF65-F5344CB8AC3E}">
        <p14:creationId xmlns:p14="http://schemas.microsoft.com/office/powerpoint/2010/main" val="2494111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97983-251C-B3BA-BF02-2C9CDA9E5284}"/>
              </a:ext>
            </a:extLst>
          </p:cNvPr>
          <p:cNvSpPr>
            <a:spLocks noGrp="1"/>
          </p:cNvSpPr>
          <p:nvPr>
            <p:ph type="title"/>
          </p:nvPr>
        </p:nvSpPr>
        <p:spPr>
          <a:xfrm>
            <a:off x="-1229" y="-78659"/>
            <a:ext cx="11938819" cy="865239"/>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Estimate expected impact of a defect</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A3348731-9095-E661-737F-E1C4B4B7C5A9}"/>
              </a:ext>
            </a:extLst>
          </p:cNvPr>
          <p:cNvSpPr>
            <a:spLocks noGrp="1"/>
          </p:cNvSpPr>
          <p:nvPr>
            <p:ph type="body" idx="1"/>
          </p:nvPr>
        </p:nvSpPr>
        <p:spPr>
          <a:xfrm>
            <a:off x="-1229" y="639096"/>
            <a:ext cx="12192000" cy="6218903"/>
          </a:xfrm>
        </p:spPr>
        <p:txBody>
          <a:bodyPr>
            <a:normAutofit lnSpcReduction="10000"/>
          </a:bodyPr>
          <a:lstStyle/>
          <a:p>
            <a:pPr marL="342900" indent="-342900">
              <a:buFont typeface="Wingdings" panose="05000000000000000000" pitchFamily="2" charset="2"/>
              <a:buChar char="Ø"/>
            </a:pPr>
            <a:r>
              <a:rPr lang="en-US" sz="2400" b="1" dirty="0">
                <a:solidFill>
                  <a:srgbClr val="FFFF00"/>
                </a:solidFill>
                <a:latin typeface="Century Schoolbook" panose="02040604050505020304" pitchFamily="18" charset="0"/>
              </a:rPr>
              <a:t>Defected Impact - </a:t>
            </a:r>
            <a:r>
              <a:rPr lang="en-US" b="1" dirty="0">
                <a:latin typeface="Century Schoolbook" panose="02040604050505020304" pitchFamily="18" charset="0"/>
              </a:rPr>
              <a:t>The degree of severity that a defect has on the development or operation of a component or system.</a:t>
            </a:r>
          </a:p>
          <a:p>
            <a:pPr marL="342900" indent="-342900">
              <a:buFont typeface="Wingdings" panose="05000000000000000000" pitchFamily="2" charset="2"/>
              <a:buChar char="Ø"/>
            </a:pPr>
            <a:r>
              <a:rPr lang="en-US" sz="2400" b="1" dirty="0">
                <a:solidFill>
                  <a:srgbClr val="FFFF00"/>
                </a:solidFill>
                <a:latin typeface="Century Schoolbook" panose="02040604050505020304" pitchFamily="18" charset="0"/>
              </a:rPr>
              <a:t>How to estimate the defect impact ?</a:t>
            </a:r>
            <a:br>
              <a:rPr lang="en-US" b="1" dirty="0">
                <a:latin typeface="Century Schoolbook" panose="02040604050505020304" pitchFamily="18" charset="0"/>
              </a:rPr>
            </a:br>
            <a:r>
              <a:rPr lang="en-US" b="1" dirty="0">
                <a:latin typeface="Century Schoolbook" panose="02040604050505020304" pitchFamily="18" charset="0"/>
              </a:rPr>
              <a:t>1. Once the critical risks are identified, the financial impact of each risk should be estimated.</a:t>
            </a:r>
            <a:br>
              <a:rPr lang="en-US" b="1" dirty="0">
                <a:latin typeface="Century Schoolbook" panose="02040604050505020304" pitchFamily="18" charset="0"/>
              </a:rPr>
            </a:br>
            <a:r>
              <a:rPr lang="en-US" b="1" dirty="0">
                <a:latin typeface="Century Schoolbook" panose="02040604050505020304" pitchFamily="18" charset="0"/>
              </a:rPr>
              <a:t>2. This can be done by assessing the impact, in dollars, if the risk does become a problem combined with the probability that the risk will become a problem.</a:t>
            </a:r>
            <a:br>
              <a:rPr lang="en-US" b="1" dirty="0">
                <a:latin typeface="Century Schoolbook" panose="02040604050505020304" pitchFamily="18" charset="0"/>
              </a:rPr>
            </a:br>
            <a:r>
              <a:rPr lang="en-US" b="1" dirty="0">
                <a:latin typeface="Century Schoolbook" panose="02040604050505020304" pitchFamily="18" charset="0"/>
              </a:rPr>
              <a:t>3. The product of </a:t>
            </a:r>
            <a:r>
              <a:rPr lang="en-US" b="1" dirty="0" err="1">
                <a:latin typeface="Century Schoolbook" panose="02040604050505020304" pitchFamily="18" charset="0"/>
              </a:rPr>
              <a:t>thes</a:t>
            </a:r>
            <a:r>
              <a:rPr lang="en-US" b="1" dirty="0">
                <a:latin typeface="Century Schoolbook" panose="02040604050505020304" pitchFamily="18" charset="0"/>
              </a:rPr>
              <a:t> two numbers is the expected impact of risk/defect.</a:t>
            </a:r>
            <a:br>
              <a:rPr lang="en-US" b="1" dirty="0">
                <a:latin typeface="Century Schoolbook" panose="02040604050505020304" pitchFamily="18" charset="0"/>
              </a:rPr>
            </a:br>
            <a:r>
              <a:rPr lang="en-US" b="1" dirty="0">
                <a:latin typeface="Century Schoolbook" panose="02040604050505020304" pitchFamily="18" charset="0"/>
              </a:rPr>
              <a:t>4. The expected impact of a risk (E) is calculated as : E=P*I where, P = probability of risk becoming a problem and I= Impact in dollars if the risk becomes a problem.</a:t>
            </a:r>
          </a:p>
          <a:p>
            <a:pPr marL="342900" indent="-342900">
              <a:buFont typeface="Wingdings" panose="05000000000000000000" pitchFamily="2" charset="2"/>
              <a:buChar char="Ø"/>
            </a:pPr>
            <a:r>
              <a:rPr lang="en-US" sz="2400" b="1" u="sng" dirty="0">
                <a:solidFill>
                  <a:srgbClr val="FFFF00"/>
                </a:solidFill>
                <a:latin typeface="Century Schoolbook" panose="02040604050505020304" pitchFamily="18" charset="0"/>
              </a:rPr>
              <a:t>For Example</a:t>
            </a:r>
            <a:r>
              <a:rPr lang="en-US" sz="2400" b="1" dirty="0">
                <a:solidFill>
                  <a:srgbClr val="FFFF00"/>
                </a:solidFill>
                <a:latin typeface="Century Schoolbook" panose="02040604050505020304" pitchFamily="18" charset="0"/>
              </a:rPr>
              <a:t> : - </a:t>
            </a:r>
          </a:p>
          <a:p>
            <a:r>
              <a:rPr lang="en-US" b="1" dirty="0">
                <a:latin typeface="Century Schoolbook" panose="02040604050505020304" pitchFamily="18" charset="0"/>
              </a:rPr>
              <a:t>- An organization with a project of 2500 Function points was about medium at defect           discovery &amp; removal would have 1650 defects remaining, after all defect 4 discovery activities.</a:t>
            </a:r>
          </a:p>
          <a:p>
            <a:r>
              <a:rPr lang="en-US" b="1" dirty="0">
                <a:latin typeface="Century Schoolbook" panose="02040604050505020304" pitchFamily="18" charset="0"/>
              </a:rPr>
              <a:t>- The calculation is 2500 x 1.2 = 3000 potential defects. Cotton </a:t>
            </a:r>
            <a:r>
              <a:rPr lang="en-US" b="1" dirty="0" err="1">
                <a:latin typeface="Century Schoolbook" panose="02040604050505020304" pitchFamily="18" charset="0"/>
              </a:rPr>
              <a:t>cntest</a:t>
            </a:r>
            <a:r>
              <a:rPr lang="en-US" b="1" dirty="0">
                <a:latin typeface="Century Schoolbook" panose="02040604050505020304" pitchFamily="18" charset="0"/>
              </a:rPr>
              <a:t> </a:t>
            </a:r>
            <a:r>
              <a:rPr lang="en-US" b="1" dirty="0" err="1">
                <a:latin typeface="Century Schoolbook" panose="02040604050505020304" pitchFamily="18" charset="0"/>
              </a:rPr>
              <a:t>Inglikha</a:t>
            </a:r>
            <a:r>
              <a:rPr lang="en-US" b="1" dirty="0">
                <a:latin typeface="Century Schoolbook" panose="02040604050505020304" pitchFamily="18" charset="0"/>
              </a:rPr>
              <a:t> The organization would be able to remove about 45% of</a:t>
            </a:r>
            <a:br>
              <a:rPr lang="en-US" b="1" dirty="0">
                <a:latin typeface="Century Schoolbook" panose="02040604050505020304" pitchFamily="18" charset="0"/>
              </a:rPr>
            </a:br>
            <a:r>
              <a:rPr lang="en-US" b="1" dirty="0">
                <a:latin typeface="Century Schoolbook" panose="02040604050505020304" pitchFamily="18" charset="0"/>
              </a:rPr>
              <a:t>defects i.e. 1350 defects.</a:t>
            </a:r>
          </a:p>
          <a:p>
            <a:r>
              <a:rPr lang="en-US" b="1" dirty="0">
                <a:latin typeface="Century Schoolbook" panose="02040604050505020304" pitchFamily="18" charset="0"/>
              </a:rPr>
              <a:t>- The total potential defects (3000) less the removed defects (1350) equals the remaining defects of 1650, i.e. = 30001350 1650.</a:t>
            </a:r>
            <a:endParaRPr lang="en-IN" b="1" dirty="0">
              <a:latin typeface="Century Schoolbook" panose="02040604050505020304" pitchFamily="18" charset="0"/>
            </a:endParaRPr>
          </a:p>
        </p:txBody>
      </p:sp>
    </p:spTree>
    <p:extLst>
      <p:ext uri="{BB962C8B-B14F-4D97-AF65-F5344CB8AC3E}">
        <p14:creationId xmlns:p14="http://schemas.microsoft.com/office/powerpoint/2010/main" val="2961831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4A060-9839-9954-9400-C35115667674}"/>
              </a:ext>
            </a:extLst>
          </p:cNvPr>
          <p:cNvSpPr>
            <a:spLocks noGrp="1"/>
          </p:cNvSpPr>
          <p:nvPr>
            <p:ph type="title"/>
          </p:nvPr>
        </p:nvSpPr>
        <p:spPr>
          <a:xfrm>
            <a:off x="0" y="0"/>
            <a:ext cx="10131427" cy="776747"/>
          </a:xfrm>
        </p:spPr>
        <p:txBody>
          <a:bodyPr>
            <a:norm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Techniques for finding defects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D30B4E99-A50F-C1C2-0871-0A25432EB3B1}"/>
              </a:ext>
            </a:extLst>
          </p:cNvPr>
          <p:cNvSpPr>
            <a:spLocks noGrp="1"/>
          </p:cNvSpPr>
          <p:nvPr>
            <p:ph type="body" idx="1"/>
          </p:nvPr>
        </p:nvSpPr>
        <p:spPr>
          <a:xfrm>
            <a:off x="0" y="186812"/>
            <a:ext cx="12192000" cy="6081253"/>
          </a:xfrm>
        </p:spPr>
        <p:txBody>
          <a:bodyPr>
            <a:normAutofit/>
          </a:bodyPr>
          <a:lstStyle/>
          <a:p>
            <a:pPr marL="342900" indent="-342900">
              <a:buFont typeface="Wingdings" panose="05000000000000000000" pitchFamily="2" charset="2"/>
              <a:buChar char="Ø"/>
            </a:pPr>
            <a:r>
              <a:rPr lang="en-US" sz="2400" b="1" dirty="0">
                <a:latin typeface="Century Schoolbook" panose="02040604050505020304" pitchFamily="18" charset="0"/>
              </a:rPr>
              <a:t>Defects are found either by preplanned activities specifically intended to uncover defects (e.g. quality control activities such as inspection, testing, </a:t>
            </a:r>
            <a:r>
              <a:rPr lang="en-US" sz="2400" b="1" dirty="0" err="1">
                <a:latin typeface="Century Schoolbook" panose="02040604050505020304" pitchFamily="18" charset="0"/>
              </a:rPr>
              <a:t>etc</a:t>
            </a:r>
            <a:r>
              <a:rPr lang="en-US" sz="2400" b="1" dirty="0">
                <a:latin typeface="Century Schoolbook" panose="02040604050505020304" pitchFamily="18" charset="0"/>
              </a:rPr>
              <a:t>) or by accident (e.g. users in production).</a:t>
            </a:r>
          </a:p>
          <a:p>
            <a:pPr marL="342900" indent="-342900">
              <a:buFont typeface="Wingdings" panose="05000000000000000000" pitchFamily="2" charset="2"/>
              <a:buChar char="Ø"/>
            </a:pPr>
            <a:r>
              <a:rPr lang="en-US" sz="2400" b="1" dirty="0">
                <a:latin typeface="Century Schoolbook" panose="02040604050505020304" pitchFamily="18" charset="0"/>
              </a:rPr>
              <a:t>Techniques to find defects can be divided into three categories:</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1. Static Techniques : - </a:t>
            </a:r>
            <a:r>
              <a:rPr lang="en-US" sz="2400" b="1" dirty="0">
                <a:latin typeface="Century Schoolbook" panose="02040604050505020304" pitchFamily="18" charset="0"/>
              </a:rPr>
              <a:t>Testing that is done without physically executing a program or system. A code review is an example of a static testing technique.</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2. Dynamic Techniques : - </a:t>
            </a:r>
            <a:r>
              <a:rPr lang="en-US" sz="2400" b="1" dirty="0">
                <a:latin typeface="Century Schoolbook" panose="02040604050505020304" pitchFamily="18" charset="0"/>
              </a:rPr>
              <a:t>Testing in which system components are physically executed to identify defects Execution of test cases is an example of a dynamic testing technique.</a:t>
            </a:r>
            <a:br>
              <a:rPr lang="en-US" sz="2400" b="1" dirty="0">
                <a:latin typeface="Century Schoolbook" panose="02040604050505020304" pitchFamily="18" charset="0"/>
              </a:rPr>
            </a:br>
            <a:r>
              <a:rPr lang="en-US" sz="2400" b="1" dirty="0">
                <a:solidFill>
                  <a:srgbClr val="FFFF00"/>
                </a:solidFill>
                <a:latin typeface="Century Schoolbook" panose="02040604050505020304" pitchFamily="18" charset="0"/>
              </a:rPr>
              <a:t>3. Operational Techniques : -</a:t>
            </a:r>
            <a:r>
              <a:rPr lang="en-US" sz="2400" b="1" dirty="0">
                <a:latin typeface="Century Schoolbook" panose="02040604050505020304" pitchFamily="18" charset="0"/>
              </a:rPr>
              <a:t> An operational system produces a deliverable containing a defect found by users, customers, or control personnel i.e. the defect is found as a result of a failure.</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1342022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DC40-D0F7-65E3-5BC8-3286CA5E03A0}"/>
              </a:ext>
            </a:extLst>
          </p:cNvPr>
          <p:cNvSpPr>
            <a:spLocks noGrp="1"/>
          </p:cNvSpPr>
          <p:nvPr>
            <p:ph type="title"/>
          </p:nvPr>
        </p:nvSpPr>
        <p:spPr>
          <a:xfrm>
            <a:off x="86033" y="0"/>
            <a:ext cx="10131427" cy="639096"/>
          </a:xfrm>
        </p:spPr>
        <p:txBody>
          <a:bodyPr>
            <a:noAutofit/>
          </a:bodyPr>
          <a:lstStyle/>
          <a:p>
            <a:pPr marL="571500" indent="-571500">
              <a:buFont typeface="Wingdings" panose="05000000000000000000" pitchFamily="2" charset="2"/>
              <a:buChar char="v"/>
            </a:pPr>
            <a:r>
              <a:rPr lang="en-US" sz="4000" u="sng" dirty="0">
                <a:solidFill>
                  <a:srgbClr val="FFFF00"/>
                </a:solidFill>
                <a:latin typeface="Algerian" panose="04020705040A02060702" pitchFamily="82" charset="0"/>
              </a:rPr>
              <a:t>Reporting the defects</a:t>
            </a:r>
            <a:r>
              <a:rPr lang="en-US" sz="4000" dirty="0">
                <a:solidFill>
                  <a:srgbClr val="FFFF00"/>
                </a:solidFill>
                <a:latin typeface="Algerian" panose="04020705040A02060702" pitchFamily="82" charset="0"/>
              </a:rPr>
              <a:t> : -</a:t>
            </a:r>
            <a:endParaRPr lang="en-IN" sz="40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535E63EC-3B0E-AECB-439C-4203A7F0A550}"/>
              </a:ext>
            </a:extLst>
          </p:cNvPr>
          <p:cNvSpPr>
            <a:spLocks noGrp="1"/>
          </p:cNvSpPr>
          <p:nvPr>
            <p:ph type="body" idx="1"/>
          </p:nvPr>
        </p:nvSpPr>
        <p:spPr>
          <a:xfrm>
            <a:off x="0" y="570271"/>
            <a:ext cx="12192000" cy="6287729"/>
          </a:xfrm>
        </p:spPr>
        <p:txBody>
          <a:bodyPr>
            <a:normAutofit fontScale="92500" lnSpcReduction="20000"/>
          </a:bodyPr>
          <a:lstStyle/>
          <a:p>
            <a:r>
              <a:rPr lang="en-US" sz="2800" b="1" dirty="0">
                <a:solidFill>
                  <a:srgbClr val="FFFF00"/>
                </a:solidFill>
                <a:latin typeface="Century Schoolbook" panose="02040604050505020304" pitchFamily="18" charset="0"/>
              </a:rPr>
              <a:t>1. Be specific : -</a:t>
            </a:r>
          </a:p>
          <a:p>
            <a:pPr marL="342900" indent="-342900">
              <a:buFontTx/>
              <a:buChar char="-"/>
            </a:pPr>
            <a:r>
              <a:rPr lang="en-US" b="1" dirty="0">
                <a:latin typeface="Century Schoolbook" panose="02040604050505020304" pitchFamily="18" charset="0"/>
              </a:rPr>
              <a:t>Specify the exact action : Do not say something like ‘Select Button B’. Do you mean ‘Click Button B’ or ‘Press ALT+B’ or ‘Focus on Button and Enter’? </a:t>
            </a:r>
            <a:r>
              <a:rPr lang="en-US" b="1" dirty="0" err="1">
                <a:latin typeface="Century Schoolbook" panose="02040604050505020304" pitchFamily="18" charset="0"/>
              </a:rPr>
              <a:t>Ofcourse</a:t>
            </a:r>
            <a:r>
              <a:rPr lang="en-US" b="1" dirty="0">
                <a:latin typeface="Century Schoolbook" panose="02040604050505020304" pitchFamily="18" charset="0"/>
              </a:rPr>
              <a:t>, if the defect can be arrived at by using all three ways, its okay to use a genetic term as ‘Select’ but bear in mind that you might just get the fix for the ‘Click Button B’ scenario.</a:t>
            </a:r>
          </a:p>
          <a:p>
            <a:pPr marL="342900" indent="-342900">
              <a:buFontTx/>
              <a:buChar char="-"/>
            </a:pPr>
            <a:r>
              <a:rPr lang="en-US" b="1" dirty="0">
                <a:latin typeface="Century Schoolbook" panose="02040604050505020304" pitchFamily="18" charset="0"/>
              </a:rPr>
              <a:t>In case of multiple paths, mention the exact path you followed do not say something like “If you do ‘A and X’ or ‘B and Y’ or ‘C or Z’, you get D”. You can </a:t>
            </a:r>
            <a:r>
              <a:rPr lang="en-US" b="1" dirty="0" err="1">
                <a:latin typeface="Century Schoolbook" panose="02040604050505020304" pitchFamily="18" charset="0"/>
              </a:rPr>
              <a:t>ofcourse</a:t>
            </a:r>
            <a:r>
              <a:rPr lang="en-US" b="1" dirty="0">
                <a:latin typeface="Century Schoolbook" panose="02040604050505020304" pitchFamily="18" charset="0"/>
              </a:rPr>
              <a:t>, mention else where in the report that D can also be got if you do ‘B and Y’ and ‘C and Z’.</a:t>
            </a:r>
          </a:p>
          <a:p>
            <a:pPr marL="342900" indent="-342900">
              <a:buFontTx/>
              <a:buChar char="-"/>
            </a:pPr>
            <a:r>
              <a:rPr lang="en-US" b="1" u="sng" dirty="0">
                <a:latin typeface="Century Schoolbook" panose="02040604050505020304" pitchFamily="18" charset="0"/>
              </a:rPr>
              <a:t>Do not use vague </a:t>
            </a:r>
            <a:r>
              <a:rPr lang="en-US" b="1" u="sng" dirty="0" err="1">
                <a:latin typeface="Century Schoolbook" panose="02040604050505020304" pitchFamily="18" charset="0"/>
              </a:rPr>
              <a:t>pronouncs</a:t>
            </a:r>
            <a:r>
              <a:rPr lang="en-US" b="1" dirty="0">
                <a:latin typeface="Century Schoolbook" panose="02040604050505020304" pitchFamily="18" charset="0"/>
              </a:rPr>
              <a:t> : Do not say something like “ In Application A, open X,Y &amp; Z and then close it.” What does ‘it’ stand for? ‘Z’ or ‘Y’ or ‘X’ or ‘Application A’?</a:t>
            </a:r>
          </a:p>
          <a:p>
            <a:r>
              <a:rPr lang="en-US" sz="2800" b="1" dirty="0">
                <a:solidFill>
                  <a:srgbClr val="FFFF00"/>
                </a:solidFill>
                <a:latin typeface="Century Schoolbook" panose="02040604050505020304" pitchFamily="18" charset="0"/>
              </a:rPr>
              <a:t>2. Be detailed : - </a:t>
            </a:r>
            <a:r>
              <a:rPr lang="en-US" b="1" dirty="0">
                <a:latin typeface="Century Schoolbook" panose="02040604050505020304" pitchFamily="18" charset="0"/>
              </a:rPr>
              <a:t>Provide more information. In other words, do not be lazy. Developers may or may not use all the information you provide, but they sure do not want to beg you for any information you.</a:t>
            </a:r>
            <a:br>
              <a:rPr lang="en-US" b="1" dirty="0">
                <a:latin typeface="Century Schoolbook" panose="02040604050505020304" pitchFamily="18" charset="0"/>
              </a:rPr>
            </a:br>
            <a:r>
              <a:rPr lang="en-US" b="1" dirty="0">
                <a:latin typeface="Century Schoolbook" panose="02040604050505020304" pitchFamily="18" charset="0"/>
              </a:rPr>
              <a:t>have missed.</a:t>
            </a:r>
            <a:br>
              <a:rPr lang="en-US" b="1" dirty="0">
                <a:latin typeface="Century Schoolbook" panose="02040604050505020304" pitchFamily="18" charset="0"/>
              </a:rPr>
            </a:br>
            <a:r>
              <a:rPr lang="en-US" sz="2800" b="1" dirty="0">
                <a:solidFill>
                  <a:srgbClr val="FFFF00"/>
                </a:solidFill>
                <a:latin typeface="Century Schoolbook" panose="02040604050505020304" pitchFamily="18" charset="0"/>
              </a:rPr>
              <a:t>3. Be objective : -</a:t>
            </a:r>
            <a:br>
              <a:rPr lang="en-US" sz="2800" b="1" dirty="0">
                <a:solidFill>
                  <a:srgbClr val="FFFF00"/>
                </a:solidFill>
                <a:latin typeface="Century Schoolbook" panose="02040604050505020304" pitchFamily="18" charset="0"/>
              </a:rPr>
            </a:br>
            <a:r>
              <a:rPr lang="en-US" b="1" dirty="0" err="1">
                <a:latin typeface="Century Schoolbook" panose="02040604050505020304" pitchFamily="18" charset="0"/>
              </a:rPr>
              <a:t>i</a:t>
            </a:r>
            <a:r>
              <a:rPr lang="en-US" b="1" dirty="0">
                <a:latin typeface="Century Schoolbook" panose="02040604050505020304" pitchFamily="18" charset="0"/>
              </a:rPr>
              <a:t>) Do not make subjective statements Like "This is a application" or " You fixed it real bad"</a:t>
            </a:r>
            <a:br>
              <a:rPr lang="en-US" b="1" dirty="0">
                <a:latin typeface="Century Schoolbook" panose="02040604050505020304" pitchFamily="18" charset="0"/>
              </a:rPr>
            </a:br>
            <a:r>
              <a:rPr lang="en-US" b="1" dirty="0">
                <a:latin typeface="Century Schoolbook" panose="02040604050505020304" pitchFamily="18" charset="0"/>
              </a:rPr>
              <a:t>ii) stick to the facts and avoid the emotions.</a:t>
            </a:r>
            <a:br>
              <a:rPr lang="en-US" b="1" dirty="0">
                <a:latin typeface="Century Schoolbook" panose="02040604050505020304" pitchFamily="18" charset="0"/>
              </a:rPr>
            </a:br>
            <a:r>
              <a:rPr lang="en-US" sz="2600" b="1" dirty="0">
                <a:solidFill>
                  <a:srgbClr val="FFFF00"/>
                </a:solidFill>
                <a:latin typeface="Century Schoolbook" panose="02040604050505020304" pitchFamily="18" charset="0"/>
              </a:rPr>
              <a:t>4. Reproduce the defect : - </a:t>
            </a:r>
            <a:r>
              <a:rPr lang="en-US" b="1" dirty="0">
                <a:latin typeface="Century Schoolbook" panose="02040604050505020304" pitchFamily="18" charset="0"/>
              </a:rPr>
              <a:t>Do not be impatient and file a defect report as soon as you. uncover a defect. Replicate it at least once more to be sure...</a:t>
            </a:r>
            <a:br>
              <a:rPr lang="en-US" b="1" dirty="0">
                <a:latin typeface="Century Schoolbook" panose="02040604050505020304" pitchFamily="18" charset="0"/>
              </a:rPr>
            </a:br>
            <a:r>
              <a:rPr lang="en-US" sz="2800" b="1" dirty="0">
                <a:solidFill>
                  <a:srgbClr val="FFFF00"/>
                </a:solidFill>
                <a:latin typeface="Century Schoolbook" panose="02040604050505020304" pitchFamily="18" charset="0"/>
              </a:rPr>
              <a:t>5. </a:t>
            </a:r>
            <a:r>
              <a:rPr lang="en-US" sz="2800" b="1" dirty="0" err="1">
                <a:solidFill>
                  <a:srgbClr val="FFFF00"/>
                </a:solidFill>
                <a:latin typeface="Century Schoolbook" panose="02040604050505020304" pitchFamily="18" charset="0"/>
              </a:rPr>
              <a:t>Rewiew</a:t>
            </a:r>
            <a:r>
              <a:rPr lang="en-US" sz="2800" b="1" dirty="0">
                <a:solidFill>
                  <a:srgbClr val="FFFF00"/>
                </a:solidFill>
                <a:latin typeface="Century Schoolbook" panose="02040604050505020304" pitchFamily="18" charset="0"/>
              </a:rPr>
              <a:t> the report : - </a:t>
            </a:r>
            <a:r>
              <a:rPr lang="en-US" b="1" dirty="0">
                <a:latin typeface="Century Schoolbook" panose="02040604050505020304" pitchFamily="18" charset="0"/>
              </a:rPr>
              <a:t>Do not hit 'submit' as soon as you write the report. Review it at least once. Remove any typos..</a:t>
            </a:r>
            <a:endParaRPr lang="en-IN" b="1" dirty="0">
              <a:latin typeface="Century Schoolbook" panose="02040604050505020304" pitchFamily="18" charset="0"/>
            </a:endParaRPr>
          </a:p>
        </p:txBody>
      </p:sp>
    </p:spTree>
    <p:extLst>
      <p:ext uri="{BB962C8B-B14F-4D97-AF65-F5344CB8AC3E}">
        <p14:creationId xmlns:p14="http://schemas.microsoft.com/office/powerpoint/2010/main" val="22935398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FE131-94FA-1C6D-CDC9-386C7BA5D2A6}"/>
              </a:ext>
            </a:extLst>
          </p:cNvPr>
          <p:cNvSpPr>
            <a:spLocks noGrp="1"/>
          </p:cNvSpPr>
          <p:nvPr>
            <p:ph type="title"/>
          </p:nvPr>
        </p:nvSpPr>
        <p:spPr>
          <a:xfrm>
            <a:off x="66368" y="68828"/>
            <a:ext cx="12046974" cy="668592"/>
          </a:xfrm>
        </p:spPr>
        <p:txBody>
          <a:bodyPr>
            <a:noAutofit/>
          </a:bodyPr>
          <a:lstStyle/>
          <a:p>
            <a:pPr algn="ctr"/>
            <a:r>
              <a:rPr lang="en-US" sz="5400" dirty="0">
                <a:solidFill>
                  <a:srgbClr val="FFFF00"/>
                </a:solidFill>
                <a:latin typeface="Algerian" panose="04020705040A02060702" pitchFamily="82" charset="0"/>
              </a:rPr>
              <a:t>Defect report</a:t>
            </a:r>
            <a:endParaRPr lang="en-IN" sz="5400" dirty="0">
              <a:solidFill>
                <a:srgbClr val="FFFF00"/>
              </a:solidFill>
              <a:latin typeface="Algerian" panose="04020705040A02060702" pitchFamily="82" charset="0"/>
            </a:endParaRPr>
          </a:p>
        </p:txBody>
      </p:sp>
      <p:sp>
        <p:nvSpPr>
          <p:cNvPr id="3" name="Text Placeholder 2">
            <a:extLst>
              <a:ext uri="{FF2B5EF4-FFF2-40B4-BE49-F238E27FC236}">
                <a16:creationId xmlns:a16="http://schemas.microsoft.com/office/drawing/2014/main" id="{6FF7BFD0-CA87-292B-BDB3-9EEEBC556983}"/>
              </a:ext>
            </a:extLst>
          </p:cNvPr>
          <p:cNvSpPr>
            <a:spLocks noGrp="1"/>
          </p:cNvSpPr>
          <p:nvPr>
            <p:ph type="body" idx="1"/>
          </p:nvPr>
        </p:nvSpPr>
        <p:spPr/>
        <p:txBody>
          <a:bodyPr/>
          <a:lstStyle/>
          <a:p>
            <a:endParaRPr lang="en-IN"/>
          </a:p>
        </p:txBody>
      </p:sp>
      <p:sp>
        <p:nvSpPr>
          <p:cNvPr id="4" name="Rectangle 3">
            <a:extLst>
              <a:ext uri="{FF2B5EF4-FFF2-40B4-BE49-F238E27FC236}">
                <a16:creationId xmlns:a16="http://schemas.microsoft.com/office/drawing/2014/main" id="{597A0126-34DF-C781-C3F0-13A19FBD5F26}"/>
              </a:ext>
            </a:extLst>
          </p:cNvPr>
          <p:cNvSpPr/>
          <p:nvPr/>
        </p:nvSpPr>
        <p:spPr>
          <a:xfrm>
            <a:off x="357648" y="766917"/>
            <a:ext cx="11464413" cy="588952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457200" indent="-457200">
              <a:buFont typeface="Wingdings" panose="05000000000000000000" pitchFamily="2" charset="2"/>
              <a:buChar char="§"/>
            </a:pPr>
            <a:r>
              <a:rPr lang="en-US" sz="2400" b="1" dirty="0">
                <a:latin typeface="Century Schoolbook" panose="02040604050505020304" pitchFamily="18" charset="0"/>
              </a:rPr>
              <a:t>Defect ID: 1234</a:t>
            </a:r>
          </a:p>
          <a:p>
            <a:pPr marL="457200" indent="-457200">
              <a:buFont typeface="Wingdings" panose="05000000000000000000" pitchFamily="2" charset="2"/>
              <a:buChar char="§"/>
            </a:pPr>
            <a:r>
              <a:rPr lang="en-US" sz="2400" b="1" dirty="0">
                <a:latin typeface="Century Schoolbook" panose="02040604050505020304" pitchFamily="18" charset="0"/>
              </a:rPr>
              <a:t>Description: Login Button not responding Action steps: 1. Open the login page.... </a:t>
            </a:r>
          </a:p>
          <a:p>
            <a:pPr marL="457200" indent="-457200">
              <a:buFont typeface="Wingdings" panose="05000000000000000000" pitchFamily="2" charset="2"/>
              <a:buChar char="§"/>
            </a:pPr>
            <a:r>
              <a:rPr lang="en-US" sz="2400" b="1" dirty="0">
                <a:latin typeface="Century Schoolbook" panose="02040604050505020304" pitchFamily="18" charset="0"/>
              </a:rPr>
              <a:t>Expected Result: Button redirects to dashboard Actual Result: Button does noting</a:t>
            </a:r>
          </a:p>
          <a:p>
            <a:pPr marL="457200" indent="-457200">
              <a:buFont typeface="Wingdings" panose="05000000000000000000" pitchFamily="2" charset="2"/>
              <a:buChar char="§"/>
            </a:pPr>
            <a:r>
              <a:rPr lang="en-US" sz="2400" b="1" dirty="0">
                <a:latin typeface="Century Schoolbook" panose="02040604050505020304" pitchFamily="18" charset="0"/>
              </a:rPr>
              <a:t>Severity: Major</a:t>
            </a:r>
          </a:p>
          <a:p>
            <a:pPr marL="457200" indent="-457200">
              <a:buFont typeface="Wingdings" panose="05000000000000000000" pitchFamily="2" charset="2"/>
              <a:buChar char="§"/>
            </a:pPr>
            <a:r>
              <a:rPr lang="en-US" sz="2400" b="1" dirty="0">
                <a:latin typeface="Century Schoolbook" panose="02040604050505020304" pitchFamily="18" charset="0"/>
              </a:rPr>
              <a:t>Priority: High</a:t>
            </a:r>
          </a:p>
          <a:p>
            <a:pPr marL="457200" indent="-457200">
              <a:buFont typeface="Wingdings" panose="05000000000000000000" pitchFamily="2" charset="2"/>
              <a:buChar char="§"/>
            </a:pPr>
            <a:r>
              <a:rPr lang="en-US" sz="2400" b="1" dirty="0">
                <a:latin typeface="Century Schoolbook" panose="02040604050505020304" pitchFamily="18" charset="0"/>
              </a:rPr>
              <a:t>Assigned to: Developer 1.</a:t>
            </a:r>
          </a:p>
          <a:p>
            <a:pPr marL="457200" indent="-457200">
              <a:buFont typeface="Wingdings" panose="05000000000000000000" pitchFamily="2" charset="2"/>
              <a:buChar char="§"/>
            </a:pPr>
            <a:r>
              <a:rPr lang="en-US" sz="2400" b="1" dirty="0">
                <a:latin typeface="Century Schoolbook" panose="02040604050505020304" pitchFamily="18" charset="0"/>
              </a:rPr>
              <a:t>Reported by: Tester 1 status: New</a:t>
            </a:r>
          </a:p>
          <a:p>
            <a:pPr marL="457200" indent="-457200">
              <a:buFont typeface="Wingdings" panose="05000000000000000000" pitchFamily="2" charset="2"/>
              <a:buChar char="§"/>
            </a:pPr>
            <a:r>
              <a:rPr lang="en-US" sz="2400" b="1" dirty="0">
                <a:latin typeface="Century Schoolbook" panose="02040604050505020304" pitchFamily="18" charset="0"/>
              </a:rPr>
              <a:t>Dale Logged: 2024-10-21</a:t>
            </a:r>
          </a:p>
          <a:p>
            <a:pPr marL="457200" indent="-457200">
              <a:buFont typeface="Wingdings" panose="05000000000000000000" pitchFamily="2" charset="2"/>
              <a:buChar char="§"/>
            </a:pPr>
            <a:r>
              <a:rPr lang="en-US" sz="2400" b="1" dirty="0">
                <a:latin typeface="Century Schoolbook" panose="02040604050505020304" pitchFamily="18" charset="0"/>
              </a:rPr>
              <a:t>Due Date: 2024-10-24</a:t>
            </a:r>
          </a:p>
          <a:p>
            <a:pPr marL="457200" indent="-457200">
              <a:buFont typeface="Wingdings" panose="05000000000000000000" pitchFamily="2" charset="2"/>
              <a:buChar char="§"/>
            </a:pPr>
            <a:r>
              <a:rPr lang="en-US" sz="2400" b="1" dirty="0">
                <a:latin typeface="Century Schoolbook" panose="02040604050505020304" pitchFamily="18" charset="0"/>
              </a:rPr>
              <a:t>Environment: Windows 10, Chrome 85</a:t>
            </a:r>
          </a:p>
          <a:p>
            <a:pPr marL="457200" indent="-457200">
              <a:buFont typeface="Wingdings" panose="05000000000000000000" pitchFamily="2" charset="2"/>
              <a:buChar char="§"/>
            </a:pPr>
            <a:r>
              <a:rPr lang="en-US" sz="2400" b="1" dirty="0">
                <a:latin typeface="Century Schoolbook" panose="02040604050505020304" pitchFamily="18" charset="0"/>
              </a:rPr>
              <a:t>Attachments: Screenshots attached</a:t>
            </a:r>
          </a:p>
          <a:p>
            <a:pPr marL="457200" indent="-457200">
              <a:buFont typeface="Wingdings" panose="05000000000000000000" pitchFamily="2" charset="2"/>
              <a:buChar char="§"/>
            </a:pPr>
            <a:r>
              <a:rPr lang="en-US" sz="2400" b="1" dirty="0">
                <a:latin typeface="Century Schoolbook" panose="02040604050505020304" pitchFamily="18" charset="0"/>
              </a:rPr>
              <a:t>Additional Information: Awaiting more information from tester.</a:t>
            </a:r>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01388444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3F296A"/>
      </a:dk2>
      <a:lt2>
        <a:srgbClr val="EBEBEB"/>
      </a:lt2>
      <a:accent1>
        <a:srgbClr val="E84574"/>
      </a:accent1>
      <a:accent2>
        <a:srgbClr val="798FF2"/>
      </a:accent2>
      <a:accent3>
        <a:srgbClr val="95C369"/>
      </a:accent3>
      <a:accent4>
        <a:srgbClr val="EE875A"/>
      </a:accent4>
      <a:accent5>
        <a:srgbClr val="C363E8"/>
      </a:accent5>
      <a:accent6>
        <a:srgbClr val="6AADC8"/>
      </a:accent6>
      <a:hlink>
        <a:srgbClr val="FE80C7"/>
      </a:hlink>
      <a:folHlink>
        <a:srgbClr val="FBA3EC"/>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61DDDE80-2DFA-4F2A-B66F-72059846BDA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Celestial</Template>
  <TotalTime>1503</TotalTime>
  <Words>2491</Words>
  <Application>Microsoft Office PowerPoint</Application>
  <PresentationFormat>Widescreen</PresentationFormat>
  <Paragraphs>65</Paragraphs>
  <Slides>14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Algerian</vt:lpstr>
      <vt:lpstr>Arial</vt:lpstr>
      <vt:lpstr>Calibri</vt:lpstr>
      <vt:lpstr>Calibri Light</vt:lpstr>
      <vt:lpstr>Century Schoolbook</vt:lpstr>
      <vt:lpstr>Wingdings</vt:lpstr>
      <vt:lpstr>Celestial</vt:lpstr>
      <vt:lpstr>05. Defect management</vt:lpstr>
      <vt:lpstr>Introduction : -</vt:lpstr>
      <vt:lpstr> Defect classification : -</vt:lpstr>
      <vt:lpstr>Defect management process : -</vt:lpstr>
      <vt:lpstr>1. Defect Identification : - Defects are identified through various testing activities, such as unit testing, integration testing, and user acceptance testing. 2. Defect logging : - Defects are logged in a defect hacking system, along with details such as description, severity and priority. 3. Defect triage : - The triage process involves evaluating the defects to determine their priority and the resources required to resolve them... 4. Defect assignment : - Defects are assigned to developers or testers for resolution, based on their expertise &amp; availability. 5. Defect resolution : - The assigned personal work on resolving the defects by Fixing the code, updating the documentation or perform other necessary actions... 6. Defect Verification : - Once the defect is resolved, it is verified by the tester to ensure that it has been fixed correctly and does not introduce any new defects. 7. Defect closure : - Once the defect has been verified, it is closed and the status is updated in the defect tracking system. 8. Defect Reporting : - Regulate reports on the status of defects, including the no. of open defects, the no. of defects resolved, and the average time to resolve defects, are generated to provide visibility into the Defect Management Process.</vt:lpstr>
      <vt:lpstr>Defect life cycle : -</vt:lpstr>
      <vt:lpstr>1. New : - when any new defect is Identified by the tester, it falls. in the 'new' state. The testere provides a proper Defect document to the development team so that they can fix the defect accordingly. 2. Assigned : - Defects in the New state are approved and is assigned to the developer team, the status of bug changes to 'Assigned“ state. 3. Open :- In this state the defect is being addressed by the developer team and the team works on the defect for fixing the bug. Based on some specific reason, if the developer team feels that the defect is not appropriate then it is transferred to either the 'Rejected' or 'Deferred' state. 4. Fixed : - After necessary changes of codes or after fixing identified bug developey team marks the state as 'fixed'.</vt:lpstr>
      <vt:lpstr>PowerPoint Presentation</vt:lpstr>
      <vt:lpstr>Defect template : -</vt:lpstr>
      <vt:lpstr>Defect ID: A unique serial number of defects in report : Description: Detailed and clear description of the defect.  Action Steps: What the QA did in an application that results in the defect, step by step actions. Expected Result: What results are expected as per the requirements when performing the action steps mentioned.  Actual Result: what results are adually showing up when performing the action steps. Severity: The impact of the defect on the system: Critical, Major, Medium, Lower. Priority: How urgently the defect needs to be addressed: Urgent, High, Medium, Low.  Assigned to: The name of the developer or team who is responsible for fixing the defect. Reported by: The name of the tester who discovered the defect.  status: The current state of the defect Dale logged: The dale on which the defect was reported.  Due date: The date Hill which the defect should be fixed.  Environment-The environment in which the defect was Found ( eg. browser version, os, test environment )  Atachments-Any relevant Files like screen shots, logs or videos that provide further context for the defect.  Additional Information - Additional notes or discussions related to the defect. </vt:lpstr>
      <vt:lpstr>Estimate expected impact of a defect : -</vt:lpstr>
      <vt:lpstr>Techniques for finding defects : -</vt:lpstr>
      <vt:lpstr>Reporting the defects : -</vt:lpstr>
      <vt:lpstr>Defect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2025-09-25T12:40:44Z</dcterms:created>
  <dcterms:modified xsi:type="dcterms:W3CDTF">2025-11-03T06:21:06Z</dcterms:modified>
</cp:coreProperties>
</file>