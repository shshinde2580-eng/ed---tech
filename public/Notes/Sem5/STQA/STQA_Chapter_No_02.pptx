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774EB3-BB5A-46C3-85CF-317C72644ABE}"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A233B-79EC-4C56-A172-454F2B00F0DF}" type="slidenum">
              <a:rPr lang="en-IN" smtClean="0"/>
              <a:t>‹#›</a:t>
            </a:fld>
            <a:endParaRPr lang="en-IN"/>
          </a:p>
        </p:txBody>
      </p:sp>
    </p:spTree>
    <p:extLst>
      <p:ext uri="{BB962C8B-B14F-4D97-AF65-F5344CB8AC3E}">
        <p14:creationId xmlns:p14="http://schemas.microsoft.com/office/powerpoint/2010/main" val="275491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anose="05000000000000000000" pitchFamily="2" charset="2"/>
              <a:buNone/>
            </a:pPr>
            <a:endParaRPr lang="en-IN" dirty="0"/>
          </a:p>
        </p:txBody>
      </p:sp>
      <p:sp>
        <p:nvSpPr>
          <p:cNvPr id="4" name="Slide Number Placeholder 3"/>
          <p:cNvSpPr>
            <a:spLocks noGrp="1"/>
          </p:cNvSpPr>
          <p:nvPr>
            <p:ph type="sldNum" sz="quarter" idx="5"/>
          </p:nvPr>
        </p:nvSpPr>
        <p:spPr/>
        <p:txBody>
          <a:bodyPr/>
          <a:lstStyle/>
          <a:p>
            <a:fld id="{8F9A233B-79EC-4C56-A172-454F2B00F0DF}" type="slidenum">
              <a:rPr lang="en-IN" smtClean="0"/>
              <a:t>19</a:t>
            </a:fld>
            <a:endParaRPr lang="en-IN"/>
          </a:p>
        </p:txBody>
      </p:sp>
    </p:spTree>
    <p:extLst>
      <p:ext uri="{BB962C8B-B14F-4D97-AF65-F5344CB8AC3E}">
        <p14:creationId xmlns:p14="http://schemas.microsoft.com/office/powerpoint/2010/main" val="49904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E701F-06F6-53F2-D53A-E09D9547F697}"/>
              </a:ext>
            </a:extLst>
          </p:cNvPr>
          <p:cNvSpPr>
            <a:spLocks noGrp="1"/>
          </p:cNvSpPr>
          <p:nvPr>
            <p:ph type="ctrTitle"/>
          </p:nvPr>
        </p:nvSpPr>
        <p:spPr>
          <a:xfrm>
            <a:off x="216309" y="1409020"/>
            <a:ext cx="11759381" cy="2421464"/>
          </a:xfrm>
        </p:spPr>
        <p:txBody>
          <a:bodyPr>
            <a:normAutofit/>
          </a:bodyPr>
          <a:lstStyle/>
          <a:p>
            <a:pPr algn="ctr"/>
            <a:r>
              <a:rPr lang="en-US" sz="7200" dirty="0">
                <a:solidFill>
                  <a:srgbClr val="FFFF00"/>
                </a:solidFill>
                <a:latin typeface="Algerian" panose="04020705040A02060702" pitchFamily="82" charset="0"/>
              </a:rPr>
              <a:t>02. Types of testing</a:t>
            </a:r>
            <a:endParaRPr lang="en-IN" sz="72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2975D245-FEEB-41BD-D3EA-8552682B344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457984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58A5-6FB5-D621-4736-546D56D0912E}"/>
              </a:ext>
            </a:extLst>
          </p:cNvPr>
          <p:cNvSpPr>
            <a:spLocks noGrp="1"/>
          </p:cNvSpPr>
          <p:nvPr>
            <p:ph type="title"/>
          </p:nvPr>
        </p:nvSpPr>
        <p:spPr>
          <a:xfrm>
            <a:off x="164692" y="117989"/>
            <a:ext cx="10131427" cy="855406"/>
          </a:xfrm>
        </p:spPr>
        <p:txBody>
          <a:bodyPr/>
          <a:lstStyle/>
          <a:p>
            <a:pPr marL="457200" indent="-457200">
              <a:buFont typeface="Wingdings" panose="05000000000000000000" pitchFamily="2" charset="2"/>
              <a:buChar char="v"/>
            </a:pPr>
            <a:r>
              <a:rPr lang="en-US" sz="4400" u="sng" dirty="0">
                <a:solidFill>
                  <a:srgbClr val="FFFF00"/>
                </a:solidFill>
                <a:latin typeface="Algerian" panose="04020705040A02060702" pitchFamily="82" charset="0"/>
              </a:rPr>
              <a:t> White box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AEECE3C-ED9E-7F1A-6709-8DEE8BB8467B}"/>
              </a:ext>
            </a:extLst>
          </p:cNvPr>
          <p:cNvSpPr>
            <a:spLocks noGrp="1"/>
          </p:cNvSpPr>
          <p:nvPr>
            <p:ph type="body" idx="1"/>
          </p:nvPr>
        </p:nvSpPr>
        <p:spPr>
          <a:xfrm>
            <a:off x="77429" y="850630"/>
            <a:ext cx="12037142" cy="4645739"/>
          </a:xfrm>
        </p:spPr>
        <p:txBody>
          <a:bodyPr>
            <a:normAutofit lnSpcReduction="10000"/>
          </a:bodyPr>
          <a:lstStyle/>
          <a:p>
            <a:pPr marL="457200" indent="-457200">
              <a:buAutoNum type="arabicPeriod"/>
            </a:pPr>
            <a:r>
              <a:rPr lang="en-US" sz="2400" b="1" dirty="0">
                <a:latin typeface="Century Schoolbook" panose="02040604050505020304" pitchFamily="18" charset="0"/>
              </a:rPr>
              <a:t>White box testing is a software                                                                         testing technique that involves testing                                                                 the internal structure &amp; working of a                                                                   software application.</a:t>
            </a:r>
          </a:p>
          <a:p>
            <a:r>
              <a:rPr lang="en-US" sz="2400" b="1" dirty="0">
                <a:latin typeface="Century Schoolbook" panose="02040604050505020304" pitchFamily="18" charset="0"/>
              </a:rPr>
              <a:t>2.In white box testing the internal                                                                                structure, design &amp; coding of software                                                                                  are tested to verify flow of input – output.</a:t>
            </a:r>
          </a:p>
          <a:p>
            <a:r>
              <a:rPr lang="en-US" sz="2400" b="1" dirty="0">
                <a:latin typeface="Century Schoolbook" panose="02040604050505020304" pitchFamily="18" charset="0"/>
              </a:rPr>
              <a:t>3.It is mainly performed by the developers or white box testers who has knowledge on the programming.</a:t>
            </a:r>
          </a:p>
          <a:p>
            <a:r>
              <a:rPr lang="en-US" sz="2400" b="1" dirty="0">
                <a:latin typeface="Century Schoolbook" panose="02040604050505020304" pitchFamily="18" charset="0"/>
              </a:rPr>
              <a:t>4.In white box testing, code is visible to testers, so it is also called as clear box testing, open box testing, </a:t>
            </a:r>
            <a:r>
              <a:rPr lang="en-US" sz="2400" b="1" dirty="0" err="1">
                <a:latin typeface="Century Schoolbook" panose="02040604050505020304" pitchFamily="18" charset="0"/>
              </a:rPr>
              <a:t>transperant</a:t>
            </a:r>
            <a:r>
              <a:rPr lang="en-US" sz="2400" b="1" dirty="0">
                <a:latin typeface="Century Schoolbook" panose="02040604050505020304" pitchFamily="18" charset="0"/>
              </a:rPr>
              <a:t> box testing, code-based </a:t>
            </a:r>
            <a:r>
              <a:rPr lang="en-US" sz="2400" b="1" dirty="0" err="1">
                <a:latin typeface="Century Schoolbook" panose="02040604050505020304" pitchFamily="18" charset="0"/>
              </a:rPr>
              <a:t>tesing</a:t>
            </a:r>
            <a:r>
              <a:rPr lang="en-US" sz="2400" b="1" dirty="0">
                <a:latin typeface="Century Schoolbook" panose="02040604050505020304" pitchFamily="18" charset="0"/>
              </a:rPr>
              <a:t>, glass box testing or structural testing.</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CD94730E-D6A3-9FE9-043B-9E4839284DA7}"/>
              </a:ext>
            </a:extLst>
          </p:cNvPr>
          <p:cNvPicPr>
            <a:picLocks noChangeAspect="1"/>
          </p:cNvPicPr>
          <p:nvPr/>
        </p:nvPicPr>
        <p:blipFill>
          <a:blip r:embed="rId2"/>
          <a:stretch>
            <a:fillRect/>
          </a:stretch>
        </p:blipFill>
        <p:spPr>
          <a:xfrm>
            <a:off x="6859937" y="385316"/>
            <a:ext cx="5167371" cy="3043684"/>
          </a:xfrm>
          <a:prstGeom prst="rect">
            <a:avLst/>
          </a:prstGeom>
        </p:spPr>
      </p:pic>
    </p:spTree>
    <p:extLst>
      <p:ext uri="{BB962C8B-B14F-4D97-AF65-F5344CB8AC3E}">
        <p14:creationId xmlns:p14="http://schemas.microsoft.com/office/powerpoint/2010/main" val="585863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C69B-589B-67C6-D35A-261F54DD7AF9}"/>
              </a:ext>
            </a:extLst>
          </p:cNvPr>
          <p:cNvSpPr>
            <a:spLocks noGrp="1"/>
          </p:cNvSpPr>
          <p:nvPr>
            <p:ph type="title"/>
          </p:nvPr>
        </p:nvSpPr>
        <p:spPr>
          <a:xfrm>
            <a:off x="163287" y="167475"/>
            <a:ext cx="10131427" cy="1008183"/>
          </a:xfrm>
        </p:spPr>
        <p:txBody>
          <a:bodyPr>
            <a:normAutofit/>
          </a:bodyPr>
          <a:lstStyle/>
          <a:p>
            <a:pPr marL="457200" indent="-457200">
              <a:buFont typeface="Wingdings" panose="05000000000000000000" pitchFamily="2" charset="2"/>
              <a:buChar char="v"/>
            </a:pPr>
            <a:r>
              <a:rPr lang="en-US" sz="4000" u="sng" dirty="0">
                <a:solidFill>
                  <a:srgbClr val="FFFF00"/>
                </a:solidFill>
                <a:latin typeface="Algerian" panose="04020705040A02060702" pitchFamily="82" charset="0"/>
              </a:rPr>
              <a:t>Features of white box testing </a:t>
            </a:r>
            <a:r>
              <a:rPr lang="en-US" sz="4000" dirty="0">
                <a:solidFill>
                  <a:srgbClr val="FFFF00"/>
                </a:solidFill>
                <a:latin typeface="Algerian" panose="04020705040A02060702" pitchFamily="82" charset="0"/>
              </a:rPr>
              <a:t>: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E5B16E2-D2D2-F7C4-AB77-7A948EB68A01}"/>
              </a:ext>
            </a:extLst>
          </p:cNvPr>
          <p:cNvSpPr>
            <a:spLocks noGrp="1"/>
          </p:cNvSpPr>
          <p:nvPr>
            <p:ph type="body" idx="1"/>
          </p:nvPr>
        </p:nvSpPr>
        <p:spPr>
          <a:xfrm>
            <a:off x="163287" y="1446962"/>
            <a:ext cx="12017829" cy="5586883"/>
          </a:xfrm>
        </p:spPr>
        <p:txBody>
          <a:bodyPr/>
          <a:lstStyle/>
          <a:p>
            <a:pPr marL="342900" indent="-342900">
              <a:buFont typeface="Wingdings" panose="05000000000000000000" pitchFamily="2" charset="2"/>
              <a:buChar char="Ø"/>
            </a:pPr>
            <a:r>
              <a:rPr lang="en-US" sz="2800" b="1" dirty="0">
                <a:latin typeface="Century Schoolbook" panose="02040604050505020304" pitchFamily="18" charset="0"/>
              </a:rPr>
              <a:t>Find bugs early, even which are hard to find with black box techniques.</a:t>
            </a:r>
          </a:p>
          <a:p>
            <a:pPr marL="342900" indent="-342900">
              <a:buFont typeface="Wingdings" panose="05000000000000000000" pitchFamily="2" charset="2"/>
              <a:buChar char="Ø"/>
            </a:pPr>
            <a:r>
              <a:rPr lang="en-US" sz="2800" b="1" dirty="0">
                <a:latin typeface="Century Schoolbook" panose="02040604050505020304" pitchFamily="18" charset="0"/>
              </a:rPr>
              <a:t>Provides good ideas to the black box testers.</a:t>
            </a:r>
          </a:p>
          <a:p>
            <a:pPr marL="342900" indent="-342900">
              <a:buFont typeface="Wingdings" panose="05000000000000000000" pitchFamily="2" charset="2"/>
              <a:buChar char="Ø"/>
            </a:pPr>
            <a:r>
              <a:rPr lang="en-US" sz="2800" b="1" dirty="0">
                <a:latin typeface="Century Schoolbook" panose="02040604050505020304" pitchFamily="18" charset="0"/>
              </a:rPr>
              <a:t>Identifies the areas of the code that are not being tested.</a:t>
            </a:r>
          </a:p>
          <a:p>
            <a:pPr marL="342900" indent="-342900">
              <a:buFont typeface="Wingdings" panose="05000000000000000000" pitchFamily="2" charset="2"/>
              <a:buChar char="Ø"/>
            </a:pPr>
            <a:r>
              <a:rPr lang="en-US" sz="2800" b="1" dirty="0">
                <a:latin typeface="Century Schoolbook" panose="02040604050505020304" pitchFamily="18" charset="0"/>
              </a:rPr>
              <a:t>Identifies logical errors in the code such as infinite loops or incorrect conditional statements.</a:t>
            </a:r>
          </a:p>
          <a:p>
            <a:pPr marL="342900" indent="-342900">
              <a:buFont typeface="Wingdings" panose="05000000000000000000" pitchFamily="2" charset="2"/>
              <a:buChar char="Ø"/>
            </a:pPr>
            <a:r>
              <a:rPr lang="en-US" sz="2800" b="1" dirty="0">
                <a:latin typeface="Century Schoolbook" panose="02040604050505020304" pitchFamily="18" charset="0"/>
              </a:rPr>
              <a:t>Optimized code by finding performance issues, redundance code, </a:t>
            </a:r>
            <a:r>
              <a:rPr lang="en-US" sz="2800" b="1" dirty="0" err="1">
                <a:latin typeface="Century Schoolbook" panose="02040604050505020304" pitchFamily="18" charset="0"/>
              </a:rPr>
              <a:t>etc</a:t>
            </a:r>
            <a:r>
              <a:rPr lang="en-US" sz="2800" b="1" dirty="0">
                <a:latin typeface="Century Schoolbook" panose="02040604050505020304" pitchFamily="18" charset="0"/>
              </a:rPr>
              <a:t>…</a:t>
            </a:r>
          </a:p>
          <a:p>
            <a:pPr marL="342900" indent="-342900">
              <a:buFont typeface="Wingdings" panose="05000000000000000000" pitchFamily="2" charset="2"/>
              <a:buChar char="Ø"/>
            </a:pPr>
            <a:r>
              <a:rPr lang="en-US" sz="2800" b="1" dirty="0">
                <a:latin typeface="Century Schoolbook" panose="02040604050505020304" pitchFamily="18" charset="0"/>
              </a:rPr>
              <a:t>It finds &amp; removes any code that isn’t used when the program is running normally ( dead code ).</a:t>
            </a:r>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endParaRPr lang="en-US" sz="2800" dirty="0"/>
          </a:p>
          <a:p>
            <a:pPr marL="342900" indent="-342900">
              <a:buFont typeface="Wingdings" panose="05000000000000000000" pitchFamily="2" charset="2"/>
              <a:buChar char="Ø"/>
            </a:pPr>
            <a:endParaRPr lang="en-IN" dirty="0"/>
          </a:p>
        </p:txBody>
      </p:sp>
    </p:spTree>
    <p:extLst>
      <p:ext uri="{BB962C8B-B14F-4D97-AF65-F5344CB8AC3E}">
        <p14:creationId xmlns:p14="http://schemas.microsoft.com/office/powerpoint/2010/main" val="3834352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6A4D9-3635-E325-F87A-B158B152C9AC}"/>
              </a:ext>
            </a:extLst>
          </p:cNvPr>
          <p:cNvSpPr>
            <a:spLocks noGrp="1"/>
          </p:cNvSpPr>
          <p:nvPr>
            <p:ph type="title"/>
          </p:nvPr>
        </p:nvSpPr>
        <p:spPr>
          <a:xfrm>
            <a:off x="110533" y="90435"/>
            <a:ext cx="9897626" cy="976366"/>
          </a:xfrm>
        </p:spPr>
        <p:txBody>
          <a:bodyPr>
            <a:normAutofit/>
          </a:bodyPr>
          <a:lstStyle/>
          <a:p>
            <a:pPr marL="457200" indent="-457200">
              <a:buFont typeface="Wingdings" panose="05000000000000000000" pitchFamily="2" charset="2"/>
              <a:buChar char="v"/>
            </a:pPr>
            <a:r>
              <a:rPr lang="en-US" sz="3600" u="sng" dirty="0">
                <a:solidFill>
                  <a:srgbClr val="FFFF00"/>
                </a:solidFill>
                <a:latin typeface="Algerian" panose="04020705040A02060702" pitchFamily="82" charset="0"/>
              </a:rPr>
              <a:t>Static testing </a:t>
            </a:r>
            <a:r>
              <a:rPr lang="en-US" sz="3600" dirty="0">
                <a:solidFill>
                  <a:srgbClr val="FFFF00"/>
                </a:solidFill>
                <a:latin typeface="Algerian" panose="04020705040A02060702" pitchFamily="82" charset="0"/>
              </a:rPr>
              <a:t>: -</a:t>
            </a:r>
            <a:endParaRPr lang="en-IN" sz="36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C506EEB-5958-4EC4-513B-7DC48621FEA4}"/>
              </a:ext>
            </a:extLst>
          </p:cNvPr>
          <p:cNvSpPr>
            <a:spLocks noGrp="1"/>
          </p:cNvSpPr>
          <p:nvPr>
            <p:ph type="body" idx="1"/>
          </p:nvPr>
        </p:nvSpPr>
        <p:spPr>
          <a:xfrm>
            <a:off x="-1" y="787552"/>
            <a:ext cx="12081467" cy="6070448"/>
          </a:xfrm>
        </p:spPr>
        <p:txBody>
          <a:bodyPr>
            <a:normAutofit fontScale="32500" lnSpcReduction="20000"/>
          </a:bodyPr>
          <a:lstStyle/>
          <a:p>
            <a:pPr marL="342900" indent="-342900">
              <a:buFont typeface="Wingdings" panose="05000000000000000000" pitchFamily="2" charset="2"/>
              <a:buChar char="Ø"/>
            </a:pPr>
            <a:r>
              <a:rPr lang="en-US" sz="7400" b="1" dirty="0">
                <a:latin typeface="Century Schoolbook" panose="02040604050505020304" pitchFamily="18" charset="0"/>
              </a:rPr>
              <a:t>Static testing is performed to                                                                     check the defect in software                                                                   without actually executing the                                                                       code of the software application.</a:t>
            </a:r>
          </a:p>
          <a:p>
            <a:pPr marL="342900" indent="-342900">
              <a:buFont typeface="Wingdings" panose="05000000000000000000" pitchFamily="2" charset="2"/>
              <a:buChar char="Ø"/>
            </a:pPr>
            <a:r>
              <a:rPr lang="en-US" sz="7400" b="1" dirty="0">
                <a:latin typeface="Century Schoolbook" panose="02040604050505020304" pitchFamily="18" charset="0"/>
              </a:rPr>
              <a:t>Static testing is done to avoid                                                                        errors at an early stage of                                                                                                    development as it is easier to                                                                                          identify &amp; solve the errors.</a:t>
            </a:r>
          </a:p>
          <a:p>
            <a:pPr marL="342900" indent="-342900">
              <a:buFont typeface="Wingdings" panose="05000000000000000000" pitchFamily="2" charset="2"/>
              <a:buChar char="Ø"/>
            </a:pPr>
            <a:r>
              <a:rPr lang="en-US" sz="7400" b="1" dirty="0">
                <a:latin typeface="Century Schoolbook" panose="02040604050505020304" pitchFamily="18" charset="0"/>
              </a:rPr>
              <a:t>It also helps finding errors that                                                                          may not found by dynamic testing.</a:t>
            </a:r>
          </a:p>
          <a:p>
            <a:pPr marL="342900" indent="-342900">
              <a:buFont typeface="Wingdings" panose="05000000000000000000" pitchFamily="2" charset="2"/>
              <a:buChar char="Ø"/>
            </a:pPr>
            <a:r>
              <a:rPr lang="en-US" sz="7400" b="1" dirty="0">
                <a:latin typeface="Century Schoolbook" panose="02040604050505020304" pitchFamily="18" charset="0"/>
              </a:rPr>
              <a:t>Static testing is also known as non-execution testing or verification testing.</a:t>
            </a:r>
          </a:p>
          <a:p>
            <a:pPr marL="342900" indent="-342900">
              <a:buFont typeface="Wingdings" panose="05000000000000000000" pitchFamily="2" charset="2"/>
              <a:buChar char="Ø"/>
            </a:pPr>
            <a:r>
              <a:rPr lang="en-US" sz="7400" b="1" dirty="0">
                <a:latin typeface="Century Schoolbook" panose="02040604050505020304" pitchFamily="18" charset="0"/>
              </a:rPr>
              <a:t>In static testing includes : -</a:t>
            </a:r>
          </a:p>
          <a:p>
            <a:pPr marL="342900" indent="-342900">
              <a:buFont typeface="Arial" panose="020B0604020202020204" pitchFamily="34" charset="0"/>
              <a:buChar char="•"/>
            </a:pPr>
            <a:r>
              <a:rPr lang="en-US" sz="7400" b="1" dirty="0">
                <a:latin typeface="Century Schoolbook" panose="02040604050505020304" pitchFamily="18" charset="0"/>
              </a:rPr>
              <a:t>REVIEW :</a:t>
            </a:r>
          </a:p>
          <a:p>
            <a:pPr marL="342900" indent="-342900">
              <a:buFont typeface="Arial" panose="020B0604020202020204" pitchFamily="34" charset="0"/>
              <a:buChar char="•"/>
            </a:pPr>
            <a:r>
              <a:rPr lang="en-US" sz="7400" b="1" dirty="0">
                <a:latin typeface="Century Schoolbook" panose="02040604050505020304" pitchFamily="18" charset="0"/>
              </a:rPr>
              <a:t>STATIC ANALYSIS :</a:t>
            </a:r>
          </a:p>
          <a:p>
            <a:pPr marL="342900" indent="-342900">
              <a:buFont typeface="Wingdings" panose="05000000000000000000" pitchFamily="2" charset="2"/>
              <a:buChar char="Ø"/>
            </a:pPr>
            <a:endParaRPr lang="en-IN" sz="29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A88A1048-C610-C887-94BC-834552C1D295}"/>
              </a:ext>
            </a:extLst>
          </p:cNvPr>
          <p:cNvPicPr>
            <a:picLocks noChangeAspect="1"/>
          </p:cNvPicPr>
          <p:nvPr/>
        </p:nvPicPr>
        <p:blipFill>
          <a:blip r:embed="rId2"/>
          <a:stretch>
            <a:fillRect/>
          </a:stretch>
        </p:blipFill>
        <p:spPr>
          <a:xfrm>
            <a:off x="6040732" y="787552"/>
            <a:ext cx="5860843" cy="3450133"/>
          </a:xfrm>
          <a:prstGeom prst="rect">
            <a:avLst/>
          </a:prstGeom>
        </p:spPr>
      </p:pic>
    </p:spTree>
    <p:extLst>
      <p:ext uri="{BB962C8B-B14F-4D97-AF65-F5344CB8AC3E}">
        <p14:creationId xmlns:p14="http://schemas.microsoft.com/office/powerpoint/2010/main" val="1799830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535B1-DA0B-1BDB-D491-A516967761D2}"/>
              </a:ext>
            </a:extLst>
          </p:cNvPr>
          <p:cNvSpPr>
            <a:spLocks noGrp="1"/>
          </p:cNvSpPr>
          <p:nvPr>
            <p:ph type="title"/>
          </p:nvPr>
        </p:nvSpPr>
        <p:spPr>
          <a:xfrm>
            <a:off x="167641" y="182881"/>
            <a:ext cx="10131427" cy="731519"/>
          </a:xfrm>
        </p:spPr>
        <p:txBody>
          <a:bodyPr>
            <a:normAutofit/>
          </a:bodyPr>
          <a:lstStyle/>
          <a:p>
            <a:r>
              <a:rPr lang="en-US" sz="4000" dirty="0">
                <a:solidFill>
                  <a:srgbClr val="FFFF00"/>
                </a:solidFill>
                <a:latin typeface="Algerian" panose="04020705040A02060702" pitchFamily="82" charset="0"/>
              </a:rPr>
              <a:t>1. </a:t>
            </a:r>
            <a:r>
              <a:rPr lang="en-US" sz="4000" u="sng" dirty="0">
                <a:solidFill>
                  <a:srgbClr val="FFFF00"/>
                </a:solidFill>
                <a:latin typeface="Algerian" panose="04020705040A02060702" pitchFamily="82" charset="0"/>
              </a:rPr>
              <a:t>Inspection </a:t>
            </a:r>
            <a:r>
              <a:rPr lang="en-US" sz="4000" dirty="0">
                <a:solidFill>
                  <a:srgbClr val="FFFF00"/>
                </a:solidFill>
                <a:latin typeface="Algerian" panose="04020705040A02060702" pitchFamily="82" charset="0"/>
              </a:rPr>
              <a:t>: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B3459678-1DDE-7576-E20B-17A8344A0C4A}"/>
              </a:ext>
            </a:extLst>
          </p:cNvPr>
          <p:cNvSpPr>
            <a:spLocks noGrp="1"/>
          </p:cNvSpPr>
          <p:nvPr>
            <p:ph type="body" idx="1"/>
          </p:nvPr>
        </p:nvSpPr>
        <p:spPr>
          <a:xfrm>
            <a:off x="167641" y="914400"/>
            <a:ext cx="11856718" cy="4765040"/>
          </a:xfrm>
        </p:spPr>
        <p:txBody>
          <a:bodyPr>
            <a:normAutofit/>
          </a:bodyPr>
          <a:lstStyle/>
          <a:p>
            <a:pPr marL="342900" indent="-342900">
              <a:buFont typeface="Wingdings" panose="05000000000000000000" pitchFamily="2" charset="2"/>
              <a:buChar char="Ø"/>
            </a:pPr>
            <a:r>
              <a:rPr lang="en-US" sz="3600" b="1" dirty="0">
                <a:latin typeface="Century Schoolbook" panose="02040604050505020304" pitchFamily="18" charset="0"/>
              </a:rPr>
              <a:t> Inspection is the most formal form of reviews, led by a trained moderator, who is not the </a:t>
            </a:r>
            <a:r>
              <a:rPr lang="en-US" sz="3600" b="1" dirty="0" err="1">
                <a:latin typeface="Century Schoolbook" panose="02040604050505020304" pitchFamily="18" charset="0"/>
              </a:rPr>
              <a:t>auther</a:t>
            </a:r>
            <a:r>
              <a:rPr lang="en-US" sz="3600" b="1" dirty="0">
                <a:latin typeface="Century Schoolbook" panose="02040604050505020304" pitchFamily="18" charset="0"/>
              </a:rPr>
              <a:t> of the meeting.</a:t>
            </a:r>
          </a:p>
          <a:p>
            <a:pPr marL="342900" indent="-342900">
              <a:buFont typeface="Wingdings" panose="05000000000000000000" pitchFamily="2" charset="2"/>
              <a:buChar char="Ø"/>
            </a:pPr>
            <a:r>
              <a:rPr lang="en-US" sz="3600" b="1" dirty="0">
                <a:latin typeface="Century Schoolbook" panose="02040604050505020304" pitchFamily="18" charset="0"/>
              </a:rPr>
              <a:t> Inspection report is prepared &amp; shared with the </a:t>
            </a:r>
            <a:r>
              <a:rPr lang="en-US" sz="3600" b="1" dirty="0" err="1">
                <a:latin typeface="Century Schoolbook" panose="02040604050505020304" pitchFamily="18" charset="0"/>
              </a:rPr>
              <a:t>auther</a:t>
            </a:r>
            <a:r>
              <a:rPr lang="en-US" sz="3600" b="1" dirty="0">
                <a:latin typeface="Century Schoolbook" panose="02040604050505020304" pitchFamily="18" charset="0"/>
              </a:rPr>
              <a:t> for appropriate actions.</a:t>
            </a:r>
          </a:p>
          <a:p>
            <a:pPr marL="342900" indent="-342900">
              <a:buFont typeface="Wingdings" panose="05000000000000000000" pitchFamily="2" charset="2"/>
              <a:buChar char="Ø"/>
            </a:pPr>
            <a:r>
              <a:rPr lang="en-US" sz="3600" b="1" dirty="0">
                <a:latin typeface="Century Schoolbook" panose="02040604050505020304" pitchFamily="18" charset="0"/>
              </a:rPr>
              <a:t> Aim of inspection is NOT </a:t>
            </a:r>
            <a:r>
              <a:rPr lang="en-US" sz="3600" b="1" dirty="0" err="1">
                <a:latin typeface="Century Schoolbook" panose="02040604050505020304" pitchFamily="18" charset="0"/>
              </a:rPr>
              <a:t>anly</a:t>
            </a:r>
            <a:r>
              <a:rPr lang="en-US" sz="3600" b="1" dirty="0">
                <a:latin typeface="Century Schoolbook" panose="02040604050505020304" pitchFamily="18" charset="0"/>
              </a:rPr>
              <a:t> to identify defects, buts also to bring in for process improvement.</a:t>
            </a:r>
            <a:endParaRPr lang="en-IN" sz="3600" b="1" dirty="0">
              <a:latin typeface="Century Schoolbook" panose="02040604050505020304" pitchFamily="18" charset="0"/>
            </a:endParaRPr>
          </a:p>
        </p:txBody>
      </p:sp>
    </p:spTree>
    <p:extLst>
      <p:ext uri="{BB962C8B-B14F-4D97-AF65-F5344CB8AC3E}">
        <p14:creationId xmlns:p14="http://schemas.microsoft.com/office/powerpoint/2010/main" val="1114538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5DDA8-5129-6F6D-24F0-32E5BCFE209C}"/>
              </a:ext>
            </a:extLst>
          </p:cNvPr>
          <p:cNvSpPr>
            <a:spLocks noGrp="1"/>
          </p:cNvSpPr>
          <p:nvPr>
            <p:ph type="title"/>
          </p:nvPr>
        </p:nvSpPr>
        <p:spPr>
          <a:xfrm>
            <a:off x="127001" y="101601"/>
            <a:ext cx="10131427" cy="761999"/>
          </a:xfrm>
        </p:spPr>
        <p:txBody>
          <a:bodyPr>
            <a:normAutofit/>
          </a:bodyPr>
          <a:lstStyle/>
          <a:p>
            <a:r>
              <a:rPr lang="en-US" sz="4000" dirty="0">
                <a:solidFill>
                  <a:srgbClr val="FFFF00"/>
                </a:solidFill>
                <a:latin typeface="Algerian" panose="04020705040A02060702" pitchFamily="82" charset="0"/>
              </a:rPr>
              <a:t>2. </a:t>
            </a:r>
            <a:r>
              <a:rPr lang="en-US" sz="4000" u="sng" dirty="0">
                <a:solidFill>
                  <a:srgbClr val="FFFF00"/>
                </a:solidFill>
                <a:latin typeface="Algerian" panose="04020705040A02060702" pitchFamily="82" charset="0"/>
              </a:rPr>
              <a:t>Technical review</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5486C8C-AD7B-DEBA-EDE2-3BAE0FDCB407}"/>
              </a:ext>
            </a:extLst>
          </p:cNvPr>
          <p:cNvSpPr>
            <a:spLocks noGrp="1"/>
          </p:cNvSpPr>
          <p:nvPr>
            <p:ph type="body" idx="1"/>
          </p:nvPr>
        </p:nvSpPr>
        <p:spPr>
          <a:xfrm>
            <a:off x="132079" y="380999"/>
            <a:ext cx="11932920" cy="5745479"/>
          </a:xfrm>
        </p:spPr>
        <p:txBody>
          <a:bodyPr>
            <a:normAutofit/>
          </a:bodyPr>
          <a:lstStyle/>
          <a:p>
            <a:pPr marL="571500" indent="-571500">
              <a:buFont typeface="Wingdings" panose="05000000000000000000" pitchFamily="2" charset="2"/>
              <a:buChar char="Ø"/>
            </a:pPr>
            <a:r>
              <a:rPr lang="en-US" sz="3600" b="1" dirty="0">
                <a:latin typeface="Century Schoolbook" panose="02040604050505020304" pitchFamily="18" charset="0"/>
              </a:rPr>
              <a:t>Technical specifications are reviewed by peers in order to detect any errors.</a:t>
            </a:r>
          </a:p>
          <a:p>
            <a:pPr marL="571500" indent="-571500">
              <a:buFont typeface="Wingdings" panose="05000000000000000000" pitchFamily="2" charset="2"/>
              <a:buChar char="Ø"/>
            </a:pPr>
            <a:r>
              <a:rPr lang="en-US" sz="3600" b="1" dirty="0">
                <a:latin typeface="Century Schoolbook" panose="02040604050505020304" pitchFamily="18" charset="0"/>
              </a:rPr>
              <a:t>It is led by trained </a:t>
            </a:r>
            <a:r>
              <a:rPr lang="en-US" sz="3600" b="1" dirty="0" err="1">
                <a:latin typeface="Century Schoolbook" panose="02040604050505020304" pitchFamily="18" charset="0"/>
              </a:rPr>
              <a:t>maderator</a:t>
            </a:r>
            <a:r>
              <a:rPr lang="en-US" sz="3600" b="1" dirty="0">
                <a:latin typeface="Century Schoolbook" panose="02040604050505020304" pitchFamily="18" charset="0"/>
              </a:rPr>
              <a:t> &amp; not the author.</a:t>
            </a:r>
          </a:p>
          <a:p>
            <a:pPr marL="571500" indent="-571500">
              <a:buFont typeface="Wingdings" panose="05000000000000000000" pitchFamily="2" charset="2"/>
              <a:buChar char="Ø"/>
            </a:pPr>
            <a:r>
              <a:rPr lang="en-US" sz="3600" b="1" dirty="0">
                <a:latin typeface="Century Schoolbook" panose="02040604050505020304" pitchFamily="18" charset="0"/>
              </a:rPr>
              <a:t>This review concentrates mainly on the technical documentation related to the software such as Test Strategy, Test Plan &amp; Requirement specification documents..</a:t>
            </a:r>
            <a:endParaRPr lang="en-IN" sz="3600" b="1" dirty="0">
              <a:latin typeface="Century Schoolbook" panose="02040604050505020304" pitchFamily="18" charset="0"/>
            </a:endParaRPr>
          </a:p>
        </p:txBody>
      </p:sp>
    </p:spTree>
    <p:extLst>
      <p:ext uri="{BB962C8B-B14F-4D97-AF65-F5344CB8AC3E}">
        <p14:creationId xmlns:p14="http://schemas.microsoft.com/office/powerpoint/2010/main" val="890651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AE42-3058-25CA-1B38-91F70D3A2879}"/>
              </a:ext>
            </a:extLst>
          </p:cNvPr>
          <p:cNvSpPr>
            <a:spLocks noGrp="1"/>
          </p:cNvSpPr>
          <p:nvPr>
            <p:ph type="title"/>
          </p:nvPr>
        </p:nvSpPr>
        <p:spPr>
          <a:xfrm>
            <a:off x="142240" y="233681"/>
            <a:ext cx="10131427" cy="731519"/>
          </a:xfrm>
        </p:spPr>
        <p:txBody>
          <a:bodyPr>
            <a:noAutofit/>
          </a:bodyPr>
          <a:lstStyle/>
          <a:p>
            <a:r>
              <a:rPr lang="en-US" sz="4400" dirty="0">
                <a:solidFill>
                  <a:srgbClr val="FFFF00"/>
                </a:solidFill>
                <a:latin typeface="Algerian" panose="04020705040A02060702" pitchFamily="82" charset="0"/>
              </a:rPr>
              <a:t>3. </a:t>
            </a:r>
            <a:r>
              <a:rPr lang="en-US" sz="4400" u="sng" dirty="0">
                <a:solidFill>
                  <a:srgbClr val="FFFF00"/>
                </a:solidFill>
                <a:latin typeface="Algerian" panose="04020705040A02060702" pitchFamily="82" charset="0"/>
              </a:rPr>
              <a:t>structured walkthroughs </a:t>
            </a:r>
            <a:r>
              <a:rPr lang="en-US" sz="4400" dirty="0">
                <a:solidFill>
                  <a:srgbClr val="FFFF00"/>
                </a:solidFill>
                <a:latin typeface="Algerian" panose="04020705040A02060702" pitchFamily="82" charset="0"/>
              </a:rPr>
              <a:t>: -</a:t>
            </a:r>
            <a:endParaRPr lang="en-IN" sz="4400" dirty="0">
              <a:solidFill>
                <a:srgbClr val="FFFF00"/>
              </a:solidFill>
            </a:endParaRPr>
          </a:p>
        </p:txBody>
      </p:sp>
      <p:sp>
        <p:nvSpPr>
          <p:cNvPr id="3" name="Text Placeholder 2">
            <a:extLst>
              <a:ext uri="{FF2B5EF4-FFF2-40B4-BE49-F238E27FC236}">
                <a16:creationId xmlns:a16="http://schemas.microsoft.com/office/drawing/2014/main" id="{5C11580A-C039-FD5F-A1AE-04F933AA4326}"/>
              </a:ext>
            </a:extLst>
          </p:cNvPr>
          <p:cNvSpPr>
            <a:spLocks noGrp="1"/>
          </p:cNvSpPr>
          <p:nvPr>
            <p:ph type="body" idx="1"/>
          </p:nvPr>
        </p:nvSpPr>
        <p:spPr>
          <a:xfrm>
            <a:off x="142240" y="731520"/>
            <a:ext cx="11922759" cy="5750559"/>
          </a:xfrm>
        </p:spPr>
        <p:txBody>
          <a:bodyPr>
            <a:normAutofit/>
          </a:bodyPr>
          <a:lstStyle/>
          <a:p>
            <a:pPr marL="457200" indent="-457200">
              <a:buFont typeface="Wingdings" panose="05000000000000000000" pitchFamily="2" charset="2"/>
              <a:buChar char="Ø"/>
            </a:pPr>
            <a:r>
              <a:rPr lang="en-US" sz="2800" b="1" dirty="0">
                <a:latin typeface="Century Schoolbook" panose="02040604050505020304" pitchFamily="18" charset="0"/>
              </a:rPr>
              <a:t>The author of whichever documents is being reviewed will explain the document to their team.</a:t>
            </a:r>
          </a:p>
          <a:p>
            <a:pPr marL="457200" indent="-457200">
              <a:buFont typeface="Wingdings" panose="05000000000000000000" pitchFamily="2" charset="2"/>
              <a:buChar char="Ø"/>
            </a:pPr>
            <a:r>
              <a:rPr lang="en-US" sz="2800" b="1" dirty="0">
                <a:latin typeface="Century Schoolbook" panose="02040604050505020304" pitchFamily="18" charset="0"/>
              </a:rPr>
              <a:t>Participants will ask questions &amp; any notes are written down.</a:t>
            </a:r>
          </a:p>
          <a:p>
            <a:pPr marL="457200" indent="-457200">
              <a:buFont typeface="Wingdings" panose="05000000000000000000" pitchFamily="2" charset="2"/>
              <a:buChar char="Ø"/>
            </a:pPr>
            <a:r>
              <a:rPr lang="en-US" sz="2800" b="1" dirty="0">
                <a:latin typeface="Century Schoolbook" panose="02040604050505020304" pitchFamily="18" charset="0"/>
              </a:rPr>
              <a:t>The walkthrough can be formal &amp; informal review.</a:t>
            </a:r>
          </a:p>
          <a:p>
            <a:pPr marL="457200" indent="-457200">
              <a:buFont typeface="Wingdings" panose="05000000000000000000" pitchFamily="2" charset="2"/>
              <a:buChar char="Ø"/>
            </a:pPr>
            <a:r>
              <a:rPr lang="en-US" sz="2800" b="1" dirty="0">
                <a:latin typeface="Century Schoolbook" panose="02040604050505020304" pitchFamily="18" charset="0"/>
              </a:rPr>
              <a:t>Team member does not need to have detail knowledge of the content as the author is well prepare.</a:t>
            </a:r>
          </a:p>
          <a:p>
            <a:pPr marL="457200" indent="-457200">
              <a:buFont typeface="Wingdings" panose="05000000000000000000" pitchFamily="2" charset="2"/>
              <a:buChar char="Ø"/>
            </a:pPr>
            <a:r>
              <a:rPr lang="en-US" sz="2800" b="1" dirty="0">
                <a:latin typeface="Century Schoolbook" panose="02040604050505020304" pitchFamily="18" charset="0"/>
              </a:rPr>
              <a:t>Main objective is to enable learning &amp; giving knowledge to other team member about the content.</a:t>
            </a:r>
          </a:p>
          <a:p>
            <a:pPr marL="457200" indent="-457200">
              <a:buFont typeface="Wingdings" panose="05000000000000000000" pitchFamily="2" charset="2"/>
              <a:buChar char="Ø"/>
            </a:pPr>
            <a:r>
              <a:rPr lang="en-US" sz="2800" b="1" dirty="0">
                <a:latin typeface="Century Schoolbook" panose="02040604050505020304" pitchFamily="18" charset="0"/>
              </a:rPr>
              <a:t>It is held by the authors.</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560687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58CD-AE2E-570C-5959-8A94E06BB7F7}"/>
              </a:ext>
            </a:extLst>
          </p:cNvPr>
          <p:cNvSpPr>
            <a:spLocks noGrp="1"/>
          </p:cNvSpPr>
          <p:nvPr>
            <p:ph type="title"/>
          </p:nvPr>
        </p:nvSpPr>
        <p:spPr>
          <a:xfrm>
            <a:off x="137161" y="121921"/>
            <a:ext cx="10131427" cy="772160"/>
          </a:xfrm>
        </p:spPr>
        <p:txBody>
          <a:bodyPr>
            <a:normAutofit/>
          </a:bodyPr>
          <a:lstStyle/>
          <a:p>
            <a:pPr marL="457200" indent="-457200">
              <a:buFont typeface="Wingdings" panose="05000000000000000000" pitchFamily="2" charset="2"/>
              <a:buChar char="v"/>
            </a:pPr>
            <a:r>
              <a:rPr lang="en-US" sz="4400" u="sng" dirty="0">
                <a:solidFill>
                  <a:srgbClr val="FFFF00"/>
                </a:solidFill>
                <a:latin typeface="Algerian" panose="04020705040A02060702" pitchFamily="82" charset="0"/>
              </a:rPr>
              <a:t>Structural testing </a:t>
            </a:r>
            <a:r>
              <a:rPr lang="en-US" sz="4400" dirty="0">
                <a:solidFill>
                  <a:srgbClr val="FFFF00"/>
                </a:solidFill>
                <a:latin typeface="Algerian" panose="04020705040A02060702" pitchFamily="82" charset="0"/>
              </a:rPr>
              <a:t>: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9B86D1A6-6830-1309-7A9C-6B5F1826416B}"/>
              </a:ext>
            </a:extLst>
          </p:cNvPr>
          <p:cNvSpPr>
            <a:spLocks noGrp="1"/>
          </p:cNvSpPr>
          <p:nvPr>
            <p:ph type="body" idx="1"/>
          </p:nvPr>
        </p:nvSpPr>
        <p:spPr>
          <a:xfrm>
            <a:off x="50800" y="741679"/>
            <a:ext cx="12090400" cy="5720079"/>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Structure-based testing can be defined as a type of testing that tests the code’s structure &amp; intended flows.</a:t>
            </a:r>
          </a:p>
          <a:p>
            <a:pPr marL="342900" indent="-342900">
              <a:buFont typeface="Wingdings" panose="05000000000000000000" pitchFamily="2" charset="2"/>
              <a:buChar char="Ø"/>
            </a:pPr>
            <a:r>
              <a:rPr lang="en-US" sz="2800" b="1" dirty="0">
                <a:latin typeface="Century Schoolbook" panose="02040604050505020304" pitchFamily="18" charset="0"/>
              </a:rPr>
              <a:t>It includes verifying the actual code for aspects like the correct implementation of conditional statements, &amp; whether every statements in the code is correctly executed.</a:t>
            </a:r>
          </a:p>
          <a:p>
            <a:pPr marL="342900" indent="-342900">
              <a:buFont typeface="Wingdings" panose="05000000000000000000" pitchFamily="2" charset="2"/>
              <a:buChar char="Ø"/>
            </a:pPr>
            <a:r>
              <a:rPr lang="en-US" sz="2800" b="1" dirty="0">
                <a:latin typeface="Century Schoolbook" panose="02040604050505020304" pitchFamily="18" charset="0"/>
              </a:rPr>
              <a:t>This type of testing requires knowledge of code, so it is mostly done by the developers.</a:t>
            </a:r>
          </a:p>
          <a:p>
            <a:pPr marL="342900" indent="-342900">
              <a:buFont typeface="Wingdings" panose="05000000000000000000" pitchFamily="2" charset="2"/>
              <a:buChar char="Ø"/>
            </a:pPr>
            <a:r>
              <a:rPr lang="en-US" sz="2800" b="1" dirty="0">
                <a:latin typeface="Century Schoolbook" panose="02040604050505020304" pitchFamily="18" charset="0"/>
              </a:rPr>
              <a:t>In Structural Testing includes :- </a:t>
            </a:r>
          </a:p>
          <a:p>
            <a:pPr marL="457200" indent="-457200">
              <a:buFont typeface="Arial" panose="020B0604020202020204" pitchFamily="34" charset="0"/>
              <a:buChar char="•"/>
            </a:pPr>
            <a:r>
              <a:rPr lang="en-US" sz="2800" b="1" dirty="0">
                <a:latin typeface="Century Schoolbook" panose="02040604050505020304" pitchFamily="18" charset="0"/>
              </a:rPr>
              <a:t>Code Functional Testing :</a:t>
            </a:r>
          </a:p>
          <a:p>
            <a:pPr marL="457200" indent="-457200">
              <a:buFont typeface="Arial" panose="020B0604020202020204" pitchFamily="34" charset="0"/>
              <a:buChar char="•"/>
            </a:pPr>
            <a:r>
              <a:rPr lang="en-US" sz="2800" b="1" dirty="0">
                <a:latin typeface="Century Schoolbook" panose="02040604050505020304" pitchFamily="18" charset="0"/>
              </a:rPr>
              <a:t>Code Coverage Testing :</a:t>
            </a:r>
          </a:p>
          <a:p>
            <a:pPr marL="457200" indent="-457200">
              <a:buFont typeface="Arial" panose="020B0604020202020204" pitchFamily="34" charset="0"/>
              <a:buChar char="•"/>
            </a:pPr>
            <a:r>
              <a:rPr lang="en-US" sz="2800" b="1" dirty="0">
                <a:latin typeface="Century Schoolbook" panose="02040604050505020304" pitchFamily="18" charset="0"/>
              </a:rPr>
              <a:t>Code Complexity Testing :</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573894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A303E-C9F4-15F3-E293-F7262B702321}"/>
              </a:ext>
            </a:extLst>
          </p:cNvPr>
          <p:cNvSpPr>
            <a:spLocks noGrp="1"/>
          </p:cNvSpPr>
          <p:nvPr>
            <p:ph type="title"/>
          </p:nvPr>
        </p:nvSpPr>
        <p:spPr>
          <a:xfrm>
            <a:off x="121920" y="132080"/>
            <a:ext cx="10131427" cy="680719"/>
          </a:xfrm>
        </p:spPr>
        <p:txBody>
          <a:bodyPr>
            <a:normAutofit fontScale="90000"/>
          </a:bodyPr>
          <a:lstStyle/>
          <a:p>
            <a:r>
              <a:rPr lang="en-US" sz="4900" dirty="0">
                <a:solidFill>
                  <a:srgbClr val="FFFF00"/>
                </a:solidFill>
                <a:latin typeface="Algerian" panose="04020705040A02060702" pitchFamily="82" charset="0"/>
              </a:rPr>
              <a:t>1. </a:t>
            </a:r>
            <a:r>
              <a:rPr lang="en-US" sz="4400" u="sng" dirty="0">
                <a:solidFill>
                  <a:srgbClr val="FFFF00"/>
                </a:solidFill>
                <a:latin typeface="Algerian" panose="04020705040A02060702" pitchFamily="82" charset="0"/>
              </a:rPr>
              <a:t>Code functional testing </a:t>
            </a:r>
            <a:r>
              <a:rPr lang="en-US" sz="4400" dirty="0">
                <a:solidFill>
                  <a:srgbClr val="FFFF00"/>
                </a:solidFill>
                <a:latin typeface="Algerian" panose="04020705040A02060702" pitchFamily="82" charset="0"/>
              </a:rPr>
              <a:t>: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B93BF3B-A98C-928F-90C9-48091C455D97}"/>
              </a:ext>
            </a:extLst>
          </p:cNvPr>
          <p:cNvSpPr>
            <a:spLocks noGrp="1"/>
          </p:cNvSpPr>
          <p:nvPr>
            <p:ph type="body" idx="1"/>
          </p:nvPr>
        </p:nvSpPr>
        <p:spPr>
          <a:xfrm>
            <a:off x="121920" y="904240"/>
            <a:ext cx="11927840" cy="5821680"/>
          </a:xfrm>
        </p:spPr>
        <p:txBody>
          <a:bodyPr>
            <a:noAutofit/>
          </a:bodyPr>
          <a:lstStyle/>
          <a:p>
            <a:pPr marL="457200" indent="-457200">
              <a:buFont typeface="Wingdings" panose="05000000000000000000" pitchFamily="2" charset="2"/>
              <a:buChar char="Ø"/>
            </a:pPr>
            <a:r>
              <a:rPr lang="en-US" sz="2800" b="1" dirty="0">
                <a:latin typeface="Century Schoolbook" panose="02040604050505020304" pitchFamily="18" charset="0"/>
              </a:rPr>
              <a:t>In code Functional Testing the system is tested against the</a:t>
            </a:r>
          </a:p>
          <a:p>
            <a:r>
              <a:rPr lang="en-US" sz="2800" b="1" dirty="0">
                <a:latin typeface="Century Schoolbook" panose="02040604050505020304" pitchFamily="18" charset="0"/>
              </a:rPr>
              <a:t>    Functional Requirements and specifications.</a:t>
            </a:r>
          </a:p>
          <a:p>
            <a:pPr marL="457200" indent="-457200">
              <a:buFont typeface="Wingdings" panose="05000000000000000000" pitchFamily="2" charset="2"/>
              <a:buChar char="Ø"/>
            </a:pPr>
            <a:r>
              <a:rPr lang="en-US" sz="2800" b="1" dirty="0">
                <a:latin typeface="Century Schoolbook" panose="02040604050505020304" pitchFamily="18" charset="0"/>
              </a:rPr>
              <a:t>The purpose of functional testing is to test each function of the software application, by providing input, verifying the output against the functional requirements.</a:t>
            </a:r>
          </a:p>
          <a:p>
            <a:pPr marL="457200" indent="-457200">
              <a:buFont typeface="Wingdings" panose="05000000000000000000" pitchFamily="2" charset="2"/>
              <a:buChar char="Ø"/>
            </a:pPr>
            <a:r>
              <a:rPr lang="en-US" sz="2800" b="1" dirty="0">
                <a:latin typeface="Century Schoolbook" panose="02040604050505020304" pitchFamily="18" charset="0"/>
              </a:rPr>
              <a:t>It focuses on simulation of actual system usage but does not develop any system structure assumptions.</a:t>
            </a:r>
          </a:p>
          <a:p>
            <a:pPr marL="457200" indent="-457200">
              <a:buFont typeface="Wingdings" panose="05000000000000000000" pitchFamily="2" charset="2"/>
              <a:buChar char="Ø"/>
            </a:pPr>
            <a:r>
              <a:rPr lang="en-US" sz="2800" b="1" dirty="0">
                <a:latin typeface="Century Schoolbook" panose="02040604050505020304" pitchFamily="18" charset="0"/>
              </a:rPr>
              <a:t>It checks the User interface, APIs, Database, security, Client/server  communication &amp; other functionalities of the Application under test.</a:t>
            </a:r>
          </a:p>
          <a:p>
            <a:pPr marL="457200" indent="-457200">
              <a:buFont typeface="Wingdings" panose="05000000000000000000" pitchFamily="2" charset="2"/>
              <a:buChar char="Ø"/>
            </a:pPr>
            <a:r>
              <a:rPr lang="en-US" sz="2800" b="1" dirty="0">
                <a:latin typeface="Century Schoolbook" panose="02040604050505020304" pitchFamily="18" charset="0"/>
              </a:rPr>
              <a:t>Functional test can be manual or automated.</a:t>
            </a:r>
          </a:p>
          <a:p>
            <a:pPr marL="457200" indent="-457200">
              <a:buFont typeface="Wingdings" panose="05000000000000000000" pitchFamily="2" charset="2"/>
              <a:buChar char="Ø"/>
            </a:pPr>
            <a:r>
              <a:rPr lang="en-US" sz="2800" b="1" dirty="0">
                <a:latin typeface="Century Schoolbook" panose="02040604050505020304" pitchFamily="18" charset="0"/>
              </a:rPr>
              <a:t>Testers has to test only the program rather than the system.</a:t>
            </a:r>
          </a:p>
        </p:txBody>
      </p:sp>
    </p:spTree>
    <p:extLst>
      <p:ext uri="{BB962C8B-B14F-4D97-AF65-F5344CB8AC3E}">
        <p14:creationId xmlns:p14="http://schemas.microsoft.com/office/powerpoint/2010/main" val="253278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C01B-8486-372B-E701-B2A1B0708FE4}"/>
              </a:ext>
            </a:extLst>
          </p:cNvPr>
          <p:cNvSpPr>
            <a:spLocks noGrp="1"/>
          </p:cNvSpPr>
          <p:nvPr>
            <p:ph type="title"/>
          </p:nvPr>
        </p:nvSpPr>
        <p:spPr>
          <a:xfrm>
            <a:off x="157481" y="142241"/>
            <a:ext cx="10131427" cy="629919"/>
          </a:xfrm>
        </p:spPr>
        <p:txBody>
          <a:bodyPr>
            <a:noAutofit/>
          </a:bodyPr>
          <a:lstStyle/>
          <a:p>
            <a:pPr marL="571500" indent="-571500">
              <a:buFont typeface="Wingdings" panose="05000000000000000000" pitchFamily="2" charset="2"/>
              <a:buChar char="v"/>
            </a:pPr>
            <a:r>
              <a:rPr lang="en-US" sz="4800" u="sng" dirty="0">
                <a:solidFill>
                  <a:srgbClr val="FFFF00"/>
                </a:solidFill>
                <a:latin typeface="Algerian" panose="04020705040A02060702" pitchFamily="82" charset="0"/>
              </a:rPr>
              <a:t>Code coverage testing</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A1A3725-5431-B3E9-EAAA-10D66C052E81}"/>
              </a:ext>
            </a:extLst>
          </p:cNvPr>
          <p:cNvSpPr>
            <a:spLocks noGrp="1"/>
          </p:cNvSpPr>
          <p:nvPr>
            <p:ph type="body" idx="1"/>
          </p:nvPr>
        </p:nvSpPr>
        <p:spPr>
          <a:xfrm>
            <a:off x="157481" y="497840"/>
            <a:ext cx="11892279" cy="5862319"/>
          </a:xfrm>
        </p:spPr>
        <p:txBody>
          <a:bodyPr>
            <a:noAutofit/>
          </a:bodyPr>
          <a:lstStyle/>
          <a:p>
            <a:pPr marL="457200" indent="-457200">
              <a:buFont typeface="Wingdings" panose="05000000000000000000" pitchFamily="2" charset="2"/>
              <a:buChar char="Ø"/>
            </a:pPr>
            <a:r>
              <a:rPr lang="en-US" sz="2800" b="1" dirty="0">
                <a:latin typeface="Century Schoolbook" panose="02040604050505020304" pitchFamily="18" charset="0"/>
              </a:rPr>
              <a:t>Code coverage Testing is determining how much code is being tested. It can be calculated using formula-</a:t>
            </a:r>
          </a:p>
          <a:p>
            <a:pPr marL="457200" indent="-457200">
              <a:buFont typeface="Wingdings" panose="05000000000000000000" pitchFamily="2" charset="2"/>
              <a:buChar char="§"/>
            </a:pPr>
            <a:r>
              <a:rPr lang="en-US" sz="2800" b="1" dirty="0">
                <a:latin typeface="Century Schoolbook" panose="02040604050505020304" pitchFamily="18" charset="0"/>
              </a:rPr>
              <a:t>Code coverage = No. of lines of code executed * 100. Total no. of lines in code</a:t>
            </a:r>
          </a:p>
          <a:p>
            <a:pPr marL="457200" indent="-457200">
              <a:buFont typeface="Wingdings" panose="05000000000000000000" pitchFamily="2" charset="2"/>
              <a:buChar char="Ø"/>
            </a:pPr>
            <a:r>
              <a:rPr lang="en-US" sz="2800" b="1" dirty="0">
                <a:latin typeface="Century Schoolbook" panose="02040604050505020304" pitchFamily="18" charset="0"/>
              </a:rPr>
              <a:t>It measures the percentage of code executed by the test suit, helping developers identify untested parts of an application.</a:t>
            </a:r>
          </a:p>
          <a:p>
            <a:pPr marL="457200" indent="-457200">
              <a:buFont typeface="Wingdings" panose="05000000000000000000" pitchFamily="2" charset="2"/>
              <a:buChar char="Ø"/>
            </a:pPr>
            <a:r>
              <a:rPr lang="en-US" sz="2800" b="1" dirty="0">
                <a:latin typeface="Century Schoolbook" panose="02040604050505020304" pitchFamily="18" charset="0"/>
              </a:rPr>
              <a:t>It helps in determining the performance and quality aspects of Lany software.</a:t>
            </a:r>
          </a:p>
          <a:p>
            <a:pPr marL="457200" indent="-457200">
              <a:buFont typeface="Wingdings" panose="05000000000000000000" pitchFamily="2" charset="2"/>
              <a:buChar char="Ø"/>
            </a:pPr>
            <a:r>
              <a:rPr lang="en-US" sz="2800" b="1" dirty="0">
                <a:latin typeface="Century Schoolbook" panose="02040604050505020304" pitchFamily="18" charset="0"/>
              </a:rPr>
              <a:t>It also find parts of the code that are not reachable by any</a:t>
            </a:r>
          </a:p>
          <a:p>
            <a:r>
              <a:rPr lang="en-US" sz="2800" b="1" dirty="0">
                <a:latin typeface="Century Schoolbook" panose="02040604050505020304" pitchFamily="18" charset="0"/>
              </a:rPr>
              <a:t>    test case.</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742943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0347-50A9-C180-EE09-AC5BFBFB8CE6}"/>
              </a:ext>
            </a:extLst>
          </p:cNvPr>
          <p:cNvSpPr>
            <a:spLocks noGrp="1"/>
          </p:cNvSpPr>
          <p:nvPr>
            <p:ph type="title"/>
          </p:nvPr>
        </p:nvSpPr>
        <p:spPr>
          <a:xfrm>
            <a:off x="116841" y="121921"/>
            <a:ext cx="10131427" cy="82295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Code complexity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61AD0D1-223C-DDCD-709C-5F99D689B548}"/>
              </a:ext>
            </a:extLst>
          </p:cNvPr>
          <p:cNvSpPr>
            <a:spLocks noGrp="1"/>
          </p:cNvSpPr>
          <p:nvPr>
            <p:ph type="body" idx="1"/>
          </p:nvPr>
        </p:nvSpPr>
        <p:spPr>
          <a:xfrm>
            <a:off x="116841" y="944880"/>
            <a:ext cx="11963399" cy="5648959"/>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Cyclomatic complexity is a testing metric used for measuring the complexity of a software program.</a:t>
            </a:r>
          </a:p>
          <a:p>
            <a:pPr marL="342900" indent="-342900">
              <a:buFont typeface="Wingdings" panose="05000000000000000000" pitchFamily="2" charset="2"/>
              <a:buChar char="Ø"/>
            </a:pPr>
            <a:r>
              <a:rPr lang="en-US" sz="2800" b="1" dirty="0">
                <a:latin typeface="Century Schoolbook" panose="02040604050505020304" pitchFamily="18" charset="0"/>
              </a:rPr>
              <a:t>It defines the number of independent paths in a program, it can be calculated by using control flow graphs.</a:t>
            </a:r>
          </a:p>
          <a:p>
            <a:pPr marL="342900" indent="-342900">
              <a:buFont typeface="Wingdings" panose="05000000000000000000" pitchFamily="2" charset="2"/>
              <a:buChar char="Ø"/>
            </a:pPr>
            <a:r>
              <a:rPr lang="en-US" sz="2800" b="1" dirty="0">
                <a:latin typeface="Century Schoolbook" panose="02040604050505020304" pitchFamily="18" charset="0"/>
              </a:rPr>
              <a:t>Independent Path is defined as a path that has at least one edge which has not been traversed before, in any other paths.</a:t>
            </a:r>
          </a:p>
          <a:p>
            <a:pPr marL="342900" indent="-342900">
              <a:buFont typeface="Wingdings" panose="05000000000000000000" pitchFamily="2" charset="2"/>
              <a:buChar char="Ø"/>
            </a:pPr>
            <a:r>
              <a:rPr lang="en-US" sz="2800" b="1" dirty="0">
                <a:latin typeface="Century Schoolbook" panose="02040604050505020304" pitchFamily="18" charset="0"/>
              </a:rPr>
              <a:t>for example : if source code contains no control flow statement, then its cyclomatic complexity will be 1 as source code contains a single path in it. Similarly if the source code contains one if- condition they the cyclomatic complexity would be 2. Because there will be two paths one for true and other for false.</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3795038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5906-3367-94F5-4578-42EE893D5E1C}"/>
              </a:ext>
            </a:extLst>
          </p:cNvPr>
          <p:cNvSpPr>
            <a:spLocks noGrp="1"/>
          </p:cNvSpPr>
          <p:nvPr>
            <p:ph type="title"/>
          </p:nvPr>
        </p:nvSpPr>
        <p:spPr>
          <a:xfrm>
            <a:off x="116841" y="105286"/>
            <a:ext cx="10131427" cy="660399"/>
          </a:xfrm>
        </p:spPr>
        <p:txBody>
          <a:bodyPr>
            <a:noAutofit/>
          </a:bodyPr>
          <a:lstStyle/>
          <a:p>
            <a:pPr marL="457200" indent="-457200">
              <a:buFont typeface="Wingdings" panose="05000000000000000000" pitchFamily="2" charset="2"/>
              <a:buChar char="v"/>
            </a:pPr>
            <a:r>
              <a:rPr lang="en-IN" sz="4800" u="sng" dirty="0">
                <a:solidFill>
                  <a:srgbClr val="FFFF00"/>
                </a:solidFill>
                <a:latin typeface="Algerian" panose="04020705040A02060702" pitchFamily="82" charset="0"/>
              </a:rPr>
              <a:t>Black Box Testing</a:t>
            </a:r>
            <a:r>
              <a:rPr lang="en-IN" sz="4800" dirty="0">
                <a:solidFill>
                  <a:srgbClr val="FFFF00"/>
                </a:solidFill>
                <a:latin typeface="Algerian" panose="04020705040A02060702" pitchFamily="82" charset="0"/>
              </a:rPr>
              <a:t> : -</a:t>
            </a:r>
            <a:endParaRPr lang="en-IN" sz="48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ED0BB0C-9516-0F5B-8A4A-127FB5F227A3}"/>
              </a:ext>
            </a:extLst>
          </p:cNvPr>
          <p:cNvSpPr>
            <a:spLocks noGrp="1"/>
          </p:cNvSpPr>
          <p:nvPr>
            <p:ph type="body" idx="1"/>
          </p:nvPr>
        </p:nvSpPr>
        <p:spPr>
          <a:xfrm>
            <a:off x="116841" y="254000"/>
            <a:ext cx="11958317" cy="5974079"/>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Black box testing is a method in                                                                                 which the functionalities software                                                           applications are tested without                                                                                         having knowledge of internal code                                                                  structure.</a:t>
            </a:r>
          </a:p>
          <a:p>
            <a:pPr marL="342900" indent="-342900">
              <a:buFont typeface="Wingdings" panose="05000000000000000000" pitchFamily="2" charset="2"/>
              <a:buChar char="Ø"/>
            </a:pPr>
            <a:r>
              <a:rPr lang="en-US" sz="2400" b="1" dirty="0">
                <a:latin typeface="Century Schoolbook" panose="02040604050505020304" pitchFamily="18" charset="0"/>
              </a:rPr>
              <a:t>Testers check how the software                                                                                  behaves from the outside, just like                                                                                 users would. This helps catch issues                                                              ay bugs in software.</a:t>
            </a:r>
          </a:p>
          <a:p>
            <a:pPr marL="342900" indent="-342900">
              <a:buFont typeface="Wingdings" panose="05000000000000000000" pitchFamily="2" charset="2"/>
              <a:buChar char="Ø"/>
            </a:pPr>
            <a:r>
              <a:rPr lang="en-US" sz="2400" b="1" dirty="0">
                <a:latin typeface="Century Schoolbook" panose="02040604050505020304" pitchFamily="18" charset="0"/>
              </a:rPr>
              <a:t>It is also known as closed box testing, Behavioral testing it </a:t>
            </a:r>
            <a:r>
              <a:rPr lang="en-US" sz="2400" b="1" dirty="0" err="1">
                <a:latin typeface="Century Schoolbook" panose="02040604050505020304" pitchFamily="18" charset="0"/>
              </a:rPr>
              <a:t>emphazies</a:t>
            </a:r>
            <a:r>
              <a:rPr lang="en-US" sz="2400" b="1" dirty="0">
                <a:latin typeface="Century Schoolbook" panose="02040604050505020304" pitchFamily="18" charset="0"/>
              </a:rPr>
              <a:t> on the </a:t>
            </a:r>
            <a:r>
              <a:rPr lang="en-US" sz="2400" b="1" dirty="0" err="1">
                <a:latin typeface="Century Schoolbook" panose="02040604050505020304" pitchFamily="18" charset="0"/>
              </a:rPr>
              <a:t>behaviour</a:t>
            </a:r>
            <a:r>
              <a:rPr lang="en-US" sz="2400" b="1" dirty="0">
                <a:latin typeface="Century Schoolbook" panose="02040604050505020304" pitchFamily="18" charset="0"/>
              </a:rPr>
              <a:t> of the software and the code is not visible.</a:t>
            </a:r>
          </a:p>
          <a:p>
            <a:pPr marL="342900" indent="-342900">
              <a:buFont typeface="Wingdings" panose="05000000000000000000" pitchFamily="2" charset="2"/>
              <a:buChar char="Ø"/>
            </a:pPr>
            <a:r>
              <a:rPr lang="en-US" sz="2400" b="1" dirty="0">
                <a:latin typeface="Century Schoolbook" panose="02040604050505020304" pitchFamily="18" charset="0"/>
              </a:rPr>
              <a:t>Black box testing check scenarios where the system can break.</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E0A2D40D-839C-E96E-AEE2-6ABACEA229CD}"/>
              </a:ext>
            </a:extLst>
          </p:cNvPr>
          <p:cNvPicPr>
            <a:picLocks noChangeAspect="1"/>
          </p:cNvPicPr>
          <p:nvPr/>
        </p:nvPicPr>
        <p:blipFill>
          <a:blip r:embed="rId2"/>
          <a:stretch>
            <a:fillRect/>
          </a:stretch>
        </p:blipFill>
        <p:spPr>
          <a:xfrm>
            <a:off x="6400800" y="1277370"/>
            <a:ext cx="5562934" cy="2857748"/>
          </a:xfrm>
          <a:prstGeom prst="rect">
            <a:avLst/>
          </a:prstGeom>
        </p:spPr>
      </p:pic>
    </p:spTree>
    <p:extLst>
      <p:ext uri="{BB962C8B-B14F-4D97-AF65-F5344CB8AC3E}">
        <p14:creationId xmlns:p14="http://schemas.microsoft.com/office/powerpoint/2010/main" val="2640847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0C93-7381-6810-E9BE-33FCDE71CF8D}"/>
              </a:ext>
            </a:extLst>
          </p:cNvPr>
          <p:cNvSpPr>
            <a:spLocks noGrp="1"/>
          </p:cNvSpPr>
          <p:nvPr>
            <p:ph type="title"/>
          </p:nvPr>
        </p:nvSpPr>
        <p:spPr>
          <a:xfrm>
            <a:off x="127001" y="116841"/>
            <a:ext cx="10131427" cy="736600"/>
          </a:xfrm>
        </p:spPr>
        <p:txBody>
          <a:bodyPr>
            <a:no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800" u="sng" dirty="0">
                <a:solidFill>
                  <a:srgbClr val="FFFF00"/>
                </a:solidFill>
                <a:latin typeface="Algerian" panose="04020705040A02060702" pitchFamily="82" charset="0"/>
              </a:rPr>
              <a:t>Black box testing</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30C6EF9-624B-39F7-E490-ED37BC01601B}"/>
              </a:ext>
            </a:extLst>
          </p:cNvPr>
          <p:cNvSpPr>
            <a:spLocks noGrp="1"/>
          </p:cNvSpPr>
          <p:nvPr>
            <p:ph type="body" idx="1"/>
          </p:nvPr>
        </p:nvSpPr>
        <p:spPr>
          <a:xfrm>
            <a:off x="254003" y="116841"/>
            <a:ext cx="11937997" cy="5887718"/>
          </a:xfrm>
        </p:spPr>
        <p:txBody>
          <a:bodyPr>
            <a:normAutofit/>
          </a:bodyPr>
          <a:lstStyle/>
          <a:p>
            <a:r>
              <a:rPr lang="en-US" sz="4000" b="1" dirty="0">
                <a:latin typeface="Century Schoolbook" panose="02040604050505020304" pitchFamily="18" charset="0"/>
              </a:rPr>
              <a:t>1. Requirement Based Technique.</a:t>
            </a:r>
          </a:p>
          <a:p>
            <a:r>
              <a:rPr lang="en-US" sz="4000" b="1" dirty="0">
                <a:latin typeface="Century Schoolbook" panose="02040604050505020304" pitchFamily="18" charset="0"/>
              </a:rPr>
              <a:t>2. Positive and Negative Testing.</a:t>
            </a:r>
          </a:p>
          <a:p>
            <a:r>
              <a:rPr lang="en-US" sz="4000" b="1" dirty="0">
                <a:latin typeface="Century Schoolbook" panose="02040604050505020304" pitchFamily="18" charset="0"/>
              </a:rPr>
              <a:t>3. Boundary Value Analysis (BVA).</a:t>
            </a:r>
          </a:p>
          <a:p>
            <a:r>
              <a:rPr lang="en-US" sz="4000" b="1" dirty="0">
                <a:latin typeface="Century Schoolbook" panose="02040604050505020304" pitchFamily="18" charset="0"/>
              </a:rPr>
              <a:t>4. Decision Tables.</a:t>
            </a:r>
          </a:p>
          <a:p>
            <a:r>
              <a:rPr lang="en-US" sz="4000" b="1" dirty="0">
                <a:latin typeface="Century Schoolbook" panose="02040604050505020304" pitchFamily="18" charset="0"/>
              </a:rPr>
              <a:t>5. Equivalence Partitioning.</a:t>
            </a:r>
          </a:p>
          <a:p>
            <a:r>
              <a:rPr lang="en-US" sz="4000" b="1" dirty="0">
                <a:latin typeface="Century Schoolbook" panose="02040604050505020304" pitchFamily="18" charset="0"/>
              </a:rPr>
              <a:t>6. User Documentation Testing.</a:t>
            </a:r>
            <a:endParaRPr lang="en-IN" sz="4000" b="1" dirty="0">
              <a:latin typeface="Century Schoolbook" panose="02040604050505020304" pitchFamily="18" charset="0"/>
            </a:endParaRPr>
          </a:p>
        </p:txBody>
      </p:sp>
    </p:spTree>
    <p:extLst>
      <p:ext uri="{BB962C8B-B14F-4D97-AF65-F5344CB8AC3E}">
        <p14:creationId xmlns:p14="http://schemas.microsoft.com/office/powerpoint/2010/main" val="1959261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7908-C1EA-7583-8833-94E26576F6DE}"/>
              </a:ext>
            </a:extLst>
          </p:cNvPr>
          <p:cNvSpPr>
            <a:spLocks noGrp="1"/>
          </p:cNvSpPr>
          <p:nvPr>
            <p:ph type="title"/>
          </p:nvPr>
        </p:nvSpPr>
        <p:spPr>
          <a:xfrm>
            <a:off x="127001" y="111762"/>
            <a:ext cx="10131427" cy="751839"/>
          </a:xfrm>
        </p:spPr>
        <p:txBody>
          <a:bodyPr>
            <a:noAutofit/>
          </a:bodyPr>
          <a:lstStyle/>
          <a:p>
            <a:pPr marL="685800" indent="-685800">
              <a:buFont typeface="Wingdings" panose="05000000000000000000" pitchFamily="2" charset="2"/>
              <a:buChar char="v"/>
            </a:pPr>
            <a:r>
              <a:rPr lang="en-US" sz="48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Requirement based testing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4A64B86-700D-5EA1-0549-7E92536F0EB4}"/>
              </a:ext>
            </a:extLst>
          </p:cNvPr>
          <p:cNvSpPr>
            <a:spLocks noGrp="1"/>
          </p:cNvSpPr>
          <p:nvPr>
            <p:ph type="body" idx="1"/>
          </p:nvPr>
        </p:nvSpPr>
        <p:spPr>
          <a:xfrm>
            <a:off x="127001" y="985518"/>
            <a:ext cx="11963399" cy="5770879"/>
          </a:xfrm>
        </p:spPr>
        <p:txBody>
          <a:bodyPr>
            <a:normAutofit lnSpcReduction="10000"/>
          </a:bodyPr>
          <a:lstStyle/>
          <a:p>
            <a:pPr marL="457200" indent="-457200">
              <a:buFont typeface="Wingdings" panose="05000000000000000000" pitchFamily="2" charset="2"/>
              <a:buChar char="Ø"/>
            </a:pPr>
            <a:r>
              <a:rPr lang="en-US" sz="3200" b="1" dirty="0">
                <a:latin typeface="Century Schoolbook" panose="02040604050505020304" pitchFamily="18" charset="0"/>
              </a:rPr>
              <a:t>Requirement Based Testing is a testing approach in which test cases, conditions and data are derived from requirements. </a:t>
            </a:r>
          </a:p>
          <a:p>
            <a:pPr marL="457200" indent="-457200">
              <a:buFont typeface="Wingdings" panose="05000000000000000000" pitchFamily="2" charset="2"/>
              <a:buChar char="Ø"/>
            </a:pPr>
            <a:r>
              <a:rPr lang="en-US" sz="3200" b="1" dirty="0">
                <a:latin typeface="Century Schoolbook" panose="02040604050505020304" pitchFamily="18" charset="0"/>
              </a:rPr>
              <a:t>It includes functional tests and also non-functional attributes. such as </a:t>
            </a:r>
            <a:r>
              <a:rPr lang="en-US" sz="3200" b="1" dirty="0" err="1">
                <a:latin typeface="Century Schoolbook" panose="02040604050505020304" pitchFamily="18" charset="0"/>
              </a:rPr>
              <a:t>perforamance</a:t>
            </a:r>
            <a:r>
              <a:rPr lang="en-US" sz="3200" b="1" dirty="0">
                <a:latin typeface="Century Schoolbook" panose="02040604050505020304" pitchFamily="18" charset="0"/>
              </a:rPr>
              <a:t>, reliability or usability.</a:t>
            </a:r>
          </a:p>
          <a:p>
            <a:pPr marL="457200" indent="-457200">
              <a:buFont typeface="Wingdings" panose="05000000000000000000" pitchFamily="2" charset="2"/>
              <a:buChar char="Ø"/>
            </a:pPr>
            <a:r>
              <a:rPr lang="en-US" sz="3200" b="1" dirty="0">
                <a:latin typeface="Century Schoolbook" panose="02040604050505020304" pitchFamily="18" charset="0"/>
              </a:rPr>
              <a:t>This approach </a:t>
            </a:r>
            <a:r>
              <a:rPr lang="en-US" sz="3200" b="1" dirty="0" err="1">
                <a:latin typeface="Century Schoolbook" panose="02040604050505020304" pitchFamily="18" charset="0"/>
              </a:rPr>
              <a:t>gaurantees</a:t>
            </a:r>
            <a:r>
              <a:rPr lang="en-US" sz="3200" b="1" dirty="0">
                <a:latin typeface="Century Schoolbook" panose="02040604050505020304" pitchFamily="18" charset="0"/>
              </a:rPr>
              <a:t> that the software aligns with documented specifications.</a:t>
            </a:r>
          </a:p>
          <a:p>
            <a:pPr marL="457200" indent="-457200">
              <a:buFont typeface="Wingdings" panose="05000000000000000000" pitchFamily="2" charset="2"/>
              <a:buChar char="Ø"/>
            </a:pPr>
            <a:r>
              <a:rPr lang="en-US" sz="3200" b="1" dirty="0">
                <a:latin typeface="Century Schoolbook" panose="02040604050505020304" pitchFamily="18" charset="0"/>
              </a:rPr>
              <a:t>RBT process is comprised of too phases: Ambiguity reviews. and cause-effect graphing.</a:t>
            </a:r>
          </a:p>
          <a:p>
            <a:r>
              <a:rPr lang="en-US" sz="3200" dirty="0"/>
              <a:t>⭑</a:t>
            </a:r>
          </a:p>
          <a:p>
            <a:endParaRPr lang="en-IN" dirty="0"/>
          </a:p>
        </p:txBody>
      </p:sp>
    </p:spTree>
    <p:extLst>
      <p:ext uri="{BB962C8B-B14F-4D97-AF65-F5344CB8AC3E}">
        <p14:creationId xmlns:p14="http://schemas.microsoft.com/office/powerpoint/2010/main" val="300517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B441-DB9C-6E0C-159C-608980154DEA}"/>
              </a:ext>
            </a:extLst>
          </p:cNvPr>
          <p:cNvSpPr>
            <a:spLocks noGrp="1"/>
          </p:cNvSpPr>
          <p:nvPr>
            <p:ph type="title"/>
          </p:nvPr>
        </p:nvSpPr>
        <p:spPr>
          <a:xfrm>
            <a:off x="71120" y="0"/>
            <a:ext cx="11851639" cy="721359"/>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Stages of requirement based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28C45D6-096F-E1C1-D07B-B8CDDDCC2DB8}"/>
              </a:ext>
            </a:extLst>
          </p:cNvPr>
          <p:cNvSpPr>
            <a:spLocks noGrp="1"/>
          </p:cNvSpPr>
          <p:nvPr>
            <p:ph type="body" idx="1"/>
          </p:nvPr>
        </p:nvSpPr>
        <p:spPr>
          <a:xfrm>
            <a:off x="111760" y="721359"/>
            <a:ext cx="12009120" cy="5659119"/>
          </a:xfrm>
        </p:spPr>
        <p:txBody>
          <a:bodyPr>
            <a:normAutofit lnSpcReduction="10000"/>
          </a:bodyPr>
          <a:lstStyle/>
          <a:p>
            <a:r>
              <a:rPr lang="en-US" sz="2400" b="1" dirty="0">
                <a:latin typeface="Century Schoolbook" panose="02040604050505020304" pitchFamily="18" charset="0"/>
              </a:rPr>
              <a:t>1. </a:t>
            </a:r>
            <a:r>
              <a:rPr lang="en-US" sz="2400" b="1" dirty="0">
                <a:solidFill>
                  <a:srgbClr val="FFFF00"/>
                </a:solidFill>
                <a:latin typeface="Century Schoolbook" panose="02040604050505020304" pitchFamily="18" charset="0"/>
              </a:rPr>
              <a:t>Defining test completion criteria</a:t>
            </a:r>
            <a:r>
              <a:rPr lang="en-US" sz="2400" b="1" dirty="0">
                <a:latin typeface="Century Schoolbook" panose="02040604050505020304" pitchFamily="18" charset="0"/>
              </a:rPr>
              <a:t> </a:t>
            </a:r>
            <a:r>
              <a:rPr lang="en-US" sz="2400" b="1" dirty="0">
                <a:solidFill>
                  <a:srgbClr val="FFFF00"/>
                </a:solidFill>
                <a:latin typeface="Century Schoolbook" panose="02040604050505020304" pitchFamily="18" charset="0"/>
              </a:rPr>
              <a:t>:</a:t>
            </a:r>
            <a:r>
              <a:rPr lang="en-US" sz="2400" b="1" dirty="0">
                <a:latin typeface="Century Schoolbook" panose="02040604050505020304" pitchFamily="18" charset="0"/>
              </a:rPr>
              <a:t> Testing is completed only when all the functional &amp; non-functional testing is completed. </a:t>
            </a:r>
          </a:p>
          <a:p>
            <a:r>
              <a:rPr lang="en-US" sz="2400" b="1" dirty="0">
                <a:latin typeface="Century Schoolbook" panose="02040604050505020304" pitchFamily="18" charset="0"/>
              </a:rPr>
              <a:t>2. </a:t>
            </a:r>
            <a:r>
              <a:rPr lang="en-US" sz="2400" b="1" dirty="0">
                <a:solidFill>
                  <a:srgbClr val="FFFF00"/>
                </a:solidFill>
                <a:latin typeface="Century Schoolbook" panose="02040604050505020304" pitchFamily="18" charset="0"/>
              </a:rPr>
              <a:t>Design test case : </a:t>
            </a:r>
            <a:r>
              <a:rPr lang="en-US" sz="2400" b="1" dirty="0">
                <a:latin typeface="Century Schoolbook" panose="02040604050505020304" pitchFamily="18" charset="0"/>
              </a:rPr>
              <a:t>Test case have five parameters namely the Initial state, data setup, inputs, expected outcomes and actual outcomes.</a:t>
            </a:r>
          </a:p>
          <a:p>
            <a:r>
              <a:rPr lang="en-US" sz="2400" b="1" dirty="0">
                <a:latin typeface="Century Schoolbook" panose="02040604050505020304" pitchFamily="18" charset="0"/>
              </a:rPr>
              <a:t>3.  </a:t>
            </a:r>
            <a:r>
              <a:rPr lang="en-US" sz="2400" b="1" dirty="0">
                <a:solidFill>
                  <a:srgbClr val="FFFF00"/>
                </a:solidFill>
                <a:latin typeface="Century Schoolbook" panose="02040604050505020304" pitchFamily="18" charset="0"/>
              </a:rPr>
              <a:t>Execute Tests :</a:t>
            </a:r>
            <a:r>
              <a:rPr lang="en-US" sz="2400" b="1" dirty="0">
                <a:latin typeface="Century Schoolbook" panose="02040604050505020304" pitchFamily="18" charset="0"/>
              </a:rPr>
              <a:t> Execute the test cases against the system under test and  document the results.</a:t>
            </a:r>
          </a:p>
          <a:p>
            <a:r>
              <a:rPr lang="en-US" sz="2400" b="1" dirty="0">
                <a:latin typeface="Century Schoolbook" panose="02040604050505020304" pitchFamily="18" charset="0"/>
              </a:rPr>
              <a:t>4.  </a:t>
            </a:r>
            <a:r>
              <a:rPr lang="en-US" sz="2400" b="1" dirty="0">
                <a:solidFill>
                  <a:srgbClr val="FFFF00"/>
                </a:solidFill>
                <a:latin typeface="Century Schoolbook" panose="02040604050505020304" pitchFamily="18" charset="0"/>
              </a:rPr>
              <a:t>Verify Test Results :</a:t>
            </a:r>
            <a:r>
              <a:rPr lang="en-US" sz="2400" b="1" dirty="0">
                <a:latin typeface="Century Schoolbook" panose="02040604050505020304" pitchFamily="18" charset="0"/>
              </a:rPr>
              <a:t> Verify if the </a:t>
            </a:r>
            <a:r>
              <a:rPr lang="en-US" sz="2400" b="1" dirty="0" err="1">
                <a:latin typeface="Century Schoolbook" panose="02040604050505020304" pitchFamily="18" charset="0"/>
              </a:rPr>
              <a:t>exepeded</a:t>
            </a:r>
            <a:r>
              <a:rPr lang="en-US" sz="2400" b="1" dirty="0">
                <a:latin typeface="Century Schoolbook" panose="02040604050505020304" pitchFamily="18" charset="0"/>
              </a:rPr>
              <a:t> and </a:t>
            </a:r>
            <a:r>
              <a:rPr lang="en-US" sz="2400" b="1" dirty="0" err="1">
                <a:latin typeface="Century Schoolbook" panose="02040604050505020304" pitchFamily="18" charset="0"/>
              </a:rPr>
              <a:t>adual</a:t>
            </a:r>
            <a:r>
              <a:rPr lang="en-US" sz="2400" b="1" dirty="0">
                <a:latin typeface="Century Schoolbook" panose="02040604050505020304" pitchFamily="18" charset="0"/>
              </a:rPr>
              <a:t> results. match each other.</a:t>
            </a:r>
          </a:p>
          <a:p>
            <a:r>
              <a:rPr lang="en-US" sz="2400" b="1" dirty="0">
                <a:latin typeface="Century Schoolbook" panose="02040604050505020304" pitchFamily="18" charset="0"/>
              </a:rPr>
              <a:t>5. </a:t>
            </a:r>
            <a:r>
              <a:rPr lang="en-US" sz="2400" b="1" dirty="0">
                <a:solidFill>
                  <a:srgbClr val="FFFF00"/>
                </a:solidFill>
                <a:latin typeface="Century Schoolbook" panose="02040604050505020304" pitchFamily="18" charset="0"/>
              </a:rPr>
              <a:t>Verify Test Coverage : </a:t>
            </a:r>
            <a:r>
              <a:rPr lang="en-US" sz="2400" b="1" dirty="0">
                <a:latin typeface="Century Schoolbook" panose="02040604050505020304" pitchFamily="18" charset="0"/>
              </a:rPr>
              <a:t>verify if the test cover both functional and non-functional aspects of the requirement.</a:t>
            </a:r>
          </a:p>
          <a:p>
            <a:r>
              <a:rPr lang="en-US" sz="2400" b="1" dirty="0">
                <a:latin typeface="Century Schoolbook" panose="02040604050505020304" pitchFamily="18" charset="0"/>
              </a:rPr>
              <a:t>6. </a:t>
            </a:r>
            <a:r>
              <a:rPr lang="en-US" sz="2400" b="1" dirty="0">
                <a:solidFill>
                  <a:srgbClr val="FFFF00"/>
                </a:solidFill>
                <a:latin typeface="Century Schoolbook" panose="02040604050505020304" pitchFamily="18" charset="0"/>
              </a:rPr>
              <a:t>Track and mange defects :</a:t>
            </a:r>
            <a:r>
              <a:rPr lang="en-US" sz="2400" b="1" dirty="0">
                <a:latin typeface="Century Schoolbook" panose="02040604050505020304" pitchFamily="18" charset="0"/>
              </a:rPr>
              <a:t> Any defects detected during testing goes through the defect life cycle and are tracked to resolution. Defect statistics are maintained which will give us the overall status of the project.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910323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85C9-F4B8-0D41-EBA6-B5702193094F}"/>
              </a:ext>
            </a:extLst>
          </p:cNvPr>
          <p:cNvSpPr>
            <a:spLocks noGrp="1"/>
          </p:cNvSpPr>
          <p:nvPr>
            <p:ph type="title"/>
          </p:nvPr>
        </p:nvSpPr>
        <p:spPr>
          <a:xfrm>
            <a:off x="116841" y="91441"/>
            <a:ext cx="10131427" cy="721359"/>
          </a:xfrm>
        </p:spPr>
        <p:txBody>
          <a:bodyPr>
            <a:noAutofit/>
          </a:bodyPr>
          <a:lstStyle/>
          <a:p>
            <a:pPr marL="457200" indent="-457200">
              <a:buFont typeface="Wingdings" panose="05000000000000000000" pitchFamily="2" charset="2"/>
              <a:buChar char="v"/>
            </a:pPr>
            <a:r>
              <a:rPr lang="en-US" sz="4800" u="sng" dirty="0">
                <a:solidFill>
                  <a:srgbClr val="FFFF00"/>
                </a:solidFill>
                <a:latin typeface="Algerian" panose="04020705040A02060702" pitchFamily="82" charset="0"/>
              </a:rPr>
              <a:t>Positive testing</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8777493F-3A46-4B28-508A-5AF7E0C25B05}"/>
              </a:ext>
            </a:extLst>
          </p:cNvPr>
          <p:cNvSpPr>
            <a:spLocks noGrp="1"/>
          </p:cNvSpPr>
          <p:nvPr>
            <p:ph type="body" idx="1"/>
          </p:nvPr>
        </p:nvSpPr>
        <p:spPr>
          <a:xfrm>
            <a:off x="60960" y="-55880"/>
            <a:ext cx="12070079" cy="5867399"/>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Positive Testing is a type of testing which is performed software application by providing the valid data </a:t>
            </a:r>
            <a:r>
              <a:rPr lang="en-US" sz="2400" b="1" dirty="0" err="1">
                <a:latin typeface="Century Schoolbook" panose="02040604050505020304" pitchFamily="18" charset="0"/>
              </a:rPr>
              <a:t>sels</a:t>
            </a:r>
            <a:r>
              <a:rPr lang="en-US" sz="2400" b="1" dirty="0">
                <a:latin typeface="Century Schoolbook" panose="02040604050505020304" pitchFamily="18" charset="0"/>
              </a:rPr>
              <a:t> ab input. </a:t>
            </a:r>
          </a:p>
          <a:p>
            <a:pPr marL="342900" indent="-342900">
              <a:buFont typeface="Wingdings" panose="05000000000000000000" pitchFamily="2" charset="2"/>
              <a:buChar char="Ø"/>
            </a:pPr>
            <a:r>
              <a:rPr lang="en-US" sz="2400" b="1" dirty="0">
                <a:latin typeface="Century Schoolbook" panose="02040604050505020304" pitchFamily="18" charset="0"/>
              </a:rPr>
              <a:t>ii) It checks whether the application behaves as expected with positive inputs or not.</a:t>
            </a:r>
          </a:p>
          <a:p>
            <a:pPr marL="342900" indent="-342900">
              <a:buFont typeface="Wingdings" panose="05000000000000000000" pitchFamily="2" charset="2"/>
              <a:buChar char="Ø"/>
            </a:pPr>
            <a:r>
              <a:rPr lang="en-US" sz="2400" b="1" dirty="0">
                <a:latin typeface="Century Schoolbook" panose="02040604050505020304" pitchFamily="18" charset="0"/>
              </a:rPr>
              <a:t>The main goal is to check whether the software application does what it is supposed to do.</a:t>
            </a:r>
          </a:p>
          <a:p>
            <a:pPr marL="342900" indent="-342900">
              <a:buFont typeface="Wingdings" panose="05000000000000000000" pitchFamily="2" charset="2"/>
              <a:buChar char="Ø"/>
            </a:pPr>
            <a:r>
              <a:rPr lang="en-US" sz="2400" b="1" dirty="0">
                <a:latin typeface="Century Schoolbook" panose="02040604050505020304" pitchFamily="18" charset="0"/>
              </a:rPr>
              <a:t>For example : There is a text box in an application which can accept only numbers up to 99999, any other values apart from this should not be acceptable. To do positive testing, set the valid inputs from 0 to 99999 &amp; check whether the system is accepting the values.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A1AEFE52-7C62-BF30-4740-916C30FF6134}"/>
              </a:ext>
            </a:extLst>
          </p:cNvPr>
          <p:cNvPicPr>
            <a:picLocks noChangeAspect="1"/>
          </p:cNvPicPr>
          <p:nvPr/>
        </p:nvPicPr>
        <p:blipFill>
          <a:blip r:embed="rId2"/>
          <a:stretch>
            <a:fillRect/>
          </a:stretch>
        </p:blipFill>
        <p:spPr>
          <a:xfrm>
            <a:off x="2519680" y="5080000"/>
            <a:ext cx="7162799" cy="1503679"/>
          </a:xfrm>
          <a:prstGeom prst="rect">
            <a:avLst/>
          </a:prstGeom>
        </p:spPr>
      </p:pic>
    </p:spTree>
    <p:extLst>
      <p:ext uri="{BB962C8B-B14F-4D97-AF65-F5344CB8AC3E}">
        <p14:creationId xmlns:p14="http://schemas.microsoft.com/office/powerpoint/2010/main" val="277360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D9C3-A410-47CC-327F-BA0751F02AD0}"/>
              </a:ext>
            </a:extLst>
          </p:cNvPr>
          <p:cNvSpPr>
            <a:spLocks noGrp="1"/>
          </p:cNvSpPr>
          <p:nvPr>
            <p:ph type="title"/>
          </p:nvPr>
        </p:nvSpPr>
        <p:spPr>
          <a:xfrm>
            <a:off x="0" y="71120"/>
            <a:ext cx="10131427" cy="670559"/>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Negative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1487436-1D9C-B206-9AFA-527F94F9C754}"/>
              </a:ext>
            </a:extLst>
          </p:cNvPr>
          <p:cNvSpPr>
            <a:spLocks noGrp="1"/>
          </p:cNvSpPr>
          <p:nvPr>
            <p:ph type="body" idx="1"/>
          </p:nvPr>
        </p:nvSpPr>
        <p:spPr>
          <a:xfrm>
            <a:off x="104140" y="-320042"/>
            <a:ext cx="11983719" cy="5877559"/>
          </a:xfrm>
        </p:spPr>
        <p:txBody>
          <a:bodyPr>
            <a:normAutofit/>
          </a:bodyPr>
          <a:lstStyle/>
          <a:p>
            <a:r>
              <a:rPr lang="en-US" sz="2400" b="1" dirty="0" err="1">
                <a:latin typeface="Century Schoolbook" panose="02040604050505020304" pitchFamily="18" charset="0"/>
              </a:rPr>
              <a:t>i</a:t>
            </a:r>
            <a:r>
              <a:rPr lang="en-US" sz="2400" b="1" dirty="0">
                <a:latin typeface="Century Schoolbook" panose="02040604050505020304" pitchFamily="18" charset="0"/>
              </a:rPr>
              <a:t>) Negative testing is a testing method performed on the software application by providing invalid data sets as input.</a:t>
            </a:r>
          </a:p>
          <a:p>
            <a:r>
              <a:rPr lang="en-US" sz="2400" b="1" dirty="0">
                <a:latin typeface="Century Schoolbook" panose="02040604050505020304" pitchFamily="18" charset="0"/>
              </a:rPr>
              <a:t>ii) It checks whether the application behaves as expected with the negative user inputs or not...</a:t>
            </a:r>
          </a:p>
          <a:p>
            <a:r>
              <a:rPr lang="en-US" sz="2400" b="1" dirty="0">
                <a:latin typeface="Century Schoolbook" panose="02040604050505020304" pitchFamily="18" charset="0"/>
              </a:rPr>
              <a:t>iii) The purpose is to ensure that the software application does I not crash and remains stable with invalid data inputs.</a:t>
            </a:r>
          </a:p>
          <a:p>
            <a:r>
              <a:rPr lang="en-US" sz="2400" b="1" dirty="0">
                <a:latin typeface="Century Schoolbook" panose="02040604050505020304" pitchFamily="18" charset="0"/>
              </a:rPr>
              <a:t>iv) for example : Negative testing can be performed by entering characters A to Z or a to z Either software system should not accept the values or else it should throw an </a:t>
            </a:r>
            <a:r>
              <a:rPr lang="en-US" sz="2400" b="1" dirty="0" err="1">
                <a:latin typeface="Century Schoolbook" panose="02040604050505020304" pitchFamily="18" charset="0"/>
              </a:rPr>
              <a:t>extor</a:t>
            </a:r>
            <a:r>
              <a:rPr lang="en-US" sz="2400" b="1" dirty="0">
                <a:latin typeface="Century Schoolbook" panose="02040604050505020304" pitchFamily="18" charset="0"/>
              </a:rPr>
              <a:t> message for these invalid data inputs.</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F80D117F-5FF3-B499-AF08-6532BE0D0319}"/>
              </a:ext>
            </a:extLst>
          </p:cNvPr>
          <p:cNvPicPr>
            <a:picLocks noChangeAspect="1"/>
          </p:cNvPicPr>
          <p:nvPr/>
        </p:nvPicPr>
        <p:blipFill>
          <a:blip r:embed="rId2"/>
          <a:stretch>
            <a:fillRect/>
          </a:stretch>
        </p:blipFill>
        <p:spPr>
          <a:xfrm>
            <a:off x="1879600" y="4612640"/>
            <a:ext cx="8117840" cy="1981199"/>
          </a:xfrm>
          <a:prstGeom prst="rect">
            <a:avLst/>
          </a:prstGeom>
        </p:spPr>
      </p:pic>
    </p:spTree>
    <p:extLst>
      <p:ext uri="{BB962C8B-B14F-4D97-AF65-F5344CB8AC3E}">
        <p14:creationId xmlns:p14="http://schemas.microsoft.com/office/powerpoint/2010/main" val="75543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4AAA-5C60-CC11-7A51-3C2D7567059F}"/>
              </a:ext>
            </a:extLst>
          </p:cNvPr>
          <p:cNvSpPr>
            <a:spLocks noGrp="1"/>
          </p:cNvSpPr>
          <p:nvPr>
            <p:ph type="title"/>
          </p:nvPr>
        </p:nvSpPr>
        <p:spPr>
          <a:xfrm>
            <a:off x="106681" y="132081"/>
            <a:ext cx="10131427" cy="81279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Boundary value analysis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8A0F6B6-76C2-C6C6-56C3-A3B036903DB8}"/>
              </a:ext>
            </a:extLst>
          </p:cNvPr>
          <p:cNvSpPr>
            <a:spLocks noGrp="1"/>
          </p:cNvSpPr>
          <p:nvPr>
            <p:ph type="body" idx="1"/>
          </p:nvPr>
        </p:nvSpPr>
        <p:spPr>
          <a:xfrm>
            <a:off x="0" y="629920"/>
            <a:ext cx="12191999" cy="6095998"/>
          </a:xfrm>
        </p:spPr>
        <p:txBody>
          <a:bodyPr>
            <a:noAutofit/>
          </a:bodyPr>
          <a:lstStyle/>
          <a:p>
            <a:pPr marL="342900" indent="-342900">
              <a:buFont typeface="Wingdings" panose="05000000000000000000" pitchFamily="2" charset="2"/>
              <a:buChar char="Ø"/>
            </a:pPr>
            <a:r>
              <a:rPr lang="en-US" b="1" dirty="0">
                <a:latin typeface="Century Schoolbook" panose="02040604050505020304" pitchFamily="18" charset="0"/>
              </a:rPr>
              <a:t>BVA is a technique used to test boundary values i.e. those that contain the upper and lower limit of a variable.</a:t>
            </a:r>
          </a:p>
          <a:p>
            <a:pPr marL="342900" indent="-342900">
              <a:buFont typeface="Wingdings" panose="05000000000000000000" pitchFamily="2" charset="2"/>
              <a:buChar char="Ø"/>
            </a:pPr>
            <a:r>
              <a:rPr lang="en-US" b="1" dirty="0">
                <a:latin typeface="Century Schoolbook" panose="02040604050505020304" pitchFamily="18" charset="0"/>
              </a:rPr>
              <a:t>It checks for the input values near the boundary that have a higher chance of error.</a:t>
            </a:r>
          </a:p>
          <a:p>
            <a:pPr marL="342900" indent="-342900">
              <a:buFont typeface="Wingdings" panose="05000000000000000000" pitchFamily="2" charset="2"/>
              <a:buChar char="Ø"/>
            </a:pPr>
            <a:r>
              <a:rPr lang="en-US" b="1" dirty="0">
                <a:latin typeface="Century Schoolbook" panose="02040604050505020304" pitchFamily="18" charset="0"/>
              </a:rPr>
              <a:t>It is most suitable for the systems where an input is within certain ranges as it is very useful in reducing the no. of test cases.</a:t>
            </a:r>
          </a:p>
          <a:p>
            <a:pPr marL="342900" indent="-342900">
              <a:buFont typeface="Wingdings" panose="05000000000000000000" pitchFamily="2" charset="2"/>
              <a:buChar char="Ø"/>
            </a:pPr>
            <a:r>
              <a:rPr lang="en-US" b="1" dirty="0">
                <a:latin typeface="Century Schoolbook" panose="02040604050505020304" pitchFamily="18" charset="0"/>
              </a:rPr>
              <a:t>While testing, the tester focuses on, while entering </a:t>
            </a:r>
            <a:r>
              <a:rPr lang="en-US" b="1" dirty="0" err="1">
                <a:latin typeface="Century Schoolbook" panose="02040604050505020304" pitchFamily="18" charset="0"/>
              </a:rPr>
              <a:t>boundy</a:t>
            </a:r>
            <a:r>
              <a:rPr lang="en-US" b="1" dirty="0">
                <a:latin typeface="Century Schoolbook" panose="02040604050505020304" pitchFamily="18" charset="0"/>
              </a:rPr>
              <a:t> value whether the software is producing correct output or not.</a:t>
            </a:r>
          </a:p>
          <a:p>
            <a:pPr marL="342900" indent="-342900">
              <a:buFont typeface="Wingdings" panose="05000000000000000000" pitchFamily="2" charset="2"/>
              <a:buChar char="Ø"/>
            </a:pPr>
            <a:r>
              <a:rPr lang="en-US" b="1" dirty="0">
                <a:latin typeface="Century Schoolbook" panose="02040604050505020304" pitchFamily="18" charset="0"/>
              </a:rPr>
              <a:t>It is used at boundary values because the input values near the boundary have higher chances of error.</a:t>
            </a:r>
          </a:p>
          <a:p>
            <a:pPr marL="342900" indent="-342900">
              <a:buFont typeface="Wingdings" panose="05000000000000000000" pitchFamily="2" charset="2"/>
              <a:buChar char="Ø"/>
            </a:pPr>
            <a:r>
              <a:rPr lang="en-US" b="1" dirty="0">
                <a:latin typeface="Century Schoolbook" panose="02040604050505020304" pitchFamily="18" charset="0"/>
              </a:rPr>
              <a:t>BUA is one of the widely used case design technique for Black Box testing</a:t>
            </a:r>
          </a:p>
          <a:p>
            <a:r>
              <a:rPr lang="en-US" b="1" dirty="0">
                <a:latin typeface="Century Schoolbook" panose="02040604050505020304" pitchFamily="18" charset="0"/>
              </a:rPr>
              <a:t>For Example - Assume that is a variable of a function, &amp; its minimum value is 18 and maximum value is 56, Both 18 and 56 will be considered as boundary values. The tester pays attention to these two values, but this doesn't mean the middle values are ignored. Test cases are developed for each value • developed for each value of the range.</a:t>
            </a:r>
            <a:endParaRPr lang="en-IN" b="1" dirty="0">
              <a:latin typeface="Century Schoolbook" panose="02040604050505020304" pitchFamily="18" charset="0"/>
            </a:endParaRPr>
          </a:p>
        </p:txBody>
      </p:sp>
    </p:spTree>
    <p:extLst>
      <p:ext uri="{BB962C8B-B14F-4D97-AF65-F5344CB8AC3E}">
        <p14:creationId xmlns:p14="http://schemas.microsoft.com/office/powerpoint/2010/main" val="749525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67AC-F6AA-341E-0486-FAAF6C60C889}"/>
              </a:ext>
            </a:extLst>
          </p:cNvPr>
          <p:cNvSpPr>
            <a:spLocks noGrp="1"/>
          </p:cNvSpPr>
          <p:nvPr>
            <p:ph type="title"/>
          </p:nvPr>
        </p:nvSpPr>
        <p:spPr>
          <a:xfrm>
            <a:off x="0" y="1630679"/>
            <a:ext cx="12192000" cy="1137919"/>
          </a:xfrm>
        </p:spPr>
        <p:txBody>
          <a:bodyPr>
            <a:normAutofit fontScale="90000"/>
          </a:bodyPr>
          <a:lstStyle/>
          <a:p>
            <a:pPr marL="342900" indent="-342900">
              <a:buFont typeface="Wingdings" panose="05000000000000000000" pitchFamily="2" charset="2"/>
              <a:buChar char="v"/>
            </a:pPr>
            <a:r>
              <a:rPr lang="en-US" sz="3100" b="1" u="sng" dirty="0">
                <a:latin typeface="Century Schoolbook" panose="02040604050505020304" pitchFamily="18" charset="0"/>
              </a:rPr>
              <a:t>For Example</a:t>
            </a:r>
            <a:r>
              <a:rPr lang="en-US" sz="3100" b="1" dirty="0">
                <a:latin typeface="Century Schoolbook" panose="02040604050505020304" pitchFamily="18" charset="0"/>
              </a:rPr>
              <a:t> - Assume that is a                                                                     variable of a minimum value is                                                                     18 &amp; maximum value is 56, Both                                                                           18 and 56 values. The tester pays                                                                                                                                                                                                                  attention to these two values,                                                             but this doesn't mean the middle                                                values are developed for each                                                                      value of the range.</a:t>
            </a:r>
            <a:br>
              <a:rPr lang="en-US" sz="3100" b="1" dirty="0">
                <a:latin typeface="Century Schoolbook" panose="02040604050505020304" pitchFamily="18" charset="0"/>
              </a:rPr>
            </a:br>
            <a:br>
              <a:rPr lang="en-IN" sz="2400" b="1" dirty="0">
                <a:latin typeface="Century Schoolbook" panose="02040604050505020304" pitchFamily="18" charset="0"/>
              </a:rPr>
            </a:br>
            <a:endParaRPr lang="en-IN" sz="2400"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3F07C18F-40B5-BF80-6E8E-6525F9DC3A61}"/>
              </a:ext>
            </a:extLst>
          </p:cNvPr>
          <p:cNvSpPr>
            <a:spLocks noGrp="1"/>
          </p:cNvSpPr>
          <p:nvPr>
            <p:ph type="body" idx="1"/>
          </p:nvPr>
        </p:nvSpPr>
        <p:spPr>
          <a:xfrm>
            <a:off x="177801" y="4089403"/>
            <a:ext cx="12014199" cy="4084319"/>
          </a:xfrm>
        </p:spPr>
        <p:txBody>
          <a:bodyPr/>
          <a:lstStyle/>
          <a:p>
            <a:pPr marL="342900" indent="-342900">
              <a:buFont typeface="Wingdings" panose="05000000000000000000" pitchFamily="2" charset="2"/>
              <a:buChar char="Ø"/>
            </a:pPr>
            <a:r>
              <a:rPr lang="en-US" sz="2400" b="1" dirty="0">
                <a:latin typeface="Century Schoolbook" panose="02040604050505020304" pitchFamily="18" charset="0"/>
              </a:rPr>
              <a:t>Test Case 1 : Enter value 20 ( 21-1 ) = Invalid</a:t>
            </a:r>
          </a:p>
          <a:p>
            <a:pPr marL="342900" indent="-342900">
              <a:buFont typeface="Wingdings" panose="05000000000000000000" pitchFamily="2" charset="2"/>
              <a:buChar char="Ø"/>
            </a:pPr>
            <a:r>
              <a:rPr lang="en-US" sz="2400" b="1" dirty="0">
                <a:latin typeface="Century Schoolbook" panose="02040604050505020304" pitchFamily="18" charset="0"/>
              </a:rPr>
              <a:t>Test Case 2 : Enter value 21 ( MIN ) = Valid</a:t>
            </a:r>
          </a:p>
          <a:p>
            <a:pPr marL="342900" indent="-342900">
              <a:buFont typeface="Wingdings" panose="05000000000000000000" pitchFamily="2" charset="2"/>
              <a:buChar char="Ø"/>
            </a:pPr>
            <a:r>
              <a:rPr lang="en-US" sz="2400" b="1" dirty="0">
                <a:latin typeface="Century Schoolbook" panose="02040604050505020304" pitchFamily="18" charset="0"/>
              </a:rPr>
              <a:t>Test Case 3 : Enter value 22 ( 21+1 ) = Valid</a:t>
            </a:r>
          </a:p>
          <a:p>
            <a:pPr marL="342900" indent="-342900">
              <a:buFont typeface="Wingdings" panose="05000000000000000000" pitchFamily="2" charset="2"/>
              <a:buChar char="Ø"/>
            </a:pPr>
            <a:r>
              <a:rPr lang="en-US" sz="2400" b="1" dirty="0">
                <a:latin typeface="Century Schoolbook" panose="02040604050505020304" pitchFamily="18" charset="0"/>
              </a:rPr>
              <a:t>Test Case 4 : Enter value 64 ( 65-1 ) = Valid</a:t>
            </a:r>
          </a:p>
          <a:p>
            <a:pPr marL="342900" indent="-342900">
              <a:buFont typeface="Wingdings" panose="05000000000000000000" pitchFamily="2" charset="2"/>
              <a:buChar char="Ø"/>
            </a:pPr>
            <a:r>
              <a:rPr lang="en-US" sz="2400" b="1" dirty="0">
                <a:latin typeface="Century Schoolbook" panose="02040604050505020304" pitchFamily="18" charset="0"/>
              </a:rPr>
              <a:t>Test Case 5 : Enter value 65 ( MAX ) = Valid</a:t>
            </a:r>
          </a:p>
          <a:p>
            <a:pPr marL="342900" indent="-342900">
              <a:buFont typeface="Wingdings" panose="05000000000000000000" pitchFamily="2" charset="2"/>
              <a:buChar char="Ø"/>
            </a:pPr>
            <a:r>
              <a:rPr lang="en-US" sz="2400" b="1" dirty="0">
                <a:latin typeface="Century Schoolbook" panose="02040604050505020304" pitchFamily="18" charset="0"/>
              </a:rPr>
              <a:t>Test Case 6:  Enter value 66 ( 65+1 ) = Invalid</a:t>
            </a:r>
          </a:p>
          <a:p>
            <a:pPr marL="342900" indent="-342900">
              <a:buFont typeface="Wingdings" panose="05000000000000000000" pitchFamily="2" charset="2"/>
              <a:buChar char="Ø"/>
            </a:pPr>
            <a:endParaRPr lang="en-US" dirty="0">
              <a:latin typeface="Century Schoolbook" panose="02040604050505020304" pitchFamily="18" charset="0"/>
            </a:endParaRPr>
          </a:p>
          <a:p>
            <a:pPr marL="342900" indent="-342900">
              <a:buFont typeface="Wingdings" panose="05000000000000000000" pitchFamily="2" charset="2"/>
              <a:buChar char="Ø"/>
            </a:pPr>
            <a:endParaRPr lang="en-US" dirty="0">
              <a:latin typeface="Century Schoolbook" panose="02040604050505020304" pitchFamily="18" charset="0"/>
            </a:endParaRPr>
          </a:p>
          <a:p>
            <a:endParaRPr lang="en-IN" dirty="0"/>
          </a:p>
          <a:p>
            <a:endParaRPr lang="en-IN" dirty="0"/>
          </a:p>
          <a:p>
            <a:endParaRPr lang="en-IN" dirty="0"/>
          </a:p>
        </p:txBody>
      </p:sp>
      <p:pic>
        <p:nvPicPr>
          <p:cNvPr id="5" name="Picture 4">
            <a:extLst>
              <a:ext uri="{FF2B5EF4-FFF2-40B4-BE49-F238E27FC236}">
                <a16:creationId xmlns:a16="http://schemas.microsoft.com/office/drawing/2014/main" id="{76FDB7B7-0978-BBC6-382E-FC0B5F34CFA8}"/>
              </a:ext>
            </a:extLst>
          </p:cNvPr>
          <p:cNvPicPr>
            <a:picLocks noChangeAspect="1"/>
          </p:cNvPicPr>
          <p:nvPr/>
        </p:nvPicPr>
        <p:blipFill>
          <a:blip r:embed="rId3"/>
          <a:stretch>
            <a:fillRect/>
          </a:stretch>
        </p:blipFill>
        <p:spPr>
          <a:xfrm>
            <a:off x="6573520" y="111759"/>
            <a:ext cx="5481320" cy="3037841"/>
          </a:xfrm>
          <a:prstGeom prst="rect">
            <a:avLst/>
          </a:prstGeom>
        </p:spPr>
      </p:pic>
    </p:spTree>
    <p:extLst>
      <p:ext uri="{BB962C8B-B14F-4D97-AF65-F5344CB8AC3E}">
        <p14:creationId xmlns:p14="http://schemas.microsoft.com/office/powerpoint/2010/main" val="1403527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0CB9-AE21-A982-23B1-0BA21CA5643E}"/>
              </a:ext>
            </a:extLst>
          </p:cNvPr>
          <p:cNvSpPr>
            <a:spLocks noGrp="1"/>
          </p:cNvSpPr>
          <p:nvPr>
            <p:ph type="title"/>
          </p:nvPr>
        </p:nvSpPr>
        <p:spPr>
          <a:xfrm>
            <a:off x="96521" y="121921"/>
            <a:ext cx="10131427" cy="80263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Decision table</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8D95F89-5D2B-8CA6-DA2B-9BC45CCBE7EF}"/>
              </a:ext>
            </a:extLst>
          </p:cNvPr>
          <p:cNvSpPr>
            <a:spLocks noGrp="1"/>
          </p:cNvSpPr>
          <p:nvPr>
            <p:ph type="body" idx="1"/>
          </p:nvPr>
        </p:nvSpPr>
        <p:spPr>
          <a:xfrm>
            <a:off x="96521" y="670561"/>
            <a:ext cx="12192000" cy="6009640"/>
          </a:xfrm>
        </p:spPr>
        <p:txBody>
          <a:bodyPr>
            <a:normAutofit/>
          </a:bodyPr>
          <a:lstStyle/>
          <a:p>
            <a:pPr marL="342900" indent="-342900">
              <a:buFont typeface="Wingdings" panose="05000000000000000000" pitchFamily="2" charset="2"/>
              <a:buChar char="Ø"/>
            </a:pPr>
            <a:r>
              <a:rPr lang="en-US" b="1" dirty="0">
                <a:latin typeface="Century Schoolbook" panose="02040604050505020304" pitchFamily="18" charset="0"/>
              </a:rPr>
              <a:t>Decision Tables is a systematic approach where the different. input combinations and their corresponding system </a:t>
            </a:r>
            <a:r>
              <a:rPr lang="en-US" b="1" dirty="0" err="1">
                <a:latin typeface="Century Schoolbook" panose="02040604050505020304" pitchFamily="18" charset="0"/>
              </a:rPr>
              <a:t>behavious</a:t>
            </a:r>
            <a:r>
              <a:rPr lang="en-US" b="1" dirty="0">
                <a:latin typeface="Century Schoolbook" panose="02040604050505020304" pitchFamily="18" charset="0"/>
              </a:rPr>
              <a:t> </a:t>
            </a:r>
            <a:r>
              <a:rPr lang="en-US" b="1" dirty="0" err="1">
                <a:latin typeface="Century Schoolbook" panose="02040604050505020304" pitchFamily="18" charset="0"/>
              </a:rPr>
              <a:t>Coutput</a:t>
            </a:r>
            <a:r>
              <a:rPr lang="en-US" b="1" dirty="0">
                <a:latin typeface="Century Schoolbook" panose="02040604050505020304" pitchFamily="18" charset="0"/>
              </a:rPr>
              <a:t>) are captured in a tabular form.</a:t>
            </a:r>
          </a:p>
          <a:p>
            <a:pPr marL="342900" indent="-342900">
              <a:buFont typeface="Wingdings" panose="05000000000000000000" pitchFamily="2" charset="2"/>
              <a:buChar char="Ø"/>
            </a:pPr>
            <a:r>
              <a:rPr lang="en-US" b="1" dirty="0">
                <a:latin typeface="Century Schoolbook" panose="02040604050505020304" pitchFamily="18" charset="0"/>
              </a:rPr>
              <a:t>This test technique is appropriate for functionalities which has logical relationship between inputs (if-else logic).</a:t>
            </a:r>
          </a:p>
          <a:p>
            <a:pPr marL="342900" indent="-342900">
              <a:buFont typeface="Wingdings" panose="05000000000000000000" pitchFamily="2" charset="2"/>
              <a:buChar char="Ø"/>
            </a:pPr>
            <a:r>
              <a:rPr lang="en-US" b="1" dirty="0">
                <a:latin typeface="Century Schoolbook" panose="02040604050505020304" pitchFamily="18" charset="0"/>
              </a:rPr>
              <a:t>In Decision Table technique, we deal with combinations of inputs. We take conditions as inputs f actions as outputs.</a:t>
            </a:r>
          </a:p>
          <a:p>
            <a:pPr marL="342900" indent="-342900">
              <a:buFont typeface="Wingdings" panose="05000000000000000000" pitchFamily="2" charset="2"/>
              <a:buChar char="Ø"/>
            </a:pPr>
            <a:r>
              <a:rPr lang="en-US" b="1" dirty="0">
                <a:latin typeface="Century Schoolbook" panose="02040604050505020304" pitchFamily="18" charset="0"/>
              </a:rPr>
              <a:t>Complex situations rely on decision tables, as it offers the testers an organized view about the input combination and the expected output.</a:t>
            </a:r>
          </a:p>
          <a:p>
            <a:pPr marL="342900" indent="-342900">
              <a:buFont typeface="Wingdings" panose="05000000000000000000" pitchFamily="2" charset="2"/>
              <a:buChar char="Ø"/>
            </a:pPr>
            <a:r>
              <a:rPr lang="en-US" b="1" dirty="0">
                <a:latin typeface="Century Schoolbook" panose="02040604050505020304" pitchFamily="18" charset="0"/>
              </a:rPr>
              <a:t>for Example : -</a:t>
            </a:r>
          </a:p>
          <a:p>
            <a:r>
              <a:rPr lang="en-US" b="1" dirty="0">
                <a:latin typeface="Century Schoolbook" panose="02040604050505020304" pitchFamily="18" charset="0"/>
              </a:rPr>
              <a:t> Most of us use an email account, if both                                                                                            email and password are correctly matched,                                                                                               user is directed to homepage. </a:t>
            </a:r>
            <a:r>
              <a:rPr lang="en-US" b="1" dirty="0" err="1">
                <a:latin typeface="Century Schoolbook" panose="02040604050505020304" pitchFamily="18" charset="0"/>
              </a:rPr>
              <a:t>Totherwise</a:t>
            </a:r>
            <a:r>
              <a:rPr lang="en-US" b="1" dirty="0">
                <a:latin typeface="Century Schoolbook" panose="02040604050505020304" pitchFamily="18" charset="0"/>
              </a:rPr>
              <a:t> it                                                                                                       will come back to login page error message                                                                                 specified with Incorrect Email" or "Incorrect                                                                                          Password“. A decision table 'is' created for                                                                                                                 the login function.</a:t>
            </a:r>
            <a:endParaRPr lang="en-IN" b="1" dirty="0">
              <a:latin typeface="Century Schoolbook" panose="02040604050505020304" pitchFamily="18" charset="0"/>
            </a:endParaRPr>
          </a:p>
        </p:txBody>
      </p:sp>
      <p:pic>
        <p:nvPicPr>
          <p:cNvPr id="5" name="Picture 4">
            <a:extLst>
              <a:ext uri="{FF2B5EF4-FFF2-40B4-BE49-F238E27FC236}">
                <a16:creationId xmlns:a16="http://schemas.microsoft.com/office/drawing/2014/main" id="{FBCFFE7F-54A1-ACD8-36CE-F12ED9F6F985}"/>
              </a:ext>
            </a:extLst>
          </p:cNvPr>
          <p:cNvPicPr>
            <a:picLocks noChangeAspect="1"/>
          </p:cNvPicPr>
          <p:nvPr/>
        </p:nvPicPr>
        <p:blipFill>
          <a:blip r:embed="rId2"/>
          <a:stretch>
            <a:fillRect/>
          </a:stretch>
        </p:blipFill>
        <p:spPr>
          <a:xfrm>
            <a:off x="6192521" y="4011795"/>
            <a:ext cx="5789025" cy="2368684"/>
          </a:xfrm>
          <a:prstGeom prst="rect">
            <a:avLst/>
          </a:prstGeom>
        </p:spPr>
      </p:pic>
    </p:spTree>
    <p:extLst>
      <p:ext uri="{BB962C8B-B14F-4D97-AF65-F5344CB8AC3E}">
        <p14:creationId xmlns:p14="http://schemas.microsoft.com/office/powerpoint/2010/main" val="1024735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99F8-6921-7E7F-A0CA-38ED0DA86A2F}"/>
              </a:ext>
            </a:extLst>
          </p:cNvPr>
          <p:cNvSpPr>
            <a:spLocks noGrp="1"/>
          </p:cNvSpPr>
          <p:nvPr>
            <p:ph type="title"/>
          </p:nvPr>
        </p:nvSpPr>
        <p:spPr>
          <a:xfrm>
            <a:off x="137161" y="111761"/>
            <a:ext cx="10131427" cy="83311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Equivalence partitioning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FDFC621-C6F4-4A46-3B45-6997DCBA2FAC}"/>
              </a:ext>
            </a:extLst>
          </p:cNvPr>
          <p:cNvSpPr>
            <a:spLocks noGrp="1"/>
          </p:cNvSpPr>
          <p:nvPr>
            <p:ph type="body" idx="1"/>
          </p:nvPr>
        </p:nvSpPr>
        <p:spPr>
          <a:xfrm>
            <a:off x="124460" y="726439"/>
            <a:ext cx="11943079" cy="5593079"/>
          </a:xfrm>
        </p:spPr>
        <p:txBody>
          <a:bodyPr>
            <a:normAutofit lnSpcReduction="10000"/>
          </a:bodyPr>
          <a:lstStyle/>
          <a:p>
            <a:pPr marL="457200" indent="-457200">
              <a:buFont typeface="Wingdings" panose="05000000000000000000" pitchFamily="2" charset="2"/>
              <a:buChar char="Ø"/>
            </a:pPr>
            <a:r>
              <a:rPr lang="en-US" sz="2800" b="1" dirty="0">
                <a:latin typeface="Century Schoolbook" panose="02040604050505020304" pitchFamily="18" charset="0"/>
              </a:rPr>
              <a:t>Equivalence Partitioning is a software testing technique that divides the input data into </a:t>
            </a:r>
            <a:r>
              <a:rPr lang="en-US" sz="2800" b="1" dirty="0" err="1">
                <a:latin typeface="Century Schoolbook" panose="02040604050505020304" pitchFamily="18" charset="0"/>
              </a:rPr>
              <a:t>partions</a:t>
            </a:r>
            <a:r>
              <a:rPr lang="en-US" sz="2800" b="1" dirty="0">
                <a:latin typeface="Century Schoolbook" panose="02040604050505020304" pitchFamily="18" charset="0"/>
              </a:rPr>
              <a:t> of valid and invalid values If it is mandatory that all partitions must </a:t>
            </a:r>
            <a:r>
              <a:rPr lang="en-US" sz="2800" b="1" dirty="0" err="1">
                <a:latin typeface="Century Schoolbook" panose="02040604050505020304" pitchFamily="18" charset="0"/>
              </a:rPr>
              <a:t>exibit</a:t>
            </a:r>
            <a:r>
              <a:rPr lang="en-US" sz="2800" b="1" dirty="0">
                <a:latin typeface="Century Schoolbook" panose="02040604050505020304" pitchFamily="18" charset="0"/>
              </a:rPr>
              <a:t> the same </a:t>
            </a:r>
            <a:r>
              <a:rPr lang="en-US" sz="2800" b="1" dirty="0" err="1">
                <a:latin typeface="Century Schoolbook" panose="02040604050505020304" pitchFamily="18" charset="0"/>
              </a:rPr>
              <a:t>behaviour</a:t>
            </a:r>
            <a:r>
              <a:rPr lang="en-US" sz="2800" b="1" dirty="0">
                <a:latin typeface="Century Schoolbook" panose="02040604050505020304" pitchFamily="18" charset="0"/>
              </a:rPr>
              <a:t>.</a:t>
            </a:r>
          </a:p>
          <a:p>
            <a:pPr marL="457200" indent="-457200">
              <a:buFont typeface="Wingdings" panose="05000000000000000000" pitchFamily="2" charset="2"/>
              <a:buChar char="Ø"/>
            </a:pPr>
            <a:r>
              <a:rPr lang="en-US" sz="2800" b="1" dirty="0">
                <a:latin typeface="Century Schoolbook" panose="02040604050505020304" pitchFamily="18" charset="0"/>
              </a:rPr>
              <a:t>This technique is also known as Equivalence Class Park Honing CECP).</a:t>
            </a:r>
          </a:p>
          <a:p>
            <a:pPr marL="457200" indent="-457200">
              <a:buFont typeface="Wingdings" panose="05000000000000000000" pitchFamily="2" charset="2"/>
              <a:buChar char="Ø"/>
            </a:pPr>
            <a:r>
              <a:rPr lang="en-US" sz="2800" b="1" dirty="0">
                <a:latin typeface="Century Schoolbook" panose="02040604050505020304" pitchFamily="18" charset="0"/>
              </a:rPr>
              <a:t>In this technique, input values to the system are divided into different classes based on its similarity in the outcome. iv) Hence, instead of using every input value, we can now use any one value from the class to test the outcome. </a:t>
            </a:r>
          </a:p>
          <a:p>
            <a:pPr marL="457200" indent="-457200">
              <a:buFont typeface="Wingdings" panose="05000000000000000000" pitchFamily="2" charset="2"/>
              <a:buChar char="Ø"/>
            </a:pPr>
            <a:r>
              <a:rPr lang="en-US" sz="2800" b="1" dirty="0">
                <a:latin typeface="Century Schoolbook" panose="02040604050505020304" pitchFamily="18" charset="0"/>
              </a:rPr>
              <a:t>In this way, we can maintain test coverage &amp; reduce rework &amp; time spent.</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776496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5E6A-3EB1-F83B-8070-56C21BE6D647}"/>
              </a:ext>
            </a:extLst>
          </p:cNvPr>
          <p:cNvSpPr>
            <a:spLocks noGrp="1"/>
          </p:cNvSpPr>
          <p:nvPr>
            <p:ph type="title"/>
          </p:nvPr>
        </p:nvSpPr>
        <p:spPr>
          <a:xfrm>
            <a:off x="22860" y="587402"/>
            <a:ext cx="12146280" cy="4766292"/>
          </a:xfrm>
        </p:spPr>
        <p:txBody>
          <a:bodyPr>
            <a:noAutofit/>
          </a:bodyPr>
          <a:lstStyle/>
          <a:p>
            <a:pPr marL="457200" indent="-457200">
              <a:buFont typeface="Wingdings" panose="05000000000000000000" pitchFamily="2" charset="2"/>
              <a:buChar char="v"/>
            </a:pPr>
            <a:r>
              <a:rPr lang="en-US" sz="2800" b="1" u="sng" dirty="0">
                <a:latin typeface="Century Schoolbook" panose="02040604050505020304" pitchFamily="18" charset="0"/>
              </a:rPr>
              <a:t>For Example</a:t>
            </a:r>
            <a:r>
              <a:rPr lang="en-US" sz="2800" b="1" dirty="0">
                <a:latin typeface="Century Schoolbook" panose="02040604050505020304" pitchFamily="18" charset="0"/>
              </a:rPr>
              <a:t> : -</a:t>
            </a:r>
            <a:br>
              <a:rPr lang="en-US" sz="2800" b="1" dirty="0">
                <a:latin typeface="Century Schoolbook" panose="02040604050505020304" pitchFamily="18" charset="0"/>
              </a:rPr>
            </a:br>
            <a:r>
              <a:rPr lang="en-US" sz="2800" b="1" dirty="0">
                <a:latin typeface="Century Schoolbook" panose="02040604050505020304" pitchFamily="18" charset="0"/>
              </a:rPr>
              <a:t> "AGE" only </a:t>
            </a:r>
            <a:r>
              <a:rPr lang="en-US" sz="2800" b="1" dirty="0" err="1">
                <a:latin typeface="Century Schoolbook" panose="02040604050505020304" pitchFamily="18" charset="0"/>
              </a:rPr>
              <a:t>acepts</a:t>
            </a:r>
            <a:r>
              <a:rPr lang="en-US" sz="2800" b="1" dirty="0">
                <a:latin typeface="Century Schoolbook" panose="02040604050505020304" pitchFamily="18" charset="0"/>
              </a:rPr>
              <a:t>                                                                                        numbers from 18 to 60.                                                                                             There will be three sets                                                                                     of classes. </a:t>
            </a:r>
            <a:br>
              <a:rPr lang="en-US" sz="2800" b="1" dirty="0">
                <a:latin typeface="Century Schoolbook" panose="02040604050505020304" pitchFamily="18" charset="0"/>
              </a:rPr>
            </a:br>
            <a:r>
              <a:rPr lang="en-US" sz="2800" b="1" dirty="0">
                <a:latin typeface="Century Schoolbook" panose="02040604050505020304" pitchFamily="18" charset="0"/>
              </a:rPr>
              <a:t>-  Two invalid classes                                                                                     will be:</a:t>
            </a:r>
            <a:br>
              <a:rPr lang="en-US" sz="2800" b="1" dirty="0">
                <a:latin typeface="Century Schoolbook" panose="02040604050505020304" pitchFamily="18" charset="0"/>
              </a:rPr>
            </a:br>
            <a:r>
              <a:rPr lang="en-US" sz="2800" b="1" dirty="0">
                <a:latin typeface="Century Schoolbook" panose="02040604050505020304" pitchFamily="18" charset="0"/>
              </a:rPr>
              <a:t>a) Less than or equal to 17. </a:t>
            </a:r>
            <a:br>
              <a:rPr lang="en-US" sz="2800" b="1" dirty="0">
                <a:latin typeface="Century Schoolbook" panose="02040604050505020304" pitchFamily="18" charset="0"/>
              </a:rPr>
            </a:br>
            <a:r>
              <a:rPr lang="en-US" sz="2800" b="1" dirty="0">
                <a:latin typeface="Century Schoolbook" panose="02040604050505020304" pitchFamily="18" charset="0"/>
              </a:rPr>
              <a:t>b) Greater than or equal                                                                                   to 61.</a:t>
            </a:r>
            <a:br>
              <a:rPr lang="en-US" sz="2800" b="1" dirty="0">
                <a:latin typeface="Century Schoolbook" panose="02040604050505020304" pitchFamily="18" charset="0"/>
              </a:rPr>
            </a:br>
            <a:r>
              <a:rPr lang="en-US" sz="2800" b="1" dirty="0">
                <a:latin typeface="Century Schoolbook" panose="02040604050505020304" pitchFamily="18" charset="0"/>
              </a:rPr>
              <a:t>one valid class will be between 18 to 60.</a:t>
            </a:r>
            <a:br>
              <a:rPr lang="en-US" sz="2800" b="1" dirty="0">
                <a:latin typeface="Century Schoolbook" panose="02040604050505020304" pitchFamily="18" charset="0"/>
              </a:rPr>
            </a:br>
            <a:r>
              <a:rPr lang="en-US" sz="2800" b="1" dirty="0">
                <a:latin typeface="Century Schoolbook" panose="02040604050505020304" pitchFamily="18" charset="0"/>
              </a:rPr>
              <a:t>We thus have reduced the test cases to only 3 test cases. based on the formed classes.</a:t>
            </a:r>
            <a:endParaRPr lang="en-IN" sz="28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18521C7C-3BD5-3EC6-2372-AC4CCFFDDC83}"/>
              </a:ext>
            </a:extLst>
          </p:cNvPr>
          <p:cNvSpPr>
            <a:spLocks noGrp="1"/>
          </p:cNvSpPr>
          <p:nvPr>
            <p:ph type="body" idx="1"/>
          </p:nvPr>
        </p:nvSpPr>
        <p:spPr>
          <a:xfrm>
            <a:off x="1346200" y="5481320"/>
            <a:ext cx="10131428" cy="1447800"/>
          </a:xfrm>
        </p:spPr>
        <p:txBody>
          <a:bodyPr/>
          <a:lstStyle/>
          <a:p>
            <a:endParaRPr lang="en-IN" dirty="0"/>
          </a:p>
        </p:txBody>
      </p:sp>
      <p:pic>
        <p:nvPicPr>
          <p:cNvPr id="5" name="Picture 4">
            <a:extLst>
              <a:ext uri="{FF2B5EF4-FFF2-40B4-BE49-F238E27FC236}">
                <a16:creationId xmlns:a16="http://schemas.microsoft.com/office/drawing/2014/main" id="{CCB4FF3E-A962-AF1D-9654-97C0B553F0A3}"/>
              </a:ext>
            </a:extLst>
          </p:cNvPr>
          <p:cNvPicPr>
            <a:picLocks noChangeAspect="1"/>
          </p:cNvPicPr>
          <p:nvPr/>
        </p:nvPicPr>
        <p:blipFill>
          <a:blip r:embed="rId2"/>
          <a:stretch>
            <a:fillRect/>
          </a:stretch>
        </p:blipFill>
        <p:spPr>
          <a:xfrm>
            <a:off x="5435600" y="787885"/>
            <a:ext cx="6639560" cy="3389966"/>
          </a:xfrm>
          <a:prstGeom prst="rect">
            <a:avLst/>
          </a:prstGeom>
        </p:spPr>
      </p:pic>
    </p:spTree>
    <p:extLst>
      <p:ext uri="{BB962C8B-B14F-4D97-AF65-F5344CB8AC3E}">
        <p14:creationId xmlns:p14="http://schemas.microsoft.com/office/powerpoint/2010/main" val="1755286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379FA-A0F5-71A7-5568-827B41BDB828}"/>
              </a:ext>
            </a:extLst>
          </p:cNvPr>
          <p:cNvSpPr>
            <a:spLocks noGrp="1"/>
          </p:cNvSpPr>
          <p:nvPr>
            <p:ph type="title"/>
          </p:nvPr>
        </p:nvSpPr>
        <p:spPr>
          <a:xfrm>
            <a:off x="116841" y="121921"/>
            <a:ext cx="10131427" cy="772159"/>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User documentation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8A23D593-3832-3ADD-B992-0AB86462C8BA}"/>
              </a:ext>
            </a:extLst>
          </p:cNvPr>
          <p:cNvSpPr>
            <a:spLocks noGrp="1"/>
          </p:cNvSpPr>
          <p:nvPr>
            <p:ph type="body" idx="1"/>
          </p:nvPr>
        </p:nvSpPr>
        <p:spPr>
          <a:xfrm>
            <a:off x="116841" y="447040"/>
            <a:ext cx="11958318" cy="596392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User Documentation Testing have two objectives : </a:t>
            </a:r>
          </a:p>
          <a:p>
            <a:r>
              <a:rPr lang="en-US" sz="2400" b="1" dirty="0">
                <a:latin typeface="Century Schoolbook" panose="02040604050505020304" pitchFamily="18" charset="0"/>
              </a:rPr>
              <a:t>1. To check if what is stated in the document is available in the Software</a:t>
            </a:r>
          </a:p>
          <a:p>
            <a:r>
              <a:rPr lang="en-US" sz="2400" b="1" dirty="0">
                <a:latin typeface="Century Schoolbook" panose="02040604050505020304" pitchFamily="18" charset="0"/>
              </a:rPr>
              <a:t>2. To check if what is there in the product is explained correctly</a:t>
            </a:r>
          </a:p>
          <a:p>
            <a:r>
              <a:rPr lang="en-US" sz="2400" b="1" dirty="0">
                <a:latin typeface="Century Schoolbook" panose="02040604050505020304" pitchFamily="18" charset="0"/>
              </a:rPr>
              <a:t>in the document.</a:t>
            </a:r>
          </a:p>
          <a:p>
            <a:pPr marL="342900" indent="-342900">
              <a:buFont typeface="Wingdings" panose="05000000000000000000" pitchFamily="2" charset="2"/>
              <a:buChar char="Ø"/>
            </a:pPr>
            <a:r>
              <a:rPr lang="en-US" sz="2400" b="1" dirty="0">
                <a:latin typeface="Century Schoolbook" panose="02040604050505020304" pitchFamily="18" charset="0"/>
              </a:rPr>
              <a:t>This testing plays a vital role as the users will refer this document when they start using the software at their location.</a:t>
            </a:r>
          </a:p>
          <a:p>
            <a:pPr marL="342900" indent="-342900">
              <a:buFont typeface="Wingdings" panose="05000000000000000000" pitchFamily="2" charset="2"/>
              <a:buChar char="Ø"/>
            </a:pPr>
            <a:r>
              <a:rPr lang="en-US" sz="2400" b="1" dirty="0">
                <a:latin typeface="Century Schoolbook" panose="02040604050505020304" pitchFamily="18" charset="0"/>
              </a:rPr>
              <a:t>User Documentation covers all the manuals, user guides, </a:t>
            </a:r>
            <a:r>
              <a:rPr lang="en-US" sz="2400" b="1" dirty="0" err="1">
                <a:latin typeface="Century Schoolbook" panose="02040604050505020304" pitchFamily="18" charset="0"/>
              </a:rPr>
              <a:t>instalation</a:t>
            </a:r>
            <a:r>
              <a:rPr lang="en-US" sz="2400" b="1" dirty="0">
                <a:latin typeface="Century Schoolbook" panose="02040604050505020304" pitchFamily="18" charset="0"/>
              </a:rPr>
              <a:t> guides, setup guides, read me files, software release notes, and online help.</a:t>
            </a:r>
          </a:p>
          <a:p>
            <a:pPr marL="342900" indent="-342900">
              <a:buFont typeface="Wingdings" panose="05000000000000000000" pitchFamily="2" charset="2"/>
              <a:buChar char="Ø"/>
            </a:pPr>
            <a:r>
              <a:rPr lang="en-US" sz="2400" b="1" dirty="0">
                <a:latin typeface="Century Schoolbook" panose="02040604050505020304" pitchFamily="18" charset="0"/>
              </a:rPr>
              <a:t>Documentation for an organization saves time, cost and makes testing easy and systematic.</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683788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F5086-133A-D6C0-5E61-CEEDD4C33845}"/>
              </a:ext>
            </a:extLst>
          </p:cNvPr>
          <p:cNvSpPr>
            <a:spLocks noGrp="1"/>
          </p:cNvSpPr>
          <p:nvPr>
            <p:ph type="title"/>
          </p:nvPr>
        </p:nvSpPr>
        <p:spPr>
          <a:xfrm>
            <a:off x="127001" y="162561"/>
            <a:ext cx="11932919" cy="1036319"/>
          </a:xfrm>
        </p:spPr>
        <p:txBody>
          <a:bodyPr>
            <a:normAutofit fontScale="90000"/>
          </a:bodyPr>
          <a:lstStyle/>
          <a:p>
            <a:pPr marL="571500" indent="-571500">
              <a:buFont typeface="Wingdings" panose="05000000000000000000" pitchFamily="2" charset="2"/>
              <a:buChar char="v"/>
            </a:pPr>
            <a:r>
              <a:rPr lang="en-US" sz="3600" u="sng" dirty="0">
                <a:solidFill>
                  <a:srgbClr val="FFFF00"/>
                </a:solidFill>
                <a:latin typeface="Algerian" panose="04020705040A02060702" pitchFamily="82" charset="0"/>
              </a:rPr>
              <a:t>Essential software testing documents that are need to be maintained</a:t>
            </a:r>
            <a:r>
              <a:rPr lang="en-US" sz="3600" dirty="0">
                <a:solidFill>
                  <a:srgbClr val="FFFF00"/>
                </a:solidFill>
                <a:latin typeface="Algerian" panose="04020705040A02060702" pitchFamily="82" charset="0"/>
              </a:rPr>
              <a:t> : -</a:t>
            </a:r>
            <a:endParaRPr lang="en-IN" sz="36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A182E02-CCD8-247D-DA0A-1486BAAA655F}"/>
              </a:ext>
            </a:extLst>
          </p:cNvPr>
          <p:cNvSpPr>
            <a:spLocks noGrp="1"/>
          </p:cNvSpPr>
          <p:nvPr>
            <p:ph type="body" idx="1"/>
          </p:nvPr>
        </p:nvSpPr>
        <p:spPr>
          <a:xfrm>
            <a:off x="718820" y="1320799"/>
            <a:ext cx="11932919" cy="5659120"/>
          </a:xfrm>
        </p:spPr>
        <p:txBody>
          <a:bodyPr>
            <a:normAutofit/>
          </a:bodyPr>
          <a:lstStyle/>
          <a:p>
            <a:r>
              <a:rPr lang="en-US" sz="2400" b="1" dirty="0">
                <a:latin typeface="Century Schoolbook" panose="02040604050505020304" pitchFamily="18" charset="0"/>
              </a:rPr>
              <a:t>1. Test Design Document.</a:t>
            </a:r>
          </a:p>
          <a:p>
            <a:r>
              <a:rPr lang="en-US" sz="2400" b="1" dirty="0">
                <a:latin typeface="Century Schoolbook" panose="02040604050505020304" pitchFamily="18" charset="0"/>
              </a:rPr>
              <a:t>2. Test Case Specification.</a:t>
            </a:r>
          </a:p>
          <a:p>
            <a:r>
              <a:rPr lang="en-US" sz="2400" b="1" dirty="0">
                <a:latin typeface="Century Schoolbook" panose="02040604050505020304" pitchFamily="18" charset="0"/>
              </a:rPr>
              <a:t>3. Test strategy.</a:t>
            </a:r>
          </a:p>
          <a:p>
            <a:r>
              <a:rPr lang="en-US" sz="2400" b="1" dirty="0">
                <a:latin typeface="Century Schoolbook" panose="02040604050505020304" pitchFamily="18" charset="0"/>
              </a:rPr>
              <a:t>4. Test summary reports.</a:t>
            </a:r>
          </a:p>
          <a:p>
            <a:r>
              <a:rPr lang="en-US" sz="2400" b="1" dirty="0">
                <a:latin typeface="Century Schoolbook" panose="02040604050505020304" pitchFamily="18" charset="0"/>
              </a:rPr>
              <a:t>5. Weekly status reports. 7. User Acceptance report.</a:t>
            </a:r>
          </a:p>
          <a:p>
            <a:r>
              <a:rPr lang="en-US" sz="2400" b="1" dirty="0">
                <a:latin typeface="Century Schoolbook" panose="02040604050505020304" pitchFamily="18" charset="0"/>
              </a:rPr>
              <a:t>8. Risk Management report.</a:t>
            </a:r>
          </a:p>
          <a:p>
            <a:r>
              <a:rPr lang="en-US" sz="2400" b="1" dirty="0">
                <a:latin typeface="Century Schoolbook" panose="02040604050505020304" pitchFamily="18" charset="0"/>
              </a:rPr>
              <a:t>9. Test log.</a:t>
            </a:r>
          </a:p>
          <a:p>
            <a:r>
              <a:rPr lang="en-US" sz="2400" b="1" dirty="0">
                <a:latin typeface="Century Schoolbook" panose="02040604050505020304" pitchFamily="18" charset="0"/>
              </a:rPr>
              <a:t>10. Test plan.</a:t>
            </a:r>
          </a:p>
          <a:p>
            <a:r>
              <a:rPr lang="en-US" sz="2400" b="1" dirty="0">
                <a:latin typeface="Century Schoolbook" panose="02040604050505020304" pitchFamily="18" charset="0"/>
              </a:rPr>
              <a:t>11. Bug reports.</a:t>
            </a:r>
          </a:p>
          <a:p>
            <a:r>
              <a:rPr lang="en-US" sz="2400" b="1" dirty="0">
                <a:latin typeface="Century Schoolbook" panose="02040604050505020304" pitchFamily="18" charset="0"/>
              </a:rPr>
              <a:t>12. Test </a:t>
            </a:r>
            <a:r>
              <a:rPr lang="en-US" sz="2400" b="1" dirty="0" err="1">
                <a:latin typeface="Century Schoolbook" panose="02040604050505020304" pitchFamily="18" charset="0"/>
              </a:rPr>
              <a:t>dala</a:t>
            </a:r>
            <a:r>
              <a:rPr lang="en-US" sz="2400" b="1" dirty="0">
                <a:latin typeface="Century Schoolbook" panose="02040604050505020304" pitchFamily="18" charset="0"/>
              </a:rPr>
              <a:t>.</a:t>
            </a:r>
          </a:p>
          <a:p>
            <a:r>
              <a:rPr lang="en-US" sz="2400" b="1" dirty="0">
                <a:latin typeface="Century Schoolbook" panose="02040604050505020304" pitchFamily="18" charset="0"/>
              </a:rPr>
              <a:t>13. Test analysis</a:t>
            </a:r>
          </a:p>
          <a:p>
            <a:endParaRPr lang="en-IN" b="1" dirty="0">
              <a:latin typeface="Century Schoolbook" panose="02040604050505020304" pitchFamily="18" charset="0"/>
            </a:endParaRPr>
          </a:p>
        </p:txBody>
      </p:sp>
      <p:cxnSp>
        <p:nvCxnSpPr>
          <p:cNvPr id="5" name="Straight Connector 4">
            <a:extLst>
              <a:ext uri="{FF2B5EF4-FFF2-40B4-BE49-F238E27FC236}">
                <a16:creationId xmlns:a16="http://schemas.microsoft.com/office/drawing/2014/main" id="{11EA2B59-5D90-6A46-1222-39F8A69D1F07}"/>
              </a:ext>
            </a:extLst>
          </p:cNvPr>
          <p:cNvCxnSpPr>
            <a:cxnSpLocks/>
          </p:cNvCxnSpPr>
          <p:nvPr/>
        </p:nvCxnSpPr>
        <p:spPr>
          <a:xfrm flipV="1">
            <a:off x="6228080" y="1503680"/>
            <a:ext cx="0" cy="914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214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AC34-DE3B-D371-160C-E49F661753CB}"/>
              </a:ext>
            </a:extLst>
          </p:cNvPr>
          <p:cNvSpPr>
            <a:spLocks noGrp="1"/>
          </p:cNvSpPr>
          <p:nvPr>
            <p:ph type="title"/>
          </p:nvPr>
        </p:nvSpPr>
        <p:spPr>
          <a:xfrm>
            <a:off x="147321" y="121921"/>
            <a:ext cx="11871959" cy="711199"/>
          </a:xfrm>
        </p:spPr>
        <p:txBody>
          <a:bodyPr>
            <a:normAutofit/>
          </a:bodyPr>
          <a:lstStyle/>
          <a:p>
            <a:pPr marL="571500" indent="-571500">
              <a:buFont typeface="Wingdings" panose="05000000000000000000" pitchFamily="2" charset="2"/>
              <a:buChar char="v"/>
            </a:pPr>
            <a:r>
              <a:rPr lang="en-US" dirty="0">
                <a:solidFill>
                  <a:srgbClr val="FFFF00"/>
                </a:solidFill>
                <a:latin typeface="Algerian" panose="04020705040A02060702" pitchFamily="82" charset="0"/>
              </a:rPr>
              <a:t>Sample examples on white &amp; black box testing : -</a:t>
            </a:r>
            <a:endParaRPr lang="en-IN"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9B94E2D-7456-A54C-3B93-F70387B1B850}"/>
              </a:ext>
            </a:extLst>
          </p:cNvPr>
          <p:cNvSpPr>
            <a:spLocks noGrp="1"/>
          </p:cNvSpPr>
          <p:nvPr>
            <p:ph type="body" idx="1"/>
          </p:nvPr>
        </p:nvSpPr>
        <p:spPr>
          <a:xfrm>
            <a:off x="0" y="528320"/>
            <a:ext cx="12192000" cy="5801359"/>
          </a:xfrm>
        </p:spPr>
        <p:txBody>
          <a:bodyPr>
            <a:normAutofit/>
          </a:bodyPr>
          <a:lstStyle/>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Example on while Box Testing</a:t>
            </a:r>
            <a:r>
              <a:rPr lang="en-US" b="1" dirty="0">
                <a:latin typeface="Century Schoolbook" panose="02040604050505020304" pitchFamily="18" charset="0"/>
              </a:rPr>
              <a:t> : Imagine a function in code that calculates the factorial of a number.</a:t>
            </a:r>
          </a:p>
          <a:p>
            <a:pPr marL="342900" indent="-342900">
              <a:buFont typeface="Arial" panose="020B0604020202020204" pitchFamily="34" charset="0"/>
              <a:buChar char="•"/>
            </a:pPr>
            <a:r>
              <a:rPr lang="en-US" b="1" u="sng" dirty="0">
                <a:solidFill>
                  <a:srgbClr val="FFFF00"/>
                </a:solidFill>
                <a:latin typeface="Century Schoolbook" panose="02040604050505020304" pitchFamily="18" charset="0"/>
              </a:rPr>
              <a:t>Test Case</a:t>
            </a:r>
            <a:r>
              <a:rPr lang="en-US" b="1" dirty="0">
                <a:latin typeface="Century Schoolbook" panose="02040604050505020304" pitchFamily="18" charset="0"/>
              </a:rPr>
              <a:t> :</a:t>
            </a:r>
          </a:p>
          <a:p>
            <a:r>
              <a:rPr lang="en-US" b="1" dirty="0">
                <a:latin typeface="Century Schoolbook" panose="02040604050505020304" pitchFamily="18" charset="0"/>
              </a:rPr>
              <a:t>Check if the function correctly handles the base case when n = 0</a:t>
            </a:r>
          </a:p>
          <a:p>
            <a:r>
              <a:rPr lang="en-US" b="1" dirty="0">
                <a:latin typeface="Century Schoolbook" panose="02040604050505020304" pitchFamily="18" charset="0"/>
              </a:rPr>
              <a:t>Verify the recursive calls by testing with values like </a:t>
            </a:r>
            <a:r>
              <a:rPr lang="en-US" b="1" dirty="0">
                <a:solidFill>
                  <a:srgbClr val="FFFF00"/>
                </a:solidFill>
                <a:latin typeface="Century Schoolbook" panose="02040604050505020304" pitchFamily="18" charset="0"/>
              </a:rPr>
              <a:t>n=3 </a:t>
            </a:r>
            <a:r>
              <a:rPr lang="en-US" b="1" dirty="0">
                <a:latin typeface="Century Schoolbook" panose="02040604050505020304" pitchFamily="18" charset="0"/>
              </a:rPr>
              <a:t>or </a:t>
            </a:r>
            <a:r>
              <a:rPr lang="en-US" b="1" dirty="0">
                <a:solidFill>
                  <a:srgbClr val="FFFF00"/>
                </a:solidFill>
                <a:latin typeface="Century Schoolbook" panose="02040604050505020304" pitchFamily="18" charset="0"/>
              </a:rPr>
              <a:t>n = 5</a:t>
            </a:r>
            <a:r>
              <a:rPr lang="en-US" b="1" dirty="0">
                <a:latin typeface="Century Schoolbook" panose="02040604050505020304" pitchFamily="18" charset="0"/>
              </a:rPr>
              <a:t>.</a:t>
            </a:r>
          </a:p>
          <a:p>
            <a:r>
              <a:rPr lang="en-US" b="1" dirty="0">
                <a:latin typeface="Century Schoolbook" panose="02040604050505020304" pitchFamily="18" charset="0"/>
              </a:rPr>
              <a:t>Test for potential infinite recursion by using negative numbers! for very large in </a:t>
            </a:r>
            <a:r>
              <a:rPr lang="en-US" b="1" dirty="0" err="1">
                <a:latin typeface="Century Schoolbook" panose="02040604050505020304" pitchFamily="18" charset="0"/>
              </a:rPr>
              <a:t>puls</a:t>
            </a:r>
            <a:r>
              <a:rPr lang="en-US" b="1" dirty="0">
                <a:latin typeface="Century Schoolbook" panose="02040604050505020304" pitchFamily="18" charset="0"/>
              </a:rPr>
              <a:t>.</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Example on Black Box Testing </a:t>
            </a:r>
            <a:r>
              <a:rPr lang="en-US" b="1" dirty="0">
                <a:latin typeface="Century Schoolbook" panose="02040604050505020304" pitchFamily="18" charset="0"/>
              </a:rPr>
              <a:t>: Consider a login form with Fields for a username and pass word.</a:t>
            </a:r>
          </a:p>
          <a:p>
            <a:pPr marL="342900" indent="-342900">
              <a:buFont typeface="Arial" panose="020B0604020202020204" pitchFamily="34" charset="0"/>
              <a:buChar char="•"/>
            </a:pPr>
            <a:r>
              <a:rPr lang="en-US" b="1" u="sng" dirty="0">
                <a:solidFill>
                  <a:srgbClr val="FFFF00"/>
                </a:solidFill>
                <a:latin typeface="Century Schoolbook" panose="02040604050505020304" pitchFamily="18" charset="0"/>
              </a:rPr>
              <a:t>Test Case</a:t>
            </a:r>
            <a:r>
              <a:rPr lang="en-US" b="1" dirty="0">
                <a:solidFill>
                  <a:srgbClr val="FFFF00"/>
                </a:solidFill>
                <a:latin typeface="Century Schoolbook" panose="02040604050505020304" pitchFamily="18" charset="0"/>
              </a:rPr>
              <a:t> </a:t>
            </a:r>
            <a:r>
              <a:rPr lang="en-US" b="1" dirty="0">
                <a:latin typeface="Century Schoolbook" panose="02040604050505020304" pitchFamily="18" charset="0"/>
              </a:rPr>
              <a:t>:</a:t>
            </a:r>
          </a:p>
          <a:p>
            <a:r>
              <a:rPr lang="en-US" b="1" dirty="0">
                <a:latin typeface="Century Schoolbook" panose="02040604050505020304" pitchFamily="18" charset="0"/>
              </a:rPr>
              <a:t>Input valid username and password and check if the user logs in successfully.</a:t>
            </a:r>
          </a:p>
          <a:p>
            <a:r>
              <a:rPr lang="en-US" b="1" dirty="0">
                <a:latin typeface="Century Schoolbook" panose="02040604050505020304" pitchFamily="18" charset="0"/>
              </a:rPr>
              <a:t>Test invalid inputs and verify the error message is shown or not.</a:t>
            </a:r>
          </a:p>
          <a:p>
            <a:r>
              <a:rPr lang="en-US" b="1" dirty="0">
                <a:latin typeface="Century Schoolbook" panose="02040604050505020304" pitchFamily="18" charset="0"/>
              </a:rPr>
              <a:t>Check response when both fields are empty...</a:t>
            </a:r>
          </a:p>
          <a:p>
            <a:r>
              <a:rPr lang="en-US" b="1" dirty="0">
                <a:latin typeface="Century Schoolbook" panose="02040604050505020304" pitchFamily="18" charset="0"/>
              </a:rPr>
              <a:t>Test the maximum length allowed for username and password fields.</a:t>
            </a:r>
            <a:endParaRPr lang="en-IN" b="1" dirty="0">
              <a:latin typeface="Century Schoolbook" panose="02040604050505020304" pitchFamily="18" charset="0"/>
            </a:endParaRPr>
          </a:p>
        </p:txBody>
      </p:sp>
    </p:spTree>
    <p:extLst>
      <p:ext uri="{BB962C8B-B14F-4D97-AF65-F5344CB8AC3E}">
        <p14:creationId xmlns:p14="http://schemas.microsoft.com/office/powerpoint/2010/main" val="12865072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1298</TotalTime>
  <Words>2494</Words>
  <Application>Microsoft Office PowerPoint</Application>
  <PresentationFormat>Widescreen</PresentationFormat>
  <Paragraphs>164</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Algerian</vt:lpstr>
      <vt:lpstr>Arial</vt:lpstr>
      <vt:lpstr>Calibri</vt:lpstr>
      <vt:lpstr>Calibri Light</vt:lpstr>
      <vt:lpstr>Century Schoolbook</vt:lpstr>
      <vt:lpstr>Wingdings</vt:lpstr>
      <vt:lpstr>Celestial</vt:lpstr>
      <vt:lpstr>02. Types of testing</vt:lpstr>
      <vt:lpstr> White box testing : -</vt:lpstr>
      <vt:lpstr>Features of white box testing : -</vt:lpstr>
      <vt:lpstr>Static testing : -</vt:lpstr>
      <vt:lpstr>1. Inspection : -</vt:lpstr>
      <vt:lpstr>2. Technical review : -</vt:lpstr>
      <vt:lpstr>3. structured walkthroughs : -</vt:lpstr>
      <vt:lpstr>Structural testing : -</vt:lpstr>
      <vt:lpstr>1. Code functional testing : -</vt:lpstr>
      <vt:lpstr>Code coverage testing : -</vt:lpstr>
      <vt:lpstr>Code complexity testing : -</vt:lpstr>
      <vt:lpstr>Black Box Testing : -</vt:lpstr>
      <vt:lpstr> Black box testing : -</vt:lpstr>
      <vt:lpstr> Requirement based testing : -</vt:lpstr>
      <vt:lpstr>Stages of requirement based testing : -</vt:lpstr>
      <vt:lpstr>Positive testing : -</vt:lpstr>
      <vt:lpstr>Negative testing : -</vt:lpstr>
      <vt:lpstr>Boundary value analysis : -</vt:lpstr>
      <vt:lpstr>For Example - Assume that is a                                                                     variable of a minimum value is                                                                     18 &amp; maximum value is 56, Both                                                                           18 and 56 values. The tester pays                                                                                                                                                                                                                  attention to these two values,                                                             but this doesn't mean the middle                                                values are developed for each                                                                      value of the range.  </vt:lpstr>
      <vt:lpstr>Decision table : -</vt:lpstr>
      <vt:lpstr>Equivalence partitioning : -</vt:lpstr>
      <vt:lpstr>For Example : -  "AGE" only acepts                                                                                        numbers from 18 to 60.                                                                                             There will be three sets                                                                                     of classes.  -  Two invalid classes                                                                                     will be: a) Less than or equal to 17.  b) Greater than or equal                                                                                   to 61. one valid class will be between 18 to 60. We thus have reduced the test cases to only 3 test cases. based on the formed classes.</vt:lpstr>
      <vt:lpstr>User documentation testing : -</vt:lpstr>
      <vt:lpstr>Essential software testing documents that are need to be maintained : -</vt:lpstr>
      <vt:lpstr>Sample examples on white &amp; black box testing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2025-09-20T17:20:57Z</dcterms:created>
  <dcterms:modified xsi:type="dcterms:W3CDTF">2025-11-03T06:15:11Z</dcterms:modified>
</cp:coreProperties>
</file>