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0" r:id="rId21"/>
    <p:sldId id="276" r:id="rId22"/>
    <p:sldId id="277" r:id="rId23"/>
    <p:sldId id="278" r:id="rId24"/>
    <p:sldId id="279" r:id="rId25"/>
    <p:sldId id="282" r:id="rId26"/>
    <p:sldId id="283" r:id="rId27"/>
    <p:sldId id="280" r:id="rId28"/>
    <p:sldId id="281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3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11" r:id="rId56"/>
    <p:sldId id="312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4423B-2B62-47BF-8F8D-245D21C654AC}" v="76" dt="2025-10-31T18:16:36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96535-384D-49C0-AC44-BBFE62FA8F77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9CE63-FC13-41CC-9F57-58D9E15FA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84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59CE63-FC13-41CC-9F57-58D9E15FA13F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633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84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00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65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0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96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7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54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23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9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26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504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2687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183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0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500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791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63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410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93D2B-C708-7934-7A10-550017F41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2398" y="2042319"/>
            <a:ext cx="8791575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800" dirty="0">
                <a:solidFill>
                  <a:srgbClr val="FFFF00"/>
                </a:solidFill>
                <a:latin typeface="Algerian" panose="04020705040A02060702" pitchFamily="82" charset="0"/>
              </a:rPr>
              <a:t>06. Pl / </a:t>
            </a:r>
            <a:r>
              <a:rPr lang="en-US" sz="8800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8800" dirty="0">
                <a:solidFill>
                  <a:srgbClr val="FFFF00"/>
                </a:solidFill>
                <a:latin typeface="Algerian" panose="04020705040A02060702" pitchFamily="82" charset="0"/>
              </a:rPr>
              <a:t> programming </a:t>
            </a:r>
            <a:endParaRPr lang="en-IN" sz="8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05269-7A64-2D7D-1542-258AD1375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0217" y="4968722"/>
            <a:ext cx="8791575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94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BDEA-2645-36CE-B4B0-CF48AB88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88490"/>
            <a:ext cx="9905955" cy="90456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 of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62A0A-2E52-C369-4A10-1C51DD510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4567" y="560438"/>
            <a:ext cx="10707329" cy="510294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PL/SQL (Procedural Language/Structured Query Language) is an extension of SQL developed by Oracle Corporation.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adds procedural programming features such as loops, conditions, and variables to SQL.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PL/SQL allows users to write block-structured programs that can include SQL statements to interact with the database efficiently.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mainly used to create stored procedures, functions, triggers, and packages for automating tasks in databases.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348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B589-5CDA-FD6A-4B6F-56353CBFE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11" y="-68826"/>
            <a:ext cx="9905955" cy="88490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Advantages of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9AEFA-F873-3F96-ACD4-2F8E6B993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8519" y="639097"/>
            <a:ext cx="10608138" cy="621890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Combines SQL and Procedural Features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PL/SQL allows the use of SQL statements along with procedural constructs like loops, conditions, and functions.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Improved Performance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Multiple SQL statements can be sent to the database at once, reducing network traffic and execution time.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High Security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Access to data can be controlled through stored procedures instead of direct access to tables.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Portability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PL/SQL code can run on any Oracle Database without modification.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Error Handling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It provides powerful error handling using the EXCEPTION section.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Modular Programming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Code can be divided into blocks, procedures, and functions for better organization and reusability.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289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34074-9931-E9B0-54C1-B8C222DA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78658"/>
            <a:ext cx="9905955" cy="86523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block structure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14B05-78FA-A386-4CEE-179ADF0F8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5437" y="632135"/>
            <a:ext cx="10735957" cy="631299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In PL/SQL (Procedural Language/SQL),                                                                      every program is divided into blocks —                                                                                       the basic units of code.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Each PL/SQL block groups together                                                                                  logically related declarations and                                                                   statements.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It provides modularity, readability, and                                                                                                                reusability to database programs.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Explanation of Sections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DECLARE :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200" b="1" dirty="0">
                <a:latin typeface="Century Schoolbook" panose="02040604050505020304" pitchFamily="18" charset="0"/>
              </a:rPr>
              <a:t>Used to declare variables, constants,                                                                    and cursors. (Optional)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BEGIN :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200" b="1" dirty="0">
                <a:latin typeface="Century Schoolbook" panose="02040604050505020304" pitchFamily="18" charset="0"/>
              </a:rPr>
              <a:t>Contains SQL and PL/SQL statements to be executed.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EXCEPTION : </a:t>
            </a:r>
            <a:r>
              <a:rPr lang="en-US" sz="2200" b="1" dirty="0">
                <a:latin typeface="Century Schoolbook" panose="02040604050505020304" pitchFamily="18" charset="0"/>
              </a:rPr>
              <a:t>Handles runtime errors or exceptions. (Optional)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END :</a:t>
            </a:r>
            <a:r>
              <a:rPr lang="en-US" sz="2400" b="1" dirty="0">
                <a:latin typeface="Century Schoolbook" panose="02040604050505020304" pitchFamily="18" charset="0"/>
              </a:rPr>
              <a:t> </a:t>
            </a:r>
            <a:r>
              <a:rPr lang="en-US" sz="2200" b="1" dirty="0">
                <a:latin typeface="Century Schoolbook" panose="02040604050505020304" pitchFamily="18" charset="0"/>
              </a:rPr>
              <a:t>Marks the end of the block.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104F5C-84FB-6C0E-938B-E8A77BEF9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465" y="717753"/>
            <a:ext cx="4151476" cy="442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D615-DE75-F954-3297-58B2AA39C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98323"/>
            <a:ext cx="9905955" cy="86523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Declare section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8C4BE-5310-B718-38F7-575A472F8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5435" y="98324"/>
            <a:ext cx="10519649" cy="324464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section is used to declare variables, constants, cursors, and user-defined data types that will be used in the program.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If no declaration is required, this part can be skipped.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7DE7B-1493-2D80-D723-1F952AFB0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37" y="2916211"/>
            <a:ext cx="5116798" cy="148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111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7EDA-D3D9-9081-96AF-3B8B0283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0"/>
            <a:ext cx="9905955" cy="74725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Begin section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AC62-1422-DF3E-3ECA-142906E14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4903" y="324466"/>
            <a:ext cx="10697497" cy="375592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is the main executable part of the block.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All SQL statements (like SELECT, INSERT, UPDATE, DELETE) and PL/SQL statements (like IF, LOOP, etc.) are written here.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Every block must contain this section.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46B35-0A04-1CD4-C2C9-38A4F0831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22" y="3257356"/>
            <a:ext cx="8315610" cy="143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9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9EE0-647D-AF7B-5B3B-6DEFC85DE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778" y="-157316"/>
            <a:ext cx="9905955" cy="93406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Exception section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BB4A-2FE9-477B-C689-F7061B366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08" y="-90947"/>
            <a:ext cx="10716293" cy="351994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section is used to handle errors (exceptions) that occur during program execution.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If an error occurs, control passes to this section.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E708B-F3D9-4108-E3AF-D670F33AB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778" y="2828214"/>
            <a:ext cx="9318067" cy="152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00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D896E-36CD-333D-D734-1BC1C0C7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17988"/>
            <a:ext cx="9905955" cy="94389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End statement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450D6-AD1F-FE63-B8D6-EA37E8413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6108" y="345835"/>
            <a:ext cx="10686796" cy="268420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marks the end of the PL/SQL block.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must always be followed by a semicolon (;).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Complete 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A4F43-C6A6-5E1F-86FD-2739DAB00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76" y="2389239"/>
            <a:ext cx="7010398" cy="393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40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4334-B35A-067D-3532-E3841568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98323"/>
            <a:ext cx="9905955" cy="89473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blocks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EA880-E670-9BD0-7F1C-D1272BE1E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2387" y="491613"/>
            <a:ext cx="10795819" cy="4709651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Anonymous Block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Not stored in the database.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Executed once and then discarded.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Example: The above block.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Named Block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Stored permanently in the database.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Includes procedures, functions, triggers, and packages.</a:t>
            </a:r>
          </a:p>
          <a:p>
            <a:endParaRPr lang="en-IN" sz="32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48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8BD8-D661-E6AA-131A-3A03FB7C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88" y="-78658"/>
            <a:ext cx="10460609" cy="83574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execution environment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8E02C-87C5-860F-0C6B-02062A952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5268" y="501445"/>
            <a:ext cx="11099752" cy="623856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PL/SQL execution environment is a part of the Oracle Database Server.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consists of two main components: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PL/SQL Engine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Processes PL/SQL code.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Executes procedural statements like loops and conditions.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SQL Engine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Executes SQL statements such as SELECT, INSERT, UPDATE, and DELETE.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PL/SQL Engine separates procedural statements (executed locally) from SQL statements (sent to the SQL Engine).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improves performance and reduces network traffic.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22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B79D-4F0D-5860-B6AC-DC048278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08155"/>
            <a:ext cx="9905955" cy="88490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 data types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039EA-49AB-BC14-D207-81131E584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7284" y="521110"/>
            <a:ext cx="10783575" cy="161249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PL/SQL supports various data types for storing different kinds of data: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970D8A-8BA1-0557-A129-809F7FFDB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22742"/>
              </p:ext>
            </p:extLst>
          </p:nvPr>
        </p:nvGraphicFramePr>
        <p:xfrm>
          <a:off x="894735" y="1602658"/>
          <a:ext cx="10499979" cy="3805084"/>
        </p:xfrm>
        <a:graphic>
          <a:graphicData uri="http://schemas.openxmlformats.org/drawingml/2006/table">
            <a:tbl>
              <a:tblPr/>
              <a:tblGrid>
                <a:gridCol w="3499993">
                  <a:extLst>
                    <a:ext uri="{9D8B030D-6E8A-4147-A177-3AD203B41FA5}">
                      <a16:colId xmlns:a16="http://schemas.microsoft.com/office/drawing/2014/main" val="3421076150"/>
                    </a:ext>
                  </a:extLst>
                </a:gridCol>
                <a:gridCol w="3499993">
                  <a:extLst>
                    <a:ext uri="{9D8B030D-6E8A-4147-A177-3AD203B41FA5}">
                      <a16:colId xmlns:a16="http://schemas.microsoft.com/office/drawing/2014/main" val="3652096592"/>
                    </a:ext>
                  </a:extLst>
                </a:gridCol>
                <a:gridCol w="3499993">
                  <a:extLst>
                    <a:ext uri="{9D8B030D-6E8A-4147-A177-3AD203B41FA5}">
                      <a16:colId xmlns:a16="http://schemas.microsoft.com/office/drawing/2014/main" val="229649546"/>
                    </a:ext>
                  </a:extLst>
                </a:gridCol>
              </a:tblGrid>
              <a:tr h="563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321077"/>
                  </a:ext>
                </a:extLst>
              </a:tr>
              <a:tr h="563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Numeric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NUMBER(p,s)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integer or decimal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18766"/>
                  </a:ext>
                </a:extLst>
              </a:tr>
              <a:tr h="563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CHAR(size), VARCHAR2(size)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string or text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38436"/>
                  </a:ext>
                </a:extLst>
              </a:tr>
              <a:tr h="563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Date/Time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DATE, TIMESTAMP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date and time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941544"/>
                  </a:ext>
                </a:extLst>
              </a:tr>
              <a:tr h="563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TRUE, FALSE, or 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845107"/>
                  </a:ext>
                </a:extLst>
              </a:tr>
              <a:tr h="986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Large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CLOB, BLOB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Stores large character or binary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205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604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112C-28A3-65B7-5469-5B97099E0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768" y="-88491"/>
            <a:ext cx="9905955" cy="87507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Variables in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B6C2-3820-DEC1-CB23-34B017B2B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273" y="87199"/>
            <a:ext cx="9904459" cy="616557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Variables in PL/SQL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variable is a named memory location used to store a value.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Variables must be declared before use in the DECLARE section.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US" sz="32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32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8B49E-11A4-BE76-DE8F-60E633224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426" y="3968555"/>
            <a:ext cx="9375761" cy="656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35C1A8-9222-8376-21D2-49B7227B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922" y="5220930"/>
            <a:ext cx="5866626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8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1D10-27C7-BB14-29A8-851DAEC2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0"/>
            <a:ext cx="9905955" cy="75708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Constants in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0AFBD-B24E-8A47-3B0C-6C5185970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575" y="-471947"/>
            <a:ext cx="10726994" cy="6169742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constant is similar to a variable but its value cannot be changed after declaration.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Declared using the keyword CONSTANT.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37B57-D1F9-2001-2BD6-10404F6E2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20" y="2813119"/>
            <a:ext cx="7759890" cy="687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EF907-175C-4C55-3CA5-2DE716D9E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21" y="4022320"/>
            <a:ext cx="6845490" cy="214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78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24F2-A6E0-0CC7-764A-2CCF96C98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114" y="-88490"/>
            <a:ext cx="9905955" cy="9144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Control structure in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7899D-D341-ECD0-7B88-316C5DDBE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5931" y="668595"/>
            <a:ext cx="10516469" cy="575322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Control Structures in PL/SQL are used to control the flow of execution of a program.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They allow a programmer to make decisions, repeat statements, and execute statements in sequence based on certain conditions.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There are three main types of control structures in PL/SQL : -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Conditional Control.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Iterative (Loop) Control.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Sequential Control.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6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0FB2-E140-CFCB-FE87-90ACC1739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23496"/>
            <a:ext cx="9905955" cy="99585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Conditional control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207A3-81DB-FC7D-66DB-C79278A30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9672" y="672663"/>
            <a:ext cx="10661707" cy="477169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Conditional control is used to make decisions in the program based on true or false conditions.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It helps in executing specific statements depending on a given condition.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 PL/SQL Conditional Statements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IF...THEN Statement.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IF...THEN...ELSE Statement.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IF...THEN...ELSIF...ELSE Statement.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CASE Statement.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981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55C35-B321-0501-231B-C13F17615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630" y="63062"/>
            <a:ext cx="9905955" cy="9144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A]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if…then statement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2513A-1D41-2CCE-05AB-5EBD48778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8993" y="704192"/>
            <a:ext cx="10615448" cy="368913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Executes a set of statements only if the condition is true.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IF salary &gt; 50000 THEN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DBMS_OUTPUT.PUT_LINE('High Salary');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END IF;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242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1B6E-E2A2-FE70-1BEB-759360A5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091" y="-84083"/>
            <a:ext cx="9905955" cy="935421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b]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if…then...else statements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3485A-6F84-5637-EDB0-E8C4393A7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4606" y="567558"/>
            <a:ext cx="10447283" cy="521313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Executes one set of statements if the condition is true and another if it is false.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IF marks &gt;= 40 THEN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DBMS_OUTPUT.PUT_LINE('Pass');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ELSE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DBMS_OUTPUT.PUT_LINE('Fail');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END IF;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60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D840-2894-7C86-39EA-202106581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559" y="-147145"/>
            <a:ext cx="10251758" cy="95644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C]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if…then…elseif…else statement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 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1A099-AA43-EF41-1D08-FE1A7C088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420414"/>
            <a:ext cx="10672218" cy="620110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Used when multiple conditions need to be checked.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IN" sz="2400" b="1" dirty="0">
                <a:latin typeface="Century Schoolbook" panose="02040604050505020304" pitchFamily="18" charset="0"/>
              </a:rPr>
              <a:t>IF marks &gt;= 75 THEN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DBMS_OUTPUT.PUT_LINE('Distinction');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ELSIF marks &gt;= 60 THEN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DBMS_OUTPUT.PUT_LINE('First </a:t>
            </a:r>
            <a:r>
              <a:rPr lang="en-IN" sz="2400" b="1" dirty="0" err="1">
                <a:latin typeface="Century Schoolbook" panose="02040604050505020304" pitchFamily="18" charset="0"/>
              </a:rPr>
              <a:t>Class'</a:t>
            </a:r>
            <a:r>
              <a:rPr lang="en-IN" sz="2400" b="1" dirty="0">
                <a:latin typeface="Century Schoolbook" panose="02040604050505020304" pitchFamily="18" charset="0"/>
              </a:rPr>
              <a:t>);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ELSIF marks &gt;= 40 THEN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DBMS_OUTPUT.PUT_LINE('Pass');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ELSE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DBMS_OUTPUT.PUT_LINE('Fail');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END IF;</a:t>
            </a:r>
          </a:p>
        </p:txBody>
      </p:sp>
    </p:spTree>
    <p:extLst>
      <p:ext uri="{BB962C8B-B14F-4D97-AF65-F5344CB8AC3E}">
        <p14:creationId xmlns:p14="http://schemas.microsoft.com/office/powerpoint/2010/main" val="3429008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B493-8000-8023-7741-C91B4BA5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037" y="-126124"/>
            <a:ext cx="9905955" cy="987972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D]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case statement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 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E859C-F40C-8B0D-4941-9791CD703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9008" y="357351"/>
            <a:ext cx="10619666" cy="614329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CASE statement is used to select one of several possible actions.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8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sz="2400" b="1" dirty="0">
                <a:latin typeface="Century Schoolbook" panose="02040604050505020304" pitchFamily="18" charset="0"/>
              </a:rPr>
              <a:t>CASE grade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WHEN 'A' THEN DBMS_OUTPUT.PUT_LINE('Excellent');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WHEN 'B' THEN DBMS_OUTPUT.PUT_LINE('Good');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WHEN 'C' THEN DBMS_OUTPUT.PUT_LINE('Average');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ELSE DBMS_OUTPUT.PUT_LINE('Fail');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END CASE;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118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B7DB-90D4-74F5-AD9C-FA225C9B4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05103"/>
            <a:ext cx="9905955" cy="9144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Sequential control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D9DF1-81A8-5408-1879-3709E3907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2734" y="809297"/>
            <a:ext cx="10682728" cy="619584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Sequential control means that statements are executed one after another in the order in which they are written in the PL/SQL block.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The control automatically moves from one statement to the next.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This is the default execution flow in PL/SQL.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BEGIN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   DBMS_OUTPUT.PUT_LINE('Step 1: Start program');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   DBMS_OUTPUT.PUT_LINE('Step 2: Execute task');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   DBMS_OUTPUT.PUT_LINE('Step 3: End program');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END;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Here, each statement is executed sequentially.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320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C06D-D83B-E10D-4175-A914C997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476" y="-105103"/>
            <a:ext cx="10535538" cy="882869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6.3]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exception handling in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44ED4-4464-E948-F076-8F8BC2502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1204" y="620111"/>
            <a:ext cx="10651196" cy="623788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In PL/SQL, an exception is an error condition                                                                                  that occurs during the execution of a program.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Exception Handling is a mechanism that                                                                                  allows a programmer to detect and handle                                                                                                     errors gracefully, instead of abruptly                                                                                terminating the program.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By using exception handling, the programmer                                                                  can control what happens when an error                                                                        occurs, ensuring the program continues to run                                                                          or terminates safely.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Exceptions in PL/SQL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Predefined Exceptions.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User-Defined Exceptions.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9D5DDB-CE61-DE6A-B539-B039F71B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79" y="693683"/>
            <a:ext cx="4480763" cy="41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89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E368-7B6C-D48C-5D52-3B1827C3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653" y="-92234"/>
            <a:ext cx="9905955" cy="788276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200" u="sng" dirty="0">
                <a:solidFill>
                  <a:srgbClr val="FFFF00"/>
                </a:solidFill>
                <a:latin typeface="Algerian" panose="04020705040A02060702" pitchFamily="82" charset="0"/>
              </a:rPr>
              <a:t>Need for exception handling</a:t>
            </a: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2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4BAA2-1438-E9BA-619B-90159BCB6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653" y="963949"/>
            <a:ext cx="10521893" cy="6416565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maintain normal program flow during runtime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display meaningful error messages instead of system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debug and handle specific error conditions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ensure database consistency even after an error occurs.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u="sng" dirty="0">
                <a:solidFill>
                  <a:srgbClr val="FFFF00"/>
                </a:solidFill>
                <a:latin typeface="Algerian" panose="04020705040A02060702" pitchFamily="82" charset="0"/>
              </a:rPr>
              <a:t>Advantages of Exception Handling</a:t>
            </a: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Prevents program termination on runtime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Makes debugging easier by showing user-friendly error messages.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Increases program reliability and robustness.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Ensures data consistency and integrity.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Century Schoolbook" panose="02040604050505020304" pitchFamily="18" charset="0"/>
            </a:endParaRPr>
          </a:p>
          <a:p>
            <a:endParaRPr lang="en-IN" sz="2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514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CA77-4FBB-0A3D-B089-D9EBB8E1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243" y="-178676"/>
            <a:ext cx="12364383" cy="106680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 of exception handling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E222C-D505-BC10-90BB-8B31A4B3C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8651" y="620111"/>
            <a:ext cx="10693239" cy="25855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 EXCEPTION section is written after the BEGIN block in a PL/SQL program.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B51A7-09D1-59D1-7AA8-57A7C27EA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70" y="2465069"/>
            <a:ext cx="4400258" cy="288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03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24FB-F31E-21AC-33DA-111ED95D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7" y="-189186"/>
            <a:ext cx="9905955" cy="98797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Predefined exceptions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E12FB-EAF3-BD4E-C5F9-6796FB2FB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3585" y="725214"/>
            <a:ext cx="10436773" cy="6248400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Predefined exceptions are automatically defined by Oracle for common runtime errors.</a:t>
            </a:r>
            <a:br>
              <a:rPr lang="en-US" sz="1900" b="1" dirty="0">
                <a:latin typeface="Century Schoolbook" panose="02040604050505020304" pitchFamily="18" charset="0"/>
              </a:rPr>
            </a:br>
            <a:r>
              <a:rPr lang="en-US" sz="1900" b="1" dirty="0">
                <a:latin typeface="Century Schoolbook" panose="02040604050505020304" pitchFamily="18" charset="0"/>
              </a:rPr>
              <a:t>These exceptions are internally raised by the PL/SQL engine when certain errors occur (like division by zero, invalid cursor, etc.).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of Predefined Exception</a:t>
            </a:r>
            <a:r>
              <a:rPr lang="en-IN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DECLARE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num1 NUMBER := 10;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num2 NUMBER := 0;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result NUMBER;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BEGIN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result := num1 / num2;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DBMS_OUTPUT.PUT_LINE('Result: ' || result);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EXCEPTION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WHEN ZERO_DIVIDE THEN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DBMS_OUTPUT.PUT_LINE('Error: Division by zero not allowed.');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END;</a:t>
            </a:r>
          </a:p>
          <a:p>
            <a:r>
              <a:rPr lang="en-IN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 -</a:t>
            </a:r>
            <a:br>
              <a:rPr lang="en-IN" b="1" dirty="0">
                <a:latin typeface="Century Schoolbook" panose="02040604050505020304" pitchFamily="18" charset="0"/>
              </a:rPr>
            </a:br>
            <a:r>
              <a:rPr lang="en-IN" b="1" dirty="0">
                <a:latin typeface="Century Schoolbook" panose="02040604050505020304" pitchFamily="18" charset="0"/>
              </a:rPr>
              <a:t>Error: Division by zero not allowed.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308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8D4F-26FB-5E5F-2DF0-D707748D6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38" y="-73572"/>
            <a:ext cx="9905955" cy="777766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user-defined function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41722-01F6-CA87-2549-DCF00141D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7462" y="588579"/>
            <a:ext cx="10657489" cy="429873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User-defined exceptions are custom exceptions created by the programmer to handle specific business logic errors that are not covered by predefined exceptions.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Steps to Create a User-Defined Exception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Declare the exception in the DECLARE section.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Raise the exception using the RAISE statement.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Handle it in the EXCEPTION section.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122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6C95-2045-D0E3-836A-8CEE379E2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84" y="-333865"/>
            <a:ext cx="9905955" cy="231228"/>
          </a:xfrm>
        </p:spPr>
        <p:txBody>
          <a:bodyPr>
            <a:normAutofit fontScale="90000"/>
          </a:bodyPr>
          <a:lstStyle/>
          <a:p>
            <a:endParaRPr lang="en-IN" sz="4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6E4A6-F0FA-6AC0-F5F6-4D64723D6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6084" y="0"/>
            <a:ext cx="10137640" cy="6858000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of pre-defined function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   </a:t>
            </a:r>
            <a:r>
              <a:rPr lang="en-US" b="1" dirty="0" err="1">
                <a:latin typeface="Century Schoolbook" panose="02040604050505020304" pitchFamily="18" charset="0"/>
              </a:rPr>
              <a:t>insufficient_balance</a:t>
            </a:r>
            <a:r>
              <a:rPr lang="en-US" b="1" dirty="0">
                <a:latin typeface="Century Schoolbook" panose="02040604050505020304" pitchFamily="18" charset="0"/>
              </a:rPr>
              <a:t> EXCEPTION;  -- Step 1: Declare exception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balance NUMBER := 1000;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</a:t>
            </a:r>
            <a:r>
              <a:rPr lang="en-US" b="1" dirty="0" err="1">
                <a:latin typeface="Century Schoolbook" panose="02040604050505020304" pitchFamily="18" charset="0"/>
              </a:rPr>
              <a:t>withdraw_amount</a:t>
            </a:r>
            <a:r>
              <a:rPr lang="en-US" b="1" dirty="0">
                <a:latin typeface="Century Schoolbook" panose="02040604050505020304" pitchFamily="18" charset="0"/>
              </a:rPr>
              <a:t> NUMBER := 1500;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BEGIN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IF </a:t>
            </a:r>
            <a:r>
              <a:rPr lang="en-US" b="1" dirty="0" err="1">
                <a:latin typeface="Century Schoolbook" panose="02040604050505020304" pitchFamily="18" charset="0"/>
              </a:rPr>
              <a:t>withdraw_amount</a:t>
            </a:r>
            <a:r>
              <a:rPr lang="en-US" b="1" dirty="0">
                <a:latin typeface="Century Schoolbook" panose="02040604050505020304" pitchFamily="18" charset="0"/>
              </a:rPr>
              <a:t> &gt; balance THEN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RAISE </a:t>
            </a:r>
            <a:r>
              <a:rPr lang="en-US" b="1" dirty="0" err="1">
                <a:latin typeface="Century Schoolbook" panose="02040604050505020304" pitchFamily="18" charset="0"/>
              </a:rPr>
              <a:t>insufficient_balance</a:t>
            </a:r>
            <a:r>
              <a:rPr lang="en-US" b="1" dirty="0">
                <a:latin typeface="Century Schoolbook" panose="02040604050505020304" pitchFamily="18" charset="0"/>
              </a:rPr>
              <a:t>;   -- Step 2: Raise exception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END IF;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DBMS_OUTPUT.PUT_LINE('Withdrawal successful!');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EXCEPTION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WHEN </a:t>
            </a:r>
            <a:r>
              <a:rPr lang="en-US" b="1" dirty="0" err="1">
                <a:latin typeface="Century Schoolbook" panose="02040604050505020304" pitchFamily="18" charset="0"/>
              </a:rPr>
              <a:t>insufficient_balance</a:t>
            </a:r>
            <a:r>
              <a:rPr lang="en-US" b="1" dirty="0">
                <a:latin typeface="Century Schoolbook" panose="02040604050505020304" pitchFamily="18" charset="0"/>
              </a:rPr>
              <a:t> THEN   -- Step 3: Handle exception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DBMS_OUTPUT.PUT_LINE('Error: Insufficient balance in account.');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END;</a:t>
            </a:r>
          </a:p>
          <a:p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  <a:br>
              <a:rPr lang="en-US" b="1" dirty="0">
                <a:latin typeface="Century Schoolbook" panose="02040604050505020304" pitchFamily="18" charset="0"/>
              </a:rPr>
            </a:br>
            <a:r>
              <a:rPr lang="en-US" b="1" dirty="0">
                <a:latin typeface="Century Schoolbook" panose="02040604050505020304" pitchFamily="18" charset="0"/>
              </a:rPr>
              <a:t>Error: Insufficient balance in account.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456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B3CE-6B6D-0779-5D25-3252C5DD2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62" y="-74644"/>
            <a:ext cx="9905955" cy="76511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6.4]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cursor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0AF24-C2F1-1303-8D54-31EE6A05C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8146" y="606490"/>
            <a:ext cx="10512524" cy="625151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Cursor in PL/SQL is a pointer or a temporary work area created in the memory when an SQL statement is executed.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used to store and process the result set (rows) returned by a query one row at a 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Since SQL operations in PL/SQL can return multiple rows, cursors help to access each row individually, making data manipulation easier.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Cursors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PL/SQL supports two types of cursors: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Implicit Cursor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Explicit Cursor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916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030C-3299-84A5-9C4F-B67D26CB7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30628"/>
            <a:ext cx="9905955" cy="85841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Implicit cursor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16D1E-4EDB-4E88-87AB-DCBA306BC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8417" y="606491"/>
            <a:ext cx="10638469" cy="360161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Implicit cursors are automatically created by Oracle whenever a DML statement (SELECT INTO, INSERT, UPDATE, DELETE) is executed.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Created by : Oracle automatically.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when : The SQL statement returns only one row.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of Implicit Cursor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6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FC31C-5B4A-3BE2-9F7F-8387B6103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379" y="3790695"/>
            <a:ext cx="7131478" cy="289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46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9695-B6DC-8847-B15A-40A635BF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792" y="-104192"/>
            <a:ext cx="9890415" cy="86619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Explicit cursor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C64AE-3A27-3EF5-0622-4AC57E50F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7036" y="541176"/>
            <a:ext cx="10543592" cy="543974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Explicit cursors are manually defined and controlled by the programmer to process multiple rows returned by a SELECT query.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when : The query returns more than one row.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Steps in Using an Explicit Cursor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Declare the cursor.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Open the cursor.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Fetch rows from the cursor.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Close the cursor.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623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094C-E5F7-0FC6-3A6E-C25422BE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760" y="-74645"/>
            <a:ext cx="9905955" cy="821094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Syntax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C827E-563F-E8D1-70F2-BAC207AEE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6327" y="335902"/>
            <a:ext cx="10450290" cy="6148874"/>
          </a:xfrm>
        </p:spPr>
        <p:txBody>
          <a:bodyPr>
            <a:normAutofit/>
          </a:bodyPr>
          <a:lstStyle/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37A73C-570B-0E11-BAC8-ECC6BA1B2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760" y="660422"/>
            <a:ext cx="8297024" cy="44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53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B62F3-98A0-3339-CEE9-EB386DC4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092" y="0"/>
            <a:ext cx="9905955" cy="625151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 of explicit cursor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F32DA-7CAE-FE98-D231-6731AD218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9004" y="625151"/>
            <a:ext cx="10403633" cy="6130212"/>
          </a:xfrm>
        </p:spPr>
        <p:txBody>
          <a:bodyPr>
            <a:normAutofit/>
          </a:bodyPr>
          <a:lstStyle/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7546DE-DDCE-3BCE-6F87-CFA3C24B5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823" y="625151"/>
            <a:ext cx="8997042" cy="549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55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FB54-F9A6-F3C8-4BBA-0223873B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142" y="-74645"/>
            <a:ext cx="9905955" cy="83042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Parameterized cursor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28B13-D905-5FC3-45AF-6189DBF416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3499" y="363895"/>
            <a:ext cx="10689807" cy="26032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parameterized cursor allows passing parameters or values dynamically to a cursor at runtime.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helps in reusing the same cursor for different input values.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9FB31-29E4-9D94-8583-BD040237E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142" y="2828942"/>
            <a:ext cx="8706984" cy="95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99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E618-D0E7-C07D-8FE5-532E9046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0"/>
            <a:ext cx="9905955" cy="775996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337EF-2506-2F98-C878-2CE8B7EB4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0822" y="995264"/>
            <a:ext cx="10661815" cy="578809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BC7C9-DFA0-8F4D-9006-739B2FA10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21" y="775995"/>
            <a:ext cx="8710105" cy="527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78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6F1B2-4FE2-B9AB-8922-FF1322E8E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76199"/>
            <a:ext cx="9905955" cy="6477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Cursor for loop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6261C-5075-E2A3-CCFB-929CF9443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2321" y="-76199"/>
            <a:ext cx="10717798" cy="506602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Century Schoolbook" panose="02040604050505020304" pitchFamily="18" charset="0"/>
              </a:rPr>
              <a:t>A Cursor FOR loop simplifies cursor handling by automatically opening, fetching, and closing the cursor.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  <a:p>
            <a:endParaRPr lang="en-IN" b="1" dirty="0">
              <a:latin typeface="Century Schoolbook" panose="02040604050505020304" pitchFamily="18" charset="0"/>
            </a:endParaRPr>
          </a:p>
          <a:p>
            <a:endParaRPr lang="en-IN" b="1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7C8550-676F-8A9F-3E98-14266E7CF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22" y="2086578"/>
            <a:ext cx="6436099" cy="1266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B49842-92B2-8D58-B799-45CA063B1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23" y="3991523"/>
            <a:ext cx="9352258" cy="275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10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63C7-40D5-33D4-2564-38BE4974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101600"/>
            <a:ext cx="10684784" cy="85344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Opening &amp; closing cursor in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9D5BB-38F4-E279-ABE4-4C1DC8C9F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0" y="558799"/>
            <a:ext cx="10227630" cy="339344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PL/SQL, when working with explicit cursors, you must manually open and close them to manage the flow of data retrieval.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Opening and closing a cursor are essential steps in controlling how and when data is fetched from a query result set.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3625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1F9D-53F3-1096-96F1-81B1A039F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1" y="-123114"/>
            <a:ext cx="9905955" cy="88392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Opening a cursor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6B179-EAF6-3788-52B7-4AEF41740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930" y="462280"/>
            <a:ext cx="10745790" cy="577087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b="1" dirty="0">
                <a:latin typeface="Century Schoolbook" panose="02040604050505020304" pitchFamily="18" charset="0"/>
              </a:rPr>
              <a:t>Opening a cursor means executing the SQL query defined in the cursor and allocating memory to store the result set (rows returned by the query).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When a cursor is opened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Century Schoolbook" panose="02040604050505020304" pitchFamily="18" charset="0"/>
              </a:rPr>
              <a:t>The SELECT statement inside the cursor is executed.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Century Schoolbook" panose="02040604050505020304" pitchFamily="18" charset="0"/>
              </a:rPr>
              <a:t>All the rows that satisfy the query are identified and stored in the cursor’s memory area.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Century Schoolbook" panose="02040604050505020304" pitchFamily="18" charset="0"/>
              </a:rPr>
              <a:t>The cursor pointer is positioned before the first row in the result set.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6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endParaRPr lang="en-US" sz="3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IN" sz="2400" b="1" dirty="0">
                <a:latin typeface="Century Schoolbook" panose="020406040505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AEB73A-F6A4-2EC7-65CF-9943D938D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378" y="5167552"/>
            <a:ext cx="2986729" cy="59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311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E119-A500-72EE-C0FC-4708DCCAA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872" y="-81280"/>
            <a:ext cx="9905955" cy="89408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6013A-0FF1-DC4C-DA64-09B62743B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050" y="4018280"/>
            <a:ext cx="9904459" cy="137159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Here, the </a:t>
            </a:r>
            <a:r>
              <a:rPr lang="en-US" sz="2400" b="1" dirty="0" err="1">
                <a:latin typeface="Century Schoolbook" panose="02040604050505020304" pitchFamily="18" charset="0"/>
              </a:rPr>
              <a:t>emp_cursor</a:t>
            </a:r>
            <a:r>
              <a:rPr lang="en-US" sz="2400" b="1" dirty="0">
                <a:latin typeface="Century Schoolbook" panose="02040604050505020304" pitchFamily="18" charset="0"/>
              </a:rPr>
              <a:t> is opened, and Oracle executes the SELECT query to fetch employee data for department 10.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0977AA-9BB2-7732-1E63-68469B05F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73" y="741680"/>
            <a:ext cx="8610648" cy="31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90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93C8-8A2C-AFAE-EF54-2E9697222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007" y="0"/>
            <a:ext cx="9905955" cy="74168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Closing a cursor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CA0EF-91A1-8544-B9E8-87D696D01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7569" y="-279399"/>
            <a:ext cx="10684830" cy="61976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Closing a cursor means releasing the memory allocated to it and ending the cursor’s processing.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Once closed, the cursor cannot be used to fetch rows unless it is opened again.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US" sz="32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63EEA-C193-1C5D-25F7-CCAECC01F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345" y="3200400"/>
            <a:ext cx="4209542" cy="741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BC32C2-D322-4D01-8215-88BC36459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345" y="4531360"/>
            <a:ext cx="4570255" cy="223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38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EBEB-9D30-DB0C-0D46-6F216500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-142240"/>
            <a:ext cx="11369040" cy="85344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200" u="sng" dirty="0">
                <a:solidFill>
                  <a:srgbClr val="FFFF00"/>
                </a:solidFill>
                <a:latin typeface="Algerian" panose="04020705040A02060702" pitchFamily="82" charset="0"/>
              </a:rPr>
              <a:t>Fetching a record from a cursor in pl/</a:t>
            </a:r>
            <a:r>
              <a:rPr lang="en-US" sz="32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2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E6B5A-D765-D00B-4F95-6DF3295B1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8530" y="538480"/>
            <a:ext cx="10562910" cy="631952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Fetching a record from a cursor means transferring the current row of the cursor’s result set into specified variables.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Each FETCH statement moves the cursor to the next row automatically.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After opening a cursor, the next step is to fetch records from the result set (the rows returned by the cursor’s query).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Fetching means retrieving one row (or multiple rows) from the cursor into PL/SQL variables so that you can use the data in your program.</a:t>
            </a:r>
            <a:endParaRPr lang="en-US" sz="2000" b="1" dirty="0">
              <a:latin typeface="Century Schoolbook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US" sz="20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Century Schoolbook" panose="02040604050505020304" pitchFamily="18" charset="0"/>
              </a:rPr>
              <a:t>cursor_name</a:t>
            </a:r>
            <a:r>
              <a:rPr lang="en-US" sz="2000" b="1" dirty="0">
                <a:latin typeface="Century Schoolbook" panose="02040604050505020304" pitchFamily="18" charset="0"/>
              </a:rPr>
              <a:t> → The name of the cursor you opened.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variable1, variable2, ... → Variables that will store the data from each column of the current row.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25662-153E-C372-EB0A-28C7EE4C3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20" y="4832338"/>
            <a:ext cx="7131746" cy="5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1797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E8BB6-0191-B7D1-8C28-30B3292B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01600"/>
            <a:ext cx="9905955" cy="93472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6.5]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Function in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BC86A-8B03-08C1-E3CF-356A90199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7730" y="660400"/>
            <a:ext cx="10745790" cy="454152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Function in PL/SQL is a named block that performs a specific task and returns a single value to the calling program.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similar to a procedure, but the main difference is that a function must return a value, whereas a procedure may or may not.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Functions are used to perform calculations, manipulate data, and return results that can be used in SQL queries or PL/SQL programs.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6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78049-A143-9F9D-E6DC-82B67684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11760"/>
            <a:ext cx="9905955" cy="95504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Advantages of functions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5B9DC-CFC0-598F-45A1-B56D437E7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3600" y="650240"/>
            <a:ext cx="10698480" cy="62077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Code Reusability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Functions can be called multiple times in different programs, reducing code repetition.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Modularity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Complex programs can be divided into smaller, manageable units (functions).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Maintainability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Easier to maintain and debug as each function performs a single task.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Improved Performance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Functions can be compiled and stored in the database for faster execution.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Return Values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Functions can return a single value that can be used directly in expressions, SELECT statements, or PL/SQL blocks.</a:t>
            </a:r>
          </a:p>
          <a:p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3889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ECE3-9993-8551-43F8-13BC87E40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896" y="0"/>
            <a:ext cx="9905955" cy="8128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 of a Function</a:t>
            </a:r>
            <a:r>
              <a:rPr lang="en-IN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BD92B-141E-9964-0463-AD38E22EF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050" y="4023360"/>
            <a:ext cx="10664510" cy="81280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FFFF00"/>
                </a:solidFill>
                <a:latin typeface="Algerian" panose="04020705040A02060702" pitchFamily="82" charset="0"/>
              </a:rPr>
              <a:t> </a:t>
            </a: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2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B83E7-2D60-C661-537D-6C660E857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930" y="731520"/>
            <a:ext cx="3906669" cy="3434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B389C-BE5A-8AE1-FA9E-B37658EC3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896" y="4836160"/>
            <a:ext cx="4282811" cy="185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83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2F650-A7B1-C4AE-39C3-39C249C1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336" y="-93940"/>
            <a:ext cx="9905955" cy="89408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Executing a function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4A6C4-36CD-B3AB-F34C-67452EF59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7409" y="534684"/>
            <a:ext cx="10664510" cy="44805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function can be executed in multiple 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In PL/SQL block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result := </a:t>
            </a:r>
            <a:r>
              <a:rPr lang="en-US" sz="2400" b="1" dirty="0" err="1">
                <a:latin typeface="Century Schoolbook" panose="02040604050505020304" pitchFamily="18" charset="0"/>
              </a:rPr>
              <a:t>function_name</a:t>
            </a:r>
            <a:r>
              <a:rPr lang="en-US" sz="2400" b="1" dirty="0">
                <a:latin typeface="Century Schoolbook" panose="02040604050505020304" pitchFamily="18" charset="0"/>
              </a:rPr>
              <a:t>(arguments);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In SQL statement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SELECT </a:t>
            </a:r>
            <a:r>
              <a:rPr lang="en-US" sz="2400" b="1" dirty="0" err="1">
                <a:latin typeface="Century Schoolbook" panose="02040604050505020304" pitchFamily="18" charset="0"/>
              </a:rPr>
              <a:t>function_name</a:t>
            </a:r>
            <a:r>
              <a:rPr lang="en-US" sz="2400" b="1" dirty="0">
                <a:latin typeface="Century Schoolbook" panose="02040604050505020304" pitchFamily="18" charset="0"/>
              </a:rPr>
              <a:t>(</a:t>
            </a:r>
            <a:r>
              <a:rPr lang="en-US" sz="2400" b="1" dirty="0" err="1">
                <a:latin typeface="Century Schoolbook" panose="02040604050505020304" pitchFamily="18" charset="0"/>
              </a:rPr>
              <a:t>column_name</a:t>
            </a:r>
            <a:r>
              <a:rPr lang="en-US" sz="2400" b="1" dirty="0">
                <a:latin typeface="Century Schoolbook" panose="02040604050505020304" pitchFamily="18" charset="0"/>
              </a:rPr>
              <a:t>) FROM </a:t>
            </a:r>
            <a:r>
              <a:rPr lang="en-US" sz="2400" b="1" dirty="0" err="1">
                <a:latin typeface="Century Schoolbook" panose="02040604050505020304" pitchFamily="18" charset="0"/>
              </a:rPr>
              <a:t>table_name</a:t>
            </a:r>
            <a:r>
              <a:rPr lang="en-US" sz="2400" b="1" dirty="0">
                <a:latin typeface="Century Schoolbook" panose="02040604050505020304" pitchFamily="18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Using DUAL table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SELECT </a:t>
            </a:r>
            <a:r>
              <a:rPr lang="en-US" sz="2400" b="1" dirty="0" err="1">
                <a:latin typeface="Century Schoolbook" panose="02040604050505020304" pitchFamily="18" charset="0"/>
              </a:rPr>
              <a:t>function_name</a:t>
            </a:r>
            <a:r>
              <a:rPr lang="en-US" sz="2400" b="1" dirty="0">
                <a:latin typeface="Century Schoolbook" panose="02040604050505020304" pitchFamily="18" charset="0"/>
              </a:rPr>
              <a:t>(value) FROM dual;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5C5F4-9F7B-8009-4B07-1D8D1FAEE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28" y="-1135685"/>
            <a:ext cx="5868991" cy="334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2EC648-AB9A-209B-7408-80603E516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28" y="2838393"/>
            <a:ext cx="9496111" cy="487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00585E-5BFC-6158-5BBA-B5BCC59EE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528" y="3926818"/>
            <a:ext cx="7199952" cy="48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272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AD17A-E738-AADE-E278-D9FE52C5E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336" y="-71120"/>
            <a:ext cx="10573024" cy="8128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Deleting (dropping) a function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24CDB-2A15-44E8-CD9F-BB48C5433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77250" y="619761"/>
            <a:ext cx="10684830" cy="17222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delete a stored function from the database, use the DROP FUNCTION command: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5AE0F-8D8F-FFAA-812E-3A2259BE8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560" y="1723335"/>
            <a:ext cx="3833221" cy="5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32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5EC1-AE23-740F-5298-19FEB4D1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432" y="-160175"/>
            <a:ext cx="10745743" cy="9906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6.6]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stored procedures in pl/</a:t>
            </a:r>
            <a:r>
              <a:rPr lang="en-US" sz="440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sql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1AB23-5807-CF7A-8E16-715DBA434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0383" y="634482"/>
            <a:ext cx="10440955" cy="428275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Stored Procedure in PL/SQL is a named block of code that performs one or more specific tasks and is stored permanently in the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Unlike a function, a stored procedure may or may not return a value but can return multiple values through OUT parameters.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Stored procedures help in modular programming and efficient database management.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9519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9CB5-4314-9F2E-539A-9F7CE9BF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459" y="-111967"/>
            <a:ext cx="10702212" cy="90507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Advantages of stored procedures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AF684-0BCF-A04F-928A-A5CE12E90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6096" y="634482"/>
            <a:ext cx="10400557" cy="622351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Improved Performance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dirty="0">
                <a:latin typeface="Century Schoolbook" panose="02040604050505020304" pitchFamily="18" charset="0"/>
              </a:rPr>
              <a:t>Procedures are compiled once and stored in the database, so they execute faster than individual SQL statements.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Code Reusability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dirty="0">
                <a:latin typeface="Century Schoolbook" panose="02040604050505020304" pitchFamily="18" charset="0"/>
              </a:rPr>
              <a:t>Once created, a procedure can be called multiple times by different applications.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Reduced Network Traffic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dirty="0">
                <a:latin typeface="Century Schoolbook" panose="02040604050505020304" pitchFamily="18" charset="0"/>
              </a:rPr>
              <a:t>Multiple SQL statements can be executed within a single procedure call, reducing communication between client and server.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Better Security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dirty="0">
                <a:latin typeface="Century Schoolbook" panose="02040604050505020304" pitchFamily="18" charset="0"/>
              </a:rPr>
              <a:t>Access can be restricted by granting execution rights instead of direct table access.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Easier Maintenance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dirty="0">
                <a:latin typeface="Century Schoolbook" panose="02040604050505020304" pitchFamily="18" charset="0"/>
              </a:rPr>
              <a:t>Any changes to business logic can be made in the procedure without affecting the calling applications.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Modular Programming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</a:br>
            <a:r>
              <a:rPr lang="en-US" dirty="0">
                <a:latin typeface="Century Schoolbook" panose="02040604050505020304" pitchFamily="18" charset="0"/>
              </a:rPr>
              <a:t>Large programs can be divided into smaller, manageable subprograms.</a:t>
            </a:r>
          </a:p>
          <a:p>
            <a:endParaRPr lang="en-IN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900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E60FF-EF41-D196-6BDA-73849BAC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19" y="-71535"/>
            <a:ext cx="10269883" cy="82731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Structure of a Stored Procedure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2555E-C00D-B36F-81E4-947699EA0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9448" y="3429000"/>
            <a:ext cx="9019582" cy="95172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11C36-BE0E-0DBD-BC7C-B07BF8515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12" y="656970"/>
            <a:ext cx="5536590" cy="3047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8140AB-ABF4-6048-669A-79B073A80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12" y="4283468"/>
            <a:ext cx="4625741" cy="242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891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8756-98FD-78BF-47C6-C8A52BA95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0" y="-93306"/>
            <a:ext cx="10475157" cy="92373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Creating a stored procedure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E7E93-E481-09C8-F6CA-DC45678E1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0302" y="979714"/>
            <a:ext cx="10086392" cy="618619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 (SQL)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17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CREATE PROCEDURE </a:t>
            </a:r>
            <a:r>
              <a:rPr lang="en-US" b="1" dirty="0" err="1">
                <a:latin typeface="Century Schoolbook" panose="02040604050505020304" pitchFamily="18" charset="0"/>
              </a:rPr>
              <a:t>procedure_name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AS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BEGIN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-- SQL statements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END;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Century Schoolbook" panose="02040604050505020304" pitchFamily="18" charset="0"/>
              </a:rPr>
              <a:t>Create a stored procedure to display all students with marks above 60.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CREATE PROCEDURE </a:t>
            </a:r>
            <a:r>
              <a:rPr lang="en-US" b="1" dirty="0" err="1">
                <a:latin typeface="Century Schoolbook" panose="02040604050505020304" pitchFamily="18" charset="0"/>
              </a:rPr>
              <a:t>GetHighScorers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AS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BEGIN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SELECT Name, Marks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FROM STUDENT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WHERE Marks &gt; 60;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END;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0776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3E95-C69F-C9A2-0991-16F3C4B26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125" y="-65314"/>
            <a:ext cx="10633777" cy="849086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Executing a stored procedure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300C4-78D5-E146-2189-2268ECDAB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430" y="550506"/>
            <a:ext cx="10447165" cy="509451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EXEC </a:t>
            </a:r>
            <a:r>
              <a:rPr lang="en-US" sz="2000" b="1" dirty="0" err="1">
                <a:latin typeface="Century Schoolbook" panose="02040604050505020304" pitchFamily="18" charset="0"/>
              </a:rPr>
              <a:t>procedure_name</a:t>
            </a:r>
            <a:r>
              <a:rPr lang="en-US" sz="20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OR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EXECUTE </a:t>
            </a:r>
            <a:r>
              <a:rPr lang="en-US" sz="2000" b="1" dirty="0" err="1">
                <a:latin typeface="Century Schoolbook" panose="02040604050505020304" pitchFamily="18" charset="0"/>
              </a:rPr>
              <a:t>procedure_name</a:t>
            </a:r>
            <a:r>
              <a:rPr lang="en-US" sz="2000" b="1" dirty="0">
                <a:latin typeface="Century Schoolbook" panose="02040604050505020304" pitchFamily="18" charset="0"/>
              </a:rPr>
              <a:t>;</a:t>
            </a: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EXEC </a:t>
            </a:r>
            <a:r>
              <a:rPr lang="en-US" sz="2400" b="1" dirty="0" err="1">
                <a:latin typeface="Century Schoolbook" panose="02040604050505020304" pitchFamily="18" charset="0"/>
              </a:rPr>
              <a:t>GetHighScorers</a:t>
            </a:r>
            <a:r>
              <a:rPr lang="en-US" sz="24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→ Executes the stored procedure and displays all students with marks greater than 60.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5512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3D34-5C85-0EA4-04A4-7A30D4D46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11" y="-83975"/>
            <a:ext cx="9905955" cy="86774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Deleting a stored procedure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42221-55C8-9BBE-31DE-4D3BA3703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1053" y="625152"/>
            <a:ext cx="10534261" cy="462798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If a stored procedure is no longer needed, it can be deleted using the DROP PROCEDURE command.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DROP PROCEDURE </a:t>
            </a:r>
            <a:r>
              <a:rPr lang="en-US" sz="2000" b="1" dirty="0" err="1">
                <a:latin typeface="Century Schoolbook" panose="02040604050505020304" pitchFamily="18" charset="0"/>
              </a:rPr>
              <a:t>procedure_name</a:t>
            </a:r>
            <a:r>
              <a:rPr lang="en-US" sz="2000" b="1" dirty="0">
                <a:latin typeface="Century Schoolbook" panose="02040604050505020304" pitchFamily="18" charset="0"/>
              </a:rPr>
              <a:t>;</a:t>
            </a:r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DROP PROCEDURE </a:t>
            </a:r>
            <a:r>
              <a:rPr lang="en-US" sz="2000" b="1" dirty="0" err="1">
                <a:latin typeface="Century Schoolbook" panose="02040604050505020304" pitchFamily="18" charset="0"/>
              </a:rPr>
              <a:t>GetHighScorers</a:t>
            </a:r>
            <a:r>
              <a:rPr lang="en-US" sz="2000" b="1" dirty="0">
                <a:latin typeface="Century Schoolbook" panose="02040604050505020304" pitchFamily="18" charset="0"/>
              </a:rPr>
              <a:t>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→ Deletes the stored procedure </a:t>
            </a:r>
            <a:r>
              <a:rPr lang="en-US" sz="2400" b="1" dirty="0" err="1">
                <a:latin typeface="Century Schoolbook" panose="02040604050505020304" pitchFamily="18" charset="0"/>
              </a:rPr>
              <a:t>GetHighScorers</a:t>
            </a:r>
            <a:r>
              <a:rPr lang="en-US" sz="2400" b="1" dirty="0">
                <a:latin typeface="Century Schoolbook" panose="02040604050505020304" pitchFamily="18" charset="0"/>
              </a:rPr>
              <a:t> from the database.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390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BDB6-91DA-F7A8-6EC0-77B209B7B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002" y="-93306"/>
            <a:ext cx="9905955" cy="9144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6.7] </a:t>
            </a: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database triggers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4AD2B-5CD6-CB15-D2C6-4D215BE4D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3961" y="671804"/>
            <a:ext cx="10238757" cy="445070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A Trigger is a special stored procedure in a database that is automatically executed (fired) when a specified event occurs on a table.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Triggers are used to monitor and respond to events like INSERT, UPDATE, or DELETE operations.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in Simple Words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you want the database to automatically record every time a student's record is deleted.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You can create a trigger that inserts the deleted record into a “backup” or “log” 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9898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6D3B-24E8-157C-DFFD-A0ED808DB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22" y="-139959"/>
            <a:ext cx="9905955" cy="998376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Use of database triggers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BF543-473C-95EC-E05C-BACCD9ECD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22" y="634483"/>
            <a:ext cx="10426937" cy="382555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maintain data integrity automatically.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enforce business rules.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log changes made to data (auditing).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perform automatic actions when data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To enhance security by restricting or monitoring data modifications.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7329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C6870-3435-8F27-9A84-F55E13CC7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480" y="-83975"/>
            <a:ext cx="11361565" cy="87707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How to apply database triggers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53F54-E800-9F89-BECC-5B87F442D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6101" y="603378"/>
            <a:ext cx="10372520" cy="383799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Identify the table</a:t>
            </a:r>
            <a:r>
              <a:rPr lang="en-US" sz="2400" dirty="0">
                <a:latin typeface="Century Schoolbook" panose="02040604050505020304" pitchFamily="18" charset="0"/>
              </a:rPr>
              <a:t> on which the trigger will act.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Decide the event</a:t>
            </a:r>
            <a:r>
              <a:rPr lang="en-US" sz="2400" dirty="0">
                <a:latin typeface="Century Schoolbook" panose="02040604050505020304" pitchFamily="18" charset="0"/>
              </a:rPr>
              <a:t> — when to trigger (INSERT, UPDATE, DELETE).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Define the timing</a:t>
            </a:r>
            <a:r>
              <a:rPr lang="en-US" sz="2400" dirty="0">
                <a:latin typeface="Century Schoolbook" panose="02040604050505020304" pitchFamily="18" charset="0"/>
              </a:rPr>
              <a:t> — before or after the event.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Write the trigger body</a:t>
            </a:r>
            <a:r>
              <a:rPr lang="en-US" sz="2400" dirty="0">
                <a:latin typeface="Century Schoolbook" panose="02040604050505020304" pitchFamily="18" charset="0"/>
              </a:rPr>
              <a:t> — what action should be performed.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Create and store</a:t>
            </a:r>
            <a:r>
              <a:rPr lang="en-US" sz="2400" dirty="0">
                <a:latin typeface="Century Schoolbook" panose="02040604050505020304" pitchFamily="18" charset="0"/>
              </a:rPr>
              <a:t> the trigger in the database.</a:t>
            </a:r>
          </a:p>
          <a:p>
            <a:endParaRPr lang="en-IN" sz="24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1830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ABECE-2E17-D7C5-3B55-252E0333E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480" y="-118188"/>
            <a:ext cx="9905955" cy="96727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database triggers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2C95A-4AD9-1FD0-AEBA-4C4D6EDDA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4128" y="603379"/>
            <a:ext cx="10568509" cy="428586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BEFORE Trigger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Executes before the event occurs (used for validation or modification).</a:t>
            </a:r>
            <a:r>
              <a:rPr lang="en-IN" sz="2000" b="1" dirty="0">
                <a:latin typeface="Century Schoolbook" panose="020406040505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AFTER Trigger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Executes after the event occurs (used for logging or updating other tables).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INSTEAD OF Trigger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IN" sz="2400" b="1" dirty="0"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Used in place of the triggering operation (mainly for views).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Row-Level Trigger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Executes once for each row affected.</a:t>
            </a:r>
            <a:endParaRPr lang="en-IN" sz="2000" b="1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Statement-Level Trigger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r>
              <a:rPr lang="en-IN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Executes once for the entire SQL statement, regardless of the number of rows affected.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7907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035B-2E6D-C93D-C6C7-BD7B92600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19" y="-177281"/>
            <a:ext cx="10540471" cy="106680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Syntax for creating a trigger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1FDA6-EC59-5A55-43A5-1A77F398D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673" y="746449"/>
            <a:ext cx="10245012" cy="455333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General 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CREATE TRIGGER </a:t>
            </a:r>
            <a:r>
              <a:rPr lang="en-US" b="1" dirty="0" err="1">
                <a:latin typeface="Century Schoolbook" panose="02040604050505020304" pitchFamily="18" charset="0"/>
              </a:rPr>
              <a:t>trigger_name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BEFORE | AFTER | INSTEAD OF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INSERT | UPDATE | DELETE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ON </a:t>
            </a:r>
            <a:r>
              <a:rPr lang="en-US" b="1" dirty="0" err="1">
                <a:latin typeface="Century Schoolbook" panose="02040604050505020304" pitchFamily="18" charset="0"/>
              </a:rPr>
              <a:t>table_name</a:t>
            </a:r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FOR EACH ROW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BEGIN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-- Trigger body (SQL statements)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END;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471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9434D-102E-C14B-575E-31B66230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01" y="0"/>
            <a:ext cx="9905955" cy="90506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u="sng" dirty="0">
                <a:solidFill>
                  <a:srgbClr val="FFFF00"/>
                </a:solidFill>
                <a:latin typeface="Algerian" panose="04020705040A02060702" pitchFamily="82" charset="0"/>
              </a:rPr>
              <a:t>Deleting a trigger</a:t>
            </a:r>
            <a:r>
              <a:rPr lang="en-US" sz="44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29730-B61D-AEED-15D1-CB868DAD4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6101" y="788436"/>
            <a:ext cx="9905955" cy="264056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If you no longer need a trigger, you can remove it using the DROP TRIGGER command.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sz="2400" b="1" dirty="0">
                <a:latin typeface="Century Schoolbook" panose="02040604050505020304" pitchFamily="18" charset="0"/>
              </a:rPr>
              <a:t>DROP TRIGGER </a:t>
            </a:r>
            <a:r>
              <a:rPr lang="en-US" sz="2400" b="1" dirty="0" err="1">
                <a:latin typeface="Century Schoolbook" panose="02040604050505020304" pitchFamily="18" charset="0"/>
              </a:rPr>
              <a:t>trigger_name</a:t>
            </a:r>
            <a:r>
              <a:rPr lang="en-US" sz="2400" b="1" dirty="0">
                <a:latin typeface="Century Schoolbook" panose="02040604050505020304" pitchFamily="18" charset="0"/>
              </a:rPr>
              <a:t>;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5697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3277</TotalTime>
  <Words>3516</Words>
  <Application>Microsoft Office PowerPoint</Application>
  <PresentationFormat>Widescreen</PresentationFormat>
  <Paragraphs>375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Algerian</vt:lpstr>
      <vt:lpstr>Arial</vt:lpstr>
      <vt:lpstr>Calibri</vt:lpstr>
      <vt:lpstr>Century Schoolbook</vt:lpstr>
      <vt:lpstr>Tw Cen MT</vt:lpstr>
      <vt:lpstr>Wingdings</vt:lpstr>
      <vt:lpstr>Circuit</vt:lpstr>
      <vt:lpstr>06. Pl / sql programming </vt:lpstr>
      <vt:lpstr>Introduction of pl/sql : -</vt:lpstr>
      <vt:lpstr>Advantages of pl/sql : -</vt:lpstr>
      <vt:lpstr>Pl/sql block structure : -</vt:lpstr>
      <vt:lpstr>1. Declare section : -</vt:lpstr>
      <vt:lpstr>2. Begin section : -</vt:lpstr>
      <vt:lpstr>3. Exception section : -</vt:lpstr>
      <vt:lpstr>End statement : -</vt:lpstr>
      <vt:lpstr>Types of pl/sql blocks : -</vt:lpstr>
      <vt:lpstr>Pl/sql execution environment : -</vt:lpstr>
      <vt:lpstr>Pl/sql data types : -</vt:lpstr>
      <vt:lpstr>Variables in pl/sql : -</vt:lpstr>
      <vt:lpstr>Constants in pl/sql : -</vt:lpstr>
      <vt:lpstr>Control structure in pl/sql : -</vt:lpstr>
      <vt:lpstr>1. Conditional control : -</vt:lpstr>
      <vt:lpstr>A] if…then statement : -</vt:lpstr>
      <vt:lpstr>b] if…then...else statements : -</vt:lpstr>
      <vt:lpstr>C] if…then…elseif…else statement : - </vt:lpstr>
      <vt:lpstr>D] case statement : - </vt:lpstr>
      <vt:lpstr>3. Sequential control : -</vt:lpstr>
      <vt:lpstr>6.3] exception handling in pl/sql : -</vt:lpstr>
      <vt:lpstr>Need for exception handling : -</vt:lpstr>
      <vt:lpstr>Structure of exception handling : -</vt:lpstr>
      <vt:lpstr>1. Predefined exceptions : -</vt:lpstr>
      <vt:lpstr>2. user-defined function : -</vt:lpstr>
      <vt:lpstr>PowerPoint Presentation</vt:lpstr>
      <vt:lpstr>6.4] cursor : -</vt:lpstr>
      <vt:lpstr>1. Implicit cursor : -</vt:lpstr>
      <vt:lpstr>2. Explicit cursor : -</vt:lpstr>
      <vt:lpstr>Syntax : -</vt:lpstr>
      <vt:lpstr>Example of explicit cursor : -</vt:lpstr>
      <vt:lpstr>Parameterized cursor : -</vt:lpstr>
      <vt:lpstr>Example : -</vt:lpstr>
      <vt:lpstr>Cursor for loop : -</vt:lpstr>
      <vt:lpstr>Opening &amp; closing cursor in pl/sql : -</vt:lpstr>
      <vt:lpstr>1. Opening a cursor : -</vt:lpstr>
      <vt:lpstr>Example : -</vt:lpstr>
      <vt:lpstr>2. Closing a cursor : -</vt:lpstr>
      <vt:lpstr>Fetching a record from a cursor in pl/sql : -</vt:lpstr>
      <vt:lpstr>6.5] Function in pl/sql : -</vt:lpstr>
      <vt:lpstr>Advantages of functions : -</vt:lpstr>
      <vt:lpstr>Structure of a Function : -</vt:lpstr>
      <vt:lpstr>Executing a function : -</vt:lpstr>
      <vt:lpstr>Deleting (dropping) a function : -</vt:lpstr>
      <vt:lpstr>6.6] stored procedures in pl/sql : -</vt:lpstr>
      <vt:lpstr>Advantages of stored procedures : -</vt:lpstr>
      <vt:lpstr>Structure of a Stored Procedure : -</vt:lpstr>
      <vt:lpstr>Creating a stored procedure : -</vt:lpstr>
      <vt:lpstr>Executing a stored procedure : -</vt:lpstr>
      <vt:lpstr>Deleting a stored procedure : -</vt:lpstr>
      <vt:lpstr>6.7] database triggers : -</vt:lpstr>
      <vt:lpstr>Use of database triggers : -</vt:lpstr>
      <vt:lpstr>How to apply database triggers : -</vt:lpstr>
      <vt:lpstr>Types of database triggers : -</vt:lpstr>
      <vt:lpstr>Syntax for creating a trigger : -</vt:lpstr>
      <vt:lpstr>Deleting a trigger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2025-10-22T14:10:22Z</dcterms:created>
  <dcterms:modified xsi:type="dcterms:W3CDTF">2025-11-03T06:05:23Z</dcterms:modified>
</cp:coreProperties>
</file>