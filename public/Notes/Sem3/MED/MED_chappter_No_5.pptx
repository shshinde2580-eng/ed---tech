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61" r:id="rId5"/>
    <p:sldId id="260" r:id="rId7"/>
    <p:sldId id="258" r:id="rId8"/>
    <p:sldId id="262" r:id="rId9"/>
    <p:sldId id="267" r:id="rId10"/>
    <p:sldId id="268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94405"/>
            <a:ext cx="10800000" cy="792000"/>
          </a:xfrm>
        </p:spPr>
        <p:txBody>
          <a:bodyPr lIns="0" tIns="0" rIns="0" bIns="0"/>
          <a:lstStyle>
            <a:lvl1pPr algn="ctr" fontAlgn="base"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3065" y="2404745"/>
            <a:ext cx="6958965" cy="1646555"/>
          </a:xfrm>
          <a:ln>
            <a:noFill/>
          </a:ln>
        </p:spPr>
        <p:txBody>
          <a:bodyPr/>
          <a:lstStyle/>
          <a:p>
            <a:r>
              <a:rPr lang="en-US" dirty="0" err="1"/>
              <a:t>5. Introduction to  </a:t>
            </a:r>
            <a:br>
              <a:rPr lang="en-US" dirty="0" err="1"/>
            </a:br>
            <a:r>
              <a:rPr lang="en-US" dirty="0" err="1"/>
              <a:t>Embeded system</a:t>
            </a:r>
            <a:endParaRPr lang="en-US" dirty="0" err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rcRect l="1997" t="-410" r="1046"/>
          <a:stretch>
            <a:fillRect/>
          </a:stretch>
        </p:blipFill>
        <p:spPr>
          <a:xfrm>
            <a:off x="2089785" y="2467610"/>
            <a:ext cx="5770880" cy="4010660"/>
          </a:xfrm>
          <a:prstGeom prst="round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5.1 Block diagram of embeded system :-</a:t>
            </a:r>
            <a:b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2000">
                <a:solidFill>
                  <a:schemeClr val="tx1">
                    <a:lumMod val="95000"/>
                    <a:lumOff val="5000"/>
                  </a:schemeClr>
                </a:solidFill>
              </a:rPr>
              <a:t>Embeded system are integrated system made up of computer hardware and sofware that perform a specific task. </a:t>
            </a:r>
            <a:endParaRPr lang="en-US" sz="20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282575"/>
            <a:ext cx="8507730" cy="1181735"/>
          </a:xfrm>
        </p:spPr>
        <p:txBody>
          <a:bodyPr>
            <a:normAutofit fontScale="90000"/>
          </a:bodyPr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.2 Harvare and non neuman architecture, RISC &amp; CISC processors :-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45" y="1396365"/>
            <a:ext cx="8596630" cy="4645025"/>
          </a:xfrm>
        </p:spPr>
        <p:txBody>
          <a:bodyPr/>
          <a:p>
            <a:pPr>
              <a:buFont typeface="Wingdings" panose="05000000000000000000" charset="0"/>
              <a:buChar char="q"/>
            </a:pPr>
            <a:r>
              <a:rPr lang="en-US"/>
              <a:t> </a:t>
            </a:r>
            <a:r>
              <a:rPr lang="en-US" sz="1800">
                <a:sym typeface="+mn-ea"/>
              </a:rPr>
              <a:t>Harvard </a:t>
            </a:r>
            <a:r>
              <a:rPr lang="en-US" sz="1800">
                <a:sym typeface="+mn-ea"/>
              </a:rPr>
              <a:t>architecture</a:t>
            </a:r>
            <a:r>
              <a:rPr lang="en-US" sz="1800"/>
              <a:t> :-</a:t>
            </a:r>
            <a:endParaRPr lang="en-US"/>
          </a:p>
          <a:p>
            <a:pPr>
              <a:buFont typeface="Wingdings" panose="05000000000000000000" charset="0"/>
              <a:buChar char="§"/>
            </a:pPr>
            <a:r>
              <a:rPr lang="en-US"/>
              <a:t>The architecture which have seperate program memory and data memory that is called as hardware architecture.</a:t>
            </a:r>
            <a:endParaRPr lang="en-US"/>
          </a:p>
          <a:p>
            <a:pPr>
              <a:buFont typeface="Wingdings" panose="05000000000000000000" charset="0"/>
              <a:buChar char="§"/>
            </a:pPr>
            <a:r>
              <a:rPr lang="en-US"/>
              <a:t>Architecture is computer and the data complexity is less.</a:t>
            </a:r>
            <a:endParaRPr lang="en-US"/>
          </a:p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5530" y="3084830"/>
            <a:ext cx="5191125" cy="3305175"/>
          </a:xfrm>
          <a:prstGeom prst="round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45" y="384175"/>
            <a:ext cx="8596630" cy="5657215"/>
          </a:xfrm>
        </p:spPr>
        <p:txBody>
          <a:bodyPr/>
          <a:p>
            <a:pPr>
              <a:buFont typeface="Wingdings" panose="05000000000000000000" charset="0"/>
              <a:buChar char="o"/>
            </a:pPr>
            <a:r>
              <a:rPr lang="en-US" sz="2000"/>
              <a:t>Non - Neuman architecture :-</a:t>
            </a:r>
            <a:endParaRPr lang="en-US" sz="2000"/>
          </a:p>
          <a:p>
            <a:pPr>
              <a:buFont typeface="Wingdings" panose="05000000000000000000" charset="0"/>
              <a:buChar char="§"/>
            </a:pPr>
            <a:r>
              <a:rPr lang="en-US"/>
              <a:t>The architecture which have no seperate program memory and data memory that is called as non neuman architecture.</a:t>
            </a:r>
            <a:endParaRPr lang="en-US"/>
          </a:p>
          <a:p>
            <a:pPr>
              <a:buFont typeface="Wingdings" panose="05000000000000000000" charset="0"/>
              <a:buChar char="§"/>
            </a:pPr>
            <a:r>
              <a:rPr lang="en-US"/>
              <a:t>Data complexity is more in non neuman architecture.</a:t>
            </a:r>
            <a:endParaRPr lang="en-US"/>
          </a:p>
          <a:p>
            <a:pPr>
              <a:buFont typeface="Wingdings" panose="05000000000000000000" charset="0"/>
              <a:buChar char="§"/>
            </a:pP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443480" y="2488565"/>
            <a:ext cx="4648200" cy="3190875"/>
          </a:xfrm>
          <a:prstGeom prst="round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180" y="387350"/>
            <a:ext cx="8834755" cy="501650"/>
          </a:xfrm>
        </p:spPr>
        <p:txBody>
          <a:bodyPr>
            <a:normAutofit/>
          </a:bodyPr>
          <a:lstStyle/>
          <a:p>
            <a:r>
              <a:rPr lang="en-US" altLang="en-US" sz="200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Difference Between von Neumann Architecture and Harvard Architecture :-</a:t>
            </a:r>
            <a:endParaRPr lang="en-US" sz="200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545" y="1211580"/>
            <a:ext cx="4385945" cy="4783455"/>
          </a:xfr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pPr marL="0" indent="0">
              <a:buNone/>
            </a:pPr>
            <a:r>
              <a:rPr lang="en-US" altLang="en-US">
                <a:sym typeface="+mn-ea"/>
              </a:rPr>
              <a:t>       </a:t>
            </a:r>
            <a:r>
              <a:rPr lang="en-US" altLang="en-US" b="1" u="sng">
                <a:sym typeface="+mn-ea"/>
              </a:rPr>
              <a:t>Von Neumann Architecture</a:t>
            </a:r>
            <a:endParaRPr lang="en-US" altLang="en-US" b="1" u="sng">
              <a:sym typeface="+mn-ea"/>
            </a:endParaRPr>
          </a:p>
          <a:p>
            <a:pPr marL="0" indent="0">
              <a:buNone/>
            </a:pPr>
            <a:endParaRPr lang="en-US" altLang="en-US" u="sng">
              <a:sym typeface="+mn-ea"/>
            </a:endParaRPr>
          </a:p>
          <a:p>
            <a:pPr>
              <a:buFont typeface="+mj-lt"/>
              <a:buAutoNum type="arabicPeriod"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Single memory for both instructions and data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  <a:sym typeface="+mn-ea"/>
            </a:endParaRPr>
          </a:p>
          <a:p>
            <a:pPr>
              <a:buAutoNum type="arabicPeriod"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One common bus for data and instructions 	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  <a:sym typeface="+mn-ea"/>
            </a:endParaRPr>
          </a:p>
          <a:p>
            <a:pPr>
              <a:buAutoNum type="arabicPeriod"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Slower (bottleneck issue, called Von Neumann Bottleneck)	  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  <a:sym typeface="+mn-ea"/>
            </a:endParaRPr>
          </a:p>
          <a:p>
            <a:pPr>
              <a:buAutoNum type="arabicPeriod"/>
            </a:pPr>
            <a:r>
              <a:rPr lang="en-US" altLang="en-US" sz="180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Cheaper and simpler design</a:t>
            </a:r>
            <a:endParaRPr lang="en-US" altLang="en-US" sz="1800">
              <a:solidFill>
                <a:schemeClr val="tx1">
                  <a:lumMod val="95000"/>
                  <a:lumOff val="5000"/>
                </a:schemeClr>
              </a:solidFill>
              <a:sym typeface="+mn-ea"/>
            </a:endParaRPr>
          </a:p>
          <a:p>
            <a:pPr>
              <a:buAutoNum type="arabicPeriod"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Used in general-purpose computers (PCs, laptops)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  <a:sym typeface="+mn-ea"/>
            </a:endParaRPr>
          </a:p>
          <a:p>
            <a:pPr>
              <a:buAutoNum type="arabicPeriod"/>
            </a:pPr>
            <a:r>
              <a:rPr lang="en-US" altLang="en-US">
                <a:sym typeface="+mn-ea"/>
              </a:rPr>
              <a:t>More flexible memory usage</a:t>
            </a:r>
            <a:endParaRPr lang="en-US" altLang="en-US" sz="180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3490" y="1210945"/>
            <a:ext cx="4448810" cy="4784090"/>
          </a:xfr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pPr marL="0" indent="0">
              <a:buNone/>
            </a:pPr>
            <a:r>
              <a:rPr lang="en-US" altLang="en-US">
                <a:sym typeface="+mn-ea"/>
              </a:rPr>
              <a:t>              </a:t>
            </a:r>
            <a:r>
              <a:rPr lang="en-US" altLang="en-US" b="1" u="sng">
                <a:sym typeface="+mn-ea"/>
              </a:rPr>
              <a:t>Harvard Architecture</a:t>
            </a:r>
            <a:endParaRPr lang="en-US" altLang="en-US" b="1" u="sng">
              <a:sym typeface="+mn-ea"/>
            </a:endParaRPr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Separate memory for instructions and data</a:t>
            </a:r>
            <a:endParaRPr lang="en-US" altLang="en-US">
              <a:sym typeface="+mn-ea"/>
            </a:endParaRPr>
          </a:p>
          <a:p>
            <a:pPr marL="0" indent="0">
              <a:buNone/>
            </a:pPr>
            <a:r>
              <a:rPr lang="en-US" altLang="en-US">
                <a:sym typeface="+mn-ea"/>
              </a:rPr>
              <a:t>Separate buses for data and more instructions </a:t>
            </a:r>
            <a:endParaRPr lang="en-US" altLang="en-US">
              <a:sym typeface="+mn-ea"/>
            </a:endParaRPr>
          </a:p>
          <a:p>
            <a:pPr marL="0" indent="0">
              <a:buNone/>
            </a:pPr>
            <a:r>
              <a:rPr lang="en-US" altLang="en-US">
                <a:sym typeface="+mn-ea"/>
              </a:rPr>
              <a:t>Faster due to parallel data &amp; instruction access</a:t>
            </a:r>
            <a:endParaRPr lang="en-US" altLang="en-US">
              <a:sym typeface="+mn-ea"/>
            </a:endParaRPr>
          </a:p>
          <a:p>
            <a:pPr marL="0" indent="0">
              <a:buNone/>
            </a:pPr>
            <a:r>
              <a:rPr lang="en-US" altLang="en-US">
                <a:sym typeface="+mn-ea"/>
              </a:rPr>
              <a:t>More expensive and complex</a:t>
            </a:r>
            <a:endParaRPr lang="en-US" altLang="en-US">
              <a:sym typeface="+mn-ea"/>
            </a:endParaRPr>
          </a:p>
          <a:p>
            <a:pPr marL="0" indent="0">
              <a:buNone/>
            </a:pPr>
            <a:r>
              <a:rPr lang="en-US" altLang="en-US">
                <a:sym typeface="+mn-ea"/>
              </a:rPr>
              <a:t>Used in microcontrollers, DSPs, embedded systems</a:t>
            </a:r>
            <a:endParaRPr lang="en-US" altLang="en-US">
              <a:sym typeface="+mn-ea"/>
            </a:endParaRPr>
          </a:p>
          <a:p>
            <a:pPr marL="0" indent="0">
              <a:buNone/>
            </a:pPr>
            <a:r>
              <a:rPr lang="en-US" altLang="en-US">
                <a:sym typeface="+mn-ea"/>
              </a:rPr>
              <a:t>Less flexible (fixed instruction &amp; data memory sizes)</a:t>
            </a:r>
            <a:endParaRPr lang="en-US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438150"/>
            <a:ext cx="8596630" cy="473075"/>
          </a:xfrm>
        </p:spPr>
        <p:txBody>
          <a:bodyPr>
            <a:normAutofit/>
          </a:bodyPr>
          <a:p>
            <a:r>
              <a:rPr lang="en-US" altLang="en-US" sz="222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Difference Between RISC &amp; CISC :-</a:t>
            </a:r>
            <a:endParaRPr lang="en-US" sz="222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7055" y="1312545"/>
            <a:ext cx="4523105" cy="4728845"/>
          </a:xfr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pPr marL="0" indent="0">
              <a:buNone/>
            </a:pPr>
            <a:r>
              <a:rPr lang="en-US" altLang="en-US" b="1" u="sng">
                <a:sym typeface="+mn-ea"/>
              </a:rPr>
              <a:t>RISC</a:t>
            </a:r>
            <a:r>
              <a:rPr lang="en-US" altLang="en-US" b="1" u="sng">
                <a:sym typeface="+mn-ea"/>
              </a:rPr>
              <a:t>(Reduced Instruction Set Computer)</a:t>
            </a:r>
            <a:endParaRPr lang="en-US" altLang="en-US" b="1" u="sng">
              <a:sym typeface="+mn-ea"/>
            </a:endParaRPr>
          </a:p>
          <a:p>
            <a:pPr marL="0" indent="0">
              <a:buNone/>
            </a:pPr>
            <a:endParaRPr lang="en-US" b="1" u="sng"/>
          </a:p>
          <a:p>
            <a:pPr>
              <a:buAutoNum type="arabicPeriod"/>
            </a:pPr>
            <a:r>
              <a:rPr lang="en-US" altLang="en-US">
                <a:sym typeface="+mn-ea"/>
              </a:rPr>
              <a:t>Small and simple instruction set</a:t>
            </a:r>
            <a:endParaRPr lang="en-US" altLang="en-US">
              <a:sym typeface="+mn-ea"/>
            </a:endParaRPr>
          </a:p>
          <a:p>
            <a:pPr>
              <a:buAutoNum type="arabicPeriod"/>
            </a:pPr>
            <a:r>
              <a:rPr lang="en-US" altLang="en-US">
                <a:sym typeface="+mn-ea"/>
              </a:rPr>
              <a:t>Faster (one instruction per cycle)</a:t>
            </a:r>
            <a:endParaRPr lang="en-US" altLang="en-US">
              <a:sym typeface="+mn-ea"/>
            </a:endParaRPr>
          </a:p>
          <a:p>
            <a:pPr>
              <a:buAutoNum type="arabicPeriod"/>
            </a:pPr>
            <a:r>
              <a:rPr lang="en-US" altLang="en-US">
                <a:sym typeface="+mn-ea"/>
              </a:rPr>
              <a:t>Simple hardware</a:t>
            </a:r>
            <a:endParaRPr lang="en-US" altLang="en-US">
              <a:sym typeface="+mn-ea"/>
            </a:endParaRPr>
          </a:p>
          <a:p>
            <a:pPr>
              <a:buAutoNum type="arabicPeriod"/>
            </a:pPr>
            <a:r>
              <a:rPr lang="en-US" altLang="en-US">
                <a:sym typeface="+mn-ea"/>
              </a:rPr>
              <a:t>Larger (more instructions needed)</a:t>
            </a:r>
            <a:endParaRPr lang="en-US" altLang="en-US">
              <a:sym typeface="+mn-ea"/>
            </a:endParaRPr>
          </a:p>
          <a:p>
            <a:pPr>
              <a:buAutoNum type="arabicPeriod"/>
            </a:pPr>
            <a:r>
              <a:rPr lang="en-US" altLang="en-US">
                <a:sym typeface="+mn-ea"/>
              </a:rPr>
              <a:t>Low</a:t>
            </a:r>
            <a:endParaRPr lang="en-US" altLang="en-US">
              <a:sym typeface="+mn-ea"/>
            </a:endParaRPr>
          </a:p>
          <a:p>
            <a:pPr>
              <a:buAutoNum type="arabicPeriod"/>
            </a:pPr>
            <a:r>
              <a:rPr lang="en-US" altLang="en-US">
                <a:sym typeface="+mn-ea"/>
              </a:rPr>
              <a:t>ARM, MIPS, SPARC</a:t>
            </a:r>
            <a:endParaRPr lang="en-US" altLang="en-US">
              <a:sym typeface="+mn-ea"/>
            </a:endParaRPr>
          </a:p>
          <a:p>
            <a:pPr>
              <a:buAutoNum type="arabicPeriod"/>
            </a:pPr>
            <a:r>
              <a:rPr lang="en-US" altLang="en-US">
                <a:sym typeface="+mn-ea"/>
              </a:rPr>
              <a:t>Mobile phones, embedded systems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312545"/>
            <a:ext cx="4588510" cy="4728845"/>
          </a:xfr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pPr marL="0" indent="0">
              <a:buNone/>
            </a:pPr>
            <a:r>
              <a:rPr lang="en-US" altLang="en-US" b="1" u="sng">
                <a:sym typeface="+mn-ea"/>
              </a:rPr>
              <a:t>CISC (Complex Instruction Set Computer)</a:t>
            </a:r>
            <a:endParaRPr lang="en-US" altLang="en-US" b="1" u="sng">
              <a:sym typeface="+mn-ea"/>
            </a:endParaRPr>
          </a:p>
          <a:p>
            <a:pPr marL="0" indent="0">
              <a:buNone/>
            </a:pPr>
            <a:endParaRPr lang="en-US" altLang="en-US" b="1" u="sng"/>
          </a:p>
          <a:p>
            <a:pPr marL="0" indent="0">
              <a:buNone/>
            </a:pPr>
            <a:r>
              <a:rPr lang="en-US" altLang="en-US">
                <a:sym typeface="+mn-ea"/>
              </a:rPr>
              <a:t>Large and complex instruction set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Slower (multiple cycles per instruction)</a:t>
            </a:r>
            <a:endParaRPr lang="en-US" altLang="en-US">
              <a:sym typeface="+mn-ea"/>
            </a:endParaRPr>
          </a:p>
          <a:p>
            <a:pPr marL="0" indent="0">
              <a:buNone/>
            </a:pPr>
            <a:r>
              <a:rPr lang="en-US" altLang="en-US">
                <a:sym typeface="+mn-ea"/>
              </a:rPr>
              <a:t>Complex hardware</a:t>
            </a:r>
            <a:endParaRPr lang="en-US" altLang="en-US">
              <a:sym typeface="+mn-ea"/>
            </a:endParaRPr>
          </a:p>
          <a:p>
            <a:pPr marL="0" indent="0">
              <a:buNone/>
            </a:pPr>
            <a:r>
              <a:rPr lang="en-US" altLang="en-US">
                <a:sym typeface="+mn-ea"/>
              </a:rPr>
              <a:t>Smaller (fewer instructions needed)</a:t>
            </a:r>
            <a:endParaRPr lang="en-US" altLang="en-US">
              <a:sym typeface="+mn-ea"/>
            </a:endParaRPr>
          </a:p>
          <a:p>
            <a:pPr marL="0" indent="0">
              <a:buNone/>
            </a:pPr>
            <a:r>
              <a:rPr lang="en-US" altLang="en-US">
                <a:sym typeface="+mn-ea"/>
              </a:rPr>
              <a:t>High</a:t>
            </a:r>
            <a:endParaRPr lang="en-US" altLang="en-US">
              <a:sym typeface="+mn-ea"/>
            </a:endParaRPr>
          </a:p>
          <a:p>
            <a:pPr marL="0" indent="0">
              <a:buNone/>
            </a:pPr>
            <a:r>
              <a:rPr lang="en-US" altLang="en-US">
                <a:sym typeface="+mn-ea"/>
              </a:rPr>
              <a:t>Intel x86, AMD processors</a:t>
            </a:r>
            <a:endParaRPr lang="en-US" altLang="en-US">
              <a:sym typeface="+mn-ea"/>
            </a:endParaRPr>
          </a:p>
          <a:p>
            <a:pPr marL="0" indent="0">
              <a:buNone/>
            </a:pPr>
            <a:r>
              <a:rPr lang="en-US" altLang="en-US">
                <a:sym typeface="+mn-ea"/>
              </a:rPr>
              <a:t>Laptops, desktops, servers</a:t>
            </a:r>
            <a:endParaRPr lang="en-US" alt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36625" y="441960"/>
            <a:ext cx="5159375" cy="452755"/>
          </a:xfrm>
        </p:spPr>
        <p:txBody>
          <a:bodyPr>
            <a:normAutofit fontScale="90000"/>
          </a:bodyPr>
          <a:p>
            <a:r>
              <a:rPr lang="en-US" altLang="en-US" sz="222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Characteristics of Embedded Systems :-</a:t>
            </a:r>
            <a:endParaRPr lang="en-US" altLang="en-US" sz="222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36625" y="1292860"/>
            <a:ext cx="8542655" cy="456692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600"/>
              <a:t>1. </a:t>
            </a:r>
            <a:r>
              <a:rPr lang="en-US" altLang="en-US" sz="1600" b="1" u="sng"/>
              <a:t>Specific Function :-</a:t>
            </a:r>
            <a:r>
              <a:rPr lang="en-US" altLang="en-US" sz="1600"/>
              <a:t> Designed to perform one dedicated task or a limited set of tasks.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2. </a:t>
            </a:r>
            <a:r>
              <a:rPr lang="en-US" altLang="en-US" sz="1600" b="1" u="sng"/>
              <a:t>Real-Time Operation :-</a:t>
            </a:r>
            <a:r>
              <a:rPr lang="en-US" altLang="en-US" sz="1600"/>
              <a:t> Many embedded systems must respond quickly to inputs (e.g., airbags, pacemakers).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3. </a:t>
            </a:r>
            <a:r>
              <a:rPr lang="en-US" altLang="en-US" sz="1600" b="1" u="sng"/>
              <a:t>Low Power Consumption :-</a:t>
            </a:r>
            <a:r>
              <a:rPr lang="en-US" altLang="en-US" sz="1600"/>
              <a:t> Works on limited power, often battery-powered.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4. </a:t>
            </a:r>
            <a:r>
              <a:rPr lang="en-US" altLang="en-US" sz="1600" b="1" u="sng"/>
              <a:t>Small Size :-</a:t>
            </a:r>
            <a:r>
              <a:rPr lang="en-US" altLang="en-US" sz="1600"/>
              <a:t> Compact hardware and software design.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5. </a:t>
            </a:r>
            <a:r>
              <a:rPr lang="en-US" altLang="en-US" sz="1600" b="1" u="sng"/>
              <a:t>High Reliability :-</a:t>
            </a:r>
            <a:r>
              <a:rPr lang="en-US" altLang="en-US" sz="1600"/>
              <a:t> Must work continuously without failure (e.g., ATM, medical devices)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6. </a:t>
            </a:r>
            <a:r>
              <a:rPr lang="en-US" altLang="en-US" sz="1600" b="1" u="sng"/>
              <a:t>Limited Resources :-</a:t>
            </a:r>
            <a:r>
              <a:rPr lang="en-US" altLang="en-US" sz="1600"/>
              <a:t> Uses limited memory, processing power, and storage compared to general computers.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7. </a:t>
            </a:r>
            <a:r>
              <a:rPr lang="en-US" altLang="en-US" sz="1600" b="1" u="sng"/>
              <a:t>Low Cost :-</a:t>
            </a:r>
            <a:r>
              <a:rPr lang="en-US" altLang="en-US" sz="1600"/>
              <a:t> Designed to be economical for mass production.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8. </a:t>
            </a:r>
            <a:r>
              <a:rPr lang="en-US" altLang="en-US" sz="1600" b="1" u="sng"/>
              <a:t>Minimal or No User Interface :-</a:t>
            </a:r>
            <a:r>
              <a:rPr lang="en-US" altLang="en-US" sz="1600"/>
              <a:t> Often works automatically with little human interaction.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9. </a:t>
            </a:r>
            <a:r>
              <a:rPr lang="en-US" altLang="en-US" sz="1600" b="1" u="sng"/>
              <a:t>Real-Time Constraints :-</a:t>
            </a:r>
            <a:r>
              <a:rPr lang="en-US" altLang="en-US" sz="1600" b="1"/>
              <a:t> </a:t>
            </a:r>
            <a:r>
              <a:rPr lang="en-US" altLang="en-US" sz="1600"/>
              <a:t>Must give output within a fixed time (critical systems).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10. </a:t>
            </a:r>
            <a:r>
              <a:rPr lang="en-US" altLang="en-US" sz="1600" b="1" u="sng"/>
              <a:t>Hardware + Software Integrated :-</a:t>
            </a:r>
            <a:r>
              <a:rPr lang="en-US" altLang="en-US" sz="1600"/>
              <a:t> Combination of microcontroller/microprocessor with software (firmware).</a:t>
            </a:r>
            <a:endParaRPr lang="en-US" altLang="en-US"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9080" y="609600"/>
            <a:ext cx="4352290" cy="422275"/>
          </a:xfrm>
        </p:spPr>
        <p:txBody>
          <a:bodyPr>
            <a:noAutofit/>
          </a:bodyPr>
          <a:p>
            <a:r>
              <a:rPr lang="en-US" sz="2000">
                <a:solidFill>
                  <a:schemeClr val="tx1">
                    <a:lumMod val="95000"/>
                    <a:lumOff val="5000"/>
                  </a:schemeClr>
                </a:solidFill>
              </a:rPr>
              <a:t>Classification of Embeded system :-</a:t>
            </a:r>
            <a:endParaRPr lang="en-US" sz="20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Content Placeholder 3" descr="O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799080" y="1650365"/>
            <a:ext cx="4352925" cy="30575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0800000" flipV="1">
            <a:off x="297815" y="-2540"/>
            <a:ext cx="8596630" cy="541655"/>
          </a:xfrm>
        </p:spPr>
        <p:txBody>
          <a:bodyPr>
            <a:normAutofit/>
          </a:bodyPr>
          <a:p>
            <a:pPr marL="457200" indent="-457200">
              <a:buFont typeface="Wingdings" panose="05000000000000000000" charset="0"/>
              <a:buChar char="v"/>
            </a:pPr>
            <a:r>
              <a:rPr lang="en-US" sz="2000">
                <a:solidFill>
                  <a:schemeClr val="tx1"/>
                </a:solidFill>
              </a:rPr>
              <a:t>Based on performancs &amp; function req</a:t>
            </a:r>
            <a:r>
              <a:rPr lang="en-US" sz="2000">
                <a:solidFill>
                  <a:schemeClr val="tx1"/>
                </a:solidFill>
              </a:rPr>
              <a:t>uirement :-</a:t>
            </a: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45" y="386080"/>
            <a:ext cx="8596630" cy="5655310"/>
          </a:xfrm>
        </p:spPr>
        <p:txBody>
          <a:bodyPr>
            <a:normAutofit lnSpcReduction="10000"/>
          </a:bodyPr>
          <a:p>
            <a:pPr>
              <a:buFont typeface="Wingdings" panose="05000000000000000000" charset="0"/>
              <a:buChar char="Ø"/>
            </a:pPr>
            <a:r>
              <a:rPr lang="en-US" altLang="en-US">
                <a:sym typeface="+mn-ea"/>
              </a:rPr>
              <a:t>Real-Time Systems -</a:t>
            </a:r>
            <a:endParaRPr lang="en-US" altLang="en-US"/>
          </a:p>
          <a:p>
            <a:pPr>
              <a:buFont typeface="Wingdings" panose="05000000000000000000" charset="0"/>
              <a:buChar char="§"/>
            </a:pPr>
            <a:r>
              <a:rPr lang="en-US" altLang="en-US">
                <a:sym typeface="+mn-ea"/>
              </a:rPr>
              <a:t>Hard real-time – must meet deadline (airbag system, pacemaker)</a:t>
            </a:r>
            <a:endParaRPr lang="en-US" altLang="en-US"/>
          </a:p>
          <a:p>
            <a:pPr>
              <a:buFont typeface="Wingdings" panose="05000000000000000000" charset="0"/>
              <a:buChar char="§"/>
            </a:pPr>
            <a:r>
              <a:rPr lang="en-US" altLang="en-US">
                <a:sym typeface="+mn-ea"/>
              </a:rPr>
              <a:t>Firm real-time – deadline important but occasional miss allowed</a:t>
            </a:r>
            <a:endParaRPr lang="en-US" altLang="en-US"/>
          </a:p>
          <a:p>
            <a:pPr>
              <a:buFont typeface="Wingdings" panose="05000000000000000000" charset="0"/>
              <a:buChar char="§"/>
            </a:pPr>
            <a:r>
              <a:rPr lang="en-US" altLang="en-US">
                <a:sym typeface="+mn-ea"/>
              </a:rPr>
              <a:t>Soft real-time – delay tolerable (multimedia, gaming system)</a:t>
            </a:r>
            <a:endParaRPr lang="en-US" altLang="en-US">
              <a:sym typeface="+mn-ea"/>
            </a:endParaRPr>
          </a:p>
          <a:p>
            <a:pPr>
              <a:buFont typeface="Wingdings" panose="05000000000000000000" charset="0"/>
              <a:buChar char="§"/>
            </a:pPr>
            <a:endParaRPr lang="en-US" altLang="en-US"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>
                <a:sym typeface="+mn-ea"/>
              </a:rPr>
              <a:t>Standalone – works independently (calculator, digital watch)</a:t>
            </a:r>
            <a:endParaRPr lang="en-US" altLang="en-US"/>
          </a:p>
          <a:p>
            <a:pPr>
              <a:buFont typeface="Wingdings" panose="05000000000000000000" charset="0"/>
              <a:buChar char="Ø"/>
            </a:pPr>
            <a:r>
              <a:rPr lang="en-US" altLang="en-US">
                <a:sym typeface="+mn-ea"/>
              </a:rPr>
              <a:t>Networked – connected to network (router, smart TV)</a:t>
            </a:r>
            <a:endParaRPr lang="en-US" altLang="en-US"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>
                <a:sym typeface="+mn-ea"/>
              </a:rPr>
              <a:t>Mobile – portable embedded devices (smartphone)</a:t>
            </a:r>
            <a:endParaRPr lang="en-US" altLang="en-US"/>
          </a:p>
          <a:p>
            <a:pPr marL="0" indent="0">
              <a:buFont typeface="Wingdings" panose="05000000000000000000" charset="0"/>
              <a:buNone/>
            </a:pPr>
            <a:endParaRPr lang="en-US" altLang="en-US"/>
          </a:p>
          <a:p>
            <a:pPr>
              <a:buFont typeface="Wingdings" panose="05000000000000000000" charset="0"/>
              <a:buChar char="v"/>
            </a:pPr>
            <a:r>
              <a:rPr lang="en-US" sz="2105">
                <a:solidFill>
                  <a:schemeClr val="tx1"/>
                </a:solidFill>
                <a:latin typeface="+mj-lt"/>
                <a:ea typeface="+mj-ea"/>
                <a:cs typeface="+mj-cs"/>
                <a:sym typeface="+mn-ea"/>
              </a:rPr>
              <a:t>Based on performancs &amp; Microcontroller :- </a:t>
            </a:r>
            <a:endParaRPr lang="en-US" sz="2105">
              <a:solidFill>
                <a:schemeClr val="tx1"/>
              </a:solidFill>
              <a:latin typeface="+mj-lt"/>
              <a:ea typeface="+mj-ea"/>
              <a:cs typeface="+mj-cs"/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endParaRPr lang="en-US" sz="2105">
              <a:solidFill>
                <a:schemeClr val="tx1"/>
              </a:solidFill>
              <a:latin typeface="+mj-lt"/>
              <a:ea typeface="+mj-ea"/>
              <a:cs typeface="+mj-cs"/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1600"/>
              <a:t>Small-scale – simple controllers (e.g., washing machine, microwave)</a:t>
            </a:r>
            <a:endParaRPr lang="en-US" altLang="en-US" sz="1600"/>
          </a:p>
          <a:p>
            <a:pPr>
              <a:buFont typeface="Wingdings" panose="05000000000000000000" charset="0"/>
              <a:buChar char="Ø"/>
            </a:pPr>
            <a:r>
              <a:rPr lang="en-US" altLang="en-US" sz="1600"/>
              <a:t>Medium-scale – microprocessors, RTOS (e.g., smart security systems)</a:t>
            </a:r>
            <a:endParaRPr lang="en-US" altLang="en-US" sz="1600"/>
          </a:p>
          <a:p>
            <a:pPr>
              <a:buFont typeface="Wingdings" panose="05000000000000000000" charset="0"/>
              <a:buChar char="Ø"/>
            </a:pPr>
            <a:r>
              <a:rPr lang="en-US" altLang="en-US" sz="1600"/>
              <a:t>Large-scale – complex hardware + OS (e.g., avionics, industrial robots)</a:t>
            </a:r>
            <a:endParaRPr lang="en-US" altLang="en-US" sz="1600"/>
          </a:p>
          <a:p>
            <a:endParaRPr lang="en-US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3318</Words>
  <Application>WPS Presentation</Application>
  <PresentationFormat>Widescreen</PresentationFormat>
  <Paragraphs>92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SimSun</vt:lpstr>
      <vt:lpstr>Wingdings</vt:lpstr>
      <vt:lpstr>Wingdings 3</vt:lpstr>
      <vt:lpstr>Arial</vt:lpstr>
      <vt:lpstr>Wingdings</vt:lpstr>
      <vt:lpstr>Trebuchet MS</vt:lpstr>
      <vt:lpstr>Microsoft YaHei</vt:lpstr>
      <vt:lpstr>Arial Unicode MS</vt:lpstr>
      <vt:lpstr>Calibri</vt:lpstr>
      <vt:lpstr>Facet</vt:lpstr>
      <vt:lpstr>5. Introduction to   Embeded system</vt:lpstr>
      <vt:lpstr>5.1 Block diagram of embeded system :-  Embeded system are integrated system made up of computer hardware and sofware that perform a specific task. </vt:lpstr>
      <vt:lpstr>5.2 Harvare and non neuman architecture, RISC &amp; CISC processors :-</vt:lpstr>
      <vt:lpstr>PowerPoint 演示文稿</vt:lpstr>
      <vt:lpstr>Difference Between von Neumann Architecture and Harvard Architecture :-</vt:lpstr>
      <vt:lpstr>Difference Between RISC &amp; CISC :-</vt:lpstr>
      <vt:lpstr>Characteristics of Embedded Systems :-</vt:lpstr>
      <vt:lpstr>Classification of Embeded system :-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Om Randhir</cp:lastModifiedBy>
  <cp:revision>10</cp:revision>
  <dcterms:created xsi:type="dcterms:W3CDTF">2025-11-03T13:00:00Z</dcterms:created>
  <dcterms:modified xsi:type="dcterms:W3CDTF">2025-11-03T15:24:36Z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BF86CCF056034EC9BD21864F7C0CE60F_12</vt:lpwstr>
  </property>
  <property fmtid="{D5CDD505-2E9C-101B-9397-08002B2CF9AE}" pid="3" name="KSOProductBuildVer">
    <vt:lpwstr>1033-12.2.0.23131</vt:lpwstr>
  </property>
</Properties>
</file>