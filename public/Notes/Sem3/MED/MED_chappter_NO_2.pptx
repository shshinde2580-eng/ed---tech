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06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044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38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52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8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720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022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84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818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37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6287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053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20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053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695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9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856FA-E5B2-4239-9006-41188AADADEB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6084AE6-D992-4648-BB6B-8A528AB7B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29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BC280-68F7-D79E-8FBD-42A2AD572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835" y="2404534"/>
            <a:ext cx="9481930" cy="1646302"/>
          </a:xfrm>
        </p:spPr>
        <p:txBody>
          <a:bodyPr/>
          <a:lstStyle/>
          <a:p>
            <a:pPr algn="ctr"/>
            <a:r>
              <a:rPr lang="en-US" dirty="0"/>
              <a:t>8051 Instruction set and Programming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825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F5B275-B1A2-50AB-D277-3D0A61CDD6E5}"/>
              </a:ext>
            </a:extLst>
          </p:cNvPr>
          <p:cNvSpPr txBox="1"/>
          <p:nvPr/>
        </p:nvSpPr>
        <p:spPr>
          <a:xfrm>
            <a:off x="884583" y="119269"/>
            <a:ext cx="84582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2.1 Instruction set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Transfer Instruction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Arithmetic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Logical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Branching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Machine control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Boolean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b="1" dirty="0"/>
              <a:t>Data Transfer Instruction </a:t>
            </a:r>
            <a:r>
              <a:rPr lang="en-IN" dirty="0"/>
              <a:t>:- this instruction are use to transfer the data from the source operand to the destination operand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1. MOV : used to copy the byte or word </a:t>
            </a:r>
          </a:p>
          <a:p>
            <a:r>
              <a:rPr lang="en-IN" dirty="0"/>
              <a:t>	e.g. Mov A, #03H  </a:t>
            </a:r>
          </a:p>
          <a:p>
            <a:endParaRPr lang="en-IN" dirty="0"/>
          </a:p>
          <a:p>
            <a:r>
              <a:rPr lang="en-US" dirty="0"/>
              <a:t>2. PPUSH: Used to put a word at the top of the stack. </a:t>
            </a:r>
          </a:p>
          <a:p>
            <a:r>
              <a:rPr lang="en-US" dirty="0"/>
              <a:t>	e.g. PPUSH RI, R2 </a:t>
            </a:r>
          </a:p>
          <a:p>
            <a:endParaRPr lang="en-US" dirty="0"/>
          </a:p>
          <a:p>
            <a:r>
              <a:rPr lang="en-US" dirty="0"/>
              <a:t>3. POP : Used to get a word from the top of the stack to the provided location </a:t>
            </a:r>
          </a:p>
          <a:p>
            <a:r>
              <a:rPr lang="en-US" dirty="0"/>
              <a:t>	e.g. POP RO </a:t>
            </a:r>
          </a:p>
          <a:p>
            <a:endParaRPr lang="en-US" dirty="0"/>
          </a:p>
          <a:p>
            <a:r>
              <a:rPr lang="en-US" dirty="0"/>
              <a:t>4. PUSH A : Used to get words from the stack to all registers </a:t>
            </a:r>
          </a:p>
          <a:p>
            <a:r>
              <a:rPr lang="en-US" dirty="0"/>
              <a:t>	e.g. PUSH A 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04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7E5BD-4A62-B498-D869-764C21EA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6DFFDA-CB30-17FC-023F-9F9EFD73DCCC}"/>
              </a:ext>
            </a:extLst>
          </p:cNvPr>
          <p:cNvSpPr txBox="1"/>
          <p:nvPr/>
        </p:nvSpPr>
        <p:spPr>
          <a:xfrm>
            <a:off x="834887" y="139148"/>
            <a:ext cx="892887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fkGroteskNeue"/>
              </a:rPr>
              <a:t>5. POP A : Used t get words from the stack to all registers </a:t>
            </a:r>
          </a:p>
          <a:p>
            <a:pPr algn="l"/>
            <a:r>
              <a:rPr lang="en-US" dirty="0">
                <a:latin typeface="fkGroteskNeue"/>
              </a:rPr>
              <a:t>	e.g. POP A</a:t>
            </a:r>
          </a:p>
          <a:p>
            <a:pPr algn="l"/>
            <a:endParaRPr lang="en-US" dirty="0">
              <a:latin typeface="fkGroteskNeue"/>
            </a:endParaRPr>
          </a:p>
          <a:p>
            <a:pPr algn="l"/>
            <a:r>
              <a:rPr lang="en-US" dirty="0">
                <a:latin typeface="fkGroteskNeue"/>
              </a:rPr>
              <a:t>6. XCHG : Used to exchange the data from two location.</a:t>
            </a:r>
          </a:p>
          <a:p>
            <a:pPr algn="l"/>
            <a:r>
              <a:rPr lang="en-US" dirty="0">
                <a:latin typeface="fkGroteskNeue"/>
              </a:rPr>
              <a:t>	e.g. XCHG AX, BX </a:t>
            </a:r>
          </a:p>
          <a:p>
            <a:pPr algn="l"/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2. </a:t>
            </a:r>
            <a:r>
              <a:rPr lang="en-IN" dirty="0"/>
              <a:t>Arithmetic Instruction : These Instruction are used to perform Arithmetic operations like Addition , Subtraction , Multiplication , division , etc.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ADD  : Used to add provided byte to byte / word to word </a:t>
            </a:r>
          </a:p>
          <a:p>
            <a:pPr marL="342900" indent="-342900">
              <a:buAutoNum type="arabicPeriod"/>
            </a:pPr>
            <a:r>
              <a:rPr lang="en-IN" dirty="0"/>
              <a:t>USB  : Used to subtract the byte from byte / word form word</a:t>
            </a:r>
          </a:p>
          <a:p>
            <a:pPr marL="342900" indent="-342900">
              <a:buAutoNum type="arabicPeriod"/>
            </a:pPr>
            <a:r>
              <a:rPr lang="en-IN" dirty="0"/>
              <a:t>Mul  :  Used to Multiply unsigned byte by byte / word by word</a:t>
            </a:r>
          </a:p>
          <a:p>
            <a:pPr marL="342900" indent="-342900" algn="l">
              <a:buAutoNum type="arabicPeriod" startAt="4"/>
            </a:pPr>
            <a:r>
              <a:rPr lang="en-US" dirty="0">
                <a:latin typeface="Trebuchet MS (Body)"/>
              </a:rPr>
              <a:t>DIV</a:t>
            </a:r>
            <a:r>
              <a:rPr lang="en-US" dirty="0">
                <a:latin typeface="fkGroteskNeue"/>
              </a:rPr>
              <a:t>   :  </a:t>
            </a:r>
            <a:r>
              <a:rPr lang="en-US" dirty="0">
                <a:latin typeface="Trebuchet MS (Body)"/>
              </a:rPr>
              <a:t>Used to divide the unsigned byte by byte or unsigned double word by word</a:t>
            </a:r>
          </a:p>
          <a:p>
            <a:pPr marL="342900" indent="-342900" algn="l">
              <a:buAutoNum type="arabicPeriod" startAt="4"/>
            </a:pPr>
            <a:r>
              <a:rPr lang="en-US" dirty="0">
                <a:latin typeface="Trebuchet MS (Body)"/>
              </a:rPr>
              <a:t>INC  : Used to increment the provided byte / word by 1</a:t>
            </a:r>
          </a:p>
          <a:p>
            <a:pPr marL="342900" indent="-342900" algn="l">
              <a:buAutoNum type="arabicPeriod" startAt="6"/>
            </a:pPr>
            <a:r>
              <a:rPr lang="en-US" dirty="0">
                <a:latin typeface="Trebuchet MS (Body)"/>
              </a:rPr>
              <a:t>DEC : Used to decrement the provided byte / word by 1</a:t>
            </a:r>
          </a:p>
          <a:p>
            <a:pPr algn="l"/>
            <a:endParaRPr lang="en-US" dirty="0">
              <a:latin typeface="Trebuchet MS (Body)"/>
            </a:endParaRPr>
          </a:p>
          <a:p>
            <a:pPr algn="l"/>
            <a:r>
              <a:rPr lang="en-US" dirty="0">
                <a:latin typeface="Trebuchet MS (Body)"/>
              </a:rPr>
              <a:t>3. Logical Instruction : These instruction are used to perform operations where data bits are involved</a:t>
            </a:r>
          </a:p>
          <a:p>
            <a:pPr marL="342900" indent="-342900" algn="l">
              <a:buAutoNum type="arabicPeriod"/>
            </a:pPr>
            <a:r>
              <a:rPr lang="en-US" dirty="0">
                <a:latin typeface="Trebuchet MS (Body)"/>
              </a:rPr>
              <a:t>XOR : Used to Exclusive – OR operation over each bit in a byte / word with the corresponding bit in another byte / word</a:t>
            </a:r>
          </a:p>
          <a:p>
            <a:pPr marL="342900" indent="-342900" algn="l">
              <a:buAutoNum type="arabicPeriod"/>
            </a:pPr>
            <a:r>
              <a:rPr lang="en-US" dirty="0">
                <a:latin typeface="Trebuchet MS (Body)"/>
              </a:rPr>
              <a:t>AND : Used for adding each bit in a byte / word with the corresponding bit in another byte / word</a:t>
            </a:r>
          </a:p>
          <a:p>
            <a:pPr marL="342900" indent="-342900" algn="l">
              <a:buAutoNum type="arabicPeriod"/>
            </a:pPr>
            <a:r>
              <a:rPr lang="en-US" dirty="0">
                <a:latin typeface="Trebuchet MS (Body)"/>
              </a:rPr>
              <a:t>OR : Used to multiply each bit in a byte / word with the corresponding bit in another byte / word</a:t>
            </a:r>
          </a:p>
        </p:txBody>
      </p:sp>
    </p:spTree>
    <p:extLst>
      <p:ext uri="{BB962C8B-B14F-4D97-AF65-F5344CB8AC3E}">
        <p14:creationId xmlns:p14="http://schemas.microsoft.com/office/powerpoint/2010/main" val="72827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5965-38E8-0961-8A1D-5879CB1F3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2CB2CC-63E0-2DE2-28D1-DD95D8C89100}"/>
              </a:ext>
            </a:extLst>
          </p:cNvPr>
          <p:cNvSpPr txBox="1"/>
          <p:nvPr/>
        </p:nvSpPr>
        <p:spPr>
          <a:xfrm>
            <a:off x="863600" y="184001"/>
            <a:ext cx="8420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C4FE8-FDCF-BC13-FF6F-EBA440B377C0}"/>
              </a:ext>
            </a:extLst>
          </p:cNvPr>
          <p:cNvSpPr txBox="1"/>
          <p:nvPr/>
        </p:nvSpPr>
        <p:spPr>
          <a:xfrm>
            <a:off x="863600" y="184001"/>
            <a:ext cx="84201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NOT  : used to invert each bit of a byte or word</a:t>
            </a:r>
          </a:p>
          <a:p>
            <a:r>
              <a:rPr lang="en-US" dirty="0"/>
              <a:t>5. TEST : Used to add operands to update flags , without affection operands</a:t>
            </a:r>
          </a:p>
          <a:p>
            <a:endParaRPr lang="en-US" dirty="0"/>
          </a:p>
          <a:p>
            <a:r>
              <a:rPr lang="en-US" dirty="0"/>
              <a:t>4. Branching Instruction : These instruction are used to transfer / branch  the instruction during an execution </a:t>
            </a:r>
          </a:p>
          <a:p>
            <a:pPr marL="342900" indent="-342900">
              <a:buAutoNum type="arabicPeriod"/>
            </a:pPr>
            <a:r>
              <a:rPr lang="en-US" dirty="0"/>
              <a:t>CALL : Used to call a procedure and save their return address to the stack (ACALL and LCALL)</a:t>
            </a:r>
          </a:p>
          <a:p>
            <a:pPr marL="342900" indent="-342900">
              <a:buAutoNum type="arabicPeriod"/>
            </a:pPr>
            <a:r>
              <a:rPr lang="en-US" dirty="0"/>
              <a:t>JMP : Used to jump to the provided address to proceed to the next instruction </a:t>
            </a:r>
          </a:p>
          <a:p>
            <a:r>
              <a:rPr lang="en-US" b="1" dirty="0"/>
              <a:t>1. Unconditional Jump :</a:t>
            </a:r>
          </a:p>
          <a:p>
            <a:endParaRPr lang="en-US" dirty="0"/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SJMP (Short Jump) – 256 byte we can use this instruction t half the program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LJMP (Long Jump) – 2k byte It can Jump to symbolic label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AJMP (Absolut Jump ) – 64 kb performed inside page only </a:t>
            </a:r>
          </a:p>
          <a:p>
            <a:endParaRPr lang="en-US" dirty="0"/>
          </a:p>
          <a:p>
            <a:r>
              <a:rPr lang="en-US" b="1" dirty="0"/>
              <a:t>2. Condition JUMP :</a:t>
            </a:r>
          </a:p>
          <a:p>
            <a:endParaRPr lang="en-US" dirty="0"/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JC – Jump if carry flag  is 1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JNC – jump of carry flag is 0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JZ – Jump if zero flag is 1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JNZ – Jump if zero flag is 0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JB – Jump if bit is 1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JNB – Jump of bit is 0</a:t>
            </a:r>
          </a:p>
        </p:txBody>
      </p:sp>
    </p:spTree>
    <p:extLst>
      <p:ext uri="{BB962C8B-B14F-4D97-AF65-F5344CB8AC3E}">
        <p14:creationId xmlns:p14="http://schemas.microsoft.com/office/powerpoint/2010/main" val="3235822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295B8-F3F1-8BF5-D289-086E2AE9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A56CEA-0E77-67CC-E297-0BF081A2AD5A}"/>
              </a:ext>
            </a:extLst>
          </p:cNvPr>
          <p:cNvSpPr txBox="1"/>
          <p:nvPr/>
        </p:nvSpPr>
        <p:spPr>
          <a:xfrm>
            <a:off x="883920" y="0"/>
            <a:ext cx="844042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 Machin control  Instructions : These instruction are used to control the action by setting / Resetting the flag value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STC : set carry flag , set = 1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CLC : Clear carry flag , clear = 0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CMC : Complement at the state of carry flag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HLT : Stop the execution 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WAIT : It is used to synchronize 8051 , with peripheral devices 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LOCK : Used to lock entire physical memory space 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NOP : NO Operation</a:t>
            </a:r>
          </a:p>
          <a:p>
            <a:pPr marL="400050" indent="-400050">
              <a:buFont typeface="+mj-lt"/>
              <a:buAutoNum type="romanUcPeriod"/>
            </a:pPr>
            <a:endParaRPr lang="en-IN" dirty="0"/>
          </a:p>
          <a:p>
            <a:r>
              <a:rPr lang="en-IN" dirty="0"/>
              <a:t>6. Boolean Instruction : This grow of instruction is associated with the single bit operation of the 8051 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CLR : clear a bit or cy flag </a:t>
            </a:r>
          </a:p>
          <a:p>
            <a:r>
              <a:rPr lang="en-IN" dirty="0"/>
              <a:t>e.g. CLR P1 .1</a:t>
            </a:r>
          </a:p>
          <a:p>
            <a:r>
              <a:rPr lang="en-IN" dirty="0"/>
              <a:t>	CLR  C</a:t>
            </a:r>
          </a:p>
          <a:p>
            <a:r>
              <a:rPr lang="en-IN" dirty="0"/>
              <a:t>2. SET B : set a bit or cy flag</a:t>
            </a:r>
          </a:p>
          <a:p>
            <a:r>
              <a:rPr lang="en-IN" dirty="0"/>
              <a:t>e.g. SETB p2 . 1</a:t>
            </a:r>
          </a:p>
          <a:p>
            <a:r>
              <a:rPr lang="en-IN" dirty="0"/>
              <a:t>	SETB C</a:t>
            </a:r>
          </a:p>
          <a:p>
            <a:r>
              <a:rPr lang="en-IN" dirty="0"/>
              <a:t>3.CPL : Complement a bit or cy flag </a:t>
            </a:r>
          </a:p>
          <a:p>
            <a:r>
              <a:rPr lang="en-IN" dirty="0"/>
              <a:t>e.g. CPL 45 H </a:t>
            </a:r>
          </a:p>
          <a:p>
            <a:r>
              <a:rPr lang="en-IN" dirty="0"/>
              <a:t>4. ORL / ANC : ORL / ANC a bit with the cy flag </a:t>
            </a:r>
          </a:p>
          <a:p>
            <a:r>
              <a:rPr lang="en-IN" dirty="0"/>
              <a:t>e.g. ORL c , 20H or bit 20 of bitt addressable memory with the cy flag </a:t>
            </a:r>
          </a:p>
          <a:p>
            <a:r>
              <a:rPr lang="en-IN" dirty="0"/>
              <a:t>e.g. ANC C , 34H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562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E5852-AE79-0D36-AB7C-0F58A96C4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76C50F-90A6-EB61-25F5-ABDD83B413D6}"/>
              </a:ext>
            </a:extLst>
          </p:cNvPr>
          <p:cNvSpPr txBox="1"/>
          <p:nvPr/>
        </p:nvSpPr>
        <p:spPr>
          <a:xfrm>
            <a:off x="955040" y="155694"/>
            <a:ext cx="846074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2.2 Addressing modes </a:t>
            </a:r>
          </a:p>
          <a:p>
            <a:endParaRPr lang="en-IN" dirty="0"/>
          </a:p>
          <a:p>
            <a:r>
              <a:rPr lang="en-IN" dirty="0"/>
              <a:t>1] Immediate addressing mode </a:t>
            </a:r>
          </a:p>
          <a:p>
            <a:r>
              <a:rPr lang="en-IN" dirty="0"/>
              <a:t>2] Direct addressing mode</a:t>
            </a:r>
          </a:p>
          <a:p>
            <a:r>
              <a:rPr lang="en-IN" dirty="0"/>
              <a:t>3] Register addressing mode </a:t>
            </a:r>
          </a:p>
          <a:p>
            <a:r>
              <a:rPr lang="en-IN" dirty="0"/>
              <a:t>4] Register indirect addressing mode</a:t>
            </a:r>
          </a:p>
          <a:p>
            <a:r>
              <a:rPr lang="en-IN" dirty="0"/>
              <a:t>5] Indexed addressing mode </a:t>
            </a:r>
          </a:p>
          <a:p>
            <a:r>
              <a:rPr lang="en-IN" dirty="0"/>
              <a:t>6] Implied addressing mode </a:t>
            </a:r>
          </a:p>
          <a:p>
            <a:endParaRPr lang="en-IN" dirty="0"/>
          </a:p>
          <a:p>
            <a:r>
              <a:rPr lang="en-IN" b="1" dirty="0"/>
              <a:t>1] Immediate addressing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 this addressing mode the source operand is constant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Immediate data must be proceeded by the sign (#) This addressing mode can be used to load information into any of the register</a:t>
            </a:r>
          </a:p>
          <a:p>
            <a:r>
              <a:rPr lang="en-IN" dirty="0"/>
              <a:t>e.g. MOV A , 	# 35 H; load 35H into A</a:t>
            </a:r>
          </a:p>
          <a:p>
            <a:r>
              <a:rPr lang="en-IN" dirty="0"/>
              <a:t>	MOV R3 , # 63H; load into R3 	</a:t>
            </a:r>
          </a:p>
          <a:p>
            <a:r>
              <a:rPr lang="en-IN" dirty="0"/>
              <a:t>	MOV DPTR , # 521 H ; load 521H into DPTR</a:t>
            </a:r>
          </a:p>
          <a:p>
            <a:endParaRPr lang="en-IN" dirty="0"/>
          </a:p>
          <a:p>
            <a:r>
              <a:rPr lang="en-IN" b="1" dirty="0"/>
              <a:t>2] Direct Addressing mode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mode is used to access RAM location (30 – TF H)</a:t>
            </a:r>
          </a:p>
          <a:p>
            <a:r>
              <a:rPr lang="en-IN" dirty="0"/>
              <a:t>e.g. MOV R0 , 44H</a:t>
            </a:r>
          </a:p>
          <a:p>
            <a:r>
              <a:rPr lang="en-IN" dirty="0"/>
              <a:t>	MOV A , R4</a:t>
            </a:r>
          </a:p>
          <a:p>
            <a:r>
              <a:rPr lang="en-IN" dirty="0"/>
              <a:t>	MOV 56 H, A</a:t>
            </a:r>
          </a:p>
        </p:txBody>
      </p:sp>
    </p:spTree>
    <p:extLst>
      <p:ext uri="{BB962C8B-B14F-4D97-AF65-F5344CB8AC3E}">
        <p14:creationId xmlns:p14="http://schemas.microsoft.com/office/powerpoint/2010/main" val="3017773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F7409-5F92-EBC8-91AF-1992D87A6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34779A-39B2-588E-591D-41AAF09AB64D}"/>
              </a:ext>
            </a:extLst>
          </p:cNvPr>
          <p:cNvSpPr txBox="1"/>
          <p:nvPr/>
        </p:nvSpPr>
        <p:spPr>
          <a:xfrm>
            <a:off x="866140" y="0"/>
            <a:ext cx="837946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3] Register Addressing mode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Register addressing mode involve the use of register to hold the data to be manipulated</a:t>
            </a:r>
          </a:p>
          <a:p>
            <a:r>
              <a:rPr lang="en-IN" dirty="0"/>
              <a:t> e.g. MOV R2, A ; copy the content of A into R2</a:t>
            </a:r>
          </a:p>
          <a:p>
            <a:r>
              <a:rPr lang="en-IN" dirty="0"/>
              <a:t>	 MOV R1, A ; copy the content of A into R1</a:t>
            </a:r>
          </a:p>
          <a:p>
            <a:r>
              <a:rPr lang="en-IN" dirty="0"/>
              <a:t>	 MOV A, R3; copy the content of R3 into A</a:t>
            </a:r>
          </a:p>
          <a:p>
            <a:endParaRPr lang="en-IN" dirty="0"/>
          </a:p>
          <a:p>
            <a:r>
              <a:rPr lang="en-IN" dirty="0"/>
              <a:t>4] Register indirect addressing mode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 this mode , register is used as pointer to the data In this mode only register (R0 and R1) are used </a:t>
            </a:r>
          </a:p>
          <a:p>
            <a:r>
              <a:rPr lang="en-IN" dirty="0"/>
              <a:t>e.g. MOV A, @R1</a:t>
            </a:r>
          </a:p>
          <a:p>
            <a:r>
              <a:rPr lang="en-IN" dirty="0"/>
              <a:t>	MOV @ R0,R1</a:t>
            </a:r>
          </a:p>
          <a:p>
            <a:r>
              <a:rPr lang="en-IN" dirty="0"/>
              <a:t>	ADD A, @R0</a:t>
            </a:r>
          </a:p>
          <a:p>
            <a:endParaRPr lang="en-IN" dirty="0"/>
          </a:p>
          <a:p>
            <a:r>
              <a:rPr lang="en-IN" dirty="0"/>
              <a:t>5] Indexed addressing mode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mode is used in accessing data element of look up table entries location in program code ROM of 8051</a:t>
            </a:r>
          </a:p>
          <a:p>
            <a:r>
              <a:rPr lang="en-IN" dirty="0"/>
              <a:t>e.g. MOV A, @ A + DPTR </a:t>
            </a:r>
          </a:p>
          <a:p>
            <a:r>
              <a:rPr lang="en-IN" dirty="0"/>
              <a:t>	MOV A, @ A + PC </a:t>
            </a:r>
          </a:p>
          <a:p>
            <a:endParaRPr lang="en-IN" dirty="0"/>
          </a:p>
          <a:p>
            <a:r>
              <a:rPr lang="en-IN" dirty="0"/>
              <a:t>6] Implied addressing mode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There will be single operand these types of instruction work on specific register only . Also known as register specific instruction </a:t>
            </a:r>
          </a:p>
          <a:p>
            <a:r>
              <a:rPr lang="en-IN" dirty="0"/>
              <a:t>e.g. RLA:</a:t>
            </a:r>
          </a:p>
        </p:txBody>
      </p:sp>
    </p:spTree>
    <p:extLst>
      <p:ext uri="{BB962C8B-B14F-4D97-AF65-F5344CB8AC3E}">
        <p14:creationId xmlns:p14="http://schemas.microsoft.com/office/powerpoint/2010/main" val="237087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8AC06-FA46-FCAC-55D0-3C31DCA2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EA983D-65D4-B99D-CFA1-3348D611BDDC}"/>
              </a:ext>
            </a:extLst>
          </p:cNvPr>
          <p:cNvSpPr txBox="1"/>
          <p:nvPr/>
        </p:nvSpPr>
        <p:spPr>
          <a:xfrm>
            <a:off x="845820" y="94734"/>
            <a:ext cx="8359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2.3 Assembly language programming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C38B1-465F-5239-6EB3-A8AAF2EFDEAA}"/>
              </a:ext>
            </a:extLst>
          </p:cNvPr>
          <p:cNvSpPr txBox="1"/>
          <p:nvPr/>
        </p:nvSpPr>
        <p:spPr>
          <a:xfrm>
            <a:off x="723900" y="833636"/>
            <a:ext cx="84810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Assembly language program for Addition , multiplication , subtraction , division</a:t>
            </a:r>
          </a:p>
          <a:p>
            <a:endParaRPr lang="en-IN" dirty="0"/>
          </a:p>
          <a:p>
            <a:r>
              <a:rPr lang="en-IN" dirty="0"/>
              <a:t>ORG 0000H          ; Program start address</a:t>
            </a:r>
          </a:p>
          <a:p>
            <a:endParaRPr lang="en-IN" dirty="0"/>
          </a:p>
          <a:p>
            <a:r>
              <a:rPr lang="en-IN" dirty="0"/>
              <a:t>; Addition</a:t>
            </a:r>
          </a:p>
          <a:p>
            <a:r>
              <a:rPr lang="en-IN" dirty="0"/>
              <a:t>MOV A, #03H         ; Move immediate data 03h into accumulator A</a:t>
            </a:r>
          </a:p>
          <a:p>
            <a:r>
              <a:rPr lang="en-IN" dirty="0"/>
              <a:t>ADD A, #04H         ; Add immediate data 04h to accumulator A</a:t>
            </a:r>
          </a:p>
          <a:p>
            <a:r>
              <a:rPr lang="en-IN" dirty="0"/>
              <a:t>MOV R0, A           ; Store result in register R0</a:t>
            </a:r>
          </a:p>
          <a:p>
            <a:endParaRPr lang="en-IN" dirty="0"/>
          </a:p>
          <a:p>
            <a:r>
              <a:rPr lang="en-IN" dirty="0"/>
              <a:t>; Subtraction</a:t>
            </a:r>
          </a:p>
          <a:p>
            <a:r>
              <a:rPr lang="en-IN" dirty="0"/>
              <a:t>CLR A               ; Clear accumulator A</a:t>
            </a:r>
          </a:p>
          <a:p>
            <a:r>
              <a:rPr lang="en-IN" dirty="0"/>
              <a:t>CLR C               ; Clear carry flag</a:t>
            </a:r>
          </a:p>
          <a:p>
            <a:r>
              <a:rPr lang="en-IN" dirty="0"/>
              <a:t>MOV A, #05H         ; Move immediate data 05h into accumulator A</a:t>
            </a:r>
          </a:p>
          <a:p>
            <a:r>
              <a:rPr lang="en-IN" dirty="0"/>
              <a:t>SUBB A, #02H        ; Subtract immediate data 02h with borrow from accumulator A</a:t>
            </a:r>
          </a:p>
          <a:p>
            <a:r>
              <a:rPr lang="en-IN" dirty="0"/>
              <a:t>MOV R1, A           ; Store result in register R1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904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A4534-58FA-ABBF-1184-E681FA862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F67137-A2A9-8D91-5CDF-EE4A9FA26CC2}"/>
              </a:ext>
            </a:extLst>
          </p:cNvPr>
          <p:cNvSpPr txBox="1"/>
          <p:nvPr/>
        </p:nvSpPr>
        <p:spPr>
          <a:xfrm>
            <a:off x="792480" y="173236"/>
            <a:ext cx="88569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; Multiplication</a:t>
            </a:r>
          </a:p>
          <a:p>
            <a:r>
              <a:rPr lang="en-IN" dirty="0"/>
              <a:t>CLR A               ; Clear accumulator A</a:t>
            </a:r>
          </a:p>
          <a:p>
            <a:r>
              <a:rPr lang="en-IN" dirty="0"/>
              <a:t>MOV A, #03H         ; Move immediate data 03h into accumulator A</a:t>
            </a:r>
          </a:p>
          <a:p>
            <a:r>
              <a:rPr lang="en-IN" dirty="0"/>
              <a:t>MOV B, #04H         ; Move immediate data 04h into register B</a:t>
            </a:r>
          </a:p>
          <a:p>
            <a:r>
              <a:rPr lang="en-IN" dirty="0"/>
              <a:t>MUL AB              ; Multiply A by B, result in B (MSB), A (LSB)</a:t>
            </a:r>
          </a:p>
          <a:p>
            <a:r>
              <a:rPr lang="en-IN" dirty="0"/>
              <a:t>MOV R2, A           ; Store lower 8 bits of result in R2</a:t>
            </a:r>
          </a:p>
          <a:p>
            <a:r>
              <a:rPr lang="en-IN" dirty="0"/>
              <a:t>MOV R3, B           ; Store upper 8 bits of result in R3</a:t>
            </a:r>
          </a:p>
          <a:p>
            <a:endParaRPr lang="en-IN" dirty="0"/>
          </a:p>
          <a:p>
            <a:r>
              <a:rPr lang="en-IN" dirty="0"/>
              <a:t>; Division</a:t>
            </a:r>
          </a:p>
          <a:p>
            <a:r>
              <a:rPr lang="en-IN" dirty="0"/>
              <a:t>CLR A               ; Clear accumulator A</a:t>
            </a:r>
          </a:p>
          <a:p>
            <a:r>
              <a:rPr lang="en-IN" dirty="0"/>
              <a:t>MOV A, #95H         ; Move immediate data 95h into accumulator A (dividend)</a:t>
            </a:r>
          </a:p>
          <a:p>
            <a:r>
              <a:rPr lang="en-IN" dirty="0"/>
              <a:t>MOV B, #10H         ; Move immediate data 10h into register B (divisor)</a:t>
            </a:r>
          </a:p>
          <a:p>
            <a:r>
              <a:rPr lang="en-IN" dirty="0"/>
              <a:t>DIV AB              ; Divide A by B, quotient in A, remainder in B</a:t>
            </a:r>
          </a:p>
          <a:p>
            <a:r>
              <a:rPr lang="en-IN" dirty="0"/>
              <a:t>MOV R4, A           ; Store quotient in R4</a:t>
            </a:r>
          </a:p>
          <a:p>
            <a:r>
              <a:rPr lang="en-IN" dirty="0"/>
              <a:t>MOV R5, B           ; Store remainder in R5</a:t>
            </a:r>
          </a:p>
          <a:p>
            <a:endParaRPr lang="en-IN" dirty="0"/>
          </a:p>
          <a:p>
            <a:r>
              <a:rPr lang="en-IN" dirty="0"/>
              <a:t>END                 ; End of program</a:t>
            </a:r>
          </a:p>
        </p:txBody>
      </p:sp>
    </p:spTree>
    <p:extLst>
      <p:ext uri="{BB962C8B-B14F-4D97-AF65-F5344CB8AC3E}">
        <p14:creationId xmlns:p14="http://schemas.microsoft.com/office/powerpoint/2010/main" val="3339511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EC24C-B089-3304-2BF0-C3372AFBA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87CA6A-43AF-E846-37E5-013612FFE957}"/>
              </a:ext>
            </a:extLst>
          </p:cNvPr>
          <p:cNvSpPr txBox="1"/>
          <p:nvPr/>
        </p:nvSpPr>
        <p:spPr>
          <a:xfrm>
            <a:off x="843280" y="118795"/>
            <a:ext cx="8745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Assembly language Program of find largest number from given data bytes!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4C656-55C0-FCA7-1AD1-67072467541B}"/>
              </a:ext>
            </a:extLst>
          </p:cNvPr>
          <p:cNvSpPr txBox="1"/>
          <p:nvPr/>
        </p:nvSpPr>
        <p:spPr>
          <a:xfrm>
            <a:off x="914400" y="488127"/>
            <a:ext cx="874522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ORG 0000H             ; Program start address</a:t>
            </a:r>
          </a:p>
          <a:p>
            <a:endParaRPr lang="en-IN" dirty="0"/>
          </a:p>
          <a:p>
            <a:r>
              <a:rPr lang="en-IN" dirty="0"/>
              <a:t>MOV R0, #40H          ; Initialize R0 with starting memory address 40H</a:t>
            </a:r>
          </a:p>
          <a:p>
            <a:r>
              <a:rPr lang="en-IN" dirty="0"/>
              <a:t>MOV R1, #05H          ; Initialize R1 with count of 5 (number of data bytes)</a:t>
            </a:r>
          </a:p>
          <a:p>
            <a:r>
              <a:rPr lang="en-IN" dirty="0"/>
              <a:t>MOV A, #0FFH          ; Initialize accumulator A with 0FFH (assuming max value start)</a:t>
            </a:r>
          </a:p>
          <a:p>
            <a:endParaRPr lang="en-IN" dirty="0"/>
          </a:p>
          <a:p>
            <a:r>
              <a:rPr lang="en-IN" dirty="0"/>
              <a:t>DOWN: </a:t>
            </a:r>
          </a:p>
          <a:p>
            <a:r>
              <a:rPr lang="en-IN" dirty="0"/>
              <a:t>    MOV B, @R0        ; Move data at address pointed by R0 into B</a:t>
            </a:r>
          </a:p>
          <a:p>
            <a:r>
              <a:rPr lang="en-IN" dirty="0"/>
              <a:t>    CJNE A, B, VP     ; Compare A and B, jump to VP if not equal</a:t>
            </a:r>
          </a:p>
          <a:p>
            <a:endParaRPr lang="en-IN" dirty="0"/>
          </a:p>
          <a:p>
            <a:r>
              <a:rPr lang="en-IN" dirty="0"/>
              <a:t>UP: </a:t>
            </a:r>
          </a:p>
          <a:p>
            <a:r>
              <a:rPr lang="en-IN" dirty="0"/>
              <a:t>    JNC A_LARGE       ; If carry flag not set (A &gt;= B), jump to A_LARGE</a:t>
            </a:r>
          </a:p>
          <a:p>
            <a:r>
              <a:rPr lang="en-IN" dirty="0"/>
              <a:t>    MOV A, B          ; Else move B into A (B is larger)</a:t>
            </a:r>
          </a:p>
          <a:p>
            <a:endParaRPr lang="en-IN" dirty="0"/>
          </a:p>
          <a:p>
            <a:r>
              <a:rPr lang="en-IN" dirty="0"/>
              <a:t>A_LARGE:</a:t>
            </a:r>
          </a:p>
          <a:p>
            <a:r>
              <a:rPr lang="en-IN" dirty="0"/>
              <a:t>    INC R0            ; Increment R0 to point to next data byte</a:t>
            </a:r>
          </a:p>
          <a:p>
            <a:r>
              <a:rPr lang="en-IN" dirty="0"/>
              <a:t>    DJNZ R1, DOWN     ; Decrement R1 and loop until zero</a:t>
            </a:r>
          </a:p>
          <a:p>
            <a:endParaRPr lang="en-IN" dirty="0"/>
          </a:p>
          <a:p>
            <a:r>
              <a:rPr lang="en-IN" dirty="0"/>
              <a:t>MOV 50H, A            ; Store the largest number found at memory address 50H</a:t>
            </a:r>
          </a:p>
          <a:p>
            <a:r>
              <a:rPr lang="en-IN" dirty="0"/>
              <a:t>SJMP $                ; Infinite loop to stop program</a:t>
            </a:r>
          </a:p>
          <a:p>
            <a:endParaRPr lang="en-IN" dirty="0"/>
          </a:p>
          <a:p>
            <a:r>
              <a:rPr lang="en-IN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630198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4C2B-8C05-4CB2-BC4D-6523C624A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62CB5E-2A41-C2AB-1886-FEB0AC130CF8}"/>
              </a:ext>
            </a:extLst>
          </p:cNvPr>
          <p:cNvSpPr txBox="1"/>
          <p:nvPr/>
        </p:nvSpPr>
        <p:spPr>
          <a:xfrm>
            <a:off x="822960" y="93573"/>
            <a:ext cx="902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Assembly language Program for Ascending order: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B903A-CCC9-7BD7-FFE5-5015FC82C4B5}"/>
              </a:ext>
            </a:extLst>
          </p:cNvPr>
          <p:cNvSpPr txBox="1"/>
          <p:nvPr/>
        </p:nvSpPr>
        <p:spPr>
          <a:xfrm>
            <a:off x="894080" y="591413"/>
            <a:ext cx="8432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ORG 0000H</a:t>
            </a:r>
          </a:p>
          <a:p>
            <a:endParaRPr lang="en-IN" dirty="0"/>
          </a:p>
          <a:p>
            <a:r>
              <a:rPr lang="en-IN" dirty="0"/>
              <a:t>MOV R0, #05H           ; Initialize pass counter (n-1 passes for n elements)</a:t>
            </a:r>
          </a:p>
          <a:p>
            <a:r>
              <a:rPr lang="en-IN" dirty="0"/>
              <a:t>MOV DPTR, #3000H       ; Initialize memory pointer (array start address)</a:t>
            </a:r>
          </a:p>
          <a:p>
            <a:r>
              <a:rPr lang="en-IN" dirty="0"/>
              <a:t>MOV R1, #05H           ; Initialize byte counter</a:t>
            </a:r>
          </a:p>
          <a:p>
            <a:endParaRPr lang="en-IN" dirty="0"/>
          </a:p>
          <a:p>
            <a:r>
              <a:rPr lang="en-IN" dirty="0"/>
              <a:t>PASS: MOV R2, DPTR     ; Save the lower byte address (array pointer)</a:t>
            </a:r>
          </a:p>
          <a:p>
            <a:r>
              <a:rPr lang="en-IN" dirty="0"/>
              <a:t>MOV A, @DPTR           ; Read first number from array into Accumulator</a:t>
            </a:r>
          </a:p>
          <a:p>
            <a:r>
              <a:rPr lang="en-IN" dirty="0"/>
              <a:t>MOV 40H, A             ; Transfer the number into temp memory (B register substitute)</a:t>
            </a:r>
          </a:p>
          <a:p>
            <a:r>
              <a:rPr lang="en-IN" dirty="0"/>
              <a:t>INC DPTR               ; Increment memory pointer</a:t>
            </a:r>
          </a:p>
          <a:p>
            <a:endParaRPr lang="en-IN" dirty="0"/>
          </a:p>
          <a:p>
            <a:r>
              <a:rPr lang="en-IN" dirty="0"/>
              <a:t>MOV A, @DPTR           ; Read next number from array into Accumulator</a:t>
            </a:r>
          </a:p>
          <a:p>
            <a:r>
              <a:rPr lang="en-IN" dirty="0"/>
              <a:t>CJNE A, 40H, COMPARE   ; Compare with temp (previous) number</a:t>
            </a:r>
          </a:p>
          <a:p>
            <a:endParaRPr lang="en-IN" dirty="0"/>
          </a:p>
          <a:p>
            <a:r>
              <a:rPr lang="en-IN" dirty="0"/>
              <a:t>SKIP: INC DPTR         ; Move to next element</a:t>
            </a:r>
          </a:p>
          <a:p>
            <a:r>
              <a:rPr lang="en-IN" dirty="0"/>
              <a:t>DJNZ R1, PASS1         ; Byte counter loop</a:t>
            </a:r>
          </a:p>
          <a:p>
            <a:r>
              <a:rPr lang="en-IN" dirty="0"/>
              <a:t>DJNZ R0, PASS          ; Pass counter loop</a:t>
            </a:r>
          </a:p>
          <a:p>
            <a:r>
              <a:rPr lang="en-IN" dirty="0"/>
              <a:t>SJMP 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397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E6FDA-8785-E870-DCF4-13BA076EB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EBB796-2D7C-CDF7-29C1-349C37442784}"/>
              </a:ext>
            </a:extLst>
          </p:cNvPr>
          <p:cNvSpPr txBox="1"/>
          <p:nvPr/>
        </p:nvSpPr>
        <p:spPr>
          <a:xfrm>
            <a:off x="884582" y="136201"/>
            <a:ext cx="86569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COMPARE:</a:t>
            </a:r>
          </a:p>
          <a:p>
            <a:r>
              <a:rPr lang="en-IN" dirty="0"/>
              <a:t>    JNC SKIP            ; If current &gt;= previous, skip</a:t>
            </a:r>
          </a:p>
          <a:p>
            <a:r>
              <a:rPr lang="en-IN" dirty="0"/>
              <a:t>    MOV DPL, R2         ; Else exchange</a:t>
            </a:r>
          </a:p>
          <a:p>
            <a:r>
              <a:rPr lang="en-IN" dirty="0"/>
              <a:t>    MOVX A, @DPTR</a:t>
            </a:r>
          </a:p>
          <a:p>
            <a:r>
              <a:rPr lang="en-IN" dirty="0"/>
              <a:t>    MOVX @DPTR, 40H</a:t>
            </a:r>
          </a:p>
          <a:p>
            <a:r>
              <a:rPr lang="en-IN" dirty="0"/>
              <a:t>    MOVX @R2, A</a:t>
            </a:r>
          </a:p>
          <a:p>
            <a:r>
              <a:rPr lang="en-IN" dirty="0"/>
              <a:t>    SJMP SKIP</a:t>
            </a:r>
          </a:p>
          <a:p>
            <a:endParaRPr lang="en-IN" dirty="0"/>
          </a:p>
          <a:p>
            <a:r>
              <a:rPr lang="en-IN" dirty="0"/>
              <a:t>PASS1: ; Loop within pass</a:t>
            </a:r>
          </a:p>
          <a:p>
            <a:r>
              <a:rPr lang="en-IN" dirty="0"/>
              <a:t>END: SJMP END</a:t>
            </a:r>
          </a:p>
        </p:txBody>
      </p:sp>
    </p:spTree>
    <p:extLst>
      <p:ext uri="{BB962C8B-B14F-4D97-AF65-F5344CB8AC3E}">
        <p14:creationId xmlns:p14="http://schemas.microsoft.com/office/powerpoint/2010/main" val="4270124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0E98A-9AD2-914F-A8DF-702BBBD3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2ECEA9-D77D-EF4F-FA95-8C7A3E88C2FD}"/>
              </a:ext>
            </a:extLst>
          </p:cNvPr>
          <p:cNvSpPr txBox="1"/>
          <p:nvPr/>
        </p:nvSpPr>
        <p:spPr>
          <a:xfrm>
            <a:off x="914400" y="103569"/>
            <a:ext cx="8726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Assembly language program for Descending order: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C90BC-2D34-923B-91C9-7BB1983E78BB}"/>
              </a:ext>
            </a:extLst>
          </p:cNvPr>
          <p:cNvSpPr txBox="1"/>
          <p:nvPr/>
        </p:nvSpPr>
        <p:spPr>
          <a:xfrm>
            <a:off x="1043609" y="564660"/>
            <a:ext cx="82395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ORG 0000H </a:t>
            </a:r>
          </a:p>
          <a:p>
            <a:r>
              <a:rPr lang="en-IN"/>
              <a:t>MOV RO, #05H </a:t>
            </a:r>
          </a:p>
          <a:p>
            <a:r>
              <a:rPr lang="en-IN"/>
              <a:t>UP1: MOV DPTR, # 3000H </a:t>
            </a:r>
          </a:p>
          <a:p>
            <a:r>
              <a:rPr lang="en-IN"/>
              <a:t>MOV R1, HO4H </a:t>
            </a:r>
          </a:p>
          <a:p>
            <a:r>
              <a:rPr lang="en-IN"/>
              <a:t>UP: MOV R2, D P L </a:t>
            </a:r>
          </a:p>
          <a:p>
            <a:r>
              <a:rPr lang="en-IN"/>
              <a:t>MOVX A, @DPTR </a:t>
            </a:r>
          </a:p>
          <a:p>
            <a:r>
              <a:rPr lang="en-IN"/>
              <a:t>MOV OFOH, A </a:t>
            </a:r>
          </a:p>
          <a:p>
            <a:r>
              <a:rPr lang="en-IN"/>
              <a:t>INC DDTR </a:t>
            </a:r>
          </a:p>
          <a:p>
            <a:r>
              <a:rPr lang="en-IN"/>
              <a:t>MOVX A @DPTR </a:t>
            </a:r>
          </a:p>
          <a:p>
            <a:r>
              <a:rPr lang="en-IN"/>
              <a:t>CJNE A, OFOH, DN </a:t>
            </a:r>
          </a:p>
          <a:p>
            <a:r>
              <a:rPr lang="en-IN"/>
              <a:t>AJMP SKIP </a:t>
            </a:r>
          </a:p>
          <a:p>
            <a:r>
              <a:rPr lang="en-IN"/>
              <a:t>DN: JC SKIP </a:t>
            </a:r>
          </a:p>
          <a:p>
            <a:r>
              <a:rPr lang="en-IN"/>
              <a:t>MOV DPL, R2 </a:t>
            </a:r>
          </a:p>
          <a:p>
            <a:r>
              <a:rPr lang="en-IN"/>
              <a:t>MOVX @DPTR, A </a:t>
            </a:r>
          </a:p>
          <a:p>
            <a:r>
              <a:rPr lang="en-IN"/>
              <a:t>INC DPTR </a:t>
            </a:r>
          </a:p>
          <a:p>
            <a:r>
              <a:rPr lang="en-IN"/>
              <a:t>MOV A, OFOH </a:t>
            </a:r>
          </a:p>
          <a:p>
            <a:r>
              <a:rPr lang="en-IN"/>
              <a:t>MOVX @DPTR, A </a:t>
            </a:r>
          </a:p>
          <a:p>
            <a:r>
              <a:rPr lang="en-IN"/>
              <a:t>SKIP: DJNZ R1, UP </a:t>
            </a:r>
          </a:p>
          <a:p>
            <a:r>
              <a:rPr lang="en-IN"/>
              <a:t>DJNZ PO, UP1 </a:t>
            </a:r>
          </a:p>
          <a:p>
            <a:r>
              <a:rPr lang="en-IN"/>
              <a:t>END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999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B571E-0D65-A59F-0D7F-1F0E6A4B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D66BE-519D-EFA1-587A-2FFC6160C32A}"/>
              </a:ext>
            </a:extLst>
          </p:cNvPr>
          <p:cNvSpPr txBox="1"/>
          <p:nvPr/>
        </p:nvSpPr>
        <p:spPr>
          <a:xfrm>
            <a:off x="884583" y="73751"/>
            <a:ext cx="8309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2.4 8051 programming in C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972D7B-8DDB-53F0-398A-C3625BEF83DB}"/>
              </a:ext>
            </a:extLst>
          </p:cNvPr>
          <p:cNvSpPr txBox="1"/>
          <p:nvPr/>
        </p:nvSpPr>
        <p:spPr>
          <a:xfrm>
            <a:off x="884583" y="537436"/>
            <a:ext cx="867686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8051 programming in C refers to writing embedded software for the 8051 microcontroller using the C language instead of assembly. This improves readability, maintainability, and speeds up development compared to pure assembly programming.​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Introduction to 8051 C Programming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The 8051 microcontroller can be programmed using Embedded C, which allows direct control of I/O ports, timers, and serial communication using high-level syntax.​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Most modern 8051 development environments (such as Keil C51) support standard C syntax with some hardware-specific extensions.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r>
              <a:rPr lang="en-US" b="1" dirty="0">
                <a:latin typeface="fkGroteskNeue"/>
              </a:rPr>
              <a:t>Basic Structure of an 8051 C Program</a:t>
            </a:r>
          </a:p>
          <a:p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#include &lt;reg51.h&gt;      // Header file specific to 8051</a:t>
            </a:r>
          </a:p>
          <a:p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void main(void) {</a:t>
            </a:r>
          </a:p>
          <a:p>
            <a:r>
              <a:rPr lang="en-US" dirty="0">
                <a:latin typeface="fkGroteskNeue"/>
              </a:rPr>
              <a:t>    P1 = 0xFF;          // Turn ON all bits of Port 1</a:t>
            </a:r>
          </a:p>
          <a:p>
            <a:r>
              <a:rPr lang="en-US" dirty="0">
                <a:latin typeface="fkGroteskNeue"/>
              </a:rPr>
              <a:t>    while (1);          // Infinite loop</a:t>
            </a:r>
          </a:p>
          <a:p>
            <a:r>
              <a:rPr lang="en-US" dirty="0">
                <a:latin typeface="fkGroteskNeue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120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CBD33-6C57-C8DC-7CA2-35E4CB0C0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CAC40D-6492-86D9-3C6F-B3A07127C45F}"/>
              </a:ext>
            </a:extLst>
          </p:cNvPr>
          <p:cNvSpPr txBox="1"/>
          <p:nvPr/>
        </p:nvSpPr>
        <p:spPr>
          <a:xfrm>
            <a:off x="795130" y="126689"/>
            <a:ext cx="859734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Header files like </a:t>
            </a:r>
            <a:r>
              <a:rPr lang="en-US" b="0" i="0" dirty="0">
                <a:effectLst/>
                <a:latin typeface="berkeleyMono"/>
              </a:rPr>
              <a:t>&lt;reg51.h&gt;</a:t>
            </a:r>
            <a:r>
              <a:rPr lang="en-US" b="0" i="0" dirty="0">
                <a:effectLst/>
                <a:latin typeface="fkGroteskNeue"/>
              </a:rPr>
              <a:t> define register maps for SFRs and peripherals.​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Ports (P0, P1, P2, P3) can be accessed using simple assignment statements.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Common Operations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marL="342900" indent="-342900" algn="l">
              <a:buAutoNum type="arabicPeriod"/>
            </a:pPr>
            <a:r>
              <a:rPr lang="en-US" b="1" i="0" dirty="0">
                <a:effectLst/>
                <a:latin typeface="fkGrotesk"/>
              </a:rPr>
              <a:t>Blinking an LED</a:t>
            </a:r>
          </a:p>
          <a:p>
            <a:pPr marL="342900" indent="-342900" algn="l">
              <a:buAutoNum type="arabicPeriod"/>
            </a:pPr>
            <a:endParaRPr lang="en-US" dirty="0">
              <a:latin typeface="fkGrotesk"/>
            </a:endParaRPr>
          </a:p>
          <a:p>
            <a:r>
              <a:rPr lang="en-US" dirty="0">
                <a:latin typeface="fkGrotesk"/>
              </a:rPr>
              <a:t>#include &lt;reg51.h&gt;</a:t>
            </a:r>
          </a:p>
          <a:p>
            <a:r>
              <a:rPr lang="en-US" dirty="0">
                <a:latin typeface="fkGrotesk"/>
              </a:rPr>
              <a:t>void </a:t>
            </a:r>
            <a:r>
              <a:rPr lang="en-US" dirty="0" err="1">
                <a:latin typeface="fkGrotesk"/>
              </a:rPr>
              <a:t>MSDelay</a:t>
            </a:r>
            <a:r>
              <a:rPr lang="en-US" dirty="0">
                <a:latin typeface="fkGrotesk"/>
              </a:rPr>
              <a:t>(unsigned int);</a:t>
            </a:r>
          </a:p>
          <a:p>
            <a:endParaRPr lang="en-US" dirty="0">
              <a:latin typeface="fkGrotesk"/>
            </a:endParaRPr>
          </a:p>
          <a:p>
            <a:r>
              <a:rPr lang="en-US" dirty="0">
                <a:latin typeface="fkGrotesk"/>
              </a:rPr>
              <a:t>void main() {</a:t>
            </a:r>
          </a:p>
          <a:p>
            <a:r>
              <a:rPr lang="en-US" dirty="0">
                <a:latin typeface="fkGrotesk"/>
              </a:rPr>
              <a:t>    while(1) {</a:t>
            </a:r>
          </a:p>
          <a:p>
            <a:r>
              <a:rPr lang="en-US" dirty="0">
                <a:latin typeface="fkGrotesk"/>
              </a:rPr>
              <a:t>        P1 = 0x55;   // Output pattern to Port 1</a:t>
            </a:r>
          </a:p>
          <a:p>
            <a:r>
              <a:rPr lang="en-US" dirty="0">
                <a:latin typeface="fkGrotesk"/>
              </a:rPr>
              <a:t>        </a:t>
            </a:r>
            <a:r>
              <a:rPr lang="en-US" dirty="0" err="1">
                <a:latin typeface="fkGrotesk"/>
              </a:rPr>
              <a:t>MSDelay</a:t>
            </a:r>
            <a:r>
              <a:rPr lang="en-US" dirty="0">
                <a:latin typeface="fkGrotesk"/>
              </a:rPr>
              <a:t>(250);</a:t>
            </a:r>
          </a:p>
          <a:p>
            <a:r>
              <a:rPr lang="en-US" dirty="0">
                <a:latin typeface="fkGrotesk"/>
              </a:rPr>
              <a:t>        P1 = 0xAA;   // Alternate pattern</a:t>
            </a:r>
          </a:p>
          <a:p>
            <a:r>
              <a:rPr lang="en-US" dirty="0">
                <a:latin typeface="fkGrotesk"/>
              </a:rPr>
              <a:t>        </a:t>
            </a:r>
            <a:r>
              <a:rPr lang="en-US" dirty="0" err="1">
                <a:latin typeface="fkGrotesk"/>
              </a:rPr>
              <a:t>MSDelay</a:t>
            </a:r>
            <a:r>
              <a:rPr lang="en-US" dirty="0">
                <a:latin typeface="fkGrotesk"/>
              </a:rPr>
              <a:t>(250);</a:t>
            </a:r>
          </a:p>
          <a:p>
            <a:r>
              <a:rPr lang="en-US" dirty="0">
                <a:latin typeface="fkGrotesk"/>
              </a:rPr>
              <a:t>    }</a:t>
            </a:r>
          </a:p>
          <a:p>
            <a:r>
              <a:rPr lang="en-US" dirty="0">
                <a:latin typeface="fkGrotesk"/>
              </a:rPr>
              <a:t>}</a:t>
            </a:r>
          </a:p>
          <a:p>
            <a:r>
              <a:rPr lang="en-US" dirty="0">
                <a:latin typeface="fkGrotesk"/>
              </a:rPr>
              <a:t>void </a:t>
            </a:r>
            <a:r>
              <a:rPr lang="en-US" dirty="0" err="1">
                <a:latin typeface="fkGrotesk"/>
              </a:rPr>
              <a:t>MSDelay</a:t>
            </a:r>
            <a:r>
              <a:rPr lang="en-US" dirty="0">
                <a:latin typeface="fkGrotesk"/>
              </a:rPr>
              <a:t>(unsigned int </a:t>
            </a:r>
            <a:r>
              <a:rPr lang="en-US" dirty="0" err="1">
                <a:latin typeface="fkGrotesk"/>
              </a:rPr>
              <a:t>itime</a:t>
            </a:r>
            <a:r>
              <a:rPr lang="en-US" dirty="0">
                <a:latin typeface="fkGrotesk"/>
              </a:rPr>
              <a:t>) {</a:t>
            </a:r>
          </a:p>
          <a:p>
            <a:r>
              <a:rPr lang="en-US" dirty="0">
                <a:latin typeface="fkGrotesk"/>
              </a:rPr>
              <a:t>    unsigned int </a:t>
            </a:r>
            <a:r>
              <a:rPr lang="en-US" dirty="0" err="1">
                <a:latin typeface="fkGrotesk"/>
              </a:rPr>
              <a:t>i</a:t>
            </a:r>
            <a:r>
              <a:rPr lang="en-US" dirty="0">
                <a:latin typeface="fkGrotesk"/>
              </a:rPr>
              <a:t>, j;</a:t>
            </a:r>
          </a:p>
          <a:p>
            <a:r>
              <a:rPr lang="en-US" dirty="0">
                <a:latin typeface="fkGrotesk"/>
              </a:rPr>
              <a:t>    for (</a:t>
            </a:r>
            <a:r>
              <a:rPr lang="en-US" dirty="0" err="1">
                <a:latin typeface="fkGrotesk"/>
              </a:rPr>
              <a:t>i</a:t>
            </a:r>
            <a:r>
              <a:rPr lang="en-US" dirty="0">
                <a:latin typeface="fkGrotesk"/>
              </a:rPr>
              <a:t> = 0; </a:t>
            </a:r>
            <a:r>
              <a:rPr lang="en-US" dirty="0" err="1">
                <a:latin typeface="fkGrotesk"/>
              </a:rPr>
              <a:t>i</a:t>
            </a:r>
            <a:r>
              <a:rPr lang="en-US" dirty="0">
                <a:latin typeface="fkGrotesk"/>
              </a:rPr>
              <a:t> &lt; </a:t>
            </a:r>
            <a:r>
              <a:rPr lang="en-US" dirty="0" err="1">
                <a:latin typeface="fkGrotesk"/>
              </a:rPr>
              <a:t>itime</a:t>
            </a:r>
            <a:r>
              <a:rPr lang="en-US" dirty="0">
                <a:latin typeface="fkGrotesk"/>
              </a:rPr>
              <a:t>; </a:t>
            </a:r>
            <a:r>
              <a:rPr lang="en-US" dirty="0" err="1">
                <a:latin typeface="fkGrotesk"/>
              </a:rPr>
              <a:t>i</a:t>
            </a:r>
            <a:r>
              <a:rPr lang="en-US" dirty="0">
                <a:latin typeface="fkGrotesk"/>
              </a:rPr>
              <a:t>++)</a:t>
            </a:r>
          </a:p>
          <a:p>
            <a:r>
              <a:rPr lang="en-US" dirty="0">
                <a:latin typeface="fkGrotesk"/>
              </a:rPr>
              <a:t>        for (j = 0; j &lt; 1275; </a:t>
            </a:r>
            <a:r>
              <a:rPr lang="en-US" dirty="0" err="1">
                <a:latin typeface="fkGrotesk"/>
              </a:rPr>
              <a:t>j++</a:t>
            </a:r>
            <a:r>
              <a:rPr lang="en-US" dirty="0">
                <a:latin typeface="fkGrotesk"/>
              </a:rPr>
              <a:t>);</a:t>
            </a:r>
          </a:p>
          <a:p>
            <a:r>
              <a:rPr lang="en-US" dirty="0">
                <a:latin typeface="fkGrotesk"/>
              </a:rPr>
              <a:t>}</a:t>
            </a:r>
          </a:p>
          <a:p>
            <a:pPr algn="l"/>
            <a:endParaRPr lang="en-US" b="0" i="0" dirty="0">
              <a:effectLst/>
              <a:latin typeface="fkGrotes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example toggles the bits of Port 1 with a delay.</a:t>
            </a:r>
            <a:endParaRPr lang="en-US" b="0" i="0" dirty="0">
              <a:effectLst/>
              <a:latin typeface="fkGrotesk"/>
            </a:endParaRPr>
          </a:p>
        </p:txBody>
      </p:sp>
    </p:spTree>
    <p:extLst>
      <p:ext uri="{BB962C8B-B14F-4D97-AF65-F5344CB8AC3E}">
        <p14:creationId xmlns:p14="http://schemas.microsoft.com/office/powerpoint/2010/main" val="4173584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9C01D-B528-FF88-DCDB-619E2065D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A2A4F2-8FC8-5304-3989-E7CF0154AD14}"/>
              </a:ext>
            </a:extLst>
          </p:cNvPr>
          <p:cNvSpPr txBox="1"/>
          <p:nvPr/>
        </p:nvSpPr>
        <p:spPr>
          <a:xfrm>
            <a:off x="894519" y="109331"/>
            <a:ext cx="863710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2. Reading from a Port and Writing to Another</a:t>
            </a:r>
          </a:p>
          <a:p>
            <a:pPr>
              <a:buNone/>
            </a:pPr>
            <a:br>
              <a:rPr lang="en-US" b="0" i="0" dirty="0">
                <a:effectLst/>
                <a:latin typeface="berkeleyMono"/>
              </a:rPr>
            </a:br>
            <a:r>
              <a:rPr lang="en-US" dirty="0">
                <a:latin typeface="berkeleyMono"/>
              </a:rPr>
              <a:t>#include &lt;reg51.h&gt;</a:t>
            </a:r>
          </a:p>
          <a:p>
            <a:pPr>
              <a:buNone/>
            </a:pPr>
            <a:r>
              <a:rPr lang="en-US" dirty="0">
                <a:latin typeface="berkeleyMono"/>
              </a:rPr>
              <a:t>void </a:t>
            </a:r>
            <a:r>
              <a:rPr lang="en-US" dirty="0" err="1">
                <a:latin typeface="berkeleyMono"/>
              </a:rPr>
              <a:t>MSDelay</a:t>
            </a:r>
            <a:r>
              <a:rPr lang="en-US" dirty="0">
                <a:latin typeface="berkeleyMono"/>
              </a:rPr>
              <a:t>(unsigned int);</a:t>
            </a:r>
          </a:p>
          <a:p>
            <a:pPr>
              <a:buNone/>
            </a:pPr>
            <a:endParaRPr lang="en-US" dirty="0">
              <a:latin typeface="berkeleyMono"/>
            </a:endParaRPr>
          </a:p>
          <a:p>
            <a:pPr>
              <a:buNone/>
            </a:pPr>
            <a:r>
              <a:rPr lang="en-US" dirty="0">
                <a:latin typeface="berkeleyMono"/>
              </a:rPr>
              <a:t>void main() {</a:t>
            </a:r>
          </a:p>
          <a:p>
            <a:pPr>
              <a:buNone/>
            </a:pPr>
            <a:r>
              <a:rPr lang="en-US" dirty="0">
                <a:latin typeface="berkeleyMono"/>
              </a:rPr>
              <a:t>    unsigned char d;</a:t>
            </a:r>
          </a:p>
          <a:p>
            <a:pPr>
              <a:buNone/>
            </a:pPr>
            <a:r>
              <a:rPr lang="en-US" dirty="0">
                <a:latin typeface="berkeleyMono"/>
              </a:rPr>
              <a:t>    P1 = 0xFF;      // Set P1 as input</a:t>
            </a:r>
          </a:p>
          <a:p>
            <a:pPr>
              <a:buNone/>
            </a:pPr>
            <a:r>
              <a:rPr lang="en-US" dirty="0">
                <a:latin typeface="berkeleyMono"/>
              </a:rPr>
              <a:t>    while(1) {</a:t>
            </a:r>
          </a:p>
          <a:p>
            <a:pPr>
              <a:buNone/>
            </a:pPr>
            <a:r>
              <a:rPr lang="en-US" dirty="0">
                <a:latin typeface="berkeleyMono"/>
              </a:rPr>
              <a:t>        d = P1;     // Read from P1</a:t>
            </a:r>
          </a:p>
          <a:p>
            <a:pPr>
              <a:buNone/>
            </a:pPr>
            <a:r>
              <a:rPr lang="en-US" dirty="0">
                <a:latin typeface="berkeleyMono"/>
              </a:rPr>
              <a:t>        </a:t>
            </a:r>
            <a:r>
              <a:rPr lang="en-US" dirty="0" err="1">
                <a:latin typeface="berkeleyMono"/>
              </a:rPr>
              <a:t>MSDelay</a:t>
            </a:r>
            <a:r>
              <a:rPr lang="en-US" dirty="0">
                <a:latin typeface="berkeleyMono"/>
              </a:rPr>
              <a:t>(500);</a:t>
            </a:r>
          </a:p>
          <a:p>
            <a:pPr>
              <a:buNone/>
            </a:pPr>
            <a:r>
              <a:rPr lang="en-US" dirty="0">
                <a:latin typeface="berkeleyMono"/>
              </a:rPr>
              <a:t>        P2 = d;     // Output to P2</a:t>
            </a:r>
          </a:p>
          <a:p>
            <a:pPr>
              <a:buNone/>
            </a:pPr>
            <a:r>
              <a:rPr lang="en-US" dirty="0">
                <a:latin typeface="berkeleyMono"/>
              </a:rPr>
              <a:t>    }</a:t>
            </a:r>
          </a:p>
          <a:p>
            <a:pPr>
              <a:buNone/>
            </a:pPr>
            <a:r>
              <a:rPr lang="en-US" dirty="0">
                <a:latin typeface="berkeleyMono"/>
              </a:rPr>
              <a:t>}</a:t>
            </a:r>
          </a:p>
          <a:p>
            <a:pPr>
              <a:buNone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is read from Port 1 and then output to Port 2 after a delay.​</a:t>
            </a:r>
          </a:p>
        </p:txBody>
      </p:sp>
    </p:spTree>
    <p:extLst>
      <p:ext uri="{BB962C8B-B14F-4D97-AF65-F5344CB8AC3E}">
        <p14:creationId xmlns:p14="http://schemas.microsoft.com/office/powerpoint/2010/main" val="42104476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474</TotalTime>
  <Words>2233</Words>
  <Application>Microsoft Office PowerPoint</Application>
  <PresentationFormat>Widescreen</PresentationFormat>
  <Paragraphs>285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berkeleyMono</vt:lpstr>
      <vt:lpstr>fkGrotesk</vt:lpstr>
      <vt:lpstr>fkGroteskNeue</vt:lpstr>
      <vt:lpstr>Trebuchet MS</vt:lpstr>
      <vt:lpstr>Trebuchet MS (Body)</vt:lpstr>
      <vt:lpstr>Wingdings</vt:lpstr>
      <vt:lpstr>Wingdings 3</vt:lpstr>
      <vt:lpstr>Facet</vt:lpstr>
      <vt:lpstr>8051 Instruction set and Programming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2025-10-11T06:04:23Z</dcterms:created>
  <dcterms:modified xsi:type="dcterms:W3CDTF">2025-10-11T13:58:33Z</dcterms:modified>
</cp:coreProperties>
</file>