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31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818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39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13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027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169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819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88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39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01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813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853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14258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11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1772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13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7810F-8DEA-47E2-9F8D-5996A7C64E23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1628107-D6C2-4959-8881-D75DDB8E7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433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68211-27A1-7474-C02D-2EEED8079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773" y="2215690"/>
            <a:ext cx="9541565" cy="1646302"/>
          </a:xfrm>
        </p:spPr>
        <p:txBody>
          <a:bodyPr/>
          <a:lstStyle/>
          <a:p>
            <a:pPr algn="ctr"/>
            <a:r>
              <a:rPr lang="en-IN" dirty="0"/>
              <a:t>Software Requirement Engineering</a:t>
            </a:r>
          </a:p>
        </p:txBody>
      </p:sp>
    </p:spTree>
    <p:extLst>
      <p:ext uri="{BB962C8B-B14F-4D97-AF65-F5344CB8AC3E}">
        <p14:creationId xmlns:p14="http://schemas.microsoft.com/office/powerpoint/2010/main" val="45752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67FB6-9A75-414C-3268-1597E9556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0F2477-2EF1-AEA8-D90C-3CAF73808CAA}"/>
              </a:ext>
            </a:extLst>
          </p:cNvPr>
          <p:cNvSpPr txBox="1"/>
          <p:nvPr/>
        </p:nvSpPr>
        <p:spPr>
          <a:xfrm>
            <a:off x="844827" y="195614"/>
            <a:ext cx="848801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4.1 Software Engineering Practices and its importance, Core principles, Communication Practices, Planning Practices, Modelling Practices, Construction Practices, Software Deployment (Statement and meaning of each principle)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Software Engineering Practices and Their Importance</a:t>
            </a:r>
          </a:p>
          <a:p>
            <a:endParaRPr lang="en-US" dirty="0"/>
          </a:p>
          <a:p>
            <a:r>
              <a:rPr lang="en-US" dirty="0"/>
              <a:t>Software engineering practices are standardized approaches and techniques used to ensure the effective, efficient, and high-quality development and maintenance of software systems. These practices guide teams to manage complexity, reduce errors, improve collaboration, and deliver reliable products.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Importance of Software Engineering Practices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software meets requirements and quality standards.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Facilitate consistent and repeatable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 manage risks and control project costs and schedules.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communication among stakeholders.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maintainability and scalability of software.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9472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08BEA8-F785-E7CD-30E9-D11D65567940}"/>
              </a:ext>
            </a:extLst>
          </p:cNvPr>
          <p:cNvSpPr txBox="1"/>
          <p:nvPr/>
        </p:nvSpPr>
        <p:spPr>
          <a:xfrm>
            <a:off x="844825" y="192160"/>
            <a:ext cx="829917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"/>
              </a:rPr>
              <a:t>Core Principles of Software Engineering Practices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Focus on Quality: Emphasize building quality in at every stage.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Apply Best Practices: Use proven methodologies and techniques.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Manage Complexity: Break down systems into manageable components.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Continuous Improvement: Learn from feedback and adapt processes.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Team Collaboration: Foster strong communication and shared responsibility.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Customer-Centric: Align development closely with user needs.</a:t>
            </a:r>
          </a:p>
          <a:p>
            <a:pPr algn="l">
              <a:buFont typeface="+mj-lt"/>
              <a:buAutoNum type="arabicPeriod"/>
            </a:pPr>
            <a:endParaRPr lang="en-US" dirty="0">
              <a:latin typeface="fkGroteskNeue"/>
            </a:endParaRPr>
          </a:p>
          <a:p>
            <a:r>
              <a:rPr lang="en-US" dirty="0"/>
              <a:t>Statement and Meaning of Key Software Engineering Practices</a:t>
            </a:r>
          </a:p>
          <a:p>
            <a:endParaRPr lang="en-US" dirty="0"/>
          </a:p>
          <a:p>
            <a:r>
              <a:rPr lang="en-US" b="1" dirty="0"/>
              <a:t>1. Communication Practices</a:t>
            </a:r>
          </a:p>
          <a:p>
            <a:r>
              <a:rPr lang="en-US" b="1" dirty="0"/>
              <a:t>Statement</a:t>
            </a:r>
            <a:r>
              <a:rPr lang="en-US" dirty="0"/>
              <a:t>: Establish effective information exchange among stakeholders to clarify requirements, expectations, and progress.</a:t>
            </a:r>
          </a:p>
          <a:p>
            <a:endParaRPr lang="en-US" dirty="0"/>
          </a:p>
          <a:p>
            <a:r>
              <a:rPr lang="en-US" b="1" dirty="0"/>
              <a:t>Meaning</a:t>
            </a:r>
            <a:r>
              <a:rPr lang="en-US" dirty="0"/>
              <a:t>: Good communication ensures all parties understand project goals, constraints, and changes, reducing misunderstandings and rework.</a:t>
            </a:r>
          </a:p>
          <a:p>
            <a:endParaRPr lang="en-US" dirty="0"/>
          </a:p>
          <a:p>
            <a:r>
              <a:rPr lang="en-US" b="1" dirty="0"/>
              <a:t>2. Planning Practices</a:t>
            </a:r>
          </a:p>
          <a:p>
            <a:r>
              <a:rPr lang="en-US" b="1" dirty="0"/>
              <a:t>Statement</a:t>
            </a:r>
            <a:r>
              <a:rPr lang="en-US" dirty="0"/>
              <a:t>: Develop clear, realistic plans that define tasks, schedules, resources, and risk mitigation strategies.</a:t>
            </a:r>
          </a:p>
          <a:p>
            <a:endParaRPr lang="en-US" dirty="0"/>
          </a:p>
          <a:p>
            <a:r>
              <a:rPr lang="en-US" b="1" dirty="0"/>
              <a:t>Meaning</a:t>
            </a:r>
            <a:r>
              <a:rPr lang="en-US" dirty="0"/>
              <a:t>: Proper planning organizes the work to meet deadlines, manage resources efficiently, and anticipate challenges before they impact progress.</a:t>
            </a:r>
          </a:p>
        </p:txBody>
      </p:sp>
    </p:spTree>
    <p:extLst>
      <p:ext uri="{BB962C8B-B14F-4D97-AF65-F5344CB8AC3E}">
        <p14:creationId xmlns:p14="http://schemas.microsoft.com/office/powerpoint/2010/main" val="2933791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3E7AE-1A8B-27AB-CA6B-28140229D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DA96C3-15AC-31BF-8D18-1F31FF7F02EA}"/>
              </a:ext>
            </a:extLst>
          </p:cNvPr>
          <p:cNvSpPr txBox="1"/>
          <p:nvPr/>
        </p:nvSpPr>
        <p:spPr>
          <a:xfrm>
            <a:off x="983974" y="113943"/>
            <a:ext cx="838862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3. Modelling Practices</a:t>
            </a: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Statement</a:t>
            </a:r>
            <a:r>
              <a:rPr lang="en-US" b="0" i="0" dirty="0">
                <a:effectLst/>
                <a:latin typeface="fkGroteskNeue"/>
              </a:rPr>
              <a:t>: Use abstract representations to visualize, analyze, and design software components and interactions.</a:t>
            </a:r>
          </a:p>
          <a:p>
            <a:pPr algn="l">
              <a:buNone/>
            </a:pPr>
            <a:r>
              <a:rPr lang="en-US" dirty="0">
                <a:latin typeface="fkGroteskNeue"/>
              </a:rPr>
              <a:t> </a:t>
            </a: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Meaning</a:t>
            </a:r>
            <a:r>
              <a:rPr lang="en-US" b="0" i="0" dirty="0">
                <a:effectLst/>
                <a:latin typeface="fkGroteskNeue"/>
              </a:rPr>
              <a:t>: Modeling helps simplify complex systems, allowing validation of designs early, improving understanding, and guiding implementation.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4. Construction Practices</a:t>
            </a: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Statement</a:t>
            </a:r>
            <a:r>
              <a:rPr lang="en-US" b="0" i="0" dirty="0">
                <a:effectLst/>
                <a:latin typeface="fkGroteskNeue"/>
              </a:rPr>
              <a:t>: Apply disciplined coding, testing, integration, and debugging techniques to build reliable and maintainable software.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Meaning</a:t>
            </a:r>
            <a:r>
              <a:rPr lang="en-US" b="0" i="0" dirty="0">
                <a:effectLst/>
                <a:latin typeface="fkGroteskNeue"/>
              </a:rPr>
              <a:t>: Systematic construction ensures code quality, reduces defects, and supports easier maintenance and evolution of software.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5. Software Deployment Practices</a:t>
            </a: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Statement</a:t>
            </a:r>
            <a:r>
              <a:rPr lang="en-US" b="0" i="0" dirty="0">
                <a:effectLst/>
                <a:latin typeface="fkGroteskNeue"/>
              </a:rPr>
              <a:t>: Plan and execute the delivery of software products to users with provisions for installation, configuration, and support.</a:t>
            </a:r>
          </a:p>
          <a:p>
            <a:pPr algn="l">
              <a:buNone/>
            </a:pPr>
            <a:endParaRPr lang="en-US" dirty="0">
              <a:latin typeface="fkGroteskNeue"/>
            </a:endParaRPr>
          </a:p>
          <a:p>
            <a:r>
              <a:rPr lang="en-US" b="1" dirty="0">
                <a:latin typeface="fkGroteskNeue"/>
              </a:rPr>
              <a:t>Meaning</a:t>
            </a:r>
            <a:r>
              <a:rPr lang="en-US" dirty="0">
                <a:latin typeface="fkGroteskNeue"/>
              </a:rPr>
              <a:t>: Deployment practices ensure the software is correctly installed and operational in the user environment, including user training and feedback collection for ongoing support.</a:t>
            </a:r>
          </a:p>
        </p:txBody>
      </p:sp>
    </p:spTree>
    <p:extLst>
      <p:ext uri="{BB962C8B-B14F-4D97-AF65-F5344CB8AC3E}">
        <p14:creationId xmlns:p14="http://schemas.microsoft.com/office/powerpoint/2010/main" val="569727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6178F-B197-519D-4549-4CAD26CDA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6B0E81-F9A2-09E9-241F-92F901738AED}"/>
              </a:ext>
            </a:extLst>
          </p:cNvPr>
          <p:cNvSpPr txBox="1"/>
          <p:nvPr/>
        </p:nvSpPr>
        <p:spPr>
          <a:xfrm>
            <a:off x="785191" y="94279"/>
            <a:ext cx="865698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4.2 Requirement Engineering: Requirement Gathering and Analysis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What is Requirement Engineering?</a:t>
            </a:r>
          </a:p>
          <a:p>
            <a:endParaRPr lang="en-US" dirty="0"/>
          </a:p>
          <a:p>
            <a:r>
              <a:rPr lang="en-US" dirty="0"/>
              <a:t>Requirement Engineering is a systematic and disciplined process of identifying, eliciting, analyzing, specifying, validating, and managing the needs and expectations of stakeholders for a software system. It ensures that the software product meets user needs and is feasible and consistent across its lifecycle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Requirement Gathering (Elicitation)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the initial step where requirements are collected from various sources such as customers, users, domain experts, and other stakeholders.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Techniques used include interviews, surveys, workshops, document analysis, observation, and prototyping.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goal is to understand what the software should accomplish and the constraints under which it must operate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147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B0157-3A9F-29DA-6C73-4D8BDF797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14400D-AEE4-5EC5-82A7-8A0908A9A285}"/>
              </a:ext>
            </a:extLst>
          </p:cNvPr>
          <p:cNvSpPr txBox="1"/>
          <p:nvPr/>
        </p:nvSpPr>
        <p:spPr>
          <a:xfrm>
            <a:off x="795130" y="119343"/>
            <a:ext cx="853771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"/>
              </a:rPr>
              <a:t>Requirement Analysis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Involves examining gathered requirements to identify conflicts, inconsistencies, redundancies, and feasibility.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Classifies requirements into functional (what the system should do) and non-functional (quality attributes like performance, security) categories.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Resolves ambiguities and prioritizes requirements for development.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Uses modeling techniques such as use cases and scenarios to better understand and communicate requirements.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latin typeface="fkGroteskNeue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fkGroteskNeue"/>
              </a:rPr>
              <a:t>Purpose and Importance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Requirement engineering bridges the gap between stakeholders and developers by clearly defining what the system must be.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Proper gathering and analysis reduce project risks, prevent scope creep, and improve customer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Helps ensure time, budget, and quality objectives are met by minimizing misunderstandings early.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282546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7D3AC-1C74-5335-CFC7-61714D967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DE8146-3F3F-615D-E1CE-D1941A5A65E3}"/>
              </a:ext>
            </a:extLst>
          </p:cNvPr>
          <p:cNvSpPr txBox="1"/>
          <p:nvPr/>
        </p:nvSpPr>
        <p:spPr>
          <a:xfrm>
            <a:off x="805069" y="98817"/>
            <a:ext cx="83786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"/>
              </a:rPr>
              <a:t>Summary of Requirement Engineering Process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Elicitation: Collecting requirements from stakeholders.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Analysis: Clarifying, prioritizing, and resolving conflicts in requirements.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Specification: Documenting requirements clearly and unambiguously.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Validation: Verifying requirements meet stakeholder needs.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Management: Tracking and updating requirements through development.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4AC1FF-BAFA-FE36-4BC6-362730FA6AE0}"/>
              </a:ext>
            </a:extLst>
          </p:cNvPr>
          <p:cNvSpPr txBox="1"/>
          <p:nvPr/>
        </p:nvSpPr>
        <p:spPr>
          <a:xfrm>
            <a:off x="805068" y="2233136"/>
            <a:ext cx="837868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4.3 Types of Requirements (Functional, Product, organizational, External Requirements), Eliciting Requirements, Developing Use cases, Building requirement models, Requirement Negotiation, Validation</a:t>
            </a:r>
            <a:r>
              <a:rPr lang="en-US" dirty="0"/>
              <a:t>.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Types of Requirements</a:t>
            </a:r>
          </a:p>
          <a:p>
            <a:endParaRPr lang="en-US" dirty="0"/>
          </a:p>
          <a:p>
            <a:r>
              <a:rPr lang="en-US" dirty="0"/>
              <a:t>Software requirements fall into various categories, each describing different aspects of what the system must do or how it should behave: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Functional Requirements: </a:t>
            </a:r>
            <a:r>
              <a:rPr lang="en-US" dirty="0"/>
              <a:t>Specify specific behaviors or functions the system must perform, such as processing transactions, performing calculations, or managing data.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Product Requirements: </a:t>
            </a:r>
            <a:r>
              <a:rPr lang="en-US" dirty="0"/>
              <a:t>Describe the system’s properties and capabilities, including system qualities like performance, reliability, scalability, and security.</a:t>
            </a:r>
          </a:p>
        </p:txBody>
      </p:sp>
    </p:spTree>
    <p:extLst>
      <p:ext uri="{BB962C8B-B14F-4D97-AF65-F5344CB8AC3E}">
        <p14:creationId xmlns:p14="http://schemas.microsoft.com/office/powerpoint/2010/main" val="170229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43044-557F-1FFB-0F0C-24C780714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8A00D7-2BE7-1C2A-7B6F-42B555788C62}"/>
              </a:ext>
            </a:extLst>
          </p:cNvPr>
          <p:cNvSpPr txBox="1"/>
          <p:nvPr/>
        </p:nvSpPr>
        <p:spPr>
          <a:xfrm>
            <a:off x="785191" y="123235"/>
            <a:ext cx="853771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Organizational Requirements: Relate to corporate policies, procedures, and standards that affect the software, such as compliance, regulatory constraints, or business rules.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External Requirements: Arise from factors outside the system, including interactions with other systems, hardware constraints, or environmental conditions.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fkGroteskNeue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Eliciting Requirements</a:t>
            </a:r>
          </a:p>
          <a:p>
            <a:endParaRPr lang="en-US" b="1" dirty="0"/>
          </a:p>
          <a:p>
            <a:r>
              <a:rPr lang="en-US" dirty="0"/>
              <a:t>This is the process of uncovering and gathering requirements from stakeholders using techniques such as: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Questionnaires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Workshops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Observation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Document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Prototyping</a:t>
            </a:r>
          </a:p>
          <a:p>
            <a:r>
              <a:rPr lang="en-US" dirty="0"/>
              <a:t>The goal is to understand what users need and expect from the system.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722531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74791-8882-515F-B6B6-FE5B4C2DE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8EF438-384E-7278-1510-8CACC05194F8}"/>
              </a:ext>
            </a:extLst>
          </p:cNvPr>
          <p:cNvSpPr txBox="1"/>
          <p:nvPr/>
        </p:nvSpPr>
        <p:spPr>
          <a:xfrm>
            <a:off x="755374" y="178978"/>
            <a:ext cx="842838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Developing Use Cases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Use cases describe sequences of interactions between users (actors) and the system to achieve specific goals. They help capture functional requirements in an understandable way.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Use case components include: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Actors: entities interacting with the system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Preconditions: conditions before interaction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Basic flow: normal scenario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Alternative flows: variations and exceptions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Postconditions: outcomes after completion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latin typeface="fkGroteskNeue"/>
            </a:endParaRPr>
          </a:p>
          <a:p>
            <a:r>
              <a:rPr lang="en-US" b="1" dirty="0">
                <a:latin typeface="fkGroteskNeue"/>
              </a:rPr>
              <a:t>Building Requirement Models</a:t>
            </a:r>
          </a:p>
          <a:p>
            <a:endParaRPr lang="en-US" dirty="0">
              <a:latin typeface="fkGroteskNeue"/>
            </a:endParaRPr>
          </a:p>
          <a:p>
            <a:r>
              <a:rPr lang="en-US" dirty="0">
                <a:latin typeface="fkGroteskNeue"/>
              </a:rPr>
              <a:t>Models are abstractions that represent requirements for better analysis and communication. Common models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Use case diagrams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Data flow diagrams (DFD)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Entity-relationship diagrams (ERD)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State transition diagrams</a:t>
            </a:r>
          </a:p>
          <a:p>
            <a:r>
              <a:rPr lang="en-US" dirty="0">
                <a:latin typeface="fkGroteskNeue"/>
              </a:rPr>
              <a:t>These help visualize system functionality, data, and behavior.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238901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BB117-3737-6543-16EA-F24A4BCD9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3B30DE-71DD-D965-91E3-A125E1814966}"/>
              </a:ext>
            </a:extLst>
          </p:cNvPr>
          <p:cNvSpPr txBox="1"/>
          <p:nvPr/>
        </p:nvSpPr>
        <p:spPr>
          <a:xfrm>
            <a:off x="844826" y="109827"/>
            <a:ext cx="852777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fkGrotesk"/>
              </a:rPr>
              <a:t>Requirement Negotiation</a:t>
            </a:r>
          </a:p>
          <a:p>
            <a:pPr>
              <a:buNone/>
            </a:pPr>
            <a:endParaRPr lang="en-US" b="0" dirty="0">
              <a:effectLst/>
              <a:latin typeface="fkGrotesk"/>
            </a:endParaRPr>
          </a:p>
          <a:p>
            <a:pPr>
              <a:buNone/>
            </a:pPr>
            <a:r>
              <a:rPr lang="en-US" dirty="0">
                <a:effectLst/>
                <a:latin typeface="fkGroteskNeue"/>
              </a:rPr>
              <a:t>This is the process of resolving conflicts, prioritizing, and agreeing on requirements among stakeholders. It ensures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fkGroteskNeue"/>
              </a:rPr>
              <a:t>Conflicting requirements are reconciled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fkGroteskNeue"/>
              </a:rPr>
              <a:t>Feasibility is considered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fkGroteskNeue"/>
              </a:rPr>
              <a:t>Dependencies and trade-offs are balanced</a:t>
            </a:r>
          </a:p>
          <a:p>
            <a:pPr>
              <a:buNone/>
            </a:pPr>
            <a:r>
              <a:rPr lang="en-US" dirty="0">
                <a:effectLst/>
                <a:latin typeface="fkGroteskNeue"/>
              </a:rPr>
              <a:t>Effective negotiation leads to a stable, agreed-upon set of requirements.</a:t>
            </a:r>
            <a:br>
              <a:rPr lang="en-US" dirty="0">
                <a:effectLst/>
                <a:latin typeface="fkGroteskNeue"/>
              </a:rPr>
            </a:br>
            <a:endParaRPr lang="en-US" dirty="0">
              <a:effectLst/>
              <a:latin typeface="fkGroteskNeue"/>
            </a:endParaRPr>
          </a:p>
          <a:p>
            <a:pPr>
              <a:buNone/>
            </a:pPr>
            <a:r>
              <a:rPr lang="en-US" b="1" dirty="0">
                <a:effectLst/>
                <a:latin typeface="fkGrotesk"/>
              </a:rPr>
              <a:t>Requirement Validation</a:t>
            </a:r>
          </a:p>
          <a:p>
            <a:pPr>
              <a:buNone/>
            </a:pPr>
            <a:endParaRPr lang="en-US" b="1" dirty="0">
              <a:effectLst/>
              <a:latin typeface="fkGrotesk"/>
            </a:endParaRPr>
          </a:p>
          <a:p>
            <a:pPr>
              <a:buNone/>
            </a:pPr>
            <a:r>
              <a:rPr lang="en-US" dirty="0">
                <a:effectLst/>
                <a:latin typeface="fkGroteskNeue"/>
              </a:rPr>
              <a:t>Validation ensures that requirements are correct, complete, consistent, and meet stakeholder needs. Techniques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fkGroteskNeue"/>
              </a:rPr>
              <a:t>Reviews and inspections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fkGroteskNeue"/>
              </a:rPr>
              <a:t>Prototyping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fkGroteskNeue"/>
              </a:rPr>
              <a:t>Test case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fkGroteskNeue"/>
              </a:rPr>
              <a:t>Consistency and completeness checking</a:t>
            </a:r>
          </a:p>
          <a:p>
            <a:pPr>
              <a:buNone/>
            </a:pPr>
            <a:r>
              <a:rPr lang="en-US" dirty="0">
                <a:effectLst/>
                <a:latin typeface="fkGroteskNeue"/>
              </a:rPr>
              <a:t>Valid requirements form a solid foundation for successful software development.</a:t>
            </a:r>
          </a:p>
        </p:txBody>
      </p:sp>
    </p:spTree>
    <p:extLst>
      <p:ext uri="{BB962C8B-B14F-4D97-AF65-F5344CB8AC3E}">
        <p14:creationId xmlns:p14="http://schemas.microsoft.com/office/powerpoint/2010/main" val="2409595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9483C-3934-A6A5-30A9-71FC64AA4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335962-9E90-E48C-5381-57C5A94251BC}"/>
              </a:ext>
            </a:extLst>
          </p:cNvPr>
          <p:cNvSpPr txBox="1"/>
          <p:nvPr/>
        </p:nvSpPr>
        <p:spPr>
          <a:xfrm>
            <a:off x="785191" y="203609"/>
            <a:ext cx="858740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4.4 Software Requirement Specification: Need of SRS, Format, and its Characteristics. </a:t>
            </a:r>
          </a:p>
          <a:p>
            <a:endParaRPr lang="en-US" dirty="0"/>
          </a:p>
          <a:p>
            <a:r>
              <a:rPr lang="en-US" b="1" dirty="0"/>
              <a:t>Software Requirement Specification (SRS)</a:t>
            </a:r>
            <a:br>
              <a:rPr lang="en-US" b="1" dirty="0"/>
            </a:br>
            <a:endParaRPr lang="en-US" b="1" dirty="0"/>
          </a:p>
          <a:p>
            <a:r>
              <a:rPr lang="en-US" b="1" dirty="0"/>
              <a:t>Need for SRS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Definition: Provides an unambiguous and detailed description of what the software must do and its constraints.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Communication: Serves as a formal agreement between stakeholders — clients, users, developers, and testers — ensuring everyone shares the same expectations.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Foundation for Development: Guides the software design, implementation, testing, and maintenance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 Reduction: Identifies requirements early to avoid misunderstandings, scope creep, and costly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Reference Document: Acts as a baseline for change management and project progress evaluation.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Quality Assurance: Helps ensure software quality through clear and testable requirements.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8574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778CB-8E3F-A904-D70F-A86AAB29C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03330B-9A07-B67B-6A47-FAA0D27C9BFD}"/>
              </a:ext>
            </a:extLst>
          </p:cNvPr>
          <p:cNvSpPr txBox="1"/>
          <p:nvPr/>
        </p:nvSpPr>
        <p:spPr>
          <a:xfrm>
            <a:off x="795130" y="102707"/>
            <a:ext cx="83786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"/>
              </a:rPr>
              <a:t>Format of SRS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An SRS document typically includes the following sections: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Introduction: Purpose, scope, definitions, overview, and references.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Overall Description: Product perspective, features summary, user classes, constraints, assumptions.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Specific Requirements: Detailed functional requirements, non-functional requirements (performance, security, usability), interface requirements.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System Models and Diagrams: Use cases, data flow diagrams, entity-relationship diagrams.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Acceptance Criteria: Conditions to determine whether the software meets requirements.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Glossary and Appendices: Definitions of terms, abbreviations, and supporting information.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46EA56-5F3B-F490-FCF7-23AC99DDB934}"/>
              </a:ext>
            </a:extLst>
          </p:cNvPr>
          <p:cNvSpPr txBox="1"/>
          <p:nvPr/>
        </p:nvSpPr>
        <p:spPr>
          <a:xfrm>
            <a:off x="616225" y="4073025"/>
            <a:ext cx="87364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"/>
              </a:rPr>
              <a:t>Characteristics of a Good SRS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Correct: Accurately reflects the agreed requirements.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Complete: Includes all necessary functional and non-functional requirements.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Consistent: No conflicting requirements or ambiguities.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Unambiguous: Clear, precise language understandable by all stakeholders.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Verifiable: Requirements can be tested through inspection or testing.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Modifiable: Organized and documented to allow easy updates.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Traceable: Each requirement is uniquely identified and traceable through development stages.</a:t>
            </a:r>
          </a:p>
        </p:txBody>
      </p:sp>
    </p:spTree>
    <p:extLst>
      <p:ext uri="{BB962C8B-B14F-4D97-AF65-F5344CB8AC3E}">
        <p14:creationId xmlns:p14="http://schemas.microsoft.com/office/powerpoint/2010/main" val="8812246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</TotalTime>
  <Words>1433</Words>
  <Application>Microsoft Office PowerPoint</Application>
  <PresentationFormat>Widescreen</PresentationFormat>
  <Paragraphs>165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fkGrotesk</vt:lpstr>
      <vt:lpstr>fkGroteskNeue</vt:lpstr>
      <vt:lpstr>Trebuchet MS</vt:lpstr>
      <vt:lpstr>Wingdings</vt:lpstr>
      <vt:lpstr>Wingdings 3</vt:lpstr>
      <vt:lpstr>Facet</vt:lpstr>
      <vt:lpstr>Software Requirement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2</cp:revision>
  <dcterms:created xsi:type="dcterms:W3CDTF">2025-10-09T09:16:19Z</dcterms:created>
  <dcterms:modified xsi:type="dcterms:W3CDTF">2025-10-09T13:47:26Z</dcterms:modified>
</cp:coreProperties>
</file>