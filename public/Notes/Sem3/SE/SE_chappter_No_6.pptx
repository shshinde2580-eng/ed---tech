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5"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23" autoAdjust="0"/>
    <p:restoredTop sz="94660"/>
  </p:normalViewPr>
  <p:slideViewPr>
    <p:cSldViewPr snapToGrid="0">
      <p:cViewPr>
        <p:scale>
          <a:sx n="75" d="100"/>
          <a:sy n="75" d="100"/>
        </p:scale>
        <p:origin x="43"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FBC3824-1E53-497D-ACB5-4633306B3436}"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5151E4E-F1E0-4CFD-A98F-058898C817DA}" type="slidenum">
              <a:rPr lang="en-IN" smtClean="0"/>
              <a:t>‹#›</a:t>
            </a:fld>
            <a:endParaRPr lang="en-IN"/>
          </a:p>
        </p:txBody>
      </p:sp>
    </p:spTree>
    <p:extLst>
      <p:ext uri="{BB962C8B-B14F-4D97-AF65-F5344CB8AC3E}">
        <p14:creationId xmlns:p14="http://schemas.microsoft.com/office/powerpoint/2010/main" val="3631480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BC3824-1E53-497D-ACB5-4633306B3436}"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5151E4E-F1E0-4CFD-A98F-058898C817DA}" type="slidenum">
              <a:rPr lang="en-IN" smtClean="0"/>
              <a:t>‹#›</a:t>
            </a:fld>
            <a:endParaRPr lang="en-IN"/>
          </a:p>
        </p:txBody>
      </p:sp>
    </p:spTree>
    <p:extLst>
      <p:ext uri="{BB962C8B-B14F-4D97-AF65-F5344CB8AC3E}">
        <p14:creationId xmlns:p14="http://schemas.microsoft.com/office/powerpoint/2010/main" val="34066035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FBC3824-1E53-497D-ACB5-4633306B3436}"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5151E4E-F1E0-4CFD-A98F-058898C817DA}" type="slidenum">
              <a:rPr lang="en-IN" smtClean="0"/>
              <a:t>‹#›</a:t>
            </a:fld>
            <a:endParaRPr lang="en-IN"/>
          </a:p>
        </p:txBody>
      </p:sp>
    </p:spTree>
    <p:extLst>
      <p:ext uri="{BB962C8B-B14F-4D97-AF65-F5344CB8AC3E}">
        <p14:creationId xmlns:p14="http://schemas.microsoft.com/office/powerpoint/2010/main" val="19473546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FBC3824-1E53-497D-ACB5-4633306B3436}" type="datetimeFigureOut">
              <a:rPr lang="en-IN" smtClean="0"/>
              <a:t>09-10-2025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5151E4E-F1E0-4CFD-A98F-058898C817DA}" type="slidenum">
              <a:rPr lang="en-IN" smtClean="0"/>
              <a:t>‹#›</a:t>
            </a:fld>
            <a:endParaRPr lang="en-IN"/>
          </a:p>
        </p:txBody>
      </p:sp>
    </p:spTree>
    <p:extLst>
      <p:ext uri="{BB962C8B-B14F-4D97-AF65-F5344CB8AC3E}">
        <p14:creationId xmlns:p14="http://schemas.microsoft.com/office/powerpoint/2010/main" val="12737626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FBC3824-1E53-497D-ACB5-4633306B3436}" type="datetimeFigureOut">
              <a:rPr lang="en-IN" smtClean="0"/>
              <a:t>09-10-2025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5151E4E-F1E0-4CFD-A98F-058898C817DA}" type="slidenum">
              <a:rPr lang="en-IN" smtClean="0"/>
              <a:t>‹#›</a:t>
            </a:fld>
            <a:endParaRPr lang="en-IN"/>
          </a:p>
        </p:txBody>
      </p:sp>
    </p:spTree>
    <p:extLst>
      <p:ext uri="{BB962C8B-B14F-4D97-AF65-F5344CB8AC3E}">
        <p14:creationId xmlns:p14="http://schemas.microsoft.com/office/powerpoint/2010/main" val="42110746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FBC3824-1E53-497D-ACB5-4633306B3436}" type="datetimeFigureOut">
              <a:rPr lang="en-IN" smtClean="0"/>
              <a:t>09-10-2025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5151E4E-F1E0-4CFD-A98F-058898C817DA}" type="slidenum">
              <a:rPr lang="en-IN" smtClean="0"/>
              <a:t>‹#›</a:t>
            </a:fld>
            <a:endParaRPr lang="en-IN"/>
          </a:p>
        </p:txBody>
      </p:sp>
    </p:spTree>
    <p:extLst>
      <p:ext uri="{BB962C8B-B14F-4D97-AF65-F5344CB8AC3E}">
        <p14:creationId xmlns:p14="http://schemas.microsoft.com/office/powerpoint/2010/main" val="34749307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FBC3824-1E53-497D-ACB5-4633306B3436}" type="datetimeFigureOut">
              <a:rPr lang="en-IN" smtClean="0"/>
              <a:t>09-10-2025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5151E4E-F1E0-4CFD-A98F-058898C817DA}" type="slidenum">
              <a:rPr lang="en-IN" smtClean="0"/>
              <a:t>‹#›</a:t>
            </a:fld>
            <a:endParaRPr lang="en-IN"/>
          </a:p>
        </p:txBody>
      </p:sp>
    </p:spTree>
    <p:extLst>
      <p:ext uri="{BB962C8B-B14F-4D97-AF65-F5344CB8AC3E}">
        <p14:creationId xmlns:p14="http://schemas.microsoft.com/office/powerpoint/2010/main" val="11699096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FBC3824-1E53-497D-ACB5-4633306B3436}" type="datetimeFigureOut">
              <a:rPr lang="en-IN" smtClean="0"/>
              <a:t>09-10-2025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5151E4E-F1E0-4CFD-A98F-058898C817DA}" type="slidenum">
              <a:rPr lang="en-IN" smtClean="0"/>
              <a:t>‹#›</a:t>
            </a:fld>
            <a:endParaRPr lang="en-IN"/>
          </a:p>
        </p:txBody>
      </p:sp>
    </p:spTree>
    <p:extLst>
      <p:ext uri="{BB962C8B-B14F-4D97-AF65-F5344CB8AC3E}">
        <p14:creationId xmlns:p14="http://schemas.microsoft.com/office/powerpoint/2010/main" val="27590784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FBC3824-1E53-497D-ACB5-4633306B3436}" type="datetimeFigureOut">
              <a:rPr lang="en-IN" smtClean="0"/>
              <a:t>09-10-2025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5151E4E-F1E0-4CFD-A98F-058898C817DA}" type="slidenum">
              <a:rPr lang="en-IN" smtClean="0"/>
              <a:t>‹#›</a:t>
            </a:fld>
            <a:endParaRPr lang="en-IN"/>
          </a:p>
        </p:txBody>
      </p:sp>
    </p:spTree>
    <p:extLst>
      <p:ext uri="{BB962C8B-B14F-4D97-AF65-F5344CB8AC3E}">
        <p14:creationId xmlns:p14="http://schemas.microsoft.com/office/powerpoint/2010/main" val="4937694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FBC3824-1E53-497D-ACB5-4633306B3436}"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5151E4E-F1E0-4CFD-A98F-058898C817DA}" type="slidenum">
              <a:rPr lang="en-IN" smtClean="0"/>
              <a:t>‹#›</a:t>
            </a:fld>
            <a:endParaRPr lang="en-IN"/>
          </a:p>
        </p:txBody>
      </p:sp>
    </p:spTree>
    <p:extLst>
      <p:ext uri="{BB962C8B-B14F-4D97-AF65-F5344CB8AC3E}">
        <p14:creationId xmlns:p14="http://schemas.microsoft.com/office/powerpoint/2010/main" val="9672262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FBC3824-1E53-497D-ACB5-4633306B3436}"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5151E4E-F1E0-4CFD-A98F-058898C817DA}"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3302711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FBC3824-1E53-497D-ACB5-4633306B3436}"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5151E4E-F1E0-4CFD-A98F-058898C817DA}" type="slidenum">
              <a:rPr lang="en-IN" smtClean="0"/>
              <a:t>‹#›</a:t>
            </a:fld>
            <a:endParaRPr lang="en-IN"/>
          </a:p>
        </p:txBody>
      </p:sp>
    </p:spTree>
    <p:extLst>
      <p:ext uri="{BB962C8B-B14F-4D97-AF65-F5344CB8AC3E}">
        <p14:creationId xmlns:p14="http://schemas.microsoft.com/office/powerpoint/2010/main" val="20204657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FBC3824-1E53-497D-ACB5-4633306B3436}"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5151E4E-F1E0-4CFD-A98F-058898C817DA}"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0404599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FBC3824-1E53-497D-ACB5-4633306B3436}"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5151E4E-F1E0-4CFD-A98F-058898C817DA}" type="slidenum">
              <a:rPr lang="en-IN" smtClean="0"/>
              <a:t>‹#›</a:t>
            </a:fld>
            <a:endParaRPr lang="en-IN"/>
          </a:p>
        </p:txBody>
      </p:sp>
    </p:spTree>
    <p:extLst>
      <p:ext uri="{BB962C8B-B14F-4D97-AF65-F5344CB8AC3E}">
        <p14:creationId xmlns:p14="http://schemas.microsoft.com/office/powerpoint/2010/main" val="4124293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BC3824-1E53-497D-ACB5-4633306B3436}"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5151E4E-F1E0-4CFD-A98F-058898C817DA}" type="slidenum">
              <a:rPr lang="en-IN" smtClean="0"/>
              <a:t>‹#›</a:t>
            </a:fld>
            <a:endParaRPr lang="en-IN"/>
          </a:p>
        </p:txBody>
      </p:sp>
    </p:spTree>
    <p:extLst>
      <p:ext uri="{BB962C8B-B14F-4D97-AF65-F5344CB8AC3E}">
        <p14:creationId xmlns:p14="http://schemas.microsoft.com/office/powerpoint/2010/main" val="37932341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BC3824-1E53-497D-ACB5-4633306B3436}"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5151E4E-F1E0-4CFD-A98F-058898C817DA}" type="slidenum">
              <a:rPr lang="en-IN" smtClean="0"/>
              <a:t>‹#›</a:t>
            </a:fld>
            <a:endParaRPr lang="en-IN"/>
          </a:p>
        </p:txBody>
      </p:sp>
    </p:spTree>
    <p:extLst>
      <p:ext uri="{BB962C8B-B14F-4D97-AF65-F5344CB8AC3E}">
        <p14:creationId xmlns:p14="http://schemas.microsoft.com/office/powerpoint/2010/main" val="30205123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FBC3824-1E53-497D-ACB5-4633306B3436}" type="datetimeFigureOut">
              <a:rPr lang="en-IN" smtClean="0"/>
              <a:t>09-10-2025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F5151E4E-F1E0-4CFD-A98F-058898C817DA}" type="slidenum">
              <a:rPr lang="en-IN" smtClean="0"/>
              <a:t>‹#›</a:t>
            </a:fld>
            <a:endParaRPr lang="en-IN"/>
          </a:p>
        </p:txBody>
      </p:sp>
    </p:spTree>
    <p:extLst>
      <p:ext uri="{BB962C8B-B14F-4D97-AF65-F5344CB8AC3E}">
        <p14:creationId xmlns:p14="http://schemas.microsoft.com/office/powerpoint/2010/main" val="211915857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08645-4B7E-A793-6094-F6F1F305AA54}"/>
              </a:ext>
            </a:extLst>
          </p:cNvPr>
          <p:cNvSpPr>
            <a:spLocks noGrp="1"/>
          </p:cNvSpPr>
          <p:nvPr>
            <p:ph type="ctrTitle"/>
          </p:nvPr>
        </p:nvSpPr>
        <p:spPr>
          <a:xfrm>
            <a:off x="596348" y="2404534"/>
            <a:ext cx="9392478" cy="1646302"/>
          </a:xfrm>
        </p:spPr>
        <p:txBody>
          <a:bodyPr/>
          <a:lstStyle/>
          <a:p>
            <a:pPr algn="ctr"/>
            <a:r>
              <a:rPr lang="en-IN" dirty="0"/>
              <a:t>Software Project Management </a:t>
            </a:r>
          </a:p>
        </p:txBody>
      </p:sp>
    </p:spTree>
    <p:extLst>
      <p:ext uri="{BB962C8B-B14F-4D97-AF65-F5344CB8AC3E}">
        <p14:creationId xmlns:p14="http://schemas.microsoft.com/office/powerpoint/2010/main" val="36029171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38C78A-DCB0-B6D5-8871-AA3E15D9912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5B0689B-C081-7D35-67BB-805F31DA3FA0}"/>
              </a:ext>
            </a:extLst>
          </p:cNvPr>
          <p:cNvSpPr txBox="1"/>
          <p:nvPr/>
        </p:nvSpPr>
        <p:spPr>
          <a:xfrm>
            <a:off x="886350" y="145214"/>
            <a:ext cx="8269356" cy="2585323"/>
          </a:xfrm>
          <a:prstGeom prst="rect">
            <a:avLst/>
          </a:prstGeom>
          <a:noFill/>
        </p:spPr>
        <p:txBody>
          <a:bodyPr wrap="square">
            <a:spAutoFit/>
          </a:bodyPr>
          <a:lstStyle/>
          <a:p>
            <a:r>
              <a:rPr lang="en-IN" dirty="0"/>
              <a:t>6.1 The management spectrum-4P’s</a:t>
            </a:r>
            <a:endParaRPr lang="en-US" b="0" i="0" dirty="0">
              <a:effectLst/>
              <a:latin typeface="fkGrotesk"/>
            </a:endParaRPr>
          </a:p>
          <a:p>
            <a:pPr algn="l">
              <a:buNone/>
            </a:pPr>
            <a:endParaRPr lang="en-US" dirty="0">
              <a:latin typeface="fkGrotesk"/>
            </a:endParaRPr>
          </a:p>
          <a:p>
            <a:pPr algn="l">
              <a:buNone/>
            </a:pPr>
            <a:r>
              <a:rPr lang="en-US" b="1" i="0" dirty="0">
                <a:effectLst/>
                <a:latin typeface="fkGrotesk"/>
              </a:rPr>
              <a:t>The Management Spectrum - 4 P’s in Software Project Management</a:t>
            </a:r>
            <a:endParaRPr lang="en-US" b="0" i="0" dirty="0">
              <a:effectLst/>
              <a:latin typeface="fkGrotesk"/>
            </a:endParaRPr>
          </a:p>
          <a:p>
            <a:pPr algn="l">
              <a:buNone/>
            </a:pPr>
            <a:r>
              <a:rPr lang="en-US" b="0" i="0" dirty="0">
                <a:effectLst/>
                <a:latin typeface="fkGroteskNeue"/>
              </a:rPr>
              <a:t>The 4 P's represent four critical and interrelated components essential for managing software projects effectively. These are:</a:t>
            </a:r>
          </a:p>
          <a:p>
            <a:pPr algn="l">
              <a:buFont typeface="Arial" panose="020B0604020202020204" pitchFamily="34" charset="0"/>
              <a:buChar char="•"/>
            </a:pPr>
            <a:r>
              <a:rPr lang="en-US" b="0" i="0" dirty="0">
                <a:effectLst/>
                <a:latin typeface="fkGroteskNeue"/>
              </a:rPr>
              <a:t>People</a:t>
            </a:r>
          </a:p>
          <a:p>
            <a:pPr algn="l">
              <a:buFont typeface="Arial" panose="020B0604020202020204" pitchFamily="34" charset="0"/>
              <a:buChar char="•"/>
            </a:pPr>
            <a:r>
              <a:rPr lang="en-US" b="0" i="0" dirty="0">
                <a:effectLst/>
                <a:latin typeface="fkGroteskNeue"/>
              </a:rPr>
              <a:t>Product</a:t>
            </a:r>
          </a:p>
          <a:p>
            <a:pPr algn="l">
              <a:buFont typeface="Arial" panose="020B0604020202020204" pitchFamily="34" charset="0"/>
              <a:buChar char="•"/>
            </a:pPr>
            <a:r>
              <a:rPr lang="en-US" b="0" i="0" dirty="0">
                <a:effectLst/>
                <a:latin typeface="fkGroteskNeue"/>
              </a:rPr>
              <a:t>Process</a:t>
            </a:r>
          </a:p>
          <a:p>
            <a:pPr algn="l">
              <a:buFont typeface="Arial" panose="020B0604020202020204" pitchFamily="34" charset="0"/>
              <a:buChar char="•"/>
            </a:pPr>
            <a:r>
              <a:rPr lang="en-US" b="0" i="0" dirty="0">
                <a:effectLst/>
                <a:latin typeface="fkGroteskNeue"/>
              </a:rPr>
              <a:t>Project</a:t>
            </a:r>
          </a:p>
        </p:txBody>
      </p:sp>
      <p:pic>
        <p:nvPicPr>
          <p:cNvPr id="1026" name="Picture 2" descr="The Management Spectrum | 4 P's in Software Project Planning - GeeksforGeeks">
            <a:extLst>
              <a:ext uri="{FF2B5EF4-FFF2-40B4-BE49-F238E27FC236}">
                <a16:creationId xmlns:a16="http://schemas.microsoft.com/office/drawing/2014/main" id="{FFA72F2C-7E92-757B-AE04-B73A8F96F9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47866" y="1549554"/>
            <a:ext cx="4307840" cy="236196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2411A3A-DF01-B96A-381B-08B66706288D}"/>
              </a:ext>
            </a:extLst>
          </p:cNvPr>
          <p:cNvSpPr txBox="1"/>
          <p:nvPr/>
        </p:nvSpPr>
        <p:spPr>
          <a:xfrm>
            <a:off x="827378" y="4023360"/>
            <a:ext cx="7901940" cy="2031325"/>
          </a:xfrm>
          <a:prstGeom prst="rect">
            <a:avLst/>
          </a:prstGeom>
          <a:noFill/>
        </p:spPr>
        <p:txBody>
          <a:bodyPr wrap="square">
            <a:spAutoFit/>
          </a:bodyPr>
          <a:lstStyle/>
          <a:p>
            <a:pPr marL="342900" indent="-342900" algn="l">
              <a:buAutoNum type="arabicPeriod"/>
            </a:pPr>
            <a:r>
              <a:rPr lang="en-US" b="1" i="0" dirty="0">
                <a:effectLst/>
                <a:latin typeface="fkGrotesk"/>
              </a:rPr>
              <a:t>People</a:t>
            </a:r>
            <a:endParaRPr lang="en-US" b="0" i="0" dirty="0">
              <a:effectLst/>
              <a:latin typeface="fkGrotesk"/>
            </a:endParaRPr>
          </a:p>
          <a:p>
            <a:pPr algn="l">
              <a:buFont typeface="Arial" panose="020B0604020202020204" pitchFamily="34" charset="0"/>
              <a:buChar char="•"/>
            </a:pPr>
            <a:r>
              <a:rPr lang="en-US" b="0" i="0" dirty="0">
                <a:effectLst/>
                <a:latin typeface="fkGroteskNeue"/>
              </a:rPr>
              <a:t>The most important asset in software projects.</a:t>
            </a:r>
          </a:p>
          <a:p>
            <a:pPr algn="l">
              <a:buFont typeface="Arial" panose="020B0604020202020204" pitchFamily="34" charset="0"/>
              <a:buChar char="•"/>
            </a:pPr>
            <a:r>
              <a:rPr lang="en-US" b="0" i="0" dirty="0">
                <a:effectLst/>
                <a:latin typeface="fkGroteskNeue"/>
              </a:rPr>
              <a:t>Includes all stakeholders such as developers, project managers, customers, users, analysts, testers, and sponsors.</a:t>
            </a:r>
          </a:p>
          <a:p>
            <a:pPr algn="l">
              <a:buFont typeface="Arial" panose="020B0604020202020204" pitchFamily="34" charset="0"/>
              <a:buChar char="•"/>
            </a:pPr>
            <a:r>
              <a:rPr lang="en-US" b="0" i="0" dirty="0">
                <a:effectLst/>
                <a:latin typeface="fkGroteskNeue"/>
              </a:rPr>
              <a:t>Success depends on well-managed teams, clear roles, communication, and motivation.</a:t>
            </a:r>
          </a:p>
          <a:p>
            <a:pPr algn="l">
              <a:buFont typeface="Arial" panose="020B0604020202020204" pitchFamily="34" charset="0"/>
              <a:buChar char="•"/>
            </a:pPr>
            <a:r>
              <a:rPr lang="en-US" b="0" i="0" dirty="0">
                <a:effectLst/>
                <a:latin typeface="fkGroteskNeue"/>
              </a:rPr>
              <a:t>Skills like leadership, collaboration, and problem-solving are </a:t>
            </a:r>
            <a:r>
              <a:rPr lang="en-US" b="0" i="0" dirty="0" err="1">
                <a:effectLst/>
                <a:latin typeface="fkGroteskNeue"/>
              </a:rPr>
              <a:t>crucia</a:t>
            </a:r>
            <a:endParaRPr lang="en-US" b="0" i="0" dirty="0">
              <a:effectLst/>
              <a:latin typeface="fkGroteskNeue"/>
            </a:endParaRPr>
          </a:p>
        </p:txBody>
      </p:sp>
    </p:spTree>
    <p:extLst>
      <p:ext uri="{BB962C8B-B14F-4D97-AF65-F5344CB8AC3E}">
        <p14:creationId xmlns:p14="http://schemas.microsoft.com/office/powerpoint/2010/main" val="14002708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95D9331-301F-6E53-A920-BD9FCBCB8A2E}"/>
              </a:ext>
            </a:extLst>
          </p:cNvPr>
          <p:cNvSpPr txBox="1"/>
          <p:nvPr/>
        </p:nvSpPr>
        <p:spPr>
          <a:xfrm>
            <a:off x="843280" y="335845"/>
            <a:ext cx="8968740" cy="6186309"/>
          </a:xfrm>
          <a:prstGeom prst="rect">
            <a:avLst/>
          </a:prstGeom>
          <a:noFill/>
        </p:spPr>
        <p:txBody>
          <a:bodyPr wrap="square">
            <a:spAutoFit/>
          </a:bodyPr>
          <a:lstStyle/>
          <a:p>
            <a:pPr algn="l">
              <a:buNone/>
            </a:pPr>
            <a:r>
              <a:rPr lang="en-US" b="1" i="0" dirty="0">
                <a:effectLst/>
                <a:latin typeface="fkGrotesk"/>
              </a:rPr>
              <a:t>2. Product</a:t>
            </a:r>
          </a:p>
          <a:p>
            <a:pPr algn="l">
              <a:buFont typeface="Arial" panose="020B0604020202020204" pitchFamily="34" charset="0"/>
              <a:buChar char="•"/>
            </a:pPr>
            <a:r>
              <a:rPr lang="en-US" b="0" i="0" dirty="0">
                <a:effectLst/>
                <a:latin typeface="fkGroteskNeue"/>
              </a:rPr>
              <a:t>Represents the end deliverable of the project—either a software application or system.</a:t>
            </a:r>
          </a:p>
          <a:p>
            <a:pPr algn="l">
              <a:buFont typeface="Arial" panose="020B0604020202020204" pitchFamily="34" charset="0"/>
              <a:buChar char="•"/>
            </a:pPr>
            <a:r>
              <a:rPr lang="en-US" b="0" i="0" dirty="0">
                <a:effectLst/>
                <a:latin typeface="fkGroteskNeue"/>
              </a:rPr>
              <a:t>Planning around the product involves defining scope, features, quality attributes, and constraints.</a:t>
            </a:r>
          </a:p>
          <a:p>
            <a:pPr algn="l">
              <a:buFont typeface="Arial" panose="020B0604020202020204" pitchFamily="34" charset="0"/>
              <a:buChar char="•"/>
            </a:pPr>
            <a:r>
              <a:rPr lang="en-US" b="0" i="0" dirty="0">
                <a:effectLst/>
                <a:latin typeface="fkGroteskNeue"/>
              </a:rPr>
              <a:t>Understanding the product helps guide design, development, testing, and deployment.</a:t>
            </a:r>
          </a:p>
          <a:p>
            <a:pPr algn="l">
              <a:buFont typeface="Arial" panose="020B0604020202020204" pitchFamily="34" charset="0"/>
              <a:buChar char="•"/>
            </a:pPr>
            <a:r>
              <a:rPr lang="en-US" b="0" i="0" dirty="0">
                <a:effectLst/>
                <a:latin typeface="fkGroteskNeue"/>
              </a:rPr>
              <a:t>Clear definition avoids scope creep, improves quality, and ensures alignment with customer needs.</a:t>
            </a:r>
          </a:p>
          <a:p>
            <a:pPr>
              <a:buNone/>
            </a:pPr>
            <a:endParaRPr lang="en-US" dirty="0"/>
          </a:p>
          <a:p>
            <a:pPr algn="l">
              <a:buNone/>
            </a:pPr>
            <a:r>
              <a:rPr lang="en-US" b="1" i="0" dirty="0">
                <a:effectLst/>
                <a:latin typeface="fkGrotesk"/>
              </a:rPr>
              <a:t>3. Process</a:t>
            </a:r>
          </a:p>
          <a:p>
            <a:pPr algn="l">
              <a:buFont typeface="Arial" panose="020B0604020202020204" pitchFamily="34" charset="0"/>
              <a:buChar char="•"/>
            </a:pPr>
            <a:r>
              <a:rPr lang="en-US" b="0" i="0" dirty="0">
                <a:effectLst/>
                <a:latin typeface="fkGroteskNeue"/>
              </a:rPr>
              <a:t>The structured set of activities and methodologies used to develop the product.</a:t>
            </a:r>
          </a:p>
          <a:p>
            <a:pPr algn="l">
              <a:buFont typeface="Arial" panose="020B0604020202020204" pitchFamily="34" charset="0"/>
              <a:buChar char="•"/>
            </a:pPr>
            <a:r>
              <a:rPr lang="en-US" b="0" i="0" dirty="0">
                <a:effectLst/>
                <a:latin typeface="fkGroteskNeue"/>
              </a:rPr>
              <a:t>Provides a framework for planning, implementation, quality assurance, configuration management, and delivery.</a:t>
            </a:r>
          </a:p>
          <a:p>
            <a:pPr algn="l">
              <a:buFont typeface="Arial" panose="020B0604020202020204" pitchFamily="34" charset="0"/>
              <a:buChar char="•"/>
            </a:pPr>
            <a:r>
              <a:rPr lang="en-US" b="0" i="0" dirty="0">
                <a:effectLst/>
                <a:latin typeface="fkGroteskNeue"/>
              </a:rPr>
              <a:t>A well-defined process gives predictability, minimizes risks, and enhances team efficiency.</a:t>
            </a:r>
          </a:p>
          <a:p>
            <a:pPr algn="l">
              <a:buFont typeface="Arial" panose="020B0604020202020204" pitchFamily="34" charset="0"/>
              <a:buChar char="•"/>
            </a:pPr>
            <a:r>
              <a:rPr lang="en-US" b="0" i="0" dirty="0">
                <a:effectLst/>
                <a:latin typeface="fkGroteskNeue"/>
              </a:rPr>
              <a:t>Examples include Waterfall, Agile, Spiral, and DevOps processes.</a:t>
            </a:r>
          </a:p>
          <a:p>
            <a:pPr>
              <a:buNone/>
            </a:pPr>
            <a:endParaRPr lang="en-US" dirty="0"/>
          </a:p>
          <a:p>
            <a:pPr algn="l">
              <a:buNone/>
            </a:pPr>
            <a:r>
              <a:rPr lang="en-US" b="1" i="0" dirty="0">
                <a:effectLst/>
                <a:latin typeface="fkGrotesk"/>
              </a:rPr>
              <a:t>4. Project</a:t>
            </a:r>
          </a:p>
          <a:p>
            <a:pPr algn="l">
              <a:buFont typeface="Arial" panose="020B0604020202020204" pitchFamily="34" charset="0"/>
              <a:buChar char="•"/>
            </a:pPr>
            <a:r>
              <a:rPr lang="en-US" b="0" i="0" dirty="0">
                <a:effectLst/>
                <a:latin typeface="fkGroteskNeue"/>
              </a:rPr>
              <a:t>Refers to the organized effort to achieve objectives within cost, time, and resource constraints.</a:t>
            </a:r>
          </a:p>
          <a:p>
            <a:pPr algn="l">
              <a:buFont typeface="Arial" panose="020B0604020202020204" pitchFamily="34" charset="0"/>
              <a:buChar char="•"/>
            </a:pPr>
            <a:r>
              <a:rPr lang="en-US" b="0" i="0" dirty="0">
                <a:effectLst/>
                <a:latin typeface="fkGroteskNeue"/>
              </a:rPr>
              <a:t>Project management includes scheduling, budgeting, resource allocation, risk management, and progress monitoring.</a:t>
            </a:r>
          </a:p>
          <a:p>
            <a:pPr algn="l">
              <a:buFont typeface="Arial" panose="020B0604020202020204" pitchFamily="34" charset="0"/>
              <a:buChar char="•"/>
            </a:pPr>
            <a:r>
              <a:rPr lang="en-US" b="0" i="0" dirty="0">
                <a:effectLst/>
                <a:latin typeface="fkGroteskNeue"/>
              </a:rPr>
              <a:t>Acts as an integration point where people, product, and process converge to deliver value.</a:t>
            </a:r>
          </a:p>
          <a:p>
            <a:pPr algn="l">
              <a:buFont typeface="Arial" panose="020B0604020202020204" pitchFamily="34" charset="0"/>
              <a:buChar char="•"/>
            </a:pPr>
            <a:r>
              <a:rPr lang="en-US" b="0" i="0" dirty="0">
                <a:effectLst/>
                <a:latin typeface="fkGroteskNeue"/>
              </a:rPr>
              <a:t>Milestones, tasks, and quality assurance checks form part of project tracking.</a:t>
            </a:r>
          </a:p>
        </p:txBody>
      </p:sp>
    </p:spTree>
    <p:extLst>
      <p:ext uri="{BB962C8B-B14F-4D97-AF65-F5344CB8AC3E}">
        <p14:creationId xmlns:p14="http://schemas.microsoft.com/office/powerpoint/2010/main" val="23280554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A62D5-9E29-3E0A-B9E5-5FAEB061B9D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B05DB10-9BAD-F69B-4C5C-89872B9DBCE1}"/>
              </a:ext>
            </a:extLst>
          </p:cNvPr>
          <p:cNvSpPr txBox="1"/>
          <p:nvPr/>
        </p:nvSpPr>
        <p:spPr>
          <a:xfrm>
            <a:off x="886460" y="139115"/>
            <a:ext cx="8196580" cy="923330"/>
          </a:xfrm>
          <a:prstGeom prst="rect">
            <a:avLst/>
          </a:prstGeom>
          <a:noFill/>
        </p:spPr>
        <p:txBody>
          <a:bodyPr wrap="square">
            <a:spAutoFit/>
          </a:bodyPr>
          <a:lstStyle/>
          <a:p>
            <a:pPr algn="l">
              <a:buNone/>
            </a:pPr>
            <a:r>
              <a:rPr lang="en-US" b="0" i="0" dirty="0">
                <a:effectLst/>
                <a:latin typeface="fkGrotesk"/>
              </a:rPr>
              <a:t>Summary</a:t>
            </a:r>
          </a:p>
          <a:p>
            <a:pPr algn="l">
              <a:buNone/>
            </a:pPr>
            <a:endParaRPr lang="en-US" b="0" i="0" dirty="0">
              <a:effectLst/>
              <a:latin typeface="fkGrotesk"/>
            </a:endParaRPr>
          </a:p>
          <a:p>
            <a:pPr algn="l">
              <a:buNone/>
            </a:pPr>
            <a:r>
              <a:rPr lang="en-US" b="0" i="0" dirty="0">
                <a:effectLst/>
                <a:latin typeface="fkGroteskNeue"/>
              </a:rPr>
              <a:t>The 4 P's are pillars of software project management:</a:t>
            </a:r>
          </a:p>
        </p:txBody>
      </p:sp>
      <p:graphicFrame>
        <p:nvGraphicFramePr>
          <p:cNvPr id="4" name="Table 3">
            <a:extLst>
              <a:ext uri="{FF2B5EF4-FFF2-40B4-BE49-F238E27FC236}">
                <a16:creationId xmlns:a16="http://schemas.microsoft.com/office/drawing/2014/main" id="{D01FA258-EB02-74CA-BA6F-EAFCDCC1C005}"/>
              </a:ext>
            </a:extLst>
          </p:cNvPr>
          <p:cNvGraphicFramePr>
            <a:graphicFrameLocks noGrp="1"/>
          </p:cNvGraphicFramePr>
          <p:nvPr>
            <p:extLst>
              <p:ext uri="{D42A27DB-BD31-4B8C-83A1-F6EECF244321}">
                <p14:modId xmlns:p14="http://schemas.microsoft.com/office/powerpoint/2010/main" val="245056122"/>
              </p:ext>
            </p:extLst>
          </p:nvPr>
        </p:nvGraphicFramePr>
        <p:xfrm>
          <a:off x="967740" y="1307306"/>
          <a:ext cx="8596311" cy="3078480"/>
        </p:xfrm>
        <a:graphic>
          <a:graphicData uri="http://schemas.openxmlformats.org/drawingml/2006/table">
            <a:tbl>
              <a:tblPr>
                <a:tableStyleId>{5940675A-B579-460E-94D1-54222C63F5DA}</a:tableStyleId>
              </a:tblPr>
              <a:tblGrid>
                <a:gridCol w="1409700">
                  <a:extLst>
                    <a:ext uri="{9D8B030D-6E8A-4147-A177-3AD203B41FA5}">
                      <a16:colId xmlns:a16="http://schemas.microsoft.com/office/drawing/2014/main" val="2131420149"/>
                    </a:ext>
                  </a:extLst>
                </a:gridCol>
                <a:gridCol w="3098800">
                  <a:extLst>
                    <a:ext uri="{9D8B030D-6E8A-4147-A177-3AD203B41FA5}">
                      <a16:colId xmlns:a16="http://schemas.microsoft.com/office/drawing/2014/main" val="971891208"/>
                    </a:ext>
                  </a:extLst>
                </a:gridCol>
                <a:gridCol w="4087811">
                  <a:extLst>
                    <a:ext uri="{9D8B030D-6E8A-4147-A177-3AD203B41FA5}">
                      <a16:colId xmlns:a16="http://schemas.microsoft.com/office/drawing/2014/main" val="1273943937"/>
                    </a:ext>
                  </a:extLst>
                </a:gridCol>
              </a:tblGrid>
              <a:tr h="0">
                <a:tc>
                  <a:txBody>
                    <a:bodyPr/>
                    <a:lstStyle/>
                    <a:p>
                      <a:pPr algn="l">
                        <a:buNone/>
                      </a:pPr>
                      <a:r>
                        <a:rPr lang="en-IN" b="1">
                          <a:effectLst/>
                        </a:rPr>
                        <a:t>P</a:t>
                      </a:r>
                    </a:p>
                  </a:txBody>
                  <a:tcPr marL="60960" marR="60960" marT="60960" marB="60960" anchor="ctr"/>
                </a:tc>
                <a:tc>
                  <a:txBody>
                    <a:bodyPr/>
                    <a:lstStyle/>
                    <a:p>
                      <a:pPr algn="l">
                        <a:buNone/>
                      </a:pPr>
                      <a:r>
                        <a:rPr lang="en-IN" b="1">
                          <a:effectLst/>
                        </a:rPr>
                        <a:t>Focus Area</a:t>
                      </a:r>
                    </a:p>
                  </a:txBody>
                  <a:tcPr marL="60960" marR="60960" marT="60960" marB="60960" anchor="ctr"/>
                </a:tc>
                <a:tc>
                  <a:txBody>
                    <a:bodyPr/>
                    <a:lstStyle/>
                    <a:p>
                      <a:pPr algn="l">
                        <a:buNone/>
                      </a:pPr>
                      <a:r>
                        <a:rPr lang="en-IN" b="1">
                          <a:effectLst/>
                        </a:rPr>
                        <a:t>Importance</a:t>
                      </a:r>
                    </a:p>
                  </a:txBody>
                  <a:tcPr marL="60960" marR="60960" marT="60960" marB="60960" anchor="ctr"/>
                </a:tc>
                <a:extLst>
                  <a:ext uri="{0D108BD9-81ED-4DB2-BD59-A6C34878D82A}">
                    <a16:rowId xmlns:a16="http://schemas.microsoft.com/office/drawing/2014/main" val="3235215402"/>
                  </a:ext>
                </a:extLst>
              </a:tr>
              <a:tr h="0">
                <a:tc>
                  <a:txBody>
                    <a:bodyPr/>
                    <a:lstStyle/>
                    <a:p>
                      <a:pPr algn="l">
                        <a:buNone/>
                      </a:pPr>
                      <a:r>
                        <a:rPr lang="en-IN">
                          <a:effectLst/>
                        </a:rPr>
                        <a:t>People</a:t>
                      </a:r>
                    </a:p>
                  </a:txBody>
                  <a:tcPr marL="60960" marR="60960" marT="60960" marB="60960" anchor="ctr"/>
                </a:tc>
                <a:tc>
                  <a:txBody>
                    <a:bodyPr/>
                    <a:lstStyle/>
                    <a:p>
                      <a:pPr algn="l">
                        <a:buNone/>
                      </a:pPr>
                      <a:r>
                        <a:rPr lang="en-IN">
                          <a:effectLst/>
                        </a:rPr>
                        <a:t>Talent and Stakeholders</a:t>
                      </a:r>
                    </a:p>
                  </a:txBody>
                  <a:tcPr marL="60960" marR="60960" marT="60960" marB="60960" anchor="ctr"/>
                </a:tc>
                <a:tc>
                  <a:txBody>
                    <a:bodyPr/>
                    <a:lstStyle/>
                    <a:p>
                      <a:pPr algn="l">
                        <a:buNone/>
                      </a:pPr>
                      <a:r>
                        <a:rPr lang="en-US">
                          <a:effectLst/>
                        </a:rPr>
                        <a:t>Well-managed and motivated teams drive success</a:t>
                      </a:r>
                    </a:p>
                  </a:txBody>
                  <a:tcPr marL="60960" marR="60960" marT="60960" marB="60960" anchor="ctr"/>
                </a:tc>
                <a:extLst>
                  <a:ext uri="{0D108BD9-81ED-4DB2-BD59-A6C34878D82A}">
                    <a16:rowId xmlns:a16="http://schemas.microsoft.com/office/drawing/2014/main" val="3394415492"/>
                  </a:ext>
                </a:extLst>
              </a:tr>
              <a:tr h="0">
                <a:tc>
                  <a:txBody>
                    <a:bodyPr/>
                    <a:lstStyle/>
                    <a:p>
                      <a:pPr algn="l">
                        <a:buNone/>
                      </a:pPr>
                      <a:r>
                        <a:rPr lang="en-IN">
                          <a:effectLst/>
                        </a:rPr>
                        <a:t>Product</a:t>
                      </a:r>
                    </a:p>
                  </a:txBody>
                  <a:tcPr marL="60960" marR="60960" marT="60960" marB="60960" anchor="ctr"/>
                </a:tc>
                <a:tc>
                  <a:txBody>
                    <a:bodyPr/>
                    <a:lstStyle/>
                    <a:p>
                      <a:pPr algn="l">
                        <a:buNone/>
                      </a:pPr>
                      <a:r>
                        <a:rPr lang="en-IN">
                          <a:effectLst/>
                        </a:rPr>
                        <a:t>Software Deliverables</a:t>
                      </a:r>
                    </a:p>
                  </a:txBody>
                  <a:tcPr marL="60960" marR="60960" marT="60960" marB="60960" anchor="ctr"/>
                </a:tc>
                <a:tc>
                  <a:txBody>
                    <a:bodyPr/>
                    <a:lstStyle/>
                    <a:p>
                      <a:pPr algn="l">
                        <a:buNone/>
                      </a:pPr>
                      <a:r>
                        <a:rPr lang="en-US">
                          <a:effectLst/>
                        </a:rPr>
                        <a:t>Clear scope and quality definition guide efforts</a:t>
                      </a:r>
                    </a:p>
                  </a:txBody>
                  <a:tcPr marL="60960" marR="60960" marT="60960" marB="60960" anchor="ctr"/>
                </a:tc>
                <a:extLst>
                  <a:ext uri="{0D108BD9-81ED-4DB2-BD59-A6C34878D82A}">
                    <a16:rowId xmlns:a16="http://schemas.microsoft.com/office/drawing/2014/main" val="3620679450"/>
                  </a:ext>
                </a:extLst>
              </a:tr>
              <a:tr h="0">
                <a:tc>
                  <a:txBody>
                    <a:bodyPr/>
                    <a:lstStyle/>
                    <a:p>
                      <a:pPr algn="l">
                        <a:buNone/>
                      </a:pPr>
                      <a:r>
                        <a:rPr lang="en-IN">
                          <a:effectLst/>
                        </a:rPr>
                        <a:t>Process</a:t>
                      </a:r>
                    </a:p>
                  </a:txBody>
                  <a:tcPr marL="60960" marR="60960" marT="60960" marB="60960" anchor="ctr"/>
                </a:tc>
                <a:tc>
                  <a:txBody>
                    <a:bodyPr/>
                    <a:lstStyle/>
                    <a:p>
                      <a:pPr algn="l">
                        <a:buNone/>
                      </a:pPr>
                      <a:r>
                        <a:rPr lang="en-IN">
                          <a:effectLst/>
                        </a:rPr>
                        <a:t>Methodology &amp; Workflow</a:t>
                      </a:r>
                    </a:p>
                  </a:txBody>
                  <a:tcPr marL="60960" marR="60960" marT="60960" marB="60960" anchor="ctr"/>
                </a:tc>
                <a:tc>
                  <a:txBody>
                    <a:bodyPr/>
                    <a:lstStyle/>
                    <a:p>
                      <a:pPr algn="l">
                        <a:buNone/>
                      </a:pPr>
                      <a:r>
                        <a:rPr lang="en-IN">
                          <a:effectLst/>
                        </a:rPr>
                        <a:t>Structured development ensures consistency</a:t>
                      </a:r>
                    </a:p>
                  </a:txBody>
                  <a:tcPr marL="60960" marR="60960" marT="60960" marB="60960" anchor="ctr"/>
                </a:tc>
                <a:extLst>
                  <a:ext uri="{0D108BD9-81ED-4DB2-BD59-A6C34878D82A}">
                    <a16:rowId xmlns:a16="http://schemas.microsoft.com/office/drawing/2014/main" val="2060155630"/>
                  </a:ext>
                </a:extLst>
              </a:tr>
              <a:tr h="0">
                <a:tc>
                  <a:txBody>
                    <a:bodyPr/>
                    <a:lstStyle/>
                    <a:p>
                      <a:pPr algn="l">
                        <a:buNone/>
                      </a:pPr>
                      <a:r>
                        <a:rPr lang="en-IN">
                          <a:effectLst/>
                        </a:rPr>
                        <a:t>Project</a:t>
                      </a:r>
                    </a:p>
                  </a:txBody>
                  <a:tcPr marL="60960" marR="60960" marT="60960" marB="60960" anchor="ctr"/>
                </a:tc>
                <a:tc>
                  <a:txBody>
                    <a:bodyPr/>
                    <a:lstStyle/>
                    <a:p>
                      <a:pPr algn="l">
                        <a:buNone/>
                      </a:pPr>
                      <a:r>
                        <a:rPr lang="en-IN" dirty="0">
                          <a:effectLst/>
                        </a:rPr>
                        <a:t>Planning and Control</a:t>
                      </a:r>
                    </a:p>
                  </a:txBody>
                  <a:tcPr marL="60960" marR="60960" marT="60960" marB="60960" anchor="ctr"/>
                </a:tc>
                <a:tc>
                  <a:txBody>
                    <a:bodyPr/>
                    <a:lstStyle/>
                    <a:p>
                      <a:pPr algn="l">
                        <a:buNone/>
                      </a:pPr>
                      <a:r>
                        <a:rPr lang="en-US" dirty="0">
                          <a:effectLst/>
                        </a:rPr>
                        <a:t>Effective management aligns all factors</a:t>
                      </a:r>
                    </a:p>
                  </a:txBody>
                  <a:tcPr marL="60960" marR="60960" marT="60960" marB="60960" anchor="ctr"/>
                </a:tc>
                <a:extLst>
                  <a:ext uri="{0D108BD9-81ED-4DB2-BD59-A6C34878D82A}">
                    <a16:rowId xmlns:a16="http://schemas.microsoft.com/office/drawing/2014/main" val="1644803930"/>
                  </a:ext>
                </a:extLst>
              </a:tr>
            </a:tbl>
          </a:graphicData>
        </a:graphic>
      </p:graphicFrame>
    </p:spTree>
    <p:extLst>
      <p:ext uri="{BB962C8B-B14F-4D97-AF65-F5344CB8AC3E}">
        <p14:creationId xmlns:p14="http://schemas.microsoft.com/office/powerpoint/2010/main" val="12096569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B9787-0504-84D6-3890-6FEFF7E7079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8DC5A66-E3D0-E981-96A5-738315AE3A53}"/>
              </a:ext>
            </a:extLst>
          </p:cNvPr>
          <p:cNvSpPr txBox="1"/>
          <p:nvPr/>
        </p:nvSpPr>
        <p:spPr>
          <a:xfrm>
            <a:off x="833120" y="0"/>
            <a:ext cx="8633460" cy="7294305"/>
          </a:xfrm>
          <a:prstGeom prst="rect">
            <a:avLst/>
          </a:prstGeom>
          <a:noFill/>
        </p:spPr>
        <p:txBody>
          <a:bodyPr wrap="square">
            <a:spAutoFit/>
          </a:bodyPr>
          <a:lstStyle/>
          <a:p>
            <a:r>
              <a:rPr lang="en-US" dirty="0"/>
              <a:t>6.2 Metrics for Size Estimation: Line of Code (LoC), Function Points (FP).</a:t>
            </a:r>
          </a:p>
          <a:p>
            <a:endParaRPr lang="en-US" dirty="0"/>
          </a:p>
          <a:p>
            <a:pPr marL="342900" indent="-342900">
              <a:buAutoNum type="arabicPeriod"/>
            </a:pPr>
            <a:r>
              <a:rPr lang="en-US" b="1" dirty="0"/>
              <a:t>Line of Code (LoC)</a:t>
            </a:r>
            <a:endParaRPr lang="en-US" dirty="0"/>
          </a:p>
          <a:p>
            <a:r>
              <a:rPr lang="en-US" b="1" dirty="0"/>
              <a:t>Definition</a:t>
            </a:r>
            <a:r>
              <a:rPr lang="en-US" dirty="0"/>
              <a:t>:</a:t>
            </a:r>
            <a:br>
              <a:rPr lang="en-US" dirty="0"/>
            </a:br>
            <a:r>
              <a:rPr lang="en-US" dirty="0"/>
              <a:t>LoC measures the size of a software project by counting the number of source code lines written (excluding comments and blank lines).</a:t>
            </a:r>
          </a:p>
          <a:p>
            <a:endParaRPr lang="en-US" dirty="0"/>
          </a:p>
          <a:p>
            <a:r>
              <a:rPr lang="en-US" b="1" dirty="0"/>
              <a:t>Details</a:t>
            </a:r>
            <a:r>
              <a:rPr lang="en-US" dirty="0"/>
              <a:t>:</a:t>
            </a:r>
          </a:p>
          <a:p>
            <a:pPr marL="285750" indent="-285750">
              <a:buFont typeface="Arial" panose="020B0604020202020204" pitchFamily="34" charset="0"/>
              <a:buChar char="•"/>
            </a:pPr>
            <a:r>
              <a:rPr lang="en-US" dirty="0"/>
              <a:t>Often reported as KLoC (thousands of lines of code).</a:t>
            </a:r>
          </a:p>
          <a:p>
            <a:pPr marL="285750" indent="-285750">
              <a:buFont typeface="Arial" panose="020B0604020202020204" pitchFamily="34" charset="0"/>
              <a:buChar char="•"/>
            </a:pPr>
            <a:r>
              <a:rPr lang="en-US" dirty="0"/>
              <a:t>Easy to measure after coding is complete, but difficult to estimate early.</a:t>
            </a:r>
          </a:p>
          <a:p>
            <a:pPr marL="285750" indent="-285750">
              <a:buFont typeface="Arial" panose="020B0604020202020204" pitchFamily="34" charset="0"/>
              <a:buChar char="•"/>
            </a:pPr>
            <a:r>
              <a:rPr lang="en-US" dirty="0"/>
              <a:t>Highly dependent on programming language—some languages require fewer lines for the same functionality.</a:t>
            </a:r>
          </a:p>
          <a:p>
            <a:pPr marL="285750" indent="-285750">
              <a:buFont typeface="Arial" panose="020B0604020202020204" pitchFamily="34" charset="0"/>
              <a:buChar char="•"/>
            </a:pPr>
            <a:r>
              <a:rPr lang="en-US" dirty="0"/>
              <a:t>Reflects the developer's perspective and coding effort.</a:t>
            </a:r>
          </a:p>
          <a:p>
            <a:pPr marL="285750" indent="-285750">
              <a:buFont typeface="Arial" panose="020B0604020202020204" pitchFamily="34" charset="0"/>
              <a:buChar char="•"/>
            </a:pPr>
            <a:endParaRPr lang="en-US" dirty="0"/>
          </a:p>
          <a:p>
            <a:pPr marL="285750" indent="-285750">
              <a:buFont typeface="Wingdings" panose="05000000000000000000" pitchFamily="2" charset="2"/>
              <a:buChar char="Ø"/>
            </a:pPr>
            <a:r>
              <a:rPr lang="en-US" b="1" dirty="0"/>
              <a:t>Advantages:</a:t>
            </a:r>
          </a:p>
          <a:p>
            <a:pPr marL="285750" indent="-285750">
              <a:buFont typeface="Arial" panose="020B0604020202020204" pitchFamily="34" charset="0"/>
              <a:buChar char="•"/>
            </a:pPr>
            <a:r>
              <a:rPr lang="en-US" dirty="0"/>
              <a:t>Simple and widely known metric.</a:t>
            </a:r>
          </a:p>
          <a:p>
            <a:pPr marL="285750" indent="-285750">
              <a:buFont typeface="Arial" panose="020B0604020202020204" pitchFamily="34" charset="0"/>
              <a:buChar char="•"/>
            </a:pPr>
            <a:r>
              <a:rPr lang="en-US" dirty="0"/>
              <a:t>Useful for tracking productivity and effort post-development.</a:t>
            </a:r>
          </a:p>
          <a:p>
            <a:pPr marL="285750" indent="-285750">
              <a:buFont typeface="Arial" panose="020B0604020202020204" pitchFamily="34" charset="0"/>
              <a:buChar char="•"/>
            </a:pPr>
            <a:r>
              <a:rPr lang="en-US" dirty="0"/>
              <a:t>Forms the basis for several cost estimation models (e.g., COCOMO).</a:t>
            </a:r>
          </a:p>
          <a:p>
            <a:endParaRPr lang="en-US" dirty="0"/>
          </a:p>
          <a:p>
            <a:pPr marL="285750" indent="-285750">
              <a:buFont typeface="Wingdings" panose="05000000000000000000" pitchFamily="2" charset="2"/>
              <a:buChar char="Ø"/>
            </a:pPr>
            <a:r>
              <a:rPr lang="en-US" b="1" dirty="0"/>
              <a:t>Disadvantages</a:t>
            </a:r>
            <a:r>
              <a:rPr lang="en-US" dirty="0"/>
              <a:t>:</a:t>
            </a:r>
          </a:p>
          <a:p>
            <a:pPr marL="285750" indent="-285750">
              <a:buFont typeface="Arial" panose="020B0604020202020204" pitchFamily="34" charset="0"/>
              <a:buChar char="•"/>
            </a:pPr>
            <a:r>
              <a:rPr lang="en-US" dirty="0"/>
              <a:t>Varies with coding style and language.</a:t>
            </a:r>
          </a:p>
          <a:p>
            <a:pPr marL="285750" indent="-285750">
              <a:buFont typeface="Arial" panose="020B0604020202020204" pitchFamily="34" charset="0"/>
              <a:buChar char="•"/>
            </a:pPr>
            <a:r>
              <a:rPr lang="en-US" dirty="0"/>
              <a:t>Not good for early project estimation.</a:t>
            </a:r>
          </a:p>
          <a:p>
            <a:pPr marL="285750" indent="-285750">
              <a:buFont typeface="Arial" panose="020B0604020202020204" pitchFamily="34" charset="0"/>
              <a:buChar char="•"/>
            </a:pPr>
            <a:r>
              <a:rPr lang="en-US" dirty="0"/>
              <a:t>Two programs with the same LoC may differ vastly in complexity.</a:t>
            </a:r>
          </a:p>
          <a:p>
            <a:pPr marL="285750" indent="-285750">
              <a:buFont typeface="Arial" panose="020B0604020202020204" pitchFamily="34" charset="0"/>
              <a:buChar char="•"/>
            </a:pPr>
            <a:r>
              <a:rPr lang="en-US" dirty="0"/>
              <a:t>Does not account for requirements or functionality directly.</a:t>
            </a:r>
          </a:p>
          <a:p>
            <a:endParaRPr lang="en-US" dirty="0"/>
          </a:p>
          <a:p>
            <a:r>
              <a:rPr lang="en-US" dirty="0"/>
              <a:t> </a:t>
            </a:r>
            <a:endParaRPr lang="en-IN" dirty="0"/>
          </a:p>
        </p:txBody>
      </p:sp>
    </p:spTree>
    <p:extLst>
      <p:ext uri="{BB962C8B-B14F-4D97-AF65-F5344CB8AC3E}">
        <p14:creationId xmlns:p14="http://schemas.microsoft.com/office/powerpoint/2010/main" val="36097642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F85D7-E51A-8DF0-197F-623E375284E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CAFB7C0-B156-89A1-2DAA-56033A7D145C}"/>
              </a:ext>
            </a:extLst>
          </p:cNvPr>
          <p:cNvSpPr txBox="1"/>
          <p:nvPr/>
        </p:nvSpPr>
        <p:spPr>
          <a:xfrm>
            <a:off x="822960" y="105906"/>
            <a:ext cx="8420100" cy="6463308"/>
          </a:xfrm>
          <a:prstGeom prst="rect">
            <a:avLst/>
          </a:prstGeom>
          <a:noFill/>
        </p:spPr>
        <p:txBody>
          <a:bodyPr wrap="square">
            <a:spAutoFit/>
          </a:bodyPr>
          <a:lstStyle/>
          <a:p>
            <a:pPr algn="l">
              <a:buNone/>
            </a:pPr>
            <a:r>
              <a:rPr lang="en-US" b="1" i="0" dirty="0">
                <a:effectLst/>
                <a:latin typeface="fkGrotesk"/>
              </a:rPr>
              <a:t>2. Function Points (FP)</a:t>
            </a:r>
          </a:p>
          <a:p>
            <a:pPr algn="l">
              <a:buNone/>
            </a:pPr>
            <a:r>
              <a:rPr lang="en-US" b="1" i="0" dirty="0">
                <a:effectLst/>
                <a:latin typeface="fkGroteskNeue"/>
              </a:rPr>
              <a:t>Definition</a:t>
            </a:r>
            <a:r>
              <a:rPr lang="en-US" i="0" dirty="0">
                <a:effectLst/>
                <a:latin typeface="fkGroteskNeue"/>
              </a:rPr>
              <a:t>:</a:t>
            </a:r>
            <a:br>
              <a:rPr lang="en-US" i="0" dirty="0">
                <a:effectLst/>
                <a:latin typeface="fkGroteskNeue"/>
              </a:rPr>
            </a:br>
            <a:r>
              <a:rPr lang="en-US" i="0" dirty="0">
                <a:effectLst/>
                <a:latin typeface="fkGroteskNeue"/>
              </a:rPr>
              <a:t>Function Points estimate software size by quantifying the functionality delivered, based on user-visible features such as inputs, outputs, inquiries, files, and interfaces.</a:t>
            </a:r>
          </a:p>
          <a:p>
            <a:pPr algn="l">
              <a:buNone/>
            </a:pPr>
            <a:endParaRPr lang="en-US" b="0" i="0" dirty="0">
              <a:effectLst/>
              <a:latin typeface="fkGroteskNeue"/>
            </a:endParaRPr>
          </a:p>
          <a:p>
            <a:pPr algn="l">
              <a:buNone/>
            </a:pPr>
            <a:r>
              <a:rPr lang="en-US" b="1" i="0" dirty="0">
                <a:effectLst/>
                <a:latin typeface="fkGroteskNeue"/>
              </a:rPr>
              <a:t>Calculation</a:t>
            </a:r>
            <a:r>
              <a:rPr lang="en-US" b="0" i="0" dirty="0">
                <a:effectLst/>
                <a:latin typeface="fkGroteskNeue"/>
              </a:rPr>
              <a:t> </a:t>
            </a:r>
            <a:r>
              <a:rPr lang="en-US" b="1" i="0" dirty="0">
                <a:effectLst/>
                <a:latin typeface="fkGroteskNeue"/>
              </a:rPr>
              <a:t>Process</a:t>
            </a:r>
            <a:r>
              <a:rPr lang="en-US" b="0" i="0" dirty="0">
                <a:effectLst/>
                <a:latin typeface="fkGroteskNeue"/>
              </a:rPr>
              <a:t>:</a:t>
            </a:r>
          </a:p>
          <a:p>
            <a:pPr algn="l">
              <a:buFont typeface="Arial" panose="020B0604020202020204" pitchFamily="34" charset="0"/>
              <a:buChar char="•"/>
            </a:pPr>
            <a:r>
              <a:rPr lang="en-US" b="0" i="0" dirty="0">
                <a:effectLst/>
                <a:latin typeface="fkGroteskNeue"/>
              </a:rPr>
              <a:t>Identify and count function types (input, output, inquiries, internal files, external interfaces).</a:t>
            </a:r>
          </a:p>
          <a:p>
            <a:pPr algn="l">
              <a:buFont typeface="Arial" panose="020B0604020202020204" pitchFamily="34" charset="0"/>
              <a:buChar char="•"/>
            </a:pPr>
            <a:r>
              <a:rPr lang="en-US" b="0" i="0" dirty="0">
                <a:effectLst/>
                <a:latin typeface="fkGroteskNeue"/>
              </a:rPr>
              <a:t>Assign complexity weights to each function.</a:t>
            </a:r>
          </a:p>
          <a:p>
            <a:pPr algn="l">
              <a:buFont typeface="Arial" panose="020B0604020202020204" pitchFamily="34" charset="0"/>
              <a:buChar char="•"/>
            </a:pPr>
            <a:r>
              <a:rPr lang="en-US" b="0" i="0" dirty="0">
                <a:effectLst/>
                <a:latin typeface="fkGroteskNeue"/>
              </a:rPr>
              <a:t>Sum weighted counts to get Unadjusted Function Points.</a:t>
            </a:r>
          </a:p>
          <a:p>
            <a:pPr algn="l">
              <a:buFont typeface="Arial" panose="020B0604020202020204" pitchFamily="34" charset="0"/>
              <a:buChar char="•"/>
            </a:pPr>
            <a:r>
              <a:rPr lang="en-US" b="0" i="0" dirty="0">
                <a:effectLst/>
                <a:latin typeface="fkGroteskNeue"/>
              </a:rPr>
              <a:t>Adjust total by complexity factors (e.g., performance, usability) to get the final Function Point count.</a:t>
            </a:r>
          </a:p>
          <a:p>
            <a:pPr algn="l"/>
            <a:endParaRPr lang="en-US" b="0" i="0" dirty="0">
              <a:effectLst/>
              <a:latin typeface="fkGroteskNeue"/>
            </a:endParaRPr>
          </a:p>
          <a:p>
            <a:pPr marL="285750" indent="-285750" algn="l">
              <a:buFont typeface="Wingdings" panose="05000000000000000000" pitchFamily="2" charset="2"/>
              <a:buChar char="Ø"/>
            </a:pPr>
            <a:r>
              <a:rPr lang="en-US" b="1" i="0" dirty="0">
                <a:effectLst/>
                <a:latin typeface="fkGroteskNeue"/>
              </a:rPr>
              <a:t>Advantages</a:t>
            </a:r>
            <a:r>
              <a:rPr lang="en-US" b="0" i="0" dirty="0">
                <a:effectLst/>
                <a:latin typeface="fkGroteskNeue"/>
              </a:rPr>
              <a:t>:</a:t>
            </a:r>
          </a:p>
          <a:p>
            <a:pPr algn="l">
              <a:buFont typeface="Arial" panose="020B0604020202020204" pitchFamily="34" charset="0"/>
              <a:buChar char="•"/>
            </a:pPr>
            <a:r>
              <a:rPr lang="en-US" b="0" i="0" dirty="0">
                <a:effectLst/>
                <a:latin typeface="fkGroteskNeue"/>
              </a:rPr>
              <a:t>Language and technology independent.</a:t>
            </a:r>
          </a:p>
          <a:p>
            <a:pPr algn="l">
              <a:buFont typeface="Arial" panose="020B0604020202020204" pitchFamily="34" charset="0"/>
              <a:buChar char="•"/>
            </a:pPr>
            <a:r>
              <a:rPr lang="en-US" b="0" i="0" dirty="0">
                <a:effectLst/>
                <a:latin typeface="fkGroteskNeue"/>
              </a:rPr>
              <a:t>Can be estimated early in the project using requirements.</a:t>
            </a:r>
          </a:p>
          <a:p>
            <a:pPr algn="l">
              <a:buFont typeface="Arial" panose="020B0604020202020204" pitchFamily="34" charset="0"/>
              <a:buChar char="•"/>
            </a:pPr>
            <a:r>
              <a:rPr lang="en-US" b="0" i="0" dirty="0">
                <a:effectLst/>
                <a:latin typeface="fkGroteskNeue"/>
              </a:rPr>
              <a:t>Measures the user's perspective of software size.</a:t>
            </a:r>
          </a:p>
          <a:p>
            <a:pPr algn="l">
              <a:buFont typeface="Arial" panose="020B0604020202020204" pitchFamily="34" charset="0"/>
              <a:buChar char="•"/>
            </a:pPr>
            <a:r>
              <a:rPr lang="en-US" b="0" i="0" dirty="0">
                <a:effectLst/>
                <a:latin typeface="fkGroteskNeue"/>
              </a:rPr>
              <a:t>Facilitates comparison across projects and organizations.</a:t>
            </a:r>
          </a:p>
          <a:p>
            <a:pPr algn="l">
              <a:buFont typeface="Arial" panose="020B0604020202020204" pitchFamily="34" charset="0"/>
              <a:buChar char="•"/>
            </a:pPr>
            <a:endParaRPr lang="en-US" b="0" i="0" dirty="0">
              <a:effectLst/>
              <a:latin typeface="fkGroteskNeue"/>
            </a:endParaRPr>
          </a:p>
          <a:p>
            <a:pPr marL="285750" indent="-285750" algn="l">
              <a:buFont typeface="Wingdings" panose="05000000000000000000" pitchFamily="2" charset="2"/>
              <a:buChar char="Ø"/>
            </a:pPr>
            <a:r>
              <a:rPr lang="en-US" b="1" i="0" dirty="0">
                <a:effectLst/>
                <a:latin typeface="fkGroteskNeue"/>
              </a:rPr>
              <a:t>Disadvantages</a:t>
            </a:r>
            <a:r>
              <a:rPr lang="en-US" b="0" i="0" dirty="0">
                <a:effectLst/>
                <a:latin typeface="fkGroteskNeue"/>
              </a:rPr>
              <a:t>:</a:t>
            </a:r>
          </a:p>
          <a:p>
            <a:pPr algn="l">
              <a:buFont typeface="Arial" panose="020B0604020202020204" pitchFamily="34" charset="0"/>
              <a:buChar char="•"/>
            </a:pPr>
            <a:r>
              <a:rPr lang="en-US" b="0" i="0" dirty="0">
                <a:effectLst/>
                <a:latin typeface="fkGroteskNeue"/>
              </a:rPr>
              <a:t>Subjective and relies on accurate function identification.</a:t>
            </a:r>
          </a:p>
          <a:p>
            <a:pPr algn="l">
              <a:buFont typeface="Arial" panose="020B0604020202020204" pitchFamily="34" charset="0"/>
              <a:buChar char="•"/>
            </a:pPr>
            <a:r>
              <a:rPr lang="en-US" b="0" i="0" dirty="0">
                <a:effectLst/>
                <a:latin typeface="fkGroteskNeue"/>
              </a:rPr>
              <a:t>More complex to calculate than </a:t>
            </a:r>
            <a:r>
              <a:rPr lang="en-US" b="0" i="0" dirty="0" err="1">
                <a:effectLst/>
                <a:latin typeface="fkGroteskNeue"/>
              </a:rPr>
              <a:t>LoC.</a:t>
            </a:r>
            <a:endParaRPr lang="en-US" b="0" i="0" dirty="0">
              <a:effectLst/>
              <a:latin typeface="fkGroteskNeue"/>
            </a:endParaRPr>
          </a:p>
          <a:p>
            <a:pPr algn="l">
              <a:buFont typeface="Arial" panose="020B0604020202020204" pitchFamily="34" charset="0"/>
              <a:buChar char="•"/>
            </a:pPr>
            <a:r>
              <a:rPr lang="en-US" b="0" i="0" dirty="0">
                <a:effectLst/>
                <a:latin typeface="fkGroteskNeue"/>
              </a:rPr>
              <a:t>Less effective for compute-intensive systems.</a:t>
            </a:r>
          </a:p>
        </p:txBody>
      </p:sp>
    </p:spTree>
    <p:extLst>
      <p:ext uri="{BB962C8B-B14F-4D97-AF65-F5344CB8AC3E}">
        <p14:creationId xmlns:p14="http://schemas.microsoft.com/office/powerpoint/2010/main" val="15800350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62C36-B64C-4A18-6BCA-F766DFC97F0A}"/>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E519023D-5B47-D27C-A34A-624238947161}"/>
                  </a:ext>
                </a:extLst>
              </p:cNvPr>
              <p:cNvSpPr txBox="1"/>
              <p:nvPr/>
            </p:nvSpPr>
            <p:spPr>
              <a:xfrm>
                <a:off x="853440" y="0"/>
                <a:ext cx="8369300" cy="6931513"/>
              </a:xfrm>
              <a:prstGeom prst="rect">
                <a:avLst/>
              </a:prstGeom>
              <a:noFill/>
            </p:spPr>
            <p:txBody>
              <a:bodyPr wrap="square">
                <a:spAutoFit/>
              </a:bodyPr>
              <a:lstStyle/>
              <a:p>
                <a:r>
                  <a:rPr lang="en-IN" b="1" dirty="0"/>
                  <a:t>6.3 COCOMO (Constructive Cost Model)</a:t>
                </a:r>
              </a:p>
              <a:p>
                <a:endParaRPr lang="en-IN" dirty="0"/>
              </a:p>
              <a:p>
                <a:pPr marL="285750" indent="-285750">
                  <a:buFont typeface="Wingdings" panose="05000000000000000000" pitchFamily="2" charset="2"/>
                  <a:buChar char="q"/>
                </a:pPr>
                <a:r>
                  <a:rPr lang="en-US" b="1" dirty="0"/>
                  <a:t>What is COCOMO?</a:t>
                </a:r>
              </a:p>
              <a:p>
                <a:endParaRPr lang="en-US" dirty="0"/>
              </a:p>
              <a:p>
                <a:r>
                  <a:rPr lang="en-US" dirty="0"/>
                  <a:t>The Constructive Cost Model (COCOMO), developed by Barry Boehm in 1981, is a procedural software cost estimation model. It predicts project effort, cost, schedule, and quality based on software size measured in lines of code (LOC). It is widely used for planning and managing software development projects.</a:t>
                </a:r>
              </a:p>
              <a:p>
                <a:endParaRPr lang="en-IN" dirty="0"/>
              </a:p>
              <a:p>
                <a:r>
                  <a:rPr lang="en-IN" b="1" dirty="0"/>
                  <a:t>Types of COCOMO Models</a:t>
                </a:r>
              </a:p>
              <a:p>
                <a:endParaRPr lang="en-IN" dirty="0"/>
              </a:p>
              <a:p>
                <a:pPr marL="285750" indent="-285750">
                  <a:buFont typeface="Wingdings" panose="05000000000000000000" pitchFamily="2" charset="2"/>
                  <a:buChar char="v"/>
                </a:pPr>
                <a:r>
                  <a:rPr lang="en-IN" b="1" dirty="0"/>
                  <a:t>Basic COCOMO:</a:t>
                </a:r>
              </a:p>
              <a:p>
                <a:pPr marL="742950" lvl="1" indent="-285750">
                  <a:buFont typeface="Arial" panose="020B0604020202020204" pitchFamily="34" charset="0"/>
                  <a:buChar char="•"/>
                </a:pPr>
                <a:r>
                  <a:rPr lang="en-IN" dirty="0"/>
                  <a:t>Simple formula estimating effort as a function of size (Kilo Lines of Code).</a:t>
                </a:r>
              </a:p>
              <a:p>
                <a:pPr marL="742950" lvl="1" indent="-285750">
                  <a:buFont typeface="Arial" panose="020B0604020202020204" pitchFamily="34" charset="0"/>
                  <a:buChar char="•"/>
                </a:pPr>
                <a:r>
                  <a:rPr lang="en-IN" dirty="0"/>
                  <a:t>Suitable for rough, early-stage estimates.</a:t>
                </a:r>
              </a:p>
              <a:p>
                <a:pPr marL="742950" lvl="1" indent="-285750">
                  <a:buFont typeface="Arial" panose="020B0604020202020204" pitchFamily="34" charset="0"/>
                  <a:buChar char="•"/>
                </a:pPr>
                <a:r>
                  <a:rPr lang="en-IN" dirty="0"/>
                  <a:t>Effort = </a:t>
                </a:r>
                <a14:m>
                  <m:oMath xmlns:m="http://schemas.openxmlformats.org/officeDocument/2006/math">
                    <m:r>
                      <a:rPr lang="en-IN" i="1"/>
                      <m:t>𝑎</m:t>
                    </m:r>
                    <m:r>
                      <a:rPr lang="en-IN"/>
                      <m:t>×</m:t>
                    </m:r>
                    <m:d>
                      <m:dPr>
                        <m:endChr m:val=""/>
                        <m:ctrlPr>
                          <a:rPr lang="ar-AE" i="1"/>
                        </m:ctrlPr>
                      </m:dPr>
                      <m:e>
                        <m:r>
                          <a:rPr lang="ar-AE" i="1"/>
                          <m:t>𝐾𝐿𝑜𝐶</m:t>
                        </m:r>
                        <m:sSup>
                          <m:sSupPr>
                            <m:ctrlPr>
                              <a:rPr lang="ar-AE" i="1"/>
                            </m:ctrlPr>
                          </m:sSupPr>
                          <m:e>
                            <m:d>
                              <m:dPr>
                                <m:begChr m:val=""/>
                                <m:endChr m:val=""/>
                                <m:ctrlPr>
                                  <a:rPr lang="ar-AE" i="1"/>
                                </m:ctrlPr>
                              </m:dPr>
                              <m:e>
                                <m:r>
                                  <a:rPr lang="ar-AE"/>
                                  <m:t>)</m:t>
                                </m:r>
                              </m:e>
                            </m:d>
                          </m:e>
                          <m:sup>
                            <m:r>
                              <a:rPr lang="ar-AE" i="1"/>
                              <m:t>𝑏</m:t>
                            </m:r>
                          </m:sup>
                        </m:sSup>
                      </m:e>
                    </m:d>
                  </m:oMath>
                </a14:m>
                <a:r>
                  <a:rPr lang="ar-AE" dirty="0"/>
                  <a:t> </a:t>
                </a:r>
                <a:r>
                  <a:rPr lang="en-IN" dirty="0"/>
                  <a:t>where </a:t>
                </a:r>
                <a14:m>
                  <m:oMath xmlns:m="http://schemas.openxmlformats.org/officeDocument/2006/math">
                    <m:r>
                      <a:rPr lang="en-IN" i="1"/>
                      <m:t>𝑎</m:t>
                    </m:r>
                  </m:oMath>
                </a14:m>
                <a:r>
                  <a:rPr lang="en-IN" dirty="0"/>
                  <a:t> and </a:t>
                </a:r>
                <a14:m>
                  <m:oMath xmlns:m="http://schemas.openxmlformats.org/officeDocument/2006/math">
                    <m:r>
                      <a:rPr lang="en-IN" i="1"/>
                      <m:t>𝑏</m:t>
                    </m:r>
                  </m:oMath>
                </a14:m>
                <a:r>
                  <a:rPr lang="en-IN" dirty="0"/>
                  <a:t> are constants depending on the project type.</a:t>
                </a:r>
              </a:p>
              <a:p>
                <a:pPr lvl="1"/>
                <a:endParaRPr lang="en-IN" dirty="0"/>
              </a:p>
              <a:p>
                <a:pPr marL="285750" indent="-285750">
                  <a:buFont typeface="Wingdings" panose="05000000000000000000" pitchFamily="2" charset="2"/>
                  <a:buChar char="v"/>
                </a:pPr>
                <a:r>
                  <a:rPr lang="en-IN" b="1" dirty="0"/>
                  <a:t>Intermediate COCOMO:</a:t>
                </a:r>
              </a:p>
              <a:p>
                <a:pPr marL="742950" lvl="1" indent="-285750">
                  <a:buFont typeface="Arial" panose="020B0604020202020204" pitchFamily="34" charset="0"/>
                  <a:buChar char="•"/>
                </a:pPr>
                <a:r>
                  <a:rPr lang="en-IN" dirty="0"/>
                  <a:t>Extends Basic model by incorporating Cost Drivers (attributes affecting productivity like reliability, experience, tools used).</a:t>
                </a:r>
              </a:p>
              <a:p>
                <a:pPr marL="742950" lvl="1" indent="-285750">
                  <a:buFont typeface="Arial" panose="020B0604020202020204" pitchFamily="34" charset="0"/>
                  <a:buChar char="•"/>
                </a:pPr>
                <a:r>
                  <a:rPr lang="en-IN" dirty="0"/>
                  <a:t>Effort = </a:t>
                </a:r>
                <a14:m>
                  <m:oMath xmlns:m="http://schemas.openxmlformats.org/officeDocument/2006/math">
                    <m:r>
                      <a:rPr lang="en-IN" i="1"/>
                      <m:t>𝑎</m:t>
                    </m:r>
                    <m:r>
                      <a:rPr lang="en-IN"/>
                      <m:t>×</m:t>
                    </m:r>
                    <m:d>
                      <m:dPr>
                        <m:endChr m:val=""/>
                        <m:ctrlPr>
                          <a:rPr lang="ar-AE" i="1"/>
                        </m:ctrlPr>
                      </m:dPr>
                      <m:e>
                        <m:r>
                          <a:rPr lang="ar-AE" i="1"/>
                          <m:t>𝐾𝐿𝑜𝐶</m:t>
                        </m:r>
                        <m:sSup>
                          <m:sSupPr>
                            <m:ctrlPr>
                              <a:rPr lang="ar-AE" i="1"/>
                            </m:ctrlPr>
                          </m:sSupPr>
                          <m:e>
                            <m:d>
                              <m:dPr>
                                <m:begChr m:val=""/>
                                <m:endChr m:val=""/>
                                <m:ctrlPr>
                                  <a:rPr lang="ar-AE" i="1"/>
                                </m:ctrlPr>
                              </m:dPr>
                              <m:e>
                                <m:r>
                                  <a:rPr lang="ar-AE"/>
                                  <m:t>)</m:t>
                                </m:r>
                              </m:e>
                            </m:d>
                          </m:e>
                          <m:sup>
                            <m:r>
                              <a:rPr lang="ar-AE" i="1"/>
                              <m:t>𝑏</m:t>
                            </m:r>
                          </m:sup>
                        </m:sSup>
                        <m:r>
                          <a:rPr lang="ar-AE"/>
                          <m:t>×</m:t>
                        </m:r>
                        <m:r>
                          <a:rPr lang="ar-AE" i="1"/>
                          <m:t>𝐸𝐴𝐹</m:t>
                        </m:r>
                      </m:e>
                    </m:d>
                  </m:oMath>
                </a14:m>
                <a:r>
                  <a:rPr lang="ar-AE" dirty="0"/>
                  <a:t> (</a:t>
                </a:r>
                <a:r>
                  <a:rPr lang="en-IN" dirty="0"/>
                  <a:t>EAF = Effort Adjustment Factor).</a:t>
                </a:r>
              </a:p>
              <a:p>
                <a:pPr marL="742950" lvl="1" indent="-285750">
                  <a:buFont typeface="Arial" panose="020B0604020202020204" pitchFamily="34" charset="0"/>
                  <a:buChar char="•"/>
                </a:pPr>
                <a:r>
                  <a:rPr lang="en-IN" dirty="0"/>
                  <a:t>Offers more precise estimates by considering product, hardware, personnel, and project attributes.</a:t>
                </a:r>
              </a:p>
            </p:txBody>
          </p:sp>
        </mc:Choice>
        <mc:Fallback>
          <p:sp>
            <p:nvSpPr>
              <p:cNvPr id="3" name="TextBox 2">
                <a:extLst>
                  <a:ext uri="{FF2B5EF4-FFF2-40B4-BE49-F238E27FC236}">
                    <a16:creationId xmlns:a16="http://schemas.microsoft.com/office/drawing/2014/main" id="{E519023D-5B47-D27C-A34A-624238947161}"/>
                  </a:ext>
                </a:extLst>
              </p:cNvPr>
              <p:cNvSpPr txBox="1">
                <a:spLocks noRot="1" noChangeAspect="1" noMove="1" noResize="1" noEditPoints="1" noAdjustHandles="1" noChangeArrowheads="1" noChangeShapeType="1" noTextEdit="1"/>
              </p:cNvSpPr>
              <p:nvPr/>
            </p:nvSpPr>
            <p:spPr>
              <a:xfrm>
                <a:off x="853440" y="0"/>
                <a:ext cx="8369300" cy="6931513"/>
              </a:xfrm>
              <a:prstGeom prst="rect">
                <a:avLst/>
              </a:prstGeom>
              <a:blipFill>
                <a:blip r:embed="rId2"/>
                <a:stretch>
                  <a:fillRect l="-583" t="-528" b="-4661"/>
                </a:stretch>
              </a:blipFill>
            </p:spPr>
            <p:txBody>
              <a:bodyPr/>
              <a:lstStyle/>
              <a:p>
                <a:r>
                  <a:rPr lang="en-IN">
                    <a:noFill/>
                  </a:rPr>
                  <a:t> </a:t>
                </a:r>
              </a:p>
            </p:txBody>
          </p:sp>
        </mc:Fallback>
      </mc:AlternateContent>
    </p:spTree>
    <p:extLst>
      <p:ext uri="{BB962C8B-B14F-4D97-AF65-F5344CB8AC3E}">
        <p14:creationId xmlns:p14="http://schemas.microsoft.com/office/powerpoint/2010/main" val="27944544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A07020-2D97-11F8-81A0-E0DF69F2C6D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881A96E-A81E-44CA-3F79-EDAC79481571}"/>
              </a:ext>
            </a:extLst>
          </p:cNvPr>
          <p:cNvSpPr txBox="1"/>
          <p:nvPr/>
        </p:nvSpPr>
        <p:spPr>
          <a:xfrm>
            <a:off x="955040" y="177076"/>
            <a:ext cx="8440420" cy="5632311"/>
          </a:xfrm>
          <a:prstGeom prst="rect">
            <a:avLst/>
          </a:prstGeom>
          <a:noFill/>
        </p:spPr>
        <p:txBody>
          <a:bodyPr wrap="square">
            <a:spAutoFit/>
          </a:bodyPr>
          <a:lstStyle/>
          <a:p>
            <a:r>
              <a:rPr lang="en-IN" b="1" dirty="0"/>
              <a:t>Detailed COCOMO:</a:t>
            </a:r>
          </a:p>
          <a:p>
            <a:pPr marL="742950" lvl="1" indent="-285750">
              <a:buFont typeface="Arial" panose="020B0604020202020204" pitchFamily="34" charset="0"/>
              <a:buChar char="•"/>
            </a:pPr>
            <a:r>
              <a:rPr lang="en-IN" dirty="0"/>
              <a:t>Further elaboration that applies cost drivers to individual phases/modules.</a:t>
            </a:r>
          </a:p>
          <a:p>
            <a:pPr marL="742950" lvl="1" indent="-285750">
              <a:buFont typeface="Arial" panose="020B0604020202020204" pitchFamily="34" charset="0"/>
              <a:buChar char="•"/>
            </a:pPr>
            <a:r>
              <a:rPr lang="en-IN" dirty="0"/>
              <a:t>Provides the most detailed and accurate estimation.</a:t>
            </a:r>
          </a:p>
          <a:p>
            <a:pPr marL="742950" lvl="1" indent="-285750">
              <a:buFont typeface="Arial" panose="020B0604020202020204" pitchFamily="34" charset="0"/>
              <a:buChar char="•"/>
            </a:pPr>
            <a:endParaRPr lang="en-IN" dirty="0"/>
          </a:p>
          <a:p>
            <a:pPr marL="285750" indent="-285750">
              <a:buFont typeface="Wingdings" panose="05000000000000000000" pitchFamily="2" charset="2"/>
              <a:buChar char="q"/>
            </a:pPr>
            <a:r>
              <a:rPr lang="en-US" b="1" dirty="0"/>
              <a:t>Project Classifications</a:t>
            </a:r>
          </a:p>
          <a:p>
            <a:pPr marL="285750" indent="-285750">
              <a:buFont typeface="Arial" panose="020B0604020202020204" pitchFamily="34" charset="0"/>
              <a:buChar char="•"/>
            </a:pPr>
            <a:r>
              <a:rPr lang="en-US" dirty="0"/>
              <a:t>Organic Projects: Small teams, well-understood problems, familiar environments.</a:t>
            </a:r>
          </a:p>
          <a:p>
            <a:pPr marL="285750" indent="-285750">
              <a:buFont typeface="Arial" panose="020B0604020202020204" pitchFamily="34" charset="0"/>
              <a:buChar char="•"/>
            </a:pPr>
            <a:r>
              <a:rPr lang="en-US" dirty="0"/>
              <a:t>Semidetached Projects: Medium-sized teams, some complexity, mix of inexperienced and experienced staff.</a:t>
            </a:r>
          </a:p>
          <a:p>
            <a:pPr marL="285750" indent="-285750">
              <a:buFont typeface="Arial" panose="020B0604020202020204" pitchFamily="34" charset="0"/>
              <a:buChar char="•"/>
            </a:pPr>
            <a:r>
              <a:rPr lang="en-US" dirty="0"/>
              <a:t>Embedded Projects: Complex systems with tight hardware/software integration, large teams, and stringent requirements</a:t>
            </a:r>
          </a:p>
          <a:p>
            <a:pPr lvl="1"/>
            <a:endParaRPr lang="en-IN" dirty="0"/>
          </a:p>
          <a:p>
            <a:pPr marL="285750" indent="-285750">
              <a:buFont typeface="Wingdings" panose="05000000000000000000" pitchFamily="2" charset="2"/>
              <a:buChar char="q"/>
            </a:pPr>
            <a:r>
              <a:rPr lang="en-US" b="1" dirty="0"/>
              <a:t>Important Parameters in COCOMO</a:t>
            </a:r>
          </a:p>
          <a:p>
            <a:pPr marL="285750" indent="-285750">
              <a:buFont typeface="Arial" panose="020B0604020202020204" pitchFamily="34" charset="0"/>
              <a:buChar char="•"/>
            </a:pPr>
            <a:r>
              <a:rPr lang="en-US" dirty="0"/>
              <a:t>Effort (person-months): Amount of labor needed.</a:t>
            </a:r>
          </a:p>
          <a:p>
            <a:pPr marL="285750" indent="-285750">
              <a:buFont typeface="Arial" panose="020B0604020202020204" pitchFamily="34" charset="0"/>
              <a:buChar char="•"/>
            </a:pPr>
            <a:r>
              <a:rPr lang="en-US" dirty="0"/>
              <a:t>Development Time (months): Time to complete project.</a:t>
            </a:r>
          </a:p>
          <a:p>
            <a:pPr marL="285750" indent="-285750">
              <a:buFont typeface="Arial" panose="020B0604020202020204" pitchFamily="34" charset="0"/>
              <a:buChar char="•"/>
            </a:pPr>
            <a:r>
              <a:rPr lang="en-US" dirty="0"/>
              <a:t>People Required: Team size estimates.</a:t>
            </a:r>
          </a:p>
          <a:p>
            <a:pPr marL="285750" indent="-285750">
              <a:buFont typeface="Arial" panose="020B0604020202020204" pitchFamily="34" charset="0"/>
              <a:buChar char="•"/>
            </a:pPr>
            <a:r>
              <a:rPr lang="en-US" dirty="0"/>
              <a:t>Cost Drivers: Factors like reliability, database size, complexity, programmer experience, used to adjust effort.</a:t>
            </a:r>
          </a:p>
          <a:p>
            <a:pPr lvl="1"/>
            <a:endParaRPr lang="en-IN" dirty="0"/>
          </a:p>
        </p:txBody>
      </p:sp>
    </p:spTree>
    <p:extLst>
      <p:ext uri="{BB962C8B-B14F-4D97-AF65-F5344CB8AC3E}">
        <p14:creationId xmlns:p14="http://schemas.microsoft.com/office/powerpoint/2010/main" val="26849805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0A2AC6-3D53-B806-2A20-4815865BE495}"/>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DCD1AC51-6A74-1148-010F-3B9204F7E86B}"/>
                  </a:ext>
                </a:extLst>
              </p:cNvPr>
              <p:cNvSpPr txBox="1"/>
              <p:nvPr/>
            </p:nvSpPr>
            <p:spPr>
              <a:xfrm>
                <a:off x="772160" y="196006"/>
                <a:ext cx="8491220" cy="1060868"/>
              </a:xfrm>
              <a:prstGeom prst="rect">
                <a:avLst/>
              </a:prstGeom>
              <a:noFill/>
            </p:spPr>
            <p:txBody>
              <a:bodyPr wrap="square">
                <a:spAutoFit/>
              </a:bodyPr>
              <a:lstStyle/>
              <a:p>
                <a:pPr algn="l">
                  <a:buNone/>
                </a:pPr>
                <a:r>
                  <a:rPr lang="en-IN" b="0" i="0" dirty="0">
                    <a:effectLst/>
                    <a:latin typeface="fkGrotesk"/>
                  </a:rPr>
                  <a:t>Formula Examples (Basic Model)</a:t>
                </a:r>
              </a:p>
              <a:p>
                <a:pPr>
                  <a:buNone/>
                </a:pPr>
                <a14:m>
                  <m:oMathPara xmlns:m="http://schemas.openxmlformats.org/officeDocument/2006/math">
                    <m:oMathParaPr>
                      <m:jc m:val="centerGroup"/>
                    </m:oMathParaPr>
                    <m:oMath xmlns:m="http://schemas.openxmlformats.org/officeDocument/2006/math">
                      <m:r>
                        <m:rPr>
                          <m:nor/>
                        </m:rPr>
                        <a:rPr lang="en-IN" b="0"/>
                        <m:t>Effort</m:t>
                      </m:r>
                      <m:r>
                        <a:rPr lang="en-IN" b="0" i="0">
                          <a:latin typeface="Cambria Math" panose="02040503050406030204" pitchFamily="18" charset="0"/>
                        </a:rPr>
                        <m:t>=</m:t>
                      </m:r>
                      <m:r>
                        <a:rPr lang="en-IN" b="0" i="1">
                          <a:latin typeface="Cambria Math" panose="02040503050406030204" pitchFamily="18" charset="0"/>
                        </a:rPr>
                        <m:t>𝑎</m:t>
                      </m:r>
                      <m:r>
                        <a:rPr lang="en-IN" b="0" i="0">
                          <a:latin typeface="Cambria Math" panose="02040503050406030204" pitchFamily="18" charset="0"/>
                        </a:rPr>
                        <m:t>×</m:t>
                      </m:r>
                      <m:d>
                        <m:dPr>
                          <m:endChr m:val=""/>
                          <m:ctrlPr>
                            <a:rPr lang="ar-AE" b="0" i="1">
                              <a:latin typeface="Cambria Math" panose="02040503050406030204" pitchFamily="18" charset="0"/>
                            </a:rPr>
                          </m:ctrlPr>
                        </m:dPr>
                        <m:e>
                          <m:r>
                            <a:rPr lang="ar-AE" b="0" i="1">
                              <a:latin typeface="Cambria Math" panose="02040503050406030204" pitchFamily="18" charset="0"/>
                            </a:rPr>
                            <m:t>𝐾𝐿𝑜𝐶</m:t>
                          </m:r>
                          <m:sSup>
                            <m:sSupPr>
                              <m:ctrlPr>
                                <a:rPr lang="ar-AE" b="0" i="1">
                                  <a:latin typeface="Cambria Math" panose="02040503050406030204" pitchFamily="18" charset="0"/>
                                </a:rPr>
                              </m:ctrlPr>
                            </m:sSupPr>
                            <m:e>
                              <m:d>
                                <m:dPr>
                                  <m:begChr m:val=""/>
                                  <m:endChr m:val=""/>
                                  <m:ctrlPr>
                                    <a:rPr lang="ar-AE" b="0" i="1">
                                      <a:latin typeface="Cambria Math" panose="02040503050406030204" pitchFamily="18" charset="0"/>
                                    </a:rPr>
                                  </m:ctrlPr>
                                </m:dPr>
                                <m:e>
                                  <m:r>
                                    <a:rPr lang="ar-AE" b="0" i="0">
                                      <a:latin typeface="Cambria Math" panose="02040503050406030204" pitchFamily="18" charset="0"/>
                                    </a:rPr>
                                    <m:t>)</m:t>
                                  </m:r>
                                </m:e>
                              </m:d>
                            </m:e>
                            <m:sup>
                              <m:r>
                                <a:rPr lang="ar-AE" b="0" i="1">
                                  <a:latin typeface="Cambria Math" panose="02040503050406030204" pitchFamily="18" charset="0"/>
                                </a:rPr>
                                <m:t>𝑏</m:t>
                              </m:r>
                            </m:sup>
                          </m:sSup>
                        </m:e>
                      </m:d>
                    </m:oMath>
                  </m:oMathPara>
                </a14:m>
                <a:endParaRPr lang="ar-AE" b="0" dirty="0"/>
              </a:p>
              <a:p>
                <a:pPr algn="l">
                  <a:buNone/>
                </a:pPr>
                <a:r>
                  <a:rPr lang="en-IN" b="0" i="0" dirty="0">
                    <a:effectLst/>
                    <a:latin typeface="fkGroteskNeue"/>
                  </a:rPr>
                  <a:t>Where values of </a:t>
                </a:r>
                <a14:m>
                  <m:oMath xmlns:m="http://schemas.openxmlformats.org/officeDocument/2006/math">
                    <m:r>
                      <a:rPr lang="en-IN" i="1">
                        <a:latin typeface="Cambria Math" panose="02040503050406030204" pitchFamily="18" charset="0"/>
                      </a:rPr>
                      <m:t>𝑎</m:t>
                    </m:r>
                  </m:oMath>
                </a14:m>
                <a:r>
                  <a:rPr lang="en-IN" b="0" i="0" dirty="0">
                    <a:effectLst/>
                    <a:latin typeface="fkGroteskNeue"/>
                  </a:rPr>
                  <a:t> and </a:t>
                </a:r>
                <a14:m>
                  <m:oMath xmlns:m="http://schemas.openxmlformats.org/officeDocument/2006/math">
                    <m:r>
                      <a:rPr lang="en-IN" i="1">
                        <a:latin typeface="Cambria Math" panose="02040503050406030204" pitchFamily="18" charset="0"/>
                      </a:rPr>
                      <m:t>𝑏</m:t>
                    </m:r>
                  </m:oMath>
                </a14:m>
                <a:r>
                  <a:rPr lang="en-IN" b="0" i="0" dirty="0">
                    <a:effectLst/>
                    <a:latin typeface="fkGroteskNeue"/>
                  </a:rPr>
                  <a:t> vary by project type:</a:t>
                </a:r>
              </a:p>
            </p:txBody>
          </p:sp>
        </mc:Choice>
        <mc:Fallback>
          <p:sp>
            <p:nvSpPr>
              <p:cNvPr id="3" name="TextBox 2">
                <a:extLst>
                  <a:ext uri="{FF2B5EF4-FFF2-40B4-BE49-F238E27FC236}">
                    <a16:creationId xmlns:a16="http://schemas.microsoft.com/office/drawing/2014/main" id="{DCD1AC51-6A74-1148-010F-3B9204F7E86B}"/>
                  </a:ext>
                </a:extLst>
              </p:cNvPr>
              <p:cNvSpPr txBox="1">
                <a:spLocks noRot="1" noChangeAspect="1" noMove="1" noResize="1" noEditPoints="1" noAdjustHandles="1" noChangeArrowheads="1" noChangeShapeType="1" noTextEdit="1"/>
              </p:cNvSpPr>
              <p:nvPr/>
            </p:nvSpPr>
            <p:spPr>
              <a:xfrm>
                <a:off x="772160" y="196006"/>
                <a:ext cx="8491220" cy="1060868"/>
              </a:xfrm>
              <a:prstGeom prst="rect">
                <a:avLst/>
              </a:prstGeom>
              <a:blipFill>
                <a:blip r:embed="rId2"/>
                <a:stretch>
                  <a:fillRect l="-646" t="-59770" b="-98276"/>
                </a:stretch>
              </a:blipFill>
            </p:spPr>
            <p:txBody>
              <a:bodyPr/>
              <a:lstStyle/>
              <a:p>
                <a:r>
                  <a:rPr lang="en-IN">
                    <a:noFill/>
                  </a:rPr>
                  <a:t> </a:t>
                </a:r>
              </a:p>
            </p:txBody>
          </p:sp>
        </mc:Fallback>
      </mc:AlternateContent>
      <p:graphicFrame>
        <p:nvGraphicFramePr>
          <p:cNvPr id="4" name="Table 3">
            <a:extLst>
              <a:ext uri="{FF2B5EF4-FFF2-40B4-BE49-F238E27FC236}">
                <a16:creationId xmlns:a16="http://schemas.microsoft.com/office/drawing/2014/main" id="{365E51F3-E37C-0307-5D37-96026CC656BD}"/>
              </a:ext>
            </a:extLst>
          </p:cNvPr>
          <p:cNvGraphicFramePr>
            <a:graphicFrameLocks noGrp="1"/>
          </p:cNvGraphicFramePr>
          <p:nvPr>
            <p:extLst>
              <p:ext uri="{D42A27DB-BD31-4B8C-83A1-F6EECF244321}">
                <p14:modId xmlns:p14="http://schemas.microsoft.com/office/powerpoint/2010/main" val="1206790115"/>
              </p:ext>
            </p:extLst>
          </p:nvPr>
        </p:nvGraphicFramePr>
        <p:xfrm>
          <a:off x="5280343" y="1053306"/>
          <a:ext cx="4198938" cy="1584960"/>
        </p:xfrm>
        <a:graphic>
          <a:graphicData uri="http://schemas.openxmlformats.org/drawingml/2006/table">
            <a:tbl>
              <a:tblPr>
                <a:tableStyleId>{5940675A-B579-460E-94D1-54222C63F5DA}</a:tableStyleId>
              </a:tblPr>
              <a:tblGrid>
                <a:gridCol w="1972371">
                  <a:extLst>
                    <a:ext uri="{9D8B030D-6E8A-4147-A177-3AD203B41FA5}">
                      <a16:colId xmlns:a16="http://schemas.microsoft.com/office/drawing/2014/main" val="2482450056"/>
                    </a:ext>
                  </a:extLst>
                </a:gridCol>
                <a:gridCol w="1118878">
                  <a:extLst>
                    <a:ext uri="{9D8B030D-6E8A-4147-A177-3AD203B41FA5}">
                      <a16:colId xmlns:a16="http://schemas.microsoft.com/office/drawing/2014/main" val="915781616"/>
                    </a:ext>
                  </a:extLst>
                </a:gridCol>
                <a:gridCol w="1107689">
                  <a:extLst>
                    <a:ext uri="{9D8B030D-6E8A-4147-A177-3AD203B41FA5}">
                      <a16:colId xmlns:a16="http://schemas.microsoft.com/office/drawing/2014/main" val="2873150040"/>
                    </a:ext>
                  </a:extLst>
                </a:gridCol>
              </a:tblGrid>
              <a:tr h="0">
                <a:tc>
                  <a:txBody>
                    <a:bodyPr/>
                    <a:lstStyle/>
                    <a:p>
                      <a:pPr algn="l">
                        <a:buNone/>
                      </a:pPr>
                      <a:r>
                        <a:rPr lang="en-IN" b="1">
                          <a:effectLst/>
                        </a:rPr>
                        <a:t>Project Type</a:t>
                      </a:r>
                    </a:p>
                  </a:txBody>
                  <a:tcPr marL="60960" marR="60960" marT="60960" marB="60960" anchor="ctr"/>
                </a:tc>
                <a:tc>
                  <a:txBody>
                    <a:bodyPr/>
                    <a:lstStyle/>
                    <a:p>
                      <a:pPr algn="l">
                        <a:buNone/>
                      </a:pPr>
                      <a:r>
                        <a:rPr lang="en-IN" b="1">
                          <a:effectLst/>
                        </a:rPr>
                        <a:t>aaa</a:t>
                      </a:r>
                    </a:p>
                  </a:txBody>
                  <a:tcPr marL="60960" marR="60960" marT="60960" marB="60960" anchor="ctr"/>
                </a:tc>
                <a:tc>
                  <a:txBody>
                    <a:bodyPr/>
                    <a:lstStyle/>
                    <a:p>
                      <a:pPr algn="l">
                        <a:buNone/>
                      </a:pPr>
                      <a:r>
                        <a:rPr lang="en-IN" b="1">
                          <a:effectLst/>
                        </a:rPr>
                        <a:t>bbb</a:t>
                      </a:r>
                    </a:p>
                  </a:txBody>
                  <a:tcPr marL="60960" marR="60960" marT="60960" marB="60960" anchor="ctr"/>
                </a:tc>
                <a:extLst>
                  <a:ext uri="{0D108BD9-81ED-4DB2-BD59-A6C34878D82A}">
                    <a16:rowId xmlns:a16="http://schemas.microsoft.com/office/drawing/2014/main" val="2170388178"/>
                  </a:ext>
                </a:extLst>
              </a:tr>
              <a:tr h="0">
                <a:tc>
                  <a:txBody>
                    <a:bodyPr/>
                    <a:lstStyle/>
                    <a:p>
                      <a:pPr algn="l">
                        <a:buNone/>
                      </a:pPr>
                      <a:r>
                        <a:rPr lang="en-IN">
                          <a:effectLst/>
                        </a:rPr>
                        <a:t>Organic</a:t>
                      </a:r>
                    </a:p>
                  </a:txBody>
                  <a:tcPr marL="60960" marR="60960" marT="60960" marB="60960" anchor="ctr"/>
                </a:tc>
                <a:tc>
                  <a:txBody>
                    <a:bodyPr/>
                    <a:lstStyle/>
                    <a:p>
                      <a:pPr algn="l">
                        <a:buNone/>
                      </a:pPr>
                      <a:r>
                        <a:rPr lang="en-IN">
                          <a:effectLst/>
                        </a:rPr>
                        <a:t>2.4</a:t>
                      </a:r>
                    </a:p>
                  </a:txBody>
                  <a:tcPr marL="60960" marR="60960" marT="60960" marB="60960" anchor="ctr"/>
                </a:tc>
                <a:tc>
                  <a:txBody>
                    <a:bodyPr/>
                    <a:lstStyle/>
                    <a:p>
                      <a:pPr algn="l">
                        <a:buNone/>
                      </a:pPr>
                      <a:r>
                        <a:rPr lang="en-IN">
                          <a:effectLst/>
                        </a:rPr>
                        <a:t>1.05</a:t>
                      </a:r>
                    </a:p>
                  </a:txBody>
                  <a:tcPr marL="60960" marR="60960" marT="60960" marB="60960" anchor="ctr"/>
                </a:tc>
                <a:extLst>
                  <a:ext uri="{0D108BD9-81ED-4DB2-BD59-A6C34878D82A}">
                    <a16:rowId xmlns:a16="http://schemas.microsoft.com/office/drawing/2014/main" val="1285379603"/>
                  </a:ext>
                </a:extLst>
              </a:tr>
              <a:tr h="0">
                <a:tc>
                  <a:txBody>
                    <a:bodyPr/>
                    <a:lstStyle/>
                    <a:p>
                      <a:pPr algn="l">
                        <a:buNone/>
                      </a:pPr>
                      <a:r>
                        <a:rPr lang="en-IN">
                          <a:effectLst/>
                        </a:rPr>
                        <a:t>Semidetached</a:t>
                      </a:r>
                    </a:p>
                  </a:txBody>
                  <a:tcPr marL="60960" marR="60960" marT="60960" marB="60960" anchor="ctr"/>
                </a:tc>
                <a:tc>
                  <a:txBody>
                    <a:bodyPr/>
                    <a:lstStyle/>
                    <a:p>
                      <a:pPr algn="l">
                        <a:buNone/>
                      </a:pPr>
                      <a:r>
                        <a:rPr lang="en-IN">
                          <a:effectLst/>
                        </a:rPr>
                        <a:t>3.0</a:t>
                      </a:r>
                    </a:p>
                  </a:txBody>
                  <a:tcPr marL="60960" marR="60960" marT="60960" marB="60960" anchor="ctr"/>
                </a:tc>
                <a:tc>
                  <a:txBody>
                    <a:bodyPr/>
                    <a:lstStyle/>
                    <a:p>
                      <a:pPr algn="l">
                        <a:buNone/>
                      </a:pPr>
                      <a:r>
                        <a:rPr lang="en-IN" dirty="0">
                          <a:effectLst/>
                        </a:rPr>
                        <a:t>1.12</a:t>
                      </a:r>
                    </a:p>
                  </a:txBody>
                  <a:tcPr marL="60960" marR="60960" marT="60960" marB="60960" anchor="ctr"/>
                </a:tc>
                <a:extLst>
                  <a:ext uri="{0D108BD9-81ED-4DB2-BD59-A6C34878D82A}">
                    <a16:rowId xmlns:a16="http://schemas.microsoft.com/office/drawing/2014/main" val="3566950297"/>
                  </a:ext>
                </a:extLst>
              </a:tr>
              <a:tr h="0">
                <a:tc>
                  <a:txBody>
                    <a:bodyPr/>
                    <a:lstStyle/>
                    <a:p>
                      <a:pPr algn="l">
                        <a:buNone/>
                      </a:pPr>
                      <a:r>
                        <a:rPr lang="en-IN">
                          <a:effectLst/>
                        </a:rPr>
                        <a:t>Embedded</a:t>
                      </a:r>
                    </a:p>
                  </a:txBody>
                  <a:tcPr marL="60960" marR="60960" marT="60960" marB="60960" anchor="ctr"/>
                </a:tc>
                <a:tc>
                  <a:txBody>
                    <a:bodyPr/>
                    <a:lstStyle/>
                    <a:p>
                      <a:pPr algn="l">
                        <a:buNone/>
                      </a:pPr>
                      <a:r>
                        <a:rPr lang="en-IN">
                          <a:effectLst/>
                        </a:rPr>
                        <a:t>3.6</a:t>
                      </a:r>
                    </a:p>
                  </a:txBody>
                  <a:tcPr marL="60960" marR="60960" marT="60960" marB="60960" anchor="ctr"/>
                </a:tc>
                <a:tc>
                  <a:txBody>
                    <a:bodyPr/>
                    <a:lstStyle/>
                    <a:p>
                      <a:pPr algn="l">
                        <a:buNone/>
                      </a:pPr>
                      <a:r>
                        <a:rPr lang="en-IN" dirty="0">
                          <a:effectLst/>
                        </a:rPr>
                        <a:t>1.20</a:t>
                      </a:r>
                    </a:p>
                  </a:txBody>
                  <a:tcPr marL="60960" marR="60960" marT="60960" marB="60960" anchor="ctr"/>
                </a:tc>
                <a:extLst>
                  <a:ext uri="{0D108BD9-81ED-4DB2-BD59-A6C34878D82A}">
                    <a16:rowId xmlns:a16="http://schemas.microsoft.com/office/drawing/2014/main" val="1612717646"/>
                  </a:ext>
                </a:extLst>
              </a:tr>
            </a:tbl>
          </a:graphicData>
        </a:graphic>
      </p:graphicFrame>
      <p:sp>
        <p:nvSpPr>
          <p:cNvPr id="6" name="TextBox 5">
            <a:extLst>
              <a:ext uri="{FF2B5EF4-FFF2-40B4-BE49-F238E27FC236}">
                <a16:creationId xmlns:a16="http://schemas.microsoft.com/office/drawing/2014/main" id="{BB14F772-74CF-2CAD-F524-EE795AEC74DB}"/>
              </a:ext>
            </a:extLst>
          </p:cNvPr>
          <p:cNvSpPr txBox="1"/>
          <p:nvPr/>
        </p:nvSpPr>
        <p:spPr>
          <a:xfrm>
            <a:off x="673100" y="2756902"/>
            <a:ext cx="9232900" cy="1477328"/>
          </a:xfrm>
          <a:prstGeom prst="rect">
            <a:avLst/>
          </a:prstGeom>
          <a:noFill/>
        </p:spPr>
        <p:txBody>
          <a:bodyPr wrap="square">
            <a:spAutoFit/>
          </a:bodyPr>
          <a:lstStyle/>
          <a:p>
            <a:pPr marL="285750" indent="-285750" algn="l">
              <a:buFont typeface="Wingdings" panose="05000000000000000000" pitchFamily="2" charset="2"/>
              <a:buChar char="q"/>
            </a:pPr>
            <a:r>
              <a:rPr lang="en-US" b="1" i="0" dirty="0">
                <a:effectLst/>
                <a:latin typeface="fkGrotesk"/>
              </a:rPr>
              <a:t>Benefits of COCOMO</a:t>
            </a:r>
          </a:p>
          <a:p>
            <a:pPr algn="l">
              <a:buFont typeface="Arial" panose="020B0604020202020204" pitchFamily="34" charset="0"/>
              <a:buChar char="•"/>
            </a:pPr>
            <a:r>
              <a:rPr lang="en-US" b="0" i="0" dirty="0">
                <a:effectLst/>
                <a:latin typeface="fkGroteskNeue"/>
              </a:rPr>
              <a:t>Provides quantitative estimation for planning.</a:t>
            </a:r>
          </a:p>
          <a:p>
            <a:pPr algn="l">
              <a:buFont typeface="Arial" panose="020B0604020202020204" pitchFamily="34" charset="0"/>
              <a:buChar char="•"/>
            </a:pPr>
            <a:r>
              <a:rPr lang="en-US" b="0" i="0" dirty="0">
                <a:effectLst/>
                <a:latin typeface="fkGroteskNeue"/>
              </a:rPr>
              <a:t>Supports early project scoping and budgeting.</a:t>
            </a:r>
          </a:p>
          <a:p>
            <a:pPr algn="l">
              <a:buFont typeface="Arial" panose="020B0604020202020204" pitchFamily="34" charset="0"/>
              <a:buChar char="•"/>
            </a:pPr>
            <a:r>
              <a:rPr lang="en-US" b="0" i="0" dirty="0">
                <a:effectLst/>
                <a:latin typeface="fkGroteskNeue"/>
              </a:rPr>
              <a:t>Adaptable for different project types and sizes.</a:t>
            </a:r>
          </a:p>
          <a:p>
            <a:pPr algn="l">
              <a:buFont typeface="Arial" panose="020B0604020202020204" pitchFamily="34" charset="0"/>
              <a:buChar char="•"/>
            </a:pPr>
            <a:r>
              <a:rPr lang="en-US" b="0" i="0" dirty="0">
                <a:effectLst/>
                <a:latin typeface="fkGroteskNeue"/>
              </a:rPr>
              <a:t>Incorporates a range of project and personnel factors.</a:t>
            </a:r>
          </a:p>
        </p:txBody>
      </p:sp>
      <p:sp>
        <p:nvSpPr>
          <p:cNvPr id="8" name="TextBox 7">
            <a:extLst>
              <a:ext uri="{FF2B5EF4-FFF2-40B4-BE49-F238E27FC236}">
                <a16:creationId xmlns:a16="http://schemas.microsoft.com/office/drawing/2014/main" id="{5BC1BACD-D27C-B268-3789-BB504E2BC864}"/>
              </a:ext>
            </a:extLst>
          </p:cNvPr>
          <p:cNvSpPr txBox="1"/>
          <p:nvPr/>
        </p:nvSpPr>
        <p:spPr>
          <a:xfrm>
            <a:off x="772160" y="4427696"/>
            <a:ext cx="8940800" cy="1200329"/>
          </a:xfrm>
          <a:prstGeom prst="rect">
            <a:avLst/>
          </a:prstGeom>
          <a:noFill/>
        </p:spPr>
        <p:txBody>
          <a:bodyPr wrap="square">
            <a:spAutoFit/>
          </a:bodyPr>
          <a:lstStyle/>
          <a:p>
            <a:pPr marL="285750" indent="-285750" algn="l">
              <a:buFont typeface="Wingdings" panose="05000000000000000000" pitchFamily="2" charset="2"/>
              <a:buChar char="q"/>
            </a:pPr>
            <a:r>
              <a:rPr lang="en-US" b="1" i="0" dirty="0">
                <a:effectLst/>
                <a:latin typeface="fkGrotesk"/>
              </a:rPr>
              <a:t>Limitations</a:t>
            </a:r>
          </a:p>
          <a:p>
            <a:pPr algn="l">
              <a:buFont typeface="Arial" panose="020B0604020202020204" pitchFamily="34" charset="0"/>
              <a:buChar char="•"/>
            </a:pPr>
            <a:r>
              <a:rPr lang="en-US" b="0" i="0" dirty="0">
                <a:effectLst/>
                <a:latin typeface="fkGroteskNeue"/>
              </a:rPr>
              <a:t>Relies on accurate size estimation (LoC).</a:t>
            </a:r>
          </a:p>
          <a:p>
            <a:pPr algn="l">
              <a:buFont typeface="Arial" panose="020B0604020202020204" pitchFamily="34" charset="0"/>
              <a:buChar char="•"/>
            </a:pPr>
            <a:r>
              <a:rPr lang="en-US" b="0" i="0" dirty="0">
                <a:effectLst/>
                <a:latin typeface="fkGroteskNeue"/>
              </a:rPr>
              <a:t>Cost drivers require subjective assessment.</a:t>
            </a:r>
          </a:p>
          <a:p>
            <a:pPr algn="l">
              <a:buFont typeface="Arial" panose="020B0604020202020204" pitchFamily="34" charset="0"/>
              <a:buChar char="•"/>
            </a:pPr>
            <a:r>
              <a:rPr lang="en-US" b="0" i="0" dirty="0">
                <a:effectLst/>
                <a:latin typeface="fkGroteskNeue"/>
              </a:rPr>
              <a:t>May not fit well with modern rapid development methodologies without extensions.</a:t>
            </a:r>
          </a:p>
        </p:txBody>
      </p:sp>
    </p:spTree>
    <p:extLst>
      <p:ext uri="{BB962C8B-B14F-4D97-AF65-F5344CB8AC3E}">
        <p14:creationId xmlns:p14="http://schemas.microsoft.com/office/powerpoint/2010/main" val="37134161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C42CA7-8F86-8C6D-B16C-30F52D174A8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18AE944-523A-A439-CCA4-912C73A86FD9}"/>
              </a:ext>
            </a:extLst>
          </p:cNvPr>
          <p:cNvSpPr txBox="1"/>
          <p:nvPr/>
        </p:nvSpPr>
        <p:spPr>
          <a:xfrm>
            <a:off x="853440" y="217716"/>
            <a:ext cx="8602980" cy="923330"/>
          </a:xfrm>
          <a:prstGeom prst="rect">
            <a:avLst/>
          </a:prstGeom>
          <a:noFill/>
        </p:spPr>
        <p:txBody>
          <a:bodyPr wrap="square">
            <a:spAutoFit/>
          </a:bodyPr>
          <a:lstStyle/>
          <a:p>
            <a:pPr>
              <a:buNone/>
            </a:pPr>
            <a:r>
              <a:rPr lang="en-US" dirty="0">
                <a:effectLst/>
                <a:latin typeface="fkGroteskNeue"/>
              </a:rPr>
              <a:t>COCOMO remains a foundational cost estimation approach useful in software project management for predicting effort, cost, and schedule with reasonable accuracy, especially in traditional development environments.</a:t>
            </a:r>
          </a:p>
        </p:txBody>
      </p:sp>
      <p:sp>
        <p:nvSpPr>
          <p:cNvPr id="5" name="TextBox 4">
            <a:extLst>
              <a:ext uri="{FF2B5EF4-FFF2-40B4-BE49-F238E27FC236}">
                <a16:creationId xmlns:a16="http://schemas.microsoft.com/office/drawing/2014/main" id="{811E9F33-1F1B-BA52-5324-9B2B5157CA9C}"/>
              </a:ext>
            </a:extLst>
          </p:cNvPr>
          <p:cNvSpPr txBox="1"/>
          <p:nvPr/>
        </p:nvSpPr>
        <p:spPr>
          <a:xfrm>
            <a:off x="762000" y="1317675"/>
            <a:ext cx="8602980" cy="369332"/>
          </a:xfrm>
          <a:prstGeom prst="rect">
            <a:avLst/>
          </a:prstGeom>
          <a:noFill/>
        </p:spPr>
        <p:txBody>
          <a:bodyPr wrap="square">
            <a:spAutoFit/>
          </a:bodyPr>
          <a:lstStyle/>
          <a:p>
            <a:r>
              <a:rPr lang="en-US" b="1" dirty="0"/>
              <a:t>6.4 Risk Management: Risk Identification, Risk Assessment, RMMM Strategy. </a:t>
            </a:r>
            <a:endParaRPr lang="en-IN" b="1" dirty="0"/>
          </a:p>
        </p:txBody>
      </p:sp>
      <p:sp>
        <p:nvSpPr>
          <p:cNvPr id="7" name="TextBox 6">
            <a:extLst>
              <a:ext uri="{FF2B5EF4-FFF2-40B4-BE49-F238E27FC236}">
                <a16:creationId xmlns:a16="http://schemas.microsoft.com/office/drawing/2014/main" id="{7407F0CE-E844-B425-7E6D-64F9FB9ED2F7}"/>
              </a:ext>
            </a:extLst>
          </p:cNvPr>
          <p:cNvSpPr txBox="1"/>
          <p:nvPr/>
        </p:nvSpPr>
        <p:spPr>
          <a:xfrm>
            <a:off x="762000" y="1779687"/>
            <a:ext cx="8422640" cy="5078313"/>
          </a:xfrm>
          <a:prstGeom prst="rect">
            <a:avLst/>
          </a:prstGeom>
          <a:noFill/>
        </p:spPr>
        <p:txBody>
          <a:bodyPr wrap="square">
            <a:spAutoFit/>
          </a:bodyPr>
          <a:lstStyle/>
          <a:p>
            <a:pPr algn="l">
              <a:buNone/>
            </a:pPr>
            <a:r>
              <a:rPr lang="en-US" b="1" i="0" dirty="0">
                <a:effectLst/>
                <a:latin typeface="fkGrotesk"/>
              </a:rPr>
              <a:t>1. Risk Identification</a:t>
            </a:r>
          </a:p>
          <a:p>
            <a:pPr algn="l">
              <a:buFont typeface="Arial" panose="020B0604020202020204" pitchFamily="34" charset="0"/>
              <a:buChar char="•"/>
            </a:pPr>
            <a:r>
              <a:rPr lang="en-US" b="1" i="0" dirty="0">
                <a:effectLst/>
                <a:latin typeface="fkGroteskNeue"/>
              </a:rPr>
              <a:t>Definition</a:t>
            </a:r>
            <a:r>
              <a:rPr lang="en-US" b="0" i="0" dirty="0">
                <a:effectLst/>
                <a:latin typeface="fkGroteskNeue"/>
              </a:rPr>
              <a:t>: The process of detecting and documenting potential risks that could negatively impact the software project.</a:t>
            </a:r>
          </a:p>
          <a:p>
            <a:pPr algn="l">
              <a:buFont typeface="Arial" panose="020B0604020202020204" pitchFamily="34" charset="0"/>
              <a:buChar char="•"/>
            </a:pPr>
            <a:r>
              <a:rPr lang="en-US" b="1" i="0" dirty="0">
                <a:effectLst/>
                <a:latin typeface="fkGroteskNeue"/>
              </a:rPr>
              <a:t>Activities</a:t>
            </a:r>
            <a:r>
              <a:rPr lang="en-US" b="0" i="0" dirty="0">
                <a:effectLst/>
                <a:latin typeface="fkGroteskNeue"/>
              </a:rPr>
              <a:t>: Brainstorming sessions, analysis of historical project data, stakeholder interviews, and checklists.</a:t>
            </a:r>
          </a:p>
          <a:p>
            <a:pPr algn="l">
              <a:buFont typeface="Arial" panose="020B0604020202020204" pitchFamily="34" charset="0"/>
              <a:buChar char="•"/>
            </a:pPr>
            <a:r>
              <a:rPr lang="en-US" b="1" i="0" dirty="0">
                <a:effectLst/>
                <a:latin typeface="fkGroteskNeue"/>
              </a:rPr>
              <a:t>Purpose</a:t>
            </a:r>
            <a:r>
              <a:rPr lang="en-US" b="0" i="0" dirty="0">
                <a:effectLst/>
                <a:latin typeface="fkGroteskNeue"/>
              </a:rPr>
              <a:t>: Create a comprehensive risk list for further analysis.</a:t>
            </a:r>
          </a:p>
          <a:p>
            <a:pPr algn="l">
              <a:buFont typeface="Arial" panose="020B0604020202020204" pitchFamily="34" charset="0"/>
              <a:buChar char="•"/>
            </a:pPr>
            <a:r>
              <a:rPr lang="en-US" b="1" i="0" dirty="0">
                <a:effectLst/>
                <a:latin typeface="fkGroteskNeue"/>
              </a:rPr>
              <a:t>Example</a:t>
            </a:r>
            <a:r>
              <a:rPr lang="en-US" b="0" i="0" dirty="0">
                <a:effectLst/>
                <a:latin typeface="fkGroteskNeue"/>
              </a:rPr>
              <a:t>: Identifying the risk of delayed requirements, technology changes, or resource unavailability.</a:t>
            </a:r>
          </a:p>
          <a:p>
            <a:pPr>
              <a:buNone/>
            </a:pPr>
            <a:endParaRPr lang="en-US" dirty="0"/>
          </a:p>
          <a:p>
            <a:pPr algn="l">
              <a:buNone/>
            </a:pPr>
            <a:r>
              <a:rPr lang="en-US" b="1" i="0" dirty="0">
                <a:effectLst/>
                <a:latin typeface="fkGrotesk"/>
              </a:rPr>
              <a:t>2. Risk Assessment</a:t>
            </a:r>
          </a:p>
          <a:p>
            <a:pPr algn="l">
              <a:buFont typeface="Arial" panose="020B0604020202020204" pitchFamily="34" charset="0"/>
              <a:buChar char="•"/>
            </a:pPr>
            <a:r>
              <a:rPr lang="en-US" b="1" i="0" dirty="0">
                <a:effectLst/>
                <a:latin typeface="fkGroteskNeue"/>
              </a:rPr>
              <a:t>Definition</a:t>
            </a:r>
            <a:r>
              <a:rPr lang="en-US" b="0" i="0" dirty="0">
                <a:effectLst/>
                <a:latin typeface="fkGroteskNeue"/>
              </a:rPr>
              <a:t>: Analyzing identified risks to determine their probability of occurrence and impact on the project.</a:t>
            </a:r>
          </a:p>
          <a:p>
            <a:pPr algn="l">
              <a:buFont typeface="Arial" panose="020B0604020202020204" pitchFamily="34" charset="0"/>
              <a:buChar char="•"/>
            </a:pPr>
            <a:r>
              <a:rPr lang="en-US" b="1" i="0" dirty="0">
                <a:effectLst/>
                <a:latin typeface="fkGroteskNeue"/>
              </a:rPr>
              <a:t>Process</a:t>
            </a:r>
            <a:r>
              <a:rPr lang="en-US" b="0" i="0" dirty="0">
                <a:effectLst/>
                <a:latin typeface="fkGroteskNeue"/>
              </a:rPr>
              <a:t>:</a:t>
            </a:r>
          </a:p>
          <a:p>
            <a:pPr marL="742950" lvl="1" indent="-285750" algn="l">
              <a:buFont typeface="Arial" panose="020B0604020202020204" pitchFamily="34" charset="0"/>
              <a:buChar char="•"/>
            </a:pPr>
            <a:r>
              <a:rPr lang="en-US" b="0" i="0" dirty="0">
                <a:effectLst/>
                <a:latin typeface="fkGroteskNeue"/>
              </a:rPr>
              <a:t>Assign values (e.g., 1 to 10) for likelihood and severity.</a:t>
            </a:r>
          </a:p>
          <a:p>
            <a:pPr marL="742950" lvl="1" indent="-285750" algn="l">
              <a:buFont typeface="Arial" panose="020B0604020202020204" pitchFamily="34" charset="0"/>
              <a:buChar char="•"/>
            </a:pPr>
            <a:r>
              <a:rPr lang="en-US" b="0" i="0" dirty="0">
                <a:effectLst/>
                <a:latin typeface="fkGroteskNeue"/>
              </a:rPr>
              <a:t>Calculate Risk Exposure Factor = Probability × Impact.</a:t>
            </a:r>
          </a:p>
          <a:p>
            <a:pPr marL="742950" lvl="1" indent="-285750" algn="l">
              <a:buFont typeface="Arial" panose="020B0604020202020204" pitchFamily="34" charset="0"/>
              <a:buChar char="•"/>
            </a:pPr>
            <a:r>
              <a:rPr lang="en-US" b="0" i="0" dirty="0">
                <a:effectLst/>
                <a:latin typeface="fkGroteskNeue"/>
              </a:rPr>
              <a:t>Prioritize risks based on exposure for focused management.</a:t>
            </a:r>
          </a:p>
          <a:p>
            <a:pPr algn="l">
              <a:buFont typeface="Arial" panose="020B0604020202020204" pitchFamily="34" charset="0"/>
              <a:buChar char="•"/>
            </a:pPr>
            <a:r>
              <a:rPr lang="en-US" b="1" i="0" dirty="0">
                <a:effectLst/>
                <a:latin typeface="fkGroteskNeue"/>
              </a:rPr>
              <a:t>Tools</a:t>
            </a:r>
            <a:r>
              <a:rPr lang="en-US" b="0" i="0" dirty="0">
                <a:effectLst/>
                <a:latin typeface="fkGroteskNeue"/>
              </a:rPr>
              <a:t>: Risk matrices, qualitative and quantitative analysis.</a:t>
            </a:r>
          </a:p>
          <a:p>
            <a:pPr algn="l">
              <a:buFont typeface="Arial" panose="020B0604020202020204" pitchFamily="34" charset="0"/>
              <a:buChar char="•"/>
            </a:pPr>
            <a:r>
              <a:rPr lang="en-US" b="1" i="0" dirty="0">
                <a:effectLst/>
                <a:latin typeface="fkGroteskNeue"/>
              </a:rPr>
              <a:t>Outcome</a:t>
            </a:r>
            <a:r>
              <a:rPr lang="en-US" b="0" i="0" dirty="0">
                <a:effectLst/>
                <a:latin typeface="fkGroteskNeue"/>
              </a:rPr>
              <a:t>: A prioritized risk register guiding mitigation strategies.</a:t>
            </a:r>
          </a:p>
        </p:txBody>
      </p:sp>
    </p:spTree>
    <p:extLst>
      <p:ext uri="{BB962C8B-B14F-4D97-AF65-F5344CB8AC3E}">
        <p14:creationId xmlns:p14="http://schemas.microsoft.com/office/powerpoint/2010/main" val="3627735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5154E8-A9CE-8E19-9D72-228511C6F10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5783A08-5D59-A5FA-0233-32518A5CF633}"/>
              </a:ext>
            </a:extLst>
          </p:cNvPr>
          <p:cNvSpPr txBox="1"/>
          <p:nvPr/>
        </p:nvSpPr>
        <p:spPr>
          <a:xfrm>
            <a:off x="833120" y="134263"/>
            <a:ext cx="8430260" cy="3139321"/>
          </a:xfrm>
          <a:prstGeom prst="rect">
            <a:avLst/>
          </a:prstGeom>
          <a:noFill/>
        </p:spPr>
        <p:txBody>
          <a:bodyPr wrap="square">
            <a:spAutoFit/>
          </a:bodyPr>
          <a:lstStyle/>
          <a:p>
            <a:pPr algn="l">
              <a:buNone/>
            </a:pPr>
            <a:r>
              <a:rPr lang="en-US" b="1" i="0" dirty="0">
                <a:effectLst/>
                <a:latin typeface="fkGrotesk"/>
              </a:rPr>
              <a:t>3. Risk Mitigation, Monitoring, and Management (RMMM) Strategy</a:t>
            </a:r>
          </a:p>
          <a:p>
            <a:pPr algn="l">
              <a:buFont typeface="Arial" panose="020B0604020202020204" pitchFamily="34" charset="0"/>
              <a:buChar char="•"/>
            </a:pPr>
            <a:r>
              <a:rPr lang="en-US" b="1" i="0" dirty="0">
                <a:effectLst/>
                <a:latin typeface="fkGroteskNeue"/>
              </a:rPr>
              <a:t>Mitigation</a:t>
            </a:r>
            <a:r>
              <a:rPr lang="en-US" b="0" i="0" dirty="0">
                <a:effectLst/>
                <a:latin typeface="fkGroteskNeue"/>
              </a:rPr>
              <a:t>: Implement strategies to avoid, reduce, transfer, or accept risks.</a:t>
            </a:r>
          </a:p>
          <a:p>
            <a:pPr marL="742950" lvl="1" indent="-285750" algn="l">
              <a:buFont typeface="Arial" panose="020B0604020202020204" pitchFamily="34" charset="0"/>
              <a:buChar char="•"/>
            </a:pPr>
            <a:r>
              <a:rPr lang="en-US" b="0" i="0" dirty="0">
                <a:effectLst/>
                <a:latin typeface="fkGroteskNeue"/>
              </a:rPr>
              <a:t>Avoidance: Alter project plan to eliminate risk.</a:t>
            </a:r>
          </a:p>
          <a:p>
            <a:pPr marL="742950" lvl="1" indent="-285750" algn="l">
              <a:buFont typeface="Arial" panose="020B0604020202020204" pitchFamily="34" charset="0"/>
              <a:buChar char="•"/>
            </a:pPr>
            <a:r>
              <a:rPr lang="en-US" b="0" i="0" dirty="0">
                <a:effectLst/>
                <a:latin typeface="fkGroteskNeue"/>
              </a:rPr>
              <a:t>Reduction: Take proactive steps to minimize risk impact or likelihood.</a:t>
            </a:r>
          </a:p>
          <a:p>
            <a:pPr marL="742950" lvl="1" indent="-285750" algn="l">
              <a:buFont typeface="Arial" panose="020B0604020202020204" pitchFamily="34" charset="0"/>
              <a:buChar char="•"/>
            </a:pPr>
            <a:r>
              <a:rPr lang="en-US" b="0" i="0" dirty="0">
                <a:effectLst/>
                <a:latin typeface="fkGroteskNeue"/>
              </a:rPr>
              <a:t>Transfer: Shift risk to a third party (e.g., insurance, outsourcing).</a:t>
            </a:r>
          </a:p>
          <a:p>
            <a:pPr marL="742950" lvl="1" indent="-285750" algn="l">
              <a:buFont typeface="Arial" panose="020B0604020202020204" pitchFamily="34" charset="0"/>
              <a:buChar char="•"/>
            </a:pPr>
            <a:r>
              <a:rPr lang="en-US" b="0" i="0" dirty="0">
                <a:effectLst/>
                <a:latin typeface="fkGroteskNeue"/>
              </a:rPr>
              <a:t>Acceptance: Acknowledge risk when costs of mitigation outweigh benefits.</a:t>
            </a:r>
          </a:p>
          <a:p>
            <a:pPr algn="l">
              <a:buFont typeface="Arial" panose="020B0604020202020204" pitchFamily="34" charset="0"/>
              <a:buChar char="•"/>
            </a:pPr>
            <a:r>
              <a:rPr lang="en-US" b="1" i="0" dirty="0">
                <a:effectLst/>
                <a:latin typeface="fkGroteskNeue"/>
              </a:rPr>
              <a:t>Monitoring</a:t>
            </a:r>
            <a:r>
              <a:rPr lang="en-US" b="0" i="0" dirty="0">
                <a:effectLst/>
                <a:latin typeface="fkGroteskNeue"/>
              </a:rPr>
              <a:t>: Continuously track risks to detect changes in status or new risks.</a:t>
            </a:r>
          </a:p>
          <a:p>
            <a:pPr algn="l">
              <a:buFont typeface="Arial" panose="020B0604020202020204" pitchFamily="34" charset="0"/>
              <a:buChar char="•"/>
            </a:pPr>
            <a:r>
              <a:rPr lang="en-US" b="1" i="0" dirty="0">
                <a:effectLst/>
                <a:latin typeface="fkGroteskNeue"/>
              </a:rPr>
              <a:t>Management</a:t>
            </a:r>
            <a:r>
              <a:rPr lang="en-US" b="0" i="0" dirty="0">
                <a:effectLst/>
                <a:latin typeface="fkGroteskNeue"/>
              </a:rPr>
              <a:t>: Adjust mitigation plans and communicate updates to stakeholders.</a:t>
            </a:r>
          </a:p>
          <a:p>
            <a:pPr algn="l">
              <a:buFont typeface="Arial" panose="020B0604020202020204" pitchFamily="34" charset="0"/>
              <a:buChar char="•"/>
            </a:pPr>
            <a:r>
              <a:rPr lang="en-US" b="1" i="0" dirty="0">
                <a:effectLst/>
                <a:latin typeface="fkGroteskNeue"/>
              </a:rPr>
              <a:t>Purpose</a:t>
            </a:r>
            <a:r>
              <a:rPr lang="en-US" b="0" i="0" dirty="0">
                <a:effectLst/>
                <a:latin typeface="fkGroteskNeue"/>
              </a:rPr>
              <a:t>: Reduce risk impact and ensure readiness for issues that arise.</a:t>
            </a:r>
          </a:p>
          <a:p>
            <a:pPr algn="l"/>
            <a:endParaRPr lang="en-US" dirty="0">
              <a:latin typeface="fkGroteskNeue"/>
            </a:endParaRPr>
          </a:p>
          <a:p>
            <a:r>
              <a:rPr lang="en-IN" b="1" dirty="0"/>
              <a:t>Summary</a:t>
            </a:r>
          </a:p>
        </p:txBody>
      </p:sp>
      <p:graphicFrame>
        <p:nvGraphicFramePr>
          <p:cNvPr id="4" name="Table 3">
            <a:extLst>
              <a:ext uri="{FF2B5EF4-FFF2-40B4-BE49-F238E27FC236}">
                <a16:creationId xmlns:a16="http://schemas.microsoft.com/office/drawing/2014/main" id="{2ACC105E-F4A5-F170-C6FB-5C4A42690F38}"/>
              </a:ext>
            </a:extLst>
          </p:cNvPr>
          <p:cNvGraphicFramePr>
            <a:graphicFrameLocks noGrp="1"/>
          </p:cNvGraphicFramePr>
          <p:nvPr>
            <p:extLst>
              <p:ext uri="{D42A27DB-BD31-4B8C-83A1-F6EECF244321}">
                <p14:modId xmlns:p14="http://schemas.microsoft.com/office/powerpoint/2010/main" val="3236574910"/>
              </p:ext>
            </p:extLst>
          </p:nvPr>
        </p:nvGraphicFramePr>
        <p:xfrm>
          <a:off x="750094" y="3400584"/>
          <a:ext cx="8596311" cy="2682240"/>
        </p:xfrm>
        <a:graphic>
          <a:graphicData uri="http://schemas.openxmlformats.org/drawingml/2006/table">
            <a:tbl>
              <a:tblPr>
                <a:tableStyleId>{5940675A-B579-460E-94D1-54222C63F5DA}</a:tableStyleId>
              </a:tblPr>
              <a:tblGrid>
                <a:gridCol w="2054066">
                  <a:extLst>
                    <a:ext uri="{9D8B030D-6E8A-4147-A177-3AD203B41FA5}">
                      <a16:colId xmlns:a16="http://schemas.microsoft.com/office/drawing/2014/main" val="1797432957"/>
                    </a:ext>
                  </a:extLst>
                </a:gridCol>
                <a:gridCol w="3464560">
                  <a:extLst>
                    <a:ext uri="{9D8B030D-6E8A-4147-A177-3AD203B41FA5}">
                      <a16:colId xmlns:a16="http://schemas.microsoft.com/office/drawing/2014/main" val="3566860330"/>
                    </a:ext>
                  </a:extLst>
                </a:gridCol>
                <a:gridCol w="3077685">
                  <a:extLst>
                    <a:ext uri="{9D8B030D-6E8A-4147-A177-3AD203B41FA5}">
                      <a16:colId xmlns:a16="http://schemas.microsoft.com/office/drawing/2014/main" val="1511067705"/>
                    </a:ext>
                  </a:extLst>
                </a:gridCol>
              </a:tblGrid>
              <a:tr h="0">
                <a:tc>
                  <a:txBody>
                    <a:bodyPr/>
                    <a:lstStyle/>
                    <a:p>
                      <a:pPr algn="l">
                        <a:buNone/>
                      </a:pPr>
                      <a:r>
                        <a:rPr lang="en-IN" b="1">
                          <a:effectLst/>
                        </a:rPr>
                        <a:t>Step</a:t>
                      </a:r>
                    </a:p>
                  </a:txBody>
                  <a:tcPr marL="60960" marR="60960" marT="60960" marB="60960" anchor="ctr"/>
                </a:tc>
                <a:tc>
                  <a:txBody>
                    <a:bodyPr/>
                    <a:lstStyle/>
                    <a:p>
                      <a:pPr algn="l">
                        <a:buNone/>
                      </a:pPr>
                      <a:r>
                        <a:rPr lang="en-IN" b="1">
                          <a:effectLst/>
                        </a:rPr>
                        <a:t>Description</a:t>
                      </a:r>
                    </a:p>
                  </a:txBody>
                  <a:tcPr marL="60960" marR="60960" marT="60960" marB="60960" anchor="ctr"/>
                </a:tc>
                <a:tc>
                  <a:txBody>
                    <a:bodyPr/>
                    <a:lstStyle/>
                    <a:p>
                      <a:pPr algn="l">
                        <a:buNone/>
                      </a:pPr>
                      <a:r>
                        <a:rPr lang="en-IN" b="1">
                          <a:effectLst/>
                        </a:rPr>
                        <a:t>Key Activities</a:t>
                      </a:r>
                    </a:p>
                  </a:txBody>
                  <a:tcPr marL="60960" marR="60960" marT="60960" marB="60960" anchor="ctr"/>
                </a:tc>
                <a:extLst>
                  <a:ext uri="{0D108BD9-81ED-4DB2-BD59-A6C34878D82A}">
                    <a16:rowId xmlns:a16="http://schemas.microsoft.com/office/drawing/2014/main" val="1919373203"/>
                  </a:ext>
                </a:extLst>
              </a:tr>
              <a:tr h="0">
                <a:tc>
                  <a:txBody>
                    <a:bodyPr/>
                    <a:lstStyle/>
                    <a:p>
                      <a:pPr algn="l">
                        <a:buNone/>
                      </a:pPr>
                      <a:r>
                        <a:rPr lang="en-IN">
                          <a:effectLst/>
                        </a:rPr>
                        <a:t>Risk Identification</a:t>
                      </a:r>
                    </a:p>
                  </a:txBody>
                  <a:tcPr marL="60960" marR="60960" marT="60960" marB="60960" anchor="ctr"/>
                </a:tc>
                <a:tc>
                  <a:txBody>
                    <a:bodyPr/>
                    <a:lstStyle/>
                    <a:p>
                      <a:pPr algn="l">
                        <a:buNone/>
                      </a:pPr>
                      <a:r>
                        <a:rPr lang="en-US">
                          <a:effectLst/>
                        </a:rPr>
                        <a:t>Detect and list potential risks</a:t>
                      </a:r>
                    </a:p>
                  </a:txBody>
                  <a:tcPr marL="60960" marR="60960" marT="60960" marB="60960" anchor="ctr"/>
                </a:tc>
                <a:tc>
                  <a:txBody>
                    <a:bodyPr/>
                    <a:lstStyle/>
                    <a:p>
                      <a:pPr algn="l">
                        <a:buNone/>
                      </a:pPr>
                      <a:r>
                        <a:rPr lang="en-IN">
                          <a:effectLst/>
                        </a:rPr>
                        <a:t>Brainstorming, historical analysis, checklists</a:t>
                      </a:r>
                    </a:p>
                  </a:txBody>
                  <a:tcPr marL="60960" marR="60960" marT="60960" marB="60960" anchor="ctr"/>
                </a:tc>
                <a:extLst>
                  <a:ext uri="{0D108BD9-81ED-4DB2-BD59-A6C34878D82A}">
                    <a16:rowId xmlns:a16="http://schemas.microsoft.com/office/drawing/2014/main" val="1503356123"/>
                  </a:ext>
                </a:extLst>
              </a:tr>
              <a:tr h="0">
                <a:tc>
                  <a:txBody>
                    <a:bodyPr/>
                    <a:lstStyle/>
                    <a:p>
                      <a:pPr algn="l">
                        <a:buNone/>
                      </a:pPr>
                      <a:r>
                        <a:rPr lang="en-IN">
                          <a:effectLst/>
                        </a:rPr>
                        <a:t>Risk Assessment</a:t>
                      </a:r>
                    </a:p>
                  </a:txBody>
                  <a:tcPr marL="60960" marR="60960" marT="60960" marB="60960" anchor="ctr"/>
                </a:tc>
                <a:tc>
                  <a:txBody>
                    <a:bodyPr/>
                    <a:lstStyle/>
                    <a:p>
                      <a:pPr algn="l">
                        <a:buNone/>
                      </a:pPr>
                      <a:r>
                        <a:rPr lang="en-US">
                          <a:effectLst/>
                        </a:rPr>
                        <a:t>Evaluate likelihood and impact, prioritize risks</a:t>
                      </a:r>
                    </a:p>
                  </a:txBody>
                  <a:tcPr marL="60960" marR="60960" marT="60960" marB="60960" anchor="ctr"/>
                </a:tc>
                <a:tc>
                  <a:txBody>
                    <a:bodyPr/>
                    <a:lstStyle/>
                    <a:p>
                      <a:pPr algn="l">
                        <a:buNone/>
                      </a:pPr>
                      <a:r>
                        <a:rPr lang="en-IN">
                          <a:effectLst/>
                        </a:rPr>
                        <a:t>Assign values, calculate risk exposure</a:t>
                      </a:r>
                    </a:p>
                  </a:txBody>
                  <a:tcPr marL="60960" marR="60960" marT="60960" marB="60960" anchor="ctr"/>
                </a:tc>
                <a:extLst>
                  <a:ext uri="{0D108BD9-81ED-4DB2-BD59-A6C34878D82A}">
                    <a16:rowId xmlns:a16="http://schemas.microsoft.com/office/drawing/2014/main" val="592635283"/>
                  </a:ext>
                </a:extLst>
              </a:tr>
              <a:tr h="0">
                <a:tc>
                  <a:txBody>
                    <a:bodyPr/>
                    <a:lstStyle/>
                    <a:p>
                      <a:pPr algn="l">
                        <a:buNone/>
                      </a:pPr>
                      <a:r>
                        <a:rPr lang="en-IN">
                          <a:effectLst/>
                        </a:rPr>
                        <a:t>RMMM Strategy</a:t>
                      </a:r>
                    </a:p>
                  </a:txBody>
                  <a:tcPr marL="60960" marR="60960" marT="60960" marB="60960" anchor="ctr"/>
                </a:tc>
                <a:tc>
                  <a:txBody>
                    <a:bodyPr/>
                    <a:lstStyle/>
                    <a:p>
                      <a:pPr algn="l">
                        <a:buNone/>
                      </a:pPr>
                      <a:r>
                        <a:rPr lang="en-US">
                          <a:effectLst/>
                        </a:rPr>
                        <a:t>Develop and implement mitigation, monitor, manage</a:t>
                      </a:r>
                    </a:p>
                  </a:txBody>
                  <a:tcPr marL="60960" marR="60960" marT="60960" marB="60960" anchor="ctr"/>
                </a:tc>
                <a:tc>
                  <a:txBody>
                    <a:bodyPr/>
                    <a:lstStyle/>
                    <a:p>
                      <a:pPr algn="l">
                        <a:buNone/>
                      </a:pPr>
                      <a:r>
                        <a:rPr lang="en-US" dirty="0">
                          <a:effectLst/>
                        </a:rPr>
                        <a:t>Avoid, reduce, transfer, accept, continuous monitoring</a:t>
                      </a:r>
                    </a:p>
                  </a:txBody>
                  <a:tcPr marL="60960" marR="60960" marT="60960" marB="60960" anchor="ctr"/>
                </a:tc>
                <a:extLst>
                  <a:ext uri="{0D108BD9-81ED-4DB2-BD59-A6C34878D82A}">
                    <a16:rowId xmlns:a16="http://schemas.microsoft.com/office/drawing/2014/main" val="2074397239"/>
                  </a:ext>
                </a:extLst>
              </a:tr>
            </a:tbl>
          </a:graphicData>
        </a:graphic>
      </p:graphicFrame>
    </p:spTree>
    <p:extLst>
      <p:ext uri="{BB962C8B-B14F-4D97-AF65-F5344CB8AC3E}">
        <p14:creationId xmlns:p14="http://schemas.microsoft.com/office/powerpoint/2010/main" val="14902348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07B5B-9003-85EB-D2EB-076915E2148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FEA8C1C-B1D2-9E64-F3AC-68EA91D43DC4}"/>
              </a:ext>
            </a:extLst>
          </p:cNvPr>
          <p:cNvSpPr txBox="1"/>
          <p:nvPr/>
        </p:nvSpPr>
        <p:spPr>
          <a:xfrm>
            <a:off x="863600" y="186174"/>
            <a:ext cx="8552180" cy="6186309"/>
          </a:xfrm>
          <a:prstGeom prst="rect">
            <a:avLst/>
          </a:prstGeom>
          <a:noFill/>
        </p:spPr>
        <p:txBody>
          <a:bodyPr wrap="square">
            <a:spAutoFit/>
          </a:bodyPr>
          <a:lstStyle/>
          <a:p>
            <a:r>
              <a:rPr lang="en-IN" b="1" dirty="0"/>
              <a:t>6.5 DevOps testing methods.</a:t>
            </a:r>
          </a:p>
          <a:p>
            <a:endParaRPr lang="en-IN" dirty="0"/>
          </a:p>
          <a:p>
            <a:pPr marL="285750" indent="-285750">
              <a:buFont typeface="Wingdings" panose="05000000000000000000" pitchFamily="2" charset="2"/>
              <a:buChar char="q"/>
            </a:pPr>
            <a:r>
              <a:rPr lang="en-US" b="1" dirty="0"/>
              <a:t>DevOps Testing Methods</a:t>
            </a:r>
          </a:p>
          <a:p>
            <a:endParaRPr lang="en-US" dirty="0"/>
          </a:p>
          <a:p>
            <a:r>
              <a:rPr lang="en-US" dirty="0"/>
              <a:t>DevOps testing integrates testing throughout the entire software development lifecycle with an emphasis on automation, continuous testing, and collaboration to ensure rapid delivery of high-quality software</a:t>
            </a:r>
          </a:p>
          <a:p>
            <a:endParaRPr lang="en-US" dirty="0"/>
          </a:p>
          <a:p>
            <a:r>
              <a:rPr lang="en-US" b="1" dirty="0"/>
              <a:t>Key DevOps Testing Methods</a:t>
            </a:r>
          </a:p>
          <a:p>
            <a:endParaRPr lang="en-US" dirty="0"/>
          </a:p>
          <a:p>
            <a:r>
              <a:rPr lang="en-US" b="1" dirty="0"/>
              <a:t>1.Unit Testing</a:t>
            </a:r>
          </a:p>
          <a:p>
            <a:pPr marL="742950" lvl="1" indent="-285750">
              <a:buFont typeface="Arial" panose="020B0604020202020204" pitchFamily="34" charset="0"/>
              <a:buChar char="•"/>
            </a:pPr>
            <a:r>
              <a:rPr lang="en-US" dirty="0"/>
              <a:t>Tests small, isolated code parts (functions, methods).</a:t>
            </a:r>
          </a:p>
          <a:p>
            <a:pPr marL="742950" lvl="1" indent="-285750">
              <a:buFont typeface="Arial" panose="020B0604020202020204" pitchFamily="34" charset="0"/>
              <a:buChar char="•"/>
            </a:pPr>
            <a:r>
              <a:rPr lang="en-US" dirty="0"/>
              <a:t>Fast feedback on code correctness.</a:t>
            </a:r>
          </a:p>
          <a:p>
            <a:pPr marL="742950" lvl="1" indent="-285750">
              <a:buFont typeface="Arial" panose="020B0604020202020204" pitchFamily="34" charset="0"/>
              <a:buChar char="•"/>
            </a:pPr>
            <a:r>
              <a:rPr lang="en-US" dirty="0"/>
              <a:t>Typically automated using frameworks like JUnit, </a:t>
            </a:r>
            <a:r>
              <a:rPr lang="en-US" dirty="0" err="1"/>
              <a:t>NUnit</a:t>
            </a:r>
            <a:r>
              <a:rPr lang="en-US" dirty="0"/>
              <a:t>.</a:t>
            </a:r>
          </a:p>
          <a:p>
            <a:pPr lvl="1"/>
            <a:endParaRPr lang="en-US" dirty="0"/>
          </a:p>
          <a:p>
            <a:r>
              <a:rPr lang="en-US" b="1" dirty="0"/>
              <a:t>2.Component Testing</a:t>
            </a:r>
          </a:p>
          <a:p>
            <a:pPr marL="742950" lvl="1" indent="-285750">
              <a:buFont typeface="Arial" panose="020B0604020202020204" pitchFamily="34" charset="0"/>
              <a:buChar char="•"/>
            </a:pPr>
            <a:r>
              <a:rPr lang="en-US" dirty="0"/>
              <a:t>Tests combined components or modules.</a:t>
            </a:r>
          </a:p>
          <a:p>
            <a:pPr marL="742950" lvl="1" indent="-285750">
              <a:buFont typeface="Arial" panose="020B0604020202020204" pitchFamily="34" charset="0"/>
              <a:buChar char="•"/>
            </a:pPr>
            <a:r>
              <a:rPr lang="en-US" dirty="0"/>
              <a:t>Verifies interactions within boundaries of a component</a:t>
            </a:r>
          </a:p>
          <a:p>
            <a:pPr marL="742950" lvl="1" indent="-285750">
              <a:buFont typeface="Arial" panose="020B0604020202020204" pitchFamily="34" charset="0"/>
              <a:buChar char="•"/>
            </a:pPr>
            <a:endParaRPr lang="en-US" dirty="0"/>
          </a:p>
          <a:p>
            <a:r>
              <a:rPr lang="en-US" b="1" dirty="0"/>
              <a:t>3.Integration Testing</a:t>
            </a:r>
          </a:p>
          <a:p>
            <a:pPr marL="742950" lvl="1" indent="-285750">
              <a:buFont typeface="Arial" panose="020B0604020202020204" pitchFamily="34" charset="0"/>
              <a:buChar char="•"/>
            </a:pPr>
            <a:r>
              <a:rPr lang="en-US" dirty="0"/>
              <a:t>Tests interactions between integrated components/services.</a:t>
            </a:r>
          </a:p>
          <a:p>
            <a:pPr marL="742950" lvl="1" indent="-285750">
              <a:buFont typeface="Arial" panose="020B0604020202020204" pitchFamily="34" charset="0"/>
              <a:buChar char="•"/>
            </a:pPr>
            <a:r>
              <a:rPr lang="en-US" dirty="0"/>
              <a:t>Detects interface and data flow errors.</a:t>
            </a:r>
          </a:p>
        </p:txBody>
      </p:sp>
    </p:spTree>
    <p:extLst>
      <p:ext uri="{BB962C8B-B14F-4D97-AF65-F5344CB8AC3E}">
        <p14:creationId xmlns:p14="http://schemas.microsoft.com/office/powerpoint/2010/main" val="20189756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872CB-26F4-E6CB-9321-1A25FE28F63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EDF4669-F332-1DAB-C1A0-BE7C9645C64D}"/>
              </a:ext>
            </a:extLst>
          </p:cNvPr>
          <p:cNvSpPr txBox="1"/>
          <p:nvPr/>
        </p:nvSpPr>
        <p:spPr>
          <a:xfrm>
            <a:off x="792480" y="-79653"/>
            <a:ext cx="8348980" cy="6740307"/>
          </a:xfrm>
          <a:prstGeom prst="rect">
            <a:avLst/>
          </a:prstGeom>
          <a:noFill/>
        </p:spPr>
        <p:txBody>
          <a:bodyPr wrap="square">
            <a:spAutoFit/>
          </a:bodyPr>
          <a:lstStyle/>
          <a:p>
            <a:pPr algn="l"/>
            <a:r>
              <a:rPr lang="en-US" b="1" i="0" dirty="0">
                <a:effectLst/>
                <a:latin typeface="fkGroteskNeue"/>
              </a:rPr>
              <a:t>4.API Testing</a:t>
            </a:r>
          </a:p>
          <a:p>
            <a:pPr marL="742950" lvl="1" indent="-285750" algn="l">
              <a:buFont typeface="+mj-lt"/>
              <a:buAutoNum type="arabicPeriod"/>
            </a:pPr>
            <a:r>
              <a:rPr lang="en-US" b="0" i="0" dirty="0">
                <a:effectLst/>
                <a:latin typeface="fkGroteskNeue"/>
              </a:rPr>
              <a:t>Validates individual or chained microservices or APIs.</a:t>
            </a:r>
          </a:p>
          <a:p>
            <a:pPr marL="742950" lvl="1" indent="-285750" algn="l">
              <a:buFont typeface="+mj-lt"/>
              <a:buAutoNum type="arabicPeriod"/>
            </a:pPr>
            <a:r>
              <a:rPr lang="en-US" b="0" i="0" dirty="0">
                <a:effectLst/>
                <a:latin typeface="fkGroteskNeue"/>
              </a:rPr>
              <a:t>Tests data types, contracts, and error handling.</a:t>
            </a:r>
          </a:p>
          <a:p>
            <a:pPr lvl="1" algn="l"/>
            <a:endParaRPr lang="en-US" b="0" i="0" dirty="0">
              <a:effectLst/>
              <a:latin typeface="fkGroteskNeue"/>
            </a:endParaRPr>
          </a:p>
          <a:p>
            <a:pPr algn="l"/>
            <a:r>
              <a:rPr lang="en-US" b="1" i="0" dirty="0">
                <a:effectLst/>
                <a:latin typeface="fkGroteskNeue"/>
              </a:rPr>
              <a:t>5.Functional Testing</a:t>
            </a:r>
          </a:p>
          <a:p>
            <a:pPr marL="742950" lvl="1" indent="-285750" algn="l">
              <a:buFont typeface="+mj-lt"/>
              <a:buAutoNum type="arabicPeriod"/>
            </a:pPr>
            <a:r>
              <a:rPr lang="en-US" b="0" i="0" dirty="0">
                <a:effectLst/>
                <a:latin typeface="fkGroteskNeue"/>
              </a:rPr>
              <a:t>Tests user workflows or business features end-to-end.</a:t>
            </a:r>
          </a:p>
          <a:p>
            <a:pPr marL="742950" lvl="1" indent="-285750" algn="l">
              <a:buFont typeface="+mj-lt"/>
              <a:buAutoNum type="arabicPeriod"/>
            </a:pPr>
            <a:r>
              <a:rPr lang="en-US" b="0" i="0" dirty="0">
                <a:effectLst/>
                <a:latin typeface="fkGroteskNeue"/>
              </a:rPr>
              <a:t>Ensures application performs expected tasks.</a:t>
            </a:r>
          </a:p>
          <a:p>
            <a:pPr lvl="1" algn="l"/>
            <a:endParaRPr lang="en-US" b="0" i="0" dirty="0">
              <a:effectLst/>
              <a:latin typeface="fkGroteskNeue"/>
            </a:endParaRPr>
          </a:p>
          <a:p>
            <a:pPr algn="l"/>
            <a:r>
              <a:rPr lang="en-US" b="1" i="0" dirty="0">
                <a:effectLst/>
                <a:latin typeface="fkGroteskNeue"/>
              </a:rPr>
              <a:t>6.End-to-End (E2E) Testing</a:t>
            </a:r>
          </a:p>
          <a:p>
            <a:pPr marL="742950" lvl="1" indent="-285750" algn="l">
              <a:buFont typeface="+mj-lt"/>
              <a:buAutoNum type="arabicPeriod"/>
            </a:pPr>
            <a:r>
              <a:rPr lang="en-US" b="0" i="0" dirty="0">
                <a:effectLst/>
                <a:latin typeface="fkGroteskNeue"/>
              </a:rPr>
              <a:t>Simulates real user scenarios covering entire system flow, including external dependencies.</a:t>
            </a:r>
          </a:p>
          <a:p>
            <a:pPr marL="742950" lvl="1" indent="-285750" algn="l">
              <a:buFont typeface="+mj-lt"/>
              <a:buAutoNum type="arabicPeriod"/>
            </a:pPr>
            <a:r>
              <a:rPr lang="en-US" b="0" i="0" dirty="0">
                <a:effectLst/>
                <a:latin typeface="fkGroteskNeue"/>
              </a:rPr>
              <a:t>Provides high confidence in system behavior.</a:t>
            </a:r>
          </a:p>
          <a:p>
            <a:pPr lvl="1" algn="l"/>
            <a:endParaRPr lang="en-US" b="0" i="0" dirty="0">
              <a:effectLst/>
              <a:latin typeface="fkGroteskNeue"/>
            </a:endParaRPr>
          </a:p>
          <a:p>
            <a:pPr algn="l"/>
            <a:r>
              <a:rPr lang="en-US" b="1" i="0" dirty="0">
                <a:effectLst/>
                <a:latin typeface="fkGroteskNeue"/>
              </a:rPr>
              <a:t>7.Performance/Stress Testing</a:t>
            </a:r>
          </a:p>
          <a:p>
            <a:pPr marL="742950" lvl="1" indent="-285750" algn="l">
              <a:buFont typeface="+mj-lt"/>
              <a:buAutoNum type="arabicPeriod"/>
            </a:pPr>
            <a:r>
              <a:rPr lang="en-US" b="0" i="0" dirty="0">
                <a:effectLst/>
                <a:latin typeface="fkGroteskNeue"/>
              </a:rPr>
              <a:t>Measures system behavior under load, stress, and varying conditions.</a:t>
            </a:r>
          </a:p>
          <a:p>
            <a:pPr marL="742950" lvl="1" indent="-285750" algn="l">
              <a:buFont typeface="+mj-lt"/>
              <a:buAutoNum type="arabicPeriod"/>
            </a:pPr>
            <a:r>
              <a:rPr lang="en-US" b="0" i="0" dirty="0">
                <a:effectLst/>
                <a:latin typeface="fkGroteskNeue"/>
              </a:rPr>
              <a:t>Tools: JMeter, Blazemeter, K6.</a:t>
            </a:r>
          </a:p>
          <a:p>
            <a:pPr lvl="1" algn="l"/>
            <a:endParaRPr lang="en-US" b="0" i="0" dirty="0">
              <a:effectLst/>
              <a:latin typeface="fkGroteskNeue"/>
            </a:endParaRPr>
          </a:p>
          <a:p>
            <a:pPr algn="l"/>
            <a:r>
              <a:rPr lang="en-US" b="1" i="0" dirty="0">
                <a:effectLst/>
                <a:latin typeface="fkGroteskNeue"/>
              </a:rPr>
              <a:t>8.Acceptance Testing</a:t>
            </a:r>
          </a:p>
          <a:p>
            <a:pPr marL="742950" lvl="1" indent="-285750" algn="l">
              <a:buFont typeface="+mj-lt"/>
              <a:buAutoNum type="arabicPeriod"/>
            </a:pPr>
            <a:r>
              <a:rPr lang="en-US" b="0" i="0" dirty="0">
                <a:effectLst/>
                <a:latin typeface="fkGroteskNeue"/>
              </a:rPr>
              <a:t>Evaluates if the software meets business requirements.</a:t>
            </a:r>
          </a:p>
          <a:p>
            <a:pPr marL="742950" lvl="1" indent="-285750" algn="l">
              <a:buFont typeface="+mj-lt"/>
              <a:buAutoNum type="arabicPeriod"/>
            </a:pPr>
            <a:r>
              <a:rPr lang="en-US" b="0" i="0" dirty="0">
                <a:effectLst/>
                <a:latin typeface="fkGroteskNeue"/>
              </a:rPr>
              <a:t>Verified by stakeholders or customers.</a:t>
            </a:r>
          </a:p>
          <a:p>
            <a:pPr lvl="1" algn="l"/>
            <a:endParaRPr lang="en-US" b="0" i="0" dirty="0">
              <a:effectLst/>
              <a:latin typeface="fkGroteskNeue"/>
            </a:endParaRPr>
          </a:p>
          <a:p>
            <a:pPr algn="l"/>
            <a:r>
              <a:rPr lang="en-US" b="1" i="0" dirty="0">
                <a:effectLst/>
                <a:latin typeface="fkGroteskNeue"/>
              </a:rPr>
              <a:t>9.Regression Testing</a:t>
            </a:r>
          </a:p>
          <a:p>
            <a:pPr marL="742950" lvl="1" indent="-285750" algn="l">
              <a:buFont typeface="+mj-lt"/>
              <a:buAutoNum type="arabicPeriod"/>
            </a:pPr>
            <a:r>
              <a:rPr lang="en-US" b="0" i="0" dirty="0">
                <a:effectLst/>
                <a:latin typeface="fkGroteskNeue"/>
              </a:rPr>
              <a:t>Ensures new code changes do not break existing functionality.</a:t>
            </a:r>
          </a:p>
          <a:p>
            <a:pPr marL="742950" lvl="1" indent="-285750" algn="l">
              <a:buFont typeface="+mj-lt"/>
              <a:buAutoNum type="arabicPeriod"/>
            </a:pPr>
            <a:r>
              <a:rPr lang="en-US" b="0" i="0" dirty="0">
                <a:effectLst/>
                <a:latin typeface="fkGroteskNeue"/>
              </a:rPr>
              <a:t>Automated suites are crucial for frequent changes.</a:t>
            </a:r>
          </a:p>
        </p:txBody>
      </p:sp>
    </p:spTree>
    <p:extLst>
      <p:ext uri="{BB962C8B-B14F-4D97-AF65-F5344CB8AC3E}">
        <p14:creationId xmlns:p14="http://schemas.microsoft.com/office/powerpoint/2010/main" val="42030314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3BB62-65A3-ECDB-94D4-41FF3085794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8EC53BA-EECE-316D-4465-CCA799858C33}"/>
              </a:ext>
            </a:extLst>
          </p:cNvPr>
          <p:cNvSpPr txBox="1"/>
          <p:nvPr/>
        </p:nvSpPr>
        <p:spPr>
          <a:xfrm>
            <a:off x="843280" y="165299"/>
            <a:ext cx="8501380" cy="6463308"/>
          </a:xfrm>
          <a:prstGeom prst="rect">
            <a:avLst/>
          </a:prstGeom>
          <a:noFill/>
        </p:spPr>
        <p:txBody>
          <a:bodyPr wrap="square">
            <a:spAutoFit/>
          </a:bodyPr>
          <a:lstStyle/>
          <a:p>
            <a:pPr algn="l"/>
            <a:r>
              <a:rPr lang="en-IN" b="1" i="0" dirty="0">
                <a:effectLst/>
                <a:latin typeface="fkGroteskNeue"/>
              </a:rPr>
              <a:t>10.Security Testing</a:t>
            </a:r>
          </a:p>
          <a:p>
            <a:pPr marL="742950" lvl="1" indent="-285750" algn="l">
              <a:buFont typeface="+mj-lt"/>
              <a:buAutoNum type="arabicPeriod"/>
            </a:pPr>
            <a:r>
              <a:rPr lang="en-IN" b="0" i="0" dirty="0">
                <a:effectLst/>
                <a:latin typeface="fkGroteskNeue"/>
              </a:rPr>
              <a:t>Incorporates security checks throughout development.</a:t>
            </a:r>
          </a:p>
          <a:p>
            <a:pPr marL="742950" lvl="1" indent="-285750" algn="l">
              <a:buFont typeface="+mj-lt"/>
              <a:buAutoNum type="arabicPeriod"/>
            </a:pPr>
            <a:r>
              <a:rPr lang="en-IN" b="0" i="0" dirty="0">
                <a:effectLst/>
                <a:latin typeface="fkGroteskNeue"/>
              </a:rPr>
              <a:t>Static code analysis (SAST), dynamic testing (DAST), software composition analysis (SCA).</a:t>
            </a:r>
          </a:p>
          <a:p>
            <a:pPr lvl="1" algn="l"/>
            <a:r>
              <a:rPr lang="en-IN" b="0" i="0" dirty="0">
                <a:effectLst/>
                <a:latin typeface="fkGroteskNeue"/>
              </a:rPr>
              <a:t>  </a:t>
            </a:r>
          </a:p>
          <a:p>
            <a:pPr algn="l"/>
            <a:r>
              <a:rPr lang="en-IN" b="1" i="0" dirty="0">
                <a:effectLst/>
                <a:latin typeface="fkGroteskNeue"/>
              </a:rPr>
              <a:t>11.Fuzz Testing</a:t>
            </a:r>
          </a:p>
          <a:p>
            <a:pPr marL="742950" lvl="1" indent="-285750" algn="l">
              <a:buFont typeface="+mj-lt"/>
              <a:buAutoNum type="arabicPeriod"/>
            </a:pPr>
            <a:r>
              <a:rPr lang="en-IN" b="0" i="0" dirty="0">
                <a:effectLst/>
                <a:latin typeface="fkGroteskNeue"/>
              </a:rPr>
              <a:t>Inputs random or malformed data to uncover vulnerabilities and crashes.</a:t>
            </a:r>
          </a:p>
          <a:p>
            <a:br>
              <a:rPr lang="en-IN" b="1" dirty="0"/>
            </a:br>
            <a:r>
              <a:rPr lang="en-US" b="1" dirty="0">
                <a:latin typeface="fkGroteskNeue"/>
              </a:rPr>
              <a:t>DevOps Testing Characteristics</a:t>
            </a:r>
          </a:p>
          <a:p>
            <a:endParaRPr lang="en-US" dirty="0">
              <a:latin typeface="fkGroteskNeue"/>
            </a:endParaRPr>
          </a:p>
          <a:p>
            <a:pPr marL="285750" indent="-285750">
              <a:buFont typeface="Arial" panose="020B0604020202020204" pitchFamily="34" charset="0"/>
              <a:buChar char="•"/>
            </a:pPr>
            <a:r>
              <a:rPr lang="en-US" dirty="0">
                <a:latin typeface="fkGroteskNeue"/>
              </a:rPr>
              <a:t>Continuous Testing: Automated tests run continuously during the pipeline, enabling rapid feedback.</a:t>
            </a:r>
          </a:p>
          <a:p>
            <a:pPr marL="285750" indent="-285750">
              <a:buFont typeface="Arial" panose="020B0604020202020204" pitchFamily="34" charset="0"/>
              <a:buChar char="•"/>
            </a:pPr>
            <a:r>
              <a:rPr lang="en-US" dirty="0">
                <a:latin typeface="fkGroteskNeue"/>
              </a:rPr>
              <a:t>Shift-Left Testing: Testing is moved earlier in the development, often integrated into code commits.</a:t>
            </a:r>
          </a:p>
          <a:p>
            <a:pPr marL="285750" indent="-285750">
              <a:buFont typeface="Arial" panose="020B0604020202020204" pitchFamily="34" charset="0"/>
              <a:buChar char="•"/>
            </a:pPr>
            <a:r>
              <a:rPr lang="en-US" dirty="0">
                <a:latin typeface="fkGroteskNeue"/>
              </a:rPr>
              <a:t>Automation: Reduces manual effort, improves consistency, and accelerates release cycles.</a:t>
            </a:r>
          </a:p>
          <a:p>
            <a:pPr marL="285750" indent="-285750">
              <a:buFont typeface="Arial" panose="020B0604020202020204" pitchFamily="34" charset="0"/>
              <a:buChar char="•"/>
            </a:pPr>
            <a:r>
              <a:rPr lang="en-US" dirty="0">
                <a:latin typeface="fkGroteskNeue"/>
              </a:rPr>
              <a:t>Collaboration: Developers, testers, and ops teams work closely, sharing responsibility for quality.</a:t>
            </a:r>
          </a:p>
          <a:p>
            <a:pPr marL="285750" indent="-285750">
              <a:buFont typeface="Arial" panose="020B0604020202020204" pitchFamily="34" charset="0"/>
              <a:buChar char="•"/>
            </a:pPr>
            <a:r>
              <a:rPr lang="en-US" dirty="0">
                <a:latin typeface="fkGroteskNeue"/>
              </a:rPr>
              <a:t>Comprehensive Coverage: Combines many test types (unit, integration, E2E, security) for robust quality assurance.</a:t>
            </a:r>
          </a:p>
          <a:p>
            <a:pPr marL="285750" indent="-285750">
              <a:buFont typeface="Arial" panose="020B0604020202020204" pitchFamily="34" charset="0"/>
              <a:buChar char="•"/>
            </a:pPr>
            <a:r>
              <a:rPr lang="en-US" dirty="0">
                <a:latin typeface="fkGroteskNeue"/>
              </a:rPr>
              <a:t>Tool Integration: Uses tools like Jenkins, Selenium, JUnit, and others integrated into CI/CD pipelines.</a:t>
            </a:r>
          </a:p>
          <a:p>
            <a:pPr>
              <a:buNone/>
            </a:pPr>
            <a:endParaRPr lang="en-IN" dirty="0"/>
          </a:p>
        </p:txBody>
      </p:sp>
    </p:spTree>
    <p:extLst>
      <p:ext uri="{BB962C8B-B14F-4D97-AF65-F5344CB8AC3E}">
        <p14:creationId xmlns:p14="http://schemas.microsoft.com/office/powerpoint/2010/main" val="519037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3265F-634A-8B79-46BB-1FB42B0A2BF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2FF7BA0-8CF0-7DA9-94F3-D332576B8E42}"/>
              </a:ext>
            </a:extLst>
          </p:cNvPr>
          <p:cNvSpPr txBox="1"/>
          <p:nvPr/>
        </p:nvSpPr>
        <p:spPr>
          <a:xfrm>
            <a:off x="833120" y="117178"/>
            <a:ext cx="8643620" cy="2031325"/>
          </a:xfrm>
          <a:prstGeom prst="rect">
            <a:avLst/>
          </a:prstGeom>
          <a:noFill/>
        </p:spPr>
        <p:txBody>
          <a:bodyPr wrap="square">
            <a:spAutoFit/>
          </a:bodyPr>
          <a:lstStyle/>
          <a:p>
            <a:pPr algn="l">
              <a:buNone/>
            </a:pPr>
            <a:r>
              <a:rPr lang="en-US" b="1" i="0" dirty="0">
                <a:effectLst/>
                <a:latin typeface="fkGrotesk"/>
              </a:rPr>
              <a:t>Benefits</a:t>
            </a:r>
            <a:endParaRPr lang="en-US" b="1" dirty="0">
              <a:latin typeface="fkGrotesk"/>
            </a:endParaRPr>
          </a:p>
          <a:p>
            <a:pPr algn="l">
              <a:buNone/>
            </a:pPr>
            <a:endParaRPr lang="en-US" b="0" i="0" dirty="0">
              <a:effectLst/>
              <a:latin typeface="fkGrotesk"/>
            </a:endParaRPr>
          </a:p>
          <a:p>
            <a:pPr algn="l">
              <a:buFont typeface="Arial" panose="020B0604020202020204" pitchFamily="34" charset="0"/>
              <a:buChar char="•"/>
            </a:pPr>
            <a:r>
              <a:rPr lang="en-US" b="0" i="0" dirty="0">
                <a:effectLst/>
                <a:latin typeface="fkGroteskNeue"/>
              </a:rPr>
              <a:t>Early bug detection and faster fixes.</a:t>
            </a:r>
          </a:p>
          <a:p>
            <a:pPr algn="l">
              <a:buFont typeface="Arial" panose="020B0604020202020204" pitchFamily="34" charset="0"/>
              <a:buChar char="•"/>
            </a:pPr>
            <a:r>
              <a:rPr lang="en-US" b="0" i="0" dirty="0">
                <a:effectLst/>
                <a:latin typeface="fkGroteskNeue"/>
              </a:rPr>
              <a:t>Higher code quality and reliability.</a:t>
            </a:r>
          </a:p>
          <a:p>
            <a:pPr algn="l">
              <a:buFont typeface="Arial" panose="020B0604020202020204" pitchFamily="34" charset="0"/>
              <a:buChar char="•"/>
            </a:pPr>
            <a:r>
              <a:rPr lang="en-US" b="0" i="0" dirty="0">
                <a:effectLst/>
                <a:latin typeface="fkGroteskNeue"/>
              </a:rPr>
              <a:t>Reduced time to market.</a:t>
            </a:r>
          </a:p>
          <a:p>
            <a:pPr algn="l">
              <a:buFont typeface="Arial" panose="020B0604020202020204" pitchFamily="34" charset="0"/>
              <a:buChar char="•"/>
            </a:pPr>
            <a:r>
              <a:rPr lang="en-US" b="0" i="0" dirty="0">
                <a:effectLst/>
                <a:latin typeface="fkGroteskNeue"/>
              </a:rPr>
              <a:t>Improved team productivity and morale.</a:t>
            </a:r>
          </a:p>
          <a:p>
            <a:pPr algn="l">
              <a:buFont typeface="Arial" panose="020B0604020202020204" pitchFamily="34" charset="0"/>
              <a:buChar char="•"/>
            </a:pPr>
            <a:r>
              <a:rPr lang="en-US" b="0" i="0" dirty="0">
                <a:effectLst/>
                <a:latin typeface="fkGroteskNeue"/>
              </a:rPr>
              <a:t>Better alignment with business needs through continuous feedback.</a:t>
            </a:r>
          </a:p>
        </p:txBody>
      </p:sp>
    </p:spTree>
    <p:extLst>
      <p:ext uri="{BB962C8B-B14F-4D97-AF65-F5344CB8AC3E}">
        <p14:creationId xmlns:p14="http://schemas.microsoft.com/office/powerpoint/2010/main" val="362989667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82</TotalTime>
  <Words>1818</Words>
  <Application>Microsoft Office PowerPoint</Application>
  <PresentationFormat>Widescreen</PresentationFormat>
  <Paragraphs>249</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Cambria Math</vt:lpstr>
      <vt:lpstr>fkGrotesk</vt:lpstr>
      <vt:lpstr>fkGroteskNeue</vt:lpstr>
      <vt:lpstr>Trebuchet MS</vt:lpstr>
      <vt:lpstr>Wingdings</vt:lpstr>
      <vt:lpstr>Wingdings 3</vt:lpstr>
      <vt:lpstr>Facet</vt:lpstr>
      <vt:lpstr>Software Project Management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shshinde2580@gmail.com</dc:creator>
  <cp:lastModifiedBy>shshinde2580@gmail.com</cp:lastModifiedBy>
  <cp:revision>7</cp:revision>
  <dcterms:created xsi:type="dcterms:W3CDTF">2025-10-09T09:40:48Z</dcterms:created>
  <dcterms:modified xsi:type="dcterms:W3CDTF">2025-10-09T15:00:03Z</dcterms:modified>
</cp:coreProperties>
</file>