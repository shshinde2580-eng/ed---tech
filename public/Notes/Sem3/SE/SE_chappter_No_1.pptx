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73"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69" r:id="rId16"/>
    <p:sldId id="271"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7" d="100"/>
          <a:sy n="77" d="100"/>
        </p:scale>
        <p:origin x="77"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shinde2580@gmail.com" userId="86fdf0c531315612" providerId="LiveId" clId="{80EF1F59-5901-4077-BC9B-DA299863282D}"/>
    <pc:docChg chg="delSld">
      <pc:chgData name="shshinde2580@gmail.com" userId="86fdf0c531315612" providerId="LiveId" clId="{80EF1F59-5901-4077-BC9B-DA299863282D}" dt="2025-10-09T07:47:33.527" v="0" actId="2696"/>
      <pc:docMkLst>
        <pc:docMk/>
      </pc:docMkLst>
      <pc:sldChg chg="del">
        <pc:chgData name="shshinde2580@gmail.com" userId="86fdf0c531315612" providerId="LiveId" clId="{80EF1F59-5901-4077-BC9B-DA299863282D}" dt="2025-10-09T07:47:33.527" v="0" actId="2696"/>
        <pc:sldMkLst>
          <pc:docMk/>
          <pc:sldMk cId="2860968937" sldId="256"/>
        </pc:sldMkLst>
      </pc:sldChg>
      <pc:sldChg chg="del">
        <pc:chgData name="shshinde2580@gmail.com" userId="86fdf0c531315612" providerId="LiveId" clId="{80EF1F59-5901-4077-BC9B-DA299863282D}" dt="2025-10-09T07:47:33.527" v="0" actId="2696"/>
        <pc:sldMkLst>
          <pc:docMk/>
          <pc:sldMk cId="1160794112" sldId="273"/>
        </pc:sldMkLst>
      </pc:sldChg>
      <pc:sldChg chg="del">
        <pc:chgData name="shshinde2580@gmail.com" userId="86fdf0c531315612" providerId="LiveId" clId="{80EF1F59-5901-4077-BC9B-DA299863282D}" dt="2025-10-09T07:47:33.527" v="0" actId="2696"/>
        <pc:sldMkLst>
          <pc:docMk/>
          <pc:sldMk cId="1378338717" sldId="274"/>
        </pc:sldMkLst>
      </pc:sldChg>
      <pc:sldChg chg="del">
        <pc:chgData name="shshinde2580@gmail.com" userId="86fdf0c531315612" providerId="LiveId" clId="{80EF1F59-5901-4077-BC9B-DA299863282D}" dt="2025-10-09T07:47:33.527" v="0" actId="2696"/>
        <pc:sldMkLst>
          <pc:docMk/>
          <pc:sldMk cId="2718037852" sldId="275"/>
        </pc:sldMkLst>
      </pc:sldChg>
      <pc:sldChg chg="del">
        <pc:chgData name="shshinde2580@gmail.com" userId="86fdf0c531315612" providerId="LiveId" clId="{80EF1F59-5901-4077-BC9B-DA299863282D}" dt="2025-10-09T07:47:33.527" v="0" actId="2696"/>
        <pc:sldMkLst>
          <pc:docMk/>
          <pc:sldMk cId="3555310875" sldId="276"/>
        </pc:sldMkLst>
      </pc:sldChg>
      <pc:sldChg chg="del">
        <pc:chgData name="shshinde2580@gmail.com" userId="86fdf0c531315612" providerId="LiveId" clId="{80EF1F59-5901-4077-BC9B-DA299863282D}" dt="2025-10-09T07:47:33.527" v="0" actId="2696"/>
        <pc:sldMkLst>
          <pc:docMk/>
          <pc:sldMk cId="1796153409" sldId="277"/>
        </pc:sldMkLst>
      </pc:sldChg>
      <pc:sldChg chg="del">
        <pc:chgData name="shshinde2580@gmail.com" userId="86fdf0c531315612" providerId="LiveId" clId="{80EF1F59-5901-4077-BC9B-DA299863282D}" dt="2025-10-09T07:47:33.527" v="0" actId="2696"/>
        <pc:sldMkLst>
          <pc:docMk/>
          <pc:sldMk cId="3163131272" sldId="278"/>
        </pc:sldMkLst>
      </pc:sldChg>
      <pc:sldChg chg="del">
        <pc:chgData name="shshinde2580@gmail.com" userId="86fdf0c531315612" providerId="LiveId" clId="{80EF1F59-5901-4077-BC9B-DA299863282D}" dt="2025-10-09T07:47:33.527" v="0" actId="2696"/>
        <pc:sldMkLst>
          <pc:docMk/>
          <pc:sldMk cId="4194243086" sldId="279"/>
        </pc:sldMkLst>
      </pc:sldChg>
      <pc:sldChg chg="del">
        <pc:chgData name="shshinde2580@gmail.com" userId="86fdf0c531315612" providerId="LiveId" clId="{80EF1F59-5901-4077-BC9B-DA299863282D}" dt="2025-10-09T07:47:33.527" v="0" actId="2696"/>
        <pc:sldMkLst>
          <pc:docMk/>
          <pc:sldMk cId="2519015083" sldId="280"/>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320773C-1FD6-417C-A7A7-E7FB8B15C5F1}"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AB6ABBF-B892-4D29-9DD0-79CBEDB425C3}" type="slidenum">
              <a:rPr lang="en-IN" smtClean="0"/>
              <a:t>‹#›</a:t>
            </a:fld>
            <a:endParaRPr lang="en-IN"/>
          </a:p>
        </p:txBody>
      </p:sp>
    </p:spTree>
    <p:extLst>
      <p:ext uri="{BB962C8B-B14F-4D97-AF65-F5344CB8AC3E}">
        <p14:creationId xmlns:p14="http://schemas.microsoft.com/office/powerpoint/2010/main" val="31642117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320773C-1FD6-417C-A7A7-E7FB8B15C5F1}"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AB6ABBF-B892-4D29-9DD0-79CBEDB425C3}" type="slidenum">
              <a:rPr lang="en-IN" smtClean="0"/>
              <a:t>‹#›</a:t>
            </a:fld>
            <a:endParaRPr lang="en-IN"/>
          </a:p>
        </p:txBody>
      </p:sp>
    </p:spTree>
    <p:extLst>
      <p:ext uri="{BB962C8B-B14F-4D97-AF65-F5344CB8AC3E}">
        <p14:creationId xmlns:p14="http://schemas.microsoft.com/office/powerpoint/2010/main" val="2751678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20773C-1FD6-417C-A7A7-E7FB8B15C5F1}"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AB6ABBF-B892-4D29-9DD0-79CBEDB425C3}" type="slidenum">
              <a:rPr lang="en-IN" smtClean="0"/>
              <a:t>‹#›</a:t>
            </a:fld>
            <a:endParaRPr lang="en-IN"/>
          </a:p>
        </p:txBody>
      </p:sp>
    </p:spTree>
    <p:extLst>
      <p:ext uri="{BB962C8B-B14F-4D97-AF65-F5344CB8AC3E}">
        <p14:creationId xmlns:p14="http://schemas.microsoft.com/office/powerpoint/2010/main" val="24662436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320773C-1FD6-417C-A7A7-E7FB8B15C5F1}" type="datetimeFigureOut">
              <a:rPr lang="en-IN" smtClean="0"/>
              <a:t>09-10-2025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AB6ABBF-B892-4D29-9DD0-79CBEDB425C3}" type="slidenum">
              <a:rPr lang="en-IN" smtClean="0"/>
              <a:t>‹#›</a:t>
            </a:fld>
            <a:endParaRPr lang="en-IN"/>
          </a:p>
        </p:txBody>
      </p:sp>
    </p:spTree>
    <p:extLst>
      <p:ext uri="{BB962C8B-B14F-4D97-AF65-F5344CB8AC3E}">
        <p14:creationId xmlns:p14="http://schemas.microsoft.com/office/powerpoint/2010/main" val="31187042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20773C-1FD6-417C-A7A7-E7FB8B15C5F1}" type="datetimeFigureOut">
              <a:rPr lang="en-IN" smtClean="0"/>
              <a:t>09-10-2025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AB6ABBF-B892-4D29-9DD0-79CBEDB425C3}" type="slidenum">
              <a:rPr lang="en-IN" smtClean="0"/>
              <a:t>‹#›</a:t>
            </a:fld>
            <a:endParaRPr lang="en-IN"/>
          </a:p>
        </p:txBody>
      </p:sp>
    </p:spTree>
    <p:extLst>
      <p:ext uri="{BB962C8B-B14F-4D97-AF65-F5344CB8AC3E}">
        <p14:creationId xmlns:p14="http://schemas.microsoft.com/office/powerpoint/2010/main" val="32742199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320773C-1FD6-417C-A7A7-E7FB8B15C5F1}" type="datetimeFigureOut">
              <a:rPr lang="en-IN" smtClean="0"/>
              <a:t>09-10-2025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AB6ABBF-B892-4D29-9DD0-79CBEDB425C3}" type="slidenum">
              <a:rPr lang="en-IN" smtClean="0"/>
              <a:t>‹#›</a:t>
            </a:fld>
            <a:endParaRPr lang="en-IN"/>
          </a:p>
        </p:txBody>
      </p:sp>
    </p:spTree>
    <p:extLst>
      <p:ext uri="{BB962C8B-B14F-4D97-AF65-F5344CB8AC3E}">
        <p14:creationId xmlns:p14="http://schemas.microsoft.com/office/powerpoint/2010/main" val="13151611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320773C-1FD6-417C-A7A7-E7FB8B15C5F1}" type="datetimeFigureOut">
              <a:rPr lang="en-IN" smtClean="0"/>
              <a:t>09-10-2025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AB6ABBF-B892-4D29-9DD0-79CBEDB425C3}" type="slidenum">
              <a:rPr lang="en-IN" smtClean="0"/>
              <a:t>‹#›</a:t>
            </a:fld>
            <a:endParaRPr lang="en-IN"/>
          </a:p>
        </p:txBody>
      </p:sp>
    </p:spTree>
    <p:extLst>
      <p:ext uri="{BB962C8B-B14F-4D97-AF65-F5344CB8AC3E}">
        <p14:creationId xmlns:p14="http://schemas.microsoft.com/office/powerpoint/2010/main" val="28017725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320773C-1FD6-417C-A7A7-E7FB8B15C5F1}" type="datetimeFigureOut">
              <a:rPr lang="en-IN" smtClean="0"/>
              <a:t>09-10-2025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AB6ABBF-B892-4D29-9DD0-79CBEDB425C3}" type="slidenum">
              <a:rPr lang="en-IN" smtClean="0"/>
              <a:t>‹#›</a:t>
            </a:fld>
            <a:endParaRPr lang="en-IN"/>
          </a:p>
        </p:txBody>
      </p:sp>
    </p:spTree>
    <p:extLst>
      <p:ext uri="{BB962C8B-B14F-4D97-AF65-F5344CB8AC3E}">
        <p14:creationId xmlns:p14="http://schemas.microsoft.com/office/powerpoint/2010/main" val="30920538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320773C-1FD6-417C-A7A7-E7FB8B15C5F1}" type="datetimeFigureOut">
              <a:rPr lang="en-IN" smtClean="0"/>
              <a:t>09-10-2025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AB6ABBF-B892-4D29-9DD0-79CBEDB425C3}" type="slidenum">
              <a:rPr lang="en-IN" smtClean="0"/>
              <a:t>‹#›</a:t>
            </a:fld>
            <a:endParaRPr lang="en-IN"/>
          </a:p>
        </p:txBody>
      </p:sp>
    </p:spTree>
    <p:extLst>
      <p:ext uri="{BB962C8B-B14F-4D97-AF65-F5344CB8AC3E}">
        <p14:creationId xmlns:p14="http://schemas.microsoft.com/office/powerpoint/2010/main" val="39819044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20773C-1FD6-417C-A7A7-E7FB8B15C5F1}"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AB6ABBF-B892-4D29-9DD0-79CBEDB425C3}" type="slidenum">
              <a:rPr lang="en-IN" smtClean="0"/>
              <a:t>‹#›</a:t>
            </a:fld>
            <a:endParaRPr lang="en-IN"/>
          </a:p>
        </p:txBody>
      </p:sp>
    </p:spTree>
    <p:extLst>
      <p:ext uri="{BB962C8B-B14F-4D97-AF65-F5344CB8AC3E}">
        <p14:creationId xmlns:p14="http://schemas.microsoft.com/office/powerpoint/2010/main" val="2667741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20773C-1FD6-417C-A7A7-E7FB8B15C5F1}"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AB6ABBF-B892-4D29-9DD0-79CBEDB425C3}"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8523752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20773C-1FD6-417C-A7A7-E7FB8B15C5F1}"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AB6ABBF-B892-4D29-9DD0-79CBEDB425C3}" type="slidenum">
              <a:rPr lang="en-IN" smtClean="0"/>
              <a:t>‹#›</a:t>
            </a:fld>
            <a:endParaRPr lang="en-IN"/>
          </a:p>
        </p:txBody>
      </p:sp>
    </p:spTree>
    <p:extLst>
      <p:ext uri="{BB962C8B-B14F-4D97-AF65-F5344CB8AC3E}">
        <p14:creationId xmlns:p14="http://schemas.microsoft.com/office/powerpoint/2010/main" val="21324024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20773C-1FD6-417C-A7A7-E7FB8B15C5F1}"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AB6ABBF-B892-4D29-9DD0-79CBEDB425C3}"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5170742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20773C-1FD6-417C-A7A7-E7FB8B15C5F1}"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AB6ABBF-B892-4D29-9DD0-79CBEDB425C3}" type="slidenum">
              <a:rPr lang="en-IN" smtClean="0"/>
              <a:t>‹#›</a:t>
            </a:fld>
            <a:endParaRPr lang="en-IN"/>
          </a:p>
        </p:txBody>
      </p:sp>
    </p:spTree>
    <p:extLst>
      <p:ext uri="{BB962C8B-B14F-4D97-AF65-F5344CB8AC3E}">
        <p14:creationId xmlns:p14="http://schemas.microsoft.com/office/powerpoint/2010/main" val="41160273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320773C-1FD6-417C-A7A7-E7FB8B15C5F1}"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AB6ABBF-B892-4D29-9DD0-79CBEDB425C3}" type="slidenum">
              <a:rPr lang="en-IN" smtClean="0"/>
              <a:t>‹#›</a:t>
            </a:fld>
            <a:endParaRPr lang="en-IN"/>
          </a:p>
        </p:txBody>
      </p:sp>
    </p:spTree>
    <p:extLst>
      <p:ext uri="{BB962C8B-B14F-4D97-AF65-F5344CB8AC3E}">
        <p14:creationId xmlns:p14="http://schemas.microsoft.com/office/powerpoint/2010/main" val="7391173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320773C-1FD6-417C-A7A7-E7FB8B15C5F1}"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AB6ABBF-B892-4D29-9DD0-79CBEDB425C3}" type="slidenum">
              <a:rPr lang="en-IN" smtClean="0"/>
              <a:t>‹#›</a:t>
            </a:fld>
            <a:endParaRPr lang="en-IN"/>
          </a:p>
        </p:txBody>
      </p:sp>
    </p:spTree>
    <p:extLst>
      <p:ext uri="{BB962C8B-B14F-4D97-AF65-F5344CB8AC3E}">
        <p14:creationId xmlns:p14="http://schemas.microsoft.com/office/powerpoint/2010/main" val="20616415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320773C-1FD6-417C-A7A7-E7FB8B15C5F1}" type="datetimeFigureOut">
              <a:rPr lang="en-IN" smtClean="0"/>
              <a:t>09-10-2025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7AB6ABBF-B892-4D29-9DD0-79CBEDB425C3}" type="slidenum">
              <a:rPr lang="en-IN" smtClean="0"/>
              <a:t>‹#›</a:t>
            </a:fld>
            <a:endParaRPr lang="en-IN"/>
          </a:p>
        </p:txBody>
      </p:sp>
    </p:spTree>
    <p:extLst>
      <p:ext uri="{BB962C8B-B14F-4D97-AF65-F5344CB8AC3E}">
        <p14:creationId xmlns:p14="http://schemas.microsoft.com/office/powerpoint/2010/main" val="59769164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14CBC-60FE-B3D9-A188-7B0692503198}"/>
              </a:ext>
            </a:extLst>
          </p:cNvPr>
          <p:cNvSpPr>
            <a:spLocks noGrp="1"/>
          </p:cNvSpPr>
          <p:nvPr>
            <p:ph type="ctrTitle"/>
          </p:nvPr>
        </p:nvSpPr>
        <p:spPr>
          <a:xfrm>
            <a:off x="0" y="2404534"/>
            <a:ext cx="10287000" cy="1646302"/>
          </a:xfrm>
        </p:spPr>
        <p:txBody>
          <a:bodyPr/>
          <a:lstStyle/>
          <a:p>
            <a:pPr algn="ctr"/>
            <a:r>
              <a:rPr lang="en-IN" dirty="0"/>
              <a:t>Overview of Software Engineering </a:t>
            </a:r>
          </a:p>
        </p:txBody>
      </p:sp>
    </p:spTree>
    <p:extLst>
      <p:ext uri="{BB962C8B-B14F-4D97-AF65-F5344CB8AC3E}">
        <p14:creationId xmlns:p14="http://schemas.microsoft.com/office/powerpoint/2010/main" val="11500139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A31FFCE-06F5-6B5A-1490-1BC69054AF16}"/>
              </a:ext>
            </a:extLst>
          </p:cNvPr>
          <p:cNvSpPr txBox="1"/>
          <p:nvPr/>
        </p:nvSpPr>
        <p:spPr>
          <a:xfrm>
            <a:off x="874643" y="117693"/>
            <a:ext cx="8378687" cy="6740307"/>
          </a:xfrm>
          <a:prstGeom prst="rect">
            <a:avLst/>
          </a:prstGeom>
          <a:noFill/>
        </p:spPr>
        <p:txBody>
          <a:bodyPr wrap="square">
            <a:spAutoFit/>
          </a:bodyPr>
          <a:lstStyle/>
          <a:p>
            <a:r>
              <a:rPr lang="en-IN" b="1" dirty="0"/>
              <a:t>1.1 Definition of Software </a:t>
            </a:r>
            <a:endParaRPr lang="en-IN" dirty="0"/>
          </a:p>
          <a:p>
            <a:r>
              <a:rPr lang="en-US" dirty="0"/>
              <a:t>Software is a set of instructions, data, or programs used to operate computers and execute specific tasks, distinguishing it from hardware, which refers to the physical components of a computer system. It encompasses everything from simple commands that tell the computer how to perform a certain operation, to complex applications like word processors and web browsers. Software generally consists of computer programs, associated documentation, procedures, and sometimes data structures that work together to fulfill specific user needs or organizational objectives</a:t>
            </a:r>
          </a:p>
          <a:p>
            <a:endParaRPr lang="en-US" dirty="0"/>
          </a:p>
          <a:p>
            <a:pPr marL="285750" indent="-285750">
              <a:buFont typeface="Wingdings" panose="05000000000000000000" pitchFamily="2" charset="2"/>
              <a:buChar char="Ø"/>
            </a:pPr>
            <a:r>
              <a:rPr lang="en-US" b="1" dirty="0"/>
              <a:t>Key Points</a:t>
            </a:r>
          </a:p>
          <a:p>
            <a:pPr marL="285750" indent="-285750">
              <a:buFont typeface="Arial" panose="020B0604020202020204" pitchFamily="34" charset="0"/>
              <a:buChar char="•"/>
            </a:pPr>
            <a:r>
              <a:rPr lang="en-US" dirty="0"/>
              <a:t>Software refers to the programs and related data that instruct the computer to perform operations or tasks.</a:t>
            </a:r>
          </a:p>
          <a:p>
            <a:pPr marL="285750" indent="-285750">
              <a:buFont typeface="Arial" panose="020B0604020202020204" pitchFamily="34" charset="0"/>
              <a:buChar char="•"/>
            </a:pPr>
            <a:r>
              <a:rPr lang="en-US" dirty="0"/>
              <a:t>It is not a tangible item like hardware, but rather a set of written instructions or code that makes the hardware work according to user requirements.</a:t>
            </a:r>
          </a:p>
          <a:p>
            <a:pPr marL="285750" indent="-285750">
              <a:buFont typeface="Arial" panose="020B0604020202020204" pitchFamily="34" charset="0"/>
              <a:buChar char="•"/>
            </a:pPr>
            <a:r>
              <a:rPr lang="en-US" dirty="0"/>
              <a:t>Software can be divided into different categories such as system software (e.g., operating systems), application software (e.g., word processors), and other types like programming software and device drivers.</a:t>
            </a:r>
          </a:p>
          <a:p>
            <a:pPr marL="285750" indent="-285750">
              <a:buFont typeface="Arial" panose="020B0604020202020204" pitchFamily="34" charset="0"/>
              <a:buChar char="•"/>
            </a:pPr>
            <a:r>
              <a:rPr lang="en-US" dirty="0"/>
              <a:t>It typically includes not only code, but also supporting documentation and associated procedures for operation and maintenance.</a:t>
            </a:r>
          </a:p>
          <a:p>
            <a:r>
              <a:rPr lang="en-US" dirty="0"/>
              <a:t>In summary, software is the collective term for the programs, procedures, and related documentation that direct a computer's operations, making it possible for hardware to carry out desired tasks and functions.</a:t>
            </a:r>
          </a:p>
        </p:txBody>
      </p:sp>
    </p:spTree>
    <p:extLst>
      <p:ext uri="{BB962C8B-B14F-4D97-AF65-F5344CB8AC3E}">
        <p14:creationId xmlns:p14="http://schemas.microsoft.com/office/powerpoint/2010/main" val="30654444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AC7528-09D2-F92F-BF5B-9F6E85BCD9F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CC0AB26-E84D-E90D-64E3-BAC8D57D9AEB}"/>
              </a:ext>
            </a:extLst>
          </p:cNvPr>
          <p:cNvSpPr txBox="1"/>
          <p:nvPr/>
        </p:nvSpPr>
        <p:spPr>
          <a:xfrm>
            <a:off x="864704" y="143974"/>
            <a:ext cx="8468139" cy="6186309"/>
          </a:xfrm>
          <a:prstGeom prst="rect">
            <a:avLst/>
          </a:prstGeom>
          <a:noFill/>
        </p:spPr>
        <p:txBody>
          <a:bodyPr wrap="square">
            <a:spAutoFit/>
          </a:bodyPr>
          <a:lstStyle/>
          <a:p>
            <a:r>
              <a:rPr lang="en-US" b="1" dirty="0"/>
              <a:t>1.2 Software Characteristics, Software Application, Software myths</a:t>
            </a:r>
          </a:p>
          <a:p>
            <a:endParaRPr lang="en-US" dirty="0"/>
          </a:p>
          <a:p>
            <a:r>
              <a:rPr lang="en-US" dirty="0"/>
              <a:t>Software is defined by distinctive characteristics, is applied in numerous domains, and is often surrounded by misconceptions known as software myths.</a:t>
            </a:r>
          </a:p>
          <a:p>
            <a:endParaRPr lang="en-US" dirty="0"/>
          </a:p>
          <a:p>
            <a:pPr marL="285750" indent="-285750">
              <a:buFont typeface="Wingdings" panose="05000000000000000000" pitchFamily="2" charset="2"/>
              <a:buChar char="Ø"/>
            </a:pPr>
            <a:r>
              <a:rPr lang="en-US" b="1" dirty="0"/>
              <a:t>Software Characteristics</a:t>
            </a:r>
          </a:p>
          <a:p>
            <a:endParaRPr lang="en-US" dirty="0"/>
          </a:p>
          <a:p>
            <a:r>
              <a:rPr lang="en-US" dirty="0"/>
              <a:t>Software exhibits several key attributes:</a:t>
            </a:r>
          </a:p>
          <a:p>
            <a:pPr marL="285750" indent="-285750">
              <a:buFont typeface="Arial" panose="020B0604020202020204" pitchFamily="34" charset="0"/>
              <a:buChar char="•"/>
            </a:pPr>
            <a:r>
              <a:rPr lang="en-US" dirty="0"/>
              <a:t>Functionality: Refers to the software's ability to perform its intended functions and meet user requirements accurately and securely.</a:t>
            </a:r>
          </a:p>
          <a:p>
            <a:pPr marL="285750" indent="-285750">
              <a:buFont typeface="Arial" panose="020B0604020202020204" pitchFamily="34" charset="0"/>
              <a:buChar char="•"/>
            </a:pPr>
            <a:r>
              <a:rPr lang="en-US" dirty="0"/>
              <a:t>Reliability: The software should operate consistently without failing and recover quickly when errors occur.</a:t>
            </a:r>
          </a:p>
          <a:p>
            <a:pPr marL="285750" indent="-285750">
              <a:buFont typeface="Arial" panose="020B0604020202020204" pitchFamily="34" charset="0"/>
              <a:buChar char="•"/>
            </a:pPr>
            <a:r>
              <a:rPr lang="en-US" dirty="0"/>
              <a:t>Efficiency: Efficient utilization of system resources and optimal performance for given tasks.</a:t>
            </a:r>
          </a:p>
          <a:p>
            <a:pPr marL="285750" indent="-285750">
              <a:buFont typeface="Arial" panose="020B0604020202020204" pitchFamily="34" charset="0"/>
              <a:buChar char="•"/>
            </a:pPr>
            <a:r>
              <a:rPr lang="en-US" dirty="0"/>
              <a:t>Usability: User-friendly interfaces, ease of learning, and intuitive design.</a:t>
            </a:r>
          </a:p>
          <a:p>
            <a:pPr marL="285750" indent="-285750">
              <a:buFont typeface="Arial" panose="020B0604020202020204" pitchFamily="34" charset="0"/>
              <a:buChar char="•"/>
            </a:pPr>
            <a:r>
              <a:rPr lang="en-US" dirty="0"/>
              <a:t>Maintainability: Software should be easy to update, debug, and improve over its lifecycle.</a:t>
            </a:r>
          </a:p>
          <a:p>
            <a:pPr marL="285750" indent="-285750">
              <a:buFont typeface="Arial" panose="020B0604020202020204" pitchFamily="34" charset="0"/>
              <a:buChar char="•"/>
            </a:pPr>
            <a:r>
              <a:rPr lang="en-US" dirty="0"/>
              <a:t>Portability: Ability to be transferred and run in different environments with minimal changes.</a:t>
            </a:r>
          </a:p>
          <a:p>
            <a:pPr marL="285750" indent="-285750">
              <a:buFont typeface="Arial" panose="020B0604020202020204" pitchFamily="34" charset="0"/>
              <a:buChar char="•"/>
            </a:pPr>
            <a:r>
              <a:rPr lang="en-US" dirty="0"/>
              <a:t>Flexibility: Adaptable to new requirements or environments.</a:t>
            </a:r>
          </a:p>
          <a:p>
            <a:pPr marL="285750" indent="-285750">
              <a:buFont typeface="Arial" panose="020B0604020202020204" pitchFamily="34" charset="0"/>
              <a:buChar char="•"/>
            </a:pPr>
            <a:r>
              <a:rPr lang="en-US" dirty="0"/>
              <a:t>Security: Protects data and resources from unauthorized access and threats.</a:t>
            </a:r>
          </a:p>
          <a:p>
            <a:endParaRPr lang="en-IN" dirty="0"/>
          </a:p>
        </p:txBody>
      </p:sp>
    </p:spTree>
    <p:extLst>
      <p:ext uri="{BB962C8B-B14F-4D97-AF65-F5344CB8AC3E}">
        <p14:creationId xmlns:p14="http://schemas.microsoft.com/office/powerpoint/2010/main" val="25039469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77D92A-B506-88FF-A1F3-8E560F1B08A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7860657-1777-2A95-1D3E-69581ECA5E90}"/>
              </a:ext>
            </a:extLst>
          </p:cNvPr>
          <p:cNvSpPr txBox="1"/>
          <p:nvPr/>
        </p:nvSpPr>
        <p:spPr>
          <a:xfrm>
            <a:off x="894522" y="94713"/>
            <a:ext cx="8537713" cy="6463308"/>
          </a:xfrm>
          <a:prstGeom prst="rect">
            <a:avLst/>
          </a:prstGeom>
          <a:noFill/>
        </p:spPr>
        <p:txBody>
          <a:bodyPr wrap="square">
            <a:spAutoFit/>
          </a:bodyPr>
          <a:lstStyle/>
          <a:p>
            <a:pPr marL="285750" indent="-285750" algn="l">
              <a:buFont typeface="Wingdings" panose="05000000000000000000" pitchFamily="2" charset="2"/>
              <a:buChar char="Ø"/>
            </a:pPr>
            <a:r>
              <a:rPr lang="en-US" b="1" i="0" dirty="0">
                <a:effectLst/>
                <a:latin typeface="fkGrotesk"/>
              </a:rPr>
              <a:t>Software Applications</a:t>
            </a:r>
          </a:p>
          <a:p>
            <a:pPr algn="l">
              <a:buNone/>
            </a:pPr>
            <a:endParaRPr lang="en-US" b="0" i="0" dirty="0">
              <a:effectLst/>
              <a:latin typeface="fkGrotesk"/>
            </a:endParaRPr>
          </a:p>
          <a:p>
            <a:pPr algn="l">
              <a:buNone/>
            </a:pPr>
            <a:r>
              <a:rPr lang="en-US" b="0" i="0" dirty="0">
                <a:effectLst/>
                <a:latin typeface="fkGroteskNeue"/>
              </a:rPr>
              <a:t>Applications are programs developed to help users perform specific tasks and have become more versatile and intelligent in recent years:</a:t>
            </a:r>
          </a:p>
          <a:p>
            <a:pPr algn="l">
              <a:buFont typeface="Arial" panose="020B0604020202020204" pitchFamily="34" charset="0"/>
              <a:buChar char="•"/>
            </a:pPr>
            <a:r>
              <a:rPr lang="en-US" b="0" i="0" dirty="0">
                <a:effectLst/>
                <a:latin typeface="fkGroteskNeue"/>
              </a:rPr>
              <a:t>Productivity Tools: Microsoft Office, Google Workspace, project management platforms like Asana.</a:t>
            </a:r>
          </a:p>
          <a:p>
            <a:pPr algn="l">
              <a:buFont typeface="Arial" panose="020B0604020202020204" pitchFamily="34" charset="0"/>
              <a:buChar char="•"/>
            </a:pPr>
            <a:r>
              <a:rPr lang="en-US" b="0" i="0" dirty="0">
                <a:effectLst/>
                <a:latin typeface="fkGroteskNeue"/>
              </a:rPr>
              <a:t>Data Management: Tools such as Excel, Power BI, and Tableau used for handling and visualizing data.</a:t>
            </a:r>
          </a:p>
          <a:p>
            <a:pPr algn="l">
              <a:buFont typeface="Arial" panose="020B0604020202020204" pitchFamily="34" charset="0"/>
              <a:buChar char="•"/>
            </a:pPr>
            <a:r>
              <a:rPr lang="en-US" b="0" i="0" dirty="0">
                <a:effectLst/>
                <a:latin typeface="fkGroteskNeue"/>
              </a:rPr>
              <a:t>Communication: Zoom, Slack, WhatsApp, email apps facilitate meetings, chats, and collaboration.</a:t>
            </a:r>
          </a:p>
          <a:p>
            <a:pPr algn="l">
              <a:buFont typeface="Arial" panose="020B0604020202020204" pitchFamily="34" charset="0"/>
              <a:buChar char="•"/>
            </a:pPr>
            <a:r>
              <a:rPr lang="en-US" b="0" i="0" dirty="0">
                <a:effectLst/>
                <a:latin typeface="fkGroteskNeue"/>
              </a:rPr>
              <a:t>Education: Learning Management Systems (LMS), Duolingo, and similar platforms personalize and automate learning.</a:t>
            </a:r>
          </a:p>
          <a:p>
            <a:pPr algn="l">
              <a:buFont typeface="Arial" panose="020B0604020202020204" pitchFamily="34" charset="0"/>
              <a:buChar char="•"/>
            </a:pPr>
            <a:r>
              <a:rPr lang="en-US" b="0" i="0" dirty="0">
                <a:effectLst/>
                <a:latin typeface="fkGroteskNeue"/>
              </a:rPr>
              <a:t>Multimedia Creation: Photoshop, Canva, video and audio editing tools provide rich creative capabilities.</a:t>
            </a:r>
          </a:p>
          <a:p>
            <a:pPr algn="l">
              <a:buFont typeface="Arial" panose="020B0604020202020204" pitchFamily="34" charset="0"/>
              <a:buChar char="•"/>
            </a:pPr>
            <a:r>
              <a:rPr lang="en-US" b="0" i="0" dirty="0">
                <a:effectLst/>
                <a:latin typeface="fkGroteskNeue"/>
              </a:rPr>
              <a:t>Business Optimization: ERP systems, CRM software, and solutions for managing accounting, payroll, and resources.</a:t>
            </a:r>
          </a:p>
          <a:p>
            <a:pPr algn="l">
              <a:buFont typeface="Arial" panose="020B0604020202020204" pitchFamily="34" charset="0"/>
              <a:buChar char="•"/>
            </a:pPr>
            <a:r>
              <a:rPr lang="en-US" b="0" i="0" dirty="0">
                <a:effectLst/>
                <a:latin typeface="fkGroteskNeue"/>
              </a:rPr>
              <a:t>Healthcare: Patient management, telemedicine, diagnostic support systems.</a:t>
            </a:r>
          </a:p>
          <a:p>
            <a:pPr algn="l">
              <a:buFont typeface="Arial" panose="020B0604020202020204" pitchFamily="34" charset="0"/>
              <a:buChar char="•"/>
            </a:pPr>
            <a:endParaRPr lang="en-US" dirty="0">
              <a:latin typeface="fkGroteskNeue"/>
            </a:endParaRPr>
          </a:p>
          <a:p>
            <a:pPr marL="285750" indent="-285750">
              <a:buFont typeface="Wingdings" panose="05000000000000000000" pitchFamily="2" charset="2"/>
              <a:buChar char="Ø"/>
            </a:pPr>
            <a:r>
              <a:rPr lang="en-US" b="1" dirty="0"/>
              <a:t>Software Myths</a:t>
            </a:r>
          </a:p>
          <a:p>
            <a:endParaRPr lang="en-US" dirty="0"/>
          </a:p>
          <a:p>
            <a:r>
              <a:rPr lang="en-US" dirty="0"/>
              <a:t>Software engineering is surrounded by several myths, which can mislead managers, customers, and developers:</a:t>
            </a:r>
          </a:p>
          <a:p>
            <a:pPr algn="l"/>
            <a:endParaRPr lang="en-US" b="0" i="0" dirty="0">
              <a:effectLst/>
              <a:latin typeface="fkGroteskNeue"/>
            </a:endParaRPr>
          </a:p>
        </p:txBody>
      </p:sp>
    </p:spTree>
    <p:extLst>
      <p:ext uri="{BB962C8B-B14F-4D97-AF65-F5344CB8AC3E}">
        <p14:creationId xmlns:p14="http://schemas.microsoft.com/office/powerpoint/2010/main" val="8372860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C9A16-D916-A744-7AFD-D679CDA21C1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2FCEE4E-0874-CA27-934F-6F751C0B8386}"/>
              </a:ext>
            </a:extLst>
          </p:cNvPr>
          <p:cNvSpPr txBox="1"/>
          <p:nvPr/>
        </p:nvSpPr>
        <p:spPr>
          <a:xfrm>
            <a:off x="904461" y="186324"/>
            <a:ext cx="8239539" cy="5078313"/>
          </a:xfrm>
          <a:prstGeom prst="rect">
            <a:avLst/>
          </a:prstGeom>
          <a:noFill/>
        </p:spPr>
        <p:txBody>
          <a:bodyPr wrap="square">
            <a:spAutoFit/>
          </a:bodyPr>
          <a:lstStyle/>
          <a:p>
            <a:pPr marL="285750" indent="-285750" algn="l">
              <a:buFont typeface="Wingdings" panose="05000000000000000000" pitchFamily="2" charset="2"/>
              <a:buChar char="Ø"/>
            </a:pPr>
            <a:r>
              <a:rPr lang="en-US" b="1" i="0" dirty="0">
                <a:effectLst/>
                <a:latin typeface="fkGrotesk"/>
              </a:rPr>
              <a:t>Common Management Myths</a:t>
            </a:r>
          </a:p>
          <a:p>
            <a:pPr algn="l">
              <a:buNone/>
            </a:pPr>
            <a:endParaRPr lang="en-US" b="0" i="0" dirty="0">
              <a:effectLst/>
              <a:latin typeface="fkGrotesk"/>
            </a:endParaRPr>
          </a:p>
          <a:p>
            <a:pPr algn="l">
              <a:buFont typeface="Arial" panose="020B0604020202020204" pitchFamily="34" charset="0"/>
              <a:buChar char="•"/>
            </a:pPr>
            <a:r>
              <a:rPr lang="en-US" b="0" i="0" dirty="0">
                <a:effectLst/>
                <a:latin typeface="fkGroteskNeue"/>
              </a:rPr>
              <a:t>Adding more developers to a late project will speed up delivery; in reality, it slows progress due to the time needed for onboarding (Brooks' Law).</a:t>
            </a:r>
          </a:p>
          <a:p>
            <a:pPr algn="l">
              <a:buFont typeface="Arial" panose="020B0604020202020204" pitchFamily="34" charset="0"/>
              <a:buChar char="•"/>
            </a:pPr>
            <a:r>
              <a:rPr lang="en-US" b="0" i="0" dirty="0">
                <a:effectLst/>
                <a:latin typeface="fkGroteskNeue"/>
              </a:rPr>
              <a:t>Outsourcing development removes all risks; however, active client engagement remains crucial</a:t>
            </a:r>
          </a:p>
          <a:p>
            <a:pPr algn="l">
              <a:buFont typeface="Arial" panose="020B0604020202020204" pitchFamily="34" charset="0"/>
              <a:buChar char="•"/>
            </a:pPr>
            <a:endParaRPr lang="en-US" dirty="0">
              <a:latin typeface="fkGroteskNeue"/>
            </a:endParaRPr>
          </a:p>
          <a:p>
            <a:pPr marL="285750" indent="-285750">
              <a:buFont typeface="Wingdings" panose="05000000000000000000" pitchFamily="2" charset="2"/>
              <a:buChar char="Ø"/>
            </a:pPr>
            <a:r>
              <a:rPr lang="en-US" b="1" dirty="0"/>
              <a:t>Practitioner (Developer) Myths</a:t>
            </a:r>
          </a:p>
          <a:p>
            <a:pPr marL="285750" indent="-285750">
              <a:buFont typeface="Wingdings" panose="05000000000000000000" pitchFamily="2" charset="2"/>
              <a:buChar char="Ø"/>
            </a:pPr>
            <a:endParaRPr lang="en-US" b="1" dirty="0"/>
          </a:p>
          <a:p>
            <a:pPr marL="285750" indent="-285750">
              <a:buFont typeface="Arial" panose="020B0604020202020204" pitchFamily="34" charset="0"/>
              <a:buChar char="•"/>
            </a:pPr>
            <a:r>
              <a:rPr lang="en-US" dirty="0"/>
              <a:t>Open-source software is less secure than proprietary software, though security depends on development practices.</a:t>
            </a:r>
          </a:p>
          <a:p>
            <a:pPr marL="285750" indent="-285750">
              <a:buFont typeface="Arial" panose="020B0604020202020204" pitchFamily="34" charset="0"/>
              <a:buChar char="•"/>
            </a:pPr>
            <a:r>
              <a:rPr lang="en-US" dirty="0"/>
              <a:t>Agile methods mean no documentation is needed; however, effective documentation is still necessary.</a:t>
            </a:r>
          </a:p>
          <a:p>
            <a:pPr marL="285750" indent="-285750">
              <a:buFont typeface="Arial" panose="020B0604020202020204" pitchFamily="34" charset="0"/>
              <a:buChar char="•"/>
            </a:pPr>
            <a:r>
              <a:rPr lang="en-US" dirty="0"/>
              <a:t>Testing is unnecessary or too expensive, but thorough testing greatly improves quality.</a:t>
            </a:r>
          </a:p>
          <a:p>
            <a:r>
              <a:rPr lang="en-US" dirty="0"/>
              <a:t>Understanding these characteristics, applications, and myths provides a strong foundation for introductory study in software engineering</a:t>
            </a:r>
          </a:p>
          <a:p>
            <a:pPr algn="l"/>
            <a:endParaRPr lang="en-US" b="0" i="0" dirty="0">
              <a:effectLst/>
              <a:latin typeface="fkGroteskNeue"/>
            </a:endParaRPr>
          </a:p>
        </p:txBody>
      </p:sp>
    </p:spTree>
    <p:extLst>
      <p:ext uri="{BB962C8B-B14F-4D97-AF65-F5344CB8AC3E}">
        <p14:creationId xmlns:p14="http://schemas.microsoft.com/office/powerpoint/2010/main" val="14719595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B59A4-31AA-D454-E02F-96B9153BBE7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90407A8-32E9-0811-085B-AEA7A38DA20C}"/>
              </a:ext>
            </a:extLst>
          </p:cNvPr>
          <p:cNvSpPr txBox="1"/>
          <p:nvPr/>
        </p:nvSpPr>
        <p:spPr>
          <a:xfrm>
            <a:off x="884583" y="0"/>
            <a:ext cx="8448261" cy="6463308"/>
          </a:xfrm>
          <a:prstGeom prst="rect">
            <a:avLst/>
          </a:prstGeom>
          <a:noFill/>
        </p:spPr>
        <p:txBody>
          <a:bodyPr wrap="square">
            <a:spAutoFit/>
          </a:bodyPr>
          <a:lstStyle/>
          <a:p>
            <a:r>
              <a:rPr lang="en-IN" b="1" dirty="0"/>
              <a:t>1.3 Types of Software </a:t>
            </a:r>
          </a:p>
          <a:p>
            <a:endParaRPr lang="en-IN" dirty="0"/>
          </a:p>
          <a:p>
            <a:r>
              <a:rPr lang="en-US" dirty="0"/>
              <a:t>Software can be broadly classified into several major types based on its purpose, functionality, and scope. The most common classifications are system software, application software, and several specialized categories.</a:t>
            </a:r>
          </a:p>
          <a:p>
            <a:endParaRPr lang="en-US" dirty="0"/>
          </a:p>
          <a:p>
            <a:pPr marL="285750" indent="-285750">
              <a:buFont typeface="Wingdings" panose="05000000000000000000" pitchFamily="2" charset="2"/>
              <a:buChar char="q"/>
            </a:pPr>
            <a:r>
              <a:rPr lang="en-US" b="1" dirty="0"/>
              <a:t>Main Types of Software</a:t>
            </a:r>
          </a:p>
          <a:p>
            <a:endParaRPr lang="en-US" dirty="0"/>
          </a:p>
          <a:p>
            <a:r>
              <a:rPr lang="en-US" b="1" dirty="0"/>
              <a:t>1] System</a:t>
            </a:r>
            <a:r>
              <a:rPr lang="en-US" dirty="0"/>
              <a:t> </a:t>
            </a:r>
            <a:r>
              <a:rPr lang="en-US" b="1" dirty="0"/>
              <a:t>Software</a:t>
            </a:r>
            <a:r>
              <a:rPr lang="en-US" dirty="0"/>
              <a:t>: This type of software manages and operates computer hardware, providing a base for application software to run.</a:t>
            </a:r>
          </a:p>
          <a:p>
            <a:endParaRPr lang="en-US" dirty="0"/>
          </a:p>
          <a:p>
            <a:pPr marL="742950" lvl="1" indent="-285750">
              <a:buFont typeface="Arial" panose="020B0604020202020204" pitchFamily="34" charset="0"/>
              <a:buChar char="•"/>
            </a:pPr>
            <a:r>
              <a:rPr lang="en-US" b="1" dirty="0"/>
              <a:t>Examples</a:t>
            </a:r>
            <a:r>
              <a:rPr lang="en-US" dirty="0"/>
              <a:t>: Operating systems like Windows and Linux, device drivers, language processors, and utility programs.</a:t>
            </a:r>
          </a:p>
          <a:p>
            <a:pPr lvl="1"/>
            <a:endParaRPr lang="en-US" dirty="0"/>
          </a:p>
          <a:p>
            <a:r>
              <a:rPr lang="en-US" b="1" dirty="0"/>
              <a:t>2] Application Software: </a:t>
            </a:r>
            <a:r>
              <a:rPr lang="en-US" dirty="0"/>
              <a:t>Designed for end-users to perform specific tasks or solve particular problems.</a:t>
            </a:r>
          </a:p>
          <a:p>
            <a:endParaRPr lang="en-US" dirty="0"/>
          </a:p>
          <a:p>
            <a:pPr lvl="1"/>
            <a:r>
              <a:rPr lang="en-US" b="1" dirty="0"/>
              <a:t>Examples</a:t>
            </a:r>
            <a:r>
              <a:rPr lang="en-US" dirty="0"/>
              <a:t>: Word processors (Microsoft Word), spreadsheet programs (Excel), web browsers, multimedia players, educational and business software.</a:t>
            </a:r>
          </a:p>
          <a:p>
            <a:pPr lvl="1"/>
            <a:endParaRPr lang="en-US" dirty="0"/>
          </a:p>
          <a:p>
            <a:r>
              <a:rPr lang="en-US" b="1" dirty="0"/>
              <a:t>3] Programming</a:t>
            </a:r>
            <a:r>
              <a:rPr lang="en-US" dirty="0"/>
              <a:t> </a:t>
            </a:r>
            <a:r>
              <a:rPr lang="en-US" b="1" dirty="0"/>
              <a:t>Software</a:t>
            </a:r>
            <a:r>
              <a:rPr lang="en-US" dirty="0"/>
              <a:t>: Assists developers in creating, debugging, and maintaining software programs.</a:t>
            </a:r>
          </a:p>
        </p:txBody>
      </p:sp>
    </p:spTree>
    <p:extLst>
      <p:ext uri="{BB962C8B-B14F-4D97-AF65-F5344CB8AC3E}">
        <p14:creationId xmlns:p14="http://schemas.microsoft.com/office/powerpoint/2010/main" val="27725115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AED87-A5DF-8C54-BA19-A09B6851B76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7D0C938-D93E-C125-39F9-91E0CAB83E60}"/>
              </a:ext>
            </a:extLst>
          </p:cNvPr>
          <p:cNvSpPr txBox="1"/>
          <p:nvPr/>
        </p:nvSpPr>
        <p:spPr>
          <a:xfrm>
            <a:off x="834886" y="185463"/>
            <a:ext cx="8696739" cy="6186309"/>
          </a:xfrm>
          <a:prstGeom prst="rect">
            <a:avLst/>
          </a:prstGeom>
          <a:noFill/>
        </p:spPr>
        <p:txBody>
          <a:bodyPr wrap="square">
            <a:spAutoFit/>
          </a:bodyPr>
          <a:lstStyle/>
          <a:p>
            <a:pPr algn="l">
              <a:buNone/>
            </a:pPr>
            <a:r>
              <a:rPr lang="en-US" b="1" i="0" dirty="0">
                <a:effectLst/>
                <a:latin typeface="fkGroteskNeue"/>
              </a:rPr>
              <a:t>Examples</a:t>
            </a:r>
            <a:r>
              <a:rPr lang="en-US" b="0" i="0" dirty="0">
                <a:effectLst/>
                <a:latin typeface="fkGroteskNeue"/>
              </a:rPr>
              <a:t>: Compilers, assemblers, debuggers, and interpreters for languages like Java or Python.</a:t>
            </a:r>
          </a:p>
          <a:p>
            <a:pPr algn="l">
              <a:buNone/>
            </a:pPr>
            <a:endParaRPr lang="en-US" dirty="0">
              <a:latin typeface="fkGroteskNeue"/>
            </a:endParaRPr>
          </a:p>
          <a:p>
            <a:pPr marL="285750" indent="-285750">
              <a:buFont typeface="Wingdings" panose="05000000000000000000" pitchFamily="2" charset="2"/>
              <a:buChar char="q"/>
            </a:pPr>
            <a:r>
              <a:rPr lang="en-US" b="1" dirty="0"/>
              <a:t>Additional Specialized Types</a:t>
            </a:r>
          </a:p>
          <a:p>
            <a:endParaRPr lang="en-US" dirty="0"/>
          </a:p>
          <a:p>
            <a:pPr marL="285750" indent="-285750">
              <a:buFont typeface="Arial" panose="020B0604020202020204" pitchFamily="34" charset="0"/>
              <a:buChar char="•"/>
            </a:pPr>
            <a:r>
              <a:rPr lang="en-US" b="1" dirty="0"/>
              <a:t>Networking and Web Application Software: </a:t>
            </a:r>
            <a:r>
              <a:rPr lang="en-US" dirty="0"/>
              <a:t>Facilitates communication and resource sharing across computers and networks.</a:t>
            </a:r>
          </a:p>
          <a:p>
            <a:endParaRPr lang="en-US" dirty="0"/>
          </a:p>
          <a:p>
            <a:pPr lvl="1"/>
            <a:r>
              <a:rPr lang="en-US" b="1" dirty="0"/>
              <a:t>Examples</a:t>
            </a:r>
            <a:r>
              <a:rPr lang="en-US" dirty="0"/>
              <a:t>: Network management tools, web servers, HTML/PHP/XML-based web software.</a:t>
            </a:r>
          </a:p>
          <a:p>
            <a:pPr lvl="1"/>
            <a:endParaRPr lang="en-US" dirty="0"/>
          </a:p>
          <a:p>
            <a:pPr marL="285750" indent="-285750">
              <a:buFont typeface="Arial" panose="020B0604020202020204" pitchFamily="34" charset="0"/>
              <a:buChar char="•"/>
            </a:pPr>
            <a:r>
              <a:rPr lang="en-US" b="1" dirty="0"/>
              <a:t>Embedded Software</a:t>
            </a:r>
            <a:r>
              <a:rPr lang="en-US" dirty="0"/>
              <a:t>: Built into hardware systems and used to control devices.</a:t>
            </a:r>
          </a:p>
          <a:p>
            <a:endParaRPr lang="en-US" dirty="0"/>
          </a:p>
          <a:p>
            <a:pPr lvl="1"/>
            <a:r>
              <a:rPr lang="en-US" b="1" dirty="0"/>
              <a:t>Examples</a:t>
            </a:r>
            <a:r>
              <a:rPr lang="en-US" dirty="0"/>
              <a:t>: Software in washing machines, microwave ovens, cars, and medical devices.</a:t>
            </a:r>
          </a:p>
          <a:p>
            <a:pPr lvl="1"/>
            <a:endParaRPr lang="en-US" dirty="0"/>
          </a:p>
          <a:p>
            <a:pPr marL="285750" indent="-285750">
              <a:buFont typeface="Arial" panose="020B0604020202020204" pitchFamily="34" charset="0"/>
              <a:buChar char="•"/>
            </a:pPr>
            <a:r>
              <a:rPr lang="en-US" b="1" dirty="0"/>
              <a:t>Utility Software</a:t>
            </a:r>
            <a:r>
              <a:rPr lang="en-US" dirty="0"/>
              <a:t>: Performs maintenance and optimization tasks for a computer system.</a:t>
            </a:r>
          </a:p>
          <a:p>
            <a:pPr lvl="1"/>
            <a:r>
              <a:rPr lang="en-US" b="1" dirty="0"/>
              <a:t>Examples</a:t>
            </a:r>
            <a:r>
              <a:rPr lang="en-US" dirty="0"/>
              <a:t>: Antivirus programs, disk cleanup tools, backup software.</a:t>
            </a:r>
          </a:p>
          <a:p>
            <a:pPr lvl="1"/>
            <a:endParaRPr lang="en-US" dirty="0"/>
          </a:p>
          <a:p>
            <a:pPr marL="285750" indent="-285750">
              <a:buFont typeface="Arial" panose="020B0604020202020204" pitchFamily="34" charset="0"/>
              <a:buChar char="•"/>
            </a:pPr>
            <a:r>
              <a:rPr lang="en-US" b="1" dirty="0"/>
              <a:t>Middleware</a:t>
            </a:r>
            <a:r>
              <a:rPr lang="en-US" dirty="0"/>
              <a:t>: Acts as a bridge between system software and applications, enabling communication and data management.</a:t>
            </a:r>
          </a:p>
        </p:txBody>
      </p:sp>
    </p:spTree>
    <p:extLst>
      <p:ext uri="{BB962C8B-B14F-4D97-AF65-F5344CB8AC3E}">
        <p14:creationId xmlns:p14="http://schemas.microsoft.com/office/powerpoint/2010/main" val="12838464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68CDA-152A-9257-AFE0-73D6FECC296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1052A43-D133-CFD6-756E-F007D33BD453}"/>
              </a:ext>
            </a:extLst>
          </p:cNvPr>
          <p:cNvSpPr txBox="1"/>
          <p:nvPr/>
        </p:nvSpPr>
        <p:spPr>
          <a:xfrm>
            <a:off x="824947" y="259575"/>
            <a:ext cx="8368748" cy="3693319"/>
          </a:xfrm>
          <a:prstGeom prst="rect">
            <a:avLst/>
          </a:prstGeom>
          <a:noFill/>
        </p:spPr>
        <p:txBody>
          <a:bodyPr wrap="square">
            <a:spAutoFit/>
          </a:bodyPr>
          <a:lstStyle/>
          <a:p>
            <a:pPr marL="285750" indent="-285750" algn="l">
              <a:buFont typeface="Arial" panose="020B0604020202020204" pitchFamily="34" charset="0"/>
              <a:buChar char="•"/>
            </a:pPr>
            <a:r>
              <a:rPr lang="en-US" b="1" i="0" dirty="0">
                <a:effectLst/>
                <a:latin typeface="fkGroteskNeue"/>
              </a:rPr>
              <a:t>Business and Enterprise Software:</a:t>
            </a:r>
            <a:r>
              <a:rPr lang="en-US" b="0" i="0" dirty="0">
                <a:effectLst/>
                <a:latin typeface="fkGroteskNeue"/>
              </a:rPr>
              <a:t> Supports business processes and organizational needs.</a:t>
            </a:r>
          </a:p>
          <a:p>
            <a:pPr marL="285750" indent="-285750" algn="l">
              <a:buFont typeface="Arial" panose="020B0604020202020204" pitchFamily="34" charset="0"/>
              <a:buChar char="•"/>
            </a:pPr>
            <a:endParaRPr lang="en-US" b="0" i="0" dirty="0">
              <a:effectLst/>
              <a:latin typeface="fkGroteskNeue"/>
            </a:endParaRPr>
          </a:p>
          <a:p>
            <a:pPr lvl="1" algn="l"/>
            <a:r>
              <a:rPr lang="en-US" b="1" i="0" dirty="0">
                <a:effectLst/>
                <a:latin typeface="fkGroteskNeue"/>
              </a:rPr>
              <a:t>Examples</a:t>
            </a:r>
            <a:r>
              <a:rPr lang="en-US" b="0" i="0" dirty="0">
                <a:effectLst/>
                <a:latin typeface="fkGroteskNeue"/>
              </a:rPr>
              <a:t>: Inventory management, payroll, banking, and CRM tools.</a:t>
            </a:r>
          </a:p>
          <a:p>
            <a:pPr marL="742950" lvl="1" indent="-285750" algn="l">
              <a:buFont typeface="Arial" panose="020B0604020202020204" pitchFamily="34" charset="0"/>
              <a:buChar char="•"/>
            </a:pPr>
            <a:endParaRPr lang="en-US" b="0" i="0" dirty="0">
              <a:effectLst/>
              <a:latin typeface="fkGroteskNeue"/>
            </a:endParaRPr>
          </a:p>
          <a:p>
            <a:pPr algn="l">
              <a:buFont typeface="Arial" panose="020B0604020202020204" pitchFamily="34" charset="0"/>
              <a:buChar char="•"/>
            </a:pPr>
            <a:r>
              <a:rPr lang="en-US" b="1" i="0" dirty="0">
                <a:effectLst/>
                <a:latin typeface="fkGroteskNeue"/>
              </a:rPr>
              <a:t> Entertainment and Educational Software</a:t>
            </a:r>
            <a:r>
              <a:rPr lang="en-US" b="0" i="0" dirty="0">
                <a:effectLst/>
                <a:latin typeface="fkGroteskNeue"/>
              </a:rPr>
              <a:t>: Focuses on recreation, learning, and creativity.</a:t>
            </a:r>
          </a:p>
          <a:p>
            <a:pPr algn="l">
              <a:buFont typeface="Arial" panose="020B0604020202020204" pitchFamily="34" charset="0"/>
              <a:buChar char="•"/>
            </a:pPr>
            <a:endParaRPr lang="en-US" b="0" i="0" dirty="0">
              <a:effectLst/>
              <a:latin typeface="fkGroteskNeue"/>
            </a:endParaRPr>
          </a:p>
          <a:p>
            <a:pPr lvl="1" algn="l"/>
            <a:r>
              <a:rPr lang="en-US" b="1" i="0" dirty="0">
                <a:effectLst/>
                <a:latin typeface="fkGroteskNeue"/>
              </a:rPr>
              <a:t>Examples</a:t>
            </a:r>
            <a:r>
              <a:rPr lang="en-US" b="0" i="0" dirty="0">
                <a:effectLst/>
                <a:latin typeface="fkGroteskNeue"/>
              </a:rPr>
              <a:t>: Games, educational tools, mapping applications.</a:t>
            </a:r>
          </a:p>
          <a:p>
            <a:pPr lvl="1" algn="l"/>
            <a:endParaRPr lang="en-US" b="0" i="0" dirty="0">
              <a:effectLst/>
              <a:latin typeface="fkGroteskNeue"/>
            </a:endParaRPr>
          </a:p>
          <a:p>
            <a:pPr algn="l">
              <a:buFont typeface="Arial" panose="020B0604020202020204" pitchFamily="34" charset="0"/>
              <a:buChar char="•"/>
            </a:pPr>
            <a:r>
              <a:rPr lang="en-US" b="1" i="0" dirty="0">
                <a:effectLst/>
                <a:latin typeface="fkGroteskNeue"/>
              </a:rPr>
              <a:t>Scientific and Engineering Software:</a:t>
            </a:r>
            <a:r>
              <a:rPr lang="en-US" b="0" i="0" dirty="0">
                <a:effectLst/>
                <a:latin typeface="fkGroteskNeue"/>
              </a:rPr>
              <a:t> Tailored for specialized scientific and industrial tasks.</a:t>
            </a:r>
          </a:p>
          <a:p>
            <a:pPr lvl="1" algn="l"/>
            <a:r>
              <a:rPr lang="en-US" b="1" i="0" dirty="0">
                <a:effectLst/>
                <a:latin typeface="fkGroteskNeue"/>
              </a:rPr>
              <a:t>Examples</a:t>
            </a:r>
            <a:r>
              <a:rPr lang="en-US" b="0" i="0" dirty="0">
                <a:effectLst/>
                <a:latin typeface="fkGroteskNeue"/>
              </a:rPr>
              <a:t>: MATLAB, AutoCAD, simulation applications.</a:t>
            </a:r>
          </a:p>
        </p:txBody>
      </p:sp>
    </p:spTree>
    <p:extLst>
      <p:ext uri="{BB962C8B-B14F-4D97-AF65-F5344CB8AC3E}">
        <p14:creationId xmlns:p14="http://schemas.microsoft.com/office/powerpoint/2010/main" val="1196967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A4F8F-D9F6-2A04-A937-7AAC6B02999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3D881C3-B82D-39A4-942E-C8809D95874E}"/>
              </a:ext>
            </a:extLst>
          </p:cNvPr>
          <p:cNvSpPr txBox="1"/>
          <p:nvPr/>
        </p:nvSpPr>
        <p:spPr>
          <a:xfrm>
            <a:off x="815009" y="143326"/>
            <a:ext cx="8597348" cy="6463308"/>
          </a:xfrm>
          <a:prstGeom prst="rect">
            <a:avLst/>
          </a:prstGeom>
          <a:noFill/>
        </p:spPr>
        <p:txBody>
          <a:bodyPr wrap="square">
            <a:spAutoFit/>
          </a:bodyPr>
          <a:lstStyle/>
          <a:p>
            <a:r>
              <a:rPr lang="en-US" b="1" dirty="0"/>
              <a:t>1.4 Software Engineering- Definition, Need</a:t>
            </a:r>
          </a:p>
          <a:p>
            <a:endParaRPr lang="en-US" dirty="0"/>
          </a:p>
          <a:p>
            <a:r>
              <a:rPr lang="en-US" dirty="0"/>
              <a:t>Software engineering is the systematic, disciplined approach to the design, development, testing, and maintenance of software applications using engineering principles and scientific methods. It focuses on producing high-quality, reliable, and efficient software that meets the needs and requirements of users and organizations.</a:t>
            </a:r>
          </a:p>
          <a:p>
            <a:endParaRPr lang="en-US" dirty="0"/>
          </a:p>
          <a:p>
            <a:pPr marL="285750" indent="-285750">
              <a:buFont typeface="Wingdings" panose="05000000000000000000" pitchFamily="2" charset="2"/>
              <a:buChar char="Ø"/>
            </a:pPr>
            <a:r>
              <a:rPr lang="en-US" b="1" dirty="0"/>
              <a:t>Definition of Software Engineering</a:t>
            </a:r>
          </a:p>
          <a:p>
            <a:endParaRPr lang="en-US" dirty="0"/>
          </a:p>
          <a:p>
            <a:pPr marL="285750" indent="-285750">
              <a:buFont typeface="Arial" panose="020B0604020202020204" pitchFamily="34" charset="0"/>
              <a:buChar char="•"/>
            </a:pPr>
            <a:r>
              <a:rPr lang="en-US" dirty="0"/>
              <a:t>Software engineering is a branch of computer science and engineering concerned with the practical application of engineering principles to the development of software systems.</a:t>
            </a:r>
          </a:p>
          <a:p>
            <a:pPr marL="285750" indent="-285750">
              <a:buFont typeface="Arial" panose="020B0604020202020204" pitchFamily="34" charset="0"/>
              <a:buChar char="•"/>
            </a:pPr>
            <a:r>
              <a:rPr lang="en-US" dirty="0"/>
              <a:t>It encompasses requirement analysis, design, coding, testing, deployment, and maintenance phases, all guided by best practices, documentation, and a focus on quality.</a:t>
            </a:r>
          </a:p>
          <a:p>
            <a:pPr marL="285750" indent="-285750">
              <a:buFont typeface="Arial" panose="020B0604020202020204" pitchFamily="34" charset="0"/>
              <a:buChar char="•"/>
            </a:pPr>
            <a:r>
              <a:rPr lang="en-US" dirty="0"/>
              <a:t>The goal is to create software that is efficient, maintainable, reliable, and scalable.</a:t>
            </a:r>
          </a:p>
          <a:p>
            <a:pPr marL="285750" indent="-285750">
              <a:buFont typeface="Arial" panose="020B0604020202020204" pitchFamily="34" charset="0"/>
              <a:buChar char="•"/>
            </a:pPr>
            <a:endParaRPr lang="en-US" dirty="0"/>
          </a:p>
          <a:p>
            <a:pPr marL="285750" indent="-285750">
              <a:buFont typeface="Wingdings" panose="05000000000000000000" pitchFamily="2" charset="2"/>
              <a:buChar char="Ø"/>
            </a:pPr>
            <a:r>
              <a:rPr lang="en-US" b="1" dirty="0"/>
              <a:t>Need for Software Engineering</a:t>
            </a:r>
          </a:p>
          <a:p>
            <a:endParaRPr lang="en-US" dirty="0"/>
          </a:p>
          <a:p>
            <a:pPr marL="285750" indent="-285750">
              <a:buFont typeface="Arial" panose="020B0604020202020204" pitchFamily="34" charset="0"/>
              <a:buChar char="•"/>
            </a:pPr>
            <a:r>
              <a:rPr lang="en-US" dirty="0"/>
              <a:t>Modern software projects are increasingly complex and large, making informal or unplanned development approaches inefficient and risky.</a:t>
            </a:r>
          </a:p>
        </p:txBody>
      </p:sp>
    </p:spTree>
    <p:extLst>
      <p:ext uri="{BB962C8B-B14F-4D97-AF65-F5344CB8AC3E}">
        <p14:creationId xmlns:p14="http://schemas.microsoft.com/office/powerpoint/2010/main" val="16896242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026DD-C4A1-D240-7144-2EA354EA034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C01A076-6758-ED71-6715-E71B04671352}"/>
              </a:ext>
            </a:extLst>
          </p:cNvPr>
          <p:cNvSpPr txBox="1"/>
          <p:nvPr/>
        </p:nvSpPr>
        <p:spPr>
          <a:xfrm>
            <a:off x="874644" y="110701"/>
            <a:ext cx="8478078" cy="3416320"/>
          </a:xfrm>
          <a:prstGeom prst="rect">
            <a:avLst/>
          </a:prstGeom>
          <a:noFill/>
        </p:spPr>
        <p:txBody>
          <a:bodyPr wrap="square">
            <a:spAutoFit/>
          </a:bodyPr>
          <a:lstStyle/>
          <a:p>
            <a:pPr algn="l">
              <a:buFont typeface="Arial" panose="020B0604020202020204" pitchFamily="34" charset="0"/>
              <a:buChar char="•"/>
            </a:pPr>
            <a:r>
              <a:rPr lang="en-US" b="0" i="0" dirty="0">
                <a:effectLst/>
                <a:latin typeface="fkGroteskNeue"/>
              </a:rPr>
              <a:t>Software engineering ensures structured development so that products are delivered on time, within budget, and aligned with user requirements.</a:t>
            </a:r>
          </a:p>
          <a:p>
            <a:pPr algn="l">
              <a:buFont typeface="Arial" panose="020B0604020202020204" pitchFamily="34" charset="0"/>
              <a:buChar char="•"/>
            </a:pPr>
            <a:endParaRPr lang="en-US" b="0" i="0" dirty="0">
              <a:effectLst/>
              <a:latin typeface="fkGroteskNeue"/>
            </a:endParaRPr>
          </a:p>
          <a:p>
            <a:pPr algn="l">
              <a:buFont typeface="Arial" panose="020B0604020202020204" pitchFamily="34" charset="0"/>
              <a:buChar char="•"/>
            </a:pPr>
            <a:r>
              <a:rPr lang="en-US" b="0" i="0" dirty="0">
                <a:effectLst/>
                <a:latin typeface="fkGroteskNeue"/>
              </a:rPr>
              <a:t>It reduces risks, improves product quality, increases maintainability, and provides mechanisms for handling changes and evolving user needs.</a:t>
            </a:r>
          </a:p>
          <a:p>
            <a:pPr algn="l"/>
            <a:endParaRPr lang="en-US" b="0" i="0" dirty="0">
              <a:effectLst/>
              <a:latin typeface="fkGroteskNeue"/>
            </a:endParaRPr>
          </a:p>
          <a:p>
            <a:pPr algn="l">
              <a:buFont typeface="Arial" panose="020B0604020202020204" pitchFamily="34" charset="0"/>
              <a:buChar char="•"/>
            </a:pPr>
            <a:r>
              <a:rPr lang="en-US" b="0" i="0" dirty="0">
                <a:effectLst/>
                <a:latin typeface="fkGroteskNeue"/>
              </a:rPr>
              <a:t>Engineering principles like modularity, abstraction, reusability, testing, and documentation help teams collaborate efficiently and create sustainable solutions.</a:t>
            </a:r>
          </a:p>
          <a:p>
            <a:pPr algn="l"/>
            <a:endParaRPr lang="en-US" b="0" i="0" dirty="0">
              <a:effectLst/>
              <a:latin typeface="fkGroteskNeue"/>
            </a:endParaRPr>
          </a:p>
          <a:p>
            <a:pPr algn="l">
              <a:buFont typeface="Arial" panose="020B0604020202020204" pitchFamily="34" charset="0"/>
              <a:buChar char="•"/>
            </a:pPr>
            <a:r>
              <a:rPr lang="en-US" b="0" i="0" dirty="0">
                <a:effectLst/>
                <a:latin typeface="fkGroteskNeue"/>
              </a:rPr>
              <a:t>Organizations rely on software for critical functions, making reliability, security, and future readiness essential; software engineering practices ensure these requirements are met.</a:t>
            </a:r>
          </a:p>
        </p:txBody>
      </p:sp>
      <p:sp>
        <p:nvSpPr>
          <p:cNvPr id="7" name="TextBox 6">
            <a:extLst>
              <a:ext uri="{FF2B5EF4-FFF2-40B4-BE49-F238E27FC236}">
                <a16:creationId xmlns:a16="http://schemas.microsoft.com/office/drawing/2014/main" id="{AA782CE4-A3A7-90A4-92D7-3AC2840D668F}"/>
              </a:ext>
            </a:extLst>
          </p:cNvPr>
          <p:cNvSpPr txBox="1"/>
          <p:nvPr/>
        </p:nvSpPr>
        <p:spPr>
          <a:xfrm>
            <a:off x="755374" y="3661778"/>
            <a:ext cx="9153940" cy="2031325"/>
          </a:xfrm>
          <a:prstGeom prst="rect">
            <a:avLst/>
          </a:prstGeom>
          <a:noFill/>
        </p:spPr>
        <p:txBody>
          <a:bodyPr wrap="square">
            <a:spAutoFit/>
          </a:bodyPr>
          <a:lstStyle/>
          <a:p>
            <a:r>
              <a:rPr lang="en-US" b="1" dirty="0"/>
              <a:t>1.5 Software Engineering- A Layered Approach</a:t>
            </a:r>
          </a:p>
          <a:p>
            <a:endParaRPr lang="en-US" b="1" dirty="0"/>
          </a:p>
          <a:p>
            <a:r>
              <a:rPr lang="en-US" dirty="0"/>
              <a:t>Software engineering adopts a layered approach as a systematic method to streamline the development, operation, and maintenance of software systems. This approach organizes the complex activity into interconnected, manageable layers, each with specific responsibilities, to improve quality, efficiency, and maintainability of software products.</a:t>
            </a:r>
          </a:p>
        </p:txBody>
      </p:sp>
    </p:spTree>
    <p:extLst>
      <p:ext uri="{BB962C8B-B14F-4D97-AF65-F5344CB8AC3E}">
        <p14:creationId xmlns:p14="http://schemas.microsoft.com/office/powerpoint/2010/main" val="36007087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37247-DA06-200F-C379-0C9311FDFCB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CBF70DF-BC2B-D182-0955-F4050C9C0517}"/>
              </a:ext>
            </a:extLst>
          </p:cNvPr>
          <p:cNvSpPr txBox="1"/>
          <p:nvPr/>
        </p:nvSpPr>
        <p:spPr>
          <a:xfrm>
            <a:off x="874644" y="107246"/>
            <a:ext cx="8428382" cy="5355312"/>
          </a:xfrm>
          <a:prstGeom prst="rect">
            <a:avLst/>
          </a:prstGeom>
          <a:noFill/>
        </p:spPr>
        <p:txBody>
          <a:bodyPr wrap="square">
            <a:spAutoFit/>
          </a:bodyPr>
          <a:lstStyle/>
          <a:p>
            <a:pPr marL="285750" indent="-285750" algn="l">
              <a:buFont typeface="Wingdings" panose="05000000000000000000" pitchFamily="2" charset="2"/>
              <a:buChar char="Ø"/>
            </a:pPr>
            <a:r>
              <a:rPr lang="en-US" b="1" i="0" dirty="0">
                <a:effectLst/>
                <a:latin typeface="fkGrotesk"/>
              </a:rPr>
              <a:t>Key Layers in Software Engineering</a:t>
            </a:r>
          </a:p>
          <a:p>
            <a:pPr algn="l">
              <a:buNone/>
            </a:pPr>
            <a:endParaRPr lang="en-US" b="0" i="0" dirty="0">
              <a:effectLst/>
              <a:latin typeface="fkGrotesk"/>
            </a:endParaRPr>
          </a:p>
          <a:p>
            <a:pPr algn="l">
              <a:buFont typeface="Arial" panose="020B0604020202020204" pitchFamily="34" charset="0"/>
              <a:buChar char="•"/>
            </a:pPr>
            <a:r>
              <a:rPr lang="en-US" b="1" i="0" dirty="0">
                <a:effectLst/>
                <a:latin typeface="fkGroteskNeue"/>
              </a:rPr>
              <a:t>Quality</a:t>
            </a:r>
            <a:r>
              <a:rPr lang="en-US" b="0" i="0" dirty="0">
                <a:effectLst/>
                <a:latin typeface="fkGroteskNeue"/>
              </a:rPr>
              <a:t> </a:t>
            </a:r>
            <a:r>
              <a:rPr lang="en-US" b="1" i="0" dirty="0">
                <a:effectLst/>
                <a:latin typeface="fkGroteskNeue"/>
              </a:rPr>
              <a:t>Focus</a:t>
            </a:r>
            <a:r>
              <a:rPr lang="en-US" b="0" i="0" dirty="0">
                <a:effectLst/>
                <a:latin typeface="fkGroteskNeue"/>
              </a:rPr>
              <a:t>: The topmost layer emphasizes quality attributes such as security, usability, maintainability, and scalability. It guides the overall goal of producing high-quality software that satisfies user needs and adheres to standards.</a:t>
            </a:r>
          </a:p>
          <a:p>
            <a:pPr algn="l"/>
            <a:endParaRPr lang="en-US" b="0" i="0" dirty="0">
              <a:effectLst/>
              <a:latin typeface="fkGroteskNeue"/>
            </a:endParaRPr>
          </a:p>
          <a:p>
            <a:pPr algn="l">
              <a:buFont typeface="Arial" panose="020B0604020202020204" pitchFamily="34" charset="0"/>
              <a:buChar char="•"/>
            </a:pPr>
            <a:r>
              <a:rPr lang="en-US" b="1" i="0" dirty="0">
                <a:effectLst/>
                <a:latin typeface="fkGroteskNeue"/>
              </a:rPr>
              <a:t>Process</a:t>
            </a:r>
            <a:r>
              <a:rPr lang="en-US" b="0" i="0" dirty="0">
                <a:effectLst/>
                <a:latin typeface="fkGroteskNeue"/>
              </a:rPr>
              <a:t> </a:t>
            </a:r>
            <a:r>
              <a:rPr lang="en-US" b="1" i="0" dirty="0">
                <a:effectLst/>
                <a:latin typeface="fkGroteskNeue"/>
              </a:rPr>
              <a:t>Layer</a:t>
            </a:r>
            <a:r>
              <a:rPr lang="en-US" b="0" i="0" dirty="0">
                <a:effectLst/>
                <a:latin typeface="fkGroteskNeue"/>
              </a:rPr>
              <a:t>: This foundational layer defines the systematic activities, tasks, and workflows involved in software development. It ensures that project activities are carried out effectively and efficiently, covering phases like requirement analysis, design, implementation, testing, deployment, and maintenance.</a:t>
            </a:r>
          </a:p>
          <a:p>
            <a:pPr algn="l"/>
            <a:endParaRPr lang="en-US" b="0" i="0" dirty="0">
              <a:effectLst/>
              <a:latin typeface="fkGroteskNeue"/>
            </a:endParaRPr>
          </a:p>
          <a:p>
            <a:pPr algn="l">
              <a:buFont typeface="Arial" panose="020B0604020202020204" pitchFamily="34" charset="0"/>
              <a:buChar char="•"/>
            </a:pPr>
            <a:r>
              <a:rPr lang="en-US" b="1" i="0" dirty="0">
                <a:effectLst/>
                <a:latin typeface="fkGroteskNeue"/>
              </a:rPr>
              <a:t>Method</a:t>
            </a:r>
            <a:r>
              <a:rPr lang="en-US" b="0" i="0" dirty="0">
                <a:effectLst/>
                <a:latin typeface="fkGroteskNeue"/>
              </a:rPr>
              <a:t> </a:t>
            </a:r>
            <a:r>
              <a:rPr lang="en-US" b="1" i="0" dirty="0">
                <a:effectLst/>
                <a:latin typeface="fkGroteskNeue"/>
              </a:rPr>
              <a:t>Layer</a:t>
            </a:r>
            <a:r>
              <a:rPr lang="en-US" b="0" i="0" dirty="0">
                <a:effectLst/>
                <a:latin typeface="fkGroteskNeue"/>
              </a:rPr>
              <a:t>: The method layer provides the technical approaches, modeling techniques, and best practices for accomplishing each activity within the process. It covers methodologies such as UML-based design, iterative development, agile practices, and testing strategies, guiding "how-to" tasks in software engineering.</a:t>
            </a:r>
          </a:p>
          <a:p>
            <a:pPr algn="l"/>
            <a:endParaRPr lang="en-US" b="0" i="0" dirty="0">
              <a:effectLst/>
              <a:latin typeface="fkGroteskNeue"/>
            </a:endParaRPr>
          </a:p>
          <a:p>
            <a:pPr algn="l">
              <a:buFont typeface="Arial" panose="020B0604020202020204" pitchFamily="34" charset="0"/>
              <a:buChar char="•"/>
            </a:pPr>
            <a:r>
              <a:rPr lang="en-US" b="1" i="0" dirty="0">
                <a:effectLst/>
                <a:latin typeface="fkGroteskNeue"/>
              </a:rPr>
              <a:t>Tools</a:t>
            </a:r>
            <a:r>
              <a:rPr lang="en-US" b="0" i="0" dirty="0">
                <a:effectLst/>
                <a:latin typeface="fkGroteskNeue"/>
              </a:rPr>
              <a:t> </a:t>
            </a:r>
            <a:r>
              <a:rPr lang="en-US" b="1" i="0" dirty="0">
                <a:effectLst/>
                <a:latin typeface="fkGroteskNeue"/>
              </a:rPr>
              <a:t>Layer</a:t>
            </a:r>
            <a:r>
              <a:rPr lang="en-US" b="0" i="0" dirty="0">
                <a:effectLst/>
                <a:latin typeface="fkGroteskNeue"/>
              </a:rPr>
              <a:t>: At the base, tools provide automated or semi-automated support for the process and methods. They enable the automation of tasks like coding, testing, configuration management, and documentation, catalyzing productivity and consistency.</a:t>
            </a:r>
          </a:p>
        </p:txBody>
      </p:sp>
    </p:spTree>
    <p:extLst>
      <p:ext uri="{BB962C8B-B14F-4D97-AF65-F5344CB8AC3E}">
        <p14:creationId xmlns:p14="http://schemas.microsoft.com/office/powerpoint/2010/main" val="25993705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F393E-E149-F897-7BD5-32C14613AF2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CC481BB-2B29-5FFF-6A99-7ECD8D9160DF}"/>
              </a:ext>
            </a:extLst>
          </p:cNvPr>
          <p:cNvSpPr txBox="1"/>
          <p:nvPr/>
        </p:nvSpPr>
        <p:spPr>
          <a:xfrm>
            <a:off x="785191" y="112647"/>
            <a:ext cx="8458200" cy="4801314"/>
          </a:xfrm>
          <a:prstGeom prst="rect">
            <a:avLst/>
          </a:prstGeom>
          <a:noFill/>
        </p:spPr>
        <p:txBody>
          <a:bodyPr wrap="square">
            <a:spAutoFit/>
          </a:bodyPr>
          <a:lstStyle/>
          <a:p>
            <a:pPr marL="285750" indent="-285750" algn="l">
              <a:buFont typeface="Wingdings" panose="05000000000000000000" pitchFamily="2" charset="2"/>
              <a:buChar char="Ø"/>
            </a:pPr>
            <a:r>
              <a:rPr lang="en-US" b="1" i="0" dirty="0">
                <a:effectLst/>
                <a:latin typeface="fkGrotesk"/>
              </a:rPr>
              <a:t>The Layered Model's Importance</a:t>
            </a:r>
          </a:p>
          <a:p>
            <a:pPr algn="l">
              <a:buNone/>
            </a:pPr>
            <a:endParaRPr lang="en-US" b="0" i="0" dirty="0">
              <a:effectLst/>
              <a:latin typeface="fkGrotesk"/>
            </a:endParaRPr>
          </a:p>
          <a:p>
            <a:pPr algn="l">
              <a:buFont typeface="Arial" panose="020B0604020202020204" pitchFamily="34" charset="0"/>
              <a:buChar char="•"/>
            </a:pPr>
            <a:r>
              <a:rPr lang="en-US" b="0" i="0" dirty="0">
                <a:effectLst/>
                <a:latin typeface="fkGroteskNeue"/>
              </a:rPr>
              <a:t>Structured Development: The layered approach provides a clear framework that helps manage complexity systematically.</a:t>
            </a:r>
          </a:p>
          <a:p>
            <a:pPr algn="l"/>
            <a:endParaRPr lang="en-US" b="0" i="0" dirty="0">
              <a:effectLst/>
              <a:latin typeface="fkGroteskNeue"/>
            </a:endParaRPr>
          </a:p>
          <a:p>
            <a:pPr algn="l">
              <a:buFont typeface="Arial" panose="020B0604020202020204" pitchFamily="34" charset="0"/>
              <a:buChar char="•"/>
            </a:pPr>
            <a:r>
              <a:rPr lang="en-US" b="0" i="0" dirty="0">
                <a:effectLst/>
                <a:latin typeface="fkGroteskNeue"/>
              </a:rPr>
              <a:t>Flexibility and Reusability: Specific layers can evolve independently, promoting adaptability and reusability of components and practices.</a:t>
            </a:r>
          </a:p>
          <a:p>
            <a:pPr algn="l"/>
            <a:endParaRPr lang="en-US" b="0" i="0" dirty="0">
              <a:effectLst/>
              <a:latin typeface="fkGroteskNeue"/>
            </a:endParaRPr>
          </a:p>
          <a:p>
            <a:pPr algn="l">
              <a:buFont typeface="Arial" panose="020B0604020202020204" pitchFamily="34" charset="0"/>
              <a:buChar char="•"/>
            </a:pPr>
            <a:r>
              <a:rPr lang="en-US" b="0" i="0" dirty="0">
                <a:effectLst/>
                <a:latin typeface="fkGroteskNeue"/>
              </a:rPr>
              <a:t>Quality Assurance: Emphasizing quality at the upper layer aligns all activities towards high standards throughout the development life cycle.</a:t>
            </a:r>
          </a:p>
          <a:p>
            <a:pPr algn="l">
              <a:buFont typeface="Arial" panose="020B0604020202020204" pitchFamily="34" charset="0"/>
              <a:buChar char="•"/>
            </a:pPr>
            <a:endParaRPr lang="en-US" b="0" i="0" dirty="0">
              <a:effectLst/>
              <a:latin typeface="fkGroteskNeue"/>
            </a:endParaRPr>
          </a:p>
          <a:p>
            <a:pPr marL="285750" indent="-285750" algn="l">
              <a:buFont typeface="Wingdings" panose="05000000000000000000" pitchFamily="2" charset="2"/>
              <a:buChar char="Ø"/>
            </a:pPr>
            <a:r>
              <a:rPr lang="en-US" b="1" i="0" dirty="0">
                <a:effectLst/>
                <a:latin typeface="fkGrotesk"/>
              </a:rPr>
              <a:t>Visual</a:t>
            </a:r>
            <a:r>
              <a:rPr lang="en-US" b="0" i="0" dirty="0">
                <a:effectLst/>
                <a:latin typeface="fkGrotesk"/>
              </a:rPr>
              <a:t> </a:t>
            </a:r>
            <a:r>
              <a:rPr lang="en-US" b="1" i="0" dirty="0">
                <a:effectLst/>
                <a:latin typeface="fkGrotesk"/>
              </a:rPr>
              <a:t>Representation</a:t>
            </a:r>
          </a:p>
          <a:p>
            <a:pPr algn="l">
              <a:buNone/>
            </a:pPr>
            <a:endParaRPr lang="en-US" b="0" i="0" dirty="0">
              <a:effectLst/>
              <a:latin typeface="fkGrotesk"/>
            </a:endParaRPr>
          </a:p>
          <a:p>
            <a:pPr algn="l">
              <a:buNone/>
            </a:pPr>
            <a:r>
              <a:rPr lang="en-US" b="0" i="0" dirty="0">
                <a:effectLst/>
                <a:latin typeface="fkGroteskNeue"/>
              </a:rPr>
              <a:t>The layered architecture resembles a stack where each layer depends on the foundation beneath it. The process layer forms the backbone, supporting methods, which in turn utilize tools, while the quality focus overlays these layers to ensure that every activity adheres to high-quality standards</a:t>
            </a:r>
          </a:p>
        </p:txBody>
      </p:sp>
    </p:spTree>
    <p:extLst>
      <p:ext uri="{BB962C8B-B14F-4D97-AF65-F5344CB8AC3E}">
        <p14:creationId xmlns:p14="http://schemas.microsoft.com/office/powerpoint/2010/main" val="17418751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92302-5DD7-4033-F62C-8DEA80B467A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2DA5543-394C-4F31-05DA-00FAD7D54031}"/>
              </a:ext>
            </a:extLst>
          </p:cNvPr>
          <p:cNvSpPr txBox="1"/>
          <p:nvPr/>
        </p:nvSpPr>
        <p:spPr>
          <a:xfrm>
            <a:off x="874644" y="94279"/>
            <a:ext cx="8557591" cy="6186309"/>
          </a:xfrm>
          <a:prstGeom prst="rect">
            <a:avLst/>
          </a:prstGeom>
          <a:noFill/>
        </p:spPr>
        <p:txBody>
          <a:bodyPr wrap="square">
            <a:spAutoFit/>
          </a:bodyPr>
          <a:lstStyle/>
          <a:p>
            <a:r>
              <a:rPr lang="en-US" b="1" dirty="0"/>
              <a:t>1.6 Software Development Generic Process Framework- Typical Umbrella Activities. Identifying A Task Set</a:t>
            </a:r>
          </a:p>
          <a:p>
            <a:endParaRPr lang="en-US" dirty="0"/>
          </a:p>
          <a:p>
            <a:r>
              <a:rPr lang="en-US" dirty="0"/>
              <a:t>The Software Development Generic Process Framework outlines a structured approach to software development, integrating several key task sets and umbrella activities to manage project execution effectively.</a:t>
            </a:r>
          </a:p>
          <a:p>
            <a:endParaRPr lang="en-US" dirty="0"/>
          </a:p>
          <a:p>
            <a:pPr marL="285750" indent="-285750">
              <a:buFont typeface="Wingdings" panose="05000000000000000000" pitchFamily="2" charset="2"/>
              <a:buChar char="Ø"/>
            </a:pPr>
            <a:r>
              <a:rPr lang="en-US" b="1" dirty="0"/>
              <a:t>Generic Process Framework Activities</a:t>
            </a:r>
          </a:p>
          <a:p>
            <a:endParaRPr lang="en-US" dirty="0"/>
          </a:p>
          <a:p>
            <a:r>
              <a:rPr lang="en-US" b="1" dirty="0"/>
              <a:t>The process framework usually consists of five fundamental activities:</a:t>
            </a:r>
          </a:p>
          <a:p>
            <a:endParaRPr lang="en-US" dirty="0"/>
          </a:p>
          <a:p>
            <a:pPr marL="285750" indent="-285750">
              <a:buFont typeface="Arial" panose="020B0604020202020204" pitchFamily="34" charset="0"/>
              <a:buChar char="•"/>
            </a:pPr>
            <a:r>
              <a:rPr lang="en-US" dirty="0"/>
              <a:t>Communication: Gathering requirements and engaging with customers and stakeholders to define system objectives and understand needs.</a:t>
            </a:r>
          </a:p>
          <a:p>
            <a:pPr marL="285750" indent="-285750">
              <a:buFont typeface="Arial" panose="020B0604020202020204" pitchFamily="34" charset="0"/>
              <a:buChar char="•"/>
            </a:pPr>
            <a:r>
              <a:rPr lang="en-US" dirty="0"/>
              <a:t>Planning: Establishing detailed work plans, schedules, resource allocation, and risk assessment.</a:t>
            </a:r>
          </a:p>
          <a:p>
            <a:pPr marL="285750" indent="-285750">
              <a:buFont typeface="Arial" panose="020B0604020202020204" pitchFamily="34" charset="0"/>
              <a:buChar char="•"/>
            </a:pPr>
            <a:r>
              <a:rPr lang="en-US" dirty="0"/>
              <a:t>Modeling: Creating abstract representations (models) of the system to clarify requirements and design.</a:t>
            </a:r>
          </a:p>
          <a:p>
            <a:pPr marL="285750" indent="-285750">
              <a:buFont typeface="Arial" panose="020B0604020202020204" pitchFamily="34" charset="0"/>
              <a:buChar char="•"/>
            </a:pPr>
            <a:r>
              <a:rPr lang="en-US" dirty="0"/>
              <a:t>Construction: Actual coding, testing, and integration to build the software product.</a:t>
            </a:r>
          </a:p>
          <a:p>
            <a:pPr marL="285750" indent="-285750">
              <a:buFont typeface="Arial" panose="020B0604020202020204" pitchFamily="34" charset="0"/>
              <a:buChar char="•"/>
            </a:pPr>
            <a:r>
              <a:rPr lang="en-US" dirty="0"/>
              <a:t>Deployment: Delivering the software to customers, obtaining feedback, and making necessary modifications</a:t>
            </a:r>
          </a:p>
          <a:p>
            <a:endParaRPr lang="en-IN" dirty="0"/>
          </a:p>
        </p:txBody>
      </p:sp>
    </p:spTree>
    <p:extLst>
      <p:ext uri="{BB962C8B-B14F-4D97-AF65-F5344CB8AC3E}">
        <p14:creationId xmlns:p14="http://schemas.microsoft.com/office/powerpoint/2010/main" val="1999614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07692-6007-966E-BC99-52C4FA6A1D6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1123E2C-4795-9853-126D-0DD52D367971}"/>
              </a:ext>
            </a:extLst>
          </p:cNvPr>
          <p:cNvSpPr txBox="1"/>
          <p:nvPr/>
        </p:nvSpPr>
        <p:spPr>
          <a:xfrm>
            <a:off x="854765" y="107894"/>
            <a:ext cx="8279296" cy="6463308"/>
          </a:xfrm>
          <a:prstGeom prst="rect">
            <a:avLst/>
          </a:prstGeom>
          <a:noFill/>
        </p:spPr>
        <p:txBody>
          <a:bodyPr wrap="square">
            <a:spAutoFit/>
          </a:bodyPr>
          <a:lstStyle/>
          <a:p>
            <a:pPr marL="285750" indent="-285750" algn="l">
              <a:buFont typeface="Wingdings" panose="05000000000000000000" pitchFamily="2" charset="2"/>
              <a:buChar char="Ø"/>
            </a:pPr>
            <a:r>
              <a:rPr lang="en-US" b="1" i="0" dirty="0">
                <a:effectLst/>
                <a:latin typeface="fkGrotesk"/>
              </a:rPr>
              <a:t>Typical Umbrella Activities</a:t>
            </a:r>
          </a:p>
          <a:p>
            <a:pPr algn="l">
              <a:buNone/>
            </a:pPr>
            <a:endParaRPr lang="en-US" b="0" i="0" dirty="0">
              <a:effectLst/>
              <a:latin typeface="fkGrotesk"/>
            </a:endParaRPr>
          </a:p>
          <a:p>
            <a:pPr algn="l">
              <a:buNone/>
            </a:pPr>
            <a:r>
              <a:rPr lang="en-US" b="0" i="0" dirty="0">
                <a:effectLst/>
                <a:latin typeface="fkGroteskNeue"/>
              </a:rPr>
              <a:t>Umbrella activities support the main framework activities throughout the development lifecycle to ensure quality, control, and risk management:</a:t>
            </a:r>
          </a:p>
          <a:p>
            <a:pPr algn="l">
              <a:buNone/>
            </a:pPr>
            <a:endParaRPr lang="en-US" b="0" i="0" dirty="0">
              <a:effectLst/>
              <a:latin typeface="fkGroteskNeue"/>
            </a:endParaRPr>
          </a:p>
          <a:p>
            <a:pPr algn="l">
              <a:buFont typeface="Arial" panose="020B0604020202020204" pitchFamily="34" charset="0"/>
              <a:buChar char="•"/>
            </a:pPr>
            <a:r>
              <a:rPr lang="en-US" b="0" i="0" dirty="0">
                <a:effectLst/>
                <a:latin typeface="fkGroteskNeue"/>
              </a:rPr>
              <a:t>Software Project Tracking and Control: Monitoring progress against plans and taking corrective actions to maintain schedules.</a:t>
            </a:r>
          </a:p>
          <a:p>
            <a:pPr algn="l"/>
            <a:endParaRPr lang="en-US" b="0" i="0" dirty="0">
              <a:effectLst/>
              <a:latin typeface="fkGroteskNeue"/>
            </a:endParaRPr>
          </a:p>
          <a:p>
            <a:pPr algn="l">
              <a:buFont typeface="Arial" panose="020B0604020202020204" pitchFamily="34" charset="0"/>
              <a:buChar char="•"/>
            </a:pPr>
            <a:r>
              <a:rPr lang="en-US" b="0" i="0" dirty="0">
                <a:effectLst/>
                <a:latin typeface="fkGroteskNeue"/>
              </a:rPr>
              <a:t>Risk Management: Identifying, analyzing, and mitigating risks that could impact project outcomes or software quality.</a:t>
            </a:r>
          </a:p>
          <a:p>
            <a:pPr algn="l"/>
            <a:endParaRPr lang="en-US" b="0" i="0" dirty="0">
              <a:effectLst/>
              <a:latin typeface="fkGroteskNeue"/>
            </a:endParaRPr>
          </a:p>
          <a:p>
            <a:pPr algn="l">
              <a:buFont typeface="Arial" panose="020B0604020202020204" pitchFamily="34" charset="0"/>
              <a:buChar char="•"/>
            </a:pPr>
            <a:r>
              <a:rPr lang="en-US" b="0" i="0" dirty="0">
                <a:effectLst/>
                <a:latin typeface="fkGroteskNeue"/>
              </a:rPr>
              <a:t>Software Quality Assurance (SQA): Activities to ensure the software meets quality standards through reviews, testing, and audits.</a:t>
            </a:r>
          </a:p>
          <a:p>
            <a:pPr algn="l"/>
            <a:endParaRPr lang="en-US" b="0" i="0" dirty="0">
              <a:effectLst/>
              <a:latin typeface="fkGroteskNeue"/>
            </a:endParaRPr>
          </a:p>
          <a:p>
            <a:pPr algn="l">
              <a:buFont typeface="Arial" panose="020B0604020202020204" pitchFamily="34" charset="0"/>
              <a:buChar char="•"/>
            </a:pPr>
            <a:r>
              <a:rPr lang="en-US" b="0" i="0" dirty="0">
                <a:effectLst/>
                <a:latin typeface="fkGroteskNeue"/>
              </a:rPr>
              <a:t>Formal Technical Reviews (FTR): Systematic examination of work products to detect defects early.</a:t>
            </a:r>
          </a:p>
          <a:p>
            <a:pPr algn="l">
              <a:buFont typeface="Arial" panose="020B0604020202020204" pitchFamily="34" charset="0"/>
              <a:buChar char="•"/>
            </a:pPr>
            <a:endParaRPr lang="en-US" b="0" i="0" dirty="0">
              <a:effectLst/>
              <a:latin typeface="fkGroteskNeue"/>
            </a:endParaRPr>
          </a:p>
          <a:p>
            <a:pPr algn="l">
              <a:buFont typeface="Arial" panose="020B0604020202020204" pitchFamily="34" charset="0"/>
              <a:buChar char="•"/>
            </a:pPr>
            <a:r>
              <a:rPr lang="en-US" b="0" i="0" dirty="0">
                <a:effectLst/>
                <a:latin typeface="fkGroteskNeue"/>
              </a:rPr>
              <a:t>Software Configuration Management (SCM): Managing changes, version control, and maintaining integrity of software artifacts.</a:t>
            </a:r>
            <a:endParaRPr lang="en-US" dirty="0">
              <a:latin typeface="fkGroteskNeue"/>
            </a:endParaRPr>
          </a:p>
          <a:p>
            <a:pPr algn="l">
              <a:buFont typeface="Arial" panose="020B0604020202020204" pitchFamily="34" charset="0"/>
              <a:buChar char="•"/>
            </a:pPr>
            <a:endParaRPr lang="en-US" b="0" i="0" dirty="0">
              <a:effectLst/>
              <a:latin typeface="fkGroteskNeue"/>
            </a:endParaRPr>
          </a:p>
          <a:p>
            <a:pPr algn="l">
              <a:buFont typeface="Arial" panose="020B0604020202020204" pitchFamily="34" charset="0"/>
              <a:buChar char="•"/>
            </a:pPr>
            <a:r>
              <a:rPr lang="en-US" b="0" i="0" dirty="0">
                <a:effectLst/>
                <a:latin typeface="fkGroteskNeue"/>
              </a:rPr>
              <a:t>Documentation: Preparation and maintenance of necessary documents such as requirements, design specs, user manuals.</a:t>
            </a:r>
          </a:p>
          <a:p>
            <a:pPr algn="l"/>
            <a:endParaRPr lang="en-US" b="0" i="0" dirty="0">
              <a:effectLst/>
              <a:latin typeface="fkGroteskNeue"/>
            </a:endParaRPr>
          </a:p>
        </p:txBody>
      </p:sp>
    </p:spTree>
    <p:extLst>
      <p:ext uri="{BB962C8B-B14F-4D97-AF65-F5344CB8AC3E}">
        <p14:creationId xmlns:p14="http://schemas.microsoft.com/office/powerpoint/2010/main" val="34450741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91401-BC8F-4C22-C2EC-0F3F92AB9C9B}"/>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DF341E0F-BA35-AFCC-D6A1-1EC3F49B0A24}"/>
              </a:ext>
            </a:extLst>
          </p:cNvPr>
          <p:cNvSpPr txBox="1"/>
          <p:nvPr/>
        </p:nvSpPr>
        <p:spPr>
          <a:xfrm>
            <a:off x="815009" y="0"/>
            <a:ext cx="8408504" cy="4524315"/>
          </a:xfrm>
          <a:prstGeom prst="rect">
            <a:avLst/>
          </a:prstGeom>
          <a:noFill/>
        </p:spPr>
        <p:txBody>
          <a:bodyPr wrap="square">
            <a:spAutoFit/>
          </a:bodyPr>
          <a:lstStyle/>
          <a:p>
            <a:pPr algn="l">
              <a:buFont typeface="Arial" panose="020B0604020202020204" pitchFamily="34" charset="0"/>
              <a:buChar char="•"/>
            </a:pPr>
            <a:r>
              <a:rPr lang="en-US" b="0" i="0" dirty="0">
                <a:effectLst/>
                <a:latin typeface="fkGroteskNeue"/>
              </a:rPr>
              <a:t>Reusability Management: Encouraging and managing reuse of components and code to improve efficiency.</a:t>
            </a:r>
          </a:p>
          <a:p>
            <a:pPr algn="l"/>
            <a:endParaRPr lang="en-US" b="0" i="0" dirty="0">
              <a:effectLst/>
              <a:latin typeface="fkGroteskNeue"/>
            </a:endParaRPr>
          </a:p>
          <a:p>
            <a:pPr algn="l">
              <a:buFont typeface="Arial" panose="020B0604020202020204" pitchFamily="34" charset="0"/>
              <a:buChar char="•"/>
            </a:pPr>
            <a:r>
              <a:rPr lang="en-US" b="0" i="0" dirty="0">
                <a:effectLst/>
                <a:latin typeface="fkGroteskNeue"/>
              </a:rPr>
              <a:t>Measurement: Collecting data on project and product metrics to guide improvements.</a:t>
            </a:r>
          </a:p>
          <a:p>
            <a:pPr algn="l">
              <a:buNone/>
            </a:pPr>
            <a:r>
              <a:rPr lang="en-US" b="0" i="0" dirty="0">
                <a:effectLst/>
                <a:latin typeface="fkGrotesk"/>
              </a:rPr>
              <a:t>Identifying a Task Set</a:t>
            </a:r>
          </a:p>
          <a:p>
            <a:pPr algn="l">
              <a:buNone/>
            </a:pPr>
            <a:endParaRPr lang="en-US" b="0" i="0" dirty="0">
              <a:effectLst/>
              <a:latin typeface="fkGrotesk"/>
            </a:endParaRPr>
          </a:p>
          <a:p>
            <a:pPr marL="285750" indent="-285750">
              <a:buFont typeface="Wingdings" panose="05000000000000000000" pitchFamily="2" charset="2"/>
              <a:buChar char="Ø"/>
            </a:pPr>
            <a:r>
              <a:rPr lang="en-US" b="1" dirty="0"/>
              <a:t>Identifying</a:t>
            </a:r>
            <a:r>
              <a:rPr lang="en-US" dirty="0"/>
              <a:t> </a:t>
            </a:r>
            <a:r>
              <a:rPr lang="en-US" b="1" dirty="0"/>
              <a:t>a Task Set</a:t>
            </a:r>
          </a:p>
          <a:p>
            <a:endParaRPr lang="en-US" dirty="0"/>
          </a:p>
          <a:p>
            <a:r>
              <a:rPr lang="en-US" dirty="0"/>
              <a:t>Task sets represent specific, related tasks within the software process framework aimed at achieving a defined goal or producing a work product. They break down activities into manageable pieces and often include milestones and quality assurance points.</a:t>
            </a:r>
          </a:p>
          <a:p>
            <a:endParaRPr lang="en-US" dirty="0"/>
          </a:p>
          <a:p>
            <a:r>
              <a:rPr lang="en-US" dirty="0"/>
              <a:t>For example, within the Construction activity, a task set might include coding, unit testing, and integration of modules.</a:t>
            </a:r>
          </a:p>
          <a:p>
            <a:pPr algn="l">
              <a:buNone/>
            </a:pPr>
            <a:endParaRPr lang="en-US" b="0" i="0" dirty="0">
              <a:effectLst/>
              <a:latin typeface="fkGroteskNeue"/>
            </a:endParaRPr>
          </a:p>
        </p:txBody>
      </p:sp>
    </p:spTree>
    <p:extLst>
      <p:ext uri="{BB962C8B-B14F-4D97-AF65-F5344CB8AC3E}">
        <p14:creationId xmlns:p14="http://schemas.microsoft.com/office/powerpoint/2010/main" val="39402990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7A635-9715-97BA-FB05-8FF071980EF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776D41B-EB8C-EC6B-4982-421511B32D21}"/>
              </a:ext>
            </a:extLst>
          </p:cNvPr>
          <p:cNvSpPr txBox="1"/>
          <p:nvPr/>
        </p:nvSpPr>
        <p:spPr>
          <a:xfrm>
            <a:off x="805069" y="114157"/>
            <a:ext cx="8597348" cy="5632311"/>
          </a:xfrm>
          <a:prstGeom prst="rect">
            <a:avLst/>
          </a:prstGeom>
          <a:noFill/>
        </p:spPr>
        <p:txBody>
          <a:bodyPr wrap="square">
            <a:spAutoFit/>
          </a:bodyPr>
          <a:lstStyle/>
          <a:p>
            <a:r>
              <a:rPr lang="en-US" b="1" dirty="0"/>
              <a:t>1.7 Some Terminologies : Product and Process, Module and Software Components, Deliverables and Milestones</a:t>
            </a:r>
          </a:p>
          <a:p>
            <a:endParaRPr lang="en-US" dirty="0"/>
          </a:p>
          <a:p>
            <a:r>
              <a:rPr lang="en-US" b="1" dirty="0"/>
              <a:t>Some Important Terminologies in Software Engineering</a:t>
            </a:r>
          </a:p>
          <a:p>
            <a:endParaRPr lang="en-US" dirty="0"/>
          </a:p>
          <a:p>
            <a:r>
              <a:rPr lang="en-US" b="1" dirty="0"/>
              <a:t>Product and Process</a:t>
            </a:r>
          </a:p>
          <a:p>
            <a:endParaRPr lang="en-US" dirty="0"/>
          </a:p>
          <a:p>
            <a:pPr marL="285750" indent="-285750">
              <a:buFont typeface="Arial" panose="020B0604020202020204" pitchFamily="34" charset="0"/>
              <a:buChar char="•"/>
            </a:pPr>
            <a:r>
              <a:rPr lang="en-US" dirty="0"/>
              <a:t>Software Product is the end result or outcome of a software project. It can be the actual software system delivered to the customer, along with associated documents such as requirement specifications, design documents, test plans, user manuals, and help guides. It is what fulfills the stated requirements and objectives of the project. The product focuses on the final tangible deliverables of the development effort.</a:t>
            </a:r>
          </a:p>
          <a:p>
            <a:endParaRPr lang="en-US" dirty="0"/>
          </a:p>
          <a:p>
            <a:pPr marL="285750" indent="-285750">
              <a:buFont typeface="Arial" panose="020B0604020202020204" pitchFamily="34" charset="0"/>
              <a:buChar char="•"/>
            </a:pPr>
            <a:r>
              <a:rPr lang="en-US" dirty="0"/>
              <a:t>Software Process refers to the structured set of activities or steps followed to develop the software product. It acts as a framework guiding the project from initial analysis and design through coding, testing, deployment, and maintenance. The process governs how the product is created, ensuring consistency, quality, and predictability during development.</a:t>
            </a:r>
          </a:p>
          <a:p>
            <a:endParaRPr lang="en-IN" dirty="0"/>
          </a:p>
        </p:txBody>
      </p:sp>
    </p:spTree>
    <p:extLst>
      <p:ext uri="{BB962C8B-B14F-4D97-AF65-F5344CB8AC3E}">
        <p14:creationId xmlns:p14="http://schemas.microsoft.com/office/powerpoint/2010/main" val="16930861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07455-4E59-DEEB-92E2-12C97EE88ED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DE4839D-D08E-885C-5E08-D64AADBB4E4C}"/>
              </a:ext>
            </a:extLst>
          </p:cNvPr>
          <p:cNvSpPr txBox="1"/>
          <p:nvPr/>
        </p:nvSpPr>
        <p:spPr>
          <a:xfrm>
            <a:off x="735495" y="0"/>
            <a:ext cx="9014791" cy="6740307"/>
          </a:xfrm>
          <a:prstGeom prst="rect">
            <a:avLst/>
          </a:prstGeom>
          <a:noFill/>
        </p:spPr>
        <p:txBody>
          <a:bodyPr wrap="square">
            <a:spAutoFit/>
          </a:bodyPr>
          <a:lstStyle/>
          <a:p>
            <a:pPr marL="285750" indent="-285750" algn="l">
              <a:buFont typeface="Wingdings" panose="05000000000000000000" pitchFamily="2" charset="2"/>
              <a:buChar char="Ø"/>
            </a:pPr>
            <a:r>
              <a:rPr lang="en-US" b="1" i="0" dirty="0">
                <a:effectLst/>
                <a:latin typeface="fkGrotesk"/>
              </a:rPr>
              <a:t>Module and Software Components</a:t>
            </a:r>
          </a:p>
          <a:p>
            <a:pPr algn="l">
              <a:buNone/>
            </a:pPr>
            <a:endParaRPr lang="en-US" b="0" i="0" dirty="0">
              <a:effectLst/>
              <a:latin typeface="fkGrotesk"/>
            </a:endParaRPr>
          </a:p>
          <a:p>
            <a:pPr algn="l">
              <a:buFont typeface="Arial" panose="020B0604020202020204" pitchFamily="34" charset="0"/>
              <a:buChar char="•"/>
            </a:pPr>
            <a:r>
              <a:rPr lang="en-US" b="0" i="0" dirty="0">
                <a:effectLst/>
                <a:latin typeface="fkGroteskNeue"/>
              </a:rPr>
              <a:t>Module is a smaller, self-contained, and logically separable part of a software system. It represents a specific functionality or a group of related functionalities and encapsulates its internal details. This division enables independent development, testing, maintenance, and replacement.</a:t>
            </a:r>
          </a:p>
          <a:p>
            <a:pPr algn="l">
              <a:buFont typeface="Arial" panose="020B0604020202020204" pitchFamily="34" charset="0"/>
              <a:buChar char="•"/>
            </a:pPr>
            <a:endParaRPr lang="en-US" b="0" i="0" dirty="0">
              <a:effectLst/>
              <a:latin typeface="fkGroteskNeue"/>
            </a:endParaRPr>
          </a:p>
          <a:p>
            <a:pPr algn="l">
              <a:buFont typeface="Arial" panose="020B0604020202020204" pitchFamily="34" charset="0"/>
              <a:buChar char="•"/>
            </a:pPr>
            <a:r>
              <a:rPr lang="en-US" b="0" i="0" dirty="0">
                <a:effectLst/>
                <a:latin typeface="fkGroteskNeue"/>
              </a:rPr>
              <a:t>Software Components are more general building blocks of software which might include modules, subsystems, or services. They usually provide well-defined interfaces, support reusability, and can be combined to create larger systems. Components can be a collection of modules or packages that collaborate to fulfill defined functions or features within the software.</a:t>
            </a:r>
          </a:p>
          <a:p>
            <a:pPr algn="l"/>
            <a:endParaRPr lang="en-US" b="0" i="0" dirty="0">
              <a:effectLst/>
              <a:latin typeface="fkGroteskNeue"/>
            </a:endParaRPr>
          </a:p>
          <a:p>
            <a:pPr marL="285750" indent="-285750" algn="l">
              <a:buFont typeface="Wingdings" panose="05000000000000000000" pitchFamily="2" charset="2"/>
              <a:buChar char="Ø"/>
            </a:pPr>
            <a:r>
              <a:rPr lang="en-US" b="1" i="0" dirty="0">
                <a:effectLst/>
                <a:latin typeface="fkGrotesk"/>
              </a:rPr>
              <a:t>Deliverables and Milestones</a:t>
            </a:r>
          </a:p>
          <a:p>
            <a:pPr algn="l">
              <a:buNone/>
            </a:pPr>
            <a:endParaRPr lang="en-US" b="0" i="0" dirty="0">
              <a:effectLst/>
              <a:latin typeface="fkGrotesk"/>
            </a:endParaRPr>
          </a:p>
          <a:p>
            <a:pPr algn="l">
              <a:buFont typeface="Arial" panose="020B0604020202020204" pitchFamily="34" charset="0"/>
              <a:buChar char="•"/>
            </a:pPr>
            <a:r>
              <a:rPr lang="en-US" b="0" i="0" dirty="0">
                <a:effectLst/>
                <a:latin typeface="fkGroteskNeue"/>
              </a:rPr>
              <a:t>Deliverables are tangible or intangible outputs produced during a software development project. These can include requirement specification documents, design prototypes, source code, test cases, user manuals, and the final software product itself. Deliverables are used to measure progress and ensure that the project meets its objectives.</a:t>
            </a:r>
          </a:p>
          <a:p>
            <a:pPr algn="l">
              <a:buFont typeface="Arial" panose="020B0604020202020204" pitchFamily="34" charset="0"/>
              <a:buChar char="•"/>
            </a:pPr>
            <a:endParaRPr lang="en-US" b="0" i="0" dirty="0">
              <a:effectLst/>
              <a:latin typeface="fkGroteskNeue"/>
            </a:endParaRPr>
          </a:p>
          <a:p>
            <a:pPr algn="l">
              <a:buFont typeface="Arial" panose="020B0604020202020204" pitchFamily="34" charset="0"/>
              <a:buChar char="•"/>
            </a:pPr>
            <a:r>
              <a:rPr lang="en-US" b="0" i="0" dirty="0">
                <a:effectLst/>
                <a:latin typeface="fkGroteskNeue"/>
              </a:rPr>
              <a:t>Milestones are significant points or events in the project timeline that mark the completion of important phases or deliverables. Milestones help in tracking progress, making go/no-go decisions, and facilitating project control. Examples include completing the requirements phase, finalizing the system design, or completing system testing.</a:t>
            </a:r>
          </a:p>
        </p:txBody>
      </p:sp>
    </p:spTree>
    <p:extLst>
      <p:ext uri="{BB962C8B-B14F-4D97-AF65-F5344CB8AC3E}">
        <p14:creationId xmlns:p14="http://schemas.microsoft.com/office/powerpoint/2010/main" val="745716992"/>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43</TotalTime>
  <Words>2366</Words>
  <Application>Microsoft Office PowerPoint</Application>
  <PresentationFormat>Widescreen</PresentationFormat>
  <Paragraphs>192</Paragraphs>
  <Slides>17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fkGrotesk</vt:lpstr>
      <vt:lpstr>fkGroteskNeue</vt:lpstr>
      <vt:lpstr>Trebuchet MS</vt:lpstr>
      <vt:lpstr>Wingdings</vt:lpstr>
      <vt:lpstr>Wingdings 3</vt:lpstr>
      <vt:lpstr>Facet</vt:lpstr>
      <vt:lpstr>Overview of Software Engineering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shshinde2580@gmail.com</dc:creator>
  <cp:lastModifiedBy>shshinde2580@gmail.com</cp:lastModifiedBy>
  <cp:revision>2</cp:revision>
  <dcterms:created xsi:type="dcterms:W3CDTF">2025-10-09T06:59:19Z</dcterms:created>
  <dcterms:modified xsi:type="dcterms:W3CDTF">2025-10-09T13:48:49Z</dcterms:modified>
</cp:coreProperties>
</file>