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26ED4A-30A6-4D49-B103-A15672FB6EBE}" v="14" dt="2025-10-09T09:15:00.200"/>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modSld">
      <pc:chgData name="shshinde2580@gmail.com" userId="86fdf0c531315612" providerId="LiveId" clId="{80EF1F59-5901-4077-BC9B-DA299863282D}" dt="2025-10-09T09:15:51.307" v="281" actId="20577"/>
      <pc:docMkLst>
        <pc:docMk/>
      </pc:docMkLst>
      <pc:sldChg chg="modSp mod">
        <pc:chgData name="shshinde2580@gmail.com" userId="86fdf0c531315612" providerId="LiveId" clId="{80EF1F59-5901-4077-BC9B-DA299863282D}" dt="2025-10-09T08:52:25.861" v="0" actId="113"/>
        <pc:sldMkLst>
          <pc:docMk/>
          <pc:sldMk cId="2628890452" sldId="257"/>
        </pc:sldMkLst>
        <pc:spChg chg="mod">
          <ac:chgData name="shshinde2580@gmail.com" userId="86fdf0c531315612" providerId="LiveId" clId="{80EF1F59-5901-4077-BC9B-DA299863282D}" dt="2025-10-09T08:52:25.861" v="0" actId="113"/>
          <ac:spMkLst>
            <pc:docMk/>
            <pc:sldMk cId="2628890452" sldId="257"/>
            <ac:spMk id="5" creationId="{E95A4DD9-7AAA-8809-5618-45C0D165C432}"/>
          </ac:spMkLst>
        </pc:spChg>
      </pc:sldChg>
      <pc:sldChg chg="addSp modSp mod">
        <pc:chgData name="shshinde2580@gmail.com" userId="86fdf0c531315612" providerId="LiveId" clId="{80EF1F59-5901-4077-BC9B-DA299863282D}" dt="2025-10-09T08:54:33.687" v="23" actId="113"/>
        <pc:sldMkLst>
          <pc:docMk/>
          <pc:sldMk cId="3484710193" sldId="261"/>
        </pc:sldMkLst>
        <pc:spChg chg="add mod">
          <ac:chgData name="shshinde2580@gmail.com" userId="86fdf0c531315612" providerId="LiveId" clId="{80EF1F59-5901-4077-BC9B-DA299863282D}" dt="2025-10-09T08:54:33.687" v="23" actId="113"/>
          <ac:spMkLst>
            <pc:docMk/>
            <pc:sldMk cId="3484710193" sldId="261"/>
            <ac:spMk id="3" creationId="{9015789C-F008-E866-F0CD-49833CBD8288}"/>
          </ac:spMkLst>
        </pc:spChg>
      </pc:sldChg>
      <pc:sldChg chg="addSp modSp mod">
        <pc:chgData name="shshinde2580@gmail.com" userId="86fdf0c531315612" providerId="LiveId" clId="{80EF1F59-5901-4077-BC9B-DA299863282D}" dt="2025-10-09T08:55:59.743" v="40" actId="12"/>
        <pc:sldMkLst>
          <pc:docMk/>
          <pc:sldMk cId="1694393916" sldId="262"/>
        </pc:sldMkLst>
        <pc:spChg chg="add mod">
          <ac:chgData name="shshinde2580@gmail.com" userId="86fdf0c531315612" providerId="LiveId" clId="{80EF1F59-5901-4077-BC9B-DA299863282D}" dt="2025-10-09T08:55:14.641" v="31" actId="113"/>
          <ac:spMkLst>
            <pc:docMk/>
            <pc:sldMk cId="1694393916" sldId="262"/>
            <ac:spMk id="3" creationId="{012BC8B1-8BC3-7997-BB41-9B01B67F5B91}"/>
          </ac:spMkLst>
        </pc:spChg>
        <pc:spChg chg="add mod">
          <ac:chgData name="shshinde2580@gmail.com" userId="86fdf0c531315612" providerId="LiveId" clId="{80EF1F59-5901-4077-BC9B-DA299863282D}" dt="2025-10-09T08:55:59.743" v="40" actId="12"/>
          <ac:spMkLst>
            <pc:docMk/>
            <pc:sldMk cId="1694393916" sldId="262"/>
            <ac:spMk id="4" creationId="{AF234919-8AFC-587E-EFA2-7207CAAFD311}"/>
          </ac:spMkLst>
        </pc:spChg>
      </pc:sldChg>
      <pc:sldChg chg="addSp delSp modSp mod">
        <pc:chgData name="shshinde2580@gmail.com" userId="86fdf0c531315612" providerId="LiveId" clId="{80EF1F59-5901-4077-BC9B-DA299863282D}" dt="2025-10-09T09:01:24.263" v="110" actId="20577"/>
        <pc:sldMkLst>
          <pc:docMk/>
          <pc:sldMk cId="1074515199" sldId="263"/>
        </pc:sldMkLst>
        <pc:spChg chg="add del">
          <ac:chgData name="shshinde2580@gmail.com" userId="86fdf0c531315612" providerId="LiveId" clId="{80EF1F59-5901-4077-BC9B-DA299863282D}" dt="2025-10-09T08:55:34.925" v="33" actId="21"/>
          <ac:spMkLst>
            <pc:docMk/>
            <pc:sldMk cId="1074515199" sldId="263"/>
            <ac:spMk id="3" creationId="{AF234919-8AFC-587E-EFA2-7207CAAFD311}"/>
          </ac:spMkLst>
        </pc:spChg>
        <pc:spChg chg="add mod">
          <ac:chgData name="shshinde2580@gmail.com" userId="86fdf0c531315612" providerId="LiveId" clId="{80EF1F59-5901-4077-BC9B-DA299863282D}" dt="2025-10-09T09:01:24.263" v="110" actId="20577"/>
          <ac:spMkLst>
            <pc:docMk/>
            <pc:sldMk cId="1074515199" sldId="263"/>
            <ac:spMk id="5" creationId="{EEA91627-EDEF-6348-5177-28E2C0D4732F}"/>
          </ac:spMkLst>
        </pc:spChg>
      </pc:sldChg>
      <pc:sldChg chg="addSp modSp mod">
        <pc:chgData name="shshinde2580@gmail.com" userId="86fdf0c531315612" providerId="LiveId" clId="{80EF1F59-5901-4077-BC9B-DA299863282D}" dt="2025-10-09T09:01:44.353" v="115" actId="1076"/>
        <pc:sldMkLst>
          <pc:docMk/>
          <pc:sldMk cId="3334395076" sldId="264"/>
        </pc:sldMkLst>
        <pc:spChg chg="add mod">
          <ac:chgData name="shshinde2580@gmail.com" userId="86fdf0c531315612" providerId="LiveId" clId="{80EF1F59-5901-4077-BC9B-DA299863282D}" dt="2025-10-09T09:01:44.353" v="115" actId="1076"/>
          <ac:spMkLst>
            <pc:docMk/>
            <pc:sldMk cId="3334395076" sldId="264"/>
            <ac:spMk id="3" creationId="{E4752477-C3F8-718E-F855-5B1CBD76CE73}"/>
          </ac:spMkLst>
        </pc:spChg>
      </pc:sldChg>
      <pc:sldChg chg="addSp modSp mod">
        <pc:chgData name="shshinde2580@gmail.com" userId="86fdf0c531315612" providerId="LiveId" clId="{80EF1F59-5901-4077-BC9B-DA299863282D}" dt="2025-10-09T09:02:40.239" v="129" actId="14100"/>
        <pc:sldMkLst>
          <pc:docMk/>
          <pc:sldMk cId="4106449558" sldId="265"/>
        </pc:sldMkLst>
        <pc:spChg chg="add mod">
          <ac:chgData name="shshinde2580@gmail.com" userId="86fdf0c531315612" providerId="LiveId" clId="{80EF1F59-5901-4077-BC9B-DA299863282D}" dt="2025-10-09T09:02:00.089" v="120" actId="1076"/>
          <ac:spMkLst>
            <pc:docMk/>
            <pc:sldMk cId="4106449558" sldId="265"/>
            <ac:spMk id="3" creationId="{03302CAD-CE0E-AE02-D5C7-D42C53C176D2}"/>
          </ac:spMkLst>
        </pc:spChg>
        <pc:spChg chg="add mod">
          <ac:chgData name="shshinde2580@gmail.com" userId="86fdf0c531315612" providerId="LiveId" clId="{80EF1F59-5901-4077-BC9B-DA299863282D}" dt="2025-10-09T09:02:40.239" v="129" actId="14100"/>
          <ac:spMkLst>
            <pc:docMk/>
            <pc:sldMk cId="4106449558" sldId="265"/>
            <ac:spMk id="6" creationId="{0633C8FE-4F61-437C-EFC7-55E05B18C3EC}"/>
          </ac:spMkLst>
        </pc:spChg>
        <pc:graphicFrameChg chg="add mod modGraphic">
          <ac:chgData name="shshinde2580@gmail.com" userId="86fdf0c531315612" providerId="LiveId" clId="{80EF1F59-5901-4077-BC9B-DA299863282D}" dt="2025-10-09T09:02:20.957" v="126" actId="122"/>
          <ac:graphicFrameMkLst>
            <pc:docMk/>
            <pc:sldMk cId="4106449558" sldId="265"/>
            <ac:graphicFrameMk id="4" creationId="{DFE0FF6B-335B-AA50-B38D-EB8CE52F6A83}"/>
          </ac:graphicFrameMkLst>
        </pc:graphicFrameChg>
      </pc:sldChg>
      <pc:sldChg chg="addSp modSp mod">
        <pc:chgData name="shshinde2580@gmail.com" userId="86fdf0c531315612" providerId="LiveId" clId="{80EF1F59-5901-4077-BC9B-DA299863282D}" dt="2025-10-09T09:04:59.154" v="173" actId="12"/>
        <pc:sldMkLst>
          <pc:docMk/>
          <pc:sldMk cId="3507524146" sldId="266"/>
        </pc:sldMkLst>
        <pc:spChg chg="add mod">
          <ac:chgData name="shshinde2580@gmail.com" userId="86fdf0c531315612" providerId="LiveId" clId="{80EF1F59-5901-4077-BC9B-DA299863282D}" dt="2025-10-09T09:04:59.154" v="173" actId="12"/>
          <ac:spMkLst>
            <pc:docMk/>
            <pc:sldMk cId="3507524146" sldId="266"/>
            <ac:spMk id="3" creationId="{A553B53D-A8B9-6F47-3881-195368643530}"/>
          </ac:spMkLst>
        </pc:spChg>
      </pc:sldChg>
      <pc:sldChg chg="addSp modSp mod">
        <pc:chgData name="shshinde2580@gmail.com" userId="86fdf0c531315612" providerId="LiveId" clId="{80EF1F59-5901-4077-BC9B-DA299863282D}" dt="2025-10-09T09:07:43.261" v="205" actId="113"/>
        <pc:sldMkLst>
          <pc:docMk/>
          <pc:sldMk cId="639426718" sldId="267"/>
        </pc:sldMkLst>
        <pc:spChg chg="add mod">
          <ac:chgData name="shshinde2580@gmail.com" userId="86fdf0c531315612" providerId="LiveId" clId="{80EF1F59-5901-4077-BC9B-DA299863282D}" dt="2025-10-09T09:07:43.261" v="205" actId="113"/>
          <ac:spMkLst>
            <pc:docMk/>
            <pc:sldMk cId="639426718" sldId="267"/>
            <ac:spMk id="3" creationId="{F2D01526-9F48-03D9-6DEA-BFA5ECE3BDFD}"/>
          </ac:spMkLst>
        </pc:spChg>
      </pc:sldChg>
      <pc:sldChg chg="addSp modSp mod">
        <pc:chgData name="shshinde2580@gmail.com" userId="86fdf0c531315612" providerId="LiveId" clId="{80EF1F59-5901-4077-BC9B-DA299863282D}" dt="2025-10-09T09:09:10.656" v="216" actId="113"/>
        <pc:sldMkLst>
          <pc:docMk/>
          <pc:sldMk cId="1601602116" sldId="268"/>
        </pc:sldMkLst>
        <pc:spChg chg="add mod">
          <ac:chgData name="shshinde2580@gmail.com" userId="86fdf0c531315612" providerId="LiveId" clId="{80EF1F59-5901-4077-BC9B-DA299863282D}" dt="2025-10-09T09:09:10.656" v="216" actId="113"/>
          <ac:spMkLst>
            <pc:docMk/>
            <pc:sldMk cId="1601602116" sldId="268"/>
            <ac:spMk id="3" creationId="{AF9406C5-4832-E139-7521-CD6700C5D465}"/>
          </ac:spMkLst>
        </pc:spChg>
      </pc:sldChg>
      <pc:sldChg chg="addSp modSp mod">
        <pc:chgData name="shshinde2580@gmail.com" userId="86fdf0c531315612" providerId="LiveId" clId="{80EF1F59-5901-4077-BC9B-DA299863282D}" dt="2025-10-09T09:11:55.081" v="240" actId="14100"/>
        <pc:sldMkLst>
          <pc:docMk/>
          <pc:sldMk cId="4260042239" sldId="269"/>
        </pc:sldMkLst>
        <pc:spChg chg="add mod">
          <ac:chgData name="shshinde2580@gmail.com" userId="86fdf0c531315612" providerId="LiveId" clId="{80EF1F59-5901-4077-BC9B-DA299863282D}" dt="2025-10-09T09:11:55.081" v="240" actId="14100"/>
          <ac:spMkLst>
            <pc:docMk/>
            <pc:sldMk cId="4260042239" sldId="269"/>
            <ac:spMk id="3" creationId="{C6BC7AC7-89B4-A036-7841-C0078DA50658}"/>
          </ac:spMkLst>
        </pc:spChg>
      </pc:sldChg>
      <pc:sldChg chg="addSp modSp mod">
        <pc:chgData name="shshinde2580@gmail.com" userId="86fdf0c531315612" providerId="LiveId" clId="{80EF1F59-5901-4077-BC9B-DA299863282D}" dt="2025-10-09T09:13:49.495" v="256" actId="113"/>
        <pc:sldMkLst>
          <pc:docMk/>
          <pc:sldMk cId="2553528193" sldId="270"/>
        </pc:sldMkLst>
        <pc:spChg chg="add mod">
          <ac:chgData name="shshinde2580@gmail.com" userId="86fdf0c531315612" providerId="LiveId" clId="{80EF1F59-5901-4077-BC9B-DA299863282D}" dt="2025-10-09T09:12:48.832" v="247" actId="313"/>
          <ac:spMkLst>
            <pc:docMk/>
            <pc:sldMk cId="2553528193" sldId="270"/>
            <ac:spMk id="3" creationId="{18455AD2-2130-E85D-B6BD-9234908A41BA}"/>
          </ac:spMkLst>
        </pc:spChg>
        <pc:spChg chg="add mod">
          <ac:chgData name="shshinde2580@gmail.com" userId="86fdf0c531315612" providerId="LiveId" clId="{80EF1F59-5901-4077-BC9B-DA299863282D}" dt="2025-10-09T09:13:49.495" v="256" actId="113"/>
          <ac:spMkLst>
            <pc:docMk/>
            <pc:sldMk cId="2553528193" sldId="270"/>
            <ac:spMk id="5" creationId="{BCB052DF-D201-0044-20D6-1F715B4EB2D3}"/>
          </ac:spMkLst>
        </pc:spChg>
      </pc:sldChg>
      <pc:sldChg chg="addSp modSp mod">
        <pc:chgData name="shshinde2580@gmail.com" userId="86fdf0c531315612" providerId="LiveId" clId="{80EF1F59-5901-4077-BC9B-DA299863282D}" dt="2025-10-09T09:14:22.459" v="261" actId="113"/>
        <pc:sldMkLst>
          <pc:docMk/>
          <pc:sldMk cId="159805674" sldId="271"/>
        </pc:sldMkLst>
        <pc:spChg chg="add mod">
          <ac:chgData name="shshinde2580@gmail.com" userId="86fdf0c531315612" providerId="LiveId" clId="{80EF1F59-5901-4077-BC9B-DA299863282D}" dt="2025-10-09T09:14:22.459" v="261" actId="113"/>
          <ac:spMkLst>
            <pc:docMk/>
            <pc:sldMk cId="159805674" sldId="271"/>
            <ac:spMk id="3" creationId="{F693C52F-B672-5087-B1D0-773909D6AAA2}"/>
          </ac:spMkLst>
        </pc:spChg>
      </pc:sldChg>
      <pc:sldChg chg="addSp modSp mod">
        <pc:chgData name="shshinde2580@gmail.com" userId="86fdf0c531315612" providerId="LiveId" clId="{80EF1F59-5901-4077-BC9B-DA299863282D}" dt="2025-10-09T09:15:51.307" v="281" actId="20577"/>
        <pc:sldMkLst>
          <pc:docMk/>
          <pc:sldMk cId="2671374757" sldId="272"/>
        </pc:sldMkLst>
        <pc:spChg chg="add mod">
          <ac:chgData name="shshinde2580@gmail.com" userId="86fdf0c531315612" providerId="LiveId" clId="{80EF1F59-5901-4077-BC9B-DA299863282D}" dt="2025-10-09T09:15:51.307" v="281" actId="20577"/>
          <ac:spMkLst>
            <pc:docMk/>
            <pc:sldMk cId="2671374757" sldId="272"/>
            <ac:spMk id="3" creationId="{50E462F2-7A4B-B9CB-BE04-DC01F57D67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3E5E0F-93FD-478D-93BB-9EE9A629D41D}" type="datetimeFigureOut">
              <a:rPr lang="en-IN" smtClean="0"/>
              <a:t>09-10-2025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0EFF90-E395-461B-A6B3-B08F9E8390FC}" type="slidenum">
              <a:rPr lang="en-IN" smtClean="0"/>
              <a:t>‹#›</a:t>
            </a:fld>
            <a:endParaRPr lang="en-IN"/>
          </a:p>
        </p:txBody>
      </p:sp>
    </p:spTree>
    <p:extLst>
      <p:ext uri="{BB962C8B-B14F-4D97-AF65-F5344CB8AC3E}">
        <p14:creationId xmlns:p14="http://schemas.microsoft.com/office/powerpoint/2010/main" val="1477109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0EFF90-E395-461B-A6B3-B08F9E8390FC}" type="slidenum">
              <a:rPr lang="en-IN" smtClean="0"/>
              <a:t>1</a:t>
            </a:fld>
            <a:endParaRPr lang="en-IN"/>
          </a:p>
        </p:txBody>
      </p:sp>
    </p:spTree>
    <p:extLst>
      <p:ext uri="{BB962C8B-B14F-4D97-AF65-F5344CB8AC3E}">
        <p14:creationId xmlns:p14="http://schemas.microsoft.com/office/powerpoint/2010/main" val="4202845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172237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1692990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4259115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5E230A-662C-46FC-9F5E-1E79AAA1690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3010165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5E230A-662C-46FC-9F5E-1E79AAA16902}"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176172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5E230A-662C-46FC-9F5E-1E79AAA16902}"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1891304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5E230A-662C-46FC-9F5E-1E79AAA16902}" type="datetimeFigureOut">
              <a:rPr lang="en-IN" smtClean="0"/>
              <a:t>09-10-2025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1842763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5E230A-662C-46FC-9F5E-1E79AAA1690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3664427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5E230A-662C-46FC-9F5E-1E79AAA1690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301991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1998897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7174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2582546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76541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4023102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3409294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E230A-662C-46FC-9F5E-1E79AAA1690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E7079-3946-4CF5-A6BB-B3E34D9538F4}" type="slidenum">
              <a:rPr lang="en-IN" smtClean="0"/>
              <a:t>‹#›</a:t>
            </a:fld>
            <a:endParaRPr lang="en-IN"/>
          </a:p>
        </p:txBody>
      </p:sp>
    </p:spTree>
    <p:extLst>
      <p:ext uri="{BB962C8B-B14F-4D97-AF65-F5344CB8AC3E}">
        <p14:creationId xmlns:p14="http://schemas.microsoft.com/office/powerpoint/2010/main" val="2005579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15E230A-662C-46FC-9F5E-1E79AAA16902}" type="datetimeFigureOut">
              <a:rPr lang="en-IN" smtClean="0"/>
              <a:t>09-10-2025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87E7079-3946-4CF5-A6BB-B3E34D9538F4}" type="slidenum">
              <a:rPr lang="en-IN" smtClean="0"/>
              <a:t>‹#›</a:t>
            </a:fld>
            <a:endParaRPr lang="en-IN"/>
          </a:p>
        </p:txBody>
      </p:sp>
    </p:spTree>
    <p:extLst>
      <p:ext uri="{BB962C8B-B14F-4D97-AF65-F5344CB8AC3E}">
        <p14:creationId xmlns:p14="http://schemas.microsoft.com/office/powerpoint/2010/main" val="1889242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12272-D383-F944-F1D0-E21D3921B1E4}"/>
              </a:ext>
            </a:extLst>
          </p:cNvPr>
          <p:cNvSpPr>
            <a:spLocks noGrp="1"/>
          </p:cNvSpPr>
          <p:nvPr>
            <p:ph type="ctrTitle"/>
          </p:nvPr>
        </p:nvSpPr>
        <p:spPr>
          <a:xfrm>
            <a:off x="546652" y="2334960"/>
            <a:ext cx="9312965" cy="1646302"/>
          </a:xfrm>
        </p:spPr>
        <p:txBody>
          <a:bodyPr/>
          <a:lstStyle/>
          <a:p>
            <a:pPr algn="ctr"/>
            <a:r>
              <a:rPr lang="en-IN" dirty="0"/>
              <a:t>Agile Methodology </a:t>
            </a:r>
          </a:p>
        </p:txBody>
      </p:sp>
    </p:spTree>
    <p:extLst>
      <p:ext uri="{BB962C8B-B14F-4D97-AF65-F5344CB8AC3E}">
        <p14:creationId xmlns:p14="http://schemas.microsoft.com/office/powerpoint/2010/main" val="785091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5A4DD9-7AAA-8809-5618-45C0D165C432}"/>
              </a:ext>
            </a:extLst>
          </p:cNvPr>
          <p:cNvSpPr txBox="1"/>
          <p:nvPr/>
        </p:nvSpPr>
        <p:spPr>
          <a:xfrm>
            <a:off x="834886" y="145271"/>
            <a:ext cx="8517835" cy="4801314"/>
          </a:xfrm>
          <a:prstGeom prst="rect">
            <a:avLst/>
          </a:prstGeom>
          <a:noFill/>
        </p:spPr>
        <p:txBody>
          <a:bodyPr wrap="square">
            <a:spAutoFit/>
          </a:bodyPr>
          <a:lstStyle/>
          <a:p>
            <a:r>
              <a:rPr lang="en-US" b="1" dirty="0"/>
              <a:t>3.1 Agile Software Methodology: What is Agile Methodology , </a:t>
            </a:r>
          </a:p>
          <a:p>
            <a:r>
              <a:rPr lang="en-US" b="1" dirty="0"/>
              <a:t>Importance of Agile Methodology , </a:t>
            </a:r>
          </a:p>
          <a:p>
            <a:r>
              <a:rPr lang="en-US" b="1" dirty="0"/>
              <a:t>Difference between Prescriptive and Agile Process Model ,</a:t>
            </a:r>
          </a:p>
          <a:p>
            <a:r>
              <a:rPr lang="en-US" b="1" dirty="0"/>
              <a:t>Agility Principles</a:t>
            </a:r>
          </a:p>
          <a:p>
            <a:endParaRPr lang="en-US" dirty="0"/>
          </a:p>
          <a:p>
            <a:r>
              <a:rPr lang="en-US" b="1" dirty="0"/>
              <a:t>Agile Software Methodology</a:t>
            </a:r>
          </a:p>
          <a:p>
            <a:endParaRPr lang="en-US" dirty="0"/>
          </a:p>
          <a:p>
            <a:r>
              <a:rPr lang="en-US" b="1" dirty="0"/>
              <a:t>What is Agile Methodology?</a:t>
            </a:r>
          </a:p>
          <a:p>
            <a:endParaRPr lang="en-US" dirty="0"/>
          </a:p>
          <a:p>
            <a:r>
              <a:rPr lang="en-US" dirty="0"/>
              <a:t>Agile methodology is an iterative and incremental approach to software development that values flexibility, collaboration, customer satisfaction, and rapid delivery of working software. It promotes adaptive planning, evolutionary development, early delivery, and continuous improvement, encouraging teams to respond swiftly to change and maintain close cooperation with customers and stakeholders.</a:t>
            </a:r>
          </a:p>
          <a:p>
            <a:endParaRPr lang="en-US" dirty="0"/>
          </a:p>
          <a:p>
            <a:endParaRPr lang="en-IN" dirty="0"/>
          </a:p>
        </p:txBody>
      </p:sp>
    </p:spTree>
    <p:extLst>
      <p:ext uri="{BB962C8B-B14F-4D97-AF65-F5344CB8AC3E}">
        <p14:creationId xmlns:p14="http://schemas.microsoft.com/office/powerpoint/2010/main" val="2628890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B481-E3E8-B65C-A703-6F83C0ACA92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B6157EB-0A1E-A1AB-4018-F7C02E386E86}"/>
              </a:ext>
            </a:extLst>
          </p:cNvPr>
          <p:cNvSpPr txBox="1"/>
          <p:nvPr/>
        </p:nvSpPr>
        <p:spPr>
          <a:xfrm>
            <a:off x="834887" y="91472"/>
            <a:ext cx="8468139" cy="3693319"/>
          </a:xfrm>
          <a:prstGeom prst="rect">
            <a:avLst/>
          </a:prstGeom>
          <a:noFill/>
        </p:spPr>
        <p:txBody>
          <a:bodyPr wrap="square">
            <a:spAutoFit/>
          </a:bodyPr>
          <a:lstStyle/>
          <a:p>
            <a:pPr algn="l">
              <a:buNone/>
            </a:pPr>
            <a:r>
              <a:rPr lang="en-US" b="1" i="0" dirty="0">
                <a:effectLst/>
                <a:latin typeface="fkGrotesk"/>
              </a:rPr>
              <a:t>Importance of Agile Methodology</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Customer Satisfaction: Through early and continuous delivery of valuable software, customers get working solutions quickly and can provide feedback.</a:t>
            </a:r>
          </a:p>
          <a:p>
            <a:pPr algn="l">
              <a:buFont typeface="Arial" panose="020B0604020202020204" pitchFamily="34" charset="0"/>
              <a:buChar char="•"/>
            </a:pPr>
            <a:r>
              <a:rPr lang="en-US" b="0" i="0" dirty="0">
                <a:effectLst/>
                <a:latin typeface="fkGroteskNeue"/>
              </a:rPr>
              <a:t>Adaptability: Agile embraces changing requirements even late in the project, ensuring the product stays aligned with user needs.</a:t>
            </a:r>
          </a:p>
          <a:p>
            <a:pPr algn="l">
              <a:buFont typeface="Arial" panose="020B0604020202020204" pitchFamily="34" charset="0"/>
              <a:buChar char="•"/>
            </a:pPr>
            <a:r>
              <a:rPr lang="en-US" b="0" i="0" dirty="0">
                <a:effectLst/>
                <a:latin typeface="fkGroteskNeue"/>
              </a:rPr>
              <a:t>Improved Quality: Continuous testing and integration improve software quality.</a:t>
            </a:r>
          </a:p>
          <a:p>
            <a:pPr algn="l">
              <a:buFont typeface="Arial" panose="020B0604020202020204" pitchFamily="34" charset="0"/>
              <a:buChar char="•"/>
            </a:pPr>
            <a:r>
              <a:rPr lang="en-US" b="0" i="0" dirty="0">
                <a:effectLst/>
                <a:latin typeface="fkGroteskNeue"/>
              </a:rPr>
              <a:t>Enhanced Collaboration: Agile fosters teamwork and active communication between developers and stakeholders.</a:t>
            </a:r>
          </a:p>
          <a:p>
            <a:pPr algn="l">
              <a:buFont typeface="Arial" panose="020B0604020202020204" pitchFamily="34" charset="0"/>
              <a:buChar char="•"/>
            </a:pPr>
            <a:r>
              <a:rPr lang="en-US" b="0" i="0" dirty="0">
                <a:effectLst/>
                <a:latin typeface="fkGroteskNeue"/>
              </a:rPr>
              <a:t>Sustainability: Teams maintain a constant development pace, reducing burnout and improving productivity</a:t>
            </a:r>
          </a:p>
          <a:p>
            <a:pPr algn="l">
              <a:buFont typeface="Arial" panose="020B0604020202020204" pitchFamily="34" charset="0"/>
              <a:buChar char="•"/>
            </a:pPr>
            <a:endParaRPr lang="en-US" dirty="0">
              <a:latin typeface="fkGroteskNeue"/>
            </a:endParaRPr>
          </a:p>
          <a:p>
            <a:pPr marL="285750" indent="-285750">
              <a:buFont typeface="Wingdings" panose="05000000000000000000" pitchFamily="2" charset="2"/>
              <a:buChar char="§"/>
            </a:pPr>
            <a:r>
              <a:rPr lang="en-US" b="1" dirty="0"/>
              <a:t>Difference Between Prescriptive and Agile Process Models</a:t>
            </a:r>
          </a:p>
        </p:txBody>
      </p:sp>
    </p:spTree>
    <p:extLst>
      <p:ext uri="{BB962C8B-B14F-4D97-AF65-F5344CB8AC3E}">
        <p14:creationId xmlns:p14="http://schemas.microsoft.com/office/powerpoint/2010/main" val="1519686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F3750-EC0F-4315-CB64-C2E728C51ABD}"/>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77686FE-E7D6-C128-8260-9E53F81F3B6D}"/>
              </a:ext>
            </a:extLst>
          </p:cNvPr>
          <p:cNvGraphicFramePr>
            <a:graphicFrameLocks noGrp="1"/>
          </p:cNvGraphicFramePr>
          <p:nvPr>
            <p:extLst>
              <p:ext uri="{D42A27DB-BD31-4B8C-83A1-F6EECF244321}">
                <p14:modId xmlns:p14="http://schemas.microsoft.com/office/powerpoint/2010/main" val="2876727672"/>
              </p:ext>
            </p:extLst>
          </p:nvPr>
        </p:nvGraphicFramePr>
        <p:xfrm>
          <a:off x="824947" y="176775"/>
          <a:ext cx="8637105" cy="4250744"/>
        </p:xfrm>
        <a:graphic>
          <a:graphicData uri="http://schemas.openxmlformats.org/drawingml/2006/table">
            <a:tbl>
              <a:tblPr>
                <a:tableStyleId>{5940675A-B579-460E-94D1-54222C63F5DA}</a:tableStyleId>
              </a:tblPr>
              <a:tblGrid>
                <a:gridCol w="2429851">
                  <a:extLst>
                    <a:ext uri="{9D8B030D-6E8A-4147-A177-3AD203B41FA5}">
                      <a16:colId xmlns:a16="http://schemas.microsoft.com/office/drawing/2014/main" val="178595064"/>
                    </a:ext>
                  </a:extLst>
                </a:gridCol>
                <a:gridCol w="3328219">
                  <a:extLst>
                    <a:ext uri="{9D8B030D-6E8A-4147-A177-3AD203B41FA5}">
                      <a16:colId xmlns:a16="http://schemas.microsoft.com/office/drawing/2014/main" val="3579099311"/>
                    </a:ext>
                  </a:extLst>
                </a:gridCol>
                <a:gridCol w="2879035">
                  <a:extLst>
                    <a:ext uri="{9D8B030D-6E8A-4147-A177-3AD203B41FA5}">
                      <a16:colId xmlns:a16="http://schemas.microsoft.com/office/drawing/2014/main" val="1966209115"/>
                    </a:ext>
                  </a:extLst>
                </a:gridCol>
              </a:tblGrid>
              <a:tr h="431271">
                <a:tc>
                  <a:txBody>
                    <a:bodyPr/>
                    <a:lstStyle/>
                    <a:p>
                      <a:pPr algn="ctr">
                        <a:buNone/>
                      </a:pPr>
                      <a:r>
                        <a:rPr lang="en-IN" sz="1400" b="1" dirty="0">
                          <a:effectLst/>
                        </a:rPr>
                        <a:t>Aspect</a:t>
                      </a:r>
                    </a:p>
                  </a:txBody>
                  <a:tcPr marL="39206" marR="39206" marT="39206" marB="39206" anchor="ctr"/>
                </a:tc>
                <a:tc>
                  <a:txBody>
                    <a:bodyPr/>
                    <a:lstStyle/>
                    <a:p>
                      <a:pPr algn="ctr">
                        <a:buNone/>
                      </a:pPr>
                      <a:r>
                        <a:rPr lang="en-IN" sz="1400" b="1" dirty="0">
                          <a:effectLst/>
                        </a:rPr>
                        <a:t>Prescriptive Process Model</a:t>
                      </a:r>
                    </a:p>
                  </a:txBody>
                  <a:tcPr marL="39206" marR="39206" marT="39206" marB="39206" anchor="ctr"/>
                </a:tc>
                <a:tc>
                  <a:txBody>
                    <a:bodyPr/>
                    <a:lstStyle/>
                    <a:p>
                      <a:pPr algn="ctr">
                        <a:buNone/>
                      </a:pPr>
                      <a:r>
                        <a:rPr lang="en-IN" sz="1400" b="1" dirty="0">
                          <a:effectLst/>
                        </a:rPr>
                        <a:t>Agile Process Model</a:t>
                      </a:r>
                    </a:p>
                  </a:txBody>
                  <a:tcPr marL="39206" marR="39206" marT="39206" marB="39206" anchor="ctr"/>
                </a:tc>
                <a:extLst>
                  <a:ext uri="{0D108BD9-81ED-4DB2-BD59-A6C34878D82A}">
                    <a16:rowId xmlns:a16="http://schemas.microsoft.com/office/drawing/2014/main" val="1914547670"/>
                  </a:ext>
                </a:extLst>
              </a:tr>
              <a:tr h="431271">
                <a:tc>
                  <a:txBody>
                    <a:bodyPr/>
                    <a:lstStyle/>
                    <a:p>
                      <a:pPr algn="l">
                        <a:buNone/>
                      </a:pPr>
                      <a:r>
                        <a:rPr lang="en-IN" sz="1400" dirty="0">
                          <a:effectLst/>
                        </a:rPr>
                        <a:t>Approach</a:t>
                      </a:r>
                    </a:p>
                  </a:txBody>
                  <a:tcPr marL="39206" marR="39206" marT="39206" marB="39206" anchor="ctr"/>
                </a:tc>
                <a:tc>
                  <a:txBody>
                    <a:bodyPr/>
                    <a:lstStyle/>
                    <a:p>
                      <a:pPr algn="l">
                        <a:buNone/>
                      </a:pPr>
                      <a:r>
                        <a:rPr lang="en-IN" sz="1400">
                          <a:effectLst/>
                        </a:rPr>
                        <a:t>Plan-driven, sequential, rigid steps</a:t>
                      </a:r>
                    </a:p>
                  </a:txBody>
                  <a:tcPr marL="39206" marR="39206" marT="39206" marB="39206" anchor="ctr"/>
                </a:tc>
                <a:tc>
                  <a:txBody>
                    <a:bodyPr/>
                    <a:lstStyle/>
                    <a:p>
                      <a:pPr algn="l">
                        <a:buNone/>
                      </a:pPr>
                      <a:r>
                        <a:rPr lang="en-IN" sz="1400">
                          <a:effectLst/>
                        </a:rPr>
                        <a:t>Adaptive, iterative, flexible</a:t>
                      </a:r>
                    </a:p>
                  </a:txBody>
                  <a:tcPr marL="39206" marR="39206" marT="39206" marB="39206" anchor="ctr"/>
                </a:tc>
                <a:extLst>
                  <a:ext uri="{0D108BD9-81ED-4DB2-BD59-A6C34878D82A}">
                    <a16:rowId xmlns:a16="http://schemas.microsoft.com/office/drawing/2014/main" val="1552866121"/>
                  </a:ext>
                </a:extLst>
              </a:tr>
              <a:tr h="431271">
                <a:tc>
                  <a:txBody>
                    <a:bodyPr/>
                    <a:lstStyle/>
                    <a:p>
                      <a:pPr algn="l">
                        <a:buNone/>
                      </a:pPr>
                      <a:r>
                        <a:rPr lang="en-IN" sz="1400" dirty="0">
                          <a:effectLst/>
                        </a:rPr>
                        <a:t>Planning</a:t>
                      </a:r>
                    </a:p>
                  </a:txBody>
                  <a:tcPr marL="39206" marR="39206" marT="39206" marB="39206" anchor="ctr"/>
                </a:tc>
                <a:tc>
                  <a:txBody>
                    <a:bodyPr/>
                    <a:lstStyle/>
                    <a:p>
                      <a:pPr algn="l">
                        <a:buNone/>
                      </a:pPr>
                      <a:r>
                        <a:rPr lang="en-IN" sz="1400">
                          <a:effectLst/>
                        </a:rPr>
                        <a:t>Detailed upfront planning</a:t>
                      </a:r>
                    </a:p>
                  </a:txBody>
                  <a:tcPr marL="39206" marR="39206" marT="39206" marB="39206" anchor="ctr"/>
                </a:tc>
                <a:tc>
                  <a:txBody>
                    <a:bodyPr/>
                    <a:lstStyle/>
                    <a:p>
                      <a:pPr algn="l">
                        <a:buNone/>
                      </a:pPr>
                      <a:r>
                        <a:rPr lang="en-US" sz="1400">
                          <a:effectLst/>
                        </a:rPr>
                        <a:t>Incremental planning, evolves with project</a:t>
                      </a:r>
                    </a:p>
                  </a:txBody>
                  <a:tcPr marL="39206" marR="39206" marT="39206" marB="39206" anchor="ctr"/>
                </a:tc>
                <a:extLst>
                  <a:ext uri="{0D108BD9-81ED-4DB2-BD59-A6C34878D82A}">
                    <a16:rowId xmlns:a16="http://schemas.microsoft.com/office/drawing/2014/main" val="836526409"/>
                  </a:ext>
                </a:extLst>
              </a:tr>
              <a:tr h="431271">
                <a:tc>
                  <a:txBody>
                    <a:bodyPr/>
                    <a:lstStyle/>
                    <a:p>
                      <a:pPr algn="l">
                        <a:buNone/>
                      </a:pPr>
                      <a:r>
                        <a:rPr lang="en-IN" sz="1400">
                          <a:effectLst/>
                        </a:rPr>
                        <a:t>Customer Involvement</a:t>
                      </a:r>
                    </a:p>
                  </a:txBody>
                  <a:tcPr marL="39206" marR="39206" marT="39206" marB="39206" anchor="ctr"/>
                </a:tc>
                <a:tc>
                  <a:txBody>
                    <a:bodyPr/>
                    <a:lstStyle/>
                    <a:p>
                      <a:pPr algn="l">
                        <a:buNone/>
                      </a:pPr>
                      <a:r>
                        <a:rPr lang="en-IN" sz="1400">
                          <a:effectLst/>
                        </a:rPr>
                        <a:t>Limited, mostly upfront requirements</a:t>
                      </a:r>
                    </a:p>
                  </a:txBody>
                  <a:tcPr marL="39206" marR="39206" marT="39206" marB="39206" anchor="ctr"/>
                </a:tc>
                <a:tc>
                  <a:txBody>
                    <a:bodyPr/>
                    <a:lstStyle/>
                    <a:p>
                      <a:pPr algn="l">
                        <a:buNone/>
                      </a:pPr>
                      <a:r>
                        <a:rPr lang="en-IN" sz="1400">
                          <a:effectLst/>
                        </a:rPr>
                        <a:t>Continuous involvement throughout development</a:t>
                      </a:r>
                    </a:p>
                  </a:txBody>
                  <a:tcPr marL="39206" marR="39206" marT="39206" marB="39206" anchor="ctr"/>
                </a:tc>
                <a:extLst>
                  <a:ext uri="{0D108BD9-81ED-4DB2-BD59-A6C34878D82A}">
                    <a16:rowId xmlns:a16="http://schemas.microsoft.com/office/drawing/2014/main" val="1585974869"/>
                  </a:ext>
                </a:extLst>
              </a:tr>
              <a:tr h="431271">
                <a:tc>
                  <a:txBody>
                    <a:bodyPr/>
                    <a:lstStyle/>
                    <a:p>
                      <a:pPr algn="l">
                        <a:buNone/>
                      </a:pPr>
                      <a:r>
                        <a:rPr lang="en-IN" sz="1400">
                          <a:effectLst/>
                        </a:rPr>
                        <a:t>Flexibility</a:t>
                      </a:r>
                    </a:p>
                  </a:txBody>
                  <a:tcPr marL="39206" marR="39206" marT="39206" marB="39206" anchor="ctr"/>
                </a:tc>
                <a:tc>
                  <a:txBody>
                    <a:bodyPr/>
                    <a:lstStyle/>
                    <a:p>
                      <a:pPr algn="l">
                        <a:buNone/>
                      </a:pPr>
                      <a:r>
                        <a:rPr lang="en-IN" sz="1400">
                          <a:effectLst/>
                        </a:rPr>
                        <a:t>Low, changes discouraged</a:t>
                      </a:r>
                    </a:p>
                  </a:txBody>
                  <a:tcPr marL="39206" marR="39206" marT="39206" marB="39206" anchor="ctr"/>
                </a:tc>
                <a:tc>
                  <a:txBody>
                    <a:bodyPr/>
                    <a:lstStyle/>
                    <a:p>
                      <a:pPr algn="l">
                        <a:buNone/>
                      </a:pPr>
                      <a:r>
                        <a:rPr lang="en-US" sz="1400">
                          <a:effectLst/>
                        </a:rPr>
                        <a:t>High, embraces and adapts to changes</a:t>
                      </a:r>
                    </a:p>
                  </a:txBody>
                  <a:tcPr marL="39206" marR="39206" marT="39206" marB="39206" anchor="ctr"/>
                </a:tc>
                <a:extLst>
                  <a:ext uri="{0D108BD9-81ED-4DB2-BD59-A6C34878D82A}">
                    <a16:rowId xmlns:a16="http://schemas.microsoft.com/office/drawing/2014/main" val="339381445"/>
                  </a:ext>
                </a:extLst>
              </a:tr>
              <a:tr h="431271">
                <a:tc>
                  <a:txBody>
                    <a:bodyPr/>
                    <a:lstStyle/>
                    <a:p>
                      <a:pPr algn="l">
                        <a:buNone/>
                      </a:pPr>
                      <a:r>
                        <a:rPr lang="en-IN" sz="1400">
                          <a:effectLst/>
                        </a:rPr>
                        <a:t>Documentation</a:t>
                      </a:r>
                    </a:p>
                  </a:txBody>
                  <a:tcPr marL="39206" marR="39206" marT="39206" marB="39206" anchor="ctr"/>
                </a:tc>
                <a:tc>
                  <a:txBody>
                    <a:bodyPr/>
                    <a:lstStyle/>
                    <a:p>
                      <a:pPr algn="l">
                        <a:buNone/>
                      </a:pPr>
                      <a:r>
                        <a:rPr lang="en-IN" sz="1400">
                          <a:effectLst/>
                        </a:rPr>
                        <a:t>Heavy documentation emphasis</a:t>
                      </a:r>
                    </a:p>
                  </a:txBody>
                  <a:tcPr marL="39206" marR="39206" marT="39206" marB="39206" anchor="ctr"/>
                </a:tc>
                <a:tc>
                  <a:txBody>
                    <a:bodyPr/>
                    <a:lstStyle/>
                    <a:p>
                      <a:pPr algn="l">
                        <a:buNone/>
                      </a:pPr>
                      <a:r>
                        <a:rPr lang="en-IN" sz="1400" dirty="0">
                          <a:effectLst/>
                        </a:rPr>
                        <a:t>Minimal essential documentation</a:t>
                      </a:r>
                    </a:p>
                  </a:txBody>
                  <a:tcPr marL="39206" marR="39206" marT="39206" marB="39206" anchor="ctr"/>
                </a:tc>
                <a:extLst>
                  <a:ext uri="{0D108BD9-81ED-4DB2-BD59-A6C34878D82A}">
                    <a16:rowId xmlns:a16="http://schemas.microsoft.com/office/drawing/2014/main" val="3689840305"/>
                  </a:ext>
                </a:extLst>
              </a:tr>
              <a:tr h="431271">
                <a:tc>
                  <a:txBody>
                    <a:bodyPr/>
                    <a:lstStyle/>
                    <a:p>
                      <a:pPr algn="l">
                        <a:buNone/>
                      </a:pPr>
                      <a:r>
                        <a:rPr lang="en-IN" sz="1400">
                          <a:effectLst/>
                        </a:rPr>
                        <a:t>Development Style</a:t>
                      </a:r>
                    </a:p>
                  </a:txBody>
                  <a:tcPr marL="39206" marR="39206" marT="39206" marB="39206" anchor="ctr"/>
                </a:tc>
                <a:tc>
                  <a:txBody>
                    <a:bodyPr/>
                    <a:lstStyle/>
                    <a:p>
                      <a:pPr algn="l">
                        <a:buNone/>
                      </a:pPr>
                      <a:r>
                        <a:rPr lang="en-IN" sz="1400">
                          <a:effectLst/>
                        </a:rPr>
                        <a:t>Large, monolithic releases</a:t>
                      </a:r>
                    </a:p>
                  </a:txBody>
                  <a:tcPr marL="39206" marR="39206" marT="39206" marB="39206" anchor="ctr"/>
                </a:tc>
                <a:tc>
                  <a:txBody>
                    <a:bodyPr/>
                    <a:lstStyle/>
                    <a:p>
                      <a:pPr algn="l">
                        <a:buNone/>
                      </a:pPr>
                      <a:r>
                        <a:rPr lang="en-IN" sz="1400">
                          <a:effectLst/>
                        </a:rPr>
                        <a:t>Frequent, small, working releases</a:t>
                      </a:r>
                    </a:p>
                  </a:txBody>
                  <a:tcPr marL="39206" marR="39206" marT="39206" marB="39206" anchor="ctr"/>
                </a:tc>
                <a:extLst>
                  <a:ext uri="{0D108BD9-81ED-4DB2-BD59-A6C34878D82A}">
                    <a16:rowId xmlns:a16="http://schemas.microsoft.com/office/drawing/2014/main" val="3584851694"/>
                  </a:ext>
                </a:extLst>
              </a:tr>
              <a:tr h="431271">
                <a:tc>
                  <a:txBody>
                    <a:bodyPr/>
                    <a:lstStyle/>
                    <a:p>
                      <a:pPr algn="l">
                        <a:buNone/>
                      </a:pPr>
                      <a:r>
                        <a:rPr lang="en-IN" sz="1400">
                          <a:effectLst/>
                        </a:rPr>
                        <a:t>Feedback Cycle</a:t>
                      </a:r>
                    </a:p>
                  </a:txBody>
                  <a:tcPr marL="39206" marR="39206" marT="39206" marB="39206" anchor="ctr"/>
                </a:tc>
                <a:tc>
                  <a:txBody>
                    <a:bodyPr/>
                    <a:lstStyle/>
                    <a:p>
                      <a:pPr algn="l">
                        <a:buNone/>
                      </a:pPr>
                      <a:r>
                        <a:rPr lang="en-IN" sz="1400">
                          <a:effectLst/>
                        </a:rPr>
                        <a:t>Long gaps between milestones</a:t>
                      </a:r>
                    </a:p>
                  </a:txBody>
                  <a:tcPr marL="39206" marR="39206" marT="39206" marB="39206" anchor="ctr"/>
                </a:tc>
                <a:tc>
                  <a:txBody>
                    <a:bodyPr/>
                    <a:lstStyle/>
                    <a:p>
                      <a:pPr algn="l">
                        <a:buNone/>
                      </a:pPr>
                      <a:r>
                        <a:rPr lang="en-US" sz="1400">
                          <a:effectLst/>
                        </a:rPr>
                        <a:t>Short feedback cycles with frequent deliveries</a:t>
                      </a:r>
                    </a:p>
                  </a:txBody>
                  <a:tcPr marL="39206" marR="39206" marT="39206" marB="39206" anchor="ctr"/>
                </a:tc>
                <a:extLst>
                  <a:ext uri="{0D108BD9-81ED-4DB2-BD59-A6C34878D82A}">
                    <a16:rowId xmlns:a16="http://schemas.microsoft.com/office/drawing/2014/main" val="3684424790"/>
                  </a:ext>
                </a:extLst>
              </a:tr>
              <a:tr h="431271">
                <a:tc>
                  <a:txBody>
                    <a:bodyPr/>
                    <a:lstStyle/>
                    <a:p>
                      <a:pPr algn="l">
                        <a:buNone/>
                      </a:pPr>
                      <a:r>
                        <a:rPr lang="en-IN" sz="1400">
                          <a:effectLst/>
                        </a:rPr>
                        <a:t>Examples</a:t>
                      </a:r>
                    </a:p>
                  </a:txBody>
                  <a:tcPr marL="39206" marR="39206" marT="39206" marB="39206" anchor="ctr"/>
                </a:tc>
                <a:tc>
                  <a:txBody>
                    <a:bodyPr/>
                    <a:lstStyle/>
                    <a:p>
                      <a:pPr algn="l">
                        <a:buNone/>
                      </a:pPr>
                      <a:r>
                        <a:rPr lang="en-IN" sz="1400">
                          <a:effectLst/>
                        </a:rPr>
                        <a:t>Waterfall, V-model</a:t>
                      </a:r>
                    </a:p>
                  </a:txBody>
                  <a:tcPr marL="39206" marR="39206" marT="39206" marB="39206" anchor="ctr"/>
                </a:tc>
                <a:tc>
                  <a:txBody>
                    <a:bodyPr/>
                    <a:lstStyle/>
                    <a:p>
                      <a:pPr algn="l">
                        <a:buNone/>
                      </a:pPr>
                      <a:r>
                        <a:rPr lang="nl-NL" sz="1400" dirty="0">
                          <a:effectLst/>
                        </a:rPr>
                        <a:t>Scrum, Kanban, Extreme Programming (XP)</a:t>
                      </a:r>
                    </a:p>
                  </a:txBody>
                  <a:tcPr marL="39206" marR="39206" marT="39206" marB="39206" anchor="ctr"/>
                </a:tc>
                <a:extLst>
                  <a:ext uri="{0D108BD9-81ED-4DB2-BD59-A6C34878D82A}">
                    <a16:rowId xmlns:a16="http://schemas.microsoft.com/office/drawing/2014/main" val="3847213187"/>
                  </a:ext>
                </a:extLst>
              </a:tr>
            </a:tbl>
          </a:graphicData>
        </a:graphic>
      </p:graphicFrame>
      <p:sp>
        <p:nvSpPr>
          <p:cNvPr id="3" name="TextBox 2">
            <a:extLst>
              <a:ext uri="{FF2B5EF4-FFF2-40B4-BE49-F238E27FC236}">
                <a16:creationId xmlns:a16="http://schemas.microsoft.com/office/drawing/2014/main" id="{82C1DE33-73C1-7B19-9B6F-7445D13827A8}"/>
              </a:ext>
            </a:extLst>
          </p:cNvPr>
          <p:cNvSpPr txBox="1"/>
          <p:nvPr/>
        </p:nvSpPr>
        <p:spPr>
          <a:xfrm>
            <a:off x="665920" y="4636461"/>
            <a:ext cx="8706679" cy="646331"/>
          </a:xfrm>
          <a:prstGeom prst="rect">
            <a:avLst/>
          </a:prstGeom>
          <a:noFill/>
        </p:spPr>
        <p:txBody>
          <a:bodyPr wrap="square">
            <a:spAutoFit/>
          </a:bodyPr>
          <a:lstStyle/>
          <a:p>
            <a:r>
              <a:rPr lang="en-US" b="0" i="0" dirty="0">
                <a:effectLst/>
                <a:latin typeface="fkGroteskNeue"/>
              </a:rPr>
              <a:t>Prescriptive models emphasize control and predictability, while Agile focuses on flexibility and responsiveness to change.</a:t>
            </a:r>
            <a:endParaRPr lang="en-IN" dirty="0"/>
          </a:p>
        </p:txBody>
      </p:sp>
    </p:spTree>
    <p:extLst>
      <p:ext uri="{BB962C8B-B14F-4D97-AF65-F5344CB8AC3E}">
        <p14:creationId xmlns:p14="http://schemas.microsoft.com/office/powerpoint/2010/main" val="1268256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81327-4BD7-3ECA-0008-1B85DA43EF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CB7F04-612F-97DF-49C5-C6C8303C5D7B}"/>
              </a:ext>
            </a:extLst>
          </p:cNvPr>
          <p:cNvSpPr txBox="1"/>
          <p:nvPr/>
        </p:nvSpPr>
        <p:spPr>
          <a:xfrm>
            <a:off x="834887" y="147003"/>
            <a:ext cx="8597348" cy="4247317"/>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Agility Principles (from Agile Manifesto)</a:t>
            </a:r>
          </a:p>
          <a:p>
            <a:pPr algn="l">
              <a:buNone/>
            </a:pPr>
            <a:endParaRPr lang="en-US" b="0" i="0" dirty="0">
              <a:effectLst/>
              <a:latin typeface="fkGrotesk"/>
            </a:endParaRPr>
          </a:p>
          <a:p>
            <a:pPr algn="l">
              <a:buFont typeface="+mj-lt"/>
              <a:buAutoNum type="arabicPeriod"/>
            </a:pPr>
            <a:r>
              <a:rPr lang="en-US" b="0" i="0" dirty="0">
                <a:effectLst/>
                <a:latin typeface="fkGroteskNeue"/>
              </a:rPr>
              <a:t>Customer satisfaction by early and continuous delivery of valuable software.</a:t>
            </a:r>
          </a:p>
          <a:p>
            <a:pPr algn="l">
              <a:buFont typeface="+mj-lt"/>
              <a:buAutoNum type="arabicPeriod"/>
            </a:pPr>
            <a:r>
              <a:rPr lang="en-US" b="0" i="0" dirty="0">
                <a:effectLst/>
                <a:latin typeface="fkGroteskNeue"/>
              </a:rPr>
              <a:t>Welcome changing requirements even late in development.</a:t>
            </a:r>
          </a:p>
          <a:p>
            <a:pPr algn="l">
              <a:buFont typeface="+mj-lt"/>
              <a:buAutoNum type="arabicPeriod"/>
            </a:pPr>
            <a:r>
              <a:rPr lang="en-US" b="0" i="0" dirty="0">
                <a:effectLst/>
                <a:latin typeface="fkGroteskNeue"/>
              </a:rPr>
              <a:t>Deliver working software frequently, preferring shorter timescales.</a:t>
            </a:r>
          </a:p>
          <a:p>
            <a:pPr algn="l">
              <a:buFont typeface="+mj-lt"/>
              <a:buAutoNum type="arabicPeriod"/>
            </a:pPr>
            <a:r>
              <a:rPr lang="en-US" b="0" i="0" dirty="0">
                <a:effectLst/>
                <a:latin typeface="fkGroteskNeue"/>
              </a:rPr>
              <a:t>Business and developers must collaborate daily.</a:t>
            </a:r>
          </a:p>
          <a:p>
            <a:pPr algn="l">
              <a:buFont typeface="+mj-lt"/>
              <a:buAutoNum type="arabicPeriod"/>
            </a:pPr>
            <a:r>
              <a:rPr lang="en-US" b="0" i="0" dirty="0">
                <a:effectLst/>
                <a:latin typeface="fkGroteskNeue"/>
              </a:rPr>
              <a:t>Build projects around motivated individuals and trust them to get the job done.</a:t>
            </a:r>
          </a:p>
          <a:p>
            <a:pPr algn="l">
              <a:buFont typeface="+mj-lt"/>
              <a:buAutoNum type="arabicPeriod"/>
            </a:pPr>
            <a:r>
              <a:rPr lang="en-US" b="0" i="0" dirty="0">
                <a:effectLst/>
                <a:latin typeface="fkGroteskNeue"/>
              </a:rPr>
              <a:t>Face-to-face conversations are the most effective communication method.</a:t>
            </a:r>
          </a:p>
          <a:p>
            <a:pPr algn="l">
              <a:buFont typeface="+mj-lt"/>
              <a:buAutoNum type="arabicPeriod"/>
            </a:pPr>
            <a:r>
              <a:rPr lang="en-US" b="0" i="0" dirty="0">
                <a:effectLst/>
                <a:latin typeface="fkGroteskNeue"/>
              </a:rPr>
              <a:t>Working software is the primary measure of progress.</a:t>
            </a:r>
          </a:p>
          <a:p>
            <a:pPr algn="l">
              <a:buFont typeface="+mj-lt"/>
              <a:buAutoNum type="arabicPeriod"/>
            </a:pPr>
            <a:r>
              <a:rPr lang="en-US" b="0" i="0" dirty="0">
                <a:effectLst/>
                <a:latin typeface="fkGroteskNeue"/>
              </a:rPr>
              <a:t>Agile processes promote sustainable development with a constant pace.</a:t>
            </a:r>
          </a:p>
          <a:p>
            <a:pPr algn="l">
              <a:buFont typeface="+mj-lt"/>
              <a:buAutoNum type="arabicPeriod"/>
            </a:pPr>
            <a:r>
              <a:rPr lang="en-US" b="0" i="0" dirty="0">
                <a:effectLst/>
                <a:latin typeface="fkGroteskNeue"/>
              </a:rPr>
              <a:t>Continuous attention to technical excellence and good design enhances agility.</a:t>
            </a:r>
          </a:p>
          <a:p>
            <a:pPr algn="l">
              <a:buFont typeface="+mj-lt"/>
              <a:buAutoNum type="arabicPeriod"/>
            </a:pPr>
            <a:r>
              <a:rPr lang="en-US" b="0" i="0" dirty="0">
                <a:effectLst/>
                <a:latin typeface="fkGroteskNeue"/>
              </a:rPr>
              <a:t>Simplicity—the art of maximizing the amount of work not done—is essential.</a:t>
            </a:r>
          </a:p>
          <a:p>
            <a:pPr algn="l">
              <a:buFont typeface="+mj-lt"/>
              <a:buAutoNum type="arabicPeriod"/>
            </a:pPr>
            <a:r>
              <a:rPr lang="en-US" b="0" i="0" dirty="0">
                <a:effectLst/>
                <a:latin typeface="fkGroteskNeue"/>
              </a:rPr>
              <a:t>The best architectures, requirements, and designs emerge from self-organizing teams.</a:t>
            </a:r>
          </a:p>
          <a:p>
            <a:pPr algn="l">
              <a:buFont typeface="+mj-lt"/>
              <a:buAutoNum type="arabicPeriod"/>
            </a:pPr>
            <a:r>
              <a:rPr lang="en-US" b="0" i="0" dirty="0">
                <a:effectLst/>
                <a:latin typeface="fkGroteskNeue"/>
              </a:rPr>
              <a:t>At regular intervals, the team reflects on how to become more effective then tunes and adjusts accordingly.</a:t>
            </a:r>
          </a:p>
        </p:txBody>
      </p:sp>
    </p:spTree>
    <p:extLst>
      <p:ext uri="{BB962C8B-B14F-4D97-AF65-F5344CB8AC3E}">
        <p14:creationId xmlns:p14="http://schemas.microsoft.com/office/powerpoint/2010/main" val="417990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A52F-D03A-A51E-4945-73AF052EE5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15789C-F008-E866-F0CD-49833CBD8288}"/>
              </a:ext>
            </a:extLst>
          </p:cNvPr>
          <p:cNvSpPr txBox="1"/>
          <p:nvPr/>
        </p:nvSpPr>
        <p:spPr>
          <a:xfrm>
            <a:off x="954157" y="262595"/>
            <a:ext cx="8319052" cy="6463308"/>
          </a:xfrm>
          <a:prstGeom prst="rect">
            <a:avLst/>
          </a:prstGeom>
          <a:noFill/>
        </p:spPr>
        <p:txBody>
          <a:bodyPr wrap="square">
            <a:spAutoFit/>
          </a:bodyPr>
          <a:lstStyle/>
          <a:p>
            <a:r>
              <a:rPr lang="en-IN" b="1" dirty="0"/>
              <a:t>3.2 Adaptive Software Development</a:t>
            </a:r>
          </a:p>
          <a:p>
            <a:endParaRPr lang="en-IN" dirty="0"/>
          </a:p>
          <a:p>
            <a:pPr marL="285750" indent="-285750">
              <a:buFont typeface="Wingdings" panose="05000000000000000000" pitchFamily="2" charset="2"/>
              <a:buChar char="Ø"/>
            </a:pPr>
            <a:r>
              <a:rPr lang="en-US" b="1" dirty="0"/>
              <a:t>Adaptive Software Development (ASD)</a:t>
            </a:r>
          </a:p>
          <a:p>
            <a:endParaRPr lang="en-US" dirty="0"/>
          </a:p>
          <a:p>
            <a:r>
              <a:rPr lang="en-US" dirty="0"/>
              <a:t>What is Adaptive Software Development?</a:t>
            </a:r>
          </a:p>
          <a:p>
            <a:r>
              <a:rPr lang="en-US" dirty="0"/>
              <a:t>Adaptive Software Development (ASD) is an agile software development methodology focusing on flexibility, continuous learning, and responsiveness to changing requirements and environments. It evolved from Rapid Application Development (RAD) and promotes iterative development through short cycles with close collaboration among team members and stakeholders.</a:t>
            </a:r>
          </a:p>
          <a:p>
            <a:r>
              <a:rPr lang="en-IN" dirty="0"/>
              <a:t> </a:t>
            </a:r>
          </a:p>
          <a:p>
            <a:pPr marL="285750" indent="-285750">
              <a:buFont typeface="Wingdings" panose="05000000000000000000" pitchFamily="2" charset="2"/>
              <a:buChar char="§"/>
            </a:pPr>
            <a:r>
              <a:rPr lang="en-US" b="1" dirty="0"/>
              <a:t>Key Characteristics of ASD</a:t>
            </a:r>
          </a:p>
          <a:p>
            <a:endParaRPr lang="en-US" dirty="0"/>
          </a:p>
          <a:p>
            <a:pPr marL="285750" indent="-285750">
              <a:buFont typeface="Arial" panose="020B0604020202020204" pitchFamily="34" charset="0"/>
              <a:buChar char="•"/>
            </a:pPr>
            <a:r>
              <a:rPr lang="en-US" dirty="0"/>
              <a:t>Mission-Focused: Emphasizes aligning development efforts with the overall project mission and goals.</a:t>
            </a:r>
          </a:p>
          <a:p>
            <a:pPr marL="285750" indent="-285750">
              <a:buFont typeface="Arial" panose="020B0604020202020204" pitchFamily="34" charset="0"/>
              <a:buChar char="•"/>
            </a:pPr>
            <a:r>
              <a:rPr lang="en-US" dirty="0"/>
              <a:t>Iterative and Timeboxed: Development happens in short timeboxed iterations delivering incremental product improvements.</a:t>
            </a:r>
          </a:p>
          <a:p>
            <a:pPr marL="285750" indent="-285750">
              <a:buFont typeface="Arial" panose="020B0604020202020204" pitchFamily="34" charset="0"/>
              <a:buChar char="•"/>
            </a:pPr>
            <a:r>
              <a:rPr lang="en-US" dirty="0"/>
              <a:t>Feature-Based: Features are developed incrementally to deliver continuous value.</a:t>
            </a:r>
          </a:p>
          <a:p>
            <a:pPr marL="285750" indent="-285750">
              <a:buFont typeface="Arial" panose="020B0604020202020204" pitchFamily="34" charset="0"/>
              <a:buChar char="•"/>
            </a:pPr>
            <a:r>
              <a:rPr lang="en-US" dirty="0"/>
              <a:t>Change-Tolerant: Welcomes and adapts to change throughout the project lifecycle.</a:t>
            </a:r>
          </a:p>
          <a:p>
            <a:pPr marL="285750" indent="-285750">
              <a:buFont typeface="Arial" panose="020B0604020202020204" pitchFamily="34" charset="0"/>
              <a:buChar char="•"/>
            </a:pPr>
            <a:r>
              <a:rPr lang="en-US" dirty="0"/>
              <a:t>Collaborative: Promotes teamwork, real-time communication, and collective ownership of work.</a:t>
            </a:r>
          </a:p>
        </p:txBody>
      </p:sp>
    </p:spTree>
    <p:extLst>
      <p:ext uri="{BB962C8B-B14F-4D97-AF65-F5344CB8AC3E}">
        <p14:creationId xmlns:p14="http://schemas.microsoft.com/office/powerpoint/2010/main" val="3484710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9AA2-E9B7-1BD7-04D6-F77D4671D8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2BC8B1-8BC3-7997-BB41-9B01B67F5B91}"/>
              </a:ext>
            </a:extLst>
          </p:cNvPr>
          <p:cNvSpPr txBox="1"/>
          <p:nvPr/>
        </p:nvSpPr>
        <p:spPr>
          <a:xfrm>
            <a:off x="815009" y="163639"/>
            <a:ext cx="8328991" cy="4247317"/>
          </a:xfrm>
          <a:prstGeom prst="rect">
            <a:avLst/>
          </a:prstGeom>
          <a:noFill/>
        </p:spPr>
        <p:txBody>
          <a:bodyPr wrap="square">
            <a:spAutoFit/>
          </a:bodyPr>
          <a:lstStyle/>
          <a:p>
            <a:pPr algn="l">
              <a:buNone/>
            </a:pPr>
            <a:r>
              <a:rPr lang="en-US" b="1" i="0" dirty="0">
                <a:effectLst/>
                <a:latin typeface="fkGrotesk"/>
              </a:rPr>
              <a:t>ASD Life Cycle Phases</a:t>
            </a:r>
          </a:p>
          <a:p>
            <a:pPr algn="l">
              <a:buNone/>
            </a:pPr>
            <a:endParaRPr lang="en-US" b="0" i="0" dirty="0">
              <a:effectLst/>
              <a:latin typeface="fkGrotesk"/>
            </a:endParaRPr>
          </a:p>
          <a:p>
            <a:pPr algn="l">
              <a:buFont typeface="+mj-lt"/>
              <a:buAutoNum type="arabicPeriod"/>
            </a:pPr>
            <a:r>
              <a:rPr lang="en-US" b="1" i="0" dirty="0">
                <a:effectLst/>
                <a:latin typeface="fkGroteskNeue"/>
              </a:rPr>
              <a:t>Speculation</a:t>
            </a:r>
            <a:r>
              <a:rPr lang="en-US" b="0" i="0" dirty="0">
                <a:effectLst/>
                <a:latin typeface="fkGroteskNeue"/>
              </a:rPr>
              <a:t>:</a:t>
            </a:r>
          </a:p>
          <a:p>
            <a:pPr marL="742950" lvl="1" indent="-285750" algn="l">
              <a:buFont typeface="+mj-lt"/>
              <a:buAutoNum type="arabicPeriod"/>
            </a:pPr>
            <a:r>
              <a:rPr lang="en-US" b="0" i="0" dirty="0">
                <a:effectLst/>
                <a:latin typeface="fkGroteskNeue"/>
              </a:rPr>
              <a:t>Instead of detailed upfront planning, ASD starts with a broad vision and high-level goals.</a:t>
            </a:r>
          </a:p>
          <a:p>
            <a:pPr marL="742950" lvl="1" indent="-285750" algn="l">
              <a:buFont typeface="+mj-lt"/>
              <a:buAutoNum type="arabicPeriod"/>
            </a:pPr>
            <a:r>
              <a:rPr lang="en-US" b="0" i="0" dirty="0">
                <a:effectLst/>
                <a:latin typeface="fkGroteskNeue"/>
              </a:rPr>
              <a:t>Focuses on identifying risks, assumptions, and setting a flexible roadmap.</a:t>
            </a:r>
          </a:p>
          <a:p>
            <a:pPr algn="l">
              <a:buFont typeface="+mj-lt"/>
              <a:buAutoNum type="arabicPeriod"/>
            </a:pPr>
            <a:r>
              <a:rPr lang="en-US" b="1" i="0" dirty="0">
                <a:effectLst/>
                <a:latin typeface="fkGroteskNeue"/>
              </a:rPr>
              <a:t>Collaboration:</a:t>
            </a:r>
          </a:p>
          <a:p>
            <a:pPr marL="742950" lvl="1" indent="-285750" algn="l">
              <a:buFont typeface="+mj-lt"/>
              <a:buAutoNum type="arabicPeriod"/>
            </a:pPr>
            <a:r>
              <a:rPr lang="en-US" b="0" i="0" dirty="0">
                <a:effectLst/>
                <a:latin typeface="fkGroteskNeue"/>
              </a:rPr>
              <a:t>Teams work closely together with frequent communication and shared responsibilities.</a:t>
            </a:r>
          </a:p>
          <a:p>
            <a:pPr marL="742950" lvl="1" indent="-285750" algn="l">
              <a:buFont typeface="+mj-lt"/>
              <a:buAutoNum type="arabicPeriod"/>
            </a:pPr>
            <a:r>
              <a:rPr lang="en-US" b="0" i="0" dirty="0">
                <a:effectLst/>
                <a:latin typeface="fkGroteskNeue"/>
              </a:rPr>
              <a:t>Rapid prototyping, iterative design, and continuous testing happen here to build the product incrementally.</a:t>
            </a:r>
          </a:p>
          <a:p>
            <a:pPr algn="l">
              <a:buFont typeface="+mj-lt"/>
              <a:buAutoNum type="arabicPeriod"/>
            </a:pPr>
            <a:r>
              <a:rPr lang="en-US" b="1" i="0" dirty="0">
                <a:effectLst/>
                <a:latin typeface="fkGroteskNeue"/>
              </a:rPr>
              <a:t>Learning:</a:t>
            </a:r>
          </a:p>
          <a:p>
            <a:pPr marL="742950" lvl="1" indent="-285750" algn="l">
              <a:buFont typeface="+mj-lt"/>
              <a:buAutoNum type="arabicPeriod"/>
            </a:pPr>
            <a:r>
              <a:rPr lang="en-US" b="0" i="0" dirty="0">
                <a:effectLst/>
                <a:latin typeface="fkGroteskNeue"/>
              </a:rPr>
              <a:t>Continuous feedback is collected, and lessons learned from each iteration are used to adjust and improve subsequent cycles.</a:t>
            </a:r>
          </a:p>
          <a:p>
            <a:pPr marL="742950" lvl="1" indent="-285750" algn="l">
              <a:buFont typeface="+mj-lt"/>
              <a:buAutoNum type="arabicPeriod"/>
            </a:pPr>
            <a:r>
              <a:rPr lang="en-US" b="0" i="0" dirty="0">
                <a:effectLst/>
                <a:latin typeface="fkGroteskNeue"/>
              </a:rPr>
              <a:t>Encourages reflection and adaptation to improve both the process and product.</a:t>
            </a:r>
          </a:p>
        </p:txBody>
      </p:sp>
      <p:sp>
        <p:nvSpPr>
          <p:cNvPr id="4" name="TextBox 3">
            <a:extLst>
              <a:ext uri="{FF2B5EF4-FFF2-40B4-BE49-F238E27FC236}">
                <a16:creationId xmlns:a16="http://schemas.microsoft.com/office/drawing/2014/main" id="{AF234919-8AFC-587E-EFA2-7207CAAFD311}"/>
              </a:ext>
            </a:extLst>
          </p:cNvPr>
          <p:cNvSpPr txBox="1"/>
          <p:nvPr/>
        </p:nvSpPr>
        <p:spPr>
          <a:xfrm>
            <a:off x="815009" y="4609738"/>
            <a:ext cx="8557591" cy="2031325"/>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Benefits of Adaptive Software Development</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Flexibility to handle rapidly changing requirements.</a:t>
            </a:r>
          </a:p>
          <a:p>
            <a:pPr algn="l">
              <a:buFont typeface="Arial" panose="020B0604020202020204" pitchFamily="34" charset="0"/>
              <a:buChar char="•"/>
            </a:pPr>
            <a:r>
              <a:rPr lang="en-US" b="0" i="0" dirty="0">
                <a:effectLst/>
                <a:latin typeface="fkGroteskNeue"/>
              </a:rPr>
              <a:t>Early and continuous delivery of valuable software features.</a:t>
            </a:r>
          </a:p>
          <a:p>
            <a:pPr algn="l">
              <a:buFont typeface="Arial" panose="020B0604020202020204" pitchFamily="34" charset="0"/>
              <a:buChar char="•"/>
            </a:pPr>
            <a:r>
              <a:rPr lang="en-US" b="0" i="0" dirty="0">
                <a:effectLst/>
                <a:latin typeface="fkGroteskNeue"/>
              </a:rPr>
              <a:t>Reduced risk through iterative risk management.</a:t>
            </a:r>
          </a:p>
          <a:p>
            <a:pPr algn="l">
              <a:buFont typeface="Arial" panose="020B0604020202020204" pitchFamily="34" charset="0"/>
              <a:buChar char="•"/>
            </a:pPr>
            <a:r>
              <a:rPr lang="en-US" b="0" i="0" dirty="0">
                <a:effectLst/>
                <a:latin typeface="fkGroteskNeue"/>
              </a:rPr>
              <a:t>Enhanced customer satisfaction with ongoing involvement.</a:t>
            </a:r>
          </a:p>
          <a:p>
            <a:pPr algn="l">
              <a:buFont typeface="Arial" panose="020B0604020202020204" pitchFamily="34" charset="0"/>
              <a:buChar char="•"/>
            </a:pPr>
            <a:r>
              <a:rPr lang="en-US" b="0" i="0" dirty="0">
                <a:effectLst/>
                <a:latin typeface="fkGroteskNeue"/>
              </a:rPr>
              <a:t>Improved team morale and productivity through collaboration and empowerment</a:t>
            </a:r>
          </a:p>
        </p:txBody>
      </p:sp>
    </p:spTree>
    <p:extLst>
      <p:ext uri="{BB962C8B-B14F-4D97-AF65-F5344CB8AC3E}">
        <p14:creationId xmlns:p14="http://schemas.microsoft.com/office/powerpoint/2010/main" val="1694393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2D0EF-27D1-9217-D00E-0841661074F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A91627-EDEF-6348-5177-28E2C0D4732F}"/>
              </a:ext>
            </a:extLst>
          </p:cNvPr>
          <p:cNvSpPr txBox="1"/>
          <p:nvPr/>
        </p:nvSpPr>
        <p:spPr>
          <a:xfrm>
            <a:off x="785192" y="186973"/>
            <a:ext cx="8478078" cy="6463308"/>
          </a:xfrm>
          <a:prstGeom prst="rect">
            <a:avLst/>
          </a:prstGeom>
          <a:noFill/>
        </p:spPr>
        <p:txBody>
          <a:bodyPr wrap="square">
            <a:spAutoFit/>
          </a:bodyPr>
          <a:lstStyle/>
          <a:p>
            <a:pPr algn="l">
              <a:buNone/>
            </a:pPr>
            <a:r>
              <a:rPr lang="en-US" b="1" i="0" dirty="0">
                <a:effectLst/>
                <a:latin typeface="fkGrotesk"/>
              </a:rPr>
              <a:t>Challenges of Adaptive Software Development</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Requires high levels of customer involvement and collaboration.</a:t>
            </a:r>
          </a:p>
          <a:p>
            <a:pPr algn="l">
              <a:buFont typeface="Arial" panose="020B0604020202020204" pitchFamily="34" charset="0"/>
              <a:buChar char="•"/>
            </a:pPr>
            <a:r>
              <a:rPr lang="en-US" b="0" i="0" dirty="0">
                <a:effectLst/>
                <a:latin typeface="fkGroteskNeue"/>
              </a:rPr>
              <a:t>Managing scope creep due to continuous changes.</a:t>
            </a:r>
          </a:p>
          <a:p>
            <a:pPr algn="l">
              <a:buFont typeface="Arial" panose="020B0604020202020204" pitchFamily="34" charset="0"/>
              <a:buChar char="•"/>
            </a:pPr>
            <a:r>
              <a:rPr lang="en-US" b="0" i="0" dirty="0">
                <a:effectLst/>
                <a:latin typeface="fkGroteskNeue"/>
              </a:rPr>
              <a:t>Potentially higher costs due to integrated testing in every phase.</a:t>
            </a:r>
          </a:p>
          <a:p>
            <a:pPr algn="l">
              <a:buFont typeface="Arial" panose="020B0604020202020204" pitchFamily="34" charset="0"/>
              <a:buChar char="•"/>
            </a:pPr>
            <a:r>
              <a:rPr lang="en-US" b="0" i="0" dirty="0">
                <a:effectLst/>
                <a:latin typeface="fkGroteskNeue"/>
              </a:rPr>
              <a:t>Requires experienced, self-organizing teams to be effective.</a:t>
            </a:r>
          </a:p>
          <a:p>
            <a:pPr algn="l">
              <a:buFont typeface="Arial" panose="020B0604020202020204" pitchFamily="34" charset="0"/>
              <a:buChar char="•"/>
            </a:pPr>
            <a:endParaRPr lang="en-US" dirty="0">
              <a:latin typeface="fkGroteskNeue"/>
            </a:endParaRPr>
          </a:p>
          <a:p>
            <a:r>
              <a:rPr lang="en-IN" b="1" dirty="0"/>
              <a:t>3.3 Agile Process Model: Scrum Process Flow</a:t>
            </a:r>
          </a:p>
          <a:p>
            <a:endParaRPr lang="en-IN" b="1" dirty="0"/>
          </a:p>
          <a:p>
            <a:pPr marL="285750" indent="-285750">
              <a:buFont typeface="Wingdings" panose="05000000000000000000" pitchFamily="2" charset="2"/>
              <a:buChar char="§"/>
            </a:pPr>
            <a:r>
              <a:rPr lang="en-US" b="1" dirty="0"/>
              <a:t>Scrum Process Flow in Agile Methodology</a:t>
            </a:r>
          </a:p>
          <a:p>
            <a:endParaRPr lang="en-US" dirty="0"/>
          </a:p>
          <a:p>
            <a:r>
              <a:rPr lang="en-US" dirty="0"/>
              <a:t>Scrum is an Agile framework used to manage complex software development projects. It revolves around iterative cycles called sprints and emphasizes collaboration, transparency, and continuous improvement.</a:t>
            </a:r>
          </a:p>
          <a:p>
            <a:endParaRPr lang="en-US" dirty="0"/>
          </a:p>
          <a:p>
            <a:r>
              <a:rPr lang="en-US" b="1" dirty="0"/>
              <a:t>Main Phases of Scrum Process Flow</a:t>
            </a:r>
          </a:p>
          <a:p>
            <a:endParaRPr lang="en-US" dirty="0"/>
          </a:p>
          <a:p>
            <a:pPr marL="342900" indent="-342900">
              <a:buAutoNum type="arabicPeriod"/>
            </a:pPr>
            <a:r>
              <a:rPr lang="en-US" dirty="0"/>
              <a:t>Initiation Phase</a:t>
            </a:r>
          </a:p>
          <a:p>
            <a:pPr marL="742950" lvl="1" indent="-285750">
              <a:buFont typeface="Arial" panose="020B0604020202020204" pitchFamily="34" charset="0"/>
              <a:buChar char="•"/>
            </a:pPr>
            <a:r>
              <a:rPr lang="en-US" dirty="0"/>
              <a:t>Define the project vision, objectives, and high-level goals.</a:t>
            </a:r>
          </a:p>
          <a:p>
            <a:pPr marL="742950" lvl="1" indent="-285750">
              <a:buFont typeface="Arial" panose="020B0604020202020204" pitchFamily="34" charset="0"/>
              <a:buChar char="•"/>
            </a:pPr>
            <a:r>
              <a:rPr lang="en-US" dirty="0"/>
              <a:t>Identify stakeholders and assign roles (Product Owner, Scrum Master, Development Team).</a:t>
            </a:r>
          </a:p>
          <a:p>
            <a:pPr marL="742950" lvl="1" indent="-285750">
              <a:buFont typeface="Arial" panose="020B0604020202020204" pitchFamily="34" charset="0"/>
              <a:buChar char="•"/>
            </a:pPr>
            <a:r>
              <a:rPr lang="en-US" dirty="0"/>
              <a:t>Create the initial Product Backlog, a prioritized list of features and requirements.</a:t>
            </a:r>
          </a:p>
        </p:txBody>
      </p:sp>
    </p:spTree>
    <p:extLst>
      <p:ext uri="{BB962C8B-B14F-4D97-AF65-F5344CB8AC3E}">
        <p14:creationId xmlns:p14="http://schemas.microsoft.com/office/powerpoint/2010/main" val="1074515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7BD18-F8DA-137E-D50E-F1B1AB1148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752477-C3F8-718E-F855-5B1CBD76CE73}"/>
              </a:ext>
            </a:extLst>
          </p:cNvPr>
          <p:cNvSpPr txBox="1"/>
          <p:nvPr/>
        </p:nvSpPr>
        <p:spPr>
          <a:xfrm>
            <a:off x="854766" y="117693"/>
            <a:ext cx="8398565" cy="6740307"/>
          </a:xfrm>
          <a:prstGeom prst="rect">
            <a:avLst/>
          </a:prstGeom>
          <a:noFill/>
        </p:spPr>
        <p:txBody>
          <a:bodyPr wrap="square">
            <a:spAutoFit/>
          </a:bodyPr>
          <a:lstStyle/>
          <a:p>
            <a:pPr algn="l"/>
            <a:r>
              <a:rPr lang="en-US" b="1" i="0" dirty="0">
                <a:effectLst/>
                <a:latin typeface="fkGroteskNeue"/>
              </a:rPr>
              <a:t>2. Planning Phase</a:t>
            </a:r>
          </a:p>
          <a:p>
            <a:pPr marL="742950" lvl="1" indent="-285750" algn="l">
              <a:buFont typeface="+mj-lt"/>
              <a:buAutoNum type="arabicPeriod"/>
            </a:pPr>
            <a:r>
              <a:rPr lang="en-US" b="0" i="0" dirty="0">
                <a:effectLst/>
                <a:latin typeface="fkGroteskNeue"/>
              </a:rPr>
              <a:t>Break down Product Backlog items into smaller User Stories.</a:t>
            </a:r>
          </a:p>
          <a:p>
            <a:pPr marL="742950" lvl="1" indent="-285750" algn="l">
              <a:buFont typeface="+mj-lt"/>
              <a:buAutoNum type="arabicPeriod"/>
            </a:pPr>
            <a:r>
              <a:rPr lang="en-US" b="0" i="0" dirty="0">
                <a:effectLst/>
                <a:latin typeface="fkGroteskNeue"/>
              </a:rPr>
              <a:t>Prioritize and estimate the effort for each story.</a:t>
            </a:r>
          </a:p>
          <a:p>
            <a:pPr marL="742950" lvl="1" indent="-285750" algn="l">
              <a:buFont typeface="+mj-lt"/>
              <a:buAutoNum type="arabicPeriod"/>
            </a:pPr>
            <a:r>
              <a:rPr lang="en-US" b="0" i="0" dirty="0">
                <a:effectLst/>
                <a:latin typeface="fkGroteskNeue"/>
              </a:rPr>
              <a:t>Plan the upcoming Sprint, including which backlog items will be addressed.</a:t>
            </a:r>
          </a:p>
          <a:p>
            <a:pPr lvl="1" algn="l"/>
            <a:endParaRPr lang="en-US" b="0" i="0" dirty="0">
              <a:effectLst/>
              <a:latin typeface="fkGroteskNeue"/>
            </a:endParaRPr>
          </a:p>
          <a:p>
            <a:pPr algn="l"/>
            <a:r>
              <a:rPr lang="en-US" b="1" i="0" dirty="0">
                <a:effectLst/>
                <a:latin typeface="fkGroteskNeue"/>
              </a:rPr>
              <a:t>3.Implementation (Sprint) Phase</a:t>
            </a:r>
          </a:p>
          <a:p>
            <a:pPr marL="742950" lvl="1" indent="-285750" algn="l">
              <a:buFont typeface="+mj-lt"/>
              <a:buAutoNum type="arabicPeriod"/>
            </a:pPr>
            <a:r>
              <a:rPr lang="en-US" b="0" i="0" dirty="0">
                <a:effectLst/>
                <a:latin typeface="fkGroteskNeue"/>
              </a:rPr>
              <a:t>Development team works on selected User Stories for a fixed Sprint duration (typically 2-4 weeks).</a:t>
            </a:r>
          </a:p>
          <a:p>
            <a:pPr marL="742950" lvl="1" indent="-285750" algn="l">
              <a:buFont typeface="+mj-lt"/>
              <a:buAutoNum type="arabicPeriod"/>
            </a:pPr>
            <a:r>
              <a:rPr lang="en-US" b="0" i="0" dirty="0">
                <a:effectLst/>
                <a:latin typeface="fkGroteskNeue"/>
              </a:rPr>
              <a:t>Conduct Daily Scrum Meetings (15-minute standups) to discuss progress, plan the day, and identify blockers.</a:t>
            </a:r>
          </a:p>
          <a:p>
            <a:pPr marL="742950" lvl="1" indent="-285750" algn="l">
              <a:buFont typeface="+mj-lt"/>
              <a:buAutoNum type="arabicPeriod"/>
            </a:pPr>
            <a:r>
              <a:rPr lang="en-US" b="0" i="0" dirty="0">
                <a:effectLst/>
                <a:latin typeface="fkGroteskNeue"/>
              </a:rPr>
              <a:t>Track progress using tools like Burndown Charts that show remaining work vs. time.</a:t>
            </a:r>
          </a:p>
          <a:p>
            <a:pPr lvl="1" algn="l"/>
            <a:endParaRPr lang="en-US" b="0" i="0" dirty="0">
              <a:effectLst/>
              <a:latin typeface="fkGroteskNeue"/>
            </a:endParaRPr>
          </a:p>
          <a:p>
            <a:pPr algn="l"/>
            <a:r>
              <a:rPr lang="en-US" b="1" i="0" dirty="0">
                <a:effectLst/>
                <a:latin typeface="fkGroteskNeue"/>
              </a:rPr>
              <a:t>4.Review and Retrospective Phase</a:t>
            </a:r>
          </a:p>
          <a:p>
            <a:pPr marL="742950" lvl="1" indent="-285750" algn="l">
              <a:buFont typeface="+mj-lt"/>
              <a:buAutoNum type="arabicPeriod"/>
            </a:pPr>
            <a:r>
              <a:rPr lang="en-US" b="0" i="0" dirty="0">
                <a:effectLst/>
                <a:latin typeface="fkGroteskNeue"/>
              </a:rPr>
              <a:t>At Sprint’s end, conduct a Sprint Review to demonstrate completed work to stakeholders, gather feedback, and decide acceptance.</a:t>
            </a:r>
          </a:p>
          <a:p>
            <a:pPr marL="742950" lvl="1" indent="-285750" algn="l">
              <a:buFont typeface="+mj-lt"/>
              <a:buAutoNum type="arabicPeriod"/>
            </a:pPr>
            <a:r>
              <a:rPr lang="en-US" b="0" i="0" dirty="0">
                <a:effectLst/>
                <a:latin typeface="fkGroteskNeue"/>
              </a:rPr>
              <a:t>Hold a Sprint Retrospective with the team to reflect on what went well and what can be improved for the next Sprint.</a:t>
            </a:r>
          </a:p>
          <a:p>
            <a:pPr lvl="1" algn="l"/>
            <a:endParaRPr lang="en-US" b="0" i="0" dirty="0">
              <a:effectLst/>
              <a:latin typeface="fkGroteskNeue"/>
            </a:endParaRPr>
          </a:p>
          <a:p>
            <a:pPr algn="l"/>
            <a:r>
              <a:rPr lang="en-US" b="1" dirty="0">
                <a:latin typeface="fkGroteskNeue"/>
              </a:rPr>
              <a:t>5.</a:t>
            </a:r>
            <a:r>
              <a:rPr lang="en-US" b="1" i="0" dirty="0">
                <a:effectLst/>
                <a:latin typeface="fkGroteskNeue"/>
              </a:rPr>
              <a:t>Release Phase</a:t>
            </a:r>
          </a:p>
          <a:p>
            <a:pPr marL="742950" lvl="1" indent="-285750" algn="l">
              <a:buFont typeface="+mj-lt"/>
              <a:buAutoNum type="arabicPeriod"/>
            </a:pPr>
            <a:r>
              <a:rPr lang="en-US" b="0" i="0" dirty="0">
                <a:effectLst/>
                <a:latin typeface="fkGroteskNeue"/>
              </a:rPr>
              <a:t>Delivery or deployment of the product increment(s) to the customer or production environment.</a:t>
            </a:r>
          </a:p>
          <a:p>
            <a:pPr marL="742950" lvl="1" indent="-285750" algn="l">
              <a:buFont typeface="+mj-lt"/>
              <a:buAutoNum type="arabicPeriod"/>
            </a:pPr>
            <a:r>
              <a:rPr lang="en-US" b="0" i="0" dirty="0">
                <a:effectLst/>
                <a:latin typeface="fkGroteskNeue"/>
              </a:rPr>
              <a:t>Perform any final testing or project retrospective upon completion of all planned Sprints.</a:t>
            </a:r>
          </a:p>
        </p:txBody>
      </p:sp>
    </p:spTree>
    <p:extLst>
      <p:ext uri="{BB962C8B-B14F-4D97-AF65-F5344CB8AC3E}">
        <p14:creationId xmlns:p14="http://schemas.microsoft.com/office/powerpoint/2010/main" val="3334395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B4444-FC55-360C-C687-B5B0FE9878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302CAD-CE0E-AE02-D5C7-D42C53C176D2}"/>
              </a:ext>
            </a:extLst>
          </p:cNvPr>
          <p:cNvSpPr txBox="1"/>
          <p:nvPr/>
        </p:nvSpPr>
        <p:spPr>
          <a:xfrm>
            <a:off x="924339" y="124744"/>
            <a:ext cx="8090452" cy="369332"/>
          </a:xfrm>
          <a:prstGeom prst="rect">
            <a:avLst/>
          </a:prstGeom>
          <a:noFill/>
        </p:spPr>
        <p:txBody>
          <a:bodyPr wrap="square">
            <a:spAutoFit/>
          </a:bodyPr>
          <a:lstStyle/>
          <a:p>
            <a:pPr algn="l">
              <a:buNone/>
            </a:pPr>
            <a:r>
              <a:rPr lang="en-IN" b="0" i="0" dirty="0">
                <a:effectLst/>
                <a:latin typeface="fkGrotesk"/>
              </a:rPr>
              <a:t>Summary of Scrum Flow</a:t>
            </a:r>
          </a:p>
        </p:txBody>
      </p:sp>
      <p:graphicFrame>
        <p:nvGraphicFramePr>
          <p:cNvPr id="4" name="Table 3">
            <a:extLst>
              <a:ext uri="{FF2B5EF4-FFF2-40B4-BE49-F238E27FC236}">
                <a16:creationId xmlns:a16="http://schemas.microsoft.com/office/drawing/2014/main" id="{DFE0FF6B-335B-AA50-B38D-EB8CE52F6A83}"/>
              </a:ext>
            </a:extLst>
          </p:cNvPr>
          <p:cNvGraphicFramePr>
            <a:graphicFrameLocks noGrp="1"/>
          </p:cNvGraphicFramePr>
          <p:nvPr>
            <p:extLst>
              <p:ext uri="{D42A27DB-BD31-4B8C-83A1-F6EECF244321}">
                <p14:modId xmlns:p14="http://schemas.microsoft.com/office/powerpoint/2010/main" val="2268542362"/>
              </p:ext>
            </p:extLst>
          </p:nvPr>
        </p:nvGraphicFramePr>
        <p:xfrm>
          <a:off x="924339" y="696160"/>
          <a:ext cx="8596312" cy="2926080"/>
        </p:xfrm>
        <a:graphic>
          <a:graphicData uri="http://schemas.openxmlformats.org/drawingml/2006/table">
            <a:tbl>
              <a:tblPr>
                <a:tableStyleId>{5940675A-B579-460E-94D1-54222C63F5DA}</a:tableStyleId>
              </a:tblPr>
              <a:tblGrid>
                <a:gridCol w="3108946">
                  <a:extLst>
                    <a:ext uri="{9D8B030D-6E8A-4147-A177-3AD203B41FA5}">
                      <a16:colId xmlns:a16="http://schemas.microsoft.com/office/drawing/2014/main" val="3933188447"/>
                    </a:ext>
                  </a:extLst>
                </a:gridCol>
                <a:gridCol w="5487366">
                  <a:extLst>
                    <a:ext uri="{9D8B030D-6E8A-4147-A177-3AD203B41FA5}">
                      <a16:colId xmlns:a16="http://schemas.microsoft.com/office/drawing/2014/main" val="550992168"/>
                    </a:ext>
                  </a:extLst>
                </a:gridCol>
              </a:tblGrid>
              <a:tr h="0">
                <a:tc>
                  <a:txBody>
                    <a:bodyPr/>
                    <a:lstStyle/>
                    <a:p>
                      <a:pPr algn="ctr">
                        <a:buNone/>
                      </a:pPr>
                      <a:r>
                        <a:rPr lang="en-IN" b="1">
                          <a:effectLst/>
                        </a:rPr>
                        <a:t>Phase</a:t>
                      </a:r>
                    </a:p>
                  </a:txBody>
                  <a:tcPr marL="60960" marR="60960" marT="60960" marB="60960" anchor="ctr"/>
                </a:tc>
                <a:tc>
                  <a:txBody>
                    <a:bodyPr/>
                    <a:lstStyle/>
                    <a:p>
                      <a:pPr algn="ctr">
                        <a:buNone/>
                      </a:pPr>
                      <a:r>
                        <a:rPr lang="en-IN" b="1" dirty="0">
                          <a:effectLst/>
                        </a:rPr>
                        <a:t>Key Activities</a:t>
                      </a:r>
                    </a:p>
                  </a:txBody>
                  <a:tcPr marL="60960" marR="60960" marT="60960" marB="60960" anchor="ctr"/>
                </a:tc>
                <a:extLst>
                  <a:ext uri="{0D108BD9-81ED-4DB2-BD59-A6C34878D82A}">
                    <a16:rowId xmlns:a16="http://schemas.microsoft.com/office/drawing/2014/main" val="3458719558"/>
                  </a:ext>
                </a:extLst>
              </a:tr>
              <a:tr h="0">
                <a:tc>
                  <a:txBody>
                    <a:bodyPr/>
                    <a:lstStyle/>
                    <a:p>
                      <a:pPr algn="l">
                        <a:buNone/>
                      </a:pPr>
                      <a:r>
                        <a:rPr lang="en-IN">
                          <a:effectLst/>
                        </a:rPr>
                        <a:t>Initiation</a:t>
                      </a:r>
                    </a:p>
                  </a:txBody>
                  <a:tcPr marL="60960" marR="60960" marT="60960" marB="60960" anchor="ctr"/>
                </a:tc>
                <a:tc>
                  <a:txBody>
                    <a:bodyPr/>
                    <a:lstStyle/>
                    <a:p>
                      <a:pPr algn="l">
                        <a:buNone/>
                      </a:pPr>
                      <a:r>
                        <a:rPr lang="en-US">
                          <a:effectLst/>
                        </a:rPr>
                        <a:t>Vision creation, stakeholder identification, product backlog setup</a:t>
                      </a:r>
                    </a:p>
                  </a:txBody>
                  <a:tcPr marL="60960" marR="60960" marT="60960" marB="60960" anchor="ctr"/>
                </a:tc>
                <a:extLst>
                  <a:ext uri="{0D108BD9-81ED-4DB2-BD59-A6C34878D82A}">
                    <a16:rowId xmlns:a16="http://schemas.microsoft.com/office/drawing/2014/main" val="639581398"/>
                  </a:ext>
                </a:extLst>
              </a:tr>
              <a:tr h="0">
                <a:tc>
                  <a:txBody>
                    <a:bodyPr/>
                    <a:lstStyle/>
                    <a:p>
                      <a:pPr algn="l">
                        <a:buNone/>
                      </a:pPr>
                      <a:r>
                        <a:rPr lang="en-IN">
                          <a:effectLst/>
                        </a:rPr>
                        <a:t>Planning</a:t>
                      </a:r>
                    </a:p>
                  </a:txBody>
                  <a:tcPr marL="60960" marR="60960" marT="60960" marB="60960" anchor="ctr"/>
                </a:tc>
                <a:tc>
                  <a:txBody>
                    <a:bodyPr/>
                    <a:lstStyle/>
                    <a:p>
                      <a:pPr algn="l">
                        <a:buNone/>
                      </a:pPr>
                      <a:r>
                        <a:rPr lang="en-US" dirty="0">
                          <a:effectLst/>
                        </a:rPr>
                        <a:t>User story creation, estimation, sprint backlog planning</a:t>
                      </a:r>
                    </a:p>
                  </a:txBody>
                  <a:tcPr marL="60960" marR="60960" marT="60960" marB="60960" anchor="ctr"/>
                </a:tc>
                <a:extLst>
                  <a:ext uri="{0D108BD9-81ED-4DB2-BD59-A6C34878D82A}">
                    <a16:rowId xmlns:a16="http://schemas.microsoft.com/office/drawing/2014/main" val="767132537"/>
                  </a:ext>
                </a:extLst>
              </a:tr>
              <a:tr h="0">
                <a:tc>
                  <a:txBody>
                    <a:bodyPr/>
                    <a:lstStyle/>
                    <a:p>
                      <a:pPr algn="l">
                        <a:buNone/>
                      </a:pPr>
                      <a:r>
                        <a:rPr lang="en-IN">
                          <a:effectLst/>
                        </a:rPr>
                        <a:t>Implementation (Sprint)</a:t>
                      </a:r>
                    </a:p>
                  </a:txBody>
                  <a:tcPr marL="60960" marR="60960" marT="60960" marB="60960" anchor="ctr"/>
                </a:tc>
                <a:tc>
                  <a:txBody>
                    <a:bodyPr/>
                    <a:lstStyle/>
                    <a:p>
                      <a:pPr algn="l">
                        <a:buNone/>
                      </a:pPr>
                      <a:r>
                        <a:rPr lang="en-US">
                          <a:effectLst/>
                        </a:rPr>
                        <a:t>Development, daily scrums, progress tracking</a:t>
                      </a:r>
                    </a:p>
                  </a:txBody>
                  <a:tcPr marL="60960" marR="60960" marT="60960" marB="60960" anchor="ctr"/>
                </a:tc>
                <a:extLst>
                  <a:ext uri="{0D108BD9-81ED-4DB2-BD59-A6C34878D82A}">
                    <a16:rowId xmlns:a16="http://schemas.microsoft.com/office/drawing/2014/main" val="3871073809"/>
                  </a:ext>
                </a:extLst>
              </a:tr>
              <a:tr h="0">
                <a:tc>
                  <a:txBody>
                    <a:bodyPr/>
                    <a:lstStyle/>
                    <a:p>
                      <a:pPr algn="l">
                        <a:buNone/>
                      </a:pPr>
                      <a:r>
                        <a:rPr lang="en-IN">
                          <a:effectLst/>
                        </a:rPr>
                        <a:t>Review &amp; Retrospective</a:t>
                      </a:r>
                    </a:p>
                  </a:txBody>
                  <a:tcPr marL="60960" marR="60960" marT="60960" marB="60960" anchor="ctr"/>
                </a:tc>
                <a:tc>
                  <a:txBody>
                    <a:bodyPr/>
                    <a:lstStyle/>
                    <a:p>
                      <a:pPr algn="l">
                        <a:buNone/>
                      </a:pPr>
                      <a:r>
                        <a:rPr lang="en-US">
                          <a:effectLst/>
                        </a:rPr>
                        <a:t>Sprint demo, feedback, team process improvement</a:t>
                      </a:r>
                    </a:p>
                  </a:txBody>
                  <a:tcPr marL="60960" marR="60960" marT="60960" marB="60960" anchor="ctr"/>
                </a:tc>
                <a:extLst>
                  <a:ext uri="{0D108BD9-81ED-4DB2-BD59-A6C34878D82A}">
                    <a16:rowId xmlns:a16="http://schemas.microsoft.com/office/drawing/2014/main" val="2541669676"/>
                  </a:ext>
                </a:extLst>
              </a:tr>
              <a:tr h="0">
                <a:tc>
                  <a:txBody>
                    <a:bodyPr/>
                    <a:lstStyle/>
                    <a:p>
                      <a:pPr algn="l">
                        <a:buNone/>
                      </a:pPr>
                      <a:r>
                        <a:rPr lang="en-IN">
                          <a:effectLst/>
                        </a:rPr>
                        <a:t>Release</a:t>
                      </a:r>
                    </a:p>
                  </a:txBody>
                  <a:tcPr marL="60960" marR="60960" marT="60960" marB="60960" anchor="ctr"/>
                </a:tc>
                <a:tc>
                  <a:txBody>
                    <a:bodyPr/>
                    <a:lstStyle/>
                    <a:p>
                      <a:pPr algn="l">
                        <a:buNone/>
                      </a:pPr>
                      <a:r>
                        <a:rPr lang="en-US" dirty="0">
                          <a:effectLst/>
                        </a:rPr>
                        <a:t>Delivering product increments to customers</a:t>
                      </a:r>
                    </a:p>
                  </a:txBody>
                  <a:tcPr marL="60960" marR="60960" marT="60960" marB="60960" anchor="ctr"/>
                </a:tc>
                <a:extLst>
                  <a:ext uri="{0D108BD9-81ED-4DB2-BD59-A6C34878D82A}">
                    <a16:rowId xmlns:a16="http://schemas.microsoft.com/office/drawing/2014/main" val="1297541615"/>
                  </a:ext>
                </a:extLst>
              </a:tr>
            </a:tbl>
          </a:graphicData>
        </a:graphic>
      </p:graphicFrame>
      <p:sp>
        <p:nvSpPr>
          <p:cNvPr id="6" name="TextBox 5">
            <a:extLst>
              <a:ext uri="{FF2B5EF4-FFF2-40B4-BE49-F238E27FC236}">
                <a16:creationId xmlns:a16="http://schemas.microsoft.com/office/drawing/2014/main" id="{0633C8FE-4F61-437C-EFC7-55E05B18C3EC}"/>
              </a:ext>
            </a:extLst>
          </p:cNvPr>
          <p:cNvSpPr txBox="1"/>
          <p:nvPr/>
        </p:nvSpPr>
        <p:spPr>
          <a:xfrm>
            <a:off x="924339" y="3824324"/>
            <a:ext cx="8596312" cy="923330"/>
          </a:xfrm>
          <a:prstGeom prst="rect">
            <a:avLst/>
          </a:prstGeom>
          <a:noFill/>
        </p:spPr>
        <p:txBody>
          <a:bodyPr wrap="square">
            <a:spAutoFit/>
          </a:bodyPr>
          <a:lstStyle/>
          <a:p>
            <a:r>
              <a:rPr lang="en-US" b="0" i="0" dirty="0">
                <a:effectLst/>
                <a:latin typeface="fkGroteskNeue"/>
              </a:rPr>
              <a:t>Scrum is an iterative, transparent framework guiding teams through continuous cycles of planning, building, testing, and feedback to enable adaptive and efficient software delivery.</a:t>
            </a:r>
            <a:endParaRPr lang="en-IN" dirty="0"/>
          </a:p>
        </p:txBody>
      </p:sp>
    </p:spTree>
    <p:extLst>
      <p:ext uri="{BB962C8B-B14F-4D97-AF65-F5344CB8AC3E}">
        <p14:creationId xmlns:p14="http://schemas.microsoft.com/office/powerpoint/2010/main" val="4106449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BC8E6-21E5-B83C-C236-0FF841D3F2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53B53D-A8B9-6F47-3881-195368643530}"/>
              </a:ext>
            </a:extLst>
          </p:cNvPr>
          <p:cNvSpPr txBox="1"/>
          <p:nvPr/>
        </p:nvSpPr>
        <p:spPr>
          <a:xfrm>
            <a:off x="854765" y="123447"/>
            <a:ext cx="8597348" cy="6186309"/>
          </a:xfrm>
          <a:prstGeom prst="rect">
            <a:avLst/>
          </a:prstGeom>
          <a:noFill/>
        </p:spPr>
        <p:txBody>
          <a:bodyPr wrap="square">
            <a:spAutoFit/>
          </a:bodyPr>
          <a:lstStyle/>
          <a:p>
            <a:r>
              <a:rPr lang="en-US" b="1" dirty="0"/>
              <a:t>3.4 Dynamic Systems Development Method (DSDM)</a:t>
            </a:r>
          </a:p>
          <a:p>
            <a:endParaRPr lang="en-US" dirty="0"/>
          </a:p>
          <a:p>
            <a:pPr marL="285750" indent="-285750">
              <a:buFont typeface="Arial" panose="020B0604020202020204" pitchFamily="34" charset="0"/>
              <a:buChar char="•"/>
            </a:pPr>
            <a:r>
              <a:rPr lang="en-US" b="1" dirty="0"/>
              <a:t>Dynamic Systems Development Method (DSDM)</a:t>
            </a:r>
          </a:p>
          <a:p>
            <a:endParaRPr lang="en-US" dirty="0"/>
          </a:p>
          <a:p>
            <a:r>
              <a:rPr lang="en-US" dirty="0"/>
              <a:t>The Dynamic Systems Development Method (DSDM) is an agile project delivery framework that emphasizes iterative development, continuous stakeholder involvement, and delivering business value within strict time and cost constraints. Originating in the 1990s as an improvement over Rapid Application Development (RAD), DSDM balances flexibility with governance, making it suitable for various project sizes and industries.</a:t>
            </a:r>
          </a:p>
          <a:p>
            <a:endParaRPr lang="en-US" dirty="0"/>
          </a:p>
          <a:p>
            <a:r>
              <a:rPr lang="en-US" b="1" dirty="0"/>
              <a:t>Key Phases of DSDM Process Flow </a:t>
            </a:r>
          </a:p>
          <a:p>
            <a:endParaRPr lang="en-US" b="1" dirty="0"/>
          </a:p>
          <a:p>
            <a:r>
              <a:rPr lang="en-US" b="1" dirty="0"/>
              <a:t>1.Pre-Project Phase</a:t>
            </a:r>
          </a:p>
          <a:p>
            <a:pPr marL="742950" lvl="1" indent="-285750">
              <a:buFont typeface="Arial" panose="020B0604020202020204" pitchFamily="34" charset="0"/>
              <a:buChar char="•"/>
            </a:pPr>
            <a:r>
              <a:rPr lang="en-US" dirty="0"/>
              <a:t>Initial activities to define scope, set goals, and establish stakeholder engagement.</a:t>
            </a:r>
          </a:p>
          <a:p>
            <a:pPr marL="742950" lvl="1" indent="-285750">
              <a:buFont typeface="Arial" panose="020B0604020202020204" pitchFamily="34" charset="0"/>
              <a:buChar char="•"/>
            </a:pPr>
            <a:r>
              <a:rPr lang="en-US" dirty="0"/>
              <a:t>Ensures that the project aligns with strategic business objectives.</a:t>
            </a:r>
          </a:p>
          <a:p>
            <a:pPr lvl="1"/>
            <a:endParaRPr lang="en-US" dirty="0"/>
          </a:p>
          <a:p>
            <a:r>
              <a:rPr lang="en-US" b="1" dirty="0"/>
              <a:t>2. Feasibility Study</a:t>
            </a:r>
          </a:p>
          <a:p>
            <a:pPr marL="742950" lvl="1" indent="-285750">
              <a:buFont typeface="Arial" panose="020B0604020202020204" pitchFamily="34" charset="0"/>
              <a:buChar char="•"/>
            </a:pPr>
            <a:r>
              <a:rPr lang="en-US" dirty="0"/>
              <a:t>Assesses the technical and business viability.</a:t>
            </a:r>
          </a:p>
          <a:p>
            <a:pPr marL="742950" lvl="1" indent="-285750">
              <a:buFont typeface="Arial" panose="020B0604020202020204" pitchFamily="34" charset="0"/>
              <a:buChar char="•"/>
            </a:pPr>
            <a:r>
              <a:rPr lang="en-US" dirty="0"/>
              <a:t>Establishes early constraints and highlights potential risks.</a:t>
            </a:r>
          </a:p>
          <a:p>
            <a:endParaRPr lang="en-US" dirty="0"/>
          </a:p>
        </p:txBody>
      </p:sp>
    </p:spTree>
    <p:extLst>
      <p:ext uri="{BB962C8B-B14F-4D97-AF65-F5344CB8AC3E}">
        <p14:creationId xmlns:p14="http://schemas.microsoft.com/office/powerpoint/2010/main" val="3507524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F3152-BDB8-E251-9807-C6498D8F10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D01526-9F48-03D9-6DEA-BFA5ECE3BDFD}"/>
              </a:ext>
            </a:extLst>
          </p:cNvPr>
          <p:cNvSpPr txBox="1"/>
          <p:nvPr/>
        </p:nvSpPr>
        <p:spPr>
          <a:xfrm>
            <a:off x="993913" y="335846"/>
            <a:ext cx="8160026" cy="5632311"/>
          </a:xfrm>
          <a:prstGeom prst="rect">
            <a:avLst/>
          </a:prstGeom>
          <a:noFill/>
        </p:spPr>
        <p:txBody>
          <a:bodyPr wrap="square">
            <a:spAutoFit/>
          </a:bodyPr>
          <a:lstStyle/>
          <a:p>
            <a:pPr algn="l"/>
            <a:r>
              <a:rPr lang="en-US" b="1" i="0" dirty="0">
                <a:effectLst/>
                <a:latin typeface="fkGroteskNeue"/>
              </a:rPr>
              <a:t>3.Foundation Phase</a:t>
            </a:r>
          </a:p>
          <a:p>
            <a:pPr marL="742950" lvl="1" indent="-285750" algn="l">
              <a:buFont typeface="+mj-lt"/>
              <a:buAutoNum type="arabicPeriod"/>
            </a:pPr>
            <a:r>
              <a:rPr lang="en-US" b="0" i="0" dirty="0">
                <a:effectLst/>
                <a:latin typeface="fkGroteskNeue"/>
              </a:rPr>
              <a:t>Details the technical architecture, requirements, and high-level design.</a:t>
            </a:r>
          </a:p>
          <a:p>
            <a:pPr marL="742950" lvl="1" indent="-285750" algn="l">
              <a:buFont typeface="+mj-lt"/>
              <a:buAutoNum type="arabicPeriod"/>
            </a:pPr>
            <a:r>
              <a:rPr lang="en-US" b="0" i="0" dirty="0">
                <a:effectLst/>
                <a:latin typeface="fkGroteskNeue"/>
              </a:rPr>
              <a:t>Develops prototypes and seeks early feedback to align understanding.</a:t>
            </a:r>
          </a:p>
          <a:p>
            <a:pPr lvl="1" algn="l"/>
            <a:endParaRPr lang="en-US" b="0" i="0" dirty="0">
              <a:effectLst/>
              <a:latin typeface="fkGroteskNeue"/>
            </a:endParaRPr>
          </a:p>
          <a:p>
            <a:pPr algn="l"/>
            <a:r>
              <a:rPr lang="en-US" b="1" i="0" dirty="0">
                <a:effectLst/>
                <a:latin typeface="fkGroteskNeue"/>
              </a:rPr>
              <a:t>4.Exploration (Iterative Development)</a:t>
            </a:r>
          </a:p>
          <a:p>
            <a:pPr marL="742950" lvl="1" indent="-285750" algn="l">
              <a:buFont typeface="+mj-lt"/>
              <a:buAutoNum type="arabicPeriod"/>
            </a:pPr>
            <a:r>
              <a:rPr lang="en-US" b="0" i="0" dirty="0">
                <a:effectLst/>
                <a:latin typeface="fkGroteskNeue"/>
              </a:rPr>
              <a:t>The core phase that develops the system incrementally.</a:t>
            </a:r>
          </a:p>
          <a:p>
            <a:pPr marL="742950" lvl="1" indent="-285750" algn="l">
              <a:buFont typeface="+mj-lt"/>
              <a:buAutoNum type="arabicPeriod"/>
            </a:pPr>
            <a:r>
              <a:rPr lang="en-US" b="0" i="0" dirty="0">
                <a:effectLst/>
                <a:latin typeface="fkGroteskNeue"/>
              </a:rPr>
              <a:t>Each iteration delivers a working component, focusing on business priorities and user feedback.</a:t>
            </a:r>
          </a:p>
          <a:p>
            <a:pPr lvl="1" algn="l"/>
            <a:endParaRPr lang="en-US" b="0" i="0" dirty="0">
              <a:effectLst/>
              <a:latin typeface="fkGroteskNeue"/>
            </a:endParaRPr>
          </a:p>
          <a:p>
            <a:pPr algn="l"/>
            <a:r>
              <a:rPr lang="en-US" b="1" i="0" dirty="0">
                <a:effectLst/>
                <a:latin typeface="fkGroteskNeue"/>
              </a:rPr>
              <a:t>5.Engineering</a:t>
            </a:r>
          </a:p>
          <a:p>
            <a:pPr marL="742950" lvl="1" indent="-285750" algn="l">
              <a:buFont typeface="+mj-lt"/>
              <a:buAutoNum type="arabicPeriod"/>
            </a:pPr>
            <a:r>
              <a:rPr lang="en-US" b="0" i="0" dirty="0">
                <a:effectLst/>
                <a:latin typeface="fkGroteskNeue"/>
              </a:rPr>
              <a:t>Continuing development, testing, and refinement of increments.</a:t>
            </a:r>
          </a:p>
          <a:p>
            <a:pPr marL="742950" lvl="1" indent="-285750" algn="l">
              <a:buFont typeface="+mj-lt"/>
              <a:buAutoNum type="arabicPeriod"/>
            </a:pPr>
            <a:r>
              <a:rPr lang="en-US" b="0" i="0" dirty="0">
                <a:effectLst/>
                <a:latin typeface="fkGroteskNeue"/>
              </a:rPr>
              <a:t>Focuses on delivering usable and reliable functionality.</a:t>
            </a:r>
          </a:p>
          <a:p>
            <a:pPr lvl="1" algn="l"/>
            <a:endParaRPr lang="en-US" b="0" i="0" dirty="0">
              <a:effectLst/>
              <a:latin typeface="fkGroteskNeue"/>
            </a:endParaRPr>
          </a:p>
          <a:p>
            <a:pPr algn="l"/>
            <a:r>
              <a:rPr lang="en-US" b="1" i="0" dirty="0">
                <a:effectLst/>
                <a:latin typeface="fkGroteskNeue"/>
              </a:rPr>
              <a:t>6.Deployment</a:t>
            </a:r>
          </a:p>
          <a:p>
            <a:pPr marL="742950" lvl="1" indent="-285750" algn="l">
              <a:buFont typeface="+mj-lt"/>
              <a:buAutoNum type="arabicPeriod"/>
            </a:pPr>
            <a:r>
              <a:rPr lang="en-US" b="0" i="0" dirty="0">
                <a:effectLst/>
                <a:latin typeface="fkGroteskNeue"/>
              </a:rPr>
              <a:t>Implementing the developed increments into the operational environment.</a:t>
            </a:r>
          </a:p>
          <a:p>
            <a:pPr marL="742950" lvl="1" indent="-285750" algn="l">
              <a:buFont typeface="+mj-lt"/>
              <a:buAutoNum type="arabicPeriod"/>
            </a:pPr>
            <a:r>
              <a:rPr lang="en-US" b="0" i="0" dirty="0">
                <a:effectLst/>
                <a:latin typeface="fkGroteskNeue"/>
              </a:rPr>
              <a:t>Conducts testing, training, and initial deployment activities.</a:t>
            </a:r>
          </a:p>
          <a:p>
            <a:pPr lvl="1" algn="l"/>
            <a:endParaRPr lang="en-US" b="0" i="0" dirty="0">
              <a:effectLst/>
              <a:latin typeface="fkGroteskNeue"/>
            </a:endParaRPr>
          </a:p>
          <a:p>
            <a:pPr algn="l"/>
            <a:r>
              <a:rPr lang="en-US" b="1" i="0" dirty="0">
                <a:effectLst/>
                <a:latin typeface="fkGroteskNeue"/>
              </a:rPr>
              <a:t>7.Post-Project</a:t>
            </a:r>
          </a:p>
          <a:p>
            <a:pPr marL="742950" lvl="1" indent="-285750" algn="l">
              <a:buFont typeface="+mj-lt"/>
              <a:buAutoNum type="arabicPeriod"/>
            </a:pPr>
            <a:r>
              <a:rPr lang="en-US" b="0" i="0" dirty="0">
                <a:effectLst/>
                <a:latin typeface="fkGroteskNeue"/>
              </a:rPr>
              <a:t>Reviews to evaluate benefits and document lessons learned.</a:t>
            </a:r>
          </a:p>
          <a:p>
            <a:pPr marL="742950" lvl="1" indent="-285750" algn="l">
              <a:buFont typeface="+mj-lt"/>
              <a:buAutoNum type="arabicPeriod"/>
            </a:pPr>
            <a:r>
              <a:rPr lang="en-US" b="0" i="0" dirty="0">
                <a:effectLst/>
                <a:latin typeface="fkGroteskNeue"/>
              </a:rPr>
              <a:t>Planning for future maintenance and enhancements.</a:t>
            </a:r>
          </a:p>
        </p:txBody>
      </p:sp>
    </p:spTree>
    <p:extLst>
      <p:ext uri="{BB962C8B-B14F-4D97-AF65-F5344CB8AC3E}">
        <p14:creationId xmlns:p14="http://schemas.microsoft.com/office/powerpoint/2010/main" val="639426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9B431-3C29-0045-7178-BE8A267313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9406C5-4832-E139-7521-CD6700C5D465}"/>
              </a:ext>
            </a:extLst>
          </p:cNvPr>
          <p:cNvSpPr txBox="1"/>
          <p:nvPr/>
        </p:nvSpPr>
        <p:spPr>
          <a:xfrm>
            <a:off x="934278" y="58847"/>
            <a:ext cx="8219661" cy="6463308"/>
          </a:xfrm>
          <a:prstGeom prst="rect">
            <a:avLst/>
          </a:prstGeom>
          <a:noFill/>
        </p:spPr>
        <p:txBody>
          <a:bodyPr wrap="square">
            <a:spAutoFit/>
          </a:bodyPr>
          <a:lstStyle/>
          <a:p>
            <a:pPr>
              <a:buNone/>
            </a:pPr>
            <a:r>
              <a:rPr lang="en-US" b="1" dirty="0">
                <a:effectLst/>
                <a:latin typeface="fkGrotesk"/>
              </a:rPr>
              <a:t>Core Principles of DSDM</a:t>
            </a:r>
          </a:p>
          <a:p>
            <a:pPr>
              <a:buNone/>
            </a:pPr>
            <a:endParaRPr lang="en-US" b="0" dirty="0">
              <a:effectLst/>
              <a:latin typeface="fkGrotesk"/>
            </a:endParaRPr>
          </a:p>
          <a:p>
            <a:pPr>
              <a:buFont typeface="Arial" panose="020B0604020202020204" pitchFamily="34" charset="0"/>
              <a:buChar char="•"/>
            </a:pPr>
            <a:r>
              <a:rPr lang="en-US" dirty="0">
                <a:effectLst/>
                <a:latin typeface="fkGroteskNeue"/>
              </a:rPr>
              <a:t>Focus on business needs.</a:t>
            </a:r>
          </a:p>
          <a:p>
            <a:pPr>
              <a:buFont typeface="Arial" panose="020B0604020202020204" pitchFamily="34" charset="0"/>
              <a:buChar char="•"/>
            </a:pPr>
            <a:r>
              <a:rPr lang="en-US" dirty="0">
                <a:effectLst/>
                <a:latin typeface="fkGroteskNeue"/>
              </a:rPr>
              <a:t>Deliver on time.</a:t>
            </a:r>
          </a:p>
          <a:p>
            <a:pPr>
              <a:buFont typeface="Arial" panose="020B0604020202020204" pitchFamily="34" charset="0"/>
              <a:buChar char="•"/>
            </a:pPr>
            <a:r>
              <a:rPr lang="en-US" dirty="0">
                <a:effectLst/>
                <a:latin typeface="fkGroteskNeue"/>
              </a:rPr>
              <a:t>Collaborate effectively.</a:t>
            </a:r>
          </a:p>
          <a:p>
            <a:pPr>
              <a:buFont typeface="Arial" panose="020B0604020202020204" pitchFamily="34" charset="0"/>
              <a:buChar char="•"/>
            </a:pPr>
            <a:r>
              <a:rPr lang="en-US" dirty="0">
                <a:effectLst/>
                <a:latin typeface="fkGroteskNeue"/>
              </a:rPr>
              <a:t>Never compromise quality.</a:t>
            </a:r>
          </a:p>
          <a:p>
            <a:pPr>
              <a:buFont typeface="Arial" panose="020B0604020202020204" pitchFamily="34" charset="0"/>
              <a:buChar char="•"/>
            </a:pPr>
            <a:r>
              <a:rPr lang="en-US" dirty="0">
                <a:effectLst/>
                <a:latin typeface="fkGroteskNeue"/>
              </a:rPr>
              <a:t>Build incrementally from firm foundations.</a:t>
            </a:r>
          </a:p>
          <a:p>
            <a:pPr>
              <a:buFont typeface="Arial" panose="020B0604020202020204" pitchFamily="34" charset="0"/>
              <a:buChar char="•"/>
            </a:pPr>
            <a:r>
              <a:rPr lang="en-US" dirty="0">
                <a:effectLst/>
                <a:latin typeface="fkGroteskNeue"/>
              </a:rPr>
              <a:t>Develop iteratively.</a:t>
            </a:r>
          </a:p>
          <a:p>
            <a:pPr>
              <a:buFont typeface="Arial" panose="020B0604020202020204" pitchFamily="34" charset="0"/>
              <a:buChar char="•"/>
            </a:pPr>
            <a:r>
              <a:rPr lang="en-US" dirty="0">
                <a:effectLst/>
                <a:latin typeface="fkGroteskNeue"/>
              </a:rPr>
              <a:t>Communicate continuously.</a:t>
            </a:r>
          </a:p>
          <a:p>
            <a:pPr>
              <a:buFont typeface="Arial" panose="020B0604020202020204" pitchFamily="34" charset="0"/>
              <a:buChar char="•"/>
            </a:pPr>
            <a:r>
              <a:rPr lang="en-US" dirty="0">
                <a:effectLst/>
                <a:latin typeface="fkGroteskNeue"/>
              </a:rPr>
              <a:t>Demonstrate control through governance.</a:t>
            </a:r>
          </a:p>
          <a:p>
            <a:pPr>
              <a:buNone/>
            </a:pPr>
            <a:endParaRPr lang="en-US" dirty="0">
              <a:effectLst/>
              <a:latin typeface="fkGroteskNeue"/>
            </a:endParaRPr>
          </a:p>
          <a:p>
            <a:pPr>
              <a:buNone/>
            </a:pPr>
            <a:r>
              <a:rPr lang="en-US" b="1" dirty="0">
                <a:effectLst/>
                <a:latin typeface="fkGrotesk"/>
              </a:rPr>
              <a:t>Benefits and Features</a:t>
            </a:r>
          </a:p>
          <a:p>
            <a:pPr>
              <a:buNone/>
            </a:pPr>
            <a:endParaRPr lang="en-US" b="0" dirty="0">
              <a:effectLst/>
              <a:latin typeface="fkGrotesk"/>
            </a:endParaRPr>
          </a:p>
          <a:p>
            <a:pPr>
              <a:buFont typeface="Arial" panose="020B0604020202020204" pitchFamily="34" charset="0"/>
              <a:buChar char="•"/>
            </a:pPr>
            <a:r>
              <a:rPr lang="en-US" b="0" dirty="0">
                <a:effectLst/>
                <a:latin typeface="fkGroteskNeue"/>
              </a:rPr>
              <a:t>Flexibility</a:t>
            </a:r>
            <a:r>
              <a:rPr lang="en-US" dirty="0">
                <a:effectLst/>
                <a:latin typeface="fkGroteskNeue"/>
              </a:rPr>
              <a:t>: Embraces change at any stage.</a:t>
            </a:r>
          </a:p>
          <a:p>
            <a:pPr>
              <a:buFont typeface="Arial" panose="020B0604020202020204" pitchFamily="34" charset="0"/>
              <a:buChar char="•"/>
            </a:pPr>
            <a:r>
              <a:rPr lang="en-US" b="0" dirty="0">
                <a:effectLst/>
                <a:latin typeface="fkGroteskNeue"/>
              </a:rPr>
              <a:t>Frequent Deliveries</a:t>
            </a:r>
            <a:r>
              <a:rPr lang="en-US" dirty="0">
                <a:effectLst/>
                <a:latin typeface="fkGroteskNeue"/>
              </a:rPr>
              <a:t>: Small, functional modules enhance visibility and manage risk.</a:t>
            </a:r>
          </a:p>
          <a:p>
            <a:pPr>
              <a:buFont typeface="Arial" panose="020B0604020202020204" pitchFamily="34" charset="0"/>
              <a:buChar char="•"/>
            </a:pPr>
            <a:r>
              <a:rPr lang="en-US" b="0" dirty="0">
                <a:effectLst/>
                <a:latin typeface="fkGroteskNeue"/>
              </a:rPr>
              <a:t>User Involvement</a:t>
            </a:r>
            <a:r>
              <a:rPr lang="en-US" dirty="0">
                <a:effectLst/>
                <a:latin typeface="fkGroteskNeue"/>
              </a:rPr>
              <a:t>: Close collaboration ensures the final product meets user needs.</a:t>
            </a:r>
          </a:p>
          <a:p>
            <a:pPr>
              <a:buFont typeface="Arial" panose="020B0604020202020204" pitchFamily="34" charset="0"/>
              <a:buChar char="•"/>
            </a:pPr>
            <a:r>
              <a:rPr lang="en-US" b="0" dirty="0">
                <a:effectLst/>
                <a:latin typeface="fkGroteskNeue"/>
              </a:rPr>
              <a:t>Risk Management</a:t>
            </a:r>
            <a:r>
              <a:rPr lang="en-US" dirty="0">
                <a:effectLst/>
                <a:latin typeface="fkGroteskNeue"/>
              </a:rPr>
              <a:t>: Early and continuous assessment minimizes uncertainties.</a:t>
            </a:r>
          </a:p>
          <a:p>
            <a:endParaRPr lang="en-US" dirty="0">
              <a:effectLst/>
              <a:latin typeface="fkGroteskNeue"/>
            </a:endParaRPr>
          </a:p>
          <a:p>
            <a:pPr>
              <a:buNone/>
            </a:pPr>
            <a:r>
              <a:rPr lang="en-US" b="1" dirty="0">
                <a:effectLst/>
                <a:latin typeface="fkGrotesk"/>
              </a:rPr>
              <a:t>Summary</a:t>
            </a:r>
          </a:p>
          <a:p>
            <a:pPr>
              <a:buNone/>
            </a:pPr>
            <a:endParaRPr lang="en-US" b="0" dirty="0">
              <a:effectLst/>
              <a:latin typeface="fkGrotesk"/>
            </a:endParaRPr>
          </a:p>
          <a:p>
            <a:pPr>
              <a:buNone/>
            </a:pPr>
            <a:r>
              <a:rPr lang="en-US" dirty="0">
                <a:effectLst/>
                <a:latin typeface="fkGroteskNeue"/>
              </a:rPr>
              <a:t>DSDM offers a structured yet flexible approach to deliver high-quality solutions efficiently, emphasizing early value delivery, stakeholder engagement, and iterative refinement aligned with business objectives.</a:t>
            </a:r>
          </a:p>
        </p:txBody>
      </p:sp>
    </p:spTree>
    <p:extLst>
      <p:ext uri="{BB962C8B-B14F-4D97-AF65-F5344CB8AC3E}">
        <p14:creationId xmlns:p14="http://schemas.microsoft.com/office/powerpoint/2010/main" val="1601602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F3C65-409F-197F-F49F-DE2F669CB1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BC7AC7-89B4-A036-7841-C0078DA50658}"/>
              </a:ext>
            </a:extLst>
          </p:cNvPr>
          <p:cNvSpPr txBox="1"/>
          <p:nvPr/>
        </p:nvSpPr>
        <p:spPr>
          <a:xfrm>
            <a:off x="805069" y="0"/>
            <a:ext cx="8716617" cy="7017306"/>
          </a:xfrm>
          <a:prstGeom prst="rect">
            <a:avLst/>
          </a:prstGeom>
          <a:noFill/>
        </p:spPr>
        <p:txBody>
          <a:bodyPr wrap="square">
            <a:spAutoFit/>
          </a:bodyPr>
          <a:lstStyle/>
          <a:p>
            <a:r>
              <a:rPr lang="en-IN" b="1" dirty="0"/>
              <a:t>3.5 Introduction to DevOps </a:t>
            </a:r>
          </a:p>
          <a:p>
            <a:endParaRPr lang="en-IN" dirty="0"/>
          </a:p>
          <a:p>
            <a:pPr marL="285750" indent="-285750">
              <a:buFont typeface="Wingdings" panose="05000000000000000000" pitchFamily="2" charset="2"/>
              <a:buChar char="Ø"/>
            </a:pPr>
            <a:r>
              <a:rPr lang="en-US" b="1" dirty="0"/>
              <a:t>What is DevOps?</a:t>
            </a:r>
          </a:p>
          <a:p>
            <a:endParaRPr lang="en-US" dirty="0"/>
          </a:p>
          <a:p>
            <a:r>
              <a:rPr lang="en-US" dirty="0"/>
              <a:t>DevOps is a software development methodology and cultural philosophy that unites software development (Dev) and IT operations (Ops) to improve collaboration, accelerate delivery, and enhance software quality. It aims to shorten the development lifecycle, increase deployment frequency, and deliver high-quality software reliably by automating and streamlining the processes between development and operations teams.</a:t>
            </a:r>
          </a:p>
          <a:p>
            <a:endParaRPr lang="en-IN" dirty="0"/>
          </a:p>
          <a:p>
            <a:r>
              <a:rPr lang="en-US" b="1" dirty="0"/>
              <a:t>Key Aspects of DevOps</a:t>
            </a:r>
          </a:p>
          <a:p>
            <a:endParaRPr lang="en-US" dirty="0"/>
          </a:p>
          <a:p>
            <a:pPr marL="285750" indent="-285750">
              <a:buFont typeface="Arial" panose="020B0604020202020204" pitchFamily="34" charset="0"/>
              <a:buChar char="•"/>
            </a:pPr>
            <a:r>
              <a:rPr lang="en-US" dirty="0"/>
              <a:t>Collaboration: Breaks down silos between development, operations, QA, and security teams, fostering a culture of shared responsibility.</a:t>
            </a:r>
          </a:p>
          <a:p>
            <a:pPr marL="285750" indent="-285750">
              <a:buFont typeface="Arial" panose="020B0604020202020204" pitchFamily="34" charset="0"/>
              <a:buChar char="•"/>
            </a:pPr>
            <a:r>
              <a:rPr lang="en-US" dirty="0"/>
              <a:t>Automation: Extensive automation of build, test, deployment, and infrastructure provisioning tasks to increase speed and reduce human error.</a:t>
            </a:r>
          </a:p>
          <a:p>
            <a:pPr marL="285750" indent="-285750">
              <a:buFont typeface="Arial" panose="020B0604020202020204" pitchFamily="34" charset="0"/>
              <a:buChar char="•"/>
            </a:pPr>
            <a:r>
              <a:rPr lang="en-US" dirty="0"/>
              <a:t>Continuous Integration and Continuous Delivery (CI/CD): Developers integrate code frequently, and the code is automatically built, tested, and prepared for release, enabling fast and reliable deployments.</a:t>
            </a:r>
          </a:p>
          <a:p>
            <a:pPr marL="285750" indent="-285750">
              <a:buFont typeface="Arial" panose="020B0604020202020204" pitchFamily="34" charset="0"/>
              <a:buChar char="•"/>
            </a:pPr>
            <a:r>
              <a:rPr lang="en-US" dirty="0"/>
              <a:t>Monitoring and Feedback: Continuous monitoring of applications and infrastructure ensures quick detection and resolution of issues.</a:t>
            </a:r>
          </a:p>
          <a:p>
            <a:pPr marL="285750" indent="-285750">
              <a:buFont typeface="Arial" panose="020B0604020202020204" pitchFamily="34" charset="0"/>
              <a:buChar char="•"/>
            </a:pPr>
            <a:r>
              <a:rPr lang="en-US" dirty="0"/>
              <a:t>Culture and Mindset: Encourages transparency, accountability, and continuous learning across teams, emphasizing customer satisfaction and business outcomes.</a:t>
            </a:r>
          </a:p>
        </p:txBody>
      </p:sp>
    </p:spTree>
    <p:extLst>
      <p:ext uri="{BB962C8B-B14F-4D97-AF65-F5344CB8AC3E}">
        <p14:creationId xmlns:p14="http://schemas.microsoft.com/office/powerpoint/2010/main" val="4260042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2E784-6DCE-E332-C78F-9B8F0C1107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455AD2-2130-E85D-B6BD-9234908A41BA}"/>
              </a:ext>
            </a:extLst>
          </p:cNvPr>
          <p:cNvSpPr txBox="1"/>
          <p:nvPr/>
        </p:nvSpPr>
        <p:spPr>
          <a:xfrm>
            <a:off x="735496" y="100114"/>
            <a:ext cx="8547652" cy="3416320"/>
          </a:xfrm>
          <a:prstGeom prst="rect">
            <a:avLst/>
          </a:prstGeom>
          <a:noFill/>
        </p:spPr>
        <p:txBody>
          <a:bodyPr wrap="square">
            <a:spAutoFit/>
          </a:bodyPr>
          <a:lstStyle/>
          <a:p>
            <a:pPr algn="l">
              <a:buNone/>
            </a:pPr>
            <a:r>
              <a:rPr lang="en-US" b="1" i="0" dirty="0">
                <a:effectLst/>
                <a:latin typeface="fkGrotesk"/>
              </a:rPr>
              <a:t>Why is DevOps Important?</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Faster Software Delivery: Accelerates time-to-market by enabling quicker development and deployment cycles.</a:t>
            </a:r>
          </a:p>
          <a:p>
            <a:pPr algn="l">
              <a:buFont typeface="Arial" panose="020B0604020202020204" pitchFamily="34" charset="0"/>
              <a:buChar char="•"/>
            </a:pPr>
            <a:r>
              <a:rPr lang="en-US" b="0" i="0" dirty="0">
                <a:effectLst/>
                <a:latin typeface="fkGroteskNeue"/>
              </a:rPr>
              <a:t>Improved Collaboration: Aligns goals and communication across traditionally separate teams.</a:t>
            </a:r>
          </a:p>
          <a:p>
            <a:pPr algn="l">
              <a:buFont typeface="Arial" panose="020B0604020202020204" pitchFamily="34" charset="0"/>
              <a:buChar char="•"/>
            </a:pPr>
            <a:r>
              <a:rPr lang="en-US" b="0" i="0" dirty="0">
                <a:effectLst/>
                <a:latin typeface="fkGroteskNeue"/>
              </a:rPr>
              <a:t>Higher Quality: Automated testing and monitoring improve software reliability, reduce bugs, and shorten recovery times.</a:t>
            </a:r>
          </a:p>
          <a:p>
            <a:pPr algn="l">
              <a:buFont typeface="Arial" panose="020B0604020202020204" pitchFamily="34" charset="0"/>
              <a:buChar char="•"/>
            </a:pPr>
            <a:r>
              <a:rPr lang="en-US" b="0" i="0" dirty="0">
                <a:effectLst/>
                <a:latin typeface="fkGroteskNeue"/>
              </a:rPr>
              <a:t>Increased Efficiency: Automation reduces repetitive manual tasks, freeing teams to focus on innovation.</a:t>
            </a:r>
          </a:p>
          <a:p>
            <a:pPr algn="l">
              <a:buFont typeface="Arial" panose="020B0604020202020204" pitchFamily="34" charset="0"/>
              <a:buChar char="•"/>
            </a:pPr>
            <a:r>
              <a:rPr lang="en-US" b="0" i="0" dirty="0">
                <a:effectLst/>
                <a:latin typeface="fkGroteskNeue"/>
              </a:rPr>
              <a:t>Better Security: Integrates security practices (</a:t>
            </a:r>
            <a:r>
              <a:rPr lang="en-US" b="0" i="0" dirty="0" err="1">
                <a:effectLst/>
                <a:latin typeface="fkGroteskNeue"/>
              </a:rPr>
              <a:t>DevSecOps</a:t>
            </a:r>
            <a:r>
              <a:rPr lang="en-US" b="0" i="0" dirty="0">
                <a:effectLst/>
                <a:latin typeface="fkGroteskNeue"/>
              </a:rPr>
              <a:t>) into the development pipeline, ensuring secure software delivery</a:t>
            </a:r>
          </a:p>
        </p:txBody>
      </p:sp>
      <p:sp>
        <p:nvSpPr>
          <p:cNvPr id="5" name="TextBox 4">
            <a:extLst>
              <a:ext uri="{FF2B5EF4-FFF2-40B4-BE49-F238E27FC236}">
                <a16:creationId xmlns:a16="http://schemas.microsoft.com/office/drawing/2014/main" id="{BCB052DF-D201-0044-20D6-1F715B4EB2D3}"/>
              </a:ext>
            </a:extLst>
          </p:cNvPr>
          <p:cNvSpPr txBox="1"/>
          <p:nvPr/>
        </p:nvSpPr>
        <p:spPr>
          <a:xfrm>
            <a:off x="616225" y="3641900"/>
            <a:ext cx="9293087" cy="2585323"/>
          </a:xfrm>
          <a:prstGeom prst="rect">
            <a:avLst/>
          </a:prstGeom>
          <a:noFill/>
        </p:spPr>
        <p:txBody>
          <a:bodyPr wrap="square">
            <a:spAutoFit/>
          </a:bodyPr>
          <a:lstStyle/>
          <a:p>
            <a:r>
              <a:rPr lang="en-IN" b="1" dirty="0"/>
              <a:t>3.6 JIRA</a:t>
            </a:r>
          </a:p>
          <a:p>
            <a:endParaRPr lang="en-IN" b="1" dirty="0"/>
          </a:p>
          <a:p>
            <a:r>
              <a:rPr lang="en-US" b="1" dirty="0"/>
              <a:t>JIRA Overview</a:t>
            </a:r>
          </a:p>
          <a:p>
            <a:endParaRPr lang="en-US" dirty="0"/>
          </a:p>
          <a:p>
            <a:r>
              <a:rPr lang="en-US" dirty="0"/>
              <a:t>JIRA is a leading project management and issue tracking tool developed by Atlassian, widely used in software development teams for managing tasks, bugs, and project workflows efficiently. It is highly versatile and supports various project management methodologies, particularly Agile frameworks like Scrum and Kanban</a:t>
            </a:r>
          </a:p>
          <a:p>
            <a:r>
              <a:rPr lang="en-IN" b="1" dirty="0"/>
              <a:t> </a:t>
            </a:r>
          </a:p>
        </p:txBody>
      </p:sp>
    </p:spTree>
    <p:extLst>
      <p:ext uri="{BB962C8B-B14F-4D97-AF65-F5344CB8AC3E}">
        <p14:creationId xmlns:p14="http://schemas.microsoft.com/office/powerpoint/2010/main" val="2553528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9B3EC-428B-76FA-0FE7-8CECD69103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93C52F-B672-5087-B1D0-773909D6AAA2}"/>
              </a:ext>
            </a:extLst>
          </p:cNvPr>
          <p:cNvSpPr txBox="1"/>
          <p:nvPr/>
        </p:nvSpPr>
        <p:spPr>
          <a:xfrm>
            <a:off x="864704" y="125827"/>
            <a:ext cx="8189843" cy="4801314"/>
          </a:xfrm>
          <a:prstGeom prst="rect">
            <a:avLst/>
          </a:prstGeom>
          <a:noFill/>
        </p:spPr>
        <p:txBody>
          <a:bodyPr wrap="square">
            <a:spAutoFit/>
          </a:bodyPr>
          <a:lstStyle/>
          <a:p>
            <a:pPr algn="l">
              <a:buNone/>
            </a:pPr>
            <a:r>
              <a:rPr lang="en-US" b="1" i="0" dirty="0">
                <a:effectLst/>
                <a:latin typeface="fkGrotesk"/>
              </a:rPr>
              <a:t>Key Features of JIRA</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Issue Tracking: JIRA allows creation, management, and prioritization of tasks, bugs, user stories, and other issue types essential for project transparency and control.</a:t>
            </a:r>
          </a:p>
          <a:p>
            <a:pPr algn="l">
              <a:buFont typeface="Arial" panose="020B0604020202020204" pitchFamily="34" charset="0"/>
              <a:buChar char="•"/>
            </a:pPr>
            <a:r>
              <a:rPr lang="en-US" b="0" i="0" dirty="0">
                <a:effectLst/>
                <a:latin typeface="fkGroteskNeue"/>
              </a:rPr>
              <a:t>Customizable Workflows: Teams can tailor workflows to fit specific processes, ensuring alignment with their unique project requirements and practices.</a:t>
            </a:r>
          </a:p>
          <a:p>
            <a:pPr algn="l">
              <a:buFont typeface="Arial" panose="020B0604020202020204" pitchFamily="34" charset="0"/>
              <a:buChar char="•"/>
            </a:pPr>
            <a:r>
              <a:rPr lang="en-US" b="0" i="0" dirty="0">
                <a:effectLst/>
                <a:latin typeface="fkGroteskNeue"/>
              </a:rPr>
              <a:t>Agile Project Management: Provides Scrum and Kanban boards, sprint planning tools, backlog management, and real-time progress tracking to support iterative development.</a:t>
            </a:r>
          </a:p>
          <a:p>
            <a:pPr algn="l">
              <a:buFont typeface="Arial" panose="020B0604020202020204" pitchFamily="34" charset="0"/>
              <a:buChar char="•"/>
            </a:pPr>
            <a:r>
              <a:rPr lang="en-US" b="0" i="0" dirty="0">
                <a:effectLst/>
                <a:latin typeface="fkGroteskNeue"/>
              </a:rPr>
              <a:t>Dashboards and Reporting: Offers customizable dashboards and reporting capabilities to analyze team performance, project status, and key metrics.</a:t>
            </a:r>
          </a:p>
          <a:p>
            <a:pPr algn="l">
              <a:buFont typeface="Arial" panose="020B0604020202020204" pitchFamily="34" charset="0"/>
              <a:buChar char="•"/>
            </a:pPr>
            <a:r>
              <a:rPr lang="en-US" b="0" i="0" dirty="0">
                <a:effectLst/>
                <a:latin typeface="fkGroteskNeue"/>
              </a:rPr>
              <a:t>Roadmaps: Enables visualization of high-level project plans and timeline mapping for initiatives, epics, and tasks.</a:t>
            </a:r>
          </a:p>
          <a:p>
            <a:pPr algn="l">
              <a:buFont typeface="Arial" panose="020B0604020202020204" pitchFamily="34" charset="0"/>
              <a:buChar char="•"/>
            </a:pPr>
            <a:r>
              <a:rPr lang="en-US" b="0" i="0" dirty="0">
                <a:effectLst/>
                <a:latin typeface="fkGroteskNeue"/>
              </a:rPr>
              <a:t>Collaboration: Facilitates team communication through comments, notifications, and task assignments.</a:t>
            </a:r>
          </a:p>
          <a:p>
            <a:pPr algn="l">
              <a:buFont typeface="Arial" panose="020B0604020202020204" pitchFamily="34" charset="0"/>
              <a:buChar char="•"/>
            </a:pPr>
            <a:r>
              <a:rPr lang="en-US" b="0" i="0" dirty="0">
                <a:effectLst/>
                <a:latin typeface="fkGroteskNeue"/>
              </a:rPr>
              <a:t>Integrations: Supports thousands of apps and integrations to extend functionality including CI/CD tools, testing frameworks, and documentation platforms.</a:t>
            </a:r>
          </a:p>
        </p:txBody>
      </p:sp>
    </p:spTree>
    <p:extLst>
      <p:ext uri="{BB962C8B-B14F-4D97-AF65-F5344CB8AC3E}">
        <p14:creationId xmlns:p14="http://schemas.microsoft.com/office/powerpoint/2010/main" val="159805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37903-449F-F349-EAD7-316F3E03448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E462F2-7A4B-B9CB-BE04-DC01F57D67AF}"/>
              </a:ext>
            </a:extLst>
          </p:cNvPr>
          <p:cNvSpPr txBox="1"/>
          <p:nvPr/>
        </p:nvSpPr>
        <p:spPr>
          <a:xfrm>
            <a:off x="824948" y="119992"/>
            <a:ext cx="8517835" cy="4247317"/>
          </a:xfrm>
          <a:prstGeom prst="rect">
            <a:avLst/>
          </a:prstGeom>
          <a:noFill/>
        </p:spPr>
        <p:txBody>
          <a:bodyPr wrap="square">
            <a:spAutoFit/>
          </a:bodyPr>
          <a:lstStyle/>
          <a:p>
            <a:pPr algn="l">
              <a:buNone/>
            </a:pPr>
            <a:r>
              <a:rPr lang="en-US" b="1" i="0" dirty="0">
                <a:effectLst/>
                <a:latin typeface="fkGrotesk"/>
              </a:rPr>
              <a:t>Use Cases of JIRA</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Managing software development projects with Agile methodologies.</a:t>
            </a:r>
          </a:p>
          <a:p>
            <a:pPr algn="l">
              <a:buFont typeface="Arial" panose="020B0604020202020204" pitchFamily="34" charset="0"/>
              <a:buChar char="•"/>
            </a:pPr>
            <a:r>
              <a:rPr lang="en-US" b="0" i="0" dirty="0">
                <a:effectLst/>
                <a:latin typeface="fkGroteskNeue"/>
              </a:rPr>
              <a:t>Tracking bugs and defects throughout the development lifecycle.</a:t>
            </a:r>
          </a:p>
          <a:p>
            <a:pPr algn="l">
              <a:buFont typeface="Arial" panose="020B0604020202020204" pitchFamily="34" charset="0"/>
              <a:buChar char="•"/>
            </a:pPr>
            <a:r>
              <a:rPr lang="en-US" b="0" i="0" dirty="0">
                <a:effectLst/>
                <a:latin typeface="fkGroteskNeue"/>
              </a:rPr>
              <a:t>Planning and executing sprints in Scrum teams.</a:t>
            </a:r>
          </a:p>
          <a:p>
            <a:pPr algn="l">
              <a:buFont typeface="Arial" panose="020B0604020202020204" pitchFamily="34" charset="0"/>
              <a:buChar char="•"/>
            </a:pPr>
            <a:r>
              <a:rPr lang="en-US" b="0" i="0" dirty="0">
                <a:effectLst/>
                <a:latin typeface="fkGroteskNeue"/>
              </a:rPr>
              <a:t>Visualizing workflows and optimizing operational processes.</a:t>
            </a:r>
          </a:p>
          <a:p>
            <a:pPr algn="l">
              <a:buFont typeface="Arial" panose="020B0604020202020204" pitchFamily="34" charset="0"/>
              <a:buChar char="•"/>
            </a:pPr>
            <a:r>
              <a:rPr lang="en-US" b="0" i="0" dirty="0">
                <a:effectLst/>
                <a:latin typeface="fkGroteskNeue"/>
              </a:rPr>
              <a:t>Generating analytics and insights for data-driven decision-making.</a:t>
            </a:r>
          </a:p>
          <a:p>
            <a:pPr algn="l">
              <a:buFont typeface="Arial" panose="020B0604020202020204" pitchFamily="34" charset="0"/>
              <a:buChar char="•"/>
            </a:pPr>
            <a:endParaRPr lang="en-US" dirty="0">
              <a:latin typeface="fkGroteskNeue"/>
            </a:endParaRPr>
          </a:p>
          <a:p>
            <a:r>
              <a:rPr lang="en-US" b="1" dirty="0"/>
              <a:t>Benefits of using JIRA</a:t>
            </a:r>
          </a:p>
          <a:p>
            <a:endParaRPr lang="en-US" dirty="0"/>
          </a:p>
          <a:p>
            <a:pPr marL="285750" indent="-285750">
              <a:buFont typeface="Arial" panose="020B0604020202020204" pitchFamily="34" charset="0"/>
              <a:buChar char="•"/>
            </a:pPr>
            <a:r>
              <a:rPr lang="en-US" dirty="0">
                <a:latin typeface="fkGroteskNeue"/>
              </a:rPr>
              <a:t>Centralizes project and issue management for enhanced visibility.</a:t>
            </a:r>
          </a:p>
          <a:p>
            <a:pPr marL="285750" indent="-285750">
              <a:buFont typeface="Arial" panose="020B0604020202020204" pitchFamily="34" charset="0"/>
              <a:buChar char="•"/>
            </a:pPr>
            <a:r>
              <a:rPr lang="en-US" dirty="0">
                <a:latin typeface="fkGroteskNeue"/>
              </a:rPr>
              <a:t>Adapts to diverse workflows and project types via customization.</a:t>
            </a:r>
          </a:p>
          <a:p>
            <a:pPr marL="285750" indent="-285750">
              <a:buFont typeface="Arial" panose="020B0604020202020204" pitchFamily="34" charset="0"/>
              <a:buChar char="•"/>
            </a:pPr>
            <a:r>
              <a:rPr lang="en-US" dirty="0">
                <a:latin typeface="fkGroteskNeue"/>
              </a:rPr>
              <a:t>Boosts team productivity and communication.</a:t>
            </a:r>
          </a:p>
          <a:p>
            <a:pPr marL="285750" indent="-285750">
              <a:buFont typeface="Arial" panose="020B0604020202020204" pitchFamily="34" charset="0"/>
              <a:buChar char="•"/>
            </a:pPr>
            <a:r>
              <a:rPr lang="en-US" dirty="0">
                <a:latin typeface="fkGroteskNeue"/>
              </a:rPr>
              <a:t>Supports scaling from small teams to large enterprises.</a:t>
            </a:r>
          </a:p>
          <a:p>
            <a:pPr marL="285750" indent="-285750">
              <a:buFont typeface="Arial" panose="020B0604020202020204" pitchFamily="34" charset="0"/>
              <a:buChar char="•"/>
            </a:pPr>
            <a:r>
              <a:rPr lang="en-US" dirty="0">
                <a:latin typeface="fkGroteskNeue"/>
              </a:rPr>
              <a:t>Provides powerful tools for tracking, collaboration, and </a:t>
            </a:r>
            <a:r>
              <a:rPr lang="en-US">
                <a:latin typeface="fkGroteskNeue"/>
              </a:rPr>
              <a:t>automation</a:t>
            </a:r>
            <a:r>
              <a:rPr lang="en-US"/>
              <a:t>.</a:t>
            </a:r>
            <a:endParaRPr lang="en-US" dirty="0"/>
          </a:p>
        </p:txBody>
      </p:sp>
    </p:spTree>
    <p:extLst>
      <p:ext uri="{BB962C8B-B14F-4D97-AF65-F5344CB8AC3E}">
        <p14:creationId xmlns:p14="http://schemas.microsoft.com/office/powerpoint/2010/main" val="267137475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33</TotalTime>
  <Words>2076</Words>
  <Application>Microsoft Office PowerPoint</Application>
  <PresentationFormat>Widescreen</PresentationFormat>
  <Paragraphs>250</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fkGrotesk</vt:lpstr>
      <vt:lpstr>fkGroteskNeue</vt:lpstr>
      <vt:lpstr>Trebuchet MS</vt:lpstr>
      <vt:lpstr>Wingdings</vt:lpstr>
      <vt:lpstr>Wingdings 3</vt:lpstr>
      <vt:lpstr>Facet</vt:lpstr>
      <vt:lpstr>Agile Methodology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2</cp:revision>
  <dcterms:created xsi:type="dcterms:W3CDTF">2025-10-09T08:42:03Z</dcterms:created>
  <dcterms:modified xsi:type="dcterms:W3CDTF">2025-10-09T13:45:05Z</dcterms:modified>
</cp:coreProperties>
</file>