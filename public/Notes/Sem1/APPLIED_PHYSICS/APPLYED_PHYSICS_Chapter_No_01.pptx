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47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7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2B0D6-22F8-42D2-BEA0-F517DA244F7E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5B1B0-B8C4-4530-9EB1-0BFD8B69F5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41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85B1B0-B8C4-4530-9EB1-0BFD8B69F54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78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13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644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28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0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144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65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93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78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273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5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03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6509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081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897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98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52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23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7196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  <p:sldLayoutId id="2147484059" r:id="rId12"/>
    <p:sldLayoutId id="2147484060" r:id="rId13"/>
    <p:sldLayoutId id="2147484061" r:id="rId14"/>
    <p:sldLayoutId id="2147484062" r:id="rId15"/>
    <p:sldLayoutId id="2147484063" r:id="rId16"/>
    <p:sldLayoutId id="214748406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DB72-86C2-F4C6-981A-537AD53E2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7910" y="1775268"/>
            <a:ext cx="8825658" cy="2677648"/>
          </a:xfrm>
        </p:spPr>
        <p:txBody>
          <a:bodyPr>
            <a:normAutofit fontScale="90000"/>
          </a:bodyPr>
          <a:lstStyle/>
          <a:p>
            <a:r>
              <a:rPr lang="en-IN" sz="9600" b="0" dirty="0">
                <a:solidFill>
                  <a:srgbClr val="FFFF00"/>
                </a:solidFill>
                <a:latin typeface="Algerian" panose="04020705040A02060702" pitchFamily="82" charset="0"/>
              </a:rPr>
              <a:t>01. Units and Measurements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5CECB-CB76-6A05-DAE1-864F35072C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5047380"/>
            <a:ext cx="9001462" cy="1655762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42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E8AC-902C-6F64-1E07-357E62C8F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6" y="-98323"/>
            <a:ext cx="12192000" cy="913511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2E0E95-E053-7BAD-BF62-44DF416136B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68826" y="634182"/>
                <a:ext cx="12123174" cy="6223818"/>
              </a:xfrm>
            </p:spPr>
            <p:txBody>
              <a:bodyPr>
                <a:normAutofit fontScale="92500" lnSpcReduction="20000"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Units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200" b="1" dirty="0">
                    <a:latin typeface="Century Schoolbook" panose="02040604050505020304" pitchFamily="18" charset="0"/>
                  </a:rPr>
                  <a:t>A unit is a standard reference used to measure a physical quantity.</a:t>
                </a:r>
                <a:endParaRPr lang="en-IN" sz="1800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Types of Units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400" b="1" u="sng" dirty="0">
                    <a:latin typeface="Century Schoolbook" panose="02040604050505020304" pitchFamily="18" charset="0"/>
                  </a:rPr>
                  <a:t>Fundamental Units</a:t>
                </a:r>
                <a:r>
                  <a:rPr lang="en-IN" sz="1800" b="1" dirty="0">
                    <a:latin typeface="Century Schoolbook" panose="02040604050505020304" pitchFamily="18" charset="0"/>
                  </a:rPr>
                  <a:t> – </a:t>
                </a:r>
                <a:r>
                  <a:rPr lang="en-IN" sz="1900" b="1" dirty="0">
                    <a:latin typeface="Century Schoolbook" panose="02040604050505020304" pitchFamily="18" charset="0"/>
                  </a:rPr>
                  <a:t>Units for fundamental quantities (e.g., meter (m), kilogram (kg), second (s)).</a:t>
                </a:r>
                <a:endParaRPr lang="en-IN" sz="1800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400" b="1" u="sng" dirty="0">
                    <a:latin typeface="Century Schoolbook" panose="02040604050505020304" pitchFamily="18" charset="0"/>
                  </a:rPr>
                  <a:t>Derived Units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</a:t>
                </a:r>
                <a:r>
                  <a:rPr lang="en-IN" sz="1800" b="1" dirty="0">
                    <a:latin typeface="Century Schoolbook" panose="02040604050505020304" pitchFamily="18" charset="0"/>
                  </a:rPr>
                  <a:t>– </a:t>
                </a:r>
                <a:r>
                  <a:rPr lang="en-IN" sz="1900" b="1" dirty="0">
                    <a:latin typeface="Century Schoolbook" panose="02040604050505020304" pitchFamily="18" charset="0"/>
                  </a:rPr>
                  <a:t>Units derived from fundamental units (e.g., Newton (N), Joule (J), Pascal (Pa)).</a:t>
                </a: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Measurement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algn="l"/>
                <a:r>
                  <a:rPr lang="en-US" sz="2200" b="1" dirty="0">
                    <a:latin typeface="Century Schoolbook" panose="02040604050505020304" pitchFamily="18" charset="0"/>
                  </a:rPr>
                  <a:t>Measurement is the process of finding the numerical value of a physical quantity by comparing it with a standard quantity of the same kind.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US" sz="22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For example</a:t>
                </a:r>
                <a:r>
                  <a:rPr lang="en-US" sz="22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latin typeface="Century Schoolbook" panose="02040604050505020304" pitchFamily="18" charset="0"/>
                  </a:rPr>
                  <a:t>If the length of a rod is measured as 2 meters, it means the rod is 2 times the standard meter in length.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200" b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Physical</m:t>
                      </m:r>
                      <m:r>
                        <m:rPr>
                          <m:nor/>
                        </m:rPr>
                        <a:rPr lang="en-US" sz="2200" b="1" i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1" i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Quantity</m:t>
                      </m:r>
                      <m:r>
                        <a:rPr lang="en-US" sz="2200" b="1" u="sng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2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Numerical</m:t>
                      </m:r>
                      <m:r>
                        <m:rPr>
                          <m:nor/>
                        </m:rPr>
                        <a:rPr lang="en-US" sz="22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2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Value</m:t>
                      </m:r>
                      <m:r>
                        <a:rPr lang="en-US" sz="2200" b="1" u="sng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2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Unit</m:t>
                      </m:r>
                    </m:oMath>
                  </m:oMathPara>
                </a14:m>
                <a:endParaRPr lang="en-US" sz="2200" b="1" u="sng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200" b="1" u="sng" dirty="0">
                    <a:latin typeface="Century Schoolbook" panose="02040604050505020304" pitchFamily="18" charset="0"/>
                  </a:rPr>
                  <a:t>Example</a:t>
                </a:r>
                <a:r>
                  <a:rPr lang="en-US" sz="2200" b="1" dirty="0">
                    <a:latin typeface="Century Schoolbook" panose="02040604050505020304" pitchFamily="18" charset="0"/>
                  </a:rPr>
                  <a:t> :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2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nor/>
                      </m:rPr>
                      <a:rPr lang="en-US" sz="22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 </m:t>
                    </m:r>
                    <m:r>
                      <a:rPr lang="en-US" sz="22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200" b="1" dirty="0">
                  <a:latin typeface="Century Schoolbook" panose="02040604050505020304" pitchFamily="18" charset="0"/>
                </a:endParaRPr>
              </a:p>
              <a:p>
                <a:pPr algn="l"/>
                <a:endParaRPr lang="en-IN" sz="18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82E0E95-E053-7BAD-BF62-44DF41613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68826" y="634182"/>
                <a:ext cx="12123174" cy="6223818"/>
              </a:xfrm>
              <a:blipFill>
                <a:blip r:embed="rId2"/>
                <a:stretch>
                  <a:fillRect l="-855" t="-881" r="-5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439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A9E1-5100-33A8-ADC4-9D179E15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18" y="-154349"/>
            <a:ext cx="12094283" cy="1044524"/>
          </a:xfrm>
        </p:spPr>
        <p:txBody>
          <a:bodyPr>
            <a:normAutofit/>
          </a:bodyPr>
          <a:lstStyle/>
          <a:p>
            <a:pPr algn="l"/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1.1] 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fundamental physics quantities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F92A2-BEDF-F64B-8C6F-23D1E00C4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718" y="255638"/>
            <a:ext cx="11976295" cy="308732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Fundamental (or Base) Physical Quantities are those physical quantities that do not depend on other quantities for their definition.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They are independent and cannot be derived from any other physical quantity.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These quantities form the foundation for all other (derived) quantities in physics.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List of Fundamental Physical Quantities with Examples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28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3949CE-0726-F484-41CB-B1F4C6DD9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06256"/>
              </p:ext>
            </p:extLst>
          </p:nvPr>
        </p:nvGraphicFramePr>
        <p:xfrm>
          <a:off x="487680" y="2881729"/>
          <a:ext cx="10779761" cy="3976271"/>
        </p:xfrm>
        <a:graphic>
          <a:graphicData uri="http://schemas.openxmlformats.org/drawingml/2006/table">
            <a:tbl>
              <a:tblPr/>
              <a:tblGrid>
                <a:gridCol w="804889">
                  <a:extLst>
                    <a:ext uri="{9D8B030D-6E8A-4147-A177-3AD203B41FA5}">
                      <a16:colId xmlns:a16="http://schemas.microsoft.com/office/drawing/2014/main" val="707384441"/>
                    </a:ext>
                  </a:extLst>
                </a:gridCol>
                <a:gridCol w="2527591">
                  <a:extLst>
                    <a:ext uri="{9D8B030D-6E8A-4147-A177-3AD203B41FA5}">
                      <a16:colId xmlns:a16="http://schemas.microsoft.com/office/drawing/2014/main" val="1222290558"/>
                    </a:ext>
                  </a:extLst>
                </a:gridCol>
                <a:gridCol w="1161483">
                  <a:extLst>
                    <a:ext uri="{9D8B030D-6E8A-4147-A177-3AD203B41FA5}">
                      <a16:colId xmlns:a16="http://schemas.microsoft.com/office/drawing/2014/main" val="1779942390"/>
                    </a:ext>
                  </a:extLst>
                </a:gridCol>
                <a:gridCol w="1044439">
                  <a:extLst>
                    <a:ext uri="{9D8B030D-6E8A-4147-A177-3AD203B41FA5}">
                      <a16:colId xmlns:a16="http://schemas.microsoft.com/office/drawing/2014/main" val="1863604115"/>
                    </a:ext>
                  </a:extLst>
                </a:gridCol>
                <a:gridCol w="1370227">
                  <a:extLst>
                    <a:ext uri="{9D8B030D-6E8A-4147-A177-3AD203B41FA5}">
                      <a16:colId xmlns:a16="http://schemas.microsoft.com/office/drawing/2014/main" val="650085371"/>
                    </a:ext>
                  </a:extLst>
                </a:gridCol>
                <a:gridCol w="3871132">
                  <a:extLst>
                    <a:ext uri="{9D8B030D-6E8A-4147-A177-3AD203B41FA5}">
                      <a16:colId xmlns:a16="http://schemas.microsoft.com/office/drawing/2014/main" val="1549148250"/>
                    </a:ext>
                  </a:extLst>
                </a:gridCol>
              </a:tblGrid>
              <a:tr h="4599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Sr. No.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Physical Quantity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Symbol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SI Unit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Symbol of Unit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938720"/>
                  </a:ext>
                </a:extLst>
              </a:tr>
              <a:tr h="680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1.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Length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l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metre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m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entury Schoolbook" panose="02040604050505020304" pitchFamily="18" charset="0"/>
                        </a:rPr>
                        <a:t>Measuring distance between two points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173669"/>
                  </a:ext>
                </a:extLst>
              </a:tr>
              <a:tr h="46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2.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Mass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m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kilogram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kg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Mass of an object, e.g., 5 kg bag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06942"/>
                  </a:ext>
                </a:extLst>
              </a:tr>
              <a:tr h="46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3.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Time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t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second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s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Duration of an event, e.g., 10 s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104337"/>
                  </a:ext>
                </a:extLst>
              </a:tr>
              <a:tr h="46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4.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Electric Current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I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ampere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A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entury Schoolbook" panose="02040604050505020304" pitchFamily="18" charset="0"/>
                        </a:rPr>
                        <a:t>Current flowing in a wire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151901"/>
                  </a:ext>
                </a:extLst>
              </a:tr>
              <a:tr h="46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5.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Thermodynamic Temperature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T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kelvin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K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Temperature of an object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734888"/>
                  </a:ext>
                </a:extLst>
              </a:tr>
              <a:tr h="46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6.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Amount of Substance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n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mole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mol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entury Schoolbook" panose="02040604050505020304" pitchFamily="18" charset="0"/>
                        </a:rPr>
                        <a:t>Amount of gas in moles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23999"/>
                  </a:ext>
                </a:extLst>
              </a:tr>
              <a:tr h="46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7.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Luminous Intensity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Iv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candela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cd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Brightness of a light source</a:t>
                      </a:r>
                    </a:p>
                  </a:txBody>
                  <a:tcPr marL="49942" marR="49942" marT="24971" marB="249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489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83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686E-2FA7-A766-A1DD-002C72B7A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98" y="-107619"/>
            <a:ext cx="11938603" cy="1001699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1.2]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derived physical quantities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40B5E-FC98-CC46-4C41-4BADD7393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698" y="589280"/>
            <a:ext cx="11938604" cy="529336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Derived Physical Quantities are those quantities that are obtained (or derived) from the fundamental physical quantities by using mathematical relationships.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simple words, they depend on two or more fundamental quantities.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Derived physical quantities are the quantities which can be expressed in terms of fundamental quantities by means of a mathematical relation.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algn="l"/>
            <a:r>
              <a:rPr lang="en-US" sz="2400" b="1" dirty="0">
                <a:latin typeface="Century Schoolbook" panose="02040604050505020304" pitchFamily="18" charset="0"/>
              </a:rPr>
              <a:t>Velocity, Force, Energy, Power, Pressure, Density, Volume, Area, etc.</a:t>
            </a:r>
          </a:p>
          <a:p>
            <a:pPr algn="l"/>
            <a:endParaRPr lang="en-US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12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C1428-D3AF-7156-8DE5-E69A9AD9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-108822"/>
            <a:ext cx="11846560" cy="961059"/>
          </a:xfrm>
        </p:spPr>
        <p:txBody>
          <a:bodyPr>
            <a:normAutofit fontScale="90000"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40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Examples of Derived Physical Quantities</a:t>
            </a:r>
            <a:r>
              <a:rPr lang="en-US" sz="40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b="0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11EEA-077E-4DCC-E4A4-770FEF63A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6355" y="4724266"/>
            <a:ext cx="10353761" cy="1592186"/>
          </a:xfrm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16DC34-4AE1-9E1B-6399-BEFF008FA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367388"/>
              </p:ext>
            </p:extLst>
          </p:nvPr>
        </p:nvGraphicFramePr>
        <p:xfrm>
          <a:off x="203200" y="650240"/>
          <a:ext cx="11379200" cy="6067323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132241801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1120917487"/>
                    </a:ext>
                  </a:extLst>
                </a:gridCol>
                <a:gridCol w="1926045">
                  <a:extLst>
                    <a:ext uri="{9D8B030D-6E8A-4147-A177-3AD203B41FA5}">
                      <a16:colId xmlns:a16="http://schemas.microsoft.com/office/drawing/2014/main" val="4186290566"/>
                    </a:ext>
                  </a:extLst>
                </a:gridCol>
                <a:gridCol w="1624149">
                  <a:extLst>
                    <a:ext uri="{9D8B030D-6E8A-4147-A177-3AD203B41FA5}">
                      <a16:colId xmlns:a16="http://schemas.microsoft.com/office/drawing/2014/main" val="1004055441"/>
                    </a:ext>
                  </a:extLst>
                </a:gridCol>
                <a:gridCol w="1624149">
                  <a:extLst>
                    <a:ext uri="{9D8B030D-6E8A-4147-A177-3AD203B41FA5}">
                      <a16:colId xmlns:a16="http://schemas.microsoft.com/office/drawing/2014/main" val="3473588345"/>
                    </a:ext>
                  </a:extLst>
                </a:gridCol>
                <a:gridCol w="1240080">
                  <a:extLst>
                    <a:ext uri="{9D8B030D-6E8A-4147-A177-3AD203B41FA5}">
                      <a16:colId xmlns:a16="http://schemas.microsoft.com/office/drawing/2014/main" val="3645198357"/>
                    </a:ext>
                  </a:extLst>
                </a:gridCol>
                <a:gridCol w="2008217">
                  <a:extLst>
                    <a:ext uri="{9D8B030D-6E8A-4147-A177-3AD203B41FA5}">
                      <a16:colId xmlns:a16="http://schemas.microsoft.com/office/drawing/2014/main" val="85859877"/>
                    </a:ext>
                  </a:extLst>
                </a:gridCol>
              </a:tblGrid>
              <a:tr h="425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Sr. No.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Derived Quantity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Formula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Depends on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SI Unit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Symbol of Unit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313675"/>
                  </a:ext>
                </a:extLst>
              </a:tr>
              <a:tr h="682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1.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Area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length × breadth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Length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square metre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m²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entury Schoolbook" panose="02040604050505020304" pitchFamily="18" charset="0"/>
                        </a:rPr>
                        <a:t>Area of a floor = 4 m × 5 m = 20 m²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842232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2.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Volume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length × breadth × height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Length</a:t>
                      </a:r>
                      <a:endParaRPr lang="en-IN" sz="900" b="1" dirty="0">
                        <a:latin typeface="Century Schoolbook" panose="02040604050505020304" pitchFamily="18" charset="0"/>
                      </a:endParaRP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cubic metre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m³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Volume of a box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903281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3.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Speed / Velocity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distance ÷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Length,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metre per second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m/s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entury Schoolbook" panose="02040604050505020304" pitchFamily="18" charset="0"/>
                        </a:rPr>
                        <a:t>Speed of car = 60 m/s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396374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4.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Acceleration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change in velocity ÷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Length,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metre per second²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m/s²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entury Schoolbook" panose="02040604050505020304" pitchFamily="18" charset="0"/>
                        </a:rPr>
                        <a:t>Acceleration of a falling body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759353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5.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Force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mass × acceleration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Mass, Length,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newton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N = kg·m/s²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entury Schoolbook" panose="02040604050505020304" pitchFamily="18" charset="0"/>
                        </a:rPr>
                        <a:t>Force applied on an object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405745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6.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Work / Energy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force × distance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Mass, Length,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joule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600" b="1" dirty="0">
                          <a:latin typeface="Century Schoolbook" panose="02040604050505020304" pitchFamily="18" charset="0"/>
                        </a:rPr>
                        <a:t>J = N·m = kg·m²/s²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entury Schoolbook" panose="02040604050505020304" pitchFamily="18" charset="0"/>
                        </a:rPr>
                        <a:t>Work done by lifting an object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41632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7.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Power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work ÷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Mass, Length,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watt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W = J/s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entury Schoolbook" panose="02040604050505020304" pitchFamily="18" charset="0"/>
                        </a:rPr>
                        <a:t>Power of an electric motor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47407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8.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Density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mass ÷ volume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Mass, Length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kilogram per cubic metre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kg/m³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entury Schoolbook" panose="02040604050505020304" pitchFamily="18" charset="0"/>
                        </a:rPr>
                        <a:t>Density of water = 1000 kg/m³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7530241"/>
                  </a:ext>
                </a:extLst>
              </a:tr>
              <a:tr h="607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entury Schoolbook" panose="02040604050505020304" pitchFamily="18" charset="0"/>
                        </a:rPr>
                        <a:t>9.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Pressure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force ÷ area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Mass, Length, Time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pascal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entury Schoolbook" panose="02040604050505020304" pitchFamily="18" charset="0"/>
                        </a:rPr>
                        <a:t>Pa = N/m²</a:t>
                      </a: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entury Schoolbook" panose="02040604050505020304" pitchFamily="18" charset="0"/>
                        </a:rPr>
                        <a:t>Air pressure in a </a:t>
                      </a:r>
                      <a:r>
                        <a:rPr lang="en-US" sz="1600" b="1" dirty="0" err="1">
                          <a:latin typeface="Century Schoolbook" panose="02040604050505020304" pitchFamily="18" charset="0"/>
                        </a:rPr>
                        <a:t>tyre</a:t>
                      </a:r>
                      <a:endParaRPr lang="en-US" sz="1600" b="1" dirty="0">
                        <a:latin typeface="Century Schoolbook" panose="02040604050505020304" pitchFamily="18" charset="0"/>
                      </a:endParaRPr>
                    </a:p>
                  </a:txBody>
                  <a:tcPr marL="36957" marR="36957" marT="18478" marB="184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7114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441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3EDF-6856-35C8-8BB0-623D5360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4" y="-87299"/>
            <a:ext cx="11857325" cy="945093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1.3]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scalar quantities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51A27-9EA0-9D8A-120F-599D0DE3E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1634" y="711200"/>
            <a:ext cx="11908732" cy="535432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Scalar quantities are those physical quantities which have only magnitude (size or numerical value) but no direction.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simple words, they can be completely described by a single number and unit.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Mass, Length, Time, Speed, Distance, Temperature, Energy, Work, Volume, Density, Power.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statement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temperature of water is 30°C (only magnitude, no direction).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speed of a car is 60 km/h.</a:t>
            </a: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39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5E0D-E147-89B7-2399-BC0986524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16" y="0"/>
            <a:ext cx="10353762" cy="920419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Vector quantities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35E66-FF8D-5167-F5C3-CCDDEA09C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2116" y="797560"/>
            <a:ext cx="11847769" cy="526288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Vector quantities are those physical quantities which have both magnitude and direction.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require direction for their complete description and follow the laws of vector addition.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0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Displacement, Velocity, Acceleration, Force, Momentum, Weight, Electric field, Magnetic field.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statement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A force of 10 N acts towards the east.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The velocity of a car is 60 km/h north.</a:t>
            </a:r>
          </a:p>
          <a:p>
            <a:pPr algn="l"/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232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F2FF-636F-F802-EF93-ECBBBFCB6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90399" cy="68072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Comparison between Scalar and Vector Quantities</a:t>
            </a:r>
            <a:r>
              <a:rPr lang="en-US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1A38E-1AE1-51F2-603B-369377FF1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A69439-D76A-8333-FB1E-FBAC052AA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962171"/>
              </p:ext>
            </p:extLst>
          </p:nvPr>
        </p:nvGraphicFramePr>
        <p:xfrm>
          <a:off x="518160" y="600710"/>
          <a:ext cx="10911841" cy="6033698"/>
        </p:xfrm>
        <a:graphic>
          <a:graphicData uri="http://schemas.openxmlformats.org/drawingml/2006/table">
            <a:tbl>
              <a:tblPr/>
              <a:tblGrid>
                <a:gridCol w="3630507">
                  <a:extLst>
                    <a:ext uri="{9D8B030D-6E8A-4147-A177-3AD203B41FA5}">
                      <a16:colId xmlns:a16="http://schemas.microsoft.com/office/drawing/2014/main" val="2138797795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931426822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1428976256"/>
                    </a:ext>
                  </a:extLst>
                </a:gridCol>
              </a:tblGrid>
              <a:tr h="66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u="sng" dirty="0">
                          <a:solidFill>
                            <a:srgbClr val="FFFF00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u="sng" dirty="0">
                          <a:solidFill>
                            <a:srgbClr val="FFFF00"/>
                          </a:solidFill>
                        </a:rPr>
                        <a:t>Scalar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u="sng" dirty="0">
                          <a:solidFill>
                            <a:srgbClr val="FFFF00"/>
                          </a:solidFill>
                        </a:rPr>
                        <a:t>Vector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822562"/>
                  </a:ext>
                </a:extLst>
              </a:tr>
              <a:tr h="1163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Has only magnitude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Has both magnitude and 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37167"/>
                  </a:ext>
                </a:extLst>
              </a:tr>
              <a:tr h="1163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Represented by a number and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Represented by an arrow (→)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562111"/>
                  </a:ext>
                </a:extLst>
              </a:tr>
              <a:tr h="664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Direction is essential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159740"/>
                  </a:ext>
                </a:extLst>
              </a:tr>
              <a:tr h="1163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Mass, Time, Speed, Energy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Force, Velocity, Acceleration, Displacement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29809"/>
                  </a:ext>
                </a:extLst>
              </a:tr>
              <a:tr h="1163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Mathematical 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Added algebraically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Added using vector laws (triangle/parallelogram law)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290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88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CAB6B-4855-959E-BCAC-104E99E66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74" y="-97459"/>
            <a:ext cx="12060526" cy="920419"/>
          </a:xfrm>
        </p:spPr>
        <p:txBody>
          <a:bodyPr>
            <a:normAutofit/>
          </a:bodyPr>
          <a:lstStyle/>
          <a:p>
            <a:pPr algn="l"/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1.4] 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definition &amp; requirements of unit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E8451C3-B42D-C895-C09D-2C0D006B030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31475" y="670561"/>
                <a:ext cx="11929050" cy="6183298"/>
              </a:xfrm>
            </p:spPr>
            <p:txBody>
              <a:bodyPr>
                <a:normAutofit/>
              </a:bodyPr>
              <a:lstStyle/>
              <a:p>
                <a:pPr marL="457200" indent="-45720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 of Unit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A unit is a standard reference used to measure a physical quantity.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It is a definite amount of that quantity which is accepted by convention and used for comparison with other quantities of the same kind.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A unit is a fixed quantity used as a standard of measurement for physical quantities.</a:t>
                </a:r>
                <a:endParaRPr lang="en-US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Example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The unit of length is </a:t>
                </a:r>
                <a:r>
                  <a:rPr lang="en-US" sz="2000" b="1" dirty="0" err="1">
                    <a:latin typeface="Century Schoolbook" panose="02040604050505020304" pitchFamily="18" charset="0"/>
                  </a:rPr>
                  <a:t>metre</a:t>
                </a:r>
                <a:r>
                  <a:rPr lang="en-US" sz="2000" b="1" dirty="0">
                    <a:latin typeface="Century Schoolbook" panose="02040604050505020304" pitchFamily="18" charset="0"/>
                  </a:rPr>
                  <a:t> (m).</a:t>
                </a:r>
              </a:p>
              <a:p>
                <a:pPr algn="l"/>
                <a:r>
                  <a:rPr lang="en-US" sz="2000" b="1" dirty="0">
                    <a:latin typeface="Century Schoolbook" panose="02040604050505020304" pitchFamily="18" charset="0"/>
                  </a:rPr>
                  <a:t>→ If the length of a rod is 2 m, it means the rod is 2 times the standard </a:t>
                </a:r>
                <a:r>
                  <a:rPr lang="en-US" sz="2000" b="1" dirty="0" err="1">
                    <a:latin typeface="Century Schoolbook" panose="02040604050505020304" pitchFamily="18" charset="0"/>
                  </a:rPr>
                  <a:t>metre</a:t>
                </a:r>
                <a:r>
                  <a:rPr lang="en-US" sz="2000" b="1" dirty="0">
                    <a:latin typeface="Century Schoolbook" panose="02040604050505020304" pitchFamily="18" charset="0"/>
                  </a:rPr>
                  <a:t>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Physical</m:t>
                      </m:r>
                      <m:r>
                        <m:rPr>
                          <m:nor/>
                        </m:rPr>
                        <a:rPr lang="en-US" sz="2400" b="1" i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Quantity</m:t>
                      </m:r>
                      <m:r>
                        <a:rPr lang="en-US" sz="2400" b="1" u="sng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Numerical</m:t>
                      </m:r>
                      <m:r>
                        <m:rPr>
                          <m:nor/>
                        </m:rPr>
                        <a:rPr lang="en-US" sz="24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Value</m:t>
                      </m:r>
                      <m:r>
                        <a:rPr lang="en-US" sz="2400" b="1" u="sng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24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Unit</m:t>
                      </m:r>
                    </m:oMath>
                  </m:oMathPara>
                </a14:m>
                <a:endParaRPr lang="en-US" sz="2400" b="1" u="sng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Example 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m:rPr>
                        <m:nor/>
                      </m:rPr>
                      <a:rPr lang="en-US" sz="2400" b="1" i="1">
                        <a:solidFill>
                          <a:srgbClr val="FFFF00"/>
                        </a:solidFill>
                        <a:latin typeface="Century Schoolbook" panose="02040604050505020304" pitchFamily="18" charset="0"/>
                      </a:rPr>
                      <m:t> 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endParaRPr lang="en-IN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E8451C3-B42D-C895-C09D-2C0D006B0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31475" y="670561"/>
                <a:ext cx="11929050" cy="6183298"/>
              </a:xfrm>
              <a:blipFill>
                <a:blip r:embed="rId2"/>
                <a:stretch>
                  <a:fillRect l="-1022" t="-888" r="-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677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CA37-BF18-87F5-7F0E-D180FE38A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36880"/>
            <a:ext cx="12527280" cy="1592187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36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Requirements (Characteristics) of a Good Unit</a:t>
            </a:r>
            <a:r>
              <a:rPr lang="en-US" sz="3600" b="0" dirty="0">
                <a:solidFill>
                  <a:srgbClr val="FFFF00"/>
                </a:solidFill>
                <a:latin typeface="Algerian" panose="04020705040A02060702" pitchFamily="82" charset="0"/>
              </a:rPr>
              <a:t> : </a:t>
            </a:r>
            <a:endParaRPr lang="en-IN" sz="36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8B58D-AF30-83CB-DFE6-532C08CFE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F7067C-DF53-2716-B545-62FF7EA01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50027"/>
              </p:ext>
            </p:extLst>
          </p:nvPr>
        </p:nvGraphicFramePr>
        <p:xfrm>
          <a:off x="662072" y="681970"/>
          <a:ext cx="11184486" cy="6176031"/>
        </p:xfrm>
        <a:graphic>
          <a:graphicData uri="http://schemas.openxmlformats.org/drawingml/2006/table">
            <a:tbl>
              <a:tblPr/>
              <a:tblGrid>
                <a:gridCol w="943208">
                  <a:extLst>
                    <a:ext uri="{9D8B030D-6E8A-4147-A177-3AD203B41FA5}">
                      <a16:colId xmlns:a16="http://schemas.microsoft.com/office/drawing/2014/main" val="3125718397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2651422687"/>
                    </a:ext>
                  </a:extLst>
                </a:gridCol>
                <a:gridCol w="7528558">
                  <a:extLst>
                    <a:ext uri="{9D8B030D-6E8A-4147-A177-3AD203B41FA5}">
                      <a16:colId xmlns:a16="http://schemas.microsoft.com/office/drawing/2014/main" val="2105763311"/>
                    </a:ext>
                  </a:extLst>
                </a:gridCol>
              </a:tblGrid>
              <a:tr h="372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Sr. No.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Requirement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Description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756008"/>
                  </a:ext>
                </a:extLst>
              </a:tr>
              <a:tr h="119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1.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Well Defined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The unit should be clearly defined and easily reproducible at any time and place.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524938"/>
                  </a:ext>
                </a:extLst>
              </a:tr>
              <a:tr h="92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2.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Stable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The value of the unit should not change with time, temperature, or place.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9692185"/>
                  </a:ext>
                </a:extLst>
              </a:tr>
              <a:tr h="92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3.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Easily Reproducible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Anyone should be able to reproduce the same unit accurately anywhere.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028582"/>
                  </a:ext>
                </a:extLst>
              </a:tr>
              <a:tr h="92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4.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Convenient in Size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The unit should neither be too large nor too small for practical use.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938557"/>
                  </a:ext>
                </a:extLst>
              </a:tr>
              <a:tr h="92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5.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Universally Accepted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latin typeface="Century Schoolbook" panose="02040604050505020304" pitchFamily="18" charset="0"/>
                        </a:rPr>
                        <a:t>The unit should be accepted and used internationally (like SI units).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025831"/>
                  </a:ext>
                </a:extLst>
              </a:tr>
              <a:tr h="9212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Century Schoolbook" panose="02040604050505020304" pitchFamily="18" charset="0"/>
                        </a:rPr>
                        <a:t>6.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Century Schoolbook" panose="02040604050505020304" pitchFamily="18" charset="0"/>
                        </a:rPr>
                        <a:t>Independence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latin typeface="Century Schoolbook" panose="02040604050505020304" pitchFamily="18" charset="0"/>
                        </a:rPr>
                        <a:t>The unit should be independent of other quantities.</a:t>
                      </a:r>
                    </a:p>
                  </a:txBody>
                  <a:tcPr marL="55160" marR="55160" marT="27580" marB="27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857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406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7392-44FF-5066-C884-37A096ED0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0"/>
            <a:ext cx="11887200" cy="802639"/>
          </a:xfrm>
        </p:spPr>
        <p:txBody>
          <a:bodyPr>
            <a:normAutofit fontScale="90000"/>
          </a:bodyPr>
          <a:lstStyle/>
          <a:p>
            <a:pPr algn="l"/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1.5] 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system of units : - </a:t>
            </a:r>
            <a:r>
              <a:rPr lang="en-US" sz="4400" b="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c.g.s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., </a:t>
            </a:r>
            <a:r>
              <a:rPr lang="en-US" sz="4400" b="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m.k.s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. &amp; </a:t>
            </a:r>
            <a:r>
              <a:rPr lang="en-US" sz="4400" b="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S.i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. units </a:t>
            </a:r>
            <a:endParaRPr lang="en-IN" sz="4400" b="0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69DF0-4362-9B55-FBA7-CEEE45F16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80" y="711201"/>
            <a:ext cx="11887200" cy="391160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system of units is a complete set of units used to measure fundamental physical quantities such as length, mass, and time.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Different countries or scientists in the past used different systems of units, leading to confusion.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To bring uniformity, several systems were developed — the main ones being C.G.S., M.K.S., and S.I. systems.</a:t>
            </a:r>
          </a:p>
          <a:p>
            <a:pPr algn="l"/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945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0930-86B5-A802-12BA-B38F6F98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32" y="-91439"/>
            <a:ext cx="11867485" cy="1060994"/>
          </a:xfrm>
        </p:spPr>
        <p:txBody>
          <a:bodyPr>
            <a:normAutofit/>
          </a:bodyPr>
          <a:lstStyle/>
          <a:p>
            <a:pPr marL="685800" indent="-6858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Systems of Units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B2916-FDB1-7917-E143-997FB39F1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V="1">
            <a:off x="913793" y="6416766"/>
            <a:ext cx="10353761" cy="207554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FEC33BF-34EE-6919-E586-5B170B628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715480"/>
              </p:ext>
            </p:extLst>
          </p:nvPr>
        </p:nvGraphicFramePr>
        <p:xfrm>
          <a:off x="467360" y="895548"/>
          <a:ext cx="10698480" cy="5448021"/>
        </p:xfrm>
        <a:graphic>
          <a:graphicData uri="http://schemas.openxmlformats.org/drawingml/2006/table">
            <a:tbl>
              <a:tblPr/>
              <a:tblGrid>
                <a:gridCol w="1057750">
                  <a:extLst>
                    <a:ext uri="{9D8B030D-6E8A-4147-A177-3AD203B41FA5}">
                      <a16:colId xmlns:a16="http://schemas.microsoft.com/office/drawing/2014/main" val="3489583366"/>
                    </a:ext>
                  </a:extLst>
                </a:gridCol>
                <a:gridCol w="2589690">
                  <a:extLst>
                    <a:ext uri="{9D8B030D-6E8A-4147-A177-3AD203B41FA5}">
                      <a16:colId xmlns:a16="http://schemas.microsoft.com/office/drawing/2014/main" val="3320293323"/>
                    </a:ext>
                  </a:extLst>
                </a:gridCol>
                <a:gridCol w="4381370">
                  <a:extLst>
                    <a:ext uri="{9D8B030D-6E8A-4147-A177-3AD203B41FA5}">
                      <a16:colId xmlns:a16="http://schemas.microsoft.com/office/drawing/2014/main" val="411195782"/>
                    </a:ext>
                  </a:extLst>
                </a:gridCol>
                <a:gridCol w="2669670">
                  <a:extLst>
                    <a:ext uri="{9D8B030D-6E8A-4147-A177-3AD203B41FA5}">
                      <a16:colId xmlns:a16="http://schemas.microsoft.com/office/drawing/2014/main" val="1423313026"/>
                    </a:ext>
                  </a:extLst>
                </a:gridCol>
              </a:tblGrid>
              <a:tr h="575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Sr. 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System of Units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Fundamental Units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Commonly Used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315095"/>
                  </a:ext>
                </a:extLst>
              </a:tr>
              <a:tr h="143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1.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C.G.S.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Length – centimetre (cm) Mass – gram (g) Time – second 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Used in small-scale laboratory measurements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03859"/>
                  </a:ext>
                </a:extLst>
              </a:tr>
              <a:tr h="143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2.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M.K.S.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Length – </a:t>
                      </a:r>
                      <a:r>
                        <a:rPr lang="en-US" sz="2000" b="1" dirty="0" err="1">
                          <a:latin typeface="Century Schoolbook" panose="02040604050505020304" pitchFamily="18" charset="0"/>
                        </a:rPr>
                        <a:t>metre</a:t>
                      </a: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 (m) Mass – kilogram (kg) Time – second 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Used in engineering and scientific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413980"/>
                  </a:ext>
                </a:extLst>
              </a:tr>
              <a:tr h="18700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3.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S.I. System </a:t>
                      </a:r>
                      <a:r>
                        <a:rPr lang="en-IN" sz="2000" b="1" i="1">
                          <a:latin typeface="Century Schoolbook" panose="02040604050505020304" pitchFamily="18" charset="0"/>
                        </a:rPr>
                        <a:t>(International System of Units)</a:t>
                      </a:r>
                      <a:endParaRPr lang="en-IN" sz="2000" b="1">
                        <a:latin typeface="Century Schoolbook" panose="020406040505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Length – </a:t>
                      </a:r>
                      <a:r>
                        <a:rPr lang="en-US" sz="2000" b="1" dirty="0" err="1">
                          <a:latin typeface="Century Schoolbook" panose="02040604050505020304" pitchFamily="18" charset="0"/>
                        </a:rPr>
                        <a:t>metre</a:t>
                      </a: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 (m) Mass – kilogram (kg) Time – second (s) + 4 more base quantities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Used worldwide in science and 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00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174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5FA81-4C5C-6571-2D0B-4A1CBA62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55" y="-91439"/>
            <a:ext cx="10353762" cy="975360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800" b="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c.g.s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. system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DD754-F017-9DBB-386C-EDBEDBDB2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4799" y="701041"/>
            <a:ext cx="11725245" cy="414528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Full form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IN" sz="2000" b="1" dirty="0">
                <a:latin typeface="Century Schoolbook" panose="02040604050505020304" pitchFamily="18" charset="0"/>
              </a:rPr>
              <a:t>Centimetre–Gram–Second</a:t>
            </a:r>
            <a:endParaRPr lang="en-IN" sz="1800" b="1" dirty="0">
              <a:latin typeface="Century Schoolbook" panose="020406040505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Basic units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Length → centimetre (cm)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Mass → gram (g)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Time → second (s)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Used for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IN" sz="2000" b="1" dirty="0">
                <a:latin typeface="Century Schoolbook" panose="02040604050505020304" pitchFamily="18" charset="0"/>
              </a:rPr>
              <a:t>Small-scale laboratory work.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IN" sz="2000" b="1" dirty="0">
                <a:latin typeface="Century Schoolbook" panose="02040604050505020304" pitchFamily="18" charset="0"/>
              </a:rPr>
              <a:t>Velocity = cm/s, Force = dyne, Work = erg.</a:t>
            </a:r>
          </a:p>
          <a:p>
            <a:pPr algn="l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82109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E0A7-303D-3993-1E09-DE59C48DB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395" y="-148259"/>
            <a:ext cx="11826845" cy="1067013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b="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m.k.s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. system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6613A-E8BD-6D83-4105-939B2B490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3395" y="711201"/>
            <a:ext cx="11826844" cy="4053839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Full form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IN" sz="2000" b="1" dirty="0">
                <a:latin typeface="Century Schoolbook" panose="02040604050505020304" pitchFamily="18" charset="0"/>
              </a:rPr>
              <a:t>Metre–Kilogram–Second</a:t>
            </a:r>
            <a:endParaRPr lang="en-IN" b="1" dirty="0">
              <a:latin typeface="Century Schoolbook" panose="020406040505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Basic units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Length → metre (m)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Mass → kilogram (kg)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Century Schoolbook" panose="02040604050505020304" pitchFamily="18" charset="0"/>
              </a:rPr>
              <a:t>Time → second (s)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Used for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IN" sz="2000" b="1" dirty="0">
                <a:latin typeface="Century Schoolbook" panose="02040604050505020304" pitchFamily="18" charset="0"/>
              </a:rPr>
              <a:t>Engineering and everyday applications.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IN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IN" sz="2000" b="1" dirty="0">
                <a:latin typeface="Century Schoolbook" panose="02040604050505020304" pitchFamily="18" charset="0"/>
              </a:rPr>
              <a:t>Velocity = m/s, Force = newton, Work = joule.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783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26CB-940D-220E-015E-2F95F62F8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55" y="-121919"/>
            <a:ext cx="10353762" cy="975360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800" b="0" u="sng" dirty="0" err="1">
                <a:solidFill>
                  <a:srgbClr val="FFFF00"/>
                </a:solidFill>
                <a:latin typeface="Algerian" panose="04020705040A02060702" pitchFamily="82" charset="0"/>
              </a:rPr>
              <a:t>s.i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. system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037C8-7BC8-93E4-9C8F-9BE408228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155" y="365761"/>
            <a:ext cx="11501725" cy="274828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Full form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i="1" dirty="0">
                <a:latin typeface="Century Schoolbook" panose="02040604050505020304" pitchFamily="18" charset="0"/>
              </a:rPr>
              <a:t>Système International </a:t>
            </a:r>
            <a:r>
              <a:rPr lang="en-US" sz="2000" b="1" i="1" dirty="0" err="1">
                <a:latin typeface="Century Schoolbook" panose="02040604050505020304" pitchFamily="18" charset="0"/>
              </a:rPr>
              <a:t>d’Unités</a:t>
            </a:r>
            <a:r>
              <a:rPr lang="en-US" sz="2000" b="1" dirty="0">
                <a:latin typeface="Century Schoolbook" panose="02040604050505020304" pitchFamily="18" charset="0"/>
              </a:rPr>
              <a:t> (International System of Units)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Adopted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In 1960 by the General Conference on Weights and Measures (CGPM).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Base Units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  <a:r>
              <a:rPr lang="en-US" b="1" dirty="0"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Seven base quantities:</a:t>
            </a:r>
          </a:p>
          <a:p>
            <a:pPr algn="l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D452DB-2A1D-509C-3D01-840A049B7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38258"/>
              </p:ext>
            </p:extLst>
          </p:nvPr>
        </p:nvGraphicFramePr>
        <p:xfrm>
          <a:off x="375920" y="2338069"/>
          <a:ext cx="8341360" cy="4519931"/>
        </p:xfrm>
        <a:graphic>
          <a:graphicData uri="http://schemas.openxmlformats.org/drawingml/2006/table">
            <a:tbl>
              <a:tblPr/>
              <a:tblGrid>
                <a:gridCol w="3079118">
                  <a:extLst>
                    <a:ext uri="{9D8B030D-6E8A-4147-A177-3AD203B41FA5}">
                      <a16:colId xmlns:a16="http://schemas.microsoft.com/office/drawing/2014/main" val="3465092030"/>
                    </a:ext>
                  </a:extLst>
                </a:gridCol>
                <a:gridCol w="1323615">
                  <a:extLst>
                    <a:ext uri="{9D8B030D-6E8A-4147-A177-3AD203B41FA5}">
                      <a16:colId xmlns:a16="http://schemas.microsoft.com/office/drawing/2014/main" val="1310702000"/>
                    </a:ext>
                  </a:extLst>
                </a:gridCol>
                <a:gridCol w="1488669">
                  <a:extLst>
                    <a:ext uri="{9D8B030D-6E8A-4147-A177-3AD203B41FA5}">
                      <a16:colId xmlns:a16="http://schemas.microsoft.com/office/drawing/2014/main" val="3335753226"/>
                    </a:ext>
                  </a:extLst>
                </a:gridCol>
                <a:gridCol w="2449958">
                  <a:extLst>
                    <a:ext uri="{9D8B030D-6E8A-4147-A177-3AD203B41FA5}">
                      <a16:colId xmlns:a16="http://schemas.microsoft.com/office/drawing/2014/main" val="48024480"/>
                    </a:ext>
                  </a:extLst>
                </a:gridCol>
              </a:tblGrid>
              <a:tr h="55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Physical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SI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Symbol of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206815"/>
                  </a:ext>
                </a:extLst>
              </a:tr>
              <a:tr h="55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metre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252189"/>
                  </a:ext>
                </a:extLst>
              </a:tr>
              <a:tr h="55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Mass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kilogram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37130"/>
                  </a:ext>
                </a:extLst>
              </a:tr>
              <a:tr h="630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second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883463"/>
                  </a:ext>
                </a:extLst>
              </a:tr>
              <a:tr h="55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Electric Current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ampere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061803"/>
                  </a:ext>
                </a:extLst>
              </a:tr>
              <a:tr h="55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kelvin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637308"/>
                  </a:ext>
                </a:extLst>
              </a:tr>
              <a:tr h="55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Amount of Substance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mole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mol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062535"/>
                  </a:ext>
                </a:extLst>
              </a:tr>
              <a:tr h="555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Luminous Intensity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Iv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candela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cd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829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4837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59C0-6950-0F73-3992-36507F3D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845" y="-111760"/>
            <a:ext cx="12223085" cy="971219"/>
          </a:xfrm>
        </p:spPr>
        <p:txBody>
          <a:bodyPr>
            <a:normAutofit/>
          </a:bodyPr>
          <a:lstStyle/>
          <a:p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1.6] 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dimensions &amp; dimensional formula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976B4E-AF06-AA11-D0D2-A446EFDC6D5B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11760" y="629920"/>
                <a:ext cx="11857324" cy="5974080"/>
              </a:xfrm>
            </p:spPr>
            <p:txBody>
              <a:bodyPr>
                <a:normAutofit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 of Dimensions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Dimensions of a physical quantity are the powers (or exponents) to which the fundamental quantities (mass, length, and time, etc.) are raised to represent that quantity.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In simple words, dimensions show how a physical quantity depends on fundamental quantities.</a:t>
                </a: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Example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Velocity = Distance / Time</a:t>
                </a:r>
                <a:br>
                  <a:rPr lang="en-IN" sz="2000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latin typeface="Century Schoolbook" panose="02040604050505020304" pitchFamily="18" charset="0"/>
                  </a:rPr>
                  <a:t>→ depends on Length (L) and Time (T)</a:t>
                </a: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So,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Dimension</m:t>
                      </m:r>
                      <m:r>
                        <m:rPr>
                          <m:nor/>
                        </m:rPr>
                        <a:rPr lang="en-IN" sz="2400" b="1" i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b="1" i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IN" sz="2400" b="1" i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b="1" i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Velocity</m:t>
                      </m:r>
                      <m:r>
                        <a:rPr lang="en-IN" sz="2400" b="1" u="sng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b="1" i="1" u="sng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b="1" i="1" u="sng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b="1" i="1" u="sng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p>
                              <m:r>
                                <a:rPr lang="ar-AE" sz="2400" b="1" i="1" u="sng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2400" b="1" i="1" u="sng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b="1" i="1" u="sng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p>
                              <m:r>
                                <a:rPr lang="ar-AE" sz="2400" b="1" i="1" u="sng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2400" b="1" i="1" u="sng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b="1" i="1" u="sng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p>
                              <m:r>
                                <a:rPr lang="ar-AE" sz="2400" b="1" u="sng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b="1" i="1" u="sng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1800" b="1" u="sng" dirty="0">
                  <a:latin typeface="Century Schoolbook" panose="02040604050505020304" pitchFamily="18" charset="0"/>
                </a:endParaRPr>
              </a:p>
              <a:p>
                <a:pPr algn="l"/>
                <a:endParaRPr lang="en-IN" sz="18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0976B4E-AF06-AA11-D0D2-A446EFDC6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11760" y="629920"/>
                <a:ext cx="11857324" cy="5974080"/>
              </a:xfrm>
              <a:blipFill>
                <a:blip r:embed="rId2"/>
                <a:stretch>
                  <a:fillRect l="-977" t="-612" r="-3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535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8D78-7149-6F91-7AAE-8815A1FFC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3521" y="-106679"/>
            <a:ext cx="8900277" cy="1021080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Dimensional formula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7C3F3B0-C2EC-778D-69D9-890129521798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33377" y="762001"/>
                <a:ext cx="11725245" cy="4450079"/>
              </a:xfrm>
            </p:spPr>
            <p:txBody>
              <a:bodyPr>
                <a:normAutofit/>
              </a:bodyPr>
              <a:lstStyle/>
              <a:p>
                <a:pPr marL="457200" indent="-457200" algn="l">
                  <a:buFont typeface="Wingdings" panose="05000000000000000000" pitchFamily="2" charset="2"/>
                  <a:buChar char="Ø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endParaRPr lang="en-IN" sz="20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dimensional formula of a physical quantity is an expression that shows how and which of the fundamental quantities (Mass [M], Length [L], Time [T], Electric Current [I], Temperature [K], Amount of Substance [mol], and Luminous Intensity [cd]) are involved in it.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It is written in the form 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p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p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p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p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sup>
                          </m:sSup>
                          <m:sSup>
                            <m:sSup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</m:e>
                            <m:sup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p>
                          </m:sSup>
                          <m: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𝒎𝒐</m:t>
                          </m:r>
                          <m:sSup>
                            <m:sSup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p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sup>
                          </m:sSup>
                          <m:r>
                            <a:rPr lang="ar-AE" sz="28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sSup>
                            <m:sSupPr>
                              <m:ctrlPr>
                                <a:rPr lang="ar-AE" sz="28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ar-AE" sz="28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latin typeface="Century Schoolbook" panose="02040604050505020304" pitchFamily="18" charset="0"/>
                  </a:rPr>
                  <a:t>where a, b, c, d, e, f, g are the powers of respective base quantities.</a:t>
                </a: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7C3F3B0-C2EC-778D-69D9-8901295217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33377" y="762001"/>
                <a:ext cx="11725245" cy="4450079"/>
              </a:xfrm>
              <a:blipFill>
                <a:blip r:embed="rId3"/>
                <a:stretch>
                  <a:fillRect l="-988" t="-3288" r="-9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474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1889-81B3-026C-BB01-DD20C7FA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945"/>
            <a:ext cx="12192000" cy="905905"/>
          </a:xfrm>
        </p:spPr>
        <p:txBody>
          <a:bodyPr>
            <a:noAutofit/>
          </a:bodyPr>
          <a:lstStyle/>
          <a:p>
            <a:r>
              <a:rPr lang="en-US" sz="4000" b="0" dirty="0">
                <a:solidFill>
                  <a:srgbClr val="FFFF00"/>
                </a:solidFill>
                <a:latin typeface="Algerian" panose="04020705040A02060702" pitchFamily="82" charset="0"/>
              </a:rPr>
              <a:t>1.7] </a:t>
            </a:r>
            <a:r>
              <a:rPr lang="en-US" sz="40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Rules &amp; conventions for writing units</a:t>
            </a:r>
            <a:r>
              <a:rPr lang="en-US" sz="40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96A94-C4A9-8685-DA37-CBEBD0D49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254" y="589280"/>
            <a:ext cx="11897965" cy="209296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Units must be written according to international conventions (as per the SI system).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These rules ensure clarity, uniformity, and accuracy in scientific writing.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Rules to Write Units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algn="l"/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E42B35-A467-8C31-6AF4-CC10C5B30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620569"/>
              </p:ext>
            </p:extLst>
          </p:nvPr>
        </p:nvGraphicFramePr>
        <p:xfrm>
          <a:off x="481486" y="2204161"/>
          <a:ext cx="10440513" cy="4489387"/>
        </p:xfrm>
        <a:graphic>
          <a:graphicData uri="http://schemas.openxmlformats.org/drawingml/2006/table">
            <a:tbl>
              <a:tblPr/>
              <a:tblGrid>
                <a:gridCol w="493874">
                  <a:extLst>
                    <a:ext uri="{9D8B030D-6E8A-4147-A177-3AD203B41FA5}">
                      <a16:colId xmlns:a16="http://schemas.microsoft.com/office/drawing/2014/main" val="2639094808"/>
                    </a:ext>
                  </a:extLst>
                </a:gridCol>
                <a:gridCol w="6466468">
                  <a:extLst>
                    <a:ext uri="{9D8B030D-6E8A-4147-A177-3AD203B41FA5}">
                      <a16:colId xmlns:a16="http://schemas.microsoft.com/office/drawing/2014/main" val="1172295475"/>
                    </a:ext>
                  </a:extLst>
                </a:gridCol>
                <a:gridCol w="3480171">
                  <a:extLst>
                    <a:ext uri="{9D8B030D-6E8A-4147-A177-3AD203B41FA5}">
                      <a16:colId xmlns:a16="http://schemas.microsoft.com/office/drawing/2014/main" val="2864608229"/>
                    </a:ext>
                  </a:extLst>
                </a:gridCol>
              </a:tblGrid>
              <a:tr h="347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No.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Rules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433770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1.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Units should be written in singular form, not plural.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✅ 10 metre ❌ 10 metres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272966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2.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entury Schoolbook" panose="02040604050505020304" pitchFamily="18" charset="0"/>
                        </a:rPr>
                        <a:t>Leave a space between the numerical value and the unit.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✅ 25 m ❌ 25m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238234"/>
                  </a:ext>
                </a:extLst>
              </a:tr>
              <a:tr h="48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3.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Unit symbols do not take a full stop (.) unless at the end of a sentence.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✅ 10 kg ❌ 10 kg.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197523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4.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Symbols of units are not in plural form.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✅ 5 kg ❌ 5 kgs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149922"/>
                  </a:ext>
                </a:extLst>
              </a:tr>
              <a:tr h="71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5.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Use correct capitalization : Unit symbols named after a person start with a capital letter; others are lowercase.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Force = N (Newton), metre = m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999773"/>
                  </a:ext>
                </a:extLst>
              </a:tr>
              <a:tr h="5488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6.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Derived units formed by division use a slash or negative power.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entury Schoolbook" panose="02040604050505020304" pitchFamily="18" charset="0"/>
                        </a:rPr>
                        <a:t>m/s or m·s⁻¹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433183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7.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entury Schoolbook" panose="02040604050505020304" pitchFamily="18" charset="0"/>
                        </a:rPr>
                        <a:t>Multiplication of units is shown by a dot (·) or space.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latin typeface="Century Schoolbook" panose="02040604050505020304" pitchFamily="18" charset="0"/>
                        </a:rPr>
                        <a:t>N·m or N m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432375"/>
                  </a:ext>
                </a:extLst>
              </a:tr>
              <a:tr h="4758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8.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Use SI prefixes for large or small quantities (kilo-, milli-, etc.).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Century Schoolbook" panose="02040604050505020304" pitchFamily="18" charset="0"/>
                        </a:rPr>
                        <a:t>1 km = 1000 m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976155"/>
                  </a:ext>
                </a:extLst>
              </a:tr>
              <a:tr h="384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Century Schoolbook" panose="02040604050505020304" pitchFamily="18" charset="0"/>
                        </a:rPr>
                        <a:t>9.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Century Schoolbook" panose="02040604050505020304" pitchFamily="18" charset="0"/>
                        </a:rPr>
                        <a:t>Only one unit per quantity should be used.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Century Schoolbook" panose="02040604050505020304" pitchFamily="18" charset="0"/>
                        </a:rPr>
                        <a:t>Use m/s, not m/min</a:t>
                      </a:r>
                    </a:p>
                  </a:txBody>
                  <a:tcPr marL="45070" marR="45070" marT="22535" marB="225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14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513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3756-047F-836B-6530-FA67CBD0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-81279"/>
            <a:ext cx="10353762" cy="93472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Significant figures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CEA5A-A433-2A94-6910-94135FDAE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2435" y="721361"/>
            <a:ext cx="11918285" cy="5171440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Significant figures are the digits in a measurement that carry meaning or accuracy, including all certain digits and one uncertain (estimated) digit.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They represent the precision of a measured quantity.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If a length is measured as 12.34 cm,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400" b="1" dirty="0">
                <a:latin typeface="Century Schoolbook" panose="02040604050505020304" pitchFamily="18" charset="0"/>
              </a:rPr>
              <a:t>→ all digits (1, 2, 3, and 4) are significant figures, so it has 4 significant figures.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584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7C1C-D826-6A6E-73E8-E7357D4CE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040" y="0"/>
            <a:ext cx="12324080" cy="91025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Rules for Writing Significant Figures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551CD-098F-DE0A-2755-D975C34A1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94035" y="6986689"/>
            <a:ext cx="10353761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98E801-0AAF-B463-F1CC-EA2BAE7F4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657663"/>
              </p:ext>
            </p:extLst>
          </p:nvPr>
        </p:nvGraphicFramePr>
        <p:xfrm>
          <a:off x="555599" y="820198"/>
          <a:ext cx="11006481" cy="6021852"/>
        </p:xfrm>
        <a:graphic>
          <a:graphicData uri="http://schemas.openxmlformats.org/drawingml/2006/table">
            <a:tbl>
              <a:tblPr/>
              <a:tblGrid>
                <a:gridCol w="744881">
                  <a:extLst>
                    <a:ext uri="{9D8B030D-6E8A-4147-A177-3AD203B41FA5}">
                      <a16:colId xmlns:a16="http://schemas.microsoft.com/office/drawing/2014/main" val="2396344836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635829577"/>
                    </a:ext>
                  </a:extLst>
                </a:gridCol>
                <a:gridCol w="3769360">
                  <a:extLst>
                    <a:ext uri="{9D8B030D-6E8A-4147-A177-3AD203B41FA5}">
                      <a16:colId xmlns:a16="http://schemas.microsoft.com/office/drawing/2014/main" val="4031367060"/>
                    </a:ext>
                  </a:extLst>
                </a:gridCol>
              </a:tblGrid>
              <a:tr h="355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No.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Rule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Example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348879"/>
                  </a:ext>
                </a:extLst>
              </a:tr>
              <a:tr h="6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1.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All non-zero digits are significant.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123 → 3 significant figures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859243"/>
                  </a:ext>
                </a:extLst>
              </a:tr>
              <a:tr h="60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2.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Zeros between non-zero digits are significant.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1023 → 4 significant figures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227406"/>
                  </a:ext>
                </a:extLst>
              </a:tr>
              <a:tr h="8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3.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Leading zeros (before first non-zero digit) are not significant.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0.00456 → 3 significant figures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117904"/>
                  </a:ext>
                </a:extLst>
              </a:tr>
              <a:tr h="8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4.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Trailing zeros (after a decimal point) are significant.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2.300 → 4 significant figures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907788"/>
                  </a:ext>
                </a:extLst>
              </a:tr>
              <a:tr h="954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5.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Trailing zeros in a whole number without a decimal point are not significant.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1500 → 2 significant figures (unless written as 1.500 × 10³)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587655"/>
                  </a:ext>
                </a:extLst>
              </a:tr>
              <a:tr h="8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6.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Exact or counting numbers have infinite significant figures.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>
                          <a:latin typeface="Century Schoolbook" panose="02040604050505020304" pitchFamily="18" charset="0"/>
                        </a:rPr>
                        <a:t>10 </a:t>
                      </a:r>
                      <a:r>
                        <a:rPr lang="fr-FR" sz="2000" b="1" dirty="0" err="1">
                          <a:latin typeface="Century Schoolbook" panose="02040604050505020304" pitchFamily="18" charset="0"/>
                        </a:rPr>
                        <a:t>apples</a:t>
                      </a:r>
                      <a:r>
                        <a:rPr lang="fr-FR" sz="2000" b="1" dirty="0">
                          <a:latin typeface="Century Schoolbook" panose="02040604050505020304" pitchFamily="18" charset="0"/>
                        </a:rPr>
                        <a:t> → </a:t>
                      </a:r>
                      <a:r>
                        <a:rPr lang="fr-FR" sz="2000" b="1" dirty="0" err="1">
                          <a:latin typeface="Century Schoolbook" panose="02040604050505020304" pitchFamily="18" charset="0"/>
                        </a:rPr>
                        <a:t>infinite</a:t>
                      </a:r>
                      <a:r>
                        <a:rPr lang="fr-FR" sz="2000" b="1" dirty="0">
                          <a:latin typeface="Century Schoolbook" panose="02040604050505020304" pitchFamily="18" charset="0"/>
                        </a:rPr>
                        <a:t> </a:t>
                      </a:r>
                      <a:r>
                        <a:rPr lang="fr-FR" sz="2000" b="1" dirty="0" err="1">
                          <a:latin typeface="Century Schoolbook" panose="02040604050505020304" pitchFamily="18" charset="0"/>
                        </a:rPr>
                        <a:t>significant</a:t>
                      </a:r>
                      <a:r>
                        <a:rPr lang="fr-FR" sz="2000" b="1" dirty="0">
                          <a:latin typeface="Century Schoolbook" panose="02040604050505020304" pitchFamily="18" charset="0"/>
                        </a:rPr>
                        <a:t> figures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185999"/>
                  </a:ext>
                </a:extLst>
              </a:tr>
              <a:tr h="8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7.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In scientific notation, all digits in the coefficient are significant.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>
                          <a:latin typeface="Century Schoolbook" panose="02040604050505020304" pitchFamily="18" charset="0"/>
                        </a:rPr>
                        <a:t>3.210 × 10⁵ → 4 </a:t>
                      </a:r>
                      <a:r>
                        <a:rPr lang="fr-FR" sz="2000" b="1" dirty="0" err="1">
                          <a:latin typeface="Century Schoolbook" panose="02040604050505020304" pitchFamily="18" charset="0"/>
                        </a:rPr>
                        <a:t>significant</a:t>
                      </a:r>
                      <a:r>
                        <a:rPr lang="fr-FR" sz="2000" b="1" dirty="0">
                          <a:latin typeface="Century Schoolbook" panose="02040604050505020304" pitchFamily="18" charset="0"/>
                        </a:rPr>
                        <a:t> figures</a:t>
                      </a:r>
                    </a:p>
                  </a:txBody>
                  <a:tcPr marL="54349" marR="54349" marT="27174" marB="27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883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01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D1D9-F15F-B53D-E5CB-6F087B5C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95" y="-117779"/>
            <a:ext cx="10353762" cy="1056853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1.8]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error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F202FE-1142-D5AD-03C7-00DD82602926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72418" y="609600"/>
                <a:ext cx="11847164" cy="5963920"/>
              </a:xfrm>
            </p:spPr>
            <p:txBody>
              <a:bodyPr>
                <a:norm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 of Error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In physics, error means the difference between the measured value and the true value of a physical quantity.</a:t>
                </a:r>
              </a:p>
              <a:p>
                <a:pPr marL="342900" indent="-342900" algn="l">
                  <a:buFont typeface="Wingdings" panose="05000000000000000000" pitchFamily="2" charset="2"/>
                  <a:buChar char="Ø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It occurs because no measurement is perfectly accurate — there is always some uncertainty.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u="sng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Error</m:t>
                      </m:r>
                      <m:r>
                        <a:rPr lang="en-US" sz="2800" b="1" u="sng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Measured</m:t>
                      </m:r>
                      <m:r>
                        <m:rPr>
                          <m:nor/>
                        </m:rPr>
                        <a:rPr lang="en-US" sz="28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Value</m:t>
                      </m:r>
                      <m:r>
                        <a:rPr lang="en-US" sz="2800" b="1" u="sng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8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True</m:t>
                      </m:r>
                      <m:r>
                        <m:rPr>
                          <m:nor/>
                        </m:rPr>
                        <a:rPr lang="en-US" sz="28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1" u="sng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Value</m:t>
                      </m:r>
                    </m:oMath>
                  </m:oMathPara>
                </a14:m>
                <a:endParaRPr lang="en-US" sz="2800" b="1" u="sng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v"/>
                </a:pPr>
                <a:r>
                  <a:rPr lang="en-US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Example</a:t>
                </a: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entury Schoolbook" panose="02040604050505020304" pitchFamily="18" charset="0"/>
                  </a:rPr>
                  <a:t>If the true length of a rod is 50.0 cm and measured as 49.8 cm,</a:t>
                </a:r>
                <a:br>
                  <a:rPr lang="en-US" sz="2400" b="1" dirty="0">
                    <a:latin typeface="Century Schoolbook" panose="02040604050505020304" pitchFamily="18" charset="0"/>
                  </a:rPr>
                </a:br>
                <a:r>
                  <a:rPr lang="en-US" sz="2400" b="1" dirty="0">
                    <a:latin typeface="Century Schoolbook" panose="02040604050505020304" pitchFamily="18" charset="0"/>
                  </a:rPr>
                  <a:t>then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Error</m:t>
                      </m:r>
                      <m:r>
                        <a:rPr lang="en-US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𝟒𝟗</m:t>
                      </m:r>
                      <m:r>
                        <a:rPr lang="en-US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n-US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m:rPr>
                          <m:nor/>
                        </m:rPr>
                        <a:rPr lang="en-US" sz="2800" b="1" i="1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US" sz="2800" b="1" i="1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cm</m:t>
                      </m:r>
                    </m:oMath>
                  </m:oMathPara>
                </a14:m>
                <a:endParaRPr lang="en-US" sz="28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endParaRPr lang="en-IN" sz="24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9F202FE-1142-D5AD-03C7-00DD826029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72418" y="609600"/>
                <a:ext cx="11847164" cy="5963920"/>
              </a:xfrm>
              <a:blipFill>
                <a:blip r:embed="rId2"/>
                <a:stretch>
                  <a:fillRect l="-9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773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1D6A-2948-74B2-924F-8C4315710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76" y="-138099"/>
            <a:ext cx="10353762" cy="1056853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errors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E2B56-AAF2-95A2-CF45-DCBEE59A5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276" y="755982"/>
            <a:ext cx="11897964" cy="6081698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Errors are mainly classified into three types :</a:t>
            </a:r>
          </a:p>
          <a:p>
            <a:pPr algn="l"/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SYSTEMATIC ERROR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18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Errors that occur regularly and in the same direction (either always positive or always negative).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entury Schoolbook" panose="02040604050505020304" pitchFamily="18" charset="0"/>
              </a:rPr>
              <a:t>They arise due to faults in the measuring instrument, method, or observer.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600" b="1" u="sng" dirty="0">
                <a:latin typeface="Century Schoolbook" panose="02040604050505020304" pitchFamily="18" charset="0"/>
              </a:rPr>
              <a:t>Causes of Systematic Errors</a:t>
            </a:r>
            <a:r>
              <a:rPr lang="en-US" sz="2600" b="1" dirty="0"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Instrumental Errors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sz="1800" b="1" dirty="0">
                <a:latin typeface="Century Schoolbook" panose="02040604050505020304" pitchFamily="18" charset="0"/>
              </a:rPr>
              <a:t>due to imperfect calibration or zero error.</a:t>
            </a:r>
            <a:br>
              <a:rPr lang="en-US" sz="1800" b="1" dirty="0">
                <a:latin typeface="Century Schoolbook" panose="02040604050505020304" pitchFamily="18" charset="0"/>
              </a:rPr>
            </a:br>
            <a:r>
              <a:rPr lang="en-US" sz="1800" b="1" dirty="0">
                <a:latin typeface="Century Schoolbook" panose="02040604050505020304" pitchFamily="18" charset="0"/>
              </a:rPr>
              <a:t>- </a:t>
            </a:r>
            <a:r>
              <a:rPr lang="en-US" sz="1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:</a:t>
            </a:r>
            <a:r>
              <a:rPr lang="en-US" sz="1800" b="1" dirty="0">
                <a:latin typeface="Century Schoolbook" panose="02040604050505020304" pitchFamily="18" charset="0"/>
              </a:rPr>
              <a:t> A faulty scale that starts from 0.2 cm instead of 0.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Observational Errors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sz="1800" b="1" dirty="0">
                <a:latin typeface="Century Schoolbook" panose="02040604050505020304" pitchFamily="18" charset="0"/>
              </a:rPr>
              <a:t>due to human mistakes (like parallax error while reading a scale).</a:t>
            </a:r>
          </a:p>
          <a:p>
            <a:pPr algn="l"/>
            <a:r>
              <a:rPr lang="en-US" sz="1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    - Example : </a:t>
            </a:r>
            <a:r>
              <a:rPr lang="en-US" sz="1800" b="1" dirty="0">
                <a:latin typeface="Century Schoolbook" panose="02040604050505020304" pitchFamily="18" charset="0"/>
              </a:rPr>
              <a:t>Reading the needle from the wrong angle.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Environmental Errors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sz="1800" b="1" dirty="0">
                <a:latin typeface="Century Schoolbook" panose="02040604050505020304" pitchFamily="18" charset="0"/>
              </a:rPr>
              <a:t>caused by changes in temperature, pressure, humidity, etc.</a:t>
            </a:r>
          </a:p>
          <a:p>
            <a:pPr algn="l"/>
            <a:r>
              <a:rPr lang="en-US" sz="1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     - Example :</a:t>
            </a:r>
            <a:r>
              <a:rPr lang="en-US" sz="1800" b="1" dirty="0">
                <a:latin typeface="Century Schoolbook" panose="02040604050505020304" pitchFamily="18" charset="0"/>
              </a:rPr>
              <a:t> Metal ruler expanding with heat.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Theoretical Errors</a:t>
            </a:r>
            <a:r>
              <a:rPr lang="en-US" sz="20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– </a:t>
            </a:r>
            <a:r>
              <a:rPr lang="en-US" sz="1800" b="1" dirty="0">
                <a:latin typeface="Century Schoolbook" panose="02040604050505020304" pitchFamily="18" charset="0"/>
              </a:rPr>
              <a:t>when simplifications or wrong assumptions are made in formulae.</a:t>
            </a:r>
          </a:p>
          <a:p>
            <a:pPr algn="l"/>
            <a:endParaRPr lang="en-IN" sz="1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516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3CFA-975A-3536-37ED-7DDFFBC9A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55" y="-107619"/>
            <a:ext cx="10353762" cy="930579"/>
          </a:xfrm>
        </p:spPr>
        <p:txBody>
          <a:bodyPr>
            <a:norm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3600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Random errors</a:t>
            </a:r>
            <a:r>
              <a:rPr lang="en-US" sz="3600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endParaRPr lang="en-IN" sz="36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DD45D-8C43-E410-5317-BDFEF02CA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55" y="670561"/>
            <a:ext cx="11918285" cy="549655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Errors that occur irregularly and unpredictably in repeated measurements.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They may be positive or negative and vary from one observation to another.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Causes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8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Personal limitations of the observer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Fluctuations in experimental conditions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Lack of precision of instruments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a stopwatch is started or stopped a little late each time, the recorded times differ slightly.</a:t>
            </a:r>
          </a:p>
          <a:p>
            <a:pPr algn="l"/>
            <a:endParaRPr lang="en-IN" sz="200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644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2968-B778-890A-060B-43DCA883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395" y="-188899"/>
            <a:ext cx="10353762" cy="1103299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4000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Gross errors</a:t>
            </a:r>
            <a:r>
              <a:rPr lang="en-US" sz="4000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ED1BF-975D-ABA4-E08B-EA7A22F8B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3395" y="599441"/>
            <a:ext cx="11796365" cy="4480559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These are blunders or mistakes made due to carelessness of the observer.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Examples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Misreading a scale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Using a wrong instrument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Recording wrong data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113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8C58-7E3E-AAD4-C06E-052DB2CC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35" y="-107619"/>
            <a:ext cx="10353762" cy="1056853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Estimation of errors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8295A92-1FAE-93E1-B18B-526B5094ED6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41635" y="873760"/>
                <a:ext cx="11796365" cy="6055360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200" b="1" dirty="0">
                    <a:latin typeface="Century Schoolbook" panose="02040604050505020304" pitchFamily="18" charset="0"/>
                  </a:rPr>
                  <a:t>To express how large the error is in a measurement, we calculate different types of estimation values:</a:t>
                </a:r>
              </a:p>
              <a:p>
                <a:pPr algn="l"/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(a) </a:t>
                </a:r>
                <a:r>
                  <a:rPr lang="en-IN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Absolute Error</a:t>
                </a: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200" b="1" dirty="0">
                    <a:latin typeface="Century Schoolbook" panose="02040604050505020304" pitchFamily="18" charset="0"/>
                  </a:rPr>
                  <a:t>The absolute error of each observation is the difference between the measured value and the mean value.</a:t>
                </a:r>
              </a:p>
              <a:p>
                <a:pPr marL="285750" indent="-285750" algn="l">
                  <a:buFont typeface="Wingdings" panose="05000000000000000000" pitchFamily="2" charset="2"/>
                  <a:buChar char="Ø"/>
                </a:pPr>
                <a:r>
                  <a:rPr lang="en-IN" sz="2200" b="1" dirty="0">
                    <a:latin typeface="Century Schoolbook" panose="02040604050505020304" pitchFamily="18" charset="0"/>
                  </a:rPr>
                  <a:t>If measured values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ar-AE" sz="2200" b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ar-AE" sz="2200" b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ar-AE" sz="2200" b="1" smtClean="0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ar-AE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ar-AE" sz="2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ar-AE" sz="2200" b="1" dirty="0">
                    <a:latin typeface="Century Schoolbook" panose="02040604050505020304" pitchFamily="18" charset="0"/>
                  </a:rPr>
                  <a:t>,</a:t>
                </a:r>
                <a:br>
                  <a:rPr lang="ar-AE" sz="2200" b="1" dirty="0">
                    <a:latin typeface="Century Schoolbook" panose="02040604050505020304" pitchFamily="18" charset="0"/>
                  </a:rPr>
                </a:br>
                <a:r>
                  <a:rPr lang="en-IN" sz="2200" b="1" dirty="0">
                    <a:latin typeface="Century Schoolbook" panose="02040604050505020304" pitchFamily="18" charset="0"/>
                  </a:rPr>
                  <a:t>then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600" b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IN" sz="26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6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value</m:t>
                      </m:r>
                      <m:r>
                        <a:rPr lang="en-IN" sz="26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Upp>
                        <m:limUppPr>
                          <m:ctrlPr>
                            <a:rPr lang="ar-AE" sz="26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sz="26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lim>
                          <m:r>
                            <a:rPr lang="ar-AE" sz="26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sz="26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6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26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ar-AE" sz="26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ar-AE" sz="26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6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ar-AE" sz="26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ar-AE" sz="26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+...+</m:t>
                          </m:r>
                          <m:sSub>
                            <m:sSubPr>
                              <m:ctrlPr>
                                <a:rPr lang="ar-AE" sz="26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6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ar-AE" sz="26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num>
                        <m:den>
                          <m:r>
                            <a:rPr lang="ar-AE" sz="26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and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b="1">
                          <a:latin typeface="Century Schoolbook" panose="02040604050505020304" pitchFamily="18" charset="0"/>
                        </a:rPr>
                        <m:t>Absolute</m:t>
                      </m:r>
                      <m:r>
                        <m:rPr>
                          <m:nor/>
                        </m:rPr>
                        <a:rPr lang="en-IN" sz="2000" b="1" i="1"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1" i="1">
                          <a:latin typeface="Century Schoolbook" panose="02040604050505020304" pitchFamily="18" charset="0"/>
                        </a:rPr>
                        <m:t>error</m:t>
                      </m:r>
                      <m:r>
                        <m:rPr>
                          <m:nor/>
                        </m:rPr>
                        <a:rPr lang="en-IN" sz="2000" b="1" i="1"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1" i="1">
                          <a:latin typeface="Century Schoolbook" panose="020406040505050203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IN" sz="2000" b="1" i="1"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1" i="1">
                          <a:latin typeface="Century Schoolbook" panose="02040604050505020304" pitchFamily="18" charset="0"/>
                        </a:rPr>
                        <m:t>each</m:t>
                      </m:r>
                      <m:r>
                        <m:rPr>
                          <m:nor/>
                        </m:rPr>
                        <a:rPr lang="en-IN" sz="2000" b="1" i="1"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000" b="1" i="1">
                          <a:latin typeface="Century Schoolbook" panose="02040604050505020304" pitchFamily="18" charset="0"/>
                        </a:rPr>
                        <m:t>observation</m:t>
                      </m:r>
                      <m:r>
                        <a:rPr lang="en-IN" sz="2000" b="1" smtClean="0">
                          <a:latin typeface="Cambria Math" panose="02040503050406030204" pitchFamily="18" charset="0"/>
                        </a:rPr>
                        <m:t>=∣</m:t>
                      </m:r>
                      <m:sSub>
                        <m:sSub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−</m:t>
                      </m:r>
                      <m:limUpp>
                        <m:limUpp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lim>
                          <m:r>
                            <a:rPr lang="ar-AE" sz="2000" b="1" smtClean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sz="2000" b="1" smtClean="0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The mean absolute error is given by: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𝒎𝒆𝒂𝒏</m:t>
                          </m:r>
                        </m:sub>
                      </m:sSub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sz="2400" b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e>
                          </m:nary>
                          <m:sSub>
                            <m:sSubPr>
                              <m:ctrlPr>
                                <a:rPr lang="ar-AE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ar-AE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ar-AE" sz="24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ar-AE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lim>
                              <m:r>
                                <a:rPr lang="ar-AE" sz="2400" b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ˉ</m:t>
                              </m:r>
                            </m:lim>
                          </m:limUpp>
                          <m:r>
                            <a:rPr lang="ar-AE" sz="24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8295A92-1FAE-93E1-B18B-526B5094E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41635" y="873760"/>
                <a:ext cx="11796365" cy="6055360"/>
              </a:xfrm>
              <a:blipFill>
                <a:blip r:embed="rId2"/>
                <a:stretch>
                  <a:fillRect l="-775" t="-3119" r="-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066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F5E9-F5F8-A6F5-F4CA-214D92FE1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56" y="-422579"/>
            <a:ext cx="10353762" cy="42257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EF11E16-9451-BE6D-7283-2488425E5F70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12756" y="1"/>
                <a:ext cx="11766489" cy="5872479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(b)</a:t>
                </a:r>
                <a:r>
                  <a:rPr lang="en-IN" sz="20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</a:t>
                </a: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Relative Error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endParaRPr lang="en-IN" sz="20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relative error is the ratio of the mean absolute error to the mean value</a:t>
                </a:r>
                <a:r>
                  <a:rPr lang="en-IN" sz="2000" b="1" dirty="0">
                    <a:latin typeface="Century Schoolbook" panose="02040604050505020304" pitchFamily="18" charset="0"/>
                  </a:rPr>
                  <a:t>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Relative</m:t>
                      </m:r>
                      <m:r>
                        <m:rPr>
                          <m:nor/>
                        </m:rPr>
                        <a:rPr lang="en-IN" sz="24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Error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sSub>
                            <m:sSubPr>
                              <m:ctrlPr>
                                <a:rPr lang="ar-AE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ar-AE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𝒎𝒆𝒂𝒏</m:t>
                              </m:r>
                            </m:sub>
                          </m:sSub>
                        </m:num>
                        <m:den>
                          <m:limUpp>
                            <m:limUppPr>
                              <m:ctrlPr>
                                <a:rPr lang="ar-AE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ar-AE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lim>
                              <m:r>
                                <a:rPr lang="ar-AE" sz="2400" b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ˉ</m:t>
                              </m:r>
                            </m:lim>
                          </m:limUpp>
                        </m:den>
                      </m:f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:br>
                  <a:rPr lang="ar-AE" sz="2000" b="1" dirty="0">
                    <a:latin typeface="Century Schoolbook" panose="02040604050505020304" pitchFamily="18" charset="0"/>
                  </a:rPr>
                </a:br>
                <a:r>
                  <a:rPr lang="en-US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(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c) </a:t>
                </a: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Percentage Error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endParaRPr lang="en-IN" sz="20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entury Schoolbook" panose="02040604050505020304" pitchFamily="18" charset="0"/>
                  </a:rPr>
                  <a:t>The percentage error is the relative error expressed as a percentage.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Percentage</m:t>
                      </m:r>
                      <m:r>
                        <m:rPr>
                          <m:nor/>
                        </m:rPr>
                        <a:rPr lang="en-IN" sz="24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4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Error</m:t>
                      </m:r>
                      <m:r>
                        <a:rPr lang="en-IN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400" b="1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sz="2400" b="1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ar-AE" sz="24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ar-AE" sz="24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𝒎𝒆𝒂𝒏</m:t>
                                  </m:r>
                                </m:sub>
                              </m:sSub>
                            </m:num>
                            <m:den>
                              <m:limUpp>
                                <m:limUppPr>
                                  <m:ctrlPr>
                                    <a:rPr lang="ar-AE" sz="2400" b="1" i="1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ar-AE" sz="2400" b="1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lim>
                                  <m:r>
                                    <a:rPr lang="ar-AE" sz="2400" b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ˉ</m:t>
                                  </m:r>
                                </m:lim>
                              </m:limUpp>
                            </m:den>
                          </m:f>
                        </m:e>
                      </m:d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ar-AE" sz="24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endParaRPr lang="en-IN" sz="20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EF11E16-9451-BE6D-7283-2488425E5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12756" y="1"/>
                <a:ext cx="11766489" cy="5872479"/>
              </a:xfrm>
              <a:blipFill>
                <a:blip r:embed="rId2"/>
                <a:stretch>
                  <a:fillRect l="-11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941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548D-EB98-7CF9-992C-57F7CCE3E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035" y="-111759"/>
            <a:ext cx="10353762" cy="1005840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FD47D6-0762-5C11-E660-89A0A051246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94035" y="558801"/>
                <a:ext cx="11603930" cy="469392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Measured lengths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= 50.2 cm, 50.4 cm, 49.9 cm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Upp>
                        <m:limUppPr>
                          <m:ctrlPr>
                            <a:rPr lang="ar-AE" sz="2400" b="1" i="1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lim>
                          <m:r>
                            <a:rPr lang="ar-AE" sz="2400" b="1" smtClean="0">
                              <a:latin typeface="Cambria Math" panose="02040503050406030204" pitchFamily="18" charset="0"/>
                            </a:rPr>
                            <m:t>ˉ</m:t>
                          </m:r>
                        </m:lim>
                      </m:limUpp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ar-AE" sz="24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ar-AE" sz="2400" b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  <m:r>
                            <a:rPr lang="ar-AE" sz="24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ar-AE" sz="2400" b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𝟒𝟗</m:t>
                          </m:r>
                          <m:r>
                            <a:rPr lang="ar-AE" sz="24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ar-A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ar-AE" sz="2400" b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b="1" i="1" smtClean="0"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m:rPr>
                          <m:nor/>
                        </m:rPr>
                        <a:rPr lang="ar-AE" sz="2400" b="1" i="1">
                          <a:latin typeface="Century Schoolbook" panose="020406040505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IN" sz="2400" b="1" i="1">
                          <a:latin typeface="Century Schoolbook" panose="02040604050505020304" pitchFamily="18" charset="0"/>
                        </a:rPr>
                        <m:t>cm</m:t>
                      </m:r>
                    </m:oMath>
                  </m:oMathPara>
                </a14:m>
                <a:endParaRPr lang="en-IN" sz="2400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Absolute errors :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0.03, 0.23, 0.27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b="1" i="1" smtClean="0">
                          <a:latin typeface="Cambria Math" panose="02040503050406030204" pitchFamily="18" charset="0"/>
                        </a:rPr>
                        <m:t>𝚫</m:t>
                      </m:r>
                      <m:sSub>
                        <m:sSubPr>
                          <m:ctrlPr>
                            <a:rPr lang="ar-AE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𝒎𝒆𝒂𝒏</m:t>
                          </m:r>
                        </m:sub>
                      </m:sSub>
                      <m:r>
                        <a:rPr lang="ar-AE" sz="2800" b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ar-AE" sz="28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𝟎𝟑</m:t>
                          </m:r>
                          <m:r>
                            <a:rPr lang="ar-AE" sz="2800" b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ar-AE" sz="28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𝟐𝟑</m:t>
                          </m:r>
                          <m:r>
                            <a:rPr lang="ar-AE" sz="2800" b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ar-AE" sz="2800" b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𝟐𝟕</m:t>
                          </m:r>
                        </m:num>
                        <m:den>
                          <m:r>
                            <a:rPr lang="ar-AE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ar-AE" sz="28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ar-AE" sz="2800" b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800" b="1" i="1" smtClean="0"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m:rPr>
                          <m:nor/>
                        </m:rPr>
                        <a:rPr lang="ar-AE" sz="2800" b="1" i="1">
                          <a:latin typeface="Century Schoolbook" panose="020406040505050203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en-IN" sz="2800" b="1" i="1">
                          <a:latin typeface="Century Schoolbook" panose="02040604050505020304" pitchFamily="18" charset="0"/>
                        </a:rPr>
                        <m:t>cm</m:t>
                      </m:r>
                    </m:oMath>
                  </m:oMathPara>
                </a14:m>
                <a:endParaRPr lang="en-IN" sz="2400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Relative error = 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0.18 / 50.17 = 0.0036</a:t>
                </a:r>
                <a:br>
                  <a:rPr lang="en-IN" sz="2400" b="1" dirty="0">
                    <a:latin typeface="Century Schoolbook" panose="02040604050505020304" pitchFamily="18" charset="0"/>
                  </a:rPr>
                </a:br>
                <a:r>
                  <a:rPr lang="en-IN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Percentage error =</a:t>
                </a:r>
                <a:r>
                  <a:rPr lang="en-IN" sz="2400" b="1" dirty="0">
                    <a:latin typeface="Century Schoolbook" panose="02040604050505020304" pitchFamily="18" charset="0"/>
                  </a:rPr>
                  <a:t> 0.36%</a:t>
                </a:r>
              </a:p>
              <a:p>
                <a:pPr algn="l"/>
                <a:endParaRPr lang="en-IN" sz="2400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FD47D6-0762-5C11-E660-89A0A0512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94035" y="558801"/>
                <a:ext cx="11603930" cy="4693920"/>
              </a:xfrm>
              <a:blipFill>
                <a:blip r:embed="rId2"/>
                <a:stretch>
                  <a:fillRect l="-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314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37FB-ADDB-92FC-040E-C8B6689B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7779"/>
            <a:ext cx="11746169" cy="105685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Ancient astronomical instruments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27DE9-6A95-5E85-E43D-A61CD8DF9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275" y="711200"/>
            <a:ext cx="11746170" cy="296672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Before modern telescopes and clocks were invented, ancient Indian astronomers developed many instruments to observe celestial bodies (Sun, Moon, stars, planets) and measure time, altitude, and position.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Some of the most important among them were Chakra, Dhanyata, Yasti, and Phalak Yantra.</a:t>
            </a:r>
          </a:p>
          <a:p>
            <a:pPr algn="l"/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275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4DC7-9C3C-41D4-3B40-4C57F392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7479"/>
            <a:ext cx="11948765" cy="1076234"/>
          </a:xfrm>
        </p:spPr>
        <p:txBody>
          <a:bodyPr>
            <a:normAutofit fontScale="90000"/>
          </a:bodyPr>
          <a:lstStyle/>
          <a:p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1. </a:t>
            </a:r>
            <a:r>
              <a:rPr lang="en-US" sz="44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Chakra yantra (The circle instrument)</a:t>
            </a:r>
            <a:r>
              <a:rPr lang="en-US" sz="44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400" b="0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715768-5CFB-A68F-8EDB-40D58DFAE6A2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32080" y="680721"/>
                <a:ext cx="11704320" cy="5750560"/>
              </a:xfrm>
            </p:spPr>
            <p:txBody>
              <a:bodyPr>
                <a:normAutofit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</a:t>
                </a:r>
                <a:r>
                  <a:rPr lang="en-US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br>
                  <a:rPr lang="en-US" b="1" dirty="0">
                    <a:latin typeface="Century Schoolbook" panose="02040604050505020304" pitchFamily="18" charset="0"/>
                  </a:rPr>
                </a:br>
                <a:r>
                  <a:rPr lang="en-US" sz="2000" b="1" dirty="0">
                    <a:latin typeface="Century Schoolbook" panose="02040604050505020304" pitchFamily="18" charset="0"/>
                  </a:rPr>
                  <a:t>The Chakra Yantra was a circular instrument used to measure the altitude of the sun or a star above the horizon.</a:t>
                </a: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Use</a:t>
                </a:r>
                <a:r>
                  <a:rPr lang="en-US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The observer held the disc such that sunlight passed through the hole.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entury Schoolbook" panose="02040604050505020304" pitchFamily="18" charset="0"/>
                  </a:rPr>
                  <a:t>The angle of elevation (altitude) was read directly from the scale.</a:t>
                </a:r>
                <a:endParaRPr lang="en-US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US" sz="24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Example (Numerical)</a:t>
                </a:r>
                <a:r>
                  <a:rPr lang="en-US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br>
                  <a:rPr lang="en-US" sz="24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</a:br>
                <a:r>
                  <a:rPr lang="en-US" sz="2000" b="1" dirty="0">
                    <a:latin typeface="Century Schoolbook" panose="02040604050505020304" pitchFamily="18" charset="0"/>
                  </a:rPr>
                  <a:t>If the altitude of the Sun measured using Chakra Yantra is 60°,</a:t>
                </a:r>
                <a:br>
                  <a:rPr lang="en-US" sz="2000" b="1" dirty="0">
                    <a:latin typeface="Century Schoolbook" panose="02040604050505020304" pitchFamily="18" charset="0"/>
                  </a:rPr>
                </a:br>
                <a:r>
                  <a:rPr lang="en-US" sz="2000" b="1" dirty="0">
                    <a:latin typeface="Century Schoolbook" panose="02040604050505020304" pitchFamily="18" charset="0"/>
                  </a:rPr>
                  <a:t>and the observer’s latitude is 20° N,</a:t>
                </a:r>
                <a:br>
                  <a:rPr lang="en-US" sz="2000" b="1" dirty="0">
                    <a:latin typeface="Century Schoolbook" panose="02040604050505020304" pitchFamily="18" charset="0"/>
                  </a:rPr>
                </a:br>
                <a:r>
                  <a:rPr lang="en-US" sz="2000" b="1" dirty="0">
                    <a:latin typeface="Century Schoolbook" panose="02040604050505020304" pitchFamily="18" charset="0"/>
                  </a:rPr>
                  <a:t>then the declination of the Sun can be found as: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Declination</m:t>
                      </m:r>
                      <m:r>
                        <m:rPr>
                          <m:nor/>
                        </m:rPr>
                        <a:rPr lang="en-US" sz="20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20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δ</m:t>
                      </m:r>
                      <m:r>
                        <m:rPr>
                          <m:nor/>
                        </m:rPr>
                        <a:rPr lang="en-US" sz="2000" b="1" i="1" smtClean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)</m:t>
                      </m:r>
                      <m:r>
                        <a:rPr lang="en-US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b="1" i="1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Altitude</m:t>
                      </m:r>
                      <m:r>
                        <a:rPr lang="en-US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 b="1" i="1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m:t>Latitude</m:t>
                      </m:r>
                      <m:r>
                        <a:rPr lang="en-US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US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°=</m:t>
                      </m:r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US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°+</m:t>
                      </m:r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𝟐𝟎</m:t>
                      </m:r>
                      <m:r>
                        <a:rPr lang="en-US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°−</m:t>
                      </m:r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US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°=−</m:t>
                      </m:r>
                      <m:r>
                        <a:rPr lang="en-US" sz="20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0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sz="2000" b="1" dirty="0">
                  <a:solidFill>
                    <a:srgbClr val="FFFF00"/>
                  </a:solidFill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US" sz="2000" b="1" dirty="0">
                    <a:latin typeface="Century Schoolbook" panose="02040604050505020304" pitchFamily="18" charset="0"/>
                  </a:rPr>
                  <a:t>So, the Sun’s declination is 10° South.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E715768-5CFB-A68F-8EDB-40D58DFAE6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32080" y="680721"/>
                <a:ext cx="11704320" cy="5750560"/>
              </a:xfrm>
              <a:blipFill>
                <a:blip r:embed="rId2"/>
                <a:stretch>
                  <a:fillRect l="-833" t="-3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1050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92E1F-165D-12B0-6BE5-9D2A978E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75" y="-97459"/>
            <a:ext cx="10353762" cy="1056853"/>
          </a:xfrm>
        </p:spPr>
        <p:txBody>
          <a:bodyPr>
            <a:normAutofit/>
          </a:bodyPr>
          <a:lstStyle/>
          <a:p>
            <a:pPr algn="l"/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2.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Dhanyata yantra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AC121-22AB-688A-9F1C-8B805A0FB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475" y="650240"/>
            <a:ext cx="11704924" cy="526288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sz="2400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The Dhanyata Yantra was a triangular or semicircular device used to measure angular distances between two celestial bodies or stars.</a:t>
            </a:r>
            <a:endParaRPr lang="en-US" sz="1800" b="1" dirty="0">
              <a:latin typeface="Century Schoolbook" panose="020406040505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Structure &amp; Use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Made of wood or metal, shaped like an arc or protractor.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along with a plumb line to ensure horizontal alignment.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Helped measure angles of elevation or angular separation.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the angular distance between two stars is found to be 45°, it means one star is located 45° east or west of the other.</a:t>
            </a:r>
          </a:p>
          <a:p>
            <a:pPr algn="l"/>
            <a:endParaRPr lang="en-IN" sz="1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509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77A9-EBC1-4EB3-0C53-997D8BB37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7939"/>
            <a:ext cx="12111325" cy="1056853"/>
          </a:xfrm>
        </p:spPr>
        <p:txBody>
          <a:bodyPr>
            <a:normAutofit fontScale="90000"/>
          </a:bodyPr>
          <a:lstStyle/>
          <a:p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3.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Yasti yantra (The staff instrument)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A710412-291D-1845-98A9-FC877AEC5CD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51795" y="751840"/>
                <a:ext cx="11644570" cy="6035040"/>
              </a:xfrm>
            </p:spPr>
            <p:txBody>
              <a:bodyPr>
                <a:normAutofit lnSpcReduction="10000"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Definition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  <a:br>
                  <a:rPr lang="en-IN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latin typeface="Century Schoolbook" panose="02040604050505020304" pitchFamily="18" charset="0"/>
                  </a:rPr>
                  <a:t>The Yasti Yantra (Yasti = stick or staff) was a vertical stick or pillar used to measure the length of its shadow to determine the altitude of the Sun and local time.</a:t>
                </a:r>
                <a:endParaRPr lang="en-IN" b="1" dirty="0">
                  <a:latin typeface="Century Schoolbook" panose="02040604050505020304" pitchFamily="18" charset="0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Formula Used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func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Height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Yasti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Length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1" i="1">
                              <a:solidFill>
                                <a:srgbClr val="FFFF00"/>
                              </a:solidFill>
                              <a:latin typeface="Century Schoolbook" panose="02040604050505020304" pitchFamily="18" charset="0"/>
                            </a:rPr>
                            <m:t>Shadow</m:t>
                          </m:r>
                        </m:den>
                      </m:f>
                    </m:oMath>
                  </m:oMathPara>
                </a14:m>
                <a:endParaRPr lang="ar-AE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where h is the altitude of the Sun.</a:t>
                </a:r>
              </a:p>
              <a:p>
                <a:pPr marL="285750" indent="-285750" algn="l">
                  <a:buFont typeface="Wingdings" panose="05000000000000000000" pitchFamily="2" charset="2"/>
                  <a:buChar char="v"/>
                </a:pPr>
                <a:r>
                  <a:rPr lang="en-IN" sz="2800" b="1" u="sng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Example (Numerical)</a:t>
                </a:r>
                <a:r>
                  <a:rPr lang="en-IN" sz="2800" b="1" dirty="0">
                    <a:solidFill>
                      <a:srgbClr val="FFFF00"/>
                    </a:solidFill>
                    <a:latin typeface="Century Schoolbook" panose="02040604050505020304" pitchFamily="18" charset="0"/>
                  </a:rPr>
                  <a:t> : -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IN" sz="2000" b="1" dirty="0">
                    <a:latin typeface="Century Schoolbook" panose="02040604050505020304" pitchFamily="18" charset="0"/>
                  </a:rPr>
                  <a:t>If a vertical Yasti is 1.5 m high and its shadow measures 0.866 m,</a:t>
                </a:r>
                <a:br>
                  <a:rPr lang="en-IN" sz="2000" b="1" dirty="0">
                    <a:latin typeface="Century Schoolbook" panose="02040604050505020304" pitchFamily="18" charset="0"/>
                  </a:rPr>
                </a:br>
                <a:r>
                  <a:rPr lang="en-IN" sz="2000" b="1" dirty="0">
                    <a:latin typeface="Century Schoolbook" panose="02040604050505020304" pitchFamily="18" charset="0"/>
                  </a:rPr>
                  <a:t>then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IN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</m:func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ar-AE" sz="24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ar-AE" sz="24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𝟖𝟔𝟔</m:t>
                          </m:r>
                        </m:den>
                      </m:f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𝟕𝟑𝟐</m:t>
                      </m:r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sz="2400" b="1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ar-AE" sz="2400" b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</m:e>
                        <m:sup>
                          <m:r>
                            <a:rPr lang="ar-AE" sz="2400" b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ar-AE" sz="2000" b="1" dirty="0">
                  <a:latin typeface="Century Schoolbook" panose="02040604050505020304" pitchFamily="18" charset="0"/>
                </a:endParaRPr>
              </a:p>
              <a:p>
                <a:pPr algn="l"/>
                <a:r>
                  <a:rPr lang="en-IN" sz="2000" b="1" dirty="0">
                    <a:latin typeface="Century Schoolbook" panose="02040604050505020304" pitchFamily="18" charset="0"/>
                  </a:rPr>
                  <a:t>So, the altitude of the Sun is 60°.</a:t>
                </a:r>
              </a:p>
              <a:p>
                <a:pPr algn="l"/>
                <a:endParaRPr lang="en-IN" b="1" dirty="0">
                  <a:latin typeface="Century Schoolbook" panose="020406040505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A710412-291D-1845-98A9-FC877AEC5C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51795" y="751840"/>
                <a:ext cx="11644570" cy="6035040"/>
              </a:xfrm>
              <a:blipFill>
                <a:blip r:embed="rId2"/>
                <a:stretch>
                  <a:fillRect l="-1047" t="-3131" r="-10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9646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CC0B-86DC-EF2E-1595-1E749F9C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21"/>
            <a:ext cx="12120879" cy="882981"/>
          </a:xfrm>
        </p:spPr>
        <p:txBody>
          <a:bodyPr>
            <a:normAutofit fontScale="90000"/>
          </a:bodyPr>
          <a:lstStyle/>
          <a:p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4. </a:t>
            </a:r>
            <a:r>
              <a:rPr lang="en-US" sz="4800" b="0" u="sng" dirty="0">
                <a:solidFill>
                  <a:srgbClr val="FFFF00"/>
                </a:solidFill>
                <a:latin typeface="Algerian" panose="04020705040A02060702" pitchFamily="82" charset="0"/>
              </a:rPr>
              <a:t>Phalak yantra (The disk instrument)</a:t>
            </a:r>
            <a:r>
              <a:rPr lang="en-US" sz="4800" b="0" dirty="0">
                <a:solidFill>
                  <a:srgbClr val="FFFF00"/>
                </a:solidFill>
                <a:latin typeface="Algerian" panose="04020705040A02060702" pitchFamily="82" charset="0"/>
              </a:rPr>
              <a:t> : - </a:t>
            </a:r>
            <a:endParaRPr lang="en-IN" sz="4800" b="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F7E19-75FD-84F4-A415-ABAD90D6A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7834" y="568960"/>
            <a:ext cx="11685210" cy="5913120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Definition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br>
              <a:rPr lang="en-US" b="1" dirty="0">
                <a:latin typeface="Century Schoolbook" panose="02040604050505020304" pitchFamily="18" charset="0"/>
              </a:rPr>
            </a:br>
            <a:r>
              <a:rPr lang="en-US" sz="2000" b="1" dirty="0">
                <a:latin typeface="Century Schoolbook" panose="02040604050505020304" pitchFamily="18" charset="0"/>
              </a:rPr>
              <a:t>The Phalak Yantra was a flat circular plate instrument used to find the altitude and azimuth of celestial bodies.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Use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By rotating the alidade towards the star or Sun, the altitude and direction (azimuth) could be measured.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Measuring the position of the Sun, Moon, and stars.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Used in early observatories like Jantar Mantar.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 (Numerical)</a:t>
            </a:r>
            <a:r>
              <a:rPr lang="en-US" sz="2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Schoolbook" panose="02040604050505020304" pitchFamily="18" charset="0"/>
              </a:rPr>
              <a:t>If the alidade shows an altitude of 45° and azimuth of 120°, it means the star is 45° above the horizon in the southeast direction.</a:t>
            </a:r>
          </a:p>
          <a:p>
            <a:pPr algn="l"/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216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224</TotalTime>
  <Words>3286</Words>
  <Application>Microsoft Office PowerPoint</Application>
  <PresentationFormat>Widescreen</PresentationFormat>
  <Paragraphs>456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Algerian</vt:lpstr>
      <vt:lpstr>Arial</vt:lpstr>
      <vt:lpstr>Bookman Old Style</vt:lpstr>
      <vt:lpstr>Calibri</vt:lpstr>
      <vt:lpstr>Cambria Math</vt:lpstr>
      <vt:lpstr>Century Schoolbook</vt:lpstr>
      <vt:lpstr>Rockwell</vt:lpstr>
      <vt:lpstr>Wingdings</vt:lpstr>
      <vt:lpstr>Damask</vt:lpstr>
      <vt:lpstr>01. Units and Measurements </vt:lpstr>
      <vt:lpstr>Introduction : -</vt:lpstr>
      <vt:lpstr>1.1] fundamental physics quantities : -</vt:lpstr>
      <vt:lpstr>1.2] derived physical quantities : -</vt:lpstr>
      <vt:lpstr>Examples of Derived Physical Quantities : -</vt:lpstr>
      <vt:lpstr>1.3] scalar quantities : -</vt:lpstr>
      <vt:lpstr>Vector quantities : -</vt:lpstr>
      <vt:lpstr>Comparison between Scalar and Vector Quantities : -</vt:lpstr>
      <vt:lpstr>1.4] definition &amp; requirements of unit : -</vt:lpstr>
      <vt:lpstr>Requirements (Characteristics) of a Good Unit : </vt:lpstr>
      <vt:lpstr>1.5] system of units : - c.g.s., m.k.s. &amp; S.i. units </vt:lpstr>
      <vt:lpstr>Types of Systems of Units : -</vt:lpstr>
      <vt:lpstr>1. c.g.s. system : -</vt:lpstr>
      <vt:lpstr>2. m.k.s. system : -</vt:lpstr>
      <vt:lpstr>3. s.i. system : -</vt:lpstr>
      <vt:lpstr>1.6] dimensions &amp; dimensional formula : -</vt:lpstr>
      <vt:lpstr>Dimensional formula : -</vt:lpstr>
      <vt:lpstr>1.7] Rules &amp; conventions for writing units : -</vt:lpstr>
      <vt:lpstr>Significant figures : -</vt:lpstr>
      <vt:lpstr>Rules for Writing Significant Figures : -</vt:lpstr>
      <vt:lpstr>1.8] error : -</vt:lpstr>
      <vt:lpstr> types of errors : -</vt:lpstr>
      <vt:lpstr>2. Random errors : - </vt:lpstr>
      <vt:lpstr>3. Gross errors : -</vt:lpstr>
      <vt:lpstr>Estimation of errors : -</vt:lpstr>
      <vt:lpstr>PowerPoint Presentation</vt:lpstr>
      <vt:lpstr>Example : -</vt:lpstr>
      <vt:lpstr>Ancient astronomical instruments : -</vt:lpstr>
      <vt:lpstr>1. Chakra yantra (The circle instrument) : -</vt:lpstr>
      <vt:lpstr>2. Dhanyata yantra : -</vt:lpstr>
      <vt:lpstr>3. Yasti yantra (The staff instrument) : -</vt:lpstr>
      <vt:lpstr>4. Phalak yantra (The disk instrument) : 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2025-11-01T08:27:57Z</dcterms:created>
  <dcterms:modified xsi:type="dcterms:W3CDTF">2025-11-03T05:52:53Z</dcterms:modified>
</cp:coreProperties>
</file>