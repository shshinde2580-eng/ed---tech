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8" r:id="rId3"/>
    <p:sldId id="259" r:id="rId4"/>
    <p:sldId id="274" r:id="rId5"/>
    <p:sldId id="260" r:id="rId6"/>
    <p:sldId id="261" r:id="rId7"/>
    <p:sldId id="262" r:id="rId8"/>
    <p:sldId id="263" r:id="rId9"/>
    <p:sldId id="266" r:id="rId10"/>
    <p:sldId id="267" r:id="rId11"/>
    <p:sldId id="268" r:id="rId12"/>
    <p:sldId id="275" r:id="rId13"/>
    <p:sldId id="269" r:id="rId14"/>
    <p:sldId id="270" r:id="rId15"/>
    <p:sldId id="271" r:id="rId16"/>
    <p:sldId id="272" r:id="rId17"/>
    <p:sldId id="273"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586ACD-108B-4E67-92E6-4EC2115FD264}" v="191" dt="2025-11-02T18:14:42.7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1BD26DE-9CB4-476E-8EDD-97E1C558C029}" type="datetimeFigureOut">
              <a:rPr lang="en-IN" smtClean="0"/>
              <a:t>03-11-2025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1D6201E-2247-4D29-9AC5-A1CCFFE7980F}" type="slidenum">
              <a:rPr lang="en-IN" smtClean="0"/>
              <a:t>‹#›</a:t>
            </a:fld>
            <a:endParaRPr lang="en-IN"/>
          </a:p>
        </p:txBody>
      </p:sp>
    </p:spTree>
    <p:extLst>
      <p:ext uri="{BB962C8B-B14F-4D97-AF65-F5344CB8AC3E}">
        <p14:creationId xmlns:p14="http://schemas.microsoft.com/office/powerpoint/2010/main" val="326472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1BD26DE-9CB4-476E-8EDD-97E1C558C029}" type="datetimeFigureOut">
              <a:rPr lang="en-IN" smtClean="0"/>
              <a:t>03-11-2025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1D6201E-2247-4D29-9AC5-A1CCFFE7980F}" type="slidenum">
              <a:rPr lang="en-IN" smtClean="0"/>
              <a:t>‹#›</a:t>
            </a:fld>
            <a:endParaRPr lang="en-IN"/>
          </a:p>
        </p:txBody>
      </p:sp>
    </p:spTree>
    <p:extLst>
      <p:ext uri="{BB962C8B-B14F-4D97-AF65-F5344CB8AC3E}">
        <p14:creationId xmlns:p14="http://schemas.microsoft.com/office/powerpoint/2010/main" val="24280715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1BD26DE-9CB4-476E-8EDD-97E1C558C029}" type="datetimeFigureOut">
              <a:rPr lang="en-IN" smtClean="0"/>
              <a:t>03-11-2025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1D6201E-2247-4D29-9AC5-A1CCFFE7980F}" type="slidenum">
              <a:rPr lang="en-IN" smtClean="0"/>
              <a:t>‹#›</a:t>
            </a:fld>
            <a:endParaRPr lang="en-IN"/>
          </a:p>
        </p:txBody>
      </p:sp>
    </p:spTree>
    <p:extLst>
      <p:ext uri="{BB962C8B-B14F-4D97-AF65-F5344CB8AC3E}">
        <p14:creationId xmlns:p14="http://schemas.microsoft.com/office/powerpoint/2010/main" val="1998835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1BD26DE-9CB4-476E-8EDD-97E1C558C029}" type="datetimeFigureOut">
              <a:rPr lang="en-IN" smtClean="0"/>
              <a:t>03-11-2025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1D6201E-2247-4D29-9AC5-A1CCFFE7980F}" type="slidenum">
              <a:rPr lang="en-IN" smtClean="0"/>
              <a:t>‹#›</a:t>
            </a:fld>
            <a:endParaRPr lang="en-IN"/>
          </a:p>
        </p:txBody>
      </p:sp>
    </p:spTree>
    <p:extLst>
      <p:ext uri="{BB962C8B-B14F-4D97-AF65-F5344CB8AC3E}">
        <p14:creationId xmlns:p14="http://schemas.microsoft.com/office/powerpoint/2010/main" val="34535493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1BD26DE-9CB4-476E-8EDD-97E1C558C029}" type="datetimeFigureOut">
              <a:rPr lang="en-IN" smtClean="0"/>
              <a:t>03-11-2025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1D6201E-2247-4D29-9AC5-A1CCFFE7980F}" type="slidenum">
              <a:rPr lang="en-IN" smtClean="0"/>
              <a:t>‹#›</a:t>
            </a:fld>
            <a:endParaRPr lang="en-IN"/>
          </a:p>
        </p:txBody>
      </p:sp>
    </p:spTree>
    <p:extLst>
      <p:ext uri="{BB962C8B-B14F-4D97-AF65-F5344CB8AC3E}">
        <p14:creationId xmlns:p14="http://schemas.microsoft.com/office/powerpoint/2010/main" val="38022975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1BD26DE-9CB4-476E-8EDD-97E1C558C029}" type="datetimeFigureOut">
              <a:rPr lang="en-IN" smtClean="0"/>
              <a:t>03-11-2025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1D6201E-2247-4D29-9AC5-A1CCFFE7980F}" type="slidenum">
              <a:rPr lang="en-IN" smtClean="0"/>
              <a:t>‹#›</a:t>
            </a:fld>
            <a:endParaRPr lang="en-IN"/>
          </a:p>
        </p:txBody>
      </p:sp>
    </p:spTree>
    <p:extLst>
      <p:ext uri="{BB962C8B-B14F-4D97-AF65-F5344CB8AC3E}">
        <p14:creationId xmlns:p14="http://schemas.microsoft.com/office/powerpoint/2010/main" val="42367405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1BD26DE-9CB4-476E-8EDD-97E1C558C029}" type="datetimeFigureOut">
              <a:rPr lang="en-IN" smtClean="0"/>
              <a:t>03-11-2025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1D6201E-2247-4D29-9AC5-A1CCFFE7980F}" type="slidenum">
              <a:rPr lang="en-IN" smtClean="0"/>
              <a:t>‹#›</a:t>
            </a:fld>
            <a:endParaRPr lang="en-IN"/>
          </a:p>
        </p:txBody>
      </p:sp>
    </p:spTree>
    <p:extLst>
      <p:ext uri="{BB962C8B-B14F-4D97-AF65-F5344CB8AC3E}">
        <p14:creationId xmlns:p14="http://schemas.microsoft.com/office/powerpoint/2010/main" val="38355965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1BD26DE-9CB4-476E-8EDD-97E1C558C029}" type="datetimeFigureOut">
              <a:rPr lang="en-IN" smtClean="0"/>
              <a:t>03-11-2025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1D6201E-2247-4D29-9AC5-A1CCFFE7980F}" type="slidenum">
              <a:rPr lang="en-IN" smtClean="0"/>
              <a:t>‹#›</a:t>
            </a:fld>
            <a:endParaRPr lang="en-IN"/>
          </a:p>
        </p:txBody>
      </p:sp>
    </p:spTree>
    <p:extLst>
      <p:ext uri="{BB962C8B-B14F-4D97-AF65-F5344CB8AC3E}">
        <p14:creationId xmlns:p14="http://schemas.microsoft.com/office/powerpoint/2010/main" val="35937794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1BD26DE-9CB4-476E-8EDD-97E1C558C029}" type="datetimeFigureOut">
              <a:rPr lang="en-IN" smtClean="0"/>
              <a:t>03-11-2025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1D6201E-2247-4D29-9AC5-A1CCFFE7980F}" type="slidenum">
              <a:rPr lang="en-IN" smtClean="0"/>
              <a:t>‹#›</a:t>
            </a:fld>
            <a:endParaRPr lang="en-IN"/>
          </a:p>
        </p:txBody>
      </p:sp>
    </p:spTree>
    <p:extLst>
      <p:ext uri="{BB962C8B-B14F-4D97-AF65-F5344CB8AC3E}">
        <p14:creationId xmlns:p14="http://schemas.microsoft.com/office/powerpoint/2010/main" val="19117133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1BD26DE-9CB4-476E-8EDD-97E1C558C029}" type="datetimeFigureOut">
              <a:rPr lang="en-IN" smtClean="0"/>
              <a:t>03-11-2025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1D6201E-2247-4D29-9AC5-A1CCFFE7980F}" type="slidenum">
              <a:rPr lang="en-IN" smtClean="0"/>
              <a:t>‹#›</a:t>
            </a:fld>
            <a:endParaRPr lang="en-IN"/>
          </a:p>
        </p:txBody>
      </p:sp>
    </p:spTree>
    <p:extLst>
      <p:ext uri="{BB962C8B-B14F-4D97-AF65-F5344CB8AC3E}">
        <p14:creationId xmlns:p14="http://schemas.microsoft.com/office/powerpoint/2010/main" val="34711376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1BD26DE-9CB4-476E-8EDD-97E1C558C029}" type="datetimeFigureOut">
              <a:rPr lang="en-IN" smtClean="0"/>
              <a:t>03-11-2025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1D6201E-2247-4D29-9AC5-A1CCFFE7980F}" type="slidenum">
              <a:rPr lang="en-IN" smtClean="0"/>
              <a:t>‹#›</a:t>
            </a:fld>
            <a:endParaRPr lang="en-IN"/>
          </a:p>
        </p:txBody>
      </p:sp>
    </p:spTree>
    <p:extLst>
      <p:ext uri="{BB962C8B-B14F-4D97-AF65-F5344CB8AC3E}">
        <p14:creationId xmlns:p14="http://schemas.microsoft.com/office/powerpoint/2010/main" val="20790538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1BD26DE-9CB4-476E-8EDD-97E1C558C029}" type="datetimeFigureOut">
              <a:rPr lang="en-IN" smtClean="0"/>
              <a:t>03-11-2025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1D6201E-2247-4D29-9AC5-A1CCFFE7980F}" type="slidenum">
              <a:rPr lang="en-IN" smtClean="0"/>
              <a:t>‹#›</a:t>
            </a:fld>
            <a:endParaRPr lang="en-IN"/>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1629070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1BD26DE-9CB4-476E-8EDD-97E1C558C029}" type="datetimeFigureOut">
              <a:rPr lang="en-IN" smtClean="0"/>
              <a:t>03-11-2025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1D6201E-2247-4D29-9AC5-A1CCFFE7980F}" type="slidenum">
              <a:rPr lang="en-IN" smtClean="0"/>
              <a:t>‹#›</a:t>
            </a:fld>
            <a:endParaRPr lang="en-IN"/>
          </a:p>
        </p:txBody>
      </p:sp>
    </p:spTree>
    <p:extLst>
      <p:ext uri="{BB962C8B-B14F-4D97-AF65-F5344CB8AC3E}">
        <p14:creationId xmlns:p14="http://schemas.microsoft.com/office/powerpoint/2010/main" val="11270340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1BD26DE-9CB4-476E-8EDD-97E1C558C029}" type="datetimeFigureOut">
              <a:rPr lang="en-IN" smtClean="0"/>
              <a:t>03-11-2025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1D6201E-2247-4D29-9AC5-A1CCFFE7980F}" type="slidenum">
              <a:rPr lang="en-IN" smtClean="0"/>
              <a:t>‹#›</a:t>
            </a:fld>
            <a:endParaRPr lang="en-IN"/>
          </a:p>
        </p:txBody>
      </p:sp>
    </p:spTree>
    <p:extLst>
      <p:ext uri="{BB962C8B-B14F-4D97-AF65-F5344CB8AC3E}">
        <p14:creationId xmlns:p14="http://schemas.microsoft.com/office/powerpoint/2010/main" val="13424056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1BD26DE-9CB4-476E-8EDD-97E1C558C029}" type="datetimeFigureOut">
              <a:rPr lang="en-IN" smtClean="0"/>
              <a:t>03-11-2025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1D6201E-2247-4D29-9AC5-A1CCFFE7980F}" type="slidenum">
              <a:rPr lang="en-IN" smtClean="0"/>
              <a:t>‹#›</a:t>
            </a:fld>
            <a:endParaRPr lang="en-IN"/>
          </a:p>
        </p:txBody>
      </p:sp>
    </p:spTree>
    <p:extLst>
      <p:ext uri="{BB962C8B-B14F-4D97-AF65-F5344CB8AC3E}">
        <p14:creationId xmlns:p14="http://schemas.microsoft.com/office/powerpoint/2010/main" val="7107088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1BD26DE-9CB4-476E-8EDD-97E1C558C029}" type="datetimeFigureOut">
              <a:rPr lang="en-IN" smtClean="0"/>
              <a:t>03-11-2025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1D6201E-2247-4D29-9AC5-A1CCFFE7980F}" type="slidenum">
              <a:rPr lang="en-IN" smtClean="0"/>
              <a:t>‹#›</a:t>
            </a:fld>
            <a:endParaRPr lang="en-IN"/>
          </a:p>
        </p:txBody>
      </p:sp>
    </p:spTree>
    <p:extLst>
      <p:ext uri="{BB962C8B-B14F-4D97-AF65-F5344CB8AC3E}">
        <p14:creationId xmlns:p14="http://schemas.microsoft.com/office/powerpoint/2010/main" val="26407507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1BD26DE-9CB4-476E-8EDD-97E1C558C029}" type="datetimeFigureOut">
              <a:rPr lang="en-IN" smtClean="0"/>
              <a:t>03-11-2025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1D6201E-2247-4D29-9AC5-A1CCFFE7980F}" type="slidenum">
              <a:rPr lang="en-IN" smtClean="0"/>
              <a:t>‹#›</a:t>
            </a:fld>
            <a:endParaRPr lang="en-IN"/>
          </a:p>
        </p:txBody>
      </p:sp>
    </p:spTree>
    <p:extLst>
      <p:ext uri="{BB962C8B-B14F-4D97-AF65-F5344CB8AC3E}">
        <p14:creationId xmlns:p14="http://schemas.microsoft.com/office/powerpoint/2010/main" val="12474207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91BD26DE-9CB4-476E-8EDD-97E1C558C029}" type="datetimeFigureOut">
              <a:rPr lang="en-IN" smtClean="0"/>
              <a:t>03-11-2025</a:t>
            </a:fld>
            <a:endParaRPr lang="en-IN"/>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21D6201E-2247-4D29-9AC5-A1CCFFE7980F}" type="slidenum">
              <a:rPr lang="en-IN" smtClean="0"/>
              <a:t>‹#›</a:t>
            </a:fld>
            <a:endParaRPr lang="en-IN"/>
          </a:p>
        </p:txBody>
      </p:sp>
    </p:spTree>
    <p:extLst>
      <p:ext uri="{BB962C8B-B14F-4D97-AF65-F5344CB8AC3E}">
        <p14:creationId xmlns:p14="http://schemas.microsoft.com/office/powerpoint/2010/main" val="2263184307"/>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39EE2-D73A-3C41-0681-F5E3ADCC2379}"/>
              </a:ext>
            </a:extLst>
          </p:cNvPr>
          <p:cNvSpPr>
            <a:spLocks noGrp="1"/>
          </p:cNvSpPr>
          <p:nvPr>
            <p:ph type="ctrTitle"/>
          </p:nvPr>
        </p:nvSpPr>
        <p:spPr>
          <a:xfrm>
            <a:off x="737419" y="1122363"/>
            <a:ext cx="10648336" cy="3252992"/>
          </a:xfrm>
        </p:spPr>
        <p:txBody>
          <a:bodyPr>
            <a:normAutofit/>
          </a:bodyPr>
          <a:lstStyle/>
          <a:p>
            <a:r>
              <a:rPr lang="en-IN" sz="8000" b="0" dirty="0">
                <a:solidFill>
                  <a:srgbClr val="FFFF00"/>
                </a:solidFill>
                <a:latin typeface="Algerian" panose="04020705040A02060702" pitchFamily="82" charset="0"/>
              </a:rPr>
              <a:t>04. Electricity and Electromagnetism</a:t>
            </a:r>
          </a:p>
        </p:txBody>
      </p:sp>
      <p:sp>
        <p:nvSpPr>
          <p:cNvPr id="3" name="Subtitle 2">
            <a:extLst>
              <a:ext uri="{FF2B5EF4-FFF2-40B4-BE49-F238E27FC236}">
                <a16:creationId xmlns:a16="http://schemas.microsoft.com/office/drawing/2014/main" id="{EF6429C2-75F9-E7A6-94AA-C225B1D6FF50}"/>
              </a:ext>
            </a:extLst>
          </p:cNvPr>
          <p:cNvSpPr>
            <a:spLocks noGrp="1"/>
          </p:cNvSpPr>
          <p:nvPr>
            <p:ph type="subTitle" idx="1"/>
          </p:nvPr>
        </p:nvSpPr>
        <p:spPr>
          <a:xfrm>
            <a:off x="1683759" y="5116206"/>
            <a:ext cx="9001462" cy="1655762"/>
          </a:xfrm>
        </p:spPr>
        <p:txBody>
          <a:bodyPr/>
          <a:lstStyle/>
          <a:p>
            <a:endParaRPr lang="en-IN" dirty="0"/>
          </a:p>
        </p:txBody>
      </p:sp>
    </p:spTree>
    <p:extLst>
      <p:ext uri="{BB962C8B-B14F-4D97-AF65-F5344CB8AC3E}">
        <p14:creationId xmlns:p14="http://schemas.microsoft.com/office/powerpoint/2010/main" val="33120064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9263A-4C0D-214C-FB72-2C782F12A140}"/>
              </a:ext>
            </a:extLst>
          </p:cNvPr>
          <p:cNvSpPr>
            <a:spLocks noGrp="1"/>
          </p:cNvSpPr>
          <p:nvPr>
            <p:ph type="title"/>
          </p:nvPr>
        </p:nvSpPr>
        <p:spPr>
          <a:xfrm>
            <a:off x="39026" y="-115396"/>
            <a:ext cx="12113947" cy="929924"/>
          </a:xfrm>
        </p:spPr>
        <p:txBody>
          <a:bodyPr>
            <a:normAutofit/>
          </a:bodyPr>
          <a:lstStyle/>
          <a:p>
            <a:pPr algn="l"/>
            <a:r>
              <a:rPr lang="en-US" sz="4800" b="0" dirty="0">
                <a:solidFill>
                  <a:srgbClr val="FFFF00"/>
                </a:solidFill>
                <a:latin typeface="Algerian" panose="04020705040A02060702" pitchFamily="82" charset="0"/>
              </a:rPr>
              <a:t>4.1] </a:t>
            </a:r>
            <a:r>
              <a:rPr lang="en-US" sz="4800" b="0" u="sng" dirty="0">
                <a:solidFill>
                  <a:srgbClr val="FFFF00"/>
                </a:solidFill>
                <a:latin typeface="Algerian" panose="04020705040A02060702" pitchFamily="82" charset="0"/>
              </a:rPr>
              <a:t>ohm’s law</a:t>
            </a:r>
            <a:r>
              <a:rPr lang="en-US" sz="4800" b="0" dirty="0">
                <a:solidFill>
                  <a:srgbClr val="FFFF00"/>
                </a:solidFill>
                <a:latin typeface="Algerian" panose="04020705040A02060702" pitchFamily="82" charset="0"/>
              </a:rPr>
              <a:t> : -</a:t>
            </a:r>
            <a:endParaRPr lang="en-IN" sz="4800" b="0" dirty="0">
              <a:solidFill>
                <a:srgbClr val="FFFF00"/>
              </a:solidFill>
              <a:latin typeface="Algerian" panose="04020705040A02060702" pitchFamily="82" charset="0"/>
            </a:endParaRP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D112B6B4-737B-9CFF-4899-A0C8F7E64C75}"/>
                  </a:ext>
                </a:extLst>
              </p:cNvPr>
              <p:cNvSpPr>
                <a:spLocks noGrp="1"/>
              </p:cNvSpPr>
              <p:nvPr>
                <p:ph type="body" sz="half" idx="2"/>
              </p:nvPr>
            </p:nvSpPr>
            <p:spPr>
              <a:xfrm>
                <a:off x="0" y="780890"/>
                <a:ext cx="12035896" cy="6077110"/>
              </a:xfrm>
            </p:spPr>
            <p:txBody>
              <a:bodyPr>
                <a:normAutofit/>
              </a:bodyPr>
              <a:lstStyle/>
              <a:p>
                <a:pPr marL="285750" indent="-285750" algn="l">
                  <a:buFont typeface="Wingdings" panose="05000000000000000000" pitchFamily="2" charset="2"/>
                  <a:buChar char="v"/>
                </a:pPr>
                <a:r>
                  <a:rPr lang="en-US" sz="2000" b="1" u="sng" dirty="0">
                    <a:solidFill>
                      <a:srgbClr val="FFFF00"/>
                    </a:solidFill>
                    <a:latin typeface="Century Schoolbook" panose="02040604050505020304" pitchFamily="18" charset="0"/>
                  </a:rPr>
                  <a:t>Ohm’s Law states that</a:t>
                </a:r>
                <a:r>
                  <a:rPr lang="en-US" sz="2000" b="1" dirty="0">
                    <a:solidFill>
                      <a:srgbClr val="FFFF00"/>
                    </a:solidFill>
                    <a:latin typeface="Century Schoolbook" panose="02040604050505020304" pitchFamily="18" charset="0"/>
                  </a:rPr>
                  <a:t> —</a:t>
                </a:r>
              </a:p>
              <a:p>
                <a:pPr marL="285750" indent="-285750" algn="l">
                  <a:buFont typeface="Arial" panose="020B0604020202020204" pitchFamily="34" charset="0"/>
                  <a:buChar char="•"/>
                </a:pPr>
                <a:r>
                  <a:rPr lang="en-US" sz="1800" b="1" i="1" dirty="0">
                    <a:latin typeface="Century Schoolbook" panose="02040604050505020304" pitchFamily="18" charset="0"/>
                  </a:rPr>
                  <a:t>The current flowing through a conductor is directly proportional to the potential difference (voltage) across its ends, provided the temperature and other physical conditions remain constant</a:t>
                </a:r>
                <a:r>
                  <a:rPr lang="en-US" b="1" i="1" dirty="0">
                    <a:latin typeface="Century Schoolbook" panose="02040604050505020304" pitchFamily="18" charset="0"/>
                  </a:rPr>
                  <a:t>.</a:t>
                </a:r>
                <a:endParaRPr lang="en-US" b="1" dirty="0">
                  <a:latin typeface="Century Schoolbook" panose="02040604050505020304" pitchFamily="18" charset="0"/>
                </a:endParaRPr>
              </a:p>
              <a:p>
                <a:pPr marL="285750" indent="-285750" algn="l">
                  <a:buFont typeface="Wingdings" panose="05000000000000000000" pitchFamily="2" charset="2"/>
                  <a:buChar char="Ø"/>
                </a:pPr>
                <a:r>
                  <a:rPr lang="en-US" sz="2000" b="1" u="sng" dirty="0">
                    <a:latin typeface="Century Schoolbook" panose="02040604050505020304" pitchFamily="18" charset="0"/>
                  </a:rPr>
                  <a:t>Mathematical Expression</a:t>
                </a:r>
                <a:r>
                  <a:rPr lang="en-US" sz="2000" b="1" dirty="0">
                    <a:latin typeface="Century Schoolbook" panose="02040604050505020304" pitchFamily="18" charset="0"/>
                  </a:rPr>
                  <a:t> : </a:t>
                </a:r>
                <a14:m>
                  <m:oMath xmlns:m="http://schemas.openxmlformats.org/officeDocument/2006/math">
                    <m:r>
                      <a:rPr lang="en-US" sz="2000" b="1" i="1" smtClean="0">
                        <a:solidFill>
                          <a:srgbClr val="FFFF00"/>
                        </a:solidFill>
                        <a:latin typeface="Cambria Math" panose="02040503050406030204" pitchFamily="18" charset="0"/>
                      </a:rPr>
                      <m:t>𝑽</m:t>
                    </m:r>
                    <m:r>
                      <a:rPr lang="en-US" sz="2000" b="1" smtClean="0">
                        <a:solidFill>
                          <a:srgbClr val="FFFF00"/>
                        </a:solidFill>
                        <a:latin typeface="Cambria Math" panose="02040503050406030204" pitchFamily="18" charset="0"/>
                      </a:rPr>
                      <m:t>∝</m:t>
                    </m:r>
                    <m:r>
                      <a:rPr lang="en-US" sz="2000" b="1" i="1" smtClean="0">
                        <a:solidFill>
                          <a:srgbClr val="FFFF00"/>
                        </a:solidFill>
                        <a:latin typeface="Cambria Math" panose="02040503050406030204" pitchFamily="18" charset="0"/>
                      </a:rPr>
                      <m:t>𝑰</m:t>
                    </m:r>
                  </m:oMath>
                </a14:m>
                <a:endParaRPr lang="en-US" sz="2000" b="1" dirty="0">
                  <a:latin typeface="Century Schoolbook" panose="02040604050505020304" pitchFamily="18" charset="0"/>
                </a:endParaRPr>
              </a:p>
              <a:p>
                <a:pPr marL="285750" indent="-285750" algn="l">
                  <a:buFont typeface="Arial" panose="020B0604020202020204" pitchFamily="34" charset="0"/>
                  <a:buChar char="•"/>
                </a:pPr>
                <a:r>
                  <a:rPr lang="en-US" sz="2000" b="1" dirty="0">
                    <a:latin typeface="Century Schoolbook" panose="02040604050505020304" pitchFamily="18" charset="0"/>
                  </a:rPr>
                  <a:t>Removing the proportionality sign, we get : </a:t>
                </a:r>
                <a14:m>
                  <m:oMath xmlns:m="http://schemas.openxmlformats.org/officeDocument/2006/math">
                    <m:r>
                      <a:rPr lang="en-US" sz="2400" b="1" i="1" smtClean="0">
                        <a:solidFill>
                          <a:srgbClr val="FFFF00"/>
                        </a:solidFill>
                        <a:latin typeface="Cambria Math" panose="02040503050406030204" pitchFamily="18" charset="0"/>
                      </a:rPr>
                      <m:t>𝑽</m:t>
                    </m:r>
                    <m:r>
                      <a:rPr lang="en-US" sz="2400" b="1" smtClean="0">
                        <a:solidFill>
                          <a:srgbClr val="FFFF00"/>
                        </a:solidFill>
                        <a:latin typeface="Cambria Math" panose="02040503050406030204" pitchFamily="18" charset="0"/>
                      </a:rPr>
                      <m:t>=</m:t>
                    </m:r>
                    <m:r>
                      <a:rPr lang="en-US" sz="2400" b="1" i="1" smtClean="0">
                        <a:solidFill>
                          <a:srgbClr val="FFFF00"/>
                        </a:solidFill>
                        <a:latin typeface="Cambria Math" panose="02040503050406030204" pitchFamily="18" charset="0"/>
                      </a:rPr>
                      <m:t>𝑰</m:t>
                    </m:r>
                    <m:r>
                      <a:rPr lang="en-US" sz="2400" b="1" smtClean="0">
                        <a:solidFill>
                          <a:srgbClr val="FFFF00"/>
                        </a:solidFill>
                        <a:latin typeface="Cambria Math" panose="02040503050406030204" pitchFamily="18" charset="0"/>
                      </a:rPr>
                      <m:t>×</m:t>
                    </m:r>
                    <m:r>
                      <a:rPr lang="en-US" sz="2400" b="1" i="1" smtClean="0">
                        <a:solidFill>
                          <a:srgbClr val="FFFF00"/>
                        </a:solidFill>
                        <a:latin typeface="Cambria Math" panose="02040503050406030204" pitchFamily="18" charset="0"/>
                      </a:rPr>
                      <m:t>𝑹</m:t>
                    </m:r>
                  </m:oMath>
                </a14:m>
                <a:endParaRPr lang="en-US" sz="2000" b="1" dirty="0">
                  <a:latin typeface="Century Schoolbook" panose="02040604050505020304" pitchFamily="18" charset="0"/>
                </a:endParaRPr>
              </a:p>
              <a:p>
                <a:pPr algn="l"/>
                <a:r>
                  <a:rPr lang="en-US" sz="1800" b="1" dirty="0">
                    <a:latin typeface="Century Schoolbook" panose="02040604050505020304" pitchFamily="18" charset="0"/>
                  </a:rPr>
                  <a:t>Where,</a:t>
                </a:r>
              </a:p>
              <a:p>
                <a:pPr algn="l"/>
                <a:r>
                  <a:rPr lang="en-US" sz="1800" b="1" dirty="0">
                    <a:latin typeface="Century Schoolbook" panose="02040604050505020304" pitchFamily="18" charset="0"/>
                  </a:rPr>
                  <a:t>V = Potential difference (in volts, V)</a:t>
                </a:r>
              </a:p>
              <a:p>
                <a:pPr algn="l"/>
                <a:r>
                  <a:rPr lang="en-US" sz="1800" b="1" dirty="0">
                    <a:latin typeface="Century Schoolbook" panose="02040604050505020304" pitchFamily="18" charset="0"/>
                  </a:rPr>
                  <a:t>I = Current (in amperes, A)</a:t>
                </a:r>
              </a:p>
              <a:p>
                <a:pPr algn="l"/>
                <a:r>
                  <a:rPr lang="en-US" sz="1800" b="1" dirty="0">
                    <a:latin typeface="Century Schoolbook" panose="02040604050505020304" pitchFamily="18" charset="0"/>
                  </a:rPr>
                  <a:t>R = Resistance of the conductor (in ohms, Ω)</a:t>
                </a:r>
              </a:p>
              <a:p>
                <a:pPr marL="285750" indent="-285750" algn="l">
                  <a:buFont typeface="Wingdings" panose="05000000000000000000" pitchFamily="2" charset="2"/>
                  <a:buChar char="v"/>
                </a:pPr>
                <a:r>
                  <a:rPr lang="en-US" sz="2400" b="1" u="sng" dirty="0">
                    <a:solidFill>
                      <a:srgbClr val="FFFF00"/>
                    </a:solidFill>
                    <a:latin typeface="Century Schoolbook" panose="02040604050505020304" pitchFamily="18" charset="0"/>
                  </a:rPr>
                  <a:t>Explanation</a:t>
                </a:r>
                <a:r>
                  <a:rPr lang="en-US" sz="2400" b="1" dirty="0">
                    <a:solidFill>
                      <a:srgbClr val="FFFF00"/>
                    </a:solidFill>
                    <a:latin typeface="Century Schoolbook" panose="02040604050505020304" pitchFamily="18" charset="0"/>
                  </a:rPr>
                  <a:t> : -</a:t>
                </a:r>
              </a:p>
              <a:p>
                <a:pPr marL="285750" indent="-285750" algn="l">
                  <a:buFont typeface="Arial" panose="020B0604020202020204" pitchFamily="34" charset="0"/>
                  <a:buChar char="•"/>
                </a:pPr>
                <a:r>
                  <a:rPr lang="en-US" sz="1800" b="1" dirty="0">
                    <a:latin typeface="Century Schoolbook" panose="02040604050505020304" pitchFamily="18" charset="0"/>
                  </a:rPr>
                  <a:t>If you increase the voltage across a conductor, the current increases in the same proportion - as long as the conductor’s temperature remains constant.</a:t>
                </a:r>
              </a:p>
              <a:p>
                <a:pPr marL="285750" indent="-285750" algn="l">
                  <a:buFont typeface="Arial" panose="020B0604020202020204" pitchFamily="34" charset="0"/>
                  <a:buChar char="•"/>
                </a:pPr>
                <a:r>
                  <a:rPr lang="en-US" sz="1800" b="1" dirty="0">
                    <a:latin typeface="Century Schoolbook" panose="02040604050505020304" pitchFamily="18" charset="0"/>
                  </a:rPr>
                  <a:t>The constant of proportionality is R, the resistance.</a:t>
                </a:r>
              </a:p>
              <a:p>
                <a:pPr algn="l"/>
                <a:endParaRPr lang="en-IN" b="1" dirty="0">
                  <a:latin typeface="Century Schoolbook" panose="02040604050505020304" pitchFamily="18" charset="0"/>
                </a:endParaRPr>
              </a:p>
            </p:txBody>
          </p:sp>
        </mc:Choice>
        <mc:Fallback xmlns="">
          <p:sp>
            <p:nvSpPr>
              <p:cNvPr id="3" name="Text Placeholder 2">
                <a:extLst>
                  <a:ext uri="{FF2B5EF4-FFF2-40B4-BE49-F238E27FC236}">
                    <a16:creationId xmlns:a16="http://schemas.microsoft.com/office/drawing/2014/main" id="{D112B6B4-737B-9CFF-4899-A0C8F7E64C75}"/>
                  </a:ext>
                </a:extLst>
              </p:cNvPr>
              <p:cNvSpPr>
                <a:spLocks noGrp="1" noRot="1" noChangeAspect="1" noMove="1" noResize="1" noEditPoints="1" noAdjustHandles="1" noChangeArrowheads="1" noChangeShapeType="1" noTextEdit="1"/>
              </p:cNvSpPr>
              <p:nvPr>
                <p:ph type="body" sz="half" idx="2"/>
              </p:nvPr>
            </p:nvSpPr>
            <p:spPr>
              <a:xfrm>
                <a:off x="0" y="780890"/>
                <a:ext cx="12035896" cy="6077110"/>
              </a:xfrm>
              <a:blipFill>
                <a:blip r:embed="rId2"/>
                <a:stretch>
                  <a:fillRect l="-760" t="-2307" r="-456"/>
                </a:stretch>
              </a:blipFill>
            </p:spPr>
            <p:txBody>
              <a:bodyPr/>
              <a:lstStyle/>
              <a:p>
                <a:r>
                  <a:rPr lang="en-IN">
                    <a:noFill/>
                  </a:rPr>
                  <a:t> </a:t>
                </a:r>
              </a:p>
            </p:txBody>
          </p:sp>
        </mc:Fallback>
      </mc:AlternateContent>
    </p:spTree>
    <p:extLst>
      <p:ext uri="{BB962C8B-B14F-4D97-AF65-F5344CB8AC3E}">
        <p14:creationId xmlns:p14="http://schemas.microsoft.com/office/powerpoint/2010/main" val="18169959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AD32D-0473-792C-CB88-F9A7051184A5}"/>
              </a:ext>
            </a:extLst>
          </p:cNvPr>
          <p:cNvSpPr>
            <a:spLocks noGrp="1"/>
          </p:cNvSpPr>
          <p:nvPr>
            <p:ph type="title"/>
          </p:nvPr>
        </p:nvSpPr>
        <p:spPr>
          <a:xfrm>
            <a:off x="0" y="4141"/>
            <a:ext cx="12192000" cy="880761"/>
          </a:xfrm>
        </p:spPr>
        <p:txBody>
          <a:bodyPr>
            <a:normAutofit/>
          </a:bodyPr>
          <a:lstStyle/>
          <a:p>
            <a:pPr algn="l"/>
            <a:r>
              <a:rPr lang="en-US" sz="4800" b="0" dirty="0">
                <a:solidFill>
                  <a:srgbClr val="FFFF00"/>
                </a:solidFill>
                <a:latin typeface="Algerian" panose="04020705040A02060702" pitchFamily="82" charset="0"/>
              </a:rPr>
              <a:t>4.2] </a:t>
            </a:r>
            <a:r>
              <a:rPr lang="en-US" sz="4800" b="0" u="sng" dirty="0">
                <a:solidFill>
                  <a:srgbClr val="FFFF00"/>
                </a:solidFill>
                <a:latin typeface="Algerian" panose="04020705040A02060702" pitchFamily="82" charset="0"/>
              </a:rPr>
              <a:t>Resistance</a:t>
            </a:r>
            <a:r>
              <a:rPr lang="en-US" sz="4800" b="0" dirty="0">
                <a:solidFill>
                  <a:srgbClr val="FFFF00"/>
                </a:solidFill>
                <a:latin typeface="Algerian" panose="04020705040A02060702" pitchFamily="82" charset="0"/>
              </a:rPr>
              <a:t> : -</a:t>
            </a:r>
            <a:endParaRPr lang="en-IN" sz="4800" b="0" dirty="0">
              <a:solidFill>
                <a:srgbClr val="FFFF00"/>
              </a:solidFill>
              <a:latin typeface="Algerian" panose="04020705040A02060702" pitchFamily="82" charset="0"/>
            </a:endParaRP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69256D2A-872C-0920-0C2F-79FD057E6923}"/>
                  </a:ext>
                </a:extLst>
              </p:cNvPr>
              <p:cNvSpPr>
                <a:spLocks noGrp="1"/>
              </p:cNvSpPr>
              <p:nvPr>
                <p:ph type="body" sz="half" idx="2"/>
              </p:nvPr>
            </p:nvSpPr>
            <p:spPr>
              <a:xfrm>
                <a:off x="245806" y="757085"/>
                <a:ext cx="11867536" cy="6096774"/>
              </a:xfrm>
            </p:spPr>
            <p:txBody>
              <a:bodyPr>
                <a:normAutofit lnSpcReduction="10000"/>
              </a:bodyPr>
              <a:lstStyle/>
              <a:p>
                <a:pPr marL="285750" indent="-285750" algn="l">
                  <a:buFont typeface="Wingdings" panose="05000000000000000000" pitchFamily="2" charset="2"/>
                  <a:buChar char="v"/>
                </a:pPr>
                <a:r>
                  <a:rPr lang="en-IN" sz="2800" b="1" u="sng" dirty="0">
                    <a:solidFill>
                      <a:srgbClr val="FFFF00"/>
                    </a:solidFill>
                    <a:latin typeface="Century Schoolbook" panose="02040604050505020304" pitchFamily="18" charset="0"/>
                  </a:rPr>
                  <a:t>Definition</a:t>
                </a:r>
                <a:r>
                  <a:rPr lang="en-IN" sz="2800" b="1" dirty="0">
                    <a:solidFill>
                      <a:srgbClr val="FFFF00"/>
                    </a:solidFill>
                    <a:latin typeface="Century Schoolbook" panose="02040604050505020304" pitchFamily="18" charset="0"/>
                  </a:rPr>
                  <a:t> : -</a:t>
                </a:r>
              </a:p>
              <a:p>
                <a:pPr marL="285750" indent="-285750" algn="l">
                  <a:buFont typeface="Wingdings" panose="05000000000000000000" pitchFamily="2" charset="2"/>
                  <a:buChar char="Ø"/>
                </a:pPr>
                <a:r>
                  <a:rPr lang="en-IN" sz="2000" b="1" dirty="0">
                    <a:latin typeface="Century Schoolbook" panose="02040604050505020304" pitchFamily="18" charset="0"/>
                  </a:rPr>
                  <a:t>Resistance is the property of a conductor that opposes the flow of electric current through it.</a:t>
                </a:r>
              </a:p>
              <a:p>
                <a:pPr marL="285750" indent="-285750" algn="l">
                  <a:buFont typeface="Wingdings" panose="05000000000000000000" pitchFamily="2" charset="2"/>
                  <a:buChar char="Ø"/>
                </a:pPr>
                <a:r>
                  <a:rPr lang="en-IN" sz="2000" b="1" dirty="0">
                    <a:latin typeface="Century Schoolbook" panose="02040604050505020304" pitchFamily="18" charset="0"/>
                  </a:rPr>
                  <a:t>It depends on :</a:t>
                </a:r>
              </a:p>
              <a:p>
                <a:pPr marL="285750" indent="-285750" algn="l">
                  <a:buFont typeface="Arial" panose="020B0604020202020204" pitchFamily="34" charset="0"/>
                  <a:buChar char="•"/>
                </a:pPr>
                <a:r>
                  <a:rPr lang="en-IN" sz="2000" b="1" dirty="0">
                    <a:latin typeface="Century Schoolbook" panose="02040604050505020304" pitchFamily="18" charset="0"/>
                  </a:rPr>
                  <a:t>The length (L) of the conductor,</a:t>
                </a:r>
              </a:p>
              <a:p>
                <a:pPr marL="285750" indent="-285750" algn="l">
                  <a:buFont typeface="Arial" panose="020B0604020202020204" pitchFamily="34" charset="0"/>
                  <a:buChar char="•"/>
                </a:pPr>
                <a:r>
                  <a:rPr lang="en-IN" sz="2000" b="1" dirty="0">
                    <a:latin typeface="Century Schoolbook" panose="02040604050505020304" pitchFamily="18" charset="0"/>
                  </a:rPr>
                  <a:t>The cross-sectional area (A), and</a:t>
                </a:r>
              </a:p>
              <a:p>
                <a:pPr marL="285750" indent="-285750" algn="l">
                  <a:buFont typeface="Arial" panose="020B0604020202020204" pitchFamily="34" charset="0"/>
                  <a:buChar char="•"/>
                </a:pPr>
                <a:r>
                  <a:rPr lang="en-IN" sz="2000" b="1" dirty="0">
                    <a:latin typeface="Century Schoolbook" panose="02040604050505020304" pitchFamily="18" charset="0"/>
                  </a:rPr>
                  <a:t>The material of the conductor.</a:t>
                </a:r>
              </a:p>
              <a:p>
                <a:pPr marL="285750" indent="-285750" algn="l">
                  <a:buFont typeface="Wingdings" panose="05000000000000000000" pitchFamily="2" charset="2"/>
                  <a:buChar char="v"/>
                </a:pPr>
                <a:r>
                  <a:rPr lang="en-IN" sz="2000" b="1" u="sng" dirty="0">
                    <a:latin typeface="Century Schoolbook" panose="02040604050505020304" pitchFamily="18" charset="0"/>
                  </a:rPr>
                  <a:t>Mathematical Expression</a:t>
                </a:r>
                <a:r>
                  <a:rPr lang="en-IN" sz="2000" b="1" dirty="0">
                    <a:latin typeface="Century Schoolbook" panose="02040604050505020304" pitchFamily="18" charset="0"/>
                  </a:rPr>
                  <a:t> : </a:t>
                </a:r>
                <a14:m>
                  <m:oMath xmlns:m="http://schemas.openxmlformats.org/officeDocument/2006/math">
                    <m:r>
                      <a:rPr lang="en-IN" sz="2400" b="1" i="1" smtClean="0">
                        <a:solidFill>
                          <a:srgbClr val="FFFF00"/>
                        </a:solidFill>
                        <a:latin typeface="Cambria Math" panose="02040503050406030204" pitchFamily="18" charset="0"/>
                      </a:rPr>
                      <m:t>𝑹</m:t>
                    </m:r>
                    <m:r>
                      <a:rPr lang="en-IN" sz="2400" b="1" smtClean="0">
                        <a:solidFill>
                          <a:srgbClr val="FFFF00"/>
                        </a:solidFill>
                        <a:latin typeface="Cambria Math" panose="02040503050406030204" pitchFamily="18" charset="0"/>
                      </a:rPr>
                      <m:t>=</m:t>
                    </m:r>
                    <m:f>
                      <m:fPr>
                        <m:ctrlPr>
                          <a:rPr lang="ar-AE" sz="2400" b="1" i="1">
                            <a:solidFill>
                              <a:srgbClr val="FFFF00"/>
                            </a:solidFill>
                            <a:latin typeface="Cambria Math" panose="02040503050406030204" pitchFamily="18" charset="0"/>
                          </a:rPr>
                        </m:ctrlPr>
                      </m:fPr>
                      <m:num>
                        <m:r>
                          <a:rPr lang="ar-AE" sz="2400" b="1" i="1" smtClean="0">
                            <a:solidFill>
                              <a:srgbClr val="FFFF00"/>
                            </a:solidFill>
                            <a:latin typeface="Cambria Math" panose="02040503050406030204" pitchFamily="18" charset="0"/>
                          </a:rPr>
                          <m:t>𝑽</m:t>
                        </m:r>
                      </m:num>
                      <m:den>
                        <m:r>
                          <a:rPr lang="ar-AE" sz="2400" b="1" i="1" smtClean="0">
                            <a:solidFill>
                              <a:srgbClr val="FFFF00"/>
                            </a:solidFill>
                            <a:latin typeface="Cambria Math" panose="02040503050406030204" pitchFamily="18" charset="0"/>
                          </a:rPr>
                          <m:t>𝑰</m:t>
                        </m:r>
                      </m:den>
                    </m:f>
                  </m:oMath>
                </a14:m>
                <a:endParaRPr lang="ar-AE" sz="2000" b="1" dirty="0">
                  <a:latin typeface="Century Schoolbook" panose="02040604050505020304" pitchFamily="18" charset="0"/>
                </a:endParaRPr>
              </a:p>
              <a:p>
                <a:pPr algn="l"/>
                <a:r>
                  <a:rPr lang="en-IN" sz="2000" b="1" dirty="0">
                    <a:latin typeface="Century Schoolbook" panose="02040604050505020304" pitchFamily="18" charset="0"/>
                  </a:rPr>
                  <a:t>Where, </a:t>
                </a:r>
              </a:p>
              <a:p>
                <a:pPr algn="l"/>
                <a:r>
                  <a:rPr lang="en-IN" sz="2000" b="1" dirty="0">
                    <a:latin typeface="Century Schoolbook" panose="02040604050505020304" pitchFamily="18" charset="0"/>
                  </a:rPr>
                  <a:t>R = Resistance (in ohms, </a:t>
                </a:r>
                <a:r>
                  <a:rPr lang="el-GR" sz="2000" b="1" dirty="0">
                    <a:latin typeface="Century Schoolbook" panose="02040604050505020304" pitchFamily="18" charset="0"/>
                  </a:rPr>
                  <a:t>Ω)</a:t>
                </a:r>
              </a:p>
              <a:p>
                <a:pPr algn="l"/>
                <a:r>
                  <a:rPr lang="en-IN" sz="2000" b="1" dirty="0">
                    <a:latin typeface="Century Schoolbook" panose="02040604050505020304" pitchFamily="18" charset="0"/>
                  </a:rPr>
                  <a:t>V = Potential difference (in volts, V)</a:t>
                </a:r>
              </a:p>
              <a:p>
                <a:pPr algn="l"/>
                <a:r>
                  <a:rPr lang="en-IN" sz="2000" b="1" dirty="0">
                    <a:latin typeface="Century Schoolbook" panose="02040604050505020304" pitchFamily="18" charset="0"/>
                  </a:rPr>
                  <a:t>I = Current (in amperes, A)</a:t>
                </a:r>
              </a:p>
              <a:p>
                <a:pPr algn="l"/>
                <a:endParaRPr lang="en-IN" b="1" dirty="0">
                  <a:latin typeface="Century Schoolbook" panose="02040604050505020304" pitchFamily="18" charset="0"/>
                </a:endParaRPr>
              </a:p>
            </p:txBody>
          </p:sp>
        </mc:Choice>
        <mc:Fallback xmlns="">
          <p:sp>
            <p:nvSpPr>
              <p:cNvPr id="3" name="Text Placeholder 2">
                <a:extLst>
                  <a:ext uri="{FF2B5EF4-FFF2-40B4-BE49-F238E27FC236}">
                    <a16:creationId xmlns:a16="http://schemas.microsoft.com/office/drawing/2014/main" id="{69256D2A-872C-0920-0C2F-79FD057E6923}"/>
                  </a:ext>
                </a:extLst>
              </p:cNvPr>
              <p:cNvSpPr>
                <a:spLocks noGrp="1" noRot="1" noChangeAspect="1" noMove="1" noResize="1" noEditPoints="1" noAdjustHandles="1" noChangeArrowheads="1" noChangeShapeType="1" noTextEdit="1"/>
              </p:cNvSpPr>
              <p:nvPr>
                <p:ph type="body" sz="half" idx="2"/>
              </p:nvPr>
            </p:nvSpPr>
            <p:spPr>
              <a:xfrm>
                <a:off x="245806" y="757085"/>
                <a:ext cx="11867536" cy="6096774"/>
              </a:xfrm>
              <a:blipFill>
                <a:blip r:embed="rId2"/>
                <a:stretch>
                  <a:fillRect l="-976" t="-1500"/>
                </a:stretch>
              </a:blipFill>
            </p:spPr>
            <p:txBody>
              <a:bodyPr/>
              <a:lstStyle/>
              <a:p>
                <a:r>
                  <a:rPr lang="en-IN">
                    <a:noFill/>
                  </a:rPr>
                  <a:t> </a:t>
                </a:r>
              </a:p>
            </p:txBody>
          </p:sp>
        </mc:Fallback>
      </mc:AlternateContent>
    </p:spTree>
    <p:extLst>
      <p:ext uri="{BB962C8B-B14F-4D97-AF65-F5344CB8AC3E}">
        <p14:creationId xmlns:p14="http://schemas.microsoft.com/office/powerpoint/2010/main" val="33371654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06F48-5F2B-F65E-0986-F044E3FE87E1}"/>
              </a:ext>
            </a:extLst>
          </p:cNvPr>
          <p:cNvSpPr>
            <a:spLocks noGrp="1"/>
          </p:cNvSpPr>
          <p:nvPr>
            <p:ph type="title"/>
          </p:nvPr>
        </p:nvSpPr>
        <p:spPr>
          <a:xfrm>
            <a:off x="776143" y="-531191"/>
            <a:ext cx="10353762" cy="451394"/>
          </a:xfrm>
        </p:spPr>
        <p:txBody>
          <a:bodyPr>
            <a:normAutofit fontScale="90000"/>
          </a:bodyPr>
          <a:lstStyle/>
          <a:p>
            <a:endParaRPr lang="en-IN"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BA87AC1F-5072-595C-423B-DFCFAA20AA46}"/>
                  </a:ext>
                </a:extLst>
              </p:cNvPr>
              <p:cNvSpPr>
                <a:spLocks noGrp="1"/>
              </p:cNvSpPr>
              <p:nvPr>
                <p:ph type="body" sz="half" idx="2"/>
              </p:nvPr>
            </p:nvSpPr>
            <p:spPr>
              <a:xfrm>
                <a:off x="146879" y="75272"/>
                <a:ext cx="11691160" cy="3120212"/>
              </a:xfrm>
            </p:spPr>
            <p:txBody>
              <a:bodyPr>
                <a:normAutofit/>
              </a:bodyPr>
              <a:lstStyle/>
              <a:p>
                <a:pPr marL="285750" indent="-285750" algn="l">
                  <a:buFont typeface="Wingdings" panose="05000000000000000000" pitchFamily="2" charset="2"/>
                  <a:buChar char="v"/>
                </a:pPr>
                <a:r>
                  <a:rPr lang="en-IN" sz="2400" b="1" u="sng" dirty="0">
                    <a:solidFill>
                      <a:srgbClr val="FFFF00"/>
                    </a:solidFill>
                    <a:latin typeface="Century Schoolbook" panose="02040604050505020304" pitchFamily="18" charset="0"/>
                  </a:rPr>
                  <a:t>Unit of Resistance</a:t>
                </a:r>
                <a:r>
                  <a:rPr lang="en-IN" sz="2400" b="1" dirty="0">
                    <a:solidFill>
                      <a:srgbClr val="FFFF00"/>
                    </a:solidFill>
                    <a:latin typeface="Century Schoolbook" panose="02040604050505020304" pitchFamily="18" charset="0"/>
                  </a:rPr>
                  <a:t> : - </a:t>
                </a:r>
                <a:r>
                  <a:rPr lang="en-IN" sz="2000" b="1" dirty="0">
                    <a:latin typeface="Century Schoolbook" panose="02040604050505020304" pitchFamily="18" charset="0"/>
                  </a:rPr>
                  <a:t>The SI unit of resistance is ohm (</a:t>
                </a:r>
                <a:r>
                  <a:rPr lang="el-GR" sz="2000" b="1" dirty="0">
                    <a:latin typeface="Century Schoolbook" panose="02040604050505020304" pitchFamily="18" charset="0"/>
                  </a:rPr>
                  <a:t>Ω).</a:t>
                </a:r>
              </a:p>
              <a:p>
                <a:pPr marL="285750" indent="-285750" algn="l">
                  <a:buFont typeface="Wingdings" panose="05000000000000000000" pitchFamily="2" charset="2"/>
                  <a:buChar char="v"/>
                </a:pPr>
                <a:r>
                  <a:rPr lang="el-GR" sz="2400" b="1" u="sng" dirty="0">
                    <a:solidFill>
                      <a:srgbClr val="FFFF00"/>
                    </a:solidFill>
                    <a:latin typeface="Century Schoolbook" panose="02040604050505020304" pitchFamily="18" charset="0"/>
                  </a:rPr>
                  <a:t>1 </a:t>
                </a:r>
                <a:r>
                  <a:rPr lang="en-IN" sz="2400" b="1" u="sng" dirty="0">
                    <a:solidFill>
                      <a:srgbClr val="FFFF00"/>
                    </a:solidFill>
                    <a:latin typeface="Century Schoolbook" panose="02040604050505020304" pitchFamily="18" charset="0"/>
                  </a:rPr>
                  <a:t>ohm (</a:t>
                </a:r>
                <a:r>
                  <a:rPr lang="el-GR" sz="2400" b="1" u="sng" dirty="0">
                    <a:solidFill>
                      <a:srgbClr val="FFFF00"/>
                    </a:solidFill>
                    <a:latin typeface="Century Schoolbook" panose="02040604050505020304" pitchFamily="18" charset="0"/>
                  </a:rPr>
                  <a:t>Ω) </a:t>
                </a:r>
                <a:r>
                  <a:rPr lang="en-IN" sz="2400" b="1" u="sng" dirty="0">
                    <a:solidFill>
                      <a:srgbClr val="FFFF00"/>
                    </a:solidFill>
                    <a:latin typeface="Century Schoolbook" panose="02040604050505020304" pitchFamily="18" charset="0"/>
                  </a:rPr>
                  <a:t>is defined as</a:t>
                </a:r>
                <a:r>
                  <a:rPr lang="en-IN" sz="2400" b="1" dirty="0">
                    <a:solidFill>
                      <a:srgbClr val="FFFF00"/>
                    </a:solidFill>
                    <a:latin typeface="Century Schoolbook" panose="02040604050505020304" pitchFamily="18" charset="0"/>
                  </a:rPr>
                  <a:t> :</a:t>
                </a:r>
              </a:p>
              <a:p>
                <a:pPr marL="285750" indent="-285750" algn="l">
                  <a:buFont typeface="Arial" panose="020B0604020202020204" pitchFamily="34" charset="0"/>
                  <a:buChar char="•"/>
                </a:pPr>
                <a:r>
                  <a:rPr lang="en-IN" sz="2400" b="1" dirty="0">
                    <a:latin typeface="Century Schoolbook" panose="02040604050505020304" pitchFamily="18" charset="0"/>
                  </a:rPr>
                  <a:t>The resistance of a conductor when a potential difference of 1 volt produces a current of 1 ampere through it </a:t>
                </a:r>
                <a14:m>
                  <m:oMath xmlns:m="http://schemas.openxmlformats.org/officeDocument/2006/math">
                    <m:r>
                      <a:rPr lang="en-IN" sz="2800" b="1" i="1" smtClean="0">
                        <a:solidFill>
                          <a:srgbClr val="FFFF00"/>
                        </a:solidFill>
                        <a:latin typeface="Cambria Math" panose="02040503050406030204" pitchFamily="18" charset="0"/>
                      </a:rPr>
                      <m:t>𝟏</m:t>
                    </m:r>
                    <m:r>
                      <m:rPr>
                        <m:nor/>
                      </m:rPr>
                      <a:rPr lang="en-IN" sz="2800" b="1" i="1">
                        <a:solidFill>
                          <a:srgbClr val="FFFF00"/>
                        </a:solidFill>
                        <a:latin typeface="Century Schoolbook" panose="02040604050505020304" pitchFamily="18" charset="0"/>
                      </a:rPr>
                      <m:t> </m:t>
                    </m:r>
                    <m:r>
                      <a:rPr lang="el-GR" sz="2800" b="1" i="1">
                        <a:solidFill>
                          <a:srgbClr val="FFFF00"/>
                        </a:solidFill>
                        <a:latin typeface="Cambria Math" panose="02040503050406030204" pitchFamily="18" charset="0"/>
                      </a:rPr>
                      <m:t>𝛀</m:t>
                    </m:r>
                    <m:r>
                      <a:rPr lang="el-GR" sz="2800" b="1">
                        <a:solidFill>
                          <a:srgbClr val="FFFF00"/>
                        </a:solidFill>
                        <a:latin typeface="Cambria Math" panose="02040503050406030204" pitchFamily="18" charset="0"/>
                      </a:rPr>
                      <m:t>=</m:t>
                    </m:r>
                    <m:f>
                      <m:fPr>
                        <m:ctrlPr>
                          <a:rPr lang="ar-AE" sz="2800" b="1" i="1">
                            <a:solidFill>
                              <a:srgbClr val="FFFF00"/>
                            </a:solidFill>
                            <a:latin typeface="Cambria Math" panose="02040503050406030204" pitchFamily="18" charset="0"/>
                          </a:rPr>
                        </m:ctrlPr>
                      </m:fPr>
                      <m:num>
                        <m:r>
                          <a:rPr lang="ar-AE" sz="2800" b="1" i="1">
                            <a:solidFill>
                              <a:srgbClr val="FFFF00"/>
                            </a:solidFill>
                            <a:latin typeface="Cambria Math" panose="02040503050406030204" pitchFamily="18" charset="0"/>
                          </a:rPr>
                          <m:t>𝟏</m:t>
                        </m:r>
                        <m:r>
                          <m:rPr>
                            <m:nor/>
                          </m:rPr>
                          <a:rPr lang="ar-AE" sz="2800" b="1" i="1">
                            <a:solidFill>
                              <a:srgbClr val="FFFF00"/>
                            </a:solidFill>
                            <a:latin typeface="Century Schoolbook" panose="02040604050505020304" pitchFamily="18" charset="0"/>
                          </a:rPr>
                          <m:t> </m:t>
                        </m:r>
                        <m:r>
                          <m:rPr>
                            <m:nor/>
                          </m:rPr>
                          <a:rPr lang="en-IN" sz="2800" b="1" i="1">
                            <a:solidFill>
                              <a:srgbClr val="FFFF00"/>
                            </a:solidFill>
                            <a:latin typeface="Century Schoolbook" panose="02040604050505020304" pitchFamily="18" charset="0"/>
                          </a:rPr>
                          <m:t>volt</m:t>
                        </m:r>
                      </m:num>
                      <m:den>
                        <m:r>
                          <a:rPr lang="ar-AE" sz="2800" b="1" i="1">
                            <a:solidFill>
                              <a:srgbClr val="FFFF00"/>
                            </a:solidFill>
                            <a:latin typeface="Cambria Math" panose="02040503050406030204" pitchFamily="18" charset="0"/>
                          </a:rPr>
                          <m:t>𝟏</m:t>
                        </m:r>
                        <m:r>
                          <m:rPr>
                            <m:nor/>
                          </m:rPr>
                          <a:rPr lang="ar-AE" sz="2800" b="1" i="1">
                            <a:solidFill>
                              <a:srgbClr val="FFFF00"/>
                            </a:solidFill>
                            <a:latin typeface="Century Schoolbook" panose="02040604050505020304" pitchFamily="18" charset="0"/>
                          </a:rPr>
                          <m:t> </m:t>
                        </m:r>
                        <m:r>
                          <m:rPr>
                            <m:nor/>
                          </m:rPr>
                          <a:rPr lang="en-IN" sz="2800" b="1" i="1">
                            <a:solidFill>
                              <a:srgbClr val="FFFF00"/>
                            </a:solidFill>
                            <a:latin typeface="Century Schoolbook" panose="02040604050505020304" pitchFamily="18" charset="0"/>
                          </a:rPr>
                          <m:t>ampere</m:t>
                        </m:r>
                      </m:den>
                    </m:f>
                  </m:oMath>
                </a14:m>
                <a:endParaRPr lang="ar-AE" sz="2400" b="1" dirty="0">
                  <a:latin typeface="Century Schoolbook" panose="02040604050505020304" pitchFamily="18" charset="0"/>
                </a:endParaRPr>
              </a:p>
              <a:p>
                <a:endParaRPr lang="en-IN" dirty="0"/>
              </a:p>
            </p:txBody>
          </p:sp>
        </mc:Choice>
        <mc:Fallback xmlns="">
          <p:sp>
            <p:nvSpPr>
              <p:cNvPr id="3" name="Text Placeholder 2">
                <a:extLst>
                  <a:ext uri="{FF2B5EF4-FFF2-40B4-BE49-F238E27FC236}">
                    <a16:creationId xmlns:a16="http://schemas.microsoft.com/office/drawing/2014/main" id="{BA87AC1F-5072-595C-423B-DFCFAA20AA46}"/>
                  </a:ext>
                </a:extLst>
              </p:cNvPr>
              <p:cNvSpPr>
                <a:spLocks noGrp="1" noRot="1" noChangeAspect="1" noMove="1" noResize="1" noEditPoints="1" noAdjustHandles="1" noChangeArrowheads="1" noChangeShapeType="1" noTextEdit="1"/>
              </p:cNvSpPr>
              <p:nvPr>
                <p:ph type="body" sz="half" idx="2"/>
              </p:nvPr>
            </p:nvSpPr>
            <p:spPr>
              <a:xfrm>
                <a:off x="146879" y="75272"/>
                <a:ext cx="11691160" cy="3120212"/>
              </a:xfrm>
              <a:blipFill>
                <a:blip r:embed="rId2"/>
                <a:stretch>
                  <a:fillRect l="-782"/>
                </a:stretch>
              </a:blipFill>
            </p:spPr>
            <p:txBody>
              <a:bodyPr/>
              <a:lstStyle/>
              <a:p>
                <a:r>
                  <a:rPr lang="en-IN">
                    <a:noFill/>
                  </a:rPr>
                  <a:t> </a:t>
                </a:r>
              </a:p>
            </p:txBody>
          </p:sp>
        </mc:Fallback>
      </mc:AlternateContent>
    </p:spTree>
    <p:extLst>
      <p:ext uri="{BB962C8B-B14F-4D97-AF65-F5344CB8AC3E}">
        <p14:creationId xmlns:p14="http://schemas.microsoft.com/office/powerpoint/2010/main" val="24067703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86986-E767-593E-538B-670ED8D09891}"/>
              </a:ext>
            </a:extLst>
          </p:cNvPr>
          <p:cNvSpPr>
            <a:spLocks noGrp="1"/>
          </p:cNvSpPr>
          <p:nvPr>
            <p:ph type="title"/>
          </p:nvPr>
        </p:nvSpPr>
        <p:spPr>
          <a:xfrm>
            <a:off x="0" y="-127818"/>
            <a:ext cx="12192000" cy="1060994"/>
          </a:xfrm>
        </p:spPr>
        <p:txBody>
          <a:bodyPr>
            <a:normAutofit/>
          </a:bodyPr>
          <a:lstStyle/>
          <a:p>
            <a:pPr marL="457200" indent="-457200" algn="l">
              <a:buFont typeface="Wingdings" panose="05000000000000000000" pitchFamily="2" charset="2"/>
              <a:buChar char="v"/>
            </a:pPr>
            <a:r>
              <a:rPr lang="en-US" sz="4800" b="0" u="sng" dirty="0">
                <a:solidFill>
                  <a:srgbClr val="FFFF00"/>
                </a:solidFill>
                <a:latin typeface="Algerian" panose="04020705040A02060702" pitchFamily="82" charset="0"/>
              </a:rPr>
              <a:t>Specific resistance</a:t>
            </a:r>
            <a:r>
              <a:rPr lang="en-US" sz="4800" b="0" dirty="0">
                <a:solidFill>
                  <a:srgbClr val="FFFF00"/>
                </a:solidFill>
                <a:latin typeface="Algerian" panose="04020705040A02060702" pitchFamily="82" charset="0"/>
              </a:rPr>
              <a:t> : -</a:t>
            </a:r>
            <a:endParaRPr lang="en-IN" sz="4800" b="0" dirty="0">
              <a:solidFill>
                <a:srgbClr val="FFFF00"/>
              </a:solidFill>
              <a:latin typeface="Algerian" panose="04020705040A02060702" pitchFamily="82" charset="0"/>
            </a:endParaRP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C6C8B215-90CA-AF72-75E5-5E74DD513DA6}"/>
                  </a:ext>
                </a:extLst>
              </p:cNvPr>
              <p:cNvSpPr>
                <a:spLocks noGrp="1"/>
              </p:cNvSpPr>
              <p:nvPr>
                <p:ph type="body" sz="half" idx="2"/>
              </p:nvPr>
            </p:nvSpPr>
            <p:spPr>
              <a:xfrm>
                <a:off x="117987" y="648930"/>
                <a:ext cx="11956025" cy="6091083"/>
              </a:xfrm>
            </p:spPr>
            <p:txBody>
              <a:bodyPr>
                <a:normAutofit/>
              </a:bodyPr>
              <a:lstStyle/>
              <a:p>
                <a:pPr marL="457200" indent="-457200" algn="l">
                  <a:buFont typeface="Wingdings" panose="05000000000000000000" pitchFamily="2" charset="2"/>
                  <a:buChar char="Ø"/>
                </a:pPr>
                <a:r>
                  <a:rPr lang="en-IN" sz="2800" b="1" u="sng" dirty="0">
                    <a:solidFill>
                      <a:srgbClr val="FFFF00"/>
                    </a:solidFill>
                    <a:latin typeface="Century Schoolbook" panose="02040604050505020304" pitchFamily="18" charset="0"/>
                  </a:rPr>
                  <a:t>Definition</a:t>
                </a:r>
                <a:r>
                  <a:rPr lang="en-IN" sz="2800" b="1" dirty="0">
                    <a:solidFill>
                      <a:srgbClr val="FFFF00"/>
                    </a:solidFill>
                    <a:latin typeface="Century Schoolbook" panose="02040604050505020304" pitchFamily="18" charset="0"/>
                  </a:rPr>
                  <a:t> : -</a:t>
                </a:r>
                <a:endParaRPr lang="en-IN" b="1" dirty="0">
                  <a:solidFill>
                    <a:srgbClr val="FFFF00"/>
                  </a:solidFill>
                  <a:latin typeface="Century Schoolbook" panose="02040604050505020304" pitchFamily="18" charset="0"/>
                </a:endParaRPr>
              </a:p>
              <a:p>
                <a:pPr marL="285750" indent="-285750" algn="l">
                  <a:buFont typeface="Arial" panose="020B0604020202020204" pitchFamily="34" charset="0"/>
                  <a:buChar char="•"/>
                </a:pPr>
                <a:r>
                  <a:rPr lang="en-IN" sz="2000" b="1" dirty="0">
                    <a:latin typeface="Century Schoolbook" panose="02040604050505020304" pitchFamily="18" charset="0"/>
                  </a:rPr>
                  <a:t>Specific resistance (</a:t>
                </a:r>
                <a:r>
                  <a:rPr lang="el-GR" sz="2000" b="1" dirty="0">
                    <a:latin typeface="Century Schoolbook" panose="02040604050505020304" pitchFamily="18" charset="0"/>
                  </a:rPr>
                  <a:t>ρ) </a:t>
                </a:r>
                <a:r>
                  <a:rPr lang="en-IN" sz="2000" b="1" dirty="0">
                    <a:latin typeface="Century Schoolbook" panose="02040604050505020304" pitchFamily="18" charset="0"/>
                  </a:rPr>
                  <a:t>or Resistivity is the resistance offered by a material of unit length and unit cross-sectional area.</a:t>
                </a:r>
              </a:p>
              <a:p>
                <a:pPr marL="285750" indent="-285750" algn="l">
                  <a:buFont typeface="Arial" panose="020B0604020202020204" pitchFamily="34" charset="0"/>
                  <a:buChar char="•"/>
                </a:pPr>
                <a:r>
                  <a:rPr lang="en-IN" sz="2000" b="1" dirty="0">
                    <a:latin typeface="Century Schoolbook" panose="02040604050505020304" pitchFamily="18" charset="0"/>
                  </a:rPr>
                  <a:t>It is a property of the material and does not depend on its shape or size.</a:t>
                </a:r>
              </a:p>
              <a:p>
                <a:pPr marL="285750" indent="-285750" algn="l">
                  <a:buFont typeface="Wingdings" panose="05000000000000000000" pitchFamily="2" charset="2"/>
                  <a:buChar char="v"/>
                </a:pPr>
                <a:r>
                  <a:rPr lang="en-IN" sz="2000" b="1" u="sng" dirty="0">
                    <a:latin typeface="Century Schoolbook" panose="02040604050505020304" pitchFamily="18" charset="0"/>
                  </a:rPr>
                  <a:t>Mathematical Expression</a:t>
                </a:r>
                <a:r>
                  <a:rPr lang="en-IN" sz="2000" b="1" dirty="0">
                    <a:latin typeface="Century Schoolbook" panose="02040604050505020304" pitchFamily="18" charset="0"/>
                  </a:rPr>
                  <a:t> : </a:t>
                </a:r>
                <a14:m>
                  <m:oMath xmlns:m="http://schemas.openxmlformats.org/officeDocument/2006/math">
                    <m:r>
                      <a:rPr lang="en-IN" sz="2000" b="1" i="1" smtClean="0">
                        <a:solidFill>
                          <a:srgbClr val="FFFF00"/>
                        </a:solidFill>
                        <a:latin typeface="Cambria Math" panose="02040503050406030204" pitchFamily="18" charset="0"/>
                      </a:rPr>
                      <m:t>𝝆</m:t>
                    </m:r>
                    <m:r>
                      <a:rPr lang="en-IN" sz="2000" b="1" smtClean="0">
                        <a:solidFill>
                          <a:srgbClr val="FFFF00"/>
                        </a:solidFill>
                        <a:latin typeface="Cambria Math" panose="02040503050406030204" pitchFamily="18" charset="0"/>
                      </a:rPr>
                      <m:t>=</m:t>
                    </m:r>
                    <m:r>
                      <a:rPr lang="en-IN" sz="2000" b="1" i="1" smtClean="0">
                        <a:solidFill>
                          <a:srgbClr val="FFFF00"/>
                        </a:solidFill>
                        <a:latin typeface="Cambria Math" panose="02040503050406030204" pitchFamily="18" charset="0"/>
                      </a:rPr>
                      <m:t>𝑹</m:t>
                    </m:r>
                    <m:r>
                      <a:rPr lang="en-IN" sz="2000" b="1" smtClean="0">
                        <a:solidFill>
                          <a:srgbClr val="FFFF00"/>
                        </a:solidFill>
                        <a:latin typeface="Cambria Math" panose="02040503050406030204" pitchFamily="18" charset="0"/>
                      </a:rPr>
                      <m:t>×</m:t>
                    </m:r>
                    <m:f>
                      <m:fPr>
                        <m:ctrlPr>
                          <a:rPr lang="ar-AE" sz="2000" b="1" i="1">
                            <a:solidFill>
                              <a:srgbClr val="FFFF00"/>
                            </a:solidFill>
                            <a:latin typeface="Cambria Math" panose="02040503050406030204" pitchFamily="18" charset="0"/>
                          </a:rPr>
                        </m:ctrlPr>
                      </m:fPr>
                      <m:num>
                        <m:r>
                          <a:rPr lang="ar-AE" sz="2000" b="1" i="1" smtClean="0">
                            <a:solidFill>
                              <a:srgbClr val="FFFF00"/>
                            </a:solidFill>
                            <a:latin typeface="Cambria Math" panose="02040503050406030204" pitchFamily="18" charset="0"/>
                          </a:rPr>
                          <m:t>𝑨</m:t>
                        </m:r>
                      </m:num>
                      <m:den>
                        <m:r>
                          <a:rPr lang="ar-AE" sz="2000" b="1" i="1" smtClean="0">
                            <a:solidFill>
                              <a:srgbClr val="FFFF00"/>
                            </a:solidFill>
                            <a:latin typeface="Cambria Math" panose="02040503050406030204" pitchFamily="18" charset="0"/>
                          </a:rPr>
                          <m:t>𝑳</m:t>
                        </m:r>
                      </m:den>
                    </m:f>
                  </m:oMath>
                </a14:m>
                <a:endParaRPr lang="ar-AE" b="1" dirty="0">
                  <a:latin typeface="Century Schoolbook" panose="02040604050505020304" pitchFamily="18" charset="0"/>
                </a:endParaRPr>
              </a:p>
              <a:p>
                <a:pPr algn="l"/>
                <a:r>
                  <a:rPr lang="en-IN" sz="2000" b="1" dirty="0">
                    <a:latin typeface="Century Schoolbook" panose="02040604050505020304" pitchFamily="18" charset="0"/>
                  </a:rPr>
                  <a:t>Where,</a:t>
                </a:r>
              </a:p>
              <a:p>
                <a:pPr algn="l"/>
                <a:r>
                  <a:rPr lang="el-GR" sz="2000" b="1" dirty="0">
                    <a:latin typeface="Century Schoolbook" panose="02040604050505020304" pitchFamily="18" charset="0"/>
                  </a:rPr>
                  <a:t>ρ = </a:t>
                </a:r>
                <a:r>
                  <a:rPr lang="en-IN" sz="2000" b="1" dirty="0">
                    <a:latin typeface="Century Schoolbook" panose="02040604050505020304" pitchFamily="18" charset="0"/>
                  </a:rPr>
                  <a:t>Specific resistance (resistivity)</a:t>
                </a:r>
              </a:p>
              <a:p>
                <a:pPr algn="l"/>
                <a:r>
                  <a:rPr lang="en-IN" sz="2000" b="1" dirty="0">
                    <a:latin typeface="Century Schoolbook" panose="02040604050505020304" pitchFamily="18" charset="0"/>
                  </a:rPr>
                  <a:t>R = Resistance of the conductor (</a:t>
                </a:r>
                <a:r>
                  <a:rPr lang="el-GR" sz="2000" b="1" dirty="0">
                    <a:latin typeface="Century Schoolbook" panose="02040604050505020304" pitchFamily="18" charset="0"/>
                  </a:rPr>
                  <a:t>Ω)</a:t>
                </a:r>
              </a:p>
              <a:p>
                <a:pPr algn="l"/>
                <a:r>
                  <a:rPr lang="en-IN" sz="2000" b="1" dirty="0">
                    <a:latin typeface="Century Schoolbook" panose="02040604050505020304" pitchFamily="18" charset="0"/>
                  </a:rPr>
                  <a:t>A = Cross-sectional area (m²)</a:t>
                </a:r>
              </a:p>
              <a:p>
                <a:pPr algn="l"/>
                <a:r>
                  <a:rPr lang="en-IN" sz="2000" b="1" dirty="0">
                    <a:latin typeface="Century Schoolbook" panose="02040604050505020304" pitchFamily="18" charset="0"/>
                  </a:rPr>
                  <a:t>L = Length of the conductor (m)</a:t>
                </a:r>
              </a:p>
              <a:p>
                <a:pPr algn="l"/>
                <a:r>
                  <a:rPr lang="en-IN" sz="2000" b="1" u="sng" dirty="0">
                    <a:latin typeface="Century Schoolbook" panose="02040604050505020304" pitchFamily="18" charset="0"/>
                  </a:rPr>
                  <a:t>Unit of Specific Resistance</a:t>
                </a:r>
                <a:r>
                  <a:rPr lang="en-IN" sz="2000" b="1" dirty="0">
                    <a:latin typeface="Century Schoolbook" panose="02040604050505020304" pitchFamily="18" charset="0"/>
                  </a:rPr>
                  <a:t> : -</a:t>
                </a:r>
              </a:p>
              <a:p>
                <a:pPr algn="l"/>
                <a:r>
                  <a:rPr lang="en-IN" sz="2000" b="1" dirty="0">
                    <a:solidFill>
                      <a:srgbClr val="FFFF00"/>
                    </a:solidFill>
                    <a:latin typeface="Century Schoolbook" panose="02040604050505020304" pitchFamily="18" charset="0"/>
                  </a:rPr>
                  <a:t>The SI unit of resistivity is : </a:t>
                </a:r>
                <a14:m>
                  <m:oMath xmlns:m="http://schemas.openxmlformats.org/officeDocument/2006/math">
                    <m:r>
                      <m:rPr>
                        <m:nor/>
                      </m:rPr>
                      <a:rPr lang="en-IN" sz="2000" b="1">
                        <a:solidFill>
                          <a:srgbClr val="FFFF00"/>
                        </a:solidFill>
                        <a:latin typeface="Century Schoolbook" panose="02040604050505020304" pitchFamily="18" charset="0"/>
                      </a:rPr>
                      <m:t>ohm</m:t>
                    </m:r>
                    <m:r>
                      <m:rPr>
                        <m:nor/>
                      </m:rPr>
                      <a:rPr lang="en-IN" sz="2000" b="1" i="1">
                        <a:solidFill>
                          <a:srgbClr val="FFFF00"/>
                        </a:solidFill>
                        <a:latin typeface="Century Schoolbook" panose="02040604050505020304" pitchFamily="18" charset="0"/>
                      </a:rPr>
                      <m:t> </m:t>
                    </m:r>
                    <m:r>
                      <m:rPr>
                        <m:nor/>
                      </m:rPr>
                      <a:rPr lang="en-IN" sz="2000" b="1" i="1">
                        <a:solidFill>
                          <a:srgbClr val="FFFF00"/>
                        </a:solidFill>
                        <a:latin typeface="Century Schoolbook" panose="02040604050505020304" pitchFamily="18" charset="0"/>
                      </a:rPr>
                      <m:t>metre</m:t>
                    </m:r>
                    <m:r>
                      <m:rPr>
                        <m:nor/>
                      </m:rPr>
                      <a:rPr lang="en-IN" sz="2000" b="1" i="1">
                        <a:solidFill>
                          <a:srgbClr val="FFFF00"/>
                        </a:solidFill>
                        <a:latin typeface="Century Schoolbook" panose="02040604050505020304" pitchFamily="18" charset="0"/>
                      </a:rPr>
                      <m:t> </m:t>
                    </m:r>
                    <m:r>
                      <m:rPr>
                        <m:nor/>
                      </m:rPr>
                      <a:rPr lang="en-IN" sz="2000" b="1" i="1">
                        <a:solidFill>
                          <a:srgbClr val="FFFF00"/>
                        </a:solidFill>
                        <a:latin typeface="Century Schoolbook" panose="02040604050505020304" pitchFamily="18" charset="0"/>
                      </a:rPr>
                      <m:t>(</m:t>
                    </m:r>
                    <m:r>
                      <m:rPr>
                        <m:nor/>
                      </m:rPr>
                      <a:rPr lang="el-GR" sz="2000" b="1" i="1">
                        <a:solidFill>
                          <a:srgbClr val="FFFF00"/>
                        </a:solidFill>
                        <a:latin typeface="Century Schoolbook" panose="02040604050505020304" pitchFamily="18" charset="0"/>
                      </a:rPr>
                      <m:t>Ω</m:t>
                    </m:r>
                    <m:r>
                      <m:rPr>
                        <m:nor/>
                      </m:rPr>
                      <a:rPr lang="el-GR" sz="2000" b="1" i="1">
                        <a:solidFill>
                          <a:srgbClr val="FFFF00"/>
                        </a:solidFill>
                        <a:latin typeface="Century Schoolbook" panose="02040604050505020304" pitchFamily="18" charset="0"/>
                      </a:rPr>
                      <m:t>\</m:t>
                    </m:r>
                    <m:r>
                      <m:rPr>
                        <m:nor/>
                      </m:rPr>
                      <a:rPr lang="en-IN" sz="2000" b="1" i="1">
                        <a:solidFill>
                          <a:srgbClr val="FFFF00"/>
                        </a:solidFill>
                        <a:latin typeface="Century Schoolbook" panose="02040604050505020304" pitchFamily="18" charset="0"/>
                      </a:rPr>
                      <m:t>cdotpm</m:t>
                    </m:r>
                    <m:r>
                      <m:rPr>
                        <m:nor/>
                      </m:rPr>
                      <a:rPr lang="en-IN" sz="2000" b="1" i="1">
                        <a:solidFill>
                          <a:srgbClr val="FFFF00"/>
                        </a:solidFill>
                        <a:latin typeface="Century Schoolbook" panose="02040604050505020304" pitchFamily="18" charset="0"/>
                      </a:rPr>
                      <m:t>)</m:t>
                    </m:r>
                  </m:oMath>
                </a14:m>
                <a:endParaRPr lang="en-IN" sz="2000" b="1" dirty="0">
                  <a:solidFill>
                    <a:srgbClr val="FFFF00"/>
                  </a:solidFill>
                  <a:latin typeface="Century Schoolbook" panose="02040604050505020304" pitchFamily="18" charset="0"/>
                </a:endParaRPr>
              </a:p>
            </p:txBody>
          </p:sp>
        </mc:Choice>
        <mc:Fallback xmlns="">
          <p:sp>
            <p:nvSpPr>
              <p:cNvPr id="3" name="Text Placeholder 2">
                <a:extLst>
                  <a:ext uri="{FF2B5EF4-FFF2-40B4-BE49-F238E27FC236}">
                    <a16:creationId xmlns:a16="http://schemas.microsoft.com/office/drawing/2014/main" id="{C6C8B215-90CA-AF72-75E5-5E74DD513DA6}"/>
                  </a:ext>
                </a:extLst>
              </p:cNvPr>
              <p:cNvSpPr>
                <a:spLocks noGrp="1" noRot="1" noChangeAspect="1" noMove="1" noResize="1" noEditPoints="1" noAdjustHandles="1" noChangeArrowheads="1" noChangeShapeType="1" noTextEdit="1"/>
              </p:cNvSpPr>
              <p:nvPr>
                <p:ph type="body" sz="half" idx="2"/>
              </p:nvPr>
            </p:nvSpPr>
            <p:spPr>
              <a:xfrm>
                <a:off x="117987" y="648930"/>
                <a:ext cx="11956025" cy="6091083"/>
              </a:xfrm>
              <a:blipFill>
                <a:blip r:embed="rId2"/>
                <a:stretch>
                  <a:fillRect l="-968" t="-100" b="-1800"/>
                </a:stretch>
              </a:blipFill>
            </p:spPr>
            <p:txBody>
              <a:bodyPr/>
              <a:lstStyle/>
              <a:p>
                <a:r>
                  <a:rPr lang="en-IN">
                    <a:noFill/>
                  </a:rPr>
                  <a:t> </a:t>
                </a:r>
              </a:p>
            </p:txBody>
          </p:sp>
        </mc:Fallback>
      </mc:AlternateContent>
    </p:spTree>
    <p:extLst>
      <p:ext uri="{BB962C8B-B14F-4D97-AF65-F5344CB8AC3E}">
        <p14:creationId xmlns:p14="http://schemas.microsoft.com/office/powerpoint/2010/main" val="1966183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BEEAC-AE4C-35DB-F6D4-E6EAFC875444}"/>
              </a:ext>
            </a:extLst>
          </p:cNvPr>
          <p:cNvSpPr>
            <a:spLocks noGrp="1"/>
          </p:cNvSpPr>
          <p:nvPr>
            <p:ph type="title"/>
          </p:nvPr>
        </p:nvSpPr>
        <p:spPr>
          <a:xfrm>
            <a:off x="0" y="-84348"/>
            <a:ext cx="12555794" cy="861098"/>
          </a:xfrm>
        </p:spPr>
        <p:txBody>
          <a:bodyPr>
            <a:normAutofit/>
          </a:bodyPr>
          <a:lstStyle/>
          <a:p>
            <a:pPr algn="l"/>
            <a:r>
              <a:rPr lang="en-US" sz="4400" b="0" dirty="0">
                <a:solidFill>
                  <a:srgbClr val="FFFF00"/>
                </a:solidFill>
                <a:latin typeface="Algerian" panose="04020705040A02060702" pitchFamily="82" charset="0"/>
              </a:rPr>
              <a:t>4.3] </a:t>
            </a:r>
            <a:r>
              <a:rPr lang="en-US" sz="4400" b="0" u="sng" dirty="0">
                <a:solidFill>
                  <a:srgbClr val="FFFF00"/>
                </a:solidFill>
                <a:latin typeface="Algerian" panose="04020705040A02060702" pitchFamily="82" charset="0"/>
              </a:rPr>
              <a:t>resistance in series combination</a:t>
            </a:r>
            <a:r>
              <a:rPr lang="en-US" sz="4400" b="0" dirty="0">
                <a:solidFill>
                  <a:srgbClr val="FFFF00"/>
                </a:solidFill>
                <a:latin typeface="Algerian" panose="04020705040A02060702" pitchFamily="82" charset="0"/>
              </a:rPr>
              <a:t> : -</a:t>
            </a:r>
            <a:endParaRPr lang="en-IN" sz="4400" b="0" dirty="0">
              <a:solidFill>
                <a:srgbClr val="FFFF00"/>
              </a:solidFill>
              <a:latin typeface="Algerian" panose="04020705040A02060702" pitchFamily="82" charset="0"/>
            </a:endParaRP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4478F9B9-CFAE-4F7A-25E7-76EE8B4B6C56}"/>
                  </a:ext>
                </a:extLst>
              </p:cNvPr>
              <p:cNvSpPr>
                <a:spLocks noGrp="1"/>
              </p:cNvSpPr>
              <p:nvPr>
                <p:ph type="body" sz="half" idx="2"/>
              </p:nvPr>
            </p:nvSpPr>
            <p:spPr>
              <a:xfrm>
                <a:off x="147485" y="776750"/>
                <a:ext cx="12044515" cy="6145935"/>
              </a:xfrm>
            </p:spPr>
            <p:txBody>
              <a:bodyPr>
                <a:normAutofit/>
              </a:bodyPr>
              <a:lstStyle/>
              <a:p>
                <a:pPr marL="285750" indent="-285750" algn="l">
                  <a:buFont typeface="Wingdings" panose="05000000000000000000" pitchFamily="2" charset="2"/>
                  <a:buChar char="v"/>
                </a:pPr>
                <a:r>
                  <a:rPr lang="en-IN" sz="2800" b="1" u="sng" dirty="0">
                    <a:solidFill>
                      <a:srgbClr val="FFFF00"/>
                    </a:solidFill>
                    <a:latin typeface="Century Schoolbook" panose="02040604050505020304" pitchFamily="18" charset="0"/>
                  </a:rPr>
                  <a:t>Definition</a:t>
                </a:r>
                <a:r>
                  <a:rPr lang="en-IN" sz="2800" b="1" dirty="0">
                    <a:solidFill>
                      <a:srgbClr val="FFFF00"/>
                    </a:solidFill>
                    <a:latin typeface="Century Schoolbook" panose="02040604050505020304" pitchFamily="18" charset="0"/>
                  </a:rPr>
                  <a:t> : -</a:t>
                </a:r>
              </a:p>
              <a:p>
                <a:pPr marL="342900" indent="-342900" algn="l">
                  <a:buFont typeface="Wingdings" panose="05000000000000000000" pitchFamily="2" charset="2"/>
                  <a:buChar char="Ø"/>
                </a:pPr>
                <a:r>
                  <a:rPr lang="en-IN" sz="2000" b="1" dirty="0">
                    <a:latin typeface="Century Schoolbook" panose="02040604050505020304" pitchFamily="18" charset="0"/>
                  </a:rPr>
                  <a:t>When two or more resistors are connected end to end, so that the same current flows through each resistor, they are said to be connected in series.</a:t>
                </a:r>
              </a:p>
              <a:p>
                <a:pPr marL="342900" indent="-342900" algn="l">
                  <a:buFont typeface="Wingdings" panose="05000000000000000000" pitchFamily="2" charset="2"/>
                  <a:buChar char="Ø"/>
                </a:pPr>
                <a:r>
                  <a:rPr lang="en-IN" sz="2000" b="1" dirty="0">
                    <a:latin typeface="Century Schoolbook" panose="02040604050505020304" pitchFamily="18" charset="0"/>
                  </a:rPr>
                  <a:t>Equivalent Resistance (Rₛ) : </a:t>
                </a:r>
                <a14:m>
                  <m:oMath xmlns:m="http://schemas.openxmlformats.org/officeDocument/2006/math">
                    <m:sSub>
                      <m:sSubPr>
                        <m:ctrlPr>
                          <a:rPr lang="ar-AE" sz="2800" b="1" i="1" smtClean="0">
                            <a:solidFill>
                              <a:srgbClr val="FFFF00"/>
                            </a:solidFill>
                            <a:latin typeface="Cambria Math" panose="02040503050406030204" pitchFamily="18" charset="0"/>
                          </a:rPr>
                        </m:ctrlPr>
                      </m:sSubPr>
                      <m:e>
                        <m:r>
                          <a:rPr lang="ar-AE" sz="2800" b="1" i="1" smtClean="0">
                            <a:solidFill>
                              <a:srgbClr val="FFFF00"/>
                            </a:solidFill>
                            <a:latin typeface="Cambria Math" panose="02040503050406030204" pitchFamily="18" charset="0"/>
                          </a:rPr>
                          <m:t>𝑹</m:t>
                        </m:r>
                      </m:e>
                      <m:sub>
                        <m:r>
                          <a:rPr lang="ar-AE" sz="2800" b="1" i="1" smtClean="0">
                            <a:solidFill>
                              <a:srgbClr val="FFFF00"/>
                            </a:solidFill>
                            <a:latin typeface="Cambria Math" panose="02040503050406030204" pitchFamily="18" charset="0"/>
                          </a:rPr>
                          <m:t>𝒔</m:t>
                        </m:r>
                      </m:sub>
                    </m:sSub>
                    <m:r>
                      <a:rPr lang="ar-AE" sz="2800" b="1" smtClean="0">
                        <a:solidFill>
                          <a:srgbClr val="FFFF00"/>
                        </a:solidFill>
                        <a:latin typeface="Cambria Math" panose="02040503050406030204" pitchFamily="18" charset="0"/>
                      </a:rPr>
                      <m:t>=</m:t>
                    </m:r>
                    <m:sSub>
                      <m:sSubPr>
                        <m:ctrlPr>
                          <a:rPr lang="ar-AE" sz="2800" b="1" i="1">
                            <a:solidFill>
                              <a:srgbClr val="FFFF00"/>
                            </a:solidFill>
                            <a:latin typeface="Cambria Math" panose="02040503050406030204" pitchFamily="18" charset="0"/>
                          </a:rPr>
                        </m:ctrlPr>
                      </m:sSubPr>
                      <m:e>
                        <m:r>
                          <a:rPr lang="ar-AE" sz="2800" b="1" i="1" smtClean="0">
                            <a:solidFill>
                              <a:srgbClr val="FFFF00"/>
                            </a:solidFill>
                            <a:latin typeface="Cambria Math" panose="02040503050406030204" pitchFamily="18" charset="0"/>
                          </a:rPr>
                          <m:t>𝑹</m:t>
                        </m:r>
                      </m:e>
                      <m:sub>
                        <m:r>
                          <a:rPr lang="ar-AE" sz="2800" b="1" i="1" smtClean="0">
                            <a:solidFill>
                              <a:srgbClr val="FFFF00"/>
                            </a:solidFill>
                            <a:latin typeface="Cambria Math" panose="02040503050406030204" pitchFamily="18" charset="0"/>
                          </a:rPr>
                          <m:t>𝟏</m:t>
                        </m:r>
                      </m:sub>
                    </m:sSub>
                    <m:r>
                      <a:rPr lang="ar-AE" sz="2800" b="1" smtClean="0">
                        <a:solidFill>
                          <a:srgbClr val="FFFF00"/>
                        </a:solidFill>
                        <a:latin typeface="Cambria Math" panose="02040503050406030204" pitchFamily="18" charset="0"/>
                      </a:rPr>
                      <m:t>+</m:t>
                    </m:r>
                    <m:sSub>
                      <m:sSubPr>
                        <m:ctrlPr>
                          <a:rPr lang="ar-AE" sz="2800" b="1" i="1">
                            <a:solidFill>
                              <a:srgbClr val="FFFF00"/>
                            </a:solidFill>
                            <a:latin typeface="Cambria Math" panose="02040503050406030204" pitchFamily="18" charset="0"/>
                          </a:rPr>
                        </m:ctrlPr>
                      </m:sSubPr>
                      <m:e>
                        <m:r>
                          <a:rPr lang="ar-AE" sz="2800" b="1" i="1" smtClean="0">
                            <a:solidFill>
                              <a:srgbClr val="FFFF00"/>
                            </a:solidFill>
                            <a:latin typeface="Cambria Math" panose="02040503050406030204" pitchFamily="18" charset="0"/>
                          </a:rPr>
                          <m:t>𝑹</m:t>
                        </m:r>
                      </m:e>
                      <m:sub>
                        <m:r>
                          <a:rPr lang="ar-AE" sz="2800" b="1" i="1" smtClean="0">
                            <a:solidFill>
                              <a:srgbClr val="FFFF00"/>
                            </a:solidFill>
                            <a:latin typeface="Cambria Math" panose="02040503050406030204" pitchFamily="18" charset="0"/>
                          </a:rPr>
                          <m:t>𝟐</m:t>
                        </m:r>
                      </m:sub>
                    </m:sSub>
                    <m:r>
                      <a:rPr lang="ar-AE" sz="2800" b="1" smtClean="0">
                        <a:solidFill>
                          <a:srgbClr val="FFFF00"/>
                        </a:solidFill>
                        <a:latin typeface="Cambria Math" panose="02040503050406030204" pitchFamily="18" charset="0"/>
                      </a:rPr>
                      <m:t>+</m:t>
                    </m:r>
                    <m:sSub>
                      <m:sSubPr>
                        <m:ctrlPr>
                          <a:rPr lang="ar-AE" sz="2800" b="1" i="1">
                            <a:solidFill>
                              <a:srgbClr val="FFFF00"/>
                            </a:solidFill>
                            <a:latin typeface="Cambria Math" panose="02040503050406030204" pitchFamily="18" charset="0"/>
                          </a:rPr>
                        </m:ctrlPr>
                      </m:sSubPr>
                      <m:e>
                        <m:r>
                          <a:rPr lang="ar-AE" sz="2800" b="1" i="1" smtClean="0">
                            <a:solidFill>
                              <a:srgbClr val="FFFF00"/>
                            </a:solidFill>
                            <a:latin typeface="Cambria Math" panose="02040503050406030204" pitchFamily="18" charset="0"/>
                          </a:rPr>
                          <m:t>𝑹</m:t>
                        </m:r>
                      </m:e>
                      <m:sub>
                        <m:r>
                          <a:rPr lang="ar-AE" sz="2800" b="1" i="1" smtClean="0">
                            <a:solidFill>
                              <a:srgbClr val="FFFF00"/>
                            </a:solidFill>
                            <a:latin typeface="Cambria Math" panose="02040503050406030204" pitchFamily="18" charset="0"/>
                          </a:rPr>
                          <m:t>𝟑</m:t>
                        </m:r>
                      </m:sub>
                    </m:sSub>
                    <m:r>
                      <a:rPr lang="ar-AE" sz="2800" b="1" smtClean="0">
                        <a:solidFill>
                          <a:srgbClr val="FFFF00"/>
                        </a:solidFill>
                        <a:latin typeface="Cambria Math" panose="02040503050406030204" pitchFamily="18" charset="0"/>
                      </a:rPr>
                      <m:t>+…</m:t>
                    </m:r>
                  </m:oMath>
                </a14:m>
                <a:endParaRPr lang="ar-AE" sz="2800" b="1" dirty="0">
                  <a:solidFill>
                    <a:srgbClr val="FFFF00"/>
                  </a:solidFill>
                  <a:latin typeface="Century Schoolbook" panose="02040604050505020304" pitchFamily="18" charset="0"/>
                </a:endParaRPr>
              </a:p>
              <a:p>
                <a:pPr marL="342900" indent="-342900" algn="l">
                  <a:buFont typeface="Wingdings" panose="05000000000000000000" pitchFamily="2" charset="2"/>
                  <a:buChar char="v"/>
                </a:pPr>
                <a:r>
                  <a:rPr lang="en-IN" sz="3600" b="1" u="sng" dirty="0">
                    <a:solidFill>
                      <a:srgbClr val="FFFF00"/>
                    </a:solidFill>
                    <a:latin typeface="Century Schoolbook" panose="02040604050505020304" pitchFamily="18" charset="0"/>
                  </a:rPr>
                  <a:t>Explanation</a:t>
                </a:r>
                <a:r>
                  <a:rPr lang="en-IN" sz="3600" b="1" dirty="0">
                    <a:solidFill>
                      <a:srgbClr val="FFFF00"/>
                    </a:solidFill>
                    <a:latin typeface="Century Schoolbook" panose="02040604050505020304" pitchFamily="18" charset="0"/>
                  </a:rPr>
                  <a:t> : -</a:t>
                </a:r>
              </a:p>
              <a:p>
                <a:pPr algn="l"/>
                <a:r>
                  <a:rPr lang="en-IN" sz="2000" b="1" dirty="0">
                    <a:latin typeface="Century Schoolbook" panose="02040604050505020304" pitchFamily="18" charset="0"/>
                  </a:rPr>
                  <a:t>Current (I) remains the same through all resistors.</a:t>
                </a:r>
              </a:p>
              <a:p>
                <a:pPr algn="l"/>
                <a:r>
                  <a:rPr lang="en-IN" sz="2000" b="1" dirty="0">
                    <a:latin typeface="Century Schoolbook" panose="02040604050505020304" pitchFamily="18" charset="0"/>
                  </a:rPr>
                  <a:t>Total potential difference (V) is the sum of potential drops across each resistor.</a:t>
                </a:r>
              </a:p>
              <a:p>
                <a:pPr algn="l"/>
                <a14:m>
                  <m:oMathPara xmlns:m="http://schemas.openxmlformats.org/officeDocument/2006/math">
                    <m:oMathParaPr>
                      <m:jc m:val="centerGroup"/>
                    </m:oMathParaPr>
                    <m:oMath xmlns:m="http://schemas.openxmlformats.org/officeDocument/2006/math">
                      <m:r>
                        <a:rPr lang="en-IN" sz="3200" b="1" i="1" smtClean="0">
                          <a:solidFill>
                            <a:srgbClr val="FFFF00"/>
                          </a:solidFill>
                          <a:latin typeface="Cambria Math" panose="02040503050406030204" pitchFamily="18" charset="0"/>
                        </a:rPr>
                        <m:t>𝑽</m:t>
                      </m:r>
                      <m:r>
                        <a:rPr lang="en-IN" sz="3200" b="1" smtClean="0">
                          <a:solidFill>
                            <a:srgbClr val="FFFF00"/>
                          </a:solidFill>
                          <a:latin typeface="Cambria Math" panose="02040503050406030204" pitchFamily="18" charset="0"/>
                        </a:rPr>
                        <m:t>=</m:t>
                      </m:r>
                      <m:sSub>
                        <m:sSubPr>
                          <m:ctrlPr>
                            <a:rPr lang="ar-AE" sz="3200" b="1" i="1">
                              <a:solidFill>
                                <a:srgbClr val="FFFF00"/>
                              </a:solidFill>
                              <a:latin typeface="Cambria Math" panose="02040503050406030204" pitchFamily="18" charset="0"/>
                            </a:rPr>
                          </m:ctrlPr>
                        </m:sSubPr>
                        <m:e>
                          <m:r>
                            <a:rPr lang="ar-AE" sz="3200" b="1" i="1" smtClean="0">
                              <a:solidFill>
                                <a:srgbClr val="FFFF00"/>
                              </a:solidFill>
                              <a:latin typeface="Cambria Math" panose="02040503050406030204" pitchFamily="18" charset="0"/>
                            </a:rPr>
                            <m:t>𝑽</m:t>
                          </m:r>
                        </m:e>
                        <m:sub>
                          <m:r>
                            <a:rPr lang="ar-AE" sz="3200" b="1" i="1" smtClean="0">
                              <a:solidFill>
                                <a:srgbClr val="FFFF00"/>
                              </a:solidFill>
                              <a:latin typeface="Cambria Math" panose="02040503050406030204" pitchFamily="18" charset="0"/>
                            </a:rPr>
                            <m:t>𝟏</m:t>
                          </m:r>
                        </m:sub>
                      </m:sSub>
                      <m:r>
                        <a:rPr lang="ar-AE" sz="3200" b="1" smtClean="0">
                          <a:solidFill>
                            <a:srgbClr val="FFFF00"/>
                          </a:solidFill>
                          <a:latin typeface="Cambria Math" panose="02040503050406030204" pitchFamily="18" charset="0"/>
                        </a:rPr>
                        <m:t>+</m:t>
                      </m:r>
                      <m:sSub>
                        <m:sSubPr>
                          <m:ctrlPr>
                            <a:rPr lang="ar-AE" sz="3200" b="1" i="1">
                              <a:solidFill>
                                <a:srgbClr val="FFFF00"/>
                              </a:solidFill>
                              <a:latin typeface="Cambria Math" panose="02040503050406030204" pitchFamily="18" charset="0"/>
                            </a:rPr>
                          </m:ctrlPr>
                        </m:sSubPr>
                        <m:e>
                          <m:r>
                            <a:rPr lang="ar-AE" sz="3200" b="1" i="1" smtClean="0">
                              <a:solidFill>
                                <a:srgbClr val="FFFF00"/>
                              </a:solidFill>
                              <a:latin typeface="Cambria Math" panose="02040503050406030204" pitchFamily="18" charset="0"/>
                            </a:rPr>
                            <m:t>𝑽</m:t>
                          </m:r>
                        </m:e>
                        <m:sub>
                          <m:r>
                            <a:rPr lang="ar-AE" sz="3200" b="1" i="1" smtClean="0">
                              <a:solidFill>
                                <a:srgbClr val="FFFF00"/>
                              </a:solidFill>
                              <a:latin typeface="Cambria Math" panose="02040503050406030204" pitchFamily="18" charset="0"/>
                            </a:rPr>
                            <m:t>𝟐</m:t>
                          </m:r>
                        </m:sub>
                      </m:sSub>
                      <m:r>
                        <a:rPr lang="ar-AE" sz="3200" b="1" smtClean="0">
                          <a:solidFill>
                            <a:srgbClr val="FFFF00"/>
                          </a:solidFill>
                          <a:latin typeface="Cambria Math" panose="02040503050406030204" pitchFamily="18" charset="0"/>
                        </a:rPr>
                        <m:t>+</m:t>
                      </m:r>
                      <m:sSub>
                        <m:sSubPr>
                          <m:ctrlPr>
                            <a:rPr lang="ar-AE" sz="3200" b="1" i="1">
                              <a:solidFill>
                                <a:srgbClr val="FFFF00"/>
                              </a:solidFill>
                              <a:latin typeface="Cambria Math" panose="02040503050406030204" pitchFamily="18" charset="0"/>
                            </a:rPr>
                          </m:ctrlPr>
                        </m:sSubPr>
                        <m:e>
                          <m:r>
                            <a:rPr lang="ar-AE" sz="3200" b="1" i="1" smtClean="0">
                              <a:solidFill>
                                <a:srgbClr val="FFFF00"/>
                              </a:solidFill>
                              <a:latin typeface="Cambria Math" panose="02040503050406030204" pitchFamily="18" charset="0"/>
                            </a:rPr>
                            <m:t>𝑽</m:t>
                          </m:r>
                        </m:e>
                        <m:sub>
                          <m:r>
                            <a:rPr lang="ar-AE" sz="3200" b="1" i="1" smtClean="0">
                              <a:solidFill>
                                <a:srgbClr val="FFFF00"/>
                              </a:solidFill>
                              <a:latin typeface="Cambria Math" panose="02040503050406030204" pitchFamily="18" charset="0"/>
                            </a:rPr>
                            <m:t>𝟑</m:t>
                          </m:r>
                        </m:sub>
                      </m:sSub>
                    </m:oMath>
                  </m:oMathPara>
                </a14:m>
                <a:endParaRPr lang="ar-AE" sz="3200" b="1" dirty="0">
                  <a:solidFill>
                    <a:srgbClr val="FFFF00"/>
                  </a:solidFill>
                  <a:latin typeface="Century Schoolbook" panose="02040604050505020304" pitchFamily="18" charset="0"/>
                </a:endParaRPr>
              </a:p>
              <a:p>
                <a:pPr marL="285750" indent="-285750" algn="l">
                  <a:buFont typeface="Wingdings" panose="05000000000000000000" pitchFamily="2" charset="2"/>
                  <a:buChar char="v"/>
                </a:pPr>
                <a:r>
                  <a:rPr lang="en-IN" sz="2800" b="1" u="sng" dirty="0">
                    <a:solidFill>
                      <a:srgbClr val="FFFF00"/>
                    </a:solidFill>
                    <a:latin typeface="Century Schoolbook" panose="02040604050505020304" pitchFamily="18" charset="0"/>
                  </a:rPr>
                  <a:t>Example</a:t>
                </a:r>
                <a:r>
                  <a:rPr lang="en-IN" sz="2800" b="1" dirty="0">
                    <a:solidFill>
                      <a:srgbClr val="FFFF00"/>
                    </a:solidFill>
                    <a:latin typeface="Century Schoolbook" panose="02040604050505020304" pitchFamily="18" charset="0"/>
                  </a:rPr>
                  <a:t> : -</a:t>
                </a:r>
              </a:p>
              <a:p>
                <a:pPr marL="342900" indent="-342900" algn="l">
                  <a:buFont typeface="Arial" panose="020B0604020202020204" pitchFamily="34" charset="0"/>
                  <a:buChar char="•"/>
                </a:pPr>
                <a:r>
                  <a:rPr lang="en-IN" sz="2000" b="1" dirty="0">
                    <a:latin typeface="Century Schoolbook" panose="02040604050505020304" pitchFamily="18" charset="0"/>
                  </a:rPr>
                  <a:t>If three resistors of 2 </a:t>
                </a:r>
                <a:r>
                  <a:rPr lang="el-GR" sz="2000" b="1" dirty="0">
                    <a:latin typeface="Century Schoolbook" panose="02040604050505020304" pitchFamily="18" charset="0"/>
                  </a:rPr>
                  <a:t>Ω, 3 Ω, </a:t>
                </a:r>
                <a:r>
                  <a:rPr lang="en-IN" sz="2000" b="1" dirty="0">
                    <a:latin typeface="Century Schoolbook" panose="02040604050505020304" pitchFamily="18" charset="0"/>
                  </a:rPr>
                  <a:t>and 5 </a:t>
                </a:r>
                <a:r>
                  <a:rPr lang="el-GR" sz="2000" b="1" dirty="0">
                    <a:latin typeface="Century Schoolbook" panose="02040604050505020304" pitchFamily="18" charset="0"/>
                  </a:rPr>
                  <a:t>Ω </a:t>
                </a:r>
                <a:r>
                  <a:rPr lang="en-IN" sz="2000" b="1" dirty="0">
                    <a:latin typeface="Century Schoolbook" panose="02040604050505020304" pitchFamily="18" charset="0"/>
                  </a:rPr>
                  <a:t>are connected in series:</a:t>
                </a:r>
                <a:endParaRPr lang="en-IN" b="1" dirty="0">
                  <a:latin typeface="Century Schoolbook" panose="02040604050505020304" pitchFamily="18" charset="0"/>
                </a:endParaRPr>
              </a:p>
              <a:p>
                <a:pPr algn="l"/>
                <a14:m>
                  <m:oMathPara xmlns:m="http://schemas.openxmlformats.org/officeDocument/2006/math">
                    <m:oMathParaPr>
                      <m:jc m:val="centerGroup"/>
                    </m:oMathParaPr>
                    <m:oMath xmlns:m="http://schemas.openxmlformats.org/officeDocument/2006/math">
                      <m:sSub>
                        <m:sSubPr>
                          <m:ctrlPr>
                            <a:rPr lang="ar-AE" sz="2800" b="1" i="1" smtClean="0">
                              <a:solidFill>
                                <a:srgbClr val="FFFF00"/>
                              </a:solidFill>
                              <a:latin typeface="Cambria Math" panose="02040503050406030204" pitchFamily="18" charset="0"/>
                            </a:rPr>
                          </m:ctrlPr>
                        </m:sSubPr>
                        <m:e>
                          <m:r>
                            <a:rPr lang="ar-AE" sz="2800" b="1" i="1" smtClean="0">
                              <a:solidFill>
                                <a:srgbClr val="FFFF00"/>
                              </a:solidFill>
                              <a:latin typeface="Cambria Math" panose="02040503050406030204" pitchFamily="18" charset="0"/>
                            </a:rPr>
                            <m:t>𝑹</m:t>
                          </m:r>
                        </m:e>
                        <m:sub>
                          <m:r>
                            <a:rPr lang="ar-AE" sz="2800" b="1" i="1" smtClean="0">
                              <a:solidFill>
                                <a:srgbClr val="FFFF00"/>
                              </a:solidFill>
                              <a:latin typeface="Cambria Math" panose="02040503050406030204" pitchFamily="18" charset="0"/>
                            </a:rPr>
                            <m:t>𝒔</m:t>
                          </m:r>
                        </m:sub>
                      </m:sSub>
                      <m:r>
                        <a:rPr lang="ar-AE" sz="2800" b="1" smtClean="0">
                          <a:solidFill>
                            <a:srgbClr val="FFFF00"/>
                          </a:solidFill>
                          <a:latin typeface="Cambria Math" panose="02040503050406030204" pitchFamily="18" charset="0"/>
                        </a:rPr>
                        <m:t>=</m:t>
                      </m:r>
                      <m:r>
                        <a:rPr lang="ar-AE" sz="2800" b="1" i="1">
                          <a:solidFill>
                            <a:srgbClr val="FFFF00"/>
                          </a:solidFill>
                          <a:latin typeface="Cambria Math" panose="02040503050406030204" pitchFamily="18" charset="0"/>
                        </a:rPr>
                        <m:t>𝟐</m:t>
                      </m:r>
                      <m:r>
                        <a:rPr lang="ar-AE" sz="2800" b="1">
                          <a:solidFill>
                            <a:srgbClr val="FFFF00"/>
                          </a:solidFill>
                          <a:latin typeface="Cambria Math" panose="02040503050406030204" pitchFamily="18" charset="0"/>
                        </a:rPr>
                        <m:t>+</m:t>
                      </m:r>
                      <m:r>
                        <a:rPr lang="ar-AE" sz="2800" b="1" i="1">
                          <a:solidFill>
                            <a:srgbClr val="FFFF00"/>
                          </a:solidFill>
                          <a:latin typeface="Cambria Math" panose="02040503050406030204" pitchFamily="18" charset="0"/>
                        </a:rPr>
                        <m:t>𝟑</m:t>
                      </m:r>
                      <m:r>
                        <a:rPr lang="ar-AE" sz="2800" b="1">
                          <a:solidFill>
                            <a:srgbClr val="FFFF00"/>
                          </a:solidFill>
                          <a:latin typeface="Cambria Math" panose="02040503050406030204" pitchFamily="18" charset="0"/>
                        </a:rPr>
                        <m:t>+</m:t>
                      </m:r>
                      <m:r>
                        <a:rPr lang="ar-AE" sz="2800" b="1" i="1">
                          <a:solidFill>
                            <a:srgbClr val="FFFF00"/>
                          </a:solidFill>
                          <a:latin typeface="Cambria Math" panose="02040503050406030204" pitchFamily="18" charset="0"/>
                        </a:rPr>
                        <m:t>𝟓</m:t>
                      </m:r>
                      <m:r>
                        <a:rPr lang="ar-AE" sz="2800" b="1">
                          <a:solidFill>
                            <a:srgbClr val="FFFF00"/>
                          </a:solidFill>
                          <a:latin typeface="Cambria Math" panose="02040503050406030204" pitchFamily="18" charset="0"/>
                        </a:rPr>
                        <m:t>=</m:t>
                      </m:r>
                      <m:r>
                        <a:rPr lang="ar-AE" sz="2800" b="1" i="1">
                          <a:solidFill>
                            <a:srgbClr val="FFFF00"/>
                          </a:solidFill>
                          <a:latin typeface="Cambria Math" panose="02040503050406030204" pitchFamily="18" charset="0"/>
                        </a:rPr>
                        <m:t>𝟏𝟎</m:t>
                      </m:r>
                      <m:r>
                        <m:rPr>
                          <m:nor/>
                        </m:rPr>
                        <a:rPr lang="ar-AE" sz="2800" b="1" i="1">
                          <a:solidFill>
                            <a:srgbClr val="FFFF00"/>
                          </a:solidFill>
                          <a:latin typeface="Century Schoolbook" panose="02040604050505020304" pitchFamily="18" charset="0"/>
                        </a:rPr>
                        <m:t> </m:t>
                      </m:r>
                      <m:r>
                        <a:rPr lang="el-GR" sz="2800" b="1" i="1" smtClean="0">
                          <a:solidFill>
                            <a:srgbClr val="FFFF00"/>
                          </a:solidFill>
                          <a:latin typeface="Cambria Math" panose="02040503050406030204" pitchFamily="18" charset="0"/>
                        </a:rPr>
                        <m:t>𝛀</m:t>
                      </m:r>
                    </m:oMath>
                  </m:oMathPara>
                </a14:m>
                <a:endParaRPr lang="el-GR" sz="2800" b="1" dirty="0">
                  <a:solidFill>
                    <a:srgbClr val="FFFF00"/>
                  </a:solidFill>
                  <a:latin typeface="Century Schoolbook" panose="02040604050505020304" pitchFamily="18" charset="0"/>
                </a:endParaRPr>
              </a:p>
              <a:p>
                <a:pPr algn="l"/>
                <a:endParaRPr lang="en-IN" dirty="0">
                  <a:latin typeface="Century Schoolbook" panose="02040604050505020304" pitchFamily="18" charset="0"/>
                </a:endParaRPr>
              </a:p>
            </p:txBody>
          </p:sp>
        </mc:Choice>
        <mc:Fallback xmlns="">
          <p:sp>
            <p:nvSpPr>
              <p:cNvPr id="3" name="Text Placeholder 2">
                <a:extLst>
                  <a:ext uri="{FF2B5EF4-FFF2-40B4-BE49-F238E27FC236}">
                    <a16:creationId xmlns:a16="http://schemas.microsoft.com/office/drawing/2014/main" id="{4478F9B9-CFAE-4F7A-25E7-76EE8B4B6C56}"/>
                  </a:ext>
                </a:extLst>
              </p:cNvPr>
              <p:cNvSpPr>
                <a:spLocks noGrp="1" noRot="1" noChangeAspect="1" noMove="1" noResize="1" noEditPoints="1" noAdjustHandles="1" noChangeArrowheads="1" noChangeShapeType="1" noTextEdit="1"/>
              </p:cNvSpPr>
              <p:nvPr>
                <p:ph type="body" sz="half" idx="2"/>
              </p:nvPr>
            </p:nvSpPr>
            <p:spPr>
              <a:xfrm>
                <a:off x="147485" y="776750"/>
                <a:ext cx="12044515" cy="6145935"/>
              </a:xfrm>
              <a:blipFill>
                <a:blip r:embed="rId2"/>
                <a:stretch>
                  <a:fillRect l="-1468" t="-3469"/>
                </a:stretch>
              </a:blipFill>
            </p:spPr>
            <p:txBody>
              <a:bodyPr/>
              <a:lstStyle/>
              <a:p>
                <a:r>
                  <a:rPr lang="en-IN">
                    <a:noFill/>
                  </a:rPr>
                  <a:t> </a:t>
                </a:r>
              </a:p>
            </p:txBody>
          </p:sp>
        </mc:Fallback>
      </mc:AlternateContent>
    </p:spTree>
    <p:extLst>
      <p:ext uri="{BB962C8B-B14F-4D97-AF65-F5344CB8AC3E}">
        <p14:creationId xmlns:p14="http://schemas.microsoft.com/office/powerpoint/2010/main" val="33909325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6A6D8-8A2C-2916-3257-0939B97AD00C}"/>
              </a:ext>
            </a:extLst>
          </p:cNvPr>
          <p:cNvSpPr>
            <a:spLocks noGrp="1"/>
          </p:cNvSpPr>
          <p:nvPr>
            <p:ph type="title"/>
          </p:nvPr>
        </p:nvSpPr>
        <p:spPr>
          <a:xfrm>
            <a:off x="0" y="0"/>
            <a:ext cx="12123174" cy="792272"/>
          </a:xfrm>
        </p:spPr>
        <p:txBody>
          <a:bodyPr>
            <a:normAutofit fontScale="90000"/>
          </a:bodyPr>
          <a:lstStyle/>
          <a:p>
            <a:pPr marL="457200" indent="-457200" algn="l">
              <a:buFont typeface="Wingdings" panose="05000000000000000000" pitchFamily="2" charset="2"/>
              <a:buChar char="v"/>
            </a:pPr>
            <a:r>
              <a:rPr lang="en-US" sz="4800" b="0" u="sng" dirty="0">
                <a:solidFill>
                  <a:srgbClr val="FFFF00"/>
                </a:solidFill>
                <a:latin typeface="Algerian" panose="04020705040A02060702" pitchFamily="82" charset="0"/>
              </a:rPr>
              <a:t>Resistance in parallel combination</a:t>
            </a:r>
            <a:r>
              <a:rPr lang="en-US" sz="4800" b="0" dirty="0">
                <a:solidFill>
                  <a:srgbClr val="FFFF00"/>
                </a:solidFill>
                <a:latin typeface="Algerian" panose="04020705040A02060702" pitchFamily="82" charset="0"/>
              </a:rPr>
              <a:t> : -</a:t>
            </a:r>
            <a:endParaRPr lang="en-IN" sz="4800" b="0" dirty="0">
              <a:solidFill>
                <a:srgbClr val="FFFF00"/>
              </a:solidFill>
              <a:latin typeface="Algerian" panose="04020705040A02060702" pitchFamily="82" charset="0"/>
            </a:endParaRP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28A5E2E7-4949-D363-9676-37102A6D4814}"/>
                  </a:ext>
                </a:extLst>
              </p:cNvPr>
              <p:cNvSpPr>
                <a:spLocks noGrp="1"/>
              </p:cNvSpPr>
              <p:nvPr>
                <p:ph type="body" sz="half" idx="2"/>
              </p:nvPr>
            </p:nvSpPr>
            <p:spPr>
              <a:xfrm>
                <a:off x="162232" y="713615"/>
                <a:ext cx="11867535" cy="6061586"/>
              </a:xfrm>
            </p:spPr>
            <p:txBody>
              <a:bodyPr>
                <a:normAutofit fontScale="92500" lnSpcReduction="20000"/>
              </a:bodyPr>
              <a:lstStyle/>
              <a:p>
                <a:pPr marL="285750" indent="-285750" algn="l">
                  <a:buFont typeface="Wingdings" panose="05000000000000000000" pitchFamily="2" charset="2"/>
                  <a:buChar char="v"/>
                </a:pPr>
                <a:r>
                  <a:rPr lang="en-IN" sz="2400" b="1" u="sng" dirty="0">
                    <a:solidFill>
                      <a:srgbClr val="FFFF00"/>
                    </a:solidFill>
                    <a:latin typeface="Century Schoolbook" panose="02040604050505020304" pitchFamily="18" charset="0"/>
                  </a:rPr>
                  <a:t>Definition</a:t>
                </a:r>
                <a:r>
                  <a:rPr lang="en-IN" sz="2400" b="1" dirty="0">
                    <a:solidFill>
                      <a:srgbClr val="FFFF00"/>
                    </a:solidFill>
                    <a:latin typeface="Century Schoolbook" panose="02040604050505020304" pitchFamily="18" charset="0"/>
                  </a:rPr>
                  <a:t> : -</a:t>
                </a:r>
              </a:p>
              <a:p>
                <a:pPr marL="285750" indent="-285750" algn="l">
                  <a:buFont typeface="Arial" panose="020B0604020202020204" pitchFamily="34" charset="0"/>
                  <a:buChar char="•"/>
                </a:pPr>
                <a:r>
                  <a:rPr lang="en-IN" sz="2000" b="1" dirty="0">
                    <a:latin typeface="Century Schoolbook" panose="02040604050505020304" pitchFamily="18" charset="0"/>
                  </a:rPr>
                  <a:t>When resistors are connected side by side, such that the same voltage is applied across each resistor but the current divides among them, they are said to be connected in parallel.</a:t>
                </a:r>
              </a:p>
              <a:p>
                <a:pPr algn="l"/>
                <a:r>
                  <a:rPr lang="en-IN" sz="2000" b="1" u="sng" dirty="0">
                    <a:solidFill>
                      <a:srgbClr val="FFFF00"/>
                    </a:solidFill>
                    <a:latin typeface="Century Schoolbook" panose="02040604050505020304" pitchFamily="18" charset="0"/>
                  </a:rPr>
                  <a:t>Equivalent Resistance (Rₚ)</a:t>
                </a:r>
                <a:r>
                  <a:rPr lang="en-IN" sz="2000" b="1" dirty="0">
                    <a:solidFill>
                      <a:srgbClr val="FFFF00"/>
                    </a:solidFill>
                    <a:latin typeface="Century Schoolbook" panose="02040604050505020304" pitchFamily="18" charset="0"/>
                  </a:rPr>
                  <a:t> : </a:t>
                </a:r>
                <a14:m>
                  <m:oMath xmlns:m="http://schemas.openxmlformats.org/officeDocument/2006/math">
                    <m:f>
                      <m:fPr>
                        <m:ctrlPr>
                          <a:rPr lang="ar-AE" sz="2000" b="1" i="1">
                            <a:solidFill>
                              <a:srgbClr val="FFFF00"/>
                            </a:solidFill>
                            <a:latin typeface="Cambria Math" panose="02040503050406030204" pitchFamily="18" charset="0"/>
                          </a:rPr>
                        </m:ctrlPr>
                      </m:fPr>
                      <m:num>
                        <m:r>
                          <a:rPr lang="ar-AE" sz="2000" b="1" i="1" smtClean="0">
                            <a:solidFill>
                              <a:srgbClr val="FFFF00"/>
                            </a:solidFill>
                            <a:latin typeface="Cambria Math" panose="02040503050406030204" pitchFamily="18" charset="0"/>
                          </a:rPr>
                          <m:t>𝟏</m:t>
                        </m:r>
                      </m:num>
                      <m:den>
                        <m:sSub>
                          <m:sSubPr>
                            <m:ctrlPr>
                              <a:rPr lang="ar-AE" sz="2000" b="1" i="1">
                                <a:solidFill>
                                  <a:srgbClr val="FFFF00"/>
                                </a:solidFill>
                                <a:latin typeface="Cambria Math" panose="02040503050406030204" pitchFamily="18" charset="0"/>
                              </a:rPr>
                            </m:ctrlPr>
                          </m:sSubPr>
                          <m:e>
                            <m:r>
                              <a:rPr lang="ar-AE" sz="2000" b="1" i="1" smtClean="0">
                                <a:solidFill>
                                  <a:srgbClr val="FFFF00"/>
                                </a:solidFill>
                                <a:latin typeface="Cambria Math" panose="02040503050406030204" pitchFamily="18" charset="0"/>
                              </a:rPr>
                              <m:t>𝑹</m:t>
                            </m:r>
                          </m:e>
                          <m:sub>
                            <m:r>
                              <a:rPr lang="ar-AE" sz="2000" b="1" i="1" smtClean="0">
                                <a:solidFill>
                                  <a:srgbClr val="FFFF00"/>
                                </a:solidFill>
                                <a:latin typeface="Cambria Math" panose="02040503050406030204" pitchFamily="18" charset="0"/>
                              </a:rPr>
                              <m:t>𝒑</m:t>
                            </m:r>
                          </m:sub>
                        </m:sSub>
                      </m:den>
                    </m:f>
                    <m:r>
                      <a:rPr lang="ar-AE" sz="2000" b="1" smtClean="0">
                        <a:solidFill>
                          <a:srgbClr val="FFFF00"/>
                        </a:solidFill>
                        <a:latin typeface="Cambria Math" panose="02040503050406030204" pitchFamily="18" charset="0"/>
                      </a:rPr>
                      <m:t>=</m:t>
                    </m:r>
                    <m:f>
                      <m:fPr>
                        <m:ctrlPr>
                          <a:rPr lang="ar-AE" sz="2000" b="1" i="1">
                            <a:solidFill>
                              <a:srgbClr val="FFFF00"/>
                            </a:solidFill>
                            <a:latin typeface="Cambria Math" panose="02040503050406030204" pitchFamily="18" charset="0"/>
                          </a:rPr>
                        </m:ctrlPr>
                      </m:fPr>
                      <m:num>
                        <m:r>
                          <a:rPr lang="ar-AE" sz="2000" b="1" i="1" smtClean="0">
                            <a:solidFill>
                              <a:srgbClr val="FFFF00"/>
                            </a:solidFill>
                            <a:latin typeface="Cambria Math" panose="02040503050406030204" pitchFamily="18" charset="0"/>
                          </a:rPr>
                          <m:t>𝟏</m:t>
                        </m:r>
                      </m:num>
                      <m:den>
                        <m:sSub>
                          <m:sSubPr>
                            <m:ctrlPr>
                              <a:rPr lang="ar-AE" sz="2000" b="1" i="1">
                                <a:solidFill>
                                  <a:srgbClr val="FFFF00"/>
                                </a:solidFill>
                                <a:latin typeface="Cambria Math" panose="02040503050406030204" pitchFamily="18" charset="0"/>
                              </a:rPr>
                            </m:ctrlPr>
                          </m:sSubPr>
                          <m:e>
                            <m:r>
                              <a:rPr lang="ar-AE" sz="2000" b="1" i="1" smtClean="0">
                                <a:solidFill>
                                  <a:srgbClr val="FFFF00"/>
                                </a:solidFill>
                                <a:latin typeface="Cambria Math" panose="02040503050406030204" pitchFamily="18" charset="0"/>
                              </a:rPr>
                              <m:t>𝑹</m:t>
                            </m:r>
                          </m:e>
                          <m:sub>
                            <m:r>
                              <a:rPr lang="ar-AE" sz="2000" b="1" i="1" smtClean="0">
                                <a:solidFill>
                                  <a:srgbClr val="FFFF00"/>
                                </a:solidFill>
                                <a:latin typeface="Cambria Math" panose="02040503050406030204" pitchFamily="18" charset="0"/>
                              </a:rPr>
                              <m:t>𝟏</m:t>
                            </m:r>
                          </m:sub>
                        </m:sSub>
                      </m:den>
                    </m:f>
                    <m:r>
                      <a:rPr lang="ar-AE" sz="2000" b="1" smtClean="0">
                        <a:solidFill>
                          <a:srgbClr val="FFFF00"/>
                        </a:solidFill>
                        <a:latin typeface="Cambria Math" panose="02040503050406030204" pitchFamily="18" charset="0"/>
                      </a:rPr>
                      <m:t>+</m:t>
                    </m:r>
                    <m:f>
                      <m:fPr>
                        <m:ctrlPr>
                          <a:rPr lang="ar-AE" sz="2000" b="1" i="1">
                            <a:solidFill>
                              <a:srgbClr val="FFFF00"/>
                            </a:solidFill>
                            <a:latin typeface="Cambria Math" panose="02040503050406030204" pitchFamily="18" charset="0"/>
                          </a:rPr>
                        </m:ctrlPr>
                      </m:fPr>
                      <m:num>
                        <m:r>
                          <a:rPr lang="ar-AE" sz="2000" b="1" i="1" smtClean="0">
                            <a:solidFill>
                              <a:srgbClr val="FFFF00"/>
                            </a:solidFill>
                            <a:latin typeface="Cambria Math" panose="02040503050406030204" pitchFamily="18" charset="0"/>
                          </a:rPr>
                          <m:t>𝟏</m:t>
                        </m:r>
                      </m:num>
                      <m:den>
                        <m:sSub>
                          <m:sSubPr>
                            <m:ctrlPr>
                              <a:rPr lang="ar-AE" sz="2000" b="1" i="1">
                                <a:solidFill>
                                  <a:srgbClr val="FFFF00"/>
                                </a:solidFill>
                                <a:latin typeface="Cambria Math" panose="02040503050406030204" pitchFamily="18" charset="0"/>
                              </a:rPr>
                            </m:ctrlPr>
                          </m:sSubPr>
                          <m:e>
                            <m:r>
                              <a:rPr lang="ar-AE" sz="2000" b="1" i="1" smtClean="0">
                                <a:solidFill>
                                  <a:srgbClr val="FFFF00"/>
                                </a:solidFill>
                                <a:latin typeface="Cambria Math" panose="02040503050406030204" pitchFamily="18" charset="0"/>
                              </a:rPr>
                              <m:t>𝑹</m:t>
                            </m:r>
                          </m:e>
                          <m:sub>
                            <m:r>
                              <a:rPr lang="ar-AE" sz="2000" b="1" i="1" smtClean="0">
                                <a:solidFill>
                                  <a:srgbClr val="FFFF00"/>
                                </a:solidFill>
                                <a:latin typeface="Cambria Math" panose="02040503050406030204" pitchFamily="18" charset="0"/>
                              </a:rPr>
                              <m:t>𝟐</m:t>
                            </m:r>
                          </m:sub>
                        </m:sSub>
                      </m:den>
                    </m:f>
                    <m:r>
                      <a:rPr lang="ar-AE" sz="2000" b="1" smtClean="0">
                        <a:solidFill>
                          <a:srgbClr val="FFFF00"/>
                        </a:solidFill>
                        <a:latin typeface="Cambria Math" panose="02040503050406030204" pitchFamily="18" charset="0"/>
                      </a:rPr>
                      <m:t>+</m:t>
                    </m:r>
                    <m:f>
                      <m:fPr>
                        <m:ctrlPr>
                          <a:rPr lang="ar-AE" sz="2000" b="1" i="1">
                            <a:solidFill>
                              <a:srgbClr val="FFFF00"/>
                            </a:solidFill>
                            <a:latin typeface="Cambria Math" panose="02040503050406030204" pitchFamily="18" charset="0"/>
                          </a:rPr>
                        </m:ctrlPr>
                      </m:fPr>
                      <m:num>
                        <m:r>
                          <a:rPr lang="ar-AE" sz="2000" b="1" i="1" smtClean="0">
                            <a:solidFill>
                              <a:srgbClr val="FFFF00"/>
                            </a:solidFill>
                            <a:latin typeface="Cambria Math" panose="02040503050406030204" pitchFamily="18" charset="0"/>
                          </a:rPr>
                          <m:t>𝟏</m:t>
                        </m:r>
                      </m:num>
                      <m:den>
                        <m:sSub>
                          <m:sSubPr>
                            <m:ctrlPr>
                              <a:rPr lang="ar-AE" sz="2000" b="1" i="1">
                                <a:solidFill>
                                  <a:srgbClr val="FFFF00"/>
                                </a:solidFill>
                                <a:latin typeface="Cambria Math" panose="02040503050406030204" pitchFamily="18" charset="0"/>
                              </a:rPr>
                            </m:ctrlPr>
                          </m:sSubPr>
                          <m:e>
                            <m:r>
                              <a:rPr lang="ar-AE" sz="2000" b="1" i="1" smtClean="0">
                                <a:solidFill>
                                  <a:srgbClr val="FFFF00"/>
                                </a:solidFill>
                                <a:latin typeface="Cambria Math" panose="02040503050406030204" pitchFamily="18" charset="0"/>
                              </a:rPr>
                              <m:t>𝑹</m:t>
                            </m:r>
                          </m:e>
                          <m:sub>
                            <m:r>
                              <a:rPr lang="ar-AE" sz="2000" b="1" i="1" smtClean="0">
                                <a:solidFill>
                                  <a:srgbClr val="FFFF00"/>
                                </a:solidFill>
                                <a:latin typeface="Cambria Math" panose="02040503050406030204" pitchFamily="18" charset="0"/>
                              </a:rPr>
                              <m:t>𝟑</m:t>
                            </m:r>
                          </m:sub>
                        </m:sSub>
                      </m:den>
                    </m:f>
                    <m:r>
                      <a:rPr lang="ar-AE" sz="2000" b="1" smtClean="0">
                        <a:solidFill>
                          <a:srgbClr val="FFFF00"/>
                        </a:solidFill>
                        <a:latin typeface="Cambria Math" panose="02040503050406030204" pitchFamily="18" charset="0"/>
                      </a:rPr>
                      <m:t>+…</m:t>
                    </m:r>
                  </m:oMath>
                </a14:m>
                <a:endParaRPr lang="ar-AE" sz="2000" b="1" dirty="0">
                  <a:solidFill>
                    <a:srgbClr val="FFFF00"/>
                  </a:solidFill>
                  <a:latin typeface="Century Schoolbook" panose="02040604050505020304" pitchFamily="18" charset="0"/>
                </a:endParaRPr>
              </a:p>
              <a:p>
                <a:pPr marL="285750" indent="-285750" algn="l">
                  <a:buFont typeface="Wingdings" panose="05000000000000000000" pitchFamily="2" charset="2"/>
                  <a:buChar char="v"/>
                </a:pPr>
                <a:r>
                  <a:rPr lang="en-IN" sz="2400" b="1" u="sng" dirty="0">
                    <a:solidFill>
                      <a:srgbClr val="FFFF00"/>
                    </a:solidFill>
                    <a:latin typeface="Century Schoolbook" panose="02040604050505020304" pitchFamily="18" charset="0"/>
                  </a:rPr>
                  <a:t>Explanation</a:t>
                </a:r>
                <a:r>
                  <a:rPr lang="en-IN" sz="2400" b="1" dirty="0">
                    <a:solidFill>
                      <a:srgbClr val="FFFF00"/>
                    </a:solidFill>
                    <a:latin typeface="Century Schoolbook" panose="02040604050505020304" pitchFamily="18" charset="0"/>
                  </a:rPr>
                  <a:t> : -</a:t>
                </a:r>
              </a:p>
              <a:p>
                <a:pPr marL="285750" indent="-285750" algn="l">
                  <a:buFont typeface="Arial" panose="020B0604020202020204" pitchFamily="34" charset="0"/>
                  <a:buChar char="•"/>
                </a:pPr>
                <a:r>
                  <a:rPr lang="en-IN" sz="2000" b="1" dirty="0">
                    <a:latin typeface="Century Schoolbook" panose="02040604050505020304" pitchFamily="18" charset="0"/>
                  </a:rPr>
                  <a:t>Voltage (V) is same across each resistor.</a:t>
                </a:r>
              </a:p>
              <a:p>
                <a:pPr marL="285750" indent="-285750" algn="l">
                  <a:buFont typeface="Arial" panose="020B0604020202020204" pitchFamily="34" charset="0"/>
                  <a:buChar char="•"/>
                </a:pPr>
                <a:r>
                  <a:rPr lang="en-IN" sz="2000" b="1" dirty="0">
                    <a:latin typeface="Century Schoolbook" panose="02040604050505020304" pitchFamily="18" charset="0"/>
                  </a:rPr>
                  <a:t>Total current (I) is the sum of currents through each branch.</a:t>
                </a:r>
              </a:p>
              <a:p>
                <a:pPr algn="l"/>
                <a14:m>
                  <m:oMathPara xmlns:m="http://schemas.openxmlformats.org/officeDocument/2006/math">
                    <m:oMathParaPr>
                      <m:jc m:val="centerGroup"/>
                    </m:oMathParaPr>
                    <m:oMath xmlns:m="http://schemas.openxmlformats.org/officeDocument/2006/math">
                      <m:r>
                        <a:rPr lang="en-IN" sz="2400" b="1" i="1" smtClean="0">
                          <a:solidFill>
                            <a:srgbClr val="FFFF00"/>
                          </a:solidFill>
                          <a:latin typeface="Cambria Math" panose="02040503050406030204" pitchFamily="18" charset="0"/>
                        </a:rPr>
                        <m:t>𝑰</m:t>
                      </m:r>
                      <m:r>
                        <a:rPr lang="en-IN" sz="2400" b="1" smtClean="0">
                          <a:solidFill>
                            <a:srgbClr val="FFFF00"/>
                          </a:solidFill>
                          <a:latin typeface="Cambria Math" panose="02040503050406030204" pitchFamily="18" charset="0"/>
                        </a:rPr>
                        <m:t>=</m:t>
                      </m:r>
                      <m:sSub>
                        <m:sSubPr>
                          <m:ctrlPr>
                            <a:rPr lang="ar-AE" sz="2400" b="1" i="1">
                              <a:solidFill>
                                <a:srgbClr val="FFFF00"/>
                              </a:solidFill>
                              <a:latin typeface="Cambria Math" panose="02040503050406030204" pitchFamily="18" charset="0"/>
                            </a:rPr>
                          </m:ctrlPr>
                        </m:sSubPr>
                        <m:e>
                          <m:r>
                            <a:rPr lang="ar-AE" sz="2400" b="1" i="1" smtClean="0">
                              <a:solidFill>
                                <a:srgbClr val="FFFF00"/>
                              </a:solidFill>
                              <a:latin typeface="Cambria Math" panose="02040503050406030204" pitchFamily="18" charset="0"/>
                            </a:rPr>
                            <m:t>𝑰</m:t>
                          </m:r>
                        </m:e>
                        <m:sub>
                          <m:r>
                            <a:rPr lang="ar-AE" sz="2400" b="1" i="1" smtClean="0">
                              <a:solidFill>
                                <a:srgbClr val="FFFF00"/>
                              </a:solidFill>
                              <a:latin typeface="Cambria Math" panose="02040503050406030204" pitchFamily="18" charset="0"/>
                            </a:rPr>
                            <m:t>𝟏</m:t>
                          </m:r>
                        </m:sub>
                      </m:sSub>
                      <m:r>
                        <a:rPr lang="ar-AE" sz="2400" b="1" smtClean="0">
                          <a:solidFill>
                            <a:srgbClr val="FFFF00"/>
                          </a:solidFill>
                          <a:latin typeface="Cambria Math" panose="02040503050406030204" pitchFamily="18" charset="0"/>
                        </a:rPr>
                        <m:t>+</m:t>
                      </m:r>
                      <m:sSub>
                        <m:sSubPr>
                          <m:ctrlPr>
                            <a:rPr lang="ar-AE" sz="2400" b="1" i="1">
                              <a:solidFill>
                                <a:srgbClr val="FFFF00"/>
                              </a:solidFill>
                              <a:latin typeface="Cambria Math" panose="02040503050406030204" pitchFamily="18" charset="0"/>
                            </a:rPr>
                          </m:ctrlPr>
                        </m:sSubPr>
                        <m:e>
                          <m:r>
                            <a:rPr lang="ar-AE" sz="2400" b="1" i="1" smtClean="0">
                              <a:solidFill>
                                <a:srgbClr val="FFFF00"/>
                              </a:solidFill>
                              <a:latin typeface="Cambria Math" panose="02040503050406030204" pitchFamily="18" charset="0"/>
                            </a:rPr>
                            <m:t>𝑰</m:t>
                          </m:r>
                        </m:e>
                        <m:sub>
                          <m:r>
                            <a:rPr lang="ar-AE" sz="2400" b="1" i="1" smtClean="0">
                              <a:solidFill>
                                <a:srgbClr val="FFFF00"/>
                              </a:solidFill>
                              <a:latin typeface="Cambria Math" panose="02040503050406030204" pitchFamily="18" charset="0"/>
                            </a:rPr>
                            <m:t>𝟐</m:t>
                          </m:r>
                        </m:sub>
                      </m:sSub>
                      <m:r>
                        <a:rPr lang="ar-AE" sz="2400" b="1" smtClean="0">
                          <a:solidFill>
                            <a:srgbClr val="FFFF00"/>
                          </a:solidFill>
                          <a:latin typeface="Cambria Math" panose="02040503050406030204" pitchFamily="18" charset="0"/>
                        </a:rPr>
                        <m:t>+</m:t>
                      </m:r>
                      <m:sSub>
                        <m:sSubPr>
                          <m:ctrlPr>
                            <a:rPr lang="ar-AE" sz="2400" b="1" i="1">
                              <a:solidFill>
                                <a:srgbClr val="FFFF00"/>
                              </a:solidFill>
                              <a:latin typeface="Cambria Math" panose="02040503050406030204" pitchFamily="18" charset="0"/>
                            </a:rPr>
                          </m:ctrlPr>
                        </m:sSubPr>
                        <m:e>
                          <m:r>
                            <a:rPr lang="ar-AE" sz="2400" b="1" i="1" smtClean="0">
                              <a:solidFill>
                                <a:srgbClr val="FFFF00"/>
                              </a:solidFill>
                              <a:latin typeface="Cambria Math" panose="02040503050406030204" pitchFamily="18" charset="0"/>
                            </a:rPr>
                            <m:t>𝑰</m:t>
                          </m:r>
                        </m:e>
                        <m:sub>
                          <m:r>
                            <a:rPr lang="ar-AE" sz="2400" b="1" i="1" smtClean="0">
                              <a:solidFill>
                                <a:srgbClr val="FFFF00"/>
                              </a:solidFill>
                              <a:latin typeface="Cambria Math" panose="02040503050406030204" pitchFamily="18" charset="0"/>
                            </a:rPr>
                            <m:t>𝟑</m:t>
                          </m:r>
                        </m:sub>
                      </m:sSub>
                    </m:oMath>
                  </m:oMathPara>
                </a14:m>
                <a:endParaRPr lang="ar-AE" sz="2400" b="1" dirty="0">
                  <a:solidFill>
                    <a:srgbClr val="FFFF00"/>
                  </a:solidFill>
                  <a:latin typeface="Century Schoolbook" panose="02040604050505020304" pitchFamily="18" charset="0"/>
                </a:endParaRPr>
              </a:p>
              <a:p>
                <a:pPr marL="285750" indent="-285750" algn="l">
                  <a:buFont typeface="Wingdings" panose="05000000000000000000" pitchFamily="2" charset="2"/>
                  <a:buChar char="v"/>
                </a:pPr>
                <a:r>
                  <a:rPr lang="en-IN" sz="2400" b="1" u="sng" dirty="0">
                    <a:solidFill>
                      <a:srgbClr val="FFFF00"/>
                    </a:solidFill>
                    <a:latin typeface="Century Schoolbook" panose="02040604050505020304" pitchFamily="18" charset="0"/>
                  </a:rPr>
                  <a:t>Example</a:t>
                </a:r>
                <a:r>
                  <a:rPr lang="en-IN" sz="2400" b="1" dirty="0">
                    <a:solidFill>
                      <a:srgbClr val="FFFF00"/>
                    </a:solidFill>
                    <a:latin typeface="Century Schoolbook" panose="02040604050505020304" pitchFamily="18" charset="0"/>
                  </a:rPr>
                  <a:t> : -</a:t>
                </a:r>
              </a:p>
              <a:p>
                <a:pPr algn="l"/>
                <a:r>
                  <a:rPr lang="en-IN" sz="1900" b="1" dirty="0">
                    <a:latin typeface="Century Schoolbook" panose="02040604050505020304" pitchFamily="18" charset="0"/>
                  </a:rPr>
                  <a:t>If three resistors of 2 </a:t>
                </a:r>
                <a:r>
                  <a:rPr lang="el-GR" sz="1900" b="1" dirty="0">
                    <a:latin typeface="Century Schoolbook" panose="02040604050505020304" pitchFamily="18" charset="0"/>
                  </a:rPr>
                  <a:t>Ω, 3 Ω, </a:t>
                </a:r>
                <a:r>
                  <a:rPr lang="en-IN" sz="1900" b="1" dirty="0">
                    <a:latin typeface="Century Schoolbook" panose="02040604050505020304" pitchFamily="18" charset="0"/>
                  </a:rPr>
                  <a:t>and 6 </a:t>
                </a:r>
                <a:r>
                  <a:rPr lang="el-GR" sz="1900" b="1" dirty="0">
                    <a:latin typeface="Century Schoolbook" panose="02040604050505020304" pitchFamily="18" charset="0"/>
                  </a:rPr>
                  <a:t>Ω </a:t>
                </a:r>
                <a:r>
                  <a:rPr lang="en-IN" sz="1900" b="1" dirty="0">
                    <a:latin typeface="Century Schoolbook" panose="02040604050505020304" pitchFamily="18" charset="0"/>
                  </a:rPr>
                  <a:t>are connected in parallel :</a:t>
                </a:r>
              </a:p>
              <a:p>
                <a:pPr algn="l"/>
                <a14:m>
                  <m:oMathPara xmlns:m="http://schemas.openxmlformats.org/officeDocument/2006/math">
                    <m:oMathParaPr>
                      <m:jc m:val="centerGroup"/>
                    </m:oMathParaPr>
                    <m:oMath xmlns:m="http://schemas.openxmlformats.org/officeDocument/2006/math">
                      <m:f>
                        <m:fPr>
                          <m:ctrlPr>
                            <a:rPr lang="ar-AE" sz="2200" b="1" i="1" smtClean="0">
                              <a:solidFill>
                                <a:srgbClr val="FFFF00"/>
                              </a:solidFill>
                              <a:latin typeface="Cambria Math" panose="02040503050406030204" pitchFamily="18" charset="0"/>
                            </a:rPr>
                          </m:ctrlPr>
                        </m:fPr>
                        <m:num>
                          <m:r>
                            <a:rPr lang="ar-AE" sz="2200" b="1" i="1" smtClean="0">
                              <a:solidFill>
                                <a:srgbClr val="FFFF00"/>
                              </a:solidFill>
                              <a:latin typeface="Cambria Math" panose="02040503050406030204" pitchFamily="18" charset="0"/>
                            </a:rPr>
                            <m:t>𝟏</m:t>
                          </m:r>
                        </m:num>
                        <m:den>
                          <m:sSub>
                            <m:sSubPr>
                              <m:ctrlPr>
                                <a:rPr lang="ar-AE" sz="2200" b="1" i="1">
                                  <a:solidFill>
                                    <a:srgbClr val="FFFF00"/>
                                  </a:solidFill>
                                  <a:latin typeface="Cambria Math" panose="02040503050406030204" pitchFamily="18" charset="0"/>
                                </a:rPr>
                              </m:ctrlPr>
                            </m:sSubPr>
                            <m:e>
                              <m:r>
                                <a:rPr lang="ar-AE" sz="2200" b="1" i="1" smtClean="0">
                                  <a:solidFill>
                                    <a:srgbClr val="FFFF00"/>
                                  </a:solidFill>
                                  <a:latin typeface="Cambria Math" panose="02040503050406030204" pitchFamily="18" charset="0"/>
                                </a:rPr>
                                <m:t>𝑹</m:t>
                              </m:r>
                            </m:e>
                            <m:sub>
                              <m:r>
                                <a:rPr lang="ar-AE" sz="2200" b="1" i="1" smtClean="0">
                                  <a:solidFill>
                                    <a:srgbClr val="FFFF00"/>
                                  </a:solidFill>
                                  <a:latin typeface="Cambria Math" panose="02040503050406030204" pitchFamily="18" charset="0"/>
                                </a:rPr>
                                <m:t>𝒑</m:t>
                              </m:r>
                            </m:sub>
                          </m:sSub>
                        </m:den>
                      </m:f>
                      <m:r>
                        <a:rPr lang="ar-AE" sz="2200" b="1" smtClean="0">
                          <a:solidFill>
                            <a:srgbClr val="FFFF00"/>
                          </a:solidFill>
                          <a:latin typeface="Cambria Math" panose="02040503050406030204" pitchFamily="18" charset="0"/>
                        </a:rPr>
                        <m:t>=</m:t>
                      </m:r>
                      <m:f>
                        <m:fPr>
                          <m:ctrlPr>
                            <a:rPr lang="ar-AE" sz="2200" b="1" i="1">
                              <a:solidFill>
                                <a:srgbClr val="FFFF00"/>
                              </a:solidFill>
                              <a:latin typeface="Cambria Math" panose="02040503050406030204" pitchFamily="18" charset="0"/>
                            </a:rPr>
                          </m:ctrlPr>
                        </m:fPr>
                        <m:num>
                          <m:r>
                            <a:rPr lang="ar-AE" sz="2200" b="1" i="1" smtClean="0">
                              <a:solidFill>
                                <a:srgbClr val="FFFF00"/>
                              </a:solidFill>
                              <a:latin typeface="Cambria Math" panose="02040503050406030204" pitchFamily="18" charset="0"/>
                            </a:rPr>
                            <m:t>𝟏</m:t>
                          </m:r>
                        </m:num>
                        <m:den>
                          <m:r>
                            <a:rPr lang="ar-AE" sz="2200" b="1" i="1" smtClean="0">
                              <a:solidFill>
                                <a:srgbClr val="FFFF00"/>
                              </a:solidFill>
                              <a:latin typeface="Cambria Math" panose="02040503050406030204" pitchFamily="18" charset="0"/>
                            </a:rPr>
                            <m:t>𝟐</m:t>
                          </m:r>
                        </m:den>
                      </m:f>
                      <m:r>
                        <a:rPr lang="ar-AE" sz="2200" b="1" smtClean="0">
                          <a:solidFill>
                            <a:srgbClr val="FFFF00"/>
                          </a:solidFill>
                          <a:latin typeface="Cambria Math" panose="02040503050406030204" pitchFamily="18" charset="0"/>
                        </a:rPr>
                        <m:t>+</m:t>
                      </m:r>
                      <m:f>
                        <m:fPr>
                          <m:ctrlPr>
                            <a:rPr lang="ar-AE" sz="2200" b="1" i="1">
                              <a:solidFill>
                                <a:srgbClr val="FFFF00"/>
                              </a:solidFill>
                              <a:latin typeface="Cambria Math" panose="02040503050406030204" pitchFamily="18" charset="0"/>
                            </a:rPr>
                          </m:ctrlPr>
                        </m:fPr>
                        <m:num>
                          <m:r>
                            <a:rPr lang="ar-AE" sz="2200" b="1" i="1" smtClean="0">
                              <a:solidFill>
                                <a:srgbClr val="FFFF00"/>
                              </a:solidFill>
                              <a:latin typeface="Cambria Math" panose="02040503050406030204" pitchFamily="18" charset="0"/>
                            </a:rPr>
                            <m:t>𝟏</m:t>
                          </m:r>
                        </m:num>
                        <m:den>
                          <m:r>
                            <a:rPr lang="ar-AE" sz="2200" b="1" i="1" smtClean="0">
                              <a:solidFill>
                                <a:srgbClr val="FFFF00"/>
                              </a:solidFill>
                              <a:latin typeface="Cambria Math" panose="02040503050406030204" pitchFamily="18" charset="0"/>
                            </a:rPr>
                            <m:t>𝟑</m:t>
                          </m:r>
                        </m:den>
                      </m:f>
                      <m:r>
                        <a:rPr lang="ar-AE" sz="2200" b="1" smtClean="0">
                          <a:solidFill>
                            <a:srgbClr val="FFFF00"/>
                          </a:solidFill>
                          <a:latin typeface="Cambria Math" panose="02040503050406030204" pitchFamily="18" charset="0"/>
                        </a:rPr>
                        <m:t>+</m:t>
                      </m:r>
                      <m:f>
                        <m:fPr>
                          <m:ctrlPr>
                            <a:rPr lang="ar-AE" sz="2200" b="1" i="1">
                              <a:solidFill>
                                <a:srgbClr val="FFFF00"/>
                              </a:solidFill>
                              <a:latin typeface="Cambria Math" panose="02040503050406030204" pitchFamily="18" charset="0"/>
                            </a:rPr>
                          </m:ctrlPr>
                        </m:fPr>
                        <m:num>
                          <m:r>
                            <a:rPr lang="ar-AE" sz="2200" b="1" i="1" smtClean="0">
                              <a:solidFill>
                                <a:srgbClr val="FFFF00"/>
                              </a:solidFill>
                              <a:latin typeface="Cambria Math" panose="02040503050406030204" pitchFamily="18" charset="0"/>
                            </a:rPr>
                            <m:t>𝟏</m:t>
                          </m:r>
                        </m:num>
                        <m:den>
                          <m:r>
                            <a:rPr lang="ar-AE" sz="2200" b="1" i="1" smtClean="0">
                              <a:solidFill>
                                <a:srgbClr val="FFFF00"/>
                              </a:solidFill>
                              <a:latin typeface="Cambria Math" panose="02040503050406030204" pitchFamily="18" charset="0"/>
                            </a:rPr>
                            <m:t>𝟔</m:t>
                          </m:r>
                        </m:den>
                      </m:f>
                      <m:r>
                        <a:rPr lang="ar-AE" sz="2200" b="1" smtClean="0">
                          <a:solidFill>
                            <a:srgbClr val="FFFF00"/>
                          </a:solidFill>
                          <a:latin typeface="Cambria Math" panose="02040503050406030204" pitchFamily="18" charset="0"/>
                        </a:rPr>
                        <m:t>=</m:t>
                      </m:r>
                      <m:r>
                        <a:rPr lang="ar-AE" sz="2200" b="1" i="1" smtClean="0">
                          <a:solidFill>
                            <a:srgbClr val="FFFF00"/>
                          </a:solidFill>
                          <a:latin typeface="Cambria Math" panose="02040503050406030204" pitchFamily="18" charset="0"/>
                        </a:rPr>
                        <m:t>𝟏</m:t>
                      </m:r>
                    </m:oMath>
                  </m:oMathPara>
                </a14:m>
                <a:endParaRPr lang="ar-AE" sz="2200" b="1" dirty="0">
                  <a:solidFill>
                    <a:srgbClr val="FFFF00"/>
                  </a:solidFill>
                  <a:latin typeface="Century Schoolbook" panose="02040604050505020304" pitchFamily="18" charset="0"/>
                </a:endParaRPr>
              </a:p>
              <a:p>
                <a:pPr algn="l"/>
                <a14:m>
                  <m:oMathPara xmlns:m="http://schemas.openxmlformats.org/officeDocument/2006/math">
                    <m:oMathParaPr>
                      <m:jc m:val="centerGroup"/>
                    </m:oMathParaPr>
                    <m:oMath xmlns:m="http://schemas.openxmlformats.org/officeDocument/2006/math">
                      <m:sSub>
                        <m:sSubPr>
                          <m:ctrlPr>
                            <a:rPr lang="ar-AE" sz="2200" b="1" i="1">
                              <a:solidFill>
                                <a:srgbClr val="FFFF00"/>
                              </a:solidFill>
                              <a:latin typeface="Cambria Math" panose="02040503050406030204" pitchFamily="18" charset="0"/>
                            </a:rPr>
                          </m:ctrlPr>
                        </m:sSubPr>
                        <m:e>
                          <m:r>
                            <a:rPr lang="ar-AE" sz="2200" b="1" i="1" smtClean="0">
                              <a:solidFill>
                                <a:srgbClr val="FFFF00"/>
                              </a:solidFill>
                              <a:latin typeface="Cambria Math" panose="02040503050406030204" pitchFamily="18" charset="0"/>
                            </a:rPr>
                            <m:t>𝑹</m:t>
                          </m:r>
                        </m:e>
                        <m:sub>
                          <m:r>
                            <a:rPr lang="ar-AE" sz="2200" b="1" i="1" smtClean="0">
                              <a:solidFill>
                                <a:srgbClr val="FFFF00"/>
                              </a:solidFill>
                              <a:latin typeface="Cambria Math" panose="02040503050406030204" pitchFamily="18" charset="0"/>
                            </a:rPr>
                            <m:t>𝒑</m:t>
                          </m:r>
                        </m:sub>
                      </m:sSub>
                      <m:r>
                        <a:rPr lang="ar-AE" sz="2200" b="1" smtClean="0">
                          <a:solidFill>
                            <a:srgbClr val="FFFF00"/>
                          </a:solidFill>
                          <a:latin typeface="Cambria Math" panose="02040503050406030204" pitchFamily="18" charset="0"/>
                        </a:rPr>
                        <m:t>=</m:t>
                      </m:r>
                      <m:r>
                        <a:rPr lang="ar-AE" sz="2200" b="1" i="1" smtClean="0">
                          <a:solidFill>
                            <a:srgbClr val="FFFF00"/>
                          </a:solidFill>
                          <a:latin typeface="Cambria Math" panose="02040503050406030204" pitchFamily="18" charset="0"/>
                        </a:rPr>
                        <m:t>𝟏</m:t>
                      </m:r>
                      <m:r>
                        <m:rPr>
                          <m:nor/>
                        </m:rPr>
                        <a:rPr lang="ar-AE" sz="2200" b="1" i="1">
                          <a:solidFill>
                            <a:srgbClr val="FFFF00"/>
                          </a:solidFill>
                          <a:latin typeface="Century Schoolbook" panose="02040604050505020304" pitchFamily="18" charset="0"/>
                        </a:rPr>
                        <m:t> </m:t>
                      </m:r>
                      <m:r>
                        <a:rPr lang="el-GR" sz="2200" b="1" i="1" smtClean="0">
                          <a:solidFill>
                            <a:srgbClr val="FFFF00"/>
                          </a:solidFill>
                          <a:latin typeface="Cambria Math" panose="02040503050406030204" pitchFamily="18" charset="0"/>
                        </a:rPr>
                        <m:t>𝛀</m:t>
                      </m:r>
                    </m:oMath>
                  </m:oMathPara>
                </a14:m>
                <a:endParaRPr lang="en-IN" sz="2200" b="1" dirty="0">
                  <a:solidFill>
                    <a:srgbClr val="FFFF00"/>
                  </a:solidFill>
                  <a:latin typeface="Century Schoolbook" panose="02040604050505020304" pitchFamily="18" charset="0"/>
                </a:endParaRPr>
              </a:p>
              <a:p>
                <a:pPr algn="l"/>
                <a:endParaRPr lang="en-IN" b="1" dirty="0">
                  <a:latin typeface="Century Schoolbook" panose="02040604050505020304" pitchFamily="18" charset="0"/>
                </a:endParaRPr>
              </a:p>
            </p:txBody>
          </p:sp>
        </mc:Choice>
        <mc:Fallback xmlns="">
          <p:sp>
            <p:nvSpPr>
              <p:cNvPr id="3" name="Text Placeholder 2">
                <a:extLst>
                  <a:ext uri="{FF2B5EF4-FFF2-40B4-BE49-F238E27FC236}">
                    <a16:creationId xmlns:a16="http://schemas.microsoft.com/office/drawing/2014/main" id="{28A5E2E7-4949-D363-9676-37102A6D4814}"/>
                  </a:ext>
                </a:extLst>
              </p:cNvPr>
              <p:cNvSpPr>
                <a:spLocks noGrp="1" noRot="1" noChangeAspect="1" noMove="1" noResize="1" noEditPoints="1" noAdjustHandles="1" noChangeArrowheads="1" noChangeShapeType="1" noTextEdit="1"/>
              </p:cNvSpPr>
              <p:nvPr>
                <p:ph type="body" sz="half" idx="2"/>
              </p:nvPr>
            </p:nvSpPr>
            <p:spPr>
              <a:xfrm>
                <a:off x="162232" y="713615"/>
                <a:ext cx="11867535" cy="6061586"/>
              </a:xfrm>
              <a:blipFill>
                <a:blip r:embed="rId2"/>
                <a:stretch>
                  <a:fillRect l="-668" t="-1509"/>
                </a:stretch>
              </a:blipFill>
            </p:spPr>
            <p:txBody>
              <a:bodyPr/>
              <a:lstStyle/>
              <a:p>
                <a:r>
                  <a:rPr lang="en-IN">
                    <a:noFill/>
                  </a:rPr>
                  <a:t> </a:t>
                </a:r>
              </a:p>
            </p:txBody>
          </p:sp>
        </mc:Fallback>
      </mc:AlternateContent>
    </p:spTree>
    <p:extLst>
      <p:ext uri="{BB962C8B-B14F-4D97-AF65-F5344CB8AC3E}">
        <p14:creationId xmlns:p14="http://schemas.microsoft.com/office/powerpoint/2010/main" val="37953760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426A8-7D02-1650-5D02-8E57598C0AC3}"/>
              </a:ext>
            </a:extLst>
          </p:cNvPr>
          <p:cNvSpPr>
            <a:spLocks noGrp="1"/>
          </p:cNvSpPr>
          <p:nvPr>
            <p:ph type="title"/>
          </p:nvPr>
        </p:nvSpPr>
        <p:spPr>
          <a:xfrm>
            <a:off x="0" y="0"/>
            <a:ext cx="12192000" cy="828368"/>
          </a:xfrm>
        </p:spPr>
        <p:txBody>
          <a:bodyPr>
            <a:normAutofit/>
          </a:bodyPr>
          <a:lstStyle/>
          <a:p>
            <a:pPr marL="457200" indent="-457200" algn="l">
              <a:buFont typeface="Wingdings" panose="05000000000000000000" pitchFamily="2" charset="2"/>
              <a:buChar char="v"/>
            </a:pPr>
            <a:r>
              <a:rPr lang="en-US" sz="4800" b="0" u="sng" dirty="0">
                <a:solidFill>
                  <a:srgbClr val="FFFF00"/>
                </a:solidFill>
                <a:latin typeface="Algerian" panose="04020705040A02060702" pitchFamily="82" charset="0"/>
              </a:rPr>
              <a:t>Shunt resistance</a:t>
            </a:r>
            <a:r>
              <a:rPr lang="en-US" sz="4800" b="0" dirty="0">
                <a:solidFill>
                  <a:srgbClr val="FFFF00"/>
                </a:solidFill>
                <a:latin typeface="Algerian" panose="04020705040A02060702" pitchFamily="82" charset="0"/>
              </a:rPr>
              <a:t> : -</a:t>
            </a:r>
            <a:endParaRPr lang="en-IN" sz="4800" b="0" dirty="0">
              <a:solidFill>
                <a:srgbClr val="FFFF00"/>
              </a:solidFill>
              <a:latin typeface="Algerian" panose="04020705040A02060702" pitchFamily="82" charset="0"/>
            </a:endParaRP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80C615B6-03AB-E864-80FB-04C2B69B3F6A}"/>
                  </a:ext>
                </a:extLst>
              </p:cNvPr>
              <p:cNvSpPr>
                <a:spLocks noGrp="1"/>
              </p:cNvSpPr>
              <p:nvPr>
                <p:ph type="body" sz="half" idx="2"/>
              </p:nvPr>
            </p:nvSpPr>
            <p:spPr>
              <a:xfrm>
                <a:off x="127819" y="828368"/>
                <a:ext cx="11828207" cy="5238135"/>
              </a:xfrm>
            </p:spPr>
            <p:txBody>
              <a:bodyPr>
                <a:normAutofit/>
              </a:bodyPr>
              <a:lstStyle/>
              <a:p>
                <a:pPr marL="285750" indent="-285750" algn="l">
                  <a:buFont typeface="Wingdings" panose="05000000000000000000" pitchFamily="2" charset="2"/>
                  <a:buChar char="v"/>
                </a:pPr>
                <a:r>
                  <a:rPr lang="en-IN" sz="2800" b="1" u="sng" dirty="0">
                    <a:solidFill>
                      <a:srgbClr val="FFFF00"/>
                    </a:solidFill>
                    <a:latin typeface="Century Schoolbook" panose="02040604050505020304" pitchFamily="18" charset="0"/>
                  </a:rPr>
                  <a:t>Definition</a:t>
                </a:r>
                <a:r>
                  <a:rPr lang="en-IN" sz="2800" b="1" dirty="0">
                    <a:solidFill>
                      <a:srgbClr val="FFFF00"/>
                    </a:solidFill>
                    <a:latin typeface="Century Schoolbook" panose="02040604050505020304" pitchFamily="18" charset="0"/>
                  </a:rPr>
                  <a:t> : -</a:t>
                </a:r>
              </a:p>
              <a:p>
                <a:pPr marL="342900" indent="-342900" algn="l">
                  <a:buFont typeface="Arial" panose="020B0604020202020204" pitchFamily="34" charset="0"/>
                  <a:buChar char="•"/>
                </a:pPr>
                <a:r>
                  <a:rPr lang="en-IN" sz="2000" b="1" dirty="0">
                    <a:latin typeface="Century Schoolbook" panose="02040604050505020304" pitchFamily="18" charset="0"/>
                  </a:rPr>
                  <a:t>A shunt resistance is a low-value resistor connected in parallel with a galvanometer or any device to allow a portion of current to bypass it.</a:t>
                </a:r>
              </a:p>
              <a:p>
                <a:pPr marL="285750" indent="-285750" algn="l">
                  <a:buFont typeface="Wingdings" panose="05000000000000000000" pitchFamily="2" charset="2"/>
                  <a:buChar char="v"/>
                </a:pPr>
                <a:r>
                  <a:rPr lang="en-IN" sz="2800" b="1" u="sng" dirty="0">
                    <a:solidFill>
                      <a:srgbClr val="FFFF00"/>
                    </a:solidFill>
                    <a:latin typeface="Century Schoolbook" panose="02040604050505020304" pitchFamily="18" charset="0"/>
                  </a:rPr>
                  <a:t>Purpose</a:t>
                </a:r>
                <a:r>
                  <a:rPr lang="en-IN" sz="2800" b="1" dirty="0">
                    <a:solidFill>
                      <a:srgbClr val="FFFF00"/>
                    </a:solidFill>
                    <a:latin typeface="Century Schoolbook" panose="02040604050505020304" pitchFamily="18" charset="0"/>
                  </a:rPr>
                  <a:t> : -</a:t>
                </a:r>
              </a:p>
              <a:p>
                <a:pPr marL="285750" indent="-285750" algn="l">
                  <a:buFont typeface="Arial" panose="020B0604020202020204" pitchFamily="34" charset="0"/>
                  <a:buChar char="•"/>
                </a:pPr>
                <a:r>
                  <a:rPr lang="en-IN" sz="2000" b="1" dirty="0">
                    <a:latin typeface="Century Schoolbook" panose="02040604050505020304" pitchFamily="18" charset="0"/>
                  </a:rPr>
                  <a:t>Used to convert a galvanometer into an ammeter.</a:t>
                </a:r>
              </a:p>
              <a:p>
                <a:pPr marL="285750" indent="-285750" algn="l">
                  <a:buFont typeface="Arial" panose="020B0604020202020204" pitchFamily="34" charset="0"/>
                  <a:buChar char="•"/>
                </a:pPr>
                <a:r>
                  <a:rPr lang="en-IN" sz="2000" b="1" dirty="0">
                    <a:latin typeface="Century Schoolbook" panose="02040604050505020304" pitchFamily="18" charset="0"/>
                  </a:rPr>
                  <a:t>Protects sensitive instruments from high current.</a:t>
                </a:r>
              </a:p>
              <a:p>
                <a:pPr marL="285750" indent="-285750" algn="l">
                  <a:buFont typeface="Wingdings" panose="05000000000000000000" pitchFamily="2" charset="2"/>
                  <a:buChar char="v"/>
                </a:pPr>
                <a:r>
                  <a:rPr lang="en-IN" sz="2800" b="1" u="sng" dirty="0">
                    <a:solidFill>
                      <a:srgbClr val="FFFF00"/>
                    </a:solidFill>
                    <a:latin typeface="Century Schoolbook" panose="02040604050505020304" pitchFamily="18" charset="0"/>
                  </a:rPr>
                  <a:t>Formula</a:t>
                </a:r>
                <a:r>
                  <a:rPr lang="en-IN" sz="2800" b="1" dirty="0">
                    <a:solidFill>
                      <a:srgbClr val="FFFF00"/>
                    </a:solidFill>
                    <a:latin typeface="Century Schoolbook" panose="02040604050505020304" pitchFamily="18" charset="0"/>
                  </a:rPr>
                  <a:t> : -</a:t>
                </a:r>
              </a:p>
              <a:p>
                <a:pPr marL="342900" indent="-342900" algn="l">
                  <a:buFont typeface="Arial" panose="020B0604020202020204" pitchFamily="34" charset="0"/>
                  <a:buChar char="•"/>
                </a:pPr>
                <a:r>
                  <a:rPr lang="en-IN" sz="2000" b="1" dirty="0">
                    <a:latin typeface="Century Schoolbook" panose="02040604050505020304" pitchFamily="18" charset="0"/>
                  </a:rPr>
                  <a:t>If </a:t>
                </a:r>
                <a14:m>
                  <m:oMath xmlns:m="http://schemas.openxmlformats.org/officeDocument/2006/math">
                    <m:sSub>
                      <m:sSubPr>
                        <m:ctrlPr>
                          <a:rPr lang="ar-AE" sz="2000" b="1" i="1">
                            <a:latin typeface="Cambria Math" panose="02040503050406030204" pitchFamily="18" charset="0"/>
                          </a:rPr>
                        </m:ctrlPr>
                      </m:sSubPr>
                      <m:e>
                        <m:r>
                          <a:rPr lang="ar-AE" sz="2000" b="1" i="1" smtClean="0">
                            <a:latin typeface="Cambria Math" panose="02040503050406030204" pitchFamily="18" charset="0"/>
                          </a:rPr>
                          <m:t>𝑰</m:t>
                        </m:r>
                      </m:e>
                      <m:sub>
                        <m:r>
                          <a:rPr lang="ar-AE" sz="2000" b="1" i="1" smtClean="0">
                            <a:latin typeface="Cambria Math" panose="02040503050406030204" pitchFamily="18" charset="0"/>
                          </a:rPr>
                          <m:t>𝒈</m:t>
                        </m:r>
                      </m:sub>
                    </m:sSub>
                  </m:oMath>
                </a14:m>
                <a:r>
                  <a:rPr lang="en-IN" sz="2000" b="1" dirty="0">
                    <a:latin typeface="Century Schoolbook" panose="02040604050505020304" pitchFamily="18" charset="0"/>
                  </a:rPr>
                  <a:t>is the current through the galvanometer, </a:t>
                </a:r>
                <a14:m>
                  <m:oMath xmlns:m="http://schemas.openxmlformats.org/officeDocument/2006/math">
                    <m:r>
                      <a:rPr lang="en-IN" sz="2000" b="1" i="1" smtClean="0">
                        <a:latin typeface="Cambria Math" panose="02040503050406030204" pitchFamily="18" charset="0"/>
                      </a:rPr>
                      <m:t>𝑰</m:t>
                    </m:r>
                  </m:oMath>
                </a14:m>
                <a:r>
                  <a:rPr lang="en-IN" sz="2000" b="1" dirty="0">
                    <a:latin typeface="Century Schoolbook" panose="02040604050505020304" pitchFamily="18" charset="0"/>
                  </a:rPr>
                  <a:t>is the total current, and </a:t>
                </a:r>
                <a14:m>
                  <m:oMath xmlns:m="http://schemas.openxmlformats.org/officeDocument/2006/math">
                    <m:r>
                      <a:rPr lang="en-IN" sz="2000" b="1" i="1" smtClean="0">
                        <a:latin typeface="Cambria Math" panose="02040503050406030204" pitchFamily="18" charset="0"/>
                      </a:rPr>
                      <m:t>𝑮</m:t>
                    </m:r>
                  </m:oMath>
                </a14:m>
                <a:r>
                  <a:rPr lang="en-IN" sz="2000" b="1" dirty="0">
                    <a:latin typeface="Century Schoolbook" panose="02040604050505020304" pitchFamily="18" charset="0"/>
                  </a:rPr>
                  <a:t>is the galvanometer resistance, then :  </a:t>
                </a:r>
                <a14:m>
                  <m:oMath xmlns:m="http://schemas.openxmlformats.org/officeDocument/2006/math">
                    <m:sSub>
                      <m:sSubPr>
                        <m:ctrlPr>
                          <a:rPr lang="ar-AE" sz="2400" b="1" i="1" smtClean="0">
                            <a:solidFill>
                              <a:srgbClr val="FFFF00"/>
                            </a:solidFill>
                            <a:latin typeface="Cambria Math" panose="02040503050406030204" pitchFamily="18" charset="0"/>
                          </a:rPr>
                        </m:ctrlPr>
                      </m:sSubPr>
                      <m:e>
                        <m:r>
                          <a:rPr lang="ar-AE" sz="2400" b="1" i="1" smtClean="0">
                            <a:solidFill>
                              <a:srgbClr val="FFFF00"/>
                            </a:solidFill>
                            <a:latin typeface="Cambria Math" panose="02040503050406030204" pitchFamily="18" charset="0"/>
                          </a:rPr>
                          <m:t>𝑹</m:t>
                        </m:r>
                      </m:e>
                      <m:sub>
                        <m:r>
                          <a:rPr lang="ar-AE" sz="2400" b="1" i="1" smtClean="0">
                            <a:solidFill>
                              <a:srgbClr val="FFFF00"/>
                            </a:solidFill>
                            <a:latin typeface="Cambria Math" panose="02040503050406030204" pitchFamily="18" charset="0"/>
                          </a:rPr>
                          <m:t>𝒔𝒉</m:t>
                        </m:r>
                      </m:sub>
                    </m:sSub>
                    <m:r>
                      <a:rPr lang="ar-AE" sz="2400" b="1" smtClean="0">
                        <a:solidFill>
                          <a:srgbClr val="FFFF00"/>
                        </a:solidFill>
                        <a:latin typeface="Cambria Math" panose="02040503050406030204" pitchFamily="18" charset="0"/>
                      </a:rPr>
                      <m:t>=</m:t>
                    </m:r>
                    <m:f>
                      <m:fPr>
                        <m:ctrlPr>
                          <a:rPr lang="ar-AE" sz="2400" b="1" i="1">
                            <a:solidFill>
                              <a:srgbClr val="FFFF00"/>
                            </a:solidFill>
                            <a:latin typeface="Cambria Math" panose="02040503050406030204" pitchFamily="18" charset="0"/>
                          </a:rPr>
                        </m:ctrlPr>
                      </m:fPr>
                      <m:num>
                        <m:sSub>
                          <m:sSubPr>
                            <m:ctrlPr>
                              <a:rPr lang="ar-AE" sz="2400" b="1" i="1">
                                <a:solidFill>
                                  <a:srgbClr val="FFFF00"/>
                                </a:solidFill>
                                <a:latin typeface="Cambria Math" panose="02040503050406030204" pitchFamily="18" charset="0"/>
                              </a:rPr>
                            </m:ctrlPr>
                          </m:sSubPr>
                          <m:e>
                            <m:r>
                              <a:rPr lang="ar-AE" sz="2400" b="1" i="1" smtClean="0">
                                <a:solidFill>
                                  <a:srgbClr val="FFFF00"/>
                                </a:solidFill>
                                <a:latin typeface="Cambria Math" panose="02040503050406030204" pitchFamily="18" charset="0"/>
                              </a:rPr>
                              <m:t>𝑰</m:t>
                            </m:r>
                          </m:e>
                          <m:sub>
                            <m:r>
                              <a:rPr lang="ar-AE" sz="2400" b="1" i="1" smtClean="0">
                                <a:solidFill>
                                  <a:srgbClr val="FFFF00"/>
                                </a:solidFill>
                                <a:latin typeface="Cambria Math" panose="02040503050406030204" pitchFamily="18" charset="0"/>
                              </a:rPr>
                              <m:t>𝒈</m:t>
                            </m:r>
                          </m:sub>
                        </m:sSub>
                        <m:r>
                          <a:rPr lang="ar-AE" sz="2400" b="1" smtClean="0">
                            <a:solidFill>
                              <a:srgbClr val="FFFF00"/>
                            </a:solidFill>
                            <a:latin typeface="Cambria Math" panose="02040503050406030204" pitchFamily="18" charset="0"/>
                          </a:rPr>
                          <m:t>×</m:t>
                        </m:r>
                        <m:r>
                          <a:rPr lang="ar-AE" sz="2400" b="1" i="1" smtClean="0">
                            <a:solidFill>
                              <a:srgbClr val="FFFF00"/>
                            </a:solidFill>
                            <a:latin typeface="Cambria Math" panose="02040503050406030204" pitchFamily="18" charset="0"/>
                          </a:rPr>
                          <m:t>𝑮</m:t>
                        </m:r>
                      </m:num>
                      <m:den>
                        <m:r>
                          <a:rPr lang="ar-AE" sz="2400" b="1" i="1" smtClean="0">
                            <a:solidFill>
                              <a:srgbClr val="FFFF00"/>
                            </a:solidFill>
                            <a:latin typeface="Cambria Math" panose="02040503050406030204" pitchFamily="18" charset="0"/>
                          </a:rPr>
                          <m:t>𝑰</m:t>
                        </m:r>
                        <m:r>
                          <a:rPr lang="ar-AE" sz="2400" b="1" smtClean="0">
                            <a:solidFill>
                              <a:srgbClr val="FFFF00"/>
                            </a:solidFill>
                            <a:latin typeface="Cambria Math" panose="02040503050406030204" pitchFamily="18" charset="0"/>
                          </a:rPr>
                          <m:t>−</m:t>
                        </m:r>
                        <m:sSub>
                          <m:sSubPr>
                            <m:ctrlPr>
                              <a:rPr lang="ar-AE" sz="2400" b="1" i="1">
                                <a:solidFill>
                                  <a:srgbClr val="FFFF00"/>
                                </a:solidFill>
                                <a:latin typeface="Cambria Math" panose="02040503050406030204" pitchFamily="18" charset="0"/>
                              </a:rPr>
                            </m:ctrlPr>
                          </m:sSubPr>
                          <m:e>
                            <m:r>
                              <a:rPr lang="ar-AE" sz="2400" b="1" i="1" smtClean="0">
                                <a:solidFill>
                                  <a:srgbClr val="FFFF00"/>
                                </a:solidFill>
                                <a:latin typeface="Cambria Math" panose="02040503050406030204" pitchFamily="18" charset="0"/>
                              </a:rPr>
                              <m:t>𝑰</m:t>
                            </m:r>
                          </m:e>
                          <m:sub>
                            <m:r>
                              <a:rPr lang="ar-AE" sz="2400" b="1" i="1" smtClean="0">
                                <a:solidFill>
                                  <a:srgbClr val="FFFF00"/>
                                </a:solidFill>
                                <a:latin typeface="Cambria Math" panose="02040503050406030204" pitchFamily="18" charset="0"/>
                              </a:rPr>
                              <m:t>𝒈</m:t>
                            </m:r>
                          </m:sub>
                        </m:sSub>
                      </m:den>
                    </m:f>
                  </m:oMath>
                </a14:m>
                <a:endParaRPr lang="ar-AE" sz="2000" b="1" dirty="0">
                  <a:latin typeface="Century Schoolbook" panose="02040604050505020304" pitchFamily="18" charset="0"/>
                </a:endParaRPr>
              </a:p>
              <a:p>
                <a:pPr algn="l"/>
                <a:endParaRPr lang="en-IN" b="1" dirty="0">
                  <a:latin typeface="Century Schoolbook" panose="02040604050505020304" pitchFamily="18" charset="0"/>
                </a:endParaRPr>
              </a:p>
            </p:txBody>
          </p:sp>
        </mc:Choice>
        <mc:Fallback xmlns="">
          <p:sp>
            <p:nvSpPr>
              <p:cNvPr id="3" name="Text Placeholder 2">
                <a:extLst>
                  <a:ext uri="{FF2B5EF4-FFF2-40B4-BE49-F238E27FC236}">
                    <a16:creationId xmlns:a16="http://schemas.microsoft.com/office/drawing/2014/main" id="{80C615B6-03AB-E864-80FB-04C2B69B3F6A}"/>
                  </a:ext>
                </a:extLst>
              </p:cNvPr>
              <p:cNvSpPr>
                <a:spLocks noGrp="1" noRot="1" noChangeAspect="1" noMove="1" noResize="1" noEditPoints="1" noAdjustHandles="1" noChangeArrowheads="1" noChangeShapeType="1" noTextEdit="1"/>
              </p:cNvSpPr>
              <p:nvPr>
                <p:ph type="body" sz="half" idx="2"/>
              </p:nvPr>
            </p:nvSpPr>
            <p:spPr>
              <a:xfrm>
                <a:off x="127819" y="828368"/>
                <a:ext cx="11828207" cy="5238135"/>
              </a:xfrm>
              <a:blipFill>
                <a:blip r:embed="rId2"/>
                <a:stretch>
                  <a:fillRect l="-1031" t="-2445"/>
                </a:stretch>
              </a:blipFill>
            </p:spPr>
            <p:txBody>
              <a:bodyPr/>
              <a:lstStyle/>
              <a:p>
                <a:r>
                  <a:rPr lang="en-IN">
                    <a:noFill/>
                  </a:rPr>
                  <a:t> </a:t>
                </a:r>
              </a:p>
            </p:txBody>
          </p:sp>
        </mc:Fallback>
      </mc:AlternateContent>
    </p:spTree>
    <p:extLst>
      <p:ext uri="{BB962C8B-B14F-4D97-AF65-F5344CB8AC3E}">
        <p14:creationId xmlns:p14="http://schemas.microsoft.com/office/powerpoint/2010/main" val="30647671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EE16E-52B0-55A7-6F41-7ACB267B1D60}"/>
              </a:ext>
            </a:extLst>
          </p:cNvPr>
          <p:cNvSpPr>
            <a:spLocks noGrp="1"/>
          </p:cNvSpPr>
          <p:nvPr>
            <p:ph type="title"/>
          </p:nvPr>
        </p:nvSpPr>
        <p:spPr>
          <a:xfrm>
            <a:off x="0" y="-19381"/>
            <a:ext cx="12192000" cy="872821"/>
          </a:xfrm>
        </p:spPr>
        <p:txBody>
          <a:bodyPr>
            <a:normAutofit/>
          </a:bodyPr>
          <a:lstStyle/>
          <a:p>
            <a:pPr algn="l"/>
            <a:r>
              <a:rPr lang="en-US" sz="4800" b="0" dirty="0">
                <a:solidFill>
                  <a:srgbClr val="FFFF00"/>
                </a:solidFill>
                <a:latin typeface="Algerian" panose="04020705040A02060702" pitchFamily="82" charset="0"/>
              </a:rPr>
              <a:t>4.4] </a:t>
            </a:r>
            <a:r>
              <a:rPr lang="en-US" sz="4800" b="0" u="sng" dirty="0">
                <a:solidFill>
                  <a:srgbClr val="FFFF00"/>
                </a:solidFill>
                <a:latin typeface="Algerian" panose="04020705040A02060702" pitchFamily="82" charset="0"/>
              </a:rPr>
              <a:t>electromagnetism</a:t>
            </a:r>
            <a:r>
              <a:rPr lang="en-US" sz="4800" b="0" dirty="0">
                <a:solidFill>
                  <a:srgbClr val="FFFF00"/>
                </a:solidFill>
                <a:latin typeface="Algerian" panose="04020705040A02060702" pitchFamily="82" charset="0"/>
              </a:rPr>
              <a:t> : -</a:t>
            </a:r>
            <a:endParaRPr lang="en-IN" sz="4800" b="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2C6BCCE2-28AA-8BE1-56F4-98771072A311}"/>
              </a:ext>
            </a:extLst>
          </p:cNvPr>
          <p:cNvSpPr>
            <a:spLocks noGrp="1"/>
          </p:cNvSpPr>
          <p:nvPr>
            <p:ph type="body" sz="half" idx="2"/>
          </p:nvPr>
        </p:nvSpPr>
        <p:spPr>
          <a:xfrm>
            <a:off x="132080" y="853440"/>
            <a:ext cx="12059920" cy="6075680"/>
          </a:xfrm>
        </p:spPr>
        <p:txBody>
          <a:bodyPr>
            <a:normAutofit fontScale="92500" lnSpcReduction="10000"/>
          </a:bodyPr>
          <a:lstStyle/>
          <a:p>
            <a:pPr marL="285750" indent="-285750" algn="l">
              <a:buFont typeface="Wingdings" panose="05000000000000000000" pitchFamily="2" charset="2"/>
              <a:buChar char="v"/>
            </a:pPr>
            <a:r>
              <a:rPr lang="en-US" sz="3200" b="1" u="sng" dirty="0">
                <a:solidFill>
                  <a:srgbClr val="FFFF00"/>
                </a:solidFill>
                <a:latin typeface="Century Schoolbook" panose="02040604050505020304" pitchFamily="18" charset="0"/>
              </a:rPr>
              <a:t>Definition</a:t>
            </a:r>
            <a:r>
              <a:rPr lang="en-US" sz="3200" b="1" dirty="0">
                <a:solidFill>
                  <a:srgbClr val="FFFF00"/>
                </a:solidFill>
                <a:latin typeface="Century Schoolbook" panose="02040604050505020304" pitchFamily="18" charset="0"/>
              </a:rPr>
              <a:t> : -</a:t>
            </a:r>
          </a:p>
          <a:p>
            <a:pPr marL="285750" indent="-285750" algn="l">
              <a:buFont typeface="Arial" panose="020B0604020202020204" pitchFamily="34" charset="0"/>
              <a:buChar char="•"/>
            </a:pPr>
            <a:r>
              <a:rPr lang="en-US" sz="2600" b="1" dirty="0">
                <a:latin typeface="Century Schoolbook" panose="02040604050505020304" pitchFamily="18" charset="0"/>
              </a:rPr>
              <a:t>Electromagnetism is the branch of physics that studies the relationship between electricity and magnetism.</a:t>
            </a:r>
          </a:p>
          <a:p>
            <a:pPr marL="285750" indent="-285750" algn="l">
              <a:buFont typeface="Arial" panose="020B0604020202020204" pitchFamily="34" charset="0"/>
              <a:buChar char="•"/>
            </a:pPr>
            <a:r>
              <a:rPr lang="en-US" sz="2600" b="1" dirty="0">
                <a:latin typeface="Century Schoolbook" panose="02040604050505020304" pitchFamily="18" charset="0"/>
              </a:rPr>
              <a:t>It explains how electric currents produce magnetic fields, and how changing magnetic fields can produce electric currents.</a:t>
            </a:r>
          </a:p>
          <a:p>
            <a:pPr marL="285750" indent="-285750" algn="l">
              <a:buFont typeface="Wingdings" panose="05000000000000000000" pitchFamily="2" charset="2"/>
              <a:buChar char="v"/>
            </a:pPr>
            <a:r>
              <a:rPr lang="en-US" sz="4000" b="1" u="sng" dirty="0">
                <a:solidFill>
                  <a:srgbClr val="FFFF00"/>
                </a:solidFill>
                <a:latin typeface="Century Schoolbook" panose="02040604050505020304" pitchFamily="18" charset="0"/>
              </a:rPr>
              <a:t>Examples in Daily Life</a:t>
            </a:r>
            <a:r>
              <a:rPr lang="en-US" sz="4000" b="1" dirty="0">
                <a:solidFill>
                  <a:srgbClr val="FFFF00"/>
                </a:solidFill>
                <a:latin typeface="Century Schoolbook" panose="02040604050505020304" pitchFamily="18" charset="0"/>
              </a:rPr>
              <a:t> : -</a:t>
            </a:r>
          </a:p>
          <a:p>
            <a:pPr marL="342900" indent="-342900" algn="l">
              <a:buFont typeface="Arial" panose="020B0604020202020204" pitchFamily="34" charset="0"/>
              <a:buChar char="•"/>
            </a:pPr>
            <a:r>
              <a:rPr lang="en-US" sz="2600" b="1" u="sng" dirty="0">
                <a:solidFill>
                  <a:srgbClr val="FFFF00"/>
                </a:solidFill>
                <a:latin typeface="Century Schoolbook" panose="02040604050505020304" pitchFamily="18" charset="0"/>
              </a:rPr>
              <a:t>Electric Bell</a:t>
            </a:r>
            <a:r>
              <a:rPr lang="en-US" sz="2600" b="1" dirty="0">
                <a:solidFill>
                  <a:srgbClr val="FFFF00"/>
                </a:solidFill>
                <a:latin typeface="Century Schoolbook" panose="02040604050505020304" pitchFamily="18" charset="0"/>
              </a:rPr>
              <a:t> – </a:t>
            </a:r>
            <a:r>
              <a:rPr lang="en-US" sz="2400" b="1" dirty="0">
                <a:latin typeface="Century Schoolbook" panose="02040604050505020304" pitchFamily="18" charset="0"/>
              </a:rPr>
              <a:t>works using an electromagnet.</a:t>
            </a:r>
          </a:p>
          <a:p>
            <a:pPr marL="342900" indent="-342900" algn="l">
              <a:buFont typeface="Arial" panose="020B0604020202020204" pitchFamily="34" charset="0"/>
              <a:buChar char="•"/>
            </a:pPr>
            <a:r>
              <a:rPr lang="en-US" sz="2600" b="1" u="sng" dirty="0">
                <a:solidFill>
                  <a:srgbClr val="FFFF00"/>
                </a:solidFill>
                <a:latin typeface="Century Schoolbook" panose="02040604050505020304" pitchFamily="18" charset="0"/>
              </a:rPr>
              <a:t>Electric Motor</a:t>
            </a:r>
            <a:r>
              <a:rPr lang="en-US" sz="2600" b="1" dirty="0">
                <a:solidFill>
                  <a:srgbClr val="FFFF00"/>
                </a:solidFill>
                <a:latin typeface="Century Schoolbook" panose="02040604050505020304" pitchFamily="18" charset="0"/>
              </a:rPr>
              <a:t> </a:t>
            </a:r>
            <a:r>
              <a:rPr lang="en-US" sz="2200" b="1" dirty="0">
                <a:solidFill>
                  <a:srgbClr val="FFFF00"/>
                </a:solidFill>
                <a:latin typeface="Century Schoolbook" panose="02040604050505020304" pitchFamily="18" charset="0"/>
              </a:rPr>
              <a:t>– </a:t>
            </a:r>
            <a:r>
              <a:rPr lang="en-US" sz="2400" b="1" dirty="0">
                <a:latin typeface="Century Schoolbook" panose="02040604050505020304" pitchFamily="18" charset="0"/>
              </a:rPr>
              <a:t>converts electrical energy into mechanical motion using magnetic fields.</a:t>
            </a:r>
          </a:p>
          <a:p>
            <a:pPr marL="342900" indent="-342900" algn="l">
              <a:buFont typeface="Arial" panose="020B0604020202020204" pitchFamily="34" charset="0"/>
              <a:buChar char="•"/>
            </a:pPr>
            <a:r>
              <a:rPr lang="en-US" sz="2600" b="1" u="sng" dirty="0">
                <a:solidFill>
                  <a:srgbClr val="FFFF00"/>
                </a:solidFill>
                <a:latin typeface="Century Schoolbook" panose="02040604050505020304" pitchFamily="18" charset="0"/>
              </a:rPr>
              <a:t>Electric Generator</a:t>
            </a:r>
            <a:r>
              <a:rPr lang="en-US" sz="2600" b="1" dirty="0">
                <a:solidFill>
                  <a:srgbClr val="FFFF00"/>
                </a:solidFill>
                <a:latin typeface="Century Schoolbook" panose="02040604050505020304" pitchFamily="18" charset="0"/>
              </a:rPr>
              <a:t> – </a:t>
            </a:r>
            <a:r>
              <a:rPr lang="en-US" sz="2400" b="1" dirty="0">
                <a:latin typeface="Century Schoolbook" panose="02040604050505020304" pitchFamily="18" charset="0"/>
              </a:rPr>
              <a:t>converts mechanical energy into electrical energy.</a:t>
            </a:r>
          </a:p>
          <a:p>
            <a:pPr marL="342900" indent="-342900" algn="l">
              <a:buFont typeface="Arial" panose="020B0604020202020204" pitchFamily="34" charset="0"/>
              <a:buChar char="•"/>
            </a:pPr>
            <a:r>
              <a:rPr lang="en-US" sz="2600" b="1" u="sng" dirty="0">
                <a:solidFill>
                  <a:srgbClr val="FFFF00"/>
                </a:solidFill>
                <a:latin typeface="Century Schoolbook" panose="02040604050505020304" pitchFamily="18" charset="0"/>
              </a:rPr>
              <a:t>Transformers</a:t>
            </a:r>
            <a:r>
              <a:rPr lang="en-US" sz="2600" b="1" dirty="0">
                <a:solidFill>
                  <a:srgbClr val="FFFF00"/>
                </a:solidFill>
                <a:latin typeface="Century Schoolbook" panose="02040604050505020304" pitchFamily="18" charset="0"/>
              </a:rPr>
              <a:t> –</a:t>
            </a:r>
            <a:r>
              <a:rPr lang="en-US" sz="2400" b="1" dirty="0">
                <a:latin typeface="Century Schoolbook" panose="02040604050505020304" pitchFamily="18" charset="0"/>
              </a:rPr>
              <a:t> use electromagnetic induction to transfer energy between circuits.</a:t>
            </a:r>
          </a:p>
          <a:p>
            <a:pPr marL="285750" indent="-285750" algn="l">
              <a:buFont typeface="Arial" panose="020B0604020202020204" pitchFamily="34" charset="0"/>
              <a:buChar char="•"/>
            </a:pPr>
            <a:endParaRPr lang="en-US" sz="2200" b="1" dirty="0">
              <a:latin typeface="Century Schoolbook" panose="02040604050505020304" pitchFamily="18" charset="0"/>
            </a:endParaRPr>
          </a:p>
        </p:txBody>
      </p:sp>
    </p:spTree>
    <p:extLst>
      <p:ext uri="{BB962C8B-B14F-4D97-AF65-F5344CB8AC3E}">
        <p14:creationId xmlns:p14="http://schemas.microsoft.com/office/powerpoint/2010/main" val="17355911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1BDFC-DF63-F082-B0C8-201A9837800F}"/>
              </a:ext>
            </a:extLst>
          </p:cNvPr>
          <p:cNvSpPr>
            <a:spLocks noGrp="1"/>
          </p:cNvSpPr>
          <p:nvPr>
            <p:ph type="title"/>
          </p:nvPr>
        </p:nvSpPr>
        <p:spPr>
          <a:xfrm>
            <a:off x="111760" y="-132079"/>
            <a:ext cx="12192000" cy="1060994"/>
          </a:xfrm>
        </p:spPr>
        <p:txBody>
          <a:bodyPr>
            <a:normAutofit/>
          </a:bodyPr>
          <a:lstStyle/>
          <a:p>
            <a:pPr algn="l"/>
            <a:r>
              <a:rPr lang="en-US" sz="4800" b="0" dirty="0">
                <a:solidFill>
                  <a:srgbClr val="FFFF00"/>
                </a:solidFill>
                <a:latin typeface="Algerian" panose="04020705040A02060702" pitchFamily="82" charset="0"/>
              </a:rPr>
              <a:t>4.5] </a:t>
            </a:r>
            <a:r>
              <a:rPr lang="en-US" sz="4800" b="0" u="sng" dirty="0">
                <a:solidFill>
                  <a:srgbClr val="FFFF00"/>
                </a:solidFill>
                <a:latin typeface="Algerian" panose="04020705040A02060702" pitchFamily="82" charset="0"/>
              </a:rPr>
              <a:t>magnetic effect of current</a:t>
            </a:r>
            <a:r>
              <a:rPr lang="en-US" sz="4800" b="0" dirty="0">
                <a:solidFill>
                  <a:srgbClr val="FFFF00"/>
                </a:solidFill>
                <a:latin typeface="Algerian" panose="04020705040A02060702" pitchFamily="82" charset="0"/>
              </a:rPr>
              <a:t> : - </a:t>
            </a:r>
            <a:endParaRPr lang="en-IN" sz="4800" b="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AF19E46C-AAD7-3F3B-040C-65A3BFA2D6D7}"/>
              </a:ext>
            </a:extLst>
          </p:cNvPr>
          <p:cNvSpPr>
            <a:spLocks noGrp="1"/>
          </p:cNvSpPr>
          <p:nvPr>
            <p:ph type="body" sz="half" idx="2"/>
          </p:nvPr>
        </p:nvSpPr>
        <p:spPr>
          <a:xfrm>
            <a:off x="193040" y="792482"/>
            <a:ext cx="11998960" cy="6065518"/>
          </a:xfrm>
        </p:spPr>
        <p:txBody>
          <a:bodyPr>
            <a:normAutofit/>
          </a:bodyPr>
          <a:lstStyle/>
          <a:p>
            <a:pPr marL="285750" indent="-285750" algn="l">
              <a:buFont typeface="Wingdings" panose="05000000000000000000" pitchFamily="2" charset="2"/>
              <a:buChar char="v"/>
            </a:pPr>
            <a:r>
              <a:rPr lang="en-US" sz="2400" b="1" u="sng" dirty="0">
                <a:solidFill>
                  <a:srgbClr val="FFFF00"/>
                </a:solidFill>
                <a:latin typeface="Century Schoolbook" panose="02040604050505020304" pitchFamily="18" charset="0"/>
              </a:rPr>
              <a:t>Definition</a:t>
            </a:r>
            <a:r>
              <a:rPr lang="en-US" sz="2400" b="1" dirty="0">
                <a:solidFill>
                  <a:srgbClr val="FFFF00"/>
                </a:solidFill>
                <a:latin typeface="Century Schoolbook" panose="02040604050505020304" pitchFamily="18" charset="0"/>
              </a:rPr>
              <a:t> : -</a:t>
            </a:r>
          </a:p>
          <a:p>
            <a:pPr marL="342900" indent="-342900" algn="l">
              <a:buFont typeface="Wingdings" panose="05000000000000000000" pitchFamily="2" charset="2"/>
              <a:buChar char="Ø"/>
            </a:pPr>
            <a:r>
              <a:rPr lang="en-US" sz="2000" b="1" dirty="0">
                <a:latin typeface="Century Schoolbook" panose="02040604050505020304" pitchFamily="18" charset="0"/>
              </a:rPr>
              <a:t>The Magnetic Effect of Current means that when an electric current flows through a conductor, it produces a magnetic field around it..</a:t>
            </a:r>
          </a:p>
          <a:p>
            <a:pPr marL="342900" indent="-342900" algn="l">
              <a:buFont typeface="Wingdings" panose="05000000000000000000" pitchFamily="2" charset="2"/>
              <a:buChar char="Ø"/>
            </a:pPr>
            <a:r>
              <a:rPr lang="en-US" sz="2000" b="1" dirty="0">
                <a:latin typeface="Century Schoolbook" panose="02040604050505020304" pitchFamily="18" charset="0"/>
              </a:rPr>
              <a:t>When current flows through a straight conductor, magnetic field lines are formed in concentric circles around it.</a:t>
            </a:r>
          </a:p>
          <a:p>
            <a:pPr marL="342900" indent="-342900" algn="l">
              <a:buFont typeface="Wingdings" panose="05000000000000000000" pitchFamily="2" charset="2"/>
              <a:buChar char="Ø"/>
            </a:pPr>
            <a:r>
              <a:rPr lang="en-US" sz="2000" b="1" dirty="0">
                <a:latin typeface="Century Schoolbook" panose="02040604050505020304" pitchFamily="18" charset="0"/>
              </a:rPr>
              <a:t>The direction of the magnetic field depends on the direction of current flow..</a:t>
            </a:r>
          </a:p>
          <a:p>
            <a:pPr marL="285750" indent="-285750" algn="l">
              <a:buFont typeface="Wingdings" panose="05000000000000000000" pitchFamily="2" charset="2"/>
              <a:buChar char="v"/>
            </a:pPr>
            <a:r>
              <a:rPr lang="en-US" sz="2400" b="1" u="sng" dirty="0">
                <a:solidFill>
                  <a:srgbClr val="FFFF00"/>
                </a:solidFill>
                <a:latin typeface="Century Schoolbook" panose="02040604050505020304" pitchFamily="18" charset="0"/>
              </a:rPr>
              <a:t>Examples</a:t>
            </a:r>
            <a:r>
              <a:rPr lang="en-US" sz="2400" b="1" dirty="0">
                <a:solidFill>
                  <a:srgbClr val="FFFF00"/>
                </a:solidFill>
                <a:latin typeface="Century Schoolbook" panose="02040604050505020304" pitchFamily="18" charset="0"/>
              </a:rPr>
              <a:t> : -</a:t>
            </a:r>
          </a:p>
          <a:p>
            <a:pPr marL="285750" indent="-285750" algn="l">
              <a:buFont typeface="Arial" panose="020B0604020202020204" pitchFamily="34" charset="0"/>
              <a:buChar char="•"/>
            </a:pPr>
            <a:r>
              <a:rPr lang="en-US" sz="2000" b="1" dirty="0">
                <a:latin typeface="Century Schoolbook" panose="02040604050505020304" pitchFamily="18" charset="0"/>
              </a:rPr>
              <a:t>Magnetic field around a straight conductor.</a:t>
            </a:r>
          </a:p>
          <a:p>
            <a:pPr marL="285750" indent="-285750" algn="l">
              <a:buFont typeface="Arial" panose="020B0604020202020204" pitchFamily="34" charset="0"/>
              <a:buChar char="•"/>
            </a:pPr>
            <a:r>
              <a:rPr lang="en-US" sz="2000" b="1" dirty="0">
                <a:latin typeface="Century Schoolbook" panose="02040604050505020304" pitchFamily="18" charset="0"/>
              </a:rPr>
              <a:t>Magnetic field inside a coil or solenoid.</a:t>
            </a:r>
          </a:p>
          <a:p>
            <a:pPr marL="285750" indent="-285750" algn="l">
              <a:buFont typeface="Arial" panose="020B0604020202020204" pitchFamily="34" charset="0"/>
              <a:buChar char="•"/>
            </a:pPr>
            <a:r>
              <a:rPr lang="en-US" sz="2000" b="1" dirty="0">
                <a:latin typeface="Century Schoolbook" panose="02040604050505020304" pitchFamily="18" charset="0"/>
              </a:rPr>
              <a:t>Electromagnets and electric motors work on this principle.</a:t>
            </a:r>
          </a:p>
          <a:p>
            <a:pPr marL="285750" indent="-285750" algn="l">
              <a:buFont typeface="Wingdings" panose="05000000000000000000" pitchFamily="2" charset="2"/>
              <a:buChar char="v"/>
            </a:pPr>
            <a:r>
              <a:rPr lang="en-US" sz="2400" b="1" u="sng" dirty="0">
                <a:solidFill>
                  <a:srgbClr val="FFFF00"/>
                </a:solidFill>
                <a:latin typeface="Century Schoolbook" panose="02040604050505020304" pitchFamily="18" charset="0"/>
              </a:rPr>
              <a:t>Applications</a:t>
            </a:r>
            <a:r>
              <a:rPr lang="en-US" sz="2400" b="1" dirty="0">
                <a:solidFill>
                  <a:srgbClr val="FFFF00"/>
                </a:solidFill>
                <a:latin typeface="Century Schoolbook" panose="02040604050505020304" pitchFamily="18" charset="0"/>
              </a:rPr>
              <a:t> : -</a:t>
            </a:r>
          </a:p>
          <a:p>
            <a:pPr marL="285750" indent="-285750" algn="l">
              <a:buFont typeface="Arial" panose="020B0604020202020204" pitchFamily="34" charset="0"/>
              <a:buChar char="•"/>
            </a:pPr>
            <a:r>
              <a:rPr lang="en-US" sz="2000" b="1" dirty="0">
                <a:latin typeface="Century Schoolbook" panose="02040604050505020304" pitchFamily="18" charset="0"/>
              </a:rPr>
              <a:t>Electric bell, relay, electric motor, loudspeaker, and magnetic cranes.</a:t>
            </a:r>
          </a:p>
          <a:p>
            <a:pPr algn="l"/>
            <a:endParaRPr lang="en-IN" b="1" dirty="0">
              <a:latin typeface="Century Schoolbook" panose="02040604050505020304" pitchFamily="18" charset="0"/>
            </a:endParaRPr>
          </a:p>
        </p:txBody>
      </p:sp>
    </p:spTree>
    <p:extLst>
      <p:ext uri="{BB962C8B-B14F-4D97-AF65-F5344CB8AC3E}">
        <p14:creationId xmlns:p14="http://schemas.microsoft.com/office/powerpoint/2010/main" val="39759747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2271E-C7CC-14CB-20C3-90041CBE6491}"/>
              </a:ext>
            </a:extLst>
          </p:cNvPr>
          <p:cNvSpPr>
            <a:spLocks noGrp="1"/>
          </p:cNvSpPr>
          <p:nvPr>
            <p:ph type="title"/>
          </p:nvPr>
        </p:nvSpPr>
        <p:spPr>
          <a:xfrm>
            <a:off x="81280" y="-87299"/>
            <a:ext cx="10353762" cy="961059"/>
          </a:xfrm>
        </p:spPr>
        <p:txBody>
          <a:bodyPr>
            <a:normAutofit/>
          </a:bodyPr>
          <a:lstStyle/>
          <a:p>
            <a:pPr marL="457200" indent="-457200" algn="l">
              <a:buFont typeface="Wingdings" panose="05000000000000000000" pitchFamily="2" charset="2"/>
              <a:buChar char="v"/>
            </a:pPr>
            <a:r>
              <a:rPr lang="en-US" sz="4800" b="0" u="sng" dirty="0">
                <a:solidFill>
                  <a:srgbClr val="FFFF00"/>
                </a:solidFill>
                <a:latin typeface="Algerian" panose="04020705040A02060702" pitchFamily="82" charset="0"/>
              </a:rPr>
              <a:t>Magnetic induction</a:t>
            </a:r>
            <a:r>
              <a:rPr lang="en-US" sz="4800" b="0" dirty="0">
                <a:solidFill>
                  <a:srgbClr val="FFFF00"/>
                </a:solidFill>
                <a:latin typeface="Algerian" panose="04020705040A02060702" pitchFamily="82" charset="0"/>
              </a:rPr>
              <a:t> : -</a:t>
            </a:r>
            <a:endParaRPr lang="en-IN" sz="4800" b="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A7A92D27-DDF5-F9A9-2041-C411072D2999}"/>
              </a:ext>
            </a:extLst>
          </p:cNvPr>
          <p:cNvSpPr>
            <a:spLocks noGrp="1"/>
          </p:cNvSpPr>
          <p:nvPr>
            <p:ph type="body" sz="half" idx="2"/>
          </p:nvPr>
        </p:nvSpPr>
        <p:spPr>
          <a:xfrm>
            <a:off x="254000" y="731520"/>
            <a:ext cx="11633200" cy="5770880"/>
          </a:xfrm>
        </p:spPr>
        <p:txBody>
          <a:bodyPr>
            <a:normAutofit/>
          </a:bodyPr>
          <a:lstStyle/>
          <a:p>
            <a:pPr marL="342900" indent="-342900" algn="l">
              <a:buFont typeface="Wingdings" panose="05000000000000000000" pitchFamily="2" charset="2"/>
              <a:buChar char="v"/>
            </a:pPr>
            <a:r>
              <a:rPr lang="en-US" sz="3200" b="1" u="sng" dirty="0">
                <a:solidFill>
                  <a:srgbClr val="FFFF00"/>
                </a:solidFill>
                <a:latin typeface="Century Schoolbook" panose="02040604050505020304" pitchFamily="18" charset="0"/>
              </a:rPr>
              <a:t>Definition</a:t>
            </a:r>
            <a:r>
              <a:rPr lang="en-US" sz="3200" b="1" dirty="0">
                <a:solidFill>
                  <a:srgbClr val="FFFF00"/>
                </a:solidFill>
                <a:latin typeface="Century Schoolbook" panose="02040604050505020304" pitchFamily="18" charset="0"/>
              </a:rPr>
              <a:t> : -</a:t>
            </a:r>
          </a:p>
          <a:p>
            <a:pPr marL="342900" indent="-342900" algn="l">
              <a:buFont typeface="Arial" panose="020B0604020202020204" pitchFamily="34" charset="0"/>
              <a:buChar char="•"/>
            </a:pPr>
            <a:r>
              <a:rPr lang="en-US" sz="2400" b="1" dirty="0">
                <a:latin typeface="Century Schoolbook" panose="02040604050505020304" pitchFamily="18" charset="0"/>
              </a:rPr>
              <a:t>Magnetic Induction is the process by which a material (usually iron or steel) becomes magnetized when placed near a magnet or in a magnetic field, without direct contact.</a:t>
            </a:r>
          </a:p>
          <a:p>
            <a:pPr marL="342900" indent="-342900" algn="l">
              <a:buFont typeface="Wingdings" panose="05000000000000000000" pitchFamily="2" charset="2"/>
              <a:buChar char="v"/>
            </a:pPr>
            <a:r>
              <a:rPr lang="en-US" sz="3200" b="1" u="sng" dirty="0">
                <a:solidFill>
                  <a:srgbClr val="FFFF00"/>
                </a:solidFill>
                <a:latin typeface="Century Schoolbook" panose="02040604050505020304" pitchFamily="18" charset="0"/>
              </a:rPr>
              <a:t>Explanation</a:t>
            </a:r>
            <a:r>
              <a:rPr lang="en-US" sz="3200" b="1" dirty="0">
                <a:solidFill>
                  <a:srgbClr val="FFFF00"/>
                </a:solidFill>
                <a:latin typeface="Century Schoolbook" panose="02040604050505020304" pitchFamily="18" charset="0"/>
              </a:rPr>
              <a:t> : -</a:t>
            </a:r>
          </a:p>
          <a:p>
            <a:pPr marL="342900" indent="-342900" algn="l">
              <a:buFont typeface="Arial" panose="020B0604020202020204" pitchFamily="34" charset="0"/>
              <a:buChar char="•"/>
            </a:pPr>
            <a:r>
              <a:rPr lang="en-US" sz="2400" b="1" dirty="0">
                <a:latin typeface="Century Schoolbook" panose="02040604050505020304" pitchFamily="18" charset="0"/>
              </a:rPr>
              <a:t>When a magnetic material is placed in a magnetic field, the magnetic domains inside the material align in one direction.</a:t>
            </a:r>
          </a:p>
          <a:p>
            <a:pPr marL="342900" indent="-342900" algn="l">
              <a:buFont typeface="Arial" panose="020B0604020202020204" pitchFamily="34" charset="0"/>
              <a:buChar char="•"/>
            </a:pPr>
            <a:r>
              <a:rPr lang="en-US" sz="2400" b="1" dirty="0">
                <a:latin typeface="Century Schoolbook" panose="02040604050505020304" pitchFamily="18" charset="0"/>
              </a:rPr>
              <a:t>This alignment makes the material behave like a magnet.</a:t>
            </a:r>
          </a:p>
          <a:p>
            <a:pPr marL="342900" indent="-342900" algn="l">
              <a:buFont typeface="Arial" panose="020B0604020202020204" pitchFamily="34" charset="0"/>
              <a:buChar char="•"/>
            </a:pPr>
            <a:r>
              <a:rPr lang="en-US" sz="2400" b="1" dirty="0">
                <a:latin typeface="Century Schoolbook" panose="02040604050505020304" pitchFamily="18" charset="0"/>
              </a:rPr>
              <a:t>The magnetism disappears when the magnetic field is removed (in case of soft iron).</a:t>
            </a:r>
          </a:p>
          <a:p>
            <a:pPr algn="l"/>
            <a:endParaRPr lang="en-IN" sz="2000" b="1" dirty="0">
              <a:latin typeface="Century Schoolbook" panose="02040604050505020304" pitchFamily="18" charset="0"/>
            </a:endParaRPr>
          </a:p>
        </p:txBody>
      </p:sp>
    </p:spTree>
    <p:extLst>
      <p:ext uri="{BB962C8B-B14F-4D97-AF65-F5344CB8AC3E}">
        <p14:creationId xmlns:p14="http://schemas.microsoft.com/office/powerpoint/2010/main" val="17877680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C16C4-A00E-E9A6-F35A-3DC34DC7E555}"/>
              </a:ext>
            </a:extLst>
          </p:cNvPr>
          <p:cNvSpPr>
            <a:spLocks noGrp="1"/>
          </p:cNvSpPr>
          <p:nvPr>
            <p:ph type="title"/>
          </p:nvPr>
        </p:nvSpPr>
        <p:spPr>
          <a:xfrm>
            <a:off x="172114" y="-300659"/>
            <a:ext cx="11389965" cy="300659"/>
          </a:xfrm>
        </p:spPr>
        <p:txBody>
          <a:bodyPr>
            <a:normAutofit fontScale="90000"/>
          </a:bodyPr>
          <a:lstStyle/>
          <a:p>
            <a:endParaRPr lang="en-IN" dirty="0"/>
          </a:p>
        </p:txBody>
      </p:sp>
      <p:sp>
        <p:nvSpPr>
          <p:cNvPr id="3" name="Text Placeholder 2">
            <a:extLst>
              <a:ext uri="{FF2B5EF4-FFF2-40B4-BE49-F238E27FC236}">
                <a16:creationId xmlns:a16="http://schemas.microsoft.com/office/drawing/2014/main" id="{6E635633-BCFA-DD89-D194-82A5EDBEB815}"/>
              </a:ext>
            </a:extLst>
          </p:cNvPr>
          <p:cNvSpPr>
            <a:spLocks noGrp="1"/>
          </p:cNvSpPr>
          <p:nvPr>
            <p:ph type="body" sz="half" idx="2"/>
          </p:nvPr>
        </p:nvSpPr>
        <p:spPr>
          <a:xfrm>
            <a:off x="172114" y="0"/>
            <a:ext cx="11928446" cy="5669280"/>
          </a:xfrm>
        </p:spPr>
        <p:txBody>
          <a:bodyPr>
            <a:normAutofit/>
          </a:bodyPr>
          <a:lstStyle/>
          <a:p>
            <a:pPr marL="342900" indent="-342900" algn="l">
              <a:buFont typeface="Wingdings" panose="05000000000000000000" pitchFamily="2" charset="2"/>
              <a:buChar char="v"/>
            </a:pPr>
            <a:r>
              <a:rPr lang="en-US" sz="3600" b="1" u="sng" dirty="0">
                <a:solidFill>
                  <a:srgbClr val="FFFF00"/>
                </a:solidFill>
                <a:latin typeface="Century Schoolbook" panose="02040604050505020304" pitchFamily="18" charset="0"/>
              </a:rPr>
              <a:t>Example</a:t>
            </a:r>
            <a:r>
              <a:rPr lang="en-US" sz="3600" b="1" dirty="0">
                <a:solidFill>
                  <a:srgbClr val="FFFF00"/>
                </a:solidFill>
                <a:latin typeface="Century Schoolbook" panose="02040604050505020304" pitchFamily="18" charset="0"/>
              </a:rPr>
              <a:t> : -</a:t>
            </a:r>
          </a:p>
          <a:p>
            <a:pPr marL="342900" indent="-342900" algn="l">
              <a:buFont typeface="Arial" panose="020B0604020202020204" pitchFamily="34" charset="0"/>
              <a:buChar char="•"/>
            </a:pPr>
            <a:r>
              <a:rPr lang="en-US" sz="2400" b="1" dirty="0">
                <a:latin typeface="Century Schoolbook" panose="02040604050505020304" pitchFamily="18" charset="0"/>
              </a:rPr>
              <a:t>If a soft iron nail is placed near a magnet, it becomes temporarily magnetized and can attract small pins — this happens due to magnetic induction.</a:t>
            </a:r>
          </a:p>
          <a:p>
            <a:pPr marL="342900" indent="-342900" algn="l">
              <a:buFont typeface="Wingdings" panose="05000000000000000000" pitchFamily="2" charset="2"/>
              <a:buChar char="v"/>
            </a:pPr>
            <a:r>
              <a:rPr lang="en-US" sz="3600" b="1" u="sng" dirty="0">
                <a:solidFill>
                  <a:srgbClr val="FFFF00"/>
                </a:solidFill>
                <a:latin typeface="Century Schoolbook" panose="02040604050505020304" pitchFamily="18" charset="0"/>
              </a:rPr>
              <a:t>Applications</a:t>
            </a:r>
            <a:r>
              <a:rPr lang="en-US" sz="3600" b="1" dirty="0">
                <a:solidFill>
                  <a:srgbClr val="FFFF00"/>
                </a:solidFill>
                <a:latin typeface="Century Schoolbook" panose="02040604050505020304" pitchFamily="18" charset="0"/>
              </a:rPr>
              <a:t> : -</a:t>
            </a:r>
          </a:p>
          <a:p>
            <a:pPr marL="342900" indent="-342900" algn="l">
              <a:buFont typeface="Arial" panose="020B0604020202020204" pitchFamily="34" charset="0"/>
              <a:buChar char="•"/>
            </a:pPr>
            <a:r>
              <a:rPr lang="en-US" sz="2400" b="1" dirty="0">
                <a:latin typeface="Century Schoolbook" panose="02040604050505020304" pitchFamily="18" charset="0"/>
              </a:rPr>
              <a:t>Used in making temporary magnets (electromagnets).</a:t>
            </a:r>
          </a:p>
          <a:p>
            <a:pPr marL="342900" indent="-342900" algn="l">
              <a:buFont typeface="Arial" panose="020B0604020202020204" pitchFamily="34" charset="0"/>
              <a:buChar char="•"/>
            </a:pPr>
            <a:r>
              <a:rPr lang="en-US" sz="2400" b="1" dirty="0">
                <a:latin typeface="Century Schoolbook" panose="02040604050505020304" pitchFamily="18" charset="0"/>
              </a:rPr>
              <a:t>Principle used in transformers and generators.</a:t>
            </a:r>
          </a:p>
          <a:p>
            <a:pPr marL="342900" indent="-342900" algn="l">
              <a:buFont typeface="Arial" panose="020B0604020202020204" pitchFamily="34" charset="0"/>
              <a:buChar char="•"/>
            </a:pPr>
            <a:r>
              <a:rPr lang="en-US" sz="2400" b="1" dirty="0">
                <a:latin typeface="Century Schoolbook" panose="02040604050505020304" pitchFamily="18" charset="0"/>
              </a:rPr>
              <a:t>Basis of electromagnetic induction (producing current from changing magnetic field).</a:t>
            </a:r>
          </a:p>
          <a:p>
            <a:pPr algn="l"/>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11594620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9B68D-1D7D-ADA1-754E-8A446A412E85}"/>
              </a:ext>
            </a:extLst>
          </p:cNvPr>
          <p:cNvSpPr>
            <a:spLocks noGrp="1"/>
          </p:cNvSpPr>
          <p:nvPr>
            <p:ph type="title"/>
          </p:nvPr>
        </p:nvSpPr>
        <p:spPr>
          <a:xfrm>
            <a:off x="0" y="-20321"/>
            <a:ext cx="11999565" cy="772159"/>
          </a:xfrm>
        </p:spPr>
        <p:txBody>
          <a:bodyPr>
            <a:normAutofit/>
          </a:bodyPr>
          <a:lstStyle/>
          <a:p>
            <a:pPr algn="l"/>
            <a:r>
              <a:rPr lang="en-US" sz="4000" b="0" dirty="0">
                <a:solidFill>
                  <a:srgbClr val="FFFF00"/>
                </a:solidFill>
                <a:latin typeface="Algerian" panose="04020705040A02060702" pitchFamily="82" charset="0"/>
              </a:rPr>
              <a:t>4.6] </a:t>
            </a:r>
            <a:r>
              <a:rPr lang="en-US" sz="4000" b="0" u="sng" dirty="0">
                <a:solidFill>
                  <a:srgbClr val="FFFF00"/>
                </a:solidFill>
                <a:latin typeface="Algerian" panose="04020705040A02060702" pitchFamily="82" charset="0"/>
              </a:rPr>
              <a:t>Properties of magnetic lines of force</a:t>
            </a:r>
            <a:r>
              <a:rPr lang="en-US" sz="4000" b="0" dirty="0">
                <a:solidFill>
                  <a:srgbClr val="FFFF00"/>
                </a:solidFill>
                <a:latin typeface="Algerian" panose="04020705040A02060702" pitchFamily="82" charset="0"/>
              </a:rPr>
              <a:t> : - </a:t>
            </a:r>
            <a:endParaRPr lang="en-IN" sz="4000" b="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FE03963A-1894-D1FD-1720-B98A5C9D09E6}"/>
              </a:ext>
            </a:extLst>
          </p:cNvPr>
          <p:cNvSpPr>
            <a:spLocks noGrp="1"/>
          </p:cNvSpPr>
          <p:nvPr>
            <p:ph type="body" sz="half" idx="2"/>
          </p:nvPr>
        </p:nvSpPr>
        <p:spPr>
          <a:xfrm>
            <a:off x="91440" y="772159"/>
            <a:ext cx="12100560" cy="6177280"/>
          </a:xfrm>
        </p:spPr>
        <p:txBody>
          <a:bodyPr>
            <a:normAutofit fontScale="92500" lnSpcReduction="10000"/>
          </a:bodyPr>
          <a:lstStyle/>
          <a:p>
            <a:pPr marL="285750" indent="-285750" algn="l">
              <a:buFont typeface="Wingdings" panose="05000000000000000000" pitchFamily="2" charset="2"/>
              <a:buChar char="v"/>
            </a:pPr>
            <a:r>
              <a:rPr lang="en-US" sz="2800" b="1" u="sng" dirty="0">
                <a:solidFill>
                  <a:srgbClr val="FFFF00"/>
                </a:solidFill>
                <a:latin typeface="Century Schoolbook" panose="02040604050505020304" pitchFamily="18" charset="0"/>
              </a:rPr>
              <a:t>Definition</a:t>
            </a:r>
            <a:r>
              <a:rPr lang="en-US" sz="2800" b="1" dirty="0">
                <a:solidFill>
                  <a:srgbClr val="FFFF00"/>
                </a:solidFill>
                <a:latin typeface="Century Schoolbook" panose="02040604050505020304" pitchFamily="18" charset="0"/>
              </a:rPr>
              <a:t> : -</a:t>
            </a:r>
          </a:p>
          <a:p>
            <a:pPr marL="342900" indent="-342900" algn="l">
              <a:buFont typeface="Arial" panose="020B0604020202020204" pitchFamily="34" charset="0"/>
              <a:buChar char="•"/>
            </a:pPr>
            <a:r>
              <a:rPr lang="en-US" sz="2000" b="1" dirty="0">
                <a:latin typeface="Century Schoolbook" panose="02040604050505020304" pitchFamily="18" charset="0"/>
              </a:rPr>
              <a:t>Magnetic lines of force (also called magnetic field lines) are imaginary lines used to represent the direction and strength of a magnetic field around a magnet or a current-carrying conductor.</a:t>
            </a:r>
          </a:p>
          <a:p>
            <a:pPr marL="285750" indent="-285750" algn="l">
              <a:buFont typeface="Wingdings" panose="05000000000000000000" pitchFamily="2" charset="2"/>
              <a:buChar char="v"/>
            </a:pPr>
            <a:r>
              <a:rPr lang="en-US" sz="2800" b="1" u="sng" dirty="0">
                <a:solidFill>
                  <a:srgbClr val="FFFF00"/>
                </a:solidFill>
                <a:latin typeface="Century Schoolbook" panose="02040604050505020304" pitchFamily="18" charset="0"/>
              </a:rPr>
              <a:t>Properties</a:t>
            </a:r>
            <a:r>
              <a:rPr lang="en-US" sz="2800" b="1" dirty="0">
                <a:solidFill>
                  <a:srgbClr val="FFFF00"/>
                </a:solidFill>
                <a:latin typeface="Century Schoolbook" panose="02040604050505020304" pitchFamily="18" charset="0"/>
              </a:rPr>
              <a:t> : -</a:t>
            </a:r>
          </a:p>
          <a:p>
            <a:pPr marL="285750" indent="-285750" algn="l">
              <a:buFont typeface="Arial" panose="020B0604020202020204" pitchFamily="34" charset="0"/>
              <a:buChar char="•"/>
            </a:pPr>
            <a:r>
              <a:rPr lang="en-US" sz="2000" b="1" dirty="0">
                <a:latin typeface="Century Schoolbook" panose="02040604050505020304" pitchFamily="18" charset="0"/>
              </a:rPr>
              <a:t>They always form closed continuous curves.</a:t>
            </a:r>
          </a:p>
          <a:p>
            <a:pPr marL="285750" indent="-285750" algn="l">
              <a:buFont typeface="Arial" panose="020B0604020202020204" pitchFamily="34" charset="0"/>
              <a:buChar char="•"/>
            </a:pPr>
            <a:r>
              <a:rPr lang="en-US" sz="2000" b="1" dirty="0">
                <a:latin typeface="Century Schoolbook" panose="02040604050505020304" pitchFamily="18" charset="0"/>
              </a:rPr>
              <a:t>They never intersect each other.</a:t>
            </a:r>
          </a:p>
          <a:p>
            <a:pPr marL="285750" indent="-285750" algn="l">
              <a:buFont typeface="Arial" panose="020B0604020202020204" pitchFamily="34" charset="0"/>
              <a:buChar char="•"/>
            </a:pPr>
            <a:r>
              <a:rPr lang="en-US" sz="2000" b="1" dirty="0">
                <a:latin typeface="Century Schoolbook" panose="02040604050505020304" pitchFamily="18" charset="0"/>
              </a:rPr>
              <a:t>The direction of magnetic lines of force</a:t>
            </a:r>
          </a:p>
          <a:p>
            <a:pPr marL="285750" indent="-285750" algn="l">
              <a:buFont typeface="Arial" panose="020B0604020202020204" pitchFamily="34" charset="0"/>
              <a:buChar char="•"/>
            </a:pPr>
            <a:r>
              <a:rPr lang="en-US" sz="2000" b="1" dirty="0">
                <a:latin typeface="Century Schoolbook" panose="02040604050505020304" pitchFamily="18" charset="0"/>
              </a:rPr>
              <a:t>The closeness (density) of the lines indicates field strength.</a:t>
            </a:r>
          </a:p>
          <a:p>
            <a:pPr marL="285750" indent="-285750" algn="l">
              <a:buFont typeface="Arial" panose="020B0604020202020204" pitchFamily="34" charset="0"/>
              <a:buChar char="•"/>
            </a:pPr>
            <a:r>
              <a:rPr lang="en-US" sz="2000" b="1" dirty="0">
                <a:latin typeface="Century Schoolbook" panose="02040604050505020304" pitchFamily="18" charset="0"/>
              </a:rPr>
              <a:t>They exert a force on a magnetic pole.</a:t>
            </a:r>
          </a:p>
          <a:p>
            <a:pPr marL="285750" indent="-285750" algn="l">
              <a:buFont typeface="Arial" panose="020B0604020202020204" pitchFamily="34" charset="0"/>
              <a:buChar char="•"/>
            </a:pPr>
            <a:r>
              <a:rPr lang="en-US" sz="2000" b="1" dirty="0">
                <a:latin typeface="Century Schoolbook" panose="02040604050505020304" pitchFamily="18" charset="0"/>
              </a:rPr>
              <a:t>They do not pass through non-magnetic materials.</a:t>
            </a:r>
          </a:p>
          <a:p>
            <a:pPr marL="285750" indent="-285750" algn="l">
              <a:buFont typeface="Arial" panose="020B0604020202020204" pitchFamily="34" charset="0"/>
              <a:buChar char="•"/>
            </a:pPr>
            <a:r>
              <a:rPr lang="en-US" sz="2000" b="1" dirty="0">
                <a:latin typeface="Century Schoolbook" panose="02040604050505020304" pitchFamily="18" charset="0"/>
              </a:rPr>
              <a:t>The tangent at any point to a magnetic line of force gives the direction of the magnetic field at that point.</a:t>
            </a:r>
          </a:p>
          <a:p>
            <a:pPr marL="285750" indent="-285750" algn="l">
              <a:buFont typeface="Arial" panose="020B0604020202020204" pitchFamily="34" charset="0"/>
              <a:buChar char="•"/>
            </a:pPr>
            <a:r>
              <a:rPr lang="en-US" sz="2000" b="1" dirty="0">
                <a:latin typeface="Century Schoolbook" panose="02040604050505020304" pitchFamily="18" charset="0"/>
              </a:rPr>
              <a:t>They are crowded near the poles of a magnet.</a:t>
            </a:r>
          </a:p>
          <a:p>
            <a:pPr algn="l"/>
            <a:endParaRPr lang="en-IN" sz="1800" b="1" dirty="0">
              <a:latin typeface="Century Schoolbook" panose="02040604050505020304" pitchFamily="18" charset="0"/>
            </a:endParaRPr>
          </a:p>
        </p:txBody>
      </p:sp>
    </p:spTree>
    <p:extLst>
      <p:ext uri="{BB962C8B-B14F-4D97-AF65-F5344CB8AC3E}">
        <p14:creationId xmlns:p14="http://schemas.microsoft.com/office/powerpoint/2010/main" val="24116271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0E4EF-EE7F-EFB5-F68D-DECB6A905566}"/>
              </a:ext>
            </a:extLst>
          </p:cNvPr>
          <p:cNvSpPr>
            <a:spLocks noGrp="1"/>
          </p:cNvSpPr>
          <p:nvPr>
            <p:ph type="title"/>
          </p:nvPr>
        </p:nvSpPr>
        <p:spPr>
          <a:xfrm>
            <a:off x="162560" y="-106679"/>
            <a:ext cx="12192000" cy="1061720"/>
          </a:xfrm>
        </p:spPr>
        <p:txBody>
          <a:bodyPr>
            <a:normAutofit/>
          </a:bodyPr>
          <a:lstStyle/>
          <a:p>
            <a:pPr algn="l"/>
            <a:r>
              <a:rPr lang="en-US" sz="4800" b="0" dirty="0">
                <a:solidFill>
                  <a:srgbClr val="FFFF00"/>
                </a:solidFill>
                <a:latin typeface="Algerian" panose="04020705040A02060702" pitchFamily="82" charset="0"/>
              </a:rPr>
              <a:t>4.7] </a:t>
            </a:r>
            <a:r>
              <a:rPr lang="en-US" sz="4800" b="0" u="sng" dirty="0" err="1">
                <a:solidFill>
                  <a:srgbClr val="FFFF00"/>
                </a:solidFill>
                <a:latin typeface="Algerian" panose="04020705040A02060702" pitchFamily="82" charset="0"/>
              </a:rPr>
              <a:t>laplace’s</a:t>
            </a:r>
            <a:r>
              <a:rPr lang="en-US" sz="4800" b="0" u="sng" dirty="0">
                <a:solidFill>
                  <a:srgbClr val="FFFF00"/>
                </a:solidFill>
                <a:latin typeface="Algerian" panose="04020705040A02060702" pitchFamily="82" charset="0"/>
              </a:rPr>
              <a:t> law</a:t>
            </a:r>
            <a:r>
              <a:rPr lang="en-US" sz="4800" b="0" dirty="0">
                <a:solidFill>
                  <a:srgbClr val="FFFF00"/>
                </a:solidFill>
                <a:latin typeface="Algerian" panose="04020705040A02060702" pitchFamily="82" charset="0"/>
              </a:rPr>
              <a:t> : -</a:t>
            </a:r>
            <a:endParaRPr lang="en-IN" sz="4800" b="0" dirty="0">
              <a:solidFill>
                <a:srgbClr val="FFFF00"/>
              </a:solidFill>
              <a:latin typeface="Algerian" panose="04020705040A02060702" pitchFamily="82" charset="0"/>
            </a:endParaRP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BAB40063-B36D-7D0B-8398-F57BE204159B}"/>
                  </a:ext>
                </a:extLst>
              </p:cNvPr>
              <p:cNvSpPr>
                <a:spLocks noGrp="1"/>
              </p:cNvSpPr>
              <p:nvPr>
                <p:ph type="body" sz="half" idx="2"/>
              </p:nvPr>
            </p:nvSpPr>
            <p:spPr>
              <a:xfrm>
                <a:off x="162560" y="843280"/>
                <a:ext cx="12029440" cy="6009639"/>
              </a:xfrm>
            </p:spPr>
            <p:txBody>
              <a:bodyPr>
                <a:normAutofit fontScale="92500"/>
              </a:bodyPr>
              <a:lstStyle/>
              <a:p>
                <a:pPr marL="285750" indent="-285750" algn="l">
                  <a:buFont typeface="Wingdings" panose="05000000000000000000" pitchFamily="2" charset="2"/>
                  <a:buChar char="v"/>
                </a:pPr>
                <a:r>
                  <a:rPr lang="en-IN" sz="2400" b="1" u="sng" dirty="0">
                    <a:solidFill>
                      <a:srgbClr val="FFFF00"/>
                    </a:solidFill>
                    <a:latin typeface="Century Schoolbook" panose="02040604050505020304" pitchFamily="18" charset="0"/>
                  </a:rPr>
                  <a:t>Statement</a:t>
                </a:r>
                <a:r>
                  <a:rPr lang="en-IN" sz="2400" b="1" dirty="0">
                    <a:solidFill>
                      <a:srgbClr val="FFFF00"/>
                    </a:solidFill>
                    <a:latin typeface="Century Schoolbook" panose="02040604050505020304" pitchFamily="18" charset="0"/>
                  </a:rPr>
                  <a:t> : -</a:t>
                </a:r>
              </a:p>
              <a:p>
                <a:pPr marL="285750" indent="-285750" algn="l">
                  <a:buFont typeface="Arial" panose="020B0604020202020204" pitchFamily="34" charset="0"/>
                  <a:buChar char="•"/>
                </a:pPr>
                <a:r>
                  <a:rPr lang="en-IN" sz="1800" b="1" dirty="0">
                    <a:latin typeface="Century Schoolbook" panose="02040604050505020304" pitchFamily="18" charset="0"/>
                  </a:rPr>
                  <a:t>When a current-carrying conductor is placed in a magnetic field, it experiences a mechanical force.</a:t>
                </a:r>
              </a:p>
              <a:p>
                <a:pPr marL="285750" indent="-285750" algn="l">
                  <a:buFont typeface="Arial" panose="020B0604020202020204" pitchFamily="34" charset="0"/>
                  <a:buChar char="•"/>
                </a:pPr>
                <a:r>
                  <a:rPr lang="en-IN" sz="1800" b="1" dirty="0">
                    <a:latin typeface="Century Schoolbook" panose="02040604050505020304" pitchFamily="18" charset="0"/>
                  </a:rPr>
                  <a:t>This is known as Laplace’s Law or the Lorentz Force Law for conductors.</a:t>
                </a:r>
              </a:p>
              <a:p>
                <a:pPr marL="285750" indent="-285750" algn="l">
                  <a:buFont typeface="Wingdings" panose="05000000000000000000" pitchFamily="2" charset="2"/>
                  <a:buChar char="v"/>
                </a:pPr>
                <a:r>
                  <a:rPr lang="en-IN" sz="2400" b="1" u="sng" dirty="0">
                    <a:solidFill>
                      <a:srgbClr val="FFFF00"/>
                    </a:solidFill>
                    <a:latin typeface="Century Schoolbook" panose="02040604050505020304" pitchFamily="18" charset="0"/>
                  </a:rPr>
                  <a:t>Mathematical Expression</a:t>
                </a:r>
                <a:r>
                  <a:rPr lang="en-IN" sz="2400" b="1" dirty="0">
                    <a:solidFill>
                      <a:srgbClr val="FFFF00"/>
                    </a:solidFill>
                    <a:latin typeface="Century Schoolbook" panose="02040604050505020304" pitchFamily="18" charset="0"/>
                  </a:rPr>
                  <a:t> : </a:t>
                </a:r>
                <a14:m>
                  <m:oMath xmlns:m="http://schemas.openxmlformats.org/officeDocument/2006/math">
                    <m:r>
                      <a:rPr lang="en-IN" sz="2400" b="1" i="1" smtClean="0">
                        <a:solidFill>
                          <a:srgbClr val="FFFF00"/>
                        </a:solidFill>
                        <a:latin typeface="Cambria Math" panose="02040503050406030204" pitchFamily="18" charset="0"/>
                      </a:rPr>
                      <m:t>𝑭</m:t>
                    </m:r>
                    <m:r>
                      <a:rPr lang="en-IN" sz="2400" b="1" smtClean="0">
                        <a:solidFill>
                          <a:srgbClr val="FFFF00"/>
                        </a:solidFill>
                        <a:latin typeface="Cambria Math" panose="02040503050406030204" pitchFamily="18" charset="0"/>
                      </a:rPr>
                      <m:t>=</m:t>
                    </m:r>
                    <m:r>
                      <a:rPr lang="en-IN" sz="2400" b="1" i="1" smtClean="0">
                        <a:solidFill>
                          <a:srgbClr val="FFFF00"/>
                        </a:solidFill>
                        <a:latin typeface="Cambria Math" panose="02040503050406030204" pitchFamily="18" charset="0"/>
                      </a:rPr>
                      <m:t>𝑩</m:t>
                    </m:r>
                    <m:r>
                      <m:rPr>
                        <m:nor/>
                      </m:rPr>
                      <a:rPr lang="en-IN" sz="2400" b="1" i="1">
                        <a:solidFill>
                          <a:srgbClr val="FFFF00"/>
                        </a:solidFill>
                        <a:latin typeface="Century Schoolbook" panose="02040604050505020304" pitchFamily="18" charset="0"/>
                      </a:rPr>
                      <m:t> </m:t>
                    </m:r>
                    <m:r>
                      <a:rPr lang="en-IN" sz="2400" b="1" i="1" smtClean="0">
                        <a:solidFill>
                          <a:srgbClr val="FFFF00"/>
                        </a:solidFill>
                        <a:latin typeface="Cambria Math" panose="02040503050406030204" pitchFamily="18" charset="0"/>
                      </a:rPr>
                      <m:t>𝑰</m:t>
                    </m:r>
                    <m:r>
                      <m:rPr>
                        <m:nor/>
                      </m:rPr>
                      <a:rPr lang="en-IN" sz="2400" b="1" i="1">
                        <a:solidFill>
                          <a:srgbClr val="FFFF00"/>
                        </a:solidFill>
                        <a:latin typeface="Century Schoolbook" panose="02040604050505020304" pitchFamily="18" charset="0"/>
                      </a:rPr>
                      <m:t> </m:t>
                    </m:r>
                    <m:r>
                      <a:rPr lang="en-IN" sz="2400" b="1" i="1" smtClean="0">
                        <a:solidFill>
                          <a:srgbClr val="FFFF00"/>
                        </a:solidFill>
                        <a:latin typeface="Cambria Math" panose="02040503050406030204" pitchFamily="18" charset="0"/>
                      </a:rPr>
                      <m:t>𝑳</m:t>
                    </m:r>
                    <m:r>
                      <m:rPr>
                        <m:nor/>
                      </m:rPr>
                      <a:rPr lang="en-IN" sz="2400" b="1" i="1">
                        <a:solidFill>
                          <a:srgbClr val="FFFF00"/>
                        </a:solidFill>
                        <a:latin typeface="Century Schoolbook" panose="02040604050505020304" pitchFamily="18" charset="0"/>
                      </a:rPr>
                      <m:t> </m:t>
                    </m:r>
                    <m:func>
                      <m:funcPr>
                        <m:ctrlPr>
                          <a:rPr lang="ar-AE" sz="2400" b="1" i="1">
                            <a:solidFill>
                              <a:srgbClr val="FFFF00"/>
                            </a:solidFill>
                            <a:latin typeface="Cambria Math" panose="02040503050406030204" pitchFamily="18" charset="0"/>
                          </a:rPr>
                        </m:ctrlPr>
                      </m:funcPr>
                      <m:fName>
                        <m:r>
                          <a:rPr lang="en-IN" sz="2400" b="1" i="1" smtClean="0">
                            <a:solidFill>
                              <a:srgbClr val="FFFF00"/>
                            </a:solidFill>
                            <a:latin typeface="Cambria Math" panose="02040503050406030204" pitchFamily="18" charset="0"/>
                          </a:rPr>
                          <m:t>𝐬𝐢𝐧</m:t>
                        </m:r>
                      </m:fName>
                      <m:e>
                        <m:r>
                          <a:rPr lang="ar-AE" sz="2400" b="1" i="1" smtClean="0">
                            <a:solidFill>
                              <a:srgbClr val="FFFF00"/>
                            </a:solidFill>
                            <a:latin typeface="Cambria Math" panose="02040503050406030204" pitchFamily="18" charset="0"/>
                          </a:rPr>
                          <m:t>𝜽</m:t>
                        </m:r>
                      </m:e>
                    </m:func>
                  </m:oMath>
                </a14:m>
                <a:endParaRPr lang="ar-AE" sz="1800" b="1" dirty="0">
                  <a:latin typeface="Century Schoolbook" panose="02040604050505020304" pitchFamily="18" charset="0"/>
                </a:endParaRPr>
              </a:p>
              <a:p>
                <a:pPr algn="l"/>
                <a:r>
                  <a:rPr lang="en-IN" sz="1800" b="1" dirty="0">
                    <a:latin typeface="Century Schoolbook" panose="02040604050505020304" pitchFamily="18" charset="0"/>
                  </a:rPr>
                  <a:t>Where :</a:t>
                </a:r>
              </a:p>
              <a:p>
                <a:pPr algn="l"/>
                <a:r>
                  <a:rPr lang="en-IN" sz="1800" b="1" dirty="0">
                    <a:latin typeface="Century Schoolbook" panose="02040604050505020304" pitchFamily="18" charset="0"/>
                  </a:rPr>
                  <a:t>F = Force on the conductor (in newtons, N)</a:t>
                </a:r>
              </a:p>
              <a:p>
                <a:pPr algn="l"/>
                <a:r>
                  <a:rPr lang="en-IN" sz="1800" b="1" dirty="0">
                    <a:latin typeface="Century Schoolbook" panose="02040604050505020304" pitchFamily="18" charset="0"/>
                  </a:rPr>
                  <a:t>B = Magnetic field strength (in tesla, T)</a:t>
                </a:r>
              </a:p>
              <a:p>
                <a:pPr algn="l"/>
                <a:r>
                  <a:rPr lang="en-IN" sz="1800" b="1" dirty="0">
                    <a:latin typeface="Century Schoolbook" panose="02040604050505020304" pitchFamily="18" charset="0"/>
                  </a:rPr>
                  <a:t>I = Current through the conductor (in amperes, A)</a:t>
                </a:r>
              </a:p>
              <a:p>
                <a:pPr algn="l"/>
                <a:r>
                  <a:rPr lang="en-IN" sz="1800" b="1" dirty="0">
                    <a:latin typeface="Century Schoolbook" panose="02040604050505020304" pitchFamily="18" charset="0"/>
                  </a:rPr>
                  <a:t>L = Length of the conductor in the magnetic field (in metres, m)</a:t>
                </a:r>
              </a:p>
              <a:p>
                <a:pPr algn="l"/>
                <a:r>
                  <a:rPr lang="el-GR" sz="1800" b="1" dirty="0">
                    <a:latin typeface="Century Schoolbook" panose="02040604050505020304" pitchFamily="18" charset="0"/>
                  </a:rPr>
                  <a:t>θ = </a:t>
                </a:r>
                <a:r>
                  <a:rPr lang="en-IN" sz="1800" b="1" dirty="0">
                    <a:latin typeface="Century Schoolbook" panose="02040604050505020304" pitchFamily="18" charset="0"/>
                  </a:rPr>
                  <a:t>Angle between current and magnetic field</a:t>
                </a:r>
              </a:p>
              <a:p>
                <a:pPr algn="l"/>
                <a:r>
                  <a:rPr lang="en-IN" sz="1800" b="1" u="sng" dirty="0">
                    <a:latin typeface="Century Schoolbook" panose="02040604050505020304" pitchFamily="18" charset="0"/>
                  </a:rPr>
                  <a:t>Special Cases</a:t>
                </a:r>
                <a:r>
                  <a:rPr lang="en-IN" sz="1800" b="1" dirty="0">
                    <a:latin typeface="Century Schoolbook" panose="02040604050505020304" pitchFamily="18" charset="0"/>
                  </a:rPr>
                  <a:t> :  </a:t>
                </a:r>
                <a:r>
                  <a:rPr lang="en-IN" sz="1800" b="1" dirty="0">
                    <a:solidFill>
                      <a:srgbClr val="FFFF00"/>
                    </a:solidFill>
                    <a:latin typeface="Century Schoolbook" panose="02040604050505020304" pitchFamily="18" charset="0"/>
                  </a:rPr>
                  <a:t>If </a:t>
                </a:r>
                <a:r>
                  <a:rPr lang="el-GR" sz="1800" b="1" dirty="0">
                    <a:solidFill>
                      <a:srgbClr val="FFFF00"/>
                    </a:solidFill>
                    <a:latin typeface="Century Schoolbook" panose="02040604050505020304" pitchFamily="18" charset="0"/>
                  </a:rPr>
                  <a:t>θ = 90°, </a:t>
                </a:r>
                <a:r>
                  <a:rPr lang="en-IN" sz="1800" b="1" dirty="0">
                    <a:solidFill>
                      <a:srgbClr val="FFFF00"/>
                    </a:solidFill>
                    <a:latin typeface="Century Schoolbook" panose="02040604050505020304" pitchFamily="18" charset="0"/>
                  </a:rPr>
                  <a:t>then sin </a:t>
                </a:r>
                <a:r>
                  <a:rPr lang="el-GR" sz="1800" b="1" dirty="0">
                    <a:solidFill>
                      <a:srgbClr val="FFFF00"/>
                    </a:solidFill>
                    <a:latin typeface="Century Schoolbook" panose="02040604050505020304" pitchFamily="18" charset="0"/>
                  </a:rPr>
                  <a:t>θ = 1, </a:t>
                </a:r>
                <a:r>
                  <a:rPr lang="en-IN" sz="1800" b="1" dirty="0">
                    <a:solidFill>
                      <a:srgbClr val="FFFF00"/>
                    </a:solidFill>
                    <a:latin typeface="Century Schoolbook" panose="02040604050505020304" pitchFamily="18" charset="0"/>
                  </a:rPr>
                  <a:t>and </a:t>
                </a:r>
                <a14:m>
                  <m:oMath xmlns:m="http://schemas.openxmlformats.org/officeDocument/2006/math">
                    <m:r>
                      <a:rPr lang="en-IN" sz="1800" b="1" i="1" smtClean="0">
                        <a:solidFill>
                          <a:srgbClr val="FFFF00"/>
                        </a:solidFill>
                        <a:latin typeface="Cambria Math" panose="02040503050406030204" pitchFamily="18" charset="0"/>
                      </a:rPr>
                      <m:t>𝑭</m:t>
                    </m:r>
                    <m:r>
                      <a:rPr lang="en-IN" sz="1800" b="1" smtClean="0">
                        <a:solidFill>
                          <a:srgbClr val="FFFF00"/>
                        </a:solidFill>
                        <a:latin typeface="Cambria Math" panose="02040503050406030204" pitchFamily="18" charset="0"/>
                      </a:rPr>
                      <m:t>=</m:t>
                    </m:r>
                    <m:r>
                      <a:rPr lang="en-IN" sz="1800" b="1" i="1" smtClean="0">
                        <a:solidFill>
                          <a:srgbClr val="FFFF00"/>
                        </a:solidFill>
                        <a:latin typeface="Cambria Math" panose="02040503050406030204" pitchFamily="18" charset="0"/>
                      </a:rPr>
                      <m:t>𝑩𝑰𝑳</m:t>
                    </m:r>
                  </m:oMath>
                </a14:m>
                <a:endParaRPr lang="en-IN" sz="1800" b="1" dirty="0">
                  <a:latin typeface="Century Schoolbook" panose="02040604050505020304" pitchFamily="18" charset="0"/>
                </a:endParaRPr>
              </a:p>
              <a:p>
                <a:pPr algn="l"/>
                <a:r>
                  <a:rPr lang="en-IN" sz="1800" b="1" dirty="0">
                    <a:latin typeface="Century Schoolbook" panose="02040604050505020304" pitchFamily="18" charset="0"/>
                  </a:rPr>
                  <a:t>(Maximum force)</a:t>
                </a:r>
              </a:p>
              <a:p>
                <a:pPr algn="l"/>
                <a:r>
                  <a:rPr lang="en-IN" sz="1900" b="1" dirty="0">
                    <a:solidFill>
                      <a:srgbClr val="FFFF00"/>
                    </a:solidFill>
                    <a:latin typeface="Century Schoolbook" panose="02040604050505020304" pitchFamily="18" charset="0"/>
                  </a:rPr>
                  <a:t>If </a:t>
                </a:r>
                <a:r>
                  <a:rPr lang="el-GR" sz="1900" b="1" dirty="0">
                    <a:solidFill>
                      <a:srgbClr val="FFFF00"/>
                    </a:solidFill>
                    <a:latin typeface="Century Schoolbook" panose="02040604050505020304" pitchFamily="18" charset="0"/>
                  </a:rPr>
                  <a:t>θ = 0°, </a:t>
                </a:r>
                <a:r>
                  <a:rPr lang="en-IN" sz="1900" b="1" dirty="0">
                    <a:solidFill>
                      <a:srgbClr val="FFFF00"/>
                    </a:solidFill>
                    <a:latin typeface="Century Schoolbook" panose="02040604050505020304" pitchFamily="18" charset="0"/>
                  </a:rPr>
                  <a:t>then sin </a:t>
                </a:r>
                <a:r>
                  <a:rPr lang="el-GR" sz="1900" b="1" dirty="0">
                    <a:solidFill>
                      <a:srgbClr val="FFFF00"/>
                    </a:solidFill>
                    <a:latin typeface="Century Schoolbook" panose="02040604050505020304" pitchFamily="18" charset="0"/>
                  </a:rPr>
                  <a:t>θ = 0, </a:t>
                </a:r>
                <a:r>
                  <a:rPr lang="en-IN" sz="1900" b="1" dirty="0">
                    <a:solidFill>
                      <a:srgbClr val="FFFF00"/>
                    </a:solidFill>
                    <a:latin typeface="Century Schoolbook" panose="02040604050505020304" pitchFamily="18" charset="0"/>
                  </a:rPr>
                  <a:t>and </a:t>
                </a:r>
                <a14:m>
                  <m:oMath xmlns:m="http://schemas.openxmlformats.org/officeDocument/2006/math">
                    <m:r>
                      <a:rPr lang="en-IN" sz="1900" b="1" i="1" smtClean="0">
                        <a:solidFill>
                          <a:srgbClr val="FFFF00"/>
                        </a:solidFill>
                        <a:latin typeface="Cambria Math" panose="02040503050406030204" pitchFamily="18" charset="0"/>
                      </a:rPr>
                      <m:t>𝑭</m:t>
                    </m:r>
                    <m:r>
                      <a:rPr lang="en-IN" sz="1900" b="1" smtClean="0">
                        <a:solidFill>
                          <a:srgbClr val="FFFF00"/>
                        </a:solidFill>
                        <a:latin typeface="Cambria Math" panose="02040503050406030204" pitchFamily="18" charset="0"/>
                      </a:rPr>
                      <m:t>=</m:t>
                    </m:r>
                    <m:r>
                      <a:rPr lang="en-IN" sz="1900" b="1" i="1" smtClean="0">
                        <a:solidFill>
                          <a:srgbClr val="FFFF00"/>
                        </a:solidFill>
                        <a:latin typeface="Cambria Math" panose="02040503050406030204" pitchFamily="18" charset="0"/>
                      </a:rPr>
                      <m:t>𝟎</m:t>
                    </m:r>
                  </m:oMath>
                </a14:m>
                <a:endParaRPr lang="en-IN" sz="1900" b="1" dirty="0">
                  <a:solidFill>
                    <a:srgbClr val="FFFF00"/>
                  </a:solidFill>
                  <a:latin typeface="Century Schoolbook" panose="02040604050505020304" pitchFamily="18" charset="0"/>
                </a:endParaRPr>
              </a:p>
              <a:p>
                <a:pPr algn="l"/>
                <a:endParaRPr lang="en-IN" sz="1800" b="1" dirty="0">
                  <a:latin typeface="Century Schoolbook" panose="02040604050505020304" pitchFamily="18" charset="0"/>
                </a:endParaRPr>
              </a:p>
            </p:txBody>
          </p:sp>
        </mc:Choice>
        <mc:Fallback xmlns="">
          <p:sp>
            <p:nvSpPr>
              <p:cNvPr id="3" name="Text Placeholder 2">
                <a:extLst>
                  <a:ext uri="{FF2B5EF4-FFF2-40B4-BE49-F238E27FC236}">
                    <a16:creationId xmlns:a16="http://schemas.microsoft.com/office/drawing/2014/main" id="{BAB40063-B36D-7D0B-8398-F57BE204159B}"/>
                  </a:ext>
                </a:extLst>
              </p:cNvPr>
              <p:cNvSpPr>
                <a:spLocks noGrp="1" noRot="1" noChangeAspect="1" noMove="1" noResize="1" noEditPoints="1" noAdjustHandles="1" noChangeArrowheads="1" noChangeShapeType="1" noTextEdit="1"/>
              </p:cNvSpPr>
              <p:nvPr>
                <p:ph type="body" sz="half" idx="2"/>
              </p:nvPr>
            </p:nvSpPr>
            <p:spPr>
              <a:xfrm>
                <a:off x="162560" y="843280"/>
                <a:ext cx="12029440" cy="6009639"/>
              </a:xfrm>
              <a:blipFill>
                <a:blip r:embed="rId2"/>
                <a:stretch>
                  <a:fillRect l="-659" t="-2434"/>
                </a:stretch>
              </a:blipFill>
            </p:spPr>
            <p:txBody>
              <a:bodyPr/>
              <a:lstStyle/>
              <a:p>
                <a:r>
                  <a:rPr lang="en-IN">
                    <a:noFill/>
                  </a:rPr>
                  <a:t> </a:t>
                </a:r>
              </a:p>
            </p:txBody>
          </p:sp>
        </mc:Fallback>
      </mc:AlternateContent>
    </p:spTree>
    <p:extLst>
      <p:ext uri="{BB962C8B-B14F-4D97-AF65-F5344CB8AC3E}">
        <p14:creationId xmlns:p14="http://schemas.microsoft.com/office/powerpoint/2010/main" val="27198573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6A2B8-7901-ABE9-5E8F-269890C9EC41}"/>
              </a:ext>
            </a:extLst>
          </p:cNvPr>
          <p:cNvSpPr>
            <a:spLocks noGrp="1"/>
          </p:cNvSpPr>
          <p:nvPr>
            <p:ph type="title"/>
          </p:nvPr>
        </p:nvSpPr>
        <p:spPr>
          <a:xfrm>
            <a:off x="100994" y="-87299"/>
            <a:ext cx="11786205" cy="940739"/>
          </a:xfrm>
        </p:spPr>
        <p:txBody>
          <a:bodyPr>
            <a:normAutofit/>
          </a:bodyPr>
          <a:lstStyle/>
          <a:p>
            <a:pPr marL="457200" indent="-457200" algn="l">
              <a:buFont typeface="Wingdings" panose="05000000000000000000" pitchFamily="2" charset="2"/>
              <a:buChar char="v"/>
            </a:pPr>
            <a:r>
              <a:rPr lang="en-US" sz="4800" b="0" u="sng" dirty="0">
                <a:solidFill>
                  <a:srgbClr val="FFFF00"/>
                </a:solidFill>
                <a:latin typeface="Algerian" panose="04020705040A02060702" pitchFamily="82" charset="0"/>
              </a:rPr>
              <a:t>Fleming’s left hand rule</a:t>
            </a:r>
            <a:r>
              <a:rPr lang="en-US" sz="4800" b="0" dirty="0">
                <a:solidFill>
                  <a:srgbClr val="FFFF00"/>
                </a:solidFill>
                <a:latin typeface="Algerian" panose="04020705040A02060702" pitchFamily="82" charset="0"/>
              </a:rPr>
              <a:t> : -</a:t>
            </a:r>
            <a:endParaRPr lang="en-IN" sz="4800" b="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1639F97E-AEA1-9DC0-DCE4-341F94C9E019}"/>
              </a:ext>
            </a:extLst>
          </p:cNvPr>
          <p:cNvSpPr>
            <a:spLocks noGrp="1"/>
          </p:cNvSpPr>
          <p:nvPr>
            <p:ph type="body" sz="half" idx="2"/>
          </p:nvPr>
        </p:nvSpPr>
        <p:spPr>
          <a:xfrm>
            <a:off x="202897" y="711200"/>
            <a:ext cx="11786205" cy="5415280"/>
          </a:xfrm>
        </p:spPr>
        <p:txBody>
          <a:bodyPr>
            <a:normAutofit/>
          </a:bodyPr>
          <a:lstStyle/>
          <a:p>
            <a:pPr marL="285750" indent="-285750" algn="l">
              <a:buFont typeface="Wingdings" panose="05000000000000000000" pitchFamily="2" charset="2"/>
              <a:buChar char="v"/>
            </a:pPr>
            <a:r>
              <a:rPr lang="en-US" sz="2800" b="1" u="sng" dirty="0">
                <a:solidFill>
                  <a:srgbClr val="FFFF00"/>
                </a:solidFill>
                <a:latin typeface="Century Schoolbook" panose="02040604050505020304" pitchFamily="18" charset="0"/>
              </a:rPr>
              <a:t>Statement</a:t>
            </a:r>
            <a:r>
              <a:rPr lang="en-US" sz="2800" b="1" dirty="0">
                <a:solidFill>
                  <a:srgbClr val="FFFF00"/>
                </a:solidFill>
                <a:latin typeface="Century Schoolbook" panose="02040604050505020304" pitchFamily="18" charset="0"/>
              </a:rPr>
              <a:t> : -</a:t>
            </a:r>
          </a:p>
          <a:p>
            <a:pPr marL="285750" indent="-285750" algn="l">
              <a:buFont typeface="Arial" panose="020B0604020202020204" pitchFamily="34" charset="0"/>
              <a:buChar char="•"/>
            </a:pPr>
            <a:r>
              <a:rPr lang="en-US" sz="2000" b="1" dirty="0">
                <a:latin typeface="Century Schoolbook" panose="02040604050505020304" pitchFamily="18" charset="0"/>
              </a:rPr>
              <a:t>This rule gives the direction of force on a current-carrying conductor placed in a magnetic field.</a:t>
            </a:r>
          </a:p>
          <a:p>
            <a:pPr marL="285750" indent="-285750" algn="l">
              <a:buFont typeface="Wingdings" panose="05000000000000000000" pitchFamily="2" charset="2"/>
              <a:buChar char="v"/>
            </a:pPr>
            <a:r>
              <a:rPr lang="en-US" sz="2800" b="1" u="sng" dirty="0">
                <a:solidFill>
                  <a:srgbClr val="FFFF00"/>
                </a:solidFill>
                <a:latin typeface="Century Schoolbook" panose="02040604050505020304" pitchFamily="18" charset="0"/>
              </a:rPr>
              <a:t>Rule</a:t>
            </a:r>
            <a:r>
              <a:rPr lang="en-US" sz="2800" b="1" dirty="0">
                <a:solidFill>
                  <a:srgbClr val="FFFF00"/>
                </a:solidFill>
                <a:latin typeface="Century Schoolbook" panose="02040604050505020304" pitchFamily="18" charset="0"/>
              </a:rPr>
              <a:t> : -</a:t>
            </a:r>
            <a:endParaRPr lang="en-US" sz="2000" b="1" dirty="0">
              <a:solidFill>
                <a:srgbClr val="FFFF00"/>
              </a:solidFill>
              <a:latin typeface="Century Schoolbook" panose="02040604050505020304" pitchFamily="18" charset="0"/>
            </a:endParaRPr>
          </a:p>
          <a:p>
            <a:pPr algn="l"/>
            <a:r>
              <a:rPr lang="en-US" sz="2000" b="1" dirty="0">
                <a:latin typeface="Century Schoolbook" panose="02040604050505020304" pitchFamily="18" charset="0"/>
              </a:rPr>
              <a:t>Stretch your left hand such that :</a:t>
            </a:r>
          </a:p>
          <a:p>
            <a:pPr marL="285750" indent="-285750" algn="l">
              <a:buFont typeface="Arial" panose="020B0604020202020204" pitchFamily="34" charset="0"/>
              <a:buChar char="•"/>
            </a:pPr>
            <a:r>
              <a:rPr lang="en-US" sz="2000" b="1" dirty="0">
                <a:latin typeface="Century Schoolbook" panose="02040604050505020304" pitchFamily="18" charset="0"/>
              </a:rPr>
              <a:t>Forefinger (Index finger) → points in the direction of magnetic field (B),</a:t>
            </a:r>
          </a:p>
          <a:p>
            <a:pPr marL="285750" indent="-285750" algn="l">
              <a:buFont typeface="Arial" panose="020B0604020202020204" pitchFamily="34" charset="0"/>
              <a:buChar char="•"/>
            </a:pPr>
            <a:r>
              <a:rPr lang="en-US" sz="2000" b="1" dirty="0">
                <a:latin typeface="Century Schoolbook" panose="02040604050505020304" pitchFamily="18" charset="0"/>
              </a:rPr>
              <a:t>Middle finger → points in the direction of current (I),</a:t>
            </a:r>
          </a:p>
          <a:p>
            <a:pPr marL="285750" indent="-285750" algn="l">
              <a:buFont typeface="Arial" panose="020B0604020202020204" pitchFamily="34" charset="0"/>
              <a:buChar char="•"/>
            </a:pPr>
            <a:r>
              <a:rPr lang="en-US" sz="2000" b="1" dirty="0">
                <a:latin typeface="Century Schoolbook" panose="02040604050505020304" pitchFamily="18" charset="0"/>
              </a:rPr>
              <a:t>Thumb → gives the direction of force (motion) on the conductor.</a:t>
            </a:r>
          </a:p>
          <a:p>
            <a:pPr marL="285750" indent="-285750" algn="l">
              <a:buFont typeface="Wingdings" panose="05000000000000000000" pitchFamily="2" charset="2"/>
              <a:buChar char="v"/>
            </a:pPr>
            <a:r>
              <a:rPr lang="en-US" sz="2800" b="1" u="sng" dirty="0">
                <a:solidFill>
                  <a:srgbClr val="FFFF00"/>
                </a:solidFill>
                <a:latin typeface="Century Schoolbook" panose="02040604050505020304" pitchFamily="18" charset="0"/>
              </a:rPr>
              <a:t>Used in</a:t>
            </a:r>
            <a:r>
              <a:rPr lang="en-US" sz="2800" b="1" dirty="0">
                <a:solidFill>
                  <a:srgbClr val="FFFF00"/>
                </a:solidFill>
                <a:latin typeface="Century Schoolbook" panose="02040604050505020304" pitchFamily="18" charset="0"/>
              </a:rPr>
              <a:t> :</a:t>
            </a:r>
          </a:p>
          <a:p>
            <a:pPr marL="285750" indent="-285750" algn="l">
              <a:buFont typeface="Arial" panose="020B0604020202020204" pitchFamily="34" charset="0"/>
              <a:buChar char="•"/>
            </a:pPr>
            <a:r>
              <a:rPr lang="en-US" sz="2000" b="1" dirty="0">
                <a:latin typeface="Century Schoolbook" panose="02040604050505020304" pitchFamily="18" charset="0"/>
              </a:rPr>
              <a:t>Electric motors, where electrical energy is converted into mechanical energy.</a:t>
            </a:r>
          </a:p>
          <a:p>
            <a:pPr algn="l"/>
            <a:endParaRPr lang="en-IN" b="1" dirty="0">
              <a:latin typeface="Century Schoolbook" panose="02040604050505020304" pitchFamily="18" charset="0"/>
            </a:endParaRPr>
          </a:p>
        </p:txBody>
      </p:sp>
    </p:spTree>
    <p:extLst>
      <p:ext uri="{BB962C8B-B14F-4D97-AF65-F5344CB8AC3E}">
        <p14:creationId xmlns:p14="http://schemas.microsoft.com/office/powerpoint/2010/main" val="27078735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7191A-6004-FBE5-CE5E-36060FCECED0}"/>
              </a:ext>
            </a:extLst>
          </p:cNvPr>
          <p:cNvSpPr>
            <a:spLocks noGrp="1"/>
          </p:cNvSpPr>
          <p:nvPr>
            <p:ph type="title"/>
          </p:nvPr>
        </p:nvSpPr>
        <p:spPr>
          <a:xfrm>
            <a:off x="222914" y="-97459"/>
            <a:ext cx="11837005" cy="961059"/>
          </a:xfrm>
        </p:spPr>
        <p:txBody>
          <a:bodyPr>
            <a:normAutofit/>
          </a:bodyPr>
          <a:lstStyle/>
          <a:p>
            <a:pPr marL="457200" indent="-457200" algn="l">
              <a:buFont typeface="Wingdings" panose="05000000000000000000" pitchFamily="2" charset="2"/>
              <a:buChar char="v"/>
            </a:pPr>
            <a:r>
              <a:rPr lang="en-US" sz="4800" b="0" u="sng" dirty="0">
                <a:solidFill>
                  <a:srgbClr val="FFFF00"/>
                </a:solidFill>
                <a:latin typeface="Algerian" panose="04020705040A02060702" pitchFamily="82" charset="0"/>
              </a:rPr>
              <a:t>Fleming’s right hand rule</a:t>
            </a:r>
            <a:r>
              <a:rPr lang="en-US" sz="4800" b="0" dirty="0">
                <a:solidFill>
                  <a:srgbClr val="FFFF00"/>
                </a:solidFill>
                <a:latin typeface="Algerian" panose="04020705040A02060702" pitchFamily="82" charset="0"/>
              </a:rPr>
              <a:t> : -</a:t>
            </a:r>
            <a:endParaRPr lang="en-IN" sz="4800" b="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55465D8F-6A32-24B7-02EA-86B9D53F57BC}"/>
              </a:ext>
            </a:extLst>
          </p:cNvPr>
          <p:cNvSpPr>
            <a:spLocks noGrp="1"/>
          </p:cNvSpPr>
          <p:nvPr>
            <p:ph type="body" sz="half" idx="2"/>
          </p:nvPr>
        </p:nvSpPr>
        <p:spPr>
          <a:xfrm>
            <a:off x="457199" y="751840"/>
            <a:ext cx="11602719" cy="5405120"/>
          </a:xfrm>
        </p:spPr>
        <p:txBody>
          <a:bodyPr>
            <a:normAutofit/>
          </a:bodyPr>
          <a:lstStyle/>
          <a:p>
            <a:pPr marL="285750" indent="-285750" algn="l">
              <a:buFont typeface="Wingdings" panose="05000000000000000000" pitchFamily="2" charset="2"/>
              <a:buChar char="v"/>
            </a:pPr>
            <a:r>
              <a:rPr lang="en-US" sz="2800" b="1" u="sng" dirty="0">
                <a:solidFill>
                  <a:srgbClr val="FFFF00"/>
                </a:solidFill>
                <a:latin typeface="Century Schoolbook" panose="02040604050505020304" pitchFamily="18" charset="0"/>
              </a:rPr>
              <a:t>Statement</a:t>
            </a:r>
            <a:r>
              <a:rPr lang="en-US" sz="2800" b="1" dirty="0">
                <a:solidFill>
                  <a:srgbClr val="FFFF00"/>
                </a:solidFill>
                <a:latin typeface="Century Schoolbook" panose="02040604050505020304" pitchFamily="18" charset="0"/>
              </a:rPr>
              <a:t> : -</a:t>
            </a:r>
          </a:p>
          <a:p>
            <a:pPr marL="285750" indent="-285750" algn="l">
              <a:buFont typeface="Arial" panose="020B0604020202020204" pitchFamily="34" charset="0"/>
              <a:buChar char="•"/>
            </a:pPr>
            <a:r>
              <a:rPr lang="en-US" sz="2000" b="1" dirty="0">
                <a:latin typeface="Century Schoolbook" panose="02040604050505020304" pitchFamily="18" charset="0"/>
              </a:rPr>
              <a:t>This rule gives the direction of induced current when a conductor moves in a magnetic field.</a:t>
            </a:r>
          </a:p>
          <a:p>
            <a:pPr marL="285750" indent="-285750" algn="l">
              <a:buFont typeface="Wingdings" panose="05000000000000000000" pitchFamily="2" charset="2"/>
              <a:buChar char="v"/>
            </a:pPr>
            <a:r>
              <a:rPr lang="en-US" sz="2800" b="1" u="sng" dirty="0">
                <a:solidFill>
                  <a:srgbClr val="FFFF00"/>
                </a:solidFill>
                <a:latin typeface="Century Schoolbook" panose="02040604050505020304" pitchFamily="18" charset="0"/>
              </a:rPr>
              <a:t>Rule</a:t>
            </a:r>
            <a:r>
              <a:rPr lang="en-US" sz="2800" b="1" dirty="0">
                <a:solidFill>
                  <a:srgbClr val="FFFF00"/>
                </a:solidFill>
                <a:latin typeface="Century Schoolbook" panose="02040604050505020304" pitchFamily="18" charset="0"/>
              </a:rPr>
              <a:t> : -</a:t>
            </a:r>
          </a:p>
          <a:p>
            <a:pPr marL="285750" indent="-285750" algn="l">
              <a:buFont typeface="Arial" panose="020B0604020202020204" pitchFamily="34" charset="0"/>
              <a:buChar char="•"/>
            </a:pPr>
            <a:r>
              <a:rPr lang="en-US" sz="2000" b="1" dirty="0">
                <a:latin typeface="Century Schoolbook" panose="02040604050505020304" pitchFamily="18" charset="0"/>
              </a:rPr>
              <a:t>Stretch your right hand such that:</a:t>
            </a:r>
          </a:p>
          <a:p>
            <a:pPr marL="285750" indent="-285750" algn="l">
              <a:buFont typeface="Arial" panose="020B0604020202020204" pitchFamily="34" charset="0"/>
              <a:buChar char="•"/>
            </a:pPr>
            <a:r>
              <a:rPr lang="en-US" sz="2000" b="1" dirty="0">
                <a:latin typeface="Century Schoolbook" panose="02040604050505020304" pitchFamily="18" charset="0"/>
              </a:rPr>
              <a:t>Forefinger → points in the direction of magnetic field (B),</a:t>
            </a:r>
          </a:p>
          <a:p>
            <a:pPr marL="285750" indent="-285750" algn="l">
              <a:buFont typeface="Arial" panose="020B0604020202020204" pitchFamily="34" charset="0"/>
              <a:buChar char="•"/>
            </a:pPr>
            <a:r>
              <a:rPr lang="en-US" sz="2000" b="1" dirty="0">
                <a:latin typeface="Century Schoolbook" panose="02040604050505020304" pitchFamily="18" charset="0"/>
              </a:rPr>
              <a:t>Thumb → points in the direction of motion of the conductor,</a:t>
            </a:r>
          </a:p>
          <a:p>
            <a:pPr marL="285750" indent="-285750" algn="l">
              <a:buFont typeface="Arial" panose="020B0604020202020204" pitchFamily="34" charset="0"/>
              <a:buChar char="•"/>
            </a:pPr>
            <a:r>
              <a:rPr lang="en-US" sz="2000" b="1" dirty="0">
                <a:latin typeface="Century Schoolbook" panose="02040604050505020304" pitchFamily="18" charset="0"/>
              </a:rPr>
              <a:t>Middle finger → gives the direction of induced current (I).</a:t>
            </a:r>
          </a:p>
          <a:p>
            <a:pPr marL="342900" indent="-342900" algn="l">
              <a:buFont typeface="Wingdings" panose="05000000000000000000" pitchFamily="2" charset="2"/>
              <a:buChar char="v"/>
            </a:pPr>
            <a:r>
              <a:rPr lang="en-US" sz="2800" b="1" u="sng" dirty="0">
                <a:solidFill>
                  <a:srgbClr val="FFFF00"/>
                </a:solidFill>
                <a:latin typeface="Century Schoolbook" panose="02040604050505020304" pitchFamily="18" charset="0"/>
              </a:rPr>
              <a:t>Used in</a:t>
            </a:r>
            <a:r>
              <a:rPr lang="en-US" sz="2800" b="1" dirty="0">
                <a:solidFill>
                  <a:srgbClr val="FFFF00"/>
                </a:solidFill>
                <a:latin typeface="Century Schoolbook" panose="02040604050505020304" pitchFamily="18" charset="0"/>
              </a:rPr>
              <a:t> : -</a:t>
            </a:r>
          </a:p>
          <a:p>
            <a:pPr marL="285750" indent="-285750" algn="l">
              <a:buFont typeface="Arial" panose="020B0604020202020204" pitchFamily="34" charset="0"/>
              <a:buChar char="•"/>
            </a:pPr>
            <a:r>
              <a:rPr lang="en-US" sz="2000" b="1" dirty="0">
                <a:latin typeface="Century Schoolbook" panose="02040604050505020304" pitchFamily="18" charset="0"/>
              </a:rPr>
              <a:t>Electric generators, where mechanical energy is converted into electrical energy.</a:t>
            </a:r>
          </a:p>
          <a:p>
            <a:pPr marL="285750" indent="-285750" algn="l">
              <a:buFont typeface="Arial" panose="020B0604020202020204" pitchFamily="34" charset="0"/>
              <a:buChar char="•"/>
            </a:pPr>
            <a:endParaRPr lang="en-IN" b="1" dirty="0">
              <a:latin typeface="Century Schoolbook" panose="02040604050505020304" pitchFamily="18" charset="0"/>
            </a:endParaRPr>
          </a:p>
        </p:txBody>
      </p:sp>
    </p:spTree>
    <p:extLst>
      <p:ext uri="{BB962C8B-B14F-4D97-AF65-F5344CB8AC3E}">
        <p14:creationId xmlns:p14="http://schemas.microsoft.com/office/powerpoint/2010/main" val="924751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88F6E-114E-C82E-A77C-8923FB2CFD0D}"/>
              </a:ext>
            </a:extLst>
          </p:cNvPr>
          <p:cNvSpPr>
            <a:spLocks noGrp="1"/>
          </p:cNvSpPr>
          <p:nvPr>
            <p:ph type="title"/>
          </p:nvPr>
        </p:nvSpPr>
        <p:spPr>
          <a:xfrm>
            <a:off x="161955" y="-87299"/>
            <a:ext cx="10353762" cy="930579"/>
          </a:xfrm>
        </p:spPr>
        <p:txBody>
          <a:bodyPr>
            <a:normAutofit/>
          </a:bodyPr>
          <a:lstStyle/>
          <a:p>
            <a:pPr marL="457200" indent="-457200" algn="l">
              <a:buFont typeface="Wingdings" panose="05000000000000000000" pitchFamily="2" charset="2"/>
              <a:buChar char="v"/>
            </a:pPr>
            <a:r>
              <a:rPr lang="en-US" sz="4800" b="0" u="sng" dirty="0">
                <a:solidFill>
                  <a:srgbClr val="FFFF00"/>
                </a:solidFill>
                <a:latin typeface="Algerian" panose="04020705040A02060702" pitchFamily="82" charset="0"/>
              </a:rPr>
              <a:t>Numerical example</a:t>
            </a:r>
            <a:r>
              <a:rPr lang="en-US" sz="4800" b="0" dirty="0">
                <a:solidFill>
                  <a:srgbClr val="FFFF00"/>
                </a:solidFill>
                <a:latin typeface="Algerian" panose="04020705040A02060702" pitchFamily="82" charset="0"/>
              </a:rPr>
              <a:t> : -</a:t>
            </a:r>
            <a:endParaRPr lang="en-IN" sz="4800" b="0" dirty="0">
              <a:solidFill>
                <a:srgbClr val="FFFF00"/>
              </a:solidFill>
              <a:latin typeface="Algerian" panose="04020705040A02060702" pitchFamily="82" charset="0"/>
            </a:endParaRP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9D7E6943-62A7-1FCF-F3CB-C4D09545FC35}"/>
                  </a:ext>
                </a:extLst>
              </p:cNvPr>
              <p:cNvSpPr>
                <a:spLocks noGrp="1"/>
              </p:cNvSpPr>
              <p:nvPr>
                <p:ph type="body" sz="half" idx="2"/>
              </p:nvPr>
            </p:nvSpPr>
            <p:spPr>
              <a:xfrm>
                <a:off x="161957" y="762000"/>
                <a:ext cx="11583004" cy="4500880"/>
              </a:xfrm>
            </p:spPr>
            <p:txBody>
              <a:bodyPr>
                <a:normAutofit/>
              </a:bodyPr>
              <a:lstStyle/>
              <a:p>
                <a:pPr marL="285750" indent="-285750" algn="l">
                  <a:buFont typeface="Wingdings" panose="05000000000000000000" pitchFamily="2" charset="2"/>
                  <a:buChar char="v"/>
                </a:pPr>
                <a:r>
                  <a:rPr lang="en-IN" sz="2400" b="1" u="sng" dirty="0">
                    <a:solidFill>
                      <a:srgbClr val="FFFF00"/>
                    </a:solidFill>
                    <a:latin typeface="Century Schoolbook" panose="02040604050505020304" pitchFamily="18" charset="0"/>
                  </a:rPr>
                  <a:t>Question</a:t>
                </a:r>
                <a:r>
                  <a:rPr lang="en-IN" sz="2400" b="1" dirty="0">
                    <a:solidFill>
                      <a:srgbClr val="FFFF00"/>
                    </a:solidFill>
                    <a:latin typeface="Century Schoolbook" panose="02040604050505020304" pitchFamily="18" charset="0"/>
                  </a:rPr>
                  <a:t> : - </a:t>
                </a:r>
                <a:r>
                  <a:rPr lang="en-IN" sz="2000" b="1" dirty="0">
                    <a:latin typeface="Century Schoolbook" panose="02040604050505020304" pitchFamily="18" charset="0"/>
                  </a:rPr>
                  <a:t>A straight conductor of length 0.5 m carrying a current of 10 A is placed perpendicular to a magnetic field of 0.2 T.</a:t>
                </a:r>
                <a:br>
                  <a:rPr lang="en-IN" sz="2000" b="1" dirty="0">
                    <a:latin typeface="Century Schoolbook" panose="02040604050505020304" pitchFamily="18" charset="0"/>
                  </a:rPr>
                </a:br>
                <a:r>
                  <a:rPr lang="en-IN" sz="2000" b="1" dirty="0">
                    <a:latin typeface="Century Schoolbook" panose="02040604050505020304" pitchFamily="18" charset="0"/>
                  </a:rPr>
                  <a:t>Find the force acting on the conductor.</a:t>
                </a:r>
              </a:p>
              <a:p>
                <a:pPr marL="342900" indent="-342900" algn="l">
                  <a:buFont typeface="Arial" panose="020B0604020202020204" pitchFamily="34" charset="0"/>
                  <a:buChar char="•"/>
                </a:pPr>
                <a:r>
                  <a:rPr lang="en-IN" sz="2400" b="1" u="sng" dirty="0">
                    <a:latin typeface="Century Schoolbook" panose="02040604050505020304" pitchFamily="18" charset="0"/>
                  </a:rPr>
                  <a:t>Given</a:t>
                </a:r>
                <a:r>
                  <a:rPr lang="en-IN" sz="2400" b="1" dirty="0">
                    <a:latin typeface="Century Schoolbook" panose="02040604050505020304" pitchFamily="18" charset="0"/>
                  </a:rPr>
                  <a:t> : </a:t>
                </a:r>
                <a14:m>
                  <m:oMath xmlns:m="http://schemas.openxmlformats.org/officeDocument/2006/math">
                    <m:r>
                      <a:rPr lang="en-IN" sz="2400" b="1" i="1" smtClean="0">
                        <a:solidFill>
                          <a:srgbClr val="FFFF00"/>
                        </a:solidFill>
                        <a:latin typeface="Cambria Math" panose="02040503050406030204" pitchFamily="18" charset="0"/>
                      </a:rPr>
                      <m:t>𝑳</m:t>
                    </m:r>
                    <m:r>
                      <a:rPr lang="en-IN" sz="2400" b="1" smtClean="0">
                        <a:solidFill>
                          <a:srgbClr val="FFFF00"/>
                        </a:solidFill>
                        <a:latin typeface="Cambria Math" panose="02040503050406030204" pitchFamily="18" charset="0"/>
                      </a:rPr>
                      <m:t>=</m:t>
                    </m:r>
                    <m:r>
                      <a:rPr lang="en-IN" sz="2400" b="1" i="1" smtClean="0">
                        <a:solidFill>
                          <a:srgbClr val="FFFF00"/>
                        </a:solidFill>
                        <a:latin typeface="Cambria Math" panose="02040503050406030204" pitchFamily="18" charset="0"/>
                      </a:rPr>
                      <m:t>𝟎</m:t>
                    </m:r>
                    <m:r>
                      <a:rPr lang="en-IN" sz="2400" b="1" smtClean="0">
                        <a:solidFill>
                          <a:srgbClr val="FFFF00"/>
                        </a:solidFill>
                        <a:latin typeface="Cambria Math" panose="02040503050406030204" pitchFamily="18" charset="0"/>
                      </a:rPr>
                      <m:t>.</m:t>
                    </m:r>
                    <m:r>
                      <a:rPr lang="en-IN" sz="2400" b="1" i="1" smtClean="0">
                        <a:solidFill>
                          <a:srgbClr val="FFFF00"/>
                        </a:solidFill>
                        <a:latin typeface="Cambria Math" panose="02040503050406030204" pitchFamily="18" charset="0"/>
                      </a:rPr>
                      <m:t>𝟓</m:t>
                    </m:r>
                    <m:r>
                      <m:rPr>
                        <m:nor/>
                      </m:rPr>
                      <a:rPr lang="en-IN" sz="2400" b="1" i="1">
                        <a:solidFill>
                          <a:srgbClr val="FFFF00"/>
                        </a:solidFill>
                        <a:latin typeface="Century Schoolbook" panose="02040604050505020304" pitchFamily="18" charset="0"/>
                      </a:rPr>
                      <m:t> </m:t>
                    </m:r>
                    <m:r>
                      <a:rPr lang="en-IN" sz="2400" b="1" i="1" smtClean="0">
                        <a:solidFill>
                          <a:srgbClr val="FFFF00"/>
                        </a:solidFill>
                        <a:latin typeface="Cambria Math" panose="02040503050406030204" pitchFamily="18" charset="0"/>
                      </a:rPr>
                      <m:t>𝒎</m:t>
                    </m:r>
                    <m:r>
                      <a:rPr lang="en-IN" sz="2400" b="1" smtClean="0">
                        <a:solidFill>
                          <a:srgbClr val="FFFF00"/>
                        </a:solidFill>
                        <a:latin typeface="Cambria Math" panose="02040503050406030204" pitchFamily="18" charset="0"/>
                      </a:rPr>
                      <m:t>, </m:t>
                    </m:r>
                    <m:r>
                      <a:rPr lang="en-IN" sz="2400" b="1" i="1" smtClean="0">
                        <a:solidFill>
                          <a:srgbClr val="FFFF00"/>
                        </a:solidFill>
                        <a:latin typeface="Cambria Math" panose="02040503050406030204" pitchFamily="18" charset="0"/>
                      </a:rPr>
                      <m:t>𝑰</m:t>
                    </m:r>
                    <m:r>
                      <a:rPr lang="en-IN" sz="2400" b="1" smtClean="0">
                        <a:solidFill>
                          <a:srgbClr val="FFFF00"/>
                        </a:solidFill>
                        <a:latin typeface="Cambria Math" panose="02040503050406030204" pitchFamily="18" charset="0"/>
                      </a:rPr>
                      <m:t>=</m:t>
                    </m:r>
                    <m:r>
                      <a:rPr lang="en-IN" sz="2400" b="1" i="1" smtClean="0">
                        <a:solidFill>
                          <a:srgbClr val="FFFF00"/>
                        </a:solidFill>
                        <a:latin typeface="Cambria Math" panose="02040503050406030204" pitchFamily="18" charset="0"/>
                      </a:rPr>
                      <m:t>𝟏𝟎</m:t>
                    </m:r>
                    <m:r>
                      <m:rPr>
                        <m:nor/>
                      </m:rPr>
                      <a:rPr lang="en-IN" sz="2400" b="1" i="1">
                        <a:solidFill>
                          <a:srgbClr val="FFFF00"/>
                        </a:solidFill>
                        <a:latin typeface="Century Schoolbook" panose="02040604050505020304" pitchFamily="18" charset="0"/>
                      </a:rPr>
                      <m:t> </m:t>
                    </m:r>
                    <m:r>
                      <a:rPr lang="en-IN" sz="2400" b="1" i="1" smtClean="0">
                        <a:solidFill>
                          <a:srgbClr val="FFFF00"/>
                        </a:solidFill>
                        <a:latin typeface="Cambria Math" panose="02040503050406030204" pitchFamily="18" charset="0"/>
                      </a:rPr>
                      <m:t>𝑨</m:t>
                    </m:r>
                    <m:r>
                      <a:rPr lang="en-IN" sz="2400" b="1" smtClean="0">
                        <a:solidFill>
                          <a:srgbClr val="FFFF00"/>
                        </a:solidFill>
                        <a:latin typeface="Cambria Math" panose="02040503050406030204" pitchFamily="18" charset="0"/>
                      </a:rPr>
                      <m:t>, </m:t>
                    </m:r>
                    <m:r>
                      <a:rPr lang="en-IN" sz="2400" b="1" i="1" smtClean="0">
                        <a:solidFill>
                          <a:srgbClr val="FFFF00"/>
                        </a:solidFill>
                        <a:latin typeface="Cambria Math" panose="02040503050406030204" pitchFamily="18" charset="0"/>
                      </a:rPr>
                      <m:t>𝑩</m:t>
                    </m:r>
                    <m:r>
                      <a:rPr lang="en-IN" sz="2400" b="1" smtClean="0">
                        <a:solidFill>
                          <a:srgbClr val="FFFF00"/>
                        </a:solidFill>
                        <a:latin typeface="Cambria Math" panose="02040503050406030204" pitchFamily="18" charset="0"/>
                      </a:rPr>
                      <m:t>=</m:t>
                    </m:r>
                    <m:r>
                      <a:rPr lang="en-IN" sz="2400" b="1" i="1" smtClean="0">
                        <a:solidFill>
                          <a:srgbClr val="FFFF00"/>
                        </a:solidFill>
                        <a:latin typeface="Cambria Math" panose="02040503050406030204" pitchFamily="18" charset="0"/>
                      </a:rPr>
                      <m:t>𝟎</m:t>
                    </m:r>
                    <m:r>
                      <a:rPr lang="en-IN" sz="2400" b="1" smtClean="0">
                        <a:solidFill>
                          <a:srgbClr val="FFFF00"/>
                        </a:solidFill>
                        <a:latin typeface="Cambria Math" panose="02040503050406030204" pitchFamily="18" charset="0"/>
                      </a:rPr>
                      <m:t>.</m:t>
                    </m:r>
                    <m:r>
                      <a:rPr lang="en-IN" sz="2400" b="1" i="1" smtClean="0">
                        <a:solidFill>
                          <a:srgbClr val="FFFF00"/>
                        </a:solidFill>
                        <a:latin typeface="Cambria Math" panose="02040503050406030204" pitchFamily="18" charset="0"/>
                      </a:rPr>
                      <m:t>𝟐</m:t>
                    </m:r>
                    <m:r>
                      <m:rPr>
                        <m:nor/>
                      </m:rPr>
                      <a:rPr lang="en-IN" sz="2400" b="1" i="1">
                        <a:solidFill>
                          <a:srgbClr val="FFFF00"/>
                        </a:solidFill>
                        <a:latin typeface="Century Schoolbook" panose="02040604050505020304" pitchFamily="18" charset="0"/>
                      </a:rPr>
                      <m:t> </m:t>
                    </m:r>
                    <m:r>
                      <a:rPr lang="en-IN" sz="2400" b="1" i="1" smtClean="0">
                        <a:solidFill>
                          <a:srgbClr val="FFFF00"/>
                        </a:solidFill>
                        <a:latin typeface="Cambria Math" panose="02040503050406030204" pitchFamily="18" charset="0"/>
                      </a:rPr>
                      <m:t>𝑻</m:t>
                    </m:r>
                    <m:r>
                      <a:rPr lang="en-IN" sz="2400" b="1" smtClean="0">
                        <a:solidFill>
                          <a:srgbClr val="FFFF00"/>
                        </a:solidFill>
                        <a:latin typeface="Cambria Math" panose="02040503050406030204" pitchFamily="18" charset="0"/>
                      </a:rPr>
                      <m:t>, </m:t>
                    </m:r>
                    <m:r>
                      <a:rPr lang="en-IN" sz="2400" b="1" i="1" smtClean="0">
                        <a:solidFill>
                          <a:srgbClr val="FFFF00"/>
                        </a:solidFill>
                        <a:latin typeface="Cambria Math" panose="02040503050406030204" pitchFamily="18" charset="0"/>
                      </a:rPr>
                      <m:t>𝜽</m:t>
                    </m:r>
                    <m:r>
                      <a:rPr lang="en-IN" sz="2400" b="1" smtClean="0">
                        <a:solidFill>
                          <a:srgbClr val="FFFF00"/>
                        </a:solidFill>
                        <a:latin typeface="Cambria Math" panose="02040503050406030204" pitchFamily="18" charset="0"/>
                      </a:rPr>
                      <m:t>=</m:t>
                    </m:r>
                    <m:sSup>
                      <m:sSupPr>
                        <m:ctrlPr>
                          <a:rPr lang="ar-AE" sz="2400" b="1" i="1">
                            <a:solidFill>
                              <a:srgbClr val="FFFF00"/>
                            </a:solidFill>
                            <a:latin typeface="Cambria Math" panose="02040503050406030204" pitchFamily="18" charset="0"/>
                          </a:rPr>
                        </m:ctrlPr>
                      </m:sSupPr>
                      <m:e>
                        <m:r>
                          <a:rPr lang="ar-AE" sz="2400" b="1" i="1" smtClean="0">
                            <a:solidFill>
                              <a:srgbClr val="FFFF00"/>
                            </a:solidFill>
                            <a:latin typeface="Cambria Math" panose="02040503050406030204" pitchFamily="18" charset="0"/>
                          </a:rPr>
                          <m:t>𝟗𝟎</m:t>
                        </m:r>
                      </m:e>
                      <m:sup>
                        <m:r>
                          <a:rPr lang="ar-AE" sz="2400" b="1" smtClean="0">
                            <a:solidFill>
                              <a:srgbClr val="FFFF00"/>
                            </a:solidFill>
                            <a:latin typeface="Cambria Math" panose="02040503050406030204" pitchFamily="18" charset="0"/>
                          </a:rPr>
                          <m:t>∘</m:t>
                        </m:r>
                      </m:sup>
                    </m:sSup>
                  </m:oMath>
                </a14:m>
                <a:endParaRPr lang="ar-AE" sz="2400" b="1" dirty="0">
                  <a:latin typeface="Century Schoolbook" panose="02040604050505020304" pitchFamily="18" charset="0"/>
                </a:endParaRPr>
              </a:p>
              <a:p>
                <a:pPr marL="342900" indent="-342900" algn="l">
                  <a:buFont typeface="Arial" panose="020B0604020202020204" pitchFamily="34" charset="0"/>
                  <a:buChar char="•"/>
                </a:pPr>
                <a:r>
                  <a:rPr lang="en-IN" sz="2400" b="1" u="sng" dirty="0">
                    <a:latin typeface="Century Schoolbook" panose="02040604050505020304" pitchFamily="18" charset="0"/>
                  </a:rPr>
                  <a:t>Formula</a:t>
                </a:r>
                <a:r>
                  <a:rPr lang="en-IN" sz="2400" b="1" dirty="0">
                    <a:latin typeface="Century Schoolbook" panose="02040604050505020304" pitchFamily="18" charset="0"/>
                  </a:rPr>
                  <a:t> :</a:t>
                </a:r>
                <a:r>
                  <a:rPr lang="en-IN" sz="2400" b="1" dirty="0">
                    <a:solidFill>
                      <a:srgbClr val="FFFF00"/>
                    </a:solidFill>
                    <a:latin typeface="Century Schoolbook" panose="02040604050505020304" pitchFamily="18" charset="0"/>
                  </a:rPr>
                  <a:t> </a:t>
                </a:r>
                <a14:m>
                  <m:oMath xmlns:m="http://schemas.openxmlformats.org/officeDocument/2006/math">
                    <m:r>
                      <a:rPr lang="en-IN" sz="2400" b="1" i="1" smtClean="0">
                        <a:solidFill>
                          <a:srgbClr val="FFFF00"/>
                        </a:solidFill>
                        <a:latin typeface="Cambria Math" panose="02040503050406030204" pitchFamily="18" charset="0"/>
                      </a:rPr>
                      <m:t>𝑭</m:t>
                    </m:r>
                    <m:r>
                      <a:rPr lang="en-IN" sz="2400" b="1" smtClean="0">
                        <a:solidFill>
                          <a:srgbClr val="FFFF00"/>
                        </a:solidFill>
                        <a:latin typeface="Cambria Math" panose="02040503050406030204" pitchFamily="18" charset="0"/>
                      </a:rPr>
                      <m:t>=</m:t>
                    </m:r>
                    <m:r>
                      <a:rPr lang="en-IN" sz="2400" b="1" i="1" smtClean="0">
                        <a:solidFill>
                          <a:srgbClr val="FFFF00"/>
                        </a:solidFill>
                        <a:latin typeface="Cambria Math" panose="02040503050406030204" pitchFamily="18" charset="0"/>
                      </a:rPr>
                      <m:t>𝑩𝑰𝑳</m:t>
                    </m:r>
                    <m:func>
                      <m:funcPr>
                        <m:ctrlPr>
                          <a:rPr lang="ar-AE" sz="2400" b="1" i="1">
                            <a:solidFill>
                              <a:srgbClr val="FFFF00"/>
                            </a:solidFill>
                            <a:latin typeface="Cambria Math" panose="02040503050406030204" pitchFamily="18" charset="0"/>
                          </a:rPr>
                        </m:ctrlPr>
                      </m:funcPr>
                      <m:fName>
                        <m:r>
                          <a:rPr lang="en-IN" sz="2400" b="1" i="1" smtClean="0">
                            <a:solidFill>
                              <a:srgbClr val="FFFF00"/>
                            </a:solidFill>
                            <a:latin typeface="Cambria Math" panose="02040503050406030204" pitchFamily="18" charset="0"/>
                          </a:rPr>
                          <m:t>𝐬𝐢𝐧</m:t>
                        </m:r>
                      </m:fName>
                      <m:e>
                        <m:r>
                          <a:rPr lang="ar-AE" sz="2400" b="1" i="1" smtClean="0">
                            <a:solidFill>
                              <a:srgbClr val="FFFF00"/>
                            </a:solidFill>
                            <a:latin typeface="Cambria Math" panose="02040503050406030204" pitchFamily="18" charset="0"/>
                          </a:rPr>
                          <m:t>𝜽</m:t>
                        </m:r>
                      </m:e>
                    </m:func>
                  </m:oMath>
                </a14:m>
                <a:endParaRPr lang="ar-AE" sz="2400" b="1" dirty="0">
                  <a:solidFill>
                    <a:srgbClr val="FFFF00"/>
                  </a:solidFill>
                  <a:latin typeface="Century Schoolbook" panose="02040604050505020304" pitchFamily="18" charset="0"/>
                </a:endParaRPr>
              </a:p>
              <a:p>
                <a:pPr marL="342900" indent="-342900" algn="l">
                  <a:buFont typeface="Arial" panose="020B0604020202020204" pitchFamily="34" charset="0"/>
                  <a:buChar char="•"/>
                </a:pPr>
                <a:r>
                  <a:rPr lang="en-IN" sz="2400" b="1" u="sng" dirty="0">
                    <a:latin typeface="Century Schoolbook" panose="02040604050505020304" pitchFamily="18" charset="0"/>
                  </a:rPr>
                  <a:t>Substitute values</a:t>
                </a:r>
                <a:r>
                  <a:rPr lang="en-IN" sz="2400" b="1" dirty="0">
                    <a:latin typeface="Century Schoolbook" panose="02040604050505020304" pitchFamily="18" charset="0"/>
                  </a:rPr>
                  <a:t> : </a:t>
                </a:r>
                <a14:m>
                  <m:oMath xmlns:m="http://schemas.openxmlformats.org/officeDocument/2006/math">
                    <m:r>
                      <a:rPr lang="en-IN" sz="2400" b="1" i="1" smtClean="0">
                        <a:solidFill>
                          <a:srgbClr val="FFFF00"/>
                        </a:solidFill>
                        <a:latin typeface="Cambria Math" panose="02040503050406030204" pitchFamily="18" charset="0"/>
                      </a:rPr>
                      <m:t>𝑭</m:t>
                    </m:r>
                    <m:r>
                      <a:rPr lang="en-IN" sz="2400" b="1" smtClean="0">
                        <a:solidFill>
                          <a:srgbClr val="FFFF00"/>
                        </a:solidFill>
                        <a:latin typeface="Cambria Math" panose="02040503050406030204" pitchFamily="18" charset="0"/>
                      </a:rPr>
                      <m:t>=</m:t>
                    </m:r>
                    <m:r>
                      <a:rPr lang="en-IN" sz="2400" b="1" i="1" smtClean="0">
                        <a:solidFill>
                          <a:srgbClr val="FFFF00"/>
                        </a:solidFill>
                        <a:latin typeface="Cambria Math" panose="02040503050406030204" pitchFamily="18" charset="0"/>
                      </a:rPr>
                      <m:t>𝟎</m:t>
                    </m:r>
                    <m:r>
                      <a:rPr lang="en-IN" sz="2400" b="1" smtClean="0">
                        <a:solidFill>
                          <a:srgbClr val="FFFF00"/>
                        </a:solidFill>
                        <a:latin typeface="Cambria Math" panose="02040503050406030204" pitchFamily="18" charset="0"/>
                      </a:rPr>
                      <m:t>.</m:t>
                    </m:r>
                    <m:r>
                      <a:rPr lang="en-IN" sz="2400" b="1" i="1" smtClean="0">
                        <a:solidFill>
                          <a:srgbClr val="FFFF00"/>
                        </a:solidFill>
                        <a:latin typeface="Cambria Math" panose="02040503050406030204" pitchFamily="18" charset="0"/>
                      </a:rPr>
                      <m:t>𝟐</m:t>
                    </m:r>
                    <m:r>
                      <a:rPr lang="en-IN" sz="2400" b="1" smtClean="0">
                        <a:solidFill>
                          <a:srgbClr val="FFFF00"/>
                        </a:solidFill>
                        <a:latin typeface="Cambria Math" panose="02040503050406030204" pitchFamily="18" charset="0"/>
                      </a:rPr>
                      <m:t>×</m:t>
                    </m:r>
                    <m:r>
                      <a:rPr lang="en-IN" sz="2400" b="1" i="1" smtClean="0">
                        <a:solidFill>
                          <a:srgbClr val="FFFF00"/>
                        </a:solidFill>
                        <a:latin typeface="Cambria Math" panose="02040503050406030204" pitchFamily="18" charset="0"/>
                      </a:rPr>
                      <m:t>𝟏𝟎</m:t>
                    </m:r>
                    <m:r>
                      <a:rPr lang="en-IN" sz="2400" b="1" smtClean="0">
                        <a:solidFill>
                          <a:srgbClr val="FFFF00"/>
                        </a:solidFill>
                        <a:latin typeface="Cambria Math" panose="02040503050406030204" pitchFamily="18" charset="0"/>
                      </a:rPr>
                      <m:t>×</m:t>
                    </m:r>
                    <m:r>
                      <a:rPr lang="en-IN" sz="2400" b="1" i="1" smtClean="0">
                        <a:solidFill>
                          <a:srgbClr val="FFFF00"/>
                        </a:solidFill>
                        <a:latin typeface="Cambria Math" panose="02040503050406030204" pitchFamily="18" charset="0"/>
                      </a:rPr>
                      <m:t>𝟎</m:t>
                    </m:r>
                    <m:r>
                      <a:rPr lang="en-IN" sz="2400" b="1" smtClean="0">
                        <a:solidFill>
                          <a:srgbClr val="FFFF00"/>
                        </a:solidFill>
                        <a:latin typeface="Cambria Math" panose="02040503050406030204" pitchFamily="18" charset="0"/>
                      </a:rPr>
                      <m:t>.</m:t>
                    </m:r>
                    <m:r>
                      <a:rPr lang="en-IN" sz="2400" b="1" i="1" smtClean="0">
                        <a:solidFill>
                          <a:srgbClr val="FFFF00"/>
                        </a:solidFill>
                        <a:latin typeface="Cambria Math" panose="02040503050406030204" pitchFamily="18" charset="0"/>
                      </a:rPr>
                      <m:t>𝟓</m:t>
                    </m:r>
                    <m:r>
                      <a:rPr lang="en-IN" sz="2400" b="1" smtClean="0">
                        <a:solidFill>
                          <a:srgbClr val="FFFF00"/>
                        </a:solidFill>
                        <a:latin typeface="Cambria Math" panose="02040503050406030204" pitchFamily="18" charset="0"/>
                      </a:rPr>
                      <m:t>×</m:t>
                    </m:r>
                    <m:func>
                      <m:funcPr>
                        <m:ctrlPr>
                          <a:rPr lang="ar-AE" sz="2400" b="1" i="1">
                            <a:solidFill>
                              <a:srgbClr val="FFFF00"/>
                            </a:solidFill>
                            <a:latin typeface="Cambria Math" panose="02040503050406030204" pitchFamily="18" charset="0"/>
                          </a:rPr>
                        </m:ctrlPr>
                      </m:funcPr>
                      <m:fName>
                        <m:r>
                          <a:rPr lang="en-IN" sz="2400" b="1" i="1" smtClean="0">
                            <a:solidFill>
                              <a:srgbClr val="FFFF00"/>
                            </a:solidFill>
                            <a:latin typeface="Cambria Math" panose="02040503050406030204" pitchFamily="18" charset="0"/>
                          </a:rPr>
                          <m:t>𝐬𝐢𝐧</m:t>
                        </m:r>
                      </m:fName>
                      <m:e>
                        <m:r>
                          <a:rPr lang="ar-AE" sz="2400" b="1" i="1" smtClean="0">
                            <a:solidFill>
                              <a:srgbClr val="FFFF00"/>
                            </a:solidFill>
                            <a:latin typeface="Cambria Math" panose="02040503050406030204" pitchFamily="18" charset="0"/>
                          </a:rPr>
                          <m:t>𝟗𝟎</m:t>
                        </m:r>
                      </m:e>
                    </m:func>
                    <m:r>
                      <a:rPr lang="ar-AE" sz="2400" b="1" smtClean="0">
                        <a:solidFill>
                          <a:srgbClr val="FFFF00"/>
                        </a:solidFill>
                        <a:latin typeface="Cambria Math" panose="02040503050406030204" pitchFamily="18" charset="0"/>
                      </a:rPr>
                      <m:t>°</m:t>
                    </m:r>
                  </m:oMath>
                </a14:m>
                <a:endParaRPr lang="ar-AE" sz="2400" b="1" dirty="0">
                  <a:latin typeface="Century Schoolbook" panose="02040604050505020304" pitchFamily="18" charset="0"/>
                </a:endParaRPr>
              </a:p>
              <a:p>
                <a:pPr marL="342900" indent="-342900" algn="l">
                  <a:buFont typeface="Arial" panose="020B0604020202020204" pitchFamily="34" charset="0"/>
                  <a:buChar char="•"/>
                </a:pPr>
                <a:r>
                  <a:rPr lang="en-IN" sz="2400" b="1" dirty="0">
                    <a:latin typeface="Century Schoolbook" panose="02040604050505020304" pitchFamily="18" charset="0"/>
                  </a:rPr>
                  <a:t>Since </a:t>
                </a:r>
                <a14:m>
                  <m:oMath xmlns:m="http://schemas.openxmlformats.org/officeDocument/2006/math">
                    <m:func>
                      <m:funcPr>
                        <m:ctrlPr>
                          <a:rPr lang="ar-AE" sz="2400" b="1" i="1">
                            <a:latin typeface="Cambria Math" panose="02040503050406030204" pitchFamily="18" charset="0"/>
                          </a:rPr>
                        </m:ctrlPr>
                      </m:funcPr>
                      <m:fName>
                        <m:r>
                          <a:rPr lang="en-IN" sz="2400" b="1" i="1" smtClean="0">
                            <a:latin typeface="Cambria Math" panose="02040503050406030204" pitchFamily="18" charset="0"/>
                          </a:rPr>
                          <m:t>𝐬𝐢𝐧</m:t>
                        </m:r>
                      </m:fName>
                      <m:e>
                        <m:r>
                          <a:rPr lang="ar-AE" sz="2400" b="1" i="1" smtClean="0">
                            <a:latin typeface="Cambria Math" panose="02040503050406030204" pitchFamily="18" charset="0"/>
                          </a:rPr>
                          <m:t>𝟗𝟎</m:t>
                        </m:r>
                      </m:e>
                    </m:func>
                    <m:r>
                      <a:rPr lang="ar-AE" sz="2400" b="1" smtClean="0">
                        <a:latin typeface="Cambria Math" panose="02040503050406030204" pitchFamily="18" charset="0"/>
                      </a:rPr>
                      <m:t>°=</m:t>
                    </m:r>
                    <m:r>
                      <a:rPr lang="ar-AE" sz="2400" b="1" i="1" smtClean="0">
                        <a:latin typeface="Cambria Math" panose="02040503050406030204" pitchFamily="18" charset="0"/>
                      </a:rPr>
                      <m:t>𝟏</m:t>
                    </m:r>
                  </m:oMath>
                </a14:m>
                <a:r>
                  <a:rPr lang="ar-AE" sz="2400" b="1" dirty="0">
                    <a:latin typeface="Century Schoolbook" panose="02040604050505020304" pitchFamily="18" charset="0"/>
                  </a:rPr>
                  <a:t>,</a:t>
                </a:r>
                <a:r>
                  <a:rPr lang="en-US" sz="2400" b="1" dirty="0">
                    <a:latin typeface="Century Schoolbook" panose="02040604050505020304" pitchFamily="18" charset="0"/>
                  </a:rPr>
                  <a:t>  </a:t>
                </a:r>
                <a14:m>
                  <m:oMath xmlns:m="http://schemas.openxmlformats.org/officeDocument/2006/math">
                    <m:r>
                      <a:rPr lang="ar-AE" sz="2400" b="1" i="1" smtClean="0">
                        <a:solidFill>
                          <a:srgbClr val="FFFF00"/>
                        </a:solidFill>
                        <a:latin typeface="Cambria Math" panose="02040503050406030204" pitchFamily="18" charset="0"/>
                      </a:rPr>
                      <m:t>𝑭</m:t>
                    </m:r>
                    <m:r>
                      <a:rPr lang="ar-AE" sz="2400" b="1" smtClean="0">
                        <a:solidFill>
                          <a:srgbClr val="FFFF00"/>
                        </a:solidFill>
                        <a:latin typeface="Cambria Math" panose="02040503050406030204" pitchFamily="18" charset="0"/>
                      </a:rPr>
                      <m:t>=</m:t>
                    </m:r>
                    <m:r>
                      <a:rPr lang="ar-AE" sz="2400" b="1" i="1" smtClean="0">
                        <a:solidFill>
                          <a:srgbClr val="FFFF00"/>
                        </a:solidFill>
                        <a:latin typeface="Cambria Math" panose="02040503050406030204" pitchFamily="18" charset="0"/>
                      </a:rPr>
                      <m:t>𝟎</m:t>
                    </m:r>
                    <m:r>
                      <a:rPr lang="ar-AE" sz="2400" b="1" smtClean="0">
                        <a:solidFill>
                          <a:srgbClr val="FFFF00"/>
                        </a:solidFill>
                        <a:latin typeface="Cambria Math" panose="02040503050406030204" pitchFamily="18" charset="0"/>
                      </a:rPr>
                      <m:t>.</m:t>
                    </m:r>
                    <m:r>
                      <a:rPr lang="ar-AE" sz="2400" b="1" i="1" smtClean="0">
                        <a:solidFill>
                          <a:srgbClr val="FFFF00"/>
                        </a:solidFill>
                        <a:latin typeface="Cambria Math" panose="02040503050406030204" pitchFamily="18" charset="0"/>
                      </a:rPr>
                      <m:t>𝟐</m:t>
                    </m:r>
                    <m:r>
                      <a:rPr lang="ar-AE" sz="2400" b="1" smtClean="0">
                        <a:solidFill>
                          <a:srgbClr val="FFFF00"/>
                        </a:solidFill>
                        <a:latin typeface="Cambria Math" panose="02040503050406030204" pitchFamily="18" charset="0"/>
                      </a:rPr>
                      <m:t>×</m:t>
                    </m:r>
                    <m:r>
                      <a:rPr lang="ar-AE" sz="2400" b="1" i="1" smtClean="0">
                        <a:solidFill>
                          <a:srgbClr val="FFFF00"/>
                        </a:solidFill>
                        <a:latin typeface="Cambria Math" panose="02040503050406030204" pitchFamily="18" charset="0"/>
                      </a:rPr>
                      <m:t>𝟏𝟎</m:t>
                    </m:r>
                    <m:r>
                      <a:rPr lang="ar-AE" sz="2400" b="1" smtClean="0">
                        <a:solidFill>
                          <a:srgbClr val="FFFF00"/>
                        </a:solidFill>
                        <a:latin typeface="Cambria Math" panose="02040503050406030204" pitchFamily="18" charset="0"/>
                      </a:rPr>
                      <m:t>×</m:t>
                    </m:r>
                    <m:r>
                      <a:rPr lang="ar-AE" sz="2400" b="1" i="1" smtClean="0">
                        <a:solidFill>
                          <a:srgbClr val="FFFF00"/>
                        </a:solidFill>
                        <a:latin typeface="Cambria Math" panose="02040503050406030204" pitchFamily="18" charset="0"/>
                      </a:rPr>
                      <m:t>𝟎</m:t>
                    </m:r>
                    <m:r>
                      <a:rPr lang="ar-AE" sz="2400" b="1" smtClean="0">
                        <a:solidFill>
                          <a:srgbClr val="FFFF00"/>
                        </a:solidFill>
                        <a:latin typeface="Cambria Math" panose="02040503050406030204" pitchFamily="18" charset="0"/>
                      </a:rPr>
                      <m:t>.</m:t>
                    </m:r>
                    <m:r>
                      <a:rPr lang="ar-AE" sz="2400" b="1" i="1" smtClean="0">
                        <a:solidFill>
                          <a:srgbClr val="FFFF00"/>
                        </a:solidFill>
                        <a:latin typeface="Cambria Math" panose="02040503050406030204" pitchFamily="18" charset="0"/>
                      </a:rPr>
                      <m:t>𝟓</m:t>
                    </m:r>
                    <m:r>
                      <a:rPr lang="ar-AE" sz="2400" b="1" smtClean="0">
                        <a:solidFill>
                          <a:srgbClr val="FFFF00"/>
                        </a:solidFill>
                        <a:latin typeface="Cambria Math" panose="02040503050406030204" pitchFamily="18" charset="0"/>
                      </a:rPr>
                      <m:t>=</m:t>
                    </m:r>
                    <m:r>
                      <a:rPr lang="ar-AE" sz="2400" b="1" i="1" smtClean="0">
                        <a:solidFill>
                          <a:srgbClr val="FFFF00"/>
                        </a:solidFill>
                        <a:latin typeface="Cambria Math" panose="02040503050406030204" pitchFamily="18" charset="0"/>
                      </a:rPr>
                      <m:t>𝟏</m:t>
                    </m:r>
                    <m:r>
                      <m:rPr>
                        <m:nor/>
                      </m:rPr>
                      <a:rPr lang="ar-AE" sz="2400" b="1" i="1">
                        <a:solidFill>
                          <a:srgbClr val="FFFF00"/>
                        </a:solidFill>
                        <a:latin typeface="Century Schoolbook" panose="02040604050505020304" pitchFamily="18" charset="0"/>
                      </a:rPr>
                      <m:t> </m:t>
                    </m:r>
                    <m:r>
                      <a:rPr lang="ar-AE" sz="2400" b="1" i="1" smtClean="0">
                        <a:solidFill>
                          <a:srgbClr val="FFFF00"/>
                        </a:solidFill>
                        <a:latin typeface="Cambria Math" panose="02040503050406030204" pitchFamily="18" charset="0"/>
                      </a:rPr>
                      <m:t>𝑵</m:t>
                    </m:r>
                  </m:oMath>
                </a14:m>
                <a:endParaRPr lang="ar-AE" sz="2400" b="1" dirty="0">
                  <a:solidFill>
                    <a:srgbClr val="FFFF00"/>
                  </a:solidFill>
                  <a:latin typeface="Century Schoolbook" panose="02040604050505020304" pitchFamily="18" charset="0"/>
                </a:endParaRPr>
              </a:p>
              <a:p>
                <a:pPr marL="285750" indent="-285750" algn="l">
                  <a:buFont typeface="Wingdings" panose="05000000000000000000" pitchFamily="2" charset="2"/>
                  <a:buChar char="ü"/>
                </a:pPr>
                <a:r>
                  <a:rPr lang="en-IN" sz="2800" b="1" dirty="0">
                    <a:solidFill>
                      <a:srgbClr val="FFFF00"/>
                    </a:solidFill>
                    <a:latin typeface="Century Schoolbook" panose="02040604050505020304" pitchFamily="18" charset="0"/>
                  </a:rPr>
                  <a:t> Force = 1 newton</a:t>
                </a:r>
              </a:p>
              <a:p>
                <a:pPr algn="l"/>
                <a:endParaRPr lang="en-IN" sz="1800" b="1" dirty="0">
                  <a:latin typeface="Century Schoolbook" panose="02040604050505020304" pitchFamily="18" charset="0"/>
                </a:endParaRPr>
              </a:p>
            </p:txBody>
          </p:sp>
        </mc:Choice>
        <mc:Fallback xmlns="">
          <p:sp>
            <p:nvSpPr>
              <p:cNvPr id="3" name="Text Placeholder 2">
                <a:extLst>
                  <a:ext uri="{FF2B5EF4-FFF2-40B4-BE49-F238E27FC236}">
                    <a16:creationId xmlns:a16="http://schemas.microsoft.com/office/drawing/2014/main" id="{9D7E6943-62A7-1FCF-F3CB-C4D09545FC35}"/>
                  </a:ext>
                </a:extLst>
              </p:cNvPr>
              <p:cNvSpPr>
                <a:spLocks noGrp="1" noRot="1" noChangeAspect="1" noMove="1" noResize="1" noEditPoints="1" noAdjustHandles="1" noChangeArrowheads="1" noChangeShapeType="1" noTextEdit="1"/>
              </p:cNvSpPr>
              <p:nvPr>
                <p:ph type="body" sz="half" idx="2"/>
              </p:nvPr>
            </p:nvSpPr>
            <p:spPr>
              <a:xfrm>
                <a:off x="161957" y="762000"/>
                <a:ext cx="11583004" cy="4500880"/>
              </a:xfrm>
              <a:blipFill>
                <a:blip r:embed="rId2"/>
                <a:stretch>
                  <a:fillRect l="-1053" t="-1626"/>
                </a:stretch>
              </a:blipFill>
            </p:spPr>
            <p:txBody>
              <a:bodyPr/>
              <a:lstStyle/>
              <a:p>
                <a:r>
                  <a:rPr lang="en-IN">
                    <a:noFill/>
                  </a:rPr>
                  <a:t> </a:t>
                </a:r>
              </a:p>
            </p:txBody>
          </p:sp>
        </mc:Fallback>
      </mc:AlternateContent>
    </p:spTree>
    <p:extLst>
      <p:ext uri="{BB962C8B-B14F-4D97-AF65-F5344CB8AC3E}">
        <p14:creationId xmlns:p14="http://schemas.microsoft.com/office/powerpoint/2010/main" val="411766640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742332"/>
      </a:dk2>
      <a:lt2>
        <a:srgbClr val="EE91A0"/>
      </a:lt2>
      <a:accent1>
        <a:srgbClr val="E03754"/>
      </a:accent1>
      <a:accent2>
        <a:srgbClr val="E86C2E"/>
      </a:accent2>
      <a:accent3>
        <a:srgbClr val="DAB250"/>
      </a:accent3>
      <a:accent4>
        <a:srgbClr val="60C4AA"/>
      </a:accent4>
      <a:accent5>
        <a:srgbClr val="51A9DB"/>
      </a:accent5>
      <a:accent6>
        <a:srgbClr val="976AC9"/>
      </a:accent6>
      <a:hlink>
        <a:srgbClr val="D5445E"/>
      </a:hlink>
      <a:folHlink>
        <a:srgbClr val="E17C8E"/>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6B2E858E-683F-40D9-B4CB-284D097F3AC0}"/>
    </a:ext>
  </a:extLst>
</a:theme>
</file>

<file path=docProps/app.xml><?xml version="1.0" encoding="utf-8"?>
<Properties xmlns="http://schemas.openxmlformats.org/officeDocument/2006/extended-properties" xmlns:vt="http://schemas.openxmlformats.org/officeDocument/2006/docPropsVTypes">
  <Template>Damask</Template>
  <TotalTime>201</TotalTime>
  <Words>1634</Words>
  <Application>Microsoft Office PowerPoint</Application>
  <PresentationFormat>Widescreen</PresentationFormat>
  <Paragraphs>157</Paragraphs>
  <Slides>17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Algerian</vt:lpstr>
      <vt:lpstr>Arial</vt:lpstr>
      <vt:lpstr>Bookman Old Style</vt:lpstr>
      <vt:lpstr>Cambria Math</vt:lpstr>
      <vt:lpstr>Century Schoolbook</vt:lpstr>
      <vt:lpstr>Rockwell</vt:lpstr>
      <vt:lpstr>Wingdings</vt:lpstr>
      <vt:lpstr>Damask</vt:lpstr>
      <vt:lpstr>04. Electricity and Electromagnetism</vt:lpstr>
      <vt:lpstr>4.1] ohm’s law : -</vt:lpstr>
      <vt:lpstr>4.2] Resistance : -</vt:lpstr>
      <vt:lpstr>PowerPoint Presentation</vt:lpstr>
      <vt:lpstr>Specific resistance : -</vt:lpstr>
      <vt:lpstr>4.3] resistance in series combination : -</vt:lpstr>
      <vt:lpstr>Resistance in parallel combination : -</vt:lpstr>
      <vt:lpstr>Shunt resistance : -</vt:lpstr>
      <vt:lpstr>4.4] electromagnetism : -</vt:lpstr>
      <vt:lpstr>4.5] magnetic effect of current : - </vt:lpstr>
      <vt:lpstr>Magnetic induction : -</vt:lpstr>
      <vt:lpstr>PowerPoint Presentation</vt:lpstr>
      <vt:lpstr>4.6] Properties of magnetic lines of force : - </vt:lpstr>
      <vt:lpstr>4.7] laplace’s law : -</vt:lpstr>
      <vt:lpstr>Fleming’s left hand rule : -</vt:lpstr>
      <vt:lpstr>Fleming’s right hand rule : -</vt:lpstr>
      <vt:lpstr>Numerical example :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Darpan Shedge</dc:creator>
  <cp:lastModifiedBy>Darpan Shedge</cp:lastModifiedBy>
  <cp:revision>2</cp:revision>
  <dcterms:created xsi:type="dcterms:W3CDTF">2025-11-02T05:36:32Z</dcterms:created>
  <dcterms:modified xsi:type="dcterms:W3CDTF">2025-11-03T05:58:28Z</dcterms:modified>
</cp:coreProperties>
</file>