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7" r:id="rId10"/>
    <p:sldId id="258" r:id="rId11"/>
    <p:sldId id="268" r:id="rId12"/>
    <p:sldId id="269" r:id="rId13"/>
    <p:sldId id="272" r:id="rId14"/>
    <p:sldId id="276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9BEE60-A1D6-49DE-A916-C4C69FB2A460}" v="71" dt="2025-11-03T04:59:56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89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74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670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728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907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399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24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6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049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92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505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2093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712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853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727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83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90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E56A4-24B2-4DBA-A77C-780C4F476D4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A2537-CE70-4FA6-B973-684CB3918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2106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BC5CC-2131-DF02-D985-5E003E525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206" y="390346"/>
            <a:ext cx="11395587" cy="4050890"/>
          </a:xfrm>
        </p:spPr>
        <p:txBody>
          <a:bodyPr>
            <a:normAutofit/>
          </a:bodyPr>
          <a:lstStyle/>
          <a:p>
            <a:r>
              <a:rPr lang="en-IN" sz="8800" b="0" dirty="0">
                <a:solidFill>
                  <a:srgbClr val="FFFF00"/>
                </a:solidFill>
                <a:latin typeface="Algerian" panose="04020705040A02060702" pitchFamily="82" charset="0"/>
              </a:rPr>
              <a:t>05. Optics and Optical Fiber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FC18E-F050-D004-5248-24CF2E5DF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6610" y="5022312"/>
            <a:ext cx="9001462" cy="1655762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912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F42B8-D4DB-439A-1038-2E8511ECB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4517"/>
            <a:ext cx="12339483" cy="831601"/>
          </a:xfrm>
        </p:spPr>
        <p:txBody>
          <a:bodyPr>
            <a:normAutofit fontScale="90000"/>
          </a:bodyPr>
          <a:lstStyle/>
          <a:p>
            <a:pPr marL="685800" indent="-6858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Introduction of optics &amp; optical fiber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C8BE3-CEC7-C93C-5A5B-10C98133D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6543" y="688259"/>
            <a:ext cx="11858914" cy="6165600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 of OPTICS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Optics is the branch of physics that deals with the study of light — its nature, properties, and behavior when it interacts with different materials.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explains how light travels, reflects, refracts, and forms images through lenses and mirrors.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Optics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Geometrical Optics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Includes reflection, refraction, mirrors, and lenses.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1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1800" b="1" dirty="0">
                <a:latin typeface="Century Schoolbook" panose="02040604050505020304" pitchFamily="18" charset="0"/>
              </a:rPr>
              <a:t>Image formation by a convex lens or mirror.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Physical Optics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Includes interference, diffraction, and polarization.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1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  <a:r>
              <a:rPr lang="en-US" sz="1800" b="1" dirty="0">
                <a:latin typeface="Century Schoolbook" panose="02040604050505020304" pitchFamily="18" charset="0"/>
              </a:rPr>
              <a:t> Rainbow colors, soap bubble colors, etc.</a:t>
            </a:r>
          </a:p>
          <a:p>
            <a:pPr algn="l"/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96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F9D34-6B8F-47C1-8173-DAABFCB7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14" y="-133510"/>
            <a:ext cx="12064786" cy="1056853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5.1]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reflection of light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6BCC0DD-FC62-503C-49C9-C2B966D09B09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96644" y="796413"/>
                <a:ext cx="11680723" cy="5899355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US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Definition</a:t>
                </a: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entury Schoolbook" panose="02040604050505020304" pitchFamily="18" charset="0"/>
                  </a:rPr>
                  <a:t>Reflection of light is the bouncing back of light when it strikes a smooth and polished surface (like a mirror).</a:t>
                </a:r>
              </a:p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US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Laws of Reflection</a:t>
                </a: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Law 1</a:t>
                </a:r>
                <a:r>
                  <a:rPr lang="en-US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</a:t>
                </a:r>
                <a:r>
                  <a:rPr lang="en-US" sz="2000" b="1" dirty="0">
                    <a:latin typeface="Century Schoolbook" panose="02040604050505020304" pitchFamily="18" charset="0"/>
                  </a:rPr>
                  <a:t>The angle of incidence (</a:t>
                </a:r>
                <a:r>
                  <a:rPr lang="en-US" sz="2000" b="1" dirty="0" err="1">
                    <a:latin typeface="Century Schoolbook" panose="02040604050505020304" pitchFamily="18" charset="0"/>
                  </a:rPr>
                  <a:t>i</a:t>
                </a:r>
                <a:r>
                  <a:rPr lang="en-US" sz="2000" b="1" dirty="0">
                    <a:latin typeface="Century Schoolbook" panose="02040604050505020304" pitchFamily="18" charset="0"/>
                  </a:rPr>
                  <a:t>) is equal to the angle of reflection (r).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8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8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Law 2</a:t>
                </a:r>
                <a:r>
                  <a:rPr lang="en-US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</a:t>
                </a:r>
                <a:r>
                  <a:rPr lang="en-US" sz="2000" b="1" dirty="0">
                    <a:latin typeface="Century Schoolbook" panose="02040604050505020304" pitchFamily="18" charset="0"/>
                  </a:rPr>
                  <a:t>The incident ray, the reflected ray, and the normal (perpendicular to the surface at the point of incidence) all lie in the same plane.</a:t>
                </a:r>
              </a:p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US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Examples</a:t>
                </a: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entury Schoolbook" panose="02040604050505020304" pitchFamily="18" charset="0"/>
                  </a:rPr>
                  <a:t>Image formation in a plane mirror.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entury Schoolbook" panose="02040604050505020304" pitchFamily="18" charset="0"/>
                  </a:rPr>
                  <a:t>Reflection of headlights on a car’s mirror.</a:t>
                </a:r>
              </a:p>
              <a:p>
                <a:pPr algn="l"/>
                <a:endParaRPr lang="en-IN" sz="20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6BCC0DD-FC62-503C-49C9-C2B966D09B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96644" y="796413"/>
                <a:ext cx="11680723" cy="5899355"/>
              </a:xfrm>
              <a:blipFill>
                <a:blip r:embed="rId2"/>
                <a:stretch>
                  <a:fillRect l="-992" t="-33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19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10C8E-ABD3-622D-0521-FF6C28C16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294968"/>
            <a:ext cx="10353762" cy="2949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E86C7-D74C-D105-F13B-C86A5A7FF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6544" y="108154"/>
            <a:ext cx="11435521" cy="6017343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Reflection</a:t>
            </a:r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Regular Reflection (Specular)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Occurs on smooth surfaces like mirrors.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Produces clear images.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Irregular Reflection (Diffuse)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Occurs on rough surfaces.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Light is scattered in different directions, no clear image is formed.</a:t>
            </a:r>
          </a:p>
          <a:p>
            <a:pPr algn="l"/>
            <a:br>
              <a:rPr lang="en-US" sz="2400" b="1" dirty="0">
                <a:latin typeface="Century Schoolbook" panose="02040604050505020304" pitchFamily="18" charset="0"/>
              </a:rPr>
            </a:br>
            <a:endParaRPr lang="en-US" sz="2400" b="1" dirty="0">
              <a:latin typeface="Century Schoolbook" panose="02040604050505020304" pitchFamily="18" charset="0"/>
            </a:endParaRP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400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D3348-AC3D-A01E-DB3E-E057679B8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0"/>
            <a:ext cx="12074013" cy="782439"/>
          </a:xfrm>
        </p:spPr>
        <p:txBody>
          <a:bodyPr>
            <a:normAutofit/>
          </a:bodyPr>
          <a:lstStyle/>
          <a:p>
            <a:pPr marL="685800" indent="-6858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Refraction of light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F204E-D308-AFA2-9AB2-1D7D3C743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6310" y="872574"/>
            <a:ext cx="11857701" cy="5985426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Refraction of light is the bending of light rays when they pass from one medium to another (like air to water) due to a change in speed.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Explanation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When light passes from a rarer medium (air) to a denser medium (glass or water), it bends towards the normal.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When light passes from a denser medium to a rarer medium, it bends away from the normal.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A stick in water appears bent due to refraction.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Lenses (concave or convex) work on the principle of refraction.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Rainbow formation is due to refraction and dispersion of light.</a:t>
            </a:r>
          </a:p>
          <a:p>
            <a:pPr algn="l"/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519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2B7E2-671C-BF02-A5B9-E2B416D2F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0" y="-78657"/>
            <a:ext cx="12192000" cy="993058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5.3]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laws of refraction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F8ECDB6-8F0A-B216-AAD1-9627666DD6FD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27820" y="850490"/>
                <a:ext cx="11543070" cy="6007510"/>
              </a:xfrm>
            </p:spPr>
            <p:txBody>
              <a:bodyPr>
                <a:normAutofit lnSpcReduction="10000"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The incident ray, refracted ray, and the normal all lie in the same plane.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The ratio of the sine of the angle of incidence to the sine of the angle of refraction is constant for two given media</a:t>
                </a:r>
                <a:r>
                  <a:rPr lang="en-IN" sz="2000" b="1" dirty="0">
                    <a:latin typeface="Century Schoolbook" panose="02040604050505020304" pitchFamily="18" charset="0"/>
                  </a:rPr>
                  <a:t>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ar-AE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IN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ar-AE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IN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func>
                        </m:den>
                      </m:f>
                      <m:r>
                        <a:rPr lang="ar-AE" sz="28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800" b="1" i="1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constant</m:t>
                      </m:r>
                      <m:r>
                        <a:rPr lang="en-IN" sz="28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IN" sz="28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This constant is called the Refractive Index.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Refractive Index (</a:t>
                </a:r>
                <a:r>
                  <a:rPr lang="el-GR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μ):</a:t>
                </a:r>
                <a:r>
                  <a:rPr lang="en-US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l-GR" sz="24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Speed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light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in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air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 (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or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vacuum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Speed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light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in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i="1">
                            <a:solidFill>
                              <a:srgbClr val="FFFF00"/>
                            </a:solidFill>
                            <a:latin typeface="Century Schoolbook" panose="02040604050505020304" pitchFamily="18" charset="0"/>
                          </a:rPr>
                          <m:t>medium</m:t>
                        </m:r>
                      </m:den>
                    </m:f>
                  </m:oMath>
                </a14:m>
                <a:endParaRPr lang="ar-AE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The greater the refractive index, the slower light travels in that medium.</a:t>
                </a:r>
              </a:p>
              <a:p>
                <a:pPr algn="l"/>
                <a:br>
                  <a:rPr lang="en-IN" sz="2000" b="1" dirty="0">
                    <a:latin typeface="Century Schoolbook" panose="02040604050505020304" pitchFamily="18" charset="0"/>
                  </a:rPr>
                </a:br>
                <a:endParaRPr lang="en-IN" sz="2000" b="1" dirty="0">
                  <a:latin typeface="Century Schoolbook" panose="02040604050505020304" pitchFamily="18" charset="0"/>
                </a:endParaRPr>
              </a:p>
              <a:p>
                <a:endParaRPr lang="en-IN" sz="20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F8ECDB6-8F0A-B216-AAD1-9627666DD6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27820" y="850490"/>
                <a:ext cx="11543070" cy="6007510"/>
              </a:xfrm>
              <a:blipFill>
                <a:blip r:embed="rId2"/>
                <a:stretch>
                  <a:fillRect l="-845" t="-3858" r="-3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56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F86E0-6BBB-13E0-4289-EE11D705E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742" y="-94182"/>
            <a:ext cx="12339484" cy="969253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Laws of refraction &amp; </a:t>
            </a:r>
            <a:r>
              <a:rPr lang="en-US" sz="4800" b="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snell’s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 law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343E1ED-0178-E820-3223-0F05DE86AADF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215704" y="737419"/>
                <a:ext cx="11818980" cy="5987846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1. </a:t>
                </a:r>
                <a:r>
                  <a:rPr lang="en-IN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Refraction of Light (Recap)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Century Schoolbook" panose="02040604050505020304" pitchFamily="18" charset="0"/>
                  </a:rPr>
                  <a:t>Refraction is the bending of light when it passes from one transparent medium to another (for example, from air to water or glass).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Century Schoolbook" panose="02040604050505020304" pitchFamily="18" charset="0"/>
                  </a:rPr>
                  <a:t>This happens because the speed of light changes in different media</a:t>
                </a:r>
                <a:r>
                  <a:rPr lang="en-IN" sz="1800" b="1" dirty="0">
                    <a:latin typeface="Century Schoolbook" panose="02040604050505020304" pitchFamily="18" charset="0"/>
                  </a:rPr>
                  <a:t>.</a:t>
                </a:r>
                <a:endParaRPr lang="en-IN" sz="1100" b="1" dirty="0">
                  <a:latin typeface="Century Schoolbook" panose="02040604050505020304" pitchFamily="18" charset="0"/>
                </a:endParaRPr>
              </a:p>
              <a:p>
                <a:pPr marL="171450" indent="-171450" algn="l">
                  <a:buFont typeface="Wingdings" panose="05000000000000000000" pitchFamily="2" charset="2"/>
                  <a:buChar char="v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Snell’s Law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Century Schoolbook" panose="02040604050505020304" pitchFamily="18" charset="0"/>
                  </a:rPr>
                  <a:t>This constant is known as the Refractive Index (</a:t>
                </a:r>
                <a:r>
                  <a:rPr lang="el-GR" sz="2000" b="1" dirty="0">
                    <a:latin typeface="Century Schoolbook" panose="02040604050505020304" pitchFamily="18" charset="0"/>
                  </a:rPr>
                  <a:t>μ) </a:t>
                </a:r>
                <a:r>
                  <a:rPr lang="en-IN" sz="2000" b="1" dirty="0">
                    <a:latin typeface="Century Schoolbook" panose="02040604050505020304" pitchFamily="18" charset="0"/>
                  </a:rPr>
                  <a:t>of the second medium with respect to the first.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ar-AE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ar-AE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ar-AE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ar-AE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000" b="1" dirty="0">
                    <a:latin typeface="Century Schoolbook" panose="02040604050505020304" pitchFamily="18" charset="0"/>
                  </a:rPr>
                  <a:t>Or 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Speed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light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first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medium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Speed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light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second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medium</m:t>
                          </m:r>
                        </m:den>
                      </m:f>
                    </m:oMath>
                  </m:oMathPara>
                </a14:m>
                <a:endParaRPr lang="ar-AE" sz="1100" b="1" dirty="0">
                  <a:latin typeface="Century Schoolbook" panose="02040604050505020304" pitchFamily="18" charset="0"/>
                </a:endParaRPr>
              </a:p>
              <a:p>
                <a:pPr algn="l"/>
                <a:endParaRPr lang="en-IN" sz="11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343E1ED-0178-E820-3223-0F05DE86AA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215704" y="737419"/>
                <a:ext cx="11818980" cy="5987846"/>
              </a:xfrm>
              <a:blipFill>
                <a:blip r:embed="rId2"/>
                <a:stretch>
                  <a:fillRect l="-980" r="-3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043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F9AD1-004C-43D3-7716-E0293FFE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81" y="-142452"/>
            <a:ext cx="11720657" cy="978195"/>
          </a:xfrm>
        </p:spPr>
        <p:txBody>
          <a:bodyPr>
            <a:normAutofit/>
          </a:bodyPr>
          <a:lstStyle/>
          <a:p>
            <a:pPr marL="685800" indent="-6858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Prism formula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E029496-1396-E48F-ACC2-0A051C24632D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68220" y="948814"/>
                <a:ext cx="11828813" cy="5909186"/>
              </a:xfrm>
            </p:spPr>
            <p:txBody>
              <a:bodyPr>
                <a:normAutofit fontScale="92500" lnSpcReduction="10000"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Century Schoolbook" panose="02040604050505020304" pitchFamily="18" charset="0"/>
                  </a:rPr>
                  <a:t>A prism is a transparent refracting device having two plane surfaces inclined at an angle A, called the Angle of Prism.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Century Schoolbook" panose="02040604050505020304" pitchFamily="18" charset="0"/>
                  </a:rPr>
                  <a:t>When a ray of light passes through a prism, it is refracted twice :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entury Schoolbook" panose="02040604050505020304" pitchFamily="18" charset="0"/>
                  </a:rPr>
                  <a:t>Once at the first surface (air → glass)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entury Schoolbook" panose="02040604050505020304" pitchFamily="18" charset="0"/>
                  </a:rPr>
                  <a:t>Again at the second surface (glass → air)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Century Schoolbook" panose="02040604050505020304" pitchFamily="18" charset="0"/>
                  </a:rPr>
                  <a:t>Because of these refractions, the emergent ray bends away from its original path.</a:t>
                </a:r>
                <a:br>
                  <a:rPr lang="en-US" sz="2000" b="1" dirty="0">
                    <a:latin typeface="Century Schoolbook" panose="02040604050505020304" pitchFamily="18" charset="0"/>
                  </a:rPr>
                </a:br>
                <a:r>
                  <a:rPr lang="en-US" sz="2000" b="1" dirty="0">
                    <a:latin typeface="Century Schoolbook" panose="02040604050505020304" pitchFamily="18" charset="0"/>
                  </a:rPr>
                  <a:t>This bending is called the Angle of Deviation (δ).</a:t>
                </a:r>
              </a:p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Prism Formula (Derivation)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Century Schoolbook" panose="02040604050505020304" pitchFamily="18" charset="0"/>
                  </a:rPr>
                  <a:t>From Snell’s Law at the first surface : </a:t>
                </a:r>
                <a14:m>
                  <m:oMath xmlns:m="http://schemas.openxmlformats.org/officeDocument/2006/math">
                    <m:r>
                      <a:rPr lang="en-IN" sz="26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IN" sz="26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6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ar-AE" sz="26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IN" sz="26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𝐬𝐢𝐧</m:t>
                            </m:r>
                          </m:fName>
                          <m:e>
                            <m:sSub>
                              <m:sSubPr>
                                <m:ctrlPr>
                                  <a:rPr lang="ar-AE" sz="26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600" b="1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  <m:sub>
                                <m:r>
                                  <a:rPr lang="ar-AE" sz="2600" b="1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ar-AE" sz="26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IN" sz="26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𝐬𝐢𝐧</m:t>
                            </m:r>
                          </m:fName>
                          <m:e>
                            <m:sSub>
                              <m:sSubPr>
                                <m:ctrlPr>
                                  <a:rPr lang="ar-AE" sz="26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600" b="1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ar-AE" sz="2600" b="1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func>
                      </m:den>
                    </m:f>
                  </m:oMath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Century Schoolbook" panose="02040604050505020304" pitchFamily="18" charset="0"/>
                  </a:rPr>
                  <a:t>At minimum deviation condition : </a:t>
                </a:r>
                <a14:m>
                  <m:oMath xmlns:m="http://schemas.openxmlformats.org/officeDocument/2006/math">
                    <m:r>
                      <a:rPr lang="en-IN" sz="26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IN" sz="26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6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ar-AE" sz="26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IN" sz="26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𝐬𝐢𝐧</m:t>
                            </m:r>
                          </m:fName>
                          <m:e>
                            <m:d>
                              <m:dPr>
                                <m:ctrlPr>
                                  <a:rPr lang="ar-AE" sz="26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ar-AE" sz="26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2600" b="1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ar-AE" sz="2600" b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ar-AE" sz="2600" b="1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2600" b="1" i="1" smtClean="0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𝜹</m:t>
                                        </m:r>
                                      </m:e>
                                      <m:sub>
                                        <m:r>
                                          <a:rPr lang="ar-AE" sz="2600" b="1" i="1" smtClean="0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𝒎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ar-AE" sz="2600" b="1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ar-AE" sz="26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IN" sz="26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𝐬𝐢𝐧</m:t>
                            </m:r>
                          </m:fName>
                          <m:e>
                            <m:d>
                              <m:dPr>
                                <m:ctrlPr>
                                  <a:rPr lang="ar-AE" sz="26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ar-AE" sz="26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2600" b="1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num>
                                  <m:den>
                                    <m:r>
                                      <a:rPr lang="ar-AE" sz="2600" b="1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ü"/>
                </a:pPr>
                <a:r>
                  <a:rPr lang="en-IN" sz="2000" b="1" dirty="0">
                    <a:latin typeface="Century Schoolbook" panose="02040604050505020304" pitchFamily="18" charset="0"/>
                  </a:rPr>
                  <a:t>This is the Prism Formula.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endParaRPr lang="en-US" sz="2000" b="1" dirty="0">
                  <a:latin typeface="Century Schoolbook" panose="02040604050505020304" pitchFamily="18" charset="0"/>
                </a:endParaRPr>
              </a:p>
              <a:p>
                <a:pPr algn="l"/>
                <a:endParaRPr lang="en-IN" sz="20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E029496-1396-E48F-ACC2-0A051C2463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68220" y="948814"/>
                <a:ext cx="11828813" cy="5909186"/>
              </a:xfrm>
              <a:blipFill>
                <a:blip r:embed="rId2"/>
                <a:stretch>
                  <a:fillRect l="-876" t="-5986" r="-2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772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E5F81-53DA-1E75-EA4C-7ECFD3B3C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6" y="-84350"/>
            <a:ext cx="10353762" cy="940739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Numerical example</a:t>
            </a:r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3117734-CE65-E1C1-A327-B95056DAB9FA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265470" y="856389"/>
                <a:ext cx="11858554" cy="6106606"/>
              </a:xfrm>
            </p:spPr>
            <p:txBody>
              <a:bodyPr>
                <a:normAutofit/>
              </a:bodyPr>
              <a:lstStyle/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IN" sz="2400" b="1" u="sng" dirty="0">
                    <a:latin typeface="Century Schoolbook" panose="02040604050505020304" pitchFamily="18" charset="0"/>
                  </a:rPr>
                  <a:t>Given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: -</a:t>
                </a:r>
                <a:br>
                  <a:rPr lang="en-IN" b="1" dirty="0"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Angle of prism (A) = 60°</a:t>
                </a:r>
                <a:b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Angle of minimum deviation (</a:t>
                </a:r>
                <a:r>
                  <a:rPr lang="el-GR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δ</a:t>
                </a:r>
                <a: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ₘ) = 40°</a:t>
                </a:r>
              </a:p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IN" sz="2400" b="1" u="sng" dirty="0">
                    <a:latin typeface="Century Schoolbook" panose="02040604050505020304" pitchFamily="18" charset="0"/>
                  </a:rPr>
                  <a:t>Find : - Refractive index (</a:t>
                </a:r>
                <a:r>
                  <a:rPr lang="el-GR" sz="2400" b="1" u="sng" dirty="0">
                    <a:latin typeface="Century Schoolbook" panose="02040604050505020304" pitchFamily="18" charset="0"/>
                  </a:rPr>
                  <a:t>μ)</a:t>
                </a:r>
                <a:r>
                  <a:rPr lang="en-US" sz="2400" b="1" dirty="0">
                    <a:latin typeface="Century Schoolbook" panose="02040604050505020304" pitchFamily="18" charset="0"/>
                  </a:rPr>
                  <a:t> 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l-GR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ar-AE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I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ar-AE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b="1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𝑨</m:t>
                                      </m:r>
                                      <m:r>
                                        <a:rPr lang="ar-AE" b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ar-AE" b="1" i="1">
                                              <a:solidFill>
                                                <a:srgbClr val="FFFF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b="1" i="1" smtClean="0">
                                              <a:solidFill>
                                                <a:srgbClr val="FFFF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𝜹</m:t>
                                          </m:r>
                                        </m:e>
                                        <m:sub>
                                          <m:r>
                                            <a:rPr lang="ar-AE" b="1" i="1" smtClean="0">
                                              <a:solidFill>
                                                <a:srgbClr val="FFFF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𝒎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ar-AE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ar-AE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I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ar-AE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b="1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𝑨</m:t>
                                      </m:r>
                                    </m:num>
                                    <m:den>
                                      <m:r>
                                        <a:rPr lang="ar-AE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ar-AE" b="1" dirty="0">
                  <a:latin typeface="Century Schoolbook" panose="020406040505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IN" sz="2400" b="1" u="sng" dirty="0">
                    <a:latin typeface="Century Schoolbook" panose="02040604050505020304" pitchFamily="18" charset="0"/>
                  </a:rPr>
                  <a:t>Substitute values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: -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IN" sz="20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ar-AE" sz="20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IN" sz="20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ar-AE" sz="2000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sz="2000" b="1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0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𝟔𝟎</m:t>
                                      </m:r>
                                      <m:r>
                                        <a:rPr lang="ar-AE" sz="2000" b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ar-AE" sz="20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𝟒𝟎</m:t>
                                      </m:r>
                                    </m:num>
                                    <m:den>
                                      <m:r>
                                        <a:rPr lang="ar-AE" sz="20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ar-AE" sz="20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IN" sz="20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ar-AE" sz="2000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sz="2000" b="1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0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𝟔𝟎</m:t>
                                      </m:r>
                                    </m:num>
                                    <m:den>
                                      <m:r>
                                        <a:rPr lang="ar-AE" sz="20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ar-AE" sz="20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ar-AE" sz="20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ar-AE" sz="20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𝟕𝟔𝟔</m:t>
                          </m:r>
                        </m:num>
                        <m:den>
                          <m:r>
                            <a:rPr lang="ar-AE" sz="20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ar-AE" sz="20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ar-AE" sz="20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ar-AE" sz="20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𝟓𝟑𝟐</m:t>
                      </m:r>
                    </m:oMath>
                  </m:oMathPara>
                </a14:m>
                <a:endParaRPr lang="ar-AE" sz="20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ü"/>
                </a:pPr>
                <a:r>
                  <a:rPr lang="en-IN" sz="2000" b="1" dirty="0">
                    <a:latin typeface="Century Schoolbook" panose="02040604050505020304" pitchFamily="18" charset="0"/>
                  </a:rPr>
                  <a:t>Refractive Index of Prism Material = 1.53</a:t>
                </a:r>
              </a:p>
              <a:p>
                <a:pPr algn="l"/>
                <a:endParaRPr lang="en-IN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3117734-CE65-E1C1-A327-B95056DAB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265470" y="856389"/>
                <a:ext cx="11858554" cy="6106606"/>
              </a:xfrm>
              <a:blipFill>
                <a:blip r:embed="rId2"/>
                <a:stretch>
                  <a:fillRect l="-823" t="-27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1455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CDC4-1763-400A-241F-363C20B54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" y="-74516"/>
            <a:ext cx="12192000" cy="929924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5.4]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optical fiber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EE7AE-2290-D78B-7B52-EC127A0D9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6981" y="757084"/>
            <a:ext cx="11818374" cy="6096774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An optical fiber is a thin, flexible, transparent fiber made of glass or plastic that transmits light signals from one end to another by total internal reflection (TIR).</a:t>
            </a:r>
            <a:endParaRPr lang="en-US" sz="1800" b="1" dirty="0">
              <a:latin typeface="Century Schoolbook" panose="020406040505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Construction of Optical Fiber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Core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 inner part of the fiber through which light travels.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Made of high refractive index glass.</a:t>
            </a:r>
            <a:endParaRPr lang="en-US" sz="1600" b="1" dirty="0">
              <a:latin typeface="Century Schoolbook" panose="020406040505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Cladding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 outer optical layer that surrounds the core.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Has a lower refractive index to cause total internal reflection</a:t>
            </a:r>
            <a:r>
              <a:rPr lang="en-US" sz="1600" b="1" dirty="0">
                <a:latin typeface="Century Schoolbook" panose="02040604050505020304" pitchFamily="18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Protective Coating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Outer plastic layer to protect the fiber from damage.</a:t>
            </a:r>
          </a:p>
          <a:p>
            <a:pPr algn="l"/>
            <a:endParaRPr lang="en-IN" sz="18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212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713AD-AE08-43D8-BCDD-07C7BF21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2" y="-94180"/>
            <a:ext cx="12163108" cy="782439"/>
          </a:xfrm>
        </p:spPr>
        <p:txBody>
          <a:bodyPr>
            <a:noAutofit/>
          </a:bodyPr>
          <a:lstStyle/>
          <a:p>
            <a:r>
              <a:rPr lang="en-US" sz="3600" b="0" dirty="0">
                <a:solidFill>
                  <a:srgbClr val="FFFF00"/>
                </a:solidFill>
                <a:latin typeface="Algerian" panose="04020705040A02060702" pitchFamily="82" charset="0"/>
              </a:rPr>
              <a:t>5.5] </a:t>
            </a:r>
            <a:r>
              <a:rPr lang="en-US" sz="2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principle of propagation of light through optical fiber</a:t>
            </a:r>
            <a:r>
              <a:rPr lang="en-US" sz="36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6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8C994-8C4E-A106-AE9E-12889117A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3040" y="688259"/>
            <a:ext cx="11744960" cy="3375741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Introduction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optical fiber is a thin, flexible, transparent fiber made of glass or plastic that can transmit light signals from one place to another over long distances.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working principle of optical fiber is based on the phenomenon of Total Internal Reflection (TIR).</a:t>
            </a:r>
          </a:p>
          <a:p>
            <a:pPr algn="l"/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365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0C79-253A-7A65-3D95-2117EEF1D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57" y="-117779"/>
            <a:ext cx="12070685" cy="1082979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5.6]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structure of optical fiber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6DEBB-0BC4-64AE-1541-9BDBA4A87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314" y="762001"/>
            <a:ext cx="12070685" cy="498855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optical fiber mainly has three parts :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Core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 inner transparent part through which light travels.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Made of glass or plastic with a high refractive index.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Cladding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A surrounding layer around the core.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Has a slightly lower refractive index than the core.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Helps in keeping the light confined inside the core by Total Internal Reflection.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Protective Coating (Jacket)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Outer layer that protects the fiber from damage, moisture, or scratches.</a:t>
            </a:r>
          </a:p>
        </p:txBody>
      </p:sp>
    </p:spTree>
    <p:extLst>
      <p:ext uri="{BB962C8B-B14F-4D97-AF65-F5344CB8AC3E}">
        <p14:creationId xmlns:p14="http://schemas.microsoft.com/office/powerpoint/2010/main" val="1448588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3D50E-3BE5-49FE-8592-ADABA44F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35" y="-148259"/>
            <a:ext cx="12101165" cy="1052499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Basic structure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28C7D-6757-07B1-68BF-5B716E5C4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3679" y="660400"/>
            <a:ext cx="11831017" cy="513080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An optical fiber consists of three main parts : -</a:t>
            </a:r>
            <a:endParaRPr lang="en-US" sz="1800" b="1" dirty="0">
              <a:latin typeface="Century Schoolbook" panose="02040604050505020304" pitchFamily="18" charset="0"/>
            </a:endParaRPr>
          </a:p>
          <a:p>
            <a:pPr algn="l"/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(a)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Core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innermost part of the optical fiber.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It is a thin cylinder of glass or plastic through which light travels.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It has a high refractive index (denser medium).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Typical diameter: 5 µm to 100 µm (depending on fiber type).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Function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carry light signals through multiple total internal reflections.</a:t>
            </a:r>
          </a:p>
          <a:p>
            <a:pPr algn="l"/>
            <a:endParaRPr lang="en-IN" sz="18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195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F5838-28F0-2663-70F5-CA2E6A7F0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4" y="-574979"/>
            <a:ext cx="11603325" cy="4632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CAE8D-5F1C-E3BA-D6BD-AF43376A2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4" y="91440"/>
            <a:ext cx="11837006" cy="676656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(b)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Cladding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 outer layer surrounding the core.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Made of glass or plastic with a slightly lower refractive index than the core.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This difference in refractive indices allows Total Internal Reflection to occur.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Function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reflect light back into the core and prevent signal loss.</a:t>
            </a:r>
          </a:p>
          <a:p>
            <a:pPr algn="l"/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(c)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Protective Coating (Jacket or Buffer Coating)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0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 outermost layer of the fiber.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Made of plastic, rubber, or polymer material.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Protects the fiber from moisture, mechanical damage, and bending losses.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Function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To protect the delicate inner core and cladding from environmental damage.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56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9134-3914-B332-2C54-86AA9959E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8259"/>
            <a:ext cx="12446606" cy="1056853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5.7]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Application in electronic medical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B9D3D-3ECA-FFA7-6D9A-9EA4FCDD0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3200" y="721360"/>
            <a:ext cx="11988800" cy="621377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Telecommunication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0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Used for telephone lines, internet connections, and cable TV networks.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Provides high-speed data transmission over long distances.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Computer Networking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0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Used in LAN (Local Area Network) and WAN (Wide Area Network) connections.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Ensures fast and interference-free communication.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Data Transmission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0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Used in satellite links, submarine cables, and mobile communication systems.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Enables high bandwidth and low signal loss.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Defense and Aerospace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0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Used for secure communication in military and aircraft systems, as optical signals cannot be easily tapped.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Industrial Automation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0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Used in sensors and control systems for monitoring temperature, pressure, or vibrations.</a:t>
            </a:r>
          </a:p>
          <a:p>
            <a:pPr algn="l"/>
            <a:endParaRPr lang="en-IN" sz="20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972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D380E-BEBB-DED8-A826-706C694D2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6679"/>
            <a:ext cx="11979245" cy="1010920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Applications in medical field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C5759-6A1F-56F6-413E-1B7737305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1634" y="436880"/>
            <a:ext cx="11837611" cy="5984240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Endoscopy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Used in endoscopic instruments to view internal organs without surgery.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Transmits light to and from inside the body for diagnosis.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Laser Surgeries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Optical fibers deliver laser light to precise parts of the body for surgical treatments.</a:t>
            </a:r>
            <a:endParaRPr lang="en-US" sz="1800" b="1" dirty="0">
              <a:latin typeface="Century Schoolbook" panose="020406040505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Light Transmission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Used in dental instruments and microscopes for illumination.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Blood Flow and Temperature Measurement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Used in fiber optic sensors to monitor blood flow, pressure, and temperature inside the body</a:t>
            </a:r>
            <a:r>
              <a:rPr lang="en-US" sz="1800" b="1" dirty="0">
                <a:latin typeface="Century Schoolbook" panose="02040604050505020304" pitchFamily="18" charset="0"/>
              </a:rPr>
              <a:t>.</a:t>
            </a:r>
          </a:p>
          <a:p>
            <a:pPr algn="l"/>
            <a:endParaRPr lang="en-IN" sz="18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159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95433-EECE-C5EF-E4BD-D4FEC69F1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60"/>
          </a:xfrm>
        </p:spPr>
        <p:txBody>
          <a:bodyPr>
            <a:normAutofit/>
          </a:bodyPr>
          <a:lstStyle/>
          <a:p>
            <a:r>
              <a:rPr lang="en-US" sz="4000" b="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0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Comparison between Optical Fiber and Electrical Cable</a:t>
            </a:r>
            <a:r>
              <a:rPr lang="en-US" sz="40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0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5EE9D-A39F-B81A-57B0-472515517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635" y="6857998"/>
            <a:ext cx="10353761" cy="168367"/>
          </a:xfrm>
        </p:spPr>
        <p:txBody>
          <a:bodyPr>
            <a:normAutofit fontScale="32500" lnSpcReduction="20000"/>
          </a:bodyPr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CCED0D-BA05-37D8-5FC4-53DE20D94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134211"/>
              </p:ext>
            </p:extLst>
          </p:nvPr>
        </p:nvGraphicFramePr>
        <p:xfrm>
          <a:off x="243840" y="1192554"/>
          <a:ext cx="11694159" cy="5452083"/>
        </p:xfrm>
        <a:graphic>
          <a:graphicData uri="http://schemas.openxmlformats.org/drawingml/2006/table">
            <a:tbl>
              <a:tblPr/>
              <a:tblGrid>
                <a:gridCol w="3373120">
                  <a:extLst>
                    <a:ext uri="{9D8B030D-6E8A-4147-A177-3AD203B41FA5}">
                      <a16:colId xmlns:a16="http://schemas.microsoft.com/office/drawing/2014/main" val="3781341518"/>
                    </a:ext>
                  </a:extLst>
                </a:gridCol>
                <a:gridCol w="4246880">
                  <a:extLst>
                    <a:ext uri="{9D8B030D-6E8A-4147-A177-3AD203B41FA5}">
                      <a16:colId xmlns:a16="http://schemas.microsoft.com/office/drawing/2014/main" val="178165636"/>
                    </a:ext>
                  </a:extLst>
                </a:gridCol>
                <a:gridCol w="4074159">
                  <a:extLst>
                    <a:ext uri="{9D8B030D-6E8A-4147-A177-3AD203B41FA5}">
                      <a16:colId xmlns:a16="http://schemas.microsoft.com/office/drawing/2014/main" val="4057676145"/>
                    </a:ext>
                  </a:extLst>
                </a:gridCol>
              </a:tblGrid>
              <a:tr h="721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Feature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Optical Fiber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Electrical Cable (Copper Wire)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890238"/>
                  </a:ext>
                </a:extLst>
              </a:tr>
              <a:tr h="41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Signal Type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Light signal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Electrical signal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394713"/>
                  </a:ext>
                </a:extLst>
              </a:tr>
              <a:tr h="41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Transmission Speed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Very high (speed of light)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Moderate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8040"/>
                  </a:ext>
                </a:extLst>
              </a:tr>
              <a:tr h="41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Bandwidth (Data capacity)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Very high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Limited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039650"/>
                  </a:ext>
                </a:extLst>
              </a:tr>
              <a:tr h="41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Signal Loss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Very low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High over long distance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0062"/>
                  </a:ext>
                </a:extLst>
              </a:tr>
              <a:tr h="721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Interference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Immune to electromagnetic interference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Affected by EMI and noise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195423"/>
                  </a:ext>
                </a:extLst>
              </a:tr>
              <a:tr h="41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Weight and Size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Light and thin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Heavy and bulky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988231"/>
                  </a:ext>
                </a:extLst>
              </a:tr>
              <a:tr h="41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Material Used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Glass or plastic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Copper or aluminum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243196"/>
                  </a:ext>
                </a:extLst>
              </a:tr>
              <a:tr h="721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Cost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entury Schoolbook" panose="02040604050505020304" pitchFamily="18" charset="0"/>
                        </a:rPr>
                        <a:t>High initial cost, low maintenance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Low initial cost, high maintenance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132614"/>
                  </a:ext>
                </a:extLst>
              </a:tr>
              <a:tr h="41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Security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High – difficult to tap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Low – easy to tap signals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429726"/>
                  </a:ext>
                </a:extLst>
              </a:tr>
              <a:tr h="41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Durability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More durable and flexible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Less durable</a:t>
                      </a:r>
                    </a:p>
                  </a:txBody>
                  <a:tcPr marL="69730" marR="69730" marT="34865" marB="34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416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839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181</TotalTime>
  <Words>1533</Words>
  <Application>Microsoft Office PowerPoint</Application>
  <PresentationFormat>Widescreen</PresentationFormat>
  <Paragraphs>180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Algerian</vt:lpstr>
      <vt:lpstr>Arial</vt:lpstr>
      <vt:lpstr>Bookman Old Style</vt:lpstr>
      <vt:lpstr>Cambria Math</vt:lpstr>
      <vt:lpstr>Century Schoolbook</vt:lpstr>
      <vt:lpstr>Rockwell</vt:lpstr>
      <vt:lpstr>Wingdings</vt:lpstr>
      <vt:lpstr>Damask</vt:lpstr>
      <vt:lpstr>05. Optics and Optical Fiber </vt:lpstr>
      <vt:lpstr>Introduction of optics &amp; optical fiber : </vt:lpstr>
      <vt:lpstr>5.1] reflection of light : -</vt:lpstr>
      <vt:lpstr>PowerPoint Presentation</vt:lpstr>
      <vt:lpstr>Refraction of light : -</vt:lpstr>
      <vt:lpstr>5.3] laws of refraction : -</vt:lpstr>
      <vt:lpstr>Laws of refraction &amp; snell’s law : -</vt:lpstr>
      <vt:lpstr>Prism formula : -</vt:lpstr>
      <vt:lpstr>Numerical example : -</vt:lpstr>
      <vt:lpstr>5.4] optical fiber : -</vt:lpstr>
      <vt:lpstr>5.5] principle of propagation of light through optical fiber : -</vt:lpstr>
      <vt:lpstr>5.6] structure of optical fiber : -</vt:lpstr>
      <vt:lpstr>Basic structure : -</vt:lpstr>
      <vt:lpstr>PowerPoint Presentation</vt:lpstr>
      <vt:lpstr>5.7] Application in electronic medical : -</vt:lpstr>
      <vt:lpstr>Applications in medical field : -</vt:lpstr>
      <vt:lpstr>2. Comparison between Optical Fiber and Electrical Cable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shshinde2580@gmail.com</cp:lastModifiedBy>
  <cp:revision>2</cp:revision>
  <dcterms:created xsi:type="dcterms:W3CDTF">2025-11-02T05:58:04Z</dcterms:created>
  <dcterms:modified xsi:type="dcterms:W3CDTF">2025-11-14T06:56:35Z</dcterms:modified>
</cp:coreProperties>
</file>