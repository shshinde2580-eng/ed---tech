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3"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5C7B92-2568-419A-9040-BF5C872302AA}" v="780" dt="2025-11-01T18:11:03.6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DA73D1-8C3C-4E53-A549-8AC2E829C8CF}"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B56A45-9579-4217-92FC-5EF3E73CE9ED}" type="slidenum">
              <a:rPr lang="en-IN" smtClean="0"/>
              <a:t>‹#›</a:t>
            </a:fld>
            <a:endParaRPr lang="en-IN"/>
          </a:p>
        </p:txBody>
      </p:sp>
    </p:spTree>
    <p:extLst>
      <p:ext uri="{BB962C8B-B14F-4D97-AF65-F5344CB8AC3E}">
        <p14:creationId xmlns:p14="http://schemas.microsoft.com/office/powerpoint/2010/main" val="218554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DA73D1-8C3C-4E53-A549-8AC2E829C8CF}"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B56A45-9579-4217-92FC-5EF3E73CE9ED}" type="slidenum">
              <a:rPr lang="en-IN" smtClean="0"/>
              <a:t>‹#›</a:t>
            </a:fld>
            <a:endParaRPr lang="en-IN"/>
          </a:p>
        </p:txBody>
      </p:sp>
    </p:spTree>
    <p:extLst>
      <p:ext uri="{BB962C8B-B14F-4D97-AF65-F5344CB8AC3E}">
        <p14:creationId xmlns:p14="http://schemas.microsoft.com/office/powerpoint/2010/main" val="1327848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DA73D1-8C3C-4E53-A549-8AC2E829C8CF}"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B56A45-9579-4217-92FC-5EF3E73CE9ED}" type="slidenum">
              <a:rPr lang="en-IN" smtClean="0"/>
              <a:t>‹#›</a:t>
            </a:fld>
            <a:endParaRPr lang="en-IN"/>
          </a:p>
        </p:txBody>
      </p:sp>
    </p:spTree>
    <p:extLst>
      <p:ext uri="{BB962C8B-B14F-4D97-AF65-F5344CB8AC3E}">
        <p14:creationId xmlns:p14="http://schemas.microsoft.com/office/powerpoint/2010/main" val="2532668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DA73D1-8C3C-4E53-A549-8AC2E829C8CF}"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B56A45-9579-4217-92FC-5EF3E73CE9ED}" type="slidenum">
              <a:rPr lang="en-IN" smtClean="0"/>
              <a:t>‹#›</a:t>
            </a:fld>
            <a:endParaRPr lang="en-IN"/>
          </a:p>
        </p:txBody>
      </p:sp>
    </p:spTree>
    <p:extLst>
      <p:ext uri="{BB962C8B-B14F-4D97-AF65-F5344CB8AC3E}">
        <p14:creationId xmlns:p14="http://schemas.microsoft.com/office/powerpoint/2010/main" val="267913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DA73D1-8C3C-4E53-A549-8AC2E829C8CF}" type="datetimeFigureOut">
              <a:rPr lang="en-IN" smtClean="0"/>
              <a:t>03-11-2025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3B56A45-9579-4217-92FC-5EF3E73CE9ED}" type="slidenum">
              <a:rPr lang="en-IN" smtClean="0"/>
              <a:t>‹#›</a:t>
            </a:fld>
            <a:endParaRPr lang="en-IN"/>
          </a:p>
        </p:txBody>
      </p:sp>
    </p:spTree>
    <p:extLst>
      <p:ext uri="{BB962C8B-B14F-4D97-AF65-F5344CB8AC3E}">
        <p14:creationId xmlns:p14="http://schemas.microsoft.com/office/powerpoint/2010/main" val="161544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DA73D1-8C3C-4E53-A549-8AC2E829C8CF}" type="datetimeFigureOut">
              <a:rPr lang="en-IN" smtClean="0"/>
              <a:t>03-11-2025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3B56A45-9579-4217-92FC-5EF3E73CE9ED}" type="slidenum">
              <a:rPr lang="en-IN" smtClean="0"/>
              <a:t>‹#›</a:t>
            </a:fld>
            <a:endParaRPr lang="en-IN"/>
          </a:p>
        </p:txBody>
      </p:sp>
    </p:spTree>
    <p:extLst>
      <p:ext uri="{BB962C8B-B14F-4D97-AF65-F5344CB8AC3E}">
        <p14:creationId xmlns:p14="http://schemas.microsoft.com/office/powerpoint/2010/main" val="4127645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DA73D1-8C3C-4E53-A549-8AC2E829C8CF}" type="datetimeFigureOut">
              <a:rPr lang="en-IN" smtClean="0"/>
              <a:t>03-11-2025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3B56A45-9579-4217-92FC-5EF3E73CE9ED}" type="slidenum">
              <a:rPr lang="en-IN" smtClean="0"/>
              <a:t>‹#›</a:t>
            </a:fld>
            <a:endParaRPr lang="en-IN"/>
          </a:p>
        </p:txBody>
      </p:sp>
    </p:spTree>
    <p:extLst>
      <p:ext uri="{BB962C8B-B14F-4D97-AF65-F5344CB8AC3E}">
        <p14:creationId xmlns:p14="http://schemas.microsoft.com/office/powerpoint/2010/main" val="1501356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DA73D1-8C3C-4E53-A549-8AC2E829C8CF}"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B56A45-9579-4217-92FC-5EF3E73CE9ED}" type="slidenum">
              <a:rPr lang="en-IN" smtClean="0"/>
              <a:t>‹#›</a:t>
            </a:fld>
            <a:endParaRPr lang="en-IN"/>
          </a:p>
        </p:txBody>
      </p:sp>
    </p:spTree>
    <p:extLst>
      <p:ext uri="{BB962C8B-B14F-4D97-AF65-F5344CB8AC3E}">
        <p14:creationId xmlns:p14="http://schemas.microsoft.com/office/powerpoint/2010/main" val="2274099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DA73D1-8C3C-4E53-A549-8AC2E829C8CF}"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B56A45-9579-4217-92FC-5EF3E73CE9ED}" type="slidenum">
              <a:rPr lang="en-IN" smtClean="0"/>
              <a:t>‹#›</a:t>
            </a:fld>
            <a:endParaRPr lang="en-IN"/>
          </a:p>
        </p:txBody>
      </p:sp>
    </p:spTree>
    <p:extLst>
      <p:ext uri="{BB962C8B-B14F-4D97-AF65-F5344CB8AC3E}">
        <p14:creationId xmlns:p14="http://schemas.microsoft.com/office/powerpoint/2010/main" val="2404796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DA73D1-8C3C-4E53-A549-8AC2E829C8CF}"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B56A45-9579-4217-92FC-5EF3E73CE9ED}" type="slidenum">
              <a:rPr lang="en-IN" smtClean="0"/>
              <a:t>‹#›</a:t>
            </a:fld>
            <a:endParaRPr lang="en-IN"/>
          </a:p>
        </p:txBody>
      </p:sp>
    </p:spTree>
    <p:extLst>
      <p:ext uri="{BB962C8B-B14F-4D97-AF65-F5344CB8AC3E}">
        <p14:creationId xmlns:p14="http://schemas.microsoft.com/office/powerpoint/2010/main" val="2790672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DA73D1-8C3C-4E53-A549-8AC2E829C8CF}"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B56A45-9579-4217-92FC-5EF3E73CE9ED}" type="slidenum">
              <a:rPr lang="en-IN" smtClean="0"/>
              <a:t>‹#›</a:t>
            </a:fld>
            <a:endParaRPr lang="en-IN"/>
          </a:p>
        </p:txBody>
      </p:sp>
    </p:spTree>
    <p:extLst>
      <p:ext uri="{BB962C8B-B14F-4D97-AF65-F5344CB8AC3E}">
        <p14:creationId xmlns:p14="http://schemas.microsoft.com/office/powerpoint/2010/main" val="3442228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DA73D1-8C3C-4E53-A549-8AC2E829C8CF}"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B56A45-9579-4217-92FC-5EF3E73CE9ED}"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5072533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DA73D1-8C3C-4E53-A549-8AC2E829C8CF}"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B56A45-9579-4217-92FC-5EF3E73CE9ED}" type="slidenum">
              <a:rPr lang="en-IN" smtClean="0"/>
              <a:t>‹#›</a:t>
            </a:fld>
            <a:endParaRPr lang="en-IN"/>
          </a:p>
        </p:txBody>
      </p:sp>
    </p:spTree>
    <p:extLst>
      <p:ext uri="{BB962C8B-B14F-4D97-AF65-F5344CB8AC3E}">
        <p14:creationId xmlns:p14="http://schemas.microsoft.com/office/powerpoint/2010/main" val="3037836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4DA73D1-8C3C-4E53-A549-8AC2E829C8CF}" type="datetimeFigureOut">
              <a:rPr lang="en-IN" smtClean="0"/>
              <a:t>03-11-2025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3B56A45-9579-4217-92FC-5EF3E73CE9ED}" type="slidenum">
              <a:rPr lang="en-IN" smtClean="0"/>
              <a:t>‹#›</a:t>
            </a:fld>
            <a:endParaRPr lang="en-IN"/>
          </a:p>
        </p:txBody>
      </p:sp>
    </p:spTree>
    <p:extLst>
      <p:ext uri="{BB962C8B-B14F-4D97-AF65-F5344CB8AC3E}">
        <p14:creationId xmlns:p14="http://schemas.microsoft.com/office/powerpoint/2010/main" val="18027786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4DA73D1-8C3C-4E53-A549-8AC2E829C8CF}" type="datetimeFigureOut">
              <a:rPr lang="en-IN" smtClean="0"/>
              <a:t>03-11-2025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3B56A45-9579-4217-92FC-5EF3E73CE9ED}" type="slidenum">
              <a:rPr lang="en-IN" smtClean="0"/>
              <a:t>‹#›</a:t>
            </a:fld>
            <a:endParaRPr lang="en-IN"/>
          </a:p>
        </p:txBody>
      </p:sp>
    </p:spTree>
    <p:extLst>
      <p:ext uri="{BB962C8B-B14F-4D97-AF65-F5344CB8AC3E}">
        <p14:creationId xmlns:p14="http://schemas.microsoft.com/office/powerpoint/2010/main" val="4157281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DA73D1-8C3C-4E53-A549-8AC2E829C8CF}"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B56A45-9579-4217-92FC-5EF3E73CE9ED}" type="slidenum">
              <a:rPr lang="en-IN" smtClean="0"/>
              <a:t>‹#›</a:t>
            </a:fld>
            <a:endParaRPr lang="en-IN"/>
          </a:p>
        </p:txBody>
      </p:sp>
    </p:spTree>
    <p:extLst>
      <p:ext uri="{BB962C8B-B14F-4D97-AF65-F5344CB8AC3E}">
        <p14:creationId xmlns:p14="http://schemas.microsoft.com/office/powerpoint/2010/main" val="36662435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DA73D1-8C3C-4E53-A549-8AC2E829C8CF}"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B56A45-9579-4217-92FC-5EF3E73CE9ED}" type="slidenum">
              <a:rPr lang="en-IN" smtClean="0"/>
              <a:t>‹#›</a:t>
            </a:fld>
            <a:endParaRPr lang="en-IN"/>
          </a:p>
        </p:txBody>
      </p:sp>
    </p:spTree>
    <p:extLst>
      <p:ext uri="{BB962C8B-B14F-4D97-AF65-F5344CB8AC3E}">
        <p14:creationId xmlns:p14="http://schemas.microsoft.com/office/powerpoint/2010/main" val="695000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04DA73D1-8C3C-4E53-A549-8AC2E829C8CF}" type="datetimeFigureOut">
              <a:rPr lang="en-IN" smtClean="0"/>
              <a:t>03-11-2025</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3B56A45-9579-4217-92FC-5EF3E73CE9ED}" type="slidenum">
              <a:rPr lang="en-IN" smtClean="0"/>
              <a:t>‹#›</a:t>
            </a:fld>
            <a:endParaRPr lang="en-IN"/>
          </a:p>
        </p:txBody>
      </p:sp>
    </p:spTree>
    <p:extLst>
      <p:ext uri="{BB962C8B-B14F-4D97-AF65-F5344CB8AC3E}">
        <p14:creationId xmlns:p14="http://schemas.microsoft.com/office/powerpoint/2010/main" val="2692925099"/>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5F65A-648D-5A2C-53A6-DADCBD087A7B}"/>
              </a:ext>
            </a:extLst>
          </p:cNvPr>
          <p:cNvSpPr>
            <a:spLocks noGrp="1"/>
          </p:cNvSpPr>
          <p:nvPr>
            <p:ph type="ctrTitle"/>
          </p:nvPr>
        </p:nvSpPr>
        <p:spPr>
          <a:xfrm>
            <a:off x="881208" y="1361922"/>
            <a:ext cx="10429583" cy="2387600"/>
          </a:xfrm>
        </p:spPr>
        <p:txBody>
          <a:bodyPr>
            <a:normAutofit fontScale="90000"/>
          </a:bodyPr>
          <a:lstStyle/>
          <a:p>
            <a:r>
              <a:rPr lang="en-US" sz="8800" b="0" dirty="0">
                <a:solidFill>
                  <a:srgbClr val="FFFF00"/>
                </a:solidFill>
                <a:latin typeface="Algerian" panose="04020705040A02060702" pitchFamily="82" charset="0"/>
              </a:rPr>
              <a:t>03. </a:t>
            </a:r>
            <a:r>
              <a:rPr lang="en-US" sz="8800" b="0" u="sng" dirty="0">
                <a:solidFill>
                  <a:srgbClr val="FFFF00"/>
                </a:solidFill>
                <a:latin typeface="Algerian" panose="04020705040A02060702" pitchFamily="82" charset="0"/>
              </a:rPr>
              <a:t>Electrostatics</a:t>
            </a:r>
            <a:r>
              <a:rPr lang="en-US" sz="8800" b="0" dirty="0">
                <a:solidFill>
                  <a:srgbClr val="FFFF00"/>
                </a:solidFill>
                <a:latin typeface="Algerian" panose="04020705040A02060702" pitchFamily="82" charset="0"/>
              </a:rPr>
              <a:t> </a:t>
            </a:r>
            <a:endParaRPr lang="en-IN" sz="8800" b="0" dirty="0">
              <a:solidFill>
                <a:srgbClr val="FFFF00"/>
              </a:solidFill>
              <a:latin typeface="Algerian" panose="04020705040A02060702" pitchFamily="82" charset="0"/>
            </a:endParaRPr>
          </a:p>
        </p:txBody>
      </p:sp>
      <p:sp>
        <p:nvSpPr>
          <p:cNvPr id="3" name="Subtitle 2">
            <a:extLst>
              <a:ext uri="{FF2B5EF4-FFF2-40B4-BE49-F238E27FC236}">
                <a16:creationId xmlns:a16="http://schemas.microsoft.com/office/drawing/2014/main" id="{DCC0D4B7-8213-1261-E34A-E9958921ED19}"/>
              </a:ext>
            </a:extLst>
          </p:cNvPr>
          <p:cNvSpPr>
            <a:spLocks noGrp="1"/>
          </p:cNvSpPr>
          <p:nvPr>
            <p:ph type="subTitle" idx="1"/>
          </p:nvPr>
        </p:nvSpPr>
        <p:spPr>
          <a:xfrm>
            <a:off x="1595269" y="4722915"/>
            <a:ext cx="9001462" cy="1655762"/>
          </a:xfrm>
        </p:spPr>
        <p:txBody>
          <a:bodyPr/>
          <a:lstStyle/>
          <a:p>
            <a:endParaRPr lang="en-IN"/>
          </a:p>
        </p:txBody>
      </p:sp>
    </p:spTree>
    <p:extLst>
      <p:ext uri="{BB962C8B-B14F-4D97-AF65-F5344CB8AC3E}">
        <p14:creationId xmlns:p14="http://schemas.microsoft.com/office/powerpoint/2010/main" val="4033163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89FB2-F31F-1161-3188-BBD43090616D}"/>
              </a:ext>
            </a:extLst>
          </p:cNvPr>
          <p:cNvSpPr>
            <a:spLocks noGrp="1"/>
          </p:cNvSpPr>
          <p:nvPr>
            <p:ph type="title"/>
          </p:nvPr>
        </p:nvSpPr>
        <p:spPr>
          <a:xfrm>
            <a:off x="-235974" y="-137651"/>
            <a:ext cx="11739717" cy="1061884"/>
          </a:xfrm>
        </p:spPr>
        <p:txBody>
          <a:bodyPr>
            <a:normAutofit/>
          </a:bodyPr>
          <a:lstStyle/>
          <a:p>
            <a:pPr marL="685800" indent="-685800">
              <a:buFont typeface="Wingdings" panose="05000000000000000000" pitchFamily="2" charset="2"/>
              <a:buChar char="v"/>
            </a:pPr>
            <a:r>
              <a:rPr lang="en-US" sz="4800" b="0" u="sng" dirty="0">
                <a:solidFill>
                  <a:srgbClr val="FFFF00"/>
                </a:solidFill>
                <a:latin typeface="Algerian" panose="04020705040A02060702" pitchFamily="82" charset="0"/>
              </a:rPr>
              <a:t>Introduction of electrostatic</a:t>
            </a:r>
            <a:r>
              <a:rPr lang="en-US" sz="4800" b="0" dirty="0">
                <a:solidFill>
                  <a:srgbClr val="FFFF00"/>
                </a:solidFill>
                <a:latin typeface="Algerian" panose="04020705040A02060702" pitchFamily="82" charset="0"/>
              </a:rPr>
              <a:t> : - </a:t>
            </a:r>
            <a:endParaRPr lang="en-IN" sz="4800" b="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53911C28-7173-F91E-8822-47723D4AA46B}"/>
              </a:ext>
            </a:extLst>
          </p:cNvPr>
          <p:cNvSpPr>
            <a:spLocks noGrp="1"/>
          </p:cNvSpPr>
          <p:nvPr>
            <p:ph type="body" sz="half" idx="2"/>
          </p:nvPr>
        </p:nvSpPr>
        <p:spPr>
          <a:xfrm>
            <a:off x="142568" y="698090"/>
            <a:ext cx="11842956" cy="4975123"/>
          </a:xfrm>
        </p:spPr>
        <p:txBody>
          <a:bodyPr>
            <a:normAutofit/>
          </a:bodyPr>
          <a:lstStyle/>
          <a:p>
            <a:pPr marL="342900" indent="-342900" algn="l">
              <a:buFont typeface="Wingdings" panose="05000000000000000000" pitchFamily="2" charset="2"/>
              <a:buChar char="Ø"/>
            </a:pPr>
            <a:r>
              <a:rPr lang="en-US" sz="2400" b="1" dirty="0">
                <a:latin typeface="Century Schoolbook" panose="02040604050505020304" pitchFamily="18" charset="0"/>
              </a:rPr>
              <a:t>Electrostatics is the branch of physics that deals with the study of electric charges at rest (i.e., stationary charges).</a:t>
            </a:r>
          </a:p>
          <a:p>
            <a:pPr marL="342900" indent="-342900" algn="l">
              <a:buFont typeface="Wingdings" panose="05000000000000000000" pitchFamily="2" charset="2"/>
              <a:buChar char="Ø"/>
            </a:pPr>
            <a:r>
              <a:rPr lang="en-US" sz="2400" b="1" dirty="0">
                <a:latin typeface="Century Schoolbook" panose="02040604050505020304" pitchFamily="18" charset="0"/>
              </a:rPr>
              <a:t>It explains the forces, fields, and potentials produced by these static electric charges.</a:t>
            </a:r>
          </a:p>
          <a:p>
            <a:pPr marL="342900" indent="-342900" algn="l">
              <a:buFont typeface="Wingdings" panose="05000000000000000000" pitchFamily="2" charset="2"/>
              <a:buChar char="Ø"/>
            </a:pPr>
            <a:r>
              <a:rPr lang="en-US" sz="2400" b="1" dirty="0">
                <a:latin typeface="Century Schoolbook" panose="02040604050505020304" pitchFamily="18" charset="0"/>
              </a:rPr>
              <a:t>When certain materials are rubbed together (for example, glass rod with silk or ebonite rod with fur), they acquire the property of attracting or repelling other materials.</a:t>
            </a:r>
          </a:p>
          <a:p>
            <a:pPr marL="342900" indent="-342900" algn="l">
              <a:buFont typeface="Wingdings" panose="05000000000000000000" pitchFamily="2" charset="2"/>
              <a:buChar char="Ø"/>
            </a:pPr>
            <a:r>
              <a:rPr lang="en-US" sz="2400" b="1" dirty="0">
                <a:latin typeface="Century Schoolbook" panose="02040604050505020304" pitchFamily="18" charset="0"/>
              </a:rPr>
              <a:t>This happens because electric charges are transferred from one body to another, creating positive and negative charges.</a:t>
            </a:r>
          </a:p>
          <a:p>
            <a:pPr algn="l"/>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467991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30BD5-6EB2-8614-2A5D-C0A50939BB7D}"/>
              </a:ext>
            </a:extLst>
          </p:cNvPr>
          <p:cNvSpPr>
            <a:spLocks noGrp="1"/>
          </p:cNvSpPr>
          <p:nvPr>
            <p:ph type="title"/>
          </p:nvPr>
        </p:nvSpPr>
        <p:spPr>
          <a:xfrm>
            <a:off x="-148088" y="-143343"/>
            <a:ext cx="12163108" cy="1056853"/>
          </a:xfrm>
        </p:spPr>
        <p:txBody>
          <a:bodyPr>
            <a:normAutofit fontScale="90000"/>
          </a:bodyPr>
          <a:lstStyle/>
          <a:p>
            <a:r>
              <a:rPr lang="en-US" sz="5400" b="0" dirty="0">
                <a:solidFill>
                  <a:srgbClr val="FFFF00"/>
                </a:solidFill>
                <a:latin typeface="Algerian" panose="04020705040A02060702" pitchFamily="82" charset="0"/>
              </a:rPr>
              <a:t>3.1] </a:t>
            </a:r>
            <a:r>
              <a:rPr lang="en-US" sz="5400" b="0" u="sng" dirty="0">
                <a:solidFill>
                  <a:srgbClr val="FFFF00"/>
                </a:solidFill>
                <a:latin typeface="Algerian" panose="04020705040A02060702" pitchFamily="82" charset="0"/>
              </a:rPr>
              <a:t>definition of electric charge</a:t>
            </a:r>
            <a:r>
              <a:rPr lang="en-US" sz="5400" b="0" dirty="0">
                <a:solidFill>
                  <a:srgbClr val="FFFF00"/>
                </a:solidFill>
                <a:latin typeface="Algerian" panose="04020705040A02060702" pitchFamily="82" charset="0"/>
              </a:rPr>
              <a:t> : -</a:t>
            </a:r>
            <a:endParaRPr lang="en-IN" sz="5400" b="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4D9310D2-E517-C5B0-A368-6FEBA37A52FD}"/>
              </a:ext>
            </a:extLst>
          </p:cNvPr>
          <p:cNvSpPr>
            <a:spLocks noGrp="1"/>
          </p:cNvSpPr>
          <p:nvPr>
            <p:ph type="body" sz="half" idx="2"/>
          </p:nvPr>
        </p:nvSpPr>
        <p:spPr>
          <a:xfrm>
            <a:off x="83272" y="992169"/>
            <a:ext cx="11700387" cy="6086942"/>
          </a:xfrm>
        </p:spPr>
        <p:txBody>
          <a:bodyPr>
            <a:normAutofit/>
          </a:bodyPr>
          <a:lstStyle/>
          <a:p>
            <a:pPr marL="285750" indent="-285750" algn="l">
              <a:buFont typeface="Wingdings" panose="05000000000000000000" pitchFamily="2" charset="2"/>
              <a:buChar char="v"/>
            </a:pPr>
            <a:r>
              <a:rPr lang="en-US" sz="2800" b="1" u="sng" dirty="0">
                <a:solidFill>
                  <a:srgbClr val="FFFF00"/>
                </a:solidFill>
                <a:latin typeface="Century Schoolbook" panose="02040604050505020304" pitchFamily="18" charset="0"/>
              </a:rPr>
              <a:t>Definition of Electric Charge</a:t>
            </a:r>
            <a:r>
              <a:rPr lang="en-US" sz="2800" b="1" dirty="0">
                <a:solidFill>
                  <a:srgbClr val="FFFF00"/>
                </a:solidFill>
                <a:latin typeface="Century Schoolbook" panose="02040604050505020304" pitchFamily="18" charset="0"/>
              </a:rPr>
              <a:t> : -</a:t>
            </a:r>
          </a:p>
          <a:p>
            <a:pPr marL="342900" indent="-342900" algn="l">
              <a:buFont typeface="Wingdings" panose="05000000000000000000" pitchFamily="2" charset="2"/>
              <a:buChar char="Ø"/>
            </a:pPr>
            <a:r>
              <a:rPr lang="en-US" sz="2000" b="1" dirty="0">
                <a:latin typeface="Century Schoolbook" panose="02040604050505020304" pitchFamily="18" charset="0"/>
              </a:rPr>
              <a:t>Electric charge is a fundamental property of matter that causes it to experience a force when placed in an electric or magnetic field.</a:t>
            </a:r>
          </a:p>
          <a:p>
            <a:pPr marL="342900" indent="-342900" algn="l">
              <a:buFont typeface="Wingdings" panose="05000000000000000000" pitchFamily="2" charset="2"/>
              <a:buChar char="Ø"/>
            </a:pPr>
            <a:r>
              <a:rPr lang="en-US" sz="2000" b="1" dirty="0">
                <a:latin typeface="Century Schoolbook" panose="02040604050505020304" pitchFamily="18" charset="0"/>
              </a:rPr>
              <a:t>Electric charge is the property due to which matter attracts or repels other matter electrostatically.</a:t>
            </a:r>
          </a:p>
          <a:p>
            <a:pPr marL="285750" indent="-285750" algn="l">
              <a:buFont typeface="Wingdings" panose="05000000000000000000" pitchFamily="2" charset="2"/>
              <a:buChar char="v"/>
            </a:pPr>
            <a:r>
              <a:rPr lang="en-US" sz="3200" b="1" u="sng" dirty="0">
                <a:solidFill>
                  <a:srgbClr val="FFFF00"/>
                </a:solidFill>
                <a:latin typeface="Century Schoolbook" panose="02040604050505020304" pitchFamily="18" charset="0"/>
              </a:rPr>
              <a:t>Types of Charges</a:t>
            </a:r>
            <a:r>
              <a:rPr lang="en-US" sz="3200" b="1" dirty="0">
                <a:solidFill>
                  <a:srgbClr val="FFFF00"/>
                </a:solidFill>
                <a:latin typeface="Century Schoolbook" panose="02040604050505020304" pitchFamily="18" charset="0"/>
              </a:rPr>
              <a:t> : -</a:t>
            </a:r>
          </a:p>
          <a:p>
            <a:pPr marL="285750" indent="-285750" algn="l">
              <a:buFont typeface="Wingdings" panose="05000000000000000000" pitchFamily="2" charset="2"/>
              <a:buChar char="Ø"/>
            </a:pPr>
            <a:r>
              <a:rPr lang="en-US" sz="2400" b="1" u="sng" dirty="0">
                <a:solidFill>
                  <a:srgbClr val="FFFF00"/>
                </a:solidFill>
                <a:latin typeface="Century Schoolbook" panose="02040604050505020304" pitchFamily="18" charset="0"/>
              </a:rPr>
              <a:t>Positive Charge (+)</a:t>
            </a:r>
            <a:r>
              <a:rPr lang="en-US" sz="2400" b="1" dirty="0">
                <a:solidFill>
                  <a:srgbClr val="FFFF00"/>
                </a:solidFill>
                <a:latin typeface="Century Schoolbook" panose="02040604050505020304" pitchFamily="18" charset="0"/>
              </a:rPr>
              <a:t> : -</a:t>
            </a:r>
          </a:p>
          <a:p>
            <a:pPr marL="742950" lvl="1" indent="-285750">
              <a:buFont typeface="Arial" panose="020B0604020202020204" pitchFamily="34" charset="0"/>
              <a:buChar char="•"/>
            </a:pPr>
            <a:r>
              <a:rPr lang="en-US" sz="2000" b="1" dirty="0">
                <a:latin typeface="Century Schoolbook" panose="02040604050505020304" pitchFamily="18" charset="0"/>
              </a:rPr>
              <a:t>Produced when an object loses electrons.</a:t>
            </a:r>
          </a:p>
          <a:p>
            <a:pPr marL="742950" lvl="1" indent="-285750">
              <a:buFont typeface="Arial" panose="020B0604020202020204" pitchFamily="34" charset="0"/>
              <a:buChar char="•"/>
            </a:pPr>
            <a:r>
              <a:rPr lang="en-US" sz="2000" b="1" u="sng" dirty="0">
                <a:latin typeface="Century Schoolbook" panose="02040604050505020304" pitchFamily="18" charset="0"/>
              </a:rPr>
              <a:t>Example</a:t>
            </a:r>
            <a:r>
              <a:rPr lang="en-US" sz="2000" b="1" dirty="0">
                <a:latin typeface="Century Schoolbook" panose="02040604050505020304" pitchFamily="18" charset="0"/>
              </a:rPr>
              <a:t> : A glass rod rubbed with silk becomes positively charged.</a:t>
            </a:r>
          </a:p>
          <a:p>
            <a:pPr marL="285750" indent="-285750" algn="l">
              <a:buFont typeface="Wingdings" panose="05000000000000000000" pitchFamily="2" charset="2"/>
              <a:buChar char="Ø"/>
            </a:pPr>
            <a:r>
              <a:rPr lang="en-US" sz="2400" b="1" u="sng" dirty="0">
                <a:solidFill>
                  <a:srgbClr val="FFFF00"/>
                </a:solidFill>
                <a:latin typeface="Century Schoolbook" panose="02040604050505020304" pitchFamily="18" charset="0"/>
              </a:rPr>
              <a:t>Negative Charge (−)</a:t>
            </a:r>
            <a:r>
              <a:rPr lang="en-US" sz="2400" b="1" dirty="0">
                <a:solidFill>
                  <a:srgbClr val="FFFF00"/>
                </a:solidFill>
                <a:latin typeface="Century Schoolbook" panose="02040604050505020304" pitchFamily="18" charset="0"/>
              </a:rPr>
              <a:t> : -</a:t>
            </a:r>
          </a:p>
          <a:p>
            <a:pPr marL="742950" lvl="1" indent="-285750">
              <a:buFont typeface="Arial" panose="020B0604020202020204" pitchFamily="34" charset="0"/>
              <a:buChar char="•"/>
            </a:pPr>
            <a:r>
              <a:rPr lang="en-US" sz="2000" b="1" dirty="0">
                <a:latin typeface="Century Schoolbook" panose="02040604050505020304" pitchFamily="18" charset="0"/>
              </a:rPr>
              <a:t>Produced when an object gains electrons.</a:t>
            </a:r>
          </a:p>
          <a:p>
            <a:pPr marL="742950" lvl="1" indent="-285750">
              <a:buFont typeface="Arial" panose="020B0604020202020204" pitchFamily="34" charset="0"/>
              <a:buChar char="•"/>
            </a:pPr>
            <a:r>
              <a:rPr lang="en-US" sz="2000" b="1" u="sng" dirty="0">
                <a:latin typeface="Century Schoolbook" panose="02040604050505020304" pitchFamily="18" charset="0"/>
              </a:rPr>
              <a:t>Example</a:t>
            </a:r>
            <a:r>
              <a:rPr lang="en-US" sz="2000" b="1" dirty="0">
                <a:latin typeface="Century Schoolbook" panose="02040604050505020304" pitchFamily="18" charset="0"/>
              </a:rPr>
              <a:t> : An ebonite rod rubbed with fur becomes negatively charged.</a:t>
            </a:r>
          </a:p>
          <a:p>
            <a:pPr algn="l"/>
            <a:endParaRPr lang="en-US" sz="1800" b="1" dirty="0">
              <a:latin typeface="Century Schoolbook" panose="02040604050505020304" pitchFamily="18" charset="0"/>
            </a:endParaRPr>
          </a:p>
          <a:p>
            <a:pPr algn="l"/>
            <a:endParaRPr lang="en-IN" b="1" dirty="0">
              <a:latin typeface="Century Schoolbook" panose="02040604050505020304" pitchFamily="18" charset="0"/>
            </a:endParaRPr>
          </a:p>
        </p:txBody>
      </p:sp>
    </p:spTree>
    <p:extLst>
      <p:ext uri="{BB962C8B-B14F-4D97-AF65-F5344CB8AC3E}">
        <p14:creationId xmlns:p14="http://schemas.microsoft.com/office/powerpoint/2010/main" val="1241581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C3F9A-1E7D-8528-EBC6-81C8E8474830}"/>
              </a:ext>
            </a:extLst>
          </p:cNvPr>
          <p:cNvSpPr>
            <a:spLocks noGrp="1"/>
          </p:cNvSpPr>
          <p:nvPr>
            <p:ph type="title"/>
          </p:nvPr>
        </p:nvSpPr>
        <p:spPr>
          <a:xfrm>
            <a:off x="58993" y="-84348"/>
            <a:ext cx="12074013" cy="959420"/>
          </a:xfrm>
        </p:spPr>
        <p:txBody>
          <a:bodyPr>
            <a:normAutofit/>
          </a:bodyPr>
          <a:lstStyle/>
          <a:p>
            <a:pPr algn="l"/>
            <a:r>
              <a:rPr lang="en-US" sz="4800" b="0" dirty="0">
                <a:solidFill>
                  <a:srgbClr val="FFFF00"/>
                </a:solidFill>
                <a:latin typeface="Algerian" panose="04020705040A02060702" pitchFamily="82" charset="0"/>
              </a:rPr>
              <a:t>3.2] </a:t>
            </a:r>
            <a:r>
              <a:rPr lang="en-US" sz="4800" b="0" u="sng" dirty="0">
                <a:solidFill>
                  <a:srgbClr val="FFFF00"/>
                </a:solidFill>
                <a:latin typeface="Algerian" panose="04020705040A02060702" pitchFamily="82" charset="0"/>
              </a:rPr>
              <a:t>Coulomb’s law</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82E6BCA-2E53-377C-9504-8BB4178B0362}"/>
                  </a:ext>
                </a:extLst>
              </p:cNvPr>
              <p:cNvSpPr>
                <a:spLocks noGrp="1"/>
              </p:cNvSpPr>
              <p:nvPr>
                <p:ph type="body" sz="half" idx="2"/>
              </p:nvPr>
            </p:nvSpPr>
            <p:spPr>
              <a:xfrm>
                <a:off x="196643" y="698090"/>
                <a:ext cx="11798711" cy="5958348"/>
              </a:xfrm>
            </p:spPr>
            <p:txBody>
              <a:bodyPr>
                <a:normAutofit/>
              </a:bodyPr>
              <a:lstStyle/>
              <a:p>
                <a:pPr marL="285750" indent="-285750" algn="l">
                  <a:buFont typeface="Wingdings" panose="05000000000000000000" pitchFamily="2" charset="2"/>
                  <a:buChar char="Ø"/>
                </a:pPr>
                <a:r>
                  <a:rPr lang="en-IN" sz="2000" b="1" dirty="0">
                    <a:latin typeface="Century Schoolbook" panose="02040604050505020304" pitchFamily="18" charset="0"/>
                  </a:rPr>
                  <a:t>Coulomb’s Law states that </a:t>
                </a:r>
                <a:r>
                  <a:rPr lang="en-IN" sz="2000" b="1" i="1" dirty="0">
                    <a:latin typeface="Century Schoolbook" panose="02040604050505020304" pitchFamily="18" charset="0"/>
                  </a:rPr>
                  <a:t>the electrostatic force of attraction or repulsion between two point charges is directly proportional to the product of their magnitudes and inversely proportional to the square of the distance between them.</a:t>
                </a:r>
                <a:endParaRPr lang="en-IN" sz="2000" b="1" dirty="0">
                  <a:latin typeface="Century Schoolbook" panose="02040604050505020304" pitchFamily="18" charset="0"/>
                </a:endParaRPr>
              </a:p>
              <a:p>
                <a:pPr marL="285750" indent="-285750" algn="l">
                  <a:buFont typeface="Wingdings" panose="05000000000000000000" pitchFamily="2" charset="2"/>
                  <a:buChar char="v"/>
                </a:pPr>
                <a:r>
                  <a:rPr lang="en-IN" sz="2800" b="1" u="sng" dirty="0">
                    <a:solidFill>
                      <a:srgbClr val="FFFF00"/>
                    </a:solidFill>
                    <a:latin typeface="Century Schoolbook" panose="02040604050505020304" pitchFamily="18" charset="0"/>
                  </a:rPr>
                  <a:t>Mathematical Form</a:t>
                </a:r>
                <a:r>
                  <a:rPr lang="en-IN" sz="2800" b="1" dirty="0">
                    <a:solidFill>
                      <a:srgbClr val="FFFF00"/>
                    </a:solidFill>
                    <a:latin typeface="Century Schoolbook" panose="02040604050505020304" pitchFamily="18" charset="0"/>
                  </a:rPr>
                  <a:t> : - </a:t>
                </a:r>
                <a14:m>
                  <m:oMath xmlns:m="http://schemas.openxmlformats.org/officeDocument/2006/math">
                    <m:r>
                      <a:rPr lang="en-IN" sz="2000" b="1" i="1" smtClean="0">
                        <a:latin typeface="Cambria Math" panose="02040503050406030204" pitchFamily="18" charset="0"/>
                      </a:rPr>
                      <m:t>𝑭</m:t>
                    </m:r>
                    <m:r>
                      <a:rPr lang="en-IN" sz="2000" b="1" smtClean="0">
                        <a:latin typeface="Cambria Math" panose="02040503050406030204" pitchFamily="18" charset="0"/>
                      </a:rPr>
                      <m:t>=</m:t>
                    </m:r>
                    <m:r>
                      <a:rPr lang="en-IN" sz="2000" b="1" i="1" smtClean="0">
                        <a:latin typeface="Cambria Math" panose="02040503050406030204" pitchFamily="18" charset="0"/>
                      </a:rPr>
                      <m:t>𝒌</m:t>
                    </m:r>
                    <m:f>
                      <m:fPr>
                        <m:ctrlPr>
                          <a:rPr lang="ar-AE" sz="2000" b="1" i="1">
                            <a:latin typeface="Cambria Math" panose="02040503050406030204" pitchFamily="18" charset="0"/>
                          </a:rPr>
                        </m:ctrlPr>
                      </m:fPr>
                      <m:num>
                        <m:sSub>
                          <m:sSubPr>
                            <m:ctrlPr>
                              <a:rPr lang="ar-AE" sz="2000" b="1" i="1">
                                <a:latin typeface="Cambria Math" panose="02040503050406030204" pitchFamily="18" charset="0"/>
                              </a:rPr>
                            </m:ctrlPr>
                          </m:sSubPr>
                          <m:e>
                            <m:r>
                              <a:rPr lang="ar-AE" sz="2000" b="1" i="1" smtClean="0">
                                <a:latin typeface="Cambria Math" panose="02040503050406030204" pitchFamily="18" charset="0"/>
                              </a:rPr>
                              <m:t>𝒒</m:t>
                            </m:r>
                          </m:e>
                          <m:sub>
                            <m:r>
                              <a:rPr lang="ar-AE" sz="2000" b="1" i="1" smtClean="0">
                                <a:latin typeface="Cambria Math" panose="02040503050406030204" pitchFamily="18" charset="0"/>
                              </a:rPr>
                              <m:t>𝟏</m:t>
                            </m:r>
                          </m:sub>
                        </m:sSub>
                        <m:sSub>
                          <m:sSubPr>
                            <m:ctrlPr>
                              <a:rPr lang="ar-AE" sz="2000" b="1" i="1">
                                <a:latin typeface="Cambria Math" panose="02040503050406030204" pitchFamily="18" charset="0"/>
                              </a:rPr>
                            </m:ctrlPr>
                          </m:sSubPr>
                          <m:e>
                            <m:r>
                              <a:rPr lang="ar-AE" sz="2000" b="1" i="1" smtClean="0">
                                <a:latin typeface="Cambria Math" panose="02040503050406030204" pitchFamily="18" charset="0"/>
                              </a:rPr>
                              <m:t>𝒒</m:t>
                            </m:r>
                          </m:e>
                          <m:sub>
                            <m:r>
                              <a:rPr lang="ar-AE" sz="2000" b="1" i="1" smtClean="0">
                                <a:latin typeface="Cambria Math" panose="02040503050406030204" pitchFamily="18" charset="0"/>
                              </a:rPr>
                              <m:t>𝟐</m:t>
                            </m:r>
                          </m:sub>
                        </m:sSub>
                      </m:num>
                      <m:den>
                        <m:sSup>
                          <m:sSupPr>
                            <m:ctrlPr>
                              <a:rPr lang="ar-AE" sz="2000" b="1" i="1">
                                <a:latin typeface="Cambria Math" panose="02040503050406030204" pitchFamily="18" charset="0"/>
                              </a:rPr>
                            </m:ctrlPr>
                          </m:sSupPr>
                          <m:e>
                            <m:r>
                              <a:rPr lang="ar-AE" sz="2000" b="1" i="1" smtClean="0">
                                <a:latin typeface="Cambria Math" panose="02040503050406030204" pitchFamily="18" charset="0"/>
                              </a:rPr>
                              <m:t>𝒓</m:t>
                            </m:r>
                          </m:e>
                          <m:sup>
                            <m:r>
                              <a:rPr lang="ar-AE" sz="2000" b="1" i="1" smtClean="0">
                                <a:latin typeface="Cambria Math" panose="02040503050406030204" pitchFamily="18" charset="0"/>
                              </a:rPr>
                              <m:t>𝟐</m:t>
                            </m:r>
                          </m:sup>
                        </m:sSup>
                      </m:den>
                    </m:f>
                  </m:oMath>
                </a14:m>
                <a:endParaRPr lang="ar-AE" b="1" dirty="0">
                  <a:latin typeface="Century Schoolbook" panose="02040604050505020304" pitchFamily="18" charset="0"/>
                </a:endParaRPr>
              </a:p>
              <a:p>
                <a:pPr algn="l"/>
                <a:r>
                  <a:rPr lang="en-IN" sz="1900" b="1" dirty="0">
                    <a:latin typeface="Century Schoolbook" panose="02040604050505020304" pitchFamily="18" charset="0"/>
                  </a:rPr>
                  <a:t>Where,</a:t>
                </a:r>
              </a:p>
              <a:p>
                <a:pPr marL="285750" indent="-285750" algn="l">
                  <a:buFont typeface="Arial" panose="020B0604020202020204" pitchFamily="34" charset="0"/>
                  <a:buChar char="•"/>
                </a:pPr>
                <a14:m>
                  <m:oMath xmlns:m="http://schemas.openxmlformats.org/officeDocument/2006/math">
                    <m:r>
                      <a:rPr lang="en-IN" sz="1900" b="1" i="1" smtClean="0">
                        <a:latin typeface="Cambria Math" panose="02040503050406030204" pitchFamily="18" charset="0"/>
                      </a:rPr>
                      <m:t>𝑭</m:t>
                    </m:r>
                  </m:oMath>
                </a14:m>
                <a:r>
                  <a:rPr lang="en-IN" sz="1900" b="1" dirty="0">
                    <a:latin typeface="Century Schoolbook" panose="02040604050505020304" pitchFamily="18" charset="0"/>
                  </a:rPr>
                  <a:t> = Electrostatic force between charges (in Newtons, N)</a:t>
                </a:r>
              </a:p>
              <a:p>
                <a:pPr marL="285750" indent="-285750" algn="l">
                  <a:buFont typeface="Arial" panose="020B0604020202020204" pitchFamily="34" charset="0"/>
                  <a:buChar char="•"/>
                </a:pPr>
                <a14:m>
                  <m:oMath xmlns:m="http://schemas.openxmlformats.org/officeDocument/2006/math">
                    <m:sSub>
                      <m:sSubPr>
                        <m:ctrlPr>
                          <a:rPr lang="ar-AE" sz="1900" b="1" i="1">
                            <a:latin typeface="Cambria Math" panose="02040503050406030204" pitchFamily="18" charset="0"/>
                          </a:rPr>
                        </m:ctrlPr>
                      </m:sSubPr>
                      <m:e>
                        <m:r>
                          <a:rPr lang="ar-AE" sz="1900" b="1" i="1" smtClean="0">
                            <a:latin typeface="Cambria Math" panose="02040503050406030204" pitchFamily="18" charset="0"/>
                          </a:rPr>
                          <m:t>𝒒</m:t>
                        </m:r>
                      </m:e>
                      <m:sub>
                        <m:r>
                          <a:rPr lang="ar-AE" sz="1900" b="1" i="1" smtClean="0">
                            <a:latin typeface="Cambria Math" panose="02040503050406030204" pitchFamily="18" charset="0"/>
                          </a:rPr>
                          <m:t>𝟏</m:t>
                        </m:r>
                      </m:sub>
                    </m:sSub>
                    <m:r>
                      <a:rPr lang="ar-AE" sz="1900" b="1" smtClean="0">
                        <a:latin typeface="Cambria Math" panose="02040503050406030204" pitchFamily="18" charset="0"/>
                      </a:rPr>
                      <m:t>,</m:t>
                    </m:r>
                    <m:sSub>
                      <m:sSubPr>
                        <m:ctrlPr>
                          <a:rPr lang="ar-AE" sz="1900" b="1" i="1">
                            <a:latin typeface="Cambria Math" panose="02040503050406030204" pitchFamily="18" charset="0"/>
                          </a:rPr>
                        </m:ctrlPr>
                      </m:sSubPr>
                      <m:e>
                        <m:r>
                          <a:rPr lang="ar-AE" sz="1900" b="1" i="1" smtClean="0">
                            <a:latin typeface="Cambria Math" panose="02040503050406030204" pitchFamily="18" charset="0"/>
                          </a:rPr>
                          <m:t>𝒒</m:t>
                        </m:r>
                      </m:e>
                      <m:sub>
                        <m:r>
                          <a:rPr lang="ar-AE" sz="1900" b="1" i="1" smtClean="0">
                            <a:latin typeface="Cambria Math" panose="02040503050406030204" pitchFamily="18" charset="0"/>
                          </a:rPr>
                          <m:t>𝟐</m:t>
                        </m:r>
                      </m:sub>
                    </m:sSub>
                  </m:oMath>
                </a14:m>
                <a:r>
                  <a:rPr lang="en-US" sz="1900" b="1" dirty="0">
                    <a:latin typeface="Century Schoolbook" panose="02040604050505020304" pitchFamily="18" charset="0"/>
                  </a:rPr>
                  <a:t> =</a:t>
                </a:r>
                <a:r>
                  <a:rPr lang="ar-AE" sz="1900" b="1" dirty="0">
                    <a:latin typeface="Century Schoolbook" panose="02040604050505020304" pitchFamily="18" charset="0"/>
                  </a:rPr>
                  <a:t> </a:t>
                </a:r>
                <a:r>
                  <a:rPr lang="en-US" sz="1900" b="1" dirty="0">
                    <a:latin typeface="Century Schoolbook" panose="02040604050505020304" pitchFamily="18" charset="0"/>
                  </a:rPr>
                  <a:t> </a:t>
                </a:r>
                <a:r>
                  <a:rPr lang="en-IN" sz="1900" b="1" dirty="0">
                    <a:latin typeface="Century Schoolbook" panose="02040604050505020304" pitchFamily="18" charset="0"/>
                  </a:rPr>
                  <a:t>Magnitudes of two charges (in Coulombs, C)</a:t>
                </a:r>
              </a:p>
              <a:p>
                <a:pPr marL="285750" indent="-285750" algn="l">
                  <a:buFont typeface="Arial" panose="020B0604020202020204" pitchFamily="34" charset="0"/>
                  <a:buChar char="•"/>
                </a:pPr>
                <a14:m>
                  <m:oMath xmlns:m="http://schemas.openxmlformats.org/officeDocument/2006/math">
                    <m:r>
                      <a:rPr lang="en-IN" sz="1900" b="1" i="1" smtClean="0">
                        <a:latin typeface="Cambria Math" panose="02040503050406030204" pitchFamily="18" charset="0"/>
                      </a:rPr>
                      <m:t>𝒓</m:t>
                    </m:r>
                  </m:oMath>
                </a14:m>
                <a:r>
                  <a:rPr lang="en-IN" sz="1900" b="1" dirty="0">
                    <a:latin typeface="Century Schoolbook" panose="02040604050505020304" pitchFamily="18" charset="0"/>
                  </a:rPr>
                  <a:t> = Distance between the two charges (in meters, m)</a:t>
                </a:r>
              </a:p>
              <a:p>
                <a:pPr marL="285750" indent="-285750" algn="l">
                  <a:buFont typeface="Arial" panose="020B0604020202020204" pitchFamily="34" charset="0"/>
                  <a:buChar char="•"/>
                </a:pPr>
                <a14:m>
                  <m:oMath xmlns:m="http://schemas.openxmlformats.org/officeDocument/2006/math">
                    <m:r>
                      <a:rPr lang="en-IN" sz="1900" b="1" i="1" smtClean="0">
                        <a:latin typeface="Cambria Math" panose="02040503050406030204" pitchFamily="18" charset="0"/>
                      </a:rPr>
                      <m:t>𝒌</m:t>
                    </m:r>
                  </m:oMath>
                </a14:m>
                <a:r>
                  <a:rPr lang="en-IN" sz="1900" b="1" dirty="0">
                    <a:latin typeface="Century Schoolbook" panose="02040604050505020304" pitchFamily="18" charset="0"/>
                  </a:rPr>
                  <a:t> = Coulomb’s constant = </a:t>
                </a:r>
                <a14:m>
                  <m:oMath xmlns:m="http://schemas.openxmlformats.org/officeDocument/2006/math">
                    <m:f>
                      <m:fPr>
                        <m:ctrlPr>
                          <a:rPr lang="ar-AE" sz="1900" b="1" i="1">
                            <a:latin typeface="Cambria Math" panose="02040503050406030204" pitchFamily="18" charset="0"/>
                          </a:rPr>
                        </m:ctrlPr>
                      </m:fPr>
                      <m:num>
                        <m:r>
                          <a:rPr lang="ar-AE" sz="1900" b="1" i="1" smtClean="0">
                            <a:latin typeface="Cambria Math" panose="02040503050406030204" pitchFamily="18" charset="0"/>
                          </a:rPr>
                          <m:t>𝟏</m:t>
                        </m:r>
                      </m:num>
                      <m:den>
                        <m:r>
                          <a:rPr lang="ar-AE" sz="1900" b="1" i="1" smtClean="0">
                            <a:latin typeface="Cambria Math" panose="02040503050406030204" pitchFamily="18" charset="0"/>
                          </a:rPr>
                          <m:t>𝟒</m:t>
                        </m:r>
                        <m:r>
                          <a:rPr lang="ar-AE" sz="1900" b="1" i="1" smtClean="0">
                            <a:latin typeface="Cambria Math" panose="02040503050406030204" pitchFamily="18" charset="0"/>
                          </a:rPr>
                          <m:t>𝝅</m:t>
                        </m:r>
                        <m:sSub>
                          <m:sSubPr>
                            <m:ctrlPr>
                              <a:rPr lang="ar-AE" sz="1900" b="1" i="1">
                                <a:latin typeface="Cambria Math" panose="02040503050406030204" pitchFamily="18" charset="0"/>
                              </a:rPr>
                            </m:ctrlPr>
                          </m:sSubPr>
                          <m:e>
                            <m:r>
                              <a:rPr lang="ar-AE" sz="1900" b="1" i="1" smtClean="0">
                                <a:latin typeface="Cambria Math" panose="02040503050406030204" pitchFamily="18" charset="0"/>
                              </a:rPr>
                              <m:t>𝜺</m:t>
                            </m:r>
                          </m:e>
                          <m:sub>
                            <m:r>
                              <a:rPr lang="ar-AE" sz="1900" b="1" i="1" smtClean="0">
                                <a:latin typeface="Cambria Math" panose="02040503050406030204" pitchFamily="18" charset="0"/>
                              </a:rPr>
                              <m:t>𝟎</m:t>
                            </m:r>
                          </m:sub>
                        </m:sSub>
                      </m:den>
                    </m:f>
                    <m:r>
                      <a:rPr lang="ar-AE" sz="1900" b="1" smtClean="0">
                        <a:latin typeface="Cambria Math" panose="02040503050406030204" pitchFamily="18" charset="0"/>
                      </a:rPr>
                      <m:t>=</m:t>
                    </m:r>
                    <m:r>
                      <a:rPr lang="ar-AE" sz="1900" b="1" i="1" smtClean="0">
                        <a:latin typeface="Cambria Math" panose="02040503050406030204" pitchFamily="18" charset="0"/>
                      </a:rPr>
                      <m:t>𝟗</m:t>
                    </m:r>
                    <m:r>
                      <a:rPr lang="ar-AE" sz="1900" b="1" smtClean="0">
                        <a:latin typeface="Cambria Math" panose="02040503050406030204" pitchFamily="18" charset="0"/>
                      </a:rPr>
                      <m:t>×</m:t>
                    </m:r>
                    <m:sSup>
                      <m:sSupPr>
                        <m:ctrlPr>
                          <a:rPr lang="ar-AE" sz="1900" b="1" i="1">
                            <a:latin typeface="Cambria Math" panose="02040503050406030204" pitchFamily="18" charset="0"/>
                          </a:rPr>
                        </m:ctrlPr>
                      </m:sSupPr>
                      <m:e>
                        <m:r>
                          <a:rPr lang="ar-AE" sz="1900" b="1" i="1" smtClean="0">
                            <a:latin typeface="Cambria Math" panose="02040503050406030204" pitchFamily="18" charset="0"/>
                          </a:rPr>
                          <m:t>𝟏𝟎</m:t>
                        </m:r>
                      </m:e>
                      <m:sup>
                        <m:r>
                          <a:rPr lang="ar-AE" sz="1900" b="1" i="1" smtClean="0">
                            <a:latin typeface="Cambria Math" panose="02040503050406030204" pitchFamily="18" charset="0"/>
                          </a:rPr>
                          <m:t>𝟗</m:t>
                        </m:r>
                      </m:sup>
                    </m:sSup>
                    <m:r>
                      <m:rPr>
                        <m:nor/>
                      </m:rPr>
                      <a:rPr lang="ar-AE" sz="1900" b="1" i="1">
                        <a:latin typeface="Century Schoolbook" panose="02040604050505020304" pitchFamily="18" charset="0"/>
                      </a:rPr>
                      <m:t> </m:t>
                    </m:r>
                    <m:sSup>
                      <m:sSupPr>
                        <m:ctrlPr>
                          <a:rPr lang="ar-AE" sz="1900" b="1" i="1">
                            <a:latin typeface="Cambria Math" panose="02040503050406030204" pitchFamily="18" charset="0"/>
                          </a:rPr>
                        </m:ctrlPr>
                      </m:sSupPr>
                      <m:e>
                        <m:r>
                          <m:rPr>
                            <m:nor/>
                          </m:rPr>
                          <a:rPr lang="en-IN" sz="1900" b="1" i="1">
                            <a:latin typeface="Century Schoolbook" panose="02040604050505020304" pitchFamily="18" charset="0"/>
                          </a:rPr>
                          <m:t>N</m:t>
                        </m:r>
                        <m:r>
                          <m:rPr>
                            <m:nor/>
                          </m:rPr>
                          <a:rPr lang="en-IN" sz="1900" b="1" i="1">
                            <a:latin typeface="Century Schoolbook" panose="02040604050505020304" pitchFamily="18" charset="0"/>
                          </a:rPr>
                          <m:t>\</m:t>
                        </m:r>
                        <m:r>
                          <m:rPr>
                            <m:nor/>
                          </m:rPr>
                          <a:rPr lang="en-IN" sz="1900" b="1" i="1">
                            <a:latin typeface="Century Schoolbook" panose="02040604050505020304" pitchFamily="18" charset="0"/>
                          </a:rPr>
                          <m:t>cdotpm</m:t>
                        </m:r>
                      </m:e>
                      <m:sup>
                        <m:r>
                          <a:rPr lang="ar-AE" sz="1900" b="1" i="1" smtClean="0">
                            <a:latin typeface="Cambria Math" panose="02040503050406030204" pitchFamily="18" charset="0"/>
                          </a:rPr>
                          <m:t>𝟐</m:t>
                        </m:r>
                      </m:sup>
                    </m:sSup>
                    <m:r>
                      <a:rPr lang="ar-AE" sz="1900" b="1" smtClean="0">
                        <a:latin typeface="Cambria Math" panose="02040503050406030204" pitchFamily="18" charset="0"/>
                      </a:rPr>
                      <m:t>/</m:t>
                    </m:r>
                    <m:sSup>
                      <m:sSupPr>
                        <m:ctrlPr>
                          <a:rPr lang="ar-AE" sz="1900" b="1" i="1">
                            <a:latin typeface="Cambria Math" panose="02040503050406030204" pitchFamily="18" charset="0"/>
                          </a:rPr>
                        </m:ctrlPr>
                      </m:sSupPr>
                      <m:e>
                        <m:r>
                          <m:rPr>
                            <m:nor/>
                          </m:rPr>
                          <a:rPr lang="en-IN" sz="1900" b="1" i="1">
                            <a:latin typeface="Century Schoolbook" panose="02040604050505020304" pitchFamily="18" charset="0"/>
                          </a:rPr>
                          <m:t>C</m:t>
                        </m:r>
                      </m:e>
                      <m:sup>
                        <m:r>
                          <a:rPr lang="ar-AE" sz="1900" b="1" i="1" smtClean="0">
                            <a:latin typeface="Cambria Math" panose="02040503050406030204" pitchFamily="18" charset="0"/>
                          </a:rPr>
                          <m:t>𝟐</m:t>
                        </m:r>
                      </m:sup>
                    </m:sSup>
                  </m:oMath>
                </a14:m>
                <a:endParaRPr lang="en-IN" b="1" dirty="0">
                  <a:latin typeface="Century Schoolbook" panose="02040604050505020304" pitchFamily="18" charset="0"/>
                </a:endParaRPr>
              </a:p>
              <a:p>
                <a:pPr marL="285750" indent="-285750" algn="l">
                  <a:buFont typeface="Wingdings" panose="05000000000000000000" pitchFamily="2" charset="2"/>
                  <a:buChar char="v"/>
                </a:pPr>
                <a:r>
                  <a:rPr lang="en-IN" sz="2800" b="1" u="sng" dirty="0">
                    <a:solidFill>
                      <a:srgbClr val="FFFF00"/>
                    </a:solidFill>
                    <a:latin typeface="Century Schoolbook" panose="02040604050505020304" pitchFamily="18" charset="0"/>
                  </a:rPr>
                  <a:t>Example</a:t>
                </a:r>
                <a:r>
                  <a:rPr lang="en-IN" sz="2800" b="1" dirty="0">
                    <a:solidFill>
                      <a:srgbClr val="FFFF00"/>
                    </a:solidFill>
                    <a:latin typeface="Century Schoolbook" panose="02040604050505020304" pitchFamily="18" charset="0"/>
                  </a:rPr>
                  <a:t> : -</a:t>
                </a:r>
              </a:p>
              <a:p>
                <a:pPr algn="l"/>
                <a:r>
                  <a:rPr lang="en-IN" sz="1900" b="1" dirty="0">
                    <a:latin typeface="Century Schoolbook" panose="02040604050505020304" pitchFamily="18" charset="0"/>
                  </a:rPr>
                  <a:t>If two charges </a:t>
                </a:r>
                <a14:m>
                  <m:oMath xmlns:m="http://schemas.openxmlformats.org/officeDocument/2006/math">
                    <m:r>
                      <a:rPr lang="en-IN" sz="1900" b="1" smtClean="0">
                        <a:latin typeface="Cambria Math" panose="02040503050406030204" pitchFamily="18" charset="0"/>
                      </a:rPr>
                      <m:t>+</m:t>
                    </m:r>
                    <m:r>
                      <a:rPr lang="en-IN" sz="1900" b="1" i="1" smtClean="0">
                        <a:latin typeface="Cambria Math" panose="02040503050406030204" pitchFamily="18" charset="0"/>
                      </a:rPr>
                      <m:t>𝟐</m:t>
                    </m:r>
                    <m:r>
                      <m:rPr>
                        <m:nor/>
                      </m:rPr>
                      <a:rPr lang="en-IN" sz="1900" b="1" i="1">
                        <a:latin typeface="Century Schoolbook" panose="02040604050505020304" pitchFamily="18" charset="0"/>
                      </a:rPr>
                      <m:t> </m:t>
                    </m:r>
                    <m:r>
                      <m:rPr>
                        <m:nor/>
                      </m:rPr>
                      <a:rPr lang="en-IN" sz="1900" b="1" i="1">
                        <a:latin typeface="Century Schoolbook" panose="02040604050505020304" pitchFamily="18" charset="0"/>
                      </a:rPr>
                      <m:t>C</m:t>
                    </m:r>
                  </m:oMath>
                </a14:m>
                <a:r>
                  <a:rPr lang="en-IN" sz="1900" b="1" dirty="0">
                    <a:latin typeface="Century Schoolbook" panose="02040604050505020304" pitchFamily="18" charset="0"/>
                  </a:rPr>
                  <a:t>and </a:t>
                </a:r>
                <a14:m>
                  <m:oMath xmlns:m="http://schemas.openxmlformats.org/officeDocument/2006/math">
                    <m:r>
                      <a:rPr lang="en-IN" sz="1900" b="1" smtClean="0">
                        <a:latin typeface="Cambria Math" panose="02040503050406030204" pitchFamily="18" charset="0"/>
                      </a:rPr>
                      <m:t>+</m:t>
                    </m:r>
                    <m:r>
                      <a:rPr lang="en-IN" sz="1900" b="1" i="1" smtClean="0">
                        <a:latin typeface="Cambria Math" panose="02040503050406030204" pitchFamily="18" charset="0"/>
                      </a:rPr>
                      <m:t>𝟑</m:t>
                    </m:r>
                    <m:r>
                      <m:rPr>
                        <m:nor/>
                      </m:rPr>
                      <a:rPr lang="en-IN" sz="1900" b="1" i="1">
                        <a:latin typeface="Century Schoolbook" panose="02040604050505020304" pitchFamily="18" charset="0"/>
                      </a:rPr>
                      <m:t> </m:t>
                    </m:r>
                    <m:r>
                      <m:rPr>
                        <m:nor/>
                      </m:rPr>
                      <a:rPr lang="en-IN" sz="1900" b="1" i="1">
                        <a:latin typeface="Century Schoolbook" panose="02040604050505020304" pitchFamily="18" charset="0"/>
                      </a:rPr>
                      <m:t>C</m:t>
                    </m:r>
                  </m:oMath>
                </a14:m>
                <a:r>
                  <a:rPr lang="en-IN" sz="1900" b="1" dirty="0">
                    <a:latin typeface="Century Schoolbook" panose="02040604050505020304" pitchFamily="18" charset="0"/>
                  </a:rPr>
                  <a:t>are placed 1 m apart in air, then </a:t>
                </a:r>
                <a14:m>
                  <m:oMath xmlns:m="http://schemas.openxmlformats.org/officeDocument/2006/math">
                    <m:r>
                      <a:rPr lang="en-IN" sz="1900" b="1" i="1" smtClean="0">
                        <a:latin typeface="Cambria Math" panose="02040503050406030204" pitchFamily="18" charset="0"/>
                      </a:rPr>
                      <m:t>𝑭</m:t>
                    </m:r>
                    <m:r>
                      <a:rPr lang="en-IN" sz="1900" b="1" smtClean="0">
                        <a:latin typeface="Cambria Math" panose="02040503050406030204" pitchFamily="18" charset="0"/>
                      </a:rPr>
                      <m:t>=</m:t>
                    </m:r>
                    <m:r>
                      <a:rPr lang="en-IN" sz="1900" b="1" i="1" smtClean="0">
                        <a:latin typeface="Cambria Math" panose="02040503050406030204" pitchFamily="18" charset="0"/>
                      </a:rPr>
                      <m:t>𝟗</m:t>
                    </m:r>
                    <m:r>
                      <a:rPr lang="en-IN" sz="1900" b="1" smtClean="0">
                        <a:latin typeface="Cambria Math" panose="02040503050406030204" pitchFamily="18" charset="0"/>
                      </a:rPr>
                      <m:t>×</m:t>
                    </m:r>
                    <m:sSup>
                      <m:sSupPr>
                        <m:ctrlPr>
                          <a:rPr lang="ar-AE" sz="1900" b="1" i="1">
                            <a:latin typeface="Cambria Math" panose="02040503050406030204" pitchFamily="18" charset="0"/>
                          </a:rPr>
                        </m:ctrlPr>
                      </m:sSupPr>
                      <m:e>
                        <m:r>
                          <a:rPr lang="ar-AE" sz="1900" b="1" i="1" smtClean="0">
                            <a:latin typeface="Cambria Math" panose="02040503050406030204" pitchFamily="18" charset="0"/>
                          </a:rPr>
                          <m:t>𝟏𝟎</m:t>
                        </m:r>
                      </m:e>
                      <m:sup>
                        <m:r>
                          <a:rPr lang="ar-AE" sz="1900" b="1" i="1" smtClean="0">
                            <a:latin typeface="Cambria Math" panose="02040503050406030204" pitchFamily="18" charset="0"/>
                          </a:rPr>
                          <m:t>𝟗</m:t>
                        </m:r>
                      </m:sup>
                    </m:sSup>
                    <m:r>
                      <a:rPr lang="ar-AE" sz="1900" b="1" smtClean="0">
                        <a:latin typeface="Cambria Math" panose="02040503050406030204" pitchFamily="18" charset="0"/>
                      </a:rPr>
                      <m:t>×</m:t>
                    </m:r>
                    <m:f>
                      <m:fPr>
                        <m:ctrlPr>
                          <a:rPr lang="ar-AE" sz="1900" b="1" i="1">
                            <a:latin typeface="Cambria Math" panose="02040503050406030204" pitchFamily="18" charset="0"/>
                          </a:rPr>
                        </m:ctrlPr>
                      </m:fPr>
                      <m:num>
                        <m:d>
                          <m:dPr>
                            <m:ctrlPr>
                              <a:rPr lang="ar-AE" sz="1900" b="1" i="1">
                                <a:latin typeface="Cambria Math" panose="02040503050406030204" pitchFamily="18" charset="0"/>
                              </a:rPr>
                            </m:ctrlPr>
                          </m:dPr>
                          <m:e>
                            <m:r>
                              <a:rPr lang="ar-AE" sz="1900" b="1" i="1" smtClean="0">
                                <a:latin typeface="Cambria Math" panose="02040503050406030204" pitchFamily="18" charset="0"/>
                              </a:rPr>
                              <m:t>𝟐</m:t>
                            </m:r>
                          </m:e>
                        </m:d>
                        <m:d>
                          <m:dPr>
                            <m:ctrlPr>
                              <a:rPr lang="ar-AE" sz="1900" b="1" i="1">
                                <a:latin typeface="Cambria Math" panose="02040503050406030204" pitchFamily="18" charset="0"/>
                              </a:rPr>
                            </m:ctrlPr>
                          </m:dPr>
                          <m:e>
                            <m:r>
                              <a:rPr lang="ar-AE" sz="1900" b="1" i="1" smtClean="0">
                                <a:latin typeface="Cambria Math" panose="02040503050406030204" pitchFamily="18" charset="0"/>
                              </a:rPr>
                              <m:t>𝟑</m:t>
                            </m:r>
                          </m:e>
                        </m:d>
                      </m:num>
                      <m:den>
                        <m:sSup>
                          <m:sSupPr>
                            <m:ctrlPr>
                              <a:rPr lang="ar-AE" sz="1900" b="1" i="1">
                                <a:latin typeface="Cambria Math" panose="02040503050406030204" pitchFamily="18" charset="0"/>
                              </a:rPr>
                            </m:ctrlPr>
                          </m:sSupPr>
                          <m:e>
                            <m:r>
                              <a:rPr lang="ar-AE" sz="1900" b="1" i="1" smtClean="0">
                                <a:latin typeface="Cambria Math" panose="02040503050406030204" pitchFamily="18" charset="0"/>
                              </a:rPr>
                              <m:t>𝟏</m:t>
                            </m:r>
                          </m:e>
                          <m:sup>
                            <m:r>
                              <a:rPr lang="ar-AE" sz="1900" b="1" i="1" smtClean="0">
                                <a:latin typeface="Cambria Math" panose="02040503050406030204" pitchFamily="18" charset="0"/>
                              </a:rPr>
                              <m:t>𝟐</m:t>
                            </m:r>
                          </m:sup>
                        </m:sSup>
                      </m:den>
                    </m:f>
                    <m:r>
                      <a:rPr lang="ar-AE" sz="1900" b="1" smtClean="0">
                        <a:latin typeface="Cambria Math" panose="02040503050406030204" pitchFamily="18" charset="0"/>
                      </a:rPr>
                      <m:t>=</m:t>
                    </m:r>
                    <m:r>
                      <a:rPr lang="ar-AE" sz="1900" b="1" i="1" smtClean="0">
                        <a:latin typeface="Cambria Math" panose="02040503050406030204" pitchFamily="18" charset="0"/>
                      </a:rPr>
                      <m:t>𝟓𝟒</m:t>
                    </m:r>
                    <m:r>
                      <a:rPr lang="ar-AE" sz="1900" b="1" smtClean="0">
                        <a:latin typeface="Cambria Math" panose="02040503050406030204" pitchFamily="18" charset="0"/>
                      </a:rPr>
                      <m:t>×</m:t>
                    </m:r>
                    <m:sSup>
                      <m:sSupPr>
                        <m:ctrlPr>
                          <a:rPr lang="ar-AE" sz="1900" b="1" i="1">
                            <a:latin typeface="Cambria Math" panose="02040503050406030204" pitchFamily="18" charset="0"/>
                          </a:rPr>
                        </m:ctrlPr>
                      </m:sSupPr>
                      <m:e>
                        <m:r>
                          <a:rPr lang="ar-AE" sz="1900" b="1" i="1" smtClean="0">
                            <a:latin typeface="Cambria Math" panose="02040503050406030204" pitchFamily="18" charset="0"/>
                          </a:rPr>
                          <m:t>𝟏𝟎</m:t>
                        </m:r>
                      </m:e>
                      <m:sup>
                        <m:r>
                          <a:rPr lang="ar-AE" sz="1900" b="1" i="1" smtClean="0">
                            <a:latin typeface="Cambria Math" panose="02040503050406030204" pitchFamily="18" charset="0"/>
                          </a:rPr>
                          <m:t>𝟗</m:t>
                        </m:r>
                      </m:sup>
                    </m:sSup>
                    <m:r>
                      <m:rPr>
                        <m:nor/>
                      </m:rPr>
                      <a:rPr lang="ar-AE" sz="1900" b="1" i="1">
                        <a:latin typeface="Century Schoolbook" panose="02040604050505020304" pitchFamily="18" charset="0"/>
                      </a:rPr>
                      <m:t> </m:t>
                    </m:r>
                    <m:r>
                      <m:rPr>
                        <m:nor/>
                      </m:rPr>
                      <a:rPr lang="en-IN" sz="1900" b="1" i="1">
                        <a:latin typeface="Century Schoolbook" panose="02040604050505020304" pitchFamily="18" charset="0"/>
                      </a:rPr>
                      <m:t>N</m:t>
                    </m:r>
                  </m:oMath>
                </a14:m>
                <a:endParaRPr lang="en-IN" sz="1900" b="1" dirty="0">
                  <a:latin typeface="Century Schoolbook" panose="02040604050505020304" pitchFamily="18" charset="0"/>
                </a:endParaRPr>
              </a:p>
              <a:p>
                <a:pPr algn="l"/>
                <a:endParaRPr lang="en-IN" b="1" dirty="0">
                  <a:latin typeface="Century Schoolbook" panose="02040604050505020304" pitchFamily="18" charset="0"/>
                </a:endParaRPr>
              </a:p>
            </p:txBody>
          </p:sp>
        </mc:Choice>
        <mc:Fallback xmlns="">
          <p:sp>
            <p:nvSpPr>
              <p:cNvPr id="3" name="Text Placeholder 2">
                <a:extLst>
                  <a:ext uri="{FF2B5EF4-FFF2-40B4-BE49-F238E27FC236}">
                    <a16:creationId xmlns:a16="http://schemas.microsoft.com/office/drawing/2014/main" id="{E82E6BCA-2E53-377C-9504-8BB4178B0362}"/>
                  </a:ext>
                </a:extLst>
              </p:cNvPr>
              <p:cNvSpPr>
                <a:spLocks noGrp="1" noRot="1" noChangeAspect="1" noMove="1" noResize="1" noEditPoints="1" noAdjustHandles="1" noChangeArrowheads="1" noChangeShapeType="1" noTextEdit="1"/>
              </p:cNvSpPr>
              <p:nvPr>
                <p:ph type="body" sz="half" idx="2"/>
              </p:nvPr>
            </p:nvSpPr>
            <p:spPr>
              <a:xfrm>
                <a:off x="196643" y="698090"/>
                <a:ext cx="11798711" cy="5958348"/>
              </a:xfrm>
              <a:blipFill>
                <a:blip r:embed="rId2"/>
                <a:stretch>
                  <a:fillRect l="-981" t="-1331"/>
                </a:stretch>
              </a:blipFill>
            </p:spPr>
            <p:txBody>
              <a:bodyPr/>
              <a:lstStyle/>
              <a:p>
                <a:r>
                  <a:rPr lang="en-IN">
                    <a:noFill/>
                  </a:rPr>
                  <a:t> </a:t>
                </a:r>
              </a:p>
            </p:txBody>
          </p:sp>
        </mc:Fallback>
      </mc:AlternateContent>
    </p:spTree>
    <p:extLst>
      <p:ext uri="{BB962C8B-B14F-4D97-AF65-F5344CB8AC3E}">
        <p14:creationId xmlns:p14="http://schemas.microsoft.com/office/powerpoint/2010/main" val="2363122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7FE4E-D6B0-EE1F-94B2-FDE6EFA0DD2F}"/>
              </a:ext>
            </a:extLst>
          </p:cNvPr>
          <p:cNvSpPr>
            <a:spLocks noGrp="1"/>
          </p:cNvSpPr>
          <p:nvPr>
            <p:ph type="title"/>
          </p:nvPr>
        </p:nvSpPr>
        <p:spPr>
          <a:xfrm>
            <a:off x="28892" y="-74516"/>
            <a:ext cx="10353762" cy="959420"/>
          </a:xfrm>
        </p:spPr>
        <p:txBody>
          <a:bodyPr>
            <a:normAutofit fontScale="90000"/>
          </a:bodyPr>
          <a:lstStyle/>
          <a:p>
            <a:pPr algn="l"/>
            <a:r>
              <a:rPr lang="en-US" sz="4800" b="0" dirty="0">
                <a:solidFill>
                  <a:srgbClr val="FFFF00"/>
                </a:solidFill>
                <a:latin typeface="Algerian" panose="04020705040A02060702" pitchFamily="82" charset="0"/>
              </a:rPr>
              <a:t>3.3] </a:t>
            </a:r>
            <a:r>
              <a:rPr lang="en-US" sz="4800" b="0" u="sng" dirty="0">
                <a:solidFill>
                  <a:srgbClr val="FFFF00"/>
                </a:solidFill>
                <a:latin typeface="Algerian" panose="04020705040A02060702" pitchFamily="82" charset="0"/>
              </a:rPr>
              <a:t>Definition of electric field</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19248E1-36A2-8C70-2D1E-EDFF1CDFC25E}"/>
                  </a:ext>
                </a:extLst>
              </p:cNvPr>
              <p:cNvSpPr>
                <a:spLocks noGrp="1"/>
              </p:cNvSpPr>
              <p:nvPr>
                <p:ph type="body" sz="half" idx="2"/>
              </p:nvPr>
            </p:nvSpPr>
            <p:spPr>
              <a:xfrm>
                <a:off x="98323" y="580104"/>
                <a:ext cx="11798710" cy="6277896"/>
              </a:xfrm>
            </p:spPr>
            <p:txBody>
              <a:bodyPr>
                <a:normAutofit/>
              </a:bodyPr>
              <a:lstStyle/>
              <a:p>
                <a:pPr marL="285750" indent="-285750" algn="l">
                  <a:buFont typeface="Wingdings" panose="05000000000000000000" pitchFamily="2" charset="2"/>
                  <a:buChar char="v"/>
                </a:pPr>
                <a:r>
                  <a:rPr lang="en-IN" sz="2800" b="1" u="sng" dirty="0">
                    <a:solidFill>
                      <a:srgbClr val="FFFF00"/>
                    </a:solidFill>
                    <a:latin typeface="Century Schoolbook" panose="02040604050505020304" pitchFamily="18" charset="0"/>
                  </a:rPr>
                  <a:t>Definition</a:t>
                </a:r>
                <a:r>
                  <a:rPr lang="en-IN" sz="2800" b="1" dirty="0">
                    <a:solidFill>
                      <a:srgbClr val="FFFF00"/>
                    </a:solidFill>
                    <a:latin typeface="Century Schoolbook" panose="02040604050505020304" pitchFamily="18" charset="0"/>
                  </a:rPr>
                  <a:t> : - </a:t>
                </a:r>
                <a:r>
                  <a:rPr lang="en-IN" sz="2000" b="1" dirty="0">
                    <a:latin typeface="Century Schoolbook" panose="02040604050505020304" pitchFamily="18" charset="0"/>
                  </a:rPr>
                  <a:t>The electric field at a point is defined as the force experienced per unit positive charge placed at that point.</a:t>
                </a:r>
              </a:p>
              <a:p>
                <a:pPr marL="285750" indent="-285750" algn="l">
                  <a:buFont typeface="Wingdings" panose="05000000000000000000" pitchFamily="2" charset="2"/>
                  <a:buChar char="v"/>
                </a:pPr>
                <a:r>
                  <a:rPr lang="en-IN" sz="2400" b="1" u="sng" dirty="0">
                    <a:solidFill>
                      <a:srgbClr val="FFFF00"/>
                    </a:solidFill>
                    <a:latin typeface="Century Schoolbook" panose="02040604050505020304" pitchFamily="18" charset="0"/>
                  </a:rPr>
                  <a:t>Mathematical Expression</a:t>
                </a:r>
                <a:r>
                  <a:rPr lang="en-IN" sz="2400" b="1" dirty="0">
                    <a:solidFill>
                      <a:srgbClr val="FFFF00"/>
                    </a:solidFill>
                    <a:latin typeface="Century Schoolbook" panose="02040604050505020304" pitchFamily="18" charset="0"/>
                  </a:rPr>
                  <a:t> : </a:t>
                </a:r>
                <a14:m>
                  <m:oMath xmlns:m="http://schemas.openxmlformats.org/officeDocument/2006/math">
                    <m:r>
                      <a:rPr lang="en-IN" sz="2400" b="1" i="1" smtClean="0">
                        <a:latin typeface="Cambria Math" panose="02040503050406030204" pitchFamily="18" charset="0"/>
                      </a:rPr>
                      <m:t>𝑬</m:t>
                    </m:r>
                    <m:r>
                      <a:rPr lang="en-IN" sz="2400" b="1" smtClean="0">
                        <a:latin typeface="Cambria Math" panose="02040503050406030204" pitchFamily="18" charset="0"/>
                      </a:rPr>
                      <m:t>=</m:t>
                    </m:r>
                    <m:f>
                      <m:fPr>
                        <m:ctrlPr>
                          <a:rPr lang="ar-AE" sz="2400" b="1" i="1">
                            <a:latin typeface="Cambria Math" panose="02040503050406030204" pitchFamily="18" charset="0"/>
                          </a:rPr>
                        </m:ctrlPr>
                      </m:fPr>
                      <m:num>
                        <m:r>
                          <a:rPr lang="ar-AE" sz="2400" b="1" i="1" smtClean="0">
                            <a:latin typeface="Cambria Math" panose="02040503050406030204" pitchFamily="18" charset="0"/>
                          </a:rPr>
                          <m:t>𝑭</m:t>
                        </m:r>
                      </m:num>
                      <m:den>
                        <m:r>
                          <a:rPr lang="ar-AE" sz="2400" b="1" i="1" smtClean="0">
                            <a:latin typeface="Cambria Math" panose="02040503050406030204" pitchFamily="18" charset="0"/>
                          </a:rPr>
                          <m:t>𝒒</m:t>
                        </m:r>
                      </m:den>
                    </m:f>
                  </m:oMath>
                </a14:m>
                <a:endParaRPr lang="ar-AE" b="1" dirty="0">
                  <a:latin typeface="Century Schoolbook" panose="02040604050505020304" pitchFamily="18" charset="0"/>
                </a:endParaRPr>
              </a:p>
              <a:p>
                <a:pPr algn="l"/>
                <a:r>
                  <a:rPr lang="en-IN" sz="2000" b="1" dirty="0">
                    <a:latin typeface="Century Schoolbook" panose="02040604050505020304" pitchFamily="18" charset="0"/>
                  </a:rPr>
                  <a:t>Where,</a:t>
                </a:r>
              </a:p>
              <a:p>
                <a:pPr marL="342900" indent="-342900" algn="l">
                  <a:buFont typeface="Arial" panose="020B0604020202020204" pitchFamily="34" charset="0"/>
                  <a:buChar char="•"/>
                </a:pPr>
                <a14:m>
                  <m:oMath xmlns:m="http://schemas.openxmlformats.org/officeDocument/2006/math">
                    <m:r>
                      <a:rPr lang="en-IN" sz="2000" b="1" i="1" smtClean="0">
                        <a:latin typeface="Cambria Math" panose="02040503050406030204" pitchFamily="18" charset="0"/>
                      </a:rPr>
                      <m:t>𝑬</m:t>
                    </m:r>
                  </m:oMath>
                </a14:m>
                <a:r>
                  <a:rPr lang="en-IN" sz="2000" b="1" dirty="0">
                    <a:latin typeface="Century Schoolbook" panose="02040604050505020304" pitchFamily="18" charset="0"/>
                  </a:rPr>
                  <a:t>= Electric field intensity (in N/C)</a:t>
                </a:r>
              </a:p>
              <a:p>
                <a:pPr marL="342900" indent="-342900" algn="l">
                  <a:buFont typeface="Arial" panose="020B0604020202020204" pitchFamily="34" charset="0"/>
                  <a:buChar char="•"/>
                </a:pPr>
                <a14:m>
                  <m:oMath xmlns:m="http://schemas.openxmlformats.org/officeDocument/2006/math">
                    <m:r>
                      <a:rPr lang="en-IN" sz="2000" b="1" i="1" smtClean="0">
                        <a:latin typeface="Cambria Math" panose="02040503050406030204" pitchFamily="18" charset="0"/>
                      </a:rPr>
                      <m:t>𝑭</m:t>
                    </m:r>
                  </m:oMath>
                </a14:m>
                <a:r>
                  <a:rPr lang="en-IN" sz="2000" b="1" dirty="0">
                    <a:latin typeface="Century Schoolbook" panose="02040604050505020304" pitchFamily="18" charset="0"/>
                  </a:rPr>
                  <a:t>= Force experienced by the charge (in N)</a:t>
                </a:r>
              </a:p>
              <a:p>
                <a:pPr marL="342900" indent="-342900" algn="l">
                  <a:buFont typeface="Arial" panose="020B0604020202020204" pitchFamily="34" charset="0"/>
                  <a:buChar char="•"/>
                </a:pPr>
                <a14:m>
                  <m:oMath xmlns:m="http://schemas.openxmlformats.org/officeDocument/2006/math">
                    <m:r>
                      <a:rPr lang="en-IN" sz="2000" b="1" i="1" smtClean="0">
                        <a:latin typeface="Cambria Math" panose="02040503050406030204" pitchFamily="18" charset="0"/>
                      </a:rPr>
                      <m:t>𝒒</m:t>
                    </m:r>
                  </m:oMath>
                </a14:m>
                <a:r>
                  <a:rPr lang="en-IN" sz="2000" b="1" dirty="0">
                    <a:latin typeface="Century Schoolbook" panose="02040604050505020304" pitchFamily="18" charset="0"/>
                  </a:rPr>
                  <a:t>= Magnitude of the test charge (in C)</a:t>
                </a:r>
              </a:p>
              <a:p>
                <a:pPr algn="l"/>
                <a:r>
                  <a:rPr lang="en-IN" sz="2000" b="1" dirty="0">
                    <a:latin typeface="Century Schoolbook" panose="02040604050505020304" pitchFamily="18" charset="0"/>
                  </a:rPr>
                  <a:t>Unit of Electric Field : </a:t>
                </a:r>
                <a14:m>
                  <m:oMath xmlns:m="http://schemas.openxmlformats.org/officeDocument/2006/math">
                    <m:r>
                      <m:rPr>
                        <m:nor/>
                      </m:rPr>
                      <a:rPr lang="en-IN" sz="2000" b="1" smtClean="0">
                        <a:solidFill>
                          <a:srgbClr val="FFFF00"/>
                        </a:solidFill>
                        <a:latin typeface="Century Schoolbook" panose="02040604050505020304" pitchFamily="18" charset="0"/>
                      </a:rPr>
                      <m:t>Newton</m:t>
                    </m:r>
                    <m:r>
                      <m:rPr>
                        <m:nor/>
                      </m:rPr>
                      <a:rPr lang="en-IN" sz="2000" b="1" i="1" smtClean="0">
                        <a:solidFill>
                          <a:srgbClr val="FFFF00"/>
                        </a:solidFill>
                        <a:latin typeface="Century Schoolbook" panose="02040604050505020304" pitchFamily="18" charset="0"/>
                      </a:rPr>
                      <m:t> </m:t>
                    </m:r>
                    <m:r>
                      <m:rPr>
                        <m:nor/>
                      </m:rPr>
                      <a:rPr lang="en-IN" sz="2000" b="1" i="1" smtClean="0">
                        <a:solidFill>
                          <a:srgbClr val="FFFF00"/>
                        </a:solidFill>
                        <a:latin typeface="Century Schoolbook" panose="02040604050505020304" pitchFamily="18" charset="0"/>
                      </a:rPr>
                      <m:t>per</m:t>
                    </m:r>
                    <m:r>
                      <m:rPr>
                        <m:nor/>
                      </m:rPr>
                      <a:rPr lang="en-IN" sz="2000" b="1" i="1" smtClean="0">
                        <a:solidFill>
                          <a:srgbClr val="FFFF00"/>
                        </a:solidFill>
                        <a:latin typeface="Century Schoolbook" panose="02040604050505020304" pitchFamily="18" charset="0"/>
                      </a:rPr>
                      <m:t> </m:t>
                    </m:r>
                    <m:r>
                      <m:rPr>
                        <m:nor/>
                      </m:rPr>
                      <a:rPr lang="en-IN" sz="2000" b="1" i="1" smtClean="0">
                        <a:solidFill>
                          <a:srgbClr val="FFFF00"/>
                        </a:solidFill>
                        <a:latin typeface="Century Schoolbook" panose="02040604050505020304" pitchFamily="18" charset="0"/>
                      </a:rPr>
                      <m:t>Coulomb</m:t>
                    </m:r>
                    <m:r>
                      <m:rPr>
                        <m:nor/>
                      </m:rPr>
                      <a:rPr lang="en-IN" sz="2000" b="1" i="1" smtClean="0">
                        <a:solidFill>
                          <a:srgbClr val="FFFF00"/>
                        </a:solidFill>
                        <a:latin typeface="Century Schoolbook" panose="02040604050505020304" pitchFamily="18" charset="0"/>
                      </a:rPr>
                      <m:t> (</m:t>
                    </m:r>
                    <m:r>
                      <m:rPr>
                        <m:nor/>
                      </m:rPr>
                      <a:rPr lang="en-IN" sz="2000" b="1" i="1" smtClean="0">
                        <a:solidFill>
                          <a:srgbClr val="FFFF00"/>
                        </a:solidFill>
                        <a:latin typeface="Century Schoolbook" panose="02040604050505020304" pitchFamily="18" charset="0"/>
                      </a:rPr>
                      <m:t>N</m:t>
                    </m:r>
                    <m:r>
                      <m:rPr>
                        <m:nor/>
                      </m:rPr>
                      <a:rPr lang="en-IN" sz="2000" b="1" i="1" smtClean="0">
                        <a:solidFill>
                          <a:srgbClr val="FFFF00"/>
                        </a:solidFill>
                        <a:latin typeface="Century Schoolbook" panose="02040604050505020304" pitchFamily="18" charset="0"/>
                      </a:rPr>
                      <m:t>/</m:t>
                    </m:r>
                    <m:r>
                      <m:rPr>
                        <m:nor/>
                      </m:rPr>
                      <a:rPr lang="en-IN" sz="2000" b="1" i="1" smtClean="0">
                        <a:solidFill>
                          <a:srgbClr val="FFFF00"/>
                        </a:solidFill>
                        <a:latin typeface="Century Schoolbook" panose="02040604050505020304" pitchFamily="18" charset="0"/>
                      </a:rPr>
                      <m:t>C</m:t>
                    </m:r>
                    <m:r>
                      <m:rPr>
                        <m:nor/>
                      </m:rPr>
                      <a:rPr lang="en-IN" sz="2000" b="1" i="1" smtClean="0">
                        <a:solidFill>
                          <a:srgbClr val="FFFF00"/>
                        </a:solidFill>
                        <a:latin typeface="Century Schoolbook" panose="02040604050505020304" pitchFamily="18" charset="0"/>
                      </a:rPr>
                      <m:t>)</m:t>
                    </m:r>
                    <m:r>
                      <a:rPr lang="en-IN" sz="2000" b="1" smtClean="0">
                        <a:solidFill>
                          <a:srgbClr val="FFFF00"/>
                        </a:solidFill>
                        <a:latin typeface="Cambria Math" panose="02040503050406030204" pitchFamily="18" charset="0"/>
                      </a:rPr>
                      <m:t> </m:t>
                    </m:r>
                    <m:r>
                      <m:rPr>
                        <m:nor/>
                      </m:rPr>
                      <a:rPr lang="en-IN" sz="2000" b="1" i="1">
                        <a:solidFill>
                          <a:srgbClr val="FFFF00"/>
                        </a:solidFill>
                        <a:latin typeface="Century Schoolbook" panose="02040604050505020304" pitchFamily="18" charset="0"/>
                      </a:rPr>
                      <m:t>or</m:t>
                    </m:r>
                    <m:r>
                      <a:rPr lang="en-IN" sz="2000" b="1" smtClean="0">
                        <a:solidFill>
                          <a:srgbClr val="FFFF00"/>
                        </a:solidFill>
                        <a:latin typeface="Cambria Math" panose="02040503050406030204" pitchFamily="18" charset="0"/>
                      </a:rPr>
                      <m:t> </m:t>
                    </m:r>
                    <m:r>
                      <m:rPr>
                        <m:nor/>
                      </m:rPr>
                      <a:rPr lang="en-IN" sz="2000" b="1" i="1">
                        <a:solidFill>
                          <a:srgbClr val="FFFF00"/>
                        </a:solidFill>
                        <a:latin typeface="Century Schoolbook" panose="02040604050505020304" pitchFamily="18" charset="0"/>
                      </a:rPr>
                      <m:t>Volt</m:t>
                    </m:r>
                    <m:r>
                      <m:rPr>
                        <m:nor/>
                      </m:rPr>
                      <a:rPr lang="en-IN" sz="2000" b="1" i="1">
                        <a:solidFill>
                          <a:srgbClr val="FFFF00"/>
                        </a:solidFill>
                        <a:latin typeface="Century Schoolbook" panose="02040604050505020304" pitchFamily="18" charset="0"/>
                      </a:rPr>
                      <m:t> </m:t>
                    </m:r>
                    <m:r>
                      <m:rPr>
                        <m:nor/>
                      </m:rPr>
                      <a:rPr lang="en-IN" sz="2000" b="1" i="1">
                        <a:solidFill>
                          <a:srgbClr val="FFFF00"/>
                        </a:solidFill>
                        <a:latin typeface="Century Schoolbook" panose="02040604050505020304" pitchFamily="18" charset="0"/>
                      </a:rPr>
                      <m:t>per</m:t>
                    </m:r>
                    <m:r>
                      <m:rPr>
                        <m:nor/>
                      </m:rPr>
                      <a:rPr lang="en-IN" sz="2000" b="1" i="1">
                        <a:solidFill>
                          <a:srgbClr val="FFFF00"/>
                        </a:solidFill>
                        <a:latin typeface="Century Schoolbook" panose="02040604050505020304" pitchFamily="18" charset="0"/>
                      </a:rPr>
                      <m:t> </m:t>
                    </m:r>
                    <m:r>
                      <m:rPr>
                        <m:nor/>
                      </m:rPr>
                      <a:rPr lang="en-IN" sz="2000" b="1" i="1">
                        <a:solidFill>
                          <a:srgbClr val="FFFF00"/>
                        </a:solidFill>
                        <a:latin typeface="Century Schoolbook" panose="02040604050505020304" pitchFamily="18" charset="0"/>
                      </a:rPr>
                      <m:t>meter</m:t>
                    </m:r>
                    <m:r>
                      <m:rPr>
                        <m:nor/>
                      </m:rPr>
                      <a:rPr lang="en-IN" sz="2000" b="1" i="1">
                        <a:solidFill>
                          <a:srgbClr val="FFFF00"/>
                        </a:solidFill>
                        <a:latin typeface="Century Schoolbook" panose="02040604050505020304" pitchFamily="18" charset="0"/>
                      </a:rPr>
                      <m:t> (</m:t>
                    </m:r>
                    <m:r>
                      <m:rPr>
                        <m:nor/>
                      </m:rPr>
                      <a:rPr lang="en-IN" sz="2000" b="1" i="1">
                        <a:solidFill>
                          <a:srgbClr val="FFFF00"/>
                        </a:solidFill>
                        <a:latin typeface="Century Schoolbook" panose="02040604050505020304" pitchFamily="18" charset="0"/>
                      </a:rPr>
                      <m:t>V</m:t>
                    </m:r>
                    <m:r>
                      <m:rPr>
                        <m:nor/>
                      </m:rPr>
                      <a:rPr lang="en-IN" sz="2000" b="1" i="1">
                        <a:solidFill>
                          <a:srgbClr val="FFFF00"/>
                        </a:solidFill>
                        <a:latin typeface="Century Schoolbook" panose="02040604050505020304" pitchFamily="18" charset="0"/>
                      </a:rPr>
                      <m:t>/</m:t>
                    </m:r>
                    <m:r>
                      <m:rPr>
                        <m:nor/>
                      </m:rPr>
                      <a:rPr lang="en-IN" sz="2000" b="1" i="1">
                        <a:solidFill>
                          <a:srgbClr val="FFFF00"/>
                        </a:solidFill>
                        <a:latin typeface="Century Schoolbook" panose="02040604050505020304" pitchFamily="18" charset="0"/>
                      </a:rPr>
                      <m:t>m</m:t>
                    </m:r>
                    <m:r>
                      <m:rPr>
                        <m:nor/>
                      </m:rPr>
                      <a:rPr lang="en-IN" sz="2000" b="1" i="1">
                        <a:solidFill>
                          <a:srgbClr val="FFFF00"/>
                        </a:solidFill>
                        <a:latin typeface="Century Schoolbook" panose="02040604050505020304" pitchFamily="18" charset="0"/>
                      </a:rPr>
                      <m:t>)</m:t>
                    </m:r>
                  </m:oMath>
                </a14:m>
                <a:endParaRPr lang="en-US" sz="2000" b="1" dirty="0">
                  <a:solidFill>
                    <a:srgbClr val="FFFF00"/>
                  </a:solidFill>
                  <a:latin typeface="Century Schoolbook" panose="02040604050505020304" pitchFamily="18" charset="0"/>
                </a:endParaRPr>
              </a:p>
              <a:p>
                <a:pPr marL="285750" indent="-285750" algn="l">
                  <a:buFont typeface="Wingdings" panose="05000000000000000000" pitchFamily="2" charset="2"/>
                  <a:buChar char="v"/>
                </a:pPr>
                <a:r>
                  <a:rPr lang="en-IN" sz="2800" b="1" u="sng" dirty="0">
                    <a:solidFill>
                      <a:srgbClr val="FFFF00"/>
                    </a:solidFill>
                    <a:latin typeface="Century Schoolbook" panose="02040604050505020304" pitchFamily="18" charset="0"/>
                  </a:rPr>
                  <a:t>Example</a:t>
                </a:r>
                <a:r>
                  <a:rPr lang="en-IN" sz="2800" b="1" dirty="0">
                    <a:solidFill>
                      <a:srgbClr val="FFFF00"/>
                    </a:solidFill>
                    <a:latin typeface="Century Schoolbook" panose="02040604050505020304" pitchFamily="18" charset="0"/>
                  </a:rPr>
                  <a:t> : -</a:t>
                </a:r>
              </a:p>
              <a:p>
                <a:pPr marL="342900" indent="-342900" algn="l">
                  <a:buFont typeface="Arial" panose="020B0604020202020204" pitchFamily="34" charset="0"/>
                  <a:buChar char="•"/>
                </a:pPr>
                <a:r>
                  <a:rPr lang="en-IN" sz="2000" b="1" dirty="0">
                    <a:latin typeface="Century Schoolbook" panose="02040604050505020304" pitchFamily="18" charset="0"/>
                  </a:rPr>
                  <a:t>If a force of 2 N acts on a charge of 1 C, then </a:t>
                </a:r>
                <a14:m>
                  <m:oMath xmlns:m="http://schemas.openxmlformats.org/officeDocument/2006/math">
                    <m:r>
                      <a:rPr lang="en-IN" sz="2000" b="1" i="1" smtClean="0">
                        <a:solidFill>
                          <a:srgbClr val="FFFF00"/>
                        </a:solidFill>
                        <a:latin typeface="Cambria Math" panose="02040503050406030204" pitchFamily="18" charset="0"/>
                      </a:rPr>
                      <m:t>𝑬</m:t>
                    </m:r>
                    <m:r>
                      <a:rPr lang="en-IN" sz="2000" b="1" smtClean="0">
                        <a:solidFill>
                          <a:srgbClr val="FFFF00"/>
                        </a:solidFill>
                        <a:latin typeface="Cambria Math" panose="02040503050406030204" pitchFamily="18" charset="0"/>
                      </a:rPr>
                      <m:t>=</m:t>
                    </m:r>
                    <m:f>
                      <m:fPr>
                        <m:ctrlPr>
                          <a:rPr lang="ar-AE" sz="2000" b="1" i="1">
                            <a:solidFill>
                              <a:srgbClr val="FFFF00"/>
                            </a:solidFill>
                            <a:latin typeface="Cambria Math" panose="02040503050406030204" pitchFamily="18" charset="0"/>
                          </a:rPr>
                        </m:ctrlPr>
                      </m:fPr>
                      <m:num>
                        <m:r>
                          <a:rPr lang="ar-AE" sz="2000" b="1" i="1" smtClean="0">
                            <a:solidFill>
                              <a:srgbClr val="FFFF00"/>
                            </a:solidFill>
                            <a:latin typeface="Cambria Math" panose="02040503050406030204" pitchFamily="18" charset="0"/>
                          </a:rPr>
                          <m:t>𝑭</m:t>
                        </m:r>
                      </m:num>
                      <m:den>
                        <m:r>
                          <a:rPr lang="ar-AE" sz="2000" b="1" i="1" smtClean="0">
                            <a:solidFill>
                              <a:srgbClr val="FFFF00"/>
                            </a:solidFill>
                            <a:latin typeface="Cambria Math" panose="02040503050406030204" pitchFamily="18" charset="0"/>
                          </a:rPr>
                          <m:t>𝒒</m:t>
                        </m:r>
                      </m:den>
                    </m:f>
                    <m:r>
                      <a:rPr lang="ar-AE" sz="2000" b="1" smtClean="0">
                        <a:solidFill>
                          <a:srgbClr val="FFFF00"/>
                        </a:solidFill>
                        <a:latin typeface="Cambria Math" panose="02040503050406030204" pitchFamily="18" charset="0"/>
                      </a:rPr>
                      <m:t>=</m:t>
                    </m:r>
                    <m:f>
                      <m:fPr>
                        <m:ctrlPr>
                          <a:rPr lang="ar-AE" sz="2000" b="1" i="1">
                            <a:solidFill>
                              <a:srgbClr val="FFFF00"/>
                            </a:solidFill>
                            <a:latin typeface="Cambria Math" panose="02040503050406030204" pitchFamily="18" charset="0"/>
                          </a:rPr>
                        </m:ctrlPr>
                      </m:fPr>
                      <m:num>
                        <m:r>
                          <a:rPr lang="ar-AE" sz="2000" b="1" i="1" smtClean="0">
                            <a:solidFill>
                              <a:srgbClr val="FFFF00"/>
                            </a:solidFill>
                            <a:latin typeface="Cambria Math" panose="02040503050406030204" pitchFamily="18" charset="0"/>
                          </a:rPr>
                          <m:t>𝟐</m:t>
                        </m:r>
                      </m:num>
                      <m:den>
                        <m:r>
                          <a:rPr lang="ar-AE" sz="2000" b="1" i="1" smtClean="0">
                            <a:solidFill>
                              <a:srgbClr val="FFFF00"/>
                            </a:solidFill>
                            <a:latin typeface="Cambria Math" panose="02040503050406030204" pitchFamily="18" charset="0"/>
                          </a:rPr>
                          <m:t>𝟏</m:t>
                        </m:r>
                      </m:den>
                    </m:f>
                    <m:r>
                      <a:rPr lang="ar-AE" sz="2000" b="1" smtClean="0">
                        <a:solidFill>
                          <a:srgbClr val="FFFF00"/>
                        </a:solidFill>
                        <a:latin typeface="Cambria Math" panose="02040503050406030204" pitchFamily="18" charset="0"/>
                      </a:rPr>
                      <m:t>=</m:t>
                    </m:r>
                    <m:r>
                      <a:rPr lang="ar-AE" sz="2000" b="1" i="1" smtClean="0">
                        <a:solidFill>
                          <a:srgbClr val="FFFF00"/>
                        </a:solidFill>
                        <a:latin typeface="Cambria Math" panose="02040503050406030204" pitchFamily="18" charset="0"/>
                      </a:rPr>
                      <m:t>𝟐</m:t>
                    </m:r>
                    <m:r>
                      <m:rPr>
                        <m:nor/>
                      </m:rPr>
                      <a:rPr lang="ar-AE" sz="2000" b="1" i="1">
                        <a:solidFill>
                          <a:srgbClr val="FFFF00"/>
                        </a:solidFill>
                        <a:latin typeface="Century Schoolbook" panose="02040604050505020304" pitchFamily="18" charset="0"/>
                      </a:rPr>
                      <m:t> </m:t>
                    </m:r>
                    <m:r>
                      <m:rPr>
                        <m:nor/>
                      </m:rPr>
                      <a:rPr lang="en-IN" sz="2000" b="1" i="1">
                        <a:solidFill>
                          <a:srgbClr val="FFFF00"/>
                        </a:solidFill>
                        <a:latin typeface="Century Schoolbook" panose="02040604050505020304" pitchFamily="18" charset="0"/>
                      </a:rPr>
                      <m:t>N</m:t>
                    </m:r>
                    <m:r>
                      <m:rPr>
                        <m:nor/>
                      </m:rPr>
                      <a:rPr lang="en-IN" sz="2000" b="1" i="1">
                        <a:solidFill>
                          <a:srgbClr val="FFFF00"/>
                        </a:solidFill>
                        <a:latin typeface="Century Schoolbook" panose="02040604050505020304" pitchFamily="18" charset="0"/>
                      </a:rPr>
                      <m:t>/</m:t>
                    </m:r>
                    <m:r>
                      <m:rPr>
                        <m:nor/>
                      </m:rPr>
                      <a:rPr lang="en-IN" sz="2000" b="1" i="1">
                        <a:solidFill>
                          <a:srgbClr val="FFFF00"/>
                        </a:solidFill>
                        <a:latin typeface="Century Schoolbook" panose="02040604050505020304" pitchFamily="18" charset="0"/>
                      </a:rPr>
                      <m:t>C</m:t>
                    </m:r>
                  </m:oMath>
                </a14:m>
                <a:endParaRPr lang="en-IN" sz="2000" b="1" dirty="0">
                  <a:latin typeface="Century Schoolbook" panose="02040604050505020304" pitchFamily="18" charset="0"/>
                </a:endParaRPr>
              </a:p>
              <a:p>
                <a:pPr algn="l"/>
                <a:endParaRPr lang="en-IN" b="1" dirty="0">
                  <a:latin typeface="Century Schoolbook" panose="02040604050505020304" pitchFamily="18" charset="0"/>
                </a:endParaRPr>
              </a:p>
            </p:txBody>
          </p:sp>
        </mc:Choice>
        <mc:Fallback xmlns="">
          <p:sp>
            <p:nvSpPr>
              <p:cNvPr id="3" name="Text Placeholder 2">
                <a:extLst>
                  <a:ext uri="{FF2B5EF4-FFF2-40B4-BE49-F238E27FC236}">
                    <a16:creationId xmlns:a16="http://schemas.microsoft.com/office/drawing/2014/main" id="{D19248E1-36A2-8C70-2D1E-EDFF1CDFC25E}"/>
                  </a:ext>
                </a:extLst>
              </p:cNvPr>
              <p:cNvSpPr>
                <a:spLocks noGrp="1" noRot="1" noChangeAspect="1" noMove="1" noResize="1" noEditPoints="1" noAdjustHandles="1" noChangeArrowheads="1" noChangeShapeType="1" noTextEdit="1"/>
              </p:cNvSpPr>
              <p:nvPr>
                <p:ph type="body" sz="half" idx="2"/>
              </p:nvPr>
            </p:nvSpPr>
            <p:spPr>
              <a:xfrm>
                <a:off x="98323" y="580104"/>
                <a:ext cx="11798710" cy="6277896"/>
              </a:xfrm>
              <a:blipFill>
                <a:blip r:embed="rId2"/>
                <a:stretch>
                  <a:fillRect l="-981" r="-465"/>
                </a:stretch>
              </a:blipFill>
            </p:spPr>
            <p:txBody>
              <a:bodyPr/>
              <a:lstStyle/>
              <a:p>
                <a:r>
                  <a:rPr lang="en-IN">
                    <a:noFill/>
                  </a:rPr>
                  <a:t> </a:t>
                </a:r>
              </a:p>
            </p:txBody>
          </p:sp>
        </mc:Fallback>
      </mc:AlternateContent>
    </p:spTree>
    <p:extLst>
      <p:ext uri="{BB962C8B-B14F-4D97-AF65-F5344CB8AC3E}">
        <p14:creationId xmlns:p14="http://schemas.microsoft.com/office/powerpoint/2010/main" val="590414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9746C-D96B-00A1-9400-7DB8119C5369}"/>
              </a:ext>
            </a:extLst>
          </p:cNvPr>
          <p:cNvSpPr>
            <a:spLocks noGrp="1"/>
          </p:cNvSpPr>
          <p:nvPr>
            <p:ph type="title"/>
          </p:nvPr>
        </p:nvSpPr>
        <p:spPr>
          <a:xfrm>
            <a:off x="0" y="-118877"/>
            <a:ext cx="10353762" cy="1060994"/>
          </a:xfrm>
        </p:spPr>
        <p:txBody>
          <a:bodyPr>
            <a:normAutofit/>
          </a:bodyPr>
          <a:lstStyle/>
          <a:p>
            <a:pPr marL="685800" indent="-685800">
              <a:buFont typeface="Wingdings" panose="05000000000000000000" pitchFamily="2" charset="2"/>
              <a:buChar char="v"/>
            </a:pPr>
            <a:r>
              <a:rPr lang="en-US" sz="4800" b="0" u="sng" dirty="0">
                <a:solidFill>
                  <a:srgbClr val="FFFF00"/>
                </a:solidFill>
                <a:latin typeface="Algerian" panose="04020705040A02060702" pitchFamily="82" charset="0"/>
              </a:rPr>
              <a:t>Electric field intensity (e)</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113581D-C0F7-67D8-BE5F-209B9B084670}"/>
                  </a:ext>
                </a:extLst>
              </p:cNvPr>
              <p:cNvSpPr>
                <a:spLocks noGrp="1"/>
              </p:cNvSpPr>
              <p:nvPr>
                <p:ph type="body" sz="half" idx="2"/>
              </p:nvPr>
            </p:nvSpPr>
            <p:spPr>
              <a:xfrm>
                <a:off x="157316" y="796414"/>
                <a:ext cx="11887200" cy="6061586"/>
              </a:xfrm>
            </p:spPr>
            <p:txBody>
              <a:bodyPr>
                <a:normAutofit/>
              </a:bodyPr>
              <a:lstStyle/>
              <a:p>
                <a:pPr marL="285750" indent="-285750" algn="l">
                  <a:buFont typeface="Wingdings" panose="05000000000000000000" pitchFamily="2" charset="2"/>
                  <a:buChar char="v"/>
                </a:pPr>
                <a:r>
                  <a:rPr lang="en-IN" sz="2800" b="1" u="sng" dirty="0">
                    <a:solidFill>
                      <a:srgbClr val="FFFF00"/>
                    </a:solidFill>
                    <a:latin typeface="Century Schoolbook" panose="02040604050505020304" pitchFamily="18" charset="0"/>
                  </a:rPr>
                  <a:t>Definition</a:t>
                </a:r>
                <a:r>
                  <a:rPr lang="en-IN" sz="2800" b="1" dirty="0">
                    <a:solidFill>
                      <a:srgbClr val="FFFF00"/>
                    </a:solidFill>
                    <a:latin typeface="Century Schoolbook" panose="02040604050505020304" pitchFamily="18" charset="0"/>
                  </a:rPr>
                  <a:t> : -</a:t>
                </a:r>
              </a:p>
              <a:p>
                <a:pPr marL="342900" indent="-342900" algn="l">
                  <a:buFont typeface="Wingdings" panose="05000000000000000000" pitchFamily="2" charset="2"/>
                  <a:buChar char="Ø"/>
                </a:pPr>
                <a:r>
                  <a:rPr lang="en-IN" sz="2400" b="1" dirty="0">
                    <a:latin typeface="Century Schoolbook" panose="02040604050505020304" pitchFamily="18" charset="0"/>
                  </a:rPr>
                  <a:t>The electric field intensity at a point is defined as the force experienced per unit positive test charge placed at that point in the electric field.</a:t>
                </a:r>
              </a:p>
              <a:p>
                <a:pPr marL="342900" indent="-342900" algn="l">
                  <a:buFont typeface="Wingdings" panose="05000000000000000000" pitchFamily="2" charset="2"/>
                  <a:buChar char="Ø"/>
                </a:pPr>
                <a:r>
                  <a:rPr lang="en-IN" sz="2400" b="1" dirty="0">
                    <a:latin typeface="Century Schoolbook" panose="02040604050505020304" pitchFamily="18" charset="0"/>
                  </a:rPr>
                  <a:t>In other words, it represents the strength of an electric field at a particular location.</a:t>
                </a:r>
              </a:p>
              <a:p>
                <a:pPr marL="285750" indent="-285750" algn="l">
                  <a:buFont typeface="Wingdings" panose="05000000000000000000" pitchFamily="2" charset="2"/>
                  <a:buChar char="v"/>
                </a:pPr>
                <a:r>
                  <a:rPr lang="en-IN" sz="2800" b="1" u="sng" dirty="0">
                    <a:solidFill>
                      <a:srgbClr val="FFFF00"/>
                    </a:solidFill>
                    <a:latin typeface="Century Schoolbook" panose="02040604050505020304" pitchFamily="18" charset="0"/>
                  </a:rPr>
                  <a:t>Mathematical Expression</a:t>
                </a:r>
                <a:r>
                  <a:rPr lang="en-IN" sz="2800" b="1" dirty="0">
                    <a:solidFill>
                      <a:srgbClr val="FFFF00"/>
                    </a:solidFill>
                    <a:latin typeface="Century Schoolbook" panose="02040604050505020304" pitchFamily="18" charset="0"/>
                  </a:rPr>
                  <a:t> :</a:t>
                </a:r>
                <a:r>
                  <a:rPr lang="en-IN" sz="1800" b="1" dirty="0">
                    <a:latin typeface="Century Schoolbook" panose="02040604050505020304" pitchFamily="18" charset="0"/>
                  </a:rPr>
                  <a:t> </a:t>
                </a:r>
                <a14:m>
                  <m:oMath xmlns:m="http://schemas.openxmlformats.org/officeDocument/2006/math">
                    <m:r>
                      <a:rPr lang="en-IN" sz="2400" b="1" i="1" smtClean="0">
                        <a:latin typeface="Cambria Math" panose="02040503050406030204" pitchFamily="18" charset="0"/>
                      </a:rPr>
                      <m:t>𝑬</m:t>
                    </m:r>
                    <m:r>
                      <a:rPr lang="en-IN" sz="2400" b="1" smtClean="0">
                        <a:latin typeface="Cambria Math" panose="02040503050406030204" pitchFamily="18" charset="0"/>
                      </a:rPr>
                      <m:t>=</m:t>
                    </m:r>
                    <m:f>
                      <m:fPr>
                        <m:ctrlPr>
                          <a:rPr lang="ar-AE" sz="2400" b="1" i="1">
                            <a:latin typeface="Cambria Math" panose="02040503050406030204" pitchFamily="18" charset="0"/>
                          </a:rPr>
                        </m:ctrlPr>
                      </m:fPr>
                      <m:num>
                        <m:r>
                          <a:rPr lang="ar-AE" sz="2400" b="1" i="1" smtClean="0">
                            <a:latin typeface="Cambria Math" panose="02040503050406030204" pitchFamily="18" charset="0"/>
                          </a:rPr>
                          <m:t>𝑭</m:t>
                        </m:r>
                      </m:num>
                      <m:den>
                        <m:r>
                          <a:rPr lang="ar-AE" sz="2400" b="1" i="1" smtClean="0">
                            <a:latin typeface="Cambria Math" panose="02040503050406030204" pitchFamily="18" charset="0"/>
                          </a:rPr>
                          <m:t>𝒒</m:t>
                        </m:r>
                      </m:den>
                    </m:f>
                  </m:oMath>
                </a14:m>
                <a:endParaRPr lang="ar-AE" sz="1800" b="1" dirty="0">
                  <a:latin typeface="Century Schoolbook" panose="02040604050505020304" pitchFamily="18" charset="0"/>
                </a:endParaRPr>
              </a:p>
              <a:p>
                <a:pPr algn="l"/>
                <a:r>
                  <a:rPr lang="en-IN" sz="2000" b="1" dirty="0">
                    <a:latin typeface="Century Schoolbook" panose="02040604050505020304" pitchFamily="18" charset="0"/>
                  </a:rPr>
                  <a:t>Where,</a:t>
                </a:r>
              </a:p>
              <a:p>
                <a:pPr marL="342900" indent="-342900" algn="l">
                  <a:buFont typeface="Arial" panose="020B0604020202020204" pitchFamily="34" charset="0"/>
                  <a:buChar char="•"/>
                </a:pPr>
                <a14:m>
                  <m:oMath xmlns:m="http://schemas.openxmlformats.org/officeDocument/2006/math">
                    <m:r>
                      <a:rPr lang="en-IN" sz="2000" b="1" i="1" smtClean="0">
                        <a:latin typeface="Cambria Math" panose="02040503050406030204" pitchFamily="18" charset="0"/>
                      </a:rPr>
                      <m:t>𝑬</m:t>
                    </m:r>
                  </m:oMath>
                </a14:m>
                <a:r>
                  <a:rPr lang="en-IN" sz="2000" b="1" dirty="0">
                    <a:latin typeface="Century Schoolbook" panose="02040604050505020304" pitchFamily="18" charset="0"/>
                  </a:rPr>
                  <a:t> = Electric field intensity</a:t>
                </a:r>
              </a:p>
              <a:p>
                <a:pPr marL="342900" indent="-342900" algn="l">
                  <a:buFont typeface="Arial" panose="020B0604020202020204" pitchFamily="34" charset="0"/>
                  <a:buChar char="•"/>
                </a:pPr>
                <a14:m>
                  <m:oMath xmlns:m="http://schemas.openxmlformats.org/officeDocument/2006/math">
                    <m:r>
                      <a:rPr lang="en-IN" sz="2000" b="1" i="1" smtClean="0">
                        <a:latin typeface="Cambria Math" panose="02040503050406030204" pitchFamily="18" charset="0"/>
                      </a:rPr>
                      <m:t>𝑭</m:t>
                    </m:r>
                  </m:oMath>
                </a14:m>
                <a:r>
                  <a:rPr lang="en-IN" sz="2000" b="1" dirty="0">
                    <a:latin typeface="Century Schoolbook" panose="02040604050505020304" pitchFamily="18" charset="0"/>
                  </a:rPr>
                  <a:t> = Force acting on the charge</a:t>
                </a:r>
              </a:p>
              <a:p>
                <a:pPr marL="342900" indent="-342900" algn="l">
                  <a:buFont typeface="Arial" panose="020B0604020202020204" pitchFamily="34" charset="0"/>
                  <a:buChar char="•"/>
                </a:pPr>
                <a14:m>
                  <m:oMath xmlns:m="http://schemas.openxmlformats.org/officeDocument/2006/math">
                    <m:r>
                      <a:rPr lang="en-IN" sz="2000" b="1" i="1" smtClean="0">
                        <a:latin typeface="Cambria Math" panose="02040503050406030204" pitchFamily="18" charset="0"/>
                      </a:rPr>
                      <m:t>𝒒</m:t>
                    </m:r>
                    <m:r>
                      <a:rPr lang="en-US" sz="2000" b="1" i="1" smtClean="0">
                        <a:latin typeface="Cambria Math" panose="02040503050406030204" pitchFamily="18" charset="0"/>
                      </a:rPr>
                      <m:t> </m:t>
                    </m:r>
                  </m:oMath>
                </a14:m>
                <a:r>
                  <a:rPr lang="en-IN" sz="2000" b="1" dirty="0">
                    <a:latin typeface="Century Schoolbook" panose="02040604050505020304" pitchFamily="18" charset="0"/>
                  </a:rPr>
                  <a:t>= Magnitude of the test charge</a:t>
                </a:r>
              </a:p>
              <a:p>
                <a:pPr algn="l"/>
                <a:endParaRPr lang="en-IN" sz="1800" b="1" dirty="0">
                  <a:latin typeface="Century Schoolbook" panose="02040604050505020304" pitchFamily="18" charset="0"/>
                </a:endParaRPr>
              </a:p>
            </p:txBody>
          </p:sp>
        </mc:Choice>
        <mc:Fallback xmlns="">
          <p:sp>
            <p:nvSpPr>
              <p:cNvPr id="3" name="Text Placeholder 2">
                <a:extLst>
                  <a:ext uri="{FF2B5EF4-FFF2-40B4-BE49-F238E27FC236}">
                    <a16:creationId xmlns:a16="http://schemas.microsoft.com/office/drawing/2014/main" id="{8113581D-C0F7-67D8-BE5F-209B9B084670}"/>
                  </a:ext>
                </a:extLst>
              </p:cNvPr>
              <p:cNvSpPr>
                <a:spLocks noGrp="1" noRot="1" noChangeAspect="1" noMove="1" noResize="1" noEditPoints="1" noAdjustHandles="1" noChangeArrowheads="1" noChangeShapeType="1" noTextEdit="1"/>
              </p:cNvSpPr>
              <p:nvPr>
                <p:ph type="body" sz="half" idx="2"/>
              </p:nvPr>
            </p:nvSpPr>
            <p:spPr>
              <a:xfrm>
                <a:off x="157316" y="796414"/>
                <a:ext cx="11887200" cy="6061586"/>
              </a:xfrm>
              <a:blipFill>
                <a:blip r:embed="rId2"/>
                <a:stretch>
                  <a:fillRect l="-1026" t="-2414"/>
                </a:stretch>
              </a:blipFill>
            </p:spPr>
            <p:txBody>
              <a:bodyPr/>
              <a:lstStyle/>
              <a:p>
                <a:r>
                  <a:rPr lang="en-IN">
                    <a:noFill/>
                  </a:rPr>
                  <a:t> </a:t>
                </a:r>
              </a:p>
            </p:txBody>
          </p:sp>
        </mc:Fallback>
      </mc:AlternateContent>
    </p:spTree>
    <p:extLst>
      <p:ext uri="{BB962C8B-B14F-4D97-AF65-F5344CB8AC3E}">
        <p14:creationId xmlns:p14="http://schemas.microsoft.com/office/powerpoint/2010/main" val="1703956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348F6-DA46-768E-D74E-FEFD89924ECD}"/>
              </a:ext>
            </a:extLst>
          </p:cNvPr>
          <p:cNvSpPr>
            <a:spLocks noGrp="1"/>
          </p:cNvSpPr>
          <p:nvPr>
            <p:ph type="title"/>
          </p:nvPr>
        </p:nvSpPr>
        <p:spPr>
          <a:xfrm>
            <a:off x="0" y="4142"/>
            <a:ext cx="12191998" cy="615290"/>
          </a:xfrm>
        </p:spPr>
        <p:txBody>
          <a:bodyPr>
            <a:noAutofit/>
          </a:bodyPr>
          <a:lstStyle/>
          <a:p>
            <a:pPr marL="457200" indent="-457200" algn="l">
              <a:buFont typeface="Wingdings" panose="05000000000000000000" pitchFamily="2" charset="2"/>
              <a:buChar char="v"/>
            </a:pPr>
            <a:r>
              <a:rPr lang="en-US" sz="2800" b="0" u="sng" dirty="0">
                <a:solidFill>
                  <a:srgbClr val="FFFF00"/>
                </a:solidFill>
                <a:latin typeface="Algerian" panose="04020705040A02060702" pitchFamily="82" charset="0"/>
              </a:rPr>
              <a:t>Derivation of electric field intensity due to a point charge</a:t>
            </a:r>
            <a:r>
              <a:rPr lang="en-US" sz="2800" b="0" dirty="0">
                <a:solidFill>
                  <a:srgbClr val="FFFF00"/>
                </a:solidFill>
                <a:latin typeface="Algerian" panose="04020705040A02060702" pitchFamily="82" charset="0"/>
              </a:rPr>
              <a:t> : -</a:t>
            </a:r>
            <a:endParaRPr lang="en-IN" sz="2800" b="0" dirty="0">
              <a:solidFill>
                <a:srgbClr val="FFFF00"/>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3BD00D6-75D1-D460-032A-B1746B95AA89}"/>
                  </a:ext>
                </a:extLst>
              </p:cNvPr>
              <p:cNvSpPr>
                <a:spLocks noGrp="1"/>
              </p:cNvSpPr>
              <p:nvPr>
                <p:ph type="body" sz="half" idx="2"/>
              </p:nvPr>
            </p:nvSpPr>
            <p:spPr>
              <a:xfrm>
                <a:off x="127817" y="98322"/>
                <a:ext cx="12064181" cy="5722373"/>
              </a:xfrm>
            </p:spPr>
            <p:txBody>
              <a:bodyPr>
                <a:noAutofit/>
              </a:bodyPr>
              <a:lstStyle/>
              <a:p>
                <a:pPr marL="342900" indent="-342900" algn="l">
                  <a:buFont typeface="Arial" panose="020B0604020202020204" pitchFamily="34" charset="0"/>
                  <a:buChar char="•"/>
                </a:pPr>
                <a:r>
                  <a:rPr lang="en-IN" sz="2000" b="1" dirty="0">
                    <a:latin typeface="Century Schoolbook" panose="02040604050505020304" pitchFamily="18" charset="0"/>
                  </a:rPr>
                  <a:t>Consider a point charge </a:t>
                </a:r>
                <a14:m>
                  <m:oMath xmlns:m="http://schemas.openxmlformats.org/officeDocument/2006/math">
                    <m:r>
                      <a:rPr lang="en-IN" sz="2000" b="1" i="1">
                        <a:latin typeface="Cambria Math" panose="02040503050406030204" pitchFamily="18" charset="0"/>
                      </a:rPr>
                      <m:t>𝑸</m:t>
                    </m:r>
                  </m:oMath>
                </a14:m>
                <a:r>
                  <a:rPr lang="en-IN" sz="2000" b="1" dirty="0">
                    <a:latin typeface="Century Schoolbook" panose="02040604050505020304" pitchFamily="18" charset="0"/>
                  </a:rPr>
                  <a:t>placed in free space.</a:t>
                </a:r>
              </a:p>
              <a:p>
                <a:pPr marL="342900" indent="-342900" algn="l">
                  <a:buFont typeface="Arial" panose="020B0604020202020204" pitchFamily="34" charset="0"/>
                  <a:buChar char="•"/>
                </a:pPr>
                <a:r>
                  <a:rPr lang="en-IN" sz="2000" b="1" dirty="0">
                    <a:latin typeface="Century Schoolbook" panose="02040604050505020304" pitchFamily="18" charset="0"/>
                  </a:rPr>
                  <a:t>Let a test charge </a:t>
                </a:r>
                <a14:m>
                  <m:oMath xmlns:m="http://schemas.openxmlformats.org/officeDocument/2006/math">
                    <m:r>
                      <a:rPr lang="en-IN" sz="2000" b="1" i="1">
                        <a:latin typeface="Cambria Math" panose="02040503050406030204" pitchFamily="18" charset="0"/>
                      </a:rPr>
                      <m:t>𝒒</m:t>
                    </m:r>
                  </m:oMath>
                </a14:m>
                <a:r>
                  <a:rPr lang="en-IN" sz="2000" b="1" dirty="0">
                    <a:latin typeface="Century Schoolbook" panose="02040604050505020304" pitchFamily="18" charset="0"/>
                  </a:rPr>
                  <a:t>be placed at a distance </a:t>
                </a:r>
                <a14:m>
                  <m:oMath xmlns:m="http://schemas.openxmlformats.org/officeDocument/2006/math">
                    <m:r>
                      <a:rPr lang="en-IN" sz="2000" b="1" i="1">
                        <a:latin typeface="Cambria Math" panose="02040503050406030204" pitchFamily="18" charset="0"/>
                      </a:rPr>
                      <m:t>𝒓</m:t>
                    </m:r>
                  </m:oMath>
                </a14:m>
                <a:r>
                  <a:rPr lang="en-IN" sz="2000" b="1" dirty="0">
                    <a:latin typeface="Century Schoolbook" panose="02040604050505020304" pitchFamily="18" charset="0"/>
                  </a:rPr>
                  <a:t>from </a:t>
                </a:r>
                <a14:m>
                  <m:oMath xmlns:m="http://schemas.openxmlformats.org/officeDocument/2006/math">
                    <m:r>
                      <a:rPr lang="en-IN" sz="2000" b="1" i="1">
                        <a:latin typeface="Cambria Math" panose="02040503050406030204" pitchFamily="18" charset="0"/>
                      </a:rPr>
                      <m:t>𝑸</m:t>
                    </m:r>
                  </m:oMath>
                </a14:m>
                <a:r>
                  <a:rPr lang="en-IN" sz="2000" b="1" dirty="0">
                    <a:latin typeface="Century Schoolbook" panose="02040604050505020304" pitchFamily="18" charset="0"/>
                  </a:rPr>
                  <a:t>.</a:t>
                </a:r>
              </a:p>
              <a:p>
                <a:pPr algn="l"/>
                <a:r>
                  <a:rPr lang="en-IN" sz="2000" b="1" dirty="0">
                    <a:latin typeface="Century Schoolbook" panose="02040604050505020304" pitchFamily="18" charset="0"/>
                  </a:rPr>
                  <a:t>From Coulomb’s law, </a:t>
                </a:r>
                <a14:m>
                  <m:oMath xmlns:m="http://schemas.openxmlformats.org/officeDocument/2006/math">
                    <m:r>
                      <a:rPr lang="en-IN" sz="2400" b="1" i="1" smtClean="0">
                        <a:solidFill>
                          <a:srgbClr val="FFFF00"/>
                        </a:solidFill>
                        <a:latin typeface="Cambria Math" panose="02040503050406030204" pitchFamily="18" charset="0"/>
                      </a:rPr>
                      <m:t>𝑭</m:t>
                    </m:r>
                    <m:r>
                      <a:rPr lang="en-IN" sz="2400" b="1">
                        <a:solidFill>
                          <a:srgbClr val="FFFF00"/>
                        </a:solidFill>
                        <a:latin typeface="Cambria Math" panose="02040503050406030204" pitchFamily="18" charset="0"/>
                      </a:rPr>
                      <m:t>=</m:t>
                    </m:r>
                    <m:f>
                      <m:fPr>
                        <m:ctrlPr>
                          <a:rPr lang="ar-AE" sz="2400" b="1" i="1">
                            <a:solidFill>
                              <a:srgbClr val="FFFF00"/>
                            </a:solidFill>
                            <a:latin typeface="Cambria Math" panose="02040503050406030204" pitchFamily="18" charset="0"/>
                          </a:rPr>
                        </m:ctrlPr>
                      </m:fPr>
                      <m:num>
                        <m:r>
                          <a:rPr lang="ar-AE" sz="2400" b="1" i="1">
                            <a:solidFill>
                              <a:srgbClr val="FFFF00"/>
                            </a:solidFill>
                            <a:latin typeface="Cambria Math" panose="02040503050406030204" pitchFamily="18" charset="0"/>
                          </a:rPr>
                          <m:t>𝟏</m:t>
                        </m:r>
                      </m:num>
                      <m:den>
                        <m:r>
                          <a:rPr lang="ar-AE" sz="2400" b="1" i="1">
                            <a:solidFill>
                              <a:srgbClr val="FFFF00"/>
                            </a:solidFill>
                            <a:latin typeface="Cambria Math" panose="02040503050406030204" pitchFamily="18" charset="0"/>
                          </a:rPr>
                          <m:t>𝟒</m:t>
                        </m:r>
                        <m:r>
                          <a:rPr lang="ar-AE" sz="2400" b="1" i="1">
                            <a:solidFill>
                              <a:srgbClr val="FFFF00"/>
                            </a:solidFill>
                            <a:latin typeface="Cambria Math" panose="02040503050406030204" pitchFamily="18" charset="0"/>
                          </a:rPr>
                          <m:t>𝝅</m:t>
                        </m:r>
                        <m:sSub>
                          <m:sSubPr>
                            <m:ctrlPr>
                              <a:rPr lang="ar-AE" sz="2400" b="1" i="1">
                                <a:solidFill>
                                  <a:srgbClr val="FFFF00"/>
                                </a:solidFill>
                                <a:latin typeface="Cambria Math" panose="02040503050406030204" pitchFamily="18" charset="0"/>
                              </a:rPr>
                            </m:ctrlPr>
                          </m:sSubPr>
                          <m:e>
                            <m:r>
                              <a:rPr lang="ar-AE" sz="2400" b="1" i="1">
                                <a:solidFill>
                                  <a:srgbClr val="FFFF00"/>
                                </a:solidFill>
                                <a:latin typeface="Cambria Math" panose="02040503050406030204" pitchFamily="18" charset="0"/>
                              </a:rPr>
                              <m:t>𝜺</m:t>
                            </m:r>
                          </m:e>
                          <m:sub>
                            <m:r>
                              <a:rPr lang="ar-AE" sz="2400" b="1" i="1">
                                <a:solidFill>
                                  <a:srgbClr val="FFFF00"/>
                                </a:solidFill>
                                <a:latin typeface="Cambria Math" panose="02040503050406030204" pitchFamily="18" charset="0"/>
                              </a:rPr>
                              <m:t>𝟎</m:t>
                            </m:r>
                          </m:sub>
                        </m:sSub>
                      </m:den>
                    </m:f>
                    <m:f>
                      <m:fPr>
                        <m:ctrlPr>
                          <a:rPr lang="ar-AE" sz="2400" b="1" i="1">
                            <a:solidFill>
                              <a:srgbClr val="FFFF00"/>
                            </a:solidFill>
                            <a:latin typeface="Cambria Math" panose="02040503050406030204" pitchFamily="18" charset="0"/>
                          </a:rPr>
                        </m:ctrlPr>
                      </m:fPr>
                      <m:num>
                        <m:r>
                          <a:rPr lang="ar-AE" sz="2400" b="1" i="1">
                            <a:solidFill>
                              <a:srgbClr val="FFFF00"/>
                            </a:solidFill>
                            <a:latin typeface="Cambria Math" panose="02040503050406030204" pitchFamily="18" charset="0"/>
                          </a:rPr>
                          <m:t>𝑸𝒒</m:t>
                        </m:r>
                      </m:num>
                      <m:den>
                        <m:sSup>
                          <m:sSupPr>
                            <m:ctrlPr>
                              <a:rPr lang="ar-AE" sz="2400" b="1" i="1">
                                <a:solidFill>
                                  <a:srgbClr val="FFFF00"/>
                                </a:solidFill>
                                <a:latin typeface="Cambria Math" panose="02040503050406030204" pitchFamily="18" charset="0"/>
                              </a:rPr>
                            </m:ctrlPr>
                          </m:sSupPr>
                          <m:e>
                            <m:r>
                              <a:rPr lang="ar-AE" sz="2400" b="1" i="1">
                                <a:solidFill>
                                  <a:srgbClr val="FFFF00"/>
                                </a:solidFill>
                                <a:latin typeface="Cambria Math" panose="02040503050406030204" pitchFamily="18" charset="0"/>
                              </a:rPr>
                              <m:t>𝒓</m:t>
                            </m:r>
                          </m:e>
                          <m:sup>
                            <m:r>
                              <a:rPr lang="ar-AE" sz="2400" b="1" i="1">
                                <a:solidFill>
                                  <a:srgbClr val="FFFF00"/>
                                </a:solidFill>
                                <a:latin typeface="Cambria Math" panose="02040503050406030204" pitchFamily="18" charset="0"/>
                              </a:rPr>
                              <m:t>𝟐</m:t>
                            </m:r>
                          </m:sup>
                        </m:sSup>
                      </m:den>
                    </m:f>
                  </m:oMath>
                </a14:m>
                <a:endParaRPr lang="ar-AE" sz="2000" b="1" dirty="0">
                  <a:latin typeface="Century Schoolbook" panose="02040604050505020304" pitchFamily="18" charset="0"/>
                </a:endParaRPr>
              </a:p>
              <a:p>
                <a:pPr algn="l"/>
                <a:r>
                  <a:rPr lang="en-IN" sz="2000" b="1" dirty="0">
                    <a:latin typeface="Century Schoolbook" panose="02040604050505020304" pitchFamily="18" charset="0"/>
                  </a:rPr>
                  <a:t>Now, Electric Field Intensity (E) at that point is given by : </a:t>
                </a:r>
                <a14:m>
                  <m:oMath xmlns:m="http://schemas.openxmlformats.org/officeDocument/2006/math">
                    <m:r>
                      <a:rPr lang="en-IN" sz="2400" b="1" i="1" smtClean="0">
                        <a:solidFill>
                          <a:srgbClr val="FFFF00"/>
                        </a:solidFill>
                        <a:latin typeface="Cambria Math" panose="02040503050406030204" pitchFamily="18" charset="0"/>
                      </a:rPr>
                      <m:t>𝑬</m:t>
                    </m:r>
                    <m:r>
                      <a:rPr lang="en-IN" sz="2400" b="1">
                        <a:solidFill>
                          <a:srgbClr val="FFFF00"/>
                        </a:solidFill>
                        <a:latin typeface="Cambria Math" panose="02040503050406030204" pitchFamily="18" charset="0"/>
                      </a:rPr>
                      <m:t>=</m:t>
                    </m:r>
                    <m:f>
                      <m:fPr>
                        <m:ctrlPr>
                          <a:rPr lang="ar-AE" sz="2400" b="1" i="1">
                            <a:solidFill>
                              <a:srgbClr val="FFFF00"/>
                            </a:solidFill>
                            <a:latin typeface="Cambria Math" panose="02040503050406030204" pitchFamily="18" charset="0"/>
                          </a:rPr>
                        </m:ctrlPr>
                      </m:fPr>
                      <m:num>
                        <m:r>
                          <a:rPr lang="ar-AE" sz="2400" b="1" i="1">
                            <a:solidFill>
                              <a:srgbClr val="FFFF00"/>
                            </a:solidFill>
                            <a:latin typeface="Cambria Math" panose="02040503050406030204" pitchFamily="18" charset="0"/>
                          </a:rPr>
                          <m:t>𝑭</m:t>
                        </m:r>
                      </m:num>
                      <m:den>
                        <m:r>
                          <a:rPr lang="ar-AE" sz="2400" b="1" i="1">
                            <a:solidFill>
                              <a:srgbClr val="FFFF00"/>
                            </a:solidFill>
                            <a:latin typeface="Cambria Math" panose="02040503050406030204" pitchFamily="18" charset="0"/>
                          </a:rPr>
                          <m:t>𝒒</m:t>
                        </m:r>
                      </m:den>
                    </m:f>
                  </m:oMath>
                </a14:m>
                <a:endParaRPr lang="ar-AE" sz="2000" b="1" dirty="0">
                  <a:latin typeface="Century Schoolbook" panose="02040604050505020304" pitchFamily="18" charset="0"/>
                </a:endParaRPr>
              </a:p>
              <a:p>
                <a:pPr algn="l"/>
                <a:r>
                  <a:rPr lang="en-IN" sz="2000" b="1" dirty="0">
                    <a:latin typeface="Century Schoolbook" panose="02040604050505020304" pitchFamily="18" charset="0"/>
                  </a:rPr>
                  <a:t>Substituting the value of </a:t>
                </a:r>
                <a14:m>
                  <m:oMath xmlns:m="http://schemas.openxmlformats.org/officeDocument/2006/math">
                    <m:r>
                      <a:rPr lang="en-IN" sz="2000" b="1" i="1">
                        <a:latin typeface="Cambria Math" panose="02040503050406030204" pitchFamily="18" charset="0"/>
                      </a:rPr>
                      <m:t>𝑭</m:t>
                    </m:r>
                  </m:oMath>
                </a14:m>
                <a:r>
                  <a:rPr lang="en-IN" sz="2000" b="1" dirty="0">
                    <a:latin typeface="Century Schoolbook" panose="02040604050505020304" pitchFamily="18" charset="0"/>
                  </a:rPr>
                  <a:t> : </a:t>
                </a:r>
                <a14:m>
                  <m:oMath xmlns:m="http://schemas.openxmlformats.org/officeDocument/2006/math">
                    <m:r>
                      <a:rPr lang="en-IN" sz="2400" b="1" i="1" smtClean="0">
                        <a:solidFill>
                          <a:srgbClr val="FFFF00"/>
                        </a:solidFill>
                        <a:latin typeface="Cambria Math" panose="02040503050406030204" pitchFamily="18" charset="0"/>
                      </a:rPr>
                      <m:t>𝑬</m:t>
                    </m:r>
                    <m:r>
                      <a:rPr lang="en-IN" sz="2400" b="1">
                        <a:solidFill>
                          <a:srgbClr val="FFFF00"/>
                        </a:solidFill>
                        <a:latin typeface="Cambria Math" panose="02040503050406030204" pitchFamily="18" charset="0"/>
                      </a:rPr>
                      <m:t>=</m:t>
                    </m:r>
                    <m:f>
                      <m:fPr>
                        <m:ctrlPr>
                          <a:rPr lang="ar-AE" sz="2400" b="1" i="1">
                            <a:solidFill>
                              <a:srgbClr val="FFFF00"/>
                            </a:solidFill>
                            <a:latin typeface="Cambria Math" panose="02040503050406030204" pitchFamily="18" charset="0"/>
                          </a:rPr>
                        </m:ctrlPr>
                      </m:fPr>
                      <m:num>
                        <m:r>
                          <a:rPr lang="ar-AE" sz="2400" b="1" i="1">
                            <a:solidFill>
                              <a:srgbClr val="FFFF00"/>
                            </a:solidFill>
                            <a:latin typeface="Cambria Math" panose="02040503050406030204" pitchFamily="18" charset="0"/>
                          </a:rPr>
                          <m:t>𝟏</m:t>
                        </m:r>
                      </m:num>
                      <m:den>
                        <m:r>
                          <a:rPr lang="ar-AE" sz="2400" b="1" i="1">
                            <a:solidFill>
                              <a:srgbClr val="FFFF00"/>
                            </a:solidFill>
                            <a:latin typeface="Cambria Math" panose="02040503050406030204" pitchFamily="18" charset="0"/>
                          </a:rPr>
                          <m:t>𝟒</m:t>
                        </m:r>
                        <m:r>
                          <a:rPr lang="ar-AE" sz="2400" b="1" i="1">
                            <a:solidFill>
                              <a:srgbClr val="FFFF00"/>
                            </a:solidFill>
                            <a:latin typeface="Cambria Math" panose="02040503050406030204" pitchFamily="18" charset="0"/>
                          </a:rPr>
                          <m:t>𝝅</m:t>
                        </m:r>
                        <m:sSub>
                          <m:sSubPr>
                            <m:ctrlPr>
                              <a:rPr lang="ar-AE" sz="2400" b="1" i="1">
                                <a:solidFill>
                                  <a:srgbClr val="FFFF00"/>
                                </a:solidFill>
                                <a:latin typeface="Cambria Math" panose="02040503050406030204" pitchFamily="18" charset="0"/>
                              </a:rPr>
                            </m:ctrlPr>
                          </m:sSubPr>
                          <m:e>
                            <m:r>
                              <a:rPr lang="ar-AE" sz="2400" b="1" i="1">
                                <a:solidFill>
                                  <a:srgbClr val="FFFF00"/>
                                </a:solidFill>
                                <a:latin typeface="Cambria Math" panose="02040503050406030204" pitchFamily="18" charset="0"/>
                              </a:rPr>
                              <m:t>𝜺</m:t>
                            </m:r>
                          </m:e>
                          <m:sub>
                            <m:r>
                              <a:rPr lang="ar-AE" sz="2400" b="1" i="1">
                                <a:solidFill>
                                  <a:srgbClr val="FFFF00"/>
                                </a:solidFill>
                                <a:latin typeface="Cambria Math" panose="02040503050406030204" pitchFamily="18" charset="0"/>
                              </a:rPr>
                              <m:t>𝟎</m:t>
                            </m:r>
                          </m:sub>
                        </m:sSub>
                      </m:den>
                    </m:f>
                    <m:f>
                      <m:fPr>
                        <m:ctrlPr>
                          <a:rPr lang="ar-AE" sz="2400" b="1" i="1">
                            <a:solidFill>
                              <a:srgbClr val="FFFF00"/>
                            </a:solidFill>
                            <a:latin typeface="Cambria Math" panose="02040503050406030204" pitchFamily="18" charset="0"/>
                          </a:rPr>
                        </m:ctrlPr>
                      </m:fPr>
                      <m:num>
                        <m:r>
                          <a:rPr lang="ar-AE" sz="2400" b="1" i="1">
                            <a:solidFill>
                              <a:srgbClr val="FFFF00"/>
                            </a:solidFill>
                            <a:latin typeface="Cambria Math" panose="02040503050406030204" pitchFamily="18" charset="0"/>
                          </a:rPr>
                          <m:t>𝑸</m:t>
                        </m:r>
                      </m:num>
                      <m:den>
                        <m:sSup>
                          <m:sSupPr>
                            <m:ctrlPr>
                              <a:rPr lang="ar-AE" sz="2400" b="1" i="1">
                                <a:solidFill>
                                  <a:srgbClr val="FFFF00"/>
                                </a:solidFill>
                                <a:latin typeface="Cambria Math" panose="02040503050406030204" pitchFamily="18" charset="0"/>
                              </a:rPr>
                            </m:ctrlPr>
                          </m:sSupPr>
                          <m:e>
                            <m:r>
                              <a:rPr lang="ar-AE" sz="2400" b="1" i="1">
                                <a:solidFill>
                                  <a:srgbClr val="FFFF00"/>
                                </a:solidFill>
                                <a:latin typeface="Cambria Math" panose="02040503050406030204" pitchFamily="18" charset="0"/>
                              </a:rPr>
                              <m:t>𝒓</m:t>
                            </m:r>
                          </m:e>
                          <m:sup>
                            <m:r>
                              <a:rPr lang="ar-AE" sz="2400" b="1" i="1">
                                <a:solidFill>
                                  <a:srgbClr val="FFFF00"/>
                                </a:solidFill>
                                <a:latin typeface="Cambria Math" panose="02040503050406030204" pitchFamily="18" charset="0"/>
                              </a:rPr>
                              <m:t>𝟐</m:t>
                            </m:r>
                          </m:sup>
                        </m:sSup>
                      </m:den>
                    </m:f>
                  </m:oMath>
                </a14:m>
                <a:endParaRPr lang="ar-AE" sz="2000" b="1" dirty="0">
                  <a:latin typeface="Century Schoolbook" panose="02040604050505020304" pitchFamily="18" charset="0"/>
                </a:endParaRPr>
              </a:p>
              <a:p>
                <a:pPr algn="l"/>
                <a:r>
                  <a:rPr lang="en-IN" sz="2000" b="1" dirty="0">
                    <a:latin typeface="Century Schoolbook" panose="02040604050505020304" pitchFamily="18" charset="0"/>
                  </a:rPr>
                  <a:t>Final Formula : </a:t>
                </a:r>
                <a14:m>
                  <m:oMath xmlns:m="http://schemas.openxmlformats.org/officeDocument/2006/math">
                    <m:borderBox>
                      <m:borderBoxPr>
                        <m:ctrlPr>
                          <a:rPr lang="ar-AE" sz="2400" b="1" i="1" smtClean="0">
                            <a:solidFill>
                              <a:srgbClr val="FFFF00"/>
                            </a:solidFill>
                            <a:latin typeface="Cambria Math" panose="02040503050406030204" pitchFamily="18" charset="0"/>
                          </a:rPr>
                        </m:ctrlPr>
                      </m:borderBoxPr>
                      <m:e>
                        <m:r>
                          <a:rPr lang="ar-AE" sz="2400" b="1" i="1">
                            <a:solidFill>
                              <a:srgbClr val="FFFF00"/>
                            </a:solidFill>
                            <a:latin typeface="Cambria Math" panose="02040503050406030204" pitchFamily="18" charset="0"/>
                          </a:rPr>
                          <m:t>𝑬</m:t>
                        </m:r>
                        <m:r>
                          <a:rPr lang="ar-AE" sz="2400" b="1">
                            <a:solidFill>
                              <a:srgbClr val="FFFF00"/>
                            </a:solidFill>
                            <a:latin typeface="Cambria Math" panose="02040503050406030204" pitchFamily="18" charset="0"/>
                          </a:rPr>
                          <m:t>=</m:t>
                        </m:r>
                        <m:f>
                          <m:fPr>
                            <m:ctrlPr>
                              <a:rPr lang="ar-AE" sz="2400" b="1" i="1">
                                <a:solidFill>
                                  <a:srgbClr val="FFFF00"/>
                                </a:solidFill>
                                <a:latin typeface="Cambria Math" panose="02040503050406030204" pitchFamily="18" charset="0"/>
                              </a:rPr>
                            </m:ctrlPr>
                          </m:fPr>
                          <m:num>
                            <m:r>
                              <a:rPr lang="ar-AE" sz="2400" b="1" i="1">
                                <a:solidFill>
                                  <a:srgbClr val="FFFF00"/>
                                </a:solidFill>
                                <a:latin typeface="Cambria Math" panose="02040503050406030204" pitchFamily="18" charset="0"/>
                              </a:rPr>
                              <m:t>𝟏</m:t>
                            </m:r>
                          </m:num>
                          <m:den>
                            <m:r>
                              <a:rPr lang="ar-AE" sz="2400" b="1" i="1">
                                <a:solidFill>
                                  <a:srgbClr val="FFFF00"/>
                                </a:solidFill>
                                <a:latin typeface="Cambria Math" panose="02040503050406030204" pitchFamily="18" charset="0"/>
                              </a:rPr>
                              <m:t>𝟒</m:t>
                            </m:r>
                            <m:r>
                              <a:rPr lang="ar-AE" sz="2400" b="1" i="1">
                                <a:solidFill>
                                  <a:srgbClr val="FFFF00"/>
                                </a:solidFill>
                                <a:latin typeface="Cambria Math" panose="02040503050406030204" pitchFamily="18" charset="0"/>
                              </a:rPr>
                              <m:t>𝝅</m:t>
                            </m:r>
                            <m:sSub>
                              <m:sSubPr>
                                <m:ctrlPr>
                                  <a:rPr lang="ar-AE" sz="2400" b="1" i="1">
                                    <a:solidFill>
                                      <a:srgbClr val="FFFF00"/>
                                    </a:solidFill>
                                    <a:latin typeface="Cambria Math" panose="02040503050406030204" pitchFamily="18" charset="0"/>
                                  </a:rPr>
                                </m:ctrlPr>
                              </m:sSubPr>
                              <m:e>
                                <m:r>
                                  <a:rPr lang="ar-AE" sz="2400" b="1" i="1">
                                    <a:solidFill>
                                      <a:srgbClr val="FFFF00"/>
                                    </a:solidFill>
                                    <a:latin typeface="Cambria Math" panose="02040503050406030204" pitchFamily="18" charset="0"/>
                                  </a:rPr>
                                  <m:t>𝜺</m:t>
                                </m:r>
                              </m:e>
                              <m:sub>
                                <m:r>
                                  <a:rPr lang="ar-AE" sz="2400" b="1" i="1">
                                    <a:solidFill>
                                      <a:srgbClr val="FFFF00"/>
                                    </a:solidFill>
                                    <a:latin typeface="Cambria Math" panose="02040503050406030204" pitchFamily="18" charset="0"/>
                                  </a:rPr>
                                  <m:t>𝟎</m:t>
                                </m:r>
                              </m:sub>
                            </m:sSub>
                          </m:den>
                        </m:f>
                        <m:f>
                          <m:fPr>
                            <m:ctrlPr>
                              <a:rPr lang="ar-AE" sz="2400" b="1" i="1">
                                <a:solidFill>
                                  <a:srgbClr val="FFFF00"/>
                                </a:solidFill>
                                <a:latin typeface="Cambria Math" panose="02040503050406030204" pitchFamily="18" charset="0"/>
                              </a:rPr>
                            </m:ctrlPr>
                          </m:fPr>
                          <m:num>
                            <m:r>
                              <a:rPr lang="ar-AE" sz="2400" b="1" i="1">
                                <a:solidFill>
                                  <a:srgbClr val="FFFF00"/>
                                </a:solidFill>
                                <a:latin typeface="Cambria Math" panose="02040503050406030204" pitchFamily="18" charset="0"/>
                              </a:rPr>
                              <m:t>𝑸</m:t>
                            </m:r>
                          </m:num>
                          <m:den>
                            <m:sSup>
                              <m:sSupPr>
                                <m:ctrlPr>
                                  <a:rPr lang="ar-AE" sz="2400" b="1" i="1">
                                    <a:solidFill>
                                      <a:srgbClr val="FFFF00"/>
                                    </a:solidFill>
                                    <a:latin typeface="Cambria Math" panose="02040503050406030204" pitchFamily="18" charset="0"/>
                                  </a:rPr>
                                </m:ctrlPr>
                              </m:sSupPr>
                              <m:e>
                                <m:r>
                                  <a:rPr lang="ar-AE" sz="2400" b="1" i="1">
                                    <a:solidFill>
                                      <a:srgbClr val="FFFF00"/>
                                    </a:solidFill>
                                    <a:latin typeface="Cambria Math" panose="02040503050406030204" pitchFamily="18" charset="0"/>
                                  </a:rPr>
                                  <m:t>𝒓</m:t>
                                </m:r>
                              </m:e>
                              <m:sup>
                                <m:r>
                                  <a:rPr lang="ar-AE" sz="2400" b="1" i="1">
                                    <a:solidFill>
                                      <a:srgbClr val="FFFF00"/>
                                    </a:solidFill>
                                    <a:latin typeface="Cambria Math" panose="02040503050406030204" pitchFamily="18" charset="0"/>
                                  </a:rPr>
                                  <m:t>𝟐</m:t>
                                </m:r>
                              </m:sup>
                            </m:sSup>
                          </m:den>
                        </m:f>
                      </m:e>
                    </m:borderBox>
                  </m:oMath>
                </a14:m>
                <a:endParaRPr lang="ar-AE" sz="2000" b="1" dirty="0">
                  <a:latin typeface="Century Schoolbook" panose="02040604050505020304" pitchFamily="18" charset="0"/>
                </a:endParaRPr>
              </a:p>
              <a:p>
                <a:pPr algn="l"/>
                <a:endParaRPr lang="en-IN" sz="2000" b="1" dirty="0">
                  <a:latin typeface="Century Schoolbook" panose="02040604050505020304" pitchFamily="18" charset="0"/>
                </a:endParaRPr>
              </a:p>
            </p:txBody>
          </p:sp>
        </mc:Choice>
        <mc:Fallback xmlns="">
          <p:sp>
            <p:nvSpPr>
              <p:cNvPr id="3" name="Text Placeholder 2">
                <a:extLst>
                  <a:ext uri="{FF2B5EF4-FFF2-40B4-BE49-F238E27FC236}">
                    <a16:creationId xmlns:a16="http://schemas.microsoft.com/office/drawing/2014/main" id="{03BD00D6-75D1-D460-032A-B1746B95AA89}"/>
                  </a:ext>
                </a:extLst>
              </p:cNvPr>
              <p:cNvSpPr>
                <a:spLocks noGrp="1" noRot="1" noChangeAspect="1" noMove="1" noResize="1" noEditPoints="1" noAdjustHandles="1" noChangeArrowheads="1" noChangeShapeType="1" noTextEdit="1"/>
              </p:cNvSpPr>
              <p:nvPr>
                <p:ph type="body" sz="half" idx="2"/>
              </p:nvPr>
            </p:nvSpPr>
            <p:spPr>
              <a:xfrm>
                <a:off x="127817" y="98322"/>
                <a:ext cx="12064181" cy="5722373"/>
              </a:xfrm>
              <a:blipFill>
                <a:blip r:embed="rId2"/>
                <a:stretch>
                  <a:fillRect l="-657"/>
                </a:stretch>
              </a:blipFill>
            </p:spPr>
            <p:txBody>
              <a:bodyPr/>
              <a:lstStyle/>
              <a:p>
                <a:r>
                  <a:rPr lang="en-IN">
                    <a:noFill/>
                  </a:rPr>
                  <a:t> </a:t>
                </a:r>
              </a:p>
            </p:txBody>
          </p:sp>
        </mc:Fallback>
      </mc:AlternateContent>
    </p:spTree>
    <p:extLst>
      <p:ext uri="{BB962C8B-B14F-4D97-AF65-F5344CB8AC3E}">
        <p14:creationId xmlns:p14="http://schemas.microsoft.com/office/powerpoint/2010/main" val="2904655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59DD0-8600-E6DD-90F4-D516EE178514}"/>
              </a:ext>
            </a:extLst>
          </p:cNvPr>
          <p:cNvSpPr>
            <a:spLocks noGrp="1"/>
          </p:cNvSpPr>
          <p:nvPr>
            <p:ph type="title"/>
          </p:nvPr>
        </p:nvSpPr>
        <p:spPr>
          <a:xfrm>
            <a:off x="0" y="-94182"/>
            <a:ext cx="12123174" cy="969253"/>
          </a:xfrm>
        </p:spPr>
        <p:txBody>
          <a:bodyPr>
            <a:normAutofit/>
          </a:bodyPr>
          <a:lstStyle/>
          <a:p>
            <a:pPr algn="l"/>
            <a:r>
              <a:rPr lang="en-US" sz="4800" b="0" dirty="0">
                <a:solidFill>
                  <a:srgbClr val="FFFF00"/>
                </a:solidFill>
                <a:latin typeface="Algerian" panose="04020705040A02060702" pitchFamily="82" charset="0"/>
              </a:rPr>
              <a:t>3.4] </a:t>
            </a:r>
            <a:r>
              <a:rPr lang="en-US" sz="4800" b="0" u="sng" dirty="0">
                <a:solidFill>
                  <a:srgbClr val="FFFF00"/>
                </a:solidFill>
                <a:latin typeface="Algerian" panose="04020705040A02060702" pitchFamily="82" charset="0"/>
              </a:rPr>
              <a:t>Electric lines of force</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2EE008CB-BA9C-0B9C-CC64-10DF04A9B2A2}"/>
              </a:ext>
            </a:extLst>
          </p:cNvPr>
          <p:cNvSpPr>
            <a:spLocks noGrp="1"/>
          </p:cNvSpPr>
          <p:nvPr>
            <p:ph type="body" sz="half" idx="2"/>
          </p:nvPr>
        </p:nvSpPr>
        <p:spPr>
          <a:xfrm>
            <a:off x="68826" y="727587"/>
            <a:ext cx="11980606" cy="6130413"/>
          </a:xfrm>
        </p:spPr>
        <p:txBody>
          <a:bodyPr>
            <a:normAutofit/>
          </a:bodyPr>
          <a:lstStyle/>
          <a:p>
            <a:pPr marL="285750" indent="-285750" algn="l">
              <a:buFont typeface="Wingdings" panose="05000000000000000000" pitchFamily="2" charset="2"/>
              <a:buChar char="v"/>
            </a:pPr>
            <a:r>
              <a:rPr lang="en-US" sz="2800" b="1" u="sng" dirty="0">
                <a:solidFill>
                  <a:srgbClr val="FFFF00"/>
                </a:solidFill>
                <a:latin typeface="Century Schoolbook" panose="02040604050505020304" pitchFamily="18" charset="0"/>
              </a:rPr>
              <a:t>Definition</a:t>
            </a:r>
            <a:r>
              <a:rPr lang="en-US" sz="2800" b="1" dirty="0">
                <a:solidFill>
                  <a:srgbClr val="FFFF00"/>
                </a:solidFill>
                <a:latin typeface="Century Schoolbook" panose="02040604050505020304" pitchFamily="18" charset="0"/>
              </a:rPr>
              <a:t> : -</a:t>
            </a:r>
          </a:p>
          <a:p>
            <a:pPr marL="285750" indent="-285750" algn="l">
              <a:buFont typeface="Wingdings" panose="05000000000000000000" pitchFamily="2" charset="2"/>
              <a:buChar char="Ø"/>
            </a:pPr>
            <a:r>
              <a:rPr lang="en-US" sz="2400" b="1" dirty="0">
                <a:latin typeface="Century Schoolbook" panose="02040604050505020304" pitchFamily="18" charset="0"/>
              </a:rPr>
              <a:t>Electric lines of force are imaginary lines drawn in an electric field such that the tangent at any point on the line gives the direction of the electric field at that point.</a:t>
            </a:r>
          </a:p>
          <a:p>
            <a:pPr marL="285750" indent="-285750" algn="l">
              <a:buFont typeface="Wingdings" panose="05000000000000000000" pitchFamily="2" charset="2"/>
              <a:buChar char="Ø"/>
            </a:pPr>
            <a:r>
              <a:rPr lang="en-US" sz="2400" b="1" dirty="0">
                <a:latin typeface="Century Schoolbook" panose="02040604050505020304" pitchFamily="18" charset="0"/>
              </a:rPr>
              <a:t>In simple words - they represent the path along which a positive test charge would move if placed in the field.</a:t>
            </a:r>
          </a:p>
          <a:p>
            <a:pPr marL="285750" indent="-285750" algn="l">
              <a:buFont typeface="Wingdings" panose="05000000000000000000" pitchFamily="2" charset="2"/>
              <a:buChar char="v"/>
            </a:pPr>
            <a:r>
              <a:rPr lang="en-US" sz="2800" b="1" u="sng" dirty="0">
                <a:solidFill>
                  <a:srgbClr val="FFFF00"/>
                </a:solidFill>
                <a:latin typeface="Century Schoolbook" panose="02040604050505020304" pitchFamily="18" charset="0"/>
              </a:rPr>
              <a:t>Representation</a:t>
            </a:r>
            <a:r>
              <a:rPr lang="en-US" sz="2800" b="1" dirty="0">
                <a:solidFill>
                  <a:srgbClr val="FFFF00"/>
                </a:solidFill>
                <a:latin typeface="Century Schoolbook" panose="02040604050505020304" pitchFamily="18" charset="0"/>
              </a:rPr>
              <a:t> : -</a:t>
            </a:r>
          </a:p>
          <a:p>
            <a:pPr algn="l"/>
            <a:r>
              <a:rPr lang="en-US" sz="2400" b="1" dirty="0">
                <a:latin typeface="Century Schoolbook" panose="02040604050505020304" pitchFamily="18" charset="0"/>
              </a:rPr>
              <a:t>They are drawn from Example :</a:t>
            </a:r>
          </a:p>
          <a:p>
            <a:pPr marL="285750" indent="-285750" algn="l">
              <a:buFont typeface="Arial" panose="020B0604020202020204" pitchFamily="34" charset="0"/>
              <a:buChar char="•"/>
            </a:pPr>
            <a:r>
              <a:rPr lang="en-US" sz="2000" b="1" dirty="0">
                <a:latin typeface="Century Schoolbook" panose="02040604050505020304" pitchFamily="18" charset="0"/>
              </a:rPr>
              <a:t>For a single positive charge, lines radiate outward.</a:t>
            </a:r>
          </a:p>
          <a:p>
            <a:pPr marL="285750" indent="-285750" algn="l">
              <a:buFont typeface="Arial" panose="020B0604020202020204" pitchFamily="34" charset="0"/>
              <a:buChar char="•"/>
            </a:pPr>
            <a:r>
              <a:rPr lang="en-US" sz="2000" b="1" dirty="0">
                <a:latin typeface="Century Schoolbook" panose="02040604050505020304" pitchFamily="18" charset="0"/>
              </a:rPr>
              <a:t>For a single negative charge, lines converge inward.</a:t>
            </a:r>
          </a:p>
          <a:p>
            <a:pPr marL="285750" indent="-285750" algn="l">
              <a:buFont typeface="Arial" panose="020B0604020202020204" pitchFamily="34" charset="0"/>
              <a:buChar char="•"/>
            </a:pPr>
            <a:r>
              <a:rPr lang="en-US" sz="2000" b="1" dirty="0">
                <a:latin typeface="Century Schoolbook" panose="02040604050505020304" pitchFamily="18" charset="0"/>
              </a:rPr>
              <a:t>Between opposite charges, lines go from positive to negative.</a:t>
            </a:r>
          </a:p>
          <a:p>
            <a:pPr algn="l"/>
            <a:endParaRPr lang="en-IN" sz="1800" b="1" dirty="0">
              <a:latin typeface="Century Schoolbook" panose="02040604050505020304" pitchFamily="18" charset="0"/>
            </a:endParaRPr>
          </a:p>
        </p:txBody>
      </p:sp>
    </p:spTree>
    <p:extLst>
      <p:ext uri="{BB962C8B-B14F-4D97-AF65-F5344CB8AC3E}">
        <p14:creationId xmlns:p14="http://schemas.microsoft.com/office/powerpoint/2010/main" val="2460435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7ED03-8912-19FB-9882-9A148214EFE4}"/>
              </a:ext>
            </a:extLst>
          </p:cNvPr>
          <p:cNvSpPr>
            <a:spLocks noGrp="1"/>
          </p:cNvSpPr>
          <p:nvPr>
            <p:ph type="title"/>
          </p:nvPr>
        </p:nvSpPr>
        <p:spPr>
          <a:xfrm>
            <a:off x="-79264" y="-104013"/>
            <a:ext cx="12173545" cy="949588"/>
          </a:xfrm>
        </p:spPr>
        <p:txBody>
          <a:bodyPr>
            <a:normAutofit fontScale="90000"/>
          </a:bodyPr>
          <a:lstStyle/>
          <a:p>
            <a:pPr marL="457200" indent="-457200">
              <a:buFont typeface="Wingdings" panose="05000000000000000000" pitchFamily="2" charset="2"/>
              <a:buChar char="v"/>
            </a:pPr>
            <a:r>
              <a:rPr lang="en-US" sz="4800" b="0" u="sng" dirty="0">
                <a:solidFill>
                  <a:srgbClr val="FFFF00"/>
                </a:solidFill>
                <a:latin typeface="Algerian" panose="04020705040A02060702" pitchFamily="82" charset="0"/>
              </a:rPr>
              <a:t>Properties of electric lines of force</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1FD9F638-67E7-C39B-D0D2-9AC37852BB54}"/>
              </a:ext>
            </a:extLst>
          </p:cNvPr>
          <p:cNvSpPr>
            <a:spLocks noGrp="1"/>
          </p:cNvSpPr>
          <p:nvPr>
            <p:ph type="body" sz="half" idx="2"/>
          </p:nvPr>
        </p:nvSpPr>
        <p:spPr>
          <a:xfrm>
            <a:off x="97719" y="727587"/>
            <a:ext cx="12085054" cy="6130413"/>
          </a:xfrm>
        </p:spPr>
        <p:txBody>
          <a:bodyPr>
            <a:normAutofit/>
          </a:bodyPr>
          <a:lstStyle/>
          <a:p>
            <a:pPr marL="285750" indent="-285750" algn="l">
              <a:buFont typeface="Arial" panose="020B0604020202020204" pitchFamily="34" charset="0"/>
              <a:buChar char="•"/>
            </a:pPr>
            <a:r>
              <a:rPr lang="en-US" sz="2000" b="1" u="sng" dirty="0">
                <a:solidFill>
                  <a:srgbClr val="FFFF00"/>
                </a:solidFill>
                <a:latin typeface="Century Schoolbook" panose="02040604050505020304" pitchFamily="18" charset="0"/>
              </a:rPr>
              <a:t>Originate and terminate</a:t>
            </a:r>
            <a:r>
              <a:rPr lang="en-US" sz="2000" b="1" dirty="0">
                <a:solidFill>
                  <a:srgbClr val="FFFF00"/>
                </a:solidFill>
                <a:latin typeface="Century Schoolbook" panose="02040604050505020304" pitchFamily="18" charset="0"/>
              </a:rPr>
              <a:t> : </a:t>
            </a:r>
            <a:r>
              <a:rPr lang="en-US" sz="1800" b="1" dirty="0">
                <a:latin typeface="Century Schoolbook" panose="02040604050505020304" pitchFamily="18" charset="0"/>
              </a:rPr>
              <a:t>Start from positive charge and end on negative charge.</a:t>
            </a:r>
          </a:p>
          <a:p>
            <a:pPr marL="285750" indent="-285750" algn="l">
              <a:buFont typeface="Arial" panose="020B0604020202020204" pitchFamily="34" charset="0"/>
              <a:buChar char="•"/>
            </a:pPr>
            <a:r>
              <a:rPr lang="en-US" sz="2000" b="1" u="sng" dirty="0">
                <a:solidFill>
                  <a:srgbClr val="FFFF00"/>
                </a:solidFill>
                <a:latin typeface="Century Schoolbook" panose="02040604050505020304" pitchFamily="18" charset="0"/>
              </a:rPr>
              <a:t>Never intersect</a:t>
            </a:r>
            <a:r>
              <a:rPr lang="en-US" sz="2000" b="1" dirty="0">
                <a:solidFill>
                  <a:srgbClr val="FFFF00"/>
                </a:solidFill>
                <a:latin typeface="Century Schoolbook" panose="02040604050505020304" pitchFamily="18" charset="0"/>
              </a:rPr>
              <a:t> : </a:t>
            </a:r>
            <a:r>
              <a:rPr lang="en-US" sz="1800" b="1" dirty="0">
                <a:latin typeface="Century Schoolbook" panose="02040604050505020304" pitchFamily="18" charset="0"/>
              </a:rPr>
              <a:t>Two lines of force never cross each other, because the electric field at a point can have only one direction.</a:t>
            </a:r>
          </a:p>
          <a:p>
            <a:pPr marL="285750" indent="-285750" algn="l">
              <a:buFont typeface="Arial" panose="020B0604020202020204" pitchFamily="34" charset="0"/>
              <a:buChar char="•"/>
            </a:pPr>
            <a:r>
              <a:rPr lang="en-US" sz="2000" b="1" u="sng" dirty="0">
                <a:solidFill>
                  <a:srgbClr val="FFFF00"/>
                </a:solidFill>
                <a:latin typeface="Century Schoolbook" panose="02040604050505020304" pitchFamily="18" charset="0"/>
              </a:rPr>
              <a:t>Direction</a:t>
            </a:r>
            <a:r>
              <a:rPr lang="en-US" sz="2000" b="1" dirty="0">
                <a:solidFill>
                  <a:srgbClr val="FFFF00"/>
                </a:solidFill>
                <a:latin typeface="Century Schoolbook" panose="02040604050505020304" pitchFamily="18" charset="0"/>
              </a:rPr>
              <a:t> : </a:t>
            </a:r>
            <a:r>
              <a:rPr lang="en-US" sz="1800" b="1" dirty="0">
                <a:latin typeface="Century Schoolbook" panose="02040604050505020304" pitchFamily="18" charset="0"/>
              </a:rPr>
              <a:t>The direction of lines gives the direction of electric field (tangent at a point shows E’s direction).</a:t>
            </a:r>
          </a:p>
          <a:p>
            <a:pPr marL="285750" indent="-285750" algn="l">
              <a:buFont typeface="Arial" panose="020B0604020202020204" pitchFamily="34" charset="0"/>
              <a:buChar char="•"/>
            </a:pPr>
            <a:r>
              <a:rPr lang="en-US" sz="2000" b="1" u="sng" dirty="0">
                <a:solidFill>
                  <a:srgbClr val="FFFF00"/>
                </a:solidFill>
                <a:latin typeface="Century Schoolbook" panose="02040604050505020304" pitchFamily="18" charset="0"/>
              </a:rPr>
              <a:t>Field strength</a:t>
            </a:r>
            <a:r>
              <a:rPr lang="en-US" sz="2000" b="1" dirty="0">
                <a:solidFill>
                  <a:srgbClr val="FFFF00"/>
                </a:solidFill>
                <a:latin typeface="Century Schoolbook" panose="02040604050505020304" pitchFamily="18" charset="0"/>
              </a:rPr>
              <a:t> : </a:t>
            </a:r>
            <a:r>
              <a:rPr lang="en-US" sz="1800" b="1" dirty="0">
                <a:latin typeface="Century Schoolbook" panose="02040604050505020304" pitchFamily="18" charset="0"/>
              </a:rPr>
              <a:t>The closer the lines, the stronger the electric field; the farther apart, the weaker the field.</a:t>
            </a:r>
          </a:p>
          <a:p>
            <a:pPr marL="285750" indent="-285750" algn="l">
              <a:buFont typeface="Arial" panose="020B0604020202020204" pitchFamily="34" charset="0"/>
              <a:buChar char="•"/>
            </a:pPr>
            <a:r>
              <a:rPr lang="en-US" sz="2000" b="1" u="sng" dirty="0">
                <a:solidFill>
                  <a:srgbClr val="FFFF00"/>
                </a:solidFill>
                <a:latin typeface="Century Schoolbook" panose="02040604050505020304" pitchFamily="18" charset="0"/>
              </a:rPr>
              <a:t>Perpendicular to surface</a:t>
            </a:r>
            <a:r>
              <a:rPr lang="en-US" sz="2000" b="1" dirty="0">
                <a:solidFill>
                  <a:srgbClr val="FFFF00"/>
                </a:solidFill>
                <a:latin typeface="Century Schoolbook" panose="02040604050505020304" pitchFamily="18" charset="0"/>
              </a:rPr>
              <a:t> : </a:t>
            </a:r>
            <a:r>
              <a:rPr lang="en-US" sz="1800" b="1" dirty="0">
                <a:latin typeface="Century Schoolbook" panose="02040604050505020304" pitchFamily="18" charset="0"/>
              </a:rPr>
              <a:t>Lines of force are always perpendicular to the surface of a charged conductor.</a:t>
            </a:r>
          </a:p>
          <a:p>
            <a:pPr marL="285750" indent="-285750" algn="l">
              <a:buFont typeface="Arial" panose="020B0604020202020204" pitchFamily="34" charset="0"/>
              <a:buChar char="•"/>
            </a:pPr>
            <a:r>
              <a:rPr lang="en-US" sz="2000" b="1" u="sng" dirty="0">
                <a:solidFill>
                  <a:srgbClr val="FFFF00"/>
                </a:solidFill>
                <a:latin typeface="Century Schoolbook" panose="02040604050505020304" pitchFamily="18" charset="0"/>
              </a:rPr>
              <a:t>Do not form closed loops</a:t>
            </a:r>
            <a:r>
              <a:rPr lang="en-US" sz="2000" b="1" dirty="0">
                <a:solidFill>
                  <a:srgbClr val="FFFF00"/>
                </a:solidFill>
                <a:latin typeface="Century Schoolbook" panose="02040604050505020304" pitchFamily="18" charset="0"/>
              </a:rPr>
              <a:t> : </a:t>
            </a:r>
            <a:r>
              <a:rPr lang="en-US" sz="1800" b="1" dirty="0">
                <a:latin typeface="Century Schoolbook" panose="02040604050505020304" pitchFamily="18" charset="0"/>
              </a:rPr>
              <a:t>They start from positive and end on negative, hence never form closed curves (unlike magnetic lines).</a:t>
            </a:r>
          </a:p>
          <a:p>
            <a:pPr marL="285750" indent="-285750" algn="l">
              <a:buFont typeface="Arial" panose="020B0604020202020204" pitchFamily="34" charset="0"/>
              <a:buChar char="•"/>
            </a:pPr>
            <a:r>
              <a:rPr lang="en-US" sz="2000" b="1" u="sng" dirty="0">
                <a:solidFill>
                  <a:srgbClr val="FFFF00"/>
                </a:solidFill>
                <a:latin typeface="Century Schoolbook" panose="02040604050505020304" pitchFamily="18" charset="0"/>
              </a:rPr>
              <a:t>No lines inside conductor</a:t>
            </a:r>
            <a:r>
              <a:rPr lang="en-US" sz="2000" b="1" dirty="0">
                <a:solidFill>
                  <a:srgbClr val="FFFF00"/>
                </a:solidFill>
                <a:latin typeface="Century Schoolbook" panose="02040604050505020304" pitchFamily="18" charset="0"/>
              </a:rPr>
              <a:t> : </a:t>
            </a:r>
            <a:r>
              <a:rPr lang="en-US" sz="1800" b="1" dirty="0">
                <a:latin typeface="Century Schoolbook" panose="02040604050505020304" pitchFamily="18" charset="0"/>
              </a:rPr>
              <a:t>Inside a charged conductor, the electric field is zero, so no lines of force are drawn inside.</a:t>
            </a:r>
          </a:p>
          <a:p>
            <a:pPr marL="285750" indent="-285750" algn="l">
              <a:buFont typeface="Arial" panose="020B0604020202020204" pitchFamily="34" charset="0"/>
              <a:buChar char="•"/>
            </a:pPr>
            <a:r>
              <a:rPr lang="en-US" sz="2000" b="1" u="sng" dirty="0">
                <a:solidFill>
                  <a:srgbClr val="FFFF00"/>
                </a:solidFill>
                <a:latin typeface="Century Schoolbook" panose="02040604050505020304" pitchFamily="18" charset="0"/>
              </a:rPr>
              <a:t>Curved in non-uniform field</a:t>
            </a:r>
            <a:r>
              <a:rPr lang="en-US" sz="2000" b="1" dirty="0">
                <a:solidFill>
                  <a:srgbClr val="FFFF00"/>
                </a:solidFill>
                <a:latin typeface="Century Schoolbook" panose="02040604050505020304" pitchFamily="18" charset="0"/>
              </a:rPr>
              <a:t> : </a:t>
            </a:r>
            <a:r>
              <a:rPr lang="en-US" sz="1800" b="1" dirty="0">
                <a:latin typeface="Century Schoolbook" panose="02040604050505020304" pitchFamily="18" charset="0"/>
              </a:rPr>
              <a:t>In a non-uniform electric field, lines of force are curved.</a:t>
            </a:r>
          </a:p>
          <a:p>
            <a:pPr algn="l"/>
            <a:endParaRPr lang="en-IN" dirty="0"/>
          </a:p>
        </p:txBody>
      </p:sp>
    </p:spTree>
    <p:extLst>
      <p:ext uri="{BB962C8B-B14F-4D97-AF65-F5344CB8AC3E}">
        <p14:creationId xmlns:p14="http://schemas.microsoft.com/office/powerpoint/2010/main" val="2434633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958AC-CEFD-145C-302A-41C76B01297C}"/>
              </a:ext>
            </a:extLst>
          </p:cNvPr>
          <p:cNvSpPr>
            <a:spLocks noGrp="1"/>
          </p:cNvSpPr>
          <p:nvPr>
            <p:ph type="title"/>
          </p:nvPr>
        </p:nvSpPr>
        <p:spPr>
          <a:xfrm>
            <a:off x="29194" y="-133510"/>
            <a:ext cx="12192000" cy="1056853"/>
          </a:xfrm>
        </p:spPr>
        <p:txBody>
          <a:bodyPr>
            <a:normAutofit/>
          </a:bodyPr>
          <a:lstStyle/>
          <a:p>
            <a:pPr algn="l"/>
            <a:r>
              <a:rPr lang="en-US" sz="4800" b="0" dirty="0">
                <a:solidFill>
                  <a:srgbClr val="FFFF00"/>
                </a:solidFill>
                <a:latin typeface="Algerian" panose="04020705040A02060702" pitchFamily="82" charset="0"/>
              </a:rPr>
              <a:t>3.5] </a:t>
            </a:r>
            <a:r>
              <a:rPr lang="en-US" sz="4800" b="0" u="sng" dirty="0">
                <a:solidFill>
                  <a:srgbClr val="FFFF00"/>
                </a:solidFill>
                <a:latin typeface="Algerian" panose="04020705040A02060702" pitchFamily="82" charset="0"/>
              </a:rPr>
              <a:t>Electric flux</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5810884-AB5D-54A8-6C83-1AED989F01B0}"/>
                  </a:ext>
                </a:extLst>
              </p:cNvPr>
              <p:cNvSpPr>
                <a:spLocks noGrp="1"/>
              </p:cNvSpPr>
              <p:nvPr>
                <p:ph type="body" sz="half" idx="2"/>
              </p:nvPr>
            </p:nvSpPr>
            <p:spPr>
              <a:xfrm>
                <a:off x="137349" y="766916"/>
                <a:ext cx="11917302" cy="6204155"/>
              </a:xfrm>
            </p:spPr>
            <p:txBody>
              <a:bodyPr>
                <a:normAutofit lnSpcReduction="10000"/>
              </a:bodyPr>
              <a:lstStyle/>
              <a:p>
                <a:pPr marL="285750" indent="-285750" algn="l">
                  <a:buFont typeface="Wingdings" panose="05000000000000000000" pitchFamily="2" charset="2"/>
                  <a:buChar char="v"/>
                </a:pPr>
                <a:r>
                  <a:rPr lang="en-IN" sz="2800" b="1" u="sng" dirty="0">
                    <a:solidFill>
                      <a:srgbClr val="FFFF00"/>
                    </a:solidFill>
                    <a:latin typeface="Century Schoolbook" panose="02040604050505020304" pitchFamily="18" charset="0"/>
                  </a:rPr>
                  <a:t>Definition</a:t>
                </a:r>
                <a:r>
                  <a:rPr lang="en-IN" sz="2800" b="1" dirty="0">
                    <a:solidFill>
                      <a:srgbClr val="FFFF00"/>
                    </a:solidFill>
                    <a:latin typeface="Century Schoolbook" panose="02040604050505020304" pitchFamily="18" charset="0"/>
                  </a:rPr>
                  <a:t> : -</a:t>
                </a:r>
              </a:p>
              <a:p>
                <a:pPr marL="285750" indent="-285750" algn="l">
                  <a:buFont typeface="Wingdings" panose="05000000000000000000" pitchFamily="2" charset="2"/>
                  <a:buChar char="Ø"/>
                </a:pPr>
                <a:r>
                  <a:rPr lang="en-IN" sz="2000" b="1" dirty="0">
                    <a:latin typeface="Century Schoolbook" panose="02040604050505020304" pitchFamily="18" charset="0"/>
                  </a:rPr>
                  <a:t>The electric flux (</a:t>
                </a:r>
                <a:r>
                  <a:rPr lang="el-GR" sz="2000" b="1" dirty="0">
                    <a:latin typeface="Century Schoolbook" panose="02040604050505020304" pitchFamily="18" charset="0"/>
                  </a:rPr>
                  <a:t>Φ) </a:t>
                </a:r>
                <a:r>
                  <a:rPr lang="en-IN" sz="2000" b="1" dirty="0">
                    <a:latin typeface="Century Schoolbook" panose="02040604050505020304" pitchFamily="18" charset="0"/>
                  </a:rPr>
                  <a:t>through a surface is defined as the total number of electric field lines passing normally through that surface.</a:t>
                </a:r>
              </a:p>
              <a:p>
                <a:pPr marL="285750" indent="-285750" algn="l">
                  <a:buFont typeface="Wingdings" panose="05000000000000000000" pitchFamily="2" charset="2"/>
                  <a:buChar char="Ø"/>
                </a:pPr>
                <a:r>
                  <a:rPr lang="en-IN" sz="2000" b="1" dirty="0">
                    <a:latin typeface="Century Schoolbook" panose="02040604050505020304" pitchFamily="18" charset="0"/>
                  </a:rPr>
                  <a:t>In simple words — it represents the flow of the electric field through a given area.</a:t>
                </a:r>
              </a:p>
              <a:p>
                <a:pPr marL="285750" indent="-285750" algn="l">
                  <a:buFont typeface="Wingdings" panose="05000000000000000000" pitchFamily="2" charset="2"/>
                  <a:buChar char="v"/>
                </a:pPr>
                <a:r>
                  <a:rPr lang="en-IN" sz="2000" b="1" dirty="0">
                    <a:latin typeface="Century Schoolbook" panose="02040604050505020304" pitchFamily="18" charset="0"/>
                  </a:rPr>
                  <a:t>Mathematical Expression : </a:t>
                </a:r>
                <a14:m>
                  <m:oMath xmlns:m="http://schemas.openxmlformats.org/officeDocument/2006/math">
                    <m:r>
                      <a:rPr lang="el-GR" sz="2400" b="1" i="1" smtClean="0">
                        <a:solidFill>
                          <a:srgbClr val="FFFF00"/>
                        </a:solidFill>
                        <a:latin typeface="Cambria Math" panose="02040503050406030204" pitchFamily="18" charset="0"/>
                      </a:rPr>
                      <m:t>𝚽</m:t>
                    </m:r>
                    <m:r>
                      <a:rPr lang="el-GR" sz="2400" b="1" smtClean="0">
                        <a:solidFill>
                          <a:srgbClr val="FFFF00"/>
                        </a:solidFill>
                        <a:latin typeface="Cambria Math" panose="02040503050406030204" pitchFamily="18" charset="0"/>
                      </a:rPr>
                      <m:t>=</m:t>
                    </m:r>
                    <m:r>
                      <a:rPr lang="el-GR" sz="2400" b="1" i="1" smtClean="0">
                        <a:solidFill>
                          <a:srgbClr val="FFFF00"/>
                        </a:solidFill>
                        <a:latin typeface="Cambria Math" panose="02040503050406030204" pitchFamily="18" charset="0"/>
                      </a:rPr>
                      <m:t>𝑬</m:t>
                    </m:r>
                    <m:r>
                      <a:rPr lang="el-GR" sz="2400" b="1" smtClean="0">
                        <a:solidFill>
                          <a:srgbClr val="FFFF00"/>
                        </a:solidFill>
                        <a:latin typeface="Cambria Math" panose="02040503050406030204" pitchFamily="18" charset="0"/>
                      </a:rPr>
                      <m:t>⋅</m:t>
                    </m:r>
                    <m:r>
                      <a:rPr lang="el-GR" sz="2400" b="1" i="1" smtClean="0">
                        <a:solidFill>
                          <a:srgbClr val="FFFF00"/>
                        </a:solidFill>
                        <a:latin typeface="Cambria Math" panose="02040503050406030204" pitchFamily="18" charset="0"/>
                      </a:rPr>
                      <m:t>𝑨</m:t>
                    </m:r>
                    <m:r>
                      <a:rPr lang="el-GR" sz="2400" b="1" smtClean="0">
                        <a:solidFill>
                          <a:srgbClr val="FFFF00"/>
                        </a:solidFill>
                        <a:latin typeface="Cambria Math" panose="02040503050406030204" pitchFamily="18" charset="0"/>
                      </a:rPr>
                      <m:t>=</m:t>
                    </m:r>
                    <m:r>
                      <a:rPr lang="el-GR" sz="2400" b="1" i="1" smtClean="0">
                        <a:solidFill>
                          <a:srgbClr val="FFFF00"/>
                        </a:solidFill>
                        <a:latin typeface="Cambria Math" panose="02040503050406030204" pitchFamily="18" charset="0"/>
                      </a:rPr>
                      <m:t>𝑬𝑨</m:t>
                    </m:r>
                    <m:func>
                      <m:funcPr>
                        <m:ctrlPr>
                          <a:rPr lang="ar-AE" sz="2400" b="1" i="1">
                            <a:solidFill>
                              <a:srgbClr val="FFFF00"/>
                            </a:solidFill>
                            <a:latin typeface="Cambria Math" panose="02040503050406030204" pitchFamily="18" charset="0"/>
                          </a:rPr>
                        </m:ctrlPr>
                      </m:funcPr>
                      <m:fName>
                        <m:r>
                          <a:rPr lang="en-IN" sz="2400" b="1" i="1" smtClean="0">
                            <a:solidFill>
                              <a:srgbClr val="FFFF00"/>
                            </a:solidFill>
                            <a:latin typeface="Cambria Math" panose="02040503050406030204" pitchFamily="18" charset="0"/>
                          </a:rPr>
                          <m:t>𝐜𝐨𝐬</m:t>
                        </m:r>
                      </m:fName>
                      <m:e>
                        <m:r>
                          <a:rPr lang="ar-AE" sz="2400" b="1" i="1" smtClean="0">
                            <a:solidFill>
                              <a:srgbClr val="FFFF00"/>
                            </a:solidFill>
                            <a:latin typeface="Cambria Math" panose="02040503050406030204" pitchFamily="18" charset="0"/>
                          </a:rPr>
                          <m:t>𝜽</m:t>
                        </m:r>
                      </m:e>
                    </m:func>
                  </m:oMath>
                </a14:m>
                <a:endParaRPr lang="ar-AE" b="1" dirty="0">
                  <a:latin typeface="Century Schoolbook" panose="02040604050505020304" pitchFamily="18" charset="0"/>
                </a:endParaRPr>
              </a:p>
              <a:p>
                <a:pPr algn="l"/>
                <a:r>
                  <a:rPr lang="en-IN" sz="1800" b="1" dirty="0">
                    <a:latin typeface="Century Schoolbook" panose="02040604050505020304" pitchFamily="18" charset="0"/>
                  </a:rPr>
                  <a:t>Where,</a:t>
                </a:r>
              </a:p>
              <a:p>
                <a:pPr marL="285750" indent="-285750" algn="l">
                  <a:buFont typeface="Arial" panose="020B0604020202020204" pitchFamily="34" charset="0"/>
                  <a:buChar char="•"/>
                </a:pPr>
                <a14:m>
                  <m:oMath xmlns:m="http://schemas.openxmlformats.org/officeDocument/2006/math">
                    <m:r>
                      <a:rPr lang="el-GR" sz="1800" b="1" i="1" smtClean="0">
                        <a:latin typeface="Cambria Math" panose="02040503050406030204" pitchFamily="18" charset="0"/>
                      </a:rPr>
                      <m:t>𝚽</m:t>
                    </m:r>
                    <m:r>
                      <a:rPr lang="en-US" sz="1800" b="1" i="1" smtClean="0">
                        <a:latin typeface="Cambria Math" panose="02040503050406030204" pitchFamily="18" charset="0"/>
                      </a:rPr>
                      <m:t> </m:t>
                    </m:r>
                  </m:oMath>
                </a14:m>
                <a:r>
                  <a:rPr lang="el-GR" sz="1800" b="1" dirty="0">
                    <a:latin typeface="Century Schoolbook" panose="02040604050505020304" pitchFamily="18" charset="0"/>
                  </a:rPr>
                  <a:t>= </a:t>
                </a:r>
                <a:r>
                  <a:rPr lang="en-IN" sz="1800" b="1" dirty="0">
                    <a:latin typeface="Century Schoolbook" panose="02040604050505020304" pitchFamily="18" charset="0"/>
                  </a:rPr>
                  <a:t>Electric flux</a:t>
                </a:r>
              </a:p>
              <a:p>
                <a:pPr marL="285750" indent="-285750" algn="l">
                  <a:buFont typeface="Arial" panose="020B0604020202020204" pitchFamily="34" charset="0"/>
                  <a:buChar char="•"/>
                </a:pPr>
                <a14:m>
                  <m:oMath xmlns:m="http://schemas.openxmlformats.org/officeDocument/2006/math">
                    <m:r>
                      <a:rPr lang="en-IN" sz="1800" b="1" i="1" smtClean="0">
                        <a:latin typeface="Cambria Math" panose="02040503050406030204" pitchFamily="18" charset="0"/>
                      </a:rPr>
                      <m:t>𝑬</m:t>
                    </m:r>
                  </m:oMath>
                </a14:m>
                <a:r>
                  <a:rPr lang="en-IN" sz="1800" b="1" dirty="0">
                    <a:latin typeface="Century Schoolbook" panose="02040604050505020304" pitchFamily="18" charset="0"/>
                  </a:rPr>
                  <a:t> = Electric field intensity	</a:t>
                </a:r>
              </a:p>
              <a:p>
                <a:pPr marL="285750" indent="-285750" algn="l">
                  <a:buFont typeface="Arial" panose="020B0604020202020204" pitchFamily="34" charset="0"/>
                  <a:buChar char="•"/>
                </a:pPr>
                <a14:m>
                  <m:oMath xmlns:m="http://schemas.openxmlformats.org/officeDocument/2006/math">
                    <m:r>
                      <a:rPr lang="en-IN" sz="1800" b="1" i="1" smtClean="0">
                        <a:latin typeface="Cambria Math" panose="02040503050406030204" pitchFamily="18" charset="0"/>
                      </a:rPr>
                      <m:t>𝑨</m:t>
                    </m:r>
                  </m:oMath>
                </a14:m>
                <a:r>
                  <a:rPr lang="en-IN" sz="1800" b="1" dirty="0">
                    <a:latin typeface="Century Schoolbook" panose="02040604050505020304" pitchFamily="18" charset="0"/>
                  </a:rPr>
                  <a:t> = Area of the surface</a:t>
                </a:r>
              </a:p>
              <a:p>
                <a:pPr marL="285750" indent="-285750" algn="l">
                  <a:buFont typeface="Arial" panose="020B0604020202020204" pitchFamily="34" charset="0"/>
                  <a:buChar char="•"/>
                </a:pPr>
                <a14:m>
                  <m:oMath xmlns:m="http://schemas.openxmlformats.org/officeDocument/2006/math">
                    <m:r>
                      <a:rPr lang="en-IN" sz="1800" b="1" i="1" smtClean="0">
                        <a:latin typeface="Cambria Math" panose="02040503050406030204" pitchFamily="18" charset="0"/>
                      </a:rPr>
                      <m:t>𝜽</m:t>
                    </m:r>
                  </m:oMath>
                </a14:m>
                <a:r>
                  <a:rPr lang="en-IN" sz="1800" b="1" dirty="0">
                    <a:latin typeface="Century Schoolbook" panose="02040604050505020304" pitchFamily="18" charset="0"/>
                  </a:rPr>
                  <a:t> = Angle between electric field and normal to the surface</a:t>
                </a:r>
              </a:p>
              <a:p>
                <a:pPr marL="285750" indent="-285750" algn="l">
                  <a:buFont typeface="Wingdings" panose="05000000000000000000" pitchFamily="2" charset="2"/>
                  <a:buChar char="v"/>
                </a:pPr>
                <a:r>
                  <a:rPr lang="en-IN" sz="2400" b="1" u="sng" dirty="0">
                    <a:solidFill>
                      <a:srgbClr val="FFFF00"/>
                    </a:solidFill>
                    <a:latin typeface="Century Schoolbook" panose="02040604050505020304" pitchFamily="18" charset="0"/>
                  </a:rPr>
                  <a:t>Example</a:t>
                </a:r>
                <a:r>
                  <a:rPr lang="en-IN" sz="2400" b="1" dirty="0">
                    <a:solidFill>
                      <a:srgbClr val="FFFF00"/>
                    </a:solidFill>
                    <a:latin typeface="Century Schoolbook" panose="02040604050505020304" pitchFamily="18" charset="0"/>
                  </a:rPr>
                  <a:t> : -</a:t>
                </a:r>
              </a:p>
              <a:p>
                <a:pPr algn="l"/>
                <a:r>
                  <a:rPr lang="en-IN" b="1" dirty="0">
                    <a:latin typeface="Century Schoolbook" panose="02040604050505020304" pitchFamily="18" charset="0"/>
                  </a:rPr>
                  <a:t>If an electric field of </a:t>
                </a:r>
                <a14:m>
                  <m:oMath xmlns:m="http://schemas.openxmlformats.org/officeDocument/2006/math">
                    <m:r>
                      <a:rPr lang="en-IN" b="1" i="1" smtClean="0">
                        <a:latin typeface="Cambria Math" panose="02040503050406030204" pitchFamily="18" charset="0"/>
                      </a:rPr>
                      <m:t>𝟐𝟎𝟎</m:t>
                    </m:r>
                    <m:r>
                      <m:rPr>
                        <m:nor/>
                      </m:rPr>
                      <a:rPr lang="en-IN" b="1" i="1">
                        <a:latin typeface="Century Schoolbook" panose="02040604050505020304" pitchFamily="18" charset="0"/>
                      </a:rPr>
                      <m:t> </m:t>
                    </m:r>
                    <m:r>
                      <a:rPr lang="en-IN" b="1" i="1" smtClean="0">
                        <a:latin typeface="Cambria Math" panose="02040503050406030204" pitchFamily="18" charset="0"/>
                      </a:rPr>
                      <m:t>𝑵</m:t>
                    </m:r>
                    <m:r>
                      <a:rPr lang="en-IN" b="1" smtClean="0">
                        <a:latin typeface="Cambria Math" panose="02040503050406030204" pitchFamily="18" charset="0"/>
                      </a:rPr>
                      <m:t>/</m:t>
                    </m:r>
                    <m:r>
                      <a:rPr lang="en-IN" b="1" i="1" smtClean="0">
                        <a:latin typeface="Cambria Math" panose="02040503050406030204" pitchFamily="18" charset="0"/>
                      </a:rPr>
                      <m:t>𝑪</m:t>
                    </m:r>
                  </m:oMath>
                </a14:m>
                <a:r>
                  <a:rPr lang="en-IN" b="1" dirty="0">
                    <a:latin typeface="Century Schoolbook" panose="02040604050505020304" pitchFamily="18" charset="0"/>
                  </a:rPr>
                  <a:t>passes normally through a surface of area </a:t>
                </a:r>
                <a14:m>
                  <m:oMath xmlns:m="http://schemas.openxmlformats.org/officeDocument/2006/math">
                    <m:r>
                      <a:rPr lang="en-IN" b="1" i="1" smtClean="0">
                        <a:latin typeface="Cambria Math" panose="02040503050406030204" pitchFamily="18" charset="0"/>
                      </a:rPr>
                      <m:t>𝟎</m:t>
                    </m:r>
                    <m:r>
                      <a:rPr lang="en-IN" b="1" smtClean="0">
                        <a:latin typeface="Cambria Math" panose="02040503050406030204" pitchFamily="18" charset="0"/>
                      </a:rPr>
                      <m:t>.</m:t>
                    </m:r>
                    <m:r>
                      <a:rPr lang="en-IN" b="1" i="1" smtClean="0">
                        <a:latin typeface="Cambria Math" panose="02040503050406030204" pitchFamily="18" charset="0"/>
                      </a:rPr>
                      <m:t>𝟎𝟐</m:t>
                    </m:r>
                    <m:r>
                      <m:rPr>
                        <m:nor/>
                      </m:rPr>
                      <a:rPr lang="en-IN" b="1" i="1">
                        <a:latin typeface="Century Schoolbook" panose="02040604050505020304" pitchFamily="18" charset="0"/>
                      </a:rPr>
                      <m:t> </m:t>
                    </m:r>
                    <m:sSup>
                      <m:sSupPr>
                        <m:ctrlPr>
                          <a:rPr lang="ar-AE" b="1" i="1">
                            <a:latin typeface="Cambria Math" panose="02040503050406030204" pitchFamily="18" charset="0"/>
                          </a:rPr>
                        </m:ctrlPr>
                      </m:sSupPr>
                      <m:e>
                        <m:r>
                          <a:rPr lang="ar-AE" b="1" i="1" smtClean="0">
                            <a:latin typeface="Cambria Math" panose="02040503050406030204" pitchFamily="18" charset="0"/>
                          </a:rPr>
                          <m:t>𝒎</m:t>
                        </m:r>
                      </m:e>
                      <m:sup>
                        <m:r>
                          <a:rPr lang="ar-AE" b="1" i="1" smtClean="0">
                            <a:latin typeface="Cambria Math" panose="02040503050406030204" pitchFamily="18" charset="0"/>
                          </a:rPr>
                          <m:t>𝟐</m:t>
                        </m:r>
                      </m:sup>
                    </m:sSup>
                  </m:oMath>
                </a14:m>
                <a:r>
                  <a:rPr lang="ar-AE" b="1" dirty="0">
                    <a:latin typeface="Century Schoolbook" panose="02040604050505020304" pitchFamily="18" charset="0"/>
                  </a:rPr>
                  <a:t>,</a:t>
                </a:r>
                <a:r>
                  <a:rPr lang="en-US" b="1" dirty="0">
                    <a:latin typeface="Century Schoolbook" panose="02040604050505020304" pitchFamily="18" charset="0"/>
                  </a:rPr>
                  <a:t> </a:t>
                </a:r>
                <a:r>
                  <a:rPr lang="en-IN" b="1" dirty="0">
                    <a:latin typeface="Century Schoolbook" panose="02040604050505020304" pitchFamily="18" charset="0"/>
                  </a:rPr>
                  <a:t>then </a:t>
                </a:r>
                <a:endParaRPr lang="en-US" sz="2800" b="1" i="1" dirty="0">
                  <a:solidFill>
                    <a:srgbClr val="FFFF00"/>
                  </a:solidFill>
                  <a:latin typeface="Cambria Math" panose="02040503050406030204" pitchFamily="18" charset="0"/>
                </a:endParaRPr>
              </a:p>
              <a:p>
                <a:pPr algn="l"/>
                <a14:m>
                  <m:oMathPara xmlns:m="http://schemas.openxmlformats.org/officeDocument/2006/math">
                    <m:oMathParaPr>
                      <m:jc m:val="left"/>
                    </m:oMathParaPr>
                    <m:oMath xmlns:m="http://schemas.openxmlformats.org/officeDocument/2006/math">
                      <m:r>
                        <a:rPr lang="el-GR" sz="2800" b="1" i="1" smtClean="0">
                          <a:solidFill>
                            <a:srgbClr val="FFFF00"/>
                          </a:solidFill>
                          <a:latin typeface="Cambria Math" panose="02040503050406030204" pitchFamily="18" charset="0"/>
                        </a:rPr>
                        <m:t>𝚽</m:t>
                      </m:r>
                      <m:r>
                        <a:rPr lang="el-GR" sz="2800" b="1" smtClean="0">
                          <a:solidFill>
                            <a:srgbClr val="FFFF00"/>
                          </a:solidFill>
                          <a:latin typeface="Cambria Math" panose="02040503050406030204" pitchFamily="18" charset="0"/>
                        </a:rPr>
                        <m:t>=</m:t>
                      </m:r>
                      <m:r>
                        <a:rPr lang="el-GR" sz="2800" b="1" i="1" smtClean="0">
                          <a:solidFill>
                            <a:srgbClr val="FFFF00"/>
                          </a:solidFill>
                          <a:latin typeface="Cambria Math" panose="02040503050406030204" pitchFamily="18" charset="0"/>
                        </a:rPr>
                        <m:t>𝑬</m:t>
                      </m:r>
                      <m:r>
                        <a:rPr lang="el-GR" sz="2800" b="1" smtClean="0">
                          <a:solidFill>
                            <a:srgbClr val="FFFF00"/>
                          </a:solidFill>
                          <a:latin typeface="Cambria Math" panose="02040503050406030204" pitchFamily="18" charset="0"/>
                        </a:rPr>
                        <m:t>×</m:t>
                      </m:r>
                      <m:r>
                        <a:rPr lang="el-GR" sz="2800" b="1" i="1" smtClean="0">
                          <a:solidFill>
                            <a:srgbClr val="FFFF00"/>
                          </a:solidFill>
                          <a:latin typeface="Cambria Math" panose="02040503050406030204" pitchFamily="18" charset="0"/>
                        </a:rPr>
                        <m:t>𝑨</m:t>
                      </m:r>
                      <m:r>
                        <a:rPr lang="el-GR" sz="2800" b="1" smtClean="0">
                          <a:solidFill>
                            <a:srgbClr val="FFFF00"/>
                          </a:solidFill>
                          <a:latin typeface="Cambria Math" panose="02040503050406030204" pitchFamily="18" charset="0"/>
                        </a:rPr>
                        <m:t>=</m:t>
                      </m:r>
                      <m:r>
                        <a:rPr lang="el-GR" sz="2800" b="1" i="1" smtClean="0">
                          <a:solidFill>
                            <a:srgbClr val="FFFF00"/>
                          </a:solidFill>
                          <a:latin typeface="Cambria Math" panose="02040503050406030204" pitchFamily="18" charset="0"/>
                        </a:rPr>
                        <m:t>𝟐𝟎𝟎</m:t>
                      </m:r>
                      <m:r>
                        <a:rPr lang="el-GR" sz="2800" b="1" smtClean="0">
                          <a:solidFill>
                            <a:srgbClr val="FFFF00"/>
                          </a:solidFill>
                          <a:latin typeface="Cambria Math" panose="02040503050406030204" pitchFamily="18" charset="0"/>
                        </a:rPr>
                        <m:t>×</m:t>
                      </m:r>
                      <m:r>
                        <a:rPr lang="el-GR" sz="2800" b="1" i="1" smtClean="0">
                          <a:solidFill>
                            <a:srgbClr val="FFFF00"/>
                          </a:solidFill>
                          <a:latin typeface="Cambria Math" panose="02040503050406030204" pitchFamily="18" charset="0"/>
                        </a:rPr>
                        <m:t>𝟎</m:t>
                      </m:r>
                      <m:r>
                        <a:rPr lang="el-GR" sz="2800" b="1" smtClean="0">
                          <a:solidFill>
                            <a:srgbClr val="FFFF00"/>
                          </a:solidFill>
                          <a:latin typeface="Cambria Math" panose="02040503050406030204" pitchFamily="18" charset="0"/>
                        </a:rPr>
                        <m:t>.</m:t>
                      </m:r>
                      <m:r>
                        <a:rPr lang="el-GR" sz="2800" b="1" i="1" smtClean="0">
                          <a:solidFill>
                            <a:srgbClr val="FFFF00"/>
                          </a:solidFill>
                          <a:latin typeface="Cambria Math" panose="02040503050406030204" pitchFamily="18" charset="0"/>
                        </a:rPr>
                        <m:t>𝟎𝟐</m:t>
                      </m:r>
                      <m:r>
                        <a:rPr lang="el-GR" sz="2800" b="1" smtClean="0">
                          <a:solidFill>
                            <a:srgbClr val="FFFF00"/>
                          </a:solidFill>
                          <a:latin typeface="Cambria Math" panose="02040503050406030204" pitchFamily="18" charset="0"/>
                        </a:rPr>
                        <m:t>=</m:t>
                      </m:r>
                      <m:r>
                        <a:rPr lang="el-GR" sz="2800" b="1" i="1" smtClean="0">
                          <a:solidFill>
                            <a:srgbClr val="FFFF00"/>
                          </a:solidFill>
                          <a:latin typeface="Cambria Math" panose="02040503050406030204" pitchFamily="18" charset="0"/>
                        </a:rPr>
                        <m:t>𝟒</m:t>
                      </m:r>
                      <m:r>
                        <m:rPr>
                          <m:nor/>
                        </m:rPr>
                        <a:rPr lang="el-GR" sz="2800" b="1" i="1">
                          <a:solidFill>
                            <a:srgbClr val="FFFF00"/>
                          </a:solidFill>
                          <a:latin typeface="Century Schoolbook" panose="02040604050505020304" pitchFamily="18" charset="0"/>
                        </a:rPr>
                        <m:t> </m:t>
                      </m:r>
                      <m:r>
                        <a:rPr lang="el-GR" sz="2800" b="1" i="1" smtClean="0">
                          <a:solidFill>
                            <a:srgbClr val="FFFF00"/>
                          </a:solidFill>
                          <a:latin typeface="Cambria Math" panose="02040503050406030204" pitchFamily="18" charset="0"/>
                        </a:rPr>
                        <m:t>𝑵</m:t>
                      </m:r>
                      <m:r>
                        <a:rPr lang="el-GR" sz="2800" b="1" smtClean="0">
                          <a:solidFill>
                            <a:srgbClr val="FFFF00"/>
                          </a:solidFill>
                          <a:latin typeface="Cambria Math" panose="02040503050406030204" pitchFamily="18" charset="0"/>
                        </a:rPr>
                        <m:t>⋅</m:t>
                      </m:r>
                      <m:sSup>
                        <m:sSupPr>
                          <m:ctrlPr>
                            <a:rPr lang="ar-AE" sz="2800" b="1" i="1">
                              <a:solidFill>
                                <a:srgbClr val="FFFF00"/>
                              </a:solidFill>
                              <a:latin typeface="Cambria Math" panose="02040503050406030204" pitchFamily="18" charset="0"/>
                            </a:rPr>
                          </m:ctrlPr>
                        </m:sSupPr>
                        <m:e>
                          <m:r>
                            <a:rPr lang="ar-AE" sz="2800" b="1" i="1" smtClean="0">
                              <a:solidFill>
                                <a:srgbClr val="FFFF00"/>
                              </a:solidFill>
                              <a:latin typeface="Cambria Math" panose="02040503050406030204" pitchFamily="18" charset="0"/>
                            </a:rPr>
                            <m:t>𝒎</m:t>
                          </m:r>
                        </m:e>
                        <m:sup>
                          <m:r>
                            <a:rPr lang="ar-AE" sz="2800" b="1" i="1" smtClean="0">
                              <a:solidFill>
                                <a:srgbClr val="FFFF00"/>
                              </a:solidFill>
                              <a:latin typeface="Cambria Math" panose="02040503050406030204" pitchFamily="18" charset="0"/>
                            </a:rPr>
                            <m:t>𝟐</m:t>
                          </m:r>
                        </m:sup>
                      </m:sSup>
                      <m:r>
                        <a:rPr lang="ar-AE" sz="2800" b="1" smtClean="0">
                          <a:solidFill>
                            <a:srgbClr val="FFFF00"/>
                          </a:solidFill>
                          <a:latin typeface="Cambria Math" panose="02040503050406030204" pitchFamily="18" charset="0"/>
                        </a:rPr>
                        <m:t>/</m:t>
                      </m:r>
                      <m:r>
                        <a:rPr lang="ar-AE" sz="2800" b="1" i="1" smtClean="0">
                          <a:solidFill>
                            <a:srgbClr val="FFFF00"/>
                          </a:solidFill>
                          <a:latin typeface="Cambria Math" panose="02040503050406030204" pitchFamily="18" charset="0"/>
                        </a:rPr>
                        <m:t>𝑪</m:t>
                      </m:r>
                    </m:oMath>
                  </m:oMathPara>
                </a14:m>
                <a:endParaRPr lang="ar-AE" sz="2800" b="1" dirty="0">
                  <a:solidFill>
                    <a:srgbClr val="FFFF00"/>
                  </a:solidFill>
                  <a:latin typeface="Century Schoolbook" panose="02040604050505020304" pitchFamily="18" charset="0"/>
                </a:endParaRPr>
              </a:p>
              <a:p>
                <a:pPr algn="l"/>
                <a:endParaRPr lang="en-IN" b="1" dirty="0">
                  <a:latin typeface="Century Schoolbook" panose="02040604050505020304" pitchFamily="18" charset="0"/>
                </a:endParaRPr>
              </a:p>
            </p:txBody>
          </p:sp>
        </mc:Choice>
        <mc:Fallback xmlns="">
          <p:sp>
            <p:nvSpPr>
              <p:cNvPr id="3" name="Text Placeholder 2">
                <a:extLst>
                  <a:ext uri="{FF2B5EF4-FFF2-40B4-BE49-F238E27FC236}">
                    <a16:creationId xmlns:a16="http://schemas.microsoft.com/office/drawing/2014/main" id="{35810884-AB5D-54A8-6C83-1AED989F01B0}"/>
                  </a:ext>
                </a:extLst>
              </p:cNvPr>
              <p:cNvSpPr>
                <a:spLocks noGrp="1" noRot="1" noChangeAspect="1" noMove="1" noResize="1" noEditPoints="1" noAdjustHandles="1" noChangeArrowheads="1" noChangeShapeType="1" noTextEdit="1"/>
              </p:cNvSpPr>
              <p:nvPr>
                <p:ph type="body" sz="half" idx="2"/>
              </p:nvPr>
            </p:nvSpPr>
            <p:spPr>
              <a:xfrm>
                <a:off x="137349" y="766916"/>
                <a:ext cx="11917302" cy="6204155"/>
              </a:xfrm>
              <a:blipFill>
                <a:blip r:embed="rId2"/>
                <a:stretch>
                  <a:fillRect l="-1024" t="-2161"/>
                </a:stretch>
              </a:blipFill>
            </p:spPr>
            <p:txBody>
              <a:bodyPr/>
              <a:lstStyle/>
              <a:p>
                <a:r>
                  <a:rPr lang="en-IN">
                    <a:noFill/>
                  </a:rPr>
                  <a:t> </a:t>
                </a:r>
              </a:p>
            </p:txBody>
          </p:sp>
        </mc:Fallback>
      </mc:AlternateContent>
    </p:spTree>
    <p:extLst>
      <p:ext uri="{BB962C8B-B14F-4D97-AF65-F5344CB8AC3E}">
        <p14:creationId xmlns:p14="http://schemas.microsoft.com/office/powerpoint/2010/main" val="1475956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C0A1B-0052-B099-D83A-4EBF97B3E5BC}"/>
              </a:ext>
            </a:extLst>
          </p:cNvPr>
          <p:cNvSpPr>
            <a:spLocks noGrp="1"/>
          </p:cNvSpPr>
          <p:nvPr>
            <p:ph type="title"/>
          </p:nvPr>
        </p:nvSpPr>
        <p:spPr>
          <a:xfrm>
            <a:off x="0" y="0"/>
            <a:ext cx="9724103" cy="893846"/>
          </a:xfrm>
        </p:spPr>
        <p:txBody>
          <a:bodyPr>
            <a:normAutofit/>
          </a:bodyPr>
          <a:lstStyle/>
          <a:p>
            <a:pPr marL="685800" indent="-685800">
              <a:buFont typeface="Wingdings" panose="05000000000000000000" pitchFamily="2" charset="2"/>
              <a:buChar char="v"/>
            </a:pPr>
            <a:r>
              <a:rPr lang="en-US" sz="4800" b="0" u="sng" dirty="0">
                <a:solidFill>
                  <a:srgbClr val="FFFF00"/>
                </a:solidFill>
                <a:latin typeface="Algerian" panose="04020705040A02060702" pitchFamily="82" charset="0"/>
              </a:rPr>
              <a:t>Electric flux density (d)</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3F38F22-C144-F6F4-FCEE-59757C79A37D}"/>
                  </a:ext>
                </a:extLst>
              </p:cNvPr>
              <p:cNvSpPr>
                <a:spLocks noGrp="1"/>
              </p:cNvSpPr>
              <p:nvPr>
                <p:ph type="body" sz="half" idx="2"/>
              </p:nvPr>
            </p:nvSpPr>
            <p:spPr>
              <a:xfrm>
                <a:off x="167148" y="698091"/>
                <a:ext cx="11710220" cy="5633883"/>
              </a:xfrm>
            </p:spPr>
            <p:txBody>
              <a:bodyPr>
                <a:normAutofit/>
              </a:bodyPr>
              <a:lstStyle/>
              <a:p>
                <a:pPr marL="285750" indent="-285750" algn="l">
                  <a:buFont typeface="Wingdings" panose="05000000000000000000" pitchFamily="2" charset="2"/>
                  <a:buChar char="v"/>
                </a:pPr>
                <a:r>
                  <a:rPr lang="en-IN" sz="2800" b="1" u="sng" dirty="0">
                    <a:solidFill>
                      <a:srgbClr val="FFFF00"/>
                    </a:solidFill>
                    <a:latin typeface="Century Schoolbook" panose="02040604050505020304" pitchFamily="18" charset="0"/>
                  </a:rPr>
                  <a:t>Definition</a:t>
                </a:r>
                <a:r>
                  <a:rPr lang="en-IN" sz="2800" b="1" dirty="0">
                    <a:solidFill>
                      <a:srgbClr val="FFFF00"/>
                    </a:solidFill>
                    <a:latin typeface="Century Schoolbook" panose="02040604050505020304" pitchFamily="18" charset="0"/>
                  </a:rPr>
                  <a:t> : -</a:t>
                </a:r>
              </a:p>
              <a:p>
                <a:pPr marL="342900" indent="-342900" algn="l">
                  <a:buFont typeface="Wingdings" panose="05000000000000000000" pitchFamily="2" charset="2"/>
                  <a:buChar char="Ø"/>
                </a:pPr>
                <a:r>
                  <a:rPr lang="en-IN" sz="2400" b="1" dirty="0">
                    <a:latin typeface="Century Schoolbook" panose="02040604050505020304" pitchFamily="18" charset="0"/>
                  </a:rPr>
                  <a:t>The electric flux density (D) at a point is defined as the electric flux per unit area passing normally through a surface.</a:t>
                </a:r>
              </a:p>
              <a:p>
                <a:pPr marL="342900" indent="-342900" algn="l">
                  <a:buFont typeface="Wingdings" panose="05000000000000000000" pitchFamily="2" charset="2"/>
                  <a:buChar char="Ø"/>
                </a:pPr>
                <a:r>
                  <a:rPr lang="en-IN" sz="2400" b="1" dirty="0">
                    <a:latin typeface="Century Schoolbook" panose="02040604050505020304" pitchFamily="18" charset="0"/>
                  </a:rPr>
                  <a:t>In other words - It represents how concentrated the electric field lines are in a given area.</a:t>
                </a:r>
              </a:p>
              <a:p>
                <a:pPr marL="342900" indent="-342900" algn="l">
                  <a:buFont typeface="Wingdings" panose="05000000000000000000" pitchFamily="2" charset="2"/>
                  <a:buChar char="v"/>
                </a:pPr>
                <a:r>
                  <a:rPr lang="en-IN" sz="2400" b="1" dirty="0">
                    <a:latin typeface="Century Schoolbook" panose="02040604050505020304" pitchFamily="18" charset="0"/>
                  </a:rPr>
                  <a:t>Mathematical Expression : </a:t>
                </a:r>
                <a14:m>
                  <m:oMath xmlns:m="http://schemas.openxmlformats.org/officeDocument/2006/math">
                    <m:r>
                      <a:rPr lang="en-IN" sz="2800" b="1" i="1" smtClean="0">
                        <a:solidFill>
                          <a:srgbClr val="FFFF00"/>
                        </a:solidFill>
                        <a:latin typeface="Cambria Math" panose="02040503050406030204" pitchFamily="18" charset="0"/>
                      </a:rPr>
                      <m:t>𝑫</m:t>
                    </m:r>
                    <m:r>
                      <a:rPr lang="en-IN" sz="2800" b="1" smtClean="0">
                        <a:solidFill>
                          <a:srgbClr val="FFFF00"/>
                        </a:solidFill>
                        <a:latin typeface="Cambria Math" panose="02040503050406030204" pitchFamily="18" charset="0"/>
                      </a:rPr>
                      <m:t>=</m:t>
                    </m:r>
                    <m:f>
                      <m:fPr>
                        <m:ctrlPr>
                          <a:rPr lang="ar-AE" sz="2800" b="1" i="1">
                            <a:solidFill>
                              <a:srgbClr val="FFFF00"/>
                            </a:solidFill>
                            <a:latin typeface="Cambria Math" panose="02040503050406030204" pitchFamily="18" charset="0"/>
                          </a:rPr>
                        </m:ctrlPr>
                      </m:fPr>
                      <m:num>
                        <m:r>
                          <a:rPr lang="el-GR" sz="2800" b="1" i="1" smtClean="0">
                            <a:solidFill>
                              <a:srgbClr val="FFFF00"/>
                            </a:solidFill>
                            <a:latin typeface="Cambria Math" panose="02040503050406030204" pitchFamily="18" charset="0"/>
                          </a:rPr>
                          <m:t>𝚽</m:t>
                        </m:r>
                      </m:num>
                      <m:den>
                        <m:r>
                          <a:rPr lang="ar-AE" sz="2800" b="1" i="1" smtClean="0">
                            <a:solidFill>
                              <a:srgbClr val="FFFF00"/>
                            </a:solidFill>
                            <a:latin typeface="Cambria Math" panose="02040503050406030204" pitchFamily="18" charset="0"/>
                          </a:rPr>
                          <m:t>𝑨</m:t>
                        </m:r>
                      </m:den>
                    </m:f>
                  </m:oMath>
                </a14:m>
                <a:endParaRPr lang="ar-AE" sz="2000" b="1" dirty="0">
                  <a:latin typeface="Century Schoolbook" panose="02040604050505020304" pitchFamily="18" charset="0"/>
                </a:endParaRPr>
              </a:p>
              <a:p>
                <a:pPr marL="342900" indent="-342900" algn="l">
                  <a:buFont typeface="Arial" panose="020B0604020202020204" pitchFamily="34" charset="0"/>
                  <a:buChar char="•"/>
                </a:pPr>
                <a:r>
                  <a:rPr lang="en-IN" sz="2400" b="1" dirty="0">
                    <a:latin typeface="Century Schoolbook" panose="02040604050505020304" pitchFamily="18" charset="0"/>
                  </a:rPr>
                  <a:t>If the electric field is uniform,</a:t>
                </a:r>
                <a14:m>
                  <m:oMath xmlns:m="http://schemas.openxmlformats.org/officeDocument/2006/math">
                    <m:r>
                      <a:rPr lang="en-US" sz="2800" b="1" i="0" smtClean="0">
                        <a:latin typeface="Cambria Math" panose="02040503050406030204" pitchFamily="18" charset="0"/>
                      </a:rPr>
                      <m:t>   </m:t>
                    </m:r>
                    <m:r>
                      <a:rPr lang="en-IN" sz="2800" b="1" i="1" smtClean="0">
                        <a:solidFill>
                          <a:srgbClr val="FFFF00"/>
                        </a:solidFill>
                        <a:latin typeface="Cambria Math" panose="02040503050406030204" pitchFamily="18" charset="0"/>
                      </a:rPr>
                      <m:t>𝑫</m:t>
                    </m:r>
                    <m:r>
                      <a:rPr lang="en-IN" sz="2800" b="1" smtClean="0">
                        <a:solidFill>
                          <a:srgbClr val="FFFF00"/>
                        </a:solidFill>
                        <a:latin typeface="Cambria Math" panose="02040503050406030204" pitchFamily="18" charset="0"/>
                      </a:rPr>
                      <m:t>=</m:t>
                    </m:r>
                    <m:sSub>
                      <m:sSubPr>
                        <m:ctrlPr>
                          <a:rPr lang="ar-AE" sz="2800" b="1" i="1">
                            <a:solidFill>
                              <a:srgbClr val="FFFF00"/>
                            </a:solidFill>
                            <a:latin typeface="Cambria Math" panose="02040503050406030204" pitchFamily="18" charset="0"/>
                          </a:rPr>
                        </m:ctrlPr>
                      </m:sSubPr>
                      <m:e>
                        <m:r>
                          <a:rPr lang="ar-AE" sz="2800" b="1" i="1" smtClean="0">
                            <a:solidFill>
                              <a:srgbClr val="FFFF00"/>
                            </a:solidFill>
                            <a:latin typeface="Cambria Math" panose="02040503050406030204" pitchFamily="18" charset="0"/>
                          </a:rPr>
                          <m:t>𝜺</m:t>
                        </m:r>
                      </m:e>
                      <m:sub>
                        <m:r>
                          <a:rPr lang="ar-AE" sz="2800" b="1" i="1" smtClean="0">
                            <a:solidFill>
                              <a:srgbClr val="FFFF00"/>
                            </a:solidFill>
                            <a:latin typeface="Cambria Math" panose="02040503050406030204" pitchFamily="18" charset="0"/>
                          </a:rPr>
                          <m:t>𝟎</m:t>
                        </m:r>
                      </m:sub>
                    </m:sSub>
                    <m:r>
                      <a:rPr lang="ar-AE" sz="2800" b="1" i="1" smtClean="0">
                        <a:solidFill>
                          <a:srgbClr val="FFFF00"/>
                        </a:solidFill>
                        <a:latin typeface="Cambria Math" panose="02040503050406030204" pitchFamily="18" charset="0"/>
                      </a:rPr>
                      <m:t>𝑬</m:t>
                    </m:r>
                  </m:oMath>
                </a14:m>
                <a:endParaRPr lang="ar-AE" sz="2000" b="1" dirty="0">
                  <a:latin typeface="Century Schoolbook" panose="02040604050505020304" pitchFamily="18" charset="0"/>
                </a:endParaRPr>
              </a:p>
              <a:p>
                <a:pPr algn="l"/>
                <a:r>
                  <a:rPr lang="en-US" sz="2400" b="1" dirty="0">
                    <a:latin typeface="Century Schoolbook" panose="02040604050505020304" pitchFamily="18" charset="0"/>
                  </a:rPr>
                  <a:t>(</a:t>
                </a:r>
                <a:r>
                  <a:rPr lang="en-IN" sz="2400" b="1" dirty="0">
                    <a:latin typeface="Century Schoolbook" panose="02040604050505020304" pitchFamily="18" charset="0"/>
                  </a:rPr>
                  <a:t>for free space) or in general,</a:t>
                </a:r>
                <a14:m>
                  <m:oMath xmlns:m="http://schemas.openxmlformats.org/officeDocument/2006/math">
                    <m:r>
                      <a:rPr lang="en-IN" sz="2400" b="1" i="1" smtClean="0">
                        <a:latin typeface="Cambria Math" panose="02040503050406030204" pitchFamily="18" charset="0"/>
                      </a:rPr>
                      <m:t>𝑫</m:t>
                    </m:r>
                    <m:r>
                      <a:rPr lang="en-IN" sz="2400" b="1" smtClean="0">
                        <a:latin typeface="Cambria Math" panose="02040503050406030204" pitchFamily="18" charset="0"/>
                      </a:rPr>
                      <m:t>=</m:t>
                    </m:r>
                    <m:r>
                      <a:rPr lang="en-IN" sz="2400" b="1" i="1" smtClean="0">
                        <a:latin typeface="Cambria Math" panose="02040503050406030204" pitchFamily="18" charset="0"/>
                      </a:rPr>
                      <m:t>𝜺</m:t>
                    </m:r>
                    <m:r>
                      <a:rPr lang="en-IN" sz="2400" b="1" i="1" smtClean="0">
                        <a:latin typeface="Cambria Math" panose="02040503050406030204" pitchFamily="18" charset="0"/>
                      </a:rPr>
                      <m:t>𝑬</m:t>
                    </m:r>
                    <m:r>
                      <a:rPr lang="en-US" sz="2400" b="1" i="0" smtClean="0">
                        <a:latin typeface="Cambria Math" panose="02040503050406030204" pitchFamily="18" charset="0"/>
                      </a:rPr>
                      <m:t> </m:t>
                    </m:r>
                  </m:oMath>
                </a14:m>
                <a:r>
                  <a:rPr lang="en-IN" sz="2400" b="1" dirty="0">
                    <a:latin typeface="Century Schoolbook" panose="02040604050505020304" pitchFamily="18" charset="0"/>
                  </a:rPr>
                  <a:t>where </a:t>
                </a:r>
                <a14:m>
                  <m:oMath xmlns:m="http://schemas.openxmlformats.org/officeDocument/2006/math">
                    <m:r>
                      <a:rPr lang="en-IN" sz="2400" b="1" i="1" smtClean="0">
                        <a:latin typeface="Cambria Math" panose="02040503050406030204" pitchFamily="18" charset="0"/>
                      </a:rPr>
                      <m:t>𝜺</m:t>
                    </m:r>
                  </m:oMath>
                </a14:m>
                <a:r>
                  <a:rPr lang="en-IN" sz="2400" b="1" dirty="0">
                    <a:latin typeface="Century Schoolbook" panose="02040604050505020304" pitchFamily="18" charset="0"/>
                  </a:rPr>
                  <a:t>is the permittivity of the medium.</a:t>
                </a:r>
              </a:p>
              <a:p>
                <a:pPr algn="l"/>
                <a:endParaRPr lang="en-IN" b="1" dirty="0">
                  <a:latin typeface="Century Schoolbook" panose="02040604050505020304" pitchFamily="18" charset="0"/>
                </a:endParaRPr>
              </a:p>
            </p:txBody>
          </p:sp>
        </mc:Choice>
        <mc:Fallback xmlns="">
          <p:sp>
            <p:nvSpPr>
              <p:cNvPr id="3" name="Text Placeholder 2">
                <a:extLst>
                  <a:ext uri="{FF2B5EF4-FFF2-40B4-BE49-F238E27FC236}">
                    <a16:creationId xmlns:a16="http://schemas.microsoft.com/office/drawing/2014/main" id="{43F38F22-C144-F6F4-FCEE-59757C79A37D}"/>
                  </a:ext>
                </a:extLst>
              </p:cNvPr>
              <p:cNvSpPr>
                <a:spLocks noGrp="1" noRot="1" noChangeAspect="1" noMove="1" noResize="1" noEditPoints="1" noAdjustHandles="1" noChangeArrowheads="1" noChangeShapeType="1" noTextEdit="1"/>
              </p:cNvSpPr>
              <p:nvPr>
                <p:ph type="body" sz="half" idx="2"/>
              </p:nvPr>
            </p:nvSpPr>
            <p:spPr>
              <a:xfrm>
                <a:off x="167148" y="698091"/>
                <a:ext cx="11710220" cy="5633883"/>
              </a:xfrm>
              <a:blipFill>
                <a:blip r:embed="rId2"/>
                <a:stretch>
                  <a:fillRect l="-989" r="-1562"/>
                </a:stretch>
              </a:blipFill>
            </p:spPr>
            <p:txBody>
              <a:bodyPr/>
              <a:lstStyle/>
              <a:p>
                <a:r>
                  <a:rPr lang="en-IN">
                    <a:noFill/>
                  </a:rPr>
                  <a:t> </a:t>
                </a:r>
              </a:p>
            </p:txBody>
          </p:sp>
        </mc:Fallback>
      </mc:AlternateContent>
    </p:spTree>
    <p:extLst>
      <p:ext uri="{BB962C8B-B14F-4D97-AF65-F5344CB8AC3E}">
        <p14:creationId xmlns:p14="http://schemas.microsoft.com/office/powerpoint/2010/main" val="1288059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8B5B4-657C-FF63-5BCA-A0BD2781F26F}"/>
              </a:ext>
            </a:extLst>
          </p:cNvPr>
          <p:cNvSpPr>
            <a:spLocks noGrp="1"/>
          </p:cNvSpPr>
          <p:nvPr>
            <p:ph type="title"/>
          </p:nvPr>
        </p:nvSpPr>
        <p:spPr>
          <a:xfrm>
            <a:off x="-137652" y="0"/>
            <a:ext cx="9832259" cy="875070"/>
          </a:xfrm>
        </p:spPr>
        <p:txBody>
          <a:bodyPr>
            <a:normAutofit/>
          </a:bodyPr>
          <a:lstStyle/>
          <a:p>
            <a:r>
              <a:rPr lang="en-US" sz="4800" b="0" dirty="0">
                <a:solidFill>
                  <a:srgbClr val="FFFF00"/>
                </a:solidFill>
                <a:latin typeface="Algerian" panose="04020705040A02060702" pitchFamily="82" charset="0"/>
              </a:rPr>
              <a:t>3.6] </a:t>
            </a:r>
            <a:r>
              <a:rPr lang="en-US" sz="4800" b="0" u="sng" dirty="0">
                <a:solidFill>
                  <a:srgbClr val="FFFF00"/>
                </a:solidFill>
                <a:latin typeface="Algerian" panose="04020705040A02060702" pitchFamily="82" charset="0"/>
              </a:rPr>
              <a:t>electric potential (v)</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D3400F7-2848-0C84-427F-4B4FF521102F}"/>
                  </a:ext>
                </a:extLst>
              </p:cNvPr>
              <p:cNvSpPr>
                <a:spLocks noGrp="1"/>
              </p:cNvSpPr>
              <p:nvPr>
                <p:ph type="body" sz="half" idx="2"/>
              </p:nvPr>
            </p:nvSpPr>
            <p:spPr>
              <a:xfrm>
                <a:off x="172064" y="589935"/>
                <a:ext cx="11847871" cy="5894438"/>
              </a:xfrm>
            </p:spPr>
            <p:txBody>
              <a:bodyPr>
                <a:normAutofit lnSpcReduction="10000"/>
              </a:bodyPr>
              <a:lstStyle/>
              <a:p>
                <a:pPr marL="285750" indent="-285750" algn="l">
                  <a:buFont typeface="Wingdings" panose="05000000000000000000" pitchFamily="2" charset="2"/>
                  <a:buChar char="v"/>
                </a:pPr>
                <a:r>
                  <a:rPr lang="en-IN" sz="2800" b="1" u="sng" dirty="0">
                    <a:solidFill>
                      <a:srgbClr val="FFFF00"/>
                    </a:solidFill>
                    <a:latin typeface="Century Schoolbook" panose="02040604050505020304" pitchFamily="18" charset="0"/>
                  </a:rPr>
                  <a:t>Definition</a:t>
                </a:r>
                <a:r>
                  <a:rPr lang="en-IN" sz="2800" b="1" dirty="0">
                    <a:solidFill>
                      <a:srgbClr val="FFFF00"/>
                    </a:solidFill>
                    <a:latin typeface="Century Schoolbook" panose="02040604050505020304" pitchFamily="18" charset="0"/>
                  </a:rPr>
                  <a:t> : -</a:t>
                </a:r>
              </a:p>
              <a:p>
                <a:pPr marL="285750" indent="-285750" algn="l">
                  <a:buFont typeface="Wingdings" panose="05000000000000000000" pitchFamily="2" charset="2"/>
                  <a:buChar char="Ø"/>
                </a:pPr>
                <a:r>
                  <a:rPr lang="en-IN" sz="2400" b="1" dirty="0">
                    <a:latin typeface="Century Schoolbook" panose="02040604050505020304" pitchFamily="18" charset="0"/>
                  </a:rPr>
                  <a:t>The electric potential at a point in an electric field is defined as the work done per unit positive charge in bringing that charge from infinity to that point, without acceleration.</a:t>
                </a:r>
              </a:p>
              <a:p>
                <a:pPr marL="285750" indent="-285750" algn="l">
                  <a:buFont typeface="Wingdings" panose="05000000000000000000" pitchFamily="2" charset="2"/>
                  <a:buChar char="Ø"/>
                </a:pPr>
                <a:r>
                  <a:rPr lang="en-IN" sz="2400" b="1" dirty="0">
                    <a:latin typeface="Century Schoolbook" panose="02040604050505020304" pitchFamily="18" charset="0"/>
                  </a:rPr>
                  <a:t>In simple words - It tells how much work is needed to move a unit positive charge to a particular point in an electric field.</a:t>
                </a:r>
              </a:p>
              <a:p>
                <a:pPr marL="285750" indent="-285750" algn="l">
                  <a:buFont typeface="Wingdings" panose="05000000000000000000" pitchFamily="2" charset="2"/>
                  <a:buChar char="v"/>
                </a:pPr>
                <a:r>
                  <a:rPr lang="en-IN" sz="2400" b="1" dirty="0">
                    <a:latin typeface="Century Schoolbook" panose="02040604050505020304" pitchFamily="18" charset="0"/>
                  </a:rPr>
                  <a:t>Mathematical Expression : </a:t>
                </a:r>
                <a14:m>
                  <m:oMath xmlns:m="http://schemas.openxmlformats.org/officeDocument/2006/math">
                    <m:r>
                      <a:rPr lang="en-IN" sz="2800" b="1" i="1" smtClean="0">
                        <a:solidFill>
                          <a:srgbClr val="FFFF00"/>
                        </a:solidFill>
                        <a:latin typeface="Cambria Math" panose="02040503050406030204" pitchFamily="18" charset="0"/>
                      </a:rPr>
                      <m:t>𝑽</m:t>
                    </m:r>
                    <m:r>
                      <a:rPr lang="en-IN" sz="2800" b="1" smtClean="0">
                        <a:solidFill>
                          <a:srgbClr val="FFFF00"/>
                        </a:solidFill>
                        <a:latin typeface="Cambria Math" panose="02040503050406030204" pitchFamily="18" charset="0"/>
                      </a:rPr>
                      <m:t>=</m:t>
                    </m:r>
                    <m:f>
                      <m:fPr>
                        <m:ctrlPr>
                          <a:rPr lang="ar-AE" sz="2800" b="1" i="1">
                            <a:solidFill>
                              <a:srgbClr val="FFFF00"/>
                            </a:solidFill>
                            <a:latin typeface="Cambria Math" panose="02040503050406030204" pitchFamily="18" charset="0"/>
                          </a:rPr>
                        </m:ctrlPr>
                      </m:fPr>
                      <m:num>
                        <m:r>
                          <a:rPr lang="ar-AE" sz="2800" b="1" i="1" smtClean="0">
                            <a:solidFill>
                              <a:srgbClr val="FFFF00"/>
                            </a:solidFill>
                            <a:latin typeface="Cambria Math" panose="02040503050406030204" pitchFamily="18" charset="0"/>
                          </a:rPr>
                          <m:t>𝑾</m:t>
                        </m:r>
                      </m:num>
                      <m:den>
                        <m:r>
                          <a:rPr lang="ar-AE" sz="2800" b="1" i="1" smtClean="0">
                            <a:solidFill>
                              <a:srgbClr val="FFFF00"/>
                            </a:solidFill>
                            <a:latin typeface="Cambria Math" panose="02040503050406030204" pitchFamily="18" charset="0"/>
                          </a:rPr>
                          <m:t>𝒒</m:t>
                        </m:r>
                      </m:den>
                    </m:f>
                  </m:oMath>
                </a14:m>
                <a:endParaRPr lang="ar-AE" sz="1800" b="1" dirty="0">
                  <a:latin typeface="Century Schoolbook" panose="02040604050505020304" pitchFamily="18" charset="0"/>
                </a:endParaRPr>
              </a:p>
              <a:p>
                <a:pPr algn="l"/>
                <a:r>
                  <a:rPr lang="en-IN" sz="2000" b="1" dirty="0">
                    <a:latin typeface="Century Schoolbook" panose="02040604050505020304" pitchFamily="18" charset="0"/>
                  </a:rPr>
                  <a:t>Where,</a:t>
                </a:r>
              </a:p>
              <a:p>
                <a:pPr marL="342900" indent="-342900" algn="l">
                  <a:buFont typeface="Arial" panose="020B0604020202020204" pitchFamily="34" charset="0"/>
                  <a:buChar char="•"/>
                </a:pPr>
                <a14:m>
                  <m:oMath xmlns:m="http://schemas.openxmlformats.org/officeDocument/2006/math">
                    <m:r>
                      <a:rPr lang="en-IN" sz="2000" b="1" i="1" smtClean="0">
                        <a:latin typeface="Cambria Math" panose="02040503050406030204" pitchFamily="18" charset="0"/>
                      </a:rPr>
                      <m:t>𝑽</m:t>
                    </m:r>
                  </m:oMath>
                </a14:m>
                <a:r>
                  <a:rPr lang="en-IN" sz="2000" b="1" dirty="0">
                    <a:latin typeface="Century Schoolbook" panose="02040604050505020304" pitchFamily="18" charset="0"/>
                  </a:rPr>
                  <a:t> = Electric potential (in volts)</a:t>
                </a:r>
              </a:p>
              <a:p>
                <a:pPr marL="342900" indent="-342900" algn="l">
                  <a:buFont typeface="Arial" panose="020B0604020202020204" pitchFamily="34" charset="0"/>
                  <a:buChar char="•"/>
                </a:pPr>
                <a14:m>
                  <m:oMath xmlns:m="http://schemas.openxmlformats.org/officeDocument/2006/math">
                    <m:r>
                      <a:rPr lang="en-IN" sz="2000" b="1" i="1" smtClean="0">
                        <a:latin typeface="Cambria Math" panose="02040503050406030204" pitchFamily="18" charset="0"/>
                      </a:rPr>
                      <m:t>𝑾</m:t>
                    </m:r>
                    <m:r>
                      <a:rPr lang="en-US" sz="2000" b="1" i="1" smtClean="0">
                        <a:latin typeface="Cambria Math" panose="02040503050406030204" pitchFamily="18" charset="0"/>
                      </a:rPr>
                      <m:t> </m:t>
                    </m:r>
                  </m:oMath>
                </a14:m>
                <a:r>
                  <a:rPr lang="en-IN" sz="2000" b="1" dirty="0">
                    <a:latin typeface="Century Schoolbook" panose="02040604050505020304" pitchFamily="18" charset="0"/>
                  </a:rPr>
                  <a:t>= Work done (in joules)</a:t>
                </a:r>
              </a:p>
              <a:p>
                <a:pPr marL="342900" indent="-342900" algn="l">
                  <a:buFont typeface="Arial" panose="020B0604020202020204" pitchFamily="34" charset="0"/>
                  <a:buChar char="•"/>
                </a:pPr>
                <a14:m>
                  <m:oMath xmlns:m="http://schemas.openxmlformats.org/officeDocument/2006/math">
                    <m:r>
                      <a:rPr lang="en-IN" sz="2000" b="1" i="1" smtClean="0">
                        <a:latin typeface="Cambria Math" panose="02040503050406030204" pitchFamily="18" charset="0"/>
                      </a:rPr>
                      <m:t>𝒒</m:t>
                    </m:r>
                    <m:r>
                      <a:rPr lang="en-US" sz="2000" b="1" i="1" smtClean="0">
                        <a:latin typeface="Cambria Math" panose="02040503050406030204" pitchFamily="18" charset="0"/>
                      </a:rPr>
                      <m:t> </m:t>
                    </m:r>
                  </m:oMath>
                </a14:m>
                <a:r>
                  <a:rPr lang="en-IN" sz="2000" b="1" dirty="0">
                    <a:latin typeface="Century Schoolbook" panose="02040604050505020304" pitchFamily="18" charset="0"/>
                  </a:rPr>
                  <a:t>= Test charge (in coulombs)</a:t>
                </a:r>
              </a:p>
            </p:txBody>
          </p:sp>
        </mc:Choice>
        <mc:Fallback xmlns="">
          <p:sp>
            <p:nvSpPr>
              <p:cNvPr id="3" name="Text Placeholder 2">
                <a:extLst>
                  <a:ext uri="{FF2B5EF4-FFF2-40B4-BE49-F238E27FC236}">
                    <a16:creationId xmlns:a16="http://schemas.microsoft.com/office/drawing/2014/main" id="{3D3400F7-2848-0C84-427F-4B4FF521102F}"/>
                  </a:ext>
                </a:extLst>
              </p:cNvPr>
              <p:cNvSpPr>
                <a:spLocks noGrp="1" noRot="1" noChangeAspect="1" noMove="1" noResize="1" noEditPoints="1" noAdjustHandles="1" noChangeArrowheads="1" noChangeShapeType="1" noTextEdit="1"/>
              </p:cNvSpPr>
              <p:nvPr>
                <p:ph type="body" sz="half" idx="2"/>
              </p:nvPr>
            </p:nvSpPr>
            <p:spPr>
              <a:xfrm>
                <a:off x="172064" y="589935"/>
                <a:ext cx="11847871" cy="5894438"/>
              </a:xfrm>
              <a:blipFill>
                <a:blip r:embed="rId2"/>
                <a:stretch>
                  <a:fillRect l="-977"/>
                </a:stretch>
              </a:blipFill>
            </p:spPr>
            <p:txBody>
              <a:bodyPr/>
              <a:lstStyle/>
              <a:p>
                <a:r>
                  <a:rPr lang="en-IN">
                    <a:noFill/>
                  </a:rPr>
                  <a:t> </a:t>
                </a:r>
              </a:p>
            </p:txBody>
          </p:sp>
        </mc:Fallback>
      </mc:AlternateContent>
    </p:spTree>
    <p:extLst>
      <p:ext uri="{BB962C8B-B14F-4D97-AF65-F5344CB8AC3E}">
        <p14:creationId xmlns:p14="http://schemas.microsoft.com/office/powerpoint/2010/main" val="1737348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2973C-C335-F473-198A-A82E6E146AD0}"/>
              </a:ext>
            </a:extLst>
          </p:cNvPr>
          <p:cNvSpPr>
            <a:spLocks noGrp="1"/>
          </p:cNvSpPr>
          <p:nvPr>
            <p:ph type="title"/>
          </p:nvPr>
        </p:nvSpPr>
        <p:spPr>
          <a:xfrm>
            <a:off x="0" y="0"/>
            <a:ext cx="12801600" cy="609599"/>
          </a:xfrm>
        </p:spPr>
        <p:txBody>
          <a:bodyPr>
            <a:noAutofit/>
          </a:bodyPr>
          <a:lstStyle/>
          <a:p>
            <a:pPr marL="457200" indent="-457200" algn="l">
              <a:buFont typeface="Wingdings" panose="05000000000000000000" pitchFamily="2" charset="2"/>
              <a:buChar char="v"/>
            </a:pPr>
            <a:r>
              <a:rPr lang="en-US" sz="2800" b="0" u="sng" dirty="0">
                <a:solidFill>
                  <a:srgbClr val="FFFF00"/>
                </a:solidFill>
                <a:latin typeface="Algerian" panose="04020705040A02060702" pitchFamily="82" charset="0"/>
              </a:rPr>
              <a:t>Derivation of electric potential due to a point charge</a:t>
            </a:r>
            <a:r>
              <a:rPr lang="en-US" sz="2800" b="0" dirty="0">
                <a:solidFill>
                  <a:srgbClr val="FFFF00"/>
                </a:solidFill>
                <a:latin typeface="Algerian" panose="04020705040A02060702" pitchFamily="82" charset="0"/>
              </a:rPr>
              <a:t> : -</a:t>
            </a:r>
            <a:endParaRPr lang="en-IN" sz="2800" b="0" dirty="0">
              <a:solidFill>
                <a:srgbClr val="FFFF00"/>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A826A2D-3CB9-E694-1EBD-8B416A338E67}"/>
                  </a:ext>
                </a:extLst>
              </p:cNvPr>
              <p:cNvSpPr>
                <a:spLocks noGrp="1"/>
              </p:cNvSpPr>
              <p:nvPr>
                <p:ph type="body" sz="half" idx="2"/>
              </p:nvPr>
            </p:nvSpPr>
            <p:spPr>
              <a:xfrm>
                <a:off x="157316" y="629263"/>
                <a:ext cx="12034684" cy="6189076"/>
              </a:xfrm>
            </p:spPr>
            <p:txBody>
              <a:bodyPr>
                <a:normAutofit fontScale="92500" lnSpcReduction="20000"/>
              </a:bodyPr>
              <a:lstStyle/>
              <a:p>
                <a:pPr algn="l"/>
                <a:r>
                  <a:rPr lang="en-IN" sz="1900" b="1" dirty="0">
                    <a:solidFill>
                      <a:srgbClr val="FFFF00"/>
                    </a:solidFill>
                    <a:latin typeface="Century Schoolbook" panose="02040604050505020304" pitchFamily="18" charset="0"/>
                  </a:rPr>
                  <a:t>Step 1 :  </a:t>
                </a:r>
                <a:r>
                  <a:rPr lang="en-IN" b="1" dirty="0">
                    <a:latin typeface="Century Schoolbook" panose="02040604050505020304" pitchFamily="18" charset="0"/>
                  </a:rPr>
                  <a:t>Electric field at a distance </a:t>
                </a:r>
                <a14:m>
                  <m:oMath xmlns:m="http://schemas.openxmlformats.org/officeDocument/2006/math">
                    <m:r>
                      <a:rPr lang="en-IN" b="1" i="1">
                        <a:latin typeface="Cambria Math" panose="02040503050406030204" pitchFamily="18" charset="0"/>
                      </a:rPr>
                      <m:t>𝒓</m:t>
                    </m:r>
                  </m:oMath>
                </a14:m>
                <a:r>
                  <a:rPr lang="en-IN" b="1" dirty="0">
                    <a:latin typeface="Century Schoolbook" panose="02040604050505020304" pitchFamily="18" charset="0"/>
                  </a:rPr>
                  <a:t>from charge </a:t>
                </a:r>
                <a14:m>
                  <m:oMath xmlns:m="http://schemas.openxmlformats.org/officeDocument/2006/math">
                    <m:r>
                      <a:rPr lang="en-IN" b="1" i="1">
                        <a:latin typeface="Cambria Math" panose="02040503050406030204" pitchFamily="18" charset="0"/>
                      </a:rPr>
                      <m:t>𝑸</m:t>
                    </m:r>
                  </m:oMath>
                </a14:m>
                <a:r>
                  <a:rPr lang="en-IN" b="1" dirty="0">
                    <a:latin typeface="Century Schoolbook" panose="02040604050505020304" pitchFamily="18" charset="0"/>
                  </a:rPr>
                  <a:t>is : </a:t>
                </a:r>
                <a14:m>
                  <m:oMath xmlns:m="http://schemas.openxmlformats.org/officeDocument/2006/math">
                    <m:r>
                      <a:rPr lang="en-IN" sz="1900" b="1" i="1" smtClean="0">
                        <a:solidFill>
                          <a:srgbClr val="FFFF00"/>
                        </a:solidFill>
                        <a:latin typeface="Cambria Math" panose="02040503050406030204" pitchFamily="18" charset="0"/>
                      </a:rPr>
                      <m:t>𝑬</m:t>
                    </m:r>
                    <m:r>
                      <a:rPr lang="en-IN" sz="1900" b="1">
                        <a:solidFill>
                          <a:srgbClr val="FFFF00"/>
                        </a:solidFill>
                        <a:latin typeface="Cambria Math" panose="02040503050406030204" pitchFamily="18" charset="0"/>
                      </a:rPr>
                      <m:t>=</m:t>
                    </m:r>
                    <m:f>
                      <m:fPr>
                        <m:ctrlPr>
                          <a:rPr lang="ar-AE" sz="1900" b="1" i="1">
                            <a:solidFill>
                              <a:srgbClr val="FFFF00"/>
                            </a:solidFill>
                            <a:latin typeface="Cambria Math" panose="02040503050406030204" pitchFamily="18" charset="0"/>
                          </a:rPr>
                        </m:ctrlPr>
                      </m:fPr>
                      <m:num>
                        <m:r>
                          <a:rPr lang="ar-AE" sz="1900" b="1" i="1">
                            <a:solidFill>
                              <a:srgbClr val="FFFF00"/>
                            </a:solidFill>
                            <a:latin typeface="Cambria Math" panose="02040503050406030204" pitchFamily="18" charset="0"/>
                          </a:rPr>
                          <m:t>𝟏</m:t>
                        </m:r>
                      </m:num>
                      <m:den>
                        <m:r>
                          <a:rPr lang="ar-AE" sz="1900" b="1" i="1">
                            <a:solidFill>
                              <a:srgbClr val="FFFF00"/>
                            </a:solidFill>
                            <a:latin typeface="Cambria Math" panose="02040503050406030204" pitchFamily="18" charset="0"/>
                          </a:rPr>
                          <m:t>𝟒</m:t>
                        </m:r>
                        <m:r>
                          <a:rPr lang="ar-AE" sz="1900" b="1" i="1">
                            <a:solidFill>
                              <a:srgbClr val="FFFF00"/>
                            </a:solidFill>
                            <a:latin typeface="Cambria Math" panose="02040503050406030204" pitchFamily="18" charset="0"/>
                          </a:rPr>
                          <m:t>𝝅</m:t>
                        </m:r>
                        <m:sSub>
                          <m:sSubPr>
                            <m:ctrlPr>
                              <a:rPr lang="ar-AE" sz="1900" b="1" i="1">
                                <a:solidFill>
                                  <a:srgbClr val="FFFF00"/>
                                </a:solidFill>
                                <a:latin typeface="Cambria Math" panose="02040503050406030204" pitchFamily="18" charset="0"/>
                              </a:rPr>
                            </m:ctrlPr>
                          </m:sSubPr>
                          <m:e>
                            <m:r>
                              <a:rPr lang="ar-AE" sz="1900" b="1" i="1">
                                <a:solidFill>
                                  <a:srgbClr val="FFFF00"/>
                                </a:solidFill>
                                <a:latin typeface="Cambria Math" panose="02040503050406030204" pitchFamily="18" charset="0"/>
                              </a:rPr>
                              <m:t>𝜺</m:t>
                            </m:r>
                          </m:e>
                          <m:sub>
                            <m:r>
                              <a:rPr lang="ar-AE" sz="1900" b="1" i="1">
                                <a:solidFill>
                                  <a:srgbClr val="FFFF00"/>
                                </a:solidFill>
                                <a:latin typeface="Cambria Math" panose="02040503050406030204" pitchFamily="18" charset="0"/>
                              </a:rPr>
                              <m:t>𝟎</m:t>
                            </m:r>
                          </m:sub>
                        </m:sSub>
                      </m:den>
                    </m:f>
                    <m:f>
                      <m:fPr>
                        <m:ctrlPr>
                          <a:rPr lang="ar-AE" sz="1900" b="1" i="1">
                            <a:solidFill>
                              <a:srgbClr val="FFFF00"/>
                            </a:solidFill>
                            <a:latin typeface="Cambria Math" panose="02040503050406030204" pitchFamily="18" charset="0"/>
                          </a:rPr>
                        </m:ctrlPr>
                      </m:fPr>
                      <m:num>
                        <m:r>
                          <a:rPr lang="ar-AE" sz="1900" b="1" i="1">
                            <a:solidFill>
                              <a:srgbClr val="FFFF00"/>
                            </a:solidFill>
                            <a:latin typeface="Cambria Math" panose="02040503050406030204" pitchFamily="18" charset="0"/>
                          </a:rPr>
                          <m:t>𝑸</m:t>
                        </m:r>
                      </m:num>
                      <m:den>
                        <m:sSup>
                          <m:sSupPr>
                            <m:ctrlPr>
                              <a:rPr lang="ar-AE" sz="1900" b="1" i="1">
                                <a:solidFill>
                                  <a:srgbClr val="FFFF00"/>
                                </a:solidFill>
                                <a:latin typeface="Cambria Math" panose="02040503050406030204" pitchFamily="18" charset="0"/>
                              </a:rPr>
                            </m:ctrlPr>
                          </m:sSupPr>
                          <m:e>
                            <m:r>
                              <a:rPr lang="ar-AE" sz="1900" b="1" i="1">
                                <a:solidFill>
                                  <a:srgbClr val="FFFF00"/>
                                </a:solidFill>
                                <a:latin typeface="Cambria Math" panose="02040503050406030204" pitchFamily="18" charset="0"/>
                              </a:rPr>
                              <m:t>𝒓</m:t>
                            </m:r>
                          </m:e>
                          <m:sup>
                            <m:r>
                              <a:rPr lang="ar-AE" sz="1900" b="1" i="1">
                                <a:solidFill>
                                  <a:srgbClr val="FFFF00"/>
                                </a:solidFill>
                                <a:latin typeface="Cambria Math" panose="02040503050406030204" pitchFamily="18" charset="0"/>
                              </a:rPr>
                              <m:t>𝟐</m:t>
                            </m:r>
                          </m:sup>
                        </m:sSup>
                      </m:den>
                    </m:f>
                  </m:oMath>
                </a14:m>
                <a:endParaRPr lang="ar-AE" b="1" dirty="0">
                  <a:latin typeface="Century Schoolbook" panose="02040604050505020304" pitchFamily="18" charset="0"/>
                </a:endParaRPr>
              </a:p>
              <a:p>
                <a:pPr algn="l"/>
                <a:r>
                  <a:rPr lang="en-IN" sz="1900" b="1" dirty="0">
                    <a:solidFill>
                      <a:srgbClr val="FFFF00"/>
                    </a:solidFill>
                    <a:latin typeface="Century Schoolbook" panose="02040604050505020304" pitchFamily="18" charset="0"/>
                  </a:rPr>
                  <a:t>Step 2 : </a:t>
                </a:r>
                <a:r>
                  <a:rPr lang="en-IN" b="1" dirty="0">
                    <a:latin typeface="Century Schoolbook" panose="02040604050505020304" pitchFamily="18" charset="0"/>
                  </a:rPr>
                  <a:t>Work done in moving a small positive test charge </a:t>
                </a:r>
                <a14:m>
                  <m:oMath xmlns:m="http://schemas.openxmlformats.org/officeDocument/2006/math">
                    <m:r>
                      <a:rPr lang="en-IN" b="1" i="1">
                        <a:latin typeface="Cambria Math" panose="02040503050406030204" pitchFamily="18" charset="0"/>
                      </a:rPr>
                      <m:t>𝒒</m:t>
                    </m:r>
                  </m:oMath>
                </a14:m>
                <a:r>
                  <a:rPr lang="en-IN" b="1" dirty="0">
                    <a:latin typeface="Century Schoolbook" panose="02040604050505020304" pitchFamily="18" charset="0"/>
                  </a:rPr>
                  <a:t>through a small distance </a:t>
                </a:r>
                <a14:m>
                  <m:oMath xmlns:m="http://schemas.openxmlformats.org/officeDocument/2006/math">
                    <m:r>
                      <a:rPr lang="en-IN" b="1" i="1">
                        <a:latin typeface="Cambria Math" panose="02040503050406030204" pitchFamily="18" charset="0"/>
                      </a:rPr>
                      <m:t>𝒅𝒓</m:t>
                    </m:r>
                  </m:oMath>
                </a14:m>
                <a:r>
                  <a:rPr lang="en-IN" b="1" dirty="0">
                    <a:latin typeface="Century Schoolbook" panose="02040604050505020304" pitchFamily="18" charset="0"/>
                  </a:rPr>
                  <a:t>against the electric field is : </a:t>
                </a:r>
              </a:p>
              <a:p>
                <a:pPr algn="l"/>
                <a14:m>
                  <m:oMathPara xmlns:m="http://schemas.openxmlformats.org/officeDocument/2006/math">
                    <m:oMathParaPr>
                      <m:jc m:val="left"/>
                    </m:oMathParaPr>
                    <m:oMath xmlns:m="http://schemas.openxmlformats.org/officeDocument/2006/math">
                      <m:r>
                        <a:rPr lang="en-IN" sz="1900" b="1" i="1" smtClean="0">
                          <a:solidFill>
                            <a:srgbClr val="FFFF00"/>
                          </a:solidFill>
                          <a:latin typeface="Cambria Math" panose="02040503050406030204" pitchFamily="18" charset="0"/>
                        </a:rPr>
                        <m:t>𝒅𝑾</m:t>
                      </m:r>
                      <m:r>
                        <a:rPr lang="en-IN" sz="1900" b="1">
                          <a:solidFill>
                            <a:srgbClr val="FFFF00"/>
                          </a:solidFill>
                          <a:latin typeface="Cambria Math" panose="02040503050406030204" pitchFamily="18" charset="0"/>
                        </a:rPr>
                        <m:t>=−</m:t>
                      </m:r>
                      <m:r>
                        <a:rPr lang="en-IN" sz="1900" b="1" i="1">
                          <a:solidFill>
                            <a:srgbClr val="FFFF00"/>
                          </a:solidFill>
                          <a:latin typeface="Cambria Math" panose="02040503050406030204" pitchFamily="18" charset="0"/>
                        </a:rPr>
                        <m:t>𝑬</m:t>
                      </m:r>
                      <m:r>
                        <m:rPr>
                          <m:nor/>
                        </m:rPr>
                        <a:rPr lang="en-IN" sz="1900" b="1" i="1">
                          <a:solidFill>
                            <a:srgbClr val="FFFF00"/>
                          </a:solidFill>
                          <a:latin typeface="Century Schoolbook" panose="02040604050505020304" pitchFamily="18" charset="0"/>
                        </a:rPr>
                        <m:t> </m:t>
                      </m:r>
                      <m:r>
                        <a:rPr lang="en-IN" sz="1900" b="1" i="1">
                          <a:solidFill>
                            <a:srgbClr val="FFFF00"/>
                          </a:solidFill>
                          <a:latin typeface="Cambria Math" panose="02040503050406030204" pitchFamily="18" charset="0"/>
                        </a:rPr>
                        <m:t>𝒒</m:t>
                      </m:r>
                      <m:r>
                        <m:rPr>
                          <m:nor/>
                        </m:rPr>
                        <a:rPr lang="en-IN" sz="1900" b="1" i="1">
                          <a:solidFill>
                            <a:srgbClr val="FFFF00"/>
                          </a:solidFill>
                          <a:latin typeface="Century Schoolbook" panose="02040604050505020304" pitchFamily="18" charset="0"/>
                        </a:rPr>
                        <m:t> </m:t>
                      </m:r>
                      <m:r>
                        <a:rPr lang="en-IN" sz="1900" b="1" i="1">
                          <a:solidFill>
                            <a:srgbClr val="FFFF00"/>
                          </a:solidFill>
                          <a:latin typeface="Cambria Math" panose="02040503050406030204" pitchFamily="18" charset="0"/>
                        </a:rPr>
                        <m:t>𝒅𝒓</m:t>
                      </m:r>
                    </m:oMath>
                  </m:oMathPara>
                </a14:m>
                <a:endParaRPr lang="en-IN" sz="1900" b="1" dirty="0">
                  <a:solidFill>
                    <a:srgbClr val="FFFF00"/>
                  </a:solidFill>
                  <a:latin typeface="Century Schoolbook" panose="02040604050505020304" pitchFamily="18" charset="0"/>
                </a:endParaRPr>
              </a:p>
              <a:p>
                <a:pPr algn="l"/>
                <a:r>
                  <a:rPr lang="en-IN" b="1" dirty="0">
                    <a:latin typeface="Century Schoolbook" panose="02040604050505020304" pitchFamily="18" charset="0"/>
                  </a:rPr>
                  <a:t>(The negative sign indicates work is done against the field.)</a:t>
                </a:r>
              </a:p>
              <a:p>
                <a:pPr algn="l"/>
                <a:r>
                  <a:rPr lang="en-IN" sz="1900" b="1" dirty="0">
                    <a:solidFill>
                      <a:srgbClr val="FFFF00"/>
                    </a:solidFill>
                    <a:latin typeface="Century Schoolbook" panose="02040604050505020304" pitchFamily="18" charset="0"/>
                  </a:rPr>
                  <a:t>Step 3 : </a:t>
                </a:r>
                <a:r>
                  <a:rPr lang="en-IN" b="1" dirty="0">
                    <a:latin typeface="Century Schoolbook" panose="02040604050505020304" pitchFamily="18" charset="0"/>
                  </a:rPr>
                  <a:t>Total work done in bringing the charge from infinity (∞) to point P (r) is obtained by integrating : </a:t>
                </a:r>
              </a:p>
              <a:p>
                <a:pPr algn="l"/>
                <a14:m>
                  <m:oMathPara xmlns:m="http://schemas.openxmlformats.org/officeDocument/2006/math">
                    <m:oMathParaPr>
                      <m:jc m:val="left"/>
                    </m:oMathParaPr>
                    <m:oMath xmlns:m="http://schemas.openxmlformats.org/officeDocument/2006/math">
                      <m:r>
                        <a:rPr lang="en-IN" b="1" i="1" smtClean="0">
                          <a:solidFill>
                            <a:srgbClr val="FFFF00"/>
                          </a:solidFill>
                          <a:latin typeface="Cambria Math" panose="02040503050406030204" pitchFamily="18" charset="0"/>
                        </a:rPr>
                        <m:t>𝑾</m:t>
                      </m:r>
                      <m:r>
                        <a:rPr lang="en-IN" b="1">
                          <a:solidFill>
                            <a:srgbClr val="FFFF00"/>
                          </a:solidFill>
                          <a:latin typeface="Cambria Math" panose="02040503050406030204" pitchFamily="18" charset="0"/>
                        </a:rPr>
                        <m:t>=−</m:t>
                      </m:r>
                      <m:nary>
                        <m:naryPr>
                          <m:grow m:val="on"/>
                          <m:ctrlPr>
                            <a:rPr lang="ar-AE" b="1" i="1">
                              <a:solidFill>
                                <a:srgbClr val="FFFF00"/>
                              </a:solidFill>
                              <a:latin typeface="Cambria Math" panose="02040503050406030204" pitchFamily="18" charset="0"/>
                            </a:rPr>
                          </m:ctrlPr>
                        </m:naryPr>
                        <m:sub>
                          <m:r>
                            <a:rPr lang="ar-AE" b="1">
                              <a:solidFill>
                                <a:srgbClr val="FFFF00"/>
                              </a:solidFill>
                              <a:latin typeface="Cambria Math" panose="02040503050406030204" pitchFamily="18" charset="0"/>
                            </a:rPr>
                            <m:t>∞</m:t>
                          </m:r>
                        </m:sub>
                        <m:sup>
                          <m:r>
                            <a:rPr lang="ar-AE" b="1" i="1">
                              <a:solidFill>
                                <a:srgbClr val="FFFF00"/>
                              </a:solidFill>
                              <a:latin typeface="Cambria Math" panose="02040503050406030204" pitchFamily="18" charset="0"/>
                            </a:rPr>
                            <m:t>𝒓</m:t>
                          </m:r>
                        </m:sup>
                        <m:e>
                          <m:r>
                            <a:rPr lang="ar-AE" b="1" i="1">
                              <a:solidFill>
                                <a:srgbClr val="FFFF00"/>
                              </a:solidFill>
                              <a:latin typeface="Cambria Math" panose="02040503050406030204" pitchFamily="18" charset="0"/>
                            </a:rPr>
                            <m:t>𝑬</m:t>
                          </m:r>
                        </m:e>
                      </m:nary>
                      <m:r>
                        <a:rPr lang="ar-AE" b="1" i="1">
                          <a:solidFill>
                            <a:srgbClr val="FFFF00"/>
                          </a:solidFill>
                          <a:latin typeface="Cambria Math" panose="02040503050406030204" pitchFamily="18" charset="0"/>
                        </a:rPr>
                        <m:t>𝒒</m:t>
                      </m:r>
                      <m:r>
                        <m:rPr>
                          <m:nor/>
                        </m:rPr>
                        <a:rPr lang="ar-AE" b="1" i="1">
                          <a:solidFill>
                            <a:srgbClr val="FFFF00"/>
                          </a:solidFill>
                          <a:latin typeface="Century Schoolbook" panose="02040604050505020304" pitchFamily="18" charset="0"/>
                        </a:rPr>
                        <m:t> </m:t>
                      </m:r>
                      <m:r>
                        <a:rPr lang="ar-AE" b="1" i="1">
                          <a:solidFill>
                            <a:srgbClr val="FFFF00"/>
                          </a:solidFill>
                          <a:latin typeface="Cambria Math" panose="02040503050406030204" pitchFamily="18" charset="0"/>
                        </a:rPr>
                        <m:t>𝒅𝒓</m:t>
                      </m:r>
                    </m:oMath>
                  </m:oMathPara>
                </a14:m>
                <a:endParaRPr lang="ar-AE" b="1" dirty="0">
                  <a:solidFill>
                    <a:srgbClr val="FFFF00"/>
                  </a:solidFill>
                  <a:latin typeface="Century Schoolbook" panose="02040604050505020304" pitchFamily="18" charset="0"/>
                </a:endParaRPr>
              </a:p>
              <a:p>
                <a:pPr algn="l"/>
                <a:r>
                  <a:rPr lang="en-IN" b="1" dirty="0">
                    <a:latin typeface="Century Schoolbook" panose="02040604050505020304" pitchFamily="18" charset="0"/>
                  </a:rPr>
                  <a:t>Substitute </a:t>
                </a:r>
                <a14:m>
                  <m:oMath xmlns:m="http://schemas.openxmlformats.org/officeDocument/2006/math">
                    <m:r>
                      <a:rPr lang="en-IN" b="1" i="1" smtClean="0">
                        <a:solidFill>
                          <a:srgbClr val="FFFF00"/>
                        </a:solidFill>
                        <a:latin typeface="Cambria Math" panose="02040503050406030204" pitchFamily="18" charset="0"/>
                      </a:rPr>
                      <m:t>𝑬</m:t>
                    </m:r>
                    <m:r>
                      <a:rPr lang="en-IN" b="1">
                        <a:solidFill>
                          <a:srgbClr val="FFFF00"/>
                        </a:solidFill>
                        <a:latin typeface="Cambria Math" panose="02040503050406030204" pitchFamily="18" charset="0"/>
                      </a:rPr>
                      <m:t>=</m:t>
                    </m:r>
                    <m:f>
                      <m:fPr>
                        <m:ctrlPr>
                          <a:rPr lang="ar-AE" b="1" i="1">
                            <a:solidFill>
                              <a:srgbClr val="FFFF00"/>
                            </a:solidFill>
                            <a:latin typeface="Cambria Math" panose="02040503050406030204" pitchFamily="18" charset="0"/>
                          </a:rPr>
                        </m:ctrlPr>
                      </m:fPr>
                      <m:num>
                        <m:r>
                          <a:rPr lang="ar-AE" b="1" i="1">
                            <a:solidFill>
                              <a:srgbClr val="FFFF00"/>
                            </a:solidFill>
                            <a:latin typeface="Cambria Math" panose="02040503050406030204" pitchFamily="18" charset="0"/>
                          </a:rPr>
                          <m:t>𝟏</m:t>
                        </m:r>
                      </m:num>
                      <m:den>
                        <m:r>
                          <a:rPr lang="ar-AE" b="1" i="1">
                            <a:solidFill>
                              <a:srgbClr val="FFFF00"/>
                            </a:solidFill>
                            <a:latin typeface="Cambria Math" panose="02040503050406030204" pitchFamily="18" charset="0"/>
                          </a:rPr>
                          <m:t>𝟒</m:t>
                        </m:r>
                        <m:r>
                          <a:rPr lang="ar-AE" b="1" i="1">
                            <a:solidFill>
                              <a:srgbClr val="FFFF00"/>
                            </a:solidFill>
                            <a:latin typeface="Cambria Math" panose="02040503050406030204" pitchFamily="18" charset="0"/>
                          </a:rPr>
                          <m:t>𝝅</m:t>
                        </m:r>
                        <m:sSub>
                          <m:sSubPr>
                            <m:ctrlPr>
                              <a:rPr lang="ar-AE" b="1" i="1">
                                <a:solidFill>
                                  <a:srgbClr val="FFFF00"/>
                                </a:solidFill>
                                <a:latin typeface="Cambria Math" panose="02040503050406030204" pitchFamily="18" charset="0"/>
                              </a:rPr>
                            </m:ctrlPr>
                          </m:sSubPr>
                          <m:e>
                            <m:r>
                              <a:rPr lang="ar-AE" b="1" i="1">
                                <a:solidFill>
                                  <a:srgbClr val="FFFF00"/>
                                </a:solidFill>
                                <a:latin typeface="Cambria Math" panose="02040503050406030204" pitchFamily="18" charset="0"/>
                              </a:rPr>
                              <m:t>𝜺</m:t>
                            </m:r>
                          </m:e>
                          <m:sub>
                            <m:r>
                              <a:rPr lang="ar-AE" b="1" i="1">
                                <a:solidFill>
                                  <a:srgbClr val="FFFF00"/>
                                </a:solidFill>
                                <a:latin typeface="Cambria Math" panose="02040503050406030204" pitchFamily="18" charset="0"/>
                              </a:rPr>
                              <m:t>𝟎</m:t>
                            </m:r>
                          </m:sub>
                        </m:sSub>
                      </m:den>
                    </m:f>
                    <m:f>
                      <m:fPr>
                        <m:ctrlPr>
                          <a:rPr lang="ar-AE" b="1" i="1">
                            <a:solidFill>
                              <a:srgbClr val="FFFF00"/>
                            </a:solidFill>
                            <a:latin typeface="Cambria Math" panose="02040503050406030204" pitchFamily="18" charset="0"/>
                          </a:rPr>
                        </m:ctrlPr>
                      </m:fPr>
                      <m:num>
                        <m:r>
                          <a:rPr lang="ar-AE" b="1" i="1">
                            <a:solidFill>
                              <a:srgbClr val="FFFF00"/>
                            </a:solidFill>
                            <a:latin typeface="Cambria Math" panose="02040503050406030204" pitchFamily="18" charset="0"/>
                          </a:rPr>
                          <m:t>𝑸</m:t>
                        </m:r>
                      </m:num>
                      <m:den>
                        <m:sSup>
                          <m:sSupPr>
                            <m:ctrlPr>
                              <a:rPr lang="ar-AE" b="1" i="1">
                                <a:solidFill>
                                  <a:srgbClr val="FFFF00"/>
                                </a:solidFill>
                                <a:latin typeface="Cambria Math" panose="02040503050406030204" pitchFamily="18" charset="0"/>
                              </a:rPr>
                            </m:ctrlPr>
                          </m:sSupPr>
                          <m:e>
                            <m:r>
                              <a:rPr lang="ar-AE" b="1" i="1">
                                <a:solidFill>
                                  <a:srgbClr val="FFFF00"/>
                                </a:solidFill>
                                <a:latin typeface="Cambria Math" panose="02040503050406030204" pitchFamily="18" charset="0"/>
                              </a:rPr>
                              <m:t>𝒓</m:t>
                            </m:r>
                          </m:e>
                          <m:sup>
                            <m:r>
                              <a:rPr lang="ar-AE" b="1" i="1">
                                <a:solidFill>
                                  <a:srgbClr val="FFFF00"/>
                                </a:solidFill>
                                <a:latin typeface="Cambria Math" panose="02040503050406030204" pitchFamily="18" charset="0"/>
                              </a:rPr>
                              <m:t>𝟐</m:t>
                            </m:r>
                          </m:sup>
                        </m:sSup>
                      </m:den>
                    </m:f>
                  </m:oMath>
                </a14:m>
                <a:r>
                  <a:rPr lang="ar-AE" b="1" dirty="0">
                    <a:solidFill>
                      <a:srgbClr val="FFFF00"/>
                    </a:solidFill>
                    <a:latin typeface="Century Schoolbook" panose="02040604050505020304" pitchFamily="18" charset="0"/>
                  </a:rPr>
                  <a:t>:</a:t>
                </a:r>
                <a:endParaRPr lang="ar-AE" b="1" dirty="0">
                  <a:latin typeface="Century Schoolbook" panose="02040604050505020304" pitchFamily="18" charset="0"/>
                </a:endParaRPr>
              </a:p>
              <a:p>
                <a:pPr algn="l"/>
                <a14:m>
                  <m:oMathPara xmlns:m="http://schemas.openxmlformats.org/officeDocument/2006/math">
                    <m:oMathParaPr>
                      <m:jc m:val="left"/>
                    </m:oMathParaPr>
                    <m:oMath xmlns:m="http://schemas.openxmlformats.org/officeDocument/2006/math">
                      <m:r>
                        <a:rPr lang="ar-AE" b="1" i="1" smtClean="0">
                          <a:solidFill>
                            <a:srgbClr val="FFFF00"/>
                          </a:solidFill>
                          <a:latin typeface="Cambria Math" panose="02040503050406030204" pitchFamily="18" charset="0"/>
                        </a:rPr>
                        <m:t>𝑾</m:t>
                      </m:r>
                      <m:r>
                        <a:rPr lang="ar-AE" b="1">
                          <a:solidFill>
                            <a:srgbClr val="FFFF00"/>
                          </a:solidFill>
                          <a:latin typeface="Cambria Math" panose="02040503050406030204" pitchFamily="18" charset="0"/>
                        </a:rPr>
                        <m:t>=−</m:t>
                      </m:r>
                      <m:nary>
                        <m:naryPr>
                          <m:grow m:val="on"/>
                          <m:ctrlPr>
                            <a:rPr lang="ar-AE" b="1" i="1">
                              <a:solidFill>
                                <a:srgbClr val="FFFF00"/>
                              </a:solidFill>
                              <a:latin typeface="Cambria Math" panose="02040503050406030204" pitchFamily="18" charset="0"/>
                            </a:rPr>
                          </m:ctrlPr>
                        </m:naryPr>
                        <m:sub>
                          <m:r>
                            <a:rPr lang="ar-AE" b="1">
                              <a:solidFill>
                                <a:srgbClr val="FFFF00"/>
                              </a:solidFill>
                              <a:latin typeface="Cambria Math" panose="02040503050406030204" pitchFamily="18" charset="0"/>
                            </a:rPr>
                            <m:t>∞</m:t>
                          </m:r>
                        </m:sub>
                        <m:sup>
                          <m:r>
                            <a:rPr lang="ar-AE" b="1" i="1">
                              <a:solidFill>
                                <a:srgbClr val="FFFF00"/>
                              </a:solidFill>
                              <a:latin typeface="Cambria Math" panose="02040503050406030204" pitchFamily="18" charset="0"/>
                            </a:rPr>
                            <m:t>𝒓</m:t>
                          </m:r>
                        </m:sup>
                        <m:e>
                          <m:f>
                            <m:fPr>
                              <m:ctrlPr>
                                <a:rPr lang="ar-AE" b="1" i="1">
                                  <a:solidFill>
                                    <a:srgbClr val="FFFF00"/>
                                  </a:solidFill>
                                  <a:latin typeface="Cambria Math" panose="02040503050406030204" pitchFamily="18" charset="0"/>
                                </a:rPr>
                              </m:ctrlPr>
                            </m:fPr>
                            <m:num>
                              <m:r>
                                <a:rPr lang="ar-AE" b="1" i="1">
                                  <a:solidFill>
                                    <a:srgbClr val="FFFF00"/>
                                  </a:solidFill>
                                  <a:latin typeface="Cambria Math" panose="02040503050406030204" pitchFamily="18" charset="0"/>
                                </a:rPr>
                                <m:t>𝟏</m:t>
                              </m:r>
                            </m:num>
                            <m:den>
                              <m:r>
                                <a:rPr lang="ar-AE" b="1" i="1">
                                  <a:solidFill>
                                    <a:srgbClr val="FFFF00"/>
                                  </a:solidFill>
                                  <a:latin typeface="Cambria Math" panose="02040503050406030204" pitchFamily="18" charset="0"/>
                                </a:rPr>
                                <m:t>𝟒</m:t>
                              </m:r>
                              <m:r>
                                <a:rPr lang="ar-AE" b="1" i="1">
                                  <a:solidFill>
                                    <a:srgbClr val="FFFF00"/>
                                  </a:solidFill>
                                  <a:latin typeface="Cambria Math" panose="02040503050406030204" pitchFamily="18" charset="0"/>
                                </a:rPr>
                                <m:t>𝝅</m:t>
                              </m:r>
                              <m:sSub>
                                <m:sSubPr>
                                  <m:ctrlPr>
                                    <a:rPr lang="ar-AE" b="1" i="1">
                                      <a:solidFill>
                                        <a:srgbClr val="FFFF00"/>
                                      </a:solidFill>
                                      <a:latin typeface="Cambria Math" panose="02040503050406030204" pitchFamily="18" charset="0"/>
                                    </a:rPr>
                                  </m:ctrlPr>
                                </m:sSubPr>
                                <m:e>
                                  <m:r>
                                    <a:rPr lang="ar-AE" b="1" i="1">
                                      <a:solidFill>
                                        <a:srgbClr val="FFFF00"/>
                                      </a:solidFill>
                                      <a:latin typeface="Cambria Math" panose="02040503050406030204" pitchFamily="18" charset="0"/>
                                    </a:rPr>
                                    <m:t>𝜺</m:t>
                                  </m:r>
                                </m:e>
                                <m:sub>
                                  <m:r>
                                    <a:rPr lang="ar-AE" b="1" i="1">
                                      <a:solidFill>
                                        <a:srgbClr val="FFFF00"/>
                                      </a:solidFill>
                                      <a:latin typeface="Cambria Math" panose="02040503050406030204" pitchFamily="18" charset="0"/>
                                    </a:rPr>
                                    <m:t>𝟎</m:t>
                                  </m:r>
                                </m:sub>
                              </m:sSub>
                            </m:den>
                          </m:f>
                        </m:e>
                      </m:nary>
                      <m:f>
                        <m:fPr>
                          <m:ctrlPr>
                            <a:rPr lang="ar-AE" b="1" i="1">
                              <a:solidFill>
                                <a:srgbClr val="FFFF00"/>
                              </a:solidFill>
                              <a:latin typeface="Cambria Math" panose="02040503050406030204" pitchFamily="18" charset="0"/>
                            </a:rPr>
                          </m:ctrlPr>
                        </m:fPr>
                        <m:num>
                          <m:r>
                            <a:rPr lang="ar-AE" b="1" i="1">
                              <a:solidFill>
                                <a:srgbClr val="FFFF00"/>
                              </a:solidFill>
                              <a:latin typeface="Cambria Math" panose="02040503050406030204" pitchFamily="18" charset="0"/>
                            </a:rPr>
                            <m:t>𝑸𝒒</m:t>
                          </m:r>
                        </m:num>
                        <m:den>
                          <m:sSup>
                            <m:sSupPr>
                              <m:ctrlPr>
                                <a:rPr lang="ar-AE" b="1" i="1">
                                  <a:solidFill>
                                    <a:srgbClr val="FFFF00"/>
                                  </a:solidFill>
                                  <a:latin typeface="Cambria Math" panose="02040503050406030204" pitchFamily="18" charset="0"/>
                                </a:rPr>
                              </m:ctrlPr>
                            </m:sSupPr>
                            <m:e>
                              <m:r>
                                <a:rPr lang="ar-AE" b="1" i="1">
                                  <a:solidFill>
                                    <a:srgbClr val="FFFF00"/>
                                  </a:solidFill>
                                  <a:latin typeface="Cambria Math" panose="02040503050406030204" pitchFamily="18" charset="0"/>
                                </a:rPr>
                                <m:t>𝒓</m:t>
                              </m:r>
                            </m:e>
                            <m:sup>
                              <m:r>
                                <a:rPr lang="ar-AE" b="1" i="1">
                                  <a:solidFill>
                                    <a:srgbClr val="FFFF00"/>
                                  </a:solidFill>
                                  <a:latin typeface="Cambria Math" panose="02040503050406030204" pitchFamily="18" charset="0"/>
                                </a:rPr>
                                <m:t>𝟐</m:t>
                              </m:r>
                            </m:sup>
                          </m:sSup>
                        </m:den>
                      </m:f>
                      <m:r>
                        <m:rPr>
                          <m:nor/>
                        </m:rPr>
                        <a:rPr lang="ar-AE" b="1" i="1">
                          <a:solidFill>
                            <a:srgbClr val="FFFF00"/>
                          </a:solidFill>
                          <a:latin typeface="Century Schoolbook" panose="02040604050505020304" pitchFamily="18" charset="0"/>
                        </a:rPr>
                        <m:t> </m:t>
                      </m:r>
                      <m:r>
                        <a:rPr lang="ar-AE" b="1" i="1">
                          <a:solidFill>
                            <a:srgbClr val="FFFF00"/>
                          </a:solidFill>
                          <a:latin typeface="Cambria Math" panose="02040503050406030204" pitchFamily="18" charset="0"/>
                        </a:rPr>
                        <m:t>𝒅𝒓</m:t>
                      </m:r>
                    </m:oMath>
                  </m:oMathPara>
                </a14:m>
                <a:br>
                  <a:rPr lang="ar-AE" b="1" dirty="0">
                    <a:latin typeface="Century Schoolbook" panose="02040604050505020304" pitchFamily="18" charset="0"/>
                  </a:rPr>
                </a:br>
                <a:endParaRPr lang="ar-AE" b="1" dirty="0">
                  <a:latin typeface="Century Schoolbook" panose="02040604050505020304" pitchFamily="18" charset="0"/>
                </a:endParaRPr>
              </a:p>
              <a:p>
                <a:pPr algn="l"/>
                <a:r>
                  <a:rPr lang="en-IN" sz="1900" b="1" dirty="0">
                    <a:solidFill>
                      <a:srgbClr val="FFFF00"/>
                    </a:solidFill>
                    <a:latin typeface="Century Schoolbook" panose="02040604050505020304" pitchFamily="18" charset="0"/>
                  </a:rPr>
                  <a:t>Step 4 : </a:t>
                </a:r>
                <a:r>
                  <a:rPr lang="en-IN" b="1" dirty="0">
                    <a:latin typeface="Century Schoolbook" panose="02040604050505020304" pitchFamily="18" charset="0"/>
                  </a:rPr>
                  <a:t>Integrating,  </a:t>
                </a:r>
                <a14:m>
                  <m:oMath xmlns:m="http://schemas.openxmlformats.org/officeDocument/2006/math">
                    <m:r>
                      <a:rPr lang="en-IN" b="1" i="1" smtClean="0">
                        <a:solidFill>
                          <a:srgbClr val="FFFF00"/>
                        </a:solidFill>
                        <a:latin typeface="Cambria Math" panose="02040503050406030204" pitchFamily="18" charset="0"/>
                      </a:rPr>
                      <m:t>𝑾</m:t>
                    </m:r>
                    <m:r>
                      <a:rPr lang="en-IN" b="1">
                        <a:solidFill>
                          <a:srgbClr val="FFFF00"/>
                        </a:solidFill>
                        <a:latin typeface="Cambria Math" panose="02040503050406030204" pitchFamily="18" charset="0"/>
                      </a:rPr>
                      <m:t>=−</m:t>
                    </m:r>
                    <m:f>
                      <m:fPr>
                        <m:ctrlPr>
                          <a:rPr lang="ar-AE" b="1" i="1">
                            <a:solidFill>
                              <a:srgbClr val="FFFF00"/>
                            </a:solidFill>
                            <a:latin typeface="Cambria Math" panose="02040503050406030204" pitchFamily="18" charset="0"/>
                          </a:rPr>
                        </m:ctrlPr>
                      </m:fPr>
                      <m:num>
                        <m:r>
                          <a:rPr lang="ar-AE" b="1" i="1">
                            <a:solidFill>
                              <a:srgbClr val="FFFF00"/>
                            </a:solidFill>
                            <a:latin typeface="Cambria Math" panose="02040503050406030204" pitchFamily="18" charset="0"/>
                          </a:rPr>
                          <m:t>𝑸𝒒</m:t>
                        </m:r>
                      </m:num>
                      <m:den>
                        <m:r>
                          <a:rPr lang="ar-AE" b="1" i="1">
                            <a:solidFill>
                              <a:srgbClr val="FFFF00"/>
                            </a:solidFill>
                            <a:latin typeface="Cambria Math" panose="02040503050406030204" pitchFamily="18" charset="0"/>
                          </a:rPr>
                          <m:t>𝟒</m:t>
                        </m:r>
                        <m:r>
                          <a:rPr lang="ar-AE" b="1" i="1">
                            <a:solidFill>
                              <a:srgbClr val="FFFF00"/>
                            </a:solidFill>
                            <a:latin typeface="Cambria Math" panose="02040503050406030204" pitchFamily="18" charset="0"/>
                          </a:rPr>
                          <m:t>𝝅</m:t>
                        </m:r>
                        <m:sSub>
                          <m:sSubPr>
                            <m:ctrlPr>
                              <a:rPr lang="ar-AE" b="1" i="1">
                                <a:solidFill>
                                  <a:srgbClr val="FFFF00"/>
                                </a:solidFill>
                                <a:latin typeface="Cambria Math" panose="02040503050406030204" pitchFamily="18" charset="0"/>
                              </a:rPr>
                            </m:ctrlPr>
                          </m:sSubPr>
                          <m:e>
                            <m:r>
                              <a:rPr lang="ar-AE" b="1" i="1">
                                <a:solidFill>
                                  <a:srgbClr val="FFFF00"/>
                                </a:solidFill>
                                <a:latin typeface="Cambria Math" panose="02040503050406030204" pitchFamily="18" charset="0"/>
                              </a:rPr>
                              <m:t>𝜺</m:t>
                            </m:r>
                          </m:e>
                          <m:sub>
                            <m:r>
                              <a:rPr lang="ar-AE" b="1" i="1">
                                <a:solidFill>
                                  <a:srgbClr val="FFFF00"/>
                                </a:solidFill>
                                <a:latin typeface="Cambria Math" panose="02040503050406030204" pitchFamily="18" charset="0"/>
                              </a:rPr>
                              <m:t>𝟎</m:t>
                            </m:r>
                          </m:sub>
                        </m:sSub>
                      </m:den>
                    </m:f>
                    <m:sSubSup>
                      <m:sSubSupPr>
                        <m:ctrlPr>
                          <a:rPr lang="ar-AE" b="1" i="1">
                            <a:solidFill>
                              <a:srgbClr val="FFFF00"/>
                            </a:solidFill>
                            <a:latin typeface="Cambria Math" panose="02040503050406030204" pitchFamily="18" charset="0"/>
                          </a:rPr>
                        </m:ctrlPr>
                      </m:sSubSupPr>
                      <m:e>
                        <m:d>
                          <m:dPr>
                            <m:begChr m:val="["/>
                            <m:endChr m:val="]"/>
                            <m:ctrlPr>
                              <a:rPr lang="ar-AE" b="1" i="1">
                                <a:solidFill>
                                  <a:srgbClr val="FFFF00"/>
                                </a:solidFill>
                                <a:latin typeface="Cambria Math" panose="02040503050406030204" pitchFamily="18" charset="0"/>
                              </a:rPr>
                            </m:ctrlPr>
                          </m:dPr>
                          <m:e>
                            <m:r>
                              <a:rPr lang="ar-AE" b="1">
                                <a:solidFill>
                                  <a:srgbClr val="FFFF00"/>
                                </a:solidFill>
                                <a:latin typeface="Cambria Math" panose="02040503050406030204" pitchFamily="18" charset="0"/>
                              </a:rPr>
                              <m:t>−</m:t>
                            </m:r>
                            <m:f>
                              <m:fPr>
                                <m:ctrlPr>
                                  <a:rPr lang="ar-AE" b="1" i="1">
                                    <a:solidFill>
                                      <a:srgbClr val="FFFF00"/>
                                    </a:solidFill>
                                    <a:latin typeface="Cambria Math" panose="02040503050406030204" pitchFamily="18" charset="0"/>
                                  </a:rPr>
                                </m:ctrlPr>
                              </m:fPr>
                              <m:num>
                                <m:r>
                                  <a:rPr lang="ar-AE" b="1" i="1">
                                    <a:solidFill>
                                      <a:srgbClr val="FFFF00"/>
                                    </a:solidFill>
                                    <a:latin typeface="Cambria Math" panose="02040503050406030204" pitchFamily="18" charset="0"/>
                                  </a:rPr>
                                  <m:t>𝟏</m:t>
                                </m:r>
                              </m:num>
                              <m:den>
                                <m:r>
                                  <a:rPr lang="ar-AE" b="1" i="1">
                                    <a:solidFill>
                                      <a:srgbClr val="FFFF00"/>
                                    </a:solidFill>
                                    <a:latin typeface="Cambria Math" panose="02040503050406030204" pitchFamily="18" charset="0"/>
                                  </a:rPr>
                                  <m:t>𝒓</m:t>
                                </m:r>
                              </m:den>
                            </m:f>
                          </m:e>
                        </m:d>
                      </m:e>
                      <m:sub>
                        <m:r>
                          <a:rPr lang="ar-AE" b="1">
                            <a:solidFill>
                              <a:srgbClr val="FFFF00"/>
                            </a:solidFill>
                            <a:latin typeface="Cambria Math" panose="02040503050406030204" pitchFamily="18" charset="0"/>
                          </a:rPr>
                          <m:t>∞</m:t>
                        </m:r>
                      </m:sub>
                      <m:sup>
                        <m:r>
                          <a:rPr lang="ar-AE" b="1" i="1">
                            <a:solidFill>
                              <a:srgbClr val="FFFF00"/>
                            </a:solidFill>
                            <a:latin typeface="Cambria Math" panose="02040503050406030204" pitchFamily="18" charset="0"/>
                          </a:rPr>
                          <m:t>𝒓</m:t>
                        </m:r>
                      </m:sup>
                    </m:sSubSup>
                  </m:oMath>
                </a14:m>
                <a:endParaRPr lang="en-US" b="1" i="1" dirty="0">
                  <a:latin typeface="Century Schoolbook" panose="02040604050505020304" pitchFamily="18" charset="0"/>
                </a:endParaRPr>
              </a:p>
              <a:p>
                <a:pPr algn="l"/>
                <a14:m>
                  <m:oMathPara xmlns:m="http://schemas.openxmlformats.org/officeDocument/2006/math">
                    <m:oMathParaPr>
                      <m:jc m:val="left"/>
                    </m:oMathParaPr>
                    <m:oMath xmlns:m="http://schemas.openxmlformats.org/officeDocument/2006/math">
                      <m:r>
                        <a:rPr lang="ar-AE" sz="1900" b="1" i="1" smtClean="0">
                          <a:solidFill>
                            <a:srgbClr val="FFFF00"/>
                          </a:solidFill>
                          <a:latin typeface="Cambria Math" panose="02040503050406030204" pitchFamily="18" charset="0"/>
                        </a:rPr>
                        <m:t>𝑾</m:t>
                      </m:r>
                      <m:r>
                        <a:rPr lang="ar-AE" sz="1900" b="1">
                          <a:solidFill>
                            <a:srgbClr val="FFFF00"/>
                          </a:solidFill>
                          <a:latin typeface="Cambria Math" panose="02040503050406030204" pitchFamily="18" charset="0"/>
                        </a:rPr>
                        <m:t>=</m:t>
                      </m:r>
                      <m:f>
                        <m:fPr>
                          <m:ctrlPr>
                            <a:rPr lang="ar-AE" sz="1900" b="1" i="1">
                              <a:solidFill>
                                <a:srgbClr val="FFFF00"/>
                              </a:solidFill>
                              <a:latin typeface="Cambria Math" panose="02040503050406030204" pitchFamily="18" charset="0"/>
                            </a:rPr>
                          </m:ctrlPr>
                        </m:fPr>
                        <m:num>
                          <m:r>
                            <a:rPr lang="ar-AE" sz="1900" b="1" i="1">
                              <a:solidFill>
                                <a:srgbClr val="FFFF00"/>
                              </a:solidFill>
                              <a:latin typeface="Cambria Math" panose="02040503050406030204" pitchFamily="18" charset="0"/>
                            </a:rPr>
                            <m:t>𝑸𝒒</m:t>
                          </m:r>
                        </m:num>
                        <m:den>
                          <m:r>
                            <a:rPr lang="ar-AE" sz="1900" b="1" i="1">
                              <a:solidFill>
                                <a:srgbClr val="FFFF00"/>
                              </a:solidFill>
                              <a:latin typeface="Cambria Math" panose="02040503050406030204" pitchFamily="18" charset="0"/>
                            </a:rPr>
                            <m:t>𝟒</m:t>
                          </m:r>
                          <m:r>
                            <a:rPr lang="ar-AE" sz="1900" b="1" i="1">
                              <a:solidFill>
                                <a:srgbClr val="FFFF00"/>
                              </a:solidFill>
                              <a:latin typeface="Cambria Math" panose="02040503050406030204" pitchFamily="18" charset="0"/>
                            </a:rPr>
                            <m:t>𝝅</m:t>
                          </m:r>
                          <m:sSub>
                            <m:sSubPr>
                              <m:ctrlPr>
                                <a:rPr lang="ar-AE" sz="1900" b="1" i="1">
                                  <a:solidFill>
                                    <a:srgbClr val="FFFF00"/>
                                  </a:solidFill>
                                  <a:latin typeface="Cambria Math" panose="02040503050406030204" pitchFamily="18" charset="0"/>
                                </a:rPr>
                              </m:ctrlPr>
                            </m:sSubPr>
                            <m:e>
                              <m:r>
                                <a:rPr lang="ar-AE" sz="1900" b="1" i="1">
                                  <a:solidFill>
                                    <a:srgbClr val="FFFF00"/>
                                  </a:solidFill>
                                  <a:latin typeface="Cambria Math" panose="02040503050406030204" pitchFamily="18" charset="0"/>
                                </a:rPr>
                                <m:t>𝜺</m:t>
                              </m:r>
                            </m:e>
                            <m:sub>
                              <m:r>
                                <a:rPr lang="ar-AE" sz="1900" b="1" i="1">
                                  <a:solidFill>
                                    <a:srgbClr val="FFFF00"/>
                                  </a:solidFill>
                                  <a:latin typeface="Cambria Math" panose="02040503050406030204" pitchFamily="18" charset="0"/>
                                </a:rPr>
                                <m:t>𝟎</m:t>
                              </m:r>
                            </m:sub>
                          </m:sSub>
                          <m:r>
                            <a:rPr lang="ar-AE" sz="1900" b="1" i="1">
                              <a:solidFill>
                                <a:srgbClr val="FFFF00"/>
                              </a:solidFill>
                              <a:latin typeface="Cambria Math" panose="02040503050406030204" pitchFamily="18" charset="0"/>
                            </a:rPr>
                            <m:t>𝒓</m:t>
                          </m:r>
                        </m:den>
                      </m:f>
                    </m:oMath>
                  </m:oMathPara>
                </a14:m>
                <a:endParaRPr lang="ar-AE" b="1" dirty="0">
                  <a:solidFill>
                    <a:srgbClr val="FFFF00"/>
                  </a:solidFill>
                  <a:latin typeface="Century Schoolbook" panose="02040604050505020304" pitchFamily="18" charset="0"/>
                </a:endParaRPr>
              </a:p>
              <a:p>
                <a:pPr algn="l"/>
                <a:r>
                  <a:rPr lang="en-IN" sz="1900" b="1" dirty="0">
                    <a:solidFill>
                      <a:srgbClr val="FFFF00"/>
                    </a:solidFill>
                    <a:latin typeface="Century Schoolbook" panose="02040604050505020304" pitchFamily="18" charset="0"/>
                  </a:rPr>
                  <a:t>Step 5 : </a:t>
                </a:r>
                <a:r>
                  <a:rPr lang="en-IN" b="1" dirty="0">
                    <a:latin typeface="Century Schoolbook" panose="02040604050505020304" pitchFamily="18" charset="0"/>
                  </a:rPr>
                  <a:t>Now, Electric Potential (V) at point P is : </a:t>
                </a:r>
                <a14:m>
                  <m:oMath xmlns:m="http://schemas.openxmlformats.org/officeDocument/2006/math">
                    <m:r>
                      <a:rPr lang="en-IN" sz="1900" b="1" i="1" smtClean="0">
                        <a:solidFill>
                          <a:srgbClr val="FFFF00"/>
                        </a:solidFill>
                        <a:latin typeface="Cambria Math" panose="02040503050406030204" pitchFamily="18" charset="0"/>
                      </a:rPr>
                      <m:t>𝑽</m:t>
                    </m:r>
                    <m:r>
                      <a:rPr lang="en-IN" sz="1900" b="1">
                        <a:solidFill>
                          <a:srgbClr val="FFFF00"/>
                        </a:solidFill>
                        <a:latin typeface="Cambria Math" panose="02040503050406030204" pitchFamily="18" charset="0"/>
                      </a:rPr>
                      <m:t>=</m:t>
                    </m:r>
                    <m:f>
                      <m:fPr>
                        <m:ctrlPr>
                          <a:rPr lang="ar-AE" sz="1900" b="1" i="1">
                            <a:solidFill>
                              <a:srgbClr val="FFFF00"/>
                            </a:solidFill>
                            <a:latin typeface="Cambria Math" panose="02040503050406030204" pitchFamily="18" charset="0"/>
                          </a:rPr>
                        </m:ctrlPr>
                      </m:fPr>
                      <m:num>
                        <m:r>
                          <a:rPr lang="ar-AE" sz="1900" b="1" i="1">
                            <a:solidFill>
                              <a:srgbClr val="FFFF00"/>
                            </a:solidFill>
                            <a:latin typeface="Cambria Math" panose="02040503050406030204" pitchFamily="18" charset="0"/>
                          </a:rPr>
                          <m:t>𝑾</m:t>
                        </m:r>
                      </m:num>
                      <m:den>
                        <m:r>
                          <a:rPr lang="ar-AE" sz="1900" b="1" i="1">
                            <a:solidFill>
                              <a:srgbClr val="FFFF00"/>
                            </a:solidFill>
                            <a:latin typeface="Cambria Math" panose="02040503050406030204" pitchFamily="18" charset="0"/>
                          </a:rPr>
                          <m:t>𝒒</m:t>
                        </m:r>
                      </m:den>
                    </m:f>
                    <m:r>
                      <a:rPr lang="ar-AE" sz="1900" b="1">
                        <a:solidFill>
                          <a:srgbClr val="FFFF00"/>
                        </a:solidFill>
                        <a:latin typeface="Cambria Math" panose="02040503050406030204" pitchFamily="18" charset="0"/>
                      </a:rPr>
                      <m:t>=</m:t>
                    </m:r>
                    <m:f>
                      <m:fPr>
                        <m:ctrlPr>
                          <a:rPr lang="ar-AE" sz="1900" b="1" i="1">
                            <a:solidFill>
                              <a:srgbClr val="FFFF00"/>
                            </a:solidFill>
                            <a:latin typeface="Cambria Math" panose="02040503050406030204" pitchFamily="18" charset="0"/>
                          </a:rPr>
                        </m:ctrlPr>
                      </m:fPr>
                      <m:num>
                        <m:r>
                          <a:rPr lang="ar-AE" sz="1900" b="1" i="1">
                            <a:solidFill>
                              <a:srgbClr val="FFFF00"/>
                            </a:solidFill>
                            <a:latin typeface="Cambria Math" panose="02040503050406030204" pitchFamily="18" charset="0"/>
                          </a:rPr>
                          <m:t>𝟏</m:t>
                        </m:r>
                      </m:num>
                      <m:den>
                        <m:r>
                          <a:rPr lang="ar-AE" sz="1900" b="1" i="1">
                            <a:solidFill>
                              <a:srgbClr val="FFFF00"/>
                            </a:solidFill>
                            <a:latin typeface="Cambria Math" panose="02040503050406030204" pitchFamily="18" charset="0"/>
                          </a:rPr>
                          <m:t>𝟒</m:t>
                        </m:r>
                        <m:r>
                          <a:rPr lang="ar-AE" sz="1900" b="1" i="1">
                            <a:solidFill>
                              <a:srgbClr val="FFFF00"/>
                            </a:solidFill>
                            <a:latin typeface="Cambria Math" panose="02040503050406030204" pitchFamily="18" charset="0"/>
                          </a:rPr>
                          <m:t>𝝅</m:t>
                        </m:r>
                        <m:sSub>
                          <m:sSubPr>
                            <m:ctrlPr>
                              <a:rPr lang="ar-AE" sz="1900" b="1" i="1">
                                <a:solidFill>
                                  <a:srgbClr val="FFFF00"/>
                                </a:solidFill>
                                <a:latin typeface="Cambria Math" panose="02040503050406030204" pitchFamily="18" charset="0"/>
                              </a:rPr>
                            </m:ctrlPr>
                          </m:sSubPr>
                          <m:e>
                            <m:r>
                              <a:rPr lang="ar-AE" sz="1900" b="1" i="1">
                                <a:solidFill>
                                  <a:srgbClr val="FFFF00"/>
                                </a:solidFill>
                                <a:latin typeface="Cambria Math" panose="02040503050406030204" pitchFamily="18" charset="0"/>
                              </a:rPr>
                              <m:t>𝜺</m:t>
                            </m:r>
                          </m:e>
                          <m:sub>
                            <m:r>
                              <a:rPr lang="ar-AE" sz="1900" b="1" i="1">
                                <a:solidFill>
                                  <a:srgbClr val="FFFF00"/>
                                </a:solidFill>
                                <a:latin typeface="Cambria Math" panose="02040503050406030204" pitchFamily="18" charset="0"/>
                              </a:rPr>
                              <m:t>𝟎</m:t>
                            </m:r>
                          </m:sub>
                        </m:sSub>
                      </m:den>
                    </m:f>
                    <m:f>
                      <m:fPr>
                        <m:ctrlPr>
                          <a:rPr lang="ar-AE" sz="1900" b="1" i="1">
                            <a:solidFill>
                              <a:srgbClr val="FFFF00"/>
                            </a:solidFill>
                            <a:latin typeface="Cambria Math" panose="02040503050406030204" pitchFamily="18" charset="0"/>
                          </a:rPr>
                        </m:ctrlPr>
                      </m:fPr>
                      <m:num>
                        <m:r>
                          <a:rPr lang="ar-AE" sz="1900" b="1" i="1">
                            <a:solidFill>
                              <a:srgbClr val="FFFF00"/>
                            </a:solidFill>
                            <a:latin typeface="Cambria Math" panose="02040503050406030204" pitchFamily="18" charset="0"/>
                          </a:rPr>
                          <m:t>𝑸</m:t>
                        </m:r>
                      </m:num>
                      <m:den>
                        <m:r>
                          <a:rPr lang="ar-AE" sz="1900" b="1" i="1">
                            <a:solidFill>
                              <a:srgbClr val="FFFF00"/>
                            </a:solidFill>
                            <a:latin typeface="Cambria Math" panose="02040503050406030204" pitchFamily="18" charset="0"/>
                          </a:rPr>
                          <m:t>𝒓</m:t>
                        </m:r>
                      </m:den>
                    </m:f>
                  </m:oMath>
                </a14:m>
                <a:endParaRPr lang="ar-AE" b="1" dirty="0">
                  <a:latin typeface="Century Schoolbook" panose="02040604050505020304" pitchFamily="18" charset="0"/>
                </a:endParaRPr>
              </a:p>
              <a:p>
                <a:pPr marL="285750" indent="-285750" algn="l">
                  <a:buFont typeface="Wingdings" panose="05000000000000000000" pitchFamily="2" charset="2"/>
                  <a:buChar char="v"/>
                </a:pPr>
                <a:r>
                  <a:rPr lang="en-IN" sz="1900" b="1" dirty="0">
                    <a:latin typeface="Century Schoolbook" panose="02040604050505020304" pitchFamily="18" charset="0"/>
                  </a:rPr>
                  <a:t>Final Formula : </a:t>
                </a:r>
                <a14:m>
                  <m:oMath xmlns:m="http://schemas.openxmlformats.org/officeDocument/2006/math">
                    <m:borderBox>
                      <m:borderBoxPr>
                        <m:ctrlPr>
                          <a:rPr lang="ar-AE" sz="1900" b="1" i="1" smtClean="0">
                            <a:solidFill>
                              <a:srgbClr val="FFFF00"/>
                            </a:solidFill>
                            <a:latin typeface="Cambria Math" panose="02040503050406030204" pitchFamily="18" charset="0"/>
                          </a:rPr>
                        </m:ctrlPr>
                      </m:borderBoxPr>
                      <m:e>
                        <m:r>
                          <a:rPr lang="ar-AE" sz="1900" b="1" i="1">
                            <a:solidFill>
                              <a:srgbClr val="FFFF00"/>
                            </a:solidFill>
                            <a:latin typeface="Cambria Math" panose="02040503050406030204" pitchFamily="18" charset="0"/>
                          </a:rPr>
                          <m:t>𝑽</m:t>
                        </m:r>
                        <m:r>
                          <a:rPr lang="ar-AE" sz="1900" b="1">
                            <a:solidFill>
                              <a:srgbClr val="FFFF00"/>
                            </a:solidFill>
                            <a:latin typeface="Cambria Math" panose="02040503050406030204" pitchFamily="18" charset="0"/>
                          </a:rPr>
                          <m:t>=</m:t>
                        </m:r>
                        <m:f>
                          <m:fPr>
                            <m:ctrlPr>
                              <a:rPr lang="ar-AE" sz="1900" b="1" i="1">
                                <a:solidFill>
                                  <a:srgbClr val="FFFF00"/>
                                </a:solidFill>
                                <a:latin typeface="Cambria Math" panose="02040503050406030204" pitchFamily="18" charset="0"/>
                              </a:rPr>
                            </m:ctrlPr>
                          </m:fPr>
                          <m:num>
                            <m:r>
                              <a:rPr lang="ar-AE" sz="1900" b="1" i="1">
                                <a:solidFill>
                                  <a:srgbClr val="FFFF00"/>
                                </a:solidFill>
                                <a:latin typeface="Cambria Math" panose="02040503050406030204" pitchFamily="18" charset="0"/>
                              </a:rPr>
                              <m:t>𝟏</m:t>
                            </m:r>
                          </m:num>
                          <m:den>
                            <m:r>
                              <a:rPr lang="ar-AE" sz="1900" b="1" i="1">
                                <a:solidFill>
                                  <a:srgbClr val="FFFF00"/>
                                </a:solidFill>
                                <a:latin typeface="Cambria Math" panose="02040503050406030204" pitchFamily="18" charset="0"/>
                              </a:rPr>
                              <m:t>𝟒</m:t>
                            </m:r>
                            <m:r>
                              <a:rPr lang="ar-AE" sz="1900" b="1" i="1">
                                <a:solidFill>
                                  <a:srgbClr val="FFFF00"/>
                                </a:solidFill>
                                <a:latin typeface="Cambria Math" panose="02040503050406030204" pitchFamily="18" charset="0"/>
                              </a:rPr>
                              <m:t>𝝅</m:t>
                            </m:r>
                            <m:sSub>
                              <m:sSubPr>
                                <m:ctrlPr>
                                  <a:rPr lang="ar-AE" sz="1900" b="1" i="1">
                                    <a:solidFill>
                                      <a:srgbClr val="FFFF00"/>
                                    </a:solidFill>
                                    <a:latin typeface="Cambria Math" panose="02040503050406030204" pitchFamily="18" charset="0"/>
                                  </a:rPr>
                                </m:ctrlPr>
                              </m:sSubPr>
                              <m:e>
                                <m:r>
                                  <a:rPr lang="ar-AE" sz="1900" b="1" i="1">
                                    <a:solidFill>
                                      <a:srgbClr val="FFFF00"/>
                                    </a:solidFill>
                                    <a:latin typeface="Cambria Math" panose="02040503050406030204" pitchFamily="18" charset="0"/>
                                  </a:rPr>
                                  <m:t>𝜺</m:t>
                                </m:r>
                              </m:e>
                              <m:sub>
                                <m:r>
                                  <a:rPr lang="ar-AE" sz="1900" b="1" i="1">
                                    <a:solidFill>
                                      <a:srgbClr val="FFFF00"/>
                                    </a:solidFill>
                                    <a:latin typeface="Cambria Math" panose="02040503050406030204" pitchFamily="18" charset="0"/>
                                  </a:rPr>
                                  <m:t>𝟎</m:t>
                                </m:r>
                              </m:sub>
                            </m:sSub>
                          </m:den>
                        </m:f>
                        <m:f>
                          <m:fPr>
                            <m:ctrlPr>
                              <a:rPr lang="ar-AE" sz="1900" b="1" i="1">
                                <a:solidFill>
                                  <a:srgbClr val="FFFF00"/>
                                </a:solidFill>
                                <a:latin typeface="Cambria Math" panose="02040503050406030204" pitchFamily="18" charset="0"/>
                              </a:rPr>
                            </m:ctrlPr>
                          </m:fPr>
                          <m:num>
                            <m:r>
                              <a:rPr lang="ar-AE" sz="1900" b="1" i="1">
                                <a:solidFill>
                                  <a:srgbClr val="FFFF00"/>
                                </a:solidFill>
                                <a:latin typeface="Cambria Math" panose="02040503050406030204" pitchFamily="18" charset="0"/>
                              </a:rPr>
                              <m:t>𝑸</m:t>
                            </m:r>
                          </m:num>
                          <m:den>
                            <m:r>
                              <a:rPr lang="ar-AE" sz="1900" b="1" i="1">
                                <a:solidFill>
                                  <a:srgbClr val="FFFF00"/>
                                </a:solidFill>
                                <a:latin typeface="Cambria Math" panose="02040503050406030204" pitchFamily="18" charset="0"/>
                              </a:rPr>
                              <m:t>𝒓</m:t>
                            </m:r>
                          </m:den>
                        </m:f>
                      </m:e>
                    </m:borderBox>
                  </m:oMath>
                </a14:m>
                <a:endParaRPr lang="ar-AE" b="1" dirty="0">
                  <a:latin typeface="Century Schoolbook" panose="02040604050505020304" pitchFamily="18" charset="0"/>
                </a:endParaRPr>
              </a:p>
              <a:p>
                <a:pPr algn="l"/>
                <a:endParaRPr lang="en-IN" b="1" dirty="0">
                  <a:latin typeface="Century Schoolbook" panose="02040604050505020304" pitchFamily="18" charset="0"/>
                </a:endParaRPr>
              </a:p>
            </p:txBody>
          </p:sp>
        </mc:Choice>
        <mc:Fallback xmlns="">
          <p:sp>
            <p:nvSpPr>
              <p:cNvPr id="3" name="Text Placeholder 2">
                <a:extLst>
                  <a:ext uri="{FF2B5EF4-FFF2-40B4-BE49-F238E27FC236}">
                    <a16:creationId xmlns:a16="http://schemas.microsoft.com/office/drawing/2014/main" id="{3A826A2D-3CB9-E694-1EBD-8B416A338E67}"/>
                  </a:ext>
                </a:extLst>
              </p:cNvPr>
              <p:cNvSpPr>
                <a:spLocks noGrp="1" noRot="1" noChangeAspect="1" noMove="1" noResize="1" noEditPoints="1" noAdjustHandles="1" noChangeArrowheads="1" noChangeShapeType="1" noTextEdit="1"/>
              </p:cNvSpPr>
              <p:nvPr>
                <p:ph type="body" sz="half" idx="2"/>
              </p:nvPr>
            </p:nvSpPr>
            <p:spPr>
              <a:xfrm>
                <a:off x="157316" y="629263"/>
                <a:ext cx="12034684" cy="6189076"/>
              </a:xfrm>
              <a:blipFill>
                <a:blip r:embed="rId2"/>
                <a:stretch>
                  <a:fillRect l="-507" t="-2660"/>
                </a:stretch>
              </a:blipFill>
            </p:spPr>
            <p:txBody>
              <a:bodyPr/>
              <a:lstStyle/>
              <a:p>
                <a:r>
                  <a:rPr lang="en-IN">
                    <a:noFill/>
                  </a:rPr>
                  <a:t> </a:t>
                </a:r>
              </a:p>
            </p:txBody>
          </p:sp>
        </mc:Fallback>
      </mc:AlternateContent>
    </p:spTree>
    <p:extLst>
      <p:ext uri="{BB962C8B-B14F-4D97-AF65-F5344CB8AC3E}">
        <p14:creationId xmlns:p14="http://schemas.microsoft.com/office/powerpoint/2010/main" val="1678353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A9D3E-2E8D-EF51-BB53-CF0510FE5EC4}"/>
              </a:ext>
            </a:extLst>
          </p:cNvPr>
          <p:cNvSpPr>
            <a:spLocks noGrp="1"/>
          </p:cNvSpPr>
          <p:nvPr>
            <p:ph type="title"/>
          </p:nvPr>
        </p:nvSpPr>
        <p:spPr>
          <a:xfrm>
            <a:off x="0" y="-339988"/>
            <a:ext cx="12113342" cy="339988"/>
          </a:xfrm>
        </p:spPr>
        <p:txBody>
          <a:bodyPr>
            <a:normAutofit fontScale="90000"/>
          </a:bodyPr>
          <a:lstStyle/>
          <a:p>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8B41629-8454-7CBB-2B43-33F628AA0035}"/>
                  </a:ext>
                </a:extLst>
              </p:cNvPr>
              <p:cNvSpPr>
                <a:spLocks noGrp="1"/>
              </p:cNvSpPr>
              <p:nvPr>
                <p:ph type="body" sz="half" idx="2"/>
              </p:nvPr>
            </p:nvSpPr>
            <p:spPr>
              <a:xfrm>
                <a:off x="216310" y="0"/>
                <a:ext cx="10992463" cy="4395018"/>
              </a:xfrm>
            </p:spPr>
            <p:txBody>
              <a:bodyPr>
                <a:normAutofit/>
              </a:bodyPr>
              <a:lstStyle/>
              <a:p>
                <a:pPr marL="285750" indent="-285750" algn="l">
                  <a:buFont typeface="Arial" panose="020B0604020202020204" pitchFamily="34" charset="0"/>
                  <a:buChar char="•"/>
                </a:pPr>
                <a:r>
                  <a:rPr lang="en-IN" sz="3200" b="1" u="sng" dirty="0">
                    <a:latin typeface="Century Schoolbook" panose="02040604050505020304" pitchFamily="18" charset="0"/>
                  </a:rPr>
                  <a:t>SI Unit</a:t>
                </a:r>
                <a:r>
                  <a:rPr lang="en-IN" sz="3200" b="1" dirty="0">
                    <a:latin typeface="Century Schoolbook" panose="02040604050505020304" pitchFamily="18" charset="0"/>
                  </a:rPr>
                  <a:t> : </a:t>
                </a:r>
                <a14:m>
                  <m:oMath xmlns:m="http://schemas.openxmlformats.org/officeDocument/2006/math">
                    <m:r>
                      <m:rPr>
                        <m:nor/>
                      </m:rPr>
                      <a:rPr lang="en-IN" sz="3200" b="1" smtClean="0">
                        <a:solidFill>
                          <a:srgbClr val="FFFF00"/>
                        </a:solidFill>
                        <a:latin typeface="Century Schoolbook" panose="02040604050505020304" pitchFamily="18" charset="0"/>
                      </a:rPr>
                      <m:t>Volt</m:t>
                    </m:r>
                    <m:r>
                      <m:rPr>
                        <m:nor/>
                      </m:rPr>
                      <a:rPr lang="en-IN" sz="3200" b="1" i="1" smtClean="0">
                        <a:solidFill>
                          <a:srgbClr val="FFFF00"/>
                        </a:solidFill>
                        <a:latin typeface="Century Schoolbook" panose="02040604050505020304" pitchFamily="18" charset="0"/>
                      </a:rPr>
                      <m:t> (</m:t>
                    </m:r>
                    <m:r>
                      <m:rPr>
                        <m:nor/>
                      </m:rPr>
                      <a:rPr lang="en-IN" sz="3200" b="1" i="1" smtClean="0">
                        <a:solidFill>
                          <a:srgbClr val="FFFF00"/>
                        </a:solidFill>
                        <a:latin typeface="Century Schoolbook" panose="02040604050505020304" pitchFamily="18" charset="0"/>
                      </a:rPr>
                      <m:t>V</m:t>
                    </m:r>
                    <m:r>
                      <m:rPr>
                        <m:nor/>
                      </m:rPr>
                      <a:rPr lang="en-IN" sz="3200" b="1" i="1" smtClean="0">
                        <a:solidFill>
                          <a:srgbClr val="FFFF00"/>
                        </a:solidFill>
                        <a:latin typeface="Century Schoolbook" panose="02040604050505020304" pitchFamily="18" charset="0"/>
                      </a:rPr>
                      <m:t>)</m:t>
                    </m:r>
                    <m:r>
                      <a:rPr lang="en-IN" sz="3200" b="1">
                        <a:solidFill>
                          <a:srgbClr val="FFFF00"/>
                        </a:solidFill>
                        <a:latin typeface="Cambria Math" panose="02040503050406030204" pitchFamily="18" charset="0"/>
                      </a:rPr>
                      <m:t>=</m:t>
                    </m:r>
                    <m:f>
                      <m:fPr>
                        <m:ctrlPr>
                          <a:rPr lang="ar-AE" sz="3200" b="1" i="1">
                            <a:solidFill>
                              <a:srgbClr val="FFFF00"/>
                            </a:solidFill>
                            <a:latin typeface="Cambria Math" panose="02040503050406030204" pitchFamily="18" charset="0"/>
                          </a:rPr>
                        </m:ctrlPr>
                      </m:fPr>
                      <m:num>
                        <m:r>
                          <m:rPr>
                            <m:nor/>
                          </m:rPr>
                          <a:rPr lang="en-IN" sz="3200" b="1" i="1">
                            <a:solidFill>
                              <a:srgbClr val="FFFF00"/>
                            </a:solidFill>
                            <a:latin typeface="Century Schoolbook" panose="02040604050505020304" pitchFamily="18" charset="0"/>
                          </a:rPr>
                          <m:t>Joule</m:t>
                        </m:r>
                        <m:r>
                          <m:rPr>
                            <m:nor/>
                          </m:rPr>
                          <a:rPr lang="en-IN" sz="3200" b="1" i="1">
                            <a:solidFill>
                              <a:srgbClr val="FFFF00"/>
                            </a:solidFill>
                            <a:latin typeface="Century Schoolbook" panose="02040604050505020304" pitchFamily="18" charset="0"/>
                          </a:rPr>
                          <m:t> (</m:t>
                        </m:r>
                        <m:r>
                          <m:rPr>
                            <m:nor/>
                          </m:rPr>
                          <a:rPr lang="en-IN" sz="3200" b="1" i="1">
                            <a:solidFill>
                              <a:srgbClr val="FFFF00"/>
                            </a:solidFill>
                            <a:latin typeface="Century Schoolbook" panose="02040604050505020304" pitchFamily="18" charset="0"/>
                          </a:rPr>
                          <m:t>J</m:t>
                        </m:r>
                        <m:r>
                          <m:rPr>
                            <m:nor/>
                          </m:rPr>
                          <a:rPr lang="en-IN" sz="3200" b="1" i="1">
                            <a:solidFill>
                              <a:srgbClr val="FFFF00"/>
                            </a:solidFill>
                            <a:latin typeface="Century Schoolbook" panose="02040604050505020304" pitchFamily="18" charset="0"/>
                          </a:rPr>
                          <m:t>)</m:t>
                        </m:r>
                      </m:num>
                      <m:den>
                        <m:r>
                          <m:rPr>
                            <m:nor/>
                          </m:rPr>
                          <a:rPr lang="en-IN" sz="3200" b="1" i="1">
                            <a:solidFill>
                              <a:srgbClr val="FFFF00"/>
                            </a:solidFill>
                            <a:latin typeface="Century Schoolbook" panose="02040604050505020304" pitchFamily="18" charset="0"/>
                          </a:rPr>
                          <m:t>Coulomb</m:t>
                        </m:r>
                        <m:r>
                          <m:rPr>
                            <m:nor/>
                          </m:rPr>
                          <a:rPr lang="en-IN" sz="3200" b="1" i="1">
                            <a:solidFill>
                              <a:srgbClr val="FFFF00"/>
                            </a:solidFill>
                            <a:latin typeface="Century Schoolbook" panose="02040604050505020304" pitchFamily="18" charset="0"/>
                          </a:rPr>
                          <m:t> (</m:t>
                        </m:r>
                        <m:r>
                          <m:rPr>
                            <m:nor/>
                          </m:rPr>
                          <a:rPr lang="en-IN" sz="3200" b="1" i="1">
                            <a:solidFill>
                              <a:srgbClr val="FFFF00"/>
                            </a:solidFill>
                            <a:latin typeface="Century Schoolbook" panose="02040604050505020304" pitchFamily="18" charset="0"/>
                          </a:rPr>
                          <m:t>C</m:t>
                        </m:r>
                        <m:r>
                          <m:rPr>
                            <m:nor/>
                          </m:rPr>
                          <a:rPr lang="en-IN" sz="3200" b="1" i="1">
                            <a:solidFill>
                              <a:srgbClr val="FFFF00"/>
                            </a:solidFill>
                            <a:latin typeface="Century Schoolbook" panose="02040604050505020304" pitchFamily="18" charset="0"/>
                          </a:rPr>
                          <m:t>)</m:t>
                        </m:r>
                      </m:den>
                    </m:f>
                  </m:oMath>
                </a14:m>
                <a:endParaRPr lang="ar-AE" b="1" dirty="0">
                  <a:latin typeface="Century Schoolbook" panose="02040604050505020304" pitchFamily="18" charset="0"/>
                </a:endParaRPr>
              </a:p>
              <a:p>
                <a:pPr marL="285750" indent="-285750" algn="l">
                  <a:buFont typeface="Arial" panose="020B0604020202020204" pitchFamily="34" charset="0"/>
                  <a:buChar char="•"/>
                </a:pPr>
                <a:r>
                  <a:rPr lang="en-IN" sz="3200" b="1" u="sng" dirty="0">
                    <a:latin typeface="Century Schoolbook" panose="02040604050505020304" pitchFamily="18" charset="0"/>
                  </a:rPr>
                  <a:t>Dimensional Formula</a:t>
                </a:r>
                <a:r>
                  <a:rPr lang="en-IN" sz="3200" b="1" dirty="0">
                    <a:latin typeface="Century Schoolbook" panose="02040604050505020304" pitchFamily="18" charset="0"/>
                  </a:rPr>
                  <a:t> : </a:t>
                </a:r>
                <a14:m>
                  <m:oMath xmlns:m="http://schemas.openxmlformats.org/officeDocument/2006/math">
                    <m:d>
                      <m:dPr>
                        <m:begChr m:val="["/>
                        <m:endChr m:val="]"/>
                        <m:ctrlPr>
                          <a:rPr lang="ar-AE" sz="3200" b="1" i="1" smtClean="0">
                            <a:solidFill>
                              <a:srgbClr val="FFFF00"/>
                            </a:solidFill>
                            <a:latin typeface="Cambria Math" panose="02040503050406030204" pitchFamily="18" charset="0"/>
                          </a:rPr>
                        </m:ctrlPr>
                      </m:dPr>
                      <m:e>
                        <m:r>
                          <a:rPr lang="ar-AE" sz="3200" b="1" i="1">
                            <a:solidFill>
                              <a:srgbClr val="FFFF00"/>
                            </a:solidFill>
                            <a:latin typeface="Cambria Math" panose="02040503050406030204" pitchFamily="18" charset="0"/>
                          </a:rPr>
                          <m:t>𝑽</m:t>
                        </m:r>
                      </m:e>
                    </m:d>
                    <m:r>
                      <a:rPr lang="ar-AE" sz="3200" b="1">
                        <a:solidFill>
                          <a:srgbClr val="FFFF00"/>
                        </a:solidFill>
                        <a:latin typeface="Cambria Math" panose="02040503050406030204" pitchFamily="18" charset="0"/>
                      </a:rPr>
                      <m:t>=</m:t>
                    </m:r>
                    <m:d>
                      <m:dPr>
                        <m:begChr m:val="["/>
                        <m:endChr m:val="]"/>
                        <m:ctrlPr>
                          <a:rPr lang="ar-AE" sz="3200" b="1" i="1">
                            <a:solidFill>
                              <a:srgbClr val="FFFF00"/>
                            </a:solidFill>
                            <a:latin typeface="Cambria Math" panose="02040503050406030204" pitchFamily="18" charset="0"/>
                          </a:rPr>
                        </m:ctrlPr>
                      </m:dPr>
                      <m:e>
                        <m:sSup>
                          <m:sSupPr>
                            <m:ctrlPr>
                              <a:rPr lang="ar-AE" sz="3200" b="1" i="1">
                                <a:solidFill>
                                  <a:srgbClr val="FFFF00"/>
                                </a:solidFill>
                                <a:latin typeface="Cambria Math" panose="02040503050406030204" pitchFamily="18" charset="0"/>
                              </a:rPr>
                            </m:ctrlPr>
                          </m:sSupPr>
                          <m:e>
                            <m:r>
                              <a:rPr lang="ar-AE" sz="3200" b="1" i="1">
                                <a:solidFill>
                                  <a:srgbClr val="FFFF00"/>
                                </a:solidFill>
                                <a:latin typeface="Cambria Math" panose="02040503050406030204" pitchFamily="18" charset="0"/>
                              </a:rPr>
                              <m:t>𝑴</m:t>
                            </m:r>
                          </m:e>
                          <m:sup>
                            <m:r>
                              <a:rPr lang="ar-AE" sz="3200" b="1" i="1">
                                <a:solidFill>
                                  <a:srgbClr val="FFFF00"/>
                                </a:solidFill>
                                <a:latin typeface="Cambria Math" panose="02040503050406030204" pitchFamily="18" charset="0"/>
                              </a:rPr>
                              <m:t>𝟏</m:t>
                            </m:r>
                          </m:sup>
                        </m:sSup>
                        <m:sSup>
                          <m:sSupPr>
                            <m:ctrlPr>
                              <a:rPr lang="ar-AE" sz="3200" b="1" i="1">
                                <a:solidFill>
                                  <a:srgbClr val="FFFF00"/>
                                </a:solidFill>
                                <a:latin typeface="Cambria Math" panose="02040503050406030204" pitchFamily="18" charset="0"/>
                              </a:rPr>
                            </m:ctrlPr>
                          </m:sSupPr>
                          <m:e>
                            <m:r>
                              <a:rPr lang="ar-AE" sz="3200" b="1" i="1">
                                <a:solidFill>
                                  <a:srgbClr val="FFFF00"/>
                                </a:solidFill>
                                <a:latin typeface="Cambria Math" panose="02040503050406030204" pitchFamily="18" charset="0"/>
                              </a:rPr>
                              <m:t>𝑳</m:t>
                            </m:r>
                          </m:e>
                          <m:sup>
                            <m:r>
                              <a:rPr lang="ar-AE" sz="3200" b="1" i="1">
                                <a:solidFill>
                                  <a:srgbClr val="FFFF00"/>
                                </a:solidFill>
                                <a:latin typeface="Cambria Math" panose="02040503050406030204" pitchFamily="18" charset="0"/>
                              </a:rPr>
                              <m:t>𝟐</m:t>
                            </m:r>
                          </m:sup>
                        </m:sSup>
                        <m:sSup>
                          <m:sSupPr>
                            <m:ctrlPr>
                              <a:rPr lang="ar-AE" sz="3200" b="1" i="1">
                                <a:solidFill>
                                  <a:srgbClr val="FFFF00"/>
                                </a:solidFill>
                                <a:latin typeface="Cambria Math" panose="02040503050406030204" pitchFamily="18" charset="0"/>
                              </a:rPr>
                            </m:ctrlPr>
                          </m:sSupPr>
                          <m:e>
                            <m:r>
                              <a:rPr lang="ar-AE" sz="3200" b="1" i="1">
                                <a:solidFill>
                                  <a:srgbClr val="FFFF00"/>
                                </a:solidFill>
                                <a:latin typeface="Cambria Math" panose="02040503050406030204" pitchFamily="18" charset="0"/>
                              </a:rPr>
                              <m:t>𝑻</m:t>
                            </m:r>
                          </m:e>
                          <m:sup>
                            <m:r>
                              <a:rPr lang="ar-AE" sz="3200" b="1">
                                <a:solidFill>
                                  <a:srgbClr val="FFFF00"/>
                                </a:solidFill>
                                <a:latin typeface="Cambria Math" panose="02040503050406030204" pitchFamily="18" charset="0"/>
                              </a:rPr>
                              <m:t>−</m:t>
                            </m:r>
                            <m:r>
                              <a:rPr lang="ar-AE" sz="3200" b="1" i="1">
                                <a:solidFill>
                                  <a:srgbClr val="FFFF00"/>
                                </a:solidFill>
                                <a:latin typeface="Cambria Math" panose="02040503050406030204" pitchFamily="18" charset="0"/>
                              </a:rPr>
                              <m:t>𝟑</m:t>
                            </m:r>
                          </m:sup>
                        </m:sSup>
                        <m:sSup>
                          <m:sSupPr>
                            <m:ctrlPr>
                              <a:rPr lang="ar-AE" sz="3200" b="1" i="1">
                                <a:solidFill>
                                  <a:srgbClr val="FFFF00"/>
                                </a:solidFill>
                                <a:latin typeface="Cambria Math" panose="02040503050406030204" pitchFamily="18" charset="0"/>
                              </a:rPr>
                            </m:ctrlPr>
                          </m:sSupPr>
                          <m:e>
                            <m:r>
                              <a:rPr lang="ar-AE" sz="3200" b="1" i="1">
                                <a:solidFill>
                                  <a:srgbClr val="FFFF00"/>
                                </a:solidFill>
                                <a:latin typeface="Cambria Math" panose="02040503050406030204" pitchFamily="18" charset="0"/>
                              </a:rPr>
                              <m:t>𝑰</m:t>
                            </m:r>
                          </m:e>
                          <m:sup>
                            <m:r>
                              <a:rPr lang="ar-AE" sz="3200" b="1">
                                <a:solidFill>
                                  <a:srgbClr val="FFFF00"/>
                                </a:solidFill>
                                <a:latin typeface="Cambria Math" panose="02040503050406030204" pitchFamily="18" charset="0"/>
                              </a:rPr>
                              <m:t>−</m:t>
                            </m:r>
                            <m:r>
                              <a:rPr lang="ar-AE" sz="3200" b="1" i="1">
                                <a:solidFill>
                                  <a:srgbClr val="FFFF00"/>
                                </a:solidFill>
                                <a:latin typeface="Cambria Math" panose="02040503050406030204" pitchFamily="18" charset="0"/>
                              </a:rPr>
                              <m:t>𝟏</m:t>
                            </m:r>
                          </m:sup>
                        </m:sSup>
                      </m:e>
                    </m:d>
                  </m:oMath>
                </a14:m>
                <a:endParaRPr lang="ar-AE" b="1" dirty="0">
                  <a:latin typeface="Century Schoolbook" panose="02040604050505020304" pitchFamily="18" charset="0"/>
                </a:endParaRPr>
              </a:p>
              <a:p>
                <a:pPr marL="285750" indent="-285750" algn="l">
                  <a:buFont typeface="Arial" panose="020B0604020202020204" pitchFamily="34" charset="0"/>
                  <a:buChar char="•"/>
                </a:pPr>
                <a:r>
                  <a:rPr lang="en-IN" sz="3200" b="1" u="sng" dirty="0">
                    <a:latin typeface="Century Schoolbook" panose="02040604050505020304" pitchFamily="18" charset="0"/>
                  </a:rPr>
                  <a:t>Example</a:t>
                </a:r>
                <a:r>
                  <a:rPr lang="en-IN" sz="3200" b="1" dirty="0">
                    <a:latin typeface="Century Schoolbook" panose="02040604050505020304" pitchFamily="18" charset="0"/>
                  </a:rPr>
                  <a:t> :</a:t>
                </a:r>
                <a:r>
                  <a:rPr lang="en-IN" b="1" dirty="0">
                    <a:latin typeface="Century Schoolbook" panose="02040604050505020304" pitchFamily="18" charset="0"/>
                  </a:rPr>
                  <a:t> </a:t>
                </a:r>
                <a:r>
                  <a:rPr lang="en-IN" sz="2400" b="1" dirty="0">
                    <a:latin typeface="Century Schoolbook" panose="02040604050505020304" pitchFamily="18" charset="0"/>
                  </a:rPr>
                  <a:t>Find potential at a point 0.2 m away from a charge of </a:t>
                </a:r>
                <a14:m>
                  <m:oMath xmlns:m="http://schemas.openxmlformats.org/officeDocument/2006/math">
                    <m:r>
                      <a:rPr lang="en-IN" sz="2800" b="1" i="1" smtClean="0">
                        <a:solidFill>
                          <a:srgbClr val="FFFF00"/>
                        </a:solidFill>
                        <a:latin typeface="Cambria Math" panose="02040503050406030204" pitchFamily="18" charset="0"/>
                      </a:rPr>
                      <m:t>𝟓</m:t>
                    </m:r>
                    <m:r>
                      <a:rPr lang="en-IN" sz="2800" b="1">
                        <a:solidFill>
                          <a:srgbClr val="FFFF00"/>
                        </a:solidFill>
                        <a:latin typeface="Cambria Math" panose="02040503050406030204" pitchFamily="18" charset="0"/>
                      </a:rPr>
                      <m:t>×</m:t>
                    </m:r>
                    <m:sSup>
                      <m:sSupPr>
                        <m:ctrlPr>
                          <a:rPr lang="ar-AE" sz="2800" b="1" i="1">
                            <a:solidFill>
                              <a:srgbClr val="FFFF00"/>
                            </a:solidFill>
                            <a:latin typeface="Cambria Math" panose="02040503050406030204" pitchFamily="18" charset="0"/>
                          </a:rPr>
                        </m:ctrlPr>
                      </m:sSupPr>
                      <m:e>
                        <m:r>
                          <a:rPr lang="ar-AE" sz="2800" b="1" i="1">
                            <a:solidFill>
                              <a:srgbClr val="FFFF00"/>
                            </a:solidFill>
                            <a:latin typeface="Cambria Math" panose="02040503050406030204" pitchFamily="18" charset="0"/>
                          </a:rPr>
                          <m:t>𝟏𝟎</m:t>
                        </m:r>
                      </m:e>
                      <m:sup>
                        <m:r>
                          <a:rPr lang="ar-AE" sz="2800" b="1">
                            <a:solidFill>
                              <a:srgbClr val="FFFF00"/>
                            </a:solidFill>
                            <a:latin typeface="Cambria Math" panose="02040503050406030204" pitchFamily="18" charset="0"/>
                          </a:rPr>
                          <m:t>−</m:t>
                        </m:r>
                        <m:r>
                          <a:rPr lang="ar-AE" sz="2800" b="1" i="1">
                            <a:solidFill>
                              <a:srgbClr val="FFFF00"/>
                            </a:solidFill>
                            <a:latin typeface="Cambria Math" panose="02040503050406030204" pitchFamily="18" charset="0"/>
                          </a:rPr>
                          <m:t>𝟔</m:t>
                        </m:r>
                      </m:sup>
                    </m:sSup>
                    <m:r>
                      <m:rPr>
                        <m:nor/>
                      </m:rPr>
                      <a:rPr lang="ar-AE" sz="2800" b="1" i="1">
                        <a:solidFill>
                          <a:srgbClr val="FFFF00"/>
                        </a:solidFill>
                        <a:latin typeface="Century Schoolbook" panose="02040604050505020304" pitchFamily="18" charset="0"/>
                      </a:rPr>
                      <m:t> </m:t>
                    </m:r>
                    <m:r>
                      <a:rPr lang="ar-AE" sz="2800" b="1" i="1">
                        <a:solidFill>
                          <a:srgbClr val="FFFF00"/>
                        </a:solidFill>
                        <a:latin typeface="Cambria Math" panose="02040503050406030204" pitchFamily="18" charset="0"/>
                      </a:rPr>
                      <m:t>𝑪</m:t>
                    </m:r>
                  </m:oMath>
                </a14:m>
                <a:r>
                  <a:rPr lang="ar-AE" sz="2800" b="1" dirty="0">
                    <a:solidFill>
                      <a:srgbClr val="FFFF00"/>
                    </a:solidFill>
                    <a:latin typeface="Century Schoolbook" panose="02040604050505020304" pitchFamily="18" charset="0"/>
                  </a:rPr>
                  <a:t>.</a:t>
                </a:r>
                <a:endParaRPr lang="en-US" sz="2800" b="1" dirty="0">
                  <a:solidFill>
                    <a:srgbClr val="FFFF00"/>
                  </a:solidFill>
                  <a:latin typeface="Century Schoolbook" panose="02040604050505020304" pitchFamily="18" charset="0"/>
                </a:endParaRPr>
              </a:p>
              <a:p>
                <a:pPr algn="l"/>
                <a14:m>
                  <m:oMathPara xmlns:m="http://schemas.openxmlformats.org/officeDocument/2006/math">
                    <m:oMathParaPr>
                      <m:jc m:val="left"/>
                    </m:oMathParaPr>
                    <m:oMath xmlns:m="http://schemas.openxmlformats.org/officeDocument/2006/math">
                      <m:r>
                        <a:rPr lang="ar-AE" sz="2400" b="1" i="1" smtClean="0">
                          <a:solidFill>
                            <a:srgbClr val="FFFF00"/>
                          </a:solidFill>
                          <a:latin typeface="Cambria Math" panose="02040503050406030204" pitchFamily="18" charset="0"/>
                        </a:rPr>
                        <m:t>𝑽</m:t>
                      </m:r>
                      <m:r>
                        <a:rPr lang="ar-AE" sz="2400" b="1">
                          <a:solidFill>
                            <a:srgbClr val="FFFF00"/>
                          </a:solidFill>
                          <a:latin typeface="Cambria Math" panose="02040503050406030204" pitchFamily="18" charset="0"/>
                        </a:rPr>
                        <m:t>=</m:t>
                      </m:r>
                      <m:f>
                        <m:fPr>
                          <m:ctrlPr>
                            <a:rPr lang="ar-AE" sz="2400" b="1" i="1">
                              <a:solidFill>
                                <a:srgbClr val="FFFF00"/>
                              </a:solidFill>
                              <a:latin typeface="Cambria Math" panose="02040503050406030204" pitchFamily="18" charset="0"/>
                            </a:rPr>
                          </m:ctrlPr>
                        </m:fPr>
                        <m:num>
                          <m:r>
                            <a:rPr lang="ar-AE" sz="2400" b="1" i="1">
                              <a:solidFill>
                                <a:srgbClr val="FFFF00"/>
                              </a:solidFill>
                              <a:latin typeface="Cambria Math" panose="02040503050406030204" pitchFamily="18" charset="0"/>
                            </a:rPr>
                            <m:t>𝟗</m:t>
                          </m:r>
                          <m:r>
                            <a:rPr lang="ar-AE" sz="2400" b="1">
                              <a:solidFill>
                                <a:srgbClr val="FFFF00"/>
                              </a:solidFill>
                              <a:latin typeface="Cambria Math" panose="02040503050406030204" pitchFamily="18" charset="0"/>
                            </a:rPr>
                            <m:t>×</m:t>
                          </m:r>
                          <m:sSup>
                            <m:sSupPr>
                              <m:ctrlPr>
                                <a:rPr lang="ar-AE" sz="2400" b="1" i="1">
                                  <a:solidFill>
                                    <a:srgbClr val="FFFF00"/>
                                  </a:solidFill>
                                  <a:latin typeface="Cambria Math" panose="02040503050406030204" pitchFamily="18" charset="0"/>
                                </a:rPr>
                              </m:ctrlPr>
                            </m:sSupPr>
                            <m:e>
                              <m:r>
                                <a:rPr lang="ar-AE" sz="2400" b="1" i="1">
                                  <a:solidFill>
                                    <a:srgbClr val="FFFF00"/>
                                  </a:solidFill>
                                  <a:latin typeface="Cambria Math" panose="02040503050406030204" pitchFamily="18" charset="0"/>
                                </a:rPr>
                                <m:t>𝟏𝟎</m:t>
                              </m:r>
                            </m:e>
                            <m:sup>
                              <m:r>
                                <a:rPr lang="ar-AE" sz="2400" b="1" i="1">
                                  <a:solidFill>
                                    <a:srgbClr val="FFFF00"/>
                                  </a:solidFill>
                                  <a:latin typeface="Cambria Math" panose="02040503050406030204" pitchFamily="18" charset="0"/>
                                </a:rPr>
                                <m:t>𝟗</m:t>
                              </m:r>
                            </m:sup>
                          </m:sSup>
                          <m:r>
                            <a:rPr lang="ar-AE" sz="2400" b="1">
                              <a:solidFill>
                                <a:srgbClr val="FFFF00"/>
                              </a:solidFill>
                              <a:latin typeface="Cambria Math" panose="02040503050406030204" pitchFamily="18" charset="0"/>
                            </a:rPr>
                            <m:t>×</m:t>
                          </m:r>
                          <m:r>
                            <a:rPr lang="ar-AE" sz="2400" b="1" i="1">
                              <a:solidFill>
                                <a:srgbClr val="FFFF00"/>
                              </a:solidFill>
                              <a:latin typeface="Cambria Math" panose="02040503050406030204" pitchFamily="18" charset="0"/>
                            </a:rPr>
                            <m:t>𝟓</m:t>
                          </m:r>
                          <m:r>
                            <a:rPr lang="ar-AE" sz="2400" b="1">
                              <a:solidFill>
                                <a:srgbClr val="FFFF00"/>
                              </a:solidFill>
                              <a:latin typeface="Cambria Math" panose="02040503050406030204" pitchFamily="18" charset="0"/>
                            </a:rPr>
                            <m:t>×</m:t>
                          </m:r>
                          <m:sSup>
                            <m:sSupPr>
                              <m:ctrlPr>
                                <a:rPr lang="ar-AE" sz="2400" b="1" i="1">
                                  <a:solidFill>
                                    <a:srgbClr val="FFFF00"/>
                                  </a:solidFill>
                                  <a:latin typeface="Cambria Math" panose="02040503050406030204" pitchFamily="18" charset="0"/>
                                </a:rPr>
                              </m:ctrlPr>
                            </m:sSupPr>
                            <m:e>
                              <m:r>
                                <a:rPr lang="ar-AE" sz="2400" b="1" i="1">
                                  <a:solidFill>
                                    <a:srgbClr val="FFFF00"/>
                                  </a:solidFill>
                                  <a:latin typeface="Cambria Math" panose="02040503050406030204" pitchFamily="18" charset="0"/>
                                </a:rPr>
                                <m:t>𝟏𝟎</m:t>
                              </m:r>
                            </m:e>
                            <m:sup>
                              <m:r>
                                <a:rPr lang="ar-AE" sz="2400" b="1">
                                  <a:solidFill>
                                    <a:srgbClr val="FFFF00"/>
                                  </a:solidFill>
                                  <a:latin typeface="Cambria Math" panose="02040503050406030204" pitchFamily="18" charset="0"/>
                                </a:rPr>
                                <m:t>−</m:t>
                              </m:r>
                              <m:r>
                                <a:rPr lang="ar-AE" sz="2400" b="1" i="1">
                                  <a:solidFill>
                                    <a:srgbClr val="FFFF00"/>
                                  </a:solidFill>
                                  <a:latin typeface="Cambria Math" panose="02040503050406030204" pitchFamily="18" charset="0"/>
                                </a:rPr>
                                <m:t>𝟔</m:t>
                              </m:r>
                            </m:sup>
                          </m:sSup>
                        </m:num>
                        <m:den>
                          <m:r>
                            <a:rPr lang="ar-AE" sz="2400" b="1" i="1">
                              <a:solidFill>
                                <a:srgbClr val="FFFF00"/>
                              </a:solidFill>
                              <a:latin typeface="Cambria Math" panose="02040503050406030204" pitchFamily="18" charset="0"/>
                            </a:rPr>
                            <m:t>𝟎</m:t>
                          </m:r>
                          <m:r>
                            <a:rPr lang="ar-AE" sz="2400" b="1">
                              <a:solidFill>
                                <a:srgbClr val="FFFF00"/>
                              </a:solidFill>
                              <a:latin typeface="Cambria Math" panose="02040503050406030204" pitchFamily="18" charset="0"/>
                            </a:rPr>
                            <m:t>.</m:t>
                          </m:r>
                          <m:r>
                            <a:rPr lang="ar-AE" sz="2400" b="1" i="1">
                              <a:solidFill>
                                <a:srgbClr val="FFFF00"/>
                              </a:solidFill>
                              <a:latin typeface="Cambria Math" panose="02040503050406030204" pitchFamily="18" charset="0"/>
                            </a:rPr>
                            <m:t>𝟐</m:t>
                          </m:r>
                        </m:den>
                      </m:f>
                      <m:r>
                        <a:rPr lang="ar-AE" sz="2400" b="1">
                          <a:solidFill>
                            <a:srgbClr val="FFFF00"/>
                          </a:solidFill>
                          <a:latin typeface="Cambria Math" panose="02040503050406030204" pitchFamily="18" charset="0"/>
                        </a:rPr>
                        <m:t>=</m:t>
                      </m:r>
                      <m:r>
                        <a:rPr lang="ar-AE" sz="2400" b="1" i="1">
                          <a:solidFill>
                            <a:srgbClr val="FFFF00"/>
                          </a:solidFill>
                          <a:latin typeface="Cambria Math" panose="02040503050406030204" pitchFamily="18" charset="0"/>
                        </a:rPr>
                        <m:t>𝟐</m:t>
                      </m:r>
                      <m:r>
                        <a:rPr lang="ar-AE" sz="2400" b="1">
                          <a:solidFill>
                            <a:srgbClr val="FFFF00"/>
                          </a:solidFill>
                          <a:latin typeface="Cambria Math" panose="02040503050406030204" pitchFamily="18" charset="0"/>
                        </a:rPr>
                        <m:t>.</m:t>
                      </m:r>
                      <m:r>
                        <a:rPr lang="ar-AE" sz="2400" b="1" i="1">
                          <a:solidFill>
                            <a:srgbClr val="FFFF00"/>
                          </a:solidFill>
                          <a:latin typeface="Cambria Math" panose="02040503050406030204" pitchFamily="18" charset="0"/>
                        </a:rPr>
                        <m:t>𝟐𝟓</m:t>
                      </m:r>
                      <m:r>
                        <a:rPr lang="ar-AE" sz="2400" b="1">
                          <a:solidFill>
                            <a:srgbClr val="FFFF00"/>
                          </a:solidFill>
                          <a:latin typeface="Cambria Math" panose="02040503050406030204" pitchFamily="18" charset="0"/>
                        </a:rPr>
                        <m:t>×</m:t>
                      </m:r>
                      <m:sSup>
                        <m:sSupPr>
                          <m:ctrlPr>
                            <a:rPr lang="ar-AE" sz="2400" b="1" i="1">
                              <a:solidFill>
                                <a:srgbClr val="FFFF00"/>
                              </a:solidFill>
                              <a:latin typeface="Cambria Math" panose="02040503050406030204" pitchFamily="18" charset="0"/>
                            </a:rPr>
                          </m:ctrlPr>
                        </m:sSupPr>
                        <m:e>
                          <m:r>
                            <a:rPr lang="ar-AE" sz="2400" b="1" i="1">
                              <a:solidFill>
                                <a:srgbClr val="FFFF00"/>
                              </a:solidFill>
                              <a:latin typeface="Cambria Math" panose="02040503050406030204" pitchFamily="18" charset="0"/>
                            </a:rPr>
                            <m:t>𝟏𝟎</m:t>
                          </m:r>
                        </m:e>
                        <m:sup>
                          <m:r>
                            <a:rPr lang="ar-AE" sz="2400" b="1" i="1">
                              <a:solidFill>
                                <a:srgbClr val="FFFF00"/>
                              </a:solidFill>
                              <a:latin typeface="Cambria Math" panose="02040503050406030204" pitchFamily="18" charset="0"/>
                            </a:rPr>
                            <m:t>𝟓</m:t>
                          </m:r>
                        </m:sup>
                      </m:sSup>
                      <m:r>
                        <m:rPr>
                          <m:nor/>
                        </m:rPr>
                        <a:rPr lang="ar-AE" sz="2400" b="1" i="1">
                          <a:solidFill>
                            <a:srgbClr val="FFFF00"/>
                          </a:solidFill>
                          <a:latin typeface="Century Schoolbook" panose="02040604050505020304" pitchFamily="18" charset="0"/>
                        </a:rPr>
                        <m:t> </m:t>
                      </m:r>
                      <m:r>
                        <a:rPr lang="ar-AE" sz="2400" b="1" i="1">
                          <a:solidFill>
                            <a:srgbClr val="FFFF00"/>
                          </a:solidFill>
                          <a:latin typeface="Cambria Math" panose="02040503050406030204" pitchFamily="18" charset="0"/>
                        </a:rPr>
                        <m:t>𝑽</m:t>
                      </m:r>
                    </m:oMath>
                  </m:oMathPara>
                </a14:m>
                <a:endParaRPr lang="ar-AE" sz="2400" b="1" dirty="0">
                  <a:solidFill>
                    <a:srgbClr val="FFFF00"/>
                  </a:solidFill>
                  <a:latin typeface="Century Schoolbook" panose="02040604050505020304" pitchFamily="18" charset="0"/>
                </a:endParaRPr>
              </a:p>
              <a:p>
                <a:pPr algn="l"/>
                <a:endParaRPr lang="en-IN" b="1" dirty="0">
                  <a:latin typeface="Century Schoolbook" panose="02040604050505020304" pitchFamily="18" charset="0"/>
                </a:endParaRPr>
              </a:p>
            </p:txBody>
          </p:sp>
        </mc:Choice>
        <mc:Fallback xmlns="">
          <p:sp>
            <p:nvSpPr>
              <p:cNvPr id="3" name="Text Placeholder 2">
                <a:extLst>
                  <a:ext uri="{FF2B5EF4-FFF2-40B4-BE49-F238E27FC236}">
                    <a16:creationId xmlns:a16="http://schemas.microsoft.com/office/drawing/2014/main" id="{D8B41629-8454-7CBB-2B43-33F628AA0035}"/>
                  </a:ext>
                </a:extLst>
              </p:cNvPr>
              <p:cNvSpPr>
                <a:spLocks noGrp="1" noRot="1" noChangeAspect="1" noMove="1" noResize="1" noEditPoints="1" noAdjustHandles="1" noChangeArrowheads="1" noChangeShapeType="1" noTextEdit="1"/>
              </p:cNvSpPr>
              <p:nvPr>
                <p:ph type="body" sz="half" idx="2"/>
              </p:nvPr>
            </p:nvSpPr>
            <p:spPr>
              <a:xfrm>
                <a:off x="216310" y="0"/>
                <a:ext cx="10992463" cy="4395018"/>
              </a:xfrm>
              <a:blipFill>
                <a:blip r:embed="rId2"/>
                <a:stretch>
                  <a:fillRect l="-1386" r="-1885"/>
                </a:stretch>
              </a:blipFill>
            </p:spPr>
            <p:txBody>
              <a:bodyPr/>
              <a:lstStyle/>
              <a:p>
                <a:r>
                  <a:rPr lang="en-IN">
                    <a:noFill/>
                  </a:rPr>
                  <a:t> </a:t>
                </a:r>
              </a:p>
            </p:txBody>
          </p:sp>
        </mc:Fallback>
      </mc:AlternateContent>
    </p:spTree>
    <p:extLst>
      <p:ext uri="{BB962C8B-B14F-4D97-AF65-F5344CB8AC3E}">
        <p14:creationId xmlns:p14="http://schemas.microsoft.com/office/powerpoint/2010/main" val="3930312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C1956-DB91-EA41-964D-A5049AC01930}"/>
              </a:ext>
            </a:extLst>
          </p:cNvPr>
          <p:cNvSpPr>
            <a:spLocks noGrp="1"/>
          </p:cNvSpPr>
          <p:nvPr>
            <p:ph type="title"/>
          </p:nvPr>
        </p:nvSpPr>
        <p:spPr>
          <a:xfrm>
            <a:off x="-108155" y="-123679"/>
            <a:ext cx="10687665" cy="1056853"/>
          </a:xfrm>
        </p:spPr>
        <p:txBody>
          <a:bodyPr>
            <a:normAutofit fontScale="90000"/>
          </a:bodyPr>
          <a:lstStyle/>
          <a:p>
            <a:r>
              <a:rPr lang="en-US" sz="4800" b="0" dirty="0">
                <a:solidFill>
                  <a:srgbClr val="FFFF00"/>
                </a:solidFill>
                <a:latin typeface="Algerian" panose="04020705040A02060702" pitchFamily="82" charset="0"/>
              </a:rPr>
              <a:t>3.8] </a:t>
            </a:r>
            <a:r>
              <a:rPr lang="en-US" sz="4800" b="0" u="sng" dirty="0">
                <a:solidFill>
                  <a:srgbClr val="FFFF00"/>
                </a:solidFill>
                <a:latin typeface="Algerian" panose="04020705040A02060702" pitchFamily="82" charset="0"/>
              </a:rPr>
              <a:t>Absolute electric potential</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85F3FE6-B009-83EE-046C-6D55C0B7F92A}"/>
                  </a:ext>
                </a:extLst>
              </p:cNvPr>
              <p:cNvSpPr>
                <a:spLocks noGrp="1"/>
              </p:cNvSpPr>
              <p:nvPr>
                <p:ph type="body" sz="half" idx="2"/>
              </p:nvPr>
            </p:nvSpPr>
            <p:spPr>
              <a:xfrm>
                <a:off x="186208" y="737419"/>
                <a:ext cx="11769818" cy="6120581"/>
              </a:xfrm>
            </p:spPr>
            <p:txBody>
              <a:bodyPr>
                <a:normAutofit/>
              </a:bodyPr>
              <a:lstStyle/>
              <a:p>
                <a:pPr marL="285750" indent="-285750" algn="l">
                  <a:buFont typeface="Wingdings" panose="05000000000000000000" pitchFamily="2" charset="2"/>
                  <a:buChar char="v"/>
                </a:pPr>
                <a:r>
                  <a:rPr lang="en-US" sz="3200" b="1" u="sng" dirty="0">
                    <a:solidFill>
                      <a:srgbClr val="FFFF00"/>
                    </a:solidFill>
                    <a:latin typeface="Century Schoolbook" panose="02040604050505020304" pitchFamily="18" charset="0"/>
                  </a:rPr>
                  <a:t>Definition</a:t>
                </a:r>
                <a:r>
                  <a:rPr lang="en-US" sz="3200" b="1" dirty="0">
                    <a:solidFill>
                      <a:srgbClr val="FFFF00"/>
                    </a:solidFill>
                    <a:latin typeface="Century Schoolbook" panose="02040604050505020304" pitchFamily="18" charset="0"/>
                  </a:rPr>
                  <a:t> : -</a:t>
                </a:r>
              </a:p>
              <a:p>
                <a:pPr marL="285750" indent="-285750" algn="l">
                  <a:buFont typeface="Wingdings" panose="05000000000000000000" pitchFamily="2" charset="2"/>
                  <a:buChar char="Ø"/>
                </a:pPr>
                <a:r>
                  <a:rPr lang="en-US" sz="2000" b="1" dirty="0">
                    <a:latin typeface="Century Schoolbook" panose="02040604050505020304" pitchFamily="18" charset="0"/>
                  </a:rPr>
                  <a:t>The absolute electric potential at a point is defined as the work done per unit positive test charge in bringing it from infinity to that point in an electric field, without acceleration.</a:t>
                </a:r>
              </a:p>
              <a:p>
                <a:pPr marL="285750" indent="-285750" algn="l">
                  <a:buFont typeface="Wingdings" panose="05000000000000000000" pitchFamily="2" charset="2"/>
                  <a:buChar char="Ø"/>
                </a:pPr>
                <a:r>
                  <a:rPr lang="en-US" sz="2000" b="1" dirty="0">
                    <a:latin typeface="Century Schoolbook" panose="02040604050505020304" pitchFamily="18" charset="0"/>
                  </a:rPr>
                  <a:t>In simple words - It is the potential of a point with respect to a point at infinity, where the potential is taken as zero.</a:t>
                </a:r>
              </a:p>
              <a:p>
                <a:pPr marL="285750" indent="-285750" algn="l">
                  <a:buFont typeface="Wingdings" panose="05000000000000000000" pitchFamily="2" charset="2"/>
                  <a:buChar char="v"/>
                </a:pPr>
                <a:r>
                  <a:rPr lang="en-US" sz="3200" b="1" u="sng" dirty="0">
                    <a:solidFill>
                      <a:srgbClr val="FFFF00"/>
                    </a:solidFill>
                    <a:latin typeface="Century Schoolbook" panose="02040604050505020304" pitchFamily="18" charset="0"/>
                  </a:rPr>
                  <a:t>Explanation</a:t>
                </a:r>
                <a:r>
                  <a:rPr lang="en-US" sz="3200" b="1" dirty="0">
                    <a:solidFill>
                      <a:srgbClr val="FFFF00"/>
                    </a:solidFill>
                    <a:latin typeface="Century Schoolbook" panose="02040604050505020304" pitchFamily="18" charset="0"/>
                  </a:rPr>
                  <a:t> : -</a:t>
                </a:r>
              </a:p>
              <a:p>
                <a:pPr marL="342900" indent="-342900" algn="l">
                  <a:buFont typeface="Arial" panose="020B0604020202020204" pitchFamily="34" charset="0"/>
                  <a:buChar char="•"/>
                </a:pPr>
                <a:r>
                  <a:rPr lang="en-US" sz="2000" b="1" dirty="0">
                    <a:latin typeface="Century Schoolbook" panose="02040604050505020304" pitchFamily="18" charset="0"/>
                  </a:rPr>
                  <a:t>Suppose there is a charge </a:t>
                </a:r>
                <a14:m>
                  <m:oMath xmlns:m="http://schemas.openxmlformats.org/officeDocument/2006/math">
                    <m:r>
                      <a:rPr lang="en-US" sz="2000" b="1" i="1" smtClean="0">
                        <a:latin typeface="Cambria Math" panose="02040503050406030204" pitchFamily="18" charset="0"/>
                      </a:rPr>
                      <m:t>𝑸</m:t>
                    </m:r>
                  </m:oMath>
                </a14:m>
                <a:r>
                  <a:rPr lang="en-US" sz="2000" b="1" dirty="0">
                    <a:latin typeface="Century Schoolbook" panose="02040604050505020304" pitchFamily="18" charset="0"/>
                  </a:rPr>
                  <a:t>in space.</a:t>
                </a:r>
              </a:p>
              <a:p>
                <a:pPr marL="342900" indent="-342900" algn="l">
                  <a:buFont typeface="Arial" panose="020B0604020202020204" pitchFamily="34" charset="0"/>
                  <a:buChar char="•"/>
                </a:pPr>
                <a:r>
                  <a:rPr lang="en-US" sz="2000" b="1" dirty="0">
                    <a:latin typeface="Century Schoolbook" panose="02040604050505020304" pitchFamily="18" charset="0"/>
                  </a:rPr>
                  <a:t>We want to find how much work is required to bring a unit positive charge from infinity (where potential = 0) to a point P, which is at a distance </a:t>
                </a:r>
                <a14:m>
                  <m:oMath xmlns:m="http://schemas.openxmlformats.org/officeDocument/2006/math">
                    <m:r>
                      <a:rPr lang="en-US" sz="2000" b="1" i="1" smtClean="0">
                        <a:latin typeface="Cambria Math" panose="02040503050406030204" pitchFamily="18" charset="0"/>
                      </a:rPr>
                      <m:t>𝒓</m:t>
                    </m:r>
                  </m:oMath>
                </a14:m>
                <a:r>
                  <a:rPr lang="en-US" sz="2000" b="1" dirty="0">
                    <a:latin typeface="Century Schoolbook" panose="02040604050505020304" pitchFamily="18" charset="0"/>
                  </a:rPr>
                  <a:t>from the charge.</a:t>
                </a:r>
              </a:p>
              <a:p>
                <a:pPr marL="342900" indent="-342900" algn="l">
                  <a:buFont typeface="Arial" panose="020B0604020202020204" pitchFamily="34" charset="0"/>
                  <a:buChar char="•"/>
                </a:pPr>
                <a:r>
                  <a:rPr lang="en-US" sz="2000" b="1" dirty="0">
                    <a:latin typeface="Century Schoolbook" panose="02040604050505020304" pitchFamily="18" charset="0"/>
                  </a:rPr>
                  <a:t>The work done to move this charge is called the electric potential at point P.</a:t>
                </a:r>
              </a:p>
              <a:p>
                <a:pPr marL="342900" indent="-342900" algn="l">
                  <a:buFont typeface="Arial" panose="020B0604020202020204" pitchFamily="34" charset="0"/>
                  <a:buChar char="•"/>
                </a:pPr>
                <a:r>
                  <a:rPr lang="en-US" sz="2000" b="1" dirty="0">
                    <a:latin typeface="Century Schoolbook" panose="02040604050505020304" pitchFamily="18" charset="0"/>
                  </a:rPr>
                  <a:t>Since it is measured with respect to infinity, it is called Absolute Electric Potential.</a:t>
                </a:r>
              </a:p>
              <a:p>
                <a:pPr algn="l"/>
                <a:endParaRPr lang="en-IN" dirty="0"/>
              </a:p>
            </p:txBody>
          </p:sp>
        </mc:Choice>
        <mc:Fallback xmlns="">
          <p:sp>
            <p:nvSpPr>
              <p:cNvPr id="3" name="Text Placeholder 2">
                <a:extLst>
                  <a:ext uri="{FF2B5EF4-FFF2-40B4-BE49-F238E27FC236}">
                    <a16:creationId xmlns:a16="http://schemas.microsoft.com/office/drawing/2014/main" id="{B85F3FE6-B009-83EE-046C-6D55C0B7F92A}"/>
                  </a:ext>
                </a:extLst>
              </p:cNvPr>
              <p:cNvSpPr>
                <a:spLocks noGrp="1" noRot="1" noChangeAspect="1" noMove="1" noResize="1" noEditPoints="1" noAdjustHandles="1" noChangeArrowheads="1" noChangeShapeType="1" noTextEdit="1"/>
              </p:cNvSpPr>
              <p:nvPr>
                <p:ph type="body" sz="half" idx="2"/>
              </p:nvPr>
            </p:nvSpPr>
            <p:spPr>
              <a:xfrm>
                <a:off x="186208" y="737419"/>
                <a:ext cx="11769818" cy="6120581"/>
              </a:xfrm>
              <a:blipFill>
                <a:blip r:embed="rId2"/>
                <a:stretch>
                  <a:fillRect l="-1295" t="-1594"/>
                </a:stretch>
              </a:blipFill>
            </p:spPr>
            <p:txBody>
              <a:bodyPr/>
              <a:lstStyle/>
              <a:p>
                <a:r>
                  <a:rPr lang="en-IN">
                    <a:noFill/>
                  </a:rPr>
                  <a:t> </a:t>
                </a:r>
              </a:p>
            </p:txBody>
          </p:sp>
        </mc:Fallback>
      </mc:AlternateContent>
    </p:spTree>
    <p:extLst>
      <p:ext uri="{BB962C8B-B14F-4D97-AF65-F5344CB8AC3E}">
        <p14:creationId xmlns:p14="http://schemas.microsoft.com/office/powerpoint/2010/main" val="14103520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71E64-DD0A-6970-1703-6D511AD0B189}"/>
              </a:ext>
            </a:extLst>
          </p:cNvPr>
          <p:cNvSpPr>
            <a:spLocks noGrp="1"/>
          </p:cNvSpPr>
          <p:nvPr>
            <p:ph type="title"/>
          </p:nvPr>
        </p:nvSpPr>
        <p:spPr>
          <a:xfrm>
            <a:off x="0" y="-172840"/>
            <a:ext cx="12192000" cy="172840"/>
          </a:xfrm>
        </p:spPr>
        <p:txBody>
          <a:bodyPr>
            <a:normAutofit fontScale="90000"/>
          </a:bodyPr>
          <a:lstStyle/>
          <a:p>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F4D1217-B788-0569-5B41-0A25AA7376DD}"/>
                  </a:ext>
                </a:extLst>
              </p:cNvPr>
              <p:cNvSpPr>
                <a:spLocks noGrp="1"/>
              </p:cNvSpPr>
              <p:nvPr>
                <p:ph type="body" sz="half" idx="2"/>
              </p:nvPr>
            </p:nvSpPr>
            <p:spPr>
              <a:xfrm>
                <a:off x="206476" y="1"/>
                <a:ext cx="11985523" cy="5565057"/>
              </a:xfrm>
            </p:spPr>
            <p:txBody>
              <a:bodyPr>
                <a:normAutofit/>
              </a:bodyPr>
              <a:lstStyle/>
              <a:p>
                <a:pPr marL="285750" indent="-285750" algn="l">
                  <a:buFont typeface="Wingdings" panose="05000000000000000000" pitchFamily="2" charset="2"/>
                  <a:buChar char="v"/>
                </a:pPr>
                <a:r>
                  <a:rPr lang="en-IN" sz="2400" b="1" u="sng" dirty="0">
                    <a:latin typeface="Century Schoolbook" panose="02040604050505020304" pitchFamily="18" charset="0"/>
                  </a:rPr>
                  <a:t>Mathematical Expression</a:t>
                </a:r>
                <a:r>
                  <a:rPr lang="en-IN" sz="2400" b="1" dirty="0">
                    <a:latin typeface="Century Schoolbook" panose="02040604050505020304" pitchFamily="18" charset="0"/>
                  </a:rPr>
                  <a:t> : </a:t>
                </a:r>
                <a14:m>
                  <m:oMath xmlns:m="http://schemas.openxmlformats.org/officeDocument/2006/math">
                    <m:r>
                      <a:rPr lang="en-IN" sz="2800" b="1" i="1" smtClean="0">
                        <a:solidFill>
                          <a:srgbClr val="FFFF00"/>
                        </a:solidFill>
                        <a:latin typeface="Cambria Math" panose="02040503050406030204" pitchFamily="18" charset="0"/>
                      </a:rPr>
                      <m:t>𝑽</m:t>
                    </m:r>
                    <m:r>
                      <a:rPr lang="en-IN" sz="2800" b="1">
                        <a:solidFill>
                          <a:srgbClr val="FFFF00"/>
                        </a:solidFill>
                        <a:latin typeface="Cambria Math" panose="02040503050406030204" pitchFamily="18" charset="0"/>
                      </a:rPr>
                      <m:t>=</m:t>
                    </m:r>
                    <m:f>
                      <m:fPr>
                        <m:ctrlPr>
                          <a:rPr lang="ar-AE" sz="2800" b="1" i="1">
                            <a:solidFill>
                              <a:srgbClr val="FFFF00"/>
                            </a:solidFill>
                            <a:latin typeface="Cambria Math" panose="02040503050406030204" pitchFamily="18" charset="0"/>
                          </a:rPr>
                        </m:ctrlPr>
                      </m:fPr>
                      <m:num>
                        <m:r>
                          <a:rPr lang="ar-AE" sz="2800" b="1" i="1">
                            <a:solidFill>
                              <a:srgbClr val="FFFF00"/>
                            </a:solidFill>
                            <a:latin typeface="Cambria Math" panose="02040503050406030204" pitchFamily="18" charset="0"/>
                          </a:rPr>
                          <m:t>𝟏</m:t>
                        </m:r>
                      </m:num>
                      <m:den>
                        <m:r>
                          <a:rPr lang="ar-AE" sz="2800" b="1" i="1">
                            <a:solidFill>
                              <a:srgbClr val="FFFF00"/>
                            </a:solidFill>
                            <a:latin typeface="Cambria Math" panose="02040503050406030204" pitchFamily="18" charset="0"/>
                          </a:rPr>
                          <m:t>𝟒</m:t>
                        </m:r>
                        <m:r>
                          <a:rPr lang="ar-AE" sz="2800" b="1" i="1">
                            <a:solidFill>
                              <a:srgbClr val="FFFF00"/>
                            </a:solidFill>
                            <a:latin typeface="Cambria Math" panose="02040503050406030204" pitchFamily="18" charset="0"/>
                          </a:rPr>
                          <m:t>𝝅</m:t>
                        </m:r>
                        <m:sSub>
                          <m:sSubPr>
                            <m:ctrlPr>
                              <a:rPr lang="ar-AE" sz="2800" b="1" i="1">
                                <a:solidFill>
                                  <a:srgbClr val="FFFF00"/>
                                </a:solidFill>
                                <a:latin typeface="Cambria Math" panose="02040503050406030204" pitchFamily="18" charset="0"/>
                              </a:rPr>
                            </m:ctrlPr>
                          </m:sSubPr>
                          <m:e>
                            <m:r>
                              <a:rPr lang="ar-AE" sz="2800" b="1" i="1">
                                <a:solidFill>
                                  <a:srgbClr val="FFFF00"/>
                                </a:solidFill>
                                <a:latin typeface="Cambria Math" panose="02040503050406030204" pitchFamily="18" charset="0"/>
                              </a:rPr>
                              <m:t>𝜺</m:t>
                            </m:r>
                          </m:e>
                          <m:sub>
                            <m:r>
                              <a:rPr lang="ar-AE" sz="2800" b="1" i="1">
                                <a:solidFill>
                                  <a:srgbClr val="FFFF00"/>
                                </a:solidFill>
                                <a:latin typeface="Cambria Math" panose="02040503050406030204" pitchFamily="18" charset="0"/>
                              </a:rPr>
                              <m:t>𝟎</m:t>
                            </m:r>
                          </m:sub>
                        </m:sSub>
                      </m:den>
                    </m:f>
                    <m:f>
                      <m:fPr>
                        <m:ctrlPr>
                          <a:rPr lang="ar-AE" sz="2800" b="1" i="1">
                            <a:solidFill>
                              <a:srgbClr val="FFFF00"/>
                            </a:solidFill>
                            <a:latin typeface="Cambria Math" panose="02040503050406030204" pitchFamily="18" charset="0"/>
                          </a:rPr>
                        </m:ctrlPr>
                      </m:fPr>
                      <m:num>
                        <m:r>
                          <a:rPr lang="ar-AE" sz="2800" b="1" i="1">
                            <a:solidFill>
                              <a:srgbClr val="FFFF00"/>
                            </a:solidFill>
                            <a:latin typeface="Cambria Math" panose="02040503050406030204" pitchFamily="18" charset="0"/>
                          </a:rPr>
                          <m:t>𝑸</m:t>
                        </m:r>
                      </m:num>
                      <m:den>
                        <m:r>
                          <a:rPr lang="ar-AE" sz="2800" b="1" i="1">
                            <a:solidFill>
                              <a:srgbClr val="FFFF00"/>
                            </a:solidFill>
                            <a:latin typeface="Cambria Math" panose="02040503050406030204" pitchFamily="18" charset="0"/>
                          </a:rPr>
                          <m:t>𝒓</m:t>
                        </m:r>
                      </m:den>
                    </m:f>
                  </m:oMath>
                </a14:m>
                <a:endParaRPr lang="ar-AE" b="1" dirty="0">
                  <a:latin typeface="Century Schoolbook" panose="02040604050505020304" pitchFamily="18" charset="0"/>
                </a:endParaRPr>
              </a:p>
              <a:p>
                <a:pPr algn="l"/>
                <a:r>
                  <a:rPr lang="en-IN" sz="2400" b="1" dirty="0">
                    <a:latin typeface="Century Schoolbook" panose="02040604050505020304" pitchFamily="18" charset="0"/>
                  </a:rPr>
                  <a:t>Where,</a:t>
                </a:r>
              </a:p>
              <a:p>
                <a:pPr marL="285750" indent="-285750" algn="l">
                  <a:buFont typeface="Arial" panose="020B0604020202020204" pitchFamily="34" charset="0"/>
                  <a:buChar char="•"/>
                </a:pPr>
                <a14:m>
                  <m:oMath xmlns:m="http://schemas.openxmlformats.org/officeDocument/2006/math">
                    <m:r>
                      <a:rPr lang="en-IN" sz="2400" b="1" i="1">
                        <a:latin typeface="Cambria Math" panose="02040503050406030204" pitchFamily="18" charset="0"/>
                      </a:rPr>
                      <m:t>𝑽</m:t>
                    </m:r>
                    <m:r>
                      <a:rPr lang="en-US" sz="2400" b="1" i="1" smtClean="0">
                        <a:latin typeface="Cambria Math" panose="02040503050406030204" pitchFamily="18" charset="0"/>
                      </a:rPr>
                      <m:t> </m:t>
                    </m:r>
                  </m:oMath>
                </a14:m>
                <a:r>
                  <a:rPr lang="en-IN" sz="2400" b="1" dirty="0">
                    <a:latin typeface="Century Schoolbook" panose="02040604050505020304" pitchFamily="18" charset="0"/>
                  </a:rPr>
                  <a:t>= Absolute Electric Potential at distance </a:t>
                </a:r>
                <a14:m>
                  <m:oMath xmlns:m="http://schemas.openxmlformats.org/officeDocument/2006/math">
                    <m:r>
                      <a:rPr lang="en-IN" sz="2400" b="1" i="1">
                        <a:latin typeface="Cambria Math" panose="02040503050406030204" pitchFamily="18" charset="0"/>
                      </a:rPr>
                      <m:t>𝒓</m:t>
                    </m:r>
                  </m:oMath>
                </a14:m>
                <a:endParaRPr lang="en-IN" sz="2400" b="1" dirty="0">
                  <a:latin typeface="Century Schoolbook" panose="02040604050505020304" pitchFamily="18" charset="0"/>
                </a:endParaRPr>
              </a:p>
              <a:p>
                <a:pPr marL="285750" indent="-285750" algn="l">
                  <a:buFont typeface="Arial" panose="020B0604020202020204" pitchFamily="34" charset="0"/>
                  <a:buChar char="•"/>
                </a:pPr>
                <a14:m>
                  <m:oMath xmlns:m="http://schemas.openxmlformats.org/officeDocument/2006/math">
                    <m:r>
                      <a:rPr lang="en-IN" sz="2400" b="1" i="1">
                        <a:latin typeface="Cambria Math" panose="02040503050406030204" pitchFamily="18" charset="0"/>
                      </a:rPr>
                      <m:t>𝑸</m:t>
                    </m:r>
                    <m:r>
                      <a:rPr lang="en-US" sz="2400" b="1" i="1" smtClean="0">
                        <a:latin typeface="Cambria Math" panose="02040503050406030204" pitchFamily="18" charset="0"/>
                      </a:rPr>
                      <m:t> </m:t>
                    </m:r>
                  </m:oMath>
                </a14:m>
                <a:r>
                  <a:rPr lang="en-IN" sz="2400" b="1" dirty="0">
                    <a:latin typeface="Century Schoolbook" panose="02040604050505020304" pitchFamily="18" charset="0"/>
                  </a:rPr>
                  <a:t>= Source charge</a:t>
                </a:r>
              </a:p>
              <a:p>
                <a:pPr marL="285750" indent="-285750" algn="l">
                  <a:buFont typeface="Arial" panose="020B0604020202020204" pitchFamily="34" charset="0"/>
                  <a:buChar char="•"/>
                </a:pPr>
                <a14:m>
                  <m:oMath xmlns:m="http://schemas.openxmlformats.org/officeDocument/2006/math">
                    <m:sSub>
                      <m:sSubPr>
                        <m:ctrlPr>
                          <a:rPr lang="ar-AE" sz="2400" b="1" i="1">
                            <a:latin typeface="Cambria Math" panose="02040503050406030204" pitchFamily="18" charset="0"/>
                          </a:rPr>
                        </m:ctrlPr>
                      </m:sSubPr>
                      <m:e>
                        <m:r>
                          <a:rPr lang="ar-AE" sz="2400" b="1" i="1">
                            <a:latin typeface="Cambria Math" panose="02040503050406030204" pitchFamily="18" charset="0"/>
                          </a:rPr>
                          <m:t>𝜺</m:t>
                        </m:r>
                      </m:e>
                      <m:sub>
                        <m:r>
                          <a:rPr lang="ar-AE" sz="2400" b="1" i="1">
                            <a:latin typeface="Cambria Math" panose="02040503050406030204" pitchFamily="18" charset="0"/>
                          </a:rPr>
                          <m:t>𝟎</m:t>
                        </m:r>
                      </m:sub>
                    </m:sSub>
                  </m:oMath>
                </a14:m>
                <a:r>
                  <a:rPr lang="ar-AE" sz="2400" b="1" dirty="0">
                    <a:latin typeface="Century Schoolbook" panose="02040604050505020304" pitchFamily="18" charset="0"/>
                  </a:rPr>
                  <a:t>= </a:t>
                </a:r>
                <a:r>
                  <a:rPr lang="en-US" sz="2400" b="1" dirty="0">
                    <a:latin typeface="Century Schoolbook" panose="02040604050505020304" pitchFamily="18" charset="0"/>
                  </a:rPr>
                  <a:t> </a:t>
                </a:r>
                <a:r>
                  <a:rPr lang="en-IN" sz="2400" b="1" dirty="0">
                    <a:latin typeface="Century Schoolbook" panose="02040604050505020304" pitchFamily="18" charset="0"/>
                  </a:rPr>
                  <a:t>Permittivity of free space </a:t>
                </a:r>
                <a14:m>
                  <m:oMath xmlns:m="http://schemas.openxmlformats.org/officeDocument/2006/math">
                    <m:r>
                      <a:rPr lang="en-IN" sz="2400" b="1">
                        <a:latin typeface="Cambria Math" panose="02040503050406030204" pitchFamily="18" charset="0"/>
                      </a:rPr>
                      <m:t>=</m:t>
                    </m:r>
                    <m:r>
                      <a:rPr lang="en-IN" sz="2400" b="1" i="1" smtClean="0">
                        <a:solidFill>
                          <a:srgbClr val="FFFF00"/>
                        </a:solidFill>
                        <a:latin typeface="Cambria Math" panose="02040503050406030204" pitchFamily="18" charset="0"/>
                      </a:rPr>
                      <m:t>𝟖</m:t>
                    </m:r>
                    <m:r>
                      <a:rPr lang="en-IN" sz="2400" b="1">
                        <a:solidFill>
                          <a:srgbClr val="FFFF00"/>
                        </a:solidFill>
                        <a:latin typeface="Cambria Math" panose="02040503050406030204" pitchFamily="18" charset="0"/>
                      </a:rPr>
                      <m:t>.</m:t>
                    </m:r>
                    <m:r>
                      <a:rPr lang="en-IN" sz="2400" b="1" i="1">
                        <a:solidFill>
                          <a:srgbClr val="FFFF00"/>
                        </a:solidFill>
                        <a:latin typeface="Cambria Math" panose="02040503050406030204" pitchFamily="18" charset="0"/>
                      </a:rPr>
                      <m:t>𝟖𝟓𝟒</m:t>
                    </m:r>
                    <m:r>
                      <a:rPr lang="en-IN" sz="2400" b="1">
                        <a:solidFill>
                          <a:srgbClr val="FFFF00"/>
                        </a:solidFill>
                        <a:latin typeface="Cambria Math" panose="02040503050406030204" pitchFamily="18" charset="0"/>
                      </a:rPr>
                      <m:t>×</m:t>
                    </m:r>
                    <m:sSup>
                      <m:sSupPr>
                        <m:ctrlPr>
                          <a:rPr lang="ar-AE" sz="2400" b="1" i="1">
                            <a:solidFill>
                              <a:srgbClr val="FFFF00"/>
                            </a:solidFill>
                            <a:latin typeface="Cambria Math" panose="02040503050406030204" pitchFamily="18" charset="0"/>
                          </a:rPr>
                        </m:ctrlPr>
                      </m:sSupPr>
                      <m:e>
                        <m:r>
                          <a:rPr lang="ar-AE" sz="2400" b="1" i="1">
                            <a:solidFill>
                              <a:srgbClr val="FFFF00"/>
                            </a:solidFill>
                            <a:latin typeface="Cambria Math" panose="02040503050406030204" pitchFamily="18" charset="0"/>
                          </a:rPr>
                          <m:t>𝟏𝟎</m:t>
                        </m:r>
                      </m:e>
                      <m:sup>
                        <m:r>
                          <a:rPr lang="ar-AE" sz="2400" b="1">
                            <a:solidFill>
                              <a:srgbClr val="FFFF00"/>
                            </a:solidFill>
                            <a:latin typeface="Cambria Math" panose="02040503050406030204" pitchFamily="18" charset="0"/>
                          </a:rPr>
                          <m:t>−</m:t>
                        </m:r>
                        <m:r>
                          <a:rPr lang="ar-AE" sz="2400" b="1" i="1">
                            <a:solidFill>
                              <a:srgbClr val="FFFF00"/>
                            </a:solidFill>
                            <a:latin typeface="Cambria Math" panose="02040503050406030204" pitchFamily="18" charset="0"/>
                          </a:rPr>
                          <m:t>𝟏𝟐</m:t>
                        </m:r>
                      </m:sup>
                    </m:sSup>
                    <m:r>
                      <m:rPr>
                        <m:nor/>
                      </m:rPr>
                      <a:rPr lang="ar-AE" sz="2400" b="1" i="1">
                        <a:solidFill>
                          <a:srgbClr val="FFFF00"/>
                        </a:solidFill>
                        <a:latin typeface="Century Schoolbook" panose="02040604050505020304" pitchFamily="18" charset="0"/>
                      </a:rPr>
                      <m:t> </m:t>
                    </m:r>
                    <m:sSup>
                      <m:sSupPr>
                        <m:ctrlPr>
                          <a:rPr lang="ar-AE" sz="2400" b="1" i="1">
                            <a:solidFill>
                              <a:srgbClr val="FFFF00"/>
                            </a:solidFill>
                            <a:latin typeface="Cambria Math" panose="02040503050406030204" pitchFamily="18" charset="0"/>
                          </a:rPr>
                        </m:ctrlPr>
                      </m:sSupPr>
                      <m:e>
                        <m:r>
                          <a:rPr lang="ar-AE" sz="2400" b="1" i="1">
                            <a:solidFill>
                              <a:srgbClr val="FFFF00"/>
                            </a:solidFill>
                            <a:latin typeface="Cambria Math" panose="02040503050406030204" pitchFamily="18" charset="0"/>
                          </a:rPr>
                          <m:t>𝑪</m:t>
                        </m:r>
                      </m:e>
                      <m:sup>
                        <m:r>
                          <a:rPr lang="ar-AE" sz="2400" b="1" i="1">
                            <a:solidFill>
                              <a:srgbClr val="FFFF00"/>
                            </a:solidFill>
                            <a:latin typeface="Cambria Math" panose="02040503050406030204" pitchFamily="18" charset="0"/>
                          </a:rPr>
                          <m:t>𝟐</m:t>
                        </m:r>
                      </m:sup>
                    </m:sSup>
                    <m:r>
                      <a:rPr lang="ar-AE" sz="2400" b="1">
                        <a:solidFill>
                          <a:srgbClr val="FFFF00"/>
                        </a:solidFill>
                        <a:latin typeface="Cambria Math" panose="02040503050406030204" pitchFamily="18" charset="0"/>
                      </a:rPr>
                      <m:t>/</m:t>
                    </m:r>
                    <m:r>
                      <a:rPr lang="ar-AE" sz="2400" b="1" i="1">
                        <a:solidFill>
                          <a:srgbClr val="FFFF00"/>
                        </a:solidFill>
                        <a:latin typeface="Cambria Math" panose="02040503050406030204" pitchFamily="18" charset="0"/>
                      </a:rPr>
                      <m:t>𝑵</m:t>
                    </m:r>
                    <m:r>
                      <a:rPr lang="ar-AE" sz="2400" b="1">
                        <a:solidFill>
                          <a:srgbClr val="FFFF00"/>
                        </a:solidFill>
                        <a:latin typeface="Cambria Math" panose="02040503050406030204" pitchFamily="18" charset="0"/>
                      </a:rPr>
                      <m:t>⋅</m:t>
                    </m:r>
                    <m:sSup>
                      <m:sSupPr>
                        <m:ctrlPr>
                          <a:rPr lang="ar-AE" sz="2400" b="1" i="1">
                            <a:solidFill>
                              <a:srgbClr val="FFFF00"/>
                            </a:solidFill>
                            <a:latin typeface="Cambria Math" panose="02040503050406030204" pitchFamily="18" charset="0"/>
                          </a:rPr>
                        </m:ctrlPr>
                      </m:sSupPr>
                      <m:e>
                        <m:r>
                          <a:rPr lang="ar-AE" sz="2400" b="1" i="1">
                            <a:solidFill>
                              <a:srgbClr val="FFFF00"/>
                            </a:solidFill>
                            <a:latin typeface="Cambria Math" panose="02040503050406030204" pitchFamily="18" charset="0"/>
                          </a:rPr>
                          <m:t>𝒎</m:t>
                        </m:r>
                      </m:e>
                      <m:sup>
                        <m:r>
                          <a:rPr lang="ar-AE" sz="2400" b="1" i="1">
                            <a:solidFill>
                              <a:srgbClr val="FFFF00"/>
                            </a:solidFill>
                            <a:latin typeface="Cambria Math" panose="02040503050406030204" pitchFamily="18" charset="0"/>
                          </a:rPr>
                          <m:t>𝟐</m:t>
                        </m:r>
                      </m:sup>
                    </m:sSup>
                  </m:oMath>
                </a14:m>
                <a:endParaRPr lang="ar-AE" sz="2400" b="1" dirty="0">
                  <a:solidFill>
                    <a:srgbClr val="FFFF00"/>
                  </a:solidFill>
                  <a:latin typeface="Century Schoolbook" panose="02040604050505020304" pitchFamily="18" charset="0"/>
                </a:endParaRPr>
              </a:p>
              <a:p>
                <a:pPr algn="l"/>
                <a14:m>
                  <m:oMath xmlns:m="http://schemas.openxmlformats.org/officeDocument/2006/math">
                    <m:r>
                      <a:rPr lang="ar-AE" sz="2400" b="1" i="1">
                        <a:latin typeface="Cambria Math" panose="02040503050406030204" pitchFamily="18" charset="0"/>
                      </a:rPr>
                      <m:t>𝒓</m:t>
                    </m:r>
                  </m:oMath>
                </a14:m>
                <a:r>
                  <a:rPr lang="ar-AE" sz="2400" b="1" dirty="0">
                    <a:latin typeface="Century Schoolbook" panose="02040604050505020304" pitchFamily="18" charset="0"/>
                  </a:rPr>
                  <a:t>= </a:t>
                </a:r>
                <a:r>
                  <a:rPr lang="en-US" sz="2400" b="1" dirty="0">
                    <a:latin typeface="Century Schoolbook" panose="02040604050505020304" pitchFamily="18" charset="0"/>
                  </a:rPr>
                  <a:t> </a:t>
                </a:r>
                <a:r>
                  <a:rPr lang="en-IN" sz="2400" b="1" dirty="0">
                    <a:latin typeface="Century Schoolbook" panose="02040604050505020304" pitchFamily="18" charset="0"/>
                  </a:rPr>
                  <a:t>Distance between charge </a:t>
                </a:r>
                <a14:m>
                  <m:oMath xmlns:m="http://schemas.openxmlformats.org/officeDocument/2006/math">
                    <m:r>
                      <a:rPr lang="en-IN" sz="2400" b="1" i="1">
                        <a:latin typeface="Cambria Math" panose="02040503050406030204" pitchFamily="18" charset="0"/>
                      </a:rPr>
                      <m:t>𝑸</m:t>
                    </m:r>
                  </m:oMath>
                </a14:m>
                <a:r>
                  <a:rPr lang="en-IN" sz="2400" b="1" dirty="0">
                    <a:latin typeface="Century Schoolbook" panose="02040604050505020304" pitchFamily="18" charset="0"/>
                  </a:rPr>
                  <a:t>and the point</a:t>
                </a:r>
              </a:p>
              <a:p>
                <a:pPr algn="l"/>
                <a:r>
                  <a:rPr lang="en-IN" b="1" dirty="0">
                    <a:latin typeface="Century Schoolbook" panose="02040604050505020304" pitchFamily="18" charset="0"/>
                  </a:rPr>
                  <a:t>🔹 </a:t>
                </a:r>
                <a:r>
                  <a:rPr lang="en-IN" sz="2400" b="1" u="sng" dirty="0">
                    <a:latin typeface="Century Schoolbook" panose="02040604050505020304" pitchFamily="18" charset="0"/>
                  </a:rPr>
                  <a:t>Unit</a:t>
                </a:r>
                <a:r>
                  <a:rPr lang="en-IN" sz="2400" b="1" dirty="0">
                    <a:latin typeface="Century Schoolbook" panose="02040604050505020304" pitchFamily="18" charset="0"/>
                  </a:rPr>
                  <a:t> :</a:t>
                </a:r>
                <a:r>
                  <a:rPr lang="en-IN" b="1" dirty="0">
                    <a:latin typeface="Century Schoolbook" panose="02040604050505020304" pitchFamily="18" charset="0"/>
                  </a:rPr>
                  <a:t> </a:t>
                </a:r>
                <a14:m>
                  <m:oMath xmlns:m="http://schemas.openxmlformats.org/officeDocument/2006/math">
                    <m:r>
                      <m:rPr>
                        <m:nor/>
                      </m:rPr>
                      <a:rPr lang="en-IN" sz="2400" b="1">
                        <a:latin typeface="Century Schoolbook" panose="02040604050505020304" pitchFamily="18" charset="0"/>
                      </a:rPr>
                      <m:t>Volt</m:t>
                    </m:r>
                    <m:r>
                      <m:rPr>
                        <m:nor/>
                      </m:rPr>
                      <a:rPr lang="en-IN" sz="2400" b="1" i="1">
                        <a:latin typeface="Century Schoolbook" panose="02040604050505020304" pitchFamily="18" charset="0"/>
                      </a:rPr>
                      <m:t> (</m:t>
                    </m:r>
                    <m:r>
                      <m:rPr>
                        <m:nor/>
                      </m:rPr>
                      <a:rPr lang="en-IN" sz="2400" b="1" i="1">
                        <a:latin typeface="Century Schoolbook" panose="02040604050505020304" pitchFamily="18" charset="0"/>
                      </a:rPr>
                      <m:t>V</m:t>
                    </m:r>
                    <m:r>
                      <m:rPr>
                        <m:nor/>
                      </m:rPr>
                      <a:rPr lang="en-IN" sz="2400" b="1" i="1">
                        <a:latin typeface="Century Schoolbook" panose="02040604050505020304" pitchFamily="18" charset="0"/>
                      </a:rPr>
                      <m:t>)</m:t>
                    </m:r>
                    <m:r>
                      <a:rPr lang="en-IN" sz="2400" b="1">
                        <a:latin typeface="Cambria Math" panose="02040503050406030204" pitchFamily="18" charset="0"/>
                      </a:rPr>
                      <m:t>=</m:t>
                    </m:r>
                    <m:f>
                      <m:fPr>
                        <m:ctrlPr>
                          <a:rPr lang="ar-AE" sz="2400" b="1" i="1" smtClean="0">
                            <a:solidFill>
                              <a:srgbClr val="FFFF00"/>
                            </a:solidFill>
                            <a:latin typeface="Cambria Math" panose="02040503050406030204" pitchFamily="18" charset="0"/>
                          </a:rPr>
                        </m:ctrlPr>
                      </m:fPr>
                      <m:num>
                        <m:r>
                          <m:rPr>
                            <m:nor/>
                          </m:rPr>
                          <a:rPr lang="en-IN" sz="2400" b="1" i="1">
                            <a:solidFill>
                              <a:srgbClr val="FFFF00"/>
                            </a:solidFill>
                            <a:latin typeface="Century Schoolbook" panose="02040604050505020304" pitchFamily="18" charset="0"/>
                          </a:rPr>
                          <m:t>Joule</m:t>
                        </m:r>
                        <m:r>
                          <m:rPr>
                            <m:nor/>
                          </m:rPr>
                          <a:rPr lang="en-IN" sz="2400" b="1" i="1">
                            <a:solidFill>
                              <a:srgbClr val="FFFF00"/>
                            </a:solidFill>
                            <a:latin typeface="Century Schoolbook" panose="02040604050505020304" pitchFamily="18" charset="0"/>
                          </a:rPr>
                          <m:t> (</m:t>
                        </m:r>
                        <m:r>
                          <m:rPr>
                            <m:nor/>
                          </m:rPr>
                          <a:rPr lang="en-IN" sz="2400" b="1" i="1">
                            <a:solidFill>
                              <a:srgbClr val="FFFF00"/>
                            </a:solidFill>
                            <a:latin typeface="Century Schoolbook" panose="02040604050505020304" pitchFamily="18" charset="0"/>
                          </a:rPr>
                          <m:t>J</m:t>
                        </m:r>
                        <m:r>
                          <m:rPr>
                            <m:nor/>
                          </m:rPr>
                          <a:rPr lang="en-IN" sz="2400" b="1" i="1">
                            <a:solidFill>
                              <a:srgbClr val="FFFF00"/>
                            </a:solidFill>
                            <a:latin typeface="Century Schoolbook" panose="02040604050505020304" pitchFamily="18" charset="0"/>
                          </a:rPr>
                          <m:t>)</m:t>
                        </m:r>
                      </m:num>
                      <m:den>
                        <m:r>
                          <m:rPr>
                            <m:nor/>
                          </m:rPr>
                          <a:rPr lang="en-IN" sz="2400" b="1" i="1">
                            <a:solidFill>
                              <a:srgbClr val="FFFF00"/>
                            </a:solidFill>
                            <a:latin typeface="Century Schoolbook" panose="02040604050505020304" pitchFamily="18" charset="0"/>
                          </a:rPr>
                          <m:t>Coulomb</m:t>
                        </m:r>
                        <m:r>
                          <m:rPr>
                            <m:nor/>
                          </m:rPr>
                          <a:rPr lang="en-IN" sz="2400" b="1" i="1">
                            <a:solidFill>
                              <a:srgbClr val="FFFF00"/>
                            </a:solidFill>
                            <a:latin typeface="Century Schoolbook" panose="02040604050505020304" pitchFamily="18" charset="0"/>
                          </a:rPr>
                          <m:t> (</m:t>
                        </m:r>
                        <m:r>
                          <m:rPr>
                            <m:nor/>
                          </m:rPr>
                          <a:rPr lang="en-IN" sz="2400" b="1" i="1">
                            <a:solidFill>
                              <a:srgbClr val="FFFF00"/>
                            </a:solidFill>
                            <a:latin typeface="Century Schoolbook" panose="02040604050505020304" pitchFamily="18" charset="0"/>
                          </a:rPr>
                          <m:t>C</m:t>
                        </m:r>
                        <m:r>
                          <m:rPr>
                            <m:nor/>
                          </m:rPr>
                          <a:rPr lang="en-IN" sz="2400" b="1" i="1">
                            <a:solidFill>
                              <a:srgbClr val="FFFF00"/>
                            </a:solidFill>
                            <a:latin typeface="Century Schoolbook" panose="02040604050505020304" pitchFamily="18" charset="0"/>
                          </a:rPr>
                          <m:t>)</m:t>
                        </m:r>
                      </m:den>
                    </m:f>
                  </m:oMath>
                </a14:m>
                <a:endParaRPr lang="ar-AE" b="1" dirty="0">
                  <a:latin typeface="Century Schoolbook" panose="02040604050505020304" pitchFamily="18" charset="0"/>
                </a:endParaRPr>
              </a:p>
              <a:p>
                <a:pPr algn="l"/>
                <a:r>
                  <a:rPr lang="en-IN" b="1" dirty="0">
                    <a:latin typeface="Century Schoolbook" panose="02040604050505020304" pitchFamily="18" charset="0"/>
                  </a:rPr>
                  <a:t>🔹 </a:t>
                </a:r>
                <a:r>
                  <a:rPr lang="en-IN" sz="2400" b="1" u="sng" dirty="0">
                    <a:latin typeface="Century Schoolbook" panose="02040604050505020304" pitchFamily="18" charset="0"/>
                  </a:rPr>
                  <a:t>Dimensional Formula</a:t>
                </a:r>
                <a:r>
                  <a:rPr lang="en-IN" sz="2400" b="1" dirty="0">
                    <a:latin typeface="Century Schoolbook" panose="02040604050505020304" pitchFamily="18" charset="0"/>
                  </a:rPr>
                  <a:t> : </a:t>
                </a:r>
                <a14:m>
                  <m:oMath xmlns:m="http://schemas.openxmlformats.org/officeDocument/2006/math">
                    <m:d>
                      <m:dPr>
                        <m:begChr m:val="["/>
                        <m:endChr m:val="]"/>
                        <m:ctrlPr>
                          <a:rPr lang="ar-AE" sz="2400" b="1" i="1" smtClean="0">
                            <a:solidFill>
                              <a:srgbClr val="FFFF00"/>
                            </a:solidFill>
                            <a:latin typeface="Cambria Math" panose="02040503050406030204" pitchFamily="18" charset="0"/>
                          </a:rPr>
                        </m:ctrlPr>
                      </m:dPr>
                      <m:e>
                        <m:sSup>
                          <m:sSupPr>
                            <m:ctrlPr>
                              <a:rPr lang="ar-AE" sz="2400" b="1" i="1">
                                <a:solidFill>
                                  <a:srgbClr val="FFFF00"/>
                                </a:solidFill>
                                <a:latin typeface="Cambria Math" panose="02040503050406030204" pitchFamily="18" charset="0"/>
                              </a:rPr>
                            </m:ctrlPr>
                          </m:sSupPr>
                          <m:e>
                            <m:r>
                              <a:rPr lang="ar-AE" sz="2400" b="1" i="1">
                                <a:solidFill>
                                  <a:srgbClr val="FFFF00"/>
                                </a:solidFill>
                                <a:latin typeface="Cambria Math" panose="02040503050406030204" pitchFamily="18" charset="0"/>
                              </a:rPr>
                              <m:t>𝑴</m:t>
                            </m:r>
                          </m:e>
                          <m:sup>
                            <m:r>
                              <a:rPr lang="ar-AE" sz="2400" b="1" i="1">
                                <a:solidFill>
                                  <a:srgbClr val="FFFF00"/>
                                </a:solidFill>
                                <a:latin typeface="Cambria Math" panose="02040503050406030204" pitchFamily="18" charset="0"/>
                              </a:rPr>
                              <m:t>𝟏</m:t>
                            </m:r>
                          </m:sup>
                        </m:sSup>
                        <m:sSup>
                          <m:sSupPr>
                            <m:ctrlPr>
                              <a:rPr lang="ar-AE" sz="2400" b="1" i="1">
                                <a:solidFill>
                                  <a:srgbClr val="FFFF00"/>
                                </a:solidFill>
                                <a:latin typeface="Cambria Math" panose="02040503050406030204" pitchFamily="18" charset="0"/>
                              </a:rPr>
                            </m:ctrlPr>
                          </m:sSupPr>
                          <m:e>
                            <m:r>
                              <a:rPr lang="ar-AE" sz="2400" b="1" i="1">
                                <a:solidFill>
                                  <a:srgbClr val="FFFF00"/>
                                </a:solidFill>
                                <a:latin typeface="Cambria Math" panose="02040503050406030204" pitchFamily="18" charset="0"/>
                              </a:rPr>
                              <m:t>𝑳</m:t>
                            </m:r>
                          </m:e>
                          <m:sup>
                            <m:r>
                              <a:rPr lang="ar-AE" sz="2400" b="1" i="1">
                                <a:solidFill>
                                  <a:srgbClr val="FFFF00"/>
                                </a:solidFill>
                                <a:latin typeface="Cambria Math" panose="02040503050406030204" pitchFamily="18" charset="0"/>
                              </a:rPr>
                              <m:t>𝟐</m:t>
                            </m:r>
                          </m:sup>
                        </m:sSup>
                        <m:sSup>
                          <m:sSupPr>
                            <m:ctrlPr>
                              <a:rPr lang="ar-AE" sz="2400" b="1" i="1">
                                <a:solidFill>
                                  <a:srgbClr val="FFFF00"/>
                                </a:solidFill>
                                <a:latin typeface="Cambria Math" panose="02040503050406030204" pitchFamily="18" charset="0"/>
                              </a:rPr>
                            </m:ctrlPr>
                          </m:sSupPr>
                          <m:e>
                            <m:r>
                              <a:rPr lang="ar-AE" sz="2400" b="1" i="1">
                                <a:solidFill>
                                  <a:srgbClr val="FFFF00"/>
                                </a:solidFill>
                                <a:latin typeface="Cambria Math" panose="02040503050406030204" pitchFamily="18" charset="0"/>
                              </a:rPr>
                              <m:t>𝑻</m:t>
                            </m:r>
                          </m:e>
                          <m:sup>
                            <m:r>
                              <a:rPr lang="ar-AE" sz="2400" b="1">
                                <a:solidFill>
                                  <a:srgbClr val="FFFF00"/>
                                </a:solidFill>
                                <a:latin typeface="Cambria Math" panose="02040503050406030204" pitchFamily="18" charset="0"/>
                              </a:rPr>
                              <m:t>−</m:t>
                            </m:r>
                            <m:r>
                              <a:rPr lang="ar-AE" sz="2400" b="1" i="1">
                                <a:solidFill>
                                  <a:srgbClr val="FFFF00"/>
                                </a:solidFill>
                                <a:latin typeface="Cambria Math" panose="02040503050406030204" pitchFamily="18" charset="0"/>
                              </a:rPr>
                              <m:t>𝟑</m:t>
                            </m:r>
                          </m:sup>
                        </m:sSup>
                        <m:sSup>
                          <m:sSupPr>
                            <m:ctrlPr>
                              <a:rPr lang="ar-AE" sz="2400" b="1" i="1">
                                <a:solidFill>
                                  <a:srgbClr val="FFFF00"/>
                                </a:solidFill>
                                <a:latin typeface="Cambria Math" panose="02040503050406030204" pitchFamily="18" charset="0"/>
                              </a:rPr>
                            </m:ctrlPr>
                          </m:sSupPr>
                          <m:e>
                            <m:r>
                              <a:rPr lang="ar-AE" sz="2400" b="1" i="1">
                                <a:solidFill>
                                  <a:srgbClr val="FFFF00"/>
                                </a:solidFill>
                                <a:latin typeface="Cambria Math" panose="02040503050406030204" pitchFamily="18" charset="0"/>
                              </a:rPr>
                              <m:t>𝑰</m:t>
                            </m:r>
                          </m:e>
                          <m:sup>
                            <m:r>
                              <a:rPr lang="ar-AE" sz="2400" b="1">
                                <a:solidFill>
                                  <a:srgbClr val="FFFF00"/>
                                </a:solidFill>
                                <a:latin typeface="Cambria Math" panose="02040503050406030204" pitchFamily="18" charset="0"/>
                              </a:rPr>
                              <m:t>−</m:t>
                            </m:r>
                            <m:r>
                              <a:rPr lang="ar-AE" sz="2400" b="1" i="1">
                                <a:solidFill>
                                  <a:srgbClr val="FFFF00"/>
                                </a:solidFill>
                                <a:latin typeface="Cambria Math" panose="02040503050406030204" pitchFamily="18" charset="0"/>
                              </a:rPr>
                              <m:t>𝟏</m:t>
                            </m:r>
                          </m:sup>
                        </m:sSup>
                      </m:e>
                    </m:d>
                  </m:oMath>
                </a14:m>
                <a:endParaRPr lang="ar-AE" b="1" dirty="0">
                  <a:latin typeface="Century Schoolbook" panose="02040604050505020304" pitchFamily="18" charset="0"/>
                </a:endParaRPr>
              </a:p>
              <a:p>
                <a:pPr algn="l"/>
                <a:endParaRPr lang="en-IN" b="1" dirty="0">
                  <a:latin typeface="Century Schoolbook" panose="02040604050505020304" pitchFamily="18" charset="0"/>
                </a:endParaRPr>
              </a:p>
            </p:txBody>
          </p:sp>
        </mc:Choice>
        <mc:Fallback xmlns="">
          <p:sp>
            <p:nvSpPr>
              <p:cNvPr id="3" name="Text Placeholder 2">
                <a:extLst>
                  <a:ext uri="{FF2B5EF4-FFF2-40B4-BE49-F238E27FC236}">
                    <a16:creationId xmlns:a16="http://schemas.microsoft.com/office/drawing/2014/main" id="{7F4D1217-B788-0569-5B41-0A25AA7376DD}"/>
                  </a:ext>
                </a:extLst>
              </p:cNvPr>
              <p:cNvSpPr>
                <a:spLocks noGrp="1" noRot="1" noChangeAspect="1" noMove="1" noResize="1" noEditPoints="1" noAdjustHandles="1" noChangeArrowheads="1" noChangeShapeType="1" noTextEdit="1"/>
              </p:cNvSpPr>
              <p:nvPr>
                <p:ph type="body" sz="half" idx="2"/>
              </p:nvPr>
            </p:nvSpPr>
            <p:spPr>
              <a:xfrm>
                <a:off x="206476" y="1"/>
                <a:ext cx="11985523" cy="5565057"/>
              </a:xfrm>
              <a:blipFill>
                <a:blip r:embed="rId2"/>
                <a:stretch>
                  <a:fillRect l="-865"/>
                </a:stretch>
              </a:blipFill>
            </p:spPr>
            <p:txBody>
              <a:bodyPr/>
              <a:lstStyle/>
              <a:p>
                <a:r>
                  <a:rPr lang="en-IN">
                    <a:noFill/>
                  </a:rPr>
                  <a:t> </a:t>
                </a:r>
              </a:p>
            </p:txBody>
          </p:sp>
        </mc:Fallback>
      </mc:AlternateContent>
    </p:spTree>
    <p:extLst>
      <p:ext uri="{BB962C8B-B14F-4D97-AF65-F5344CB8AC3E}">
        <p14:creationId xmlns:p14="http://schemas.microsoft.com/office/powerpoint/2010/main" val="11864143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962A3-7AC5-035F-9F55-146DB6E28C77}"/>
              </a:ext>
            </a:extLst>
          </p:cNvPr>
          <p:cNvSpPr>
            <a:spLocks noGrp="1"/>
          </p:cNvSpPr>
          <p:nvPr>
            <p:ph type="title"/>
          </p:nvPr>
        </p:nvSpPr>
        <p:spPr>
          <a:xfrm>
            <a:off x="0" y="0"/>
            <a:ext cx="7875639" cy="929924"/>
          </a:xfrm>
        </p:spPr>
        <p:txBody>
          <a:bodyPr>
            <a:normAutofit/>
          </a:bodyPr>
          <a:lstStyle/>
          <a:p>
            <a:pPr marL="685800" indent="-685800">
              <a:buFont typeface="Wingdings" panose="05000000000000000000" pitchFamily="2" charset="2"/>
              <a:buChar char="v"/>
            </a:pPr>
            <a:r>
              <a:rPr lang="en-US" sz="4800" b="0" u="sng" dirty="0">
                <a:solidFill>
                  <a:srgbClr val="FFFF00"/>
                </a:solidFill>
                <a:latin typeface="Algerian" panose="04020705040A02060702" pitchFamily="82" charset="0"/>
              </a:rPr>
              <a:t>Numerical example</a:t>
            </a:r>
            <a:r>
              <a:rPr lang="en-US" sz="4800" b="0" dirty="0">
                <a:solidFill>
                  <a:srgbClr val="FFFF00"/>
                </a:solidFill>
                <a:latin typeface="Algerian" panose="04020705040A02060702" pitchFamily="82" charset="0"/>
              </a:rPr>
              <a:t> : -</a:t>
            </a:r>
            <a:endParaRPr lang="en-IN" sz="4800" b="0" dirty="0">
              <a:solidFill>
                <a:srgbClr val="FFFF00"/>
              </a:solidFill>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498009B-DC46-E701-F525-71E7BE335076}"/>
                  </a:ext>
                </a:extLst>
              </p:cNvPr>
              <p:cNvSpPr>
                <a:spLocks noGrp="1"/>
              </p:cNvSpPr>
              <p:nvPr>
                <p:ph type="body" sz="half" idx="2"/>
              </p:nvPr>
            </p:nvSpPr>
            <p:spPr>
              <a:xfrm>
                <a:off x="127213" y="694703"/>
                <a:ext cx="11750154" cy="5676599"/>
              </a:xfrm>
            </p:spPr>
            <p:txBody>
              <a:bodyPr>
                <a:normAutofit/>
              </a:bodyPr>
              <a:lstStyle/>
              <a:p>
                <a:pPr algn="l"/>
                <a:r>
                  <a:rPr lang="en-IN" sz="2000" b="1" dirty="0">
                    <a:latin typeface="Century Schoolbook" panose="02040604050505020304" pitchFamily="18" charset="0"/>
                  </a:rPr>
                  <a:t>Q1. Find the absolute potential at a point 0.3 m away from a charge of </a:t>
                </a:r>
                <a14:m>
                  <m:oMath xmlns:m="http://schemas.openxmlformats.org/officeDocument/2006/math">
                    <m:r>
                      <a:rPr lang="en-IN" sz="2000" b="1">
                        <a:latin typeface="Cambria Math" panose="02040503050406030204" pitchFamily="18" charset="0"/>
                      </a:rPr>
                      <m:t>+</m:t>
                    </m:r>
                    <m:r>
                      <a:rPr lang="en-IN" sz="2000" b="1" i="1">
                        <a:latin typeface="Cambria Math" panose="02040503050406030204" pitchFamily="18" charset="0"/>
                      </a:rPr>
                      <m:t>𝟒</m:t>
                    </m:r>
                    <m:r>
                      <a:rPr lang="en-IN" sz="2000" b="1">
                        <a:latin typeface="Cambria Math" panose="02040503050406030204" pitchFamily="18" charset="0"/>
                      </a:rPr>
                      <m:t>×</m:t>
                    </m:r>
                    <m:sSup>
                      <m:sSupPr>
                        <m:ctrlPr>
                          <a:rPr lang="ar-AE" sz="2000" b="1" i="1">
                            <a:latin typeface="Cambria Math" panose="02040503050406030204" pitchFamily="18" charset="0"/>
                          </a:rPr>
                        </m:ctrlPr>
                      </m:sSupPr>
                      <m:e>
                        <m:r>
                          <a:rPr lang="ar-AE" sz="2000" b="1" i="1">
                            <a:latin typeface="Cambria Math" panose="02040503050406030204" pitchFamily="18" charset="0"/>
                          </a:rPr>
                          <m:t>𝟏𝟎</m:t>
                        </m:r>
                      </m:e>
                      <m:sup>
                        <m:r>
                          <a:rPr lang="ar-AE" sz="2000" b="1">
                            <a:latin typeface="Cambria Math" panose="02040503050406030204" pitchFamily="18" charset="0"/>
                          </a:rPr>
                          <m:t>−</m:t>
                        </m:r>
                        <m:r>
                          <a:rPr lang="ar-AE" sz="2000" b="1" i="1">
                            <a:latin typeface="Cambria Math" panose="02040503050406030204" pitchFamily="18" charset="0"/>
                          </a:rPr>
                          <m:t>𝟔</m:t>
                        </m:r>
                      </m:sup>
                    </m:sSup>
                    <m:r>
                      <m:rPr>
                        <m:nor/>
                      </m:rPr>
                      <a:rPr lang="ar-AE" sz="2000" b="1" i="1">
                        <a:latin typeface="Century Schoolbook" panose="02040604050505020304" pitchFamily="18" charset="0"/>
                      </a:rPr>
                      <m:t> </m:t>
                    </m:r>
                    <m:r>
                      <a:rPr lang="ar-AE" sz="2000" b="1" i="1">
                        <a:latin typeface="Cambria Math" panose="02040503050406030204" pitchFamily="18" charset="0"/>
                      </a:rPr>
                      <m:t>𝑪</m:t>
                    </m:r>
                  </m:oMath>
                </a14:m>
                <a:r>
                  <a:rPr lang="en-IN" sz="2000" b="1" dirty="0">
                    <a:latin typeface="Century Schoolbook" panose="02040604050505020304" pitchFamily="18" charset="0"/>
                  </a:rPr>
                  <a:t>in air.</a:t>
                </a:r>
              </a:p>
              <a:p>
                <a:pPr algn="l"/>
                <a14:m>
                  <m:oMathPara xmlns:m="http://schemas.openxmlformats.org/officeDocument/2006/math">
                    <m:oMathParaPr>
                      <m:jc m:val="centerGroup"/>
                    </m:oMathParaPr>
                    <m:oMath xmlns:m="http://schemas.openxmlformats.org/officeDocument/2006/math">
                      <m:r>
                        <m:rPr>
                          <m:nor/>
                        </m:rPr>
                        <a:rPr lang="en-IN" sz="2400" b="1">
                          <a:latin typeface="Century Schoolbook" panose="02040604050505020304" pitchFamily="18" charset="0"/>
                        </a:rPr>
                        <m:t>Given</m:t>
                      </m:r>
                      <m:r>
                        <m:rPr>
                          <m:nor/>
                        </m:rPr>
                        <a:rPr lang="en-US" sz="2400" b="1" i="0" smtClean="0">
                          <a:latin typeface="Century Schoolbook" panose="02040604050505020304" pitchFamily="18" charset="0"/>
                        </a:rPr>
                        <m:t> </m:t>
                      </m:r>
                      <m:r>
                        <m:rPr>
                          <m:nor/>
                        </m:rPr>
                        <a:rPr lang="en-IN" sz="2400" b="1">
                          <a:latin typeface="Century Schoolbook" panose="02040604050505020304" pitchFamily="18" charset="0"/>
                        </a:rPr>
                        <m:t>:</m:t>
                      </m:r>
                      <m:r>
                        <m:rPr>
                          <m:nor/>
                        </m:rPr>
                        <a:rPr lang="en-IN" sz="2400" b="1" i="1">
                          <a:latin typeface="Century Schoolbook" panose="02040604050505020304" pitchFamily="18" charset="0"/>
                        </a:rPr>
                        <m:t> </m:t>
                      </m:r>
                      <m:r>
                        <a:rPr lang="en-IN" sz="2400" b="1" i="1" smtClean="0">
                          <a:solidFill>
                            <a:srgbClr val="FFFF00"/>
                          </a:solidFill>
                          <a:latin typeface="Cambria Math" panose="02040503050406030204" pitchFamily="18" charset="0"/>
                        </a:rPr>
                        <m:t>𝑸</m:t>
                      </m:r>
                      <m:r>
                        <a:rPr lang="en-IN" sz="2400" b="1">
                          <a:solidFill>
                            <a:srgbClr val="FFFF00"/>
                          </a:solidFill>
                          <a:latin typeface="Cambria Math" panose="02040503050406030204" pitchFamily="18" charset="0"/>
                        </a:rPr>
                        <m:t>=</m:t>
                      </m:r>
                      <m:r>
                        <a:rPr lang="en-IN" sz="2400" b="1" i="1">
                          <a:solidFill>
                            <a:srgbClr val="FFFF00"/>
                          </a:solidFill>
                          <a:latin typeface="Cambria Math" panose="02040503050406030204" pitchFamily="18" charset="0"/>
                        </a:rPr>
                        <m:t>𝟒</m:t>
                      </m:r>
                      <m:r>
                        <a:rPr lang="en-IN" sz="2400" b="1">
                          <a:solidFill>
                            <a:srgbClr val="FFFF00"/>
                          </a:solidFill>
                          <a:latin typeface="Cambria Math" panose="02040503050406030204" pitchFamily="18" charset="0"/>
                        </a:rPr>
                        <m:t>×</m:t>
                      </m:r>
                      <m:sSup>
                        <m:sSupPr>
                          <m:ctrlPr>
                            <a:rPr lang="ar-AE" sz="2400" b="1" i="1">
                              <a:solidFill>
                                <a:srgbClr val="FFFF00"/>
                              </a:solidFill>
                              <a:latin typeface="Cambria Math" panose="02040503050406030204" pitchFamily="18" charset="0"/>
                            </a:rPr>
                          </m:ctrlPr>
                        </m:sSupPr>
                        <m:e>
                          <m:r>
                            <a:rPr lang="ar-AE" sz="2400" b="1" i="1">
                              <a:solidFill>
                                <a:srgbClr val="FFFF00"/>
                              </a:solidFill>
                              <a:latin typeface="Cambria Math" panose="02040503050406030204" pitchFamily="18" charset="0"/>
                            </a:rPr>
                            <m:t>𝟏𝟎</m:t>
                          </m:r>
                        </m:e>
                        <m:sup>
                          <m:r>
                            <a:rPr lang="ar-AE" sz="2400" b="1">
                              <a:solidFill>
                                <a:srgbClr val="FFFF00"/>
                              </a:solidFill>
                              <a:latin typeface="Cambria Math" panose="02040503050406030204" pitchFamily="18" charset="0"/>
                            </a:rPr>
                            <m:t>−</m:t>
                          </m:r>
                          <m:r>
                            <a:rPr lang="ar-AE" sz="2400" b="1" i="1">
                              <a:solidFill>
                                <a:srgbClr val="FFFF00"/>
                              </a:solidFill>
                              <a:latin typeface="Cambria Math" panose="02040503050406030204" pitchFamily="18" charset="0"/>
                            </a:rPr>
                            <m:t>𝟔</m:t>
                          </m:r>
                        </m:sup>
                      </m:sSup>
                      <m:r>
                        <a:rPr lang="ar-AE" sz="2400" b="1" i="1">
                          <a:solidFill>
                            <a:srgbClr val="FFFF00"/>
                          </a:solidFill>
                          <a:latin typeface="Cambria Math" panose="02040503050406030204" pitchFamily="18" charset="0"/>
                        </a:rPr>
                        <m:t>𝑪</m:t>
                      </m:r>
                      <m:r>
                        <a:rPr lang="ar-AE" sz="2400" b="1">
                          <a:solidFill>
                            <a:srgbClr val="FFFF00"/>
                          </a:solidFill>
                          <a:latin typeface="Cambria Math" panose="02040503050406030204" pitchFamily="18" charset="0"/>
                        </a:rPr>
                        <m:t>,</m:t>
                      </m:r>
                      <m:r>
                        <m:rPr>
                          <m:nor/>
                        </m:rPr>
                        <a:rPr lang="ar-AE" sz="2400" b="1" i="1">
                          <a:solidFill>
                            <a:srgbClr val="FFFF00"/>
                          </a:solidFill>
                          <a:latin typeface="Century Schoolbook" panose="02040604050505020304" pitchFamily="18" charset="0"/>
                        </a:rPr>
                        <m:t> </m:t>
                      </m:r>
                      <m:r>
                        <a:rPr lang="ar-AE" sz="2400" b="1" i="1">
                          <a:solidFill>
                            <a:srgbClr val="FFFF00"/>
                          </a:solidFill>
                          <a:latin typeface="Cambria Math" panose="02040503050406030204" pitchFamily="18" charset="0"/>
                        </a:rPr>
                        <m:t>𝒓</m:t>
                      </m:r>
                      <m:r>
                        <a:rPr lang="ar-AE" sz="2400" b="1">
                          <a:solidFill>
                            <a:srgbClr val="FFFF00"/>
                          </a:solidFill>
                          <a:latin typeface="Cambria Math" panose="02040503050406030204" pitchFamily="18" charset="0"/>
                        </a:rPr>
                        <m:t>=</m:t>
                      </m:r>
                      <m:r>
                        <a:rPr lang="ar-AE" sz="2400" b="1" i="1">
                          <a:solidFill>
                            <a:srgbClr val="FFFF00"/>
                          </a:solidFill>
                          <a:latin typeface="Cambria Math" panose="02040503050406030204" pitchFamily="18" charset="0"/>
                        </a:rPr>
                        <m:t>𝟎</m:t>
                      </m:r>
                      <m:r>
                        <a:rPr lang="ar-AE" sz="2400" b="1">
                          <a:solidFill>
                            <a:srgbClr val="FFFF00"/>
                          </a:solidFill>
                          <a:latin typeface="Cambria Math" panose="02040503050406030204" pitchFamily="18" charset="0"/>
                        </a:rPr>
                        <m:t>.</m:t>
                      </m:r>
                      <m:r>
                        <a:rPr lang="ar-AE" sz="2400" b="1" i="1">
                          <a:solidFill>
                            <a:srgbClr val="FFFF00"/>
                          </a:solidFill>
                          <a:latin typeface="Cambria Math" panose="02040503050406030204" pitchFamily="18" charset="0"/>
                        </a:rPr>
                        <m:t>𝟑</m:t>
                      </m:r>
                      <m:r>
                        <m:rPr>
                          <m:nor/>
                        </m:rPr>
                        <a:rPr lang="ar-AE" sz="2400" b="1" i="1">
                          <a:solidFill>
                            <a:srgbClr val="FFFF00"/>
                          </a:solidFill>
                          <a:latin typeface="Century Schoolbook" panose="02040604050505020304" pitchFamily="18" charset="0"/>
                        </a:rPr>
                        <m:t> </m:t>
                      </m:r>
                      <m:r>
                        <a:rPr lang="ar-AE" sz="2400" b="1" i="1">
                          <a:solidFill>
                            <a:srgbClr val="FFFF00"/>
                          </a:solidFill>
                          <a:latin typeface="Cambria Math" panose="02040503050406030204" pitchFamily="18" charset="0"/>
                        </a:rPr>
                        <m:t>𝒎</m:t>
                      </m:r>
                      <m:r>
                        <a:rPr lang="ar-AE" sz="2400" b="1">
                          <a:solidFill>
                            <a:srgbClr val="FFFF00"/>
                          </a:solidFill>
                          <a:latin typeface="Cambria Math" panose="02040503050406030204" pitchFamily="18" charset="0"/>
                        </a:rPr>
                        <m:t>,</m:t>
                      </m:r>
                      <m:r>
                        <m:rPr>
                          <m:nor/>
                        </m:rPr>
                        <a:rPr lang="ar-AE" sz="2400" b="1" i="1">
                          <a:solidFill>
                            <a:srgbClr val="FFFF00"/>
                          </a:solidFill>
                          <a:latin typeface="Century Schoolbook" panose="02040604050505020304" pitchFamily="18" charset="0"/>
                        </a:rPr>
                        <m:t> </m:t>
                      </m:r>
                      <m:r>
                        <a:rPr lang="ar-AE" sz="2400" b="1" i="1">
                          <a:solidFill>
                            <a:srgbClr val="FFFF00"/>
                          </a:solidFill>
                          <a:latin typeface="Cambria Math" panose="02040503050406030204" pitchFamily="18" charset="0"/>
                        </a:rPr>
                        <m:t>𝒌</m:t>
                      </m:r>
                      <m:r>
                        <a:rPr lang="ar-AE" sz="2400" b="1">
                          <a:solidFill>
                            <a:srgbClr val="FFFF00"/>
                          </a:solidFill>
                          <a:latin typeface="Cambria Math" panose="02040503050406030204" pitchFamily="18" charset="0"/>
                        </a:rPr>
                        <m:t>=</m:t>
                      </m:r>
                      <m:r>
                        <a:rPr lang="ar-AE" sz="2400" b="1" i="1">
                          <a:solidFill>
                            <a:srgbClr val="FFFF00"/>
                          </a:solidFill>
                          <a:latin typeface="Cambria Math" panose="02040503050406030204" pitchFamily="18" charset="0"/>
                        </a:rPr>
                        <m:t>𝟗</m:t>
                      </m:r>
                      <m:r>
                        <a:rPr lang="ar-AE" sz="2400" b="1">
                          <a:solidFill>
                            <a:srgbClr val="FFFF00"/>
                          </a:solidFill>
                          <a:latin typeface="Cambria Math" panose="02040503050406030204" pitchFamily="18" charset="0"/>
                        </a:rPr>
                        <m:t>×</m:t>
                      </m:r>
                      <m:sSup>
                        <m:sSupPr>
                          <m:ctrlPr>
                            <a:rPr lang="ar-AE" sz="2400" b="1" i="1">
                              <a:solidFill>
                                <a:srgbClr val="FFFF00"/>
                              </a:solidFill>
                              <a:latin typeface="Cambria Math" panose="02040503050406030204" pitchFamily="18" charset="0"/>
                            </a:rPr>
                          </m:ctrlPr>
                        </m:sSupPr>
                        <m:e>
                          <m:r>
                            <a:rPr lang="ar-AE" sz="2400" b="1" i="1">
                              <a:solidFill>
                                <a:srgbClr val="FFFF00"/>
                              </a:solidFill>
                              <a:latin typeface="Cambria Math" panose="02040503050406030204" pitchFamily="18" charset="0"/>
                            </a:rPr>
                            <m:t>𝟏𝟎</m:t>
                          </m:r>
                        </m:e>
                        <m:sup>
                          <m:r>
                            <a:rPr lang="ar-AE" sz="2400" b="1" i="1">
                              <a:solidFill>
                                <a:srgbClr val="FFFF00"/>
                              </a:solidFill>
                              <a:latin typeface="Cambria Math" panose="02040503050406030204" pitchFamily="18" charset="0"/>
                            </a:rPr>
                            <m:t>𝟗</m:t>
                          </m:r>
                        </m:sup>
                      </m:sSup>
                      <m:r>
                        <m:rPr>
                          <m:nor/>
                        </m:rPr>
                        <a:rPr lang="ar-AE" sz="2400" b="1" i="1">
                          <a:solidFill>
                            <a:srgbClr val="FFFF00"/>
                          </a:solidFill>
                          <a:latin typeface="Century Schoolbook" panose="02040604050505020304" pitchFamily="18" charset="0"/>
                        </a:rPr>
                        <m:t> </m:t>
                      </m:r>
                      <m:r>
                        <a:rPr lang="ar-AE" sz="2400" b="1" i="1">
                          <a:solidFill>
                            <a:srgbClr val="FFFF00"/>
                          </a:solidFill>
                          <a:latin typeface="Cambria Math" panose="02040503050406030204" pitchFamily="18" charset="0"/>
                        </a:rPr>
                        <m:t>𝑵</m:t>
                      </m:r>
                      <m:r>
                        <a:rPr lang="ar-AE" sz="2400" b="1">
                          <a:solidFill>
                            <a:srgbClr val="FFFF00"/>
                          </a:solidFill>
                          <a:latin typeface="Cambria Math" panose="02040503050406030204" pitchFamily="18" charset="0"/>
                        </a:rPr>
                        <m:t>⋅</m:t>
                      </m:r>
                      <m:sSup>
                        <m:sSupPr>
                          <m:ctrlPr>
                            <a:rPr lang="ar-AE" sz="2400" b="1" i="1">
                              <a:solidFill>
                                <a:srgbClr val="FFFF00"/>
                              </a:solidFill>
                              <a:latin typeface="Cambria Math" panose="02040503050406030204" pitchFamily="18" charset="0"/>
                            </a:rPr>
                          </m:ctrlPr>
                        </m:sSupPr>
                        <m:e>
                          <m:r>
                            <a:rPr lang="ar-AE" sz="2400" b="1" i="1">
                              <a:solidFill>
                                <a:srgbClr val="FFFF00"/>
                              </a:solidFill>
                              <a:latin typeface="Cambria Math" panose="02040503050406030204" pitchFamily="18" charset="0"/>
                            </a:rPr>
                            <m:t>𝒎</m:t>
                          </m:r>
                        </m:e>
                        <m:sup>
                          <m:r>
                            <a:rPr lang="ar-AE" sz="2400" b="1" i="1">
                              <a:solidFill>
                                <a:srgbClr val="FFFF00"/>
                              </a:solidFill>
                              <a:latin typeface="Cambria Math" panose="02040503050406030204" pitchFamily="18" charset="0"/>
                            </a:rPr>
                            <m:t>𝟐</m:t>
                          </m:r>
                        </m:sup>
                      </m:sSup>
                      <m:r>
                        <a:rPr lang="ar-AE" sz="2400" b="1">
                          <a:solidFill>
                            <a:srgbClr val="FFFF00"/>
                          </a:solidFill>
                          <a:latin typeface="Cambria Math" panose="02040503050406030204" pitchFamily="18" charset="0"/>
                        </a:rPr>
                        <m:t>/</m:t>
                      </m:r>
                      <m:sSup>
                        <m:sSupPr>
                          <m:ctrlPr>
                            <a:rPr lang="ar-AE" sz="2400" b="1" i="1">
                              <a:solidFill>
                                <a:srgbClr val="FFFF00"/>
                              </a:solidFill>
                              <a:latin typeface="Cambria Math" panose="02040503050406030204" pitchFamily="18" charset="0"/>
                            </a:rPr>
                          </m:ctrlPr>
                        </m:sSupPr>
                        <m:e>
                          <m:r>
                            <a:rPr lang="ar-AE" sz="2400" b="1" i="1">
                              <a:solidFill>
                                <a:srgbClr val="FFFF00"/>
                              </a:solidFill>
                              <a:latin typeface="Cambria Math" panose="02040503050406030204" pitchFamily="18" charset="0"/>
                            </a:rPr>
                            <m:t>𝑪</m:t>
                          </m:r>
                        </m:e>
                        <m:sup>
                          <m:r>
                            <a:rPr lang="ar-AE" sz="2400" b="1" i="1">
                              <a:solidFill>
                                <a:srgbClr val="FFFF00"/>
                              </a:solidFill>
                              <a:latin typeface="Cambria Math" panose="02040503050406030204" pitchFamily="18" charset="0"/>
                            </a:rPr>
                            <m:t>𝟐</m:t>
                          </m:r>
                        </m:sup>
                      </m:sSup>
                    </m:oMath>
                  </m:oMathPara>
                </a14:m>
                <a:endParaRPr lang="ar-AE" sz="2000" b="1" dirty="0">
                  <a:latin typeface="Century Schoolbook" panose="02040604050505020304" pitchFamily="18" charset="0"/>
                </a:endParaRPr>
              </a:p>
              <a:p>
                <a:pPr algn="l"/>
                <a:r>
                  <a:rPr lang="en-IN" sz="2800" b="1" u="sng" dirty="0">
                    <a:latin typeface="Century Schoolbook" panose="02040604050505020304" pitchFamily="18" charset="0"/>
                  </a:rPr>
                  <a:t>Solution</a:t>
                </a:r>
                <a:r>
                  <a:rPr lang="en-IN" sz="2800" b="1" dirty="0">
                    <a:latin typeface="Century Schoolbook" panose="02040604050505020304" pitchFamily="18" charset="0"/>
                  </a:rPr>
                  <a:t> :</a:t>
                </a:r>
              </a:p>
              <a:p>
                <a:pPr algn="l"/>
                <a14:m>
                  <m:oMathPara xmlns:m="http://schemas.openxmlformats.org/officeDocument/2006/math">
                    <m:oMathParaPr>
                      <m:jc m:val="centerGroup"/>
                    </m:oMathParaPr>
                    <m:oMath xmlns:m="http://schemas.openxmlformats.org/officeDocument/2006/math">
                      <m:r>
                        <a:rPr lang="en-IN" sz="2000" b="1" i="1" smtClean="0">
                          <a:solidFill>
                            <a:srgbClr val="FFFF00"/>
                          </a:solidFill>
                          <a:latin typeface="Cambria Math" panose="02040503050406030204" pitchFamily="18" charset="0"/>
                        </a:rPr>
                        <m:t>𝑽</m:t>
                      </m:r>
                      <m:r>
                        <a:rPr lang="en-IN" sz="2000" b="1" smtClean="0">
                          <a:solidFill>
                            <a:srgbClr val="FFFF00"/>
                          </a:solidFill>
                          <a:latin typeface="Cambria Math" panose="02040503050406030204" pitchFamily="18" charset="0"/>
                        </a:rPr>
                        <m:t>=</m:t>
                      </m:r>
                      <m:r>
                        <a:rPr lang="en-IN" sz="2000" b="1" i="1">
                          <a:solidFill>
                            <a:srgbClr val="FFFF00"/>
                          </a:solidFill>
                          <a:latin typeface="Cambria Math" panose="02040503050406030204" pitchFamily="18" charset="0"/>
                        </a:rPr>
                        <m:t>𝒌</m:t>
                      </m:r>
                      <m:f>
                        <m:fPr>
                          <m:ctrlPr>
                            <a:rPr lang="ar-AE" sz="2000" b="1" i="1">
                              <a:solidFill>
                                <a:srgbClr val="FFFF00"/>
                              </a:solidFill>
                              <a:latin typeface="Cambria Math" panose="02040503050406030204" pitchFamily="18" charset="0"/>
                            </a:rPr>
                          </m:ctrlPr>
                        </m:fPr>
                        <m:num>
                          <m:r>
                            <a:rPr lang="ar-AE" sz="2000" b="1" i="1">
                              <a:solidFill>
                                <a:srgbClr val="FFFF00"/>
                              </a:solidFill>
                              <a:latin typeface="Cambria Math" panose="02040503050406030204" pitchFamily="18" charset="0"/>
                            </a:rPr>
                            <m:t>𝑸</m:t>
                          </m:r>
                        </m:num>
                        <m:den>
                          <m:r>
                            <a:rPr lang="ar-AE" sz="2000" b="1" i="1">
                              <a:solidFill>
                                <a:srgbClr val="FFFF00"/>
                              </a:solidFill>
                              <a:latin typeface="Cambria Math" panose="02040503050406030204" pitchFamily="18" charset="0"/>
                            </a:rPr>
                            <m:t>𝒓</m:t>
                          </m:r>
                        </m:den>
                      </m:f>
                    </m:oMath>
                  </m:oMathPara>
                </a14:m>
                <a:endParaRPr lang="ar-AE" sz="2000" b="1" dirty="0">
                  <a:solidFill>
                    <a:srgbClr val="FFFF00"/>
                  </a:solidFill>
                  <a:latin typeface="Century Schoolbook" panose="02040604050505020304" pitchFamily="18" charset="0"/>
                </a:endParaRPr>
              </a:p>
              <a:p>
                <a:pPr algn="l"/>
                <a14:m>
                  <m:oMathPara xmlns:m="http://schemas.openxmlformats.org/officeDocument/2006/math">
                    <m:oMathParaPr>
                      <m:jc m:val="centerGroup"/>
                    </m:oMathParaPr>
                    <m:oMath xmlns:m="http://schemas.openxmlformats.org/officeDocument/2006/math">
                      <m:r>
                        <a:rPr lang="ar-AE" sz="2000" b="1" i="1">
                          <a:solidFill>
                            <a:srgbClr val="FFFF00"/>
                          </a:solidFill>
                          <a:latin typeface="Cambria Math" panose="02040503050406030204" pitchFamily="18" charset="0"/>
                        </a:rPr>
                        <m:t>𝑽</m:t>
                      </m:r>
                      <m:r>
                        <a:rPr lang="ar-AE" sz="2000" b="1">
                          <a:solidFill>
                            <a:srgbClr val="FFFF00"/>
                          </a:solidFill>
                          <a:latin typeface="Cambria Math" panose="02040503050406030204" pitchFamily="18" charset="0"/>
                        </a:rPr>
                        <m:t>=</m:t>
                      </m:r>
                      <m:r>
                        <a:rPr lang="ar-AE" sz="2000" b="1" i="1">
                          <a:solidFill>
                            <a:srgbClr val="FFFF00"/>
                          </a:solidFill>
                          <a:latin typeface="Cambria Math" panose="02040503050406030204" pitchFamily="18" charset="0"/>
                        </a:rPr>
                        <m:t>𝟗</m:t>
                      </m:r>
                      <m:r>
                        <a:rPr lang="ar-AE" sz="2000" b="1">
                          <a:solidFill>
                            <a:srgbClr val="FFFF00"/>
                          </a:solidFill>
                          <a:latin typeface="Cambria Math" panose="02040503050406030204" pitchFamily="18" charset="0"/>
                        </a:rPr>
                        <m:t>×</m:t>
                      </m:r>
                      <m:sSup>
                        <m:sSupPr>
                          <m:ctrlPr>
                            <a:rPr lang="ar-AE" sz="2000" b="1" i="1">
                              <a:solidFill>
                                <a:srgbClr val="FFFF00"/>
                              </a:solidFill>
                              <a:latin typeface="Cambria Math" panose="02040503050406030204" pitchFamily="18" charset="0"/>
                            </a:rPr>
                          </m:ctrlPr>
                        </m:sSupPr>
                        <m:e>
                          <m:r>
                            <a:rPr lang="ar-AE" sz="2000" b="1" i="1">
                              <a:solidFill>
                                <a:srgbClr val="FFFF00"/>
                              </a:solidFill>
                              <a:latin typeface="Cambria Math" panose="02040503050406030204" pitchFamily="18" charset="0"/>
                            </a:rPr>
                            <m:t>𝟏𝟎</m:t>
                          </m:r>
                        </m:e>
                        <m:sup>
                          <m:r>
                            <a:rPr lang="ar-AE" sz="2000" b="1" i="1">
                              <a:solidFill>
                                <a:srgbClr val="FFFF00"/>
                              </a:solidFill>
                              <a:latin typeface="Cambria Math" panose="02040503050406030204" pitchFamily="18" charset="0"/>
                            </a:rPr>
                            <m:t>𝟗</m:t>
                          </m:r>
                        </m:sup>
                      </m:sSup>
                      <m:r>
                        <a:rPr lang="ar-AE" sz="2000" b="1">
                          <a:solidFill>
                            <a:srgbClr val="FFFF00"/>
                          </a:solidFill>
                          <a:latin typeface="Cambria Math" panose="02040503050406030204" pitchFamily="18" charset="0"/>
                        </a:rPr>
                        <m:t>×</m:t>
                      </m:r>
                      <m:f>
                        <m:fPr>
                          <m:ctrlPr>
                            <a:rPr lang="ar-AE" sz="2000" b="1" i="1">
                              <a:solidFill>
                                <a:srgbClr val="FFFF00"/>
                              </a:solidFill>
                              <a:latin typeface="Cambria Math" panose="02040503050406030204" pitchFamily="18" charset="0"/>
                            </a:rPr>
                          </m:ctrlPr>
                        </m:fPr>
                        <m:num>
                          <m:r>
                            <a:rPr lang="ar-AE" sz="2000" b="1" i="1">
                              <a:solidFill>
                                <a:srgbClr val="FFFF00"/>
                              </a:solidFill>
                              <a:latin typeface="Cambria Math" panose="02040503050406030204" pitchFamily="18" charset="0"/>
                            </a:rPr>
                            <m:t>𝟒</m:t>
                          </m:r>
                          <m:r>
                            <a:rPr lang="ar-AE" sz="2000" b="1">
                              <a:solidFill>
                                <a:srgbClr val="FFFF00"/>
                              </a:solidFill>
                              <a:latin typeface="Cambria Math" panose="02040503050406030204" pitchFamily="18" charset="0"/>
                            </a:rPr>
                            <m:t>×</m:t>
                          </m:r>
                          <m:sSup>
                            <m:sSupPr>
                              <m:ctrlPr>
                                <a:rPr lang="ar-AE" sz="2000" b="1" i="1">
                                  <a:solidFill>
                                    <a:srgbClr val="FFFF00"/>
                                  </a:solidFill>
                                  <a:latin typeface="Cambria Math" panose="02040503050406030204" pitchFamily="18" charset="0"/>
                                </a:rPr>
                              </m:ctrlPr>
                            </m:sSupPr>
                            <m:e>
                              <m:r>
                                <a:rPr lang="ar-AE" sz="2000" b="1" i="1">
                                  <a:solidFill>
                                    <a:srgbClr val="FFFF00"/>
                                  </a:solidFill>
                                  <a:latin typeface="Cambria Math" panose="02040503050406030204" pitchFamily="18" charset="0"/>
                                </a:rPr>
                                <m:t>𝟏𝟎</m:t>
                              </m:r>
                            </m:e>
                            <m:sup>
                              <m:r>
                                <a:rPr lang="ar-AE" sz="2000" b="1">
                                  <a:solidFill>
                                    <a:srgbClr val="FFFF00"/>
                                  </a:solidFill>
                                  <a:latin typeface="Cambria Math" panose="02040503050406030204" pitchFamily="18" charset="0"/>
                                </a:rPr>
                                <m:t>−</m:t>
                              </m:r>
                              <m:r>
                                <a:rPr lang="ar-AE" sz="2000" b="1" i="1">
                                  <a:solidFill>
                                    <a:srgbClr val="FFFF00"/>
                                  </a:solidFill>
                                  <a:latin typeface="Cambria Math" panose="02040503050406030204" pitchFamily="18" charset="0"/>
                                </a:rPr>
                                <m:t>𝟔</m:t>
                              </m:r>
                            </m:sup>
                          </m:sSup>
                        </m:num>
                        <m:den>
                          <m:r>
                            <a:rPr lang="ar-AE" sz="2000" b="1" i="1">
                              <a:solidFill>
                                <a:srgbClr val="FFFF00"/>
                              </a:solidFill>
                              <a:latin typeface="Cambria Math" panose="02040503050406030204" pitchFamily="18" charset="0"/>
                            </a:rPr>
                            <m:t>𝟎</m:t>
                          </m:r>
                          <m:r>
                            <a:rPr lang="ar-AE" sz="2000" b="1">
                              <a:solidFill>
                                <a:srgbClr val="FFFF00"/>
                              </a:solidFill>
                              <a:latin typeface="Cambria Math" panose="02040503050406030204" pitchFamily="18" charset="0"/>
                            </a:rPr>
                            <m:t>.</m:t>
                          </m:r>
                          <m:r>
                            <a:rPr lang="ar-AE" sz="2000" b="1" i="1">
                              <a:solidFill>
                                <a:srgbClr val="FFFF00"/>
                              </a:solidFill>
                              <a:latin typeface="Cambria Math" panose="02040503050406030204" pitchFamily="18" charset="0"/>
                            </a:rPr>
                            <m:t>𝟑</m:t>
                          </m:r>
                        </m:den>
                      </m:f>
                    </m:oMath>
                  </m:oMathPara>
                </a14:m>
                <a:endParaRPr lang="ar-AE" sz="2000" b="1" dirty="0">
                  <a:solidFill>
                    <a:srgbClr val="FFFF00"/>
                  </a:solidFill>
                  <a:latin typeface="Century Schoolbook" panose="02040604050505020304" pitchFamily="18" charset="0"/>
                </a:endParaRPr>
              </a:p>
              <a:p>
                <a:pPr algn="l"/>
                <a14:m>
                  <m:oMathPara xmlns:m="http://schemas.openxmlformats.org/officeDocument/2006/math">
                    <m:oMathParaPr>
                      <m:jc m:val="centerGroup"/>
                    </m:oMathParaPr>
                    <m:oMath xmlns:m="http://schemas.openxmlformats.org/officeDocument/2006/math">
                      <m:r>
                        <a:rPr lang="ar-AE" sz="2000" b="1" i="1">
                          <a:solidFill>
                            <a:srgbClr val="FFFF00"/>
                          </a:solidFill>
                          <a:latin typeface="Cambria Math" panose="02040503050406030204" pitchFamily="18" charset="0"/>
                        </a:rPr>
                        <m:t>𝑽</m:t>
                      </m:r>
                      <m:r>
                        <a:rPr lang="ar-AE" sz="2000" b="1">
                          <a:solidFill>
                            <a:srgbClr val="FFFF00"/>
                          </a:solidFill>
                          <a:latin typeface="Cambria Math" panose="02040503050406030204" pitchFamily="18" charset="0"/>
                        </a:rPr>
                        <m:t>=</m:t>
                      </m:r>
                      <m:f>
                        <m:fPr>
                          <m:ctrlPr>
                            <a:rPr lang="ar-AE" sz="2000" b="1" i="1">
                              <a:solidFill>
                                <a:srgbClr val="FFFF00"/>
                              </a:solidFill>
                              <a:latin typeface="Cambria Math" panose="02040503050406030204" pitchFamily="18" charset="0"/>
                            </a:rPr>
                          </m:ctrlPr>
                        </m:fPr>
                        <m:num>
                          <m:r>
                            <a:rPr lang="ar-AE" sz="2000" b="1" i="1">
                              <a:solidFill>
                                <a:srgbClr val="FFFF00"/>
                              </a:solidFill>
                              <a:latin typeface="Cambria Math" panose="02040503050406030204" pitchFamily="18" charset="0"/>
                            </a:rPr>
                            <m:t>𝟑𝟔</m:t>
                          </m:r>
                          <m:r>
                            <a:rPr lang="ar-AE" sz="2000" b="1">
                              <a:solidFill>
                                <a:srgbClr val="FFFF00"/>
                              </a:solidFill>
                              <a:latin typeface="Cambria Math" panose="02040503050406030204" pitchFamily="18" charset="0"/>
                            </a:rPr>
                            <m:t>×</m:t>
                          </m:r>
                          <m:sSup>
                            <m:sSupPr>
                              <m:ctrlPr>
                                <a:rPr lang="ar-AE" sz="2000" b="1" i="1">
                                  <a:solidFill>
                                    <a:srgbClr val="FFFF00"/>
                                  </a:solidFill>
                                  <a:latin typeface="Cambria Math" panose="02040503050406030204" pitchFamily="18" charset="0"/>
                                </a:rPr>
                              </m:ctrlPr>
                            </m:sSupPr>
                            <m:e>
                              <m:r>
                                <a:rPr lang="ar-AE" sz="2000" b="1" i="1">
                                  <a:solidFill>
                                    <a:srgbClr val="FFFF00"/>
                                  </a:solidFill>
                                  <a:latin typeface="Cambria Math" panose="02040503050406030204" pitchFamily="18" charset="0"/>
                                </a:rPr>
                                <m:t>𝟏𝟎</m:t>
                              </m:r>
                            </m:e>
                            <m:sup>
                              <m:r>
                                <a:rPr lang="ar-AE" sz="2000" b="1" i="1">
                                  <a:solidFill>
                                    <a:srgbClr val="FFFF00"/>
                                  </a:solidFill>
                                  <a:latin typeface="Cambria Math" panose="02040503050406030204" pitchFamily="18" charset="0"/>
                                </a:rPr>
                                <m:t>𝟑</m:t>
                              </m:r>
                            </m:sup>
                          </m:sSup>
                        </m:num>
                        <m:den>
                          <m:r>
                            <a:rPr lang="ar-AE" sz="2000" b="1" i="1">
                              <a:solidFill>
                                <a:srgbClr val="FFFF00"/>
                              </a:solidFill>
                              <a:latin typeface="Cambria Math" panose="02040503050406030204" pitchFamily="18" charset="0"/>
                            </a:rPr>
                            <m:t>𝟎</m:t>
                          </m:r>
                          <m:r>
                            <a:rPr lang="ar-AE" sz="2000" b="1">
                              <a:solidFill>
                                <a:srgbClr val="FFFF00"/>
                              </a:solidFill>
                              <a:latin typeface="Cambria Math" panose="02040503050406030204" pitchFamily="18" charset="0"/>
                            </a:rPr>
                            <m:t>.</m:t>
                          </m:r>
                          <m:r>
                            <a:rPr lang="ar-AE" sz="2000" b="1" i="1">
                              <a:solidFill>
                                <a:srgbClr val="FFFF00"/>
                              </a:solidFill>
                              <a:latin typeface="Cambria Math" panose="02040503050406030204" pitchFamily="18" charset="0"/>
                            </a:rPr>
                            <m:t>𝟑</m:t>
                          </m:r>
                        </m:den>
                      </m:f>
                      <m:r>
                        <a:rPr lang="ar-AE" sz="2000" b="1">
                          <a:solidFill>
                            <a:srgbClr val="FFFF00"/>
                          </a:solidFill>
                          <a:latin typeface="Cambria Math" panose="02040503050406030204" pitchFamily="18" charset="0"/>
                        </a:rPr>
                        <m:t>=</m:t>
                      </m:r>
                      <m:r>
                        <a:rPr lang="ar-AE" sz="2000" b="1" i="1">
                          <a:solidFill>
                            <a:srgbClr val="FFFF00"/>
                          </a:solidFill>
                          <a:latin typeface="Cambria Math" panose="02040503050406030204" pitchFamily="18" charset="0"/>
                        </a:rPr>
                        <m:t>𝟏</m:t>
                      </m:r>
                      <m:r>
                        <a:rPr lang="ar-AE" sz="2000" b="1">
                          <a:solidFill>
                            <a:srgbClr val="FFFF00"/>
                          </a:solidFill>
                          <a:latin typeface="Cambria Math" panose="02040503050406030204" pitchFamily="18" charset="0"/>
                        </a:rPr>
                        <m:t>.</m:t>
                      </m:r>
                      <m:r>
                        <a:rPr lang="ar-AE" sz="2000" b="1" i="1">
                          <a:solidFill>
                            <a:srgbClr val="FFFF00"/>
                          </a:solidFill>
                          <a:latin typeface="Cambria Math" panose="02040503050406030204" pitchFamily="18" charset="0"/>
                        </a:rPr>
                        <m:t>𝟐</m:t>
                      </m:r>
                      <m:r>
                        <a:rPr lang="ar-AE" sz="2000" b="1">
                          <a:solidFill>
                            <a:srgbClr val="FFFF00"/>
                          </a:solidFill>
                          <a:latin typeface="Cambria Math" panose="02040503050406030204" pitchFamily="18" charset="0"/>
                        </a:rPr>
                        <m:t>×</m:t>
                      </m:r>
                      <m:sSup>
                        <m:sSupPr>
                          <m:ctrlPr>
                            <a:rPr lang="ar-AE" sz="2000" b="1" i="1">
                              <a:solidFill>
                                <a:srgbClr val="FFFF00"/>
                              </a:solidFill>
                              <a:latin typeface="Cambria Math" panose="02040503050406030204" pitchFamily="18" charset="0"/>
                            </a:rPr>
                          </m:ctrlPr>
                        </m:sSupPr>
                        <m:e>
                          <m:r>
                            <a:rPr lang="ar-AE" sz="2000" b="1" i="1">
                              <a:solidFill>
                                <a:srgbClr val="FFFF00"/>
                              </a:solidFill>
                              <a:latin typeface="Cambria Math" panose="02040503050406030204" pitchFamily="18" charset="0"/>
                            </a:rPr>
                            <m:t>𝟏𝟎</m:t>
                          </m:r>
                        </m:e>
                        <m:sup>
                          <m:r>
                            <a:rPr lang="ar-AE" sz="2000" b="1" i="1">
                              <a:solidFill>
                                <a:srgbClr val="FFFF00"/>
                              </a:solidFill>
                              <a:latin typeface="Cambria Math" panose="02040503050406030204" pitchFamily="18" charset="0"/>
                            </a:rPr>
                            <m:t>𝟓</m:t>
                          </m:r>
                        </m:sup>
                      </m:sSup>
                      <m:r>
                        <m:rPr>
                          <m:nor/>
                        </m:rPr>
                        <a:rPr lang="ar-AE" sz="2000" b="1" i="1">
                          <a:solidFill>
                            <a:srgbClr val="FFFF00"/>
                          </a:solidFill>
                          <a:latin typeface="Century Schoolbook" panose="02040604050505020304" pitchFamily="18" charset="0"/>
                        </a:rPr>
                        <m:t> </m:t>
                      </m:r>
                      <m:r>
                        <m:rPr>
                          <m:nor/>
                        </m:rPr>
                        <a:rPr lang="en-IN" sz="2000" b="1" i="1">
                          <a:solidFill>
                            <a:srgbClr val="FFFF00"/>
                          </a:solidFill>
                          <a:latin typeface="Century Schoolbook" panose="02040604050505020304" pitchFamily="18" charset="0"/>
                        </a:rPr>
                        <m:t>Volt</m:t>
                      </m:r>
                    </m:oMath>
                  </m:oMathPara>
                </a14:m>
                <a:endParaRPr lang="en-IN" sz="2000" b="1" dirty="0">
                  <a:solidFill>
                    <a:srgbClr val="FFFF00"/>
                  </a:solidFill>
                  <a:latin typeface="Century Schoolbook" panose="02040604050505020304" pitchFamily="18" charset="0"/>
                </a:endParaRPr>
              </a:p>
              <a:p>
                <a:pPr marL="342900" indent="-342900" algn="l">
                  <a:buFont typeface="Wingdings" panose="05000000000000000000" pitchFamily="2" charset="2"/>
                  <a:buChar char="ü"/>
                </a:pPr>
                <a:r>
                  <a:rPr lang="en-IN" sz="2800" b="1" u="sng" dirty="0">
                    <a:latin typeface="Century Schoolbook" panose="02040604050505020304" pitchFamily="18" charset="0"/>
                  </a:rPr>
                  <a:t>Answer</a:t>
                </a:r>
                <a:r>
                  <a:rPr lang="en-IN" sz="2800" b="1" dirty="0">
                    <a:latin typeface="Century Schoolbook" panose="02040604050505020304" pitchFamily="18" charset="0"/>
                  </a:rPr>
                  <a:t> :</a:t>
                </a:r>
              </a:p>
              <a:p>
                <a:pPr algn="l"/>
                <a14:m>
                  <m:oMathPara xmlns:m="http://schemas.openxmlformats.org/officeDocument/2006/math">
                    <m:oMathParaPr>
                      <m:jc m:val="centerGroup"/>
                    </m:oMathParaPr>
                    <m:oMath xmlns:m="http://schemas.openxmlformats.org/officeDocument/2006/math">
                      <m:borderBox>
                        <m:borderBoxPr>
                          <m:ctrlPr>
                            <a:rPr lang="ar-AE" sz="2800" b="1" i="1" smtClean="0">
                              <a:solidFill>
                                <a:srgbClr val="FFFF00"/>
                              </a:solidFill>
                              <a:latin typeface="Cambria Math" panose="02040503050406030204" pitchFamily="18" charset="0"/>
                            </a:rPr>
                          </m:ctrlPr>
                        </m:borderBoxPr>
                        <m:e>
                          <m:r>
                            <a:rPr lang="ar-AE" sz="2800" b="1" i="1">
                              <a:solidFill>
                                <a:srgbClr val="FFFF00"/>
                              </a:solidFill>
                              <a:latin typeface="Cambria Math" panose="02040503050406030204" pitchFamily="18" charset="0"/>
                            </a:rPr>
                            <m:t>𝑽</m:t>
                          </m:r>
                          <m:r>
                            <a:rPr lang="ar-AE" sz="2800" b="1">
                              <a:solidFill>
                                <a:srgbClr val="FFFF00"/>
                              </a:solidFill>
                              <a:latin typeface="Cambria Math" panose="02040503050406030204" pitchFamily="18" charset="0"/>
                            </a:rPr>
                            <m:t>=</m:t>
                          </m:r>
                          <m:r>
                            <a:rPr lang="ar-AE" sz="2800" b="1" i="1">
                              <a:solidFill>
                                <a:srgbClr val="FFFF00"/>
                              </a:solidFill>
                              <a:latin typeface="Cambria Math" panose="02040503050406030204" pitchFamily="18" charset="0"/>
                            </a:rPr>
                            <m:t>𝟏</m:t>
                          </m:r>
                          <m:r>
                            <a:rPr lang="ar-AE" sz="2800" b="1">
                              <a:solidFill>
                                <a:srgbClr val="FFFF00"/>
                              </a:solidFill>
                              <a:latin typeface="Cambria Math" panose="02040503050406030204" pitchFamily="18" charset="0"/>
                            </a:rPr>
                            <m:t>.</m:t>
                          </m:r>
                          <m:r>
                            <a:rPr lang="ar-AE" sz="2800" b="1" i="1">
                              <a:solidFill>
                                <a:srgbClr val="FFFF00"/>
                              </a:solidFill>
                              <a:latin typeface="Cambria Math" panose="02040503050406030204" pitchFamily="18" charset="0"/>
                            </a:rPr>
                            <m:t>𝟐</m:t>
                          </m:r>
                          <m:r>
                            <a:rPr lang="ar-AE" sz="2800" b="1">
                              <a:solidFill>
                                <a:srgbClr val="FFFF00"/>
                              </a:solidFill>
                              <a:latin typeface="Cambria Math" panose="02040503050406030204" pitchFamily="18" charset="0"/>
                            </a:rPr>
                            <m:t>×</m:t>
                          </m:r>
                          <m:sSup>
                            <m:sSupPr>
                              <m:ctrlPr>
                                <a:rPr lang="ar-AE" sz="2800" b="1" i="1">
                                  <a:solidFill>
                                    <a:srgbClr val="FFFF00"/>
                                  </a:solidFill>
                                  <a:latin typeface="Cambria Math" panose="02040503050406030204" pitchFamily="18" charset="0"/>
                                </a:rPr>
                              </m:ctrlPr>
                            </m:sSupPr>
                            <m:e>
                              <m:r>
                                <a:rPr lang="ar-AE" sz="2800" b="1" i="1">
                                  <a:solidFill>
                                    <a:srgbClr val="FFFF00"/>
                                  </a:solidFill>
                                  <a:latin typeface="Cambria Math" panose="02040503050406030204" pitchFamily="18" charset="0"/>
                                </a:rPr>
                                <m:t>𝟏𝟎</m:t>
                              </m:r>
                            </m:e>
                            <m:sup>
                              <m:r>
                                <a:rPr lang="ar-AE" sz="2800" b="1" i="1">
                                  <a:solidFill>
                                    <a:srgbClr val="FFFF00"/>
                                  </a:solidFill>
                                  <a:latin typeface="Cambria Math" panose="02040503050406030204" pitchFamily="18" charset="0"/>
                                </a:rPr>
                                <m:t>𝟓</m:t>
                              </m:r>
                            </m:sup>
                          </m:sSup>
                          <m:r>
                            <m:rPr>
                              <m:nor/>
                            </m:rPr>
                            <a:rPr lang="ar-AE" sz="2800" b="1" i="1">
                              <a:solidFill>
                                <a:srgbClr val="FFFF00"/>
                              </a:solidFill>
                              <a:latin typeface="Century Schoolbook" panose="02040604050505020304" pitchFamily="18" charset="0"/>
                            </a:rPr>
                            <m:t> </m:t>
                          </m:r>
                          <m:r>
                            <m:rPr>
                              <m:nor/>
                            </m:rPr>
                            <a:rPr lang="en-IN" sz="2800" b="1" i="1">
                              <a:solidFill>
                                <a:srgbClr val="FFFF00"/>
                              </a:solidFill>
                              <a:latin typeface="Century Schoolbook" panose="02040604050505020304" pitchFamily="18" charset="0"/>
                            </a:rPr>
                            <m:t>V</m:t>
                          </m:r>
                        </m:e>
                      </m:borderBox>
                    </m:oMath>
                  </m:oMathPara>
                </a14:m>
                <a:endParaRPr lang="ar-AE" sz="2000" b="1" dirty="0">
                  <a:latin typeface="Century Schoolbook" panose="02040604050505020304" pitchFamily="18" charset="0"/>
                </a:endParaRPr>
              </a:p>
              <a:p>
                <a:pPr algn="l"/>
                <a:endParaRPr lang="en-IN" sz="2000" b="1" dirty="0">
                  <a:latin typeface="Century Schoolbook" panose="02040604050505020304" pitchFamily="18" charset="0"/>
                </a:endParaRPr>
              </a:p>
            </p:txBody>
          </p:sp>
        </mc:Choice>
        <mc:Fallback xmlns="">
          <p:sp>
            <p:nvSpPr>
              <p:cNvPr id="3" name="Text Placeholder 2">
                <a:extLst>
                  <a:ext uri="{FF2B5EF4-FFF2-40B4-BE49-F238E27FC236}">
                    <a16:creationId xmlns:a16="http://schemas.microsoft.com/office/drawing/2014/main" id="{3498009B-DC46-E701-F525-71E7BE335076}"/>
                  </a:ext>
                </a:extLst>
              </p:cNvPr>
              <p:cNvSpPr>
                <a:spLocks noGrp="1" noRot="1" noChangeAspect="1" noMove="1" noResize="1" noEditPoints="1" noAdjustHandles="1" noChangeArrowheads="1" noChangeShapeType="1" noTextEdit="1"/>
              </p:cNvSpPr>
              <p:nvPr>
                <p:ph type="body" sz="half" idx="2"/>
              </p:nvPr>
            </p:nvSpPr>
            <p:spPr>
              <a:xfrm>
                <a:off x="127213" y="694703"/>
                <a:ext cx="11750154" cy="5676599"/>
              </a:xfrm>
              <a:blipFill>
                <a:blip r:embed="rId2"/>
                <a:stretch>
                  <a:fillRect l="-1194" r="-52"/>
                </a:stretch>
              </a:blipFill>
            </p:spPr>
            <p:txBody>
              <a:bodyPr/>
              <a:lstStyle/>
              <a:p>
                <a:r>
                  <a:rPr lang="en-IN">
                    <a:noFill/>
                  </a:rPr>
                  <a:t> </a:t>
                </a:r>
              </a:p>
            </p:txBody>
          </p:sp>
        </mc:Fallback>
      </mc:AlternateContent>
    </p:spTree>
    <p:extLst>
      <p:ext uri="{BB962C8B-B14F-4D97-AF65-F5344CB8AC3E}">
        <p14:creationId xmlns:p14="http://schemas.microsoft.com/office/powerpoint/2010/main" val="2129536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742332"/>
      </a:dk2>
      <a:lt2>
        <a:srgbClr val="EE91A0"/>
      </a:lt2>
      <a:accent1>
        <a:srgbClr val="E03754"/>
      </a:accent1>
      <a:accent2>
        <a:srgbClr val="E86C2E"/>
      </a:accent2>
      <a:accent3>
        <a:srgbClr val="DAB250"/>
      </a:accent3>
      <a:accent4>
        <a:srgbClr val="60C4AA"/>
      </a:accent4>
      <a:accent5>
        <a:srgbClr val="51A9DB"/>
      </a:accent5>
      <a:accent6>
        <a:srgbClr val="976AC9"/>
      </a:accent6>
      <a:hlink>
        <a:srgbClr val="D5445E"/>
      </a:hlink>
      <a:folHlink>
        <a:srgbClr val="E17C8E"/>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6B2E858E-683F-40D9-B4CB-284D097F3AC0}"/>
    </a:ext>
  </a:extLst>
</a:theme>
</file>

<file path=docProps/app.xml><?xml version="1.0" encoding="utf-8"?>
<Properties xmlns="http://schemas.openxmlformats.org/officeDocument/2006/extended-properties" xmlns:vt="http://schemas.openxmlformats.org/officeDocument/2006/docPropsVTypes">
  <Template>Damask</Template>
  <TotalTime>160</TotalTime>
  <Words>1725</Words>
  <Application>Microsoft Office PowerPoint</Application>
  <PresentationFormat>Widescreen</PresentationFormat>
  <Paragraphs>143</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Algerian</vt:lpstr>
      <vt:lpstr>Arial</vt:lpstr>
      <vt:lpstr>Bookman Old Style</vt:lpstr>
      <vt:lpstr>Cambria Math</vt:lpstr>
      <vt:lpstr>Century Schoolbook</vt:lpstr>
      <vt:lpstr>Rockwell</vt:lpstr>
      <vt:lpstr>Wingdings</vt:lpstr>
      <vt:lpstr>Damask</vt:lpstr>
      <vt:lpstr>03. Electrostatics </vt:lpstr>
      <vt:lpstr>Introduction of electrostatic : - </vt:lpstr>
      <vt:lpstr>3.1] definition of electric charge : -</vt:lpstr>
      <vt:lpstr>3.2] Coulomb’s law : -</vt:lpstr>
      <vt:lpstr>3.3] Definition of electric field : -</vt:lpstr>
      <vt:lpstr>Electric field intensity (e) : -</vt:lpstr>
      <vt:lpstr>Derivation of electric field intensity due to a point charge : -</vt:lpstr>
      <vt:lpstr>3.4] Electric lines of force : -</vt:lpstr>
      <vt:lpstr>Properties of electric lines of force : -</vt:lpstr>
      <vt:lpstr>3.5] Electric flux : -</vt:lpstr>
      <vt:lpstr>Electric flux density (d) : -</vt:lpstr>
      <vt:lpstr>3.6] electric potential (v) : -</vt:lpstr>
      <vt:lpstr>Derivation of electric potential due to a point charge : -</vt:lpstr>
      <vt:lpstr>PowerPoint Presentation</vt:lpstr>
      <vt:lpstr>3.8] Absolute electric potential : -</vt:lpstr>
      <vt:lpstr>PowerPoint Presentation</vt:lpstr>
      <vt:lpstr>Numerical example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Darpan Shedge</dc:creator>
  <cp:lastModifiedBy>Darpan Shedge</cp:lastModifiedBy>
  <cp:revision>2</cp:revision>
  <dcterms:created xsi:type="dcterms:W3CDTF">2025-11-01T15:38:37Z</dcterms:created>
  <dcterms:modified xsi:type="dcterms:W3CDTF">2025-11-03T05:56:16Z</dcterms:modified>
</cp:coreProperties>
</file>