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8223-3BC4-AB66-6D7D-2E964C2B5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826" y="1622322"/>
            <a:ext cx="10530348" cy="3019047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rgbClr val="FFFF00"/>
                </a:solidFill>
                <a:latin typeface="Algerian" panose="04020705040A02060702" pitchFamily="82" charset="0"/>
              </a:rPr>
              <a:t>06. Structure &amp; union &amp; files </a:t>
            </a:r>
            <a:endParaRPr lang="en-IN" sz="8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E07B7-7F55-7B35-9D5C-14D8AF3E0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7831" y="6666271"/>
            <a:ext cx="7197726" cy="191729"/>
          </a:xfrm>
        </p:spPr>
        <p:txBody>
          <a:bodyPr>
            <a:normAutofit fontScale="40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8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CA8E-3005-6E6F-3349-E0FBB481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-111759"/>
            <a:ext cx="11714480" cy="94488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6.1]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basic concept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0B6D5-8F4C-09FF-0C27-51A7B444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120" y="833121"/>
            <a:ext cx="11714480" cy="612648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STRUCTURE IN C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structure is a user-defined data type in C that allows grouping of variables of different data types under one name.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helps to represent a record - for example, a student’s record containing name, roll number, and marks.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struct </a:t>
            </a:r>
            <a:r>
              <a:rPr lang="en-US" sz="2400" b="1" dirty="0" err="1">
                <a:latin typeface="Century Schoolbook" panose="02040604050505020304" pitchFamily="18" charset="0"/>
              </a:rPr>
              <a:t>structure_name</a:t>
            </a:r>
            <a:r>
              <a:rPr lang="en-US" sz="2400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...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38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A8AF-17E7-847B-3602-06D289EC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8319"/>
            <a:ext cx="12192000" cy="5283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BCFEF-F32B-FB7C-BEFC-241E13B33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1"/>
            <a:ext cx="12049760" cy="6146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UNION IN C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union is also a user-defined data type similar to a structure, but all members share the same memory location.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can store only one value at a time.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union </a:t>
            </a:r>
            <a:r>
              <a:rPr lang="en-US" sz="2400" b="1" dirty="0" err="1">
                <a:latin typeface="Century Schoolbook" panose="02040604050505020304" pitchFamily="18" charset="0"/>
              </a:rPr>
              <a:t>union_name</a:t>
            </a:r>
            <a:r>
              <a:rPr lang="en-US" sz="2400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...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78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27BA-EA1A-B6E9-3DF4-8DF4C5EE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6239"/>
            <a:ext cx="12090400" cy="39623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33CB-D020-60DB-05CC-B57396D13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0" y="0"/>
            <a:ext cx="11490960" cy="535432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FILES IN C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file is a collection of data stored on a disk with a specific name and directory path.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C, files are used for permanent storage of data.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Files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Text Files : – Store data as readable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Binary Files : – Store data in binary (machine-readable) format.</a:t>
            </a:r>
          </a:p>
          <a:p>
            <a:endParaRPr lang="en-IN" sz="24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14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B8D39-7D18-D952-B42D-E173DB24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59" y="-203199"/>
            <a:ext cx="10131427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6.2]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declaration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0AB9C-1C69-CF00-326F-A08EA808E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959" y="762001"/>
            <a:ext cx="11816079" cy="53340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structure is declared using the keyword struct.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defines a new data type that groups variables of different types under a single name.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struct </a:t>
            </a:r>
            <a:r>
              <a:rPr lang="en-US" sz="2400" b="1" dirty="0" err="1">
                <a:latin typeface="Century Schoolbook" panose="02040604050505020304" pitchFamily="18" charset="0"/>
              </a:rPr>
              <a:t>structure_name</a:t>
            </a:r>
            <a:r>
              <a:rPr lang="en-US" sz="2400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data_type</a:t>
            </a:r>
            <a:r>
              <a:rPr lang="en-US" sz="2400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...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only declares the structure, it does not allocate memory yet.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2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F992-F182-A6BC-C059-177BCA08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2719"/>
            <a:ext cx="11922759" cy="10667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Declaring structure variables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118F0-DD68-5297-6728-B032BD0F1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" y="751841"/>
            <a:ext cx="11475720" cy="46837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After defining the structure, you can declare variables of that structure type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struct Student s1, s2;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Or you can declare them together with the structure: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struct Student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int </a:t>
            </a:r>
            <a:r>
              <a:rPr lang="en-US" sz="2400" b="1" dirty="0" err="1">
                <a:latin typeface="Century Schoolbook" panose="02040604050505020304" pitchFamily="18" charset="0"/>
              </a:rPr>
              <a:t>roll_no</a:t>
            </a:r>
            <a:r>
              <a:rPr lang="en-US" sz="24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char name[50];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float marks;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 s1, s2;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68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E4EF-593B-3FBC-BAF3-4974F3B4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8119"/>
            <a:ext cx="10131427" cy="108204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initialization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7D55-6348-F946-536D-92C8E809E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721361"/>
            <a:ext cx="11104880" cy="50088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You can assign initial values to structure members at the time of declaration.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struct </a:t>
            </a:r>
            <a:r>
              <a:rPr lang="en-US" sz="2400" b="1" dirty="0" err="1">
                <a:latin typeface="Century Schoolbook" panose="02040604050505020304" pitchFamily="18" charset="0"/>
              </a:rPr>
              <a:t>structure_name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 err="1">
                <a:latin typeface="Century Schoolbook" panose="02040604050505020304" pitchFamily="18" charset="0"/>
              </a:rPr>
              <a:t>variable_name</a:t>
            </a:r>
            <a:r>
              <a:rPr lang="en-US" sz="2400" b="1" dirty="0">
                <a:latin typeface="Century Schoolbook" panose="02040604050505020304" pitchFamily="18" charset="0"/>
              </a:rPr>
              <a:t> = {value1, value2, ...};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struct Student s1 = {101, "Bhumi", 89.5};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s1.roll_no → FS23IF015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s1.name → “Bhumi”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s1.marks → 88.80%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9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C724-35E3-206C-5F28-47E69EC3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-121919"/>
            <a:ext cx="11577320" cy="99568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6.3]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within structure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0EFA8-9593-70DA-0C23-A29D9BFD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" y="751841"/>
            <a:ext cx="11978640" cy="610615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When one structure is declared inside another structure, it is called a Structure within Structure or a Nested Structure.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This allows grouping of complex data, where one record (like a student or employee) contains another record (like address or date).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struct </a:t>
            </a:r>
            <a:r>
              <a:rPr lang="en-US" b="1" dirty="0" err="1">
                <a:latin typeface="Century Schoolbook" panose="02040604050505020304" pitchFamily="18" charset="0"/>
              </a:rPr>
              <a:t>outer_structure</a:t>
            </a:r>
            <a:r>
              <a:rPr lang="en-US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struct </a:t>
            </a:r>
            <a:r>
              <a:rPr lang="en-US" b="1" dirty="0" err="1">
                <a:latin typeface="Century Schoolbook" panose="02040604050505020304" pitchFamily="18" charset="0"/>
              </a:rPr>
              <a:t>inner_structure</a:t>
            </a:r>
            <a:r>
              <a:rPr lang="en-US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inner_member1;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inner_member2;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} 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inner_variable</a:t>
            </a:r>
            <a:r>
              <a:rPr lang="en-US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member3;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67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79B0-7F3B-3FAD-AD67-29443BDAE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-162559"/>
            <a:ext cx="10131427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6.4]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nested structures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CB964-E816-ACEE-69FA-F296EDCF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1" y="792480"/>
            <a:ext cx="11943079" cy="6177279"/>
          </a:xfrm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 Nested Structure means a structure that contains another structure as its member.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It is also known as Structure within Structure.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It allows you to create complex data types that model real-world entities more effectively.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struct </a:t>
            </a:r>
            <a:r>
              <a:rPr lang="en-US" b="1" dirty="0" err="1">
                <a:latin typeface="Century Schoolbook" panose="02040604050505020304" pitchFamily="18" charset="0"/>
              </a:rPr>
              <a:t>outer_structure</a:t>
            </a:r>
            <a:r>
              <a:rPr lang="en-US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struct </a:t>
            </a:r>
            <a:r>
              <a:rPr lang="en-US" b="1" dirty="0" err="1">
                <a:latin typeface="Century Schoolbook" panose="02040604050505020304" pitchFamily="18" charset="0"/>
              </a:rPr>
              <a:t>inner_structure</a:t>
            </a:r>
            <a:r>
              <a:rPr lang="en-US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inner_member1;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inner_member2;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} </a:t>
            </a:r>
            <a:r>
              <a:rPr lang="en-US" b="1" dirty="0" err="1">
                <a:latin typeface="Century Schoolbook" panose="02040604050505020304" pitchFamily="18" charset="0"/>
              </a:rPr>
              <a:t>inner_variable</a:t>
            </a:r>
            <a:r>
              <a:rPr lang="en-US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member3;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37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5C78-2B44-6EE0-C61D-A971A77D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127000"/>
            <a:ext cx="10131427" cy="9855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6.5]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array of structures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6B7FE-9A7D-62D0-53DA-159F5757B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" y="751840"/>
            <a:ext cx="11618988" cy="55372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An Array of Structures means storing multiple structure variables of the same type in a single array.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It allows you to store and manage a list of records — such as multiple students, employees, books, etc.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struct </a:t>
            </a:r>
            <a:r>
              <a:rPr lang="en-US" b="1" dirty="0" err="1">
                <a:latin typeface="Century Schoolbook" panose="02040604050505020304" pitchFamily="18" charset="0"/>
              </a:rPr>
              <a:t>structure_name</a:t>
            </a:r>
            <a:r>
              <a:rPr lang="en-US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...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struct </a:t>
            </a:r>
            <a:r>
              <a:rPr lang="en-US" b="1" dirty="0" err="1">
                <a:latin typeface="Century Schoolbook" panose="02040604050505020304" pitchFamily="18" charset="0"/>
              </a:rPr>
              <a:t>structure_name</a:t>
            </a:r>
            <a:r>
              <a:rPr lang="en-US" b="1" dirty="0">
                <a:latin typeface="Century Schoolbook" panose="02040604050505020304" pitchFamily="18" charset="0"/>
              </a:rPr>
              <a:t> </a:t>
            </a:r>
            <a:r>
              <a:rPr lang="en-US" b="1" dirty="0" err="1">
                <a:latin typeface="Century Schoolbook" panose="02040604050505020304" pitchFamily="18" charset="0"/>
              </a:rPr>
              <a:t>variable_name</a:t>
            </a:r>
            <a:r>
              <a:rPr lang="en-US" b="1" dirty="0">
                <a:latin typeface="Century Schoolbook" panose="02040604050505020304" pitchFamily="18" charset="0"/>
              </a:rPr>
              <a:t>[size];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396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2E32-24DD-AC95-283E-5BE5C6B6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1" y="-162559"/>
            <a:ext cx="10131427" cy="11379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6.6]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union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BA46-FA5B-8DE5-B231-CEBBE5F3A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" y="807720"/>
            <a:ext cx="11358880" cy="54914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 Union in C is a user-defined data type that allows storing different types of data in the same memory location.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 union can have many members (variables), but only one member can hold a value at a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It helps to save memory when only one piece of information is needed at a time.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union </a:t>
            </a:r>
            <a:r>
              <a:rPr lang="en-US" b="1" dirty="0" err="1">
                <a:latin typeface="Century Schoolbook" panose="02040604050505020304" pitchFamily="18" charset="0"/>
              </a:rPr>
              <a:t>union_name</a:t>
            </a:r>
            <a:r>
              <a:rPr lang="en-US" b="1" dirty="0">
                <a:latin typeface="Century Schoolbook" panose="02040604050505020304" pitchFamily="18" charset="0"/>
              </a:rPr>
              <a:t>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member1;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data_type</a:t>
            </a:r>
            <a:r>
              <a:rPr lang="en-US" b="1" dirty="0">
                <a:latin typeface="Century Schoolbook" panose="02040604050505020304" pitchFamily="18" charset="0"/>
              </a:rPr>
              <a:t> member2;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...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862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3B2D-6E72-C691-2421-E956589C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-142241"/>
            <a:ext cx="10131427" cy="11430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6.7]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creating a file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8C980-669D-1703-AD58-4929D00A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" y="833120"/>
            <a:ext cx="11557000" cy="33324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 file in C is a place on your storage device (like hard disk) where data is stored permanently.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C provides built-in functions in the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 library to create, read, write, and close files.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1. Steps to Create a File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To create (and write to) a file in C, follow these steps: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F8A2AC-A2C4-744B-C758-65775B7DB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68372"/>
              </p:ext>
            </p:extLst>
          </p:nvPr>
        </p:nvGraphicFramePr>
        <p:xfrm>
          <a:off x="457200" y="3749040"/>
          <a:ext cx="10131426" cy="3022991"/>
        </p:xfrm>
        <a:graphic>
          <a:graphicData uri="http://schemas.openxmlformats.org/drawingml/2006/table">
            <a:tbl>
              <a:tblPr/>
              <a:tblGrid>
                <a:gridCol w="1046480">
                  <a:extLst>
                    <a:ext uri="{9D8B030D-6E8A-4147-A177-3AD203B41FA5}">
                      <a16:colId xmlns:a16="http://schemas.microsoft.com/office/drawing/2014/main" val="237977259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332875557"/>
                    </a:ext>
                  </a:extLst>
                </a:gridCol>
                <a:gridCol w="5173346">
                  <a:extLst>
                    <a:ext uri="{9D8B030D-6E8A-4147-A177-3AD203B41FA5}">
                      <a16:colId xmlns:a16="http://schemas.microsoft.com/office/drawing/2014/main" val="3679777168"/>
                    </a:ext>
                  </a:extLst>
                </a:gridCol>
              </a:tblGrid>
              <a:tr h="453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Function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61641"/>
                  </a:ext>
                </a:extLst>
              </a:tr>
              <a:tr h="453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Declare a file pointer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FILE *</a:t>
                      </a: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fp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56969"/>
                  </a:ext>
                </a:extLst>
              </a:tr>
              <a:tr h="1133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Open the file in write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fp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 = </a:t>
                      </a: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fopen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("filename.txt", "w");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023221"/>
                  </a:ext>
                </a:extLst>
              </a:tr>
              <a:tr h="453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Write data into the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fprintf() or fputs()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985747"/>
                  </a:ext>
                </a:extLst>
              </a:tr>
              <a:tr h="453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4.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Close the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fclose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(</a:t>
                      </a:r>
                      <a:r>
                        <a:rPr lang="en-IN" sz="2400" b="1" dirty="0" err="1">
                          <a:latin typeface="Century Schoolbook" panose="02040604050505020304" pitchFamily="18" charset="0"/>
                        </a:rPr>
                        <a:t>fp</a:t>
                      </a: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);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031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121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36CD-BB9C-F264-C900-14A8F09C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-129540"/>
            <a:ext cx="10131427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6.8]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crud operations on file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CDA61-0819-0253-2D0C-A02E6C2C9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040" y="782320"/>
            <a:ext cx="11623040" cy="13868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What is CRUD?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CRUD stands for the four basic operations you can perform on a file: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CC1B9B-B819-97B4-E9A3-F733E2BB3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845468"/>
              </p:ext>
            </p:extLst>
          </p:nvPr>
        </p:nvGraphicFramePr>
        <p:xfrm>
          <a:off x="375920" y="1752600"/>
          <a:ext cx="10922001" cy="2809240"/>
        </p:xfrm>
        <a:graphic>
          <a:graphicData uri="http://schemas.openxmlformats.org/drawingml/2006/table">
            <a:tbl>
              <a:tblPr/>
              <a:tblGrid>
                <a:gridCol w="2174240">
                  <a:extLst>
                    <a:ext uri="{9D8B030D-6E8A-4147-A177-3AD203B41FA5}">
                      <a16:colId xmlns:a16="http://schemas.microsoft.com/office/drawing/2014/main" val="1774967989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746657410"/>
                    </a:ext>
                  </a:extLst>
                </a:gridCol>
                <a:gridCol w="6675121">
                  <a:extLst>
                    <a:ext uri="{9D8B030D-6E8A-4147-A177-3AD203B41FA5}">
                      <a16:colId xmlns:a16="http://schemas.microsoft.com/office/drawing/2014/main" val="4254691908"/>
                    </a:ext>
                  </a:extLst>
                </a:gridCol>
              </a:tblGrid>
              <a:tr h="5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376528"/>
                  </a:ext>
                </a:extLst>
              </a:tr>
              <a:tr h="5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Create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Century Schoolbook" panose="02040604050505020304" pitchFamily="18" charset="0"/>
                        </a:rPr>
                        <a:t>Create a new file and write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484350"/>
                  </a:ext>
                </a:extLst>
              </a:tr>
              <a:tr h="5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Read data from a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24268"/>
                  </a:ext>
                </a:extLst>
              </a:tr>
              <a:tr h="5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Modify existing data in a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36004"/>
                  </a:ext>
                </a:extLst>
              </a:tr>
              <a:tr h="5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Remove a file from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005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44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3BD3-DD5A-99D6-2E54-3B47DD07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-172719"/>
            <a:ext cx="10812148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Create operation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8BE73-C5FA-5880-5FF3-6845B515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812800"/>
            <a:ext cx="11206480" cy="6278880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200" b="1" dirty="0">
                <a:latin typeface="Century Schoolbook" panose="02040604050505020304" pitchFamily="18" charset="0"/>
              </a:rPr>
              <a:t> To create a new file and write data into 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Code 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#include &lt;</a:t>
            </a:r>
            <a:r>
              <a:rPr lang="en-IN" sz="2200" b="1" dirty="0" err="1">
                <a:latin typeface="Century Schoolbook" panose="02040604050505020304" pitchFamily="18" charset="0"/>
              </a:rPr>
              <a:t>stdio.h</a:t>
            </a:r>
            <a:r>
              <a:rPr lang="en-IN" sz="22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FILE *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 = </a:t>
            </a:r>
            <a:r>
              <a:rPr lang="en-IN" sz="2200" b="1" dirty="0" err="1">
                <a:latin typeface="Century Schoolbook" panose="02040604050505020304" pitchFamily="18" charset="0"/>
              </a:rPr>
              <a:t>fopen</a:t>
            </a:r>
            <a:r>
              <a:rPr lang="en-IN" sz="2200" b="1" dirty="0">
                <a:latin typeface="Century Schoolbook" panose="02040604050505020304" pitchFamily="18" charset="0"/>
              </a:rPr>
              <a:t> ("student.txt", "w");  // Create or open file in write mode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if (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 == NULL) {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    </a:t>
            </a:r>
            <a:r>
              <a:rPr lang="en-IN" sz="2200" b="1" dirty="0" err="1">
                <a:latin typeface="Century Schoolbook" panose="02040604050505020304" pitchFamily="18" charset="0"/>
              </a:rPr>
              <a:t>printf</a:t>
            </a:r>
            <a:r>
              <a:rPr lang="en-IN" sz="2200" b="1" dirty="0">
                <a:latin typeface="Century Schoolbook" panose="02040604050505020304" pitchFamily="18" charset="0"/>
              </a:rPr>
              <a:t>("Error creating file!\n");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    return 1;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</a:t>
            </a:r>
            <a:r>
              <a:rPr lang="en-IN" sz="2200" b="1" dirty="0" err="1">
                <a:latin typeface="Century Schoolbook" panose="02040604050505020304" pitchFamily="18" charset="0"/>
              </a:rPr>
              <a:t>fprintf</a:t>
            </a:r>
            <a:r>
              <a:rPr lang="en-IN" sz="2200" b="1" dirty="0">
                <a:latin typeface="Century Schoolbook" panose="02040604050505020304" pitchFamily="18" charset="0"/>
              </a:rPr>
              <a:t> (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, "Roll No: 101\n");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</a:t>
            </a:r>
            <a:r>
              <a:rPr lang="en-IN" sz="2200" b="1" dirty="0" err="1">
                <a:latin typeface="Century Schoolbook" panose="02040604050505020304" pitchFamily="18" charset="0"/>
              </a:rPr>
              <a:t>fprintf</a:t>
            </a:r>
            <a:r>
              <a:rPr lang="en-IN" sz="2200" b="1" dirty="0">
                <a:latin typeface="Century Schoolbook" panose="02040604050505020304" pitchFamily="18" charset="0"/>
              </a:rPr>
              <a:t> (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, "Name: Bhumika\n");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</a:t>
            </a:r>
            <a:r>
              <a:rPr lang="en-IN" sz="2200" b="1" dirty="0" err="1">
                <a:latin typeface="Century Schoolbook" panose="02040604050505020304" pitchFamily="18" charset="0"/>
              </a:rPr>
              <a:t>fprintf</a:t>
            </a:r>
            <a:r>
              <a:rPr lang="en-IN" sz="2200" b="1" dirty="0">
                <a:latin typeface="Century Schoolbook" panose="02040604050505020304" pitchFamily="18" charset="0"/>
              </a:rPr>
              <a:t> (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, "Marks: 89.5\n");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</a:t>
            </a:r>
            <a:r>
              <a:rPr lang="en-IN" sz="2200" b="1" dirty="0" err="1">
                <a:latin typeface="Century Schoolbook" panose="02040604050505020304" pitchFamily="18" charset="0"/>
              </a:rPr>
              <a:t>fclose</a:t>
            </a:r>
            <a:r>
              <a:rPr lang="en-IN" sz="2200" b="1" dirty="0">
                <a:latin typeface="Century Schoolbook" panose="02040604050505020304" pitchFamily="18" charset="0"/>
              </a:rPr>
              <a:t> (</a:t>
            </a:r>
            <a:r>
              <a:rPr lang="en-IN" sz="2200" b="1" dirty="0" err="1">
                <a:latin typeface="Century Schoolbook" panose="02040604050505020304" pitchFamily="18" charset="0"/>
              </a:rPr>
              <a:t>fp</a:t>
            </a:r>
            <a:r>
              <a:rPr lang="en-IN" sz="2200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</a:t>
            </a:r>
            <a:r>
              <a:rPr lang="en-IN" sz="2200" b="1" dirty="0" err="1">
                <a:latin typeface="Century Schoolbook" panose="02040604050505020304" pitchFamily="18" charset="0"/>
              </a:rPr>
              <a:t>printf</a:t>
            </a:r>
            <a:r>
              <a:rPr lang="en-IN" sz="2200" b="1" dirty="0">
                <a:latin typeface="Century Schoolbook" panose="02040604050505020304" pitchFamily="18" charset="0"/>
              </a:rPr>
              <a:t> ("File created and data written successfully.\n");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999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E269-5F88-3855-BFC7-A16C94AC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1" y="-132079"/>
            <a:ext cx="10131427" cy="97536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Read operation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F0E47-92C4-29C0-4686-A409391D8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279" y="721360"/>
            <a:ext cx="11836400" cy="6309360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9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900" b="1" dirty="0">
                <a:latin typeface="Century Schoolbook" panose="02040604050505020304" pitchFamily="18" charset="0"/>
              </a:rPr>
              <a:t>To read and display data stored in a file.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Code Example</a:t>
            </a:r>
            <a:r>
              <a:rPr lang="en-US" sz="3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9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-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#include &lt;</a:t>
            </a:r>
            <a:r>
              <a:rPr lang="en-IN" sz="2300" b="1" dirty="0" err="1">
                <a:latin typeface="Century Schoolbook" panose="02040604050505020304" pitchFamily="18" charset="0"/>
              </a:rPr>
              <a:t>stdio.h</a:t>
            </a:r>
            <a:r>
              <a:rPr lang="en-IN" sz="23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FILE *</a:t>
            </a:r>
            <a:r>
              <a:rPr lang="en-IN" sz="2300" b="1" dirty="0" err="1">
                <a:latin typeface="Century Schoolbook" panose="02040604050505020304" pitchFamily="18" charset="0"/>
              </a:rPr>
              <a:t>fp</a:t>
            </a:r>
            <a:r>
              <a:rPr lang="en-IN" sz="23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char </a:t>
            </a:r>
            <a:r>
              <a:rPr lang="en-IN" sz="2300" b="1" dirty="0" err="1">
                <a:latin typeface="Century Schoolbook" panose="02040604050505020304" pitchFamily="18" charset="0"/>
              </a:rPr>
              <a:t>ch</a:t>
            </a:r>
            <a:r>
              <a:rPr lang="en-IN" sz="23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</a:t>
            </a:r>
            <a:r>
              <a:rPr lang="en-IN" sz="2300" b="1" dirty="0" err="1">
                <a:latin typeface="Century Schoolbook" panose="02040604050505020304" pitchFamily="18" charset="0"/>
              </a:rPr>
              <a:t>fp</a:t>
            </a:r>
            <a:r>
              <a:rPr lang="en-IN" sz="2300" b="1" dirty="0">
                <a:latin typeface="Century Schoolbook" panose="02040604050505020304" pitchFamily="18" charset="0"/>
              </a:rPr>
              <a:t> = </a:t>
            </a:r>
            <a:r>
              <a:rPr lang="en-IN" sz="2300" b="1" dirty="0" err="1">
                <a:latin typeface="Century Schoolbook" panose="02040604050505020304" pitchFamily="18" charset="0"/>
              </a:rPr>
              <a:t>fopen</a:t>
            </a:r>
            <a:r>
              <a:rPr lang="en-IN" sz="2300" b="1" dirty="0">
                <a:latin typeface="Century Schoolbook" panose="02040604050505020304" pitchFamily="18" charset="0"/>
              </a:rPr>
              <a:t>("student.txt", "r");  // Open file in read mode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if (</a:t>
            </a:r>
            <a:r>
              <a:rPr lang="en-IN" sz="2300" b="1" dirty="0" err="1">
                <a:latin typeface="Century Schoolbook" panose="02040604050505020304" pitchFamily="18" charset="0"/>
              </a:rPr>
              <a:t>fp</a:t>
            </a:r>
            <a:r>
              <a:rPr lang="en-IN" sz="2300" b="1" dirty="0">
                <a:latin typeface="Century Schoolbook" panose="02040604050505020304" pitchFamily="18" charset="0"/>
              </a:rPr>
              <a:t> == NULL) {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    </a:t>
            </a:r>
            <a:r>
              <a:rPr lang="en-IN" sz="2300" b="1" dirty="0" err="1">
                <a:latin typeface="Century Schoolbook" panose="02040604050505020304" pitchFamily="18" charset="0"/>
              </a:rPr>
              <a:t>printf</a:t>
            </a:r>
            <a:r>
              <a:rPr lang="en-IN" sz="2300" b="1" dirty="0">
                <a:latin typeface="Century Schoolbook" panose="02040604050505020304" pitchFamily="18" charset="0"/>
              </a:rPr>
              <a:t>("File not found!\n");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    return 1;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</a:t>
            </a:r>
            <a:r>
              <a:rPr lang="en-IN" sz="2300" b="1" dirty="0" err="1">
                <a:latin typeface="Century Schoolbook" panose="02040604050505020304" pitchFamily="18" charset="0"/>
              </a:rPr>
              <a:t>printf</a:t>
            </a:r>
            <a:r>
              <a:rPr lang="en-IN" sz="2300" b="1" dirty="0">
                <a:latin typeface="Century Schoolbook" panose="02040604050505020304" pitchFamily="18" charset="0"/>
              </a:rPr>
              <a:t>("Reading data from file:\n\n");</a:t>
            </a:r>
          </a:p>
          <a:p>
            <a:endParaRPr lang="en-IN" sz="2300" b="1" dirty="0">
              <a:latin typeface="Century Schoolbook" panose="02040604050505020304" pitchFamily="18" charset="0"/>
            </a:endParaRPr>
          </a:p>
          <a:p>
            <a:r>
              <a:rPr lang="en-IN" sz="2300" b="1" dirty="0">
                <a:latin typeface="Century Schoolbook" panose="02040604050505020304" pitchFamily="18" charset="0"/>
              </a:rPr>
              <a:t>    while ((</a:t>
            </a:r>
            <a:r>
              <a:rPr lang="en-IN" sz="2300" b="1" dirty="0" err="1">
                <a:latin typeface="Century Schoolbook" panose="02040604050505020304" pitchFamily="18" charset="0"/>
              </a:rPr>
              <a:t>ch</a:t>
            </a:r>
            <a:r>
              <a:rPr lang="en-IN" sz="2300" b="1" dirty="0">
                <a:latin typeface="Century Schoolbook" panose="02040604050505020304" pitchFamily="18" charset="0"/>
              </a:rPr>
              <a:t> = </a:t>
            </a:r>
            <a:r>
              <a:rPr lang="en-IN" sz="2300" b="1" dirty="0" err="1">
                <a:latin typeface="Century Schoolbook" panose="02040604050505020304" pitchFamily="18" charset="0"/>
              </a:rPr>
              <a:t>fgetc</a:t>
            </a:r>
            <a:r>
              <a:rPr lang="en-IN" sz="2300" b="1" dirty="0">
                <a:latin typeface="Century Schoolbook" panose="02040604050505020304" pitchFamily="18" charset="0"/>
              </a:rPr>
              <a:t>(</a:t>
            </a:r>
            <a:r>
              <a:rPr lang="en-IN" sz="2300" b="1" dirty="0" err="1">
                <a:latin typeface="Century Schoolbook" panose="02040604050505020304" pitchFamily="18" charset="0"/>
              </a:rPr>
              <a:t>fp</a:t>
            </a:r>
            <a:r>
              <a:rPr lang="en-IN" sz="2300" b="1" dirty="0">
                <a:latin typeface="Century Schoolbook" panose="02040604050505020304" pitchFamily="18" charset="0"/>
              </a:rPr>
              <a:t>)) != EOF) {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    </a:t>
            </a:r>
            <a:r>
              <a:rPr lang="en-IN" sz="2300" b="1" dirty="0" err="1">
                <a:latin typeface="Century Schoolbook" panose="02040604050505020304" pitchFamily="18" charset="0"/>
              </a:rPr>
              <a:t>putchar</a:t>
            </a:r>
            <a:r>
              <a:rPr lang="en-IN" sz="2300" b="1" dirty="0">
                <a:latin typeface="Century Schoolbook" panose="02040604050505020304" pitchFamily="18" charset="0"/>
              </a:rPr>
              <a:t>(</a:t>
            </a:r>
            <a:r>
              <a:rPr lang="en-IN" sz="2300" b="1" dirty="0" err="1">
                <a:latin typeface="Century Schoolbook" panose="02040604050505020304" pitchFamily="18" charset="0"/>
              </a:rPr>
              <a:t>ch</a:t>
            </a:r>
            <a:r>
              <a:rPr lang="en-IN" sz="2300" b="1" dirty="0">
                <a:latin typeface="Century Schoolbook" panose="02040604050505020304" pitchFamily="18" charset="0"/>
              </a:rPr>
              <a:t>);   // display file contents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</a:t>
            </a:r>
            <a:r>
              <a:rPr lang="en-IN" sz="2300" b="1" dirty="0" err="1">
                <a:latin typeface="Century Schoolbook" panose="02040604050505020304" pitchFamily="18" charset="0"/>
              </a:rPr>
              <a:t>fclose</a:t>
            </a:r>
            <a:r>
              <a:rPr lang="en-IN" sz="2300" b="1" dirty="0">
                <a:latin typeface="Century Schoolbook" panose="02040604050505020304" pitchFamily="18" charset="0"/>
              </a:rPr>
              <a:t>(</a:t>
            </a:r>
            <a:r>
              <a:rPr lang="en-IN" sz="2300" b="1" dirty="0" err="1">
                <a:latin typeface="Century Schoolbook" panose="02040604050505020304" pitchFamily="18" charset="0"/>
              </a:rPr>
              <a:t>fp</a:t>
            </a:r>
            <a:r>
              <a:rPr lang="en-IN" sz="2300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sz="2300" b="1" dirty="0"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78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3F3A-6D80-2CB5-CF86-755F0674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-101599"/>
            <a:ext cx="10131427" cy="9347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Update operation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33708-5622-67E1-2B57-14B8EBD2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0" y="751840"/>
            <a:ext cx="11988799" cy="6421120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600" b="1" dirty="0">
                <a:latin typeface="Century Schoolbook" panose="02040604050505020304" pitchFamily="18" charset="0"/>
              </a:rPr>
              <a:t>To modify or add new data to an existing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Century Schoolbook" panose="02040604050505020304" pitchFamily="18" charset="0"/>
              </a:rPr>
              <a:t>There are two ways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Century Schoolbook" panose="02040604050505020304" pitchFamily="18" charset="0"/>
              </a:rPr>
              <a:t>Rewrite file completely using "w" mode.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Century Schoolbook" panose="02040604050505020304" pitchFamily="18" charset="0"/>
              </a:rPr>
              <a:t>Append new data using "a" mode.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stdio.h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FILE *</a:t>
            </a:r>
            <a:r>
              <a:rPr lang="en-IN" b="1" dirty="0" err="1">
                <a:latin typeface="Century Schoolbook" panose="02040604050505020304" pitchFamily="18" charset="0"/>
              </a:rPr>
              <a:t>fp</a:t>
            </a:r>
            <a:r>
              <a:rPr lang="en-IN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fp</a:t>
            </a:r>
            <a:r>
              <a:rPr lang="en-IN" b="1" dirty="0">
                <a:latin typeface="Century Schoolbook" panose="02040604050505020304" pitchFamily="18" charset="0"/>
              </a:rPr>
              <a:t> = </a:t>
            </a:r>
            <a:r>
              <a:rPr lang="en-IN" b="1" dirty="0" err="1">
                <a:latin typeface="Century Schoolbook" panose="02040604050505020304" pitchFamily="18" charset="0"/>
              </a:rPr>
              <a:t>fopen</a:t>
            </a:r>
            <a:r>
              <a:rPr lang="en-IN" b="1" dirty="0">
                <a:latin typeface="Century Schoolbook" panose="02040604050505020304" pitchFamily="18" charset="0"/>
              </a:rPr>
              <a:t>("student.txt", "a");   // Open in append mode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if (</a:t>
            </a:r>
            <a:r>
              <a:rPr lang="en-IN" b="1" dirty="0" err="1">
                <a:latin typeface="Century Schoolbook" panose="02040604050505020304" pitchFamily="18" charset="0"/>
              </a:rPr>
              <a:t>fp</a:t>
            </a:r>
            <a:r>
              <a:rPr lang="en-IN" b="1" dirty="0">
                <a:latin typeface="Century Schoolbook" panose="02040604050505020304" pitchFamily="18" charset="0"/>
              </a:rPr>
              <a:t> == NULL)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("File not found!\n");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return 1;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}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fprintf</a:t>
            </a:r>
            <a:r>
              <a:rPr lang="en-IN" b="1" dirty="0">
                <a:latin typeface="Century Schoolbook" panose="02040604050505020304" pitchFamily="18" charset="0"/>
              </a:rPr>
              <a:t>(</a:t>
            </a:r>
            <a:r>
              <a:rPr lang="en-IN" b="1" dirty="0" err="1">
                <a:latin typeface="Century Schoolbook" panose="02040604050505020304" pitchFamily="18" charset="0"/>
              </a:rPr>
              <a:t>fp</a:t>
            </a:r>
            <a:r>
              <a:rPr lang="en-IN" b="1" dirty="0">
                <a:latin typeface="Century Schoolbook" panose="02040604050505020304" pitchFamily="18" charset="0"/>
              </a:rPr>
              <a:t>, "Subject: Computer Networks\n");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fprintf</a:t>
            </a:r>
            <a:r>
              <a:rPr lang="en-IN" b="1" dirty="0">
                <a:latin typeface="Century Schoolbook" panose="02040604050505020304" pitchFamily="18" charset="0"/>
              </a:rPr>
              <a:t>(</a:t>
            </a:r>
            <a:r>
              <a:rPr lang="en-IN" b="1" dirty="0" err="1">
                <a:latin typeface="Century Schoolbook" panose="02040604050505020304" pitchFamily="18" charset="0"/>
              </a:rPr>
              <a:t>fp</a:t>
            </a:r>
            <a:r>
              <a:rPr lang="en-IN" b="1" dirty="0">
                <a:latin typeface="Century Schoolbook" panose="02040604050505020304" pitchFamily="18" charset="0"/>
              </a:rPr>
              <a:t>, "Grade: A\n");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fclose</a:t>
            </a:r>
            <a:r>
              <a:rPr lang="en-IN" b="1" dirty="0">
                <a:latin typeface="Century Schoolbook" panose="02040604050505020304" pitchFamily="18" charset="0"/>
              </a:rPr>
              <a:t>(</a:t>
            </a:r>
            <a:r>
              <a:rPr lang="en-IN" b="1" dirty="0" err="1">
                <a:latin typeface="Century Schoolbook" panose="02040604050505020304" pitchFamily="18" charset="0"/>
              </a:rPr>
              <a:t>fp</a:t>
            </a:r>
            <a:r>
              <a:rPr lang="en-IN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("File updated successfully.\n");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76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73F6-153D-3A28-351A-94EF864D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-91439"/>
            <a:ext cx="10131427" cy="863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Delete operation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12D2F-0B41-2D56-B7DD-810A0B3CB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000" y="772161"/>
            <a:ext cx="9877428" cy="56184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To remove a file permanently from the system.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 provides the remove() function to delete a file.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Code 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stdio.h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if (remove("student.txt") == 0)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("File deleted successfully.\n");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else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("Error deleting file!\n");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446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70</TotalTime>
  <Words>1497</Words>
  <Application>Microsoft Office PowerPoint</Application>
  <PresentationFormat>Widescreen</PresentationFormat>
  <Paragraphs>219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Century Schoolbook</vt:lpstr>
      <vt:lpstr>Wingdings</vt:lpstr>
      <vt:lpstr>Celestial</vt:lpstr>
      <vt:lpstr>06. Structure &amp; union &amp; files </vt:lpstr>
      <vt:lpstr>6.1] basic concept : -</vt:lpstr>
      <vt:lpstr>PowerPoint Presentation</vt:lpstr>
      <vt:lpstr>PowerPoint Presentation</vt:lpstr>
      <vt:lpstr>6.2] structure declaration : -</vt:lpstr>
      <vt:lpstr>Declaring structure variables : -</vt:lpstr>
      <vt:lpstr>Structure initialization : -</vt:lpstr>
      <vt:lpstr>6.3] structure within structure : -</vt:lpstr>
      <vt:lpstr>6.4] nested structures : -</vt:lpstr>
      <vt:lpstr>6.5] array of structures : -</vt:lpstr>
      <vt:lpstr>6.6] union : -</vt:lpstr>
      <vt:lpstr>6.7] creating a file : -</vt:lpstr>
      <vt:lpstr>6.8] crud operations on file : -</vt:lpstr>
      <vt:lpstr>1. Create operation : -</vt:lpstr>
      <vt:lpstr>2. Read operation : -</vt:lpstr>
      <vt:lpstr>3. Update operation : -</vt:lpstr>
      <vt:lpstr>4. Delete operation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2025-11-03T17:47:15Z</dcterms:created>
  <dcterms:modified xsi:type="dcterms:W3CDTF">2025-11-03T18:57:20Z</dcterms:modified>
</cp:coreProperties>
</file>