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7" r:id="rId1"/>
  </p:sld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72" r:id="rId9"/>
    <p:sldId id="262" r:id="rId10"/>
    <p:sldId id="263" r:id="rId11"/>
    <p:sldId id="264" r:id="rId12"/>
    <p:sldId id="273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B6688E-0136-4EA7-87DC-35DEE4EE7B65}" v="3" dt="2025-11-04T03:31:15.9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A3061384-269B-42E2-9F69-F049A8E3315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F483E46-A1FF-4445-927E-2C8C4DFC5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102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84-269B-42E2-9F69-F049A8E3315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3E46-A1FF-4445-927E-2C8C4DFC5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72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84-269B-42E2-9F69-F049A8E3315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3E46-A1FF-4445-927E-2C8C4DFC5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539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84-269B-42E2-9F69-F049A8E3315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3E46-A1FF-4445-927E-2C8C4DFC5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90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84-269B-42E2-9F69-F049A8E3315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3E46-A1FF-4445-927E-2C8C4DFC5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41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84-269B-42E2-9F69-F049A8E3315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3E46-A1FF-4445-927E-2C8C4DFC5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390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84-269B-42E2-9F69-F049A8E3315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3E46-A1FF-4445-927E-2C8C4DFC5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168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84-269B-42E2-9F69-F049A8E3315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3E46-A1FF-4445-927E-2C8C4DFC5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68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84-269B-42E2-9F69-F049A8E3315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3E46-A1FF-4445-927E-2C8C4DFC5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52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84-269B-42E2-9F69-F049A8E3315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3E46-A1FF-4445-927E-2C8C4DFC5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206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84-269B-42E2-9F69-F049A8E3315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3E46-A1FF-4445-927E-2C8C4DFC5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02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84-269B-42E2-9F69-F049A8E3315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3E46-A1FF-4445-927E-2C8C4DFC5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1707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84-269B-42E2-9F69-F049A8E3315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3E46-A1FF-4445-927E-2C8C4DFC5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7360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84-269B-42E2-9F69-F049A8E3315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3E46-A1FF-4445-927E-2C8C4DFC5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2976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84-269B-42E2-9F69-F049A8E3315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3E46-A1FF-4445-927E-2C8C4DFC5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469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84-269B-42E2-9F69-F049A8E3315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3E46-A1FF-4445-927E-2C8C4DFC525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303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84-269B-42E2-9F69-F049A8E3315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3E46-A1FF-4445-927E-2C8C4DFC5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3131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1384-269B-42E2-9F69-F049A8E3315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3E46-A1FF-4445-927E-2C8C4DFC5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126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3061384-269B-42E2-9F69-F049A8E3315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483E46-A1FF-4445-927E-2C8C4DFC5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7245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  <p:sldLayoutId id="2147483801" r:id="rId14"/>
    <p:sldLayoutId id="2147483802" r:id="rId15"/>
    <p:sldLayoutId id="2147483803" r:id="rId16"/>
    <p:sldLayoutId id="2147483804" r:id="rId17"/>
    <p:sldLayoutId id="2147483805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F2BD5-051A-84D8-5AD5-A3DFEBFD3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2970" y="1868130"/>
            <a:ext cx="10049080" cy="2842066"/>
          </a:xfrm>
        </p:spPr>
        <p:txBody>
          <a:bodyPr>
            <a:normAutofit/>
          </a:bodyPr>
          <a:lstStyle/>
          <a:p>
            <a:pPr algn="ctr"/>
            <a:r>
              <a:rPr lang="en-US" sz="8800" dirty="0">
                <a:solidFill>
                  <a:srgbClr val="FFFF00"/>
                </a:solidFill>
                <a:latin typeface="Algerian" panose="04020705040A02060702" pitchFamily="82" charset="0"/>
              </a:rPr>
              <a:t>02. Basics of c programming </a:t>
            </a:r>
            <a:endParaRPr lang="en-IN" sz="8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94A03-359B-FA6B-50ED-E3D04A0B85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98838" y="5241138"/>
            <a:ext cx="7197726" cy="140546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694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9C8D0-FE7B-F7B7-C8AF-289EE2D90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4160"/>
            <a:ext cx="12791439" cy="1178560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2.1] </a:t>
            </a:r>
            <a:r>
              <a:rPr lang="en-US" sz="4000" u="sng" dirty="0">
                <a:solidFill>
                  <a:srgbClr val="FFFF00"/>
                </a:solidFill>
                <a:latin typeface="Algerian" panose="04020705040A02060702" pitchFamily="82" charset="0"/>
              </a:rPr>
              <a:t>different approaches in programming</a:t>
            </a:r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0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25912-B308-FA44-6A8D-E14929B61B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2681" y="670560"/>
            <a:ext cx="11704519" cy="326136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Programming approaches define how a program is designed, structured, and executed.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>
                <a:latin typeface="Century Schoolbook" panose="02040604050505020304" pitchFamily="18" charset="0"/>
              </a:rPr>
              <a:t>There are mainly three common approaches</a:t>
            </a:r>
            <a:r>
              <a:rPr lang="en-US" sz="2400" b="1" dirty="0"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Procedural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Object-Oriented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Event-Driven Approach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573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0D957-65FC-BCCC-4C07-5F4CA1E80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7" y="-177800"/>
            <a:ext cx="11981926" cy="1102360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Procedural approach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49D6F-1BBF-B1A0-DD5A-0DBA620A9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4480" y="609600"/>
            <a:ext cx="11135360" cy="49784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000" b="1" dirty="0"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The procedural approach (also called structured programming) is a method where a program is divided into procedures or functions.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Each function performs a specific task.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latin typeface="Century Schoolbook" panose="02040604050505020304" pitchFamily="18" charset="0"/>
              </a:rPr>
              <a:t>Examples of Procedural Languages</a:t>
            </a:r>
            <a:r>
              <a:rPr lang="en-US" sz="2400" b="1" dirty="0"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Pascal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FORTRAN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BASIC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609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5E905-DBFF-9A49-0C70-28726ED97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14" y="-121920"/>
            <a:ext cx="11565366" cy="1016000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Object-oriented approach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2D7BF-CDC7-F271-215C-AC8F09FDE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8920" y="701040"/>
            <a:ext cx="11694160" cy="6319520"/>
          </a:xfrm>
        </p:spPr>
        <p:txBody>
          <a:bodyPr>
            <a:normAutofit fontScale="850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b="1" dirty="0">
                <a:latin typeface="Century Schoolbook" panose="02040604050505020304" pitchFamily="18" charset="0"/>
              </a:rPr>
              <a:t>The object-oriented approach (OOP) organizes the program around objects, which combine data and functions together.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b="1" dirty="0">
                <a:latin typeface="Century Schoolbook" panose="02040604050505020304" pitchFamily="18" charset="0"/>
              </a:rPr>
              <a:t>It focuses on real-world entities like </a:t>
            </a:r>
            <a:r>
              <a:rPr lang="en-US" sz="1900" b="1" i="1" dirty="0">
                <a:latin typeface="Century Schoolbook" panose="02040604050505020304" pitchFamily="18" charset="0"/>
              </a:rPr>
              <a:t>Student, Car, Employee</a:t>
            </a:r>
            <a:r>
              <a:rPr lang="en-US" sz="1900" b="1" dirty="0">
                <a:latin typeface="Century Schoolbook" panose="02040604050505020304" pitchFamily="18" charset="0"/>
              </a:rPr>
              <a:t> etc.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1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Examples of Object-Oriented Languages</a:t>
            </a:r>
            <a:r>
              <a:rPr lang="en-US" sz="21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C++, Java, Python, C#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1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 in C++</a:t>
            </a:r>
            <a:r>
              <a:rPr lang="en-US" sz="21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#include &lt;iostream&gt;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using namespace std;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class Student {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public: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void display() {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    </a:t>
            </a:r>
            <a:r>
              <a:rPr lang="en-IN" b="1" dirty="0" err="1">
                <a:latin typeface="Century Schoolbook" panose="02040604050505020304" pitchFamily="18" charset="0"/>
              </a:rPr>
              <a:t>cout</a:t>
            </a:r>
            <a:r>
              <a:rPr lang="en-IN" b="1" dirty="0">
                <a:latin typeface="Century Schoolbook" panose="02040604050505020304" pitchFamily="18" charset="0"/>
              </a:rPr>
              <a:t> &lt;&lt; "Hello Student!";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}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};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Student s1;   // object creation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s1.display(); // calling method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}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799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64CD2-29B1-1479-AB7E-40AB961A6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3040"/>
            <a:ext cx="12263120" cy="1117600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Event-driven approach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164E1-DFF2-2D03-6C08-12FF9A27D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4000" y="762000"/>
            <a:ext cx="11511280" cy="552704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In the event-driven approach, the program flow is determined by events such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Mouse clicks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Key presses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Button actions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Sensor signals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This is commonly used in graphical user interfaces (GUI) and interactive systems.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800" b="1" u="sng" dirty="0">
                <a:latin typeface="Century Schoolbook" panose="02040604050505020304" pitchFamily="18" charset="0"/>
              </a:rPr>
              <a:t>Examples of Event-Driven Languages</a:t>
            </a:r>
            <a:r>
              <a:rPr lang="en-IN" sz="2800" b="1" dirty="0"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Visual Basic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JavaScript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Java (GUI)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Python (</a:t>
            </a:r>
            <a:r>
              <a:rPr lang="en-IN" sz="2000" b="1" dirty="0" err="1">
                <a:solidFill>
                  <a:srgbClr val="FFFF00"/>
                </a:solidFill>
                <a:latin typeface="Century Schoolbook" panose="02040604050505020304" pitchFamily="18" charset="0"/>
              </a:rPr>
              <a:t>Tkinter</a:t>
            </a: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, </a:t>
            </a:r>
            <a:r>
              <a:rPr lang="en-IN" sz="2000" b="1" dirty="0" err="1">
                <a:solidFill>
                  <a:srgbClr val="FFFF00"/>
                </a:solidFill>
                <a:latin typeface="Century Schoolbook" panose="02040604050505020304" pitchFamily="18" charset="0"/>
              </a:rPr>
              <a:t>PyQt</a:t>
            </a: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9158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4DE99-D0F3-0CDE-4A98-4E6D9924B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" y="-223520"/>
            <a:ext cx="12120880" cy="1280160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 in java script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302D8-7405-1690-349F-0F44F7B0C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0874" y="812800"/>
            <a:ext cx="8825659" cy="347472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entury Schoolbook" panose="02040604050505020304" pitchFamily="18" charset="0"/>
              </a:rPr>
              <a:t>&lt;button onclick="</a:t>
            </a:r>
            <a:r>
              <a:rPr lang="en-US" sz="2400" b="1" dirty="0" err="1">
                <a:latin typeface="Century Schoolbook" panose="02040604050505020304" pitchFamily="18" charset="0"/>
              </a:rPr>
              <a:t>showMsg</a:t>
            </a:r>
            <a:r>
              <a:rPr lang="en-US" sz="2400" b="1" dirty="0">
                <a:latin typeface="Century Schoolbook" panose="02040604050505020304" pitchFamily="18" charset="0"/>
              </a:rPr>
              <a:t>()"&gt;Click Me&lt;/button&gt;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&lt;script&gt;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function </a:t>
            </a:r>
            <a:r>
              <a:rPr lang="en-US" sz="2400" b="1" dirty="0" err="1">
                <a:latin typeface="Century Schoolbook" panose="02040604050505020304" pitchFamily="18" charset="0"/>
              </a:rPr>
              <a:t>showMsg</a:t>
            </a:r>
            <a:r>
              <a:rPr lang="en-US" sz="2400" b="1" dirty="0">
                <a:latin typeface="Century Schoolbook" panose="02040604050505020304" pitchFamily="18" charset="0"/>
              </a:rPr>
              <a:t>()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alert("Button Clicked!");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&lt;/script&gt;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507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D5CA6-7E70-342D-C15A-02A3053AF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94" y="-86360"/>
            <a:ext cx="11910806" cy="1031240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2.2] </a:t>
            </a: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structure of c program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70D59-8165-4EC9-87E0-6BDD221E2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4320" y="843280"/>
            <a:ext cx="11490960" cy="593852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Every C program has a basic structure that defines how it is written, compiled, and executed.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consists of different sections such as header files, functions, and the main body.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Basic Structure of a C Program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#include &lt;</a:t>
            </a:r>
            <a:r>
              <a:rPr lang="en-IN" sz="2000" b="1" dirty="0" err="1">
                <a:latin typeface="Century Schoolbook" panose="02040604050505020304" pitchFamily="18" charset="0"/>
              </a:rPr>
              <a:t>stdio.h</a:t>
            </a:r>
            <a:r>
              <a:rPr lang="en-IN" sz="2000" b="1" dirty="0">
                <a:latin typeface="Century Schoolbook" panose="02040604050505020304" pitchFamily="18" charset="0"/>
              </a:rPr>
              <a:t>&gt;     // Header file section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#include &lt;</a:t>
            </a:r>
            <a:r>
              <a:rPr lang="en-IN" sz="2000" b="1" dirty="0" err="1">
                <a:latin typeface="Century Schoolbook" panose="02040604050505020304" pitchFamily="18" charset="0"/>
              </a:rPr>
              <a:t>conio.h</a:t>
            </a:r>
            <a:r>
              <a:rPr lang="en-IN" sz="2000" b="1" dirty="0">
                <a:latin typeface="Century Schoolbook" panose="02040604050505020304" pitchFamily="18" charset="0"/>
              </a:rPr>
              <a:t>&gt;     // Optional header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// Global declarations (if any)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int x = 10;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// Function declaration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void display();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int main()   {           // Main function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    // Variable declarations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8740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1126-09B2-FEEC-184C-13367E661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34" y="-426720"/>
            <a:ext cx="11575526" cy="42672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022AB-8314-37DF-0979-87D9C3140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9434" y="-304800"/>
            <a:ext cx="11382486" cy="6725920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Century Schoolbook" panose="02040604050505020304" pitchFamily="18" charset="0"/>
              </a:rPr>
              <a:t> int a = 5, b = 10, sum;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 // Processing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 sum = a + b;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 // Output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 </a:t>
            </a:r>
            <a:r>
              <a:rPr lang="en-IN" sz="2400" b="1" dirty="0" err="1">
                <a:latin typeface="Century Schoolbook" panose="02040604050505020304" pitchFamily="18" charset="0"/>
              </a:rPr>
              <a:t>printf</a:t>
            </a:r>
            <a:r>
              <a:rPr lang="en-IN" sz="2400" b="1" dirty="0">
                <a:latin typeface="Century Schoolbook" panose="02040604050505020304" pitchFamily="18" charset="0"/>
              </a:rPr>
              <a:t>("Sum = %d", sum);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 // Function call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 display();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 return 0;           // Exit from main function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// Function definition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void display() {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 </a:t>
            </a:r>
            <a:r>
              <a:rPr lang="en-IN" sz="2400" b="1" dirty="0" err="1">
                <a:latin typeface="Century Schoolbook" panose="02040604050505020304" pitchFamily="18" charset="0"/>
              </a:rPr>
              <a:t>printf</a:t>
            </a:r>
            <a:r>
              <a:rPr lang="en-IN" sz="2400" b="1" dirty="0">
                <a:latin typeface="Century Schoolbook" panose="02040604050505020304" pitchFamily="18" charset="0"/>
              </a:rPr>
              <a:t>("\</a:t>
            </a:r>
            <a:r>
              <a:rPr lang="en-IN" sz="2400" b="1" dirty="0" err="1">
                <a:latin typeface="Century Schoolbook" panose="02040604050505020304" pitchFamily="18" charset="0"/>
              </a:rPr>
              <a:t>nThis</a:t>
            </a:r>
            <a:r>
              <a:rPr lang="en-IN" sz="2400" b="1" dirty="0">
                <a:latin typeface="Century Schoolbook" panose="02040604050505020304" pitchFamily="18" charset="0"/>
              </a:rPr>
              <a:t> is a user-defined function.");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1913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F74CD-47F4-32DF-C8F9-3F0B979BD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3360"/>
            <a:ext cx="12192000" cy="1178560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Header &amp; body of a c program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956E6-F63C-EEBA-32AC-D0E4F4FAB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3520" y="833120"/>
            <a:ext cx="11592560" cy="616712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A.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Header Section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Contains: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Preprocessor directives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Global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Function declarations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#include &lt;</a:t>
            </a:r>
            <a:r>
              <a:rPr lang="en-US" sz="2400" b="1" dirty="0" err="1">
                <a:latin typeface="Century Schoolbook" panose="02040604050505020304" pitchFamily="18" charset="0"/>
              </a:rPr>
              <a:t>stdio.h</a:t>
            </a:r>
            <a:r>
              <a:rPr lang="en-US" sz="2400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x, y;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void add();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Purpose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Tells the compiler which libraries to use.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Declares data and functions accessible to all parts of the program.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463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B1D0F-B424-151A-AA70-B8C0EDF59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554" y="-487680"/>
            <a:ext cx="11666966" cy="396240"/>
          </a:xfrm>
        </p:spPr>
        <p:txBody>
          <a:bodyPr>
            <a:normAutofit fontScale="90000"/>
          </a:bodyPr>
          <a:lstStyle/>
          <a:p>
            <a:endParaRPr lang="en-IN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5EA95-C0C5-FE1F-D28B-04B0B41BB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9914" y="71120"/>
            <a:ext cx="11788886" cy="57404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B.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Body Section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Century Schoolbook" panose="02040604050505020304" pitchFamily="18" charset="0"/>
              </a:rPr>
              <a:t>Contains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The main() function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Executable statements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Function definitions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</a:t>
            </a:r>
            <a:r>
              <a:rPr lang="en-US" sz="2400" b="1" dirty="0" err="1"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latin typeface="Century Schoolbook" panose="02040604050505020304" pitchFamily="18" charset="0"/>
              </a:rPr>
              <a:t>("Hello, World!");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</a:t>
            </a:r>
          </a:p>
          <a:p>
            <a:endParaRPr lang="en-IN" sz="28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037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E525-8A61-0CFE-AAE3-00AE2BF29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54" y="-219551"/>
            <a:ext cx="11890486" cy="1188720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Use of comments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65014-5795-72DF-F1E6-C18D2BF5C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0757" y="1127760"/>
            <a:ext cx="11890486" cy="387096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Comments are non-executable statements used to make the code more understandable.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They are ignored by the compiler.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u="sng" dirty="0">
                <a:latin typeface="Century Schoolbook" panose="02040604050505020304" pitchFamily="18" charset="0"/>
              </a:rPr>
              <a:t>Types of Comments</a:t>
            </a:r>
            <a:r>
              <a:rPr lang="en-US" sz="2400" b="1" dirty="0">
                <a:latin typeface="Century Schoolbook" panose="02040604050505020304" pitchFamily="18" charset="0"/>
              </a:rPr>
              <a:t> : -</a:t>
            </a:r>
          </a:p>
          <a:p>
            <a:endParaRPr lang="en-US" b="1" dirty="0">
              <a:latin typeface="Century Schoolbook" panose="02040604050505020304" pitchFamily="18" charset="0"/>
            </a:endParaRPr>
          </a:p>
          <a:p>
            <a:endParaRPr lang="en-US" b="1" dirty="0">
              <a:latin typeface="Century Schoolbook" panose="02040604050505020304" pitchFamily="18" charset="0"/>
            </a:endParaRPr>
          </a:p>
          <a:p>
            <a:endParaRPr lang="en-US" b="1" dirty="0">
              <a:latin typeface="Century Schoolbook" panose="02040604050505020304" pitchFamily="18" charset="0"/>
            </a:endParaRPr>
          </a:p>
          <a:p>
            <a:endParaRPr lang="en-US" b="1" dirty="0">
              <a:latin typeface="Century Schoolbook" panose="02040604050505020304" pitchFamily="18" charset="0"/>
            </a:endParaRPr>
          </a:p>
          <a:p>
            <a:endParaRPr lang="en-US" b="1" dirty="0">
              <a:latin typeface="Century Schoolbook" panose="02040604050505020304" pitchFamily="18" charset="0"/>
            </a:endParaRP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BBD01F-4A9D-77FF-F787-4071E8157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230210"/>
              </p:ext>
            </p:extLst>
          </p:nvPr>
        </p:nvGraphicFramePr>
        <p:xfrm>
          <a:off x="431800" y="3063240"/>
          <a:ext cx="11303001" cy="2400582"/>
        </p:xfrm>
        <a:graphic>
          <a:graphicData uri="http://schemas.openxmlformats.org/drawingml/2006/table">
            <a:tbl>
              <a:tblPr/>
              <a:tblGrid>
                <a:gridCol w="3022600">
                  <a:extLst>
                    <a:ext uri="{9D8B030D-6E8A-4147-A177-3AD203B41FA5}">
                      <a16:colId xmlns:a16="http://schemas.microsoft.com/office/drawing/2014/main" val="3037169127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1292853787"/>
                    </a:ext>
                  </a:extLst>
                </a:gridCol>
                <a:gridCol w="4673601">
                  <a:extLst>
                    <a:ext uri="{9D8B030D-6E8A-4147-A177-3AD203B41FA5}">
                      <a16:colId xmlns:a16="http://schemas.microsoft.com/office/drawing/2014/main" val="2007136139"/>
                    </a:ext>
                  </a:extLst>
                </a:gridCol>
              </a:tblGrid>
              <a:tr h="520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Syntax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810543"/>
                  </a:ext>
                </a:extLst>
              </a:tr>
              <a:tr h="91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Single-line comment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// comment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// This is a single-line comment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306054"/>
                  </a:ext>
                </a:extLst>
              </a:tr>
              <a:tr h="91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Multi-line comment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/* comment text */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/* This is a multi-line comment */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791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659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6BE06-5EF4-036A-38DB-8C899A6D3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74" y="-127000"/>
            <a:ext cx="8825659" cy="965200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664E7-DF79-87F6-3F04-21BA7B480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1514" y="751840"/>
            <a:ext cx="8825659" cy="390144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entury Schoolbook" panose="02040604050505020304" pitchFamily="18" charset="0"/>
              </a:rPr>
              <a:t>#include &lt;</a:t>
            </a:r>
            <a:r>
              <a:rPr lang="en-US" sz="2400" b="1" dirty="0" err="1">
                <a:latin typeface="Century Schoolbook" panose="02040604050505020304" pitchFamily="18" charset="0"/>
              </a:rPr>
              <a:t>stdio.h</a:t>
            </a:r>
            <a:r>
              <a:rPr lang="en-US" sz="2400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// This program prints a message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</a:t>
            </a:r>
            <a:r>
              <a:rPr lang="en-US" sz="2400" b="1" dirty="0" err="1"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latin typeface="Century Schoolbook" panose="02040604050505020304" pitchFamily="18" charset="0"/>
              </a:rPr>
              <a:t>("Welcome to C Programming!");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/* The program ends here */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416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9C84E-A525-CEFD-6007-553BC0639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1401"/>
            <a:ext cx="11941286" cy="1146441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Compilation of a c program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433D9-27EA-5FB3-EF8C-8E831716D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782320"/>
            <a:ext cx="11941286" cy="236220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Compilation is the process of converting a C program (source code) into machine code that the computer can execute.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u="sng" dirty="0">
                <a:latin typeface="Century Schoolbook" panose="02040604050505020304" pitchFamily="18" charset="0"/>
              </a:rPr>
              <a:t>Steps of Compilation</a:t>
            </a:r>
            <a:r>
              <a:rPr lang="en-IN" sz="2400" b="1" dirty="0">
                <a:latin typeface="Century Schoolbook" panose="02040604050505020304" pitchFamily="18" charset="0"/>
              </a:rPr>
              <a:t> : -</a:t>
            </a: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ED1EFA-807E-01B0-789D-2E577A362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601791"/>
              </p:ext>
            </p:extLst>
          </p:nvPr>
        </p:nvGraphicFramePr>
        <p:xfrm>
          <a:off x="250714" y="2707056"/>
          <a:ext cx="11690572" cy="4067126"/>
        </p:xfrm>
        <a:graphic>
          <a:graphicData uri="http://schemas.openxmlformats.org/drawingml/2006/table">
            <a:tbl>
              <a:tblPr/>
              <a:tblGrid>
                <a:gridCol w="1029446">
                  <a:extLst>
                    <a:ext uri="{9D8B030D-6E8A-4147-A177-3AD203B41FA5}">
                      <a16:colId xmlns:a16="http://schemas.microsoft.com/office/drawing/2014/main" val="3688521825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1121075578"/>
                    </a:ext>
                  </a:extLst>
                </a:gridCol>
                <a:gridCol w="5554083">
                  <a:extLst>
                    <a:ext uri="{9D8B030D-6E8A-4147-A177-3AD203B41FA5}">
                      <a16:colId xmlns:a16="http://schemas.microsoft.com/office/drawing/2014/main" val="1762382018"/>
                    </a:ext>
                  </a:extLst>
                </a:gridCol>
                <a:gridCol w="2922643">
                  <a:extLst>
                    <a:ext uri="{9D8B030D-6E8A-4147-A177-3AD203B41FA5}">
                      <a16:colId xmlns:a16="http://schemas.microsoft.com/office/drawing/2014/main" val="2212538267"/>
                    </a:ext>
                  </a:extLst>
                </a:gridCol>
              </a:tblGrid>
              <a:tr h="351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Step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Process Name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Description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File Extension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699128"/>
                  </a:ext>
                </a:extLst>
              </a:tr>
              <a:tr h="879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Preprocessing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Removes comments, expands macros, and includes header files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.i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638969"/>
                  </a:ext>
                </a:extLst>
              </a:tr>
              <a:tr h="6156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2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Compilation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Converts preprocessed code into assembly code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.s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090014"/>
                  </a:ext>
                </a:extLst>
              </a:tr>
              <a:tr h="6156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3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Assembly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Converts assembly code into object code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.o or .obj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17897"/>
                  </a:ext>
                </a:extLst>
              </a:tr>
              <a:tr h="879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4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Linking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Links object files and libraries into a single executable file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.exe or .out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174778"/>
                  </a:ext>
                </a:extLst>
              </a:tr>
              <a:tr h="6156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5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Execution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Runs the final executable program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—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7092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8151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C9FB-B9C9-E9C3-D530-0AC2961F8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880"/>
            <a:ext cx="11799046" cy="1127760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Diagram of compilation process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E504F-A478-A85B-6CE1-706B7CC15B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9440" y="843280"/>
            <a:ext cx="8527733" cy="5232400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Century Schoolbook" panose="02040604050505020304" pitchFamily="18" charset="0"/>
              </a:rPr>
              <a:t>Source Code (.c)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       ↓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Preprocessor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       ↓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Compiler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       ↓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Assembler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       ↓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Linker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       ↓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Executable File (.exe)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655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6B4FA-4DA8-D458-D5E8-78A0F8E77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34" y="-203200"/>
            <a:ext cx="11362166" cy="1117600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2.3] </a:t>
            </a: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data concepts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3E57B-6A94-52DC-A35D-77E29212B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4000" y="762000"/>
            <a:ext cx="11490960" cy="547624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Variables</a:t>
            </a:r>
            <a:r>
              <a:rPr lang="en-US" sz="3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 variable is a named memory location used to store data that can change during program execution.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 err="1">
                <a:latin typeface="Century Schoolbook" panose="02040604050505020304" pitchFamily="18" charset="0"/>
              </a:rPr>
              <a:t>data_type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400" b="1" dirty="0" err="1">
                <a:latin typeface="Century Schoolbook" panose="02040604050505020304" pitchFamily="18" charset="0"/>
              </a:rPr>
              <a:t>variable_name</a:t>
            </a:r>
            <a:r>
              <a:rPr lang="en-US" sz="2400" b="1" dirty="0">
                <a:latin typeface="Century Schoolbook" panose="02040604050505020304" pitchFamily="18" charset="0"/>
              </a:rPr>
              <a:t>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Example: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age;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float salary;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char grade;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29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56C76-7C11-F5BB-7BCE-6D7501FE3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-243840"/>
            <a:ext cx="11511280" cy="1127760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Constant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47B8D-F3A2-FF92-0BB1-EA1171029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5280" y="812800"/>
            <a:ext cx="11338560" cy="6045200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A constant is a fixed value that does not change during program execution.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Types of Constants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b="1" dirty="0">
              <a:latin typeface="Century Schoolbook" panose="020406040505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b="1" dirty="0">
              <a:latin typeface="Century Schoolbook" panose="02040604050505020304" pitchFamily="18" charset="0"/>
            </a:endParaRP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endParaRPr lang="en-US" b="1" dirty="0">
              <a:latin typeface="Century Schoolbook" panose="02040604050505020304" pitchFamily="18" charset="0"/>
            </a:endParaRPr>
          </a:p>
          <a:p>
            <a:endParaRPr lang="en-US" b="1" dirty="0">
              <a:latin typeface="Century Schoolbook" panose="02040604050505020304" pitchFamily="18" charset="0"/>
            </a:endParaRPr>
          </a:p>
          <a:p>
            <a:endParaRPr lang="en-US" b="1" dirty="0">
              <a:latin typeface="Century Schoolbook" panose="02040604050505020304" pitchFamily="18" charset="0"/>
            </a:endParaRPr>
          </a:p>
          <a:p>
            <a:endParaRPr lang="en-US" b="1" dirty="0">
              <a:latin typeface="Century Schoolbook" panose="020406040505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int </a:t>
            </a:r>
            <a:r>
              <a:rPr lang="en-US" b="1" dirty="0" err="1">
                <a:latin typeface="Century Schoolbook" panose="02040604050505020304" pitchFamily="18" charset="0"/>
              </a:rPr>
              <a:t>roll_no</a:t>
            </a:r>
            <a:r>
              <a:rPr lang="en-US" b="1" dirty="0">
                <a:latin typeface="Century Schoolbook" panose="02040604050505020304" pitchFamily="18" charset="0"/>
              </a:rPr>
              <a:t> = 10;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float marks = 85.5;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char grade = 'A';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double average = 45789.23;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void display();</a:t>
            </a:r>
          </a:p>
          <a:p>
            <a:endParaRPr lang="en-US" b="1" dirty="0">
              <a:latin typeface="Century Schoolbook" panose="02040604050505020304" pitchFamily="18" charset="0"/>
            </a:endParaRP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25E828-A53B-3E7F-B852-EC0B04EE55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864530"/>
              </p:ext>
            </p:extLst>
          </p:nvPr>
        </p:nvGraphicFramePr>
        <p:xfrm>
          <a:off x="335280" y="1849120"/>
          <a:ext cx="11673840" cy="242085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771246971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353090036"/>
                    </a:ext>
                  </a:extLst>
                </a:gridCol>
                <a:gridCol w="5857240">
                  <a:extLst>
                    <a:ext uri="{9D8B030D-6E8A-4147-A177-3AD203B41FA5}">
                      <a16:colId xmlns:a16="http://schemas.microsoft.com/office/drawing/2014/main" val="2975375155"/>
                    </a:ext>
                  </a:extLst>
                </a:gridCol>
              </a:tblGrid>
              <a:tr h="246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961602"/>
                  </a:ext>
                </a:extLst>
              </a:tr>
              <a:tr h="246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Integer constant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10, -25,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Whole numbers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214685"/>
                  </a:ext>
                </a:extLst>
              </a:tr>
              <a:tr h="246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Floating constant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3.14, -0.55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Numbers with decimal point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574748"/>
                  </a:ext>
                </a:extLst>
              </a:tr>
              <a:tr h="431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Character constant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'A', '5'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entury Schoolbook" panose="02040604050505020304" pitchFamily="18" charset="0"/>
                        </a:rPr>
                        <a:t>Single character enclosed in single quotes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283224"/>
                  </a:ext>
                </a:extLst>
              </a:tr>
              <a:tr h="431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String constant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"Hello"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entury Schoolbook" panose="02040604050505020304" pitchFamily="18" charset="0"/>
                        </a:rPr>
                        <a:t>Sequence of characters in double quotes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265375"/>
                  </a:ext>
                </a:extLst>
              </a:tr>
              <a:tr h="431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Symbolic constant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#define PI 3.14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Declared using preprocessor directive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349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41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B3CDC-0994-DA47-E8C8-268729232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34" y="-101600"/>
            <a:ext cx="11727926" cy="924560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Qualifiers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F0A38-312E-EF7A-3320-CDD3A30FE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9914" y="822960"/>
            <a:ext cx="8825659" cy="38608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Qualifiers modify the range and size of data types.</a:t>
            </a:r>
          </a:p>
          <a:p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A. </a:t>
            </a:r>
            <a:r>
              <a:rPr lang="en-IN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Size Qualifiers</a:t>
            </a:r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short int age = 18;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long int population = 1500000;</a:t>
            </a:r>
          </a:p>
          <a:p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B. </a:t>
            </a:r>
            <a:r>
              <a:rPr lang="en-IN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Sign Qualifiers</a:t>
            </a:r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signed int temperature = -10;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unsigned int marks = 90;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29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C3F79-D5B7-BD90-232A-145EA8916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" y="-152400"/>
            <a:ext cx="12192000" cy="1127760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Declaring variables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8D4F9-E2E9-5CF0-F891-6CC706214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4320" y="833120"/>
            <a:ext cx="11805920" cy="249936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Variables must be declared before they are used.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int age = 20;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float height = 5.7;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char grade = 'A';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018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DFE6-0A1B-379D-0281-DBE100C5B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25067"/>
            <a:ext cx="8825659" cy="1086246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Scope of variable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98D08-B002-D0B5-13D9-DEEE86D45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3040" y="741680"/>
            <a:ext cx="11003280" cy="231648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scope of a variable refers to the region of the program where it is accessible.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Types of Scope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5FDF82-A32B-72C3-2341-2393EFD48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551142"/>
              </p:ext>
            </p:extLst>
          </p:nvPr>
        </p:nvGraphicFramePr>
        <p:xfrm>
          <a:off x="370840" y="2545080"/>
          <a:ext cx="10131426" cy="2894330"/>
        </p:xfrm>
        <a:graphic>
          <a:graphicData uri="http://schemas.openxmlformats.org/drawingml/2006/table">
            <a:tbl>
              <a:tblPr/>
              <a:tblGrid>
                <a:gridCol w="2402840">
                  <a:extLst>
                    <a:ext uri="{9D8B030D-6E8A-4147-A177-3AD203B41FA5}">
                      <a16:colId xmlns:a16="http://schemas.microsoft.com/office/drawing/2014/main" val="17897843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694869543"/>
                    </a:ext>
                  </a:extLst>
                </a:gridCol>
                <a:gridCol w="4070986">
                  <a:extLst>
                    <a:ext uri="{9D8B030D-6E8A-4147-A177-3AD203B41FA5}">
                      <a16:colId xmlns:a16="http://schemas.microsoft.com/office/drawing/2014/main" val="4210131643"/>
                    </a:ext>
                  </a:extLst>
                </a:gridCol>
              </a:tblGrid>
              <a:tr h="674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Scope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Declared 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Accessible 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550976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Local 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Inside a function or block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Only within that block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421407"/>
                  </a:ext>
                </a:extLst>
              </a:tr>
              <a:tr h="871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Global 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Outside all functions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All functions in the program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452626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Block Scope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Inside {} braces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Only within that block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333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6107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8FEC1-0F98-6820-3D69-143C545CE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4" y="-177800"/>
            <a:ext cx="11910806" cy="1112520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CDBDA-CABF-2EE9-CFBC-F6FEBFB06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7040" y="833120"/>
            <a:ext cx="11653520" cy="5709920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Century Schoolbook" panose="02040604050505020304" pitchFamily="18" charset="0"/>
              </a:rPr>
              <a:t>#include &lt;</a:t>
            </a:r>
            <a:r>
              <a:rPr lang="en-IN" sz="2400" b="1" dirty="0" err="1">
                <a:latin typeface="Century Schoolbook" panose="02040604050505020304" pitchFamily="18" charset="0"/>
              </a:rPr>
              <a:t>stdio.h</a:t>
            </a:r>
            <a:r>
              <a:rPr lang="en-IN" sz="2400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int x = 10; // global variable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 int y = 20; // local variable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 {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     int z = 30; // block variable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     </a:t>
            </a:r>
            <a:r>
              <a:rPr lang="en-IN" sz="2400" b="1" dirty="0" err="1">
                <a:latin typeface="Century Schoolbook" panose="02040604050505020304" pitchFamily="18" charset="0"/>
              </a:rPr>
              <a:t>printf</a:t>
            </a:r>
            <a:r>
              <a:rPr lang="en-IN" sz="2400" b="1" dirty="0">
                <a:latin typeface="Century Schoolbook" panose="02040604050505020304" pitchFamily="18" charset="0"/>
              </a:rPr>
              <a:t>("%d %d %d", x, y, z);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 }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 // </a:t>
            </a:r>
            <a:r>
              <a:rPr lang="en-IN" sz="2400" b="1" dirty="0" err="1">
                <a:latin typeface="Century Schoolbook" panose="02040604050505020304" pitchFamily="18" charset="0"/>
              </a:rPr>
              <a:t>printf</a:t>
            </a:r>
            <a:r>
              <a:rPr lang="en-IN" sz="2400" b="1" dirty="0">
                <a:latin typeface="Century Schoolbook" panose="02040604050505020304" pitchFamily="18" charset="0"/>
              </a:rPr>
              <a:t>("%d", z); // error: z not accessible here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}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137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D145-BB6F-8681-F78B-AB752FA95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7320"/>
            <a:ext cx="12192000" cy="1061720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Hierarchical of data types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9E100-A66D-2771-12E9-21D228EC0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4800" y="762000"/>
            <a:ext cx="11582400" cy="33020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When two different data types are used in an expression, C automatically converts the smaller type into the larger type.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Hierarchy (Lowest → Highest) :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int a = 5;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float b = 2.5;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float result = a + b; // int 'a' converted to float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997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F4F46-FCB5-9B37-F91B-A167CC74C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14" y="-121920"/>
            <a:ext cx="8825659" cy="1031240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2.4] </a:t>
            </a: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operators in c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FDAC7-71BD-E693-72C3-18D42CA32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9754" y="792480"/>
            <a:ext cx="11484086" cy="346456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An operator is a symbol that performs an operation on one or more operands (variables or values).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a = 5, b = 2;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sum = a + b;   // '+' is an arithmetic operator</a:t>
            </a:r>
          </a:p>
          <a:p>
            <a:endParaRPr lang="en-IN" sz="20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512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22C89-ECFE-6E63-ED19-CDC473665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" y="-203200"/>
            <a:ext cx="12110720" cy="1117600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</a:t>
            </a: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arithmetic operators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0E02A-7181-30F3-7B0C-BF8802359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3680" y="650241"/>
            <a:ext cx="11155680" cy="610616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Used to perform mathematical calculations</a:t>
            </a:r>
            <a:r>
              <a:rPr lang="en-US" sz="2000" b="1" dirty="0">
                <a:latin typeface="Century Schoolbook" panose="02040604050505020304" pitchFamily="18" charset="0"/>
              </a:rPr>
              <a:t>.</a:t>
            </a: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a = 10, b = 3;</a:t>
            </a:r>
          </a:p>
          <a:p>
            <a:r>
              <a:rPr lang="en-US" sz="2400" b="1" dirty="0" err="1"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latin typeface="Century Schoolbook" panose="02040604050505020304" pitchFamily="18" charset="0"/>
              </a:rPr>
              <a:t>("%d", a % b);  // Output: 1</a:t>
            </a: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7369A9-3734-5550-5DF1-CD59AA5A9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56355"/>
              </p:ext>
            </p:extLst>
          </p:nvPr>
        </p:nvGraphicFramePr>
        <p:xfrm>
          <a:off x="492760" y="1224280"/>
          <a:ext cx="10131424" cy="3000586"/>
        </p:xfrm>
        <a:graphic>
          <a:graphicData uri="http://schemas.openxmlformats.org/drawingml/2006/table">
            <a:tbl>
              <a:tblPr/>
              <a:tblGrid>
                <a:gridCol w="2016760">
                  <a:extLst>
                    <a:ext uri="{9D8B030D-6E8A-4147-A177-3AD203B41FA5}">
                      <a16:colId xmlns:a16="http://schemas.microsoft.com/office/drawing/2014/main" val="2295072376"/>
                    </a:ext>
                  </a:extLst>
                </a:gridCol>
                <a:gridCol w="2367280">
                  <a:extLst>
                    <a:ext uri="{9D8B030D-6E8A-4147-A177-3AD203B41FA5}">
                      <a16:colId xmlns:a16="http://schemas.microsoft.com/office/drawing/2014/main" val="1799966532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871949479"/>
                    </a:ext>
                  </a:extLst>
                </a:gridCol>
                <a:gridCol w="3684904">
                  <a:extLst>
                    <a:ext uri="{9D8B030D-6E8A-4147-A177-3AD203B41FA5}">
                      <a16:colId xmlns:a16="http://schemas.microsoft.com/office/drawing/2014/main" val="1205978500"/>
                    </a:ext>
                  </a:extLst>
                </a:gridCol>
              </a:tblGrid>
              <a:tr h="496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90916"/>
                  </a:ext>
                </a:extLst>
              </a:tr>
              <a:tr h="496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Addition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a +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Sum of a and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844482"/>
                  </a:ext>
                </a:extLst>
              </a:tr>
              <a:tr h="494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Subtraction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a -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Difference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157409"/>
                  </a:ext>
                </a:extLst>
              </a:tr>
              <a:tr h="496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Multiplication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a *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Product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362537"/>
                  </a:ext>
                </a:extLst>
              </a:tr>
              <a:tr h="496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Division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a /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Quotient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261747"/>
                  </a:ext>
                </a:extLst>
              </a:tr>
              <a:tr h="496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Modulus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a %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Remainder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422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008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B4FF6-49B2-544B-28C2-5E5D9F86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57" y="-254000"/>
            <a:ext cx="12042886" cy="1168400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Relational operators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2BBA3-AC56-6836-2E1E-2B81BE0D7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3680" y="741680"/>
            <a:ext cx="11582400" cy="6116320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Used to compare two values.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They return either 1 (true) or 0 (false)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="1" dirty="0">
              <a:latin typeface="Century Schoolbook" panose="02040604050505020304" pitchFamily="18" charset="0"/>
            </a:endParaRP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int a = 5, b = 8;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if (a &lt; b)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    </a:t>
            </a:r>
            <a:r>
              <a:rPr lang="en-US" sz="2000" b="1" dirty="0" err="1">
                <a:latin typeface="Century Schoolbook" panose="02040604050505020304" pitchFamily="18" charset="0"/>
              </a:rPr>
              <a:t>printf</a:t>
            </a:r>
            <a:r>
              <a:rPr lang="en-US" sz="2000" b="1" dirty="0">
                <a:latin typeface="Century Schoolbook" panose="02040604050505020304" pitchFamily="18" charset="0"/>
              </a:rPr>
              <a:t>("a is smaller");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9C2984-A112-87A4-DEEE-5E69911B6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665592"/>
              </p:ext>
            </p:extLst>
          </p:nvPr>
        </p:nvGraphicFramePr>
        <p:xfrm>
          <a:off x="375920" y="1529081"/>
          <a:ext cx="10131424" cy="3221072"/>
        </p:xfrm>
        <a:graphic>
          <a:graphicData uri="http://schemas.openxmlformats.org/drawingml/2006/table">
            <a:tbl>
              <a:tblPr/>
              <a:tblGrid>
                <a:gridCol w="1615440">
                  <a:extLst>
                    <a:ext uri="{9D8B030D-6E8A-4147-A177-3AD203B41FA5}">
                      <a16:colId xmlns:a16="http://schemas.microsoft.com/office/drawing/2014/main" val="204220976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38490349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22271802"/>
                    </a:ext>
                  </a:extLst>
                </a:gridCol>
                <a:gridCol w="4238624">
                  <a:extLst>
                    <a:ext uri="{9D8B030D-6E8A-4147-A177-3AD203B41FA5}">
                      <a16:colId xmlns:a16="http://schemas.microsoft.com/office/drawing/2014/main" val="4052826517"/>
                    </a:ext>
                  </a:extLst>
                </a:gridCol>
              </a:tblGrid>
              <a:tr h="386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05710"/>
                  </a:ext>
                </a:extLst>
              </a:tr>
              <a:tr h="386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==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Equal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a ==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entury Schoolbook" panose="02040604050505020304" pitchFamily="18" charset="0"/>
                        </a:rPr>
                        <a:t>True if a equals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857522"/>
                  </a:ext>
                </a:extLst>
              </a:tr>
              <a:tr h="386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!=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Not equal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a !=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entury Schoolbook" panose="02040604050505020304" pitchFamily="18" charset="0"/>
                        </a:rPr>
                        <a:t>True if a not equal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081065"/>
                  </a:ext>
                </a:extLst>
              </a:tr>
              <a:tr h="386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Greater than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a &gt;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entury Schoolbook" panose="02040604050505020304" pitchFamily="18" charset="0"/>
                        </a:rPr>
                        <a:t>True if a greater than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594839"/>
                  </a:ext>
                </a:extLst>
              </a:tr>
              <a:tr h="386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&lt;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Less than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a &lt;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entury Schoolbook" panose="02040604050505020304" pitchFamily="18" charset="0"/>
                        </a:rPr>
                        <a:t>True if a less than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072361"/>
                  </a:ext>
                </a:extLst>
              </a:tr>
              <a:tr h="561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&gt;=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entury Schoolbook" panose="02040604050505020304" pitchFamily="18" charset="0"/>
                        </a:rPr>
                        <a:t>Greater than or equal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a &gt;=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True if a ≥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250816"/>
                  </a:ext>
                </a:extLst>
              </a:tr>
              <a:tr h="561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&lt;=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entury Schoolbook" panose="02040604050505020304" pitchFamily="18" charset="0"/>
                        </a:rPr>
                        <a:t>Less than or equal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a &lt;=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True if a ≤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37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5519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3E82F-0E12-D5AA-5289-FDBAF0BEB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" y="-235902"/>
            <a:ext cx="12049760" cy="1229360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Logical operators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0A2CB-EA5E-C9C7-848A-CA7340CCD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2240" y="243840"/>
            <a:ext cx="11470640" cy="612648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Used to combine two or more conditions.</a:t>
            </a: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a = 5, b = 10;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if (a &lt; b &amp;&amp; b &gt; 0)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</a:t>
            </a:r>
            <a:r>
              <a:rPr lang="en-US" sz="2400" b="1" dirty="0" err="1"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latin typeface="Century Schoolbook" panose="02040604050505020304" pitchFamily="18" charset="0"/>
              </a:rPr>
              <a:t>("Condition True");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6F3FAF-3D78-09F0-AC72-8C11E073F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721290"/>
              </p:ext>
            </p:extLst>
          </p:nvPr>
        </p:nvGraphicFramePr>
        <p:xfrm>
          <a:off x="467360" y="1218088"/>
          <a:ext cx="10131424" cy="2210911"/>
        </p:xfrm>
        <a:graphic>
          <a:graphicData uri="http://schemas.openxmlformats.org/drawingml/2006/table">
            <a:tbl>
              <a:tblPr/>
              <a:tblGrid>
                <a:gridCol w="1696720">
                  <a:extLst>
                    <a:ext uri="{9D8B030D-6E8A-4147-A177-3AD203B41FA5}">
                      <a16:colId xmlns:a16="http://schemas.microsoft.com/office/drawing/2014/main" val="2053907737"/>
                    </a:ext>
                  </a:extLst>
                </a:gridCol>
                <a:gridCol w="2275840">
                  <a:extLst>
                    <a:ext uri="{9D8B030D-6E8A-4147-A177-3AD203B41FA5}">
                      <a16:colId xmlns:a16="http://schemas.microsoft.com/office/drawing/2014/main" val="352640558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4216791395"/>
                    </a:ext>
                  </a:extLst>
                </a:gridCol>
                <a:gridCol w="3659504">
                  <a:extLst>
                    <a:ext uri="{9D8B030D-6E8A-4147-A177-3AD203B41FA5}">
                      <a16:colId xmlns:a16="http://schemas.microsoft.com/office/drawing/2014/main" val="3881087990"/>
                    </a:ext>
                  </a:extLst>
                </a:gridCol>
              </a:tblGrid>
              <a:tr h="465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883265"/>
                  </a:ext>
                </a:extLst>
              </a:tr>
              <a:tr h="814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entury Schoolbook" panose="02040604050505020304" pitchFamily="18" charset="0"/>
                        </a:rPr>
                        <a:t>&amp;&amp;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entury Schoolbook" panose="02040604050505020304" pitchFamily="18" charset="0"/>
                        </a:rPr>
                        <a:t>Logical 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entury Schoolbook" panose="02040604050505020304" pitchFamily="18" charset="0"/>
                        </a:rPr>
                        <a:t>(a &gt; b) &amp;&amp; (a &gt; 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Century Schoolbook" panose="02040604050505020304" pitchFamily="18" charset="0"/>
                        </a:rPr>
                        <a:t>True if both conditions are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173525"/>
                  </a:ext>
                </a:extLst>
              </a:tr>
              <a:tr h="465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Century Schoolbook" panose="02040604050505020304" pitchFamily="18" charset="0"/>
                        </a:rPr>
                        <a:t>`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b="1" dirty="0">
                        <a:latin typeface="Century Schoolbook" panose="020406040505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Century Schoolbook" panose="02040604050505020304" pitchFamily="18" charset="0"/>
                        </a:rPr>
                        <a:t>`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Century Schoolbook" panose="02040604050505020304" pitchFamily="18" charset="0"/>
                        </a:rPr>
                        <a:t>Logical 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947842"/>
                  </a:ext>
                </a:extLst>
              </a:tr>
              <a:tr h="465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entury Schoolbook" panose="02040604050505020304" pitchFamily="18" charset="0"/>
                        </a:rPr>
                        <a:t>!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entury Schoolbook" panose="02040604050505020304" pitchFamily="18" charset="0"/>
                        </a:rPr>
                        <a:t>Logical 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Century Schoolbook" panose="02040604050505020304" pitchFamily="18" charset="0"/>
                        </a:rPr>
                        <a:t>!(a &gt; 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Century Schoolbook" panose="02040604050505020304" pitchFamily="18" charset="0"/>
                        </a:rPr>
                        <a:t>True if condition is 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649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9458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09844-AF0D-6A81-98AC-DE0B8158C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94" y="-174704"/>
            <a:ext cx="8825659" cy="1097280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Betwise</a:t>
            </a: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 operators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B81E1-B740-974C-DBE3-478181AC6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6476" y="922576"/>
            <a:ext cx="11799047" cy="270256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Used to perform operations on bits (0s and 1s).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They are used in low-level programming, device control, etc.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a = 5, b = 3;</a:t>
            </a:r>
          </a:p>
          <a:p>
            <a:r>
              <a:rPr lang="en-US" sz="2400" b="1" dirty="0" err="1"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latin typeface="Century Schoolbook" panose="02040604050505020304" pitchFamily="18" charset="0"/>
              </a:rPr>
              <a:t>("%d", a &amp; b);  // Output: 1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E84001-FE65-CDF3-1D03-04E93FBF9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459727"/>
              </p:ext>
            </p:extLst>
          </p:nvPr>
        </p:nvGraphicFramePr>
        <p:xfrm>
          <a:off x="196476" y="3413760"/>
          <a:ext cx="10131424" cy="3276602"/>
        </p:xfrm>
        <a:graphic>
          <a:graphicData uri="http://schemas.openxmlformats.org/drawingml/2006/table">
            <a:tbl>
              <a:tblPr/>
              <a:tblGrid>
                <a:gridCol w="1805044">
                  <a:extLst>
                    <a:ext uri="{9D8B030D-6E8A-4147-A177-3AD203B41FA5}">
                      <a16:colId xmlns:a16="http://schemas.microsoft.com/office/drawing/2014/main" val="336722241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462526376"/>
                    </a:ext>
                  </a:extLst>
                </a:gridCol>
                <a:gridCol w="2174240">
                  <a:extLst>
                    <a:ext uri="{9D8B030D-6E8A-4147-A177-3AD203B41FA5}">
                      <a16:colId xmlns:a16="http://schemas.microsoft.com/office/drawing/2014/main" val="1151727408"/>
                    </a:ext>
                  </a:extLst>
                </a:gridCol>
                <a:gridCol w="3561340">
                  <a:extLst>
                    <a:ext uri="{9D8B030D-6E8A-4147-A177-3AD203B41FA5}">
                      <a16:colId xmlns:a16="http://schemas.microsoft.com/office/drawing/2014/main" val="2531603631"/>
                    </a:ext>
                  </a:extLst>
                </a:gridCol>
              </a:tblGrid>
              <a:tr h="468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Result (if a=5, b=3)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618466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&amp;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Bitwise 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a &amp;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1 (0101 &amp; 0011 = 0001)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780854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`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`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Bitwise 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`a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533026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^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Bitwise XOR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a ^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6 (0101 ^ 0011 = 0110)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467300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~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Bitwise 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~a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Complement of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228205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&lt;&lt;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Left shift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a &lt;&lt;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Multiply by 2 (5&lt;&lt;1 = 10)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415038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&gt;&gt;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Right shift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a &gt;&gt;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Divide by 2 (5&gt;&gt;1 = 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480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8008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82EB3-1A46-56AF-B076-F788E8F41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94" y="-147320"/>
            <a:ext cx="11717766" cy="1102360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Assignment operators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BF4F8-311F-61A4-8459-3E295AFC8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1994" y="955040"/>
            <a:ext cx="10508726" cy="577088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Used to assign values to variables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  <a:p>
            <a:endParaRPr lang="en-IN" sz="2000" b="1" dirty="0">
              <a:latin typeface="Century Schoolbook" panose="02040604050505020304" pitchFamily="18" charset="0"/>
            </a:endParaRPr>
          </a:p>
          <a:p>
            <a:endParaRPr lang="en-IN" sz="2000" b="1" dirty="0">
              <a:latin typeface="Century Schoolbook" panose="02040604050505020304" pitchFamily="18" charset="0"/>
            </a:endParaRPr>
          </a:p>
          <a:p>
            <a:endParaRPr lang="en-IN" sz="2000" b="1" dirty="0">
              <a:latin typeface="Century Schoolbook" panose="02040604050505020304" pitchFamily="18" charset="0"/>
            </a:endParaRPr>
          </a:p>
          <a:p>
            <a:endParaRPr lang="en-IN" sz="2000" b="1" dirty="0">
              <a:latin typeface="Century Schoolbook" panose="02040604050505020304" pitchFamily="18" charset="0"/>
            </a:endParaRPr>
          </a:p>
          <a:p>
            <a:endParaRPr lang="en-IN" sz="2000" b="1" dirty="0">
              <a:latin typeface="Century Schoolbook" panose="02040604050505020304" pitchFamily="18" charset="0"/>
            </a:endParaRPr>
          </a:p>
          <a:p>
            <a:endParaRPr lang="en-IN" sz="2800" b="1" u="sng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int a = 10;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a += 5;    // a = a + 5</a:t>
            </a:r>
          </a:p>
          <a:p>
            <a:r>
              <a:rPr lang="en-IN" sz="2000" b="1" dirty="0" err="1">
                <a:latin typeface="Century Schoolbook" panose="02040604050505020304" pitchFamily="18" charset="0"/>
              </a:rPr>
              <a:t>printf</a:t>
            </a:r>
            <a:r>
              <a:rPr lang="en-IN" sz="2000" b="1" dirty="0">
                <a:latin typeface="Century Schoolbook" panose="02040604050505020304" pitchFamily="18" charset="0"/>
              </a:rPr>
              <a:t>("%d", a);  // Output: 15</a:t>
            </a: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9693F3-48FA-6C85-1465-3E8EE4ABA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183361"/>
              </p:ext>
            </p:extLst>
          </p:nvPr>
        </p:nvGraphicFramePr>
        <p:xfrm>
          <a:off x="520644" y="1112520"/>
          <a:ext cx="7973116" cy="3261360"/>
        </p:xfrm>
        <a:graphic>
          <a:graphicData uri="http://schemas.openxmlformats.org/drawingml/2006/table">
            <a:tbl>
              <a:tblPr/>
              <a:tblGrid>
                <a:gridCol w="2212396">
                  <a:extLst>
                    <a:ext uri="{9D8B030D-6E8A-4147-A177-3AD203B41FA5}">
                      <a16:colId xmlns:a16="http://schemas.microsoft.com/office/drawing/2014/main" val="2135103183"/>
                    </a:ext>
                  </a:extLst>
                </a:gridCol>
                <a:gridCol w="2509520">
                  <a:extLst>
                    <a:ext uri="{9D8B030D-6E8A-4147-A177-3AD203B41FA5}">
                      <a16:colId xmlns:a16="http://schemas.microsoft.com/office/drawing/2014/main" val="2075598336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4234962486"/>
                    </a:ext>
                  </a:extLst>
                </a:gridCol>
              </a:tblGrid>
              <a:tr h="453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Equivalent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319807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a = 10;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Assign 10 to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817887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+=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a += 5;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a = a + 5;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458314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-=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a -= 3;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a = a - 3;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073856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*=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a *= 2;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a = a * 2;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531466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/=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a /= 2;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a = a / 2;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73274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%=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a %= 2;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a = a % 2;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10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9425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24FE-D548-7AF0-B00C-AA8A483A8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54" y="-162560"/>
            <a:ext cx="11250406" cy="1117600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2.5] </a:t>
            </a: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basic input/output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  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7FB42-6E46-0376-8750-C2837D399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3680" y="812800"/>
            <a:ext cx="11551920" cy="524256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Structure of a C Program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C program always follows a fixed structure:</a:t>
            </a:r>
          </a:p>
          <a:p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#include &lt;</a:t>
            </a:r>
            <a:r>
              <a:rPr lang="en-US" sz="2000" b="1" dirty="0" err="1">
                <a:solidFill>
                  <a:srgbClr val="FFFF00"/>
                </a:solidFill>
                <a:latin typeface="Century Schoolbook" panose="02040604050505020304" pitchFamily="18" charset="0"/>
              </a:rPr>
              <a:t>stdio.h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&gt;     // Header file for input/output functions</a:t>
            </a:r>
          </a:p>
          <a:p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int main()             // Main function – execution starts here</a:t>
            </a:r>
          </a:p>
          <a:p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{</a:t>
            </a:r>
          </a:p>
          <a:p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   // variable declarations</a:t>
            </a:r>
          </a:p>
          <a:p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   // input statements</a:t>
            </a:r>
          </a:p>
          <a:p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   // processing statements</a:t>
            </a:r>
          </a:p>
          <a:p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   // output statements</a:t>
            </a:r>
          </a:p>
          <a:p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   return 0;          // End of program</a:t>
            </a:r>
          </a:p>
          <a:p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}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394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52FA-AA5F-6815-997A-5AEE0B962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34" y="-172720"/>
            <a:ext cx="11738086" cy="1137920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Input &amp; output in c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2B8DC-EDDF-3A58-DD80-B39D2A190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7840" y="822960"/>
            <a:ext cx="10342880" cy="260604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To interact with the user, C uses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() </a:t>
            </a:r>
            <a:r>
              <a:rPr lang="en-US" sz="2400" b="1" dirty="0">
                <a:latin typeface="Century Schoolbook" panose="02040604050505020304" pitchFamily="18" charset="0"/>
              </a:rPr>
              <a:t>→ for </a:t>
            </a:r>
            <a:r>
              <a:rPr lang="en-US" sz="2400" b="1" i="1" dirty="0">
                <a:latin typeface="Century Schoolbook" panose="02040604050505020304" pitchFamily="18" charset="0"/>
              </a:rPr>
              <a:t>output (display)</a:t>
            </a:r>
            <a:endParaRPr lang="en-US" sz="24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entury Schoolbook" panose="02040604050505020304" pitchFamily="18" charset="0"/>
              </a:rPr>
              <a:t>scanf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() </a:t>
            </a:r>
            <a:r>
              <a:rPr lang="en-US" sz="2400" b="1" dirty="0">
                <a:latin typeface="Century Schoolbook" panose="02040604050505020304" pitchFamily="18" charset="0"/>
              </a:rPr>
              <a:t>→ for </a:t>
            </a:r>
            <a:r>
              <a:rPr lang="en-US" sz="2400" b="1" i="1" dirty="0">
                <a:latin typeface="Century Schoolbook" panose="02040604050505020304" pitchFamily="18" charset="0"/>
              </a:rPr>
              <a:t>input (reading values)</a:t>
            </a:r>
            <a:endParaRPr lang="en-US" sz="24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Both are defined in </a:t>
            </a:r>
            <a:r>
              <a:rPr lang="en-US" sz="2400" b="1" dirty="0" err="1">
                <a:latin typeface="Century Schoolbook" panose="02040604050505020304" pitchFamily="18" charset="0"/>
              </a:rPr>
              <a:t>stdio.h</a:t>
            </a:r>
            <a:r>
              <a:rPr lang="en-US" sz="2400" b="1" dirty="0">
                <a:latin typeface="Century Schoolbook" panose="02040604050505020304" pitchFamily="18" charset="0"/>
              </a:rPr>
              <a:t> (standard input/output header).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2600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B7D1E-D8D4-36FB-67DB-C87B8CC50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94" y="-213360"/>
            <a:ext cx="11917680" cy="1148080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A] </a:t>
            </a: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output using </a:t>
            </a:r>
            <a:r>
              <a:rPr lang="en-US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printf</a:t>
            </a: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()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40D0E-EEA7-B73B-195D-5CB8B5398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0646" y="721360"/>
            <a:ext cx="11643360" cy="418592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 : -</a:t>
            </a:r>
          </a:p>
          <a:p>
            <a:r>
              <a:rPr lang="en-US" sz="2400" b="1" dirty="0" err="1"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latin typeface="Century Schoolbook" panose="02040604050505020304" pitchFamily="18" charset="0"/>
              </a:rPr>
              <a:t>("format string", </a:t>
            </a:r>
            <a:r>
              <a:rPr lang="en-US" sz="2400" b="1" dirty="0" err="1">
                <a:latin typeface="Century Schoolbook" panose="02040604050505020304" pitchFamily="18" charset="0"/>
              </a:rPr>
              <a:t>variable_list</a:t>
            </a:r>
            <a:r>
              <a:rPr lang="en-US" sz="2400" b="1" dirty="0">
                <a:latin typeface="Century Schoolbook" panose="02040604050505020304" pitchFamily="18" charset="0"/>
              </a:rPr>
              <a:t>);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a = 10;</a:t>
            </a:r>
          </a:p>
          <a:p>
            <a:r>
              <a:rPr lang="en-US" sz="2400" b="1" dirty="0" err="1"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latin typeface="Century Schoolbook" panose="02040604050505020304" pitchFamily="18" charset="0"/>
              </a:rPr>
              <a:t>("Value of a = %d", a);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✅ Output: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Value of a = 10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7446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DE310-9727-EAF7-77D3-61421B46F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4" y="-172720"/>
            <a:ext cx="11809206" cy="1148080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B] </a:t>
            </a: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input using </a:t>
            </a:r>
            <a:r>
              <a:rPr lang="en-US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scanf</a:t>
            </a: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()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3622D-E061-79EE-9DCE-A62F12F14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4320" y="762000"/>
            <a:ext cx="11643360" cy="556768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 err="1">
                <a:latin typeface="Century Schoolbook" panose="02040604050505020304" pitchFamily="18" charset="0"/>
              </a:rPr>
              <a:t>scanf</a:t>
            </a:r>
            <a:r>
              <a:rPr lang="en-US" sz="2400" b="1" dirty="0">
                <a:latin typeface="Century Schoolbook" panose="02040604050505020304" pitchFamily="18" charset="0"/>
              </a:rPr>
              <a:t>("format string", &amp;</a:t>
            </a:r>
            <a:r>
              <a:rPr lang="en-US" sz="2400" b="1" dirty="0" err="1">
                <a:latin typeface="Century Schoolbook" panose="02040604050505020304" pitchFamily="18" charset="0"/>
              </a:rPr>
              <a:t>variable_list</a:t>
            </a:r>
            <a:r>
              <a:rPr lang="en-US" sz="2400" b="1" dirty="0">
                <a:latin typeface="Century Schoolbook" panose="02040604050505020304" pitchFamily="18" charset="0"/>
              </a:rPr>
              <a:t>);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age;</a:t>
            </a:r>
          </a:p>
          <a:p>
            <a:r>
              <a:rPr lang="en-US" sz="2400" b="1" dirty="0" err="1"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latin typeface="Century Schoolbook" panose="02040604050505020304" pitchFamily="18" charset="0"/>
              </a:rPr>
              <a:t>("Enter your age: ");</a:t>
            </a:r>
          </a:p>
          <a:p>
            <a:r>
              <a:rPr lang="en-US" sz="2400" b="1" dirty="0" err="1">
                <a:latin typeface="Century Schoolbook" panose="02040604050505020304" pitchFamily="18" charset="0"/>
              </a:rPr>
              <a:t>scanf</a:t>
            </a:r>
            <a:r>
              <a:rPr lang="en-US" sz="2400" b="1" dirty="0">
                <a:latin typeface="Century Schoolbook" panose="02040604050505020304" pitchFamily="18" charset="0"/>
              </a:rPr>
              <a:t>("%d", &amp;age);</a:t>
            </a:r>
          </a:p>
          <a:p>
            <a:r>
              <a:rPr lang="en-US" sz="2400" b="1" dirty="0" err="1"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latin typeface="Century Schoolbook" panose="02040604050505020304" pitchFamily="18" charset="0"/>
              </a:rPr>
              <a:t>("Your age is %d", age);</a:t>
            </a:r>
          </a:p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Output :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Enter your age: 18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Your age is 18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187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B259-93F4-BD26-05B6-17396A5CB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48920"/>
            <a:ext cx="12192000" cy="1087120"/>
          </a:xfrm>
        </p:spPr>
        <p:txBody>
          <a:bodyPr>
            <a:normAutofit fontScale="90000"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Character input/output functions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19AAB-4068-A6E9-3333-FECF06700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5120" y="731520"/>
            <a:ext cx="11277600" cy="88392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Used to handle single character input/output.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016EC9-1E94-1E52-32DE-A4F1F1E3C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150161"/>
              </p:ext>
            </p:extLst>
          </p:nvPr>
        </p:nvGraphicFramePr>
        <p:xfrm>
          <a:off x="452120" y="1173480"/>
          <a:ext cx="11475720" cy="4782784"/>
        </p:xfrm>
        <a:graphic>
          <a:graphicData uri="http://schemas.openxmlformats.org/drawingml/2006/table">
            <a:tbl>
              <a:tblPr/>
              <a:tblGrid>
                <a:gridCol w="2392680">
                  <a:extLst>
                    <a:ext uri="{9D8B030D-6E8A-4147-A177-3AD203B41FA5}">
                      <a16:colId xmlns:a16="http://schemas.microsoft.com/office/drawing/2014/main" val="332004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0398517"/>
                    </a:ext>
                  </a:extLst>
                </a:gridCol>
                <a:gridCol w="3825240">
                  <a:extLst>
                    <a:ext uri="{9D8B030D-6E8A-4147-A177-3AD203B41FA5}">
                      <a16:colId xmlns:a16="http://schemas.microsoft.com/office/drawing/2014/main" val="3122157588"/>
                    </a:ext>
                  </a:extLst>
                </a:gridCol>
              </a:tblGrid>
              <a:tr h="719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627920"/>
                  </a:ext>
                </a:extLst>
              </a:tr>
              <a:tr h="719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getchar()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Century Schoolbook" panose="02040604050505020304" pitchFamily="18" charset="0"/>
                        </a:rPr>
                        <a:t>Takes one character as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ch = getchar();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691285"/>
                  </a:ext>
                </a:extLst>
              </a:tr>
              <a:tr h="719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 err="1">
                          <a:latin typeface="Century Schoolbook" panose="02040604050505020304" pitchFamily="18" charset="0"/>
                        </a:rPr>
                        <a:t>putchar</a:t>
                      </a: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Century Schoolbook" panose="02040604050505020304" pitchFamily="18" charset="0"/>
                        </a:rPr>
                        <a:t>Displays one character on screen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putchar(ch);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947654"/>
                  </a:ext>
                </a:extLst>
              </a:tr>
              <a:tr h="1259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gets()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Century Schoolbook" panose="02040604050505020304" pitchFamily="18" charset="0"/>
                        </a:rPr>
                        <a:t>Reads a string (can include spaces)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gets(name);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294840"/>
                  </a:ext>
                </a:extLst>
              </a:tr>
              <a:tr h="1259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puts()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Century Schoolbook" panose="02040604050505020304" pitchFamily="18" charset="0"/>
                        </a:rPr>
                        <a:t>Prints a string followed by a newline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puts(name);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831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6673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144</TotalTime>
  <Words>2122</Words>
  <Application>Microsoft Office PowerPoint</Application>
  <PresentationFormat>Widescreen</PresentationFormat>
  <Paragraphs>491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Algerian</vt:lpstr>
      <vt:lpstr>Arial</vt:lpstr>
      <vt:lpstr>Calibri</vt:lpstr>
      <vt:lpstr>Calibri Light</vt:lpstr>
      <vt:lpstr>Century Schoolbook</vt:lpstr>
      <vt:lpstr>Wingdings</vt:lpstr>
      <vt:lpstr>Celestial</vt:lpstr>
      <vt:lpstr>02. Basics of c programming </vt:lpstr>
      <vt:lpstr>2.1] different approaches in programming : -</vt:lpstr>
      <vt:lpstr>1. Procedural approach : -</vt:lpstr>
      <vt:lpstr>Object-oriented approach : -</vt:lpstr>
      <vt:lpstr>Event-driven approach : -</vt:lpstr>
      <vt:lpstr>Example in java script : -</vt:lpstr>
      <vt:lpstr>2.2] structure of c program : -</vt:lpstr>
      <vt:lpstr>PowerPoint Presentation</vt:lpstr>
      <vt:lpstr>Header &amp; body of a c program : -</vt:lpstr>
      <vt:lpstr>PowerPoint Presentation</vt:lpstr>
      <vt:lpstr>Use of comments : -</vt:lpstr>
      <vt:lpstr>Example : -</vt:lpstr>
      <vt:lpstr>Compilation of a c program : -</vt:lpstr>
      <vt:lpstr>Diagram of compilation process : -</vt:lpstr>
      <vt:lpstr>2.3] data concepts : -</vt:lpstr>
      <vt:lpstr>Constant : -</vt:lpstr>
      <vt:lpstr>Qualifiers : -</vt:lpstr>
      <vt:lpstr>Declaring variables : -</vt:lpstr>
      <vt:lpstr>Scope of variable : -</vt:lpstr>
      <vt:lpstr>Example : -</vt:lpstr>
      <vt:lpstr>Hierarchical of data types : -</vt:lpstr>
      <vt:lpstr>2.4] operators in c : -</vt:lpstr>
      <vt:lpstr> arithmetic operators : -</vt:lpstr>
      <vt:lpstr>Relational operators : -</vt:lpstr>
      <vt:lpstr>Logical operators : -</vt:lpstr>
      <vt:lpstr>Betwise operators : -</vt:lpstr>
      <vt:lpstr>Assignment operators : -</vt:lpstr>
      <vt:lpstr>2.5] basic input/output : -  </vt:lpstr>
      <vt:lpstr>Input &amp; output in c : -</vt:lpstr>
      <vt:lpstr>A] output using printf() : -</vt:lpstr>
      <vt:lpstr>B] input using scanf() : -</vt:lpstr>
      <vt:lpstr>Character input/output functions :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Darpan Shedge</cp:lastModifiedBy>
  <cp:revision>2</cp:revision>
  <dcterms:created xsi:type="dcterms:W3CDTF">2025-11-04T01:17:41Z</dcterms:created>
  <dcterms:modified xsi:type="dcterms:W3CDTF">2025-11-04T03:42:02Z</dcterms:modified>
</cp:coreProperties>
</file>