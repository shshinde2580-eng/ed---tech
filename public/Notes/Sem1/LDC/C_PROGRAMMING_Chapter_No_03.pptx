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7" r:id="rId7"/>
    <p:sldId id="261" r:id="rId8"/>
    <p:sldId id="278" r:id="rId9"/>
    <p:sldId id="262" r:id="rId10"/>
    <p:sldId id="279" r:id="rId11"/>
    <p:sldId id="263" r:id="rId12"/>
    <p:sldId id="280" r:id="rId13"/>
    <p:sldId id="265" r:id="rId14"/>
    <p:sldId id="266" r:id="rId15"/>
    <p:sldId id="281" r:id="rId16"/>
    <p:sldId id="267" r:id="rId17"/>
    <p:sldId id="282" r:id="rId18"/>
    <p:sldId id="268" r:id="rId19"/>
    <p:sldId id="283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BD557B-990A-42F5-8860-6AEAD314C911}" v="8" dt="2025-11-03T14:35:00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81284-16E8-99DE-CCA0-3662005E8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386" y="1506254"/>
            <a:ext cx="10894654" cy="2421464"/>
          </a:xfrm>
        </p:spPr>
        <p:txBody>
          <a:bodyPr>
            <a:normAutofit fontScale="90000"/>
          </a:bodyPr>
          <a:lstStyle/>
          <a:p>
            <a:r>
              <a:rPr lang="en-US" sz="8000" dirty="0">
                <a:solidFill>
                  <a:srgbClr val="FFFF00"/>
                </a:solidFill>
                <a:latin typeface="Algerian" panose="04020705040A02060702" pitchFamily="82" charset="0"/>
              </a:rPr>
              <a:t>03. </a:t>
            </a:r>
            <a:r>
              <a:rPr lang="en-US" sz="8000" u="sng" dirty="0">
                <a:solidFill>
                  <a:srgbClr val="FFFF00"/>
                </a:solidFill>
                <a:latin typeface="Algerian" panose="04020705040A02060702" pitchFamily="82" charset="0"/>
              </a:rPr>
              <a:t>Control structure </a:t>
            </a:r>
            <a:endParaRPr lang="en-IN" sz="8000" u="sng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1E7AB-819D-2DD0-8B03-5D32E45C45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760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09FA-D888-5D0B-C072-BCB7074A6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7587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Introduction of control structure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F8103-43C4-CF7A-A2B1-FA7BEE84D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652" y="727587"/>
            <a:ext cx="11759380" cy="613041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In C programming, Control Structures are the building blocks that determine the flow of execution of statements in a program.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They allow the programmer to control how and when different parts of the program are executed, depending on conditions or repetition needs.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Control structures decide which statements are executed, in what order, and how many times.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Need for Control Structures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In a program, statements normally execute sequentially — one after another.</a:t>
            </a:r>
            <a:br>
              <a:rPr lang="en-US" b="1" dirty="0">
                <a:latin typeface="Century Schoolbook" panose="02040604050505020304" pitchFamily="18" charset="0"/>
              </a:rPr>
            </a:br>
            <a:r>
              <a:rPr lang="en-US" b="1" dirty="0">
                <a:latin typeface="Century Schoolbook" panose="02040604050505020304" pitchFamily="18" charset="0"/>
              </a:rPr>
              <a:t>However, in real-life problems, we often need to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Make decisions (e.g., if marks ≥ 40 → pass, else fail)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Repeat actions (e.g., print numbers 1 to 10)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Jump to specific statements (e.g., skip or exit loops)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Control structures make these actions possible.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015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1FC40-1168-F6E3-DCBF-6636CDC0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34683" cy="87507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Types of Control Structures in C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48417-3F5B-9A47-B099-D13603445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798" y="6754761"/>
            <a:ext cx="10131428" cy="83574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A1972E-DAD8-0FE8-168E-9FF446E2E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745516"/>
              </p:ext>
            </p:extLst>
          </p:nvPr>
        </p:nvGraphicFramePr>
        <p:xfrm>
          <a:off x="432618" y="875070"/>
          <a:ext cx="11307096" cy="5891660"/>
        </p:xfrm>
        <a:graphic>
          <a:graphicData uri="http://schemas.openxmlformats.org/drawingml/2006/table">
            <a:tbl>
              <a:tblPr/>
              <a:tblGrid>
                <a:gridCol w="3769032">
                  <a:extLst>
                    <a:ext uri="{9D8B030D-6E8A-4147-A177-3AD203B41FA5}">
                      <a16:colId xmlns:a16="http://schemas.microsoft.com/office/drawing/2014/main" val="1212200724"/>
                    </a:ext>
                  </a:extLst>
                </a:gridCol>
                <a:gridCol w="3769032">
                  <a:extLst>
                    <a:ext uri="{9D8B030D-6E8A-4147-A177-3AD203B41FA5}">
                      <a16:colId xmlns:a16="http://schemas.microsoft.com/office/drawing/2014/main" val="3467819096"/>
                    </a:ext>
                  </a:extLst>
                </a:gridCol>
                <a:gridCol w="3769032">
                  <a:extLst>
                    <a:ext uri="{9D8B030D-6E8A-4147-A177-3AD203B41FA5}">
                      <a16:colId xmlns:a16="http://schemas.microsoft.com/office/drawing/2014/main" val="2709968861"/>
                    </a:ext>
                  </a:extLst>
                </a:gridCol>
              </a:tblGrid>
              <a:tr h="810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326581"/>
                  </a:ext>
                </a:extLst>
              </a:tr>
              <a:tr h="1419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1️⃣ Sequence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Century Schoolbook" panose="02040604050505020304" pitchFamily="18" charset="0"/>
                        </a:rPr>
                        <a:t>Executes statements one after another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Normal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006132"/>
                  </a:ext>
                </a:extLst>
              </a:tr>
              <a:tr h="1419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2️⃣ Selection / Decision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Century Schoolbook" panose="02040604050505020304" pitchFamily="18" charset="0"/>
                        </a:rPr>
                        <a:t>Makes decisions based on conditions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Century Schoolbook" panose="02040604050505020304" pitchFamily="18" charset="0"/>
                        </a:rPr>
                        <a:t>if, if-else, nested if, switch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949510"/>
                  </a:ext>
                </a:extLst>
              </a:tr>
              <a:tr h="810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3️⃣ Looping / Iteration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Century Schoolbook" panose="02040604050505020304" pitchFamily="18" charset="0"/>
                        </a:rPr>
                        <a:t>Repeats a set of statements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for, while, do-while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630596"/>
                  </a:ext>
                </a:extLst>
              </a:tr>
              <a:tr h="1419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4️⃣ Jump / Branching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Century Schoolbook" panose="02040604050505020304" pitchFamily="18" charset="0"/>
                        </a:rPr>
                        <a:t>Transfers control to another part of program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break, continue, </a:t>
                      </a:r>
                      <a:r>
                        <a:rPr lang="en-IN" sz="2400" b="1" dirty="0" err="1">
                          <a:latin typeface="Century Schoolbook" panose="02040604050505020304" pitchFamily="18" charset="0"/>
                        </a:rPr>
                        <a:t>goto</a:t>
                      </a: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, 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866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5700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2FBE2-DDEF-99CC-8D74-F5784F44F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5" y="-117987"/>
            <a:ext cx="12192000" cy="10668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3.1]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decision making statements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C2D4F-0342-4299-8CF9-B45B68D39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6644" y="825910"/>
            <a:ext cx="11710221" cy="281202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Introduction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C programming, decision-making statements are used when we want the program to take different actions based on conditions.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These statements allow the program to choose which block of code to execute depending on whether a condition is true or false.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033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CE7DC-EF17-05CB-A3D3-84480A63F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48" y="-167148"/>
            <a:ext cx="10131427" cy="10668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If statement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AEF3D-5946-6717-F0B4-2143CAFCD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5470" y="766917"/>
            <a:ext cx="11926529" cy="446548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if statement is used to test a condition.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If the condition is true, the block of code inside the if statement is executed; otherwise, it is skipped.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if (condition)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// statements to execute if condition is true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007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548A3-FF23-5D8A-DEE9-F49A68D08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-203199"/>
            <a:ext cx="10131427" cy="115824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 of if statement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09777-5144-5B89-6F56-3C73CEDD0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4481" y="701040"/>
            <a:ext cx="11816079" cy="451104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entury Schoolbook" panose="02040604050505020304" pitchFamily="18" charset="0"/>
              </a:rPr>
              <a:t>#include &lt;</a:t>
            </a:r>
            <a:r>
              <a:rPr lang="en-US" sz="2400" b="1" dirty="0" err="1">
                <a:latin typeface="Century Schoolbook" panose="02040604050505020304" pitchFamily="18" charset="0"/>
              </a:rPr>
              <a:t>stdio.h</a:t>
            </a:r>
            <a:r>
              <a:rPr lang="en-US" sz="2400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int num = 10;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if (num &gt; 0)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    </a:t>
            </a:r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 ("Number is positive.");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}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Output : Number is positive.</a:t>
            </a:r>
          </a:p>
        </p:txBody>
      </p:sp>
    </p:spTree>
    <p:extLst>
      <p:ext uri="{BB962C8B-B14F-4D97-AF65-F5344CB8AC3E}">
        <p14:creationId xmlns:p14="http://schemas.microsoft.com/office/powerpoint/2010/main" val="867183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1047-5641-6CD8-9E49-FDAE0D052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-162559"/>
            <a:ext cx="12192000" cy="10668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if-else statement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86D2E-3045-9326-943A-387734746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4000" y="762001"/>
            <a:ext cx="11511280" cy="495808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if-else statement is used when we need to perform one action if the condition is true and another action if it is false.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if (condition)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// statements if condition is true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 else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// statements if condition is false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687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62940-8AFB-F1F6-BFC4-8627812DD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" y="-132080"/>
            <a:ext cx="12085320" cy="975360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 of if-else statement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E63C8-B30E-38CD-D9DC-EE577868D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20" y="751840"/>
            <a:ext cx="11811000" cy="6106160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latin typeface="Century Schoolbook" panose="02040604050505020304" pitchFamily="18" charset="0"/>
              </a:rPr>
              <a:t>#include &lt;</a:t>
            </a:r>
            <a:r>
              <a:rPr lang="en-US" sz="2400" b="1" dirty="0" err="1">
                <a:latin typeface="Century Schoolbook" panose="02040604050505020304" pitchFamily="18" charset="0"/>
              </a:rPr>
              <a:t>stdio.h</a:t>
            </a:r>
            <a:r>
              <a:rPr lang="en-US" sz="2400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int num = -5;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if (num &gt;= 0)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    </a:t>
            </a:r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 ("Number is positive.");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} else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    </a:t>
            </a:r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 ("Number is negative.");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}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Output :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Number is negative.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428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A942D-C73C-0192-355B-8F8258602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731519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FF00"/>
                </a:solidFill>
                <a:latin typeface="Algerian" panose="04020705040A02060702" pitchFamily="82" charset="0"/>
              </a:rPr>
              <a:t>3. </a:t>
            </a:r>
            <a:r>
              <a:rPr lang="en-US" sz="3600" u="sng" dirty="0">
                <a:solidFill>
                  <a:srgbClr val="FFFF00"/>
                </a:solidFill>
                <a:latin typeface="Algerian" panose="04020705040A02060702" pitchFamily="82" charset="0"/>
              </a:rPr>
              <a:t>Nesting of if-else (nested if-else statement)</a:t>
            </a:r>
            <a:r>
              <a:rPr lang="en-US" sz="36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36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29B81-5CE2-A335-8059-53B01BBC5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4001" y="731520"/>
            <a:ext cx="11582399" cy="6319519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When an if or else statement contains another if-else statement inside it, it is called nested if-else.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This is used for multiple-level decision making.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if (condition1)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if (condition2)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    // statements if both conditions are true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} else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    // statements if condition2 is false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}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 else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// statements if condition1 is false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416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B3051-8CE3-9058-3FB7-625BDA115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-101599"/>
            <a:ext cx="11948160" cy="96520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 of Nesting of if-else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23738-6807-B4FD-E42B-09A772803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880" y="772160"/>
            <a:ext cx="9923148" cy="6085839"/>
          </a:xfrm>
        </p:spPr>
        <p:txBody>
          <a:bodyPr>
            <a:normAutofit fontScale="77500" lnSpcReduction="20000"/>
          </a:bodyPr>
          <a:lstStyle/>
          <a:p>
            <a:r>
              <a:rPr lang="en-US" sz="2400" b="1" dirty="0">
                <a:latin typeface="Century Schoolbook" panose="02040604050505020304" pitchFamily="18" charset="0"/>
              </a:rPr>
              <a:t>#include &lt;</a:t>
            </a:r>
            <a:r>
              <a:rPr lang="en-US" sz="2400" b="1" dirty="0" err="1">
                <a:latin typeface="Century Schoolbook" panose="02040604050505020304" pitchFamily="18" charset="0"/>
              </a:rPr>
              <a:t>stdio.h</a:t>
            </a:r>
            <a:r>
              <a:rPr lang="en-US" sz="2400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int marks = 75;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if (marks &gt;= 40)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    if (marks &gt;= 60)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        </a:t>
            </a:r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("First Class");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    } else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        </a:t>
            </a:r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("Second Class");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    }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} else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    </a:t>
            </a:r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("Fail");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}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Output : </a:t>
            </a:r>
          </a:p>
          <a:p>
            <a:r>
              <a:rPr lang="en-US" sz="2300" b="1" dirty="0">
                <a:latin typeface="Century Schoolbook" panose="02040604050505020304" pitchFamily="18" charset="0"/>
              </a:rPr>
              <a:t>First Class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75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E21A0-45F6-56E1-1B24-50FD1834B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3359"/>
            <a:ext cx="12192000" cy="114808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Branching : the switch statement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53757-1A59-C4EB-14CF-9D337D0C8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4480" y="762001"/>
            <a:ext cx="11907520" cy="428751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Introduction</a:t>
            </a:r>
            <a:r>
              <a:rPr lang="en-US" sz="3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Century Schoolbook" panose="02040604050505020304" pitchFamily="18" charset="0"/>
              </a:rPr>
              <a:t>In C programming, the switch statement is a multi-way decision-making statement.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Century Schoolbook" panose="02040604050505020304" pitchFamily="18" charset="0"/>
              </a:rPr>
              <a:t>It allows the program to select one block of code to execute out of many possible options, based on the value of an expression (usually a variable).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Century Schoolbook" panose="02040604050505020304" pitchFamily="18" charset="0"/>
              </a:rPr>
              <a:t>The switch statement is an alternative to multiple if-else statements and makes code easier to read and manage.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358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114A5-DE29-E663-62D5-6B17B96F1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" y="-193039"/>
            <a:ext cx="11430000" cy="106680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Syntax of switch statement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37EF9-BF11-6FB3-8F63-67FCB7E6F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1320" y="802640"/>
            <a:ext cx="10131428" cy="6156959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600" b="1" dirty="0">
                <a:latin typeface="Century Schoolbook" panose="02040604050505020304" pitchFamily="18" charset="0"/>
              </a:rPr>
              <a:t>switch (expression) {</a:t>
            </a:r>
          </a:p>
          <a:p>
            <a:r>
              <a:rPr lang="en-US" sz="2600" b="1" dirty="0">
                <a:latin typeface="Century Schoolbook" panose="02040604050505020304" pitchFamily="18" charset="0"/>
              </a:rPr>
              <a:t>    case constant1:</a:t>
            </a:r>
          </a:p>
          <a:p>
            <a:r>
              <a:rPr lang="en-US" sz="2600" b="1" dirty="0">
                <a:latin typeface="Century Schoolbook" panose="02040604050505020304" pitchFamily="18" charset="0"/>
              </a:rPr>
              <a:t>        // statements</a:t>
            </a:r>
          </a:p>
          <a:p>
            <a:r>
              <a:rPr lang="en-US" sz="2600" b="1" dirty="0">
                <a:latin typeface="Century Schoolbook" panose="02040604050505020304" pitchFamily="18" charset="0"/>
              </a:rPr>
              <a:t>        break;</a:t>
            </a:r>
          </a:p>
          <a:p>
            <a:r>
              <a:rPr lang="en-US" sz="2600" b="1" dirty="0">
                <a:latin typeface="Century Schoolbook" panose="02040604050505020304" pitchFamily="18" charset="0"/>
              </a:rPr>
              <a:t>    case constant2:</a:t>
            </a:r>
          </a:p>
          <a:p>
            <a:r>
              <a:rPr lang="en-US" sz="2600" b="1" dirty="0">
                <a:latin typeface="Century Schoolbook" panose="02040604050505020304" pitchFamily="18" charset="0"/>
              </a:rPr>
              <a:t>        // statements</a:t>
            </a:r>
          </a:p>
          <a:p>
            <a:r>
              <a:rPr lang="en-US" sz="2600" b="1" dirty="0">
                <a:latin typeface="Century Schoolbook" panose="02040604050505020304" pitchFamily="18" charset="0"/>
              </a:rPr>
              <a:t>        break;</a:t>
            </a:r>
          </a:p>
          <a:p>
            <a:r>
              <a:rPr lang="en-US" sz="2600" b="1" dirty="0">
                <a:latin typeface="Century Schoolbook" panose="02040604050505020304" pitchFamily="18" charset="0"/>
              </a:rPr>
              <a:t>    case constant3:</a:t>
            </a:r>
          </a:p>
          <a:p>
            <a:r>
              <a:rPr lang="en-US" sz="2600" b="1" dirty="0">
                <a:latin typeface="Century Schoolbook" panose="02040604050505020304" pitchFamily="18" charset="0"/>
              </a:rPr>
              <a:t>        // statements</a:t>
            </a:r>
          </a:p>
          <a:p>
            <a:r>
              <a:rPr lang="en-US" sz="2600" b="1" dirty="0">
                <a:latin typeface="Century Schoolbook" panose="02040604050505020304" pitchFamily="18" charset="0"/>
              </a:rPr>
              <a:t>        break;</a:t>
            </a:r>
          </a:p>
          <a:p>
            <a:r>
              <a:rPr lang="en-US" sz="2600" b="1" dirty="0">
                <a:latin typeface="Century Schoolbook" panose="02040604050505020304" pitchFamily="18" charset="0"/>
              </a:rPr>
              <a:t>    default:</a:t>
            </a:r>
          </a:p>
          <a:p>
            <a:r>
              <a:rPr lang="en-US" sz="2600" b="1" dirty="0">
                <a:latin typeface="Century Schoolbook" panose="02040604050505020304" pitchFamily="18" charset="0"/>
              </a:rPr>
              <a:t>        // statements (optional)</a:t>
            </a:r>
          </a:p>
          <a:p>
            <a:r>
              <a:rPr lang="en-US" sz="2600" b="1" dirty="0">
                <a:latin typeface="Century Schoolbook" panose="02040604050505020304" pitchFamily="18" charset="0"/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2715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1AE16-6A27-9F05-24E5-960B0931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-162559"/>
            <a:ext cx="11816080" cy="10668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3.3]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looping in c programming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CFE76-50F9-6029-708D-CF487CB08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600" y="833120"/>
            <a:ext cx="11431906" cy="3362960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C programming, looping statements are used to repeat a block of code multiple times until a certain condition is met.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They make programs shorter, easier, and more efficient — especially when performing repetitive tasks like printing numbers, calculating sums, </a:t>
            </a:r>
            <a:r>
              <a:rPr lang="en-US" sz="2400" b="1" dirty="0" err="1">
                <a:latin typeface="Century Schoolbook" panose="02040604050505020304" pitchFamily="18" charset="0"/>
              </a:rPr>
              <a:t>etc</a:t>
            </a:r>
            <a:r>
              <a:rPr lang="en-US" sz="2400" b="1" dirty="0">
                <a:latin typeface="Century Schoolbook" panose="02040604050505020304" pitchFamily="18" charset="0"/>
              </a:rPr>
              <a:t>…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loop is a way to execute a set of statements repeatedly based on a condition.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Types of Loops in C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8E847B-16E7-1F70-D05C-1D4A5F720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970352"/>
              </p:ext>
            </p:extLst>
          </p:nvPr>
        </p:nvGraphicFramePr>
        <p:xfrm>
          <a:off x="380047" y="3870960"/>
          <a:ext cx="11431905" cy="2987040"/>
        </p:xfrm>
        <a:graphic>
          <a:graphicData uri="http://schemas.openxmlformats.org/drawingml/2006/table">
            <a:tbl>
              <a:tblPr/>
              <a:tblGrid>
                <a:gridCol w="2719914">
                  <a:extLst>
                    <a:ext uri="{9D8B030D-6E8A-4147-A177-3AD203B41FA5}">
                      <a16:colId xmlns:a16="http://schemas.microsoft.com/office/drawing/2014/main" val="3577349595"/>
                    </a:ext>
                  </a:extLst>
                </a:gridCol>
                <a:gridCol w="3813433">
                  <a:extLst>
                    <a:ext uri="{9D8B030D-6E8A-4147-A177-3AD203B41FA5}">
                      <a16:colId xmlns:a16="http://schemas.microsoft.com/office/drawing/2014/main" val="3457688569"/>
                    </a:ext>
                  </a:extLst>
                </a:gridCol>
                <a:gridCol w="4898558">
                  <a:extLst>
                    <a:ext uri="{9D8B030D-6E8A-4147-A177-3AD203B41FA5}">
                      <a16:colId xmlns:a16="http://schemas.microsoft.com/office/drawing/2014/main" val="3464313302"/>
                    </a:ext>
                  </a:extLst>
                </a:gridCol>
              </a:tblGrid>
              <a:tr h="5014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Loop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Condition Check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When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310597"/>
                  </a:ext>
                </a:extLst>
              </a:tr>
              <a:tr h="796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while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Before the loop body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Century Schoolbook" panose="02040604050505020304" pitchFamily="18" charset="0"/>
                        </a:rPr>
                        <a:t>When number of iterations is unknown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39302"/>
                  </a:ext>
                </a:extLst>
              </a:tr>
              <a:tr h="796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do-while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After the loop body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Century Schoolbook" panose="02040604050505020304" pitchFamily="18" charset="0"/>
                        </a:rPr>
                        <a:t>When loop must execute at least once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003981"/>
                  </a:ext>
                </a:extLst>
              </a:tr>
              <a:tr h="796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for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Century Schoolbook" panose="02040604050505020304" pitchFamily="18" charset="0"/>
                        </a:rPr>
                        <a:t>Before the loop body (compact form)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Century Schoolbook" panose="02040604050505020304" pitchFamily="18" charset="0"/>
                        </a:rPr>
                        <a:t>When number of iterations is known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253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431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DBBB-B0D9-4F0F-493B-BAED51508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" y="-121919"/>
            <a:ext cx="11866880" cy="10668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While loop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F7AF4-8D27-1E7E-DA1A-679799862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802640"/>
            <a:ext cx="11582400" cy="48260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while loop repeats a block of code as long as the condition is true.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called an entry-controlled loop because the condition is checked before entering the loop.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while (condition)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// statements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922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06541-75BD-2D89-B8FE-B56297D01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" y="-152399"/>
            <a:ext cx="11932919" cy="106680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 of while loop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3EBD8-2CCB-4118-5C3C-9A329626C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843280"/>
            <a:ext cx="9877428" cy="601472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Century Schoolbook" panose="02040604050505020304" pitchFamily="18" charset="0"/>
              </a:rPr>
              <a:t>#include &lt;</a:t>
            </a:r>
            <a:r>
              <a:rPr lang="en-US" b="1" dirty="0" err="1">
                <a:latin typeface="Century Schoolbook" panose="02040604050505020304" pitchFamily="18" charset="0"/>
              </a:rPr>
              <a:t>stdio.h</a:t>
            </a:r>
            <a:r>
              <a:rPr lang="en-US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int </a:t>
            </a:r>
            <a:r>
              <a:rPr lang="en-US" b="1" dirty="0" err="1">
                <a:latin typeface="Century Schoolbook" panose="02040604050505020304" pitchFamily="18" charset="0"/>
              </a:rPr>
              <a:t>i</a:t>
            </a:r>
            <a:r>
              <a:rPr lang="en-US" b="1" dirty="0">
                <a:latin typeface="Century Schoolbook" panose="02040604050505020304" pitchFamily="18" charset="0"/>
              </a:rPr>
              <a:t> = 1;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while (</a:t>
            </a:r>
            <a:r>
              <a:rPr lang="en-US" b="1" dirty="0" err="1">
                <a:latin typeface="Century Schoolbook" panose="02040604050505020304" pitchFamily="18" charset="0"/>
              </a:rPr>
              <a:t>i</a:t>
            </a:r>
            <a:r>
              <a:rPr lang="en-US" b="1" dirty="0">
                <a:latin typeface="Century Schoolbook" panose="02040604050505020304" pitchFamily="18" charset="0"/>
              </a:rPr>
              <a:t> &lt;= 5)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   </a:t>
            </a:r>
            <a:r>
              <a:rPr lang="en-US" b="1" dirty="0" err="1">
                <a:latin typeface="Century Schoolbook" panose="02040604050505020304" pitchFamily="18" charset="0"/>
              </a:rPr>
              <a:t>printf</a:t>
            </a:r>
            <a:r>
              <a:rPr lang="en-US" b="1" dirty="0">
                <a:latin typeface="Century Schoolbook" panose="02040604050505020304" pitchFamily="18" charset="0"/>
              </a:rPr>
              <a:t> ("%d\n", </a:t>
            </a:r>
            <a:r>
              <a:rPr lang="en-US" b="1" dirty="0" err="1">
                <a:latin typeface="Century Schoolbook" panose="02040604050505020304" pitchFamily="18" charset="0"/>
              </a:rPr>
              <a:t>i</a:t>
            </a:r>
            <a:r>
              <a:rPr lang="en-US" b="1" dirty="0">
                <a:latin typeface="Century Schoolbook" panose="02040604050505020304" pitchFamily="18" charset="0"/>
              </a:rPr>
              <a:t>);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   i++ 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}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Output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1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2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3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4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5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323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316EC-4035-C226-92B3-50E51A424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40" y="-152399"/>
            <a:ext cx="11998960" cy="10668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do-while loop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B27F2-3994-2D88-7902-40239312A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640" y="772161"/>
            <a:ext cx="11897360" cy="484631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do-while loop executes the block of code once first, and then checks the condition.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an exit-controlled loop — meaning the condition is tested after executing the body.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do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// statements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 while (condition);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03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2378F-E799-D914-D34C-4A1CF7E05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" y="-193039"/>
            <a:ext cx="12120880" cy="106680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2E5CE-CA78-2287-E855-BFDE7BC1A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782320"/>
            <a:ext cx="11785600" cy="616711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Century Schoolbook" panose="02040604050505020304" pitchFamily="18" charset="0"/>
              </a:rPr>
              <a:t>#include &lt;</a:t>
            </a:r>
            <a:r>
              <a:rPr lang="en-US" b="1" dirty="0" err="1">
                <a:latin typeface="Century Schoolbook" panose="02040604050505020304" pitchFamily="18" charset="0"/>
              </a:rPr>
              <a:t>stdio.h</a:t>
            </a:r>
            <a:r>
              <a:rPr lang="en-US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int </a:t>
            </a:r>
            <a:r>
              <a:rPr lang="en-US" b="1" dirty="0" err="1">
                <a:latin typeface="Century Schoolbook" panose="02040604050505020304" pitchFamily="18" charset="0"/>
              </a:rPr>
              <a:t>i</a:t>
            </a:r>
            <a:r>
              <a:rPr lang="en-US" b="1" dirty="0">
                <a:latin typeface="Century Schoolbook" panose="02040604050505020304" pitchFamily="18" charset="0"/>
              </a:rPr>
              <a:t> = 1;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do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   </a:t>
            </a:r>
            <a:r>
              <a:rPr lang="en-US" b="1" dirty="0" err="1">
                <a:latin typeface="Century Schoolbook" panose="02040604050505020304" pitchFamily="18" charset="0"/>
              </a:rPr>
              <a:t>printf</a:t>
            </a:r>
            <a:r>
              <a:rPr lang="en-US" b="1" dirty="0">
                <a:latin typeface="Century Schoolbook" panose="02040604050505020304" pitchFamily="18" charset="0"/>
              </a:rPr>
              <a:t>("%d\n", </a:t>
            </a:r>
            <a:r>
              <a:rPr lang="en-US" b="1" dirty="0" err="1">
                <a:latin typeface="Century Schoolbook" panose="02040604050505020304" pitchFamily="18" charset="0"/>
              </a:rPr>
              <a:t>i</a:t>
            </a:r>
            <a:r>
              <a:rPr lang="en-US" b="1" dirty="0">
                <a:latin typeface="Century Schoolbook" panose="02040604050505020304" pitchFamily="18" charset="0"/>
              </a:rPr>
              <a:t>);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   </a:t>
            </a:r>
            <a:r>
              <a:rPr lang="en-US" b="1" dirty="0" err="1">
                <a:latin typeface="Century Schoolbook" panose="02040604050505020304" pitchFamily="18" charset="0"/>
              </a:rPr>
              <a:t>i</a:t>
            </a:r>
            <a:r>
              <a:rPr lang="en-US" b="1" dirty="0">
                <a:latin typeface="Century Schoolbook" panose="02040604050505020304" pitchFamily="18" charset="0"/>
              </a:rPr>
              <a:t>++;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} while (</a:t>
            </a:r>
            <a:r>
              <a:rPr lang="en-US" b="1" dirty="0" err="1">
                <a:latin typeface="Century Schoolbook" panose="02040604050505020304" pitchFamily="18" charset="0"/>
              </a:rPr>
              <a:t>i</a:t>
            </a:r>
            <a:r>
              <a:rPr lang="en-US" b="1" dirty="0">
                <a:latin typeface="Century Schoolbook" panose="02040604050505020304" pitchFamily="18" charset="0"/>
              </a:rPr>
              <a:t> &lt;= 5);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Output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1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2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3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4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5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259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7D3B6-C4F8-B95A-78F4-1F23666A9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20" y="-182879"/>
            <a:ext cx="10131427" cy="113792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3.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For loop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4F2CB-7DCF-4B1A-42A9-2B7B69E1A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720" y="751840"/>
            <a:ext cx="11333480" cy="49276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for loop is the most commonly used loop in C.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ideal when the number of iterations is known.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has three parts — initialization, condition, and increment / decrement — all in a single line.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for (initialization; condition; increment/decrement)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// statements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897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96EA-F26A-7A25-79CD-292540817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" y="-142239"/>
            <a:ext cx="10131427" cy="106680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5A0FD-3AB9-79CB-0352-FA6003EE8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8481" y="822962"/>
            <a:ext cx="11653519" cy="6035038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>
                <a:latin typeface="Century Schoolbook" panose="02040604050505020304" pitchFamily="18" charset="0"/>
              </a:rPr>
              <a:t>#include &lt;</a:t>
            </a:r>
            <a:r>
              <a:rPr lang="en-US" sz="2400" b="1" dirty="0" err="1">
                <a:latin typeface="Century Schoolbook" panose="02040604050505020304" pitchFamily="18" charset="0"/>
              </a:rPr>
              <a:t>stdio.h</a:t>
            </a:r>
            <a:r>
              <a:rPr lang="en-US" sz="2400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for (int </a:t>
            </a:r>
            <a:r>
              <a:rPr lang="en-US" sz="2400" b="1" dirty="0" err="1">
                <a:latin typeface="Century Schoolbook" panose="02040604050505020304" pitchFamily="18" charset="0"/>
              </a:rPr>
              <a:t>i</a:t>
            </a:r>
            <a:r>
              <a:rPr lang="en-US" sz="2400" b="1" dirty="0">
                <a:latin typeface="Century Schoolbook" panose="02040604050505020304" pitchFamily="18" charset="0"/>
              </a:rPr>
              <a:t> = 1; </a:t>
            </a:r>
            <a:r>
              <a:rPr lang="en-US" sz="2400" b="1" dirty="0" err="1">
                <a:latin typeface="Century Schoolbook" panose="02040604050505020304" pitchFamily="18" charset="0"/>
              </a:rPr>
              <a:t>i</a:t>
            </a:r>
            <a:r>
              <a:rPr lang="en-US" sz="2400" b="1" dirty="0">
                <a:latin typeface="Century Schoolbook" panose="02040604050505020304" pitchFamily="18" charset="0"/>
              </a:rPr>
              <a:t> &lt;= 5; </a:t>
            </a:r>
            <a:r>
              <a:rPr lang="en-US" sz="2400" b="1" dirty="0" err="1">
                <a:latin typeface="Century Schoolbook" panose="02040604050505020304" pitchFamily="18" charset="0"/>
              </a:rPr>
              <a:t>i</a:t>
            </a:r>
            <a:r>
              <a:rPr lang="en-US" sz="2400" b="1" dirty="0">
                <a:latin typeface="Century Schoolbook" panose="02040604050505020304" pitchFamily="18" charset="0"/>
              </a:rPr>
              <a:t>++)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    </a:t>
            </a:r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("%d\n", </a:t>
            </a:r>
            <a:r>
              <a:rPr lang="en-US" sz="2400" b="1" dirty="0" err="1">
                <a:latin typeface="Century Schoolbook" panose="02040604050505020304" pitchFamily="18" charset="0"/>
              </a:rPr>
              <a:t>i</a:t>
            </a:r>
            <a:r>
              <a:rPr lang="en-US" sz="2400" b="1" dirty="0">
                <a:latin typeface="Century Schoolbook" panose="02040604050505020304" pitchFamily="18" charset="0"/>
              </a:rPr>
              <a:t>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}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Output :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1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2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3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4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5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120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1ADDB-5892-ADE1-914A-227D5AC00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-132079"/>
            <a:ext cx="10131427" cy="99568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Difference between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4C822-FF4B-3DC3-93C7-F0854AB4F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V="1">
            <a:off x="848360" y="6857999"/>
            <a:ext cx="10131428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25B294-0EB8-AFAE-905E-2C3F704BF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735059"/>
              </p:ext>
            </p:extLst>
          </p:nvPr>
        </p:nvGraphicFramePr>
        <p:xfrm>
          <a:off x="208282" y="789940"/>
          <a:ext cx="11689076" cy="5626440"/>
        </p:xfrm>
        <a:graphic>
          <a:graphicData uri="http://schemas.openxmlformats.org/drawingml/2006/table">
            <a:tbl>
              <a:tblPr/>
              <a:tblGrid>
                <a:gridCol w="2402838">
                  <a:extLst>
                    <a:ext uri="{9D8B030D-6E8A-4147-A177-3AD203B41FA5}">
                      <a16:colId xmlns:a16="http://schemas.microsoft.com/office/drawing/2014/main" val="33575020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1968436185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3447937970"/>
                    </a:ext>
                  </a:extLst>
                </a:gridCol>
                <a:gridCol w="3169918">
                  <a:extLst>
                    <a:ext uri="{9D8B030D-6E8A-4147-A177-3AD203B41FA5}">
                      <a16:colId xmlns:a16="http://schemas.microsoft.com/office/drawing/2014/main" val="4165882753"/>
                    </a:ext>
                  </a:extLst>
                </a:gridCol>
              </a:tblGrid>
              <a:tr h="723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while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do-while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for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700800"/>
                  </a:ext>
                </a:extLst>
              </a:tr>
              <a:tr h="723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Entry-controlled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Exit-controlled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Entry-controlled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634497"/>
                  </a:ext>
                </a:extLst>
              </a:tr>
              <a:tr h="723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Condition Checked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Before loop body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After loop body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Before loop body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123045"/>
                  </a:ext>
                </a:extLst>
              </a:tr>
              <a:tr h="723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Execution Guarantee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Century Schoolbook" panose="02040604050505020304" pitchFamily="18" charset="0"/>
                        </a:rPr>
                        <a:t>May not execute at 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Executes at least once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Century Schoolbook" panose="02040604050505020304" pitchFamily="18" charset="0"/>
                        </a:rPr>
                        <a:t>May not execute at 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979502"/>
                  </a:ext>
                </a:extLst>
              </a:tr>
              <a:tr h="126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When repetitions unknown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Century Schoolbook" panose="02040604050505020304" pitchFamily="18" charset="0"/>
                        </a:rPr>
                        <a:t>When code must run once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When repetitions known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064341"/>
                  </a:ext>
                </a:extLst>
              </a:tr>
              <a:tr h="126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Syntax Simplicity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Simple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Simple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Century Schoolbook" panose="02040604050505020304" pitchFamily="18" charset="0"/>
                        </a:rPr>
                        <a:t>Compact (all parts in one line)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905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893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AEAE-0917-B96B-ED79-4F9AF3811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" y="-243839"/>
            <a:ext cx="10131427" cy="118872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3.4]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ternary operator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BF3AF-C84B-90D5-336E-775D2148D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280" y="457201"/>
            <a:ext cx="11480800" cy="488695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Introduction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ternary operator in C is a conditional operator used to make quick decision-making expressions.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also known as the conditional operator because it works as a short form of the if-else statement.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called </a:t>
            </a:r>
            <a:r>
              <a:rPr lang="en-US" sz="2400" b="1" i="1" dirty="0">
                <a:latin typeface="Century Schoolbook" panose="02040604050505020304" pitchFamily="18" charset="0"/>
              </a:rPr>
              <a:t>ternary</a:t>
            </a:r>
            <a:r>
              <a:rPr lang="en-US" sz="2400" b="1" dirty="0">
                <a:latin typeface="Century Schoolbook" panose="02040604050505020304" pitchFamily="18" charset="0"/>
              </a:rPr>
              <a:t> because it takes three operands.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400" b="1" dirty="0"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condition ? expression1 : expression2;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254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47F17-E609-3C0E-2C2A-2D8CA488B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39" y="-172719"/>
            <a:ext cx="11750039" cy="10668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3.5]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go to statement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8277D-DD93-0CBD-8881-B8AB0B16A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78" y="599440"/>
            <a:ext cx="11750039" cy="592327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Introduction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</a:t>
            </a:r>
            <a:r>
              <a:rPr lang="en-US" sz="2400" b="1" dirty="0" err="1">
                <a:latin typeface="Century Schoolbook" panose="02040604050505020304" pitchFamily="18" charset="0"/>
              </a:rPr>
              <a:t>goto</a:t>
            </a:r>
            <a:r>
              <a:rPr lang="en-US" sz="2400" b="1" dirty="0">
                <a:latin typeface="Century Schoolbook" panose="02040604050505020304" pitchFamily="18" charset="0"/>
              </a:rPr>
              <a:t> statement in C is a jump statement that allows the program to transfer control to a specified part of the program.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used to jump unconditionally from one point to another within the same function.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</a:t>
            </a:r>
            <a:r>
              <a:rPr lang="en-US" sz="2400" b="1" dirty="0" err="1">
                <a:latin typeface="Century Schoolbook" panose="02040604050505020304" pitchFamily="18" charset="0"/>
              </a:rPr>
              <a:t>goto</a:t>
            </a:r>
            <a:r>
              <a:rPr lang="en-US" sz="2400" b="1" dirty="0">
                <a:latin typeface="Century Schoolbook" panose="02040604050505020304" pitchFamily="18" charset="0"/>
              </a:rPr>
              <a:t> statement tells the compiler — “go to this label and continue execution from there.”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goto</a:t>
            </a:r>
            <a:r>
              <a:rPr lang="en-US" sz="2400" b="1" dirty="0">
                <a:latin typeface="Century Schoolbook" panose="02040604050505020304" pitchFamily="18" charset="0"/>
              </a:rPr>
              <a:t> label;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...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label: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// statements</a:t>
            </a:r>
            <a:endParaRPr lang="en-US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397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75BC-05DD-6E43-3B87-A03269B6E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2" y="-172719"/>
            <a:ext cx="10131427" cy="106680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B9F49-2242-9B02-AA78-4244B63DF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772161"/>
            <a:ext cx="9862188" cy="60858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Century Schoolbook" panose="02040604050505020304" pitchFamily="18" charset="0"/>
              </a:rPr>
              <a:t>#include &lt;</a:t>
            </a:r>
            <a:r>
              <a:rPr lang="en-US" b="1" dirty="0" err="1">
                <a:latin typeface="Century Schoolbook" panose="02040604050505020304" pitchFamily="18" charset="0"/>
              </a:rPr>
              <a:t>stdio.h</a:t>
            </a:r>
            <a:r>
              <a:rPr lang="en-US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int </a:t>
            </a:r>
            <a:r>
              <a:rPr lang="en-US" b="1" dirty="0" err="1">
                <a:latin typeface="Century Schoolbook" panose="02040604050505020304" pitchFamily="18" charset="0"/>
              </a:rPr>
              <a:t>i</a:t>
            </a:r>
            <a:r>
              <a:rPr lang="en-US" b="1" dirty="0">
                <a:latin typeface="Century Schoolbook" panose="02040604050505020304" pitchFamily="18" charset="0"/>
              </a:rPr>
              <a:t> = 1;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start:   // label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</a:t>
            </a:r>
            <a:r>
              <a:rPr lang="en-US" b="1" dirty="0" err="1">
                <a:latin typeface="Century Schoolbook" panose="02040604050505020304" pitchFamily="18" charset="0"/>
              </a:rPr>
              <a:t>printf</a:t>
            </a:r>
            <a:r>
              <a:rPr lang="en-US" b="1" dirty="0">
                <a:latin typeface="Century Schoolbook" panose="02040604050505020304" pitchFamily="18" charset="0"/>
              </a:rPr>
              <a:t> ("%d\n", </a:t>
            </a:r>
            <a:r>
              <a:rPr lang="en-US" b="1" dirty="0" err="1">
                <a:latin typeface="Century Schoolbook" panose="02040604050505020304" pitchFamily="18" charset="0"/>
              </a:rPr>
              <a:t>i</a:t>
            </a:r>
            <a:r>
              <a:rPr lang="en-US" b="1" dirty="0">
                <a:latin typeface="Century Schoolbook" panose="02040604050505020304" pitchFamily="18" charset="0"/>
              </a:rPr>
              <a:t>);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</a:t>
            </a:r>
            <a:r>
              <a:rPr lang="en-US" b="1" dirty="0" err="1">
                <a:latin typeface="Century Schoolbook" panose="02040604050505020304" pitchFamily="18" charset="0"/>
              </a:rPr>
              <a:t>i</a:t>
            </a:r>
            <a:r>
              <a:rPr lang="en-US" b="1" dirty="0">
                <a:latin typeface="Century Schoolbook" panose="02040604050505020304" pitchFamily="18" charset="0"/>
              </a:rPr>
              <a:t>++;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if (</a:t>
            </a:r>
            <a:r>
              <a:rPr lang="en-US" b="1" dirty="0" err="1">
                <a:latin typeface="Century Schoolbook" panose="02040604050505020304" pitchFamily="18" charset="0"/>
              </a:rPr>
              <a:t>i</a:t>
            </a:r>
            <a:r>
              <a:rPr lang="en-US" b="1" dirty="0">
                <a:latin typeface="Century Schoolbook" panose="02040604050505020304" pitchFamily="18" charset="0"/>
              </a:rPr>
              <a:t> &lt;= 5)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   </a:t>
            </a:r>
            <a:r>
              <a:rPr lang="en-US" b="1" dirty="0" err="1">
                <a:latin typeface="Century Schoolbook" panose="02040604050505020304" pitchFamily="18" charset="0"/>
              </a:rPr>
              <a:t>goto</a:t>
            </a:r>
            <a:r>
              <a:rPr lang="en-US" b="1" dirty="0">
                <a:latin typeface="Century Schoolbook" panose="02040604050505020304" pitchFamily="18" charset="0"/>
              </a:rPr>
              <a:t> start;   // jump to label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Output : 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1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2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3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4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5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641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04D6B-D53F-3BDF-2529-8AD0D0F36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" y="-203199"/>
            <a:ext cx="10131427" cy="11684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3.6]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break statement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DEB6C-B033-B304-109B-714C2A3C4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320" y="802640"/>
            <a:ext cx="11719559" cy="605535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break statement is used to immediately terminate a loop or switch statement.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When the program encounters a break, it exits the loop (or switch) and continues with the next statement after the loop.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“Stop the loop right now and jump out of it.”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Uses of break: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To exit a loop early when a certain condition is met.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To terminate a switch case.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To stop execution of nested loops using logic with labels or conditions.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break;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3390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54F29-DBD1-7895-3671-EDD44C153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1" y="-152399"/>
            <a:ext cx="10131427" cy="106680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855F5-700B-BF18-F17F-0FB815BA4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880" y="772160"/>
            <a:ext cx="9801228" cy="6085839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>
                <a:latin typeface="Century Schoolbook" panose="02040604050505020304" pitchFamily="18" charset="0"/>
              </a:rPr>
              <a:t>#include &lt;</a:t>
            </a:r>
            <a:r>
              <a:rPr lang="en-US" sz="2400" b="1" dirty="0" err="1">
                <a:latin typeface="Century Schoolbook" panose="02040604050505020304" pitchFamily="18" charset="0"/>
              </a:rPr>
              <a:t>stdio.h</a:t>
            </a:r>
            <a:r>
              <a:rPr lang="en-US" sz="2400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for (int </a:t>
            </a:r>
            <a:r>
              <a:rPr lang="en-US" sz="2400" b="1" dirty="0" err="1">
                <a:latin typeface="Century Schoolbook" panose="02040604050505020304" pitchFamily="18" charset="0"/>
              </a:rPr>
              <a:t>i</a:t>
            </a:r>
            <a:r>
              <a:rPr lang="en-US" sz="2400" b="1" dirty="0">
                <a:latin typeface="Century Schoolbook" panose="02040604050505020304" pitchFamily="18" charset="0"/>
              </a:rPr>
              <a:t> = 1; </a:t>
            </a:r>
            <a:r>
              <a:rPr lang="en-US" sz="2400" b="1" dirty="0" err="1">
                <a:latin typeface="Century Schoolbook" panose="02040604050505020304" pitchFamily="18" charset="0"/>
              </a:rPr>
              <a:t>i</a:t>
            </a:r>
            <a:r>
              <a:rPr lang="en-US" sz="2400" b="1" dirty="0">
                <a:latin typeface="Century Schoolbook" panose="02040604050505020304" pitchFamily="18" charset="0"/>
              </a:rPr>
              <a:t> &lt;= 10; </a:t>
            </a:r>
            <a:r>
              <a:rPr lang="en-US" sz="2400" b="1" dirty="0" err="1">
                <a:latin typeface="Century Schoolbook" panose="02040604050505020304" pitchFamily="18" charset="0"/>
              </a:rPr>
              <a:t>i</a:t>
            </a:r>
            <a:r>
              <a:rPr lang="en-US" sz="2400" b="1" dirty="0">
                <a:latin typeface="Century Schoolbook" panose="02040604050505020304" pitchFamily="18" charset="0"/>
              </a:rPr>
              <a:t>++)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    if (</a:t>
            </a:r>
            <a:r>
              <a:rPr lang="en-US" sz="2400" b="1" dirty="0" err="1">
                <a:latin typeface="Century Schoolbook" panose="02040604050505020304" pitchFamily="18" charset="0"/>
              </a:rPr>
              <a:t>i</a:t>
            </a:r>
            <a:r>
              <a:rPr lang="en-US" sz="2400" b="1" dirty="0">
                <a:latin typeface="Century Schoolbook" panose="02040604050505020304" pitchFamily="18" charset="0"/>
              </a:rPr>
              <a:t> == 5)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        break;   // stop when </a:t>
            </a:r>
            <a:r>
              <a:rPr lang="en-US" sz="2400" b="1" dirty="0" err="1">
                <a:latin typeface="Century Schoolbook" panose="02040604050505020304" pitchFamily="18" charset="0"/>
              </a:rPr>
              <a:t>i</a:t>
            </a:r>
            <a:r>
              <a:rPr lang="en-US" sz="2400" b="1" dirty="0">
                <a:latin typeface="Century Schoolbook" panose="02040604050505020304" pitchFamily="18" charset="0"/>
              </a:rPr>
              <a:t> = 5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    </a:t>
            </a:r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("%d\n", </a:t>
            </a:r>
            <a:r>
              <a:rPr lang="en-US" sz="2400" b="1" dirty="0" err="1">
                <a:latin typeface="Century Schoolbook" panose="02040604050505020304" pitchFamily="18" charset="0"/>
              </a:rPr>
              <a:t>i</a:t>
            </a:r>
            <a:r>
              <a:rPr lang="en-US" sz="2400" b="1" dirty="0">
                <a:latin typeface="Century Schoolbook" panose="02040604050505020304" pitchFamily="18" charset="0"/>
              </a:rPr>
              <a:t>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}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Output :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1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2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3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4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113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0DC9-6970-952C-3033-97F62B8CE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1" y="-203199"/>
            <a:ext cx="9926320" cy="113792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Continue statement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BF0BB-D990-E98A-12E9-CE556E725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2720" y="792480"/>
            <a:ext cx="11653520" cy="542544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continue statement is used to skip the remaining statements inside a loop for the current iteration, and then continue with the next iteration of the loop.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“Skip this turn, go to the next one.”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Uses of continue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To skip specific iterations in a loop.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To avoid executing unnecessary statements when a condition occurs.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continue;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403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8E1BA-2B76-CE26-65E1-2D39F8F4E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1280"/>
            <a:ext cx="12070079" cy="853439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000" u="sng" dirty="0">
                <a:solidFill>
                  <a:srgbClr val="FFFF00"/>
                </a:solidFill>
                <a:latin typeface="Algerian" panose="04020705040A02060702" pitchFamily="82" charset="0"/>
              </a:rPr>
              <a:t>Difference Between break and continue</a:t>
            </a:r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0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CB1DA-0384-DE61-E57D-21CDE7E2D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520" y="6858000"/>
            <a:ext cx="10131428" cy="193040"/>
          </a:xfrm>
        </p:spPr>
        <p:txBody>
          <a:bodyPr>
            <a:normAutofit fontScale="40000" lnSpcReduction="20000"/>
          </a:bodyPr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1DC585-D36E-58B5-A4CD-6930B9784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236767"/>
              </p:ext>
            </p:extLst>
          </p:nvPr>
        </p:nvGraphicFramePr>
        <p:xfrm>
          <a:off x="350520" y="772158"/>
          <a:ext cx="11445240" cy="5821680"/>
        </p:xfrm>
        <a:graphic>
          <a:graphicData uri="http://schemas.openxmlformats.org/drawingml/2006/table">
            <a:tbl>
              <a:tblPr/>
              <a:tblGrid>
                <a:gridCol w="2443480">
                  <a:extLst>
                    <a:ext uri="{9D8B030D-6E8A-4147-A177-3AD203B41FA5}">
                      <a16:colId xmlns:a16="http://schemas.microsoft.com/office/drawing/2014/main" val="3701240116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3050825923"/>
                    </a:ext>
                  </a:extLst>
                </a:gridCol>
                <a:gridCol w="4683760">
                  <a:extLst>
                    <a:ext uri="{9D8B030D-6E8A-4147-A177-3AD203B41FA5}">
                      <a16:colId xmlns:a16="http://schemas.microsoft.com/office/drawing/2014/main" val="4158203604"/>
                    </a:ext>
                  </a:extLst>
                </a:gridCol>
              </a:tblGrid>
              <a:tr h="1164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break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continue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674191"/>
                  </a:ext>
                </a:extLst>
              </a:tr>
              <a:tr h="1164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Terminates the loop/switch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Skips current iteration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558747"/>
                  </a:ext>
                </a:extLst>
              </a:tr>
              <a:tr h="1164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Control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Jumps outside the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Jumps to next iteration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315477"/>
                  </a:ext>
                </a:extLst>
              </a:tr>
              <a:tr h="1164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Used in loops and switch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Used in loops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836049"/>
                  </a:ext>
                </a:extLst>
              </a:tr>
              <a:tr h="1164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Effect on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Ends loop completely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Loop continues running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42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3025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475</TotalTime>
  <Words>1846</Words>
  <Application>Microsoft Office PowerPoint</Application>
  <PresentationFormat>Widescreen</PresentationFormat>
  <Paragraphs>320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Algerian</vt:lpstr>
      <vt:lpstr>Arial</vt:lpstr>
      <vt:lpstr>Calibri</vt:lpstr>
      <vt:lpstr>Calibri Light</vt:lpstr>
      <vt:lpstr>Century Schoolbook</vt:lpstr>
      <vt:lpstr>Wingdings</vt:lpstr>
      <vt:lpstr>Celestial</vt:lpstr>
      <vt:lpstr>03. Control structure </vt:lpstr>
      <vt:lpstr>Introduction of control structure : -</vt:lpstr>
      <vt:lpstr>Types of Control Structures in C : -</vt:lpstr>
      <vt:lpstr>3.1] decision making statements : -</vt:lpstr>
      <vt:lpstr>1. If statement : -</vt:lpstr>
      <vt:lpstr>Example of if statement : -</vt:lpstr>
      <vt:lpstr>2. if-else statement : -</vt:lpstr>
      <vt:lpstr>Example of if-else statement : -</vt:lpstr>
      <vt:lpstr>3. Nesting of if-else (nested if-else statement) : -</vt:lpstr>
      <vt:lpstr>Example of Nesting of if-else : -</vt:lpstr>
      <vt:lpstr>Branching : the switch statement : -</vt:lpstr>
      <vt:lpstr>Syntax of switch statement : -</vt:lpstr>
      <vt:lpstr>3.3] looping in c programming : -</vt:lpstr>
      <vt:lpstr>1. While loop : -</vt:lpstr>
      <vt:lpstr>Example of while loop : -</vt:lpstr>
      <vt:lpstr>2. do-while loop : -</vt:lpstr>
      <vt:lpstr>Example : -</vt:lpstr>
      <vt:lpstr>3. For loop : -</vt:lpstr>
      <vt:lpstr>Example : -</vt:lpstr>
      <vt:lpstr>Difference between : -</vt:lpstr>
      <vt:lpstr>3.4] ternary operator : -</vt:lpstr>
      <vt:lpstr>3.5] go to statement : -</vt:lpstr>
      <vt:lpstr>Example : -</vt:lpstr>
      <vt:lpstr>3.6] break statement : -</vt:lpstr>
      <vt:lpstr>Example : -</vt:lpstr>
      <vt:lpstr>Continue statement : -</vt:lpstr>
      <vt:lpstr>Difference Between break and continue :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2</cp:revision>
  <dcterms:created xsi:type="dcterms:W3CDTF">2025-11-03T07:06:27Z</dcterms:created>
  <dcterms:modified xsi:type="dcterms:W3CDTF">2025-11-03T15:02:12Z</dcterms:modified>
</cp:coreProperties>
</file>