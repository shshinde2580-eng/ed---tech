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5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8580B2-D243-4137-B6C3-D9CA397E6C6A}" v="16" dt="2025-11-03T05:41:12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BA465-5817-4849-A651-80D7447F66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36A05F-993B-4AF5-9AD9-883B6D923C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799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36A05F-993B-4AF5-9AD9-883B6D923C2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25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81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6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30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337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9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952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922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57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97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04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065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651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5118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761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011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96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58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604931-722D-475D-B541-D349DB1AD2D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B688E5-624D-4A2E-9693-E2DDC4985C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168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  <p:sldLayoutId id="2147484038" r:id="rId13"/>
    <p:sldLayoutId id="2147484039" r:id="rId14"/>
    <p:sldLayoutId id="2147484040" r:id="rId15"/>
    <p:sldLayoutId id="2147484041" r:id="rId16"/>
    <p:sldLayoutId id="21474840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F8D3-3BF6-F4B5-55A2-F169B156A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252" y="718300"/>
            <a:ext cx="10697496" cy="3903950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solidFill>
                  <a:srgbClr val="FFFF00"/>
                </a:solidFill>
                <a:latin typeface="Algerian" panose="04020705040A02060702" pitchFamily="82" charset="0"/>
              </a:rPr>
              <a:t>01. Program Logic development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2294B-6CA8-D792-DA85-9B542015D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4141" y="5064157"/>
            <a:ext cx="7197726" cy="140546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0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2C67-4CB1-29EE-0D65-FDA0FDADE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8657"/>
            <a:ext cx="11847871" cy="85540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1.1]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fundamentals of algorithm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5BB6C-670D-7F17-829C-036586C7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986" y="776748"/>
            <a:ext cx="11484079" cy="6081251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Notion of an Algorithm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An algorithm is a finite sequence of well-defined steps used to solve a specific problem.</a:t>
            </a:r>
            <a:br>
              <a:rPr lang="en-US" b="1" dirty="0">
                <a:latin typeface="Century Schoolbook" panose="02040604050505020304" pitchFamily="18" charset="0"/>
              </a:rPr>
            </a:br>
            <a:r>
              <a:rPr lang="en-US" b="1" dirty="0">
                <a:latin typeface="Century Schoolbook" panose="02040604050505020304" pitchFamily="18" charset="0"/>
              </a:rPr>
              <a:t>It is a step-by-step procedure that takes some input, processes it, and produces an output.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An algorithm is a finite set of instructions that, when followed, accomplishes a particular task or solves a problem in a finite amount of time.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Algorithm to find the sum of two numbers :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1 : </a:t>
            </a:r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Start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2 : </a:t>
            </a:r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Read two numbers a and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3 : </a:t>
            </a:r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Compute sum = a +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4 : </a:t>
            </a:r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Display sum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5 : </a:t>
            </a:r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Stop</a:t>
            </a:r>
          </a:p>
          <a:p>
            <a:endParaRPr lang="en-IN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43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CDDC-FEC9-5E96-509D-FB596CA6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8" y="-176980"/>
            <a:ext cx="10131427" cy="10668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4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 conventions</a:t>
            </a:r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8C1DC-A67A-DE56-D9A8-57EDCA05F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8" y="587476"/>
            <a:ext cx="11801167" cy="3030795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Pseudo-code is a way of writing algorithms in a structured but human-readable form, which looks similar to a programming language but is not bound by syntax rules.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It helps in planning before writing actual code in languages like C, Java, or Python.</a:t>
            </a:r>
          </a:p>
          <a:p>
            <a:endParaRPr lang="en-IN" sz="2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200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EED8-5A5A-C8F7-55F2-A5108360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93" y="-147484"/>
            <a:ext cx="10131427" cy="96356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a) </a:t>
            </a:r>
            <a:r>
              <a:rPr lang="en-US" sz="4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Assignment Statements</a:t>
            </a:r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E8B89-961E-4FF5-4391-1ACE3718B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193" y="688258"/>
            <a:ext cx="11791335" cy="467032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assignment statement is used to assign a value to a variable.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variable ← expression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or sometimes written as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variable = expression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sum ← a + 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This means that the value of a + b is stored in the variable sum.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188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1656-9479-E3C9-6068-00FFA8C1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62" y="0"/>
            <a:ext cx="10131427" cy="75708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b) </a:t>
            </a:r>
            <a:r>
              <a:rPr lang="en-US" sz="4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Basic Control Structure</a:t>
            </a:r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51A0D-4591-1021-D414-F4E617E92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361" y="757084"/>
            <a:ext cx="11575025" cy="447367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Control structures determine the flow of execution in an algorithm.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They are of three main types :</a:t>
            </a:r>
          </a:p>
          <a:p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Sequential Structure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Instructions are executed one after another.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Read a, b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sum ← a + b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Print sum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74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CCA0C-C33D-A298-724D-95808A878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92" y="-196644"/>
            <a:ext cx="10739282" cy="1066800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4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Selection (Decision) Structure</a:t>
            </a:r>
            <a:r>
              <a:rPr lang="en-US" sz="4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D1B85-2DD6-9F63-83D5-B074EAD44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518" y="737419"/>
            <a:ext cx="11724964" cy="600751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for making decisions (like if-else conditions).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IF condition THEN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statements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ELSE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statements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END IF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IF marks ≥ 40 THEN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Print "Pass"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ELSE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Print "Fail"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END IF</a:t>
            </a:r>
          </a:p>
        </p:txBody>
      </p:sp>
    </p:spTree>
    <p:extLst>
      <p:ext uri="{BB962C8B-B14F-4D97-AF65-F5344CB8AC3E}">
        <p14:creationId xmlns:p14="http://schemas.microsoft.com/office/powerpoint/2010/main" val="1945453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37B83-8F1B-9FD9-3C42-707FFD77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-68826"/>
            <a:ext cx="11956026" cy="76691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4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Iteration (looping) Structure</a:t>
            </a:r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3D473-72B3-02D6-51AF-BA0A34916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5974" y="796411"/>
            <a:ext cx="11582400" cy="615991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Used for repeating a set of instructions until a condition is met.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r>
              <a:rPr lang="en-US" sz="2400" b="1" dirty="0">
                <a:latin typeface="Century Schoolbook" panose="02040604050505020304" pitchFamily="18" charset="0"/>
              </a:rPr>
              <a:t>While Loop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WHILE condition DO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statements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END WHILE</a:t>
            </a: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r>
              <a:rPr lang="en-US" sz="2400" b="1" dirty="0">
                <a:latin typeface="Century Schoolbook" panose="02040604050505020304" pitchFamily="18" charset="0"/>
              </a:rPr>
              <a:t>For Loop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FOR i ← 1 TO 10 DO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 Print i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END FOR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973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7146-572C-DB50-C0E2-8E5E0C36C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7484"/>
            <a:ext cx="11968315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1.2]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algorithmic problems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1A5D0-BD0B-02C8-4D6A-2A22BC5E9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842" y="776749"/>
            <a:ext cx="11968316" cy="6081251"/>
          </a:xfrm>
        </p:spPr>
        <p:txBody>
          <a:bodyPr>
            <a:normAutofit fontScale="85000" lnSpcReduction="20000"/>
          </a:bodyPr>
          <a:lstStyle/>
          <a:p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Exchange the values of two variables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A. Using a Temporary Variable</a:t>
            </a:r>
            <a:endParaRPr lang="en-IN" sz="26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Algorithm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sz="2100" b="1" dirty="0">
                <a:latin typeface="Century Schoolbook" panose="02040604050505020304" pitchFamily="18" charset="0"/>
              </a:rPr>
              <a:t>Step 1 : Start</a:t>
            </a:r>
          </a:p>
          <a:p>
            <a:r>
              <a:rPr lang="en-IN" sz="2100" b="1" dirty="0">
                <a:latin typeface="Century Schoolbook" panose="02040604050505020304" pitchFamily="18" charset="0"/>
              </a:rPr>
              <a:t>Step 2 : Read two variables A and B</a:t>
            </a:r>
          </a:p>
          <a:p>
            <a:r>
              <a:rPr lang="en-IN" sz="2100" b="1" dirty="0">
                <a:latin typeface="Century Schoolbook" panose="02040604050505020304" pitchFamily="18" charset="0"/>
              </a:rPr>
              <a:t>Step 3 : Set TEMP ← A</a:t>
            </a:r>
          </a:p>
          <a:p>
            <a:r>
              <a:rPr lang="en-IN" sz="2100" b="1" dirty="0">
                <a:latin typeface="Century Schoolbook" panose="02040604050505020304" pitchFamily="18" charset="0"/>
              </a:rPr>
              <a:t>Step 4 : Set A ← B</a:t>
            </a:r>
          </a:p>
          <a:p>
            <a:r>
              <a:rPr lang="en-IN" sz="2100" b="1" dirty="0">
                <a:latin typeface="Century Schoolbook" panose="02040604050505020304" pitchFamily="18" charset="0"/>
              </a:rPr>
              <a:t>Step 5 : Set B ← TEMP</a:t>
            </a:r>
          </a:p>
          <a:p>
            <a:r>
              <a:rPr lang="en-IN" sz="2100" b="1" dirty="0">
                <a:latin typeface="Century Schoolbook" panose="02040604050505020304" pitchFamily="18" charset="0"/>
              </a:rPr>
              <a:t>Step 6 : Print A and B</a:t>
            </a:r>
          </a:p>
          <a:p>
            <a:r>
              <a:rPr lang="en-IN" sz="2100" b="1" dirty="0">
                <a:latin typeface="Century Schoolbook" panose="02040604050505020304" pitchFamily="18" charset="0"/>
              </a:rPr>
              <a:t>Step 7 : Stop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28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IN" sz="2200" b="1" dirty="0">
                <a:latin typeface="Century Schoolbook" panose="02040604050505020304" pitchFamily="18" charset="0"/>
              </a:rPr>
              <a:t>READ A, B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TEMP ← A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A ← B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B ← TEMP</a:t>
            </a:r>
          </a:p>
          <a:p>
            <a:r>
              <a:rPr lang="en-IN" sz="2200" b="1" dirty="0">
                <a:latin typeface="Century Schoolbook" panose="02040604050505020304" pitchFamily="18" charset="0"/>
              </a:rPr>
              <a:t>PRINT A, 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553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4912-C926-A7A3-DD5B-AD46F8462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91" y="-98321"/>
            <a:ext cx="11938819" cy="78658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B. </a:t>
            </a: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Without using a temporary variable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36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5F770-2863-2722-07EB-73810A143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0387" y="580105"/>
            <a:ext cx="11651226" cy="6169740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Algorithm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1 : Start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2 : Read A and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3 : Set A ← A +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4 : Set B ← A -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5 : Set A ← A -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6 : Print A and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7 : Stop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READ A,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A ← A +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B ← A -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A ← A - B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PRINT A, B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498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137B-396B-F6F0-97FD-33E44197D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65" y="-108154"/>
            <a:ext cx="12872883" cy="69808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Counting positive numbers from a set of integers</a:t>
            </a:r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2A962-1F52-8BE6-8505-6D65E8EF8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5752" y="668593"/>
            <a:ext cx="11840496" cy="6268064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1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Algorithm</a:t>
            </a:r>
            <a:r>
              <a:rPr lang="en-US" sz="31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1 : Start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2 : Read the total number of integers 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3 : Initialize COUNT ← 0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4 : Repeat for each number in the set</a:t>
            </a:r>
            <a:br>
              <a:rPr lang="en-US" b="1" dirty="0">
                <a:latin typeface="Century Schoolbook" panose="02040604050505020304" pitchFamily="18" charset="0"/>
              </a:rPr>
            </a:br>
            <a:r>
              <a:rPr lang="en-US" b="1" dirty="0">
                <a:latin typeface="Century Schoolbook" panose="02040604050505020304" pitchFamily="18" charset="0"/>
              </a:rPr>
              <a:t>  a. Read number X</a:t>
            </a:r>
            <a:br>
              <a:rPr lang="en-US" b="1" dirty="0">
                <a:latin typeface="Century Schoolbook" panose="02040604050505020304" pitchFamily="18" charset="0"/>
              </a:rPr>
            </a:br>
            <a:r>
              <a:rPr lang="en-US" b="1" dirty="0">
                <a:latin typeface="Century Schoolbook" panose="02040604050505020304" pitchFamily="18" charset="0"/>
              </a:rPr>
              <a:t>  b. If X &gt; 0, then COUNT ← COUNT + 1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5 : Print COUNT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6 : Stop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1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</a:t>
            </a:r>
            <a:r>
              <a:rPr lang="en-US" sz="31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READ 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COUNT ← 0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FOR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 ← 1 TO N DO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READ X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IF X &gt; 0 THEN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     COUNT ← COUNT + 1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END IF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END FOR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PRINT COUNT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56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4A92-B223-0F78-6252-0C9C94ABD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2" y="-218767"/>
            <a:ext cx="10131427" cy="106925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4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Summation of a set of numbers</a:t>
            </a:r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BA54D-3D89-7B7E-CEB9-BEBB7846B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652" y="727588"/>
            <a:ext cx="11916696" cy="6130412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Algorithm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1 : Start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2 : Read total number of elements 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3 : Initialize SUM ← 0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4 : Repeat for each number in the set</a:t>
            </a:r>
            <a:br>
              <a:rPr lang="en-US" b="1" dirty="0">
                <a:latin typeface="Century Schoolbook" panose="02040604050505020304" pitchFamily="18" charset="0"/>
              </a:rPr>
            </a:br>
            <a:r>
              <a:rPr lang="en-US" b="1" dirty="0">
                <a:latin typeface="Century Schoolbook" panose="02040604050505020304" pitchFamily="18" charset="0"/>
              </a:rPr>
              <a:t>  a. Read number X</a:t>
            </a:r>
            <a:br>
              <a:rPr lang="en-US" b="1" dirty="0">
                <a:latin typeface="Century Schoolbook" panose="02040604050505020304" pitchFamily="18" charset="0"/>
              </a:rPr>
            </a:br>
            <a:r>
              <a:rPr lang="en-US" b="1" dirty="0">
                <a:latin typeface="Century Schoolbook" panose="02040604050505020304" pitchFamily="18" charset="0"/>
              </a:rPr>
              <a:t>  b. SUM ← SUM + X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5 : Print SUM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Step 6 : Stop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READ N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SUM ← 0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FOR </a:t>
            </a:r>
            <a:r>
              <a:rPr lang="en-US" b="1" dirty="0" err="1">
                <a:latin typeface="Century Schoolbook" panose="02040604050505020304" pitchFamily="18" charset="0"/>
              </a:rPr>
              <a:t>i</a:t>
            </a:r>
            <a:r>
              <a:rPr lang="en-US" b="1" dirty="0">
                <a:latin typeface="Century Schoolbook" panose="02040604050505020304" pitchFamily="18" charset="0"/>
              </a:rPr>
              <a:t> ← 1 TO N DO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READ X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 SUM ← SUM + X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END FOR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PRINT SUM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617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A15C-CBDE-732C-CD90-D937868D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69" y="-216308"/>
            <a:ext cx="11634018" cy="107171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US" sz="4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Reversing the digits of an integer</a:t>
            </a:r>
            <a:r>
              <a:rPr lang="en-US" sz="4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0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4CA44-A745-138D-0DF4-AD2BF81AD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813" y="668594"/>
            <a:ext cx="11779045" cy="6189406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31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Algorithm</a:t>
            </a:r>
            <a:r>
              <a:rPr lang="en-IN" sz="31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1 : Start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2 : Read integer N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3 : Initialize REV ← 0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4 : Repeat while N &gt; 0</a:t>
            </a:r>
            <a:br>
              <a:rPr lang="en-IN" b="1" dirty="0">
                <a:latin typeface="Century Schoolbook" panose="02040604050505020304" pitchFamily="18" charset="0"/>
              </a:rPr>
            </a:br>
            <a:r>
              <a:rPr lang="en-IN" b="1" dirty="0">
                <a:latin typeface="Century Schoolbook" panose="02040604050505020304" pitchFamily="18" charset="0"/>
              </a:rPr>
              <a:t>  a. D ← N % 10 (get last digit)</a:t>
            </a:r>
            <a:br>
              <a:rPr lang="en-IN" b="1" dirty="0">
                <a:latin typeface="Century Schoolbook" panose="02040604050505020304" pitchFamily="18" charset="0"/>
              </a:rPr>
            </a:br>
            <a:r>
              <a:rPr lang="en-IN" b="1" dirty="0">
                <a:latin typeface="Century Schoolbook" panose="02040604050505020304" pitchFamily="18" charset="0"/>
              </a:rPr>
              <a:t>  b. REV ← REV * 10 + D</a:t>
            </a:r>
            <a:br>
              <a:rPr lang="en-IN" b="1" dirty="0">
                <a:latin typeface="Century Schoolbook" panose="02040604050505020304" pitchFamily="18" charset="0"/>
              </a:rPr>
            </a:br>
            <a:r>
              <a:rPr lang="en-IN" b="1" dirty="0">
                <a:latin typeface="Century Schoolbook" panose="02040604050505020304" pitchFamily="18" charset="0"/>
              </a:rPr>
              <a:t>  c. N ← N / 10 (integer division)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5 : Print REV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6 : Stop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31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</a:t>
            </a:r>
            <a:r>
              <a:rPr lang="en-IN" sz="31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READ N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REV ← 0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WHILE N &gt; 0 DO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D ← N % 10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REV ← REV * 10 + D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N ← N / 10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END WHILE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PRINT REV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29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29E3-CEA3-04D8-FA64-F8A670F7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59" y="98323"/>
            <a:ext cx="11673347" cy="968477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5. </a:t>
            </a: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Find smallest positive divisor of an integer (other than 1)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36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4C507-9AC2-3B3F-ABF2-755532E1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59" y="1233950"/>
            <a:ext cx="11673346" cy="5692876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Algorithm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Step 1 : Start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Step 2 : Read integer N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Step 3 : For </a:t>
            </a:r>
            <a:r>
              <a:rPr lang="en-US" sz="1800" b="1" dirty="0" err="1">
                <a:latin typeface="Century Schoolbook" panose="02040604050505020304" pitchFamily="18" charset="0"/>
              </a:rPr>
              <a:t>i</a:t>
            </a:r>
            <a:r>
              <a:rPr lang="en-US" sz="1800" b="1" dirty="0">
                <a:latin typeface="Century Schoolbook" panose="02040604050505020304" pitchFamily="18" charset="0"/>
              </a:rPr>
              <a:t> ← 2 to N</a:t>
            </a:r>
            <a:br>
              <a:rPr lang="en-US" sz="1800" b="1" dirty="0">
                <a:latin typeface="Century Schoolbook" panose="02040604050505020304" pitchFamily="18" charset="0"/>
              </a:rPr>
            </a:br>
            <a:r>
              <a:rPr lang="en-US" sz="1800" b="1" dirty="0">
                <a:latin typeface="Century Schoolbook" panose="02040604050505020304" pitchFamily="18" charset="0"/>
              </a:rPr>
              <a:t>  If N % </a:t>
            </a:r>
            <a:r>
              <a:rPr lang="en-US" sz="1800" b="1" dirty="0" err="1">
                <a:latin typeface="Century Schoolbook" panose="02040604050505020304" pitchFamily="18" charset="0"/>
              </a:rPr>
              <a:t>i</a:t>
            </a:r>
            <a:r>
              <a:rPr lang="en-US" sz="1800" b="1" dirty="0">
                <a:latin typeface="Century Schoolbook" panose="02040604050505020304" pitchFamily="18" charset="0"/>
              </a:rPr>
              <a:t> = 0, then</a:t>
            </a:r>
            <a:br>
              <a:rPr lang="en-US" sz="1800" b="1" dirty="0">
                <a:latin typeface="Century Schoolbook" panose="02040604050505020304" pitchFamily="18" charset="0"/>
              </a:rPr>
            </a:br>
            <a:r>
              <a:rPr lang="en-US" sz="1800" b="1" dirty="0">
                <a:latin typeface="Century Schoolbook" panose="02040604050505020304" pitchFamily="18" charset="0"/>
              </a:rPr>
              <a:t>    Print </a:t>
            </a:r>
            <a:r>
              <a:rPr lang="en-US" sz="1800" b="1" dirty="0" err="1">
                <a:latin typeface="Century Schoolbook" panose="02040604050505020304" pitchFamily="18" charset="0"/>
              </a:rPr>
              <a:t>i</a:t>
            </a:r>
            <a:br>
              <a:rPr lang="en-US" sz="1800" b="1" dirty="0">
                <a:latin typeface="Century Schoolbook" panose="02040604050505020304" pitchFamily="18" charset="0"/>
              </a:rPr>
            </a:br>
            <a:r>
              <a:rPr lang="en-US" sz="1800" b="1" dirty="0">
                <a:latin typeface="Century Schoolbook" panose="02040604050505020304" pitchFamily="18" charset="0"/>
              </a:rPr>
              <a:t>    Stop (since smallest divisor found)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Step 4 : Stop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READ N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FOR </a:t>
            </a:r>
            <a:r>
              <a:rPr lang="en-US" sz="1800" b="1" dirty="0" err="1">
                <a:latin typeface="Century Schoolbook" panose="02040604050505020304" pitchFamily="18" charset="0"/>
              </a:rPr>
              <a:t>i</a:t>
            </a:r>
            <a:r>
              <a:rPr lang="en-US" sz="1800" b="1" dirty="0">
                <a:latin typeface="Century Schoolbook" panose="02040604050505020304" pitchFamily="18" charset="0"/>
              </a:rPr>
              <a:t> ← 2 TO N DO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     IF N % </a:t>
            </a:r>
            <a:r>
              <a:rPr lang="en-US" sz="1800" b="1" dirty="0" err="1">
                <a:latin typeface="Century Schoolbook" panose="02040604050505020304" pitchFamily="18" charset="0"/>
              </a:rPr>
              <a:t>i</a:t>
            </a:r>
            <a:r>
              <a:rPr lang="en-US" sz="1800" b="1" dirty="0">
                <a:latin typeface="Century Schoolbook" panose="02040604050505020304" pitchFamily="18" charset="0"/>
              </a:rPr>
              <a:t> = 0 THEN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          PRINT </a:t>
            </a:r>
            <a:r>
              <a:rPr lang="en-US" sz="1800" b="1" dirty="0" err="1">
                <a:latin typeface="Century Schoolbook" panose="02040604050505020304" pitchFamily="18" charset="0"/>
              </a:rPr>
              <a:t>i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r>
              <a:rPr lang="en-US" sz="1800" b="1" dirty="0">
                <a:latin typeface="Century Schoolbook" panose="02040604050505020304" pitchFamily="18" charset="0"/>
              </a:rPr>
              <a:t>          EXIT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     END IF</a:t>
            </a:r>
          </a:p>
          <a:p>
            <a:r>
              <a:rPr lang="en-US" sz="1800" b="1" dirty="0">
                <a:latin typeface="Century Schoolbook" panose="02040604050505020304" pitchFamily="18" charset="0"/>
              </a:rPr>
              <a:t>END FOR</a:t>
            </a:r>
          </a:p>
          <a:p>
            <a:endParaRPr lang="en-IN" sz="1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654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11737-0546-1B32-E496-A216F36AB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86" y="-176979"/>
            <a:ext cx="11044083" cy="10668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6. </a:t>
            </a: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Find G.C.D. &amp; L.C.M. of Two Numbers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36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C4E89-14A7-B625-A7B4-16743821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186" y="658761"/>
            <a:ext cx="11803625" cy="6199238"/>
          </a:xfrm>
        </p:spPr>
        <p:txBody>
          <a:bodyPr>
            <a:normAutofit fontScale="85000" lnSpcReduction="20000"/>
          </a:bodyPr>
          <a:lstStyle/>
          <a:p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a) </a:t>
            </a: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Algorithm for G.C.D. (Euclid’s Method)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1 : Start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2 : Read two numbers A and B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3 : Repeat while B ≠ 0</a:t>
            </a:r>
            <a:br>
              <a:rPr lang="en-IN" b="1" dirty="0">
                <a:latin typeface="Century Schoolbook" panose="02040604050505020304" pitchFamily="18" charset="0"/>
              </a:rPr>
            </a:br>
            <a:r>
              <a:rPr lang="en-IN" b="1" dirty="0">
                <a:latin typeface="Century Schoolbook" panose="02040604050505020304" pitchFamily="18" charset="0"/>
              </a:rPr>
              <a:t>  a. TEMP ← B</a:t>
            </a:r>
            <a:br>
              <a:rPr lang="en-IN" b="1" dirty="0">
                <a:latin typeface="Century Schoolbook" panose="02040604050505020304" pitchFamily="18" charset="0"/>
              </a:rPr>
            </a:br>
            <a:r>
              <a:rPr lang="en-IN" b="1" dirty="0">
                <a:latin typeface="Century Schoolbook" panose="02040604050505020304" pitchFamily="18" charset="0"/>
              </a:rPr>
              <a:t>  </a:t>
            </a:r>
            <a:r>
              <a:rPr lang="en-IN" b="1" dirty="0" err="1">
                <a:latin typeface="Century Schoolbook" panose="02040604050505020304" pitchFamily="18" charset="0"/>
              </a:rPr>
              <a:t>b</a:t>
            </a:r>
            <a:r>
              <a:rPr lang="en-IN" b="1" dirty="0">
                <a:latin typeface="Century Schoolbook" panose="02040604050505020304" pitchFamily="18" charset="0"/>
              </a:rPr>
              <a:t>. B ← A % B</a:t>
            </a:r>
            <a:br>
              <a:rPr lang="en-IN" b="1" dirty="0">
                <a:latin typeface="Century Schoolbook" panose="02040604050505020304" pitchFamily="18" charset="0"/>
              </a:rPr>
            </a:br>
            <a:r>
              <a:rPr lang="en-IN" b="1" dirty="0">
                <a:latin typeface="Century Schoolbook" panose="02040604050505020304" pitchFamily="18" charset="0"/>
              </a:rPr>
              <a:t>  c. A ← TEMP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4 : GCD ← A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5 : Print GCD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Step 6 : Stop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READ A, B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WHILE B ≠ 0 DO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TEMP ← B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B ← A % B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A ← TEMP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END WHILE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PRINT A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773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07A6D-B46D-0383-89BD-D4A6764C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30" y="0"/>
            <a:ext cx="10131427" cy="727586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b) </a:t>
            </a:r>
            <a:r>
              <a:rPr lang="en-US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To find L.C.M.</a:t>
            </a:r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AFFD5-E0CA-62E4-BDE0-47A34F410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30" y="599768"/>
            <a:ext cx="11960940" cy="46801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entury Schoolbook" panose="02040604050505020304" pitchFamily="18" charset="0"/>
              </a:rPr>
              <a:t>LCM = (A × B) / GCD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</a:t>
            </a:r>
            <a:r>
              <a:rPr lang="en-IN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LCM ← (A * B) / GCD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PRINT LCM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For Three Numbers (A, B, C):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GCD1 ← GCD(A, B)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GCD2 ← GCD(GCD1, C)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LCM ← (A * B * C) / (GCD1 * GCD2)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131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2ABE-84A5-3DAF-8750-54E58FC93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3" y="-117986"/>
            <a:ext cx="10926096" cy="74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7. </a:t>
            </a:r>
            <a:r>
              <a:rPr lang="en-US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Generating Prime Numbers up to N</a:t>
            </a:r>
            <a:r>
              <a:rPr lang="en-US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F8E29-B793-532A-5996-FEDB7C154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981" y="501445"/>
            <a:ext cx="11928986" cy="6356555"/>
          </a:xfrm>
        </p:spPr>
        <p:txBody>
          <a:bodyPr>
            <a:normAutofit fontScale="47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51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Algorithm</a:t>
            </a:r>
            <a:r>
              <a:rPr lang="en-US" sz="51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US" sz="2900" b="1" dirty="0">
                <a:latin typeface="Century Schoolbook" panose="02040604050505020304" pitchFamily="18" charset="0"/>
              </a:rPr>
              <a:t>Step 1 : Start</a:t>
            </a:r>
          </a:p>
          <a:p>
            <a:r>
              <a:rPr lang="en-US" sz="2900" b="1" dirty="0">
                <a:latin typeface="Century Schoolbook" panose="02040604050505020304" pitchFamily="18" charset="0"/>
              </a:rPr>
              <a:t>Step 2 : Read N</a:t>
            </a:r>
          </a:p>
          <a:p>
            <a:r>
              <a:rPr lang="en-US" sz="2900" b="1" dirty="0">
                <a:latin typeface="Century Schoolbook" panose="02040604050505020304" pitchFamily="18" charset="0"/>
              </a:rPr>
              <a:t>Step 3 : -For each number </a:t>
            </a:r>
            <a:r>
              <a:rPr lang="en-US" sz="2900" b="1" dirty="0" err="1">
                <a:latin typeface="Century Schoolbook" panose="02040604050505020304" pitchFamily="18" charset="0"/>
              </a:rPr>
              <a:t>i</a:t>
            </a:r>
            <a:r>
              <a:rPr lang="en-US" sz="2900" b="1" dirty="0">
                <a:latin typeface="Century Schoolbook" panose="02040604050505020304" pitchFamily="18" charset="0"/>
              </a:rPr>
              <a:t> from 2 to N</a:t>
            </a:r>
            <a:br>
              <a:rPr lang="en-US" sz="2900" b="1" dirty="0">
                <a:latin typeface="Century Schoolbook" panose="02040604050505020304" pitchFamily="18" charset="0"/>
              </a:rPr>
            </a:br>
            <a:r>
              <a:rPr lang="en-US" sz="2900" b="1" dirty="0">
                <a:latin typeface="Century Schoolbook" panose="02040604050505020304" pitchFamily="18" charset="0"/>
              </a:rPr>
              <a:t>  a. Set FLAG ← 0</a:t>
            </a:r>
            <a:br>
              <a:rPr lang="en-US" sz="2900" b="1" dirty="0">
                <a:latin typeface="Century Schoolbook" panose="02040604050505020304" pitchFamily="18" charset="0"/>
              </a:rPr>
            </a:br>
            <a:r>
              <a:rPr lang="en-US" sz="2900" b="1" dirty="0">
                <a:latin typeface="Century Schoolbook" panose="02040604050505020304" pitchFamily="18" charset="0"/>
              </a:rPr>
              <a:t>  b. For j ← 2 to </a:t>
            </a:r>
            <a:r>
              <a:rPr lang="en-US" sz="2900" b="1" dirty="0" err="1">
                <a:latin typeface="Century Schoolbook" panose="02040604050505020304" pitchFamily="18" charset="0"/>
              </a:rPr>
              <a:t>i</a:t>
            </a:r>
            <a:r>
              <a:rPr lang="en-US" sz="2900" b="1" dirty="0">
                <a:latin typeface="Century Schoolbook" panose="02040604050505020304" pitchFamily="18" charset="0"/>
              </a:rPr>
              <a:t>/2</a:t>
            </a:r>
            <a:br>
              <a:rPr lang="en-US" sz="2900" b="1" dirty="0">
                <a:latin typeface="Century Schoolbook" panose="02040604050505020304" pitchFamily="18" charset="0"/>
              </a:rPr>
            </a:br>
            <a:r>
              <a:rPr lang="en-US" sz="2900" b="1" dirty="0">
                <a:latin typeface="Century Schoolbook" panose="02040604050505020304" pitchFamily="18" charset="0"/>
              </a:rPr>
              <a:t>    If </a:t>
            </a:r>
            <a:r>
              <a:rPr lang="en-US" sz="2900" b="1" dirty="0" err="1">
                <a:latin typeface="Century Schoolbook" panose="02040604050505020304" pitchFamily="18" charset="0"/>
              </a:rPr>
              <a:t>i</a:t>
            </a:r>
            <a:r>
              <a:rPr lang="en-US" sz="2900" b="1" dirty="0">
                <a:latin typeface="Century Schoolbook" panose="02040604050505020304" pitchFamily="18" charset="0"/>
              </a:rPr>
              <a:t> % j = 0, then set FLAG ← 1 and break</a:t>
            </a:r>
            <a:br>
              <a:rPr lang="en-US" sz="2900" b="1" dirty="0">
                <a:latin typeface="Century Schoolbook" panose="02040604050505020304" pitchFamily="18" charset="0"/>
              </a:rPr>
            </a:br>
            <a:r>
              <a:rPr lang="en-US" sz="2900" b="1" dirty="0">
                <a:latin typeface="Century Schoolbook" panose="02040604050505020304" pitchFamily="18" charset="0"/>
              </a:rPr>
              <a:t>  c. If FLAG = 0, print </a:t>
            </a:r>
            <a:r>
              <a:rPr lang="en-US" sz="2900" b="1" dirty="0" err="1">
                <a:latin typeface="Century Schoolbook" panose="02040604050505020304" pitchFamily="18" charset="0"/>
              </a:rPr>
              <a:t>i</a:t>
            </a:r>
            <a:r>
              <a:rPr lang="en-US" sz="2900" b="1" dirty="0">
                <a:latin typeface="Century Schoolbook" panose="02040604050505020304" pitchFamily="18" charset="0"/>
              </a:rPr>
              <a:t> (prime number)</a:t>
            </a:r>
          </a:p>
          <a:p>
            <a:r>
              <a:rPr lang="en-US" sz="2900" b="1" dirty="0">
                <a:latin typeface="Century Schoolbook" panose="02040604050505020304" pitchFamily="18" charset="0"/>
              </a:rPr>
              <a:t>Step 4 : Stop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51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Pseudo-code</a:t>
            </a:r>
            <a:r>
              <a:rPr lang="en-US" sz="51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READ N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FOR </a:t>
            </a:r>
            <a:r>
              <a:rPr lang="en-US" sz="2300" b="1" dirty="0" err="1">
                <a:latin typeface="Century Schoolbook" panose="02040604050505020304" pitchFamily="18" charset="0"/>
              </a:rPr>
              <a:t>i</a:t>
            </a:r>
            <a:r>
              <a:rPr lang="en-US" sz="2300" b="1" dirty="0">
                <a:latin typeface="Century Schoolbook" panose="02040604050505020304" pitchFamily="18" charset="0"/>
              </a:rPr>
              <a:t> ← 2 TO N DO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     FLAG ← 0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     FOR j ← 2 TO </a:t>
            </a:r>
            <a:r>
              <a:rPr lang="en-US" sz="2300" b="1" dirty="0" err="1">
                <a:latin typeface="Century Schoolbook" panose="02040604050505020304" pitchFamily="18" charset="0"/>
              </a:rPr>
              <a:t>i</a:t>
            </a:r>
            <a:r>
              <a:rPr lang="en-US" sz="2300" b="1" dirty="0">
                <a:latin typeface="Century Schoolbook" panose="02040604050505020304" pitchFamily="18" charset="0"/>
              </a:rPr>
              <a:t>/2 DO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          IF </a:t>
            </a:r>
            <a:r>
              <a:rPr lang="en-US" sz="2300" b="1" dirty="0" err="1">
                <a:latin typeface="Century Schoolbook" panose="02040604050505020304" pitchFamily="18" charset="0"/>
              </a:rPr>
              <a:t>i</a:t>
            </a:r>
            <a:r>
              <a:rPr lang="en-US" sz="2300" b="1" dirty="0">
                <a:latin typeface="Century Schoolbook" panose="02040604050505020304" pitchFamily="18" charset="0"/>
              </a:rPr>
              <a:t> % j = 0 THEN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               FLAG ← 1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               BREAK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          END IF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     END FOR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     IF FLAG = 0 THEN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          PRINT </a:t>
            </a:r>
            <a:r>
              <a:rPr lang="en-US" sz="2300" b="1" dirty="0" err="1">
                <a:latin typeface="Century Schoolbook" panose="02040604050505020304" pitchFamily="18" charset="0"/>
              </a:rPr>
              <a:t>i</a:t>
            </a:r>
            <a:endParaRPr lang="en-US" sz="2300" b="1" dirty="0">
              <a:latin typeface="Century Schoolbook" panose="02040604050505020304" pitchFamily="18" charset="0"/>
            </a:endParaRPr>
          </a:p>
          <a:p>
            <a:r>
              <a:rPr lang="en-US" sz="2300" b="1" dirty="0">
                <a:latin typeface="Century Schoolbook" panose="02040604050505020304" pitchFamily="18" charset="0"/>
              </a:rPr>
              <a:t>     END IF</a:t>
            </a:r>
          </a:p>
          <a:p>
            <a:r>
              <a:rPr lang="en-US" sz="2300" b="1" dirty="0">
                <a:latin typeface="Century Schoolbook" panose="02040604050505020304" pitchFamily="18" charset="0"/>
              </a:rPr>
              <a:t>END FOR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1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0176-310A-0093-250F-32F187CD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8827"/>
            <a:ext cx="11014586" cy="64892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3600" u="sng" dirty="0">
                <a:solidFill>
                  <a:srgbClr val="FFFF00"/>
                </a:solidFill>
                <a:latin typeface="Algerian" panose="04020705040A02060702" pitchFamily="82" charset="0"/>
              </a:rPr>
              <a:t>Exchange the value of two variables</a:t>
            </a:r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055EE-2851-3B39-5E6B-4260E8B70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611" y="648928"/>
            <a:ext cx="10627617" cy="62090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(A) </a:t>
            </a: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Using Temporary Variable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(B) </a:t>
            </a:r>
            <a:r>
              <a:rPr lang="en-IN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Without Temporary Variable</a:t>
            </a:r>
            <a:r>
              <a:rPr lang="en-IN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Start → Read A, B → A ← A + B → B ← A - B → A ← A - B → Print A, B → Stop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3FCE4-E2B2-E434-DCFA-6F265ECEA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76" y="1101210"/>
            <a:ext cx="3718820" cy="45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892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4C1E-EC27-0AA1-941A-8A3624F33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783959" cy="58010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Counting Positive Numbers from a Set of Integers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BCB7405E-776F-8746-EB6C-48EBE0C3A0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18">
            <a:extLst>
              <a:ext uri="{FF2B5EF4-FFF2-40B4-BE49-F238E27FC236}">
                <a16:creationId xmlns:a16="http://schemas.microsoft.com/office/drawing/2014/main" id="{BB9C6D18-2FF9-CA0E-2078-F9B209CDA7D8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68263" y="579438"/>
            <a:ext cx="12025312" cy="619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FAF83A-8A3A-0C30-EE03-A12004A18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35" y="669493"/>
            <a:ext cx="5673665" cy="504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82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2595-20F5-3FE3-0C44-2CF0DB74A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63" y="-117986"/>
            <a:ext cx="12066637" cy="83574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03. </a:t>
            </a:r>
            <a:r>
              <a:rPr lang="en-US" sz="3600" u="sng" dirty="0">
                <a:solidFill>
                  <a:srgbClr val="FFFF00"/>
                </a:solidFill>
                <a:latin typeface="Algerian" panose="04020705040A02060702" pitchFamily="82" charset="0"/>
              </a:rPr>
              <a:t>Summation of Set of Numbers</a:t>
            </a:r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23630-183C-5239-3378-B03BB2072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303" y="639098"/>
            <a:ext cx="11791334" cy="2694038"/>
          </a:xfrm>
        </p:spPr>
        <p:txBody>
          <a:bodyPr/>
          <a:lstStyle/>
          <a:p>
            <a:r>
              <a:rPr lang="en-IN" b="1" dirty="0">
                <a:latin typeface="Century Schoolbook" panose="02040604050505020304" pitchFamily="18" charset="0"/>
              </a:rPr>
              <a:t>Start → Read N → SUM ← 0 → </a:t>
            </a:r>
            <a:r>
              <a:rPr lang="en-IN" b="1" dirty="0" err="1">
                <a:latin typeface="Century Schoolbook" panose="02040604050505020304" pitchFamily="18" charset="0"/>
              </a:rPr>
              <a:t>i</a:t>
            </a:r>
            <a:r>
              <a:rPr lang="en-IN" b="1" dirty="0">
                <a:latin typeface="Century Schoolbook" panose="02040604050505020304" pitchFamily="18" charset="0"/>
              </a:rPr>
              <a:t> = 1  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↓  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Check </a:t>
            </a:r>
            <a:r>
              <a:rPr lang="en-IN" b="1" dirty="0" err="1">
                <a:latin typeface="Century Schoolbook" panose="02040604050505020304" pitchFamily="18" charset="0"/>
              </a:rPr>
              <a:t>i</a:t>
            </a:r>
            <a:r>
              <a:rPr lang="en-IN" b="1" dirty="0">
                <a:latin typeface="Century Schoolbook" panose="02040604050505020304" pitchFamily="18" charset="0"/>
              </a:rPr>
              <a:t> ≤ N ?  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  Yes → Read X → SUM ← SUM + X → </a:t>
            </a:r>
            <a:r>
              <a:rPr lang="en-IN" b="1" dirty="0" err="1">
                <a:latin typeface="Century Schoolbook" panose="02040604050505020304" pitchFamily="18" charset="0"/>
              </a:rPr>
              <a:t>i</a:t>
            </a:r>
            <a:r>
              <a:rPr lang="en-IN" b="1" dirty="0">
                <a:latin typeface="Century Schoolbook" panose="02040604050505020304" pitchFamily="18" charset="0"/>
              </a:rPr>
              <a:t> ← </a:t>
            </a:r>
            <a:r>
              <a:rPr lang="en-IN" b="1" dirty="0" err="1">
                <a:latin typeface="Century Schoolbook" panose="02040604050505020304" pitchFamily="18" charset="0"/>
              </a:rPr>
              <a:t>i</a:t>
            </a:r>
            <a:r>
              <a:rPr lang="en-IN" b="1" dirty="0">
                <a:latin typeface="Century Schoolbook" panose="02040604050505020304" pitchFamily="18" charset="0"/>
              </a:rPr>
              <a:t> + 1 → repeat  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  No  → Print SUM → Stop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62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33371-D28F-A42E-25E8-171DCAB82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-127819"/>
            <a:ext cx="12192000" cy="81607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04. </a:t>
            </a:r>
            <a:r>
              <a:rPr lang="en-US" sz="3600" u="sng" dirty="0">
                <a:solidFill>
                  <a:srgbClr val="FFFF00"/>
                </a:solidFill>
                <a:latin typeface="Algerian" panose="04020705040A02060702" pitchFamily="82" charset="0"/>
              </a:rPr>
              <a:t>Reversing the Digits of an Integer</a:t>
            </a:r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D5B72-D2E1-2104-6D7A-53739A632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155" y="658761"/>
            <a:ext cx="11975690" cy="6096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97D8A-605C-F8F9-228A-A5936DAB2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70" y="760197"/>
            <a:ext cx="4747671" cy="474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11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C16F6-56D4-A847-FF28-125AE6560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29" y="-137652"/>
            <a:ext cx="12037141" cy="86523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05. </a:t>
            </a:r>
            <a:r>
              <a:rPr lang="en-US" sz="3600" u="sng" dirty="0">
                <a:solidFill>
                  <a:srgbClr val="FFFF00"/>
                </a:solidFill>
                <a:latin typeface="Algerian" panose="04020705040A02060702" pitchFamily="82" charset="0"/>
              </a:rPr>
              <a:t>Smallest Positive Divisor (other than 1)</a:t>
            </a:r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57B58-4AEA-A0AF-CF60-E8958CD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1" y="639098"/>
            <a:ext cx="12037140" cy="621890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DD7B0-84F7-5FF8-2B5D-256EB99D3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85" y="727587"/>
            <a:ext cx="5820534" cy="577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57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4CF1-A60F-5D68-CCEC-E513A0C0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26" y="-98323"/>
            <a:ext cx="10131427" cy="70792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06. </a:t>
            </a:r>
            <a:r>
              <a:rPr lang="en-US" sz="3600" u="sng" dirty="0">
                <a:solidFill>
                  <a:srgbClr val="FFFF00"/>
                </a:solidFill>
                <a:latin typeface="Algerian" panose="04020705040A02060702" pitchFamily="82" charset="0"/>
              </a:rPr>
              <a:t>G.C.D. and L.C.M. of Two Numbers</a:t>
            </a:r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74C2A-3D50-AB6C-9E5A-0A6386D00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26" y="530942"/>
            <a:ext cx="11901948" cy="6150078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5B6F3A-8F83-18D0-BA06-4110A6041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8" y="609599"/>
            <a:ext cx="5458340" cy="544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94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6FF81-DEEA-1A14-09DD-A283E4EA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" y="-71283"/>
            <a:ext cx="12113342" cy="70054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07. </a:t>
            </a:r>
            <a:r>
              <a:rPr lang="en-US" sz="3600" u="sng" dirty="0">
                <a:solidFill>
                  <a:srgbClr val="FFFF00"/>
                </a:solidFill>
                <a:latin typeface="Algerian" panose="04020705040A02060702" pitchFamily="82" charset="0"/>
              </a:rPr>
              <a:t>Generating Prime Numbers up to N</a:t>
            </a:r>
            <a:r>
              <a:rPr lang="en-US" sz="36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36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0366A-EB86-DC68-A322-2E7331FF5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29265"/>
            <a:ext cx="12113342" cy="622873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823274-7690-FCA1-C633-46219CAB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20" y="629264"/>
            <a:ext cx="5968181" cy="596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759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271</TotalTime>
  <Words>1522</Words>
  <Application>Microsoft Office PowerPoint</Application>
  <PresentationFormat>Widescreen</PresentationFormat>
  <Paragraphs>229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Algerian</vt:lpstr>
      <vt:lpstr>Arial</vt:lpstr>
      <vt:lpstr>Calibri</vt:lpstr>
      <vt:lpstr>Calibri Light</vt:lpstr>
      <vt:lpstr>Century Schoolbook</vt:lpstr>
      <vt:lpstr>Wingdings</vt:lpstr>
      <vt:lpstr>Celestial</vt:lpstr>
      <vt:lpstr>01. Program Logic development </vt:lpstr>
      <vt:lpstr>1.1] fundamentals of algorithm : -</vt:lpstr>
      <vt:lpstr>2. Pseudo-code conventions : -</vt:lpstr>
      <vt:lpstr>a) Assignment Statements : -</vt:lpstr>
      <vt:lpstr>b) Basic Control Structure : -</vt:lpstr>
      <vt:lpstr>2. Selection (Decision) Structure : -</vt:lpstr>
      <vt:lpstr>3. Iteration (looping) Structure : -</vt:lpstr>
      <vt:lpstr>1.2] algorithmic problems : -</vt:lpstr>
      <vt:lpstr>B. Without using a temporary variable : -</vt:lpstr>
      <vt:lpstr>2. Counting positive numbers from a set of integers : -</vt:lpstr>
      <vt:lpstr>3. Summation of a set of numbers : -</vt:lpstr>
      <vt:lpstr>4. Reversing the digits of an integer : -</vt:lpstr>
      <vt:lpstr>5. Find smallest positive divisor of an integer (other than 1) : -</vt:lpstr>
      <vt:lpstr>6. Find G.C.D. &amp; L.C.M. of Two Numbers : -</vt:lpstr>
      <vt:lpstr>b) To find L.C.M. : -</vt:lpstr>
      <vt:lpstr>7. Generating Prime Numbers up to N : -</vt:lpstr>
      <vt:lpstr>1. Exchange the value of two variables : -</vt:lpstr>
      <vt:lpstr>2. Counting Positive Numbers from a Set of Integers : -</vt:lpstr>
      <vt:lpstr>03. Summation of Set of Numbers : -</vt:lpstr>
      <vt:lpstr>04. Reversing the Digits of an Integer : -</vt:lpstr>
      <vt:lpstr>05. Smallest Positive Divisor (other than 1) : -</vt:lpstr>
      <vt:lpstr>06. G.C.D. and L.C.M. of Two Numbers : -</vt:lpstr>
      <vt:lpstr>07. Generating Prime Numbers up to N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2025-11-02T08:02:25Z</dcterms:created>
  <dcterms:modified xsi:type="dcterms:W3CDTF">2025-11-03T12:15:57Z</dcterms:modified>
</cp:coreProperties>
</file>