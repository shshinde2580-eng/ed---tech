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72393-3581-4732-8ED4-5EDB90A7DCE6}" v="6" dt="2025-11-02T16:49:58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10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84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69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06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8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8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31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16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00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90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69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55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115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3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92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2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1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FF7EB1-3568-485F-9B43-EC33148BFE2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B31FFD-3C7F-4AF8-B57E-5EEE48925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099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F45C-EE39-F4F6-F67C-2E1F7703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993" y="1738125"/>
            <a:ext cx="10550013" cy="2421464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solidFill>
                  <a:srgbClr val="FFFF00"/>
                </a:solidFill>
                <a:latin typeface="Algerian" panose="04020705040A02060702" pitchFamily="82" charset="0"/>
              </a:rPr>
              <a:t>07. </a:t>
            </a:r>
            <a:r>
              <a:rPr lang="en-US" sz="9600" u="sng" dirty="0">
                <a:solidFill>
                  <a:srgbClr val="FFFF00"/>
                </a:solidFill>
                <a:latin typeface="Algerian" panose="04020705040A02060702" pitchFamily="82" charset="0"/>
              </a:rPr>
              <a:t>Pointers</a:t>
            </a:r>
            <a:endParaRPr lang="en-IN" sz="9600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69096-82BD-BD5F-3B60-37E26A7CCD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95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39DD-8565-EFA4-E308-2F64F800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" y="-128273"/>
            <a:ext cx="12017477" cy="104759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7.1]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basic concept of pointer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9A572-EC33-0245-B787-3BAAEA470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2" y="395522"/>
            <a:ext cx="11916696" cy="474898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 pointer is a variable that stores the memory address of another variable.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In simple terms, a pointer “points to” the location in memory where a variable’s value is stored.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a = 10;     // normal integer variable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*p;         // pointer variable declaration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p = &amp;a;         // pointer p stores the address of 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Important Pointer Operators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20E93D-CDCA-91DF-CBF6-733393A24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536357"/>
              </p:ext>
            </p:extLst>
          </p:nvPr>
        </p:nvGraphicFramePr>
        <p:xfrm>
          <a:off x="235974" y="4896464"/>
          <a:ext cx="9832258" cy="1698031"/>
        </p:xfrm>
        <a:graphic>
          <a:graphicData uri="http://schemas.openxmlformats.org/drawingml/2006/table">
            <a:tbl>
              <a:tblPr/>
              <a:tblGrid>
                <a:gridCol w="3165987">
                  <a:extLst>
                    <a:ext uri="{9D8B030D-6E8A-4147-A177-3AD203B41FA5}">
                      <a16:colId xmlns:a16="http://schemas.microsoft.com/office/drawing/2014/main" val="2207975422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3755454730"/>
                    </a:ext>
                  </a:extLst>
                </a:gridCol>
                <a:gridCol w="5476568">
                  <a:extLst>
                    <a:ext uri="{9D8B030D-6E8A-4147-A177-3AD203B41FA5}">
                      <a16:colId xmlns:a16="http://schemas.microsoft.com/office/drawing/2014/main" val="2074866066"/>
                    </a:ext>
                  </a:extLst>
                </a:gridCol>
              </a:tblGrid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91229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Address 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Gives the memory address of a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510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Value at (Dereference)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Gives the value stored at the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79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16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FAA7-F296-7F87-F8EE-C9CFCA5E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3458"/>
            <a:ext cx="12192000" cy="38345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F060B-A147-6DC0-01D6-1273CE885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4" y="68826"/>
            <a:ext cx="12044516" cy="68580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Pointers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Null Pointer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b="1" dirty="0">
                <a:latin typeface="Century Schoolbook" panose="02040604050505020304" pitchFamily="18" charset="0"/>
              </a:rPr>
              <a:t>points to nothing (int *p = NULL;)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Void Pointer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b="1" dirty="0">
                <a:latin typeface="Century Schoolbook" panose="02040604050505020304" pitchFamily="18" charset="0"/>
              </a:rPr>
              <a:t>can hold address of any data type (void *</a:t>
            </a:r>
            <a:r>
              <a:rPr lang="en-US" b="1" dirty="0" err="1">
                <a:latin typeface="Century Schoolbook" panose="02040604050505020304" pitchFamily="18" charset="0"/>
              </a:rPr>
              <a:t>ptr</a:t>
            </a:r>
            <a:r>
              <a:rPr lang="en-US" b="1" dirty="0">
                <a:latin typeface="Century Schoolbook" panose="02040604050505020304" pitchFamily="18" charset="0"/>
              </a:rPr>
              <a:t>;)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Dangling Pointer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b="1" dirty="0">
                <a:latin typeface="Century Schoolbook" panose="02040604050505020304" pitchFamily="18" charset="0"/>
              </a:rPr>
              <a:t>pointer that points to a freed/deleted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Wild Pointer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b="1" dirty="0">
                <a:latin typeface="Century Schoolbook" panose="02040604050505020304" pitchFamily="18" charset="0"/>
              </a:rPr>
              <a:t>uninitialized pointer (contains garbage address)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Constant Pointer / Pointer to Constant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b="1" dirty="0">
                <a:latin typeface="Century Schoolbook" panose="02040604050505020304" pitchFamily="18" charset="0"/>
              </a:rPr>
              <a:t>for fixed memory references</a:t>
            </a:r>
          </a:p>
          <a:p>
            <a:endParaRPr lang="en-US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Uses of Pointers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Dynamic memory allocation (malloc, free)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Passing arguments by reference to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Accessing arrays and strings 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Creating linked lists, trees, and other data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Handling files and buffers</a:t>
            </a:r>
          </a:p>
          <a:p>
            <a:endParaRPr lang="en-IN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5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67B6-9684-1168-7B4D-AA48212D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4" y="-176980"/>
            <a:ext cx="12105966" cy="1066800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  <a:latin typeface="Algerian" panose="04020705040A02060702" pitchFamily="82" charset="0"/>
              </a:rPr>
              <a:t>7.2] </a:t>
            </a:r>
            <a:r>
              <a:rPr lang="en-IN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Pointer &amp; arrays</a:t>
            </a:r>
            <a:r>
              <a:rPr lang="en-IN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D16BF-8DAB-CDAA-4DDA-869CC78AC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34" y="727588"/>
            <a:ext cx="11722508" cy="590918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pointers and arrays are closely related concepts.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An array is a collection of elements of the same data type stored in contiguous memory locations, and a pointer is a variable that stores the memory address of another variable.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name of an array itself acts as a pointer to the first element of that array.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Advantages of Using Pointers with Arrays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Efficient array traversal.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Less memory usage (address passing).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Useful in functions and dynamic memory allocation.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Simplifies string and data structure handling.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88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6A2B-4154-8FA5-6FBE-D52951DC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2451"/>
            <a:ext cx="12192000" cy="442451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989AED-D9EA-CA3A-F12D-95B5EE1E3B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8154" y="0"/>
                <a:ext cx="11975691" cy="500707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sz="32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Relationship Between Arrays and Pointers</a:t>
                </a:r>
                <a:r>
                  <a:rPr lang="en-IN" sz="3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If we have an array :</a:t>
                </a:r>
              </a:p>
              <a:p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int </a:t>
                </a:r>
                <a:r>
                  <a:rPr lang="en-IN" sz="2800" b="1" dirty="0" err="1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arr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[5] = {10, 20, 30, 40, 50};</a:t>
                </a:r>
              </a:p>
              <a:p>
                <a:r>
                  <a:rPr lang="en-IN" sz="2400" b="1" dirty="0" err="1">
                    <a:latin typeface="Century Schoolbook" panose="02040604050505020304" pitchFamily="18" charset="0"/>
                  </a:rPr>
                  <a:t>arr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→ represents the address of the first element of the array (&amp;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arr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[0])</a:t>
                </a:r>
              </a:p>
              <a:p>
                <a:r>
                  <a:rPr lang="en-IN" sz="2400" b="1" dirty="0">
                    <a:latin typeface="Century Schoolbook" panose="02040604050505020304" pitchFamily="18" charset="0"/>
                  </a:rPr>
                  <a:t>*</a:t>
                </a:r>
                <a:r>
                  <a:rPr lang="en-IN" sz="2400" b="1" dirty="0" err="1">
                    <a:latin typeface="Century Schoolbook" panose="02040604050505020304" pitchFamily="18" charset="0"/>
                  </a:rPr>
                  <a:t>arr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→ represents the value of the first element (10)</a:t>
                </a:r>
              </a:p>
              <a:p>
                <a:r>
                  <a:rPr lang="en-IN" sz="2400" b="1" dirty="0">
                    <a:latin typeface="Century Schoolbook" panose="02040604050505020304" pitchFamily="18" charset="0"/>
                  </a:rPr>
                  <a:t>Thus,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𝒂𝒓𝒓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ar-AE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≡∗</m:t>
                      </m:r>
                      <m:d>
                        <m:dPr>
                          <m:ctrlPr>
                            <a:rPr lang="ar-AE" sz="2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𝒂𝒓𝒓</m:t>
                          </m:r>
                          <m:r>
                            <a:rPr lang="ar-AE" sz="28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</m:oMath>
                  </m:oMathPara>
                </a14:m>
                <a:endParaRPr lang="ar-AE" sz="2400" b="1" dirty="0">
                  <a:latin typeface="Century Schoolbook" panose="020406040505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This means accessing elements using array indexing or pointer arithmetic gives the same result.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0989AED-D9EA-CA3A-F12D-95B5EE1E3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154" y="0"/>
                <a:ext cx="11975691" cy="5007078"/>
              </a:xfrm>
              <a:blipFill>
                <a:blip r:embed="rId2"/>
                <a:stretch>
                  <a:fillRect l="-1171" t="-10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81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12EA-DCC1-32E4-D0DC-CD7D7954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2451"/>
            <a:ext cx="12192000" cy="442451"/>
          </a:xfrm>
        </p:spPr>
        <p:txBody>
          <a:bodyPr>
            <a:normAutofit fontScale="90000"/>
          </a:bodyPr>
          <a:lstStyle/>
          <a:p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B8260-E075-DE67-0532-4D6487BFC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16" y="-68826"/>
            <a:ext cx="12034684" cy="68580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Pointer Arithmetic with Arrays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Pointers can perform arithmetic operations such as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Increment (++) → moves to the next element.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Decrement (--) → moves to the previous element.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Addition (+) → moves ahead by n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Subtraction (-) → moves back by n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*</a:t>
            </a:r>
            <a:r>
              <a:rPr lang="en-US" sz="2400" b="1" dirty="0" err="1">
                <a:latin typeface="Century Schoolbook" panose="02040604050505020304" pitchFamily="18" charset="0"/>
              </a:rPr>
              <a:t>ptr</a:t>
            </a:r>
            <a:r>
              <a:rPr lang="en-US" sz="2400" b="1" dirty="0">
                <a:latin typeface="Century Schoolbook" panose="02040604050505020304" pitchFamily="18" charset="0"/>
              </a:rPr>
              <a:t> = </a:t>
            </a:r>
            <a:r>
              <a:rPr lang="en-US" sz="2400" b="1" dirty="0" err="1">
                <a:latin typeface="Century Schoolbook" panose="02040604050505020304" pitchFamily="18" charset="0"/>
              </a:rPr>
              <a:t>arr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("%d", *</a:t>
            </a:r>
            <a:r>
              <a:rPr lang="en-US" sz="2400" b="1" dirty="0" err="1">
                <a:latin typeface="Century Schoolbook" panose="02040604050505020304" pitchFamily="18" charset="0"/>
              </a:rPr>
              <a:t>ptr</a:t>
            </a:r>
            <a:r>
              <a:rPr lang="en-US" sz="2400" b="1" dirty="0">
                <a:latin typeface="Century Schoolbook" panose="02040604050505020304" pitchFamily="18" charset="0"/>
              </a:rPr>
              <a:t>);     // 10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ptr</a:t>
            </a:r>
            <a:r>
              <a:rPr lang="en-US" sz="2400" b="1" dirty="0">
                <a:latin typeface="Century Schoolbook" panose="02040604050505020304" pitchFamily="18" charset="0"/>
              </a:rPr>
              <a:t>++;</a:t>
            </a:r>
          </a:p>
          <a:p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("%d", *</a:t>
            </a:r>
            <a:r>
              <a:rPr lang="en-US" sz="2400" b="1" dirty="0" err="1">
                <a:latin typeface="Century Schoolbook" panose="02040604050505020304" pitchFamily="18" charset="0"/>
              </a:rPr>
              <a:t>ptr</a:t>
            </a:r>
            <a:r>
              <a:rPr lang="en-US" sz="2400" b="1" dirty="0">
                <a:latin typeface="Century Schoolbook" panose="02040604050505020304" pitchFamily="18" charset="0"/>
              </a:rPr>
              <a:t>);     // 20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90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4742-7743-8BBC-C2C2-1BB485DD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7" y="-147483"/>
            <a:ext cx="11810999" cy="1066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Pointer &amp; functions</a:t>
            </a:r>
            <a:r>
              <a:rPr lang="en-IN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FC538-3B2E-08FB-7E1E-C531E1506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477" y="737419"/>
            <a:ext cx="11710219" cy="601734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pointers and functions are often used together to make programs more efficient and flexible.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pointer allows a function to access and modify variables defined outside the function by passing their addresses instead of values.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concept is known as Call by Reference (using pointers).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Normally, when values are passed to functions (Call by Value), the original data remains unchanged.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Why Use Pointers with Functions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modify the original variable (not a copy).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save memory (no duplicate values).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pass large data like arrays and structures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return multiple values from a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implement dynamic memory allocation.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37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30AC-A105-67D9-9025-AFA927F6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23174" cy="76691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Ways of passing data to a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F5B74-5581-B4FE-AC09-4E658FD49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645" y="835741"/>
            <a:ext cx="11926529" cy="6091085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Call by Value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A copy of the variable’s value is passed to the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The original variable is not affected.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void change (int x)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x = 50;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a = 10;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change (a);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("a = %d", a);   // Output: 10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41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5057-DE5C-F032-015F-25297703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40773"/>
            <a:ext cx="12192000" cy="540773"/>
          </a:xfrm>
        </p:spPr>
        <p:txBody>
          <a:bodyPr>
            <a:normAutofit fontScale="90000"/>
          </a:bodyPr>
          <a:lstStyle/>
          <a:p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CE566-D905-9FC3-1101-5EC906E7C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54" y="95864"/>
            <a:ext cx="12005187" cy="67621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Call by Reference (Using Pointers)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The address of the variable is passed to the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The function can directly modify the original variable.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void change (int *x)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*x = 50;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a = 10;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change (&amp;a);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("a = %d", a);   // Output: 50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6356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3125-D025-F8FA-F56B-6755ED16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-157315"/>
            <a:ext cx="12103510" cy="1042218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FFFF00"/>
                </a:solidFill>
                <a:latin typeface="Algerian" panose="04020705040A02060702" pitchFamily="82" charset="0"/>
              </a:rPr>
              <a:t>7.4] </a:t>
            </a:r>
            <a:r>
              <a:rPr lang="en-IN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Pointer arithmetic</a:t>
            </a:r>
            <a:r>
              <a:rPr lang="en-IN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EA824-8FCD-3E52-1094-0C40854B9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317" y="717755"/>
            <a:ext cx="11680723" cy="586985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a pointer stores the memory address of a variable.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Pointer arithmetic means performing mathematical operations on pointers to navigate through memory addresses.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Since pointers store addresses, pointer arithmetic allows movement from one memory location to another — especially useful while working with arrays.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Valid Pointer Arithmetic Operations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 allows four basic arithmetic operations on pointers: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Addition (+)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Subtraction (-)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Increment (++)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Decrement (--)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6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24B9-77CE-3BE3-B1B0-8D3B95BD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1"/>
            <a:ext cx="12459928" cy="81607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Important rules for pointer arithmetic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AEDF4-D65B-6076-0C08-1651D56BE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29" y="639096"/>
            <a:ext cx="11752006" cy="29693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Both pointers must be of the same data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You can add/subtract an integer to/from a pointer.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You cannot multiply or divide pointers.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Subtracting two pointers gives the number of elements (not bytes).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Pointers should always point to valid memory before arithmetic.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921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969F-65B7-6B6A-6519-E847FA24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" y="-140108"/>
            <a:ext cx="12192000" cy="99551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program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CB666-8139-8E4E-5599-E44869150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974" y="737420"/>
            <a:ext cx="11956026" cy="612058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stdio.h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int </a:t>
            </a:r>
            <a:r>
              <a:rPr lang="en-IN" b="1" dirty="0" err="1">
                <a:latin typeface="Century Schoolbook" panose="02040604050505020304" pitchFamily="18" charset="0"/>
              </a:rPr>
              <a:t>arr</a:t>
            </a:r>
            <a:r>
              <a:rPr lang="en-IN" b="1" dirty="0">
                <a:latin typeface="Century Schoolbook" panose="02040604050505020304" pitchFamily="18" charset="0"/>
              </a:rPr>
              <a:t>[5] = {10, 20, 30, 40, 50};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int *p = </a:t>
            </a:r>
            <a:r>
              <a:rPr lang="en-IN" b="1" dirty="0" err="1">
                <a:latin typeface="Century Schoolbook" panose="02040604050505020304" pitchFamily="18" charset="0"/>
              </a:rPr>
              <a:t>arr</a:t>
            </a:r>
            <a:r>
              <a:rPr lang="en-IN" b="1" dirty="0">
                <a:latin typeface="Century Schoolbook" panose="02040604050505020304" pitchFamily="18" charset="0"/>
              </a:rPr>
              <a:t>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("First value: %d\n", *p);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p = p + 3;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("Fourth value: %d\n", *p);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p = p - 2;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("Second value: %d\n", *p);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Output: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First value : 10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Fourth value : 40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Second value : 20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717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98</TotalTime>
  <Words>1052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Cambria Math</vt:lpstr>
      <vt:lpstr>Century Schoolbook</vt:lpstr>
      <vt:lpstr>Wingdings</vt:lpstr>
      <vt:lpstr>Celestial</vt:lpstr>
      <vt:lpstr>07. Pointers</vt:lpstr>
      <vt:lpstr>7.1] basic concept of pointer : -</vt:lpstr>
      <vt:lpstr>PowerPoint Presentation</vt:lpstr>
      <vt:lpstr>7.2] Pointer &amp; arrays : -</vt:lpstr>
      <vt:lpstr>PowerPoint Presentation</vt:lpstr>
      <vt:lpstr>PowerPoint Presentation</vt:lpstr>
      <vt:lpstr>Pointer &amp; functions : -</vt:lpstr>
      <vt:lpstr> Ways of passing data to a function : -</vt:lpstr>
      <vt:lpstr>PowerPoint Presentation</vt:lpstr>
      <vt:lpstr>7.4] Pointer arithmetic : -</vt:lpstr>
      <vt:lpstr>Important rules for pointer arithmetic : -</vt:lpstr>
      <vt:lpstr>Example program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2025-11-02T15:28:01Z</dcterms:created>
  <dcterms:modified xsi:type="dcterms:W3CDTF">2025-11-03T12:15:12Z</dcterms:modified>
</cp:coreProperties>
</file>