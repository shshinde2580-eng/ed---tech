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93" r:id="rId31"/>
    <p:sldId id="285" r:id="rId32"/>
    <p:sldId id="294" r:id="rId33"/>
    <p:sldId id="286" r:id="rId34"/>
    <p:sldId id="295" r:id="rId35"/>
    <p:sldId id="287" r:id="rId36"/>
    <p:sldId id="296" r:id="rId37"/>
    <p:sldId id="288" r:id="rId38"/>
    <p:sldId id="297" r:id="rId39"/>
    <p:sldId id="289" r:id="rId40"/>
    <p:sldId id="290" r:id="rId41"/>
    <p:sldId id="291" r:id="rId42"/>
    <p:sldId id="292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EA0E5B-11CA-4F22-BB9B-C951B4BB11D6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0F26B-0B44-42E4-9484-05CB3A4861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884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40F26B-0B44-42E4-9484-05CB3A48613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469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7401-EEE7-48B3-9A3D-D5178ED481D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7F5-C098-4EE7-BD25-A4E5B3A89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24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7401-EEE7-48B3-9A3D-D5178ED481D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7F5-C098-4EE7-BD25-A4E5B3A89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643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7401-EEE7-48B3-9A3D-D5178ED481D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7F5-C098-4EE7-BD25-A4E5B3A89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342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7401-EEE7-48B3-9A3D-D5178ED481D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7F5-C098-4EE7-BD25-A4E5B3A89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679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7401-EEE7-48B3-9A3D-D5178ED481D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7F5-C098-4EE7-BD25-A4E5B3A89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93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7401-EEE7-48B3-9A3D-D5178ED481D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7F5-C098-4EE7-BD25-A4E5B3A89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836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7401-EEE7-48B3-9A3D-D5178ED481D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7F5-C098-4EE7-BD25-A4E5B3A89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63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7401-EEE7-48B3-9A3D-D5178ED481D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7F5-C098-4EE7-BD25-A4E5B3A89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917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7401-EEE7-48B3-9A3D-D5178ED481D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7F5-C098-4EE7-BD25-A4E5B3A89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74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7401-EEE7-48B3-9A3D-D5178ED481D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7F5-C098-4EE7-BD25-A4E5B3A89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967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7401-EEE7-48B3-9A3D-D5178ED481D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7F5-C098-4EE7-BD25-A4E5B3A89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367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7401-EEE7-48B3-9A3D-D5178ED481D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7F5-C098-4EE7-BD25-A4E5B3A89CEF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6186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7401-EEE7-48B3-9A3D-D5178ED481D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7F5-C098-4EE7-BD25-A4E5B3A89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242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7401-EEE7-48B3-9A3D-D5178ED481D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7F5-C098-4EE7-BD25-A4E5B3A89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990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7401-EEE7-48B3-9A3D-D5178ED481D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7F5-C098-4EE7-BD25-A4E5B3A89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1612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7401-EEE7-48B3-9A3D-D5178ED481D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7F5-C098-4EE7-BD25-A4E5B3A89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871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7401-EEE7-48B3-9A3D-D5178ED481D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7F5-C098-4EE7-BD25-A4E5B3A89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090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17401-EEE7-48B3-9A3D-D5178ED481D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017F5-C098-4EE7-BD25-A4E5B3A89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0254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3CB53-06DB-B179-F6B7-BA613C5CA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545150"/>
            <a:ext cx="9001462" cy="2387600"/>
          </a:xfrm>
        </p:spPr>
        <p:txBody>
          <a:bodyPr>
            <a:normAutofit/>
          </a:bodyPr>
          <a:lstStyle/>
          <a:p>
            <a:r>
              <a:rPr lang="en-US" sz="9600" b="0" dirty="0">
                <a:solidFill>
                  <a:srgbClr val="FFFF00"/>
                </a:solidFill>
                <a:latin typeface="Algerian" panose="04020705040A02060702" pitchFamily="82" charset="0"/>
              </a:rPr>
              <a:t>02. </a:t>
            </a:r>
            <a:r>
              <a:rPr lang="en-US" sz="96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Motions</a:t>
            </a:r>
            <a:r>
              <a:rPr lang="en-US" sz="9600" b="0" dirty="0">
                <a:solidFill>
                  <a:srgbClr val="FFFF00"/>
                </a:solidFill>
                <a:latin typeface="Algerian" panose="04020705040A02060702" pitchFamily="82" charset="0"/>
              </a:rPr>
              <a:t> </a:t>
            </a:r>
            <a:endParaRPr lang="en-IN" sz="96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A1873F-F245-50CB-BF73-2F9B969A5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8624" y="4738996"/>
            <a:ext cx="9001462" cy="1655762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458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3291-DCD8-D62B-2978-F98893105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93895" y="-153175"/>
            <a:ext cx="6489895" cy="1185561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Introduction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A4D25-7418-6C41-2A4E-4FA94FE84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323" y="865238"/>
            <a:ext cx="11995354" cy="5923936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 of Motion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Motion is the change in the position of an object with respect to its surroundings or a reference point with the passage of time.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An object is said to be in motion if it changes its position continuously over time.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If the position does not change, the object is said to be at rest.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Motion means “movement” — when something moves from one place to another.</a:t>
            </a:r>
            <a:endParaRPr lang="en-US" sz="1800" b="1" dirty="0">
              <a:latin typeface="Century Schoolbook" panose="020406040505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 moving car changes its position with time → In motion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 parked car does not change its position → At rest</a:t>
            </a:r>
          </a:p>
          <a:p>
            <a:pPr algn="l"/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020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48A41-6AD4-8846-CE65-FD8EE3EE9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93018" cy="900427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Types of motion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DD029-6EC7-8DB4-B6ED-78D5C1E05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987" y="766916"/>
            <a:ext cx="11789482" cy="4788309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Translatory Motion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r>
              <a:rPr lang="en-US" sz="2400" b="1" dirty="0">
                <a:latin typeface="Century Schoolbook" panose="02040604050505020304" pitchFamily="18" charset="0"/>
              </a:rPr>
              <a:t> Movement of a body from one place to another (e.g., car moving on a road).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Rotatory Motion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–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400" b="1" dirty="0">
                <a:latin typeface="Century Schoolbook" panose="02040604050505020304" pitchFamily="18" charset="0"/>
              </a:rPr>
              <a:t>Movement of a body about a fixed axis (e.g., rotation of a fan blade).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Oscillatory Motion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–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400" b="1" dirty="0">
                <a:latin typeface="Century Schoolbook" panose="02040604050505020304" pitchFamily="18" charset="0"/>
              </a:rPr>
              <a:t>Back and forth movement about a mean position (e.g., pendulum).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Vibratory Motion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– </a:t>
            </a:r>
            <a:r>
              <a:rPr lang="en-US" sz="2400" b="1" dirty="0">
                <a:latin typeface="Century Schoolbook" panose="02040604050505020304" pitchFamily="18" charset="0"/>
              </a:rPr>
              <a:t>Very fast to-and-fro motion (e.g., vibration of a tuning fork).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74530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D9D43-0D6A-1151-1053-B3854B65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8658"/>
            <a:ext cx="6744929" cy="982336"/>
          </a:xfrm>
        </p:spPr>
        <p:txBody>
          <a:bodyPr>
            <a:normAutofit/>
          </a:bodyPr>
          <a:lstStyle/>
          <a:p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2.1] 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linear motion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31AFC-3E12-74E5-2162-7CEEF9542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6379" y="727587"/>
            <a:ext cx="11632164" cy="4178710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Linear motion (or rectilinear motion) is the motion of a body in a straight line or along one dimension.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 this type of motion, an object moves from one point to another along a straight path.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 car moving on a straight road, a ball dropped from a building, etc.</a:t>
            </a:r>
          </a:p>
          <a:p>
            <a:pPr algn="l"/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85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F096B-9F3C-B95E-B1A2-B208D1B2B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738"/>
            <a:ext cx="11021961" cy="105685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Basic teams of linear motion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DDEE7-3160-884B-97A9-CDB0E7861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5538" y="942115"/>
            <a:ext cx="11573172" cy="5152994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DISTANCE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the total length of the path covered by a body during motion.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a scalar quantity (has magnitude only).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SI Unit : 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meter (m)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algn="l"/>
            <a:r>
              <a:rPr lang="en-US" sz="2400" b="1" dirty="0">
                <a:latin typeface="Century Schoolbook" panose="02040604050505020304" pitchFamily="18" charset="0"/>
              </a:rPr>
              <a:t>If a car moves 60 m east and then 40 m west, </a:t>
            </a:r>
          </a:p>
          <a:p>
            <a:pPr algn="l"/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Total distance = 60 + 40 = 100 m</a:t>
            </a:r>
          </a:p>
          <a:p>
            <a:pPr algn="l"/>
            <a:br>
              <a:rPr lang="en-US" sz="2000" b="1" dirty="0">
                <a:latin typeface="Century Schoolbook" panose="02040604050505020304" pitchFamily="18" charset="0"/>
              </a:rPr>
            </a:br>
            <a:endParaRPr lang="en-US" sz="2000" b="1" dirty="0">
              <a:latin typeface="Century Schoolbook" panose="02040604050505020304" pitchFamily="18" charset="0"/>
            </a:endParaRPr>
          </a:p>
          <a:p>
            <a:pPr algn="l"/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885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E4494-2A39-FA7F-9A6B-1AD7769E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09" y="0"/>
            <a:ext cx="11042231" cy="920091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US" sz="4800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Displacement</a:t>
            </a:r>
            <a:r>
              <a:rPr lang="en-US" sz="4800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39B2F-80F8-493C-B687-5B1F8ED67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6309" y="766917"/>
            <a:ext cx="11042231" cy="4326194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the shortest distance between the initial and final positions of a body.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a vector quantity (has both magnitude and direction).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SI Unit : 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meter (m)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For the same case above,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Displacement = 60 – 40 = 20 m east</a:t>
            </a:r>
          </a:p>
          <a:p>
            <a:pPr algn="l"/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513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DB650-525B-3F3C-CCD8-148812F0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84" y="0"/>
            <a:ext cx="10353762" cy="890594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rgbClr val="FFFF00"/>
                </a:solidFill>
                <a:latin typeface="Century Schoolbook" panose="02040604050505020304" pitchFamily="18" charset="0"/>
              </a:rPr>
              <a:t>3. </a:t>
            </a:r>
            <a:r>
              <a:rPr lang="en-US" sz="4800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Velocity</a:t>
            </a:r>
            <a:r>
              <a:rPr lang="en-US" sz="4800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8B9D5DB-9B80-DB8F-7DE9-DA1CA6670304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226142" y="763530"/>
                <a:ext cx="11739716" cy="4693374"/>
              </a:xfrm>
            </p:spPr>
            <p:txBody>
              <a:bodyPr>
                <a:normAutofit/>
              </a:bodyPr>
              <a:lstStyle/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It is the rate of change of displacement with respect to time.</a:t>
                </a:r>
              </a:p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It tells how fast and in which direction an object moves.</a:t>
                </a:r>
              </a:p>
              <a:p>
                <a:pPr marL="342900" indent="-342900" algn="l">
                  <a:buFont typeface="Wingdings" panose="05000000000000000000" pitchFamily="2" charset="2"/>
                  <a:buChar char="v"/>
                </a:pPr>
                <a:r>
                  <a:rPr lang="en-IN" sz="24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Formula</a:t>
                </a:r>
                <a:r>
                  <a:rPr lang="en-IN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IN" sz="32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IN" sz="32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32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32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num>
                      <m:den>
                        <m:r>
                          <a:rPr lang="ar-AE" sz="32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den>
                    </m:f>
                  </m:oMath>
                </a14:m>
                <a:endParaRPr lang="ar-AE" sz="2400" b="1" dirty="0">
                  <a:latin typeface="Century Schoolbook" panose="02040604050505020304" pitchFamily="18" charset="0"/>
                </a:endParaRPr>
              </a:p>
              <a:p>
                <a:pPr algn="l"/>
                <a:r>
                  <a:rPr lang="en-IN" sz="2400" b="1" dirty="0">
                    <a:latin typeface="Century Schoolbook" panose="02040604050505020304" pitchFamily="18" charset="0"/>
                  </a:rPr>
                  <a:t>where,</a:t>
                </a:r>
                <a:br>
                  <a:rPr lang="en-IN" sz="2400" b="1" dirty="0">
                    <a:latin typeface="Century Schoolbook" panose="02040604050505020304" pitchFamily="18" charset="0"/>
                  </a:rPr>
                </a:br>
                <a:r>
                  <a:rPr lang="en-IN" sz="2400" b="1" i="1" dirty="0">
                    <a:latin typeface="Century Schoolbook" panose="02040604050505020304" pitchFamily="18" charset="0"/>
                  </a:rPr>
                  <a:t>v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= velocity, </a:t>
                </a:r>
                <a:r>
                  <a:rPr lang="en-IN" sz="2400" b="1" i="1" dirty="0">
                    <a:latin typeface="Century Schoolbook" panose="02040604050505020304" pitchFamily="18" charset="0"/>
                  </a:rPr>
                  <a:t>s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= displacement, </a:t>
                </a:r>
                <a:r>
                  <a:rPr lang="en-IN" sz="2400" b="1" i="1" dirty="0">
                    <a:latin typeface="Century Schoolbook" panose="02040604050505020304" pitchFamily="18" charset="0"/>
                  </a:rPr>
                  <a:t>t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= time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SI Unit : </a:t>
                </a:r>
                <a:r>
                  <a:rPr lang="en-IN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m/s</a:t>
                </a:r>
              </a:p>
              <a:p>
                <a:pPr algn="l"/>
                <a:r>
                  <a:rPr lang="en-IN" sz="2400" b="1" dirty="0">
                    <a:latin typeface="Century Schoolbook" panose="02040604050505020304" pitchFamily="18" charset="0"/>
                  </a:rPr>
                  <a:t>Vector quantity</a:t>
                </a:r>
              </a:p>
              <a:p>
                <a:pPr algn="l"/>
                <a:endParaRPr lang="en-IN" sz="2400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8B9D5DB-9B80-DB8F-7DE9-DA1CA66703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226142" y="763530"/>
                <a:ext cx="11739716" cy="4693374"/>
              </a:xfrm>
              <a:blipFill>
                <a:blip r:embed="rId2"/>
                <a:stretch>
                  <a:fillRect l="-883" t="-2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9672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D3936-686A-4EBB-9AB6-80A32A83C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384631" cy="1111045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Century Schoolbook" panose="02040604050505020304" pitchFamily="18" charset="0"/>
              </a:rPr>
              <a:t>4. </a:t>
            </a:r>
            <a:r>
              <a:rPr lang="en-US" sz="4800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Acceleration</a:t>
            </a:r>
            <a:r>
              <a:rPr lang="en-US" sz="4800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F195204-937F-0D42-6869-9F5A459FC1F0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245201" y="891349"/>
                <a:ext cx="11386359" cy="3955955"/>
              </a:xfrm>
            </p:spPr>
            <p:txBody>
              <a:bodyPr/>
              <a:lstStyle/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It is the rate of change of velocity with respect to time.</a:t>
                </a:r>
              </a:p>
              <a:p>
                <a:pPr algn="l"/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Formula : 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IN" sz="28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ar-AE" sz="2800" b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num>
                      <m:den>
                        <m:r>
                          <a:rPr lang="ar-AE" sz="2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den>
                    </m:f>
                  </m:oMath>
                </a14:m>
                <a:endParaRPr lang="ar-AE" sz="28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algn="l"/>
                <a:r>
                  <a:rPr lang="en-IN" sz="2400" b="1" dirty="0">
                    <a:latin typeface="Century Schoolbook" panose="02040604050505020304" pitchFamily="18" charset="0"/>
                  </a:rPr>
                  <a:t>where,</a:t>
                </a:r>
                <a:br>
                  <a:rPr lang="en-IN" sz="2400" b="1" dirty="0">
                    <a:latin typeface="Century Schoolbook" panose="02040604050505020304" pitchFamily="18" charset="0"/>
                  </a:rPr>
                </a:br>
                <a:r>
                  <a:rPr lang="en-IN" sz="2400" b="1" i="1" dirty="0">
                    <a:latin typeface="Century Schoolbook" panose="02040604050505020304" pitchFamily="18" charset="0"/>
                  </a:rPr>
                  <a:t>a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= acceleration, </a:t>
                </a:r>
                <a:r>
                  <a:rPr lang="en-IN" sz="2400" b="1" i="1" dirty="0">
                    <a:latin typeface="Century Schoolbook" panose="02040604050505020304" pitchFamily="18" charset="0"/>
                  </a:rPr>
                  <a:t>u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= initial velocity, </a:t>
                </a:r>
                <a:r>
                  <a:rPr lang="en-IN" sz="2400" b="1" i="1" dirty="0">
                    <a:latin typeface="Century Schoolbook" panose="02040604050505020304" pitchFamily="18" charset="0"/>
                  </a:rPr>
                  <a:t>v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= final velocity, </a:t>
                </a:r>
                <a:r>
                  <a:rPr lang="en-IN" sz="2400" b="1" i="1" dirty="0">
                    <a:latin typeface="Century Schoolbook" panose="02040604050505020304" pitchFamily="18" charset="0"/>
                  </a:rPr>
                  <a:t>t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= time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SI Unit : </a:t>
                </a:r>
                <a:r>
                  <a:rPr lang="en-IN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m/s²</a:t>
                </a:r>
              </a:p>
              <a:p>
                <a:pPr algn="l"/>
                <a:r>
                  <a:rPr lang="en-IN" sz="2400" b="1" dirty="0">
                    <a:latin typeface="Century Schoolbook" panose="02040604050505020304" pitchFamily="18" charset="0"/>
                  </a:rPr>
                  <a:t>Vector quantity</a:t>
                </a:r>
              </a:p>
              <a:p>
                <a:pPr algn="l"/>
                <a:endParaRPr lang="en-IN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F195204-937F-0D42-6869-9F5A459FC1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245201" y="891349"/>
                <a:ext cx="11386359" cy="3955955"/>
              </a:xfrm>
              <a:blipFill>
                <a:blip r:embed="rId2"/>
                <a:stretch>
                  <a:fillRect l="-11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171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BFAB1-84E2-59DD-EE37-072231587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6974"/>
            <a:ext cx="6863521" cy="1089697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Century Schoolbook" panose="02040604050505020304" pitchFamily="18" charset="0"/>
              </a:rPr>
              <a:t>5. </a:t>
            </a:r>
            <a:r>
              <a:rPr lang="en-US" sz="4800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Retardation</a:t>
            </a:r>
            <a:r>
              <a:rPr lang="en-US" sz="4800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63BCE8F-8645-826A-FA5D-92A019FD42F9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96645" y="894735"/>
                <a:ext cx="11710219" cy="2979176"/>
              </a:xfrm>
            </p:spPr>
            <p:txBody>
              <a:bodyPr>
                <a:normAutofit/>
              </a:bodyPr>
              <a:lstStyle/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If the velocity decreases with time, the acceleration is negative.</a:t>
                </a:r>
              </a:p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This negative acceleration is called retardation.</a:t>
                </a:r>
              </a:p>
              <a:p>
                <a:pPr marL="342900" indent="-342900" algn="l">
                  <a:buFont typeface="Wingdings" panose="05000000000000000000" pitchFamily="2" charset="2"/>
                  <a:buChar char="v"/>
                </a:pPr>
                <a:r>
                  <a:rPr lang="en-IN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Formula</a:t>
                </a: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IN" sz="28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ar-AE" sz="2800" b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num>
                      <m:den>
                        <m:r>
                          <a:rPr lang="ar-AE" sz="2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den>
                    </m:f>
                  </m:oMath>
                </a14:m>
                <a:endParaRPr lang="ar-AE" sz="28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SI Unit : </a:t>
                </a:r>
                <a:r>
                  <a:rPr lang="en-IN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m/s²</a:t>
                </a:r>
              </a:p>
              <a:p>
                <a:pPr algn="l"/>
                <a:endParaRPr lang="en-IN" sz="2400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63BCE8F-8645-826A-FA5D-92A019FD42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96645" y="894735"/>
                <a:ext cx="11710219" cy="2979176"/>
              </a:xfrm>
              <a:blipFill>
                <a:blip r:embed="rId2"/>
                <a:stretch>
                  <a:fillRect l="-989" t="-1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8083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36F7B-73A2-ED2B-C667-7A02B407D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1999" cy="772607"/>
          </a:xfrm>
        </p:spPr>
        <p:txBody>
          <a:bodyPr>
            <a:no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36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Equations of uniformly acceleration motion</a:t>
            </a:r>
            <a:r>
              <a:rPr lang="en-US" sz="36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36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E8CADDD-C8F7-6F8C-EF2F-8DE0D59A61AF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78658" y="700548"/>
                <a:ext cx="12034684" cy="5456904"/>
              </a:xfrm>
            </p:spPr>
            <p:txBody>
              <a:bodyPr>
                <a:normAutofit/>
              </a:bodyPr>
              <a:lstStyle/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When acceleration is uniform (constant), the motion is called uniformly accelerated motion, and the following three equations apply :</a:t>
                </a:r>
                <a:endParaRPr lang="en-IN" sz="2000" b="1" dirty="0">
                  <a:latin typeface="Century Schoolbook" panose="02040604050505020304" pitchFamily="18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sz="2000" b="1" u="sng" dirty="0">
                    <a:latin typeface="Century Schoolbook" panose="02040604050505020304" pitchFamily="18" charset="0"/>
                  </a:rPr>
                  <a:t>First Equation</a:t>
                </a:r>
                <a:r>
                  <a:rPr lang="en-IN" sz="2000" b="1" dirty="0">
                    <a:latin typeface="Century Schoolbook" panose="02040604050505020304" pitchFamily="18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IN" sz="24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IN" sz="24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𝒂𝒕</m:t>
                    </m:r>
                  </m:oMath>
                </a14:m>
                <a:endParaRPr lang="en-IN" sz="2000" b="1" dirty="0">
                  <a:latin typeface="Century Schoolbook" panose="02040604050505020304" pitchFamily="18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sz="2000" b="1" u="sng" dirty="0">
                    <a:latin typeface="Century Schoolbook" panose="02040604050505020304" pitchFamily="18" charset="0"/>
                  </a:rPr>
                  <a:t>Second Equation</a:t>
                </a:r>
                <a:r>
                  <a:rPr lang="en-IN" sz="2000" b="1" dirty="0">
                    <a:latin typeface="Century Schoolbook" panose="02040604050505020304" pitchFamily="18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IN" sz="24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𝒖𝒕</m:t>
                    </m:r>
                    <m:r>
                      <a:rPr lang="en-IN" sz="24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ar-AE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ar-AE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ar-AE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ar-AE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ar-AE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ar-AE" sz="2000" b="1" dirty="0">
                  <a:latin typeface="Century Schoolbook" panose="02040604050505020304" pitchFamily="18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sz="2000" b="1" u="sng" dirty="0">
                    <a:latin typeface="Century Schoolbook" panose="02040604050505020304" pitchFamily="18" charset="0"/>
                  </a:rPr>
                  <a:t>Third Equation</a:t>
                </a:r>
                <a:r>
                  <a:rPr lang="en-IN" sz="2000" b="1" dirty="0">
                    <a:latin typeface="Century Schoolbook" panose="02040604050505020304" pitchFamily="18" charset="0"/>
                  </a:rPr>
                  <a:t>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ar-AE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ar-AE" sz="24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p>
                        <m:r>
                          <a:rPr lang="ar-AE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ar-AE" sz="24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ar-AE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𝒂𝒔</m:t>
                    </m:r>
                  </m:oMath>
                </a14:m>
                <a:endParaRPr lang="ar-AE" sz="24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algn="l"/>
                <a:r>
                  <a:rPr lang="en-IN" sz="2000" b="1" dirty="0">
                    <a:latin typeface="Century Schoolbook" panose="02040604050505020304" pitchFamily="18" charset="0"/>
                  </a:rPr>
                  <a:t>Where:</a:t>
                </a:r>
                <a:br>
                  <a:rPr lang="en-IN" sz="2000" b="1" dirty="0">
                    <a:latin typeface="Century Schoolbook" panose="02040604050505020304" pitchFamily="18" charset="0"/>
                  </a:rPr>
                </a:br>
                <a:r>
                  <a:rPr lang="en-IN" sz="20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u = initial velocity</a:t>
                </a:r>
                <a:br>
                  <a:rPr lang="en-IN" sz="20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</a:br>
                <a:r>
                  <a:rPr lang="en-IN" sz="20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v = final velocity</a:t>
                </a:r>
                <a:br>
                  <a:rPr lang="en-IN" sz="20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</a:br>
                <a:r>
                  <a:rPr lang="en-IN" sz="20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a = acceleration</a:t>
                </a:r>
                <a:br>
                  <a:rPr lang="en-IN" sz="20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</a:br>
                <a:r>
                  <a:rPr lang="en-IN" sz="20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s = displacement</a:t>
                </a:r>
                <a:br>
                  <a:rPr lang="en-IN" sz="20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</a:br>
                <a:r>
                  <a:rPr lang="en-IN" sz="20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t = time</a:t>
                </a:r>
              </a:p>
              <a:p>
                <a:pPr algn="l"/>
                <a:endParaRPr lang="en-IN" sz="2000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E8CADDD-C8F7-6F8C-EF2F-8DE0D59A61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78658" y="700548"/>
                <a:ext cx="12034684" cy="5456904"/>
              </a:xfrm>
              <a:blipFill>
                <a:blip r:embed="rId2"/>
                <a:stretch>
                  <a:fillRect l="-760" t="-2346" r="-3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4732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C6304-3334-3097-4638-6CF1DB3C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4182"/>
            <a:ext cx="10707330" cy="1018414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Acceleration due to gravity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C4E427D-889B-560C-A2EC-C854F4A5C611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27819" y="707924"/>
                <a:ext cx="11720051" cy="4385186"/>
              </a:xfrm>
            </p:spPr>
            <p:txBody>
              <a:bodyPr>
                <a:normAutofit/>
              </a:bodyPr>
              <a:lstStyle/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When an object falls freely under the influence of the Earth’s gravity, it has an acceleration due to gravity denoted by g.</a:t>
                </a:r>
              </a:p>
              <a:p>
                <a:pPr marL="342900" indent="-342900" algn="l">
                  <a:buFont typeface="Wingdings" panose="05000000000000000000" pitchFamily="2" charset="2"/>
                  <a:buChar char="v"/>
                </a:pPr>
                <a:r>
                  <a:rPr lang="en-IN" sz="32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Definition</a:t>
                </a:r>
                <a:r>
                  <a:rPr lang="en-IN" sz="32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It is the acceleration produced in a body due to the gravitational pull of the Earth.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Average value of g : 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IN" sz="28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IN" sz="28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m:rPr>
                        <m:nor/>
                      </m:rPr>
                      <a:rPr lang="en-IN" sz="2800" b="1" i="1">
                        <a:solidFill>
                          <a:srgbClr val="FFFF00"/>
                        </a:solidFill>
                        <a:latin typeface="Century Schoolbook" panose="02040604050505020304" pitchFamily="18" charset="0"/>
                      </a:rPr>
                      <m:t> </m:t>
                    </m:r>
                    <m:r>
                      <a:rPr lang="en-IN" sz="2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IN" sz="28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ar-AE" sz="2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p>
                        <m:r>
                          <a:rPr lang="ar-AE" sz="2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ar-AE" sz="2400" b="1" dirty="0">
                  <a:latin typeface="Century Schoolbook" panose="02040604050505020304" pitchFamily="18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Acts downward, toward the centre of the Earth.</a:t>
                </a:r>
              </a:p>
              <a:p>
                <a:pPr algn="l"/>
                <a:endParaRPr lang="en-IN" sz="2400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C4E427D-889B-560C-A2EC-C854F4A5C6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27819" y="707924"/>
                <a:ext cx="11720051" cy="4385186"/>
              </a:xfrm>
              <a:blipFill>
                <a:blip r:embed="rId2"/>
                <a:stretch>
                  <a:fillRect l="-1300" t="-11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1731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A276-C6DE-3CB5-1EB7-FAA1D1193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6645" y="-186813"/>
            <a:ext cx="12192000" cy="1179871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4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Equations of motions under gravity</a:t>
            </a:r>
            <a:r>
              <a:rPr lang="en-US" sz="44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6F6E442-9679-8E1B-4204-181C9144DF59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17987" y="580103"/>
                <a:ext cx="11798710" cy="6120581"/>
              </a:xfrm>
            </p:spPr>
            <p:txBody>
              <a:bodyPr>
                <a:normAutofit/>
              </a:bodyPr>
              <a:lstStyle/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For freely falling bodies : Replace acceleration a with g, and displacement s with h (height).</a:t>
                </a:r>
              </a:p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If body is falling downward 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IN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IN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𝒈𝒕</m:t>
                      </m:r>
                    </m:oMath>
                  </m:oMathPara>
                </a14:m>
                <a:endParaRPr lang="en-IN" sz="24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IN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𝒖𝒕</m:t>
                      </m:r>
                      <m:r>
                        <a:rPr lang="en-IN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ar-AE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sSup>
                        <m:sSup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ar-AE" sz="24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ar-AE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p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ar-AE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ar-AE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𝒈𝒉</m:t>
                      </m:r>
                    </m:oMath>
                  </m:oMathPara>
                </a14:m>
                <a:endParaRPr lang="ar-AE" sz="24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If body is thrown upward 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IN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IN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𝒈𝒕</m:t>
                      </m:r>
                    </m:oMath>
                  </m:oMathPara>
                </a14:m>
                <a:endParaRPr lang="en-IN" sz="24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IN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𝒖𝒕</m:t>
                      </m:r>
                      <m:r>
                        <a:rPr lang="en-IN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ar-AE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sSup>
                        <m:sSup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ar-AE" sz="24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ar-AE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p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ar-AE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ar-AE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𝒈𝒉</m:t>
                      </m:r>
                    </m:oMath>
                  </m:oMathPara>
                </a14:m>
                <a:endParaRPr lang="ar-AE" sz="24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algn="l"/>
                <a:endParaRPr lang="en-IN" sz="2000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6F6E442-9679-8E1B-4204-181C9144DF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17987" y="580103"/>
                <a:ext cx="11798710" cy="6120581"/>
              </a:xfrm>
              <a:blipFill>
                <a:blip r:embed="rId2"/>
                <a:stretch>
                  <a:fillRect l="-7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854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B23D6-753D-AA88-D648-5E9675E9A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8154"/>
            <a:ext cx="10353762" cy="1060994"/>
          </a:xfrm>
        </p:spPr>
        <p:txBody>
          <a:bodyPr>
            <a:normAutofit/>
          </a:bodyPr>
          <a:lstStyle/>
          <a:p>
            <a:pPr marL="685800" indent="-685800" algn="l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Numerical example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6435BBF-0FD5-146A-E25D-8D4CED30898A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56711" y="817608"/>
                <a:ext cx="11710824" cy="5961734"/>
              </a:xfrm>
            </p:spPr>
            <p:txBody>
              <a:bodyPr>
                <a:normAutofit/>
              </a:bodyPr>
              <a:lstStyle/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sz="24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Question</a:t>
                </a:r>
                <a:r>
                  <a:rPr lang="en-IN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</a:t>
                </a:r>
                <a:r>
                  <a:rPr lang="en-IN" sz="2000" b="1" dirty="0">
                    <a:latin typeface="Century Schoolbook" panose="02040604050505020304" pitchFamily="18" charset="0"/>
                  </a:rPr>
                  <a:t>A ball is dropped from a height. Find the velocity and distance covered after 3 seconds.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sz="24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Given</a:t>
                </a:r>
                <a:r>
                  <a:rPr lang="en-IN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  <a:r>
                  <a:rPr lang="en-IN" sz="20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</a:t>
                </a:r>
                <a:r>
                  <a:rPr lang="en-IN" sz="2000" b="1" dirty="0">
                    <a:latin typeface="Century Schoolbook" panose="02040604050505020304" pitchFamily="18" charset="0"/>
                  </a:rPr>
                  <a:t>u = 0, t = 3 s, g = 9.8 m/s²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sz="24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Solution</a:t>
                </a:r>
                <a:r>
                  <a:rPr lang="en-IN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algn="l"/>
                <a:r>
                  <a:rPr lang="en-IN" sz="2000" b="1" dirty="0">
                    <a:latin typeface="Century Schoolbook" panose="02040604050505020304" pitchFamily="18" charset="0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IN" sz="20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IN" sz="20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𝒈𝒕</m:t>
                    </m:r>
                  </m:oMath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IN" sz="2400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400" b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IN" sz="2400" b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IN" sz="2400" b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IN" sz="2400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𝟐𝟗</m:t>
                      </m:r>
                      <m:r>
                        <a:rPr lang="en-IN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m:rPr>
                          <m:nor/>
                        </m:rPr>
                        <a:rPr lang="en-IN" sz="2400" b="1" i="1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 </m:t>
                      </m:r>
                      <m:r>
                        <a:rPr lang="en-IN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IN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IN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IN" sz="24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algn="l"/>
                <a:r>
                  <a:rPr lang="en-IN" sz="2000" b="1" dirty="0">
                    <a:latin typeface="Century Schoolbook" panose="02040604050505020304" pitchFamily="18" charset="0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IN" sz="20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𝒖𝒕</m:t>
                    </m:r>
                    <m:r>
                      <a:rPr lang="en-IN" sz="20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ar-AE" sz="20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0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ar-AE" sz="20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ar-AE" sz="20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sSup>
                      <m:sSupPr>
                        <m:ctrlPr>
                          <a:rPr lang="ar-AE" sz="20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ar-AE" sz="20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br>
                  <a:rPr lang="ar-AE" sz="2000" b="1" dirty="0">
                    <a:latin typeface="Century Schoolbook" panose="020406040505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b="1" i="1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ar-AE" sz="2400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ar-AE" sz="2400" b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ar-AE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ar-AE" sz="2400" b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sz="2400" b="1" i="1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ar-AE" sz="2400" b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ar-AE" sz="2400" b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ar-AE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ar-AE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ar-AE" sz="2400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ar-AE" sz="2400" b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b="1" i="1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ar-AE" sz="2400" b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sz="2400" b="1" i="1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ar-AE" sz="2400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𝟒𝟒</m:t>
                      </m:r>
                      <m:r>
                        <a:rPr lang="ar-AE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m:rPr>
                          <m:nor/>
                        </m:rPr>
                        <a:rPr lang="ar-AE" sz="2400" b="1" i="1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 </m:t>
                      </m:r>
                      <m:r>
                        <a:rPr lang="ar-AE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ar-AE" sz="2400" b="1" dirty="0">
                  <a:latin typeface="Century Schoolbook" panose="02040604050505020304" pitchFamily="18" charset="0"/>
                </a:endParaRPr>
              </a:p>
              <a:p>
                <a:pPr marL="342900" indent="-342900" algn="l">
                  <a:buFont typeface="Wingdings" panose="05000000000000000000" pitchFamily="2" charset="2"/>
                  <a:buChar char="ü"/>
                </a:pPr>
                <a:r>
                  <a:rPr lang="en-IN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Answer</a:t>
                </a: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  <a:b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</a:br>
                <a:r>
                  <a:rPr lang="en-IN" sz="2000" b="1" dirty="0">
                    <a:latin typeface="Century Schoolbook" panose="02040604050505020304" pitchFamily="18" charset="0"/>
                  </a:rPr>
                  <a:t>Velocity after 3 s = </a:t>
                </a:r>
                <a:r>
                  <a:rPr lang="en-IN" sz="20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29.4 m/s (downward)</a:t>
                </a:r>
                <a:br>
                  <a:rPr lang="en-IN" sz="2000" b="1" dirty="0">
                    <a:latin typeface="Century Schoolbook" panose="02040604050505020304" pitchFamily="18" charset="0"/>
                  </a:rPr>
                </a:br>
                <a:r>
                  <a:rPr lang="en-IN" sz="2000" b="1" dirty="0">
                    <a:latin typeface="Century Schoolbook" panose="02040604050505020304" pitchFamily="18" charset="0"/>
                  </a:rPr>
                  <a:t>Distance covered = </a:t>
                </a:r>
                <a:r>
                  <a:rPr lang="en-IN" sz="20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44.1 m</a:t>
                </a:r>
              </a:p>
              <a:p>
                <a:pPr algn="l"/>
                <a:endParaRPr lang="en-IN" sz="2000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6435BBF-0FD5-146A-E25D-8D4CED308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56711" y="817608"/>
                <a:ext cx="11710824" cy="5961734"/>
              </a:xfrm>
              <a:blipFill>
                <a:blip r:embed="rId2"/>
                <a:stretch>
                  <a:fillRect l="-1041" t="-29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0115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FAABA-20DF-D596-E5B0-5B4D83383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7652" y="-127819"/>
            <a:ext cx="7846142" cy="1091381"/>
          </a:xfrm>
        </p:spPr>
        <p:txBody>
          <a:bodyPr>
            <a:normAutofit/>
          </a:bodyPr>
          <a:lstStyle/>
          <a:p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2.2] 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Periodic motions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56832-EDD1-2881-D2E4-B61F9DDDB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7316" y="786582"/>
            <a:ext cx="11739716" cy="4591664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 of Periodic Motion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 periodic motion is the motion that repeats itself at regular intervals of time.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The motion of a pendulum, the revolution of Earth around the Sun, the motion of a clock’s hands, etc.</a:t>
            </a:r>
          </a:p>
          <a:p>
            <a:pPr algn="l"/>
            <a:br>
              <a:rPr lang="en-US" sz="2000" b="1" dirty="0">
                <a:latin typeface="Century Schoolbook" panose="02040604050505020304" pitchFamily="18" charset="0"/>
              </a:rPr>
            </a:br>
            <a:endParaRPr lang="en-US" sz="2000" b="1" dirty="0">
              <a:latin typeface="Century Schoolbook" panose="02040604050505020304" pitchFamily="18" charset="0"/>
            </a:endParaRPr>
          </a:p>
          <a:p>
            <a:pPr algn="l"/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568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94630-A4E1-ED13-7319-DC74BA0AA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7484"/>
            <a:ext cx="7816645" cy="1111045"/>
          </a:xfrm>
        </p:spPr>
        <p:txBody>
          <a:bodyPr>
            <a:normAutofit/>
          </a:bodyPr>
          <a:lstStyle/>
          <a:p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Oscillatory motion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45B17-9C96-FFEE-65E2-290BC6808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1030" y="825908"/>
            <a:ext cx="11754659" cy="3696931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Oscillatory motion is the to-and-fro motion of a body about a mean (equilibrium) position.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Examples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Motion of a simple pendulum.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Motion of a swing.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Motion of a spring when stretched and released.</a:t>
            </a:r>
          </a:p>
          <a:p>
            <a:pPr algn="l"/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909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5E98B-D79E-B8E7-043B-B76CC2A75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19" y="-88493"/>
            <a:ext cx="10865250" cy="1189703"/>
          </a:xfrm>
        </p:spPr>
        <p:txBody>
          <a:bodyPr>
            <a:normAutofit/>
          </a:bodyPr>
          <a:lstStyle/>
          <a:p>
            <a:pPr algn="l"/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Vibratory motion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B2672-FBF2-AE3D-BF69-C6DE4A33D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7819" y="875072"/>
            <a:ext cx="11936362" cy="3765754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Vibratory motion is a very fast to-and-fro motion of a body about its mean position within a small distance.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Examples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Vibration of a tuning fork.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String of a guitar when plucked.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Atoms in a solid vibrating about their fixed positions.</a:t>
            </a:r>
          </a:p>
          <a:p>
            <a:pPr algn="l"/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280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91B1-93D2-E537-D80F-3E6753810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323" y="-137652"/>
            <a:ext cx="11710219" cy="1100323"/>
          </a:xfrm>
        </p:spPr>
        <p:txBody>
          <a:bodyPr>
            <a:normAutofit/>
          </a:bodyPr>
          <a:lstStyle/>
          <a:p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3. 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Simple harmonic motion (</a:t>
            </a:r>
            <a:r>
              <a:rPr lang="en-US" sz="4800" b="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s.h.m.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)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326F5-B2A1-DD78-637C-A45683C74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1593" y="766026"/>
            <a:ext cx="11430304" cy="4376246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body is said to perform Simple Harmonic Motion if its acceleration is directly proportional to its displacement from the mean position and is always directed toward that mean position.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Examples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Motion of a simple pendulum.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Vibration of a mass attached to a spring.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Small oscillations of a tuning fork.</a:t>
            </a:r>
          </a:p>
          <a:p>
            <a:pPr algn="l"/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498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D0428-0B8F-1916-8CC8-5F48D8838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09" y="-206477"/>
            <a:ext cx="10353762" cy="1199535"/>
          </a:xfrm>
        </p:spPr>
        <p:txBody>
          <a:bodyPr>
            <a:normAutofit/>
          </a:bodyPr>
          <a:lstStyle/>
          <a:p>
            <a:pPr algn="l"/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4. 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Circular motion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3D856-1742-35CF-7936-0FBAE8F27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6209" y="698090"/>
            <a:ext cx="11819582" cy="3913239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Circular motion is the motion of a body moving along a circular path with a fixed radius.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Examples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Revolution of Earth around the Sun.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Rotation of a fan blade.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Motion of a satellite around Earth.</a:t>
            </a:r>
          </a:p>
          <a:p>
            <a:pPr algn="l"/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415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73EC1-52BB-DFE7-0A08-77C13C5DA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8258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Terms Related to Simple Harmonic Motion (S.H.M.)</a:t>
            </a:r>
            <a:r>
              <a:rPr lang="en-US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F5B09-49C8-A60D-D451-B3F793BE4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6542" y="688257"/>
            <a:ext cx="11858309" cy="6066503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FCC3AE-3C28-A43E-701F-B103AD1B8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933218"/>
              </p:ext>
            </p:extLst>
          </p:nvPr>
        </p:nvGraphicFramePr>
        <p:xfrm>
          <a:off x="384536" y="688256"/>
          <a:ext cx="11355180" cy="5879691"/>
        </p:xfrm>
        <a:graphic>
          <a:graphicData uri="http://schemas.openxmlformats.org/drawingml/2006/table">
            <a:tbl>
              <a:tblPr/>
              <a:tblGrid>
                <a:gridCol w="2142354">
                  <a:extLst>
                    <a:ext uri="{9D8B030D-6E8A-4147-A177-3AD203B41FA5}">
                      <a16:colId xmlns:a16="http://schemas.microsoft.com/office/drawing/2014/main" val="651735913"/>
                    </a:ext>
                  </a:extLst>
                </a:gridCol>
                <a:gridCol w="4021394">
                  <a:extLst>
                    <a:ext uri="{9D8B030D-6E8A-4147-A177-3AD203B41FA5}">
                      <a16:colId xmlns:a16="http://schemas.microsoft.com/office/drawing/2014/main" val="1576648901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65517022"/>
                    </a:ext>
                  </a:extLst>
                </a:gridCol>
                <a:gridCol w="3392129">
                  <a:extLst>
                    <a:ext uri="{9D8B030D-6E8A-4147-A177-3AD203B41FA5}">
                      <a16:colId xmlns:a16="http://schemas.microsoft.com/office/drawing/2014/main" val="3217539355"/>
                    </a:ext>
                  </a:extLst>
                </a:gridCol>
              </a:tblGrid>
              <a:tr h="338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Term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Definition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Symbol / Unit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Example / Meaning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765924"/>
                  </a:ext>
                </a:extLst>
              </a:tr>
              <a:tr h="851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Time Period (T)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entury Schoolbook" panose="02040604050505020304" pitchFamily="18" charset="0"/>
                        </a:rPr>
                        <a:t>Time taken by the body to complete one full oscillation.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Seconds (s)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entury Schoolbook" panose="02040604050505020304" pitchFamily="18" charset="0"/>
                        </a:rPr>
                        <a:t>If a pendulum takes 2 s for one swing, T = 2 s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441137"/>
                  </a:ext>
                </a:extLst>
              </a:tr>
              <a:tr h="851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Frequency (f)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entury Schoolbook" panose="02040604050505020304" pitchFamily="18" charset="0"/>
                        </a:rPr>
                        <a:t>Number of oscillations per second.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Hertz (Hz)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( f = \frac{1}{T} )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182236"/>
                  </a:ext>
                </a:extLst>
              </a:tr>
              <a:tr h="1108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Amplitude (A)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entury Schoolbook" panose="02040604050505020304" pitchFamily="18" charset="0"/>
                        </a:rPr>
                        <a:t>Maximum displacement of the body from its mean position.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Meter (m)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Greater amplitude → greater swing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655776"/>
                  </a:ext>
                </a:extLst>
              </a:tr>
              <a:tr h="1621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Wavelength (</a:t>
                      </a:r>
                      <a:r>
                        <a:rPr lang="el-GR" sz="1800" b="1" dirty="0">
                          <a:latin typeface="Century Schoolbook" panose="02040604050505020304" pitchFamily="18" charset="0"/>
                        </a:rPr>
                        <a:t>λ)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entury Schoolbook" panose="02040604050505020304" pitchFamily="18" charset="0"/>
                        </a:rPr>
                        <a:t>The distance between two consecutive points in the same phase (e.g., crest to crest) in a wave.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Meter (m)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entury Schoolbook" panose="02040604050505020304" pitchFamily="18" charset="0"/>
                        </a:rPr>
                        <a:t>Used in waves and sound motion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45574"/>
                  </a:ext>
                </a:extLst>
              </a:tr>
              <a:tr h="1108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Phase (</a:t>
                      </a:r>
                      <a:r>
                        <a:rPr lang="el-GR" sz="1800" b="1">
                          <a:latin typeface="Century Schoolbook" panose="02040604050505020304" pitchFamily="18" charset="0"/>
                        </a:rPr>
                        <a:t>ϕ)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entury Schoolbook" panose="02040604050505020304" pitchFamily="18" charset="0"/>
                        </a:rPr>
                        <a:t>Describes the state or position of the particle performing S.H.M. at any instant.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Radian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entury Schoolbook" panose="02040604050505020304" pitchFamily="18" charset="0"/>
                        </a:rPr>
                        <a:t>Two particles with same phase move together</a:t>
                      </a:r>
                    </a:p>
                  </a:txBody>
                  <a:tcPr marL="53561" marR="53561" marT="26780" marB="26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349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1118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5CD3E-1D84-D3CD-B735-FFED0A9D6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8154"/>
            <a:ext cx="7497295" cy="1061884"/>
          </a:xfrm>
        </p:spPr>
        <p:txBody>
          <a:bodyPr>
            <a:normAutofit/>
          </a:bodyPr>
          <a:lstStyle/>
          <a:p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2.3] 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angular motion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DC8B4-240F-939C-31E1-E54FAB1E4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197" y="796414"/>
            <a:ext cx="11626842" cy="4572000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When a body moves around a fixed point or fixed axis, it is said to be in angular motion (or rotational motion).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Rotation of a ceiling fan.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Spinning of a wheel.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Rotation of Earth about its axis.</a:t>
            </a:r>
          </a:p>
          <a:p>
            <a:pPr algn="l"/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745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CB051-AC41-21EA-81EE-00A3110B0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3679"/>
            <a:ext cx="10353762" cy="1056853"/>
          </a:xfrm>
        </p:spPr>
        <p:txBody>
          <a:bodyPr>
            <a:normAutofit/>
          </a:bodyPr>
          <a:lstStyle/>
          <a:p>
            <a:pPr marL="685800" indent="-685800" algn="l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Uniform circular motion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05F61-1FE2-0ABA-81C0-BCC6F0F7D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930" y="746361"/>
            <a:ext cx="11868140" cy="4759703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If a body moves with constant speed in a circular path, the motion is called uniform circular motion.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Even though speed is constant, the direction of velocity keeps changing, hence the motion is accelerated.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Examples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 satellite moving around Earth.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 stone tied to a string and whirled in a circle.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Blades of a fan rotating.</a:t>
            </a:r>
          </a:p>
          <a:p>
            <a:pPr algn="l"/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848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486D6-511A-25DC-7806-636EC0A89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7651"/>
            <a:ext cx="10353762" cy="1060994"/>
          </a:xfrm>
        </p:spPr>
        <p:txBody>
          <a:bodyPr>
            <a:normAutofit/>
          </a:bodyPr>
          <a:lstStyle/>
          <a:p>
            <a:pPr marL="685800" indent="-685800" algn="l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Radius vector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49A9-47C9-C30F-95E2-FA158EAC3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7215" y="713478"/>
            <a:ext cx="11799314" cy="3219425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radius vector is a line joining the center of the circle to the position of the moving body on the circular path.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If a stone is tied to a string and rotated, the string itself is the radius vector.</a:t>
            </a:r>
          </a:p>
          <a:p>
            <a:pPr algn="l"/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6121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791B-95C6-DAFF-9921-E23717CDF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86" y="-78657"/>
            <a:ext cx="10353762" cy="972504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Linear velocity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F5AB365-7AD2-CE30-1F78-5910E2B02B14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66544" y="667705"/>
                <a:ext cx="11868140" cy="4867858"/>
              </a:xfrm>
            </p:spPr>
            <p:txBody>
              <a:bodyPr/>
              <a:lstStyle/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The rate of change of position of a body moving along a circular path is called linear velocity.</a:t>
                </a: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It is tangential to the circular path.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IN" sz="36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36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6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ar-AE" sz="36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den>
                      </m:f>
                    </m:oMath>
                  </m:oMathPara>
                </a14:m>
                <a:endParaRPr lang="ar-AE" sz="24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algn="l"/>
                <a:r>
                  <a:rPr lang="en-IN" sz="2400" b="1" dirty="0">
                    <a:latin typeface="Century Schoolbook" panose="02040604050505020304" pitchFamily="18" charset="0"/>
                  </a:rPr>
                  <a:t>where</a:t>
                </a:r>
                <a:br>
                  <a:rPr lang="en-IN" sz="2400" b="1" dirty="0">
                    <a:latin typeface="Century Schoolbook" panose="02040604050505020304" pitchFamily="18" charset="0"/>
                  </a:rPr>
                </a:br>
                <a:r>
                  <a:rPr lang="en-IN" sz="2400" b="1" i="1" dirty="0">
                    <a:latin typeface="Century Schoolbook" panose="02040604050505020304" pitchFamily="18" charset="0"/>
                  </a:rPr>
                  <a:t>v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= linear velocity, </a:t>
                </a:r>
                <a:r>
                  <a:rPr lang="en-IN" sz="2400" b="1" i="1" dirty="0">
                    <a:latin typeface="Century Schoolbook" panose="02040604050505020304" pitchFamily="18" charset="0"/>
                  </a:rPr>
                  <a:t>s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= arc length, </a:t>
                </a:r>
                <a:r>
                  <a:rPr lang="en-IN" sz="2400" b="1" i="1" dirty="0">
                    <a:latin typeface="Century Schoolbook" panose="02040604050505020304" pitchFamily="18" charset="0"/>
                  </a:rPr>
                  <a:t>t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= time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Unit : m/s</a:t>
                </a:r>
              </a:p>
              <a:p>
                <a:pPr algn="l"/>
                <a:endParaRPr lang="en-IN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F5AB365-7AD2-CE30-1F78-5910E2B02B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66544" y="667705"/>
                <a:ext cx="11868140" cy="4867858"/>
              </a:xfrm>
              <a:blipFill>
                <a:blip r:embed="rId2"/>
                <a:stretch>
                  <a:fillRect l="-1027" r="-8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06374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6F71A-DBEB-6D46-CBA7-DD4BE575E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7818"/>
            <a:ext cx="10353762" cy="1091380"/>
          </a:xfrm>
        </p:spPr>
        <p:txBody>
          <a:bodyPr>
            <a:normAutofit/>
          </a:bodyPr>
          <a:lstStyle/>
          <a:p>
            <a:pPr marL="685800" indent="-685800" algn="l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Angular velocity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75356F3-CCAB-8C67-171B-E95B4486DEFB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37047" y="658762"/>
                <a:ext cx="11111661" cy="3667432"/>
              </a:xfrm>
            </p:spPr>
            <p:txBody>
              <a:bodyPr>
                <a:normAutofit/>
              </a:bodyPr>
              <a:lstStyle/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The rate of change of angular displacement with respect to time is called angular velocity.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IN" sz="28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num>
                        <m:den>
                          <m:r>
                            <a:rPr lang="ar-AE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den>
                      </m:f>
                    </m:oMath>
                  </m:oMathPara>
                </a14:m>
                <a:endParaRPr lang="ar-AE" sz="28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algn="l"/>
                <a:r>
                  <a:rPr lang="en-IN" sz="2400" b="1" dirty="0">
                    <a:latin typeface="Century Schoolbook" panose="02040604050505020304" pitchFamily="18" charset="0"/>
                  </a:rPr>
                  <a:t>where</a:t>
                </a:r>
                <a:br>
                  <a:rPr lang="en-IN" sz="2400" b="1" dirty="0">
                    <a:latin typeface="Century Schoolbook" panose="02040604050505020304" pitchFamily="18" charset="0"/>
                  </a:rPr>
                </a:br>
                <a:r>
                  <a:rPr lang="el-GR" sz="2400" b="1" i="1" dirty="0">
                    <a:latin typeface="Century Schoolbook" panose="02040604050505020304" pitchFamily="18" charset="0"/>
                  </a:rPr>
                  <a:t>ω</a:t>
                </a:r>
                <a:r>
                  <a:rPr lang="el-GR" sz="2400" b="1" dirty="0">
                    <a:latin typeface="Century Schoolbook" panose="02040604050505020304" pitchFamily="18" charset="0"/>
                  </a:rPr>
                  <a:t> = 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angular velocity, </a:t>
                </a:r>
                <a:r>
                  <a:rPr lang="el-GR" sz="2400" b="1" i="1" dirty="0">
                    <a:latin typeface="Century Schoolbook" panose="02040604050505020304" pitchFamily="18" charset="0"/>
                  </a:rPr>
                  <a:t>θ</a:t>
                </a:r>
                <a:r>
                  <a:rPr lang="el-GR" sz="2400" b="1" dirty="0">
                    <a:latin typeface="Century Schoolbook" panose="02040604050505020304" pitchFamily="18" charset="0"/>
                  </a:rPr>
                  <a:t> = 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angular displacement in radians, </a:t>
                </a:r>
                <a:r>
                  <a:rPr lang="en-IN" sz="2400" b="1" i="1" dirty="0">
                    <a:latin typeface="Century Schoolbook" panose="02040604050505020304" pitchFamily="18" charset="0"/>
                  </a:rPr>
                  <a:t>t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= time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Unit : radian/second (rad/s)</a:t>
                </a:r>
                <a:endParaRPr lang="en-IN" sz="28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75356F3-CCAB-8C67-171B-E95B4486DE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37047" y="658762"/>
                <a:ext cx="11111661" cy="3667432"/>
              </a:xfrm>
              <a:blipFill>
                <a:blip r:embed="rId2"/>
                <a:stretch>
                  <a:fillRect l="-1097" r="-1207" b="-36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90183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E248E-DA4F-AA44-559D-6EA7D02BD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5089"/>
            <a:ext cx="10353762" cy="969271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Angular acceleration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DCA625A-5841-B584-B0BF-437956BCCEF9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67148" y="737419"/>
                <a:ext cx="10835754" cy="2851355"/>
              </a:xfrm>
            </p:spPr>
            <p:txBody>
              <a:bodyPr/>
              <a:lstStyle/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The rate of change of angular velocity with respect to time is called angular acceleration.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n-IN" sz="28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2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ar-AE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ar-AE" sz="2800" b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ar-AE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a:rPr lang="ar-AE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den>
                      </m:f>
                    </m:oMath>
                  </m:oMathPara>
                </a14:m>
                <a:endParaRPr lang="ar-AE" b="1" dirty="0">
                  <a:latin typeface="Century Schoolbook" panose="02040604050505020304" pitchFamily="18" charset="0"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Unit : rad/s²</a:t>
                </a:r>
              </a:p>
              <a:p>
                <a:pPr algn="l"/>
                <a:endParaRPr lang="en-IN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DCA625A-5841-B584-B0BF-437956BCCE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67148" y="737419"/>
                <a:ext cx="10835754" cy="2851355"/>
              </a:xfrm>
              <a:blipFill>
                <a:blip r:embed="rId2"/>
                <a:stretch>
                  <a:fillRect l="-1125" t="-17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85164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30A1E-2B4B-5881-B8F9-C0138330B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6" y="-78657"/>
            <a:ext cx="12143444" cy="776748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Relation between linear &amp; angular velocity</a:t>
            </a:r>
            <a:r>
              <a:rPr lang="en-US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6D82F57-D1EF-485A-4F78-003F68914437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76980" y="485921"/>
                <a:ext cx="11838039" cy="6303253"/>
              </a:xfrm>
            </p:spPr>
            <p:txBody>
              <a:bodyPr>
                <a:normAutofit/>
              </a:bodyPr>
              <a:lstStyle/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IN" sz="2100" b="1" dirty="0">
                    <a:latin typeface="Century Schoolbook" panose="02040604050505020304" pitchFamily="18" charset="0"/>
                  </a:rPr>
                  <a:t>Consider a particle moving in a circle of radius r and angular velocity </a:t>
                </a:r>
                <a:r>
                  <a:rPr lang="el-GR" sz="2100" b="1" dirty="0">
                    <a:latin typeface="Century Schoolbook" panose="02040604050505020304" pitchFamily="18" charset="0"/>
                  </a:rPr>
                  <a:t>ω.</a:t>
                </a:r>
                <a:endParaRPr lang="en-US" sz="2100" b="1" dirty="0">
                  <a:latin typeface="Century Schoolbook" panose="02040604050505020304" pitchFamily="18" charset="0"/>
                </a:endParaRP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US" sz="2100" b="1" dirty="0">
                    <a:latin typeface="Century Schoolbook" panose="02040604050505020304" pitchFamily="18" charset="0"/>
                  </a:rPr>
                  <a:t>If it makes an angular displacement (θ) in time t, then the arc length (s) is given by:</a:t>
                </a: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IN" sz="2100" b="1" dirty="0">
                    <a:latin typeface="Century Schoolbook" panose="02040604050505020304" pitchFamily="18" charset="0"/>
                  </a:rPr>
                  <a:t>Let the particle move from point A to B making an angular displacement </a:t>
                </a:r>
                <a:r>
                  <a:rPr lang="el-GR" sz="2100" b="1" dirty="0">
                    <a:latin typeface="Century Schoolbook" panose="02040604050505020304" pitchFamily="18" charset="0"/>
                  </a:rPr>
                  <a:t>θ </a:t>
                </a:r>
                <a:r>
                  <a:rPr lang="en-IN" sz="2100" b="1" dirty="0">
                    <a:latin typeface="Century Schoolbook" panose="02040604050505020304" pitchFamily="18" charset="0"/>
                  </a:rPr>
                  <a:t>in time t.</a:t>
                </a:r>
              </a:p>
              <a:p>
                <a:pPr algn="l"/>
                <a:r>
                  <a:rPr lang="en-IN" sz="2100" b="1" dirty="0">
                    <a:latin typeface="Century Schoolbook" panose="02040604050505020304" pitchFamily="18" charset="0"/>
                  </a:rPr>
                  <a:t>Arc length, 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IN" sz="28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IN" sz="2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endParaRPr lang="en-IN" sz="28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algn="l"/>
                <a:r>
                  <a:rPr lang="en-IN" sz="2100" b="1" dirty="0">
                    <a:latin typeface="Century Schoolbook" panose="02040604050505020304" pitchFamily="18" charset="0"/>
                  </a:rPr>
                  <a:t>Divide both sides by time </a:t>
                </a:r>
                <a:r>
                  <a:rPr lang="en-IN" sz="2100" b="1" i="1" dirty="0">
                    <a:latin typeface="Century Schoolbook" panose="02040604050505020304" pitchFamily="18" charset="0"/>
                  </a:rPr>
                  <a:t>t </a:t>
                </a:r>
                <a:r>
                  <a:rPr lang="en-IN" sz="2100" b="1" dirty="0">
                    <a:latin typeface="Century Schoolbook" panose="02040604050505020304" pitchFamily="18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num>
                      <m:den>
                        <m:r>
                          <a:rPr lang="ar-AE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den>
                    </m:f>
                    <m:r>
                      <a:rPr lang="ar-AE" sz="24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f>
                      <m:fPr>
                        <m:ctrlPr>
                          <a:rPr lang="ar-AE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num>
                      <m:den>
                        <m:r>
                          <a:rPr lang="ar-AE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den>
                    </m:f>
                  </m:oMath>
                </a14:m>
                <a:endParaRPr lang="ar-AE" b="1" dirty="0">
                  <a:latin typeface="Century Schoolbook" panose="02040604050505020304" pitchFamily="18" charset="0"/>
                </a:endParaRPr>
              </a:p>
              <a:p>
                <a:pPr algn="l"/>
                <a:r>
                  <a:rPr lang="en-IN" sz="2100" b="1" dirty="0">
                    <a:latin typeface="Century Schoolbook" panose="02040604050505020304" pitchFamily="18" charset="0"/>
                  </a:rPr>
                  <a:t>But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6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6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num>
                      <m:den>
                        <m:r>
                          <a:rPr lang="ar-AE" sz="26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den>
                    </m:f>
                    <m:r>
                      <a:rPr lang="ar-AE" sz="26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6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ar-AE" sz="26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ar-AE" sz="2600" b="1" i="1">
                        <a:solidFill>
                          <a:srgbClr val="FFFF00"/>
                        </a:solidFill>
                        <a:latin typeface="Century Schoolbook" panose="020406040505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600" b="1" i="1">
                        <a:solidFill>
                          <a:srgbClr val="FFFF00"/>
                        </a:solidFill>
                        <a:latin typeface="Century Schoolbook" panose="02040604050505020304" pitchFamily="18" charset="0"/>
                      </a:rPr>
                      <m:t>linear</m:t>
                    </m:r>
                    <m:r>
                      <m:rPr>
                        <m:nor/>
                      </m:rPr>
                      <a:rPr lang="en-IN" sz="2600" b="1" i="1">
                        <a:solidFill>
                          <a:srgbClr val="FFFF00"/>
                        </a:solidFill>
                        <a:latin typeface="Century Schoolbook" panose="020406040505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600" b="1" i="1">
                        <a:solidFill>
                          <a:srgbClr val="FFFF00"/>
                        </a:solidFill>
                        <a:latin typeface="Century Schoolbook" panose="02040604050505020304" pitchFamily="18" charset="0"/>
                      </a:rPr>
                      <m:t>velocity</m:t>
                    </m:r>
                    <m:r>
                      <m:rPr>
                        <m:nor/>
                      </m:rPr>
                      <a:rPr lang="en-IN" sz="2600" b="1" i="1">
                        <a:solidFill>
                          <a:srgbClr val="FFFF00"/>
                        </a:solidFill>
                        <a:latin typeface="Century Schoolbook" panose="02040604050505020304" pitchFamily="18" charset="0"/>
                      </a:rPr>
                      <m:t>)</m:t>
                    </m:r>
                    <m:r>
                      <a:rPr lang="en-IN" sz="26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600" b="1" i="1">
                        <a:solidFill>
                          <a:srgbClr val="FFFF00"/>
                        </a:solidFill>
                        <a:latin typeface="Century Schoolbook" panose="02040604050505020304" pitchFamily="18" charset="0"/>
                      </a:rPr>
                      <m:t>and</m:t>
                    </m:r>
                    <m:r>
                      <a:rPr lang="en-IN" sz="26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ar-AE" sz="26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6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num>
                      <m:den>
                        <m:r>
                          <a:rPr lang="ar-AE" sz="26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den>
                    </m:f>
                    <m:r>
                      <a:rPr lang="ar-AE" sz="26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6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𝝎</m:t>
                    </m:r>
                    <m:r>
                      <a:rPr lang="ar-AE" sz="26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ar-AE" sz="2600" b="1" i="1">
                        <a:solidFill>
                          <a:srgbClr val="FFFF00"/>
                        </a:solidFill>
                        <a:latin typeface="Century Schoolbook" panose="020406040505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600" b="1" i="1">
                        <a:solidFill>
                          <a:srgbClr val="FFFF00"/>
                        </a:solidFill>
                        <a:latin typeface="Century Schoolbook" panose="02040604050505020304" pitchFamily="18" charset="0"/>
                      </a:rPr>
                      <m:t>angular</m:t>
                    </m:r>
                    <m:r>
                      <m:rPr>
                        <m:nor/>
                      </m:rPr>
                      <a:rPr lang="en-IN" sz="2600" b="1" i="1">
                        <a:solidFill>
                          <a:srgbClr val="FFFF00"/>
                        </a:solidFill>
                        <a:latin typeface="Century Schoolbook" panose="020406040505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600" b="1" i="1">
                        <a:solidFill>
                          <a:srgbClr val="FFFF00"/>
                        </a:solidFill>
                        <a:latin typeface="Century Schoolbook" panose="02040604050505020304" pitchFamily="18" charset="0"/>
                      </a:rPr>
                      <m:t>velocity</m:t>
                    </m:r>
                    <m:r>
                      <m:rPr>
                        <m:nor/>
                      </m:rPr>
                      <a:rPr lang="en-IN" sz="2600" b="1" i="1">
                        <a:solidFill>
                          <a:srgbClr val="FFFF00"/>
                        </a:solidFill>
                        <a:latin typeface="Century Schoolbook" panose="02040604050505020304" pitchFamily="18" charset="0"/>
                      </a:rPr>
                      <m:t>)</m:t>
                    </m:r>
                  </m:oMath>
                </a14:m>
                <a:endParaRPr lang="en-IN" sz="26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algn="l"/>
                <a:r>
                  <a:rPr lang="en-IN" sz="2100" b="1" dirty="0">
                    <a:latin typeface="Century Schoolbook" panose="02040604050505020304" pitchFamily="18" charset="0"/>
                  </a:rPr>
                  <a:t>Hence,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ar-AE" sz="26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ar-AE" sz="26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ar-AE" sz="2600" b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sz="26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ar-AE" sz="26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</m:borderBox>
                  </m:oMath>
                </a14:m>
                <a:endParaRPr lang="ar-AE" b="1" dirty="0">
                  <a:latin typeface="Century Schoolbook" panose="02040604050505020304" pitchFamily="18" charset="0"/>
                </a:endParaRPr>
              </a:p>
              <a:p>
                <a:pPr marL="285750" indent="-285750" algn="l">
                  <a:buFont typeface="Wingdings" panose="05000000000000000000" pitchFamily="2" charset="2"/>
                  <a:buChar char="ü"/>
                </a:pPr>
                <a:r>
                  <a:rPr lang="en-IN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Relation between linear and angular velocity</a:t>
                </a: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entury Schoolbook" panose="02040604050505020304" pitchFamily="18" charset="0"/>
                  </a:rPr>
                  <a:t>Linear velocity is directly proportional to both radius (r) and angular velocity (ω).</a:t>
                </a:r>
                <a:endParaRPr lang="en-IN" sz="2000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6D82F57-D1EF-485A-4F78-003F689144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76980" y="485921"/>
                <a:ext cx="11838039" cy="6303253"/>
              </a:xfrm>
              <a:blipFill>
                <a:blip r:embed="rId2"/>
                <a:stretch>
                  <a:fillRect l="-1030" r="-1339" b="-14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1563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85AF6-7F78-955C-EF24-463265B7B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8826" y="-74516"/>
            <a:ext cx="12192000" cy="811936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Radical or centripetal acceleration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F7C99C4-D565-AB75-36E3-63127559CBB5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67148" y="629265"/>
                <a:ext cx="11847871" cy="6228735"/>
              </a:xfrm>
            </p:spPr>
            <p:txBody>
              <a:bodyPr/>
              <a:lstStyle/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US" sz="2400" b="1" dirty="0">
                    <a:latin typeface="Century Schoolbook" panose="02040604050505020304" pitchFamily="18" charset="0"/>
                  </a:rPr>
                  <a:t>When a body moves in a circle, its direction of velocity changes continuously.</a:t>
                </a: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US" sz="2400" b="1" dirty="0">
                    <a:latin typeface="Century Schoolbook" panose="02040604050505020304" pitchFamily="18" charset="0"/>
                  </a:rPr>
                  <a:t>This change in direction is due to an acceleration called centripetal acceleration.</a:t>
                </a: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The acceleration directed toward the centre of the circular path is called centripetal (or radial) acceleration.</a:t>
                </a: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It keeps the body moving in a circular path.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32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2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ar-AE" sz="32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ar-AE" sz="32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32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32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32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ar-AE" sz="32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ar-AE" sz="32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den>
                      </m:f>
                      <m:r>
                        <a:rPr lang="ar-AE" sz="32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2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sSup>
                        <m:sSupPr>
                          <m:ctrlPr>
                            <a:rPr lang="ar-AE" sz="32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32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p>
                          <m:r>
                            <a:rPr lang="ar-AE" sz="32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ar-AE" sz="24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IN" sz="24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Unit</a:t>
                </a:r>
                <a:r>
                  <a:rPr lang="en-IN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m/s²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IN" sz="24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Direction</a:t>
                </a:r>
                <a:r>
                  <a:rPr lang="en-IN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Toward the </a:t>
                </a:r>
                <a:r>
                  <a:rPr lang="en-IN" sz="2400" b="1" dirty="0" err="1">
                    <a:latin typeface="Century Schoolbook" panose="02040604050505020304" pitchFamily="18" charset="0"/>
                  </a:rPr>
                  <a:t>center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of the circle</a:t>
                </a:r>
                <a:r>
                  <a:rPr lang="en-IN" b="1" dirty="0">
                    <a:latin typeface="Century Schoolbook" panose="02040604050505020304" pitchFamily="18" charset="0"/>
                  </a:rPr>
                  <a:t>.</a:t>
                </a:r>
              </a:p>
              <a:p>
                <a:pPr algn="l"/>
                <a:endParaRPr lang="en-IN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F7C99C4-D565-AB75-36E3-63127559CB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67148" y="629265"/>
                <a:ext cx="11847871" cy="6228735"/>
              </a:xfrm>
              <a:blipFill>
                <a:blip r:embed="rId2"/>
                <a:stretch>
                  <a:fillRect l="-772" t="-6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30462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6AFD7-CC1B-EB7B-15F8-B52DAFADE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8207"/>
            <a:ext cx="12192000" cy="1056853"/>
          </a:xfrm>
        </p:spPr>
        <p:txBody>
          <a:bodyPr>
            <a:normAutofit/>
          </a:bodyPr>
          <a:lstStyle/>
          <a:p>
            <a:pPr marL="685800" indent="-685800" algn="l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Three equations of motion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3AFE697-0DBC-0A67-E136-51A55E7D19A1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42567" y="796414"/>
                <a:ext cx="11906865" cy="6140904"/>
              </a:xfrm>
            </p:spPr>
            <p:txBody>
              <a:bodyPr>
                <a:normAutofit lnSpcReduction="10000"/>
              </a:bodyPr>
              <a:lstStyle/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Three Equations of Motion (for Angular Motion)</a:t>
                </a:r>
              </a:p>
              <a:p>
                <a:pPr algn="l"/>
                <a:r>
                  <a:rPr lang="en-IN" sz="2400" b="1" i="1" dirty="0">
                    <a:latin typeface="Century Schoolbook" panose="02040604050505020304" pitchFamily="18" charset="0"/>
                  </a:rPr>
                  <a:t>(Similar to linear equations, but for rotation)</a:t>
                </a:r>
                <a:endParaRPr lang="en-IN" sz="2400" b="1" dirty="0">
                  <a:latin typeface="Century Schoolbook" panose="020406040505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IN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ar-AE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ar-AE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ar-AE" sz="24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ar-AE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ar-AE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ar-AE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ar-AE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sSup>
                        <m:sSup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ar-AE" sz="24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p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ar-AE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ar-AE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ar-AE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𝜶𝜽</m:t>
                      </m:r>
                    </m:oMath>
                  </m:oMathPara>
                </a14:m>
                <a:endParaRPr lang="ar-AE" sz="24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algn="l"/>
                <a:r>
                  <a:rPr lang="en-IN" sz="2400" b="1" dirty="0">
                    <a:latin typeface="Century Schoolbook" panose="02040604050505020304" pitchFamily="18" charset="0"/>
                  </a:rPr>
                  <a:t>Where :</a:t>
                </a:r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ar-A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1" i="1" smtClean="0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ar-AE" sz="2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ar-AE" sz="2400" b="1" dirty="0">
                    <a:latin typeface="Century Schoolbook" panose="02040604050505020304" pitchFamily="18" charset="0"/>
                  </a:rPr>
                  <a:t>= </a:t>
                </a:r>
                <a:r>
                  <a:rPr lang="en-US" sz="2400" b="1" dirty="0">
                    <a:latin typeface="Century Schoolbook" panose="02040604050505020304" pitchFamily="18" charset="0"/>
                  </a:rPr>
                  <a:t> 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initial angular velocity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𝝎</m:t>
                    </m:r>
                  </m:oMath>
                </a14:m>
                <a:r>
                  <a:rPr lang="en-IN" sz="2400" b="1" dirty="0">
                    <a:latin typeface="Century Schoolbook" panose="02040604050505020304" pitchFamily="18" charset="0"/>
                  </a:rPr>
                  <a:t> = final angular velocity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IN" sz="2400" b="1" dirty="0">
                    <a:latin typeface="Century Schoolbook" panose="02040604050505020304" pitchFamily="18" charset="0"/>
                  </a:rPr>
                  <a:t> = angular acceleration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IN" sz="2400" b="1" dirty="0">
                    <a:latin typeface="Century Schoolbook" panose="02040604050505020304" pitchFamily="18" charset="0"/>
                  </a:rPr>
                  <a:t> = angular displacement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b="1" dirty="0">
                    <a:latin typeface="Century Schoolbook" panose="02040604050505020304" pitchFamily="18" charset="0"/>
                  </a:rPr>
                  <a:t>= time</a:t>
                </a:r>
              </a:p>
              <a:p>
                <a:pPr algn="l"/>
                <a:endParaRPr lang="en-IN" sz="2000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3AFE697-0DBC-0A67-E136-51A55E7D19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42567" y="796414"/>
                <a:ext cx="11906865" cy="6140904"/>
              </a:xfrm>
              <a:blipFill>
                <a:blip r:embed="rId2"/>
                <a:stretch>
                  <a:fillRect l="-870" t="-26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933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3BB44-C226-D3ED-F934-FE6CD30FD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927" y="-103125"/>
            <a:ext cx="11809147" cy="1056853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sz="44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Centripetal &amp; centrifugal forces</a:t>
            </a:r>
            <a:r>
              <a:rPr lang="en-US" sz="44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447F6CE-0BDB-A2FC-F0D8-3B147906924F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47484" y="742336"/>
                <a:ext cx="11897032" cy="6007510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(a) </a:t>
                </a:r>
                <a:r>
                  <a:rPr lang="en-IN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Centripetal Force</a:t>
                </a: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342900" indent="-342900" algn="l">
                  <a:buFont typeface="Wingdings" panose="05000000000000000000" pitchFamily="2" charset="2"/>
                  <a:buChar char="v"/>
                </a:pPr>
                <a:r>
                  <a:rPr lang="en-IN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Definition</a:t>
                </a: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The force which acts toward the </a:t>
                </a:r>
                <a:r>
                  <a:rPr lang="en-IN" sz="2400" b="1" dirty="0" err="1">
                    <a:latin typeface="Century Schoolbook" panose="02040604050505020304" pitchFamily="18" charset="0"/>
                  </a:rPr>
                  <a:t>center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of the circular path and keeps the body moving in a circular orbit is called centripetal force.</a:t>
                </a:r>
              </a:p>
              <a:p>
                <a:pPr marL="342900" indent="-342900" algn="l">
                  <a:buFont typeface="Wingdings" panose="05000000000000000000" pitchFamily="2" charset="2"/>
                  <a:buChar char="v"/>
                </a:pPr>
                <a:r>
                  <a:rPr lang="en-IN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Formula</a:t>
                </a: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ar-AE" sz="2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ar-AE" sz="28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sSup>
                          <m:sSupPr>
                            <m:ctrlPr>
                              <a:rPr lang="ar-AE" sz="2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ar-AE" sz="2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ar-AE" sz="2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den>
                    </m:f>
                    <m:r>
                      <a:rPr lang="ar-AE" sz="28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𝒎𝒓</m:t>
                    </m:r>
                    <m:sSup>
                      <m:sSupPr>
                        <m:ctrlPr>
                          <a:rPr lang="ar-AE" sz="2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p>
                        <m:r>
                          <a:rPr lang="ar-AE" sz="2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ar-AE" sz="28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algn="l"/>
                <a:r>
                  <a:rPr lang="en-IN" sz="2400" b="1" dirty="0">
                    <a:latin typeface="Century Schoolbook" panose="02040604050505020304" pitchFamily="18" charset="0"/>
                  </a:rPr>
                  <a:t>where,</a:t>
                </a:r>
                <a:br>
                  <a:rPr lang="en-IN" sz="2400" b="1" dirty="0">
                    <a:latin typeface="Century Schoolbook" panose="02040604050505020304" pitchFamily="18" charset="0"/>
                  </a:rPr>
                </a:br>
                <a14:m>
                  <m:oMath xmlns:m="http://schemas.openxmlformats.org/officeDocument/2006/math"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b="1" dirty="0">
                    <a:latin typeface="Century Schoolbook" panose="02040604050505020304" pitchFamily="18" charset="0"/>
                  </a:rPr>
                  <a:t>= mass of the body,</a:t>
                </a:r>
                <a:br>
                  <a:rPr lang="en-IN" sz="2400" b="1" dirty="0">
                    <a:latin typeface="Century Schoolbook" panose="02040604050505020304" pitchFamily="18" charset="0"/>
                  </a:rPr>
                </a:br>
                <a14:m>
                  <m:oMath xmlns:m="http://schemas.openxmlformats.org/officeDocument/2006/math"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IN" sz="2400" b="1" dirty="0">
                    <a:latin typeface="Century Schoolbook" panose="02040604050505020304" pitchFamily="18" charset="0"/>
                  </a:rPr>
                  <a:t> = linear velocity,</a:t>
                </a:r>
                <a:br>
                  <a:rPr lang="en-IN" sz="2400" b="1" dirty="0">
                    <a:latin typeface="Century Schoolbook" panose="02040604050505020304" pitchFamily="18" charset="0"/>
                  </a:rPr>
                </a:br>
                <a14:m>
                  <m:oMath xmlns:m="http://schemas.openxmlformats.org/officeDocument/2006/math"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b="1" dirty="0">
                    <a:latin typeface="Century Schoolbook" panose="02040604050505020304" pitchFamily="18" charset="0"/>
                  </a:rPr>
                  <a:t>= radius of the circle.</a:t>
                </a:r>
              </a:p>
              <a:p>
                <a:pPr marL="342900" indent="-342900" algn="l">
                  <a:buFont typeface="Wingdings" panose="05000000000000000000" pitchFamily="2" charset="2"/>
                  <a:buChar char="v"/>
                </a:pPr>
                <a:r>
                  <a:rPr lang="en-IN" sz="24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Direction</a:t>
                </a:r>
                <a:r>
                  <a:rPr lang="en-IN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 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Always toward the </a:t>
                </a:r>
                <a:r>
                  <a:rPr lang="en-IN" sz="2400" b="1" dirty="0" err="1">
                    <a:latin typeface="Century Schoolbook" panose="02040604050505020304" pitchFamily="18" charset="0"/>
                  </a:rPr>
                  <a:t>center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.</a:t>
                </a:r>
              </a:p>
              <a:p>
                <a:pPr algn="l"/>
                <a:endParaRPr lang="en-IN" sz="2000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447F6CE-0BDB-A2FC-F0D8-3B14790692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47484" y="742336"/>
                <a:ext cx="11897032" cy="6007510"/>
              </a:xfrm>
              <a:blipFill>
                <a:blip r:embed="rId2"/>
                <a:stretch>
                  <a:fillRect l="-1127" t="-15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71438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9B84-1870-3E4D-19D8-CF89A59E0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67807"/>
            <a:ext cx="12083845" cy="467807"/>
          </a:xfrm>
        </p:spPr>
        <p:txBody>
          <a:bodyPr>
            <a:normAutofit fontScale="90000"/>
          </a:bodyPr>
          <a:lstStyle/>
          <a:p>
            <a:endParaRPr lang="en-IN" sz="4800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B6922-DA91-42A7-B294-33E8894CA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652" y="78659"/>
            <a:ext cx="11946193" cy="5240593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Examples</a:t>
            </a:r>
            <a:r>
              <a:rPr lang="en-IN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>
                <a:latin typeface="Century Schoolbook" panose="02040604050505020304" pitchFamily="18" charset="0"/>
              </a:rPr>
              <a:t>The tension in a string of a whirling stone.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>
                <a:latin typeface="Century Schoolbook" panose="02040604050505020304" pitchFamily="18" charset="0"/>
              </a:rPr>
              <a:t>Gravitational force between Earth and Moon.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>
                <a:latin typeface="Century Schoolbook" panose="02040604050505020304" pitchFamily="18" charset="0"/>
              </a:rPr>
              <a:t>Frictional force between car tyres and road in turning.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Applications</a:t>
            </a:r>
            <a:r>
              <a:rPr lang="en-IN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>
                <a:latin typeface="Century Schoolbook" panose="02040604050505020304" pitchFamily="18" charset="0"/>
              </a:rPr>
              <a:t>Used in designing banked roads and race tracks.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>
                <a:latin typeface="Century Schoolbook" panose="02040604050505020304" pitchFamily="18" charset="0"/>
              </a:rPr>
              <a:t>Used in centrifuges to separate liquids of different densities.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>
                <a:latin typeface="Century Schoolbook" panose="02040604050505020304" pitchFamily="18" charset="0"/>
              </a:rPr>
              <a:t>Important in satellite motion and planetary orbits.</a:t>
            </a:r>
          </a:p>
          <a:p>
            <a:pPr algn="l"/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026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5FCBF-683B-FFBA-B172-B6A146041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6" y="-403122"/>
            <a:ext cx="12163108" cy="403122"/>
          </a:xfrm>
        </p:spPr>
        <p:txBody>
          <a:bodyPr>
            <a:normAutofit fontScale="90000"/>
          </a:bodyPr>
          <a:lstStyle/>
          <a:p>
            <a:pPr marL="685800" indent="-685800" algn="l">
              <a:buFont typeface="Wingdings" panose="05000000000000000000" pitchFamily="2" charset="2"/>
              <a:buChar char="v"/>
            </a:pP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F950809-541E-4BBD-C8B8-3D703EA90683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17987" y="1"/>
                <a:ext cx="11788878" cy="5496231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sz="32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2. </a:t>
                </a:r>
                <a:r>
                  <a:rPr lang="en-US" sz="32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Centrifugal force</a:t>
                </a:r>
                <a:r>
                  <a:rPr lang="en-US" sz="32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342900" indent="-342900" algn="l">
                  <a:buFont typeface="Wingdings" panose="05000000000000000000" pitchFamily="2" charset="2"/>
                  <a:buChar char="v"/>
                </a:pPr>
                <a:r>
                  <a:rPr lang="en-IN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Definition</a:t>
                </a: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It is the apparent force that acts away from the </a:t>
                </a:r>
                <a:r>
                  <a:rPr lang="en-IN" sz="2400" b="1" dirty="0" err="1">
                    <a:latin typeface="Century Schoolbook" panose="02040604050505020304" pitchFamily="18" charset="0"/>
                  </a:rPr>
                  <a:t>center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of a circular path on a body in rotational motion.</a:t>
                </a:r>
              </a:p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It is equal in magnitude but opposite in direction to the centripetal force.</a:t>
                </a:r>
              </a:p>
              <a:p>
                <a:pPr marL="342900" indent="-342900" algn="l">
                  <a:buFont typeface="Wingdings" panose="05000000000000000000" pitchFamily="2" charset="2"/>
                  <a:buChar char="v"/>
                </a:pPr>
                <a:r>
                  <a:rPr lang="en-IN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Formula</a:t>
                </a:r>
                <a:r>
                  <a:rPr lang="en-IN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2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ar-AE" sz="32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𝒄𝒇</m:t>
                        </m:r>
                      </m:sub>
                    </m:sSub>
                    <m:r>
                      <a:rPr lang="ar-AE" sz="32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32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32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sSup>
                          <m:sSupPr>
                            <m:ctrlPr>
                              <a:rPr lang="ar-AE" sz="32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32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ar-AE" sz="32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ar-AE" sz="32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den>
                    </m:f>
                  </m:oMath>
                </a14:m>
                <a:endParaRPr lang="ar-AE" sz="2000" b="1" dirty="0">
                  <a:latin typeface="Century Schoolbook" panose="02040604050505020304" pitchFamily="18" charset="0"/>
                </a:endParaRPr>
              </a:p>
              <a:p>
                <a:pPr marL="342900" indent="-342900" algn="l">
                  <a:buFont typeface="Wingdings" panose="05000000000000000000" pitchFamily="2" charset="2"/>
                  <a:buChar char="v"/>
                </a:pPr>
                <a:r>
                  <a:rPr lang="en-IN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Direction</a:t>
                </a: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Always away from the centre (outward).</a:t>
                </a:r>
                <a:endParaRPr lang="en-IN" sz="2000" b="1" dirty="0">
                  <a:latin typeface="Century Schoolbook" panose="02040604050505020304" pitchFamily="18" charset="0"/>
                </a:endParaRPr>
              </a:p>
              <a:p>
                <a:pPr algn="l"/>
                <a:endParaRPr lang="en-IN" sz="2000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F950809-541E-4BBD-C8B8-3D703EA906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17987" y="1"/>
                <a:ext cx="11788878" cy="5496231"/>
              </a:xfrm>
              <a:blipFill>
                <a:blip r:embed="rId2"/>
                <a:stretch>
                  <a:fillRect l="-1396" t="-8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70508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E784F-A2FD-9AB7-9E07-4D35780E1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950" y="-451394"/>
            <a:ext cx="10353762" cy="451394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1C7CE-7093-FC2A-7193-190722ADD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6812" y="0"/>
            <a:ext cx="11759381" cy="5358582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Examples</a:t>
            </a:r>
            <a:r>
              <a:rPr lang="en-IN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>
                <a:latin typeface="Century Schoolbook" panose="02040604050505020304" pitchFamily="18" charset="0"/>
              </a:rPr>
              <a:t>Water moving outward in a washing machine.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>
                <a:latin typeface="Century Schoolbook" panose="02040604050505020304" pitchFamily="18" charset="0"/>
              </a:rPr>
              <a:t>Mud flying off the wheel of a moving vehicle.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>
                <a:latin typeface="Century Schoolbook" panose="02040604050505020304" pitchFamily="18" charset="0"/>
              </a:rPr>
              <a:t>Passenger pushed outward when a car takes a sharp turn.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Applications</a:t>
            </a:r>
            <a:r>
              <a:rPr lang="en-IN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>
                <a:latin typeface="Century Schoolbook" panose="02040604050505020304" pitchFamily="18" charset="0"/>
              </a:rPr>
              <a:t>Used in centrifugal dryers and cream separators.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>
                <a:latin typeface="Century Schoolbook" panose="02040604050505020304" pitchFamily="18" charset="0"/>
              </a:rPr>
              <a:t>Helps in artificial gravity creation in space stations.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>
                <a:latin typeface="Century Schoolbook" panose="02040604050505020304" pitchFamily="18" charset="0"/>
              </a:rPr>
              <a:t>Used in centrifuges to separate mixtures based on density.</a:t>
            </a:r>
          </a:p>
          <a:p>
            <a:pPr algn="l"/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7311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041AF-6400-ADF6-CCA4-A9E25AD02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4" y="-88489"/>
            <a:ext cx="11041415" cy="1002890"/>
          </a:xfrm>
        </p:spPr>
        <p:txBody>
          <a:bodyPr>
            <a:normAutofit/>
          </a:bodyPr>
          <a:lstStyle/>
          <a:p>
            <a:pPr algn="l"/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2.4] 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laws of motion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46863-887B-B821-6629-6CC1CBBCC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6476" y="796413"/>
            <a:ext cx="11690555" cy="4827639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Newton’s First Law of Motion (Law of Inertia)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Statement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 body continues to be in its state of rest or of uniform motion in a straight line unless an external unbalanced force acts on it.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Explanation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This means that if no external force is applied, an object at rest will stay at rest, and a moving object will continue to move with constant velocity in a straight line.</a:t>
            </a:r>
          </a:p>
          <a:p>
            <a:pPr algn="l"/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0790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F616D-9478-4F07-E961-F8133CDB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79" y="-530942"/>
            <a:ext cx="10353762" cy="530942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402EA-1286-EEA9-3EE1-3E81CD274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149" y="255638"/>
            <a:ext cx="11670889" cy="4562168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 book on a table remains at rest until pushed.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When a moving car suddenly stops, passengers move forward due to inertia of motion.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Application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Seat belts in vehicles protect passengers from inertia.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Dust is removed from clothes by shaking (dust tends to remain at rest).</a:t>
            </a:r>
          </a:p>
          <a:p>
            <a:pPr algn="l"/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7647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44AE0-AD63-8027-D76A-F1FA9FA94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486" y="-373626"/>
            <a:ext cx="10353762" cy="373626"/>
          </a:xfrm>
        </p:spPr>
        <p:txBody>
          <a:bodyPr>
            <a:normAutofit fontScale="90000"/>
          </a:bodyPr>
          <a:lstStyle/>
          <a:p>
            <a:endParaRPr lang="en-IN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6C33D15-80F0-073E-50BF-60B7F5A19ADB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221226" y="-373626"/>
                <a:ext cx="11749548" cy="6784257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sz="32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2. </a:t>
                </a:r>
                <a:r>
                  <a:rPr lang="en-US" sz="32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Newton’s Second Law of Motion</a:t>
                </a:r>
                <a:r>
                  <a:rPr lang="en-US" sz="32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285750" indent="-285750" algn="l">
                  <a:buFont typeface="Wingdings" panose="05000000000000000000" pitchFamily="2" charset="2"/>
                  <a:buChar char="v"/>
                </a:pPr>
                <a:r>
                  <a:rPr lang="en-US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Statement : -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Century Schoolbook" panose="02040604050505020304" pitchFamily="18" charset="0"/>
                  </a:rPr>
                  <a:t>The rate of change of momentum of a body is directly proportional to the applied force and takes place in the direction of the force.</a:t>
                </a:r>
              </a:p>
              <a:p>
                <a:pPr marL="285750" indent="-285750" algn="l">
                  <a:buFont typeface="Wingdings" panose="05000000000000000000" pitchFamily="2" charset="2"/>
                  <a:buChar char="v"/>
                </a:pPr>
                <a:r>
                  <a:rPr lang="en-US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Formula</a:t>
                </a:r>
                <a:r>
                  <a:rPr lang="en-US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28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𝒎𝒂</m:t>
                    </m:r>
                  </m:oMath>
                </a14:m>
                <a:endParaRPr lang="en-US" sz="28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algn="l"/>
                <a:r>
                  <a:rPr lang="en-US" sz="2400" b="1" dirty="0">
                    <a:latin typeface="Century Schoolbook" panose="02040604050505020304" pitchFamily="18" charset="0"/>
                  </a:rPr>
                  <a:t>where,</a:t>
                </a:r>
                <a:br>
                  <a:rPr lang="en-US" sz="2400" b="1" dirty="0">
                    <a:latin typeface="Century Schoolbook" panose="020406040505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sz="2400" b="1" dirty="0">
                    <a:latin typeface="Century Schoolbook" panose="02040604050505020304" pitchFamily="18" charset="0"/>
                  </a:rPr>
                  <a:t>= Force (N),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2400" b="1" dirty="0">
                    <a:latin typeface="Century Schoolbook" panose="02040604050505020304" pitchFamily="18" charset="0"/>
                  </a:rPr>
                  <a:t>= Mass (kg),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2400" b="1" dirty="0">
                    <a:latin typeface="Century Schoolbook" panose="02040604050505020304" pitchFamily="18" charset="0"/>
                  </a:rPr>
                  <a:t>= Acceleration (m/s²)</a:t>
                </a:r>
              </a:p>
              <a:p>
                <a:pPr marL="285750" indent="-285750" algn="l">
                  <a:buFont typeface="Wingdings" panose="05000000000000000000" pitchFamily="2" charset="2"/>
                  <a:buChar char="v"/>
                </a:pPr>
                <a:r>
                  <a:rPr lang="en-US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Explanation</a:t>
                </a:r>
                <a:r>
                  <a:rPr lang="en-US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Century Schoolbook" panose="02040604050505020304" pitchFamily="18" charset="0"/>
                  </a:rPr>
                  <a:t>This law gives the quantitative definition of force — it tells how much force is required to produce a given acceleration in a mass.</a:t>
                </a:r>
              </a:p>
              <a:p>
                <a:pPr algn="l"/>
                <a:endParaRPr lang="en-IN" sz="1800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6C33D15-80F0-073E-50BF-60B7F5A19A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221226" y="-373626"/>
                <a:ext cx="11749548" cy="6784257"/>
              </a:xfrm>
              <a:blipFill>
                <a:blip r:embed="rId2"/>
                <a:stretch>
                  <a:fillRect l="-1400" r="-3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47536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90E37-A9BC-5D2D-49CC-91ACB2DBE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75" y="-442451"/>
            <a:ext cx="10353762" cy="363794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892E3-18EB-2F75-A731-D1F0472AA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181" y="167951"/>
            <a:ext cx="11897638" cy="4814596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Pushing a car requires more force than pushing a bicycle because the car has more mass.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Applications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Used in rockets and jet propulsion (force = rate of change of momentum).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In sports, applying more force increases acceleration of a ball.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Explains impact of collisions and vehicle safety designs.</a:t>
            </a:r>
          </a:p>
          <a:p>
            <a:pPr algn="l"/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4271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267C4-B270-6A75-2750-7BF4E12FF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162" y="-439492"/>
            <a:ext cx="10353762" cy="439492"/>
          </a:xfrm>
        </p:spPr>
        <p:txBody>
          <a:bodyPr>
            <a:normAutofit fontScale="90000"/>
          </a:bodyPr>
          <a:lstStyle/>
          <a:p>
            <a:endParaRPr lang="en-IN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1DC27-405F-CA59-FDA1-9BC26B386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6336" y="0"/>
            <a:ext cx="11159413" cy="4217437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3. </a:t>
            </a:r>
            <a:r>
              <a:rPr lang="en-US" sz="3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Newton’s Third Law of Motion</a:t>
            </a:r>
            <a:r>
              <a:rPr lang="en-US" sz="3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Statement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For every action, there is an equal and opposite reaction.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Explanation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When one body exerts a force on another, the second body exerts an equal but opposite force on the first body.</a:t>
            </a:r>
          </a:p>
          <a:p>
            <a:pPr algn="l"/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0756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AD69-1931-247F-C9E8-2ECD9CD8E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151" y="-146179"/>
            <a:ext cx="10353762" cy="14617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C45CE-7EE9-E5D0-1109-F855A552C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5338" y="0"/>
            <a:ext cx="11822491" cy="5766318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Examples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 gun recoils backward when it fires a bullet.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 swimmer pushes water backward and moves forward.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While walking, we push the ground backward and the ground pushes us forward.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Applications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Rocket propulsion: gases expelled backward push the rocket forward.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Flight of birds: wings push air downward and air pushes the bird upward.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Recoil of guns and jet engines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833013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B3ACC-B0C2-727C-AAFA-343E939D3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39" y="-3397"/>
            <a:ext cx="11753477" cy="860208"/>
          </a:xfrm>
        </p:spPr>
        <p:txBody>
          <a:bodyPr>
            <a:normAutofit/>
          </a:bodyPr>
          <a:lstStyle/>
          <a:p>
            <a:pPr algn="l"/>
            <a:r>
              <a:rPr lang="en-US" sz="4400" b="0" dirty="0">
                <a:solidFill>
                  <a:srgbClr val="FFFF00"/>
                </a:solidFill>
                <a:latin typeface="Algerian" panose="04020705040A02060702" pitchFamily="82" charset="0"/>
              </a:rPr>
              <a:t>2.5] </a:t>
            </a:r>
            <a:r>
              <a:rPr lang="en-US" sz="44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ancient theory of gravitation</a:t>
            </a:r>
            <a:r>
              <a:rPr lang="en-US" sz="44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99299-DF75-1D3E-046E-24EB73643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6612" y="699796"/>
            <a:ext cx="12005388" cy="564502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Ancient Indian Theory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8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algn="l"/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a)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Aryabhata (476–550 AD)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Aryabhata, in his book Aryabhatiya, explained that the Earth attracts all objects toward itself.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He stated that the apparent falling of objects to the ground is due to this attraction of Earth.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He also said that the Earth rotates on its axis, which gives the appearance of the rising and setting of the Sun.</a:t>
            </a:r>
          </a:p>
          <a:p>
            <a:pPr algn="l"/>
            <a:endParaRPr lang="en-US" b="1" dirty="0">
              <a:latin typeface="Century Schoolbook" panose="02040604050505020304" pitchFamily="18" charset="0"/>
            </a:endParaRPr>
          </a:p>
          <a:p>
            <a:pPr algn="l"/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b)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Brahmagupta (598–668 AD)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Brahmagupta extended Aryabhata’s ideas in his text </a:t>
            </a:r>
            <a:r>
              <a:rPr lang="en-US" sz="1800" b="1" dirty="0" err="1">
                <a:latin typeface="Century Schoolbook" panose="02040604050505020304" pitchFamily="18" charset="0"/>
              </a:rPr>
              <a:t>Brahmasphutasiddhanta</a:t>
            </a:r>
            <a:r>
              <a:rPr lang="en-US" sz="1800" b="1" dirty="0">
                <a:latin typeface="Century Schoolbook" panose="02040604050505020304" pitchFamily="18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He mentioned that all things fall toward the Earth because it attracts them.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This was one of the earliest references to the force of gravity in scientific literature.</a:t>
            </a:r>
          </a:p>
          <a:p>
            <a:pPr algn="l"/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2914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9EC11-3E13-A3DD-78C3-576CFED9B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83" y="-593017"/>
            <a:ext cx="10353762" cy="499712"/>
          </a:xfrm>
        </p:spPr>
        <p:txBody>
          <a:bodyPr>
            <a:normAutofit fontScale="90000"/>
          </a:bodyPr>
          <a:lstStyle/>
          <a:p>
            <a:endParaRPr lang="en-IN" sz="44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28EE4-4B66-643C-AA22-117B91320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651" y="0"/>
            <a:ext cx="11544888" cy="579431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Ancient Greek Theory (Aristotle’s View)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Aristotle (384–322 BC) believed that heavier objects fall faster than lighter ones.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He also thought that objects have a “natural place,” and their motion is directed toward that place (for example, stones fall to Earth because it is their natural place).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However, this was later proved incorrect by Galileo.</a:t>
            </a:r>
          </a:p>
          <a:p>
            <a:pPr algn="l"/>
            <a:endParaRPr lang="en-US" b="1" dirty="0">
              <a:latin typeface="Century Schoolbook" panose="02040604050505020304" pitchFamily="18" charset="0"/>
            </a:endParaRPr>
          </a:p>
          <a:p>
            <a:pPr algn="l"/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3.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Galileo Galilei (1564–1642)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Galileo showed experimentally that all bodies fall at the same rate in the absence of air resistance, regardless of their mass.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This laid the foundation for Newton’s Laws of Motion and Universal Gravitation.</a:t>
            </a:r>
          </a:p>
          <a:p>
            <a:pPr algn="l"/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749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9EAD6-831A-11A7-2067-049D3C271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7157"/>
            <a:ext cx="10353762" cy="1056853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Newton’s laws of motion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D8780B4-D412-C66B-5B69-2F450C5A5B15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58622" y="797767"/>
                <a:ext cx="11240582" cy="2631233"/>
              </a:xfrm>
            </p:spPr>
            <p:txBody>
              <a:bodyPr/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First Law (Law of Inertia)</a:t>
                </a:r>
                <a:r>
                  <a:rPr lang="en-US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 </a:t>
                </a:r>
                <a:r>
                  <a:rPr lang="en-US" sz="2400" b="1" dirty="0">
                    <a:latin typeface="Century Schoolbook" panose="02040604050505020304" pitchFamily="18" charset="0"/>
                  </a:rPr>
                  <a:t>A body remains at rest or in uniform motion unless acted on by an external force.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Second Law</a:t>
                </a:r>
                <a:r>
                  <a:rPr lang="en-US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2400" b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𝒎𝒂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en-US" sz="2400" b="1" dirty="0">
                    <a:latin typeface="Century Schoolbook" panose="02040604050505020304" pitchFamily="18" charset="0"/>
                  </a:rPr>
                  <a:t>Force equals mass times acceleration.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Third Law</a:t>
                </a:r>
                <a:r>
                  <a:rPr lang="en-US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 </a:t>
                </a:r>
                <a:r>
                  <a:rPr lang="en-US" sz="2400" b="1" dirty="0">
                    <a:latin typeface="Century Schoolbook" panose="02040604050505020304" pitchFamily="18" charset="0"/>
                  </a:rPr>
                  <a:t>Every action has an equal and opposite reaction.</a:t>
                </a:r>
              </a:p>
              <a:p>
                <a:pPr algn="l"/>
                <a:endParaRPr lang="en-IN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D8780B4-D412-C66B-5B69-2F450C5A5B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58622" y="797767"/>
                <a:ext cx="11240582" cy="2631233"/>
              </a:xfrm>
              <a:blipFill>
                <a:blip r:embed="rId2"/>
                <a:stretch>
                  <a:fillRect l="-1085" t="-3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36257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D5529-06C1-9E51-98FF-EA40E2D08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2752"/>
            <a:ext cx="10353762" cy="1083117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Numerical example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ACC7FDD-E835-EE4B-A5AC-14E05DBCE7E0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67951" y="793103"/>
                <a:ext cx="11364686" cy="5951826"/>
              </a:xfrm>
            </p:spPr>
            <p:txBody>
              <a:bodyPr>
                <a:normAutofit fontScale="92500"/>
              </a:bodyPr>
              <a:lstStyle/>
              <a:p>
                <a:pPr algn="l"/>
                <a:r>
                  <a:rPr lang="en-IN" sz="20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Question</a:t>
                </a:r>
                <a:r>
                  <a:rPr lang="en-IN" sz="20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 </a:t>
                </a:r>
                <a:r>
                  <a:rPr lang="en-IN" sz="2000" b="1" dirty="0">
                    <a:latin typeface="Century Schoolbook" panose="02040604050505020304" pitchFamily="18" charset="0"/>
                  </a:rPr>
                  <a:t>Find the gravitational force between two objects of masses</a:t>
                </a:r>
                <a:br>
                  <a:rPr lang="en-IN" sz="2000" b="1" dirty="0">
                    <a:latin typeface="Century Schoolbook" panose="020406040505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ar-AE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ar-AE" sz="2000" b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m:rPr>
                        <m:nor/>
                      </m:rPr>
                      <a:rPr lang="ar-AE" sz="2000" b="1" i="1">
                        <a:latin typeface="Century Schoolbook" panose="02040604050505020304" pitchFamily="18" charset="0"/>
                      </a:rPr>
                      <m:t> </m:t>
                    </m:r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𝒌𝒈</m:t>
                    </m:r>
                  </m:oMath>
                </a14:m>
                <a:r>
                  <a:rPr lang="en-IN" sz="2000" b="1" dirty="0">
                    <a:latin typeface="Century Schoolbook" panose="020406040505050203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ar-AE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ar-AE" sz="2000" b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𝟐𝟎</m:t>
                    </m:r>
                    <m:r>
                      <m:rPr>
                        <m:nor/>
                      </m:rPr>
                      <a:rPr lang="ar-AE" sz="2000" b="1" i="1">
                        <a:latin typeface="Century Schoolbook" panose="02040604050505020304" pitchFamily="18" charset="0"/>
                      </a:rPr>
                      <m:t> </m:t>
                    </m:r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𝒌𝒈</m:t>
                    </m:r>
                  </m:oMath>
                </a14:m>
                <a:r>
                  <a:rPr lang="ar-AE" sz="2000" b="1" dirty="0">
                    <a:latin typeface="Century Schoolbook" panose="02040604050505020304" pitchFamily="18" charset="0"/>
                  </a:rPr>
                  <a:t>,</a:t>
                </a:r>
                <a:br>
                  <a:rPr lang="ar-AE" sz="2000" b="1" dirty="0">
                    <a:latin typeface="Century Schoolbook" panose="02040604050505020304" pitchFamily="18" charset="0"/>
                  </a:rPr>
                </a:br>
                <a:r>
                  <a:rPr lang="en-IN" sz="2000" b="1" dirty="0">
                    <a:latin typeface="Century Schoolbook" panose="02040604050505020304" pitchFamily="18" charset="0"/>
                  </a:rPr>
                  <a:t>separated by a distance of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IN" sz="2000" b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m:rPr>
                        <m:nor/>
                      </m:rPr>
                      <a:rPr lang="en-IN" sz="2000" b="1" i="1">
                        <a:latin typeface="Century Schoolbook" panose="02040604050505020304" pitchFamily="18" charset="0"/>
                      </a:rPr>
                      <m:t> </m:t>
                    </m:r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IN" sz="2000" b="1" dirty="0">
                    <a:latin typeface="Century Schoolbook" panose="02040604050505020304" pitchFamily="18" charset="0"/>
                  </a:rPr>
                  <a:t>.</a:t>
                </a:r>
                <a:br>
                  <a:rPr lang="en-IN" sz="2000" b="1" dirty="0">
                    <a:latin typeface="Century Schoolbook" panose="02040604050505020304" pitchFamily="18" charset="0"/>
                  </a:rPr>
                </a:br>
                <a:r>
                  <a:rPr lang="en-IN" sz="2000" b="1" dirty="0">
                    <a:latin typeface="Century Schoolbook" panose="02040604050505020304" pitchFamily="18" charset="0"/>
                  </a:rPr>
                  <a:t>Given,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IN" sz="20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IN" sz="20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0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𝟔𝟕</m:t>
                    </m:r>
                    <m:r>
                      <a:rPr lang="en-IN" sz="20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ar-AE" sz="20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ar-AE" sz="2000" b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0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</m:sup>
                    </m:sSup>
                    <m:r>
                      <m:rPr>
                        <m:nor/>
                      </m:rPr>
                      <a:rPr lang="ar-AE" sz="2000" b="1" i="1">
                        <a:solidFill>
                          <a:srgbClr val="FFFF00"/>
                        </a:solidFill>
                        <a:latin typeface="Century Schoolbook" panose="02040604050505020304" pitchFamily="18" charset="0"/>
                      </a:rPr>
                      <m:t> </m:t>
                    </m:r>
                    <m:r>
                      <a:rPr lang="ar-AE" sz="20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ar-AE" sz="20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ar-AE" sz="20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ar-AE" sz="20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ar-AE" sz="20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20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sSup>
                      <m:sSupPr>
                        <m:ctrlPr>
                          <a:rPr lang="ar-AE" sz="20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ar-AE" sz="20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ar-AE" sz="20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.</a:t>
                </a:r>
              </a:p>
              <a:p>
                <a:pPr marL="342900" indent="-342900" algn="l">
                  <a:buFont typeface="Wingdings" panose="05000000000000000000" pitchFamily="2" charset="2"/>
                  <a:buChar char="v"/>
                </a:pPr>
                <a:r>
                  <a:rPr lang="en-IN" sz="24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Solution</a:t>
                </a:r>
                <a:r>
                  <a:rPr lang="en-IN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1" i="1" smtClean="0"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IN" sz="2000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1" i="1" smtClean="0">
                          <a:latin typeface="Cambria Math" panose="02040503050406030204" pitchFamily="18" charset="0"/>
                        </a:rPr>
                        <m:t>𝑮</m:t>
                      </m:r>
                      <m:f>
                        <m:fPr>
                          <m:ctrlPr>
                            <a:rPr lang="ar-AE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ar-A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ar-A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ar-AE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ar-A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sz="2000" b="1" dirty="0">
                  <a:latin typeface="Century Schoolbook" panose="020406040505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 b="1" i="1" smtClean="0"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ar-AE" sz="2000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ar-AE" sz="2000" b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 b="1" i="1" smtClean="0">
                          <a:latin typeface="Cambria Math" panose="02040503050406030204" pitchFamily="18" charset="0"/>
                        </a:rPr>
                        <m:t>𝟔𝟕</m:t>
                      </m:r>
                      <m:r>
                        <a:rPr lang="ar-AE" sz="2000" b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ar-AE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ar-AE" sz="2000" b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</m:sup>
                      </m:sSup>
                      <m:r>
                        <a:rPr lang="ar-AE" sz="2000" b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ar-AE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ar-AE" sz="2000" b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sz="2000" b="1" i="1" smtClean="0">
                              <a:latin typeface="Cambria Math" panose="02040503050406030204" pitchFamily="18" charset="0"/>
                            </a:rPr>
                            <m:t>𝟐𝟎</m:t>
                          </m:r>
                        </m:num>
                        <m:den>
                          <m:sSup>
                            <m:sSupPr>
                              <m:ctrlPr>
                                <a:rPr lang="ar-AE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ar-A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sz="2000" b="1" dirty="0">
                  <a:latin typeface="Century Schoolbook" panose="020406040505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 b="1" i="1" smtClean="0"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ar-AE" sz="2000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ar-AE" sz="2000" b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 b="1" i="1" smtClean="0">
                          <a:latin typeface="Cambria Math" panose="02040503050406030204" pitchFamily="18" charset="0"/>
                        </a:rPr>
                        <m:t>𝟔𝟕</m:t>
                      </m:r>
                      <m:r>
                        <a:rPr lang="ar-AE" sz="2000" b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ar-AE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ar-AE" sz="2000" b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</m:sup>
                      </m:sSup>
                      <m:r>
                        <a:rPr lang="ar-AE" sz="2000" b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ar-AE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b="1" i="1" smtClean="0">
                              <a:latin typeface="Cambria Math" panose="02040503050406030204" pitchFamily="18" charset="0"/>
                            </a:rPr>
                            <m:t>𝟐𝟎𝟎</m:t>
                          </m:r>
                        </m:num>
                        <m:den>
                          <m:r>
                            <a:rPr lang="ar-AE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ar-AE" sz="2000" b="1" dirty="0">
                  <a:latin typeface="Century Schoolbook" panose="020406040505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 b="1" i="1" smtClean="0"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ar-AE" sz="2000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ar-AE" sz="2000" b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 b="1" i="1" smtClean="0">
                          <a:latin typeface="Cambria Math" panose="02040503050406030204" pitchFamily="18" charset="0"/>
                        </a:rPr>
                        <m:t>𝟔𝟕</m:t>
                      </m:r>
                      <m:r>
                        <a:rPr lang="ar-AE" sz="2000" b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ar-AE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ar-AE" sz="2000" b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</m:sup>
                      </m:sSup>
                      <m:r>
                        <a:rPr lang="ar-AE" sz="2000" b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sz="2000" b="1" i="1" smtClean="0"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ar-AE" sz="2000" b="1" dirty="0">
                  <a:latin typeface="Century Schoolbook" panose="020406040505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0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 sz="20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lang="ar-AE" sz="2000" b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0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ar-AE" sz="2000" b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𝟑𝟑𝟓</m:t>
                          </m:r>
                          <m:r>
                            <a:rPr lang="ar-AE" sz="2000" b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ar-AE" sz="20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e>
                            <m:sup>
                              <m:r>
                                <a:rPr lang="ar-AE" sz="2000" b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0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𝟗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ar-AE" sz="20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 </m:t>
                          </m:r>
                          <m:r>
                            <a:rPr lang="ar-AE" sz="20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</m:borderBox>
                    </m:oMath>
                  </m:oMathPara>
                </a14:m>
                <a:endParaRPr lang="ar-AE" sz="2000" b="1" dirty="0">
                  <a:latin typeface="Century Schoolbook" panose="02040604050505020304" pitchFamily="18" charset="0"/>
                </a:endParaRPr>
              </a:p>
              <a:p>
                <a:pPr marL="342900" indent="-342900" algn="l">
                  <a:buFont typeface="Wingdings" panose="05000000000000000000" pitchFamily="2" charset="2"/>
                  <a:buChar char="ü"/>
                </a:pPr>
                <a:r>
                  <a:rPr lang="en-IN" sz="2800" b="1" dirty="0">
                    <a:latin typeface="Century Schoolbook" panose="02040604050505020304" pitchFamily="18" charset="0"/>
                  </a:rPr>
                  <a:t>Answer :</a:t>
                </a:r>
                <a:br>
                  <a:rPr lang="en-IN" b="1" dirty="0">
                    <a:latin typeface="Century Schoolbook" panose="02040604050505020304" pitchFamily="18" charset="0"/>
                  </a:rPr>
                </a:br>
                <a:r>
                  <a:rPr lang="en-IN" sz="20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The gravitational force between the two masses is 3.335 × 10⁻⁹ N (a very small force).</a:t>
                </a:r>
              </a:p>
              <a:p>
                <a:pPr algn="l"/>
                <a:endParaRPr lang="en-IN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ACC7FDD-E835-EE4B-A5AC-14E05DBCE7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67951" y="793103"/>
                <a:ext cx="11364686" cy="5951826"/>
              </a:xfrm>
              <a:blipFill>
                <a:blip r:embed="rId2"/>
                <a:stretch>
                  <a:fillRect l="-966" t="-10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25177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42332"/>
      </a:dk2>
      <a:lt2>
        <a:srgbClr val="EE91A0"/>
      </a:lt2>
      <a:accent1>
        <a:srgbClr val="E03754"/>
      </a:accent1>
      <a:accent2>
        <a:srgbClr val="E86C2E"/>
      </a:accent2>
      <a:accent3>
        <a:srgbClr val="DAB250"/>
      </a:accent3>
      <a:accent4>
        <a:srgbClr val="60C4AA"/>
      </a:accent4>
      <a:accent5>
        <a:srgbClr val="51A9DB"/>
      </a:accent5>
      <a:accent6>
        <a:srgbClr val="976AC9"/>
      </a:accent6>
      <a:hlink>
        <a:srgbClr val="D5445E"/>
      </a:hlink>
      <a:folHlink>
        <a:srgbClr val="E17C8E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6B2E858E-683F-40D9-B4CB-284D097F3AC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1122</TotalTime>
  <Words>3020</Words>
  <Application>Microsoft Office PowerPoint</Application>
  <PresentationFormat>Widescreen</PresentationFormat>
  <Paragraphs>300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Algerian</vt:lpstr>
      <vt:lpstr>Arial</vt:lpstr>
      <vt:lpstr>Bookman Old Style</vt:lpstr>
      <vt:lpstr>Calibri</vt:lpstr>
      <vt:lpstr>Cambria Math</vt:lpstr>
      <vt:lpstr>Century Schoolbook</vt:lpstr>
      <vt:lpstr>Rockwell</vt:lpstr>
      <vt:lpstr>Wingdings</vt:lpstr>
      <vt:lpstr>Damask</vt:lpstr>
      <vt:lpstr>02. Motions </vt:lpstr>
      <vt:lpstr>Introduction : -</vt:lpstr>
      <vt:lpstr>Types of motion : -</vt:lpstr>
      <vt:lpstr>2.1] linear motion : -</vt:lpstr>
      <vt:lpstr> Basic teams of linear motion : -</vt:lpstr>
      <vt:lpstr>2. Displacement : -</vt:lpstr>
      <vt:lpstr>3. Velocity : -</vt:lpstr>
      <vt:lpstr>4. Acceleration : -</vt:lpstr>
      <vt:lpstr>5. Retardation : -</vt:lpstr>
      <vt:lpstr>Equations of uniformly acceleration motion : -</vt:lpstr>
      <vt:lpstr>Acceleration due to gravity : -</vt:lpstr>
      <vt:lpstr>Equations of motions under gravity : -</vt:lpstr>
      <vt:lpstr>Numerical example : -</vt:lpstr>
      <vt:lpstr>2.2] Periodic motions : -</vt:lpstr>
      <vt:lpstr>1. Oscillatory motion : -</vt:lpstr>
      <vt:lpstr>2. Vibratory motion : -</vt:lpstr>
      <vt:lpstr>3. Simple harmonic motion (s.h.m.) : -</vt:lpstr>
      <vt:lpstr>4. Circular motion : -</vt:lpstr>
      <vt:lpstr>Terms Related to Simple Harmonic Motion (S.H.M.) : -</vt:lpstr>
      <vt:lpstr>2.3] angular motion : -</vt:lpstr>
      <vt:lpstr>Uniform circular motion : -</vt:lpstr>
      <vt:lpstr>Radius vector : -</vt:lpstr>
      <vt:lpstr>Linear velocity : -</vt:lpstr>
      <vt:lpstr>Angular velocity : -</vt:lpstr>
      <vt:lpstr>Angular acceleration : -</vt:lpstr>
      <vt:lpstr>Relation between linear &amp; angular velocity : -</vt:lpstr>
      <vt:lpstr>Radical or centripetal acceleration : -</vt:lpstr>
      <vt:lpstr>Three equations of motion : -</vt:lpstr>
      <vt:lpstr>Centripetal &amp; centrifugal forces : -</vt:lpstr>
      <vt:lpstr>PowerPoint Presentation</vt:lpstr>
      <vt:lpstr>PowerPoint Presentation</vt:lpstr>
      <vt:lpstr>PowerPoint Presentation</vt:lpstr>
      <vt:lpstr>2.4] laws of motion : -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2.5] ancient theory of gravitation : -</vt:lpstr>
      <vt:lpstr>PowerPoint Presentation</vt:lpstr>
      <vt:lpstr>Newton’s laws of motion : -</vt:lpstr>
      <vt:lpstr>Numerical example :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Darpan Shedge</dc:creator>
  <cp:lastModifiedBy>Darpan Shedge</cp:lastModifiedBy>
  <cp:revision>5</cp:revision>
  <dcterms:created xsi:type="dcterms:W3CDTF">2025-11-01T12:13:55Z</dcterms:created>
  <dcterms:modified xsi:type="dcterms:W3CDTF">2025-11-03T05:55:01Z</dcterms:modified>
</cp:coreProperties>
</file>