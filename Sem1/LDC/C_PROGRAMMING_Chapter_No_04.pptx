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pan Shedge" userId="22a150230ee0bb78" providerId="LiveId" clId="{D0B83722-EE95-4F0C-97AC-6D0BF809942E}"/>
    <pc:docChg chg="modSld">
      <pc:chgData name="Darpan Shedge" userId="22a150230ee0bb78" providerId="LiveId" clId="{D0B83722-EE95-4F0C-97AC-6D0BF809942E}" dt="2025-11-04T07:02:05.455" v="1" actId="20577"/>
      <pc:docMkLst>
        <pc:docMk/>
      </pc:docMkLst>
      <pc:sldChg chg="modSp mod">
        <pc:chgData name="Darpan Shedge" userId="22a150230ee0bb78" providerId="LiveId" clId="{D0B83722-EE95-4F0C-97AC-6D0BF809942E}" dt="2025-11-04T07:02:05.455" v="1" actId="20577"/>
        <pc:sldMkLst>
          <pc:docMk/>
          <pc:sldMk cId="9398139" sldId="269"/>
        </pc:sldMkLst>
        <pc:spChg chg="mod">
          <ac:chgData name="Darpan Shedge" userId="22a150230ee0bb78" providerId="LiveId" clId="{D0B83722-EE95-4F0C-97AC-6D0BF809942E}" dt="2025-11-04T07:02:05.455" v="1" actId="20577"/>
          <ac:spMkLst>
            <pc:docMk/>
            <pc:sldMk cId="9398139" sldId="269"/>
            <ac:spMk id="3" creationId="{4609D396-0D12-5BB8-20A9-C6173BEC2FA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4AAB-D8F9-6809-5FC0-0B169D1B8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711" y="1469923"/>
            <a:ext cx="10078577" cy="3097161"/>
          </a:xfrm>
        </p:spPr>
        <p:txBody>
          <a:bodyPr>
            <a:normAutofit/>
          </a:bodyPr>
          <a:lstStyle/>
          <a:p>
            <a:pPr algn="ctr"/>
            <a:r>
              <a:rPr lang="en-US" sz="8800" dirty="0">
                <a:solidFill>
                  <a:srgbClr val="FFFF00"/>
                </a:solidFill>
                <a:latin typeface="Algerian" panose="04020705040A02060702" pitchFamily="82" charset="0"/>
              </a:rPr>
              <a:t>04. Arrays &amp; strings </a:t>
            </a:r>
            <a:endParaRPr lang="en-IN" sz="8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C44DC-BC0D-89F3-8F08-42EFBD8C0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4708" y="6666271"/>
            <a:ext cx="7197726" cy="191729"/>
          </a:xfrm>
        </p:spPr>
        <p:txBody>
          <a:bodyPr>
            <a:normAutofit fontScale="40000" lnSpcReduction="2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871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1D1E2-9A49-3BE8-F755-C52578B3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7651"/>
            <a:ext cx="10131427" cy="1066800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Introduction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11CE0-C972-ABBD-B5E4-46944033B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920" y="742336"/>
            <a:ext cx="11860160" cy="307258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What is an Array 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An array is a collection of elements of the same data type, stored in contiguous memory locations.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Each element of an array can be accessed using an index.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</a:t>
            </a:r>
            <a:r>
              <a:rPr lang="en-US" b="1" dirty="0">
                <a:latin typeface="Century Schoolbook" panose="02040604050505020304" pitchFamily="18" charset="0"/>
              </a:rPr>
              <a:t> </a:t>
            </a:r>
            <a:r>
              <a:rPr lang="en-US" sz="2400" b="1" dirty="0">
                <a:latin typeface="Century Schoolbook" panose="02040604050505020304" pitchFamily="18" charset="0"/>
              </a:rPr>
              <a:t>int a[5]; → an array of 5 integers.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882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DA5C1-B2D6-6B46-D545-2FD4B2A80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879"/>
            <a:ext cx="12192000" cy="1066800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4.1]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one-dimensional array (1d array)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87FA3-0B0E-FC54-57FE-5E6F13E4E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" y="462281"/>
            <a:ext cx="11795760" cy="445007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 1D array is a list or a linear collection of elements of the same type.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Declaration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data_type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400" b="1" dirty="0" err="1">
                <a:latin typeface="Century Schoolbook" panose="02040604050505020304" pitchFamily="18" charset="0"/>
              </a:rPr>
              <a:t>array_name</a:t>
            </a:r>
            <a:r>
              <a:rPr lang="en-US" sz="2400" b="1" dirty="0">
                <a:latin typeface="Century Schoolbook" panose="02040604050505020304" pitchFamily="18" charset="0"/>
              </a:rPr>
              <a:t>[size];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Example: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marks[5];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This creates an integer array marks of 5 elements :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marks[0], marks[1], marks[2], marks[3], marks[4]</a:t>
            </a:r>
          </a:p>
        </p:txBody>
      </p:sp>
    </p:spTree>
    <p:extLst>
      <p:ext uri="{BB962C8B-B14F-4D97-AF65-F5344CB8AC3E}">
        <p14:creationId xmlns:p14="http://schemas.microsoft.com/office/powerpoint/2010/main" val="3080823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C0F8C-1A64-0E66-ACF0-E00C5124C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" y="-132079"/>
            <a:ext cx="12192000" cy="983226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Two-dimensional array (2d array)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BC1CF-DED2-19B4-8253-D6CA63E3B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8440" y="721361"/>
            <a:ext cx="11140440" cy="456184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 2D array is an array of arrays — often used to represent tables or matrices.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Declaration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data_type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400" b="1" dirty="0" err="1">
                <a:latin typeface="Century Schoolbook" panose="02040604050505020304" pitchFamily="18" charset="0"/>
              </a:rPr>
              <a:t>array_name</a:t>
            </a:r>
            <a:r>
              <a:rPr lang="en-US" sz="2400" b="1" dirty="0">
                <a:latin typeface="Century Schoolbook" panose="02040604050505020304" pitchFamily="18" charset="0"/>
              </a:rPr>
              <a:t>[rows][columns];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matrix[3][3];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This creates a 3×3 matrix with 9 elements.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657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738B2-0A4D-AFAA-BBE0-092E006C5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3359"/>
            <a:ext cx="12192000" cy="1137920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3.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Multidimensional array (3d or more)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39035-F30B-E4B8-8D0F-AFAF670E6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640" y="782321"/>
            <a:ext cx="11673840" cy="480568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 multidimensional array is an array having two or more dimensions.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Commonly used example → 3D array, which can represent a cube of elements (like 3D graphics or data grids).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Declaration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data_type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400" b="1" dirty="0" err="1">
                <a:latin typeface="Century Schoolbook" panose="02040604050505020304" pitchFamily="18" charset="0"/>
              </a:rPr>
              <a:t>array_name</a:t>
            </a:r>
            <a:r>
              <a:rPr lang="en-US" sz="2400" b="1" dirty="0">
                <a:latin typeface="Century Schoolbook" panose="02040604050505020304" pitchFamily="18" charset="0"/>
              </a:rPr>
              <a:t>[size1][size2][size3];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int cube[2][2][3];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It represents 2 blocks, each having 2 rows and 3 columns.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754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9AD2A-BB85-FE79-A3AF-F069C9E0F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60" y="-152399"/>
            <a:ext cx="10131427" cy="10668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4.2]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array declaration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EF5F1-5065-E0B3-D9A0-6294F7B8A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960" y="548641"/>
            <a:ext cx="11567160" cy="493776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Array declaration means defining an array name, its data type, and size (number of elements it can hold).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tells the compiler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What type of data will be stored (int, float, char,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How many elements it will contain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General Syntax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data_type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400" b="1" dirty="0" err="1">
                <a:latin typeface="Century Schoolbook" panose="02040604050505020304" pitchFamily="18" charset="0"/>
              </a:rPr>
              <a:t>array_name</a:t>
            </a:r>
            <a:r>
              <a:rPr lang="en-US" sz="2400" b="1" dirty="0">
                <a:latin typeface="Century Schoolbook" panose="02040604050505020304" pitchFamily="18" charset="0"/>
              </a:rPr>
              <a:t>[size];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276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319B9-94DD-10BA-B068-5FFC622D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41" y="-162559"/>
            <a:ext cx="10131427" cy="106680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Important rules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9E884-A1AD-0C70-0FC5-9836D1620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9081" y="772161"/>
            <a:ext cx="11673838" cy="368808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size of an array must be a positive integer constant.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✅ int num[10];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❌ int num[x]; (if x is not constant)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Array index always starts from 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For int a[5]; → valid indexes are 0 to 4.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array size cannot be changed during program execution.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Arrays must be declared before use in the program.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594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CE9B-A260-3D75-AE0B-E8DFAD323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1" y="-203199"/>
            <a:ext cx="10131427" cy="114808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4.3]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array initialization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2701E-2FDD-F935-E3FA-10938AECC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8441" y="487680"/>
            <a:ext cx="11526520" cy="433832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Array initialization means assigning values to array elements at the time of declaration.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This helps you store data directly without using input statements like </a:t>
            </a:r>
            <a:r>
              <a:rPr lang="en-US" sz="2400" b="1" dirty="0" err="1">
                <a:latin typeface="Century Schoolbook" panose="02040604050505020304" pitchFamily="18" charset="0"/>
              </a:rPr>
              <a:t>scanf</a:t>
            </a:r>
            <a:r>
              <a:rPr lang="en-US" sz="2400" b="1" dirty="0">
                <a:latin typeface="Century Schoolbook" panose="02040604050505020304" pitchFamily="18" charset="0"/>
              </a:rPr>
              <a:t>().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General Syntax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data_type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400" b="1" dirty="0" err="1">
                <a:latin typeface="Century Schoolbook" panose="02040604050505020304" pitchFamily="18" charset="0"/>
              </a:rPr>
              <a:t>array_name</a:t>
            </a:r>
            <a:r>
              <a:rPr lang="en-US" sz="2400" b="1" dirty="0">
                <a:latin typeface="Century Schoolbook" panose="02040604050505020304" pitchFamily="18" charset="0"/>
              </a:rPr>
              <a:t>[size] = {value1, value2, value3, ...};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3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FD7F5-86ED-3BF6-1DBC-C76DF54C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3039"/>
            <a:ext cx="12283441" cy="1066800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4.4]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calculating the length of an array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32268-E24C-016A-2700-15FF0B6A6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241" y="670560"/>
            <a:ext cx="11511280" cy="592327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length of an array means the total number of elements stored in it.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C, arrays do not have a built-in length property, so we calculate it manually using the </a:t>
            </a:r>
            <a:r>
              <a:rPr lang="en-US" sz="2400" b="1" dirty="0" err="1">
                <a:latin typeface="Century Schoolbook" panose="02040604050505020304" pitchFamily="18" charset="0"/>
              </a:rPr>
              <a:t>sizeof</a:t>
            </a:r>
            <a:r>
              <a:rPr lang="en-US" sz="2400" b="1" dirty="0">
                <a:latin typeface="Century Schoolbook" panose="02040604050505020304" pitchFamily="18" charset="0"/>
              </a:rPr>
              <a:t> operator.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Formula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length = </a:t>
            </a:r>
            <a:r>
              <a:rPr lang="en-US" sz="2400" b="1" dirty="0" err="1">
                <a:latin typeface="Century Schoolbook" panose="02040604050505020304" pitchFamily="18" charset="0"/>
              </a:rPr>
              <a:t>sizeof</a:t>
            </a:r>
            <a:r>
              <a:rPr lang="en-US" sz="2400" b="1" dirty="0">
                <a:latin typeface="Century Schoolbook" panose="02040604050505020304" pitchFamily="18" charset="0"/>
              </a:rPr>
              <a:t>(</a:t>
            </a:r>
            <a:r>
              <a:rPr lang="en-US" sz="2400" b="1" dirty="0" err="1">
                <a:latin typeface="Century Schoolbook" panose="02040604050505020304" pitchFamily="18" charset="0"/>
              </a:rPr>
              <a:t>array_name</a:t>
            </a:r>
            <a:r>
              <a:rPr lang="en-US" sz="2400" b="1" dirty="0">
                <a:latin typeface="Century Schoolbook" panose="02040604050505020304" pitchFamily="18" charset="0"/>
              </a:rPr>
              <a:t>) / </a:t>
            </a:r>
            <a:r>
              <a:rPr lang="en-US" sz="2400" b="1" dirty="0" err="1">
                <a:latin typeface="Century Schoolbook" panose="02040604050505020304" pitchFamily="18" charset="0"/>
              </a:rPr>
              <a:t>sizeof</a:t>
            </a:r>
            <a:r>
              <a:rPr lang="en-US" sz="2400" b="1" dirty="0">
                <a:latin typeface="Century Schoolbook" panose="02040604050505020304" pitchFamily="18" charset="0"/>
              </a:rPr>
              <a:t>(</a:t>
            </a:r>
            <a:r>
              <a:rPr lang="en-US" sz="2400" b="1" dirty="0" err="1">
                <a:latin typeface="Century Schoolbook" panose="02040604050505020304" pitchFamily="18" charset="0"/>
              </a:rPr>
              <a:t>array_name</a:t>
            </a:r>
            <a:r>
              <a:rPr lang="en-US" sz="2400" b="1" dirty="0">
                <a:latin typeface="Century Schoolbook" panose="02040604050505020304" pitchFamily="18" charset="0"/>
              </a:rPr>
              <a:t>[0]);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Explanation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sizeof</a:t>
            </a:r>
            <a:r>
              <a:rPr lang="en-US" sz="2400" b="1" dirty="0">
                <a:latin typeface="Century Schoolbook" panose="02040604050505020304" pitchFamily="18" charset="0"/>
              </a:rPr>
              <a:t>(</a:t>
            </a:r>
            <a:r>
              <a:rPr lang="en-US" sz="2400" b="1" dirty="0" err="1">
                <a:latin typeface="Century Schoolbook" panose="02040604050505020304" pitchFamily="18" charset="0"/>
              </a:rPr>
              <a:t>array_name</a:t>
            </a:r>
            <a:r>
              <a:rPr lang="en-US" sz="2400" b="1" dirty="0">
                <a:latin typeface="Century Schoolbook" panose="02040604050505020304" pitchFamily="18" charset="0"/>
              </a:rPr>
              <a:t>) → gives total memory (in bytes) used by the array.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sizeof</a:t>
            </a:r>
            <a:r>
              <a:rPr lang="en-US" sz="2400" b="1" dirty="0">
                <a:latin typeface="Century Schoolbook" panose="02040604050505020304" pitchFamily="18" charset="0"/>
              </a:rPr>
              <a:t>(</a:t>
            </a:r>
            <a:r>
              <a:rPr lang="en-US" sz="2400" b="1" dirty="0" err="1">
                <a:latin typeface="Century Schoolbook" panose="02040604050505020304" pitchFamily="18" charset="0"/>
              </a:rPr>
              <a:t>array_name</a:t>
            </a:r>
            <a:r>
              <a:rPr lang="en-US" sz="2400" b="1" dirty="0">
                <a:latin typeface="Century Schoolbook" panose="02040604050505020304" pitchFamily="18" charset="0"/>
              </a:rPr>
              <a:t>[0]) → gives memory size of one element.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Dividing both gives the number of elements.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228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0EB0D-2E62-B1AF-6A47-25EF9C81A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-142239"/>
            <a:ext cx="11704320" cy="1066800"/>
          </a:xfrm>
        </p:spPr>
        <p:txBody>
          <a:bodyPr/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4.5]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Operations on Arrays in C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44187-52EE-656C-26F0-7DBA86330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560" y="1158240"/>
            <a:ext cx="11704320" cy="544576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Traversal (Accessing Elements)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400" b="1" dirty="0">
                <a:latin typeface="Century Schoolbook" panose="02040604050505020304" pitchFamily="18" charset="0"/>
              </a:rPr>
              <a:t>Visiting each element of an array one by one to display or process it.</a:t>
            </a:r>
          </a:p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Insertion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US" sz="2400" b="1" dirty="0">
                <a:latin typeface="Century Schoolbook" panose="02040604050505020304" pitchFamily="18" charset="0"/>
              </a:rPr>
              <a:t> Adding a new element into the array at a specific position.</a:t>
            </a:r>
          </a:p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Deletion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400" b="1" dirty="0">
                <a:latin typeface="Century Schoolbook" panose="02040604050505020304" pitchFamily="18" charset="0"/>
              </a:rPr>
              <a:t>Removing an element from a specific position in the array.</a:t>
            </a:r>
          </a:p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4.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Searching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400" b="1" dirty="0">
                <a:latin typeface="Century Schoolbook" panose="02040604050505020304" pitchFamily="18" charset="0"/>
              </a:rPr>
              <a:t>Finding the position of a specific element in the array.</a:t>
            </a:r>
          </a:p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5.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Searching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400" b="1" dirty="0">
                <a:latin typeface="Century Schoolbook" panose="02040604050505020304" pitchFamily="18" charset="0"/>
              </a:rPr>
              <a:t>Finding the position of a specific element in the array.</a:t>
            </a:r>
          </a:p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6.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Sorting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400" b="1" dirty="0">
                <a:latin typeface="Century Schoolbook" panose="02040604050505020304" pitchFamily="18" charset="0"/>
              </a:rPr>
              <a:t>Arranging array elements in ascending or descending order.</a:t>
            </a:r>
          </a:p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7.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Merging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400" b="1" dirty="0">
                <a:latin typeface="Century Schoolbook" panose="02040604050505020304" pitchFamily="18" charset="0"/>
              </a:rPr>
              <a:t>Combining two arrays into one.</a:t>
            </a:r>
          </a:p>
          <a:p>
            <a:endParaRPr lang="en-US" sz="2400" b="1" dirty="0">
              <a:latin typeface="Century Schoolbook" panose="02040604050505020304" pitchFamily="18" charset="0"/>
            </a:endParaRP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998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92197-4649-4BB9-634D-F0332C8B2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1" y="-223519"/>
            <a:ext cx="10131427" cy="115824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4.6]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string input &amp; output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7F2E9-1E35-A79B-D5F8-9DFC882A4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240" y="731521"/>
            <a:ext cx="11653519" cy="395224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What is a String?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string in C is a collection of characters terminated by a null character ('\0').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"Hello" is stored as → {'H', 'e', 'l', 'l', 'o', '\0'}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Strings are declared as character arrays :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char name[20];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141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18159-871D-D33B-5F80-1C4E31CDE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" y="-111759"/>
            <a:ext cx="10131427" cy="9652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4.7]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string operation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55B38-A55D-F1FE-7093-044F282CF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" y="782321"/>
            <a:ext cx="11465560" cy="312928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What is a String Operation?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String operations are functions or processes that allow us to manipulate and handle strings easily — like copying, comparing, joining, finding length, etc.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C provides many built-in string handling functions in the header file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#include &lt;</a:t>
            </a:r>
            <a:r>
              <a:rPr lang="en-US" sz="2800" b="1" dirty="0" err="1">
                <a:solidFill>
                  <a:srgbClr val="FFFF00"/>
                </a:solidFill>
                <a:latin typeface="Century Schoolbook" panose="02040604050505020304" pitchFamily="18" charset="0"/>
              </a:rPr>
              <a:t>string.h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&gt;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773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CB71B-E9C0-0120-D474-523FBAF5C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61" y="-152399"/>
            <a:ext cx="10131427" cy="10668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4.8]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array of string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1945B-CDBC-F35F-AF0C-0999456A1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961" y="731521"/>
            <a:ext cx="11424919" cy="49276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An array of strings is a collection of multiple strings, stored together in a 2-dimensional character array.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Each row represents one string, and each column stores the characters of that string.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char </a:t>
            </a:r>
            <a:r>
              <a:rPr lang="en-US" sz="2400" b="1" dirty="0" err="1">
                <a:latin typeface="Century Schoolbook" panose="02040604050505020304" pitchFamily="18" charset="0"/>
              </a:rPr>
              <a:t>array_name</a:t>
            </a:r>
            <a:r>
              <a:rPr lang="en-US" sz="2400" b="1" dirty="0">
                <a:latin typeface="Century Schoolbook" panose="02040604050505020304" pitchFamily="18" charset="0"/>
              </a:rPr>
              <a:t>[rows][columns];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rows → number of strings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columns → maximum length of each string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227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83166-BC09-B58D-E9B6-13DE3CBF5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81" y="-264159"/>
            <a:ext cx="10131427" cy="120904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9D396-0D12-5BB8-20A9-C6173BEC2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80" y="762001"/>
            <a:ext cx="11191240" cy="4886959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entury Schoolbook" panose="02040604050505020304" pitchFamily="18" charset="0"/>
              </a:rPr>
              <a:t>char names[3][20] =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</a:t>
            </a:r>
            <a:r>
              <a:rPr lang="en-US" sz="2400" b="1">
                <a:latin typeface="Century Schoolbook" panose="02040604050505020304" pitchFamily="18" charset="0"/>
              </a:rPr>
              <a:t>"Bhumi",</a:t>
            </a:r>
            <a:endParaRPr lang="en-US" sz="2400" b="1" dirty="0">
              <a:latin typeface="Century Schoolbook" panose="02040604050505020304" pitchFamily="18" charset="0"/>
            </a:endParaRPr>
          </a:p>
          <a:p>
            <a:r>
              <a:rPr lang="en-US" sz="2400" b="1" dirty="0">
                <a:latin typeface="Century Schoolbook" panose="02040604050505020304" pitchFamily="18" charset="0"/>
              </a:rPr>
              <a:t>    "Sneha",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"Riya"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Explanation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Names is a 2D array.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It can store 3 strings, each up to 19 characters + '\0' (null terminator).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81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351</TotalTime>
  <Words>984</Words>
  <Application>Microsoft Office PowerPoint</Application>
  <PresentationFormat>Widescreen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Algerian</vt:lpstr>
      <vt:lpstr>Arial</vt:lpstr>
      <vt:lpstr>Calibri</vt:lpstr>
      <vt:lpstr>Calibri Light</vt:lpstr>
      <vt:lpstr>Century Schoolbook</vt:lpstr>
      <vt:lpstr>Wingdings</vt:lpstr>
      <vt:lpstr>Celestial</vt:lpstr>
      <vt:lpstr>04. Arrays &amp; strings </vt:lpstr>
      <vt:lpstr>Introduction : -</vt:lpstr>
      <vt:lpstr>4.1] one-dimensional array (1d array) : -</vt:lpstr>
      <vt:lpstr>2. Two-dimensional array (2d array) : -</vt:lpstr>
      <vt:lpstr>3. Multidimensional array (3d or more) : -</vt:lpstr>
      <vt:lpstr>4.2] array declaration : -</vt:lpstr>
      <vt:lpstr>Important rules : -</vt:lpstr>
      <vt:lpstr>4.3] array initialization : -</vt:lpstr>
      <vt:lpstr>4.4] calculating the length of an array : </vt:lpstr>
      <vt:lpstr>4.5] Operations on Arrays in C : -</vt:lpstr>
      <vt:lpstr>4.6] string input &amp; output : -</vt:lpstr>
      <vt:lpstr>4.7] string operation : -</vt:lpstr>
      <vt:lpstr>4.8] array of string : -</vt:lpstr>
      <vt:lpstr>Example :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2</cp:revision>
  <dcterms:created xsi:type="dcterms:W3CDTF">2025-11-03T19:19:45Z</dcterms:created>
  <dcterms:modified xsi:type="dcterms:W3CDTF">2025-11-04T07:02:09Z</dcterms:modified>
</cp:coreProperties>
</file>