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57" r:id="rId4"/>
    <p:sldId id="259" r:id="rId5"/>
    <p:sldId id="258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501421-1F38-4F5C-B56F-E357D210DCCB}" v="7" dt="2025-11-03T11:21:04.6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CCCF8ED1-F03D-481F-9C65-10388CE5364B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350ED4D3-1282-48BD-B7F3-9A12E4952E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33588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F8ED1-F03D-481F-9C65-10388CE5364B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ED4D3-1282-48BD-B7F3-9A12E4952E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4662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F8ED1-F03D-481F-9C65-10388CE5364B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ED4D3-1282-48BD-B7F3-9A12E4952E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0544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F8ED1-F03D-481F-9C65-10388CE5364B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ED4D3-1282-48BD-B7F3-9A12E4952E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3279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F8ED1-F03D-481F-9C65-10388CE5364B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ED4D3-1282-48BD-B7F3-9A12E4952E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9229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F8ED1-F03D-481F-9C65-10388CE5364B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ED4D3-1282-48BD-B7F3-9A12E4952E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4732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F8ED1-F03D-481F-9C65-10388CE5364B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ED4D3-1282-48BD-B7F3-9A12E4952E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7467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F8ED1-F03D-481F-9C65-10388CE5364B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ED4D3-1282-48BD-B7F3-9A12E4952E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3275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F8ED1-F03D-481F-9C65-10388CE5364B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ED4D3-1282-48BD-B7F3-9A12E4952E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129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F8ED1-F03D-481F-9C65-10388CE5364B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ED4D3-1282-48BD-B7F3-9A12E4952E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4061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F8ED1-F03D-481F-9C65-10388CE5364B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ED4D3-1282-48BD-B7F3-9A12E4952E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21918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F8ED1-F03D-481F-9C65-10388CE5364B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ED4D3-1282-48BD-B7F3-9A12E4952E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3007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F8ED1-F03D-481F-9C65-10388CE5364B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ED4D3-1282-48BD-B7F3-9A12E4952E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25820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F8ED1-F03D-481F-9C65-10388CE5364B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ED4D3-1282-48BD-B7F3-9A12E4952E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11070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F8ED1-F03D-481F-9C65-10388CE5364B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ED4D3-1282-48BD-B7F3-9A12E4952E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15356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F8ED1-F03D-481F-9C65-10388CE5364B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ED4D3-1282-48BD-B7F3-9A12E4952ED2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8170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F8ED1-F03D-481F-9C65-10388CE5364B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ED4D3-1282-48BD-B7F3-9A12E4952E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286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CCF8ED1-F03D-481F-9C65-10388CE5364B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50ED4D3-1282-48BD-B7F3-9A12E4952E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46512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DCF85-3AE2-A3A4-DA73-09B26FD5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3496" y="1620139"/>
            <a:ext cx="8947355" cy="2421464"/>
          </a:xfrm>
        </p:spPr>
        <p:txBody>
          <a:bodyPr>
            <a:normAutofit/>
          </a:bodyPr>
          <a:lstStyle/>
          <a:p>
            <a:pPr algn="ctr"/>
            <a:r>
              <a:rPr lang="en-US" sz="9600" dirty="0">
                <a:solidFill>
                  <a:srgbClr val="FFFF00"/>
                </a:solidFill>
                <a:latin typeface="Algerian" panose="04020705040A02060702" pitchFamily="82" charset="0"/>
              </a:rPr>
              <a:t>05. </a:t>
            </a:r>
            <a:r>
              <a:rPr lang="en-US" sz="9600" u="sng" dirty="0">
                <a:solidFill>
                  <a:srgbClr val="FFFF00"/>
                </a:solidFill>
                <a:latin typeface="Algerian" panose="04020705040A02060702" pitchFamily="82" charset="0"/>
              </a:rPr>
              <a:t>Functions </a:t>
            </a:r>
            <a:endParaRPr lang="en-IN" sz="9600" u="sng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0694A3-732B-540F-C2C6-B59D7AC69D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9482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94C78-1A13-11E2-CF49-189DE80A0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146" y="-167148"/>
            <a:ext cx="12115799" cy="1066800"/>
          </a:xfrm>
        </p:spPr>
        <p:txBody>
          <a:bodyPr>
            <a:normAutofit/>
          </a:bodyPr>
          <a:lstStyle/>
          <a:p>
            <a:pPr marL="685800" indent="-685800">
              <a:buFont typeface="Wingdings" panose="05000000000000000000" pitchFamily="2" charset="2"/>
              <a:buChar char="v"/>
            </a:pP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Introduction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359AC2-2762-0229-5E16-3A8B1A66EE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347" y="747252"/>
            <a:ext cx="11670891" cy="6179574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>
                <a:latin typeface="Century Schoolbook" panose="02040604050505020304" pitchFamily="18" charset="0"/>
              </a:rPr>
              <a:t>In C programming, library functions are built-in or predefined functions that are already written and provided by the C compiler as part of the standard library.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>
                <a:latin typeface="Century Schoolbook" panose="02040604050505020304" pitchFamily="18" charset="0"/>
              </a:rPr>
              <a:t>These functions help programmers perform common tasks such as input/output, mathematical calculations, string operations, memory management, etc., without having to write the code for these tasks from scratch.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>
                <a:latin typeface="Century Schoolbook" panose="02040604050505020304" pitchFamily="18" charset="0"/>
              </a:rPr>
              <a:t>Each library function has a specific purpose and is defined in a header file (like </a:t>
            </a:r>
            <a:r>
              <a:rPr lang="en-US" b="1" dirty="0" err="1">
                <a:latin typeface="Century Schoolbook" panose="02040604050505020304" pitchFamily="18" charset="0"/>
              </a:rPr>
              <a:t>stdio.h</a:t>
            </a:r>
            <a:r>
              <a:rPr lang="en-US" b="1" dirty="0">
                <a:latin typeface="Century Schoolbook" panose="02040604050505020304" pitchFamily="18" charset="0"/>
              </a:rPr>
              <a:t>, </a:t>
            </a:r>
            <a:r>
              <a:rPr lang="en-US" b="1" dirty="0" err="1">
                <a:latin typeface="Century Schoolbook" panose="02040604050505020304" pitchFamily="18" charset="0"/>
              </a:rPr>
              <a:t>math.h</a:t>
            </a:r>
            <a:r>
              <a:rPr lang="en-US" b="1" dirty="0">
                <a:latin typeface="Century Schoolbook" panose="02040604050505020304" pitchFamily="18" charset="0"/>
              </a:rPr>
              <a:t>, </a:t>
            </a:r>
            <a:r>
              <a:rPr lang="en-US" b="1" dirty="0" err="1">
                <a:latin typeface="Century Schoolbook" panose="02040604050505020304" pitchFamily="18" charset="0"/>
              </a:rPr>
              <a:t>string.h</a:t>
            </a:r>
            <a:r>
              <a:rPr lang="en-US" b="1" dirty="0">
                <a:latin typeface="Century Schoolbook" panose="02040604050505020304" pitchFamily="18" charset="0"/>
              </a:rPr>
              <a:t>, etc.), which must be included in the program using the #include directive before using the function.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#include &lt;</a:t>
            </a:r>
            <a:r>
              <a:rPr lang="en-US" b="1" dirty="0" err="1">
                <a:latin typeface="Century Schoolbook" panose="02040604050505020304" pitchFamily="18" charset="0"/>
              </a:rPr>
              <a:t>stdio.h</a:t>
            </a:r>
            <a:r>
              <a:rPr lang="en-US" b="1" dirty="0">
                <a:latin typeface="Century Schoolbook" panose="02040604050505020304" pitchFamily="18" charset="0"/>
              </a:rPr>
              <a:t>&gt;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int main() {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 </a:t>
            </a:r>
            <a:r>
              <a:rPr lang="en-US" b="1" dirty="0" err="1">
                <a:latin typeface="Century Schoolbook" panose="02040604050505020304" pitchFamily="18" charset="0"/>
              </a:rPr>
              <a:t>printf</a:t>
            </a:r>
            <a:r>
              <a:rPr lang="en-US" b="1" dirty="0">
                <a:latin typeface="Century Schoolbook" panose="02040604050505020304" pitchFamily="18" charset="0"/>
              </a:rPr>
              <a:t>("Hello, World!");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 return 0;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}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Century Schoolbook" panose="02040604050505020304" pitchFamily="18" charset="0"/>
              </a:rPr>
              <a:t>Here, </a:t>
            </a:r>
            <a:r>
              <a:rPr lang="en-US" b="1" dirty="0" err="1">
                <a:latin typeface="Century Schoolbook" panose="02040604050505020304" pitchFamily="18" charset="0"/>
              </a:rPr>
              <a:t>printf</a:t>
            </a:r>
            <a:r>
              <a:rPr lang="en-US" b="1" dirty="0">
                <a:latin typeface="Century Schoolbook" panose="02040604050505020304" pitchFamily="18" charset="0"/>
              </a:rPr>
              <a:t>() is a library function defined in the </a:t>
            </a:r>
            <a:r>
              <a:rPr lang="en-US" b="1" dirty="0" err="1">
                <a:latin typeface="Century Schoolbook" panose="02040604050505020304" pitchFamily="18" charset="0"/>
              </a:rPr>
              <a:t>stdio.h</a:t>
            </a:r>
            <a:r>
              <a:rPr lang="en-US" b="1" dirty="0">
                <a:latin typeface="Century Schoolbook" panose="02040604050505020304" pitchFamily="18" charset="0"/>
              </a:rPr>
              <a:t> header file, used to print text on the screen.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8185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1DDE4-24B3-BD41-EBF3-F611FC43E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30" y="1"/>
            <a:ext cx="11250560" cy="1066800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5.1] concept 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832401-DFF9-7338-DA98-B649D31192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529" y="1147916"/>
            <a:ext cx="11663515" cy="5626510"/>
          </a:xfrm>
        </p:spPr>
        <p:txBody>
          <a:bodyPr/>
          <a:lstStyle/>
          <a:p>
            <a:r>
              <a:rPr lang="en-US" b="1" dirty="0"/>
              <a:t>5.1 Concept of Library Functions (in C Programming)</a:t>
            </a:r>
          </a:p>
          <a:p>
            <a:r>
              <a:rPr lang="en-US" b="1" dirty="0"/>
              <a:t>🔹 Definition:</a:t>
            </a:r>
          </a:p>
          <a:p>
            <a:r>
              <a:rPr lang="en-US" dirty="0"/>
              <a:t>Library functions are </a:t>
            </a:r>
            <a:r>
              <a:rPr lang="en-US" b="1" dirty="0"/>
              <a:t>predefined functions</a:t>
            </a:r>
            <a:r>
              <a:rPr lang="en-US" dirty="0"/>
              <a:t> provided by C’s </a:t>
            </a:r>
            <a:r>
              <a:rPr lang="en-US" b="1" dirty="0"/>
              <a:t>standard library</a:t>
            </a:r>
            <a:r>
              <a:rPr lang="en-US" dirty="0"/>
              <a:t> to perform common tasks such as input/output, mathematical calculations, string manipulation, memory management, etc.</a:t>
            </a:r>
            <a:br>
              <a:rPr lang="en-US" dirty="0"/>
            </a:br>
            <a:r>
              <a:rPr lang="en-US" dirty="0"/>
              <a:t>These functions are </a:t>
            </a:r>
            <a:r>
              <a:rPr lang="en-US" b="1" dirty="0"/>
              <a:t>already written, compiled, and stored</a:t>
            </a:r>
            <a:r>
              <a:rPr lang="en-US" dirty="0"/>
              <a:t> in the C standard library, so programmers don’t need to write the code for these operations from scratch.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🔹 Purpose:</a:t>
            </a:r>
          </a:p>
          <a:p>
            <a:r>
              <a:rPr lang="en-US" dirty="0"/>
              <a:t>Library functions make programming easier and faster by providing </a:t>
            </a:r>
            <a:r>
              <a:rPr lang="en-US" b="1" dirty="0"/>
              <a:t>ready-to-use code</a:t>
            </a:r>
            <a:r>
              <a:rPr lang="en-US" dirty="0"/>
              <a:t> for common operations.</a:t>
            </a:r>
            <a:br>
              <a:rPr lang="en-US" dirty="0"/>
            </a:br>
            <a:r>
              <a:rPr lang="en-US" dirty="0"/>
              <a:t>For example, instead of writing your own code to calculate the square root of a number, you can simply use the function sqrt() from the math library.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4959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4BAC5-2F8B-4AB2-C64D-52B07A9B4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67147"/>
            <a:ext cx="12192000" cy="1066800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Advantages of library functions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FA0B2C-14DE-E1B5-9BDF-338D75D3CD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657" y="695631"/>
            <a:ext cx="11828207" cy="3109453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Saves time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– </a:t>
            </a:r>
            <a:r>
              <a:rPr lang="en-US" sz="2400" b="1" dirty="0">
                <a:latin typeface="Century Schoolbook" panose="02040604050505020304" pitchFamily="18" charset="0"/>
              </a:rPr>
              <a:t>no need to write common code yourself.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Reliable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–</a:t>
            </a:r>
            <a:r>
              <a:rPr lang="en-US" sz="2800" b="1" dirty="0">
                <a:latin typeface="Century Schoolbook" panose="02040604050505020304" pitchFamily="18" charset="0"/>
              </a:rPr>
              <a:t> </a:t>
            </a:r>
            <a:r>
              <a:rPr lang="en-US" sz="2400" b="1" dirty="0">
                <a:latin typeface="Century Schoolbook" panose="02040604050505020304" pitchFamily="18" charset="0"/>
              </a:rPr>
              <a:t>tested and optimized by experts.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Increases code readability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– </a:t>
            </a:r>
            <a:r>
              <a:rPr lang="en-US" sz="2400" b="1" dirty="0">
                <a:latin typeface="Century Schoolbook" panose="02040604050505020304" pitchFamily="18" charset="0"/>
              </a:rPr>
              <a:t>easy to understand what the function does.</a:t>
            </a:r>
            <a:endParaRPr lang="en-US" sz="2800" b="1" dirty="0">
              <a:latin typeface="Century Schoolbook" panose="020406040505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Portable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–</a:t>
            </a:r>
            <a:r>
              <a:rPr lang="en-US" sz="2800" b="1" dirty="0">
                <a:latin typeface="Century Schoolbook" panose="02040604050505020304" pitchFamily="18" charset="0"/>
              </a:rPr>
              <a:t> </a:t>
            </a:r>
            <a:r>
              <a:rPr lang="en-US" sz="2400" b="1" dirty="0">
                <a:latin typeface="Century Schoolbook" panose="02040604050505020304" pitchFamily="18" charset="0"/>
              </a:rPr>
              <a:t>can be used across different compilers and systems.</a:t>
            </a:r>
            <a:endParaRPr lang="en-US" sz="2800" b="1" dirty="0">
              <a:latin typeface="Century Schoolbook" panose="02040604050505020304" pitchFamily="18" charset="0"/>
            </a:endParaRPr>
          </a:p>
          <a:p>
            <a:endParaRPr lang="en-IN" sz="28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9832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64EC0-6EA2-D18E-0B03-FAC64312C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37651"/>
            <a:ext cx="11958483" cy="988141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Example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A15BE3-1275-C913-510C-2CC7A5211B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3517" y="700548"/>
            <a:ext cx="10131428" cy="5456903"/>
          </a:xfrm>
        </p:spPr>
        <p:txBody>
          <a:bodyPr>
            <a:normAutofit/>
          </a:bodyPr>
          <a:lstStyle/>
          <a:p>
            <a:r>
              <a:rPr lang="en-IN" sz="2400" b="1" dirty="0">
                <a:latin typeface="Century Schoolbook" panose="02040604050505020304" pitchFamily="18" charset="0"/>
              </a:rPr>
              <a:t>#include &lt;</a:t>
            </a:r>
            <a:r>
              <a:rPr lang="en-IN" sz="2400" b="1" dirty="0" err="1">
                <a:latin typeface="Century Schoolbook" panose="02040604050505020304" pitchFamily="18" charset="0"/>
              </a:rPr>
              <a:t>stdio.h</a:t>
            </a:r>
            <a:r>
              <a:rPr lang="en-IN" sz="2400" b="1" dirty="0">
                <a:latin typeface="Century Schoolbook" panose="02040604050505020304" pitchFamily="18" charset="0"/>
              </a:rPr>
              <a:t>&gt;</a:t>
            </a:r>
          </a:p>
          <a:p>
            <a:r>
              <a:rPr lang="en-IN" sz="2400" b="1" dirty="0">
                <a:latin typeface="Century Schoolbook" panose="02040604050505020304" pitchFamily="18" charset="0"/>
              </a:rPr>
              <a:t>#include &lt;</a:t>
            </a:r>
            <a:r>
              <a:rPr lang="en-IN" sz="2400" b="1" dirty="0" err="1">
                <a:latin typeface="Century Schoolbook" panose="02040604050505020304" pitchFamily="18" charset="0"/>
              </a:rPr>
              <a:t>math.h</a:t>
            </a:r>
            <a:r>
              <a:rPr lang="en-IN" sz="2400" b="1" dirty="0">
                <a:latin typeface="Century Schoolbook" panose="02040604050505020304" pitchFamily="18" charset="0"/>
              </a:rPr>
              <a:t>&gt;</a:t>
            </a:r>
          </a:p>
          <a:p>
            <a:r>
              <a:rPr lang="en-IN" sz="2400" b="1" dirty="0">
                <a:latin typeface="Century Schoolbook" panose="02040604050505020304" pitchFamily="18" charset="0"/>
              </a:rPr>
              <a:t>int main() {</a:t>
            </a:r>
          </a:p>
          <a:p>
            <a:r>
              <a:rPr lang="en-IN" sz="2400" b="1" dirty="0">
                <a:latin typeface="Century Schoolbook" panose="02040604050505020304" pitchFamily="18" charset="0"/>
              </a:rPr>
              <a:t>    double </a:t>
            </a:r>
            <a:r>
              <a:rPr lang="en-IN" sz="2400" b="1" dirty="0" err="1">
                <a:latin typeface="Century Schoolbook" panose="02040604050505020304" pitchFamily="18" charset="0"/>
              </a:rPr>
              <a:t>num</a:t>
            </a:r>
            <a:r>
              <a:rPr lang="en-IN" sz="2400" b="1" dirty="0">
                <a:latin typeface="Century Schoolbook" panose="02040604050505020304" pitchFamily="18" charset="0"/>
              </a:rPr>
              <a:t> = 16.0;</a:t>
            </a:r>
          </a:p>
          <a:p>
            <a:r>
              <a:rPr lang="en-IN" sz="2400" b="1" dirty="0">
                <a:latin typeface="Century Schoolbook" panose="02040604050505020304" pitchFamily="18" charset="0"/>
              </a:rPr>
              <a:t>    double result = sqrt(</a:t>
            </a:r>
            <a:r>
              <a:rPr lang="en-IN" sz="2400" b="1" dirty="0" err="1">
                <a:latin typeface="Century Schoolbook" panose="02040604050505020304" pitchFamily="18" charset="0"/>
              </a:rPr>
              <a:t>num</a:t>
            </a:r>
            <a:r>
              <a:rPr lang="en-IN" sz="2400" b="1" dirty="0">
                <a:latin typeface="Century Schoolbook" panose="02040604050505020304" pitchFamily="18" charset="0"/>
              </a:rPr>
              <a:t>);  // using library function sqrt()</a:t>
            </a:r>
          </a:p>
          <a:p>
            <a:r>
              <a:rPr lang="en-IN" sz="2400" b="1" dirty="0">
                <a:latin typeface="Century Schoolbook" panose="02040604050505020304" pitchFamily="18" charset="0"/>
              </a:rPr>
              <a:t>    </a:t>
            </a:r>
            <a:r>
              <a:rPr lang="en-IN" sz="2400" b="1" dirty="0" err="1">
                <a:latin typeface="Century Schoolbook" panose="02040604050505020304" pitchFamily="18" charset="0"/>
              </a:rPr>
              <a:t>printf</a:t>
            </a:r>
            <a:r>
              <a:rPr lang="en-IN" sz="2400" b="1" dirty="0">
                <a:latin typeface="Century Schoolbook" panose="02040604050505020304" pitchFamily="18" charset="0"/>
              </a:rPr>
              <a:t>("Square root of %.2f = %.2f", </a:t>
            </a:r>
            <a:r>
              <a:rPr lang="en-IN" sz="2400" b="1" dirty="0" err="1">
                <a:latin typeface="Century Schoolbook" panose="02040604050505020304" pitchFamily="18" charset="0"/>
              </a:rPr>
              <a:t>num</a:t>
            </a:r>
            <a:r>
              <a:rPr lang="en-IN" sz="2400" b="1" dirty="0">
                <a:latin typeface="Century Schoolbook" panose="02040604050505020304" pitchFamily="18" charset="0"/>
              </a:rPr>
              <a:t>, result);</a:t>
            </a:r>
          </a:p>
          <a:p>
            <a:r>
              <a:rPr lang="en-IN" sz="2400" b="1" dirty="0">
                <a:latin typeface="Century Schoolbook" panose="02040604050505020304" pitchFamily="18" charset="0"/>
              </a:rPr>
              <a:t>    return 0;</a:t>
            </a:r>
          </a:p>
          <a:p>
            <a:r>
              <a:rPr lang="en-IN" sz="2400" b="1" dirty="0">
                <a:latin typeface="Century Schoolbook" panose="02040604050505020304" pitchFamily="18" charset="0"/>
              </a:rPr>
              <a:t>}</a:t>
            </a:r>
          </a:p>
          <a:p>
            <a:r>
              <a:rPr lang="en-IN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Output :</a:t>
            </a:r>
          </a:p>
          <a:p>
            <a:r>
              <a:rPr lang="en-IN" sz="2400" b="1" dirty="0">
                <a:latin typeface="Century Schoolbook" panose="02040604050505020304" pitchFamily="18" charset="0"/>
              </a:rPr>
              <a:t>Square root of 16.00 = 4.00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8874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87AD8-F1AB-CF08-621B-6A61D5795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58" y="-176980"/>
            <a:ext cx="11958484" cy="1066800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5.2] </a:t>
            </a: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string functions in c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42A547-3E1E-5E59-3A84-A1952EDC6A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4858" y="673510"/>
            <a:ext cx="11830665" cy="496529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In C programming, string functions are predefined library functions used to perform operations on strings.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These functions are declared in the &lt;</a:t>
            </a:r>
            <a:r>
              <a:rPr lang="en-US" sz="2400" b="1" dirty="0" err="1">
                <a:latin typeface="Century Schoolbook" panose="02040604050505020304" pitchFamily="18" charset="0"/>
              </a:rPr>
              <a:t>string.h</a:t>
            </a:r>
            <a:r>
              <a:rPr lang="en-US" sz="2400" b="1" dirty="0">
                <a:latin typeface="Century Schoolbook" panose="02040604050505020304" pitchFamily="18" charset="0"/>
              </a:rPr>
              <a:t>&gt; header file.</a:t>
            </a:r>
          </a:p>
          <a:p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1. </a:t>
            </a: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String Comparison Function – </a:t>
            </a:r>
            <a:r>
              <a:rPr lang="en-US" sz="3200" b="1" u="sng" dirty="0" err="1">
                <a:solidFill>
                  <a:srgbClr val="FFFF00"/>
                </a:solidFill>
                <a:latin typeface="Century Schoolbook" panose="02040604050505020304" pitchFamily="18" charset="0"/>
              </a:rPr>
              <a:t>strcmp</a:t>
            </a:r>
            <a:r>
              <a:rPr lang="en-US" sz="3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()</a:t>
            </a:r>
            <a:r>
              <a:rPr lang="en-US" sz="3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endParaRPr lang="en-US" sz="3200" b="1" u="sng" dirty="0">
              <a:solidFill>
                <a:srgbClr val="FFFF00"/>
              </a:solidFill>
              <a:latin typeface="Century Schoolbook" panose="020406040505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Purpose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endParaRPr lang="en-US" sz="3600" b="1" dirty="0">
              <a:solidFill>
                <a:srgbClr val="FFFF00"/>
              </a:solidFill>
              <a:latin typeface="Century Schoolbook" panose="020406040505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Used to compare two strings character by character.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Syntax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int </a:t>
            </a:r>
            <a:r>
              <a:rPr lang="en-US" sz="2400" b="1" dirty="0" err="1">
                <a:latin typeface="Century Schoolbook" panose="02040604050505020304" pitchFamily="18" charset="0"/>
              </a:rPr>
              <a:t>strcmp</a:t>
            </a:r>
            <a:r>
              <a:rPr lang="en-US" sz="2400" b="1" dirty="0">
                <a:latin typeface="Century Schoolbook" panose="02040604050505020304" pitchFamily="18" charset="0"/>
              </a:rPr>
              <a:t>(const char *str1, const char *str2);</a:t>
            </a:r>
          </a:p>
          <a:p>
            <a:endParaRPr lang="en-US" sz="2400" b="1" dirty="0">
              <a:latin typeface="Century Schoolbook" panose="02040604050505020304" pitchFamily="18" charset="0"/>
            </a:endParaRP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7CB8C56-97D1-7388-11DB-4A47497B83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9463930"/>
              </p:ext>
            </p:extLst>
          </p:nvPr>
        </p:nvGraphicFramePr>
        <p:xfrm>
          <a:off x="348717" y="4690970"/>
          <a:ext cx="6478803" cy="2061826"/>
        </p:xfrm>
        <a:graphic>
          <a:graphicData uri="http://schemas.openxmlformats.org/drawingml/2006/table">
            <a:tbl>
              <a:tblPr/>
              <a:tblGrid>
                <a:gridCol w="2475763">
                  <a:extLst>
                    <a:ext uri="{9D8B030D-6E8A-4147-A177-3AD203B41FA5}">
                      <a16:colId xmlns:a16="http://schemas.microsoft.com/office/drawing/2014/main" val="1552860961"/>
                    </a:ext>
                  </a:extLst>
                </a:gridCol>
                <a:gridCol w="4003040">
                  <a:extLst>
                    <a:ext uri="{9D8B030D-6E8A-4147-A177-3AD203B41FA5}">
                      <a16:colId xmlns:a16="http://schemas.microsoft.com/office/drawing/2014/main" val="1788183323"/>
                    </a:ext>
                  </a:extLst>
                </a:gridCol>
              </a:tblGrid>
              <a:tr h="5061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Return 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4121128"/>
                  </a:ext>
                </a:extLst>
              </a:tr>
              <a:tr h="5432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Century Schoolbook" panose="02040604050505020304" pitchFamily="18" charset="0"/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Century Schoolbook" panose="02040604050505020304" pitchFamily="18" charset="0"/>
                        </a:rPr>
                        <a:t>Strings are equal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7443877"/>
                  </a:ext>
                </a:extLst>
              </a:tr>
              <a:tr h="5061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Century Schoolbook" panose="02040604050505020304" pitchFamily="18" charset="0"/>
                        </a:rPr>
                        <a:t>&gt; 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Century Schoolbook" panose="02040604050505020304" pitchFamily="18" charset="0"/>
                        </a:rPr>
                        <a:t>First string is greater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3802395"/>
                  </a:ext>
                </a:extLst>
              </a:tr>
              <a:tr h="5061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Century Schoolbook" panose="02040604050505020304" pitchFamily="18" charset="0"/>
                        </a:rPr>
                        <a:t>&lt; 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Century Schoolbook" panose="02040604050505020304" pitchFamily="18" charset="0"/>
                        </a:rPr>
                        <a:t>First string is smaller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32960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7744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55585-3C6C-EDEA-5665-E47B23751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72719"/>
            <a:ext cx="12192000" cy="1066799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Example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42CD8D-B3C6-4C51-3B85-92888C822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2560" y="762001"/>
            <a:ext cx="11521440" cy="6095998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>
                <a:latin typeface="Century Schoolbook" panose="02040604050505020304" pitchFamily="18" charset="0"/>
              </a:rPr>
              <a:t>#include &lt;</a:t>
            </a:r>
            <a:r>
              <a:rPr lang="en-IN" b="1" dirty="0" err="1">
                <a:latin typeface="Century Schoolbook" panose="02040604050505020304" pitchFamily="18" charset="0"/>
              </a:rPr>
              <a:t>stdio.h</a:t>
            </a:r>
            <a:r>
              <a:rPr lang="en-IN" b="1" dirty="0">
                <a:latin typeface="Century Schoolbook" panose="02040604050505020304" pitchFamily="18" charset="0"/>
              </a:rPr>
              <a:t>&gt;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#include &lt;</a:t>
            </a:r>
            <a:r>
              <a:rPr lang="en-IN" b="1" dirty="0" err="1">
                <a:latin typeface="Century Schoolbook" panose="02040604050505020304" pitchFamily="18" charset="0"/>
              </a:rPr>
              <a:t>string.h</a:t>
            </a:r>
            <a:r>
              <a:rPr lang="en-IN" b="1" dirty="0">
                <a:latin typeface="Century Schoolbook" panose="02040604050505020304" pitchFamily="18" charset="0"/>
              </a:rPr>
              <a:t>&gt;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int main() {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    char str1[] = "Apple";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    char str2[] = "Banana";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    int result = </a:t>
            </a:r>
            <a:r>
              <a:rPr lang="en-IN" b="1" dirty="0" err="1">
                <a:latin typeface="Century Schoolbook" panose="02040604050505020304" pitchFamily="18" charset="0"/>
              </a:rPr>
              <a:t>strcmp</a:t>
            </a:r>
            <a:r>
              <a:rPr lang="en-IN" b="1" dirty="0">
                <a:latin typeface="Century Schoolbook" panose="02040604050505020304" pitchFamily="18" charset="0"/>
              </a:rPr>
              <a:t>(str1, str2);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    if (result == 0)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        </a:t>
            </a:r>
            <a:r>
              <a:rPr lang="en-IN" b="1" dirty="0" err="1">
                <a:latin typeface="Century Schoolbook" panose="02040604050505020304" pitchFamily="18" charset="0"/>
              </a:rPr>
              <a:t>printf</a:t>
            </a:r>
            <a:r>
              <a:rPr lang="en-IN" b="1" dirty="0">
                <a:latin typeface="Century Schoolbook" panose="02040604050505020304" pitchFamily="18" charset="0"/>
              </a:rPr>
              <a:t> ("Strings are equal");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    else if (result &gt; 0)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        </a:t>
            </a:r>
            <a:r>
              <a:rPr lang="en-IN" b="1" dirty="0" err="1">
                <a:latin typeface="Century Schoolbook" panose="02040604050505020304" pitchFamily="18" charset="0"/>
              </a:rPr>
              <a:t>printf</a:t>
            </a:r>
            <a:r>
              <a:rPr lang="en-IN" b="1" dirty="0">
                <a:latin typeface="Century Schoolbook" panose="02040604050505020304" pitchFamily="18" charset="0"/>
              </a:rPr>
              <a:t> ("First string is greater");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    else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        </a:t>
            </a:r>
            <a:r>
              <a:rPr lang="en-IN" b="1" dirty="0" err="1">
                <a:latin typeface="Century Schoolbook" panose="02040604050505020304" pitchFamily="18" charset="0"/>
              </a:rPr>
              <a:t>printf</a:t>
            </a:r>
            <a:r>
              <a:rPr lang="en-IN" b="1" dirty="0">
                <a:latin typeface="Century Schoolbook" panose="02040604050505020304" pitchFamily="18" charset="0"/>
              </a:rPr>
              <a:t> ("First string is smaller");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    return 0;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}</a:t>
            </a:r>
          </a:p>
          <a:p>
            <a:r>
              <a:rPr lang="en-US" sz="26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Output :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First string is smaller</a:t>
            </a:r>
          </a:p>
          <a:p>
            <a:endParaRPr lang="en-IN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9780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6F7BF-01B3-D8CA-EC8A-0DD0585B5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" y="-193039"/>
            <a:ext cx="12192000" cy="96520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2. </a:t>
            </a:r>
            <a:r>
              <a:rPr lang="en-US" sz="36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String Concatenation Function – </a:t>
            </a:r>
            <a:r>
              <a:rPr lang="en-US" sz="3600" b="1" u="sng" dirty="0" err="1">
                <a:solidFill>
                  <a:srgbClr val="FFFF00"/>
                </a:solidFill>
                <a:latin typeface="Century Schoolbook" panose="02040604050505020304" pitchFamily="18" charset="0"/>
              </a:rPr>
              <a:t>strcat</a:t>
            </a:r>
            <a:r>
              <a:rPr lang="en-US" sz="36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()</a:t>
            </a:r>
            <a:r>
              <a:rPr lang="en-US" sz="36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endParaRPr lang="en-IN" sz="3600" b="1" dirty="0">
              <a:solidFill>
                <a:srgbClr val="FFFF00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129305-02B3-D8FD-1D49-6263FE773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4320" y="772161"/>
            <a:ext cx="11516360" cy="6045200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6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Purpose</a:t>
            </a:r>
            <a:r>
              <a:rPr lang="en-IN" sz="26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Century Schoolbook" panose="02040604050505020304" pitchFamily="18" charset="0"/>
              </a:rPr>
              <a:t>Used to join (combine) two strings.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6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Syntax</a:t>
            </a:r>
            <a:r>
              <a:rPr lang="en-IN" sz="26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char *</a:t>
            </a:r>
            <a:r>
              <a:rPr lang="en-IN" b="1" dirty="0" err="1">
                <a:latin typeface="Century Schoolbook" panose="02040604050505020304" pitchFamily="18" charset="0"/>
              </a:rPr>
              <a:t>strcat</a:t>
            </a:r>
            <a:r>
              <a:rPr lang="en-IN" b="1" dirty="0">
                <a:latin typeface="Century Schoolbook" panose="02040604050505020304" pitchFamily="18" charset="0"/>
              </a:rPr>
              <a:t>(char *destination, </a:t>
            </a:r>
            <a:r>
              <a:rPr lang="en-IN" b="1" dirty="0" err="1">
                <a:latin typeface="Century Schoolbook" panose="02040604050505020304" pitchFamily="18" charset="0"/>
              </a:rPr>
              <a:t>const</a:t>
            </a:r>
            <a:r>
              <a:rPr lang="en-IN" b="1" dirty="0">
                <a:latin typeface="Century Schoolbook" panose="02040604050505020304" pitchFamily="18" charset="0"/>
              </a:rPr>
              <a:t> char *source);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Example: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#include &lt;</a:t>
            </a:r>
            <a:r>
              <a:rPr lang="en-IN" b="1" dirty="0" err="1">
                <a:latin typeface="Century Schoolbook" panose="02040604050505020304" pitchFamily="18" charset="0"/>
              </a:rPr>
              <a:t>stdio.h</a:t>
            </a:r>
            <a:r>
              <a:rPr lang="en-IN" b="1" dirty="0">
                <a:latin typeface="Century Schoolbook" panose="02040604050505020304" pitchFamily="18" charset="0"/>
              </a:rPr>
              <a:t>&gt;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#include &lt;</a:t>
            </a:r>
            <a:r>
              <a:rPr lang="en-IN" b="1" dirty="0" err="1">
                <a:latin typeface="Century Schoolbook" panose="02040604050505020304" pitchFamily="18" charset="0"/>
              </a:rPr>
              <a:t>string.h</a:t>
            </a:r>
            <a:r>
              <a:rPr lang="en-IN" b="1" dirty="0">
                <a:latin typeface="Century Schoolbook" panose="02040604050505020304" pitchFamily="18" charset="0"/>
              </a:rPr>
              <a:t>&gt;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int main() {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    char str1[20] = "Hello ";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    char str2[] = "World!";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    </a:t>
            </a:r>
            <a:r>
              <a:rPr lang="en-IN" b="1" dirty="0" err="1">
                <a:latin typeface="Century Schoolbook" panose="02040604050505020304" pitchFamily="18" charset="0"/>
              </a:rPr>
              <a:t>strcat</a:t>
            </a:r>
            <a:r>
              <a:rPr lang="en-IN" b="1" dirty="0">
                <a:latin typeface="Century Schoolbook" panose="02040604050505020304" pitchFamily="18" charset="0"/>
              </a:rPr>
              <a:t>(str1, str2);  // joins str2 at the end of str1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    </a:t>
            </a:r>
            <a:r>
              <a:rPr lang="en-IN" b="1" dirty="0" err="1">
                <a:latin typeface="Century Schoolbook" panose="02040604050505020304" pitchFamily="18" charset="0"/>
              </a:rPr>
              <a:t>printf</a:t>
            </a:r>
            <a:r>
              <a:rPr lang="en-IN" b="1" dirty="0">
                <a:latin typeface="Century Schoolbook" panose="02040604050505020304" pitchFamily="18" charset="0"/>
              </a:rPr>
              <a:t>("Concatenated String = %s", str1);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    return 0;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}</a:t>
            </a:r>
          </a:p>
          <a:p>
            <a:r>
              <a:rPr lang="en-IN" sz="26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Output :</a:t>
            </a:r>
          </a:p>
          <a:p>
            <a:r>
              <a:rPr lang="en-IN" b="1" dirty="0">
                <a:latin typeface="Century Schoolbook" panose="02040604050505020304" pitchFamily="18" charset="0"/>
              </a:rPr>
              <a:t>Concatenated String = Hello World!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1093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2D5E5-FC4A-D53A-0319-D361A73C1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1" y="1"/>
            <a:ext cx="11871959" cy="741679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3. </a:t>
            </a:r>
            <a:r>
              <a:rPr lang="en-US" sz="4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String length function –</a:t>
            </a:r>
            <a:r>
              <a:rPr lang="en-US" sz="4400" b="1" u="sng" dirty="0" err="1">
                <a:solidFill>
                  <a:srgbClr val="FFFF00"/>
                </a:solidFill>
                <a:latin typeface="Century Schoolbook" panose="02040604050505020304" pitchFamily="18" charset="0"/>
              </a:rPr>
              <a:t>strlen</a:t>
            </a:r>
            <a:r>
              <a:rPr lang="en-US" sz="4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endParaRPr lang="en-IN" sz="4400" b="1" dirty="0">
              <a:solidFill>
                <a:srgbClr val="FFFF00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A1E8F7-FF0B-E0C0-62A4-82ACCA2E61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0043" y="741681"/>
            <a:ext cx="11292837" cy="6116319"/>
          </a:xfrm>
        </p:spPr>
        <p:txBody>
          <a:bodyPr>
            <a:normAutofit fontScale="77500" lnSpcReduction="20000"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Purpose</a:t>
            </a:r>
            <a:r>
              <a:rPr lang="en-US" sz="3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Used to find the length (number of characters) in a string (excluding the null character \0).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4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Syntax</a:t>
            </a:r>
            <a:r>
              <a:rPr lang="en-US" sz="3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endParaRPr lang="en-US" sz="2900" b="1" dirty="0">
              <a:solidFill>
                <a:srgbClr val="FFFF00"/>
              </a:solidFill>
              <a:latin typeface="Century Schoolbook" panose="02040604050505020304" pitchFamily="18" charset="0"/>
            </a:endParaRPr>
          </a:p>
          <a:p>
            <a:r>
              <a:rPr lang="en-US" sz="2400" b="1" dirty="0">
                <a:latin typeface="Century Schoolbook" panose="02040604050505020304" pitchFamily="18" charset="0"/>
              </a:rPr>
              <a:t>int </a:t>
            </a:r>
            <a:r>
              <a:rPr lang="en-US" sz="2400" b="1" dirty="0" err="1">
                <a:latin typeface="Century Schoolbook" panose="02040604050505020304" pitchFamily="18" charset="0"/>
              </a:rPr>
              <a:t>strlen</a:t>
            </a:r>
            <a:r>
              <a:rPr lang="en-US" sz="2400" b="1" dirty="0">
                <a:latin typeface="Century Schoolbook" panose="02040604050505020304" pitchFamily="18" charset="0"/>
              </a:rPr>
              <a:t>(const char *str);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Example: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#include &lt;</a:t>
            </a:r>
            <a:r>
              <a:rPr lang="en-US" sz="2400" b="1" dirty="0" err="1">
                <a:latin typeface="Century Schoolbook" panose="02040604050505020304" pitchFamily="18" charset="0"/>
              </a:rPr>
              <a:t>stdio.h</a:t>
            </a:r>
            <a:r>
              <a:rPr lang="en-US" sz="2400" b="1" dirty="0">
                <a:latin typeface="Century Schoolbook" panose="02040604050505020304" pitchFamily="18" charset="0"/>
              </a:rPr>
              <a:t>&gt;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#include &lt;</a:t>
            </a:r>
            <a:r>
              <a:rPr lang="en-US" sz="2400" b="1" dirty="0" err="1">
                <a:latin typeface="Century Schoolbook" panose="02040604050505020304" pitchFamily="18" charset="0"/>
              </a:rPr>
              <a:t>string.h</a:t>
            </a:r>
            <a:r>
              <a:rPr lang="en-US" sz="2400" b="1" dirty="0">
                <a:latin typeface="Century Schoolbook" panose="02040604050505020304" pitchFamily="18" charset="0"/>
              </a:rPr>
              <a:t>&gt;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int main() {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char name[] = "Bhumika";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int length = </a:t>
            </a:r>
            <a:r>
              <a:rPr lang="en-US" sz="2400" b="1" dirty="0" err="1">
                <a:latin typeface="Century Schoolbook" panose="02040604050505020304" pitchFamily="18" charset="0"/>
              </a:rPr>
              <a:t>strlen</a:t>
            </a:r>
            <a:r>
              <a:rPr lang="en-US" sz="2400" b="1" dirty="0">
                <a:latin typeface="Century Schoolbook" panose="02040604050505020304" pitchFamily="18" charset="0"/>
              </a:rPr>
              <a:t>(name);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</a:t>
            </a:r>
            <a:r>
              <a:rPr lang="en-US" sz="2400" b="1" dirty="0" err="1">
                <a:latin typeface="Century Schoolbook" panose="02040604050505020304" pitchFamily="18" charset="0"/>
              </a:rPr>
              <a:t>printf</a:t>
            </a:r>
            <a:r>
              <a:rPr lang="en-US" sz="2400" b="1" dirty="0">
                <a:latin typeface="Century Schoolbook" panose="02040604050505020304" pitchFamily="18" charset="0"/>
              </a:rPr>
              <a:t>("Length of string = %d", length);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    return 0;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}</a:t>
            </a:r>
          </a:p>
          <a:p>
            <a:r>
              <a:rPr lang="en-US" sz="34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Output :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Length of string = 7</a:t>
            </a:r>
          </a:p>
          <a:p>
            <a:endParaRPr lang="en-IN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2994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ADD6E-F485-D9D8-AAA2-240C47D20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" y="-179825"/>
            <a:ext cx="12329031" cy="1148080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rgbClr val="FFFF00"/>
                </a:solidFill>
                <a:latin typeface="Algerian" panose="04020705040A02060702" pitchFamily="82" charset="0"/>
              </a:rPr>
              <a:t>5.3] </a:t>
            </a: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user-defined function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0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87C49A-6FC2-0F49-A998-C2BEB9F1F2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" y="632985"/>
            <a:ext cx="11783027" cy="2500132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In C programming, user-defined functions are the functions created by the programmer to perform a specific task.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They help make a program modular, readable, and reusable by dividing it into smaller, manageable parts.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 user-defined function is one that is not predefined in C, but written by the user.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9FE3B2C-2461-B3DC-7AC0-B816B6241C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4134766"/>
              </p:ext>
            </p:extLst>
          </p:nvPr>
        </p:nvGraphicFramePr>
        <p:xfrm>
          <a:off x="55880" y="3789052"/>
          <a:ext cx="12136119" cy="2982054"/>
        </p:xfrm>
        <a:graphic>
          <a:graphicData uri="http://schemas.openxmlformats.org/drawingml/2006/table">
            <a:tbl>
              <a:tblPr/>
              <a:tblGrid>
                <a:gridCol w="4990682">
                  <a:extLst>
                    <a:ext uri="{9D8B030D-6E8A-4147-A177-3AD203B41FA5}">
                      <a16:colId xmlns:a16="http://schemas.microsoft.com/office/drawing/2014/main" val="1664378007"/>
                    </a:ext>
                  </a:extLst>
                </a:gridCol>
                <a:gridCol w="7145437">
                  <a:extLst>
                    <a:ext uri="{9D8B030D-6E8A-4147-A177-3AD203B41FA5}">
                      <a16:colId xmlns:a16="http://schemas.microsoft.com/office/drawing/2014/main" val="3983633624"/>
                    </a:ext>
                  </a:extLst>
                </a:gridCol>
              </a:tblGrid>
              <a:tr h="3352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Century Schoolbook" panose="02040604050505020304" pitchFamily="18" charset="0"/>
                        </a:rPr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625079"/>
                  </a:ext>
                </a:extLst>
              </a:tr>
              <a:tr h="5918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Century Schoolbook" panose="02040604050505020304" pitchFamily="18" charset="0"/>
                        </a:rPr>
                        <a:t>1. No arguments, no return 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entury Schoolbook" panose="02040604050505020304" pitchFamily="18" charset="0"/>
                        </a:rPr>
                        <a:t>Function performs a task but doesn’t take input or return 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3776322"/>
                  </a:ext>
                </a:extLst>
              </a:tr>
              <a:tr h="5918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entury Schoolbook" panose="02040604050505020304" pitchFamily="18" charset="0"/>
                        </a:rPr>
                        <a:t>2. With arguments, no return 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entury Schoolbook" panose="02040604050505020304" pitchFamily="18" charset="0"/>
                        </a:rPr>
                        <a:t>Takes input but doesn’t return any 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951087"/>
                  </a:ext>
                </a:extLst>
              </a:tr>
              <a:tr h="5918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entury Schoolbook" panose="02040604050505020304" pitchFamily="18" charset="0"/>
                        </a:rPr>
                        <a:t>3. No arguments, with return 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Century Schoolbook" panose="02040604050505020304" pitchFamily="18" charset="0"/>
                        </a:rPr>
                        <a:t>Doesn’t take input but returns a 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5709930"/>
                  </a:ext>
                </a:extLst>
              </a:tr>
              <a:tr h="5918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entury Schoolbook" panose="02040604050505020304" pitchFamily="18" charset="0"/>
                        </a:rPr>
                        <a:t>4. With arguments and with return 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entury Schoolbook" panose="02040604050505020304" pitchFamily="18" charset="0"/>
                        </a:rPr>
                        <a:t>Takes input and returns 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8168781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C0F8B34D-289C-056D-416B-3A1899AB9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72500"/>
            <a:ext cx="10355720" cy="187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3200" b="1" i="0" u="sng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Century Schoolbook" panose="02040604050505020304" pitchFamily="18" charset="0"/>
              </a:rPr>
              <a:t>Types of User-Defined Functions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Century Schoolbook" panose="02040604050505020304" pitchFamily="18" charset="0"/>
              </a:rPr>
              <a:t> : -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Schoolbook" panose="02040604050505020304" pitchFamily="18" charset="0"/>
              </a:rPr>
              <a:t>Depending on whether they take arguments or return values:</a:t>
            </a:r>
            <a:endParaRPr kumimoji="0" lang="en-US" altLang="en-US" sz="6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Schoolbook" panose="020406040505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6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5842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F8C7A-85B0-A92E-7EF5-C37DAE2B1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54643"/>
            <a:ext cx="12361762" cy="1238491"/>
          </a:xfrm>
        </p:spPr>
        <p:txBody>
          <a:bodyPr>
            <a:normAutofit fontScale="90000"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Advantages of user-defined functions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8E0384-ABBF-5FEC-4361-3A677D9B1B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747" y="639502"/>
            <a:ext cx="11759878" cy="4025096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Code reusability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– </a:t>
            </a:r>
            <a:r>
              <a:rPr lang="en-US" sz="2400" b="1" dirty="0">
                <a:latin typeface="Century Schoolbook" panose="02040604050505020304" pitchFamily="18" charset="0"/>
              </a:rPr>
              <a:t>You can use the same function multiple times.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Improved readability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– </a:t>
            </a:r>
            <a:r>
              <a:rPr lang="en-US" sz="2400" b="1" dirty="0">
                <a:latin typeface="Century Schoolbook" panose="02040604050505020304" pitchFamily="18" charset="0"/>
              </a:rPr>
              <a:t>Code becomes easy to understand.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Easy debugging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– </a:t>
            </a:r>
            <a:r>
              <a:rPr lang="en-US" sz="2400" b="1" dirty="0">
                <a:latin typeface="Century Schoolbook" panose="02040604050505020304" pitchFamily="18" charset="0"/>
              </a:rPr>
              <a:t>Errors can be found and corrected easily.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Modular programming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–</a:t>
            </a:r>
            <a:r>
              <a:rPr lang="en-US" sz="2400" b="1" dirty="0">
                <a:latin typeface="Century Schoolbook" panose="02040604050505020304" pitchFamily="18" charset="0"/>
              </a:rPr>
              <a:t> Program can be divided into smaller parts.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Teamwork friendly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– </a:t>
            </a:r>
            <a:r>
              <a:rPr lang="en-US" sz="2400" b="1" dirty="0">
                <a:latin typeface="Century Schoolbook" panose="02040604050505020304" pitchFamily="18" charset="0"/>
              </a:rPr>
              <a:t>Different people can work on different functions.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915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AB582-E1E4-7EE3-E8D9-4ADCAEB5B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17" y="-312515"/>
            <a:ext cx="10131427" cy="312515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111FF-E4E5-8636-1B0A-1A54ADDAD1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8343" y="115746"/>
            <a:ext cx="11899739" cy="6742253"/>
          </a:xfrm>
        </p:spPr>
        <p:txBody>
          <a:bodyPr>
            <a:normAutofit fontScale="92500" lnSpcReduction="20000"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Syntax</a:t>
            </a:r>
            <a:r>
              <a:rPr lang="en-IN" sz="2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IN" sz="1800" b="1" dirty="0" err="1">
                <a:latin typeface="Century Schoolbook" panose="02040604050505020304" pitchFamily="18" charset="0"/>
              </a:rPr>
              <a:t>return_type</a:t>
            </a:r>
            <a:r>
              <a:rPr lang="en-IN" sz="1800" b="1" dirty="0">
                <a:latin typeface="Century Schoolbook" panose="02040604050505020304" pitchFamily="18" charset="0"/>
              </a:rPr>
              <a:t> </a:t>
            </a:r>
            <a:r>
              <a:rPr lang="en-IN" sz="1800" b="1" dirty="0" err="1">
                <a:latin typeface="Century Schoolbook" panose="02040604050505020304" pitchFamily="18" charset="0"/>
              </a:rPr>
              <a:t>function_name</a:t>
            </a:r>
            <a:r>
              <a:rPr lang="en-IN" sz="1800" b="1" dirty="0">
                <a:latin typeface="Century Schoolbook" panose="02040604050505020304" pitchFamily="18" charset="0"/>
              </a:rPr>
              <a:t>(</a:t>
            </a:r>
            <a:r>
              <a:rPr lang="en-IN" sz="1800" b="1" dirty="0" err="1">
                <a:latin typeface="Century Schoolbook" panose="02040604050505020304" pitchFamily="18" charset="0"/>
              </a:rPr>
              <a:t>parameter_list</a:t>
            </a:r>
            <a:r>
              <a:rPr lang="en-IN" sz="1800" b="1" dirty="0">
                <a:latin typeface="Century Schoolbook" panose="02040604050505020304" pitchFamily="18" charset="0"/>
              </a:rPr>
              <a:t>) {</a:t>
            </a:r>
          </a:p>
          <a:p>
            <a:r>
              <a:rPr lang="en-IN" sz="1800" b="1" dirty="0">
                <a:latin typeface="Century Schoolbook" panose="02040604050505020304" pitchFamily="18" charset="0"/>
              </a:rPr>
              <a:t>    // function body</a:t>
            </a:r>
          </a:p>
          <a:p>
            <a:r>
              <a:rPr lang="en-IN" sz="1800" b="1" dirty="0">
                <a:latin typeface="Century Schoolbook" panose="02040604050505020304" pitchFamily="18" charset="0"/>
              </a:rPr>
              <a:t>}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2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IN" sz="22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IN" sz="1800" b="1" dirty="0">
                <a:latin typeface="Century Schoolbook" panose="02040604050505020304" pitchFamily="18" charset="0"/>
              </a:rPr>
              <a:t>#include &lt;</a:t>
            </a:r>
            <a:r>
              <a:rPr lang="en-IN" sz="1800" b="1" dirty="0" err="1">
                <a:latin typeface="Century Schoolbook" panose="02040604050505020304" pitchFamily="18" charset="0"/>
              </a:rPr>
              <a:t>stdio.h</a:t>
            </a:r>
            <a:r>
              <a:rPr lang="en-IN" sz="1800" b="1" dirty="0">
                <a:latin typeface="Century Schoolbook" panose="02040604050505020304" pitchFamily="18" charset="0"/>
              </a:rPr>
              <a:t>&gt;</a:t>
            </a:r>
          </a:p>
          <a:p>
            <a:r>
              <a:rPr lang="en-IN" sz="1800" b="1" dirty="0">
                <a:latin typeface="Century Schoolbook" panose="02040604050505020304" pitchFamily="18" charset="0"/>
              </a:rPr>
              <a:t>// Function declaration</a:t>
            </a:r>
          </a:p>
          <a:p>
            <a:r>
              <a:rPr lang="en-IN" sz="1800" b="1" dirty="0">
                <a:latin typeface="Century Schoolbook" panose="02040604050505020304" pitchFamily="18" charset="0"/>
              </a:rPr>
              <a:t>void greet();</a:t>
            </a:r>
          </a:p>
          <a:p>
            <a:r>
              <a:rPr lang="en-IN" sz="1800" b="1" dirty="0">
                <a:latin typeface="Century Schoolbook" panose="02040604050505020304" pitchFamily="18" charset="0"/>
              </a:rPr>
              <a:t>// Main function</a:t>
            </a:r>
          </a:p>
          <a:p>
            <a:r>
              <a:rPr lang="en-IN" sz="1800" b="1" dirty="0">
                <a:latin typeface="Century Schoolbook" panose="02040604050505020304" pitchFamily="18" charset="0"/>
              </a:rPr>
              <a:t>int main() {</a:t>
            </a:r>
          </a:p>
          <a:p>
            <a:r>
              <a:rPr lang="en-IN" sz="1800" b="1" dirty="0">
                <a:latin typeface="Century Schoolbook" panose="02040604050505020304" pitchFamily="18" charset="0"/>
              </a:rPr>
              <a:t>    greet();  // Function call</a:t>
            </a:r>
          </a:p>
          <a:p>
            <a:r>
              <a:rPr lang="en-IN" sz="1800" b="1" dirty="0">
                <a:latin typeface="Century Schoolbook" panose="02040604050505020304" pitchFamily="18" charset="0"/>
              </a:rPr>
              <a:t>    return 0;</a:t>
            </a:r>
          </a:p>
          <a:p>
            <a:r>
              <a:rPr lang="en-IN" sz="1800" b="1" dirty="0">
                <a:latin typeface="Century Schoolbook" panose="02040604050505020304" pitchFamily="18" charset="0"/>
              </a:rPr>
              <a:t>}</a:t>
            </a:r>
          </a:p>
          <a:p>
            <a:r>
              <a:rPr lang="en-IN" sz="1800" b="1" dirty="0">
                <a:latin typeface="Century Schoolbook" panose="02040604050505020304" pitchFamily="18" charset="0"/>
              </a:rPr>
              <a:t>// Function definition</a:t>
            </a:r>
          </a:p>
          <a:p>
            <a:r>
              <a:rPr lang="en-IN" sz="1800" b="1" dirty="0">
                <a:latin typeface="Century Schoolbook" panose="02040604050505020304" pitchFamily="18" charset="0"/>
              </a:rPr>
              <a:t>void greet() {</a:t>
            </a:r>
          </a:p>
          <a:p>
            <a:r>
              <a:rPr lang="en-IN" sz="1800" b="1" dirty="0">
                <a:latin typeface="Century Schoolbook" panose="02040604050505020304" pitchFamily="18" charset="0"/>
              </a:rPr>
              <a:t>    </a:t>
            </a:r>
            <a:r>
              <a:rPr lang="en-IN" sz="1800" b="1" dirty="0" err="1">
                <a:latin typeface="Century Schoolbook" panose="02040604050505020304" pitchFamily="18" charset="0"/>
              </a:rPr>
              <a:t>printf</a:t>
            </a:r>
            <a:r>
              <a:rPr lang="en-IN" sz="1800" b="1" dirty="0">
                <a:latin typeface="Century Schoolbook" panose="02040604050505020304" pitchFamily="18" charset="0"/>
              </a:rPr>
              <a:t>("Hello, welcome to C programming!");</a:t>
            </a:r>
          </a:p>
          <a:p>
            <a:r>
              <a:rPr lang="en-IN" sz="1800" b="1" dirty="0">
                <a:latin typeface="Century Schoolbook" panose="02040604050505020304" pitchFamily="18" charset="0"/>
              </a:rPr>
              <a:t>}</a:t>
            </a:r>
          </a:p>
          <a:p>
            <a:r>
              <a:rPr lang="en-IN" sz="1800" b="1" dirty="0">
                <a:latin typeface="Century Schoolbook" panose="02040604050505020304" pitchFamily="18" charset="0"/>
              </a:rPr>
              <a:t>Output:</a:t>
            </a:r>
          </a:p>
          <a:p>
            <a:r>
              <a:rPr lang="en-IN" sz="1800" b="1" dirty="0">
                <a:latin typeface="Century Schoolbook" panose="02040604050505020304" pitchFamily="18" charset="0"/>
              </a:rPr>
              <a:t>Hello, welcome to C programming!</a:t>
            </a:r>
          </a:p>
          <a:p>
            <a:endParaRPr lang="en-IN" sz="18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2618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76B71-40FA-3490-BF55-9BF376EC8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17" y="-173619"/>
            <a:ext cx="12108083" cy="1066800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5.4] </a:t>
            </a: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local variables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837E44-2644-7AEC-1EFA-21AD1C948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16" y="798654"/>
            <a:ext cx="12108083" cy="6151943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b="1" dirty="0">
                <a:latin typeface="Century Schoolbook" panose="02040604050505020304" pitchFamily="18" charset="0"/>
              </a:rPr>
              <a:t>A local variable is a variable that is declared inside a function or a block ({ }).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b="1" dirty="0">
                <a:latin typeface="Century Schoolbook" panose="02040604050505020304" pitchFamily="18" charset="0"/>
              </a:rPr>
              <a:t>It can be used only within that function or block.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b="1" dirty="0">
                <a:latin typeface="Century Schoolbook" panose="02040604050505020304" pitchFamily="18" charset="0"/>
              </a:rPr>
              <a:t>Once the function execution ends, the local variable is destroyed and its value is lost.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✅ </a:t>
            </a:r>
            <a:r>
              <a:rPr lang="en-US" sz="26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26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  <a:endParaRPr lang="en-US" b="1" dirty="0">
              <a:solidFill>
                <a:srgbClr val="FFFF00"/>
              </a:solidFill>
              <a:latin typeface="Century Schoolbook" panose="02040604050505020304" pitchFamily="18" charset="0"/>
            </a:endParaRPr>
          </a:p>
          <a:p>
            <a:r>
              <a:rPr lang="en-US" b="1" dirty="0">
                <a:latin typeface="Century Schoolbook" panose="02040604050505020304" pitchFamily="18" charset="0"/>
              </a:rPr>
              <a:t>#include &lt;</a:t>
            </a:r>
            <a:r>
              <a:rPr lang="en-US" b="1" dirty="0" err="1">
                <a:latin typeface="Century Schoolbook" panose="02040604050505020304" pitchFamily="18" charset="0"/>
              </a:rPr>
              <a:t>stdio.h</a:t>
            </a:r>
            <a:r>
              <a:rPr lang="en-US" b="1" dirty="0">
                <a:latin typeface="Century Schoolbook" panose="02040604050505020304" pitchFamily="18" charset="0"/>
              </a:rPr>
              <a:t>&gt;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void show() {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 int x = 10;  // local variable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 </a:t>
            </a:r>
            <a:r>
              <a:rPr lang="en-US" b="1" dirty="0" err="1">
                <a:latin typeface="Century Schoolbook" panose="02040604050505020304" pitchFamily="18" charset="0"/>
              </a:rPr>
              <a:t>printf</a:t>
            </a:r>
            <a:r>
              <a:rPr lang="en-US" b="1" dirty="0">
                <a:latin typeface="Century Schoolbook" panose="02040604050505020304" pitchFamily="18" charset="0"/>
              </a:rPr>
              <a:t>("Value of x = %d\n", x);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}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int main() {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 show();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 // </a:t>
            </a:r>
            <a:r>
              <a:rPr lang="en-US" b="1" dirty="0" err="1">
                <a:latin typeface="Century Schoolbook" panose="02040604050505020304" pitchFamily="18" charset="0"/>
              </a:rPr>
              <a:t>printf</a:t>
            </a:r>
            <a:r>
              <a:rPr lang="en-US" b="1" dirty="0">
                <a:latin typeface="Century Schoolbook" panose="02040604050505020304" pitchFamily="18" charset="0"/>
              </a:rPr>
              <a:t>("%d", x); // ❌ Error: x is not accessible here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 return 0;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}</a:t>
            </a:r>
          </a:p>
          <a:p>
            <a:r>
              <a:rPr lang="en-US" sz="26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Output : -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Value of x = 10</a:t>
            </a:r>
          </a:p>
          <a:p>
            <a:endParaRPr lang="en-IN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2187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B84BC-1BB8-B527-D674-87854BF41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93039"/>
            <a:ext cx="10131427" cy="1066800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Global variable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49D19A-702D-40A9-0B3C-820148AEE3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3040" y="802640"/>
            <a:ext cx="11927841" cy="6146799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b="1" dirty="0">
                <a:latin typeface="Century Schoolbook" panose="02040604050505020304" pitchFamily="18" charset="0"/>
              </a:rPr>
              <a:t>A global variable is declared outside all functions.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b="1" dirty="0">
                <a:latin typeface="Century Schoolbook" panose="02040604050505020304" pitchFamily="18" charset="0"/>
              </a:rPr>
              <a:t>It can be used (accessed and modified) by any function in the program.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6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Example</a:t>
            </a:r>
            <a:r>
              <a:rPr lang="en-US" sz="26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#include &lt;</a:t>
            </a:r>
            <a:r>
              <a:rPr lang="en-US" b="1" dirty="0" err="1">
                <a:latin typeface="Century Schoolbook" panose="02040604050505020304" pitchFamily="18" charset="0"/>
              </a:rPr>
              <a:t>stdio.h</a:t>
            </a:r>
            <a:r>
              <a:rPr lang="en-US" b="1" dirty="0">
                <a:latin typeface="Century Schoolbook" panose="02040604050505020304" pitchFamily="18" charset="0"/>
              </a:rPr>
              <a:t>&gt;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int x = 50;  // global variable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void show() {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 </a:t>
            </a:r>
            <a:r>
              <a:rPr lang="en-US" b="1" dirty="0" err="1">
                <a:latin typeface="Century Schoolbook" panose="02040604050505020304" pitchFamily="18" charset="0"/>
              </a:rPr>
              <a:t>printf</a:t>
            </a:r>
            <a:r>
              <a:rPr lang="en-US" b="1" dirty="0">
                <a:latin typeface="Century Schoolbook" panose="02040604050505020304" pitchFamily="18" charset="0"/>
              </a:rPr>
              <a:t> ("Value of x in show() = %d\n", x);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}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int main() {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 </a:t>
            </a:r>
            <a:r>
              <a:rPr lang="en-US" b="1" dirty="0" err="1">
                <a:latin typeface="Century Schoolbook" panose="02040604050505020304" pitchFamily="18" charset="0"/>
              </a:rPr>
              <a:t>printf</a:t>
            </a:r>
            <a:r>
              <a:rPr lang="en-US" b="1" dirty="0">
                <a:latin typeface="Century Schoolbook" panose="02040604050505020304" pitchFamily="18" charset="0"/>
              </a:rPr>
              <a:t> ("Value of x in main() = %d\n", x);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 show();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    return 0;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}</a:t>
            </a:r>
          </a:p>
          <a:p>
            <a:r>
              <a:rPr lang="en-US" sz="26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Output</a:t>
            </a:r>
            <a:r>
              <a:rPr lang="en-US" sz="26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Value of x in main() = 50</a:t>
            </a:r>
          </a:p>
          <a:p>
            <a:r>
              <a:rPr lang="en-US" b="1" dirty="0">
                <a:latin typeface="Century Schoolbook" panose="02040604050505020304" pitchFamily="18" charset="0"/>
              </a:rPr>
              <a:t>Value of x in show() = 50</a:t>
            </a:r>
          </a:p>
          <a:p>
            <a:endParaRPr lang="en-IN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78945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3AA5E-87EC-E7F7-1629-99DAF4690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10720" cy="660399"/>
          </a:xfrm>
        </p:spPr>
        <p:txBody>
          <a:bodyPr>
            <a:no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u="sng" dirty="0">
                <a:solidFill>
                  <a:srgbClr val="FFFF00"/>
                </a:solidFill>
                <a:latin typeface="Algerian" panose="04020705040A02060702" pitchFamily="82" charset="0"/>
              </a:rPr>
              <a:t>Difference Between Local and Global Variables</a:t>
            </a:r>
            <a:r>
              <a:rPr lang="en-US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952E6A-4E5B-8846-64C6-CEF7909B9A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6920" y="6664959"/>
            <a:ext cx="10131428" cy="256541"/>
          </a:xfrm>
        </p:spPr>
        <p:txBody>
          <a:bodyPr>
            <a:normAutofit fontScale="62500" lnSpcReduction="20000"/>
          </a:bodyPr>
          <a:lstStyle/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9EE250B-6AA1-C2C0-9C38-27EAB1BFFE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2129210"/>
              </p:ext>
            </p:extLst>
          </p:nvPr>
        </p:nvGraphicFramePr>
        <p:xfrm>
          <a:off x="157480" y="660398"/>
          <a:ext cx="11719560" cy="5737412"/>
        </p:xfrm>
        <a:graphic>
          <a:graphicData uri="http://schemas.openxmlformats.org/drawingml/2006/table">
            <a:tbl>
              <a:tblPr/>
              <a:tblGrid>
                <a:gridCol w="2433320">
                  <a:extLst>
                    <a:ext uri="{9D8B030D-6E8A-4147-A177-3AD203B41FA5}">
                      <a16:colId xmlns:a16="http://schemas.microsoft.com/office/drawing/2014/main" val="2944601233"/>
                    </a:ext>
                  </a:extLst>
                </a:gridCol>
                <a:gridCol w="5379720">
                  <a:extLst>
                    <a:ext uri="{9D8B030D-6E8A-4147-A177-3AD203B41FA5}">
                      <a16:colId xmlns:a16="http://schemas.microsoft.com/office/drawing/2014/main" val="1120103424"/>
                    </a:ext>
                  </a:extLst>
                </a:gridCol>
                <a:gridCol w="3906520">
                  <a:extLst>
                    <a:ext uri="{9D8B030D-6E8A-4147-A177-3AD203B41FA5}">
                      <a16:colId xmlns:a16="http://schemas.microsoft.com/office/drawing/2014/main" val="3286582073"/>
                    </a:ext>
                  </a:extLst>
                </a:gridCol>
              </a:tblGrid>
              <a:tr h="6669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Local Variable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Global Variable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0626732"/>
                  </a:ext>
                </a:extLst>
              </a:tr>
              <a:tr h="6669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Declaration Place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Century Schoolbook" panose="02040604050505020304" pitchFamily="18" charset="0"/>
                        </a:rPr>
                        <a:t>Inside a function or block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Outside all functions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5213240"/>
                  </a:ext>
                </a:extLst>
              </a:tr>
              <a:tr h="6669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Century Schoolbook" panose="02040604050505020304" pitchFamily="18" charset="0"/>
                        </a:rPr>
                        <a:t>Scope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entury Schoolbook" panose="02040604050505020304" pitchFamily="18" charset="0"/>
                        </a:rPr>
                        <a:t>Only within the function/block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Throughout the program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21205"/>
                  </a:ext>
                </a:extLst>
              </a:tr>
              <a:tr h="11672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Century Schoolbook" panose="02040604050505020304" pitchFamily="18" charset="0"/>
                        </a:rPr>
                        <a:t>Lifetime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Century Schoolbook" panose="02040604050505020304" pitchFamily="18" charset="0"/>
                        </a:rPr>
                        <a:t>Created when function starts and destroyed when it ends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Exists until program ends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5305263"/>
                  </a:ext>
                </a:extLst>
              </a:tr>
              <a:tr h="6669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Default 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Garbage (undefined)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3449668"/>
                  </a:ext>
                </a:extLst>
              </a:tr>
              <a:tr h="6669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Memory Allocation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latin typeface="Century Schoolbook" panose="02040604050505020304" pitchFamily="18" charset="0"/>
                        </a:rPr>
                        <a:t>Done when function is called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Done when program starts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2610142"/>
                  </a:ext>
                </a:extLst>
              </a:tr>
              <a:tr h="11672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Century Schoolbook" panose="02040604050505020304" pitchFamily="18" charset="0"/>
                        </a:rPr>
                        <a:t>Accessibility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Century Schoolbook" panose="02040604050505020304" pitchFamily="18" charset="0"/>
                        </a:rPr>
                        <a:t>Not accessible outside the 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Century Schoolbook" panose="02040604050505020304" pitchFamily="18" charset="0"/>
                        </a:rPr>
                        <a:t>Accessible by all functions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5651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68433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3E993-5B2B-2A29-6C14-528FD7583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" y="0"/>
            <a:ext cx="12166600" cy="731519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rgbClr val="FFFF00"/>
                </a:solidFill>
                <a:latin typeface="Algerian" panose="04020705040A02060702" pitchFamily="82" charset="0"/>
              </a:rPr>
              <a:t>5.5] </a:t>
            </a:r>
            <a:r>
              <a:rPr lang="en-US" sz="4000" u="sng" dirty="0">
                <a:solidFill>
                  <a:srgbClr val="FFFF00"/>
                </a:solidFill>
                <a:latin typeface="Algerian" panose="04020705040A02060702" pitchFamily="82" charset="0"/>
              </a:rPr>
              <a:t>parameter passing In c programming</a:t>
            </a:r>
            <a:r>
              <a:rPr lang="en-US" sz="40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0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BD710A-46F1-B78B-A87A-D2F80B44CC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" y="548640"/>
            <a:ext cx="11760200" cy="347472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>
                <a:latin typeface="Century Schoolbook" panose="02040604050505020304" pitchFamily="18" charset="0"/>
              </a:rPr>
              <a:t>In C programming, parameters are variables used to pass information between functions.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>
                <a:latin typeface="Century Schoolbook" panose="02040604050505020304" pitchFamily="18" charset="0"/>
              </a:rPr>
              <a:t>When one function calls another, it can send data (values or addresses) to the called function through parameters.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>
                <a:latin typeface="Century Schoolbook" panose="02040604050505020304" pitchFamily="18" charset="0"/>
              </a:rPr>
              <a:t>This process is known as parameter passing.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Types of Parameter Passing in C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entury Schoolbook" panose="02040604050505020304" pitchFamily="18" charset="0"/>
              </a:rPr>
              <a:t>There are two main methods of passing parameters to a function :</a:t>
            </a:r>
          </a:p>
          <a:p>
            <a:endParaRPr lang="en-IN" b="1" dirty="0">
              <a:latin typeface="Century Schoolbook" panose="020406040505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D201DA0-EE86-87E9-0396-6033D836B5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9984730"/>
              </p:ext>
            </p:extLst>
          </p:nvPr>
        </p:nvGraphicFramePr>
        <p:xfrm>
          <a:off x="553720" y="3581400"/>
          <a:ext cx="10131424" cy="3175001"/>
        </p:xfrm>
        <a:graphic>
          <a:graphicData uri="http://schemas.openxmlformats.org/drawingml/2006/table">
            <a:tbl>
              <a:tblPr/>
              <a:tblGrid>
                <a:gridCol w="2616200">
                  <a:extLst>
                    <a:ext uri="{9D8B030D-6E8A-4147-A177-3AD203B41FA5}">
                      <a16:colId xmlns:a16="http://schemas.microsoft.com/office/drawing/2014/main" val="4111053525"/>
                    </a:ext>
                  </a:extLst>
                </a:gridCol>
                <a:gridCol w="7515224">
                  <a:extLst>
                    <a:ext uri="{9D8B030D-6E8A-4147-A177-3AD203B41FA5}">
                      <a16:colId xmlns:a16="http://schemas.microsoft.com/office/drawing/2014/main" val="587169403"/>
                    </a:ext>
                  </a:extLst>
                </a:gridCol>
              </a:tblGrid>
              <a:tr h="5291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2029577"/>
                  </a:ext>
                </a:extLst>
              </a:tr>
              <a:tr h="1322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Century Schoolbook" panose="02040604050505020304" pitchFamily="18" charset="0"/>
                        </a:rPr>
                        <a:t>1️⃣ Call by 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latin typeface="Century Schoolbook" panose="02040604050505020304" pitchFamily="18" charset="0"/>
                        </a:rPr>
                        <a:t>A copy of the actual value is passed to the function. Changes made inside the function do not affect the original variable.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947744"/>
                  </a:ext>
                </a:extLst>
              </a:tr>
              <a:tr h="1322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Century Schoolbook" panose="02040604050505020304" pitchFamily="18" charset="0"/>
                        </a:rPr>
                        <a:t>2️⃣ Call by Reference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latin typeface="Century Schoolbook" panose="02040604050505020304" pitchFamily="18" charset="0"/>
                        </a:rPr>
                        <a:t>The address of the variable is passed to the function. Changes made inside the function directly affect the original variable.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10656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59326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F9EBE-3A01-48F5-3EE8-F620CDDB4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" y="0"/>
            <a:ext cx="12166600" cy="761999"/>
          </a:xfrm>
        </p:spPr>
        <p:txBody>
          <a:bodyPr>
            <a:normAutofit fontScale="90000"/>
          </a:bodyPr>
          <a:lstStyle/>
          <a:p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5.6] </a:t>
            </a: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storage classes In c programming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128441-1CE8-E540-0568-41F660E252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" y="761999"/>
            <a:ext cx="11765280" cy="3108961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>
                <a:latin typeface="Century Schoolbook" panose="02040604050505020304" pitchFamily="18" charset="0"/>
              </a:rPr>
              <a:t>In C programming, storage classes define the scope (visibility), lifetime, and location of variables — i.e., </a:t>
            </a:r>
            <a:r>
              <a:rPr lang="en-US" b="1" i="1" dirty="0">
                <a:latin typeface="Century Schoolbook" panose="02040604050505020304" pitchFamily="18" charset="0"/>
              </a:rPr>
              <a:t>where a variable is stored, how long it exists, and where it can be accessed.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>
                <a:latin typeface="Century Schoolbook" panose="02040604050505020304" pitchFamily="18" charset="0"/>
              </a:rPr>
              <a:t>They tell the compiler how to store a variable, how long to keep it in memory, and who can use it.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Types of Storage Classes in C</a:t>
            </a:r>
            <a:r>
              <a:rPr lang="en-US" sz="28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Century Schoolbook" panose="02040604050505020304" pitchFamily="18" charset="0"/>
              </a:rPr>
              <a:t>C language provides four main storage classes :</a:t>
            </a:r>
          </a:p>
          <a:p>
            <a:endParaRPr lang="en-IN" b="1" dirty="0">
              <a:latin typeface="Century Schoolbook" panose="020406040505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FD3B979-BA71-F0EE-4B9D-76337DA27F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5771496"/>
              </p:ext>
            </p:extLst>
          </p:nvPr>
        </p:nvGraphicFramePr>
        <p:xfrm>
          <a:off x="516256" y="3505199"/>
          <a:ext cx="6514464" cy="3108960"/>
        </p:xfrm>
        <a:graphic>
          <a:graphicData uri="http://schemas.openxmlformats.org/drawingml/2006/table">
            <a:tbl>
              <a:tblPr/>
              <a:tblGrid>
                <a:gridCol w="3273424">
                  <a:extLst>
                    <a:ext uri="{9D8B030D-6E8A-4147-A177-3AD203B41FA5}">
                      <a16:colId xmlns:a16="http://schemas.microsoft.com/office/drawing/2014/main" val="740304317"/>
                    </a:ext>
                  </a:extLst>
                </a:gridCol>
                <a:gridCol w="3241040">
                  <a:extLst>
                    <a:ext uri="{9D8B030D-6E8A-4147-A177-3AD203B41FA5}">
                      <a16:colId xmlns:a16="http://schemas.microsoft.com/office/drawing/2014/main" val="2968930009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Storage 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1" u="sng" dirty="0">
                          <a:solidFill>
                            <a:srgbClr val="FFFF00"/>
                          </a:solidFill>
                          <a:latin typeface="Century Schoolbook" panose="02040604050505020304" pitchFamily="18" charset="0"/>
                        </a:rPr>
                        <a:t>Keyword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244609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Century Schoolbook" panose="02040604050505020304" pitchFamily="18" charset="0"/>
                        </a:rPr>
                        <a:t>1. Automatic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Century Schoolbook" panose="02040604050505020304" pitchFamily="18" charset="0"/>
                        </a:rPr>
                        <a:t>auto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5919527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Century Schoolbook" panose="02040604050505020304" pitchFamily="18" charset="0"/>
                        </a:rPr>
                        <a:t>2. External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Century Schoolbook" panose="02040604050505020304" pitchFamily="18" charset="0"/>
                        </a:rPr>
                        <a:t>extern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8798617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Century Schoolbook" panose="02040604050505020304" pitchFamily="18" charset="0"/>
                        </a:rPr>
                        <a:t>3. Static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latin typeface="Century Schoolbook" panose="02040604050505020304" pitchFamily="18" charset="0"/>
                        </a:rPr>
                        <a:t>static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4560885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Century Schoolbook" panose="02040604050505020304" pitchFamily="18" charset="0"/>
                        </a:rPr>
                        <a:t>4. Register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Century Schoolbook" panose="02040604050505020304" pitchFamily="18" charset="0"/>
                        </a:rPr>
                        <a:t>register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12564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91625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5EC62-C090-19C2-EAD6-24F8FBF6D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" y="-172719"/>
            <a:ext cx="12110720" cy="1066800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4800" u="sng" dirty="0">
                <a:solidFill>
                  <a:srgbClr val="FFFF00"/>
                </a:solidFill>
                <a:latin typeface="Algerian" panose="04020705040A02060702" pitchFamily="82" charset="0"/>
              </a:rPr>
              <a:t>Types of storage class</a:t>
            </a:r>
            <a:r>
              <a:rPr lang="en-US" sz="4800" dirty="0">
                <a:solidFill>
                  <a:srgbClr val="FFFF00"/>
                </a:solidFill>
                <a:latin typeface="Algerian" panose="04020705040A02060702" pitchFamily="82" charset="0"/>
              </a:rPr>
              <a:t> : -</a:t>
            </a:r>
            <a:endParaRPr lang="en-IN" sz="4800" dirty="0">
              <a:solidFill>
                <a:srgbClr val="FFFF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21FB62-5D14-C5FE-C21B-25CDD6F7A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" y="792480"/>
            <a:ext cx="11856720" cy="6065520"/>
          </a:xfrm>
        </p:spPr>
        <p:txBody>
          <a:bodyPr>
            <a:normAutofit/>
          </a:bodyPr>
          <a:lstStyle/>
          <a:p>
            <a:r>
              <a:rPr lang="en-US" sz="26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1. </a:t>
            </a:r>
            <a:r>
              <a:rPr lang="en-US" sz="26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Automatic Storage Class (auto)</a:t>
            </a:r>
            <a:r>
              <a:rPr lang="en-US" sz="26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Century Schoolbook" panose="02040604050505020304" pitchFamily="18" charset="0"/>
              </a:rPr>
              <a:t>It is the default storage class for variables declared inside a function (local variables).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Century Schoolbook" panose="02040604050505020304" pitchFamily="18" charset="0"/>
              </a:rPr>
              <a:t>Memory is allocated when the function starts and freed when it ends.</a:t>
            </a:r>
          </a:p>
          <a:p>
            <a:r>
              <a:rPr lang="en-US" sz="26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2. </a:t>
            </a:r>
            <a:r>
              <a:rPr lang="en-US" sz="26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External Storage Class (extern)</a:t>
            </a:r>
            <a:r>
              <a:rPr lang="en-US" sz="26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Century Schoolbook" panose="02040604050505020304" pitchFamily="18" charset="0"/>
              </a:rPr>
              <a:t>Used to declare a global variable that can be used in other files or functions.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Century Schoolbook" panose="02040604050505020304" pitchFamily="18" charset="0"/>
              </a:rPr>
              <a:t>The variable is declared outside all functions and can be shared.</a:t>
            </a:r>
            <a:endParaRPr lang="en-US" sz="2200" b="1" dirty="0">
              <a:latin typeface="Century Schoolbook" panose="02040604050505020304" pitchFamily="18" charset="0"/>
            </a:endParaRPr>
          </a:p>
          <a:p>
            <a:r>
              <a:rPr lang="en-US" sz="26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3. </a:t>
            </a:r>
            <a:r>
              <a:rPr lang="en-US" sz="26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Static Storage Class (static)</a:t>
            </a:r>
            <a:r>
              <a:rPr lang="en-US" sz="26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Century Schoolbook" panose="02040604050505020304" pitchFamily="18" charset="0"/>
              </a:rPr>
              <a:t>The static keyword keeps the value of a variable even after the function ends.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Century Schoolbook" panose="02040604050505020304" pitchFamily="18" charset="0"/>
              </a:rPr>
              <a:t>Memory is allocated once and retained till the program ends.</a:t>
            </a:r>
          </a:p>
          <a:p>
            <a:r>
              <a:rPr lang="en-US" sz="26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4. </a:t>
            </a:r>
            <a:r>
              <a:rPr lang="en-US" sz="2600" b="1" u="sng" dirty="0">
                <a:solidFill>
                  <a:srgbClr val="FFFF00"/>
                </a:solidFill>
                <a:latin typeface="Century Schoolbook" panose="02040604050505020304" pitchFamily="18" charset="0"/>
              </a:rPr>
              <a:t>Register Storage Class (register)</a:t>
            </a:r>
            <a:r>
              <a:rPr lang="en-US" sz="2600" b="1" dirty="0">
                <a:solidFill>
                  <a:srgbClr val="FFFF00"/>
                </a:solidFill>
                <a:latin typeface="Century Schoolbook" panose="02040604050505020304" pitchFamily="18" charset="0"/>
              </a:rPr>
              <a:t> : 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Century Schoolbook" panose="02040604050505020304" pitchFamily="18" charset="0"/>
              </a:rPr>
              <a:t>Stores the variable in the CPU register instead of RAM for faster access.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Century Schoolbook" panose="02040604050505020304" pitchFamily="18" charset="0"/>
              </a:rPr>
              <a:t>Mostly used for loop counters or frequently accessed variables.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52276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275</TotalTime>
  <Words>1819</Words>
  <Application>Microsoft Office PowerPoint</Application>
  <PresentationFormat>Widescreen</PresentationFormat>
  <Paragraphs>238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Algerian</vt:lpstr>
      <vt:lpstr>Arial</vt:lpstr>
      <vt:lpstr>Calibri</vt:lpstr>
      <vt:lpstr>Calibri Light</vt:lpstr>
      <vt:lpstr>Century Schoolbook</vt:lpstr>
      <vt:lpstr>Wingdings</vt:lpstr>
      <vt:lpstr>Celestial</vt:lpstr>
      <vt:lpstr>05. Functions </vt:lpstr>
      <vt:lpstr>Introduction : -</vt:lpstr>
      <vt:lpstr>5.1] concept </vt:lpstr>
      <vt:lpstr>Advantages of library functions : -</vt:lpstr>
      <vt:lpstr>Example : -</vt:lpstr>
      <vt:lpstr>5.2] string functions in c : -</vt:lpstr>
      <vt:lpstr>Example : -</vt:lpstr>
      <vt:lpstr>2. String Concatenation Function – strcat() : -</vt:lpstr>
      <vt:lpstr>3. String length function –strlen : -</vt:lpstr>
      <vt:lpstr>5.3] user-defined function : -</vt:lpstr>
      <vt:lpstr>Advantages of user-defined functions : -</vt:lpstr>
      <vt:lpstr>PowerPoint Presentation</vt:lpstr>
      <vt:lpstr>5.4] local variables : -</vt:lpstr>
      <vt:lpstr>Global variable : -</vt:lpstr>
      <vt:lpstr>Difference Between Local and Global Variables : -</vt:lpstr>
      <vt:lpstr>5.5] parameter passing In c programming : -</vt:lpstr>
      <vt:lpstr>5.6] storage classes In c programming : -</vt:lpstr>
      <vt:lpstr>Types of storage class : -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Darpan Shedge</dc:creator>
  <cp:lastModifiedBy>Darpan Shedge</cp:lastModifiedBy>
  <cp:revision>2</cp:revision>
  <dcterms:created xsi:type="dcterms:W3CDTF">2025-11-03T06:51:27Z</dcterms:created>
  <dcterms:modified xsi:type="dcterms:W3CDTF">2025-11-03T12:14:17Z</dcterms:modified>
</cp:coreProperties>
</file>