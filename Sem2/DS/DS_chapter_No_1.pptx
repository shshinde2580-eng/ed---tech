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modSld">
      <pc:chgData name="shshinde2580@gmail.com" userId="86fdf0c531315612" providerId="LiveId" clId="{80EF1F59-5901-4077-BC9B-DA299863282D}" dt="2025-11-04T02:13:55.586" v="1" actId="113"/>
      <pc:docMkLst>
        <pc:docMk/>
      </pc:docMkLst>
      <pc:sldChg chg="modSp mod">
        <pc:chgData name="shshinde2580@gmail.com" userId="86fdf0c531315612" providerId="LiveId" clId="{80EF1F59-5901-4077-BC9B-DA299863282D}" dt="2025-11-04T02:13:51.256" v="0" actId="113"/>
        <pc:sldMkLst>
          <pc:docMk/>
          <pc:sldMk cId="459486127" sldId="258"/>
        </pc:sldMkLst>
        <pc:spChg chg="mod">
          <ac:chgData name="shshinde2580@gmail.com" userId="86fdf0c531315612" providerId="LiveId" clId="{80EF1F59-5901-4077-BC9B-DA299863282D}" dt="2025-11-04T02:13:51.256" v="0" actId="113"/>
          <ac:spMkLst>
            <pc:docMk/>
            <pc:sldMk cId="459486127" sldId="258"/>
            <ac:spMk id="3" creationId="{75FC1E64-68C6-5C02-7CDE-CB37C5145C09}"/>
          </ac:spMkLst>
        </pc:spChg>
      </pc:sldChg>
      <pc:sldChg chg="modSp mod">
        <pc:chgData name="shshinde2580@gmail.com" userId="86fdf0c531315612" providerId="LiveId" clId="{80EF1F59-5901-4077-BC9B-DA299863282D}" dt="2025-11-04T02:13:55.586" v="1" actId="113"/>
        <pc:sldMkLst>
          <pc:docMk/>
          <pc:sldMk cId="2062666237" sldId="259"/>
        </pc:sldMkLst>
        <pc:spChg chg="mod">
          <ac:chgData name="shshinde2580@gmail.com" userId="86fdf0c531315612" providerId="LiveId" clId="{80EF1F59-5901-4077-BC9B-DA299863282D}" dt="2025-11-04T02:13:55.586" v="1" actId="113"/>
          <ac:spMkLst>
            <pc:docMk/>
            <pc:sldMk cId="2062666237" sldId="259"/>
            <ac:spMk id="3" creationId="{9038FA08-BB01-EEF9-238E-709540D020E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469646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1067622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771631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877843-6FB9-4EBE-B6B3-A631541AFEC7}"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1591498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877843-6FB9-4EBE-B6B3-A631541AFEC7}" type="datetimeFigureOut">
              <a:rPr lang="en-IN" smtClean="0"/>
              <a:t>04-11-2025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1166850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877843-6FB9-4EBE-B6B3-A631541AFEC7}" type="datetimeFigureOut">
              <a:rPr lang="en-IN" smtClean="0"/>
              <a:t>04-11-2025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945521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877843-6FB9-4EBE-B6B3-A631541AFEC7}" type="datetimeFigureOut">
              <a:rPr lang="en-IN" smtClean="0"/>
              <a:t>04-11-2025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1585081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77843-6FB9-4EBE-B6B3-A631541AFEC7}"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3767484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877843-6FB9-4EBE-B6B3-A631541AFEC7}"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3052743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3886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90061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1976586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74663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2106351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3544466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877843-6FB9-4EBE-B6B3-A631541AFEC7}"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8D3ACB-C041-4E28-8860-6DDCDD2BD2B6}" type="slidenum">
              <a:rPr lang="en-IN" smtClean="0"/>
              <a:t>‹#›</a:t>
            </a:fld>
            <a:endParaRPr lang="en-IN"/>
          </a:p>
        </p:txBody>
      </p:sp>
    </p:spTree>
    <p:extLst>
      <p:ext uri="{BB962C8B-B14F-4D97-AF65-F5344CB8AC3E}">
        <p14:creationId xmlns:p14="http://schemas.microsoft.com/office/powerpoint/2010/main" val="902920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E877843-6FB9-4EBE-B6B3-A631541AFEC7}" type="datetimeFigureOut">
              <a:rPr lang="en-IN" smtClean="0"/>
              <a:t>04-11-2025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E8D3ACB-C041-4E28-8860-6DDCDD2BD2B6}" type="slidenum">
              <a:rPr lang="en-IN" smtClean="0"/>
              <a:t>‹#›</a:t>
            </a:fld>
            <a:endParaRPr lang="en-IN"/>
          </a:p>
        </p:txBody>
      </p:sp>
    </p:spTree>
    <p:extLst>
      <p:ext uri="{BB962C8B-B14F-4D97-AF65-F5344CB8AC3E}">
        <p14:creationId xmlns:p14="http://schemas.microsoft.com/office/powerpoint/2010/main" val="1308726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B74BD-35A0-2EDD-D9B7-2786ABD958AF}"/>
              </a:ext>
            </a:extLst>
          </p:cNvPr>
          <p:cNvSpPr>
            <a:spLocks noGrp="1"/>
          </p:cNvSpPr>
          <p:nvPr>
            <p:ph type="ctrTitle"/>
          </p:nvPr>
        </p:nvSpPr>
        <p:spPr>
          <a:xfrm>
            <a:off x="685800" y="2404534"/>
            <a:ext cx="9163878" cy="1646302"/>
          </a:xfrm>
        </p:spPr>
        <p:txBody>
          <a:bodyPr/>
          <a:lstStyle/>
          <a:p>
            <a:pPr algn="ctr"/>
            <a:r>
              <a:rPr lang="en-IN" dirty="0"/>
              <a:t>Introduction to Data Structures: </a:t>
            </a:r>
          </a:p>
        </p:txBody>
      </p:sp>
    </p:spTree>
    <p:extLst>
      <p:ext uri="{BB962C8B-B14F-4D97-AF65-F5344CB8AC3E}">
        <p14:creationId xmlns:p14="http://schemas.microsoft.com/office/powerpoint/2010/main" val="2898155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704925-FFB7-00B6-4090-A336F7B6C86F}"/>
              </a:ext>
            </a:extLst>
          </p:cNvPr>
          <p:cNvSpPr txBox="1"/>
          <p:nvPr/>
        </p:nvSpPr>
        <p:spPr>
          <a:xfrm>
            <a:off x="844827" y="69574"/>
            <a:ext cx="8338930" cy="6463308"/>
          </a:xfrm>
          <a:prstGeom prst="rect">
            <a:avLst/>
          </a:prstGeom>
          <a:noFill/>
        </p:spPr>
        <p:txBody>
          <a:bodyPr wrap="square">
            <a:spAutoFit/>
          </a:bodyPr>
          <a:lstStyle/>
          <a:p>
            <a:r>
              <a:rPr lang="en-IN" b="1" dirty="0"/>
              <a:t>1.1Need of data structures. </a:t>
            </a:r>
            <a:endParaRPr lang="en-US" b="1" i="0" dirty="0">
              <a:effectLst/>
              <a:latin typeface="fkGroteskNeue"/>
            </a:endParaRPr>
          </a:p>
          <a:p>
            <a:pPr algn="l">
              <a:buNone/>
            </a:pPr>
            <a:endParaRPr lang="en-US" dirty="0">
              <a:latin typeface="fkGroteskNeue"/>
            </a:endParaRPr>
          </a:p>
          <a:p>
            <a:pPr algn="l">
              <a:buNone/>
            </a:pPr>
            <a:r>
              <a:rPr lang="en-US" b="0" i="0" dirty="0">
                <a:effectLst/>
                <a:latin typeface="fkGroteskNeue"/>
              </a:rPr>
              <a:t>The need for data structures arises from the increasing complexity of applications and the growing amount of data that must be efficiently managed and processed. Data structures organize data in a way that enhances efficient access, modification, retrieval, and storage, which are crucial for application performance and usability.</a:t>
            </a:r>
          </a:p>
          <a:p>
            <a:pPr algn="l">
              <a:buNone/>
            </a:pPr>
            <a:endParaRPr lang="en-US" b="0" i="0" dirty="0">
              <a:effectLst/>
              <a:latin typeface="fkGroteskNeue"/>
            </a:endParaRPr>
          </a:p>
          <a:p>
            <a:pPr marL="285750" indent="-285750" algn="l">
              <a:buFont typeface="Wingdings" panose="05000000000000000000" pitchFamily="2" charset="2"/>
              <a:buChar char="v"/>
            </a:pPr>
            <a:r>
              <a:rPr lang="en-US" b="0" i="0" dirty="0">
                <a:effectLst/>
                <a:latin typeface="fkGroteskNeue"/>
              </a:rPr>
              <a:t>Key reasons for the need of data structures include:</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fkGroteskNeue"/>
              </a:rPr>
              <a:t>Efficient data management: Proper data structures reduce the time complexity of operations like searching, inserting, deleting, and updating data, thus speeding up processing.</a:t>
            </a:r>
          </a:p>
          <a:p>
            <a:pPr algn="l">
              <a:buFont typeface="Arial" panose="020B0604020202020204" pitchFamily="34" charset="0"/>
              <a:buChar char="•"/>
            </a:pPr>
            <a:r>
              <a:rPr lang="en-US" b="0" i="0" dirty="0">
                <a:effectLst/>
                <a:latin typeface="fkGroteskNeue"/>
              </a:rPr>
              <a:t>Optimized memory usage: Well-designed data structures minimize the use of memory space.</a:t>
            </a:r>
          </a:p>
          <a:p>
            <a:pPr algn="l">
              <a:buFont typeface="Arial" panose="020B0604020202020204" pitchFamily="34" charset="0"/>
              <a:buChar char="•"/>
            </a:pPr>
            <a:r>
              <a:rPr lang="en-US" b="0" i="0" dirty="0">
                <a:effectLst/>
                <a:latin typeface="fkGroteskNeue"/>
              </a:rPr>
              <a:t>Handling large data volumes: As data grows, unstructured storage leads to slow operations. Data structures enable handling large datasets by structuring data to allow quick access.</a:t>
            </a:r>
          </a:p>
          <a:p>
            <a:pPr algn="l">
              <a:buFont typeface="Arial" panose="020B0604020202020204" pitchFamily="34" charset="0"/>
              <a:buChar char="•"/>
            </a:pPr>
            <a:r>
              <a:rPr lang="en-US" b="0" i="0" dirty="0">
                <a:effectLst/>
                <a:latin typeface="fkGroteskNeue"/>
              </a:rPr>
              <a:t>Solving processing limitations: Without appropriate data structures, processors may be overwhelmed by the volume of data.</a:t>
            </a:r>
          </a:p>
          <a:p>
            <a:pPr algn="l">
              <a:buFont typeface="Arial" panose="020B0604020202020204" pitchFamily="34" charset="0"/>
              <a:buChar char="•"/>
            </a:pPr>
            <a:r>
              <a:rPr lang="en-US" b="0" i="0" dirty="0">
                <a:effectLst/>
                <a:latin typeface="fkGroteskNeue"/>
              </a:rPr>
              <a:t>Support multiple simultaneous queries: Organized data structures help maintain response times even under multiple concurrent requests.</a:t>
            </a:r>
          </a:p>
          <a:p>
            <a:pPr algn="l">
              <a:buFont typeface="Arial" panose="020B0604020202020204" pitchFamily="34" charset="0"/>
              <a:buChar char="•"/>
            </a:pPr>
            <a:r>
              <a:rPr lang="en-US" b="0" i="0" dirty="0">
                <a:effectLst/>
                <a:latin typeface="fkGroteskNeue"/>
              </a:rPr>
              <a:t>Reusability and abstraction: Data structures provide an abstraction layer which allows code reusability without exposing implementation details.</a:t>
            </a:r>
          </a:p>
        </p:txBody>
      </p:sp>
    </p:spTree>
    <p:extLst>
      <p:ext uri="{BB962C8B-B14F-4D97-AF65-F5344CB8AC3E}">
        <p14:creationId xmlns:p14="http://schemas.microsoft.com/office/powerpoint/2010/main" val="1100723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70DAB-3731-DB5D-1511-A13B87884B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FC1E64-68C6-5C02-7CDE-CB37C5145C09}"/>
              </a:ext>
            </a:extLst>
          </p:cNvPr>
          <p:cNvSpPr txBox="1"/>
          <p:nvPr/>
        </p:nvSpPr>
        <p:spPr>
          <a:xfrm>
            <a:off x="705678" y="183082"/>
            <a:ext cx="9193695" cy="6186309"/>
          </a:xfrm>
          <a:prstGeom prst="rect">
            <a:avLst/>
          </a:prstGeom>
          <a:noFill/>
        </p:spPr>
        <p:txBody>
          <a:bodyPr wrap="square">
            <a:spAutoFit/>
          </a:bodyPr>
          <a:lstStyle/>
          <a:p>
            <a:r>
              <a:rPr lang="en-US" b="1" dirty="0"/>
              <a:t>1.2Definition of Data structure and Abstract data type.</a:t>
            </a:r>
          </a:p>
          <a:p>
            <a:endParaRPr lang="en-US" dirty="0"/>
          </a:p>
          <a:p>
            <a:r>
              <a:rPr lang="en-US" dirty="0"/>
              <a:t>A data structure is a specialized format for organizing, storing, and managing data in a computer so that it can be accessed and modified efficiently. It defines the logical or mathematical relationship among data elements and includes the operations that can be performed on the data. Common data structures include arrays, stacks, queues, trees, and graphs, each suited for different types of data organization and manipulation.​</a:t>
            </a:r>
          </a:p>
          <a:p>
            <a:endParaRPr lang="en-US" dirty="0"/>
          </a:p>
          <a:p>
            <a:r>
              <a:rPr lang="en-US" dirty="0"/>
              <a:t>An Abstract Data Type (ADT) is a theoretical concept that defines a data type by its behavior from the point of view of a user, particularly the operations that can be performed on the data and the properties of those operations, without specifying the implementation details. The data structure is the actual implementation of an ADT in a programming language, providing the physical organization for the data and the code for the operations.​</a:t>
            </a:r>
          </a:p>
          <a:p>
            <a:endParaRPr lang="en-US" dirty="0"/>
          </a:p>
          <a:p>
            <a:pPr marL="285750" indent="-285750">
              <a:buFont typeface="Wingdings" panose="05000000000000000000" pitchFamily="2" charset="2"/>
              <a:buChar char="Ø"/>
            </a:pPr>
            <a:r>
              <a:rPr lang="en-US" b="1" dirty="0"/>
              <a:t>In summary:</a:t>
            </a:r>
          </a:p>
          <a:p>
            <a:pPr marL="285750" indent="-285750">
              <a:buFont typeface="Arial" panose="020B0604020202020204" pitchFamily="34" charset="0"/>
              <a:buChar char="•"/>
            </a:pPr>
            <a:r>
              <a:rPr lang="en-US" dirty="0"/>
              <a:t>Data Structure: The actual arrangement and storage of data along with the operations on it in a physical form.</a:t>
            </a:r>
          </a:p>
          <a:p>
            <a:pPr marL="285750" indent="-285750">
              <a:buFont typeface="Arial" panose="020B0604020202020204" pitchFamily="34" charset="0"/>
              <a:buChar char="•"/>
            </a:pPr>
            <a:r>
              <a:rPr lang="en-US" dirty="0"/>
              <a:t>Abstract Data Type: The logical description of data and operations independent of implementation.</a:t>
            </a:r>
          </a:p>
          <a:p>
            <a:r>
              <a:rPr lang="en-US" dirty="0"/>
              <a:t> </a:t>
            </a:r>
            <a:endParaRPr lang="en-IN" dirty="0"/>
          </a:p>
        </p:txBody>
      </p:sp>
    </p:spTree>
    <p:extLst>
      <p:ext uri="{BB962C8B-B14F-4D97-AF65-F5344CB8AC3E}">
        <p14:creationId xmlns:p14="http://schemas.microsoft.com/office/powerpoint/2010/main" val="459486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E8F77-AD8E-B699-FEFA-0948F752FD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38FA08-BB01-EEF9-238E-709540D020E0}"/>
              </a:ext>
            </a:extLst>
          </p:cNvPr>
          <p:cNvSpPr txBox="1"/>
          <p:nvPr/>
        </p:nvSpPr>
        <p:spPr>
          <a:xfrm>
            <a:off x="775252" y="84339"/>
            <a:ext cx="8527774" cy="6740307"/>
          </a:xfrm>
          <a:prstGeom prst="rect">
            <a:avLst/>
          </a:prstGeom>
          <a:noFill/>
        </p:spPr>
        <p:txBody>
          <a:bodyPr wrap="square">
            <a:spAutoFit/>
          </a:bodyPr>
          <a:lstStyle/>
          <a:p>
            <a:r>
              <a:rPr lang="en-US" b="1" dirty="0"/>
              <a:t>1.3Classification of Data structures: Linear, nonlinear, homogeneous, nonhomogeneous, static &amp; dynamic</a:t>
            </a:r>
          </a:p>
          <a:p>
            <a:endParaRPr lang="en-US" dirty="0"/>
          </a:p>
          <a:p>
            <a:r>
              <a:rPr lang="en-US" dirty="0"/>
              <a:t>Data structures are classified based on their organization and properties into several types:</a:t>
            </a:r>
          </a:p>
          <a:p>
            <a:endParaRPr lang="en-US" dirty="0"/>
          </a:p>
          <a:p>
            <a:pPr marL="342900" indent="-342900">
              <a:buAutoNum type="arabicPeriod"/>
            </a:pPr>
            <a:r>
              <a:rPr lang="en-US" b="1" dirty="0"/>
              <a:t>Linear Data Structures:</a:t>
            </a:r>
          </a:p>
          <a:p>
            <a:endParaRPr lang="en-US" dirty="0"/>
          </a:p>
          <a:p>
            <a:pPr marL="285750" indent="-285750">
              <a:buFont typeface="Arial" panose="020B0604020202020204" pitchFamily="34" charset="0"/>
              <a:buChar char="•"/>
            </a:pPr>
            <a:r>
              <a:rPr lang="en-US" dirty="0"/>
              <a:t>Data elements are arranged sequentially, one after another.</a:t>
            </a:r>
          </a:p>
          <a:p>
            <a:pPr marL="285750" indent="-285750">
              <a:buFont typeface="Arial" panose="020B0604020202020204" pitchFamily="34" charset="0"/>
              <a:buChar char="•"/>
            </a:pPr>
            <a:r>
              <a:rPr lang="en-US" dirty="0"/>
              <a:t>Each element is connected to its previous and next element.</a:t>
            </a:r>
          </a:p>
          <a:p>
            <a:pPr marL="285750" indent="-285750">
              <a:buFont typeface="Arial" panose="020B0604020202020204" pitchFamily="34" charset="0"/>
              <a:buChar char="•"/>
            </a:pPr>
            <a:r>
              <a:rPr lang="en-US" dirty="0"/>
              <a:t>Examples: Array, Stack, Queue, Linked List.</a:t>
            </a:r>
          </a:p>
          <a:p>
            <a:pPr marL="285750" indent="-285750">
              <a:buFont typeface="Arial" panose="020B0604020202020204" pitchFamily="34" charset="0"/>
              <a:buChar char="•"/>
            </a:pPr>
            <a:r>
              <a:rPr lang="en-US" dirty="0"/>
              <a:t>Linear structures are simple to implement and traverse.</a:t>
            </a:r>
          </a:p>
          <a:p>
            <a:endParaRPr lang="en-US" dirty="0"/>
          </a:p>
          <a:p>
            <a:r>
              <a:rPr lang="en-US" b="1" dirty="0"/>
              <a:t>2. Nonlinear Data Structures:</a:t>
            </a:r>
          </a:p>
          <a:p>
            <a:endParaRPr lang="en-US" dirty="0"/>
          </a:p>
          <a:p>
            <a:pPr marL="285750" indent="-285750">
              <a:buFont typeface="Arial" panose="020B0604020202020204" pitchFamily="34" charset="0"/>
              <a:buChar char="•"/>
            </a:pPr>
            <a:r>
              <a:rPr lang="en-US" dirty="0"/>
              <a:t>Data elements are arranged in a hierarchical or interconnected manner.</a:t>
            </a:r>
          </a:p>
          <a:p>
            <a:pPr marL="285750" indent="-285750">
              <a:buFont typeface="Arial" panose="020B0604020202020204" pitchFamily="34" charset="0"/>
              <a:buChar char="•"/>
            </a:pPr>
            <a:r>
              <a:rPr lang="en-US" dirty="0"/>
              <a:t>Elements are not in sequence, so traversal is more complex.</a:t>
            </a:r>
          </a:p>
          <a:p>
            <a:pPr marL="285750" indent="-285750">
              <a:buFont typeface="Arial" panose="020B0604020202020204" pitchFamily="34" charset="0"/>
              <a:buChar char="•"/>
            </a:pPr>
            <a:r>
              <a:rPr lang="en-US" dirty="0"/>
              <a:t>Examples: Tree, Graph.</a:t>
            </a:r>
          </a:p>
          <a:p>
            <a:pPr marL="285750" indent="-285750">
              <a:buFont typeface="Arial" panose="020B0604020202020204" pitchFamily="34" charset="0"/>
              <a:buChar char="•"/>
            </a:pPr>
            <a:r>
              <a:rPr lang="en-US" dirty="0"/>
              <a:t>Useful for representing complex relationships.</a:t>
            </a:r>
          </a:p>
          <a:p>
            <a:endParaRPr lang="en-US" dirty="0"/>
          </a:p>
          <a:p>
            <a:r>
              <a:rPr lang="en-US" b="1" dirty="0"/>
              <a:t>3. Homogeneous Data Structures:</a:t>
            </a:r>
          </a:p>
          <a:p>
            <a:endParaRPr lang="en-US" dirty="0"/>
          </a:p>
          <a:p>
            <a:pPr marL="285750" indent="-285750">
              <a:buFont typeface="Arial" panose="020B0604020202020204" pitchFamily="34" charset="0"/>
              <a:buChar char="•"/>
            </a:pPr>
            <a:r>
              <a:rPr lang="en-US" dirty="0"/>
              <a:t>All data elements are of the same type.</a:t>
            </a:r>
          </a:p>
          <a:p>
            <a:pPr marL="285750" indent="-285750">
              <a:buFont typeface="Arial" panose="020B0604020202020204" pitchFamily="34" charset="0"/>
              <a:buChar char="•"/>
            </a:pPr>
            <a:r>
              <a:rPr lang="en-US" dirty="0"/>
              <a:t>Example: Array (all integers or all floats).</a:t>
            </a:r>
          </a:p>
        </p:txBody>
      </p:sp>
    </p:spTree>
    <p:extLst>
      <p:ext uri="{BB962C8B-B14F-4D97-AF65-F5344CB8AC3E}">
        <p14:creationId xmlns:p14="http://schemas.microsoft.com/office/powerpoint/2010/main" val="206266623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TotalTime>
  <Words>551</Words>
  <Application>Microsoft Office PowerPoint</Application>
  <PresentationFormat>Widescreen</PresentationFormat>
  <Paragraphs>45</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fkGroteskNeue</vt:lpstr>
      <vt:lpstr>Trebuchet MS</vt:lpstr>
      <vt:lpstr>Wingdings</vt:lpstr>
      <vt:lpstr>Wingdings 3</vt:lpstr>
      <vt:lpstr>Facet</vt:lpstr>
      <vt:lpstr>Introduction to Data Structures: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2025-11-04T02:05:12Z</dcterms:created>
  <dcterms:modified xsi:type="dcterms:W3CDTF">2025-11-04T02:13:56Z</dcterms:modified>
</cp:coreProperties>
</file>