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D2950C-2DB4-42CC-A1AC-F906C1B31E49}" v="2" dt="2025-11-04T07:18:01.4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382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76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7105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843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729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921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721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974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951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61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155524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8311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17243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1332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055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803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829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7A80E-1451-17DF-6EB0-12CD5D6B88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0590" y="2807167"/>
            <a:ext cx="7766936" cy="1646302"/>
          </a:xfrm>
        </p:spPr>
        <p:txBody>
          <a:bodyPr/>
          <a:lstStyle/>
          <a:p>
            <a:pPr algn="ctr"/>
            <a:r>
              <a:rPr lang="en-US" sz="11500" dirty="0">
                <a:latin typeface="Algerian" panose="04020705040A02060702" pitchFamily="82" charset="0"/>
              </a:rPr>
              <a:t>05</a:t>
            </a:r>
            <a:r>
              <a:rPr lang="en-US" sz="4400" dirty="0">
                <a:latin typeface="Algerian" panose="04020705040A02060702" pitchFamily="82" charset="0"/>
              </a:rPr>
              <a:t>.</a:t>
            </a:r>
            <a:r>
              <a:rPr lang="en-US" sz="7200" dirty="0">
                <a:latin typeface="Algerian" panose="04020705040A02060702" pitchFamily="82" charset="0"/>
              </a:rPr>
              <a:t> </a:t>
            </a:r>
            <a:r>
              <a:rPr lang="en-US" sz="11500" u="sng" dirty="0">
                <a:latin typeface="Algerian" panose="04020705040A02060702" pitchFamily="82" charset="0"/>
              </a:rPr>
              <a:t>Queue </a:t>
            </a:r>
            <a:endParaRPr lang="en-IN" sz="7200" u="sng" dirty="0"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607871-2CB8-21F8-CCF6-D63D04FAD0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7587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414AA-FCEC-C60C-6692-3E57286C2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6" y="-167148"/>
            <a:ext cx="8596668" cy="1101213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accent1">
                    <a:lumMod val="75000"/>
                  </a:schemeClr>
                </a:solidFill>
              </a:rPr>
              <a:t>4.1] </a:t>
            </a:r>
            <a:r>
              <a:rPr lang="en-US" sz="4800" u="sng" dirty="0">
                <a:solidFill>
                  <a:schemeClr val="accent1">
                    <a:lumMod val="75000"/>
                  </a:schemeClr>
                </a:solidFill>
              </a:rPr>
              <a:t>Definition of queue</a:t>
            </a:r>
            <a:r>
              <a:rPr lang="en-US" sz="4800" dirty="0">
                <a:solidFill>
                  <a:schemeClr val="accent1">
                    <a:lumMod val="75000"/>
                  </a:schemeClr>
                </a:solidFill>
              </a:rPr>
              <a:t> : -</a:t>
            </a:r>
            <a:endParaRPr lang="en-IN" sz="4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572DD-811C-D76A-7686-3870C2CD5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26" y="186813"/>
            <a:ext cx="9901084" cy="604192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 </a:t>
            </a:r>
            <a:r>
              <a:rPr lang="en-US" sz="2800" b="1" dirty="0"/>
              <a:t>Queue</a:t>
            </a:r>
            <a:r>
              <a:rPr lang="en-US" sz="2800" dirty="0"/>
              <a:t> is a </a:t>
            </a:r>
            <a:r>
              <a:rPr lang="en-US" sz="2800" b="1" dirty="0"/>
              <a:t>linear data structure</a:t>
            </a:r>
            <a:r>
              <a:rPr lang="en-US" sz="2800" dirty="0"/>
              <a:t> that follows the </a:t>
            </a:r>
            <a:r>
              <a:rPr lang="en-US" sz="2800" b="1" dirty="0"/>
              <a:t>FIFO (First In, First Out)</a:t>
            </a:r>
            <a:r>
              <a:rPr lang="en-US" sz="2800" dirty="0"/>
              <a:t> principle.</a:t>
            </a:r>
            <a:br>
              <a:rPr lang="en-US" sz="2800" dirty="0"/>
            </a:br>
            <a:r>
              <a:rPr lang="en-US" sz="2800" dirty="0"/>
              <a:t>➡️ This means that the </a:t>
            </a:r>
            <a:r>
              <a:rPr lang="en-US" sz="2800" b="1" dirty="0"/>
              <a:t>element added first</a:t>
            </a:r>
            <a:r>
              <a:rPr lang="en-US" sz="2800" dirty="0"/>
              <a:t> will be the </a:t>
            </a:r>
            <a:r>
              <a:rPr lang="en-US" sz="2800" b="1" dirty="0"/>
              <a:t>one removed first</a:t>
            </a:r>
            <a:r>
              <a:rPr lang="en-US" sz="2800" dirty="0"/>
              <a:t> — just like people standing in a line.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📘 Real-Life Example : 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 queue of people waiting for a bus:</a:t>
            </a:r>
            <a:br>
              <a:rPr lang="en-US" sz="2800" dirty="0"/>
            </a:br>
            <a:r>
              <a:rPr lang="en-US" sz="2800" dirty="0"/>
              <a:t>The first person in line gets on the bus first.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 printer queue:</a:t>
            </a:r>
            <a:br>
              <a:rPr lang="en-US" sz="2800" dirty="0"/>
            </a:br>
            <a:r>
              <a:rPr lang="en-US" sz="2800" dirty="0"/>
              <a:t>The first document sent to the printer prints first.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346730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1B93C-9B03-0F95-8FB0-3797BC84B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30239"/>
            <a:ext cx="11100619" cy="1203632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u="sng" dirty="0"/>
              <a:t>Queue as an abstract data type (ADT)</a:t>
            </a:r>
            <a:r>
              <a:rPr lang="en-US" dirty="0"/>
              <a:t> : -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672367-D81B-3214-F72D-0E4BB4524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7820" y="648928"/>
            <a:ext cx="10166554" cy="6016523"/>
          </a:xfrm>
        </p:spPr>
        <p:txBody>
          <a:bodyPr>
            <a:normAutofit/>
          </a:bodyPr>
          <a:lstStyle/>
          <a:p>
            <a:r>
              <a:rPr lang="en-US" sz="2400" dirty="0"/>
              <a:t>A </a:t>
            </a:r>
            <a:r>
              <a:rPr lang="en-US" sz="2400" b="1" dirty="0"/>
              <a:t>Queue ADT</a:t>
            </a:r>
            <a:r>
              <a:rPr lang="en-US" sz="2400" dirty="0"/>
              <a:t> defines the </a:t>
            </a:r>
            <a:r>
              <a:rPr lang="en-US" sz="2400" b="1" dirty="0"/>
              <a:t>behavior</a:t>
            </a:r>
            <a:r>
              <a:rPr lang="en-US" sz="2400" dirty="0"/>
              <a:t> (what operations can be performed) but not </a:t>
            </a:r>
            <a:r>
              <a:rPr lang="en-US" sz="2400" b="1" dirty="0"/>
              <a:t>how</a:t>
            </a:r>
            <a:r>
              <a:rPr lang="en-US" sz="2400" dirty="0"/>
              <a:t> they are implemented.</a:t>
            </a:r>
            <a:br>
              <a:rPr lang="en-US" sz="2400" dirty="0"/>
            </a:br>
            <a:r>
              <a:rPr lang="en-US" sz="2400" dirty="0"/>
              <a:t>It specifies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enqueue(item)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dequeue()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front()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isEmpty</a:t>
            </a:r>
            <a:r>
              <a:rPr lang="en-US" sz="2400" dirty="0"/>
              <a:t>()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isFull</a:t>
            </a:r>
            <a:r>
              <a:rPr lang="en-US" sz="2400" dirty="0"/>
              <a:t>()</a:t>
            </a:r>
          </a:p>
          <a:p>
            <a:r>
              <a:rPr lang="en-US" sz="2400" dirty="0"/>
              <a:t>The </a:t>
            </a:r>
            <a:r>
              <a:rPr lang="en-US" sz="2400" b="1" dirty="0"/>
              <a:t>implementation</a:t>
            </a:r>
            <a:r>
              <a:rPr lang="en-US" sz="2400" dirty="0"/>
              <a:t> can be done using:</a:t>
            </a:r>
          </a:p>
          <a:p>
            <a:r>
              <a:rPr lang="en-US" sz="2400" b="1" dirty="0"/>
              <a:t>Arrays (Static Implementation)</a:t>
            </a:r>
            <a:endParaRPr lang="en-US" sz="2400" dirty="0"/>
          </a:p>
          <a:p>
            <a:r>
              <a:rPr lang="en-US" sz="2400" b="1" dirty="0"/>
              <a:t>Dynamic Memory (Linked List Implementation</a:t>
            </a:r>
            <a:endParaRPr lang="en-US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878727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3A74-C3FB-2776-1048-982CCC9D2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87" y="-141748"/>
            <a:ext cx="8596668" cy="1016819"/>
          </a:xfrm>
        </p:spPr>
        <p:txBody>
          <a:bodyPr/>
          <a:lstStyle/>
          <a:p>
            <a:r>
              <a:rPr lang="en-US" dirty="0"/>
              <a:t>4.2] </a:t>
            </a:r>
            <a:r>
              <a:rPr lang="en-US" u="sng" dirty="0"/>
              <a:t>Operations on queue</a:t>
            </a:r>
            <a:r>
              <a:rPr lang="en-US" dirty="0"/>
              <a:t> : -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28ADE-6EFF-9FC1-C8AF-622AB5CD7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6645" y="580103"/>
            <a:ext cx="9891251" cy="6065683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A </a:t>
            </a:r>
            <a:r>
              <a:rPr lang="en-US" sz="2400" b="1" dirty="0"/>
              <a:t>Queue</a:t>
            </a:r>
            <a:r>
              <a:rPr lang="en-US" sz="2400" dirty="0"/>
              <a:t> follows the </a:t>
            </a:r>
            <a:r>
              <a:rPr lang="en-US" sz="2400" b="1" dirty="0"/>
              <a:t>FIFO (First In, First Out)</a:t>
            </a:r>
            <a:r>
              <a:rPr lang="en-US" sz="2400" dirty="0"/>
              <a:t> principle.</a:t>
            </a:r>
            <a:br>
              <a:rPr lang="en-US" sz="2400" dirty="0"/>
            </a:br>
            <a:r>
              <a:rPr lang="en-US" sz="2400" dirty="0"/>
              <a:t>That means the </a:t>
            </a:r>
            <a:r>
              <a:rPr lang="en-US" sz="2400" b="1" dirty="0"/>
              <a:t>first element inserted</a:t>
            </a:r>
            <a:r>
              <a:rPr lang="en-US" sz="2400" dirty="0"/>
              <a:t> is the </a:t>
            </a:r>
            <a:r>
              <a:rPr lang="en-US" sz="2400" b="1" dirty="0"/>
              <a:t>first one to be removed</a:t>
            </a:r>
            <a:r>
              <a:rPr lang="en-US" sz="2400" dirty="0"/>
              <a:t>.</a:t>
            </a:r>
          </a:p>
          <a:p>
            <a:r>
              <a:rPr lang="en-US" sz="2400" dirty="0"/>
              <a:t>The </a:t>
            </a:r>
            <a:r>
              <a:rPr lang="en-US" sz="2400" b="1" dirty="0"/>
              <a:t>main operations</a:t>
            </a:r>
            <a:r>
              <a:rPr lang="en-US" sz="2400" dirty="0"/>
              <a:t> on a queue are:</a:t>
            </a:r>
          </a:p>
          <a:p>
            <a:r>
              <a:rPr lang="en-US" sz="2400" b="1" dirty="0"/>
              <a:t>1. Enqueue (Insertion) : -</a:t>
            </a:r>
          </a:p>
          <a:p>
            <a:r>
              <a:rPr lang="en-US" sz="2400" b="1" dirty="0"/>
              <a:t>Definition : -</a:t>
            </a:r>
            <a:r>
              <a:rPr lang="en-US" sz="2400" dirty="0"/>
              <a:t> Adds (inserts) an element at the </a:t>
            </a:r>
            <a:r>
              <a:rPr lang="en-US" sz="2400" b="1" dirty="0"/>
              <a:t>rear (end)</a:t>
            </a:r>
            <a:r>
              <a:rPr lang="en-US" sz="2400" dirty="0"/>
              <a:t> of the queue.</a:t>
            </a:r>
          </a:p>
          <a:p>
            <a:r>
              <a:rPr lang="en-IN" sz="2400" b="1" dirty="0"/>
              <a:t>Example : -</a:t>
            </a:r>
            <a:br>
              <a:rPr lang="en-IN" sz="2400" dirty="0"/>
            </a:br>
            <a:r>
              <a:rPr lang="en-IN" sz="2400" dirty="0"/>
              <a:t>Queue before: [10, 20]</a:t>
            </a:r>
            <a:br>
              <a:rPr lang="en-IN" sz="2400" dirty="0"/>
            </a:br>
            <a:r>
              <a:rPr lang="en-IN" sz="2400" dirty="0"/>
              <a:t>enqueue(30) → Queue after: [10, 20, 30]</a:t>
            </a:r>
          </a:p>
          <a:p>
            <a:r>
              <a:rPr lang="en-US" sz="2400" b="1" dirty="0"/>
              <a:t>2. Dequeue (Deletion) : -</a:t>
            </a:r>
          </a:p>
          <a:p>
            <a:r>
              <a:rPr lang="en-US" sz="2400" b="1" dirty="0"/>
              <a:t>Definition:</a:t>
            </a:r>
            <a:r>
              <a:rPr lang="en-US" sz="2400" dirty="0"/>
              <a:t> Removes an element from the </a:t>
            </a:r>
            <a:r>
              <a:rPr lang="en-US" sz="2400" b="1" dirty="0"/>
              <a:t>front</a:t>
            </a:r>
            <a:r>
              <a:rPr lang="en-US" sz="2400" dirty="0"/>
              <a:t> of the queue.</a:t>
            </a:r>
          </a:p>
          <a:p>
            <a:r>
              <a:rPr lang="en-IN" sz="2400" b="1" dirty="0"/>
              <a:t>Example:</a:t>
            </a:r>
            <a:br>
              <a:rPr lang="en-IN" sz="2400" dirty="0"/>
            </a:br>
            <a:r>
              <a:rPr lang="en-IN" sz="2400" dirty="0"/>
              <a:t>Queue before: [10, 20, 30]</a:t>
            </a:r>
            <a:br>
              <a:rPr lang="en-IN" sz="2400" dirty="0"/>
            </a:br>
            <a:r>
              <a:rPr lang="en-IN" sz="2400" dirty="0"/>
              <a:t>dequeue() → Removed 10 → Queue after: [20, 30]</a:t>
            </a:r>
          </a:p>
        </p:txBody>
      </p:sp>
    </p:spTree>
    <p:extLst>
      <p:ext uri="{BB962C8B-B14F-4D97-AF65-F5344CB8AC3E}">
        <p14:creationId xmlns:p14="http://schemas.microsoft.com/office/powerpoint/2010/main" val="2900759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77BD2-9EA6-0585-34B9-30C2CA9E0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68" y="-446548"/>
            <a:ext cx="8596668" cy="446548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4B7E1-891D-4FCF-63AD-51628FD30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568" y="88490"/>
            <a:ext cx="9636704" cy="6769510"/>
          </a:xfrm>
        </p:spPr>
        <p:txBody>
          <a:bodyPr>
            <a:normAutofit/>
          </a:bodyPr>
          <a:lstStyle/>
          <a:p>
            <a:r>
              <a:rPr lang="en-US" sz="2400" b="1" dirty="0"/>
              <a:t>3. Peek / Front : -</a:t>
            </a:r>
          </a:p>
          <a:p>
            <a:r>
              <a:rPr lang="en-US" sz="2400" b="1" dirty="0"/>
              <a:t>Definition:</a:t>
            </a:r>
            <a:r>
              <a:rPr lang="en-US" sz="2400" dirty="0"/>
              <a:t> Returns the </a:t>
            </a:r>
            <a:r>
              <a:rPr lang="en-US" sz="2400" b="1" dirty="0"/>
              <a:t>front element</a:t>
            </a:r>
            <a:r>
              <a:rPr lang="en-US" sz="2400" dirty="0"/>
              <a:t> of the queue </a:t>
            </a:r>
            <a:r>
              <a:rPr lang="en-US" sz="2400" b="1" dirty="0"/>
              <a:t>without removing</a:t>
            </a:r>
            <a:r>
              <a:rPr lang="en-US" sz="2400" dirty="0"/>
              <a:t> it.</a:t>
            </a:r>
          </a:p>
          <a:p>
            <a:r>
              <a:rPr lang="en-US" sz="2400" b="1" dirty="0"/>
              <a:t>Example:</a:t>
            </a:r>
            <a:br>
              <a:rPr lang="en-US" sz="2400" dirty="0"/>
            </a:br>
            <a:r>
              <a:rPr lang="en-US" sz="2400" dirty="0"/>
              <a:t>Queue = [20, 30, 40]</a:t>
            </a:r>
            <a:br>
              <a:rPr lang="en-US" sz="2400" dirty="0"/>
            </a:br>
            <a:r>
              <a:rPr lang="en-US" sz="2400" dirty="0"/>
              <a:t>peek() → Output: 20</a:t>
            </a:r>
          </a:p>
          <a:p>
            <a:r>
              <a:rPr lang="en-US" sz="2400" b="1" dirty="0"/>
              <a:t>4. </a:t>
            </a:r>
            <a:r>
              <a:rPr lang="en-US" sz="2400" b="1" dirty="0" err="1"/>
              <a:t>isEmpty</a:t>
            </a:r>
            <a:r>
              <a:rPr lang="en-US" sz="2400" b="1" dirty="0"/>
              <a:t> : -</a:t>
            </a:r>
          </a:p>
          <a:p>
            <a:r>
              <a:rPr lang="en-US" sz="2400" b="1" dirty="0"/>
              <a:t>Definition:</a:t>
            </a:r>
            <a:r>
              <a:rPr lang="en-US" sz="2400" dirty="0"/>
              <a:t> Checks whether the queue has </a:t>
            </a:r>
            <a:r>
              <a:rPr lang="en-US" sz="2400" b="1" dirty="0"/>
              <a:t>no elements</a:t>
            </a:r>
            <a:r>
              <a:rPr lang="en-US" sz="2400" dirty="0"/>
              <a:t>.</a:t>
            </a:r>
          </a:p>
          <a:p>
            <a:r>
              <a:rPr lang="en-US" sz="2400" b="1" dirty="0"/>
              <a:t>5. </a:t>
            </a:r>
            <a:r>
              <a:rPr lang="en-US" sz="2400" b="1" dirty="0" err="1"/>
              <a:t>isFull</a:t>
            </a:r>
            <a:r>
              <a:rPr lang="en-US" sz="2400" b="1" dirty="0"/>
              <a:t> : -</a:t>
            </a:r>
          </a:p>
          <a:p>
            <a:r>
              <a:rPr lang="en-US" sz="2400" b="1" dirty="0"/>
              <a:t>Definition:</a:t>
            </a:r>
            <a:r>
              <a:rPr lang="en-US" sz="2400" dirty="0"/>
              <a:t> Checks whether the queue is </a:t>
            </a:r>
            <a:r>
              <a:rPr lang="en-US" sz="2400" b="1" dirty="0"/>
              <a:t>completely filled</a:t>
            </a:r>
            <a:r>
              <a:rPr lang="en-US" sz="2400" dirty="0"/>
              <a:t> (only for array implementation).</a:t>
            </a:r>
          </a:p>
          <a:p>
            <a:r>
              <a:rPr lang="en-US" sz="2400" b="1" dirty="0"/>
              <a:t>Condition:</a:t>
            </a:r>
            <a:endParaRPr lang="en-US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4655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6BEA9-CCD4-D7C1-CCE7-8B505DFB5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1" y="-62530"/>
            <a:ext cx="8596668" cy="879168"/>
          </a:xfrm>
        </p:spPr>
        <p:txBody>
          <a:bodyPr>
            <a:normAutofit/>
          </a:bodyPr>
          <a:lstStyle/>
          <a:p>
            <a:r>
              <a:rPr lang="en-US" sz="4800" dirty="0"/>
              <a:t>4.3] </a:t>
            </a:r>
            <a:r>
              <a:rPr lang="en-US" sz="4800" u="sng" dirty="0"/>
              <a:t>Types of queue</a:t>
            </a:r>
            <a:r>
              <a:rPr lang="en-US" sz="4800" dirty="0"/>
              <a:t> : -</a:t>
            </a:r>
            <a:endParaRPr lang="en-IN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85EA6-1D76-B471-F0E5-A71904ADB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491" y="816638"/>
            <a:ext cx="9488128" cy="4482950"/>
          </a:xfrm>
        </p:spPr>
        <p:txBody>
          <a:bodyPr>
            <a:normAutofit/>
          </a:bodyPr>
          <a:lstStyle/>
          <a:p>
            <a:r>
              <a:rPr lang="en-US" sz="2800" dirty="0"/>
              <a:t>A </a:t>
            </a:r>
            <a:r>
              <a:rPr lang="en-US" sz="2800" b="1" dirty="0"/>
              <a:t>Queue</a:t>
            </a:r>
            <a:r>
              <a:rPr lang="en-US" sz="2800" dirty="0"/>
              <a:t> is a linear data structure based on </a:t>
            </a:r>
            <a:r>
              <a:rPr lang="en-US" sz="2800" b="1" dirty="0"/>
              <a:t>FIFO (First In First Out)</a:t>
            </a:r>
            <a:r>
              <a:rPr lang="en-US" sz="2800" dirty="0"/>
              <a:t> principle.</a:t>
            </a:r>
            <a:br>
              <a:rPr lang="en-US" sz="2800" dirty="0"/>
            </a:br>
            <a:r>
              <a:rPr lang="en-US" sz="2800" dirty="0"/>
              <a:t>Depending on how elements are inserted, removed, or prioritized, there are different types :</a:t>
            </a:r>
          </a:p>
          <a:p>
            <a:pPr marL="514350" indent="-514350">
              <a:buAutoNum type="arabicPeriod"/>
            </a:pPr>
            <a:r>
              <a:rPr lang="en-US" sz="2800" dirty="0"/>
              <a:t>Simple Queue.</a:t>
            </a:r>
          </a:p>
          <a:p>
            <a:pPr marL="514350" indent="-514350">
              <a:buAutoNum type="arabicPeriod"/>
            </a:pPr>
            <a:r>
              <a:rPr lang="en-US" sz="2800" dirty="0"/>
              <a:t>Circular Queue.</a:t>
            </a:r>
          </a:p>
          <a:p>
            <a:pPr marL="514350" indent="-514350">
              <a:buAutoNum type="arabicPeriod"/>
            </a:pPr>
            <a:r>
              <a:rPr lang="en-US" sz="2800" dirty="0"/>
              <a:t>Priority Queue.</a:t>
            </a:r>
          </a:p>
          <a:p>
            <a:pPr marL="514350" indent="-514350">
              <a:buAutoNum type="arabicPeriod"/>
            </a:pPr>
            <a:endParaRPr lang="en-US" sz="2800" dirty="0"/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99658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12221-7C1F-AC68-5876-3EC8A8826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7316"/>
            <a:ext cx="8596668" cy="1120877"/>
          </a:xfrm>
        </p:spPr>
        <p:txBody>
          <a:bodyPr>
            <a:normAutofit/>
          </a:bodyPr>
          <a:lstStyle/>
          <a:p>
            <a:r>
              <a:rPr lang="en-US" sz="4800" dirty="0"/>
              <a:t>1. </a:t>
            </a:r>
            <a:r>
              <a:rPr lang="en-US" sz="4800" u="sng" dirty="0"/>
              <a:t>Simple Queue</a:t>
            </a:r>
            <a:r>
              <a:rPr lang="en-US" sz="4800" dirty="0"/>
              <a:t> : -</a:t>
            </a:r>
            <a:endParaRPr lang="en-IN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9F167E-7469-051E-3BA6-F489E6215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987" y="796412"/>
            <a:ext cx="9488129" cy="5737123"/>
          </a:xfrm>
        </p:spPr>
        <p:txBody>
          <a:bodyPr>
            <a:normAutofit/>
          </a:bodyPr>
          <a:lstStyle/>
          <a:p>
            <a:r>
              <a:rPr lang="en-US" sz="2400" b="1" dirty="0"/>
              <a:t>Definition:</a:t>
            </a:r>
            <a:br>
              <a:rPr lang="en-US" sz="2400" dirty="0"/>
            </a:br>
            <a:r>
              <a:rPr lang="en-US" sz="2400" dirty="0"/>
              <a:t>A </a:t>
            </a:r>
            <a:r>
              <a:rPr lang="en-US" sz="2400" b="1" dirty="0"/>
              <a:t>simple queue</a:t>
            </a:r>
            <a:r>
              <a:rPr lang="en-US" sz="2400" dirty="0"/>
              <a:t> is the basic type of queue where insertion happens </a:t>
            </a:r>
            <a:r>
              <a:rPr lang="en-US" sz="2400" b="1" dirty="0"/>
              <a:t>at the rear</a:t>
            </a:r>
            <a:r>
              <a:rPr lang="en-US" sz="2400" dirty="0"/>
              <a:t> and deletion happens </a:t>
            </a:r>
            <a:r>
              <a:rPr lang="en-US" sz="2400" b="1" dirty="0"/>
              <a:t>from the front</a:t>
            </a:r>
            <a:r>
              <a:rPr lang="en-US" sz="2400" dirty="0"/>
              <a:t>.</a:t>
            </a:r>
          </a:p>
          <a:p>
            <a:r>
              <a:rPr lang="en-US" sz="2400" b="1" dirty="0"/>
              <a:t>Example:</a:t>
            </a:r>
            <a:br>
              <a:rPr lang="en-US" sz="2400" dirty="0"/>
            </a:br>
            <a:r>
              <a:rPr lang="en-US" sz="2400" dirty="0"/>
              <a:t>People standing in line at a ticket counter.</a:t>
            </a:r>
          </a:p>
          <a:p>
            <a:r>
              <a:rPr lang="en-US" sz="2400" dirty="0"/>
              <a:t>First person enters first → leaves first.</a:t>
            </a:r>
          </a:p>
          <a:p>
            <a:r>
              <a:rPr lang="en-US" sz="2400" b="1" dirty="0"/>
              <a:t>Operations:</a:t>
            </a:r>
            <a:endParaRPr lang="en-US" sz="2400" dirty="0"/>
          </a:p>
          <a:p>
            <a:r>
              <a:rPr lang="en-US" sz="2400" dirty="0"/>
              <a:t>Enqueue → adds at </a:t>
            </a:r>
            <a:r>
              <a:rPr lang="en-US" sz="2400" b="1" dirty="0"/>
              <a:t>rear</a:t>
            </a:r>
            <a:endParaRPr lang="en-US" sz="2400" dirty="0"/>
          </a:p>
          <a:p>
            <a:r>
              <a:rPr lang="en-US" sz="2400" dirty="0"/>
              <a:t>Dequeue → removes from </a:t>
            </a:r>
            <a:r>
              <a:rPr lang="en-US" sz="2400" b="1" dirty="0"/>
              <a:t>front</a:t>
            </a:r>
            <a:endParaRPr lang="en-US" sz="2400" dirty="0"/>
          </a:p>
          <a:p>
            <a:r>
              <a:rPr lang="en-US" sz="2400" b="1" dirty="0"/>
              <a:t>Limitation:</a:t>
            </a:r>
            <a:br>
              <a:rPr lang="en-US" sz="2400" dirty="0"/>
            </a:br>
            <a:r>
              <a:rPr lang="en-US" sz="2400" dirty="0"/>
              <a:t>After several deletions, empty spaces at the front are </a:t>
            </a:r>
            <a:r>
              <a:rPr lang="en-US" sz="2400" b="1" dirty="0"/>
              <a:t>not reused</a:t>
            </a:r>
            <a:r>
              <a:rPr lang="en-US" sz="2400" dirty="0"/>
              <a:t> (leads to </a:t>
            </a:r>
            <a:r>
              <a:rPr lang="en-US" sz="2400" b="1" dirty="0"/>
              <a:t>wasted space</a:t>
            </a:r>
            <a:r>
              <a:rPr lang="en-US" sz="2400" dirty="0"/>
              <a:t>).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3523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0BD56-0240-B7CD-8CBA-618CB6844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064" y="-102419"/>
            <a:ext cx="8596668" cy="1046316"/>
          </a:xfrm>
        </p:spPr>
        <p:txBody>
          <a:bodyPr>
            <a:normAutofit/>
          </a:bodyPr>
          <a:lstStyle/>
          <a:p>
            <a:r>
              <a:rPr lang="en-US" sz="4800" dirty="0"/>
              <a:t>2. </a:t>
            </a:r>
            <a:r>
              <a:rPr lang="en-US" sz="4800" u="sng" dirty="0"/>
              <a:t>Circular Queue</a:t>
            </a:r>
            <a:r>
              <a:rPr lang="en-US" sz="4800" dirty="0"/>
              <a:t> : -</a:t>
            </a:r>
            <a:endParaRPr lang="en-IN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8BC87-D1DC-16B0-C349-4C24C5FF2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064" y="882445"/>
            <a:ext cx="9656368" cy="5987026"/>
          </a:xfrm>
        </p:spPr>
        <p:txBody>
          <a:bodyPr>
            <a:normAutofit fontScale="92500"/>
          </a:bodyPr>
          <a:lstStyle/>
          <a:p>
            <a:r>
              <a:rPr lang="en-US" sz="2400" b="1" dirty="0"/>
              <a:t>Definition:</a:t>
            </a:r>
            <a:br>
              <a:rPr lang="en-US" sz="2400" dirty="0"/>
            </a:br>
            <a:r>
              <a:rPr lang="en-US" sz="2400" dirty="0"/>
              <a:t>A </a:t>
            </a:r>
            <a:r>
              <a:rPr lang="en-US" sz="2400" b="1" dirty="0"/>
              <a:t>circular queue</a:t>
            </a:r>
            <a:r>
              <a:rPr lang="en-US" sz="2400" dirty="0"/>
              <a:t> connects the last position back to the first position to make a </a:t>
            </a:r>
            <a:r>
              <a:rPr lang="en-US" sz="2400" b="1" dirty="0"/>
              <a:t>circle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This allows efficient use of memory by reusing freed spaces.</a:t>
            </a:r>
          </a:p>
          <a:p>
            <a:r>
              <a:rPr lang="en-US" sz="2400" b="1" dirty="0"/>
              <a:t>Working:</a:t>
            </a:r>
            <a:endParaRPr lang="en-US" sz="2400" dirty="0"/>
          </a:p>
          <a:p>
            <a:r>
              <a:rPr lang="en-US" sz="2400" dirty="0"/>
              <a:t>When the </a:t>
            </a:r>
            <a:r>
              <a:rPr lang="en-US" sz="2400" b="1" dirty="0"/>
              <a:t>rear</a:t>
            </a:r>
            <a:r>
              <a:rPr lang="en-US" sz="2400" dirty="0"/>
              <a:t> reaches the end of the array, it wraps around to the </a:t>
            </a:r>
            <a:r>
              <a:rPr lang="en-US" sz="2400" b="1" dirty="0"/>
              <a:t>beginning</a:t>
            </a:r>
            <a:r>
              <a:rPr lang="en-US" sz="2400" dirty="0"/>
              <a:t> (if space is available).</a:t>
            </a:r>
          </a:p>
          <a:p>
            <a:r>
              <a:rPr lang="en-US" sz="2400" dirty="0"/>
              <a:t>Follows </a:t>
            </a:r>
            <a:r>
              <a:rPr lang="en-US" sz="2400" b="1" dirty="0"/>
              <a:t>FIFO</a:t>
            </a:r>
            <a:r>
              <a:rPr lang="en-US" sz="2400" dirty="0"/>
              <a:t> principle.</a:t>
            </a:r>
          </a:p>
          <a:p>
            <a:r>
              <a:rPr lang="en-US" sz="2400" b="1" dirty="0"/>
              <a:t>Example:</a:t>
            </a:r>
            <a:br>
              <a:rPr lang="en-US" sz="2400" dirty="0"/>
            </a:br>
            <a:r>
              <a:rPr lang="en-US" sz="2400" dirty="0"/>
              <a:t>If MAX = 5,</a:t>
            </a:r>
            <a:br>
              <a:rPr lang="en-US" sz="2400" dirty="0"/>
            </a:br>
            <a:r>
              <a:rPr lang="en-US" sz="2400" dirty="0"/>
              <a:t>After inserting elements in all positions and deleting some from the front, the next new element will go into the </a:t>
            </a:r>
            <a:r>
              <a:rPr lang="en-US" sz="2400" b="1" dirty="0"/>
              <a:t>freed positions at the beginning</a:t>
            </a:r>
            <a:r>
              <a:rPr lang="en-US" sz="2400" dirty="0"/>
              <a:t>.</a:t>
            </a:r>
          </a:p>
          <a:p>
            <a:r>
              <a:rPr lang="en-US" sz="2400" b="1" dirty="0"/>
              <a:t>Advantages:</a:t>
            </a:r>
            <a:br>
              <a:rPr lang="en-US" sz="2400" dirty="0"/>
            </a:br>
            <a:r>
              <a:rPr lang="en-US" sz="2400" dirty="0"/>
              <a:t>✅ Efficient memory utilization</a:t>
            </a:r>
            <a:br>
              <a:rPr lang="en-US" sz="2400" dirty="0"/>
            </a:br>
            <a:r>
              <a:rPr lang="en-US" sz="2400" dirty="0"/>
              <a:t>✅ No wasted space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65991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C8AA4-AF03-6D3E-4C41-21B3EB964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065" y="-82755"/>
            <a:ext cx="8596668" cy="977490"/>
          </a:xfrm>
        </p:spPr>
        <p:txBody>
          <a:bodyPr>
            <a:normAutofit/>
          </a:bodyPr>
          <a:lstStyle/>
          <a:p>
            <a:r>
              <a:rPr lang="en-US" sz="4800" dirty="0"/>
              <a:t>3. </a:t>
            </a:r>
            <a:r>
              <a:rPr lang="en-US" sz="4800" u="sng" dirty="0"/>
              <a:t>Priority Queue</a:t>
            </a:r>
            <a:r>
              <a:rPr lang="en-US" sz="4800" dirty="0"/>
              <a:t> : -</a:t>
            </a:r>
            <a:endParaRPr lang="en-IN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48B5D-05D8-E8FB-77AA-F38C7785C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05" y="491612"/>
            <a:ext cx="10059490" cy="6026355"/>
          </a:xfrm>
        </p:spPr>
        <p:txBody>
          <a:bodyPr>
            <a:normAutofit/>
          </a:bodyPr>
          <a:lstStyle/>
          <a:p>
            <a:r>
              <a:rPr lang="en-US" sz="2400" b="1" dirty="0"/>
              <a:t>Definition:</a:t>
            </a:r>
            <a:br>
              <a:rPr lang="en-US" sz="2400" dirty="0"/>
            </a:br>
            <a:r>
              <a:rPr lang="en-US" sz="2400" dirty="0"/>
              <a:t>A </a:t>
            </a:r>
            <a:r>
              <a:rPr lang="en-US" sz="2400" b="1" dirty="0"/>
              <a:t>priority queue</a:t>
            </a:r>
            <a:r>
              <a:rPr lang="en-US" sz="2400" dirty="0"/>
              <a:t> is a special queue where each element is assigned a </a:t>
            </a:r>
            <a:r>
              <a:rPr lang="en-US" sz="2400" b="1" dirty="0"/>
              <a:t>priority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The element with </a:t>
            </a:r>
            <a:r>
              <a:rPr lang="en-US" sz="2400" b="1" dirty="0"/>
              <a:t>higher priority</a:t>
            </a:r>
            <a:r>
              <a:rPr lang="en-US" sz="2400" dirty="0"/>
              <a:t> is </a:t>
            </a:r>
            <a:r>
              <a:rPr lang="en-US" sz="2400" b="1" dirty="0"/>
              <a:t>served first</a:t>
            </a:r>
            <a:r>
              <a:rPr lang="en-US" sz="2400" dirty="0"/>
              <a:t>, regardless of insertion order.</a:t>
            </a:r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r>
              <a:rPr lang="en-US" sz="2400" b="1" dirty="0"/>
              <a:t>Example:</a:t>
            </a:r>
            <a:endParaRPr lang="en-US" sz="2400" dirty="0"/>
          </a:p>
          <a:p>
            <a:r>
              <a:rPr lang="en-US" sz="2400" dirty="0"/>
              <a:t>If we insert A, B, C — the processing order will be </a:t>
            </a:r>
            <a:r>
              <a:rPr lang="en-US" sz="2400" b="1" dirty="0"/>
              <a:t>C (3), A (2), B (1)</a:t>
            </a:r>
            <a:r>
              <a:rPr lang="en-US" sz="2400" dirty="0"/>
              <a:t>.</a:t>
            </a:r>
            <a:endParaRPr lang="en-IN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2D0731-6BA2-1931-D3A7-6F85E131FF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278026"/>
              </p:ext>
            </p:extLst>
          </p:nvPr>
        </p:nvGraphicFramePr>
        <p:xfrm>
          <a:off x="311715" y="2708663"/>
          <a:ext cx="8596312" cy="2423776"/>
        </p:xfrm>
        <a:graphic>
          <a:graphicData uri="http://schemas.openxmlformats.org/drawingml/2006/table">
            <a:tbl>
              <a:tblPr/>
              <a:tblGrid>
                <a:gridCol w="4298156">
                  <a:extLst>
                    <a:ext uri="{9D8B030D-6E8A-4147-A177-3AD203B41FA5}">
                      <a16:colId xmlns:a16="http://schemas.microsoft.com/office/drawing/2014/main" val="1792306347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4139145922"/>
                    </a:ext>
                  </a:extLst>
                </a:gridCol>
              </a:tblGrid>
              <a:tr h="605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Element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Priority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1879251"/>
                  </a:ext>
                </a:extLst>
              </a:tr>
              <a:tr h="605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8213480"/>
                  </a:ext>
                </a:extLst>
              </a:tr>
              <a:tr h="605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4227807"/>
                  </a:ext>
                </a:extLst>
              </a:tr>
              <a:tr h="605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4806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4000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6324A-3432-DA26-1C8D-265A9DC57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17" y="-171245"/>
            <a:ext cx="11082047" cy="1154471"/>
          </a:xfrm>
        </p:spPr>
        <p:txBody>
          <a:bodyPr>
            <a:normAutofit/>
          </a:bodyPr>
          <a:lstStyle/>
          <a:p>
            <a:r>
              <a:rPr lang="en-US" sz="4800" dirty="0"/>
              <a:t>4.3] </a:t>
            </a:r>
            <a:r>
              <a:rPr lang="en-US" sz="4800" u="sng" dirty="0"/>
              <a:t>Types of priority queues</a:t>
            </a:r>
            <a:r>
              <a:rPr lang="en-US" sz="4800" dirty="0"/>
              <a:t> : -</a:t>
            </a:r>
            <a:endParaRPr lang="en-IN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299240-B285-0A24-5EB9-B419C193F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5217" y="521110"/>
            <a:ext cx="9656369" cy="6032090"/>
          </a:xfrm>
        </p:spPr>
        <p:txBody>
          <a:bodyPr>
            <a:normAutofit/>
          </a:bodyPr>
          <a:lstStyle/>
          <a:p>
            <a:r>
              <a:rPr lang="en-US" sz="2400" b="1" dirty="0"/>
              <a:t>Ascending Priority Queue:</a:t>
            </a:r>
            <a:endParaRPr lang="en-US" sz="2400" dirty="0"/>
          </a:p>
          <a:p>
            <a:pPr lvl="1"/>
            <a:r>
              <a:rPr lang="en-US" sz="2400" dirty="0"/>
              <a:t>Smallest number = highest priority</a:t>
            </a:r>
          </a:p>
          <a:p>
            <a:pPr lvl="1"/>
            <a:r>
              <a:rPr lang="en-US" sz="2400" dirty="0"/>
              <a:t>(Used in job scheduling where smaller time jobs run first)</a:t>
            </a:r>
          </a:p>
          <a:p>
            <a:r>
              <a:rPr lang="en-US" sz="2400" b="1" dirty="0"/>
              <a:t>Descending Priority Queue:</a:t>
            </a:r>
            <a:endParaRPr lang="en-US" sz="2400" dirty="0"/>
          </a:p>
          <a:p>
            <a:pPr lvl="1"/>
            <a:r>
              <a:rPr lang="en-US" sz="2400" dirty="0"/>
              <a:t>Largest number = highest priority</a:t>
            </a:r>
          </a:p>
          <a:p>
            <a:pPr lvl="1"/>
            <a:r>
              <a:rPr lang="en-US" sz="2400" dirty="0"/>
              <a:t>(Used in emergency systems)</a:t>
            </a:r>
          </a:p>
          <a:p>
            <a:r>
              <a:rPr lang="en-US" sz="2400" b="1" dirty="0"/>
              <a:t>Applications:</a:t>
            </a:r>
            <a:endParaRPr lang="en-US" sz="2400" dirty="0"/>
          </a:p>
          <a:p>
            <a:r>
              <a:rPr lang="en-US" sz="2400" dirty="0"/>
              <a:t>Job scheduling in operating systems</a:t>
            </a:r>
          </a:p>
          <a:p>
            <a:r>
              <a:rPr lang="en-US" sz="2400" dirty="0"/>
              <a:t>Handling interrupts in hardware systems</a:t>
            </a:r>
          </a:p>
          <a:p>
            <a:r>
              <a:rPr lang="en-US" sz="2400" dirty="0"/>
              <a:t>Network packet routing (high-priority packets first)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76808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892EE-AFCD-27D8-6421-EA610B734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76982"/>
            <a:ext cx="11287432" cy="1101213"/>
          </a:xfrm>
        </p:spPr>
        <p:txBody>
          <a:bodyPr>
            <a:normAutofit/>
          </a:bodyPr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US" sz="4800" u="sng" dirty="0"/>
              <a:t>Double Ended Queue (Deque)</a:t>
            </a:r>
            <a:r>
              <a:rPr lang="en-US" sz="4800" dirty="0"/>
              <a:t> : -</a:t>
            </a:r>
            <a:endParaRPr lang="en-IN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3CE7CC-4479-DBBD-D7DB-6995CCEA3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84" y="793136"/>
            <a:ext cx="9144000" cy="5234038"/>
          </a:xfrm>
        </p:spPr>
        <p:txBody>
          <a:bodyPr>
            <a:normAutofit/>
          </a:bodyPr>
          <a:lstStyle/>
          <a:p>
            <a:r>
              <a:rPr lang="en-US" sz="2800" b="1" dirty="0"/>
              <a:t>Definition:</a:t>
            </a:r>
            <a:br>
              <a:rPr lang="en-US" sz="2800" dirty="0"/>
            </a:br>
            <a:r>
              <a:rPr lang="en-US" sz="2800" dirty="0"/>
              <a:t>A </a:t>
            </a:r>
            <a:r>
              <a:rPr lang="en-US" sz="2800" b="1" dirty="0"/>
              <a:t>Deque (Double Ended Queue)</a:t>
            </a:r>
            <a:r>
              <a:rPr lang="en-US" sz="2800" dirty="0"/>
              <a:t> allows </a:t>
            </a:r>
            <a:r>
              <a:rPr lang="en-US" sz="2800" b="1" dirty="0"/>
              <a:t>insertion and deletion from both ends</a:t>
            </a:r>
            <a:r>
              <a:rPr lang="en-US" sz="2800" dirty="0"/>
              <a:t> — front and rear.</a:t>
            </a:r>
          </a:p>
          <a:p>
            <a:r>
              <a:rPr lang="en-US" sz="2800" b="1" dirty="0"/>
              <a:t>Types of Deque:</a:t>
            </a:r>
            <a:endParaRPr lang="en-US" sz="2800" dirty="0"/>
          </a:p>
          <a:p>
            <a:r>
              <a:rPr lang="en-US" sz="2800" b="1" dirty="0"/>
              <a:t>Input-restricted deque:</a:t>
            </a:r>
            <a:r>
              <a:rPr lang="en-US" sz="2800" dirty="0"/>
              <a:t> insertion at one end only.</a:t>
            </a:r>
          </a:p>
          <a:p>
            <a:r>
              <a:rPr lang="en-US" sz="2800" b="1" dirty="0"/>
              <a:t>Output-restricted deque:</a:t>
            </a:r>
            <a:r>
              <a:rPr lang="en-US" sz="2800" dirty="0"/>
              <a:t> deletion at one end only.</a:t>
            </a:r>
          </a:p>
          <a:p>
            <a:r>
              <a:rPr lang="en-US" sz="2800" b="1" dirty="0"/>
              <a:t>Example:</a:t>
            </a:r>
            <a:br>
              <a:rPr lang="en-US" sz="2800" dirty="0"/>
            </a:br>
            <a:r>
              <a:rPr lang="en-US" sz="2800" dirty="0"/>
              <a:t>Used in implementing undo operations, palindrome checking, etc.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428165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BACB7-216D-A079-EA86-041DF6851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26" y="-226142"/>
            <a:ext cx="8596668" cy="1140542"/>
          </a:xfrm>
        </p:spPr>
        <p:txBody>
          <a:bodyPr>
            <a:normAutofit/>
          </a:bodyPr>
          <a:lstStyle/>
          <a:p>
            <a:r>
              <a:rPr lang="en-US" sz="4800"/>
              <a:t>4.4] </a:t>
            </a:r>
            <a:r>
              <a:rPr lang="en-US" sz="4800" u="sng"/>
              <a:t>Applications of queue</a:t>
            </a:r>
            <a:r>
              <a:rPr lang="en-US" sz="4800"/>
              <a:t> : -</a:t>
            </a:r>
            <a:endParaRPr lang="en-IN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BB28A3-043E-7259-19CD-0661CEB85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6226" y="747251"/>
            <a:ext cx="9410561" cy="4188543"/>
          </a:xfrm>
        </p:spPr>
        <p:txBody>
          <a:bodyPr>
            <a:normAutofit/>
          </a:bodyPr>
          <a:lstStyle/>
          <a:p>
            <a:r>
              <a:rPr lang="en-US" sz="2400" dirty="0"/>
              <a:t>A </a:t>
            </a:r>
            <a:r>
              <a:rPr lang="en-US" sz="2400" b="1" dirty="0"/>
              <a:t>Queue</a:t>
            </a:r>
            <a:r>
              <a:rPr lang="en-US" sz="2400" dirty="0"/>
              <a:t> is used wherever </a:t>
            </a:r>
            <a:r>
              <a:rPr lang="en-US" sz="2400" b="1" dirty="0"/>
              <a:t>data needs to be processed in the same order it arrives</a:t>
            </a:r>
            <a:r>
              <a:rPr lang="en-US" sz="2400" dirty="0"/>
              <a:t> —</a:t>
            </a:r>
            <a:br>
              <a:rPr lang="en-US" sz="2400" dirty="0"/>
            </a:br>
            <a:r>
              <a:rPr lang="en-US" sz="2400" dirty="0"/>
              <a:t>that is, </a:t>
            </a:r>
            <a:r>
              <a:rPr lang="en-US" sz="2400" b="1" dirty="0"/>
              <a:t>First In, First Out (FIFO)</a:t>
            </a:r>
            <a:r>
              <a:rPr lang="en-US" sz="2400" dirty="0"/>
              <a:t>.</a:t>
            </a:r>
          </a:p>
          <a:p>
            <a:r>
              <a:rPr lang="en-US" sz="2400" dirty="0"/>
              <a:t>Let’s see both </a:t>
            </a:r>
            <a:r>
              <a:rPr lang="en-US" sz="2400" b="1" dirty="0"/>
              <a:t>real-life</a:t>
            </a:r>
            <a:r>
              <a:rPr lang="en-US" sz="2400" dirty="0"/>
              <a:t> and </a:t>
            </a:r>
            <a:r>
              <a:rPr lang="en-US" sz="2400" b="1" dirty="0"/>
              <a:t>computer science</a:t>
            </a:r>
            <a:r>
              <a:rPr lang="en-US" sz="2400" dirty="0"/>
              <a:t> applications 👇</a:t>
            </a:r>
            <a:br>
              <a:rPr lang="en-US" sz="2400" dirty="0"/>
            </a:br>
            <a:endParaRPr lang="en-US" sz="2400" dirty="0"/>
          </a:p>
          <a:p>
            <a:r>
              <a:rPr lang="en-US" sz="2400" b="1" dirty="0"/>
              <a:t>🏢 1️⃣ Real-Life Applications</a:t>
            </a:r>
          </a:p>
          <a:p>
            <a:r>
              <a:rPr lang="en-IN" sz="2400" dirty="0"/>
              <a:t>Ticket Counter Line’</a:t>
            </a:r>
          </a:p>
          <a:p>
            <a:r>
              <a:rPr lang="en-IN" sz="2400" dirty="0"/>
              <a:t>Call </a:t>
            </a:r>
            <a:r>
              <a:rPr lang="en-IN" sz="2400" dirty="0" err="1"/>
              <a:t>Center</a:t>
            </a:r>
            <a:r>
              <a:rPr lang="en-IN" sz="2400" dirty="0"/>
              <a:t> Queue</a:t>
            </a:r>
          </a:p>
          <a:p>
            <a:r>
              <a:rPr lang="en-IN" sz="2400" dirty="0"/>
              <a:t>Printer Queue</a:t>
            </a:r>
          </a:p>
        </p:txBody>
      </p:sp>
    </p:spTree>
    <p:extLst>
      <p:ext uri="{BB962C8B-B14F-4D97-AF65-F5344CB8AC3E}">
        <p14:creationId xmlns:p14="http://schemas.microsoft.com/office/powerpoint/2010/main" val="2896466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66C61-8E99-7D5B-6BBA-F75867FCA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22" y="-161413"/>
            <a:ext cx="8596668" cy="1046316"/>
          </a:xfrm>
        </p:spPr>
        <p:txBody>
          <a:bodyPr>
            <a:normAutofit/>
          </a:bodyPr>
          <a:lstStyle/>
          <a:p>
            <a:r>
              <a:rPr lang="en-US" sz="4800" dirty="0"/>
              <a:t>4.5] </a:t>
            </a:r>
            <a:r>
              <a:rPr lang="en-US" sz="4800" u="sng" dirty="0"/>
              <a:t>Job Scheduling</a:t>
            </a:r>
            <a:r>
              <a:rPr lang="en-US" sz="4800" dirty="0"/>
              <a:t> : -</a:t>
            </a:r>
            <a:endParaRPr lang="en-IN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240000-43E5-391F-C9AC-EE0A77B21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5722" y="703547"/>
            <a:ext cx="9489220" cy="3632480"/>
          </a:xfrm>
        </p:spPr>
        <p:txBody>
          <a:bodyPr>
            <a:normAutofit/>
          </a:bodyPr>
          <a:lstStyle/>
          <a:p>
            <a:r>
              <a:rPr lang="en-US" sz="2400" b="1" dirty="0"/>
              <a:t>Definition:</a:t>
            </a:r>
          </a:p>
          <a:p>
            <a:r>
              <a:rPr lang="en-US" sz="2400" b="1" dirty="0"/>
              <a:t>Job Scheduling</a:t>
            </a:r>
            <a:r>
              <a:rPr lang="en-US" sz="2400" dirty="0"/>
              <a:t> is the process of </a:t>
            </a:r>
            <a:r>
              <a:rPr lang="en-US" sz="2400" b="1" dirty="0"/>
              <a:t>managing and executing multiple jobs (tasks or processes)</a:t>
            </a:r>
            <a:r>
              <a:rPr lang="en-US" sz="2400" dirty="0"/>
              <a:t> in a computer system by determining </a:t>
            </a:r>
            <a:r>
              <a:rPr lang="en-US" sz="2400" b="1" dirty="0"/>
              <a:t>which job should run first</a:t>
            </a:r>
            <a:r>
              <a:rPr lang="en-US" sz="2400" dirty="0"/>
              <a:t> and </a:t>
            </a:r>
            <a:r>
              <a:rPr lang="en-US" sz="2400" b="1" dirty="0"/>
              <a:t>which should wait</a:t>
            </a:r>
            <a:r>
              <a:rPr lang="en-US" sz="2400" dirty="0"/>
              <a:t>.</a:t>
            </a:r>
          </a:p>
          <a:p>
            <a:r>
              <a:rPr lang="en-US" sz="2400" dirty="0"/>
              <a:t>The </a:t>
            </a:r>
            <a:r>
              <a:rPr lang="en-US" sz="2400" b="1" dirty="0"/>
              <a:t>Operating System (OS)</a:t>
            </a:r>
            <a:r>
              <a:rPr lang="en-US" sz="2400" dirty="0"/>
              <a:t> uses </a:t>
            </a:r>
            <a:r>
              <a:rPr lang="en-US" sz="2400" b="1" dirty="0"/>
              <a:t>queues</a:t>
            </a:r>
            <a:r>
              <a:rPr lang="en-US" sz="2400" dirty="0"/>
              <a:t> to organize jobs for execution.</a:t>
            </a:r>
          </a:p>
          <a:p>
            <a:r>
              <a:rPr lang="en-US" sz="2400" b="1" dirty="0"/>
              <a:t>Types of Job Scheduling Queues</a:t>
            </a:r>
          </a:p>
          <a:p>
            <a:endParaRPr lang="en-IN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CC7BB9-3396-1A55-BFFF-70E5F78634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907647"/>
              </p:ext>
            </p:extLst>
          </p:nvPr>
        </p:nvGraphicFramePr>
        <p:xfrm>
          <a:off x="373626" y="3868453"/>
          <a:ext cx="8408764" cy="2866643"/>
        </p:xfrm>
        <a:graphic>
          <a:graphicData uri="http://schemas.openxmlformats.org/drawingml/2006/table">
            <a:tbl>
              <a:tblPr/>
              <a:tblGrid>
                <a:gridCol w="4204382">
                  <a:extLst>
                    <a:ext uri="{9D8B030D-6E8A-4147-A177-3AD203B41FA5}">
                      <a16:colId xmlns:a16="http://schemas.microsoft.com/office/drawing/2014/main" val="1289858441"/>
                    </a:ext>
                  </a:extLst>
                </a:gridCol>
                <a:gridCol w="4204382">
                  <a:extLst>
                    <a:ext uri="{9D8B030D-6E8A-4147-A177-3AD203B41FA5}">
                      <a16:colId xmlns:a16="http://schemas.microsoft.com/office/drawing/2014/main" val="2533242132"/>
                    </a:ext>
                  </a:extLst>
                </a:gridCol>
              </a:tblGrid>
              <a:tr h="458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Type of Queue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Description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1421840"/>
                  </a:ext>
                </a:extLst>
              </a:tr>
              <a:tr h="8026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Job Queue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Holds all jobs waiting to be brought into main memory for execution.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0046410"/>
                  </a:ext>
                </a:extLst>
              </a:tr>
              <a:tr h="8026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Ready Queue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Contains all processes that are in main memory and ready for CPU execution.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707838"/>
                  </a:ext>
                </a:extLst>
              </a:tr>
              <a:tr h="8026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Waiting Queue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Contains processes waiting for I/O operations to complete.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4989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5207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B52B5-43E8-8F7E-1571-BBCF4AC7A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063" y="-157316"/>
            <a:ext cx="10138149" cy="1042219"/>
          </a:xfrm>
        </p:spPr>
        <p:txBody>
          <a:bodyPr>
            <a:normAutofit/>
          </a:bodyPr>
          <a:lstStyle/>
          <a:p>
            <a:r>
              <a:rPr lang="en-US" sz="4800" dirty="0"/>
              <a:t>4.6] </a:t>
            </a:r>
            <a:r>
              <a:rPr lang="en-US" sz="4800" u="sng" dirty="0"/>
              <a:t>Definition of task scheduling</a:t>
            </a:r>
            <a:r>
              <a:rPr lang="en-US" sz="4800" dirty="0"/>
              <a:t> : -</a:t>
            </a:r>
            <a:endParaRPr lang="en-IN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5CE95-F61C-14AE-350F-6D6623692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5553" y="737419"/>
            <a:ext cx="10138149" cy="3116826"/>
          </a:xfrm>
        </p:spPr>
        <p:txBody>
          <a:bodyPr>
            <a:normAutofit/>
          </a:bodyPr>
          <a:lstStyle/>
          <a:p>
            <a:r>
              <a:rPr lang="en-US" sz="2400" b="1" dirty="0"/>
              <a:t>Task Scheduling</a:t>
            </a:r>
            <a:r>
              <a:rPr lang="en-US" sz="2400" dirty="0"/>
              <a:t> is the process of </a:t>
            </a:r>
            <a:r>
              <a:rPr lang="en-US" sz="2400" b="1" dirty="0"/>
              <a:t>deciding the order in which tasks (or processes)</a:t>
            </a:r>
            <a:r>
              <a:rPr lang="en-US" sz="2400" dirty="0"/>
              <a:t> are executed by the </a:t>
            </a:r>
            <a:r>
              <a:rPr lang="en-US" sz="2400" b="1" dirty="0"/>
              <a:t>CPU</a:t>
            </a:r>
            <a:r>
              <a:rPr lang="en-US" sz="2400" dirty="0"/>
              <a:t> or any </a:t>
            </a:r>
            <a:r>
              <a:rPr lang="en-US" sz="2400" b="1" dirty="0"/>
              <a:t>processor</a:t>
            </a:r>
            <a:r>
              <a:rPr lang="en-US" sz="2400" dirty="0"/>
              <a:t> in a system.</a:t>
            </a:r>
          </a:p>
          <a:p>
            <a:r>
              <a:rPr lang="en-US" sz="2400" dirty="0"/>
              <a:t>➡️ It ensures that </a:t>
            </a:r>
            <a:r>
              <a:rPr lang="en-US" sz="2400" b="1" dirty="0"/>
              <a:t>each task gets CPU time</a:t>
            </a:r>
            <a:r>
              <a:rPr lang="en-US" sz="2400" dirty="0"/>
              <a:t>, resources are used efficiently, and the </a:t>
            </a:r>
            <a:r>
              <a:rPr lang="en-US" sz="2400" b="1" dirty="0"/>
              <a:t>system runs smoothly</a:t>
            </a:r>
            <a:r>
              <a:rPr lang="en-US" sz="2400" dirty="0"/>
              <a:t>.</a:t>
            </a:r>
          </a:p>
          <a:p>
            <a:r>
              <a:rPr lang="en-US" sz="2400" dirty="0"/>
              <a:t>Like </a:t>
            </a:r>
            <a:r>
              <a:rPr lang="en-US" sz="2400" b="1" dirty="0"/>
              <a:t>Job Scheduling</a:t>
            </a:r>
            <a:r>
              <a:rPr lang="en-US" sz="2400" dirty="0"/>
              <a:t>, </a:t>
            </a:r>
            <a:r>
              <a:rPr lang="en-US" sz="2400" b="1" dirty="0"/>
              <a:t>Task Scheduling</a:t>
            </a:r>
            <a:r>
              <a:rPr lang="en-US" sz="2400" dirty="0"/>
              <a:t> also makes use of </a:t>
            </a:r>
            <a:r>
              <a:rPr lang="en-US" sz="2400" b="1" dirty="0"/>
              <a:t>Queues</a:t>
            </a:r>
            <a:r>
              <a:rPr lang="en-US" sz="2400" dirty="0"/>
              <a:t> to organize and manage tasks.</a:t>
            </a:r>
          </a:p>
          <a:p>
            <a:endParaRPr lang="en-IN" sz="24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F749267-AA17-8C37-CCF9-5483252A9C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027815"/>
              </p:ext>
            </p:extLst>
          </p:nvPr>
        </p:nvGraphicFramePr>
        <p:xfrm>
          <a:off x="510715" y="3429000"/>
          <a:ext cx="8596312" cy="2926080"/>
        </p:xfrm>
        <a:graphic>
          <a:graphicData uri="http://schemas.openxmlformats.org/drawingml/2006/table">
            <a:tbl>
              <a:tblPr/>
              <a:tblGrid>
                <a:gridCol w="4298156">
                  <a:extLst>
                    <a:ext uri="{9D8B030D-6E8A-4147-A177-3AD203B41FA5}">
                      <a16:colId xmlns:a16="http://schemas.microsoft.com/office/drawing/2014/main" val="2065800819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17129339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Queue Type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Purpose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8665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Ready Queue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Holds all tasks that are ready for execution by the CPU.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5791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Waiting Queue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Holds tasks waiting for I/O operations or other resources.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29419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Job Queue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Holds all jobs/tasks that have entered the system.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8952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Device Queue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Holds tasks waiting to use a specific device (like printer, disk, etc.)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233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548062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55</TotalTime>
  <Words>1141</Words>
  <Application>Microsoft Office PowerPoint</Application>
  <PresentationFormat>Widescreen</PresentationFormat>
  <Paragraphs>121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Algerian</vt:lpstr>
      <vt:lpstr>Arial</vt:lpstr>
      <vt:lpstr>Trebuchet MS</vt:lpstr>
      <vt:lpstr>Wingdings</vt:lpstr>
      <vt:lpstr>Wingdings 3</vt:lpstr>
      <vt:lpstr>Facet</vt:lpstr>
      <vt:lpstr>05. Queue </vt:lpstr>
      <vt:lpstr>4.1] Definition of queue : -</vt:lpstr>
      <vt:lpstr>Queue as an abstract data type (ADT) : -</vt:lpstr>
      <vt:lpstr>4.2] Operations on queue : -</vt:lpstr>
      <vt:lpstr>PowerPoint Presentation</vt:lpstr>
      <vt:lpstr>4.3] Types of queue : -</vt:lpstr>
      <vt:lpstr>1. Simple Queue : -</vt:lpstr>
      <vt:lpstr>2. Circular Queue : -</vt:lpstr>
      <vt:lpstr>3. Priority Queue : -</vt:lpstr>
      <vt:lpstr>4.3] Types of priority queues : -</vt:lpstr>
      <vt:lpstr>Double Ended Queue (Deque) : -</vt:lpstr>
      <vt:lpstr>4.4] Applications of queue : -</vt:lpstr>
      <vt:lpstr>4.5] Job Scheduling : -</vt:lpstr>
      <vt:lpstr>4.6] Definition of task scheduling : 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Darpan Shedge</dc:creator>
  <cp:lastModifiedBy>Darpan Shedge</cp:lastModifiedBy>
  <cp:revision>2</cp:revision>
  <dcterms:created xsi:type="dcterms:W3CDTF">2025-11-04T06:29:10Z</dcterms:created>
  <dcterms:modified xsi:type="dcterms:W3CDTF">2025-11-04T07:24:27Z</dcterms:modified>
</cp:coreProperties>
</file>