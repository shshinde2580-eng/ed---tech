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6"/>
  </p:notesMasterIdLst>
  <p:sldIdLst>
    <p:sldId id="256" r:id="rId2"/>
    <p:sldId id="257" r:id="rId3"/>
    <p:sldId id="258" r:id="rId4"/>
    <p:sldId id="259" r:id="rId5"/>
    <p:sldId id="268" r:id="rId6"/>
    <p:sldId id="260" r:id="rId7"/>
    <p:sldId id="269" r:id="rId8"/>
    <p:sldId id="261" r:id="rId9"/>
    <p:sldId id="270" r:id="rId10"/>
    <p:sldId id="271" r:id="rId11"/>
    <p:sldId id="272" r:id="rId12"/>
    <p:sldId id="273" r:id="rId13"/>
    <p:sldId id="275" r:id="rId14"/>
    <p:sldId id="274" r:id="rId15"/>
    <p:sldId id="262" r:id="rId16"/>
    <p:sldId id="263" r:id="rId17"/>
    <p:sldId id="276" r:id="rId18"/>
    <p:sldId id="277" r:id="rId19"/>
    <p:sldId id="278" r:id="rId20"/>
    <p:sldId id="279" r:id="rId21"/>
    <p:sldId id="286" r:id="rId22"/>
    <p:sldId id="287" r:id="rId23"/>
    <p:sldId id="288" r:id="rId24"/>
    <p:sldId id="289" r:id="rId25"/>
    <p:sldId id="290" r:id="rId26"/>
    <p:sldId id="264" r:id="rId27"/>
    <p:sldId id="265" r:id="rId28"/>
    <p:sldId id="266" r:id="rId29"/>
    <p:sldId id="267" r:id="rId30"/>
    <p:sldId id="292" r:id="rId31"/>
    <p:sldId id="291" r:id="rId32"/>
    <p:sldId id="280" r:id="rId33"/>
    <p:sldId id="281" r:id="rId34"/>
    <p:sldId id="282" r:id="rId35"/>
    <p:sldId id="283" r:id="rId36"/>
    <p:sldId id="284" r:id="rId37"/>
    <p:sldId id="285" r:id="rId38"/>
    <p:sldId id="293" r:id="rId39"/>
    <p:sldId id="294" r:id="rId40"/>
    <p:sldId id="295" r:id="rId41"/>
    <p:sldId id="296" r:id="rId42"/>
    <p:sldId id="297" r:id="rId43"/>
    <p:sldId id="298" r:id="rId44"/>
    <p:sldId id="299" r:id="rId45"/>
    <p:sldId id="300" r:id="rId46"/>
    <p:sldId id="302" r:id="rId47"/>
    <p:sldId id="301" r:id="rId48"/>
    <p:sldId id="303" r:id="rId49"/>
    <p:sldId id="304" r:id="rId50"/>
    <p:sldId id="305" r:id="rId51"/>
    <p:sldId id="306" r:id="rId52"/>
    <p:sldId id="311" r:id="rId53"/>
    <p:sldId id="307" r:id="rId54"/>
    <p:sldId id="308"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4204AC-7B89-4615-B412-93BC15C68B30}" v="153" dt="2025-10-10T18:43:51.413"/>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07" autoAdjust="0"/>
    <p:restoredTop sz="94660"/>
  </p:normalViewPr>
  <p:slideViewPr>
    <p:cSldViewPr snapToGrid="0">
      <p:cViewPr varScale="1">
        <p:scale>
          <a:sx n="77" d="100"/>
          <a:sy n="77" d="100"/>
        </p:scale>
        <p:origin x="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addSld delSld modSld sldOrd">
      <pc:chgData name="shshinde2580@gmail.com" userId="86fdf0c531315612" providerId="LiveId" clId="{80EF1F59-5901-4077-BC9B-DA299863282D}" dt="2025-10-10T18:47:24.480" v="2654" actId="2696"/>
      <pc:docMkLst>
        <pc:docMk/>
      </pc:docMkLst>
      <pc:sldChg chg="addSp delSp modSp mod">
        <pc:chgData name="shshinde2580@gmail.com" userId="86fdf0c531315612" providerId="LiveId" clId="{80EF1F59-5901-4077-BC9B-DA299863282D}" dt="2025-10-10T18:36:43.838" v="2559" actId="255"/>
        <pc:sldMkLst>
          <pc:docMk/>
          <pc:sldMk cId="1777575051" sldId="257"/>
        </pc:sldMkLst>
        <pc:spChg chg="mod">
          <ac:chgData name="shshinde2580@gmail.com" userId="86fdf0c531315612" providerId="LiveId" clId="{80EF1F59-5901-4077-BC9B-DA299863282D}" dt="2025-10-10T18:36:43.838" v="2559" actId="255"/>
          <ac:spMkLst>
            <pc:docMk/>
            <pc:sldMk cId="1777575051" sldId="257"/>
            <ac:spMk id="5" creationId="{1B849723-4B28-7BAD-012B-A34BBE677DE1}"/>
          </ac:spMkLst>
        </pc:spChg>
        <pc:spChg chg="add mod">
          <ac:chgData name="shshinde2580@gmail.com" userId="86fdf0c531315612" providerId="LiveId" clId="{80EF1F59-5901-4077-BC9B-DA299863282D}" dt="2025-10-09T16:58:24.259" v="47" actId="20577"/>
          <ac:spMkLst>
            <pc:docMk/>
            <pc:sldMk cId="1777575051" sldId="257"/>
            <ac:spMk id="8" creationId="{295EE969-A87B-C94B-2A48-624ABDDB54A0}"/>
          </ac:spMkLst>
        </pc:spChg>
        <pc:spChg chg="add mod">
          <ac:chgData name="shshinde2580@gmail.com" userId="86fdf0c531315612" providerId="LiveId" clId="{80EF1F59-5901-4077-BC9B-DA299863282D}" dt="2025-10-09T16:59:58.626" v="289" actId="1076"/>
          <ac:spMkLst>
            <pc:docMk/>
            <pc:sldMk cId="1777575051" sldId="257"/>
            <ac:spMk id="9" creationId="{703FA3A0-5E49-654A-7B0E-5BD161F9914C}"/>
          </ac:spMkLst>
        </pc:spChg>
        <pc:picChg chg="add mod">
          <ac:chgData name="shshinde2580@gmail.com" userId="86fdf0c531315612" providerId="LiveId" clId="{80EF1F59-5901-4077-BC9B-DA299863282D}" dt="2025-10-09T16:57:52.751" v="34"/>
          <ac:picMkLst>
            <pc:docMk/>
            <pc:sldMk cId="1777575051" sldId="257"/>
            <ac:picMk id="6" creationId="{FFE2E3A8-BE62-2FD2-FF29-55FE6177B047}"/>
          </ac:picMkLst>
        </pc:picChg>
        <pc:picChg chg="del">
          <ac:chgData name="shshinde2580@gmail.com" userId="86fdf0c531315612" providerId="LiveId" clId="{80EF1F59-5901-4077-BC9B-DA299863282D}" dt="2025-10-09T16:57:51.841" v="33" actId="21"/>
          <ac:picMkLst>
            <pc:docMk/>
            <pc:sldMk cId="1777575051" sldId="257"/>
            <ac:picMk id="1026" creationId="{FFE2E3A8-BE62-2FD2-FF29-55FE6177B047}"/>
          </ac:picMkLst>
        </pc:picChg>
      </pc:sldChg>
      <pc:sldChg chg="addSp modSp mod">
        <pc:chgData name="shshinde2580@gmail.com" userId="86fdf0c531315612" providerId="LiveId" clId="{80EF1F59-5901-4077-BC9B-DA299863282D}" dt="2025-10-10T12:46:17.614" v="1300" actId="5793"/>
        <pc:sldMkLst>
          <pc:docMk/>
          <pc:sldMk cId="3207861207" sldId="258"/>
        </pc:sldMkLst>
        <pc:spChg chg="add mod">
          <ac:chgData name="shshinde2580@gmail.com" userId="86fdf0c531315612" providerId="LiveId" clId="{80EF1F59-5901-4077-BC9B-DA299863282D}" dt="2025-10-10T12:46:17.614" v="1300" actId="5793"/>
          <ac:spMkLst>
            <pc:docMk/>
            <pc:sldMk cId="3207861207" sldId="258"/>
            <ac:spMk id="2" creationId="{56EA25FB-B8CD-6C45-812A-4B80C33D06F8}"/>
          </ac:spMkLst>
        </pc:spChg>
        <pc:spChg chg="mod">
          <ac:chgData name="shshinde2580@gmail.com" userId="86fdf0c531315612" providerId="LiveId" clId="{80EF1F59-5901-4077-BC9B-DA299863282D}" dt="2025-10-10T12:11:16.526" v="630" actId="20577"/>
          <ac:spMkLst>
            <pc:docMk/>
            <pc:sldMk cId="3207861207" sldId="258"/>
            <ac:spMk id="3" creationId="{E01CA97E-EBBF-1047-8729-770B6588D97D}"/>
          </ac:spMkLst>
        </pc:spChg>
      </pc:sldChg>
      <pc:sldChg chg="addSp delSp modSp mod">
        <pc:chgData name="shshinde2580@gmail.com" userId="86fdf0c531315612" providerId="LiveId" clId="{80EF1F59-5901-4077-BC9B-DA299863282D}" dt="2025-10-10T12:12:30.319" v="639" actId="21"/>
        <pc:sldMkLst>
          <pc:docMk/>
          <pc:sldMk cId="509565307" sldId="259"/>
        </pc:sldMkLst>
        <pc:spChg chg="del">
          <ac:chgData name="shshinde2580@gmail.com" userId="86fdf0c531315612" providerId="LiveId" clId="{80EF1F59-5901-4077-BC9B-DA299863282D}" dt="2025-10-10T12:11:38.132" v="633" actId="21"/>
          <ac:spMkLst>
            <pc:docMk/>
            <pc:sldMk cId="509565307" sldId="259"/>
            <ac:spMk id="3" creationId="{F3483A33-3F22-C996-7250-33AF4A7B25EC}"/>
          </ac:spMkLst>
        </pc:spChg>
        <pc:spChg chg="add del mod">
          <ac:chgData name="shshinde2580@gmail.com" userId="86fdf0c531315612" providerId="LiveId" clId="{80EF1F59-5901-4077-BC9B-DA299863282D}" dt="2025-10-10T12:12:30.319" v="639" actId="21"/>
          <ac:spMkLst>
            <pc:docMk/>
            <pc:sldMk cId="509565307" sldId="259"/>
            <ac:spMk id="4" creationId="{4B62DB69-AF3F-F84E-168E-018FFBD91612}"/>
          </ac:spMkLst>
        </pc:spChg>
        <pc:spChg chg="add del mod">
          <ac:chgData name="shshinde2580@gmail.com" userId="86fdf0c531315612" providerId="LiveId" clId="{80EF1F59-5901-4077-BC9B-DA299863282D}" dt="2025-10-10T12:11:58.049" v="636" actId="1076"/>
          <ac:spMkLst>
            <pc:docMk/>
            <pc:sldMk cId="509565307" sldId="259"/>
            <ac:spMk id="5" creationId="{327D6DCC-3364-4BD4-9C90-0078FEE3E0BD}"/>
          </ac:spMkLst>
        </pc:spChg>
      </pc:sldChg>
      <pc:sldChg chg="addSp delSp modSp mod">
        <pc:chgData name="shshinde2580@gmail.com" userId="86fdf0c531315612" providerId="LiveId" clId="{80EF1F59-5901-4077-BC9B-DA299863282D}" dt="2025-10-10T18:37:05.893" v="2562" actId="14100"/>
        <pc:sldMkLst>
          <pc:docMk/>
          <pc:sldMk cId="60165820" sldId="260"/>
        </pc:sldMkLst>
        <pc:spChg chg="mod">
          <ac:chgData name="shshinde2580@gmail.com" userId="86fdf0c531315612" providerId="LiveId" clId="{80EF1F59-5901-4077-BC9B-DA299863282D}" dt="2025-10-10T18:37:05.893" v="2562" actId="14100"/>
          <ac:spMkLst>
            <pc:docMk/>
            <pc:sldMk cId="60165820" sldId="260"/>
            <ac:spMk id="3" creationId="{F8E3665D-EB2D-CA0F-FB9D-676637E203DB}"/>
          </ac:spMkLst>
        </pc:spChg>
        <pc:graphicFrameChg chg="add del">
          <ac:chgData name="shshinde2580@gmail.com" userId="86fdf0c531315612" providerId="LiveId" clId="{80EF1F59-5901-4077-BC9B-DA299863282D}" dt="2025-10-10T12:16:06.317" v="666" actId="3680"/>
          <ac:graphicFrameMkLst>
            <pc:docMk/>
            <pc:sldMk cId="60165820" sldId="260"/>
            <ac:graphicFrameMk id="2" creationId="{BFCE3B24-057D-1684-907B-8C82BE65CCA3}"/>
          </ac:graphicFrameMkLst>
        </pc:graphicFrameChg>
        <pc:graphicFrameChg chg="del mod modGraphic">
          <ac:chgData name="shshinde2580@gmail.com" userId="86fdf0c531315612" providerId="LiveId" clId="{80EF1F59-5901-4077-BC9B-DA299863282D}" dt="2025-10-10T12:15:06" v="664" actId="21"/>
          <ac:graphicFrameMkLst>
            <pc:docMk/>
            <pc:sldMk cId="60165820" sldId="260"/>
            <ac:graphicFrameMk id="4" creationId="{55D4A66C-2F69-E290-DFEB-B42260E5B76B}"/>
          </ac:graphicFrameMkLst>
        </pc:graphicFrameChg>
        <pc:graphicFrameChg chg="add mod modGraphic">
          <ac:chgData name="shshinde2580@gmail.com" userId="86fdf0c531315612" providerId="LiveId" clId="{80EF1F59-5901-4077-BC9B-DA299863282D}" dt="2025-10-10T12:29:06.022" v="1174"/>
          <ac:graphicFrameMkLst>
            <pc:docMk/>
            <pc:sldMk cId="60165820" sldId="260"/>
            <ac:graphicFrameMk id="5" creationId="{6A25198B-B1D8-1C55-B19D-E3854319E50B}"/>
          </ac:graphicFrameMkLst>
        </pc:graphicFrameChg>
      </pc:sldChg>
      <pc:sldChg chg="addSp delSp modSp mod">
        <pc:chgData name="shshinde2580@gmail.com" userId="86fdf0c531315612" providerId="LiveId" clId="{80EF1F59-5901-4077-BC9B-DA299863282D}" dt="2025-10-10T18:37:29.995" v="2568" actId="1076"/>
        <pc:sldMkLst>
          <pc:docMk/>
          <pc:sldMk cId="1998251773" sldId="261"/>
        </pc:sldMkLst>
        <pc:spChg chg="add mod">
          <ac:chgData name="shshinde2580@gmail.com" userId="86fdf0c531315612" providerId="LiveId" clId="{80EF1F59-5901-4077-BC9B-DA299863282D}" dt="2025-10-10T18:37:22.276" v="2566" actId="255"/>
          <ac:spMkLst>
            <pc:docMk/>
            <pc:sldMk cId="1998251773" sldId="261"/>
            <ac:spMk id="3" creationId="{7549F90D-EBC0-8D1E-6163-689A6D1AB887}"/>
          </ac:spMkLst>
        </pc:spChg>
        <pc:spChg chg="add mod">
          <ac:chgData name="shshinde2580@gmail.com" userId="86fdf0c531315612" providerId="LiveId" clId="{80EF1F59-5901-4077-BC9B-DA299863282D}" dt="2025-10-10T18:37:29.995" v="2568" actId="1076"/>
          <ac:spMkLst>
            <pc:docMk/>
            <pc:sldMk cId="1998251773" sldId="261"/>
            <ac:spMk id="5" creationId="{1C38DCC9-0599-41A4-05B4-B9A546ACC9C0}"/>
          </ac:spMkLst>
        </pc:spChg>
        <pc:picChg chg="add mod">
          <ac:chgData name="shshinde2580@gmail.com" userId="86fdf0c531315612" providerId="LiveId" clId="{80EF1F59-5901-4077-BC9B-DA299863282D}" dt="2025-10-10T18:37:25.496" v="2567" actId="1076"/>
          <ac:picMkLst>
            <pc:docMk/>
            <pc:sldMk cId="1998251773" sldId="261"/>
            <ac:picMk id="4" creationId="{4E4A7A88-565D-D254-C00E-8A8AC19FA05F}"/>
          </ac:picMkLst>
        </pc:picChg>
        <pc:picChg chg="add del mod">
          <ac:chgData name="shshinde2580@gmail.com" userId="86fdf0c531315612" providerId="LiveId" clId="{80EF1F59-5901-4077-BC9B-DA299863282D}" dt="2025-10-09T16:55:29.726" v="13" actId="21"/>
          <ac:picMkLst>
            <pc:docMk/>
            <pc:sldMk cId="1998251773" sldId="261"/>
            <ac:picMk id="3074" creationId="{1332A7BF-0675-D30C-9CDA-F5988B9F3DF0}"/>
          </ac:picMkLst>
        </pc:picChg>
      </pc:sldChg>
      <pc:sldChg chg="addSp modSp mod">
        <pc:chgData name="shshinde2580@gmail.com" userId="86fdf0c531315612" providerId="LiveId" clId="{80EF1F59-5901-4077-BC9B-DA299863282D}" dt="2025-10-09T17:05:40.293" v="521" actId="20577"/>
        <pc:sldMkLst>
          <pc:docMk/>
          <pc:sldMk cId="3585582014" sldId="262"/>
        </pc:sldMkLst>
        <pc:spChg chg="add mod">
          <ac:chgData name="shshinde2580@gmail.com" userId="86fdf0c531315612" providerId="LiveId" clId="{80EF1F59-5901-4077-BC9B-DA299863282D}" dt="2025-10-09T17:01:06.158" v="480" actId="1076"/>
          <ac:spMkLst>
            <pc:docMk/>
            <pc:sldMk cId="3585582014" sldId="262"/>
            <ac:spMk id="3" creationId="{BE117225-764E-73E7-532C-D69648A18EFE}"/>
          </ac:spMkLst>
        </pc:spChg>
        <pc:spChg chg="add mod">
          <ac:chgData name="shshinde2580@gmail.com" userId="86fdf0c531315612" providerId="LiveId" clId="{80EF1F59-5901-4077-BC9B-DA299863282D}" dt="2025-10-09T17:05:34.339" v="519" actId="20577"/>
          <ac:spMkLst>
            <pc:docMk/>
            <pc:sldMk cId="3585582014" sldId="262"/>
            <ac:spMk id="5" creationId="{63968209-4DDD-D113-1AE5-ED273C4B8800}"/>
          </ac:spMkLst>
        </pc:spChg>
        <pc:spChg chg="add mod">
          <ac:chgData name="shshinde2580@gmail.com" userId="86fdf0c531315612" providerId="LiveId" clId="{80EF1F59-5901-4077-BC9B-DA299863282D}" dt="2025-10-09T17:05:40.293" v="521" actId="20577"/>
          <ac:spMkLst>
            <pc:docMk/>
            <pc:sldMk cId="3585582014" sldId="262"/>
            <ac:spMk id="7" creationId="{707B13B7-20F5-1207-3508-B346C467838B}"/>
          </ac:spMkLst>
        </pc:spChg>
      </pc:sldChg>
      <pc:sldChg chg="addSp modSp mod">
        <pc:chgData name="shshinde2580@gmail.com" userId="86fdf0c531315612" providerId="LiveId" clId="{80EF1F59-5901-4077-BC9B-DA299863282D}" dt="2025-10-09T17:06:12.543" v="535" actId="20577"/>
        <pc:sldMkLst>
          <pc:docMk/>
          <pc:sldMk cId="821682626" sldId="263"/>
        </pc:sldMkLst>
        <pc:spChg chg="add mod">
          <ac:chgData name="shshinde2580@gmail.com" userId="86fdf0c531315612" providerId="LiveId" clId="{80EF1F59-5901-4077-BC9B-DA299863282D}" dt="2025-10-09T17:06:12.543" v="535" actId="20577"/>
          <ac:spMkLst>
            <pc:docMk/>
            <pc:sldMk cId="821682626" sldId="263"/>
            <ac:spMk id="3" creationId="{EC6AA7EA-73CF-B034-B312-A6F6F2C317CB}"/>
          </ac:spMkLst>
        </pc:spChg>
      </pc:sldChg>
      <pc:sldChg chg="addSp delSp modSp mod">
        <pc:chgData name="shshinde2580@gmail.com" userId="86fdf0c531315612" providerId="LiveId" clId="{80EF1F59-5901-4077-BC9B-DA299863282D}" dt="2025-10-10T18:38:23.527" v="2576" actId="1076"/>
        <pc:sldMkLst>
          <pc:docMk/>
          <pc:sldMk cId="2332892249" sldId="264"/>
        </pc:sldMkLst>
        <pc:spChg chg="add mod">
          <ac:chgData name="shshinde2580@gmail.com" userId="86fdf0c531315612" providerId="LiveId" clId="{80EF1F59-5901-4077-BC9B-DA299863282D}" dt="2025-10-10T18:38:23.527" v="2576" actId="1076"/>
          <ac:spMkLst>
            <pc:docMk/>
            <pc:sldMk cId="2332892249" sldId="264"/>
            <ac:spMk id="3" creationId="{E2E05823-C079-7984-C52F-587100F89E51}"/>
          </ac:spMkLst>
        </pc:spChg>
        <pc:spChg chg="add del">
          <ac:chgData name="shshinde2580@gmail.com" userId="86fdf0c531315612" providerId="LiveId" clId="{80EF1F59-5901-4077-BC9B-DA299863282D}" dt="2025-10-09T17:08:11.018" v="541" actId="22"/>
          <ac:spMkLst>
            <pc:docMk/>
            <pc:sldMk cId="2332892249" sldId="264"/>
            <ac:spMk id="5" creationId="{0A3DC1C7-1D0E-819B-6782-DF76853ACAD7}"/>
          </ac:spMkLst>
        </pc:spChg>
        <pc:spChg chg="add del">
          <ac:chgData name="shshinde2580@gmail.com" userId="86fdf0c531315612" providerId="LiveId" clId="{80EF1F59-5901-4077-BC9B-DA299863282D}" dt="2025-10-09T17:08:19.998" v="543" actId="22"/>
          <ac:spMkLst>
            <pc:docMk/>
            <pc:sldMk cId="2332892249" sldId="264"/>
            <ac:spMk id="7" creationId="{51D8D925-B2E7-A727-168F-EDE1A3B4A372}"/>
          </ac:spMkLst>
        </pc:spChg>
        <pc:picChg chg="add mod">
          <ac:chgData name="shshinde2580@gmail.com" userId="86fdf0c531315612" providerId="LiveId" clId="{80EF1F59-5901-4077-BC9B-DA299863282D}" dt="2025-10-09T17:09:01.692" v="548" actId="1076"/>
          <ac:picMkLst>
            <pc:docMk/>
            <pc:sldMk cId="2332892249" sldId="264"/>
            <ac:picMk id="4098" creationId="{2A234C0E-324C-1681-36A0-5BE6FE7472F1}"/>
          </ac:picMkLst>
        </pc:picChg>
      </pc:sldChg>
      <pc:sldChg chg="addSp modSp mod">
        <pc:chgData name="shshinde2580@gmail.com" userId="86fdf0c531315612" providerId="LiveId" clId="{80EF1F59-5901-4077-BC9B-DA299863282D}" dt="2025-10-09T17:12:00.463" v="593" actId="113"/>
        <pc:sldMkLst>
          <pc:docMk/>
          <pc:sldMk cId="1657837465" sldId="265"/>
        </pc:sldMkLst>
        <pc:spChg chg="add mod">
          <ac:chgData name="shshinde2580@gmail.com" userId="86fdf0c531315612" providerId="LiveId" clId="{80EF1F59-5901-4077-BC9B-DA299863282D}" dt="2025-10-09T17:12:00.463" v="593" actId="113"/>
          <ac:spMkLst>
            <pc:docMk/>
            <pc:sldMk cId="1657837465" sldId="265"/>
            <ac:spMk id="3" creationId="{A5E86FCD-1236-0F3F-AD16-596ADE780714}"/>
          </ac:spMkLst>
        </pc:spChg>
      </pc:sldChg>
      <pc:sldChg chg="addSp modSp mod">
        <pc:chgData name="shshinde2580@gmail.com" userId="86fdf0c531315612" providerId="LiveId" clId="{80EF1F59-5901-4077-BC9B-DA299863282D}" dt="2025-10-09T17:12:42.513" v="605" actId="113"/>
        <pc:sldMkLst>
          <pc:docMk/>
          <pc:sldMk cId="2504209588" sldId="266"/>
        </pc:sldMkLst>
        <pc:spChg chg="add mod">
          <ac:chgData name="shshinde2580@gmail.com" userId="86fdf0c531315612" providerId="LiveId" clId="{80EF1F59-5901-4077-BC9B-DA299863282D}" dt="2025-10-09T17:12:42.513" v="605" actId="113"/>
          <ac:spMkLst>
            <pc:docMk/>
            <pc:sldMk cId="2504209588" sldId="266"/>
            <ac:spMk id="3" creationId="{9493FA16-34F5-6DAF-74F3-7366F406320D}"/>
          </ac:spMkLst>
        </pc:spChg>
      </pc:sldChg>
      <pc:sldChg chg="addSp delSp modSp mod">
        <pc:chgData name="shshinde2580@gmail.com" userId="86fdf0c531315612" providerId="LiveId" clId="{80EF1F59-5901-4077-BC9B-DA299863282D}" dt="2025-10-10T14:23:51.446" v="1810" actId="1076"/>
        <pc:sldMkLst>
          <pc:docMk/>
          <pc:sldMk cId="711890770" sldId="267"/>
        </pc:sldMkLst>
        <pc:spChg chg="add mod">
          <ac:chgData name="shshinde2580@gmail.com" userId="86fdf0c531315612" providerId="LiveId" clId="{80EF1F59-5901-4077-BC9B-DA299863282D}" dt="2025-10-09T17:16:22.725" v="619" actId="113"/>
          <ac:spMkLst>
            <pc:docMk/>
            <pc:sldMk cId="711890770" sldId="267"/>
            <ac:spMk id="4" creationId="{FFD9F507-B732-5A8E-2F45-8E8A9F86048D}"/>
          </ac:spMkLst>
        </pc:spChg>
        <pc:spChg chg="add mod">
          <ac:chgData name="shshinde2580@gmail.com" userId="86fdf0c531315612" providerId="LiveId" clId="{80EF1F59-5901-4077-BC9B-DA299863282D}" dt="2025-10-10T14:23:51.446" v="1810" actId="1076"/>
          <ac:spMkLst>
            <pc:docMk/>
            <pc:sldMk cId="711890770" sldId="267"/>
            <ac:spMk id="6" creationId="{CE47CA2A-5B6A-864C-FFB1-30ACFA7A6C59}"/>
          </ac:spMkLst>
        </pc:spChg>
        <pc:graphicFrameChg chg="add del mod modGraphic">
          <ac:chgData name="shshinde2580@gmail.com" userId="86fdf0c531315612" providerId="LiveId" clId="{80EF1F59-5901-4077-BC9B-DA299863282D}" dt="2025-10-10T14:22:24.230" v="1799" actId="21"/>
          <ac:graphicFrameMkLst>
            <pc:docMk/>
            <pc:sldMk cId="711890770" sldId="267"/>
            <ac:graphicFrameMk id="2" creationId="{B8C01445-5BB3-5D59-A4C5-E26CCBC964A3}"/>
          </ac:graphicFrameMkLst>
        </pc:graphicFrameChg>
        <pc:picChg chg="add mod modCrop">
          <ac:chgData name="shshinde2580@gmail.com" userId="86fdf0c531315612" providerId="LiveId" clId="{80EF1F59-5901-4077-BC9B-DA299863282D}" dt="2025-10-10T14:23:47.066" v="1809" actId="14100"/>
          <ac:picMkLst>
            <pc:docMk/>
            <pc:sldMk cId="711890770" sldId="267"/>
            <ac:picMk id="5" creationId="{AAECEB14-4DD9-7A1B-27F8-D3D0C04D3D99}"/>
          </ac:picMkLst>
        </pc:picChg>
      </pc:sldChg>
      <pc:sldChg chg="addSp modSp mod ord">
        <pc:chgData name="shshinde2580@gmail.com" userId="86fdf0c531315612" providerId="LiveId" clId="{80EF1F59-5901-4077-BC9B-DA299863282D}" dt="2025-10-10T12:13:28.113" v="658" actId="12"/>
        <pc:sldMkLst>
          <pc:docMk/>
          <pc:sldMk cId="129628144" sldId="268"/>
        </pc:sldMkLst>
        <pc:spChg chg="add mod">
          <ac:chgData name="shshinde2580@gmail.com" userId="86fdf0c531315612" providerId="LiveId" clId="{80EF1F59-5901-4077-BC9B-DA299863282D}" dt="2025-10-10T12:13:28.113" v="658" actId="12"/>
          <ac:spMkLst>
            <pc:docMk/>
            <pc:sldMk cId="129628144" sldId="268"/>
            <ac:spMk id="4" creationId="{4B62DB69-AF3F-F84E-168E-018FFBD91612}"/>
          </ac:spMkLst>
        </pc:spChg>
      </pc:sldChg>
      <pc:sldChg chg="addSp modSp mod ord">
        <pc:chgData name="shshinde2580@gmail.com" userId="86fdf0c531315612" providerId="LiveId" clId="{80EF1F59-5901-4077-BC9B-DA299863282D}" dt="2025-10-10T12:34:37.090" v="1207" actId="20577"/>
        <pc:sldMkLst>
          <pc:docMk/>
          <pc:sldMk cId="2315403295" sldId="269"/>
        </pc:sldMkLst>
        <pc:spChg chg="add mod">
          <ac:chgData name="shshinde2580@gmail.com" userId="86fdf0c531315612" providerId="LiveId" clId="{80EF1F59-5901-4077-BC9B-DA299863282D}" dt="2025-10-10T12:34:37.090" v="1207" actId="20577"/>
          <ac:spMkLst>
            <pc:docMk/>
            <pc:sldMk cId="2315403295" sldId="269"/>
            <ac:spMk id="4" creationId="{12AF0B9C-23D7-AA34-AB7B-F375E184AB18}"/>
          </ac:spMkLst>
        </pc:spChg>
        <pc:graphicFrameChg chg="add mod modGraphic">
          <ac:chgData name="shshinde2580@gmail.com" userId="86fdf0c531315612" providerId="LiveId" clId="{80EF1F59-5901-4077-BC9B-DA299863282D}" dt="2025-10-10T12:32:50.255" v="1196" actId="14100"/>
          <ac:graphicFrameMkLst>
            <pc:docMk/>
            <pc:sldMk cId="2315403295" sldId="269"/>
            <ac:graphicFrameMk id="2" creationId="{F32DE4AB-A0BD-E285-7B99-B7854ECF896E}"/>
          </ac:graphicFrameMkLst>
        </pc:graphicFrameChg>
        <pc:graphicFrameChg chg="add">
          <ac:chgData name="shshinde2580@gmail.com" userId="86fdf0c531315612" providerId="LiveId" clId="{80EF1F59-5901-4077-BC9B-DA299863282D}" dt="2025-10-10T12:32:20.522" v="1191"/>
          <ac:graphicFrameMkLst>
            <pc:docMk/>
            <pc:sldMk cId="2315403295" sldId="269"/>
            <ac:graphicFrameMk id="3" creationId="{C8A0BCA2-6239-4C10-3D81-3526324EEAA0}"/>
          </ac:graphicFrameMkLst>
        </pc:graphicFrameChg>
      </pc:sldChg>
      <pc:sldChg chg="addSp delSp modSp mod ord">
        <pc:chgData name="shshinde2580@gmail.com" userId="86fdf0c531315612" providerId="LiveId" clId="{80EF1F59-5901-4077-BC9B-DA299863282D}" dt="2025-10-10T12:39:02.135" v="1224" actId="1076"/>
        <pc:sldMkLst>
          <pc:docMk/>
          <pc:sldMk cId="1971050030" sldId="270"/>
        </pc:sldMkLst>
        <pc:spChg chg="add del">
          <ac:chgData name="shshinde2580@gmail.com" userId="86fdf0c531315612" providerId="LiveId" clId="{80EF1F59-5901-4077-BC9B-DA299863282D}" dt="2025-10-10T12:38:06.837" v="1215" actId="22"/>
          <ac:spMkLst>
            <pc:docMk/>
            <pc:sldMk cId="1971050030" sldId="270"/>
            <ac:spMk id="3" creationId="{1129BCAA-F407-F43A-7262-526D50E96F73}"/>
          </ac:spMkLst>
        </pc:spChg>
        <pc:picChg chg="add del mod">
          <ac:chgData name="shshinde2580@gmail.com" userId="86fdf0c531315612" providerId="LiveId" clId="{80EF1F59-5901-4077-BC9B-DA299863282D}" dt="2025-10-10T12:38:49.126" v="1221" actId="21"/>
          <ac:picMkLst>
            <pc:docMk/>
            <pc:sldMk cId="1971050030" sldId="270"/>
            <ac:picMk id="5" creationId="{BC5C39A9-3F8B-9519-0581-387DE2F746AF}"/>
          </ac:picMkLst>
        </pc:picChg>
        <pc:picChg chg="add mod">
          <ac:chgData name="shshinde2580@gmail.com" userId="86fdf0c531315612" providerId="LiveId" clId="{80EF1F59-5901-4077-BC9B-DA299863282D}" dt="2025-10-10T12:39:02.135" v="1224" actId="1076"/>
          <ac:picMkLst>
            <pc:docMk/>
            <pc:sldMk cId="1971050030" sldId="270"/>
            <ac:picMk id="1026" creationId="{60438C6C-E1CA-2DFA-3D04-ACC39F4A80BE}"/>
          </ac:picMkLst>
        </pc:picChg>
      </pc:sldChg>
      <pc:sldChg chg="addSp modSp mod ord">
        <pc:chgData name="shshinde2580@gmail.com" userId="86fdf0c531315612" providerId="LiveId" clId="{80EF1F59-5901-4077-BC9B-DA299863282D}" dt="2025-10-10T12:43:20.128" v="1268" actId="14100"/>
        <pc:sldMkLst>
          <pc:docMk/>
          <pc:sldMk cId="2976456578" sldId="271"/>
        </pc:sldMkLst>
        <pc:spChg chg="add mod">
          <ac:chgData name="shshinde2580@gmail.com" userId="86fdf0c531315612" providerId="LiveId" clId="{80EF1F59-5901-4077-BC9B-DA299863282D}" dt="2025-10-10T12:42:17" v="1254" actId="113"/>
          <ac:spMkLst>
            <pc:docMk/>
            <pc:sldMk cId="2976456578" sldId="271"/>
            <ac:spMk id="3" creationId="{D17D142E-D209-43C5-6E45-FB14F28D0B1C}"/>
          </ac:spMkLst>
        </pc:spChg>
        <pc:spChg chg="add mod">
          <ac:chgData name="shshinde2580@gmail.com" userId="86fdf0c531315612" providerId="LiveId" clId="{80EF1F59-5901-4077-BC9B-DA299863282D}" dt="2025-10-10T12:43:05.603" v="1264"/>
          <ac:spMkLst>
            <pc:docMk/>
            <pc:sldMk cId="2976456578" sldId="271"/>
            <ac:spMk id="5" creationId="{B5F2CC16-580A-A7C1-7471-C8787A3543D1}"/>
          </ac:spMkLst>
        </pc:spChg>
        <pc:spChg chg="add mod">
          <ac:chgData name="shshinde2580@gmail.com" userId="86fdf0c531315612" providerId="LiveId" clId="{80EF1F59-5901-4077-BC9B-DA299863282D}" dt="2025-10-10T12:43:15.444" v="1267" actId="1076"/>
          <ac:spMkLst>
            <pc:docMk/>
            <pc:sldMk cId="2976456578" sldId="271"/>
            <ac:spMk id="7" creationId="{2B937039-688B-8D34-EB35-2324A301EFBE}"/>
          </ac:spMkLst>
        </pc:spChg>
        <pc:spChg chg="add mod">
          <ac:chgData name="shshinde2580@gmail.com" userId="86fdf0c531315612" providerId="LiveId" clId="{80EF1F59-5901-4077-BC9B-DA299863282D}" dt="2025-10-10T12:43:20.128" v="1268" actId="14100"/>
          <ac:spMkLst>
            <pc:docMk/>
            <pc:sldMk cId="2976456578" sldId="271"/>
            <ac:spMk id="9" creationId="{58BE67E8-3A17-AA54-59E2-5819DE590A0A}"/>
          </ac:spMkLst>
        </pc:spChg>
      </pc:sldChg>
      <pc:sldChg chg="addSp modSp add mod ord">
        <pc:chgData name="shshinde2580@gmail.com" userId="86fdf0c531315612" providerId="LiveId" clId="{80EF1F59-5901-4077-BC9B-DA299863282D}" dt="2025-10-10T12:45:13.819" v="1285" actId="14100"/>
        <pc:sldMkLst>
          <pc:docMk/>
          <pc:sldMk cId="835991469" sldId="272"/>
        </pc:sldMkLst>
        <pc:spChg chg="add mod">
          <ac:chgData name="shshinde2580@gmail.com" userId="86fdf0c531315612" providerId="LiveId" clId="{80EF1F59-5901-4077-BC9B-DA299863282D}" dt="2025-10-10T12:44:15.100" v="1275" actId="1076"/>
          <ac:spMkLst>
            <pc:docMk/>
            <pc:sldMk cId="835991469" sldId="272"/>
            <ac:spMk id="3" creationId="{08F933DC-12E2-63EB-2B97-1712B365E0C7}"/>
          </ac:spMkLst>
        </pc:spChg>
        <pc:spChg chg="add mod">
          <ac:chgData name="shshinde2580@gmail.com" userId="86fdf0c531315612" providerId="LiveId" clId="{80EF1F59-5901-4077-BC9B-DA299863282D}" dt="2025-10-10T12:44:44.627" v="1282" actId="5793"/>
          <ac:spMkLst>
            <pc:docMk/>
            <pc:sldMk cId="835991469" sldId="272"/>
            <ac:spMk id="5" creationId="{4EBA842A-86A1-B0F3-2C65-A6A220AC22AA}"/>
          </ac:spMkLst>
        </pc:spChg>
        <pc:spChg chg="add mod">
          <ac:chgData name="shshinde2580@gmail.com" userId="86fdf0c531315612" providerId="LiveId" clId="{80EF1F59-5901-4077-BC9B-DA299863282D}" dt="2025-10-10T12:45:13.819" v="1285" actId="14100"/>
          <ac:spMkLst>
            <pc:docMk/>
            <pc:sldMk cId="835991469" sldId="272"/>
            <ac:spMk id="7" creationId="{94FCF88C-159A-6A17-FFAA-BD8F856B408B}"/>
          </ac:spMkLst>
        </pc:spChg>
      </pc:sldChg>
      <pc:sldChg chg="addSp modSp add mod ord">
        <pc:chgData name="shshinde2580@gmail.com" userId="86fdf0c531315612" providerId="LiveId" clId="{80EF1F59-5901-4077-BC9B-DA299863282D}" dt="2025-10-10T13:05:15.413" v="1319" actId="113"/>
        <pc:sldMkLst>
          <pc:docMk/>
          <pc:sldMk cId="2724274517" sldId="273"/>
        </pc:sldMkLst>
        <pc:spChg chg="add mod">
          <ac:chgData name="shshinde2580@gmail.com" userId="86fdf0c531315612" providerId="LiveId" clId="{80EF1F59-5901-4077-BC9B-DA299863282D}" dt="2025-10-10T12:53:19.479" v="1304" actId="113"/>
          <ac:spMkLst>
            <pc:docMk/>
            <pc:sldMk cId="2724274517" sldId="273"/>
            <ac:spMk id="3" creationId="{BA766A86-A2F6-EB00-5577-338F289B390E}"/>
          </ac:spMkLst>
        </pc:spChg>
        <pc:spChg chg="add mod">
          <ac:chgData name="shshinde2580@gmail.com" userId="86fdf0c531315612" providerId="LiveId" clId="{80EF1F59-5901-4077-BC9B-DA299863282D}" dt="2025-10-10T12:53:39.822" v="1308" actId="113"/>
          <ac:spMkLst>
            <pc:docMk/>
            <pc:sldMk cId="2724274517" sldId="273"/>
            <ac:spMk id="5" creationId="{F4A5DA02-5ACE-EED7-CB50-91E67FD2CBD3}"/>
          </ac:spMkLst>
        </pc:spChg>
        <pc:spChg chg="add mod">
          <ac:chgData name="shshinde2580@gmail.com" userId="86fdf0c531315612" providerId="LiveId" clId="{80EF1F59-5901-4077-BC9B-DA299863282D}" dt="2025-10-10T13:04:43.496" v="1314" actId="113"/>
          <ac:spMkLst>
            <pc:docMk/>
            <pc:sldMk cId="2724274517" sldId="273"/>
            <ac:spMk id="7" creationId="{DD82EACF-AEB1-6351-9AD8-8ED2C2E3ECC4}"/>
          </ac:spMkLst>
        </pc:spChg>
        <pc:spChg chg="add mod">
          <ac:chgData name="shshinde2580@gmail.com" userId="86fdf0c531315612" providerId="LiveId" clId="{80EF1F59-5901-4077-BC9B-DA299863282D}" dt="2025-10-10T13:05:15.413" v="1319" actId="113"/>
          <ac:spMkLst>
            <pc:docMk/>
            <pc:sldMk cId="2724274517" sldId="273"/>
            <ac:spMk id="9" creationId="{B38E1295-5930-A44E-B8B6-F7F4AFCDDFE7}"/>
          </ac:spMkLst>
        </pc:spChg>
      </pc:sldChg>
      <pc:sldChg chg="addSp modSp add mod ord">
        <pc:chgData name="shshinde2580@gmail.com" userId="86fdf0c531315612" providerId="LiveId" clId="{80EF1F59-5901-4077-BC9B-DA299863282D}" dt="2025-10-10T13:07:08.914" v="1335"/>
        <pc:sldMkLst>
          <pc:docMk/>
          <pc:sldMk cId="907681794" sldId="274"/>
        </pc:sldMkLst>
        <pc:spChg chg="add mod">
          <ac:chgData name="shshinde2580@gmail.com" userId="86fdf0c531315612" providerId="LiveId" clId="{80EF1F59-5901-4077-BC9B-DA299863282D}" dt="2025-10-10T13:06:04.293" v="1325" actId="113"/>
          <ac:spMkLst>
            <pc:docMk/>
            <pc:sldMk cId="907681794" sldId="274"/>
            <ac:spMk id="3" creationId="{DDA91832-3F9E-689E-1D09-F57E44DF43B6}"/>
          </ac:spMkLst>
        </pc:spChg>
        <pc:spChg chg="add mod">
          <ac:chgData name="shshinde2580@gmail.com" userId="86fdf0c531315612" providerId="LiveId" clId="{80EF1F59-5901-4077-BC9B-DA299863282D}" dt="2025-10-10T13:06:23.168" v="1329" actId="1076"/>
          <ac:spMkLst>
            <pc:docMk/>
            <pc:sldMk cId="907681794" sldId="274"/>
            <ac:spMk id="5" creationId="{D82A1FF0-E819-88D7-8F13-114D3B569AE5}"/>
          </ac:spMkLst>
        </pc:spChg>
        <pc:spChg chg="add mod">
          <ac:chgData name="shshinde2580@gmail.com" userId="86fdf0c531315612" providerId="LiveId" clId="{80EF1F59-5901-4077-BC9B-DA299863282D}" dt="2025-10-10T13:06:55.713" v="1334" actId="113"/>
          <ac:spMkLst>
            <pc:docMk/>
            <pc:sldMk cId="907681794" sldId="274"/>
            <ac:spMk id="7" creationId="{A464A5FE-875F-2FB2-DB58-DA21EA8F6253}"/>
          </ac:spMkLst>
        </pc:spChg>
        <pc:graphicFrameChg chg="add mod">
          <ac:chgData name="shshinde2580@gmail.com" userId="86fdf0c531315612" providerId="LiveId" clId="{80EF1F59-5901-4077-BC9B-DA299863282D}" dt="2025-10-10T13:07:08.914" v="1335"/>
          <ac:graphicFrameMkLst>
            <pc:docMk/>
            <pc:sldMk cId="907681794" sldId="274"/>
            <ac:graphicFrameMk id="8" creationId="{543D12CD-6F74-EF8F-FDD0-3EE005BFB3D9}"/>
          </ac:graphicFrameMkLst>
        </pc:graphicFrameChg>
      </pc:sldChg>
      <pc:sldChg chg="addSp modSp add mod ord">
        <pc:chgData name="shshinde2580@gmail.com" userId="86fdf0c531315612" providerId="LiveId" clId="{80EF1F59-5901-4077-BC9B-DA299863282D}" dt="2025-10-10T18:37:52.578" v="2573" actId="255"/>
        <pc:sldMkLst>
          <pc:docMk/>
          <pc:sldMk cId="2278335194" sldId="275"/>
        </pc:sldMkLst>
        <pc:spChg chg="add mod">
          <ac:chgData name="shshinde2580@gmail.com" userId="86fdf0c531315612" providerId="LiveId" clId="{80EF1F59-5901-4077-BC9B-DA299863282D}" dt="2025-10-10T18:37:52.578" v="2573" actId="255"/>
          <ac:spMkLst>
            <pc:docMk/>
            <pc:sldMk cId="2278335194" sldId="275"/>
            <ac:spMk id="3" creationId="{FAD95AA2-5A85-F9EB-FDAC-26B5893B2F71}"/>
          </ac:spMkLst>
        </pc:spChg>
        <pc:spChg chg="add mod">
          <ac:chgData name="shshinde2580@gmail.com" userId="86fdf0c531315612" providerId="LiveId" clId="{80EF1F59-5901-4077-BC9B-DA299863282D}" dt="2025-10-10T13:11:53.259" v="1392" actId="1076"/>
          <ac:spMkLst>
            <pc:docMk/>
            <pc:sldMk cId="2278335194" sldId="275"/>
            <ac:spMk id="6" creationId="{21642367-EF26-7485-E9F7-EA41F4E435AB}"/>
          </ac:spMkLst>
        </pc:spChg>
        <pc:spChg chg="add mod">
          <ac:chgData name="shshinde2580@gmail.com" userId="86fdf0c531315612" providerId="LiveId" clId="{80EF1F59-5901-4077-BC9B-DA299863282D}" dt="2025-10-10T13:12:24.943" v="1399" actId="113"/>
          <ac:spMkLst>
            <pc:docMk/>
            <pc:sldMk cId="2278335194" sldId="275"/>
            <ac:spMk id="8" creationId="{08C3CDDE-6B35-0038-1418-94B42B4380A4}"/>
          </ac:spMkLst>
        </pc:spChg>
        <pc:graphicFrameChg chg="add mod modGraphic">
          <ac:chgData name="shshinde2580@gmail.com" userId="86fdf0c531315612" providerId="LiveId" clId="{80EF1F59-5901-4077-BC9B-DA299863282D}" dt="2025-10-10T13:11:19.753" v="1387" actId="113"/>
          <ac:graphicFrameMkLst>
            <pc:docMk/>
            <pc:sldMk cId="2278335194" sldId="275"/>
            <ac:graphicFrameMk id="4" creationId="{8F54DE54-5C88-FD2C-DB32-F36AB8910257}"/>
          </ac:graphicFrameMkLst>
        </pc:graphicFrameChg>
      </pc:sldChg>
      <pc:sldChg chg="addSp modSp add mod ord">
        <pc:chgData name="shshinde2580@gmail.com" userId="86fdf0c531315612" providerId="LiveId" clId="{80EF1F59-5901-4077-BC9B-DA299863282D}" dt="2025-10-10T14:06:47.035" v="1450" actId="20577"/>
        <pc:sldMkLst>
          <pc:docMk/>
          <pc:sldMk cId="574325559" sldId="276"/>
        </pc:sldMkLst>
        <pc:spChg chg="add mod">
          <ac:chgData name="shshinde2580@gmail.com" userId="86fdf0c531315612" providerId="LiveId" clId="{80EF1F59-5901-4077-BC9B-DA299863282D}" dt="2025-10-10T14:05:54.990" v="1438" actId="12"/>
          <ac:spMkLst>
            <pc:docMk/>
            <pc:sldMk cId="574325559" sldId="276"/>
            <ac:spMk id="3" creationId="{3A18EACA-5FCB-76DC-C7F4-465DD3548FB0}"/>
          </ac:spMkLst>
        </pc:spChg>
        <pc:spChg chg="add mod">
          <ac:chgData name="shshinde2580@gmail.com" userId="86fdf0c531315612" providerId="LiveId" clId="{80EF1F59-5901-4077-BC9B-DA299863282D}" dt="2025-10-10T14:06:47.035" v="1450" actId="20577"/>
          <ac:spMkLst>
            <pc:docMk/>
            <pc:sldMk cId="574325559" sldId="276"/>
            <ac:spMk id="5" creationId="{BEB77E4B-8F80-CC4E-E634-B21C6A272CB2}"/>
          </ac:spMkLst>
        </pc:spChg>
      </pc:sldChg>
      <pc:sldChg chg="addSp modSp add mod ord">
        <pc:chgData name="shshinde2580@gmail.com" userId="86fdf0c531315612" providerId="LiveId" clId="{80EF1F59-5901-4077-BC9B-DA299863282D}" dt="2025-10-10T14:08:22.909" v="1541" actId="113"/>
        <pc:sldMkLst>
          <pc:docMk/>
          <pc:sldMk cId="2977938423" sldId="277"/>
        </pc:sldMkLst>
        <pc:spChg chg="add mod">
          <ac:chgData name="shshinde2580@gmail.com" userId="86fdf0c531315612" providerId="LiveId" clId="{80EF1F59-5901-4077-BC9B-DA299863282D}" dt="2025-10-10T14:08:22.909" v="1541" actId="113"/>
          <ac:spMkLst>
            <pc:docMk/>
            <pc:sldMk cId="2977938423" sldId="277"/>
            <ac:spMk id="3" creationId="{6E373976-0084-8395-2BB1-9A74B8083512}"/>
          </ac:spMkLst>
        </pc:spChg>
      </pc:sldChg>
      <pc:sldChg chg="addSp delSp modSp add mod ord">
        <pc:chgData name="shshinde2580@gmail.com" userId="86fdf0c531315612" providerId="LiveId" clId="{80EF1F59-5901-4077-BC9B-DA299863282D}" dt="2025-10-10T14:11:26.660" v="1637" actId="20577"/>
        <pc:sldMkLst>
          <pc:docMk/>
          <pc:sldMk cId="4270825065" sldId="278"/>
        </pc:sldMkLst>
        <pc:spChg chg="add del mod">
          <ac:chgData name="shshinde2580@gmail.com" userId="86fdf0c531315612" providerId="LiveId" clId="{80EF1F59-5901-4077-BC9B-DA299863282D}" dt="2025-10-10T14:09:57.358" v="1555" actId="21"/>
          <ac:spMkLst>
            <pc:docMk/>
            <pc:sldMk cId="4270825065" sldId="278"/>
            <ac:spMk id="3" creationId="{CDA868B0-C761-BD43-A4FA-60B3E3EA9F30}"/>
          </ac:spMkLst>
        </pc:spChg>
        <pc:spChg chg="add mod">
          <ac:chgData name="shshinde2580@gmail.com" userId="86fdf0c531315612" providerId="LiveId" clId="{80EF1F59-5901-4077-BC9B-DA299863282D}" dt="2025-10-10T14:11:26.660" v="1637" actId="20577"/>
          <ac:spMkLst>
            <pc:docMk/>
            <pc:sldMk cId="4270825065" sldId="278"/>
            <ac:spMk id="5" creationId="{D7CA17D0-CA49-1445-CE18-916B474028DD}"/>
          </ac:spMkLst>
        </pc:spChg>
      </pc:sldChg>
      <pc:sldChg chg="addSp modSp add mod ord">
        <pc:chgData name="shshinde2580@gmail.com" userId="86fdf0c531315612" providerId="LiveId" clId="{80EF1F59-5901-4077-BC9B-DA299863282D}" dt="2025-10-10T14:13:34.722" v="1722" actId="113"/>
        <pc:sldMkLst>
          <pc:docMk/>
          <pc:sldMk cId="939553211" sldId="279"/>
        </pc:sldMkLst>
        <pc:spChg chg="add mod">
          <ac:chgData name="shshinde2580@gmail.com" userId="86fdf0c531315612" providerId="LiveId" clId="{80EF1F59-5901-4077-BC9B-DA299863282D}" dt="2025-10-10T14:12:06.354" v="1645" actId="113"/>
          <ac:spMkLst>
            <pc:docMk/>
            <pc:sldMk cId="939553211" sldId="279"/>
            <ac:spMk id="3" creationId="{D303A452-5208-CD65-1DA0-70AA8219F994}"/>
          </ac:spMkLst>
        </pc:spChg>
        <pc:spChg chg="add mod">
          <ac:chgData name="shshinde2580@gmail.com" userId="86fdf0c531315612" providerId="LiveId" clId="{80EF1F59-5901-4077-BC9B-DA299863282D}" dt="2025-10-10T14:13:34.722" v="1722" actId="113"/>
          <ac:spMkLst>
            <pc:docMk/>
            <pc:sldMk cId="939553211" sldId="279"/>
            <ac:spMk id="4" creationId="{85A40B8D-05AA-349C-A5C1-55F73755C85A}"/>
          </ac:spMkLst>
        </pc:spChg>
      </pc:sldChg>
      <pc:sldChg chg="addSp modSp add mod">
        <pc:chgData name="shshinde2580@gmail.com" userId="86fdf0c531315612" providerId="LiveId" clId="{80EF1F59-5901-4077-BC9B-DA299863282D}" dt="2025-10-10T14:33:00.068" v="1869" actId="113"/>
        <pc:sldMkLst>
          <pc:docMk/>
          <pc:sldMk cId="3883609634" sldId="280"/>
        </pc:sldMkLst>
        <pc:spChg chg="add mod">
          <ac:chgData name="shshinde2580@gmail.com" userId="86fdf0c531315612" providerId="LiveId" clId="{80EF1F59-5901-4077-BC9B-DA299863282D}" dt="2025-10-10T14:33:00.068" v="1869" actId="113"/>
          <ac:spMkLst>
            <pc:docMk/>
            <pc:sldMk cId="3883609634" sldId="280"/>
            <ac:spMk id="3" creationId="{0A8420F3-49F8-7243-281B-AF6542D59BEC}"/>
          </ac:spMkLst>
        </pc:spChg>
      </pc:sldChg>
      <pc:sldChg chg="addSp modSp add mod">
        <pc:chgData name="shshinde2580@gmail.com" userId="86fdf0c531315612" providerId="LiveId" clId="{80EF1F59-5901-4077-BC9B-DA299863282D}" dt="2025-10-10T14:56:03.105" v="1960" actId="1076"/>
        <pc:sldMkLst>
          <pc:docMk/>
          <pc:sldMk cId="955775179" sldId="281"/>
        </pc:sldMkLst>
        <pc:spChg chg="add mod">
          <ac:chgData name="shshinde2580@gmail.com" userId="86fdf0c531315612" providerId="LiveId" clId="{80EF1F59-5901-4077-BC9B-DA299863282D}" dt="2025-10-10T14:55:25.771" v="1953" actId="113"/>
          <ac:spMkLst>
            <pc:docMk/>
            <pc:sldMk cId="955775179" sldId="281"/>
            <ac:spMk id="3" creationId="{53994860-1161-D1BC-A370-69DB77E27158}"/>
          </ac:spMkLst>
        </pc:spChg>
        <pc:spChg chg="add mod">
          <ac:chgData name="shshinde2580@gmail.com" userId="86fdf0c531315612" providerId="LiveId" clId="{80EF1F59-5901-4077-BC9B-DA299863282D}" dt="2025-10-10T14:56:03.105" v="1960" actId="1076"/>
          <ac:spMkLst>
            <pc:docMk/>
            <pc:sldMk cId="955775179" sldId="281"/>
            <ac:spMk id="5" creationId="{6553B6EE-F31C-7FCD-964D-98745F333D49}"/>
          </ac:spMkLst>
        </pc:spChg>
      </pc:sldChg>
      <pc:sldChg chg="addSp modSp add mod">
        <pc:chgData name="shshinde2580@gmail.com" userId="86fdf0c531315612" providerId="LiveId" clId="{80EF1F59-5901-4077-BC9B-DA299863282D}" dt="2025-10-10T14:58:00.747" v="2053" actId="113"/>
        <pc:sldMkLst>
          <pc:docMk/>
          <pc:sldMk cId="3115661666" sldId="282"/>
        </pc:sldMkLst>
        <pc:spChg chg="add mod">
          <ac:chgData name="shshinde2580@gmail.com" userId="86fdf0c531315612" providerId="LiveId" clId="{80EF1F59-5901-4077-BC9B-DA299863282D}" dt="2025-10-10T14:58:00.747" v="2053" actId="113"/>
          <ac:spMkLst>
            <pc:docMk/>
            <pc:sldMk cId="3115661666" sldId="282"/>
            <ac:spMk id="3" creationId="{7C06D30B-7D4B-B5C7-7C8E-3F32DFB712E9}"/>
          </ac:spMkLst>
        </pc:spChg>
        <pc:spChg chg="add mod">
          <ac:chgData name="shshinde2580@gmail.com" userId="86fdf0c531315612" providerId="LiveId" clId="{80EF1F59-5901-4077-BC9B-DA299863282D}" dt="2025-10-10T14:57:51.995" v="2052" actId="113"/>
          <ac:spMkLst>
            <pc:docMk/>
            <pc:sldMk cId="3115661666" sldId="282"/>
            <ac:spMk id="5" creationId="{B102ED36-B23C-C60E-5D30-6C186F5B704A}"/>
          </ac:spMkLst>
        </pc:spChg>
      </pc:sldChg>
      <pc:sldChg chg="addSp modSp add mod">
        <pc:chgData name="shshinde2580@gmail.com" userId="86fdf0c531315612" providerId="LiveId" clId="{80EF1F59-5901-4077-BC9B-DA299863282D}" dt="2025-10-10T15:00:10.711" v="2072" actId="113"/>
        <pc:sldMkLst>
          <pc:docMk/>
          <pc:sldMk cId="639592472" sldId="283"/>
        </pc:sldMkLst>
        <pc:spChg chg="add mod">
          <ac:chgData name="shshinde2580@gmail.com" userId="86fdf0c531315612" providerId="LiveId" clId="{80EF1F59-5901-4077-BC9B-DA299863282D}" dt="2025-10-10T15:00:10.711" v="2072" actId="113"/>
          <ac:spMkLst>
            <pc:docMk/>
            <pc:sldMk cId="639592472" sldId="283"/>
            <ac:spMk id="3" creationId="{FC717F32-6268-6522-3204-1CC09AA49772}"/>
          </ac:spMkLst>
        </pc:spChg>
      </pc:sldChg>
      <pc:sldChg chg="addSp modSp add mod">
        <pc:chgData name="shshinde2580@gmail.com" userId="86fdf0c531315612" providerId="LiveId" clId="{80EF1F59-5901-4077-BC9B-DA299863282D}" dt="2025-10-10T15:02:46.941" v="2105" actId="113"/>
        <pc:sldMkLst>
          <pc:docMk/>
          <pc:sldMk cId="3561898982" sldId="284"/>
        </pc:sldMkLst>
        <pc:spChg chg="add mod">
          <ac:chgData name="shshinde2580@gmail.com" userId="86fdf0c531315612" providerId="LiveId" clId="{80EF1F59-5901-4077-BC9B-DA299863282D}" dt="2025-10-10T15:00:43.900" v="2087" actId="1076"/>
          <ac:spMkLst>
            <pc:docMk/>
            <pc:sldMk cId="3561898982" sldId="284"/>
            <ac:spMk id="3" creationId="{23220D74-FE05-7175-2424-21DA46F7D58F}"/>
          </ac:spMkLst>
        </pc:spChg>
        <pc:spChg chg="add mod">
          <ac:chgData name="shshinde2580@gmail.com" userId="86fdf0c531315612" providerId="LiveId" clId="{80EF1F59-5901-4077-BC9B-DA299863282D}" dt="2025-10-10T15:01:53.395" v="2097" actId="1076"/>
          <ac:spMkLst>
            <pc:docMk/>
            <pc:sldMk cId="3561898982" sldId="284"/>
            <ac:spMk id="7" creationId="{1636E28C-BE85-17EC-2297-1B81283CA69D}"/>
          </ac:spMkLst>
        </pc:spChg>
        <pc:spChg chg="add mod">
          <ac:chgData name="shshinde2580@gmail.com" userId="86fdf0c531315612" providerId="LiveId" clId="{80EF1F59-5901-4077-BC9B-DA299863282D}" dt="2025-10-10T15:02:46.941" v="2105" actId="113"/>
          <ac:spMkLst>
            <pc:docMk/>
            <pc:sldMk cId="3561898982" sldId="284"/>
            <ac:spMk id="9" creationId="{25D0A2C5-6C76-280A-409C-F6BFCB567CE2}"/>
          </ac:spMkLst>
        </pc:spChg>
        <pc:picChg chg="add mod modCrop">
          <ac:chgData name="shshinde2580@gmail.com" userId="86fdf0c531315612" providerId="LiveId" clId="{80EF1F59-5901-4077-BC9B-DA299863282D}" dt="2025-10-10T15:01:33.446" v="2094" actId="14100"/>
          <ac:picMkLst>
            <pc:docMk/>
            <pc:sldMk cId="3561898982" sldId="284"/>
            <ac:picMk id="5" creationId="{F0B6CF94-B6E1-2ECD-2450-5FD0DFD0F8FC}"/>
          </ac:picMkLst>
        </pc:picChg>
      </pc:sldChg>
      <pc:sldChg chg="addSp modSp add mod">
        <pc:chgData name="shshinde2580@gmail.com" userId="86fdf0c531315612" providerId="LiveId" clId="{80EF1F59-5901-4077-BC9B-DA299863282D}" dt="2025-10-10T15:06:14.643" v="2146" actId="14100"/>
        <pc:sldMkLst>
          <pc:docMk/>
          <pc:sldMk cId="156719554" sldId="285"/>
        </pc:sldMkLst>
        <pc:spChg chg="add mod">
          <ac:chgData name="shshinde2580@gmail.com" userId="86fdf0c531315612" providerId="LiveId" clId="{80EF1F59-5901-4077-BC9B-DA299863282D}" dt="2025-10-10T15:06:14.643" v="2146" actId="14100"/>
          <ac:spMkLst>
            <pc:docMk/>
            <pc:sldMk cId="156719554" sldId="285"/>
            <ac:spMk id="3" creationId="{740480B7-BE05-327F-7706-A61B947F950A}"/>
          </ac:spMkLst>
        </pc:spChg>
      </pc:sldChg>
      <pc:sldChg chg="addSp delSp modSp add mod">
        <pc:chgData name="shshinde2580@gmail.com" userId="86fdf0c531315612" providerId="LiveId" clId="{80EF1F59-5901-4077-BC9B-DA299863282D}" dt="2025-10-10T14:14:50.406" v="1738" actId="113"/>
        <pc:sldMkLst>
          <pc:docMk/>
          <pc:sldMk cId="3908168617" sldId="286"/>
        </pc:sldMkLst>
        <pc:spChg chg="add del mod">
          <ac:chgData name="shshinde2580@gmail.com" userId="86fdf0c531315612" providerId="LiveId" clId="{80EF1F59-5901-4077-BC9B-DA299863282D}" dt="2025-10-10T14:13:45.972" v="1723" actId="21"/>
          <ac:spMkLst>
            <pc:docMk/>
            <pc:sldMk cId="3908168617" sldId="286"/>
            <ac:spMk id="3" creationId="{4AE13356-8FFE-80FA-8D7D-395950C84493}"/>
          </ac:spMkLst>
        </pc:spChg>
        <pc:spChg chg="add mod">
          <ac:chgData name="shshinde2580@gmail.com" userId="86fdf0c531315612" providerId="LiveId" clId="{80EF1F59-5901-4077-BC9B-DA299863282D}" dt="2025-10-10T14:14:50.406" v="1738" actId="113"/>
          <ac:spMkLst>
            <pc:docMk/>
            <pc:sldMk cId="3908168617" sldId="286"/>
            <ac:spMk id="5" creationId="{806A131D-B864-F350-5901-3EF9ACCA2FF5}"/>
          </ac:spMkLst>
        </pc:spChg>
      </pc:sldChg>
      <pc:sldChg chg="addSp modSp add mod">
        <pc:chgData name="shshinde2580@gmail.com" userId="86fdf0c531315612" providerId="LiveId" clId="{80EF1F59-5901-4077-BC9B-DA299863282D}" dt="2025-10-10T14:17:24.208" v="1757" actId="1076"/>
        <pc:sldMkLst>
          <pc:docMk/>
          <pc:sldMk cId="3396587746" sldId="287"/>
        </pc:sldMkLst>
        <pc:spChg chg="add mod">
          <ac:chgData name="shshinde2580@gmail.com" userId="86fdf0c531315612" providerId="LiveId" clId="{80EF1F59-5901-4077-BC9B-DA299863282D}" dt="2025-10-10T14:17:24.208" v="1757" actId="1076"/>
          <ac:spMkLst>
            <pc:docMk/>
            <pc:sldMk cId="3396587746" sldId="287"/>
            <ac:spMk id="5" creationId="{6681DA76-93B9-EB02-6124-712FB6FBAE85}"/>
          </ac:spMkLst>
        </pc:spChg>
        <pc:picChg chg="add mod modCrop">
          <ac:chgData name="shshinde2580@gmail.com" userId="86fdf0c531315612" providerId="LiveId" clId="{80EF1F59-5901-4077-BC9B-DA299863282D}" dt="2025-10-10T14:17:10.191" v="1753" actId="14100"/>
          <ac:picMkLst>
            <pc:docMk/>
            <pc:sldMk cId="3396587746" sldId="287"/>
            <ac:picMk id="3" creationId="{DA1C8A32-5157-70C9-30AB-E391AEEA6FE7}"/>
          </ac:picMkLst>
        </pc:picChg>
      </pc:sldChg>
      <pc:sldChg chg="addSp modSp add mod">
        <pc:chgData name="shshinde2580@gmail.com" userId="86fdf0c531315612" providerId="LiveId" clId="{80EF1F59-5901-4077-BC9B-DA299863282D}" dt="2025-10-10T14:18:12.864" v="1767" actId="14100"/>
        <pc:sldMkLst>
          <pc:docMk/>
          <pc:sldMk cId="1686917519" sldId="288"/>
        </pc:sldMkLst>
        <pc:picChg chg="add mod">
          <ac:chgData name="shshinde2580@gmail.com" userId="86fdf0c531315612" providerId="LiveId" clId="{80EF1F59-5901-4077-BC9B-DA299863282D}" dt="2025-10-10T14:18:12.864" v="1767" actId="14100"/>
          <ac:picMkLst>
            <pc:docMk/>
            <pc:sldMk cId="1686917519" sldId="288"/>
            <ac:picMk id="3" creationId="{EFB64820-A442-1B7E-2D03-AE31D4DC9A57}"/>
          </ac:picMkLst>
        </pc:picChg>
      </pc:sldChg>
      <pc:sldChg chg="addSp modSp add mod">
        <pc:chgData name="shshinde2580@gmail.com" userId="86fdf0c531315612" providerId="LiveId" clId="{80EF1F59-5901-4077-BC9B-DA299863282D}" dt="2025-10-10T14:19:53.587" v="1786" actId="20577"/>
        <pc:sldMkLst>
          <pc:docMk/>
          <pc:sldMk cId="185733082" sldId="289"/>
        </pc:sldMkLst>
        <pc:spChg chg="add mod">
          <ac:chgData name="shshinde2580@gmail.com" userId="86fdf0c531315612" providerId="LiveId" clId="{80EF1F59-5901-4077-BC9B-DA299863282D}" dt="2025-10-10T14:19:53.587" v="1786" actId="20577"/>
          <ac:spMkLst>
            <pc:docMk/>
            <pc:sldMk cId="185733082" sldId="289"/>
            <ac:spMk id="3" creationId="{8D55B60E-8E03-D5BB-721D-70E8F1EE0D7A}"/>
          </ac:spMkLst>
        </pc:spChg>
      </pc:sldChg>
      <pc:sldChg chg="addSp modSp add mod">
        <pc:chgData name="shshinde2580@gmail.com" userId="86fdf0c531315612" providerId="LiveId" clId="{80EF1F59-5901-4077-BC9B-DA299863282D}" dt="2025-10-10T14:20:37.827" v="1789" actId="14100"/>
        <pc:sldMkLst>
          <pc:docMk/>
          <pc:sldMk cId="3909250608" sldId="290"/>
        </pc:sldMkLst>
        <pc:picChg chg="add mod">
          <ac:chgData name="shshinde2580@gmail.com" userId="86fdf0c531315612" providerId="LiveId" clId="{80EF1F59-5901-4077-BC9B-DA299863282D}" dt="2025-10-10T14:20:37.827" v="1789" actId="14100"/>
          <ac:picMkLst>
            <pc:docMk/>
            <pc:sldMk cId="3909250608" sldId="290"/>
            <ac:picMk id="3" creationId="{1F179EF6-F38C-9DBD-4AE2-288A262CC77E}"/>
          </ac:picMkLst>
        </pc:picChg>
      </pc:sldChg>
      <pc:sldChg chg="addSp modSp add mod ord">
        <pc:chgData name="shshinde2580@gmail.com" userId="86fdf0c531315612" providerId="LiveId" clId="{80EF1F59-5901-4077-BC9B-DA299863282D}" dt="2025-10-10T14:32:02.206" v="1856" actId="20577"/>
        <pc:sldMkLst>
          <pc:docMk/>
          <pc:sldMk cId="1451077082" sldId="291"/>
        </pc:sldMkLst>
        <pc:spChg chg="add mod">
          <ac:chgData name="shshinde2580@gmail.com" userId="86fdf0c531315612" providerId="LiveId" clId="{80EF1F59-5901-4077-BC9B-DA299863282D}" dt="2025-10-10T14:32:02.206" v="1856" actId="20577"/>
          <ac:spMkLst>
            <pc:docMk/>
            <pc:sldMk cId="1451077082" sldId="291"/>
            <ac:spMk id="3" creationId="{13DC30D4-101A-CFFD-A9D9-9E56F850280F}"/>
          </ac:spMkLst>
        </pc:spChg>
      </pc:sldChg>
      <pc:sldChg chg="addSp modSp add mod ord">
        <pc:chgData name="shshinde2580@gmail.com" userId="86fdf0c531315612" providerId="LiveId" clId="{80EF1F59-5901-4077-BC9B-DA299863282D}" dt="2025-10-10T14:25:42.694" v="1826" actId="14100"/>
        <pc:sldMkLst>
          <pc:docMk/>
          <pc:sldMk cId="2687746301" sldId="292"/>
        </pc:sldMkLst>
        <pc:spChg chg="add mod">
          <ac:chgData name="shshinde2580@gmail.com" userId="86fdf0c531315612" providerId="LiveId" clId="{80EF1F59-5901-4077-BC9B-DA299863282D}" dt="2025-10-10T14:24:39.375" v="1819" actId="115"/>
          <ac:spMkLst>
            <pc:docMk/>
            <pc:sldMk cId="2687746301" sldId="292"/>
            <ac:spMk id="3" creationId="{B1804F3F-08E4-FABA-33A1-754B1C611A2F}"/>
          </ac:spMkLst>
        </pc:spChg>
        <pc:picChg chg="add mod modCrop">
          <ac:chgData name="shshinde2580@gmail.com" userId="86fdf0c531315612" providerId="LiveId" clId="{80EF1F59-5901-4077-BC9B-DA299863282D}" dt="2025-10-10T14:25:42.694" v="1826" actId="14100"/>
          <ac:picMkLst>
            <pc:docMk/>
            <pc:sldMk cId="2687746301" sldId="292"/>
            <ac:picMk id="5" creationId="{76927F2F-494F-3CE2-D899-003BACBD1124}"/>
          </ac:picMkLst>
        </pc:picChg>
      </pc:sldChg>
      <pc:sldChg chg="add del">
        <pc:chgData name="shshinde2580@gmail.com" userId="86fdf0c531315612" providerId="LiveId" clId="{80EF1F59-5901-4077-BC9B-DA299863282D}" dt="2025-10-10T14:21:28.371" v="1798" actId="2696"/>
        <pc:sldMkLst>
          <pc:docMk/>
          <pc:sldMk cId="307515906" sldId="293"/>
        </pc:sldMkLst>
      </pc:sldChg>
      <pc:sldChg chg="addSp modSp add mod">
        <pc:chgData name="shshinde2580@gmail.com" userId="86fdf0c531315612" providerId="LiveId" clId="{80EF1F59-5901-4077-BC9B-DA299863282D}" dt="2025-10-10T15:06:54.119" v="2152" actId="113"/>
        <pc:sldMkLst>
          <pc:docMk/>
          <pc:sldMk cId="734081907" sldId="293"/>
        </pc:sldMkLst>
        <pc:spChg chg="add mod">
          <ac:chgData name="shshinde2580@gmail.com" userId="86fdf0c531315612" providerId="LiveId" clId="{80EF1F59-5901-4077-BC9B-DA299863282D}" dt="2025-10-10T15:06:54.119" v="2152" actId="113"/>
          <ac:spMkLst>
            <pc:docMk/>
            <pc:sldMk cId="734081907" sldId="293"/>
            <ac:spMk id="3" creationId="{E46BEB79-7B12-9F84-F398-9DE340066E14}"/>
          </ac:spMkLst>
        </pc:spChg>
      </pc:sldChg>
      <pc:sldChg chg="addSp modSp add mod">
        <pc:chgData name="shshinde2580@gmail.com" userId="86fdf0c531315612" providerId="LiveId" clId="{80EF1F59-5901-4077-BC9B-DA299863282D}" dt="2025-10-10T15:07:27.277" v="2157" actId="113"/>
        <pc:sldMkLst>
          <pc:docMk/>
          <pc:sldMk cId="3092013277" sldId="294"/>
        </pc:sldMkLst>
        <pc:spChg chg="add mod">
          <ac:chgData name="shshinde2580@gmail.com" userId="86fdf0c531315612" providerId="LiveId" clId="{80EF1F59-5901-4077-BC9B-DA299863282D}" dt="2025-10-10T15:07:27.277" v="2157" actId="113"/>
          <ac:spMkLst>
            <pc:docMk/>
            <pc:sldMk cId="3092013277" sldId="294"/>
            <ac:spMk id="3" creationId="{912F474A-ADFE-4A3D-5CFF-3A03F905F5D9}"/>
          </ac:spMkLst>
        </pc:spChg>
      </pc:sldChg>
      <pc:sldChg chg="addSp modSp add mod">
        <pc:chgData name="shshinde2580@gmail.com" userId="86fdf0c531315612" providerId="LiveId" clId="{80EF1F59-5901-4077-BC9B-DA299863282D}" dt="2025-10-10T15:09:53.894" v="2181" actId="20577"/>
        <pc:sldMkLst>
          <pc:docMk/>
          <pc:sldMk cId="2337584331" sldId="295"/>
        </pc:sldMkLst>
        <pc:spChg chg="add mod">
          <ac:chgData name="shshinde2580@gmail.com" userId="86fdf0c531315612" providerId="LiveId" clId="{80EF1F59-5901-4077-BC9B-DA299863282D}" dt="2025-10-10T15:09:53.894" v="2181" actId="20577"/>
          <ac:spMkLst>
            <pc:docMk/>
            <pc:sldMk cId="2337584331" sldId="295"/>
            <ac:spMk id="5" creationId="{73D3EE54-BDC1-3B1E-5201-C48E0EB233FC}"/>
          </ac:spMkLst>
        </pc:spChg>
        <pc:picChg chg="add mod modCrop">
          <ac:chgData name="shshinde2580@gmail.com" userId="86fdf0c531315612" providerId="LiveId" clId="{80EF1F59-5901-4077-BC9B-DA299863282D}" dt="2025-10-10T15:08:31.840" v="2166" actId="14100"/>
          <ac:picMkLst>
            <pc:docMk/>
            <pc:sldMk cId="2337584331" sldId="295"/>
            <ac:picMk id="3" creationId="{F9E041A3-E501-7246-11C5-A67E5FA3D548}"/>
          </ac:picMkLst>
        </pc:picChg>
      </pc:sldChg>
      <pc:sldChg chg="addSp modSp add mod">
        <pc:chgData name="shshinde2580@gmail.com" userId="86fdf0c531315612" providerId="LiveId" clId="{80EF1F59-5901-4077-BC9B-DA299863282D}" dt="2025-10-10T15:11:37.417" v="2206" actId="113"/>
        <pc:sldMkLst>
          <pc:docMk/>
          <pc:sldMk cId="2675645330" sldId="296"/>
        </pc:sldMkLst>
        <pc:spChg chg="add mod">
          <ac:chgData name="shshinde2580@gmail.com" userId="86fdf0c531315612" providerId="LiveId" clId="{80EF1F59-5901-4077-BC9B-DA299863282D}" dt="2025-10-10T15:11:37.417" v="2206" actId="113"/>
          <ac:spMkLst>
            <pc:docMk/>
            <pc:sldMk cId="2675645330" sldId="296"/>
            <ac:spMk id="3" creationId="{2124D66E-ACE7-C953-55A1-0BFDACE0BED4}"/>
          </ac:spMkLst>
        </pc:spChg>
      </pc:sldChg>
      <pc:sldChg chg="addSp modSp add mod">
        <pc:chgData name="shshinde2580@gmail.com" userId="86fdf0c531315612" providerId="LiveId" clId="{80EF1F59-5901-4077-BC9B-DA299863282D}" dt="2025-10-10T18:38:55.758" v="2579" actId="1076"/>
        <pc:sldMkLst>
          <pc:docMk/>
          <pc:sldMk cId="1621764459" sldId="297"/>
        </pc:sldMkLst>
        <pc:spChg chg="add mod">
          <ac:chgData name="shshinde2580@gmail.com" userId="86fdf0c531315612" providerId="LiveId" clId="{80EF1F59-5901-4077-BC9B-DA299863282D}" dt="2025-10-10T18:38:45.368" v="2577" actId="255"/>
          <ac:spMkLst>
            <pc:docMk/>
            <pc:sldMk cId="1621764459" sldId="297"/>
            <ac:spMk id="3" creationId="{6F0FB0D1-647C-75AE-6137-C035842D2A8C}"/>
          </ac:spMkLst>
        </pc:spChg>
        <pc:spChg chg="add mod">
          <ac:chgData name="shshinde2580@gmail.com" userId="86fdf0c531315612" providerId="LiveId" clId="{80EF1F59-5901-4077-BC9B-DA299863282D}" dt="2025-10-10T18:38:55.758" v="2579" actId="1076"/>
          <ac:spMkLst>
            <pc:docMk/>
            <pc:sldMk cId="1621764459" sldId="297"/>
            <ac:spMk id="5" creationId="{ADC59C8E-6E0B-4737-D915-790CB504C054}"/>
          </ac:spMkLst>
        </pc:spChg>
        <pc:spChg chg="add mod">
          <ac:chgData name="shshinde2580@gmail.com" userId="86fdf0c531315612" providerId="LiveId" clId="{80EF1F59-5901-4077-BC9B-DA299863282D}" dt="2025-10-10T18:38:52.431" v="2578" actId="1076"/>
          <ac:spMkLst>
            <pc:docMk/>
            <pc:sldMk cId="1621764459" sldId="297"/>
            <ac:spMk id="7" creationId="{9BAC3F1A-1A72-9C26-49AB-3072B4505290}"/>
          </ac:spMkLst>
        </pc:spChg>
      </pc:sldChg>
      <pc:sldChg chg="addSp modSp add mod">
        <pc:chgData name="shshinde2580@gmail.com" userId="86fdf0c531315612" providerId="LiveId" clId="{80EF1F59-5901-4077-BC9B-DA299863282D}" dt="2025-10-10T15:15:01.292" v="2244" actId="1076"/>
        <pc:sldMkLst>
          <pc:docMk/>
          <pc:sldMk cId="4168018272" sldId="298"/>
        </pc:sldMkLst>
        <pc:spChg chg="add mod">
          <ac:chgData name="shshinde2580@gmail.com" userId="86fdf0c531315612" providerId="LiveId" clId="{80EF1F59-5901-4077-BC9B-DA299863282D}" dt="2025-10-10T15:15:01.292" v="2244" actId="1076"/>
          <ac:spMkLst>
            <pc:docMk/>
            <pc:sldMk cId="4168018272" sldId="298"/>
            <ac:spMk id="5" creationId="{E00FE129-FC68-F4BF-7AEC-D03A53B61755}"/>
          </ac:spMkLst>
        </pc:spChg>
        <pc:picChg chg="add mod modCrop">
          <ac:chgData name="shshinde2580@gmail.com" userId="86fdf0c531315612" providerId="LiveId" clId="{80EF1F59-5901-4077-BC9B-DA299863282D}" dt="2025-10-10T15:14:55.459" v="2242" actId="14100"/>
          <ac:picMkLst>
            <pc:docMk/>
            <pc:sldMk cId="4168018272" sldId="298"/>
            <ac:picMk id="3" creationId="{E6E59486-0D94-D842-C6B3-C6AB46EA46DD}"/>
          </ac:picMkLst>
        </pc:picChg>
      </pc:sldChg>
      <pc:sldChg chg="addSp modSp add mod">
        <pc:chgData name="shshinde2580@gmail.com" userId="86fdf0c531315612" providerId="LiveId" clId="{80EF1F59-5901-4077-BC9B-DA299863282D}" dt="2025-10-10T18:17:57.151" v="2254" actId="1076"/>
        <pc:sldMkLst>
          <pc:docMk/>
          <pc:sldMk cId="1217291146" sldId="299"/>
        </pc:sldMkLst>
        <pc:spChg chg="add mod">
          <ac:chgData name="shshinde2580@gmail.com" userId="86fdf0c531315612" providerId="LiveId" clId="{80EF1F59-5901-4077-BC9B-DA299863282D}" dt="2025-10-10T18:17:54.023" v="2253" actId="1076"/>
          <ac:spMkLst>
            <pc:docMk/>
            <pc:sldMk cId="1217291146" sldId="299"/>
            <ac:spMk id="3" creationId="{8CB9D860-8D79-3EA2-C90B-A0EB68169407}"/>
          </ac:spMkLst>
        </pc:spChg>
        <pc:picChg chg="add mod">
          <ac:chgData name="shshinde2580@gmail.com" userId="86fdf0c531315612" providerId="LiveId" clId="{80EF1F59-5901-4077-BC9B-DA299863282D}" dt="2025-10-10T18:17:57.151" v="2254" actId="1076"/>
          <ac:picMkLst>
            <pc:docMk/>
            <pc:sldMk cId="1217291146" sldId="299"/>
            <ac:picMk id="5" creationId="{1A5FAF73-0281-F7B0-871A-B06BD9E2AA0C}"/>
          </ac:picMkLst>
        </pc:picChg>
      </pc:sldChg>
      <pc:sldChg chg="addSp delSp modSp add mod">
        <pc:chgData name="shshinde2580@gmail.com" userId="86fdf0c531315612" providerId="LiveId" clId="{80EF1F59-5901-4077-BC9B-DA299863282D}" dt="2025-10-10T18:19:15.445" v="2265" actId="313"/>
        <pc:sldMkLst>
          <pc:docMk/>
          <pc:sldMk cId="2282972241" sldId="300"/>
        </pc:sldMkLst>
        <pc:spChg chg="add mod">
          <ac:chgData name="shshinde2580@gmail.com" userId="86fdf0c531315612" providerId="LiveId" clId="{80EF1F59-5901-4077-BC9B-DA299863282D}" dt="2025-10-10T18:19:15.445" v="2265" actId="313"/>
          <ac:spMkLst>
            <pc:docMk/>
            <pc:sldMk cId="2282972241" sldId="300"/>
            <ac:spMk id="7" creationId="{854B1A4C-D99B-9805-BFA1-33C994BA21B1}"/>
          </ac:spMkLst>
        </pc:spChg>
        <pc:picChg chg="add del">
          <ac:chgData name="shshinde2580@gmail.com" userId="86fdf0c531315612" providerId="LiveId" clId="{80EF1F59-5901-4077-BC9B-DA299863282D}" dt="2025-10-10T18:18:31.614" v="2256" actId="22"/>
          <ac:picMkLst>
            <pc:docMk/>
            <pc:sldMk cId="2282972241" sldId="300"/>
            <ac:picMk id="3" creationId="{2C31E19B-04D1-7C8A-B4BA-CB7EAB9EC0BE}"/>
          </ac:picMkLst>
        </pc:picChg>
        <pc:picChg chg="add del">
          <ac:chgData name="shshinde2580@gmail.com" userId="86fdf0c531315612" providerId="LiveId" clId="{80EF1F59-5901-4077-BC9B-DA299863282D}" dt="2025-10-10T18:18:41.718" v="2258" actId="22"/>
          <ac:picMkLst>
            <pc:docMk/>
            <pc:sldMk cId="2282972241" sldId="300"/>
            <ac:picMk id="5" creationId="{B83847D6-82DF-9C7C-BF36-A80DEB5FFDC7}"/>
          </ac:picMkLst>
        </pc:picChg>
      </pc:sldChg>
      <pc:sldChg chg="addSp modSp add mod">
        <pc:chgData name="shshinde2580@gmail.com" userId="86fdf0c531315612" providerId="LiveId" clId="{80EF1F59-5901-4077-BC9B-DA299863282D}" dt="2025-10-10T18:25:10.473" v="2464" actId="113"/>
        <pc:sldMkLst>
          <pc:docMk/>
          <pc:sldMk cId="1909769701" sldId="301"/>
        </pc:sldMkLst>
        <pc:spChg chg="add mod">
          <ac:chgData name="shshinde2580@gmail.com" userId="86fdf0c531315612" providerId="LiveId" clId="{80EF1F59-5901-4077-BC9B-DA299863282D}" dt="2025-10-10T18:25:10.473" v="2464" actId="113"/>
          <ac:spMkLst>
            <pc:docMk/>
            <pc:sldMk cId="1909769701" sldId="301"/>
            <ac:spMk id="3" creationId="{74B643BC-8308-2975-1A60-CCF987D545AE}"/>
          </ac:spMkLst>
        </pc:spChg>
      </pc:sldChg>
      <pc:sldChg chg="addSp delSp modSp add mod ord">
        <pc:chgData name="shshinde2580@gmail.com" userId="86fdf0c531315612" providerId="LiveId" clId="{80EF1F59-5901-4077-BC9B-DA299863282D}" dt="2025-10-10T18:40:07.805" v="2598" actId="20577"/>
        <pc:sldMkLst>
          <pc:docMk/>
          <pc:sldMk cId="2733165669" sldId="302"/>
        </pc:sldMkLst>
        <pc:spChg chg="add mod">
          <ac:chgData name="shshinde2580@gmail.com" userId="86fdf0c531315612" providerId="LiveId" clId="{80EF1F59-5901-4077-BC9B-DA299863282D}" dt="2025-10-10T18:39:45.248" v="2587" actId="1076"/>
          <ac:spMkLst>
            <pc:docMk/>
            <pc:sldMk cId="2733165669" sldId="302"/>
            <ac:spMk id="3" creationId="{E087279E-6ED3-05BC-DEC9-FD967E8600B4}"/>
          </ac:spMkLst>
        </pc:spChg>
        <pc:spChg chg="add del mod">
          <ac:chgData name="shshinde2580@gmail.com" userId="86fdf0c531315612" providerId="LiveId" clId="{80EF1F59-5901-4077-BC9B-DA299863282D}" dt="2025-10-10T18:21:26.078" v="2357" actId="47"/>
          <ac:spMkLst>
            <pc:docMk/>
            <pc:sldMk cId="2733165669" sldId="302"/>
            <ac:spMk id="5" creationId="{5CE091C9-5BC6-41F6-630A-1D712C149739}"/>
          </ac:spMkLst>
        </pc:spChg>
        <pc:spChg chg="add mod">
          <ac:chgData name="shshinde2580@gmail.com" userId="86fdf0c531315612" providerId="LiveId" clId="{80EF1F59-5901-4077-BC9B-DA299863282D}" dt="2025-10-10T18:39:51.224" v="2588" actId="1076"/>
          <ac:spMkLst>
            <pc:docMk/>
            <pc:sldMk cId="2733165669" sldId="302"/>
            <ac:spMk id="7" creationId="{B46028D3-0552-D359-9AFE-F4E91F05F340}"/>
          </ac:spMkLst>
        </pc:spChg>
        <pc:spChg chg="add mod">
          <ac:chgData name="shshinde2580@gmail.com" userId="86fdf0c531315612" providerId="LiveId" clId="{80EF1F59-5901-4077-BC9B-DA299863282D}" dt="2025-10-10T18:40:07.805" v="2598" actId="20577"/>
          <ac:spMkLst>
            <pc:docMk/>
            <pc:sldMk cId="2733165669" sldId="302"/>
            <ac:spMk id="9" creationId="{EC135CA3-E265-5F90-2DA4-7B5308777C57}"/>
          </ac:spMkLst>
        </pc:spChg>
      </pc:sldChg>
      <pc:sldChg chg="addSp modSp add mod">
        <pc:chgData name="shshinde2580@gmail.com" userId="86fdf0c531315612" providerId="LiveId" clId="{80EF1F59-5901-4077-BC9B-DA299863282D}" dt="2025-10-10T18:26:01.200" v="2474" actId="20577"/>
        <pc:sldMkLst>
          <pc:docMk/>
          <pc:sldMk cId="3068380494" sldId="303"/>
        </pc:sldMkLst>
        <pc:spChg chg="add mod">
          <ac:chgData name="shshinde2580@gmail.com" userId="86fdf0c531315612" providerId="LiveId" clId="{80EF1F59-5901-4077-BC9B-DA299863282D}" dt="2025-10-10T18:26:01.200" v="2474" actId="20577"/>
          <ac:spMkLst>
            <pc:docMk/>
            <pc:sldMk cId="3068380494" sldId="303"/>
            <ac:spMk id="3" creationId="{768FA081-BFCF-B6F7-EEFC-6138F0AA89D4}"/>
          </ac:spMkLst>
        </pc:spChg>
      </pc:sldChg>
      <pc:sldChg chg="addSp modSp add mod">
        <pc:chgData name="shshinde2580@gmail.com" userId="86fdf0c531315612" providerId="LiveId" clId="{80EF1F59-5901-4077-BC9B-DA299863282D}" dt="2025-10-10T18:36:31.555" v="2558" actId="255"/>
        <pc:sldMkLst>
          <pc:docMk/>
          <pc:sldMk cId="3617226724" sldId="304"/>
        </pc:sldMkLst>
        <pc:spChg chg="add mod">
          <ac:chgData name="shshinde2580@gmail.com" userId="86fdf0c531315612" providerId="LiveId" clId="{80EF1F59-5901-4077-BC9B-DA299863282D}" dt="2025-10-10T18:36:31.555" v="2558" actId="255"/>
          <ac:spMkLst>
            <pc:docMk/>
            <pc:sldMk cId="3617226724" sldId="304"/>
            <ac:spMk id="3" creationId="{ABD6FCBE-8F73-F574-8C7C-8A98122A9B9F}"/>
          </ac:spMkLst>
        </pc:spChg>
        <pc:picChg chg="add mod">
          <ac:chgData name="shshinde2580@gmail.com" userId="86fdf0c531315612" providerId="LiveId" clId="{80EF1F59-5901-4077-BC9B-DA299863282D}" dt="2025-10-10T18:28:05.848" v="2494" actId="1076"/>
          <ac:picMkLst>
            <pc:docMk/>
            <pc:sldMk cId="3617226724" sldId="304"/>
            <ac:picMk id="5" creationId="{4E4BB369-EA9B-3E09-0642-CC5CB2FF6E44}"/>
          </ac:picMkLst>
        </pc:picChg>
      </pc:sldChg>
      <pc:sldChg chg="addSp modSp add mod">
        <pc:chgData name="shshinde2580@gmail.com" userId="86fdf0c531315612" providerId="LiveId" clId="{80EF1F59-5901-4077-BC9B-DA299863282D}" dt="2025-10-10T18:29:40.404" v="2513" actId="255"/>
        <pc:sldMkLst>
          <pc:docMk/>
          <pc:sldMk cId="3160046665" sldId="305"/>
        </pc:sldMkLst>
        <pc:spChg chg="add mod">
          <ac:chgData name="shshinde2580@gmail.com" userId="86fdf0c531315612" providerId="LiveId" clId="{80EF1F59-5901-4077-BC9B-DA299863282D}" dt="2025-10-10T18:29:40.404" v="2513" actId="255"/>
          <ac:spMkLst>
            <pc:docMk/>
            <pc:sldMk cId="3160046665" sldId="305"/>
            <ac:spMk id="3" creationId="{DC9E23BD-2862-009F-7724-E995DD105695}"/>
          </ac:spMkLst>
        </pc:spChg>
      </pc:sldChg>
      <pc:sldChg chg="addSp delSp modSp new mod">
        <pc:chgData name="shshinde2580@gmail.com" userId="86fdf0c531315612" providerId="LiveId" clId="{80EF1F59-5901-4077-BC9B-DA299863282D}" dt="2025-10-10T18:31:56.908" v="2552" actId="255"/>
        <pc:sldMkLst>
          <pc:docMk/>
          <pc:sldMk cId="4192671359" sldId="306"/>
        </pc:sldMkLst>
        <pc:spChg chg="del">
          <ac:chgData name="shshinde2580@gmail.com" userId="86fdf0c531315612" providerId="LiveId" clId="{80EF1F59-5901-4077-BC9B-DA299863282D}" dt="2025-10-10T18:30:00.753" v="2515" actId="21"/>
          <ac:spMkLst>
            <pc:docMk/>
            <pc:sldMk cId="4192671359" sldId="306"/>
            <ac:spMk id="2" creationId="{BD8E7ED2-652E-B376-5573-645958379BDC}"/>
          </ac:spMkLst>
        </pc:spChg>
        <pc:spChg chg="del">
          <ac:chgData name="shshinde2580@gmail.com" userId="86fdf0c531315612" providerId="LiveId" clId="{80EF1F59-5901-4077-BC9B-DA299863282D}" dt="2025-10-10T18:30:03.936" v="2516" actId="21"/>
          <ac:spMkLst>
            <pc:docMk/>
            <pc:sldMk cId="4192671359" sldId="306"/>
            <ac:spMk id="3" creationId="{E88D365B-DBA4-57E6-548C-D829A18E3983}"/>
          </ac:spMkLst>
        </pc:spChg>
        <pc:spChg chg="add mod">
          <ac:chgData name="shshinde2580@gmail.com" userId="86fdf0c531315612" providerId="LiveId" clId="{80EF1F59-5901-4077-BC9B-DA299863282D}" dt="2025-10-10T18:31:56.908" v="2552" actId="255"/>
          <ac:spMkLst>
            <pc:docMk/>
            <pc:sldMk cId="4192671359" sldId="306"/>
            <ac:spMk id="5" creationId="{7AD74EBB-5028-1397-6FE9-CBF57D8320D7}"/>
          </ac:spMkLst>
        </pc:spChg>
      </pc:sldChg>
      <pc:sldChg chg="addSp modSp add mod">
        <pc:chgData name="shshinde2580@gmail.com" userId="86fdf0c531315612" providerId="LiveId" clId="{80EF1F59-5901-4077-BC9B-DA299863282D}" dt="2025-10-10T18:44:14.207" v="2636" actId="20577"/>
        <pc:sldMkLst>
          <pc:docMk/>
          <pc:sldMk cId="1556972296" sldId="307"/>
        </pc:sldMkLst>
        <pc:spChg chg="add mod">
          <ac:chgData name="shshinde2580@gmail.com" userId="86fdf0c531315612" providerId="LiveId" clId="{80EF1F59-5901-4077-BC9B-DA299863282D}" dt="2025-10-10T18:42:10.081" v="2614" actId="255"/>
          <ac:spMkLst>
            <pc:docMk/>
            <pc:sldMk cId="1556972296" sldId="307"/>
            <ac:spMk id="3" creationId="{3F7F1836-9D7A-2FC0-654D-1BFE82F7948F}"/>
          </ac:spMkLst>
        </pc:spChg>
        <pc:spChg chg="add mod">
          <ac:chgData name="shshinde2580@gmail.com" userId="86fdf0c531315612" providerId="LiveId" clId="{80EF1F59-5901-4077-BC9B-DA299863282D}" dt="2025-10-10T18:44:14.207" v="2636" actId="20577"/>
          <ac:spMkLst>
            <pc:docMk/>
            <pc:sldMk cId="1556972296" sldId="307"/>
            <ac:spMk id="7" creationId="{367DC821-8274-1491-FD75-054B0031C16F}"/>
          </ac:spMkLst>
        </pc:spChg>
        <pc:picChg chg="add mod modCrop">
          <ac:chgData name="shshinde2580@gmail.com" userId="86fdf0c531315612" providerId="LiveId" clId="{80EF1F59-5901-4077-BC9B-DA299863282D}" dt="2025-10-10T18:43:03.795" v="2620" actId="1076"/>
          <ac:picMkLst>
            <pc:docMk/>
            <pc:sldMk cId="1556972296" sldId="307"/>
            <ac:picMk id="5" creationId="{DF5B9CFD-7DCE-FDF2-AE59-F78D4CFA7CFE}"/>
          </ac:picMkLst>
        </pc:picChg>
      </pc:sldChg>
      <pc:sldChg chg="addSp delSp modSp add mod">
        <pc:chgData name="shshinde2580@gmail.com" userId="86fdf0c531315612" providerId="LiveId" clId="{80EF1F59-5901-4077-BC9B-DA299863282D}" dt="2025-10-10T18:45:45.721" v="2653" actId="14100"/>
        <pc:sldMkLst>
          <pc:docMk/>
          <pc:sldMk cId="2098480569" sldId="308"/>
        </pc:sldMkLst>
        <pc:spChg chg="add mod">
          <ac:chgData name="shshinde2580@gmail.com" userId="86fdf0c531315612" providerId="LiveId" clId="{80EF1F59-5901-4077-BC9B-DA299863282D}" dt="2025-10-10T18:44:41.272" v="2642" actId="14100"/>
          <ac:spMkLst>
            <pc:docMk/>
            <pc:sldMk cId="2098480569" sldId="308"/>
            <ac:spMk id="3" creationId="{8686E2EE-8B31-1688-7A45-8370B1DD4F30}"/>
          </ac:spMkLst>
        </pc:spChg>
        <pc:spChg chg="add del">
          <ac:chgData name="shshinde2580@gmail.com" userId="86fdf0c531315612" providerId="LiveId" clId="{80EF1F59-5901-4077-BC9B-DA299863282D}" dt="2025-10-10T18:44:56.265" v="2644" actId="22"/>
          <ac:spMkLst>
            <pc:docMk/>
            <pc:sldMk cId="2098480569" sldId="308"/>
            <ac:spMk id="5" creationId="{B2E8F90A-EC5D-74DD-B596-A73CEE691E9B}"/>
          </ac:spMkLst>
        </pc:spChg>
        <pc:picChg chg="add mod modCrop">
          <ac:chgData name="shshinde2580@gmail.com" userId="86fdf0c531315612" providerId="LiveId" clId="{80EF1F59-5901-4077-BC9B-DA299863282D}" dt="2025-10-10T18:45:45.721" v="2653" actId="14100"/>
          <ac:picMkLst>
            <pc:docMk/>
            <pc:sldMk cId="2098480569" sldId="308"/>
            <ac:picMk id="7" creationId="{A4CAA077-2D48-1037-D3D3-17A1C04C54E7}"/>
          </ac:picMkLst>
        </pc:picChg>
      </pc:sldChg>
      <pc:sldChg chg="add del">
        <pc:chgData name="shshinde2580@gmail.com" userId="86fdf0c531315612" providerId="LiveId" clId="{80EF1F59-5901-4077-BC9B-DA299863282D}" dt="2025-10-10T18:47:24.480" v="2654" actId="2696"/>
        <pc:sldMkLst>
          <pc:docMk/>
          <pc:sldMk cId="3447907054" sldId="309"/>
        </pc:sldMkLst>
      </pc:sldChg>
      <pc:sldChg chg="add del">
        <pc:chgData name="shshinde2580@gmail.com" userId="86fdf0c531315612" providerId="LiveId" clId="{80EF1F59-5901-4077-BC9B-DA299863282D}" dt="2025-10-10T18:47:24.480" v="2654" actId="2696"/>
        <pc:sldMkLst>
          <pc:docMk/>
          <pc:sldMk cId="3850016924" sldId="310"/>
        </pc:sldMkLst>
      </pc:sldChg>
      <pc:sldChg chg="addSp modSp add mod">
        <pc:chgData name="shshinde2580@gmail.com" userId="86fdf0c531315612" providerId="LiveId" clId="{80EF1F59-5901-4077-BC9B-DA299863282D}" dt="2025-10-10T18:41:28.971" v="2610" actId="122"/>
        <pc:sldMkLst>
          <pc:docMk/>
          <pc:sldMk cId="3155549140" sldId="311"/>
        </pc:sldMkLst>
        <pc:spChg chg="add mod">
          <ac:chgData name="shshinde2580@gmail.com" userId="86fdf0c531315612" providerId="LiveId" clId="{80EF1F59-5901-4077-BC9B-DA299863282D}" dt="2025-10-10T18:40:54.860" v="2605" actId="1076"/>
          <ac:spMkLst>
            <pc:docMk/>
            <pc:sldMk cId="3155549140" sldId="311"/>
            <ac:spMk id="3" creationId="{C9CB3120-DC8E-0739-A2F4-F103BC4E1858}"/>
          </ac:spMkLst>
        </pc:spChg>
        <pc:spChg chg="add mod">
          <ac:chgData name="shshinde2580@gmail.com" userId="86fdf0c531315612" providerId="LiveId" clId="{80EF1F59-5901-4077-BC9B-DA299863282D}" dt="2025-10-10T18:41:00.803" v="2606" actId="1076"/>
          <ac:spMkLst>
            <pc:docMk/>
            <pc:sldMk cId="3155549140" sldId="311"/>
            <ac:spMk id="5" creationId="{E542769C-A8EB-9FA4-EA5E-020CDA844B5B}"/>
          </ac:spMkLst>
        </pc:spChg>
        <pc:graphicFrameChg chg="add mod modGraphic">
          <ac:chgData name="shshinde2580@gmail.com" userId="86fdf0c531315612" providerId="LiveId" clId="{80EF1F59-5901-4077-BC9B-DA299863282D}" dt="2025-10-10T18:41:28.971" v="2610" actId="122"/>
          <ac:graphicFrameMkLst>
            <pc:docMk/>
            <pc:sldMk cId="3155549140" sldId="311"/>
            <ac:graphicFrameMk id="6" creationId="{3587A3CF-2DF1-6A39-0E64-F16A4D49D3ED}"/>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C2A1B3-D9CA-4B59-8D9A-7B01F1CE387A}" type="datetimeFigureOut">
              <a:rPr lang="en-IN" smtClean="0"/>
              <a:t>11-10-2025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02CA04-B069-4BDC-A8B0-E011ACA4FCD5}" type="slidenum">
              <a:rPr lang="en-IN" smtClean="0"/>
              <a:t>‹#›</a:t>
            </a:fld>
            <a:endParaRPr lang="en-IN"/>
          </a:p>
        </p:txBody>
      </p:sp>
    </p:spTree>
    <p:extLst>
      <p:ext uri="{BB962C8B-B14F-4D97-AF65-F5344CB8AC3E}">
        <p14:creationId xmlns:p14="http://schemas.microsoft.com/office/powerpoint/2010/main" val="1771015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02CA04-B069-4BDC-A8B0-E011ACA4FCD5}" type="slidenum">
              <a:rPr lang="en-IN" smtClean="0"/>
              <a:t>10</a:t>
            </a:fld>
            <a:endParaRPr lang="en-IN"/>
          </a:p>
        </p:txBody>
      </p:sp>
    </p:spTree>
    <p:extLst>
      <p:ext uri="{BB962C8B-B14F-4D97-AF65-F5344CB8AC3E}">
        <p14:creationId xmlns:p14="http://schemas.microsoft.com/office/powerpoint/2010/main" val="506827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2909760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339487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215286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4C3B9A-A429-436B-921B-1E698D9D91E5}" type="datetimeFigureOut">
              <a:rPr lang="en-IN" smtClean="0"/>
              <a:t>11-10-2025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599773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4C3B9A-A429-436B-921B-1E698D9D91E5}" type="datetimeFigureOut">
              <a:rPr lang="en-IN" smtClean="0"/>
              <a:t>11-10-2025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711809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4C3B9A-A429-436B-921B-1E698D9D91E5}" type="datetimeFigureOut">
              <a:rPr lang="en-IN" smtClean="0"/>
              <a:t>11-10-2025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2522599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4C3B9A-A429-436B-921B-1E698D9D91E5}" type="datetimeFigureOut">
              <a:rPr lang="en-IN" smtClean="0"/>
              <a:t>11-10-2025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838137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4C3B9A-A429-436B-921B-1E698D9D91E5}" type="datetimeFigureOut">
              <a:rPr lang="en-IN" smtClean="0"/>
              <a:t>11-10-2025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281043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4C3B9A-A429-436B-921B-1E698D9D91E5}" type="datetimeFigureOut">
              <a:rPr lang="en-IN" smtClean="0"/>
              <a:t>11-10-2025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350689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183052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250644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26739413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56169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9720437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3350680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4C3B9A-A429-436B-921B-1E698D9D91E5}" type="datetimeFigureOut">
              <a:rPr lang="en-IN" smtClean="0"/>
              <a:t>11-10-2025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8B9ED2-64B0-48AE-A40A-F3F32051CDFA}" type="slidenum">
              <a:rPr lang="en-IN" smtClean="0"/>
              <a:t>‹#›</a:t>
            </a:fld>
            <a:endParaRPr lang="en-IN"/>
          </a:p>
        </p:txBody>
      </p:sp>
    </p:spTree>
    <p:extLst>
      <p:ext uri="{BB962C8B-B14F-4D97-AF65-F5344CB8AC3E}">
        <p14:creationId xmlns:p14="http://schemas.microsoft.com/office/powerpoint/2010/main" val="144995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74C3B9A-A429-436B-921B-1E698D9D91E5}" type="datetimeFigureOut">
              <a:rPr lang="en-IN" smtClean="0"/>
              <a:t>11-10-2025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E8B9ED2-64B0-48AE-A40A-F3F32051CDFA}" type="slidenum">
              <a:rPr lang="en-IN" smtClean="0"/>
              <a:t>‹#›</a:t>
            </a:fld>
            <a:endParaRPr lang="en-IN"/>
          </a:p>
        </p:txBody>
      </p:sp>
    </p:spTree>
    <p:extLst>
      <p:ext uri="{BB962C8B-B14F-4D97-AF65-F5344CB8AC3E}">
        <p14:creationId xmlns:p14="http://schemas.microsoft.com/office/powerpoint/2010/main" val="20206087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EA8AE-34C4-1C76-10F5-152305CC1E1A}"/>
              </a:ext>
            </a:extLst>
          </p:cNvPr>
          <p:cNvSpPr>
            <a:spLocks noGrp="1"/>
          </p:cNvSpPr>
          <p:nvPr>
            <p:ph type="ctrTitle"/>
          </p:nvPr>
        </p:nvSpPr>
        <p:spPr>
          <a:xfrm>
            <a:off x="606288" y="2404534"/>
            <a:ext cx="9402416" cy="1646302"/>
          </a:xfrm>
        </p:spPr>
        <p:txBody>
          <a:bodyPr/>
          <a:lstStyle/>
          <a:p>
            <a:pPr algn="ctr"/>
            <a:r>
              <a:rPr lang="en-IN" dirty="0"/>
              <a:t>Basics of Microcontroller 8051 </a:t>
            </a:r>
          </a:p>
        </p:txBody>
      </p:sp>
    </p:spTree>
    <p:extLst>
      <p:ext uri="{BB962C8B-B14F-4D97-AF65-F5344CB8AC3E}">
        <p14:creationId xmlns:p14="http://schemas.microsoft.com/office/powerpoint/2010/main" val="25976196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B849723-4B28-7BAD-012B-A34BBE677DE1}"/>
              </a:ext>
            </a:extLst>
          </p:cNvPr>
          <p:cNvSpPr txBox="1"/>
          <p:nvPr/>
        </p:nvSpPr>
        <p:spPr>
          <a:xfrm>
            <a:off x="879612" y="242716"/>
            <a:ext cx="8169965" cy="523220"/>
          </a:xfrm>
          <a:prstGeom prst="rect">
            <a:avLst/>
          </a:prstGeom>
          <a:noFill/>
        </p:spPr>
        <p:txBody>
          <a:bodyPr wrap="square">
            <a:spAutoFit/>
          </a:bodyPr>
          <a:lstStyle/>
          <a:p>
            <a:r>
              <a:rPr lang="en-US" sz="2800" b="1" dirty="0"/>
              <a:t>1.1 General architecture of Microcontroller </a:t>
            </a:r>
            <a:endParaRPr lang="en-IN" sz="2800" b="1" dirty="0"/>
          </a:p>
        </p:txBody>
      </p:sp>
      <p:sp>
        <p:nvSpPr>
          <p:cNvPr id="8" name="TextBox 7">
            <a:extLst>
              <a:ext uri="{FF2B5EF4-FFF2-40B4-BE49-F238E27FC236}">
                <a16:creationId xmlns:a16="http://schemas.microsoft.com/office/drawing/2014/main" id="{295EE969-A87B-C94B-2A48-624ABDDB54A0}"/>
              </a:ext>
            </a:extLst>
          </p:cNvPr>
          <p:cNvSpPr txBox="1"/>
          <p:nvPr/>
        </p:nvSpPr>
        <p:spPr>
          <a:xfrm>
            <a:off x="725556" y="797510"/>
            <a:ext cx="8478078" cy="2862322"/>
          </a:xfrm>
          <a:prstGeom prst="rect">
            <a:avLst/>
          </a:prstGeom>
          <a:noFill/>
        </p:spPr>
        <p:txBody>
          <a:bodyPr wrap="square">
            <a:spAutoFit/>
          </a:bodyPr>
          <a:lstStyle/>
          <a:p>
            <a:r>
              <a:rPr lang="en-US" dirty="0"/>
              <a:t>A microcontroller is a compact integrated circuit designed to govern a specific operation in an embedded system. A typical microcontroller includes a processor, memory and input/output (I/O) peripherals on a single chip.</a:t>
            </a:r>
          </a:p>
          <a:p>
            <a:endParaRPr lang="en-US" dirty="0"/>
          </a:p>
          <a:p>
            <a:r>
              <a:rPr lang="en-US" dirty="0"/>
              <a:t> Sometimes referred to as an embedded controller or microcontroller unit (MCU), microcontrollers are found in vehicles, robots, office machines, medical devices, mobile radio transceivers, vending machines and home appliances, among other devices. They are essentially simple miniature personal computers (PCs) designed to control small features of a larger component, without a complex front-end operating system (OS)</a:t>
            </a:r>
            <a:endParaRPr lang="en-IN" dirty="0"/>
          </a:p>
        </p:txBody>
      </p:sp>
      <p:sp>
        <p:nvSpPr>
          <p:cNvPr id="9" name="TextBox 8">
            <a:extLst>
              <a:ext uri="{FF2B5EF4-FFF2-40B4-BE49-F238E27FC236}">
                <a16:creationId xmlns:a16="http://schemas.microsoft.com/office/drawing/2014/main" id="{703FA3A0-5E49-654A-7B0E-5BD161F9914C}"/>
              </a:ext>
            </a:extLst>
          </p:cNvPr>
          <p:cNvSpPr txBox="1"/>
          <p:nvPr/>
        </p:nvSpPr>
        <p:spPr>
          <a:xfrm>
            <a:off x="725556" y="3845294"/>
            <a:ext cx="8438322" cy="2585323"/>
          </a:xfrm>
          <a:prstGeom prst="rect">
            <a:avLst/>
          </a:prstGeom>
          <a:noFill/>
        </p:spPr>
        <p:txBody>
          <a:bodyPr wrap="square">
            <a:spAutoFit/>
          </a:bodyPr>
          <a:lstStyle/>
          <a:p>
            <a:pPr algn="l">
              <a:buNone/>
            </a:pPr>
            <a:r>
              <a:rPr lang="en-US" b="0" i="0" dirty="0">
                <a:effectLst/>
                <a:latin typeface="fkGroteskNeue"/>
              </a:rPr>
              <a:t>The general architecture of a microcontroller typically consists of several integrated components on a single chip that work together to perform control tasks for embedded systems.</a:t>
            </a:r>
          </a:p>
          <a:p>
            <a:pPr algn="l">
              <a:buNone/>
            </a:pPr>
            <a:endParaRPr lang="en-US" b="0" i="0" dirty="0">
              <a:effectLst/>
              <a:latin typeface="fkGroteskNeue"/>
            </a:endParaRPr>
          </a:p>
          <a:p>
            <a:pPr algn="l">
              <a:buNone/>
            </a:pPr>
            <a:r>
              <a:rPr lang="en-US" b="1" i="0" dirty="0">
                <a:effectLst/>
                <a:latin typeface="fkGroteskNeue"/>
              </a:rPr>
              <a:t>Key components in the general architecture of a microcontroller include:</a:t>
            </a:r>
          </a:p>
          <a:p>
            <a:pPr algn="l">
              <a:buNone/>
            </a:pPr>
            <a:endParaRPr lang="en-US" b="1" i="0" dirty="0">
              <a:effectLst/>
              <a:latin typeface="fkGroteskNeue"/>
            </a:endParaRPr>
          </a:p>
          <a:p>
            <a:pPr algn="l">
              <a:buFont typeface="Arial" panose="020B0604020202020204" pitchFamily="34" charset="0"/>
              <a:buChar char="•"/>
            </a:pPr>
            <a:r>
              <a:rPr lang="en-US" b="0" i="0" dirty="0">
                <a:effectLst/>
                <a:latin typeface="fkGroteskNeue"/>
              </a:rPr>
              <a:t>Central Processing Unit (CPU): Acts as the brain of the microcontroller, executing instructions stored in memory. It contains the Arithmetic Logic Unit (ALU) for performing arithmetic and logical operations, and registers</a:t>
            </a:r>
          </a:p>
        </p:txBody>
      </p:sp>
    </p:spTree>
    <p:extLst>
      <p:ext uri="{BB962C8B-B14F-4D97-AF65-F5344CB8AC3E}">
        <p14:creationId xmlns:p14="http://schemas.microsoft.com/office/powerpoint/2010/main" val="1777575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FD52-B7B7-A428-63A8-E6036EC0DE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1CA97E-EBBF-1047-8729-770B6588D97D}"/>
              </a:ext>
            </a:extLst>
          </p:cNvPr>
          <p:cNvSpPr txBox="1"/>
          <p:nvPr/>
        </p:nvSpPr>
        <p:spPr>
          <a:xfrm>
            <a:off x="815008" y="172930"/>
            <a:ext cx="8438322" cy="1754326"/>
          </a:xfrm>
          <a:prstGeom prst="rect">
            <a:avLst/>
          </a:prstGeom>
          <a:noFill/>
        </p:spPr>
        <p:txBody>
          <a:bodyPr wrap="square">
            <a:spAutoFit/>
          </a:bodyPr>
          <a:lstStyle/>
          <a:p>
            <a:pPr marL="285750" indent="-285750" algn="l">
              <a:buFont typeface="Arial" panose="020B0604020202020204" pitchFamily="34" charset="0"/>
              <a:buChar char="•"/>
            </a:pPr>
            <a:r>
              <a:rPr lang="en-US" b="1" i="0" dirty="0">
                <a:effectLst/>
                <a:latin typeface="fkGroteskNeue"/>
              </a:rPr>
              <a:t>Memory:</a:t>
            </a:r>
          </a:p>
          <a:p>
            <a:pPr marL="742950" lvl="1" indent="-285750" algn="l">
              <a:buFont typeface="Arial" panose="020B0604020202020204" pitchFamily="34" charset="0"/>
              <a:buChar char="•"/>
            </a:pPr>
            <a:r>
              <a:rPr lang="en-US" b="0" i="0" dirty="0">
                <a:effectLst/>
                <a:latin typeface="fkGroteskNeue"/>
              </a:rPr>
              <a:t>Read-Only Memory (ROM) or Flash: Used to store the program instructions permanently or semi-permanently.</a:t>
            </a:r>
          </a:p>
          <a:p>
            <a:pPr marL="742950" lvl="1" indent="-285750" algn="l">
              <a:buFont typeface="Arial" panose="020B0604020202020204" pitchFamily="34" charset="0"/>
              <a:buChar char="•"/>
            </a:pPr>
            <a:r>
              <a:rPr lang="en-US" b="0" i="0" dirty="0">
                <a:effectLst/>
                <a:latin typeface="fkGroteskNeue"/>
              </a:rPr>
              <a:t>Random Access Memory (RAM): Used for temporary data storage during program execution.</a:t>
            </a:r>
          </a:p>
          <a:p>
            <a:pPr marL="742950" lvl="1" indent="-285750" algn="l">
              <a:buFont typeface="Arial" panose="020B0604020202020204" pitchFamily="34" charset="0"/>
              <a:buChar char="•"/>
            </a:pPr>
            <a:endParaRPr lang="en-US" dirty="0">
              <a:latin typeface="fkGroteskNeue"/>
            </a:endParaRPr>
          </a:p>
        </p:txBody>
      </p:sp>
      <p:sp>
        <p:nvSpPr>
          <p:cNvPr id="2" name="TextBox 1">
            <a:extLst>
              <a:ext uri="{FF2B5EF4-FFF2-40B4-BE49-F238E27FC236}">
                <a16:creationId xmlns:a16="http://schemas.microsoft.com/office/drawing/2014/main" id="{56EA25FB-B8CD-6C45-812A-4B80C33D06F8}"/>
              </a:ext>
            </a:extLst>
          </p:cNvPr>
          <p:cNvSpPr txBox="1"/>
          <p:nvPr/>
        </p:nvSpPr>
        <p:spPr>
          <a:xfrm>
            <a:off x="815008" y="1740070"/>
            <a:ext cx="8468139" cy="3970318"/>
          </a:xfrm>
          <a:prstGeom prst="rect">
            <a:avLst/>
          </a:prstGeom>
          <a:noFill/>
        </p:spPr>
        <p:txBody>
          <a:bodyPr wrap="square">
            <a:spAutoFit/>
          </a:bodyPr>
          <a:lstStyle/>
          <a:p>
            <a:pPr algn="l">
              <a:buFont typeface="Arial" panose="020B0604020202020204" pitchFamily="34" charset="0"/>
              <a:buChar char="•"/>
            </a:pPr>
            <a:r>
              <a:rPr lang="en-US" b="1" i="0" dirty="0">
                <a:effectLst/>
                <a:latin typeface="fkGroteskNeue"/>
              </a:rPr>
              <a:t>Input/Output (I/O) Ports</a:t>
            </a:r>
            <a:r>
              <a:rPr lang="en-US" b="0" i="0" dirty="0">
                <a:effectLst/>
                <a:latin typeface="fkGroteskNeue"/>
              </a:rPr>
              <a:t>: Interfaces that allow the microcontroller to communicate with external devices by receiving inputs or sending outputs.</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Timers and Counters</a:t>
            </a:r>
            <a:r>
              <a:rPr lang="en-US" b="0" i="0" dirty="0">
                <a:effectLst/>
                <a:latin typeface="fkGroteskNeue"/>
              </a:rPr>
              <a:t>: Hardware modules that measure time intervals, count events, or generate precise timing pulses.</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Interrupt Controller</a:t>
            </a:r>
            <a:r>
              <a:rPr lang="en-US" b="0" i="0" dirty="0">
                <a:effectLst/>
                <a:latin typeface="fkGroteskNeue"/>
              </a:rPr>
              <a:t>: Manages interrupts that allow the microcontroller to respond immediately to urgent events.</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Oscillator and Clock Circuit</a:t>
            </a:r>
            <a:r>
              <a:rPr lang="en-US" b="0" i="0" dirty="0">
                <a:effectLst/>
                <a:latin typeface="fkGroteskNeue"/>
              </a:rPr>
              <a:t>: Provides the timing signal to synchronize all operations within the microcontroller.</a:t>
            </a:r>
          </a:p>
          <a:p>
            <a:pPr algn="l"/>
            <a:endParaRPr lang="en-US" b="0" i="0" dirty="0">
              <a:effectLst/>
              <a:latin typeface="fkGroteskNeue"/>
            </a:endParaRPr>
          </a:p>
          <a:p>
            <a:pPr algn="l">
              <a:buFont typeface="Arial" panose="020B0604020202020204" pitchFamily="34" charset="0"/>
              <a:buChar char="•"/>
            </a:pPr>
            <a:r>
              <a:rPr lang="en-US" b="1" i="0" dirty="0">
                <a:effectLst/>
                <a:latin typeface="fkGroteskNeue"/>
              </a:rPr>
              <a:t>Bus System</a:t>
            </a:r>
            <a:r>
              <a:rPr lang="en-US" b="0" i="0" dirty="0">
                <a:effectLst/>
                <a:latin typeface="fkGroteskNeue"/>
              </a:rPr>
              <a:t>: Connects the CPU to memory and peripherals, allowing communication within the microcontroller.</a:t>
            </a:r>
          </a:p>
        </p:txBody>
      </p:sp>
    </p:spTree>
    <p:extLst>
      <p:ext uri="{BB962C8B-B14F-4D97-AF65-F5344CB8AC3E}">
        <p14:creationId xmlns:p14="http://schemas.microsoft.com/office/powerpoint/2010/main" val="3207861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05A6A-EBD5-AFBD-2B68-8AC528CDAA2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27D6DCC-3364-4BD4-9C90-0078FEE3E0BD}"/>
              </a:ext>
            </a:extLst>
          </p:cNvPr>
          <p:cNvSpPr txBox="1"/>
          <p:nvPr/>
        </p:nvSpPr>
        <p:spPr>
          <a:xfrm>
            <a:off x="864703" y="189566"/>
            <a:ext cx="8746435" cy="2585323"/>
          </a:xfrm>
          <a:prstGeom prst="rect">
            <a:avLst/>
          </a:prstGeom>
          <a:noFill/>
        </p:spPr>
        <p:txBody>
          <a:bodyPr wrap="square">
            <a:spAutoFit/>
          </a:bodyPr>
          <a:lstStyle/>
          <a:p>
            <a:pPr algn="l">
              <a:buNone/>
            </a:pPr>
            <a:r>
              <a:rPr lang="en-US" b="0" i="0" dirty="0">
                <a:effectLst/>
                <a:latin typeface="fkGroteskNeue"/>
              </a:rPr>
              <a:t>This integrated structure allows a microcontroller to serve as a compact embedded system controller, performing dedicated functions with high efficiency.</a:t>
            </a:r>
          </a:p>
          <a:p>
            <a:pPr algn="l">
              <a:buNone/>
            </a:pPr>
            <a:endParaRPr lang="en-US" b="0" i="0" dirty="0">
              <a:effectLst/>
              <a:latin typeface="fkGroteskNeue"/>
            </a:endParaRPr>
          </a:p>
          <a:p>
            <a:pPr algn="l">
              <a:buNone/>
            </a:pPr>
            <a:r>
              <a:rPr lang="en-US" b="0" i="0" dirty="0">
                <a:effectLst/>
                <a:latin typeface="fkGroteskNeue"/>
              </a:rPr>
              <a:t>For example, the 8051 microcontroller architecture includes a CPU, on-chip RAM and ROM, I/O ports, timers, serial communication ports, and interrupt control.</a:t>
            </a:r>
          </a:p>
          <a:p>
            <a:pPr algn="l">
              <a:buNone/>
            </a:pPr>
            <a:endParaRPr lang="en-US" b="0" i="0" dirty="0">
              <a:effectLst/>
              <a:latin typeface="fkGroteskNeue"/>
            </a:endParaRPr>
          </a:p>
          <a:p>
            <a:pPr algn="l">
              <a:buNone/>
            </a:pPr>
            <a:r>
              <a:rPr lang="en-US" b="0" i="0" dirty="0">
                <a:effectLst/>
                <a:latin typeface="fkGroteskNeue"/>
              </a:rPr>
              <a:t>In summary, the general architecture of a microcontroller integrates the processor core (CPU), memory units (RAM and ROM), various input/output ports, timers, interrupt system, and clock circuitry on a single chip to operate as a complete embedded control system.</a:t>
            </a:r>
          </a:p>
        </p:txBody>
      </p:sp>
    </p:spTree>
    <p:extLst>
      <p:ext uri="{BB962C8B-B14F-4D97-AF65-F5344CB8AC3E}">
        <p14:creationId xmlns:p14="http://schemas.microsoft.com/office/powerpoint/2010/main" val="509565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3E36F-1291-42BB-147F-D567FBB4E28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B62DB69-AF3F-F84E-168E-018FFBD91612}"/>
              </a:ext>
            </a:extLst>
          </p:cNvPr>
          <p:cNvSpPr txBox="1"/>
          <p:nvPr/>
        </p:nvSpPr>
        <p:spPr>
          <a:xfrm>
            <a:off x="725556" y="138361"/>
            <a:ext cx="9153939" cy="5632311"/>
          </a:xfrm>
          <a:prstGeom prst="rect">
            <a:avLst/>
          </a:prstGeom>
          <a:noFill/>
        </p:spPr>
        <p:txBody>
          <a:bodyPr wrap="square">
            <a:spAutoFit/>
          </a:bodyPr>
          <a:lstStyle/>
          <a:p>
            <a:pPr marL="285750" indent="-285750">
              <a:buFont typeface="Wingdings" panose="05000000000000000000" pitchFamily="2" charset="2"/>
              <a:buChar char="q"/>
            </a:pPr>
            <a:r>
              <a:rPr lang="en-US" b="1" dirty="0"/>
              <a:t>How do microcontrollers work? </a:t>
            </a:r>
          </a:p>
          <a:p>
            <a:endParaRPr lang="en-US" dirty="0"/>
          </a:p>
          <a:p>
            <a:r>
              <a:rPr lang="en-US" dirty="0"/>
              <a:t>A microcontroller is embedded inside of a system to control a singular function in a device. It does this by interpreting data it receives from its I/O peripherals using its central processor. The temporary information that the microcontroller receives is stored in its data memory, where the processor accesses it and uses instructions stored in its program memory to decipher and apply the incoming data. It then uses its I/O peripherals to communicate and enact the appropriate action. </a:t>
            </a:r>
          </a:p>
          <a:p>
            <a:endParaRPr lang="en-US" dirty="0"/>
          </a:p>
          <a:p>
            <a:r>
              <a:rPr lang="en-US" dirty="0"/>
              <a:t>Microcontrollers are used in a wide array of systems and devices. Devices often utilize multiple microcontrollers that work together within the device to handle their respective tasks. </a:t>
            </a:r>
          </a:p>
          <a:p>
            <a:endParaRPr lang="en-US" dirty="0"/>
          </a:p>
          <a:p>
            <a:r>
              <a:rPr lang="en-US" dirty="0"/>
              <a:t>For example, a car might have many microcontrollers that control various individual systems within, such as the anti-lock braking system, traction control, fuel injection or suspension control. All the microcontrollers communicate with each other to inform the correct actions. Some might communicate with a more complex central computer within the car, and others might only communicate with other microcontrollers. They send and receive data using their I/O peripherals and process that data to perform their designated tasks.</a:t>
            </a:r>
            <a:endParaRPr lang="en-IN" dirty="0"/>
          </a:p>
        </p:txBody>
      </p:sp>
    </p:spTree>
    <p:extLst>
      <p:ext uri="{BB962C8B-B14F-4D97-AF65-F5344CB8AC3E}">
        <p14:creationId xmlns:p14="http://schemas.microsoft.com/office/powerpoint/2010/main" val="129628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1F862-339B-6534-121A-9DACFE0EFA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8E3665D-EB2D-CA0F-FB9D-676637E203DB}"/>
              </a:ext>
            </a:extLst>
          </p:cNvPr>
          <p:cNvSpPr txBox="1"/>
          <p:nvPr/>
        </p:nvSpPr>
        <p:spPr>
          <a:xfrm>
            <a:off x="735496" y="0"/>
            <a:ext cx="10839188" cy="523220"/>
          </a:xfrm>
          <a:prstGeom prst="rect">
            <a:avLst/>
          </a:prstGeom>
          <a:noFill/>
        </p:spPr>
        <p:txBody>
          <a:bodyPr wrap="square">
            <a:spAutoFit/>
          </a:bodyPr>
          <a:lstStyle/>
          <a:p>
            <a:r>
              <a:rPr lang="en-US" sz="2800" b="1" dirty="0"/>
              <a:t>1.2 Comparison of Microprocessor and Microcontroller </a:t>
            </a:r>
            <a:endParaRPr lang="en-IN" sz="2800" b="1" dirty="0"/>
          </a:p>
        </p:txBody>
      </p:sp>
      <p:graphicFrame>
        <p:nvGraphicFramePr>
          <p:cNvPr id="5" name="Table 4">
            <a:extLst>
              <a:ext uri="{FF2B5EF4-FFF2-40B4-BE49-F238E27FC236}">
                <a16:creationId xmlns:a16="http://schemas.microsoft.com/office/drawing/2014/main" id="{6A25198B-B1D8-1C55-B19D-E3854319E50B}"/>
              </a:ext>
            </a:extLst>
          </p:cNvPr>
          <p:cNvGraphicFramePr>
            <a:graphicFrameLocks noGrp="1"/>
          </p:cNvGraphicFramePr>
          <p:nvPr>
            <p:extLst>
              <p:ext uri="{D42A27DB-BD31-4B8C-83A1-F6EECF244321}">
                <p14:modId xmlns:p14="http://schemas.microsoft.com/office/powerpoint/2010/main" val="3944858079"/>
              </p:ext>
            </p:extLst>
          </p:nvPr>
        </p:nvGraphicFramePr>
        <p:xfrm>
          <a:off x="735497" y="590457"/>
          <a:ext cx="9104242" cy="6122283"/>
        </p:xfrm>
        <a:graphic>
          <a:graphicData uri="http://schemas.openxmlformats.org/drawingml/2006/table">
            <a:tbl>
              <a:tblPr firstRow="1" bandRow="1">
                <a:tableStyleId>{5940675A-B579-460E-94D1-54222C63F5DA}</a:tableStyleId>
              </a:tblPr>
              <a:tblGrid>
                <a:gridCol w="4552121">
                  <a:extLst>
                    <a:ext uri="{9D8B030D-6E8A-4147-A177-3AD203B41FA5}">
                      <a16:colId xmlns:a16="http://schemas.microsoft.com/office/drawing/2014/main" val="1773802773"/>
                    </a:ext>
                  </a:extLst>
                </a:gridCol>
                <a:gridCol w="4552121">
                  <a:extLst>
                    <a:ext uri="{9D8B030D-6E8A-4147-A177-3AD203B41FA5}">
                      <a16:colId xmlns:a16="http://schemas.microsoft.com/office/drawing/2014/main" val="4158665394"/>
                    </a:ext>
                  </a:extLst>
                </a:gridCol>
              </a:tblGrid>
              <a:tr h="455801">
                <a:tc>
                  <a:txBody>
                    <a:bodyPr/>
                    <a:lstStyle/>
                    <a:p>
                      <a:pPr algn="ctr"/>
                      <a:r>
                        <a:rPr lang="en-IN" dirty="0"/>
                        <a:t>Microcontroller </a:t>
                      </a:r>
                    </a:p>
                  </a:txBody>
                  <a:tcPr/>
                </a:tc>
                <a:tc>
                  <a:txBody>
                    <a:bodyPr/>
                    <a:lstStyle/>
                    <a:p>
                      <a:pPr algn="ctr"/>
                      <a:r>
                        <a:rPr lang="en-IN" dirty="0"/>
                        <a:t>Microprocessor </a:t>
                      </a:r>
                    </a:p>
                  </a:txBody>
                  <a:tcPr/>
                </a:tc>
                <a:extLst>
                  <a:ext uri="{0D108BD9-81ED-4DB2-BD59-A6C34878D82A}">
                    <a16:rowId xmlns:a16="http://schemas.microsoft.com/office/drawing/2014/main" val="3983114045"/>
                  </a:ext>
                </a:extLst>
              </a:tr>
              <a:tr h="455801">
                <a:tc>
                  <a:txBody>
                    <a:bodyPr/>
                    <a:lstStyle/>
                    <a:p>
                      <a:r>
                        <a:rPr lang="en-US" dirty="0"/>
                        <a:t>It is a CPU on a single chip used for general-purpose processing </a:t>
                      </a:r>
                      <a:endParaRPr lang="en-IN" dirty="0"/>
                    </a:p>
                  </a:txBody>
                  <a:tcPr/>
                </a:tc>
                <a:tc>
                  <a:txBody>
                    <a:bodyPr/>
                    <a:lstStyle/>
                    <a:p>
                      <a:r>
                        <a:rPr lang="en-US" dirty="0"/>
                        <a:t>It is a complete computer system on a single chip (CPU + Memory + I/O).</a:t>
                      </a:r>
                      <a:endParaRPr lang="en-IN" dirty="0"/>
                    </a:p>
                  </a:txBody>
                  <a:tcPr/>
                </a:tc>
                <a:extLst>
                  <a:ext uri="{0D108BD9-81ED-4DB2-BD59-A6C34878D82A}">
                    <a16:rowId xmlns:a16="http://schemas.microsoft.com/office/drawing/2014/main" val="1319468689"/>
                  </a:ext>
                </a:extLst>
              </a:tr>
              <a:tr h="455801">
                <a:tc>
                  <a:txBody>
                    <a:bodyPr/>
                    <a:lstStyle/>
                    <a:p>
                      <a:r>
                        <a:rPr lang="en-US" dirty="0"/>
                        <a:t>Its designing and hardware cost is low.</a:t>
                      </a:r>
                      <a:endParaRPr lang="en-IN" dirty="0"/>
                    </a:p>
                  </a:txBody>
                  <a:tcPr/>
                </a:tc>
                <a:tc>
                  <a:txBody>
                    <a:bodyPr/>
                    <a:lstStyle/>
                    <a:p>
                      <a:r>
                        <a:rPr lang="en-US" dirty="0"/>
                        <a:t>Its designing and hardware cost is high.</a:t>
                      </a:r>
                      <a:endParaRPr lang="en-IN" dirty="0"/>
                    </a:p>
                  </a:txBody>
                  <a:tcPr/>
                </a:tc>
                <a:extLst>
                  <a:ext uri="{0D108BD9-81ED-4DB2-BD59-A6C34878D82A}">
                    <a16:rowId xmlns:a16="http://schemas.microsoft.com/office/drawing/2014/main" val="2033633159"/>
                  </a:ext>
                </a:extLst>
              </a:tr>
              <a:tr h="455801">
                <a:tc>
                  <a:txBody>
                    <a:bodyPr/>
                    <a:lstStyle/>
                    <a:p>
                      <a:r>
                        <a:rPr lang="en-IN" dirty="0"/>
                        <a:t>Easy to replace.</a:t>
                      </a:r>
                    </a:p>
                  </a:txBody>
                  <a:tcPr/>
                </a:tc>
                <a:tc>
                  <a:txBody>
                    <a:bodyPr/>
                    <a:lstStyle/>
                    <a:p>
                      <a:r>
                        <a:rPr lang="en-US" dirty="0"/>
                        <a:t>Not so easy to replace.</a:t>
                      </a:r>
                      <a:endParaRPr lang="en-IN" dirty="0"/>
                    </a:p>
                  </a:txBody>
                  <a:tcPr/>
                </a:tc>
                <a:extLst>
                  <a:ext uri="{0D108BD9-81ED-4DB2-BD59-A6C34878D82A}">
                    <a16:rowId xmlns:a16="http://schemas.microsoft.com/office/drawing/2014/main" val="1557045256"/>
                  </a:ext>
                </a:extLst>
              </a:tr>
              <a:tr h="455801">
                <a:tc>
                  <a:txBody>
                    <a:bodyPr/>
                    <a:lstStyle/>
                    <a:p>
                      <a:r>
                        <a:rPr lang="en-US" dirty="0"/>
                        <a:t>It is built with CMOS technology, which requires less power to operate. </a:t>
                      </a:r>
                      <a:endParaRPr lang="en-IN" dirty="0"/>
                    </a:p>
                  </a:txBody>
                  <a:tcPr/>
                </a:tc>
                <a:tc>
                  <a:txBody>
                    <a:bodyPr/>
                    <a:lstStyle/>
                    <a:p>
                      <a:r>
                        <a:rPr lang="en-US" dirty="0"/>
                        <a:t>Its power consumption is high because it has to control the entire system.</a:t>
                      </a:r>
                      <a:endParaRPr lang="en-IN" dirty="0"/>
                    </a:p>
                  </a:txBody>
                  <a:tcPr/>
                </a:tc>
                <a:extLst>
                  <a:ext uri="{0D108BD9-81ED-4DB2-BD59-A6C34878D82A}">
                    <a16:rowId xmlns:a16="http://schemas.microsoft.com/office/drawing/2014/main" val="2327561637"/>
                  </a:ext>
                </a:extLst>
              </a:tr>
              <a:tr h="455801">
                <a:tc>
                  <a:txBody>
                    <a:bodyPr/>
                    <a:lstStyle/>
                    <a:p>
                      <a:r>
                        <a:rPr lang="en-US" dirty="0"/>
                        <a:t>It consists of CPU, RAM, ROM, I/O ports.</a:t>
                      </a:r>
                      <a:endParaRPr lang="en-IN" dirty="0"/>
                    </a:p>
                  </a:txBody>
                  <a:tcPr/>
                </a:tc>
                <a:tc>
                  <a:txBody>
                    <a:bodyPr/>
                    <a:lstStyle/>
                    <a:p>
                      <a:r>
                        <a:rPr lang="en-US" dirty="0"/>
                        <a:t>It doesn’t consist of RAM, ROM, I/O ports. It uses its pins to interface to peripheral devices.</a:t>
                      </a:r>
                      <a:endParaRPr lang="en-IN" dirty="0"/>
                    </a:p>
                  </a:txBody>
                  <a:tcPr/>
                </a:tc>
                <a:extLst>
                  <a:ext uri="{0D108BD9-81ED-4DB2-BD59-A6C34878D82A}">
                    <a16:rowId xmlns:a16="http://schemas.microsoft.com/office/drawing/2014/main" val="4230235946"/>
                  </a:ext>
                </a:extLst>
              </a:tr>
              <a:tr h="455801">
                <a:tc>
                  <a:txBody>
                    <a:bodyPr/>
                    <a:lstStyle/>
                    <a:p>
                      <a:r>
                        <a:rPr lang="en-US" dirty="0"/>
                        <a:t>CPU is stands - alone ROM, I/O , Timer are separate</a:t>
                      </a:r>
                      <a:endParaRPr lang="en-IN" dirty="0"/>
                    </a:p>
                  </a:txBody>
                  <a:tcPr/>
                </a:tc>
                <a:tc>
                  <a:txBody>
                    <a:bodyPr/>
                    <a:lstStyle/>
                    <a:p>
                      <a:r>
                        <a:rPr lang="en-US" dirty="0"/>
                        <a:t>CPU, RAM , ROM , I/O and timer are all on a single chip </a:t>
                      </a:r>
                      <a:endParaRPr lang="en-IN" dirty="0"/>
                    </a:p>
                  </a:txBody>
                  <a:tcPr/>
                </a:tc>
                <a:extLst>
                  <a:ext uri="{0D108BD9-81ED-4DB2-BD59-A6C34878D82A}">
                    <a16:rowId xmlns:a16="http://schemas.microsoft.com/office/drawing/2014/main" val="3588683396"/>
                  </a:ext>
                </a:extLst>
              </a:tr>
              <a:tr h="455801">
                <a:tc>
                  <a:txBody>
                    <a:bodyPr/>
                    <a:lstStyle/>
                    <a:p>
                      <a:r>
                        <a:rPr lang="en-US" dirty="0"/>
                        <a:t>Designer can decide on the amount of Rom , RAM and I/O ports.</a:t>
                      </a:r>
                      <a:endParaRPr lang="en-IN" dirty="0"/>
                    </a:p>
                  </a:txBody>
                  <a:tcPr/>
                </a:tc>
                <a:tc>
                  <a:txBody>
                    <a:bodyPr/>
                    <a:lstStyle/>
                    <a:p>
                      <a:r>
                        <a:rPr lang="en-US" dirty="0"/>
                        <a:t>Fix amount of on – chip ROM, RAM , I/O ports </a:t>
                      </a:r>
                      <a:endParaRPr lang="en-IN" dirty="0"/>
                    </a:p>
                  </a:txBody>
                  <a:tcPr/>
                </a:tc>
                <a:extLst>
                  <a:ext uri="{0D108BD9-81ED-4DB2-BD59-A6C34878D82A}">
                    <a16:rowId xmlns:a16="http://schemas.microsoft.com/office/drawing/2014/main" val="3283424850"/>
                  </a:ext>
                </a:extLst>
              </a:tr>
              <a:tr h="455801">
                <a:tc>
                  <a:txBody>
                    <a:bodyPr/>
                    <a:lstStyle/>
                    <a:p>
                      <a:r>
                        <a:rPr lang="en-US" dirty="0"/>
                        <a:t>Faster in processing because it focuses only on computation.</a:t>
                      </a:r>
                      <a:endParaRPr lang="en-IN" dirty="0"/>
                    </a:p>
                  </a:txBody>
                  <a:tcPr/>
                </a:tc>
                <a:tc>
                  <a:txBody>
                    <a:bodyPr/>
                    <a:lstStyle/>
                    <a:p>
                      <a:r>
                        <a:rPr lang="en-US" dirty="0"/>
                        <a:t>Comparatively slower due to multiple built-in functions.</a:t>
                      </a:r>
                      <a:endParaRPr lang="en-IN" dirty="0"/>
                    </a:p>
                  </a:txBody>
                  <a:tcPr/>
                </a:tc>
                <a:extLst>
                  <a:ext uri="{0D108BD9-81ED-4DB2-BD59-A6C34878D82A}">
                    <a16:rowId xmlns:a16="http://schemas.microsoft.com/office/drawing/2014/main" val="3894496827"/>
                  </a:ext>
                </a:extLst>
              </a:tr>
              <a:tr h="455801">
                <a:tc>
                  <a:txBody>
                    <a:bodyPr/>
                    <a:lstStyle/>
                    <a:p>
                      <a:r>
                        <a:rPr lang="en-US" dirty="0"/>
                        <a:t>More expensive as external components are required.</a:t>
                      </a:r>
                      <a:endParaRPr lang="en-IN" dirty="0"/>
                    </a:p>
                  </a:txBody>
                  <a:tcPr/>
                </a:tc>
                <a:tc>
                  <a:txBody>
                    <a:bodyPr/>
                    <a:lstStyle/>
                    <a:p>
                      <a:r>
                        <a:rPr lang="en-IN" dirty="0"/>
                        <a:t>Cheaper due to integrated components.</a:t>
                      </a:r>
                    </a:p>
                  </a:txBody>
                  <a:tcPr/>
                </a:tc>
                <a:extLst>
                  <a:ext uri="{0D108BD9-81ED-4DB2-BD59-A6C34878D82A}">
                    <a16:rowId xmlns:a16="http://schemas.microsoft.com/office/drawing/2014/main" val="290427581"/>
                  </a:ext>
                </a:extLst>
              </a:tr>
            </a:tbl>
          </a:graphicData>
        </a:graphic>
      </p:graphicFrame>
    </p:spTree>
    <p:extLst>
      <p:ext uri="{BB962C8B-B14F-4D97-AF65-F5344CB8AC3E}">
        <p14:creationId xmlns:p14="http://schemas.microsoft.com/office/powerpoint/2010/main" val="60165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362AE-52AD-FE49-8C16-178BC8ED767D}"/>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32DE4AB-A0BD-E285-7B99-B7854ECF896E}"/>
              </a:ext>
            </a:extLst>
          </p:cNvPr>
          <p:cNvGraphicFramePr>
            <a:graphicFrameLocks noGrp="1"/>
          </p:cNvGraphicFramePr>
          <p:nvPr>
            <p:extLst>
              <p:ext uri="{D42A27DB-BD31-4B8C-83A1-F6EECF244321}">
                <p14:modId xmlns:p14="http://schemas.microsoft.com/office/powerpoint/2010/main" val="869364621"/>
              </p:ext>
            </p:extLst>
          </p:nvPr>
        </p:nvGraphicFramePr>
        <p:xfrm>
          <a:off x="815009" y="302222"/>
          <a:ext cx="8607288" cy="2021840"/>
        </p:xfrm>
        <a:graphic>
          <a:graphicData uri="http://schemas.openxmlformats.org/drawingml/2006/table">
            <a:tbl>
              <a:tblPr firstRow="1" bandRow="1">
                <a:tableStyleId>{5940675A-B579-460E-94D1-54222C63F5DA}</a:tableStyleId>
              </a:tblPr>
              <a:tblGrid>
                <a:gridCol w="4303644">
                  <a:extLst>
                    <a:ext uri="{9D8B030D-6E8A-4147-A177-3AD203B41FA5}">
                      <a16:colId xmlns:a16="http://schemas.microsoft.com/office/drawing/2014/main" val="2735391223"/>
                    </a:ext>
                  </a:extLst>
                </a:gridCol>
                <a:gridCol w="4303644">
                  <a:extLst>
                    <a:ext uri="{9D8B030D-6E8A-4147-A177-3AD203B41FA5}">
                      <a16:colId xmlns:a16="http://schemas.microsoft.com/office/drawing/2014/main" val="3732993036"/>
                    </a:ext>
                  </a:extLst>
                </a:gridCol>
              </a:tblGrid>
              <a:tr h="370840">
                <a:tc>
                  <a:txBody>
                    <a:bodyPr/>
                    <a:lstStyle/>
                    <a:p>
                      <a:r>
                        <a:rPr lang="en-IN" dirty="0"/>
                        <a:t>Usually higher clock speed.</a:t>
                      </a:r>
                    </a:p>
                  </a:txBody>
                  <a:tcPr/>
                </a:tc>
                <a:tc>
                  <a:txBody>
                    <a:bodyPr/>
                    <a:lstStyle/>
                    <a:p>
                      <a:r>
                        <a:rPr lang="en-IN" dirty="0"/>
                        <a:t>Usually lower clock speed.</a:t>
                      </a:r>
                    </a:p>
                  </a:txBody>
                  <a:tcPr/>
                </a:tc>
                <a:extLst>
                  <a:ext uri="{0D108BD9-81ED-4DB2-BD59-A6C34878D82A}">
                    <a16:rowId xmlns:a16="http://schemas.microsoft.com/office/drawing/2014/main" val="3752614988"/>
                  </a:ext>
                </a:extLst>
              </a:tr>
              <a:tr h="409420">
                <a:tc>
                  <a:txBody>
                    <a:bodyPr/>
                    <a:lstStyle/>
                    <a:p>
                      <a:r>
                        <a:rPr lang="en-US" dirty="0"/>
                        <a:t>Larger circuit as external components are needed.</a:t>
                      </a:r>
                      <a:endParaRPr lang="en-IN" dirty="0"/>
                    </a:p>
                  </a:txBody>
                  <a:tcPr/>
                </a:tc>
                <a:tc>
                  <a:txBody>
                    <a:bodyPr/>
                    <a:lstStyle/>
                    <a:p>
                      <a:r>
                        <a:rPr lang="en-US" dirty="0"/>
                        <a:t>Compact circuit as all components are inbuilt.</a:t>
                      </a:r>
                      <a:endParaRPr lang="en-IN" dirty="0"/>
                    </a:p>
                  </a:txBody>
                  <a:tcPr/>
                </a:tc>
                <a:extLst>
                  <a:ext uri="{0D108BD9-81ED-4DB2-BD59-A6C34878D82A}">
                    <a16:rowId xmlns:a16="http://schemas.microsoft.com/office/drawing/2014/main" val="2274665441"/>
                  </a:ext>
                </a:extLst>
              </a:tr>
              <a:tr h="370840">
                <a:tc>
                  <a:txBody>
                    <a:bodyPr/>
                    <a:lstStyle/>
                    <a:p>
                      <a:r>
                        <a:rPr lang="en-IN" dirty="0"/>
                        <a:t>Intel 8085, Intel 8086, Intel i3/i5/i7</a:t>
                      </a:r>
                    </a:p>
                  </a:txBody>
                  <a:tcPr/>
                </a:tc>
                <a:tc>
                  <a:txBody>
                    <a:bodyPr/>
                    <a:lstStyle/>
                    <a:p>
                      <a:r>
                        <a:rPr lang="en-IN" dirty="0"/>
                        <a:t>8051, PIC, AVR, ARM</a:t>
                      </a:r>
                    </a:p>
                  </a:txBody>
                  <a:tcPr/>
                </a:tc>
                <a:extLst>
                  <a:ext uri="{0D108BD9-81ED-4DB2-BD59-A6C34878D82A}">
                    <a16:rowId xmlns:a16="http://schemas.microsoft.com/office/drawing/2014/main" val="2982841373"/>
                  </a:ext>
                </a:extLst>
              </a:tr>
              <a:tr h="370840">
                <a:tc>
                  <a:txBody>
                    <a:bodyPr/>
                    <a:lstStyle/>
                    <a:p>
                      <a:r>
                        <a:rPr lang="en-US" dirty="0"/>
                        <a:t>Used where intensive computation is required (like PCs, servers</a:t>
                      </a:r>
                      <a:endParaRPr lang="en-IN" dirty="0"/>
                    </a:p>
                  </a:txBody>
                  <a:tcPr/>
                </a:tc>
                <a:tc>
                  <a:txBody>
                    <a:bodyPr/>
                    <a:lstStyle/>
                    <a:p>
                      <a:pPr>
                        <a:buNone/>
                      </a:pPr>
                      <a:r>
                        <a:rPr lang="en-US" dirty="0"/>
                        <a:t>Used in control-based applications (like home appliances, robotics).</a:t>
                      </a:r>
                    </a:p>
                  </a:txBody>
                  <a:tcPr anchor="ctr"/>
                </a:tc>
                <a:extLst>
                  <a:ext uri="{0D108BD9-81ED-4DB2-BD59-A6C34878D82A}">
                    <a16:rowId xmlns:a16="http://schemas.microsoft.com/office/drawing/2014/main" val="721115662"/>
                  </a:ext>
                </a:extLst>
              </a:tr>
            </a:tbl>
          </a:graphicData>
        </a:graphic>
      </p:graphicFrame>
      <p:sp>
        <p:nvSpPr>
          <p:cNvPr id="4" name="TextBox 3">
            <a:extLst>
              <a:ext uri="{FF2B5EF4-FFF2-40B4-BE49-F238E27FC236}">
                <a16:creationId xmlns:a16="http://schemas.microsoft.com/office/drawing/2014/main" id="{12AF0B9C-23D7-AA34-AB7B-F375E184AB18}"/>
              </a:ext>
            </a:extLst>
          </p:cNvPr>
          <p:cNvSpPr txBox="1"/>
          <p:nvPr/>
        </p:nvSpPr>
        <p:spPr>
          <a:xfrm>
            <a:off x="815009" y="2920881"/>
            <a:ext cx="8488017" cy="2862322"/>
          </a:xfrm>
          <a:prstGeom prst="rect">
            <a:avLst/>
          </a:prstGeom>
          <a:noFill/>
        </p:spPr>
        <p:txBody>
          <a:bodyPr wrap="square">
            <a:spAutoFit/>
          </a:bodyPr>
          <a:lstStyle/>
          <a:p>
            <a:pPr marL="285750" indent="-285750">
              <a:buFont typeface="Wingdings" panose="05000000000000000000" pitchFamily="2" charset="2"/>
              <a:buChar char="q"/>
            </a:pPr>
            <a:r>
              <a:rPr lang="en-IN" b="1" dirty="0"/>
              <a:t>Applications of Micro controllers </a:t>
            </a:r>
          </a:p>
          <a:p>
            <a:endParaRPr lang="en-IN" dirty="0"/>
          </a:p>
          <a:p>
            <a:r>
              <a:rPr lang="en-IN" dirty="0"/>
              <a:t>• Home Appliances: Washing Machine, Microwave Oven, Intercom, Telephone, Security Systems, VCR, Cable TV Tuner, Remote Controls, Video Games, Sewing Machines, Camera etc. </a:t>
            </a:r>
          </a:p>
          <a:p>
            <a:endParaRPr lang="en-IN" dirty="0"/>
          </a:p>
          <a:p>
            <a:r>
              <a:rPr lang="en-IN" dirty="0"/>
              <a:t>• Office : Telephones, Computers,, Laser Printer, Paging, Copiers etc. </a:t>
            </a:r>
          </a:p>
          <a:p>
            <a:endParaRPr lang="en-IN" dirty="0"/>
          </a:p>
          <a:p>
            <a:r>
              <a:rPr lang="en-IN" dirty="0"/>
              <a:t>• Auto : Engine Control, Air Bag, Instrumentation, Transmission Control, Climate Control, Cellular Phone, Keyless entry.</a:t>
            </a:r>
          </a:p>
        </p:txBody>
      </p:sp>
    </p:spTree>
    <p:extLst>
      <p:ext uri="{BB962C8B-B14F-4D97-AF65-F5344CB8AC3E}">
        <p14:creationId xmlns:p14="http://schemas.microsoft.com/office/powerpoint/2010/main" val="2315403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D1128-629D-6154-3560-DF878ED29CD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549F90D-EBC0-8D1E-6163-689A6D1AB887}"/>
              </a:ext>
            </a:extLst>
          </p:cNvPr>
          <p:cNvSpPr txBox="1"/>
          <p:nvPr/>
        </p:nvSpPr>
        <p:spPr>
          <a:xfrm>
            <a:off x="914400" y="103569"/>
            <a:ext cx="8408504" cy="523220"/>
          </a:xfrm>
          <a:prstGeom prst="rect">
            <a:avLst/>
          </a:prstGeom>
          <a:noFill/>
        </p:spPr>
        <p:txBody>
          <a:bodyPr wrap="square">
            <a:spAutoFit/>
          </a:bodyPr>
          <a:lstStyle/>
          <a:p>
            <a:r>
              <a:rPr lang="en-IN" sz="2800" b="1" dirty="0"/>
              <a:t>1.3 Architecture of 8051 </a:t>
            </a:r>
          </a:p>
        </p:txBody>
      </p:sp>
      <p:pic>
        <p:nvPicPr>
          <p:cNvPr id="4" name="Picture 2" descr="8051 Microcontroller Architecture">
            <a:extLst>
              <a:ext uri="{FF2B5EF4-FFF2-40B4-BE49-F238E27FC236}">
                <a16:creationId xmlns:a16="http://schemas.microsoft.com/office/drawing/2014/main" id="{4E4A7A88-565D-D254-C00E-8A8AC19FA05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508" r="7675"/>
          <a:stretch>
            <a:fillRect/>
          </a:stretch>
        </p:blipFill>
        <p:spPr bwMode="auto">
          <a:xfrm>
            <a:off x="1088335" y="1152399"/>
            <a:ext cx="8060633" cy="342819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C38DCC9-0599-41A4-05B4-B9A546ACC9C0}"/>
              </a:ext>
            </a:extLst>
          </p:cNvPr>
          <p:cNvSpPr txBox="1"/>
          <p:nvPr/>
        </p:nvSpPr>
        <p:spPr>
          <a:xfrm>
            <a:off x="2690190" y="4736871"/>
            <a:ext cx="4856921" cy="369332"/>
          </a:xfrm>
          <a:prstGeom prst="rect">
            <a:avLst/>
          </a:prstGeom>
          <a:noFill/>
        </p:spPr>
        <p:txBody>
          <a:bodyPr wrap="square">
            <a:spAutoFit/>
          </a:bodyPr>
          <a:lstStyle/>
          <a:p>
            <a:r>
              <a:rPr lang="en-IN" dirty="0"/>
              <a:t>Block Diagram of 8051 Microcontroller</a:t>
            </a:r>
          </a:p>
        </p:txBody>
      </p:sp>
    </p:spTree>
    <p:extLst>
      <p:ext uri="{BB962C8B-B14F-4D97-AF65-F5344CB8AC3E}">
        <p14:creationId xmlns:p14="http://schemas.microsoft.com/office/powerpoint/2010/main" val="1998251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A5024-BC7B-E11F-C5BE-E3487E0D6B93}"/>
            </a:ext>
          </a:extLst>
        </p:cNvPr>
        <p:cNvGrpSpPr/>
        <p:nvPr/>
      </p:nvGrpSpPr>
      <p:grpSpPr>
        <a:xfrm>
          <a:off x="0" y="0"/>
          <a:ext cx="0" cy="0"/>
          <a:chOff x="0" y="0"/>
          <a:chExt cx="0" cy="0"/>
        </a:xfrm>
      </p:grpSpPr>
      <p:pic>
        <p:nvPicPr>
          <p:cNvPr id="1026" name="Picture 2" descr="Architecture Block diagram and components Of 8051 Microcontroller | 8051 Microcontroller">
            <a:extLst>
              <a:ext uri="{FF2B5EF4-FFF2-40B4-BE49-F238E27FC236}">
                <a16:creationId xmlns:a16="http://schemas.microsoft.com/office/drawing/2014/main" id="{60438C6C-E1CA-2DFA-3D04-ACC39F4A8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435" y="130451"/>
            <a:ext cx="8209721" cy="6000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050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DCB56-42F5-155D-AA8E-77CE8B34A40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7D142E-D209-43C5-6E45-FB14F28D0B1C}"/>
              </a:ext>
            </a:extLst>
          </p:cNvPr>
          <p:cNvSpPr txBox="1"/>
          <p:nvPr/>
        </p:nvSpPr>
        <p:spPr>
          <a:xfrm>
            <a:off x="775252" y="137277"/>
            <a:ext cx="8617226" cy="2031325"/>
          </a:xfrm>
          <a:prstGeom prst="rect">
            <a:avLst/>
          </a:prstGeom>
          <a:noFill/>
        </p:spPr>
        <p:txBody>
          <a:bodyPr wrap="square">
            <a:spAutoFit/>
          </a:bodyPr>
          <a:lstStyle/>
          <a:p>
            <a:pPr>
              <a:buNone/>
            </a:pPr>
            <a:r>
              <a:rPr lang="en-IN" b="1" dirty="0"/>
              <a:t>Explanation of 8051 Microcontroller Architecture Diagram</a:t>
            </a:r>
          </a:p>
          <a:p>
            <a:pPr>
              <a:buNone/>
            </a:pPr>
            <a:endParaRPr lang="en-IN" b="1" dirty="0"/>
          </a:p>
          <a:p>
            <a:pPr>
              <a:buNone/>
            </a:pPr>
            <a:r>
              <a:rPr lang="en-IN" dirty="0"/>
              <a:t>The 8051 microcontroller is a single-chip 8-bit microcontroller developed by Intel.</a:t>
            </a:r>
            <a:br>
              <a:rPr lang="en-IN" dirty="0"/>
            </a:br>
            <a:r>
              <a:rPr lang="en-IN" dirty="0"/>
              <a:t>It consists of CPU, Memory (RAM &amp; ROM), Timers, I/O Ports, Serial Port, and</a:t>
            </a:r>
            <a:r>
              <a:rPr lang="en-IN" b="1" dirty="0"/>
              <a:t> </a:t>
            </a:r>
            <a:r>
              <a:rPr lang="en-IN" dirty="0"/>
              <a:t>Interrupts, all inside one chip.</a:t>
            </a:r>
            <a:br>
              <a:rPr lang="en-IN" dirty="0"/>
            </a:br>
            <a:r>
              <a:rPr lang="en-IN" dirty="0"/>
              <a:t>Let’s understand each block shown in the diagram </a:t>
            </a:r>
          </a:p>
        </p:txBody>
      </p:sp>
      <p:sp>
        <p:nvSpPr>
          <p:cNvPr id="5" name="TextBox 4">
            <a:extLst>
              <a:ext uri="{FF2B5EF4-FFF2-40B4-BE49-F238E27FC236}">
                <a16:creationId xmlns:a16="http://schemas.microsoft.com/office/drawing/2014/main" id="{B5F2CC16-580A-A7C1-7471-C8787A3543D1}"/>
              </a:ext>
            </a:extLst>
          </p:cNvPr>
          <p:cNvSpPr txBox="1"/>
          <p:nvPr/>
        </p:nvSpPr>
        <p:spPr>
          <a:xfrm>
            <a:off x="775252" y="2263602"/>
            <a:ext cx="8378687" cy="1477328"/>
          </a:xfrm>
          <a:prstGeom prst="rect">
            <a:avLst/>
          </a:prstGeom>
          <a:noFill/>
        </p:spPr>
        <p:txBody>
          <a:bodyPr wrap="square">
            <a:spAutoFit/>
          </a:bodyPr>
          <a:lstStyle/>
          <a:p>
            <a:pPr>
              <a:buNone/>
            </a:pPr>
            <a:r>
              <a:rPr lang="en-US" b="1"/>
              <a:t>1. Central Processing Unit (CPU)</a:t>
            </a:r>
          </a:p>
          <a:p>
            <a:pPr>
              <a:buFont typeface="Arial" panose="020B0604020202020204" pitchFamily="34" charset="0"/>
              <a:buChar char="•"/>
            </a:pPr>
            <a:r>
              <a:rPr lang="en-US"/>
              <a:t>The </a:t>
            </a:r>
            <a:r>
              <a:rPr lang="en-US" b="1"/>
              <a:t>CPU</a:t>
            </a:r>
            <a:r>
              <a:rPr lang="en-US"/>
              <a:t> is the brain of the microcontroller.</a:t>
            </a:r>
          </a:p>
          <a:p>
            <a:pPr>
              <a:buFont typeface="Arial" panose="020B0604020202020204" pitchFamily="34" charset="0"/>
              <a:buChar char="•"/>
            </a:pPr>
            <a:r>
              <a:rPr lang="en-US"/>
              <a:t>It fetches instructions from program memory, decodes them, and executes them.</a:t>
            </a:r>
          </a:p>
          <a:p>
            <a:pPr>
              <a:buFont typeface="Arial" panose="020B0604020202020204" pitchFamily="34" charset="0"/>
              <a:buChar char="•"/>
            </a:pPr>
            <a:r>
              <a:rPr lang="en-US"/>
              <a:t>It controls all the other blocks inside the microcontroller.</a:t>
            </a:r>
            <a:endParaRPr lang="en-US" dirty="0"/>
          </a:p>
        </p:txBody>
      </p:sp>
      <p:sp>
        <p:nvSpPr>
          <p:cNvPr id="7" name="TextBox 6">
            <a:extLst>
              <a:ext uri="{FF2B5EF4-FFF2-40B4-BE49-F238E27FC236}">
                <a16:creationId xmlns:a16="http://schemas.microsoft.com/office/drawing/2014/main" id="{2B937039-688B-8D34-EB35-2324A301EFBE}"/>
              </a:ext>
            </a:extLst>
          </p:cNvPr>
          <p:cNvSpPr txBox="1"/>
          <p:nvPr/>
        </p:nvSpPr>
        <p:spPr>
          <a:xfrm>
            <a:off x="775252" y="3832183"/>
            <a:ext cx="8378686" cy="1477328"/>
          </a:xfrm>
          <a:prstGeom prst="rect">
            <a:avLst/>
          </a:prstGeom>
          <a:noFill/>
        </p:spPr>
        <p:txBody>
          <a:bodyPr wrap="square">
            <a:spAutoFit/>
          </a:bodyPr>
          <a:lstStyle/>
          <a:p>
            <a:pPr>
              <a:buNone/>
            </a:pPr>
            <a:r>
              <a:rPr lang="en-US" b="1" dirty="0"/>
              <a:t>2. ALU (Arithmetic and Logic Unit)</a:t>
            </a:r>
          </a:p>
          <a:p>
            <a:pPr>
              <a:buFont typeface="Arial" panose="020B0604020202020204" pitchFamily="34" charset="0"/>
              <a:buChar char="•"/>
            </a:pPr>
            <a:r>
              <a:rPr lang="en-US" dirty="0"/>
              <a:t>Performs </a:t>
            </a:r>
            <a:r>
              <a:rPr lang="en-US" b="1" dirty="0"/>
              <a:t>arithmetic operations</a:t>
            </a:r>
            <a:r>
              <a:rPr lang="en-US" dirty="0"/>
              <a:t> (addition, subtraction, multiplication, division)</a:t>
            </a:r>
            <a:br>
              <a:rPr lang="en-US" dirty="0"/>
            </a:br>
            <a:r>
              <a:rPr lang="en-US" dirty="0"/>
              <a:t>and </a:t>
            </a:r>
            <a:r>
              <a:rPr lang="en-US" b="1" dirty="0"/>
              <a:t>logical operations</a:t>
            </a:r>
            <a:r>
              <a:rPr lang="en-US" dirty="0"/>
              <a:t> (AND, OR, XOR, compare).</a:t>
            </a:r>
          </a:p>
          <a:p>
            <a:pPr>
              <a:buFont typeface="Arial" panose="020B0604020202020204" pitchFamily="34" charset="0"/>
              <a:buChar char="•"/>
            </a:pPr>
            <a:r>
              <a:rPr lang="en-US" dirty="0"/>
              <a:t>Works with </a:t>
            </a:r>
            <a:r>
              <a:rPr lang="en-US" b="1" dirty="0"/>
              <a:t>Accumulator (ACC)</a:t>
            </a:r>
            <a:r>
              <a:rPr lang="en-US" dirty="0"/>
              <a:t> and </a:t>
            </a:r>
            <a:r>
              <a:rPr lang="en-US" b="1" dirty="0"/>
              <a:t>B Register</a:t>
            </a:r>
            <a:r>
              <a:rPr lang="en-US" dirty="0"/>
              <a:t> to process data.</a:t>
            </a:r>
          </a:p>
        </p:txBody>
      </p:sp>
      <p:sp>
        <p:nvSpPr>
          <p:cNvPr id="9" name="TextBox 8">
            <a:extLst>
              <a:ext uri="{FF2B5EF4-FFF2-40B4-BE49-F238E27FC236}">
                <a16:creationId xmlns:a16="http://schemas.microsoft.com/office/drawing/2014/main" id="{58BE67E8-3A17-AA54-59E2-5819DE590A0A}"/>
              </a:ext>
            </a:extLst>
          </p:cNvPr>
          <p:cNvSpPr txBox="1"/>
          <p:nvPr/>
        </p:nvSpPr>
        <p:spPr>
          <a:xfrm>
            <a:off x="745432" y="5400765"/>
            <a:ext cx="8647045" cy="1200329"/>
          </a:xfrm>
          <a:prstGeom prst="rect">
            <a:avLst/>
          </a:prstGeom>
          <a:noFill/>
        </p:spPr>
        <p:txBody>
          <a:bodyPr wrap="square">
            <a:spAutoFit/>
          </a:bodyPr>
          <a:lstStyle/>
          <a:p>
            <a:pPr>
              <a:buNone/>
            </a:pPr>
            <a:r>
              <a:rPr lang="en-US" b="1" dirty="0"/>
              <a:t>3. Accumulator (ACC) and B Register</a:t>
            </a:r>
          </a:p>
          <a:p>
            <a:pPr>
              <a:buFont typeface="Arial" panose="020B0604020202020204" pitchFamily="34" charset="0"/>
              <a:buChar char="•"/>
            </a:pPr>
            <a:r>
              <a:rPr lang="en-US" b="1" dirty="0"/>
              <a:t>Accumulator (ACC):</a:t>
            </a:r>
            <a:r>
              <a:rPr lang="en-US" dirty="0"/>
              <a:t> Main register used for data storage during ALU operations.</a:t>
            </a:r>
          </a:p>
          <a:p>
            <a:pPr>
              <a:buFont typeface="Arial" panose="020B0604020202020204" pitchFamily="34" charset="0"/>
              <a:buChar char="•"/>
            </a:pPr>
            <a:r>
              <a:rPr lang="en-US" b="1" dirty="0"/>
              <a:t>B Register:</a:t>
            </a:r>
            <a:r>
              <a:rPr lang="en-US" dirty="0"/>
              <a:t> Used with the accumulator for multiplication and division instructions</a:t>
            </a:r>
          </a:p>
        </p:txBody>
      </p:sp>
    </p:spTree>
    <p:extLst>
      <p:ext uri="{BB962C8B-B14F-4D97-AF65-F5344CB8AC3E}">
        <p14:creationId xmlns:p14="http://schemas.microsoft.com/office/powerpoint/2010/main" val="2976456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AF9DF-13D3-601E-C603-9024E7E18C6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8F933DC-12E2-63EB-2B97-1712B365E0C7}"/>
              </a:ext>
            </a:extLst>
          </p:cNvPr>
          <p:cNvSpPr txBox="1"/>
          <p:nvPr/>
        </p:nvSpPr>
        <p:spPr>
          <a:xfrm>
            <a:off x="904461" y="145919"/>
            <a:ext cx="8179904" cy="1200329"/>
          </a:xfrm>
          <a:prstGeom prst="rect">
            <a:avLst/>
          </a:prstGeom>
          <a:noFill/>
        </p:spPr>
        <p:txBody>
          <a:bodyPr wrap="square">
            <a:spAutoFit/>
          </a:bodyPr>
          <a:lstStyle/>
          <a:p>
            <a:pPr>
              <a:buNone/>
            </a:pPr>
            <a:r>
              <a:rPr lang="en-US" b="1" dirty="0"/>
              <a:t>4. Program Status Word (PSW)</a:t>
            </a:r>
          </a:p>
          <a:p>
            <a:pPr>
              <a:buFont typeface="Arial" panose="020B0604020202020204" pitchFamily="34" charset="0"/>
              <a:buChar char="•"/>
            </a:pPr>
            <a:r>
              <a:rPr lang="en-US" dirty="0"/>
              <a:t>Stores </a:t>
            </a:r>
            <a:r>
              <a:rPr lang="en-US" b="1" dirty="0"/>
              <a:t>status flags</a:t>
            </a:r>
            <a:r>
              <a:rPr lang="en-US" dirty="0"/>
              <a:t> such as Carry, Auxiliary Carry, Overflow, and Parity bits.</a:t>
            </a:r>
          </a:p>
          <a:p>
            <a:pPr>
              <a:buFont typeface="Arial" panose="020B0604020202020204" pitchFamily="34" charset="0"/>
              <a:buChar char="•"/>
            </a:pPr>
            <a:r>
              <a:rPr lang="en-US" dirty="0"/>
              <a:t>It tells about the </a:t>
            </a:r>
            <a:r>
              <a:rPr lang="en-US" b="1" dirty="0"/>
              <a:t>result of the last ALU operation</a:t>
            </a:r>
            <a:r>
              <a:rPr lang="en-US" dirty="0"/>
              <a:t> (e.g., if result was zero, negative, etc.).</a:t>
            </a:r>
          </a:p>
        </p:txBody>
      </p:sp>
      <p:sp>
        <p:nvSpPr>
          <p:cNvPr id="5" name="TextBox 4">
            <a:extLst>
              <a:ext uri="{FF2B5EF4-FFF2-40B4-BE49-F238E27FC236}">
                <a16:creationId xmlns:a16="http://schemas.microsoft.com/office/drawing/2014/main" id="{4EBA842A-86A1-B0F3-2C65-A6A220AC22AA}"/>
              </a:ext>
            </a:extLst>
          </p:cNvPr>
          <p:cNvSpPr txBox="1"/>
          <p:nvPr/>
        </p:nvSpPr>
        <p:spPr>
          <a:xfrm>
            <a:off x="815009" y="1432605"/>
            <a:ext cx="9153939" cy="3693319"/>
          </a:xfrm>
          <a:prstGeom prst="rect">
            <a:avLst/>
          </a:prstGeom>
          <a:noFill/>
        </p:spPr>
        <p:txBody>
          <a:bodyPr wrap="square">
            <a:spAutoFit/>
          </a:bodyPr>
          <a:lstStyle/>
          <a:p>
            <a:pPr>
              <a:buNone/>
            </a:pPr>
            <a:r>
              <a:rPr lang="en-US" b="1" dirty="0"/>
              <a:t>5. Memory Units</a:t>
            </a:r>
          </a:p>
          <a:p>
            <a:pPr>
              <a:buNone/>
            </a:pPr>
            <a:endParaRPr lang="en-US" b="1" dirty="0"/>
          </a:p>
          <a:p>
            <a:pPr>
              <a:buNone/>
            </a:pPr>
            <a:r>
              <a:rPr lang="en-US" b="1" dirty="0"/>
              <a:t>a) ROM / EPROM (Program Memory)</a:t>
            </a:r>
          </a:p>
          <a:p>
            <a:pPr>
              <a:buFont typeface="Arial" panose="020B0604020202020204" pitchFamily="34" charset="0"/>
              <a:buChar char="•"/>
            </a:pPr>
            <a:r>
              <a:rPr lang="en-US" dirty="0"/>
              <a:t>Stores the </a:t>
            </a:r>
            <a:r>
              <a:rPr lang="en-US" b="1" dirty="0"/>
              <a:t>program instructions</a:t>
            </a:r>
            <a:r>
              <a:rPr lang="en-US" dirty="0"/>
              <a:t> permanently.</a:t>
            </a:r>
          </a:p>
          <a:p>
            <a:pPr>
              <a:buFont typeface="Arial" panose="020B0604020202020204" pitchFamily="34" charset="0"/>
              <a:buChar char="•"/>
            </a:pPr>
            <a:r>
              <a:rPr lang="en-US" dirty="0"/>
              <a:t>Standard 8051 has </a:t>
            </a:r>
            <a:r>
              <a:rPr lang="en-US" b="1" dirty="0"/>
              <a:t>4 KB</a:t>
            </a:r>
            <a:r>
              <a:rPr lang="en-US" dirty="0"/>
              <a:t> of on-chip ROM.</a:t>
            </a:r>
          </a:p>
          <a:p>
            <a:endParaRPr lang="en-US" dirty="0"/>
          </a:p>
          <a:p>
            <a:pPr>
              <a:buNone/>
            </a:pPr>
            <a:r>
              <a:rPr lang="en-US" b="1" dirty="0"/>
              <a:t>b) RAM (Data Memory)</a:t>
            </a:r>
          </a:p>
          <a:p>
            <a:pPr>
              <a:buFont typeface="Arial" panose="020B0604020202020204" pitchFamily="34" charset="0"/>
              <a:buChar char="•"/>
            </a:pPr>
            <a:r>
              <a:rPr lang="en-US" dirty="0"/>
              <a:t>Used for </a:t>
            </a:r>
            <a:r>
              <a:rPr lang="en-US" b="1" dirty="0"/>
              <a:t>temporary data storage</a:t>
            </a:r>
            <a:r>
              <a:rPr lang="en-US" dirty="0"/>
              <a:t> while the program runs.</a:t>
            </a:r>
          </a:p>
          <a:p>
            <a:pPr>
              <a:buFont typeface="Arial" panose="020B0604020202020204" pitchFamily="34" charset="0"/>
              <a:buChar char="•"/>
            </a:pPr>
            <a:r>
              <a:rPr lang="en-US" dirty="0"/>
              <a:t>Standard 8051 has </a:t>
            </a:r>
            <a:r>
              <a:rPr lang="en-US" b="1" dirty="0"/>
              <a:t>128 bytes</a:t>
            </a:r>
            <a:r>
              <a:rPr lang="en-US" dirty="0"/>
              <a:t> of RAM.</a:t>
            </a:r>
          </a:p>
          <a:p>
            <a:pPr>
              <a:buFont typeface="Arial" panose="020B0604020202020204" pitchFamily="34" charset="0"/>
              <a:buChar char="•"/>
            </a:pPr>
            <a:r>
              <a:rPr lang="en-US" dirty="0"/>
              <a:t>Divided into:</a:t>
            </a:r>
          </a:p>
          <a:p>
            <a:pPr marL="742950" lvl="1" indent="-285750">
              <a:buFont typeface="Arial" panose="020B0604020202020204" pitchFamily="34" charset="0"/>
              <a:buChar char="•"/>
            </a:pPr>
            <a:r>
              <a:rPr lang="en-US" b="1" dirty="0"/>
              <a:t>Working registers (R0–R7)</a:t>
            </a:r>
            <a:endParaRPr lang="en-US" dirty="0"/>
          </a:p>
          <a:p>
            <a:pPr marL="742950" lvl="1" indent="-285750">
              <a:buFont typeface="Arial" panose="020B0604020202020204" pitchFamily="34" charset="0"/>
              <a:buChar char="•"/>
            </a:pPr>
            <a:r>
              <a:rPr lang="en-US" b="1" dirty="0"/>
              <a:t>Stack area</a:t>
            </a:r>
            <a:endParaRPr lang="en-US" dirty="0"/>
          </a:p>
          <a:p>
            <a:pPr marL="742950" lvl="1" indent="-285750">
              <a:buFont typeface="Arial" panose="020B0604020202020204" pitchFamily="34" charset="0"/>
              <a:buChar char="•"/>
            </a:pPr>
            <a:r>
              <a:rPr lang="en-US" b="1" dirty="0"/>
              <a:t>Bit-addressable area</a:t>
            </a:r>
            <a:endParaRPr lang="en-US" dirty="0"/>
          </a:p>
        </p:txBody>
      </p:sp>
      <p:sp>
        <p:nvSpPr>
          <p:cNvPr id="7" name="TextBox 6">
            <a:extLst>
              <a:ext uri="{FF2B5EF4-FFF2-40B4-BE49-F238E27FC236}">
                <a16:creationId xmlns:a16="http://schemas.microsoft.com/office/drawing/2014/main" id="{94FCF88C-159A-6A17-FFAA-BD8F856B408B}"/>
              </a:ext>
            </a:extLst>
          </p:cNvPr>
          <p:cNvSpPr txBox="1"/>
          <p:nvPr/>
        </p:nvSpPr>
        <p:spPr>
          <a:xfrm>
            <a:off x="735494" y="5212281"/>
            <a:ext cx="9233453" cy="923330"/>
          </a:xfrm>
          <a:prstGeom prst="rect">
            <a:avLst/>
          </a:prstGeom>
          <a:noFill/>
        </p:spPr>
        <p:txBody>
          <a:bodyPr wrap="square">
            <a:spAutoFit/>
          </a:bodyPr>
          <a:lstStyle/>
          <a:p>
            <a:pPr>
              <a:buNone/>
            </a:pPr>
            <a:r>
              <a:rPr lang="en-US" b="1" dirty="0"/>
              <a:t>6. Program Counter (PC)</a:t>
            </a:r>
          </a:p>
          <a:p>
            <a:pPr>
              <a:buFont typeface="Arial" panose="020B0604020202020204" pitchFamily="34" charset="0"/>
              <a:buChar char="•"/>
            </a:pPr>
            <a:r>
              <a:rPr lang="en-US" dirty="0"/>
              <a:t>A </a:t>
            </a:r>
            <a:r>
              <a:rPr lang="en-US" b="1" dirty="0"/>
              <a:t>16-bit register</a:t>
            </a:r>
            <a:r>
              <a:rPr lang="en-US" dirty="0"/>
              <a:t> that holds the address of the next instruction to be executed.</a:t>
            </a:r>
          </a:p>
          <a:p>
            <a:pPr>
              <a:buFont typeface="Arial" panose="020B0604020202020204" pitchFamily="34" charset="0"/>
              <a:buChar char="•"/>
            </a:pPr>
            <a:r>
              <a:rPr lang="en-US" dirty="0"/>
              <a:t>It is automatically incremented after each instruction fetch.</a:t>
            </a:r>
          </a:p>
        </p:txBody>
      </p:sp>
    </p:spTree>
    <p:extLst>
      <p:ext uri="{BB962C8B-B14F-4D97-AF65-F5344CB8AC3E}">
        <p14:creationId xmlns:p14="http://schemas.microsoft.com/office/powerpoint/2010/main" val="835991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636CF-9A19-DBBD-E616-53B7D7B37BA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766A86-A2F6-EB00-5577-338F289B390E}"/>
              </a:ext>
            </a:extLst>
          </p:cNvPr>
          <p:cNvSpPr txBox="1"/>
          <p:nvPr/>
        </p:nvSpPr>
        <p:spPr>
          <a:xfrm>
            <a:off x="844826" y="174439"/>
            <a:ext cx="8478078" cy="646331"/>
          </a:xfrm>
          <a:prstGeom prst="rect">
            <a:avLst/>
          </a:prstGeom>
          <a:noFill/>
        </p:spPr>
        <p:txBody>
          <a:bodyPr wrap="square">
            <a:spAutoFit/>
          </a:bodyPr>
          <a:lstStyle/>
          <a:p>
            <a:pPr>
              <a:buNone/>
            </a:pPr>
            <a:r>
              <a:rPr lang="en-US" b="1" dirty="0"/>
              <a:t>7. Data Pointer (DPTR)</a:t>
            </a:r>
          </a:p>
          <a:p>
            <a:pPr>
              <a:buFont typeface="Arial" panose="020B0604020202020204" pitchFamily="34" charset="0"/>
              <a:buChar char="•"/>
            </a:pPr>
            <a:r>
              <a:rPr lang="en-US" dirty="0"/>
              <a:t>A 16-bit register used to access external memory or large data tables.</a:t>
            </a:r>
          </a:p>
        </p:txBody>
      </p:sp>
      <p:sp>
        <p:nvSpPr>
          <p:cNvPr id="5" name="TextBox 4">
            <a:extLst>
              <a:ext uri="{FF2B5EF4-FFF2-40B4-BE49-F238E27FC236}">
                <a16:creationId xmlns:a16="http://schemas.microsoft.com/office/drawing/2014/main" id="{F4A5DA02-5ACE-EED7-CB50-91E67FD2CBD3}"/>
              </a:ext>
            </a:extLst>
          </p:cNvPr>
          <p:cNvSpPr txBox="1"/>
          <p:nvPr/>
        </p:nvSpPr>
        <p:spPr>
          <a:xfrm>
            <a:off x="844826" y="940402"/>
            <a:ext cx="8478078" cy="923330"/>
          </a:xfrm>
          <a:prstGeom prst="rect">
            <a:avLst/>
          </a:prstGeom>
          <a:noFill/>
        </p:spPr>
        <p:txBody>
          <a:bodyPr wrap="square">
            <a:spAutoFit/>
          </a:bodyPr>
          <a:lstStyle/>
          <a:p>
            <a:pPr>
              <a:buNone/>
            </a:pPr>
            <a:r>
              <a:rPr lang="en-US" b="1" dirty="0"/>
              <a:t>8. Stack Pointer (SP)</a:t>
            </a:r>
          </a:p>
          <a:p>
            <a:pPr>
              <a:buFont typeface="Arial" panose="020B0604020202020204" pitchFamily="34" charset="0"/>
              <a:buChar char="•"/>
            </a:pPr>
            <a:r>
              <a:rPr lang="en-US" dirty="0"/>
              <a:t>Points to the top of the stack in internal RAM.</a:t>
            </a:r>
          </a:p>
          <a:p>
            <a:pPr>
              <a:buFont typeface="Arial" panose="020B0604020202020204" pitchFamily="34" charset="0"/>
              <a:buChar char="•"/>
            </a:pPr>
            <a:r>
              <a:rPr lang="en-US" dirty="0"/>
              <a:t>Stack is used during function calls, interrupts, and temporary storage.</a:t>
            </a:r>
          </a:p>
        </p:txBody>
      </p:sp>
      <p:sp>
        <p:nvSpPr>
          <p:cNvPr id="7" name="TextBox 6">
            <a:extLst>
              <a:ext uri="{FF2B5EF4-FFF2-40B4-BE49-F238E27FC236}">
                <a16:creationId xmlns:a16="http://schemas.microsoft.com/office/drawing/2014/main" id="{DD82EACF-AEB1-6351-9AD8-8ED2C2E3ECC4}"/>
              </a:ext>
            </a:extLst>
          </p:cNvPr>
          <p:cNvSpPr txBox="1"/>
          <p:nvPr/>
        </p:nvSpPr>
        <p:spPr>
          <a:xfrm>
            <a:off x="844826" y="1983364"/>
            <a:ext cx="8398565" cy="1477328"/>
          </a:xfrm>
          <a:prstGeom prst="rect">
            <a:avLst/>
          </a:prstGeom>
          <a:noFill/>
        </p:spPr>
        <p:txBody>
          <a:bodyPr wrap="square">
            <a:spAutoFit/>
          </a:bodyPr>
          <a:lstStyle/>
          <a:p>
            <a:pPr>
              <a:buNone/>
            </a:pPr>
            <a:r>
              <a:rPr lang="en-US" b="1" dirty="0"/>
              <a:t>9. Input/Output Ports (P0, P1, P2, P3)</a:t>
            </a:r>
          </a:p>
          <a:p>
            <a:pPr>
              <a:buFont typeface="Arial" panose="020B0604020202020204" pitchFamily="34" charset="0"/>
              <a:buChar char="•"/>
            </a:pPr>
            <a:r>
              <a:rPr lang="en-US" dirty="0"/>
              <a:t>8051 has </a:t>
            </a:r>
            <a:r>
              <a:rPr lang="en-US" b="1" dirty="0"/>
              <a:t>f</a:t>
            </a:r>
            <a:r>
              <a:rPr lang="en-US" dirty="0"/>
              <a:t>our 8-bit I/O ports (P0–P3) → total 32 pins.</a:t>
            </a:r>
          </a:p>
          <a:p>
            <a:pPr>
              <a:buFont typeface="Arial" panose="020B0604020202020204" pitchFamily="34" charset="0"/>
              <a:buChar char="•"/>
            </a:pPr>
            <a:r>
              <a:rPr lang="en-US" dirty="0"/>
              <a:t>They can be used for input or output operations.</a:t>
            </a:r>
          </a:p>
          <a:p>
            <a:pPr>
              <a:buFont typeface="Arial" panose="020B0604020202020204" pitchFamily="34" charset="0"/>
              <a:buChar char="•"/>
            </a:pPr>
            <a:r>
              <a:rPr lang="en-US" dirty="0"/>
              <a:t>Port 0 and Port 2 are also used for address/data multiplexing when external memory is used.</a:t>
            </a:r>
          </a:p>
        </p:txBody>
      </p:sp>
      <p:sp>
        <p:nvSpPr>
          <p:cNvPr id="9" name="TextBox 8">
            <a:extLst>
              <a:ext uri="{FF2B5EF4-FFF2-40B4-BE49-F238E27FC236}">
                <a16:creationId xmlns:a16="http://schemas.microsoft.com/office/drawing/2014/main" id="{B38E1295-5930-A44E-B8B6-F7F4AFCDDFE7}"/>
              </a:ext>
            </a:extLst>
          </p:cNvPr>
          <p:cNvSpPr txBox="1"/>
          <p:nvPr/>
        </p:nvSpPr>
        <p:spPr>
          <a:xfrm>
            <a:off x="844826" y="3655081"/>
            <a:ext cx="8478078" cy="1754326"/>
          </a:xfrm>
          <a:prstGeom prst="rect">
            <a:avLst/>
          </a:prstGeom>
          <a:noFill/>
        </p:spPr>
        <p:txBody>
          <a:bodyPr wrap="square">
            <a:spAutoFit/>
          </a:bodyPr>
          <a:lstStyle/>
          <a:p>
            <a:pPr>
              <a:buNone/>
            </a:pPr>
            <a:r>
              <a:rPr lang="en-US" b="1" dirty="0"/>
              <a:t>10. Timers/Counters</a:t>
            </a:r>
          </a:p>
          <a:p>
            <a:pPr>
              <a:buFont typeface="Arial" panose="020B0604020202020204" pitchFamily="34" charset="0"/>
              <a:buChar char="•"/>
            </a:pPr>
            <a:r>
              <a:rPr lang="en-US" dirty="0"/>
              <a:t>Two 16-bit timers (Timer 0 and Timer 1) are available.</a:t>
            </a:r>
          </a:p>
          <a:p>
            <a:pPr>
              <a:buFont typeface="Arial" panose="020B0604020202020204" pitchFamily="34" charset="0"/>
              <a:buChar char="•"/>
            </a:pPr>
            <a:r>
              <a:rPr lang="en-US" dirty="0"/>
              <a:t>Used for:</a:t>
            </a:r>
          </a:p>
          <a:p>
            <a:pPr marL="742950" lvl="1" indent="-285750">
              <a:buFont typeface="Arial" panose="020B0604020202020204" pitchFamily="34" charset="0"/>
              <a:buChar char="•"/>
            </a:pPr>
            <a:r>
              <a:rPr lang="en-US" dirty="0"/>
              <a:t>Measuring time intervals.</a:t>
            </a:r>
          </a:p>
          <a:p>
            <a:pPr marL="742950" lvl="1" indent="-285750">
              <a:buFont typeface="Arial" panose="020B0604020202020204" pitchFamily="34" charset="0"/>
              <a:buChar char="•"/>
            </a:pPr>
            <a:r>
              <a:rPr lang="en-US" dirty="0"/>
              <a:t>Counting external events.</a:t>
            </a:r>
          </a:p>
          <a:p>
            <a:pPr marL="742950" lvl="1" indent="-285750">
              <a:buFont typeface="Arial" panose="020B0604020202020204" pitchFamily="34" charset="0"/>
              <a:buChar char="•"/>
            </a:pPr>
            <a:r>
              <a:rPr lang="en-US" dirty="0"/>
              <a:t>Generating delays.</a:t>
            </a:r>
          </a:p>
        </p:txBody>
      </p:sp>
    </p:spTree>
    <p:extLst>
      <p:ext uri="{BB962C8B-B14F-4D97-AF65-F5344CB8AC3E}">
        <p14:creationId xmlns:p14="http://schemas.microsoft.com/office/powerpoint/2010/main" val="2724274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3BBC0-E70D-5DEE-431A-EC6BDC3A3F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D95AA2-5A85-F9EB-FDAC-26B5893B2F71}"/>
              </a:ext>
            </a:extLst>
          </p:cNvPr>
          <p:cNvSpPr txBox="1"/>
          <p:nvPr/>
        </p:nvSpPr>
        <p:spPr>
          <a:xfrm>
            <a:off x="906516" y="114879"/>
            <a:ext cx="8426669" cy="523220"/>
          </a:xfrm>
          <a:prstGeom prst="rect">
            <a:avLst/>
          </a:prstGeom>
          <a:noFill/>
        </p:spPr>
        <p:txBody>
          <a:bodyPr wrap="square">
            <a:spAutoFit/>
          </a:bodyPr>
          <a:lstStyle/>
          <a:p>
            <a:r>
              <a:rPr lang="en-IN" sz="2800" b="1" dirty="0"/>
              <a:t>14. Control Signals</a:t>
            </a:r>
            <a:endParaRPr lang="en-IN" sz="2800" dirty="0"/>
          </a:p>
        </p:txBody>
      </p:sp>
      <p:graphicFrame>
        <p:nvGraphicFramePr>
          <p:cNvPr id="4" name="Table 3">
            <a:extLst>
              <a:ext uri="{FF2B5EF4-FFF2-40B4-BE49-F238E27FC236}">
                <a16:creationId xmlns:a16="http://schemas.microsoft.com/office/drawing/2014/main" id="{8F54DE54-5C88-FD2C-DB32-F36AB8910257}"/>
              </a:ext>
            </a:extLst>
          </p:cNvPr>
          <p:cNvGraphicFramePr>
            <a:graphicFrameLocks noGrp="1"/>
          </p:cNvGraphicFramePr>
          <p:nvPr>
            <p:extLst>
              <p:ext uri="{D42A27DB-BD31-4B8C-83A1-F6EECF244321}">
                <p14:modId xmlns:p14="http://schemas.microsoft.com/office/powerpoint/2010/main" val="1356705612"/>
              </p:ext>
            </p:extLst>
          </p:nvPr>
        </p:nvGraphicFramePr>
        <p:xfrm>
          <a:off x="725215" y="688135"/>
          <a:ext cx="8775065" cy="1854200"/>
        </p:xfrm>
        <a:graphic>
          <a:graphicData uri="http://schemas.openxmlformats.org/drawingml/2006/table">
            <a:tbl>
              <a:tblPr firstRow="1" bandRow="1">
                <a:tableStyleId>{5940675A-B579-460E-94D1-54222C63F5DA}</a:tableStyleId>
              </a:tblPr>
              <a:tblGrid>
                <a:gridCol w="875030">
                  <a:extLst>
                    <a:ext uri="{9D8B030D-6E8A-4147-A177-3AD203B41FA5}">
                      <a16:colId xmlns:a16="http://schemas.microsoft.com/office/drawing/2014/main" val="4000726851"/>
                    </a:ext>
                  </a:extLst>
                </a:gridCol>
                <a:gridCol w="2424144">
                  <a:extLst>
                    <a:ext uri="{9D8B030D-6E8A-4147-A177-3AD203B41FA5}">
                      <a16:colId xmlns:a16="http://schemas.microsoft.com/office/drawing/2014/main" val="257486651"/>
                    </a:ext>
                  </a:extLst>
                </a:gridCol>
                <a:gridCol w="5475891">
                  <a:extLst>
                    <a:ext uri="{9D8B030D-6E8A-4147-A177-3AD203B41FA5}">
                      <a16:colId xmlns:a16="http://schemas.microsoft.com/office/drawing/2014/main" val="284029573"/>
                    </a:ext>
                  </a:extLst>
                </a:gridCol>
              </a:tblGrid>
              <a:tr h="370840">
                <a:tc>
                  <a:txBody>
                    <a:bodyPr/>
                    <a:lstStyle/>
                    <a:p>
                      <a:pPr algn="ctr">
                        <a:buNone/>
                      </a:pPr>
                      <a:r>
                        <a:rPr lang="en-IN" b="1" dirty="0"/>
                        <a:t>Signal</a:t>
                      </a:r>
                    </a:p>
                  </a:txBody>
                  <a:tcPr anchor="ctr"/>
                </a:tc>
                <a:tc>
                  <a:txBody>
                    <a:bodyPr/>
                    <a:lstStyle/>
                    <a:p>
                      <a:pPr algn="ctr">
                        <a:buNone/>
                      </a:pPr>
                      <a:r>
                        <a:rPr lang="en-IN" b="1" dirty="0"/>
                        <a:t>Full Form</a:t>
                      </a:r>
                    </a:p>
                  </a:txBody>
                  <a:tcPr anchor="ctr"/>
                </a:tc>
                <a:tc>
                  <a:txBody>
                    <a:bodyPr/>
                    <a:lstStyle/>
                    <a:p>
                      <a:pPr algn="ctr">
                        <a:buNone/>
                      </a:pPr>
                      <a:r>
                        <a:rPr lang="en-IN" b="1" dirty="0"/>
                        <a:t>Function</a:t>
                      </a:r>
                    </a:p>
                  </a:txBody>
                  <a:tcPr anchor="ctr"/>
                </a:tc>
                <a:extLst>
                  <a:ext uri="{0D108BD9-81ED-4DB2-BD59-A6C34878D82A}">
                    <a16:rowId xmlns:a16="http://schemas.microsoft.com/office/drawing/2014/main" val="3383796569"/>
                  </a:ext>
                </a:extLst>
              </a:tr>
              <a:tr h="370840">
                <a:tc>
                  <a:txBody>
                    <a:bodyPr/>
                    <a:lstStyle/>
                    <a:p>
                      <a:pPr>
                        <a:buNone/>
                      </a:pPr>
                      <a:r>
                        <a:rPr lang="en-IN" b="0" dirty="0"/>
                        <a:t>PSEN</a:t>
                      </a:r>
                    </a:p>
                  </a:txBody>
                  <a:tcPr anchor="ctr"/>
                </a:tc>
                <a:tc>
                  <a:txBody>
                    <a:bodyPr/>
                    <a:lstStyle/>
                    <a:p>
                      <a:pPr>
                        <a:buNone/>
                      </a:pPr>
                      <a:r>
                        <a:rPr lang="en-IN" dirty="0"/>
                        <a:t>Program Store Enable</a:t>
                      </a:r>
                    </a:p>
                  </a:txBody>
                  <a:tcPr anchor="ctr"/>
                </a:tc>
                <a:tc>
                  <a:txBody>
                    <a:bodyPr/>
                    <a:lstStyle/>
                    <a:p>
                      <a:pPr>
                        <a:buNone/>
                      </a:pPr>
                      <a:r>
                        <a:rPr lang="en-IN" dirty="0"/>
                        <a:t>Enables external program memory.</a:t>
                      </a:r>
                    </a:p>
                  </a:txBody>
                  <a:tcPr anchor="ctr"/>
                </a:tc>
                <a:extLst>
                  <a:ext uri="{0D108BD9-81ED-4DB2-BD59-A6C34878D82A}">
                    <a16:rowId xmlns:a16="http://schemas.microsoft.com/office/drawing/2014/main" val="1589181410"/>
                  </a:ext>
                </a:extLst>
              </a:tr>
              <a:tr h="370840">
                <a:tc>
                  <a:txBody>
                    <a:bodyPr/>
                    <a:lstStyle/>
                    <a:p>
                      <a:pPr>
                        <a:buNone/>
                      </a:pPr>
                      <a:r>
                        <a:rPr lang="en-IN" b="0" dirty="0"/>
                        <a:t>ALE</a:t>
                      </a:r>
                    </a:p>
                  </a:txBody>
                  <a:tcPr anchor="ctr"/>
                </a:tc>
                <a:tc>
                  <a:txBody>
                    <a:bodyPr/>
                    <a:lstStyle/>
                    <a:p>
                      <a:pPr>
                        <a:buNone/>
                      </a:pPr>
                      <a:r>
                        <a:rPr lang="en-IN" dirty="0"/>
                        <a:t>Address Latch Enable</a:t>
                      </a:r>
                    </a:p>
                  </a:txBody>
                  <a:tcPr anchor="ctr"/>
                </a:tc>
                <a:tc>
                  <a:txBody>
                    <a:bodyPr/>
                    <a:lstStyle/>
                    <a:p>
                      <a:pPr>
                        <a:buNone/>
                      </a:pPr>
                      <a:r>
                        <a:rPr lang="en-US" dirty="0"/>
                        <a:t>Used to separate address and data signals.</a:t>
                      </a:r>
                    </a:p>
                  </a:txBody>
                  <a:tcPr anchor="ctr"/>
                </a:tc>
                <a:extLst>
                  <a:ext uri="{0D108BD9-81ED-4DB2-BD59-A6C34878D82A}">
                    <a16:rowId xmlns:a16="http://schemas.microsoft.com/office/drawing/2014/main" val="1723820945"/>
                  </a:ext>
                </a:extLst>
              </a:tr>
              <a:tr h="370840">
                <a:tc>
                  <a:txBody>
                    <a:bodyPr/>
                    <a:lstStyle/>
                    <a:p>
                      <a:pPr>
                        <a:buNone/>
                      </a:pPr>
                      <a:r>
                        <a:rPr lang="en-IN" b="0" dirty="0"/>
                        <a:t>EA</a:t>
                      </a:r>
                    </a:p>
                  </a:txBody>
                  <a:tcPr anchor="ctr"/>
                </a:tc>
                <a:tc>
                  <a:txBody>
                    <a:bodyPr/>
                    <a:lstStyle/>
                    <a:p>
                      <a:pPr>
                        <a:buNone/>
                      </a:pPr>
                      <a:r>
                        <a:rPr lang="en-IN" dirty="0"/>
                        <a:t>External Access</a:t>
                      </a:r>
                    </a:p>
                  </a:txBody>
                  <a:tcPr anchor="ctr"/>
                </a:tc>
                <a:tc>
                  <a:txBody>
                    <a:bodyPr/>
                    <a:lstStyle/>
                    <a:p>
                      <a:pPr>
                        <a:buNone/>
                      </a:pPr>
                      <a:r>
                        <a:rPr lang="en-US" dirty="0"/>
                        <a:t>Selects internal or external ROM.</a:t>
                      </a:r>
                    </a:p>
                  </a:txBody>
                  <a:tcPr anchor="ctr"/>
                </a:tc>
                <a:extLst>
                  <a:ext uri="{0D108BD9-81ED-4DB2-BD59-A6C34878D82A}">
                    <a16:rowId xmlns:a16="http://schemas.microsoft.com/office/drawing/2014/main" val="1820418610"/>
                  </a:ext>
                </a:extLst>
              </a:tr>
              <a:tr h="370840">
                <a:tc>
                  <a:txBody>
                    <a:bodyPr/>
                    <a:lstStyle/>
                    <a:p>
                      <a:pPr>
                        <a:buNone/>
                      </a:pPr>
                      <a:r>
                        <a:rPr lang="en-IN" b="0" dirty="0"/>
                        <a:t>RST</a:t>
                      </a:r>
                    </a:p>
                  </a:txBody>
                  <a:tcPr anchor="ctr"/>
                </a:tc>
                <a:tc>
                  <a:txBody>
                    <a:bodyPr/>
                    <a:lstStyle/>
                    <a:p>
                      <a:pPr>
                        <a:buNone/>
                      </a:pPr>
                      <a:r>
                        <a:rPr lang="en-IN" dirty="0"/>
                        <a:t>Reset</a:t>
                      </a:r>
                    </a:p>
                  </a:txBody>
                  <a:tcPr anchor="ctr"/>
                </a:tc>
                <a:tc>
                  <a:txBody>
                    <a:bodyPr/>
                    <a:lstStyle/>
                    <a:p>
                      <a:pPr>
                        <a:buNone/>
                      </a:pPr>
                      <a:r>
                        <a:rPr lang="en-US" dirty="0"/>
                        <a:t>Resets the microcontroller to the starting address.</a:t>
                      </a:r>
                    </a:p>
                  </a:txBody>
                  <a:tcPr anchor="ctr"/>
                </a:tc>
                <a:extLst>
                  <a:ext uri="{0D108BD9-81ED-4DB2-BD59-A6C34878D82A}">
                    <a16:rowId xmlns:a16="http://schemas.microsoft.com/office/drawing/2014/main" val="875730451"/>
                  </a:ext>
                </a:extLst>
              </a:tr>
            </a:tbl>
          </a:graphicData>
        </a:graphic>
      </p:graphicFrame>
      <p:sp>
        <p:nvSpPr>
          <p:cNvPr id="6" name="TextBox 5">
            <a:extLst>
              <a:ext uri="{FF2B5EF4-FFF2-40B4-BE49-F238E27FC236}">
                <a16:creationId xmlns:a16="http://schemas.microsoft.com/office/drawing/2014/main" id="{21642367-EF26-7485-E9F7-EA41F4E435AB}"/>
              </a:ext>
            </a:extLst>
          </p:cNvPr>
          <p:cNvSpPr txBox="1"/>
          <p:nvPr/>
        </p:nvSpPr>
        <p:spPr>
          <a:xfrm>
            <a:off x="725215" y="2746259"/>
            <a:ext cx="8332075" cy="923330"/>
          </a:xfrm>
          <a:prstGeom prst="rect">
            <a:avLst/>
          </a:prstGeom>
          <a:noFill/>
        </p:spPr>
        <p:txBody>
          <a:bodyPr wrap="square">
            <a:spAutoFit/>
          </a:bodyPr>
          <a:lstStyle/>
          <a:p>
            <a:pPr>
              <a:buNone/>
            </a:pPr>
            <a:r>
              <a:rPr lang="en-US" b="1" dirty="0"/>
              <a:t>15. Timing and Control Block</a:t>
            </a:r>
          </a:p>
          <a:p>
            <a:pPr>
              <a:buFont typeface="Arial" panose="020B0604020202020204" pitchFamily="34" charset="0"/>
              <a:buChar char="•"/>
            </a:pPr>
            <a:r>
              <a:rPr lang="en-US" dirty="0"/>
              <a:t>Coordinates the flow of data and control signals inside the 8051.</a:t>
            </a:r>
          </a:p>
          <a:p>
            <a:pPr>
              <a:buFont typeface="Arial" panose="020B0604020202020204" pitchFamily="34" charset="0"/>
              <a:buChar char="•"/>
            </a:pPr>
            <a:r>
              <a:rPr lang="en-US" dirty="0"/>
              <a:t>Works closely with the oscillator and other control signals.</a:t>
            </a:r>
          </a:p>
        </p:txBody>
      </p:sp>
      <p:sp>
        <p:nvSpPr>
          <p:cNvPr id="8" name="TextBox 7">
            <a:extLst>
              <a:ext uri="{FF2B5EF4-FFF2-40B4-BE49-F238E27FC236}">
                <a16:creationId xmlns:a16="http://schemas.microsoft.com/office/drawing/2014/main" id="{08C3CDDE-6B35-0038-1418-94B42B4380A4}"/>
              </a:ext>
            </a:extLst>
          </p:cNvPr>
          <p:cNvSpPr txBox="1"/>
          <p:nvPr/>
        </p:nvSpPr>
        <p:spPr>
          <a:xfrm>
            <a:off x="732318" y="3966580"/>
            <a:ext cx="8775064" cy="923330"/>
          </a:xfrm>
          <a:prstGeom prst="rect">
            <a:avLst/>
          </a:prstGeom>
          <a:noFill/>
        </p:spPr>
        <p:txBody>
          <a:bodyPr wrap="square">
            <a:spAutoFit/>
          </a:bodyPr>
          <a:lstStyle/>
          <a:p>
            <a:pPr>
              <a:buNone/>
            </a:pPr>
            <a:r>
              <a:rPr lang="en-US" b="1" dirty="0"/>
              <a:t>16. Interrupt, Serial Port, and Timer Blocks</a:t>
            </a:r>
          </a:p>
          <a:p>
            <a:pPr>
              <a:buFont typeface="Arial" panose="020B0604020202020204" pitchFamily="34" charset="0"/>
              <a:buChar char="•"/>
            </a:pPr>
            <a:r>
              <a:rPr lang="en-US" dirty="0"/>
              <a:t>These blocks handle interrupt management, serial communication, and timing</a:t>
            </a:r>
            <a:r>
              <a:rPr lang="en-US" b="1" dirty="0"/>
              <a:t> </a:t>
            </a:r>
            <a:r>
              <a:rPr lang="en-US" dirty="0"/>
              <a:t>operations as shown in the middle of the diagram.</a:t>
            </a:r>
          </a:p>
        </p:txBody>
      </p:sp>
    </p:spTree>
    <p:extLst>
      <p:ext uri="{BB962C8B-B14F-4D97-AF65-F5344CB8AC3E}">
        <p14:creationId xmlns:p14="http://schemas.microsoft.com/office/powerpoint/2010/main" val="2278335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7BC5A-6782-989D-A7A1-2CCB545DA07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A91832-3F9E-689E-1D09-F57E44DF43B6}"/>
              </a:ext>
            </a:extLst>
          </p:cNvPr>
          <p:cNvSpPr txBox="1"/>
          <p:nvPr/>
        </p:nvSpPr>
        <p:spPr>
          <a:xfrm>
            <a:off x="882869" y="172347"/>
            <a:ext cx="7775027" cy="923330"/>
          </a:xfrm>
          <a:prstGeom prst="rect">
            <a:avLst/>
          </a:prstGeom>
          <a:noFill/>
        </p:spPr>
        <p:txBody>
          <a:bodyPr wrap="square">
            <a:spAutoFit/>
          </a:bodyPr>
          <a:lstStyle/>
          <a:p>
            <a:pPr>
              <a:buNone/>
            </a:pPr>
            <a:r>
              <a:rPr lang="en-US" b="1" dirty="0"/>
              <a:t>11. Serial Communication Port</a:t>
            </a:r>
          </a:p>
          <a:p>
            <a:pPr>
              <a:buFont typeface="Arial" panose="020B0604020202020204" pitchFamily="34" charset="0"/>
              <a:buChar char="•"/>
            </a:pPr>
            <a:r>
              <a:rPr lang="en-US" dirty="0"/>
              <a:t>Allows serial data transfer (bit-by-bit communication).</a:t>
            </a:r>
          </a:p>
          <a:p>
            <a:pPr>
              <a:buFont typeface="Arial" panose="020B0604020202020204" pitchFamily="34" charset="0"/>
              <a:buChar char="•"/>
            </a:pPr>
            <a:r>
              <a:rPr lang="en-US" dirty="0"/>
              <a:t>Used to connect 8051 with devices like PCs, GSM modules, etc.</a:t>
            </a:r>
          </a:p>
        </p:txBody>
      </p:sp>
      <p:sp>
        <p:nvSpPr>
          <p:cNvPr id="5" name="TextBox 4">
            <a:extLst>
              <a:ext uri="{FF2B5EF4-FFF2-40B4-BE49-F238E27FC236}">
                <a16:creationId xmlns:a16="http://schemas.microsoft.com/office/drawing/2014/main" id="{D82A1FF0-E819-88D7-8F13-114D3B569AE5}"/>
              </a:ext>
            </a:extLst>
          </p:cNvPr>
          <p:cNvSpPr txBox="1"/>
          <p:nvPr/>
        </p:nvSpPr>
        <p:spPr>
          <a:xfrm>
            <a:off x="882869" y="1322890"/>
            <a:ext cx="8269013" cy="1754326"/>
          </a:xfrm>
          <a:prstGeom prst="rect">
            <a:avLst/>
          </a:prstGeom>
          <a:noFill/>
        </p:spPr>
        <p:txBody>
          <a:bodyPr wrap="square">
            <a:spAutoFit/>
          </a:bodyPr>
          <a:lstStyle/>
          <a:p>
            <a:pPr>
              <a:buNone/>
            </a:pPr>
            <a:r>
              <a:rPr lang="en-US" b="1" dirty="0"/>
              <a:t>12. Interrupt Control</a:t>
            </a:r>
          </a:p>
          <a:p>
            <a:pPr>
              <a:buFont typeface="Arial" panose="020B0604020202020204" pitchFamily="34" charset="0"/>
              <a:buChar char="•"/>
            </a:pPr>
            <a:r>
              <a:rPr lang="en-US" dirty="0"/>
              <a:t>Provides </a:t>
            </a:r>
            <a:r>
              <a:rPr lang="en-US" b="1" dirty="0"/>
              <a:t>five interrupt sources</a:t>
            </a:r>
            <a:r>
              <a:rPr lang="en-US" dirty="0"/>
              <a:t>:</a:t>
            </a:r>
          </a:p>
          <a:p>
            <a:pPr marL="742950" lvl="1" indent="-285750">
              <a:buFont typeface="Arial" panose="020B0604020202020204" pitchFamily="34" charset="0"/>
              <a:buChar char="•"/>
            </a:pPr>
            <a:r>
              <a:rPr lang="en-US" dirty="0"/>
              <a:t>Two external interrupts</a:t>
            </a:r>
          </a:p>
          <a:p>
            <a:pPr marL="742950" lvl="1" indent="-285750">
              <a:buFont typeface="Arial" panose="020B0604020202020204" pitchFamily="34" charset="0"/>
              <a:buChar char="•"/>
            </a:pPr>
            <a:r>
              <a:rPr lang="en-US" dirty="0"/>
              <a:t>Two timer interrupts</a:t>
            </a:r>
          </a:p>
          <a:p>
            <a:pPr marL="742950" lvl="1" indent="-285750">
              <a:buFont typeface="Arial" panose="020B0604020202020204" pitchFamily="34" charset="0"/>
              <a:buChar char="•"/>
            </a:pPr>
            <a:r>
              <a:rPr lang="en-US" dirty="0"/>
              <a:t>One serial interrupt</a:t>
            </a:r>
          </a:p>
          <a:p>
            <a:pPr>
              <a:buFont typeface="Arial" panose="020B0604020202020204" pitchFamily="34" charset="0"/>
              <a:buChar char="•"/>
            </a:pPr>
            <a:r>
              <a:rPr lang="en-US" dirty="0"/>
              <a:t>Interrupts allow the microcontroller to respond quickly to urgent events.</a:t>
            </a:r>
          </a:p>
        </p:txBody>
      </p:sp>
      <p:sp>
        <p:nvSpPr>
          <p:cNvPr id="7" name="TextBox 6">
            <a:extLst>
              <a:ext uri="{FF2B5EF4-FFF2-40B4-BE49-F238E27FC236}">
                <a16:creationId xmlns:a16="http://schemas.microsoft.com/office/drawing/2014/main" id="{A464A5FE-875F-2FB2-DB58-DA21EA8F6253}"/>
              </a:ext>
            </a:extLst>
          </p:cNvPr>
          <p:cNvSpPr txBox="1"/>
          <p:nvPr/>
        </p:nvSpPr>
        <p:spPr>
          <a:xfrm>
            <a:off x="882869" y="3304429"/>
            <a:ext cx="8269012" cy="1477328"/>
          </a:xfrm>
          <a:prstGeom prst="rect">
            <a:avLst/>
          </a:prstGeom>
          <a:noFill/>
        </p:spPr>
        <p:txBody>
          <a:bodyPr wrap="square">
            <a:spAutoFit/>
          </a:bodyPr>
          <a:lstStyle/>
          <a:p>
            <a:pPr>
              <a:buNone/>
            </a:pPr>
            <a:r>
              <a:rPr lang="en-IN" b="1" dirty="0"/>
              <a:t>13. Oscillator and Clock Circuit</a:t>
            </a:r>
          </a:p>
          <a:p>
            <a:pPr>
              <a:buFont typeface="Arial" panose="020B0604020202020204" pitchFamily="34" charset="0"/>
              <a:buChar char="•"/>
            </a:pPr>
            <a:r>
              <a:rPr lang="en-IN" dirty="0"/>
              <a:t>The Oscillator (OSC) provides the clock signal for all operations.</a:t>
            </a:r>
          </a:p>
          <a:p>
            <a:pPr>
              <a:buFont typeface="Arial" panose="020B0604020202020204" pitchFamily="34" charset="0"/>
              <a:buChar char="•"/>
            </a:pPr>
            <a:r>
              <a:rPr lang="en-IN" dirty="0"/>
              <a:t>Usually connected to a crystal oscillator (e.g., 12 MHz) between XTAL1 and XTAL2 pins.</a:t>
            </a:r>
          </a:p>
          <a:p>
            <a:pPr>
              <a:buFont typeface="Arial" panose="020B0604020202020204" pitchFamily="34" charset="0"/>
              <a:buChar char="•"/>
            </a:pPr>
            <a:r>
              <a:rPr lang="en-IN" dirty="0"/>
              <a:t>The clock synchronizes all internal processes.</a:t>
            </a:r>
          </a:p>
        </p:txBody>
      </p:sp>
    </p:spTree>
    <p:extLst>
      <p:ext uri="{BB962C8B-B14F-4D97-AF65-F5344CB8AC3E}">
        <p14:creationId xmlns:p14="http://schemas.microsoft.com/office/powerpoint/2010/main" val="907681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F9D31-3501-7416-DF7A-F224A3F85C6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E117225-764E-73E7-532C-D69648A18EFE}"/>
              </a:ext>
            </a:extLst>
          </p:cNvPr>
          <p:cNvSpPr txBox="1"/>
          <p:nvPr/>
        </p:nvSpPr>
        <p:spPr>
          <a:xfrm>
            <a:off x="795130" y="115453"/>
            <a:ext cx="8418443" cy="923330"/>
          </a:xfrm>
          <a:prstGeom prst="rect">
            <a:avLst/>
          </a:prstGeom>
          <a:noFill/>
        </p:spPr>
        <p:txBody>
          <a:bodyPr wrap="square">
            <a:spAutoFit/>
          </a:bodyPr>
          <a:lstStyle/>
          <a:p>
            <a:r>
              <a:rPr lang="en-US" b="0" i="0" dirty="0">
                <a:effectLst/>
                <a:latin typeface="fkGroteskNeue"/>
              </a:rPr>
              <a:t>The architecture of the 8051 microcontroller is based on an 8-bit Harvard architecture, comprising various essential components that enable it to perform a wide range of control and processing functions in embedded systems.</a:t>
            </a:r>
            <a:endParaRPr lang="en-IN" dirty="0"/>
          </a:p>
        </p:txBody>
      </p:sp>
      <p:sp>
        <p:nvSpPr>
          <p:cNvPr id="5" name="TextBox 4">
            <a:extLst>
              <a:ext uri="{FF2B5EF4-FFF2-40B4-BE49-F238E27FC236}">
                <a16:creationId xmlns:a16="http://schemas.microsoft.com/office/drawing/2014/main" id="{63968209-4DDD-D113-1AE5-ED273C4B8800}"/>
              </a:ext>
            </a:extLst>
          </p:cNvPr>
          <p:cNvSpPr txBox="1"/>
          <p:nvPr/>
        </p:nvSpPr>
        <p:spPr>
          <a:xfrm>
            <a:off x="795130" y="1038783"/>
            <a:ext cx="8358809" cy="2862322"/>
          </a:xfrm>
          <a:prstGeom prst="rect">
            <a:avLst/>
          </a:prstGeom>
          <a:noFill/>
        </p:spPr>
        <p:txBody>
          <a:bodyPr wrap="square">
            <a:spAutoFit/>
          </a:bodyPr>
          <a:lstStyle/>
          <a:p>
            <a:pPr marL="285750" indent="-285750" algn="l">
              <a:buFont typeface="Wingdings" panose="05000000000000000000" pitchFamily="2" charset="2"/>
              <a:buChar char="q"/>
            </a:pPr>
            <a:r>
              <a:rPr lang="en-US" b="1" i="0" dirty="0">
                <a:effectLst/>
                <a:latin typeface="fkGrotesk"/>
              </a:rPr>
              <a:t>Key Components of 8051 Architecture</a:t>
            </a:r>
          </a:p>
          <a:p>
            <a:pPr algn="l">
              <a:buNone/>
            </a:pPr>
            <a:endParaRPr lang="en-US" b="1" i="0" dirty="0">
              <a:effectLst/>
              <a:latin typeface="fkGrotesk"/>
            </a:endParaRPr>
          </a:p>
          <a:p>
            <a:pPr algn="l">
              <a:buNone/>
            </a:pPr>
            <a:r>
              <a:rPr lang="en-US" b="1" i="0" dirty="0">
                <a:effectLst/>
                <a:latin typeface="fkGrotesk"/>
              </a:rPr>
              <a:t>1.CPU (Central Processing Unit)</a:t>
            </a:r>
          </a:p>
          <a:p>
            <a:pPr algn="l">
              <a:buFont typeface="Arial" panose="020B0604020202020204" pitchFamily="34" charset="0"/>
              <a:buChar char="•"/>
            </a:pPr>
            <a:r>
              <a:rPr lang="en-US" b="0" i="0" dirty="0">
                <a:effectLst/>
                <a:latin typeface="fkGroteskNeue"/>
              </a:rPr>
              <a:t>The CPU is the core of the microcontroller, responsible for executing instructions stored in its memory.</a:t>
            </a:r>
          </a:p>
          <a:p>
            <a:pPr algn="l">
              <a:buFont typeface="Arial" panose="020B0604020202020204" pitchFamily="34" charset="0"/>
              <a:buChar char="•"/>
            </a:pPr>
            <a:r>
              <a:rPr lang="en-US" b="0" i="0" dirty="0">
                <a:effectLst/>
                <a:latin typeface="fkGroteskNeue"/>
              </a:rPr>
              <a:t>It contains an Arithmetic Logic Unit (ALU), registers, and control logic to perform operations such as arithmetic, logic, and data transfer.</a:t>
            </a:r>
          </a:p>
          <a:p>
            <a:pPr algn="l">
              <a:buFont typeface="Arial" panose="020B0604020202020204" pitchFamily="34" charset="0"/>
              <a:buChar char="•"/>
            </a:pPr>
            <a:r>
              <a:rPr lang="en-US" b="0" i="0" dirty="0">
                <a:effectLst/>
                <a:latin typeface="fkGroteskNeue"/>
              </a:rPr>
              <a:t>Interrupts are handled by the CPU, with five primary sources: the timers (Timer 0 and Timer 1), external hardware interrupts (INT0 and INT1), and serial communication interrupts.</a:t>
            </a:r>
          </a:p>
        </p:txBody>
      </p:sp>
      <p:sp>
        <p:nvSpPr>
          <p:cNvPr id="7" name="TextBox 6">
            <a:extLst>
              <a:ext uri="{FF2B5EF4-FFF2-40B4-BE49-F238E27FC236}">
                <a16:creationId xmlns:a16="http://schemas.microsoft.com/office/drawing/2014/main" id="{707B13B7-20F5-1207-3508-B346C467838B}"/>
              </a:ext>
            </a:extLst>
          </p:cNvPr>
          <p:cNvSpPr txBox="1"/>
          <p:nvPr/>
        </p:nvSpPr>
        <p:spPr>
          <a:xfrm>
            <a:off x="795129" y="4064891"/>
            <a:ext cx="8358809" cy="1477328"/>
          </a:xfrm>
          <a:prstGeom prst="rect">
            <a:avLst/>
          </a:prstGeom>
          <a:noFill/>
        </p:spPr>
        <p:txBody>
          <a:bodyPr wrap="square">
            <a:spAutoFit/>
          </a:bodyPr>
          <a:lstStyle/>
          <a:p>
            <a:pPr algn="l">
              <a:buNone/>
            </a:pPr>
            <a:r>
              <a:rPr lang="en-US" b="1" i="0" dirty="0">
                <a:effectLst/>
                <a:latin typeface="fkGrotesk"/>
              </a:rPr>
              <a:t>2.Memory</a:t>
            </a:r>
          </a:p>
          <a:p>
            <a:pPr algn="l">
              <a:buFont typeface="Arial" panose="020B0604020202020204" pitchFamily="34" charset="0"/>
              <a:buChar char="•"/>
            </a:pPr>
            <a:r>
              <a:rPr lang="en-US" b="0" i="0" dirty="0">
                <a:effectLst/>
                <a:latin typeface="fkGroteskNeue"/>
              </a:rPr>
              <a:t>The 8051 includes 4 KB of on-chip ROM for program storage and 128 bytes of RAM for data and register storage.</a:t>
            </a:r>
          </a:p>
          <a:p>
            <a:pPr algn="l">
              <a:buFont typeface="Arial" panose="020B0604020202020204" pitchFamily="34" charset="0"/>
              <a:buChar char="•"/>
            </a:pPr>
            <a:r>
              <a:rPr lang="en-US" b="0" i="0" dirty="0">
                <a:effectLst/>
                <a:latin typeface="fkGroteskNeue"/>
              </a:rPr>
              <a:t>Memory organization divides RAM into areas for register banks, bit-addressable memory, and general-purpose scratch pad memory</a:t>
            </a:r>
          </a:p>
        </p:txBody>
      </p:sp>
    </p:spTree>
    <p:extLst>
      <p:ext uri="{BB962C8B-B14F-4D97-AF65-F5344CB8AC3E}">
        <p14:creationId xmlns:p14="http://schemas.microsoft.com/office/powerpoint/2010/main" val="3585582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01176-1B6C-8B41-6902-6BDDA89E42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C6AA7EA-73CF-B034-B312-A6F6F2C317CB}"/>
              </a:ext>
            </a:extLst>
          </p:cNvPr>
          <p:cNvSpPr txBox="1"/>
          <p:nvPr/>
        </p:nvSpPr>
        <p:spPr>
          <a:xfrm>
            <a:off x="844826" y="76993"/>
            <a:ext cx="8458200" cy="6186309"/>
          </a:xfrm>
          <a:prstGeom prst="rect">
            <a:avLst/>
          </a:prstGeom>
          <a:noFill/>
        </p:spPr>
        <p:txBody>
          <a:bodyPr wrap="square">
            <a:spAutoFit/>
          </a:bodyPr>
          <a:lstStyle/>
          <a:p>
            <a:pPr algn="l">
              <a:buNone/>
            </a:pPr>
            <a:r>
              <a:rPr lang="en-US" b="1" i="0" dirty="0">
                <a:effectLst/>
                <a:latin typeface="fkGrotesk"/>
              </a:rPr>
              <a:t>3.Ports</a:t>
            </a:r>
          </a:p>
          <a:p>
            <a:pPr algn="l">
              <a:buFont typeface="Arial" panose="020B0604020202020204" pitchFamily="34" charset="0"/>
              <a:buChar char="•"/>
            </a:pPr>
            <a:r>
              <a:rPr lang="en-US" b="0" i="0" dirty="0">
                <a:effectLst/>
                <a:latin typeface="fkGroteskNeue"/>
              </a:rPr>
              <a:t>The microcontroller has four 8-bit ports (P0, P1, P2, P3) for interfacing with external devices, which can be configured as input or output.</a:t>
            </a:r>
          </a:p>
          <a:p>
            <a:pPr algn="l">
              <a:buFont typeface="Arial" panose="020B0604020202020204" pitchFamily="34" charset="0"/>
              <a:buChar char="•"/>
            </a:pPr>
            <a:r>
              <a:rPr lang="en-US" b="0" i="0" dirty="0">
                <a:effectLst/>
                <a:latin typeface="fkGroteskNeue"/>
              </a:rPr>
              <a:t>Port 0 and Port 2 are also used for external memory access via multiplexed address/data lines</a:t>
            </a:r>
          </a:p>
          <a:p>
            <a:pPr algn="l">
              <a:buFont typeface="Arial" panose="020B0604020202020204" pitchFamily="34" charset="0"/>
              <a:buChar char="•"/>
            </a:pPr>
            <a:endParaRPr lang="en-US" dirty="0">
              <a:latin typeface="fkGroteskNeue"/>
            </a:endParaRPr>
          </a:p>
          <a:p>
            <a:r>
              <a:rPr lang="en-US" b="1" dirty="0">
                <a:latin typeface="fkGroteskNeue"/>
              </a:rPr>
              <a:t>4.Bus System</a:t>
            </a:r>
          </a:p>
          <a:p>
            <a:r>
              <a:rPr lang="en-US" dirty="0">
                <a:latin typeface="fkGroteskNeue"/>
              </a:rPr>
              <a:t>The system bus includes an 8-bit data bus, a 16-bit address bus, and control signals, facilitating communication between the CPU and peripherals</a:t>
            </a:r>
          </a:p>
          <a:p>
            <a:pPr algn="l"/>
            <a:endParaRPr lang="en-US" b="0" i="0" dirty="0">
              <a:effectLst/>
              <a:latin typeface="fkGroteskNeue"/>
            </a:endParaRPr>
          </a:p>
          <a:p>
            <a:r>
              <a:rPr lang="en-US" b="1" dirty="0">
                <a:latin typeface="fkGroteskNeue"/>
              </a:rPr>
              <a:t>5.Oscillator</a:t>
            </a:r>
          </a:p>
          <a:p>
            <a:r>
              <a:rPr lang="en-US" dirty="0">
                <a:latin typeface="fkGroteskNeue"/>
              </a:rPr>
              <a:t>An external crystal oscillator (commonly 12 MHz) provides the clock signal for the microcontroller, controlling timers and the system clock</a:t>
            </a:r>
            <a:r>
              <a:rPr lang="en-US" dirty="0"/>
              <a:t>.</a:t>
            </a:r>
          </a:p>
          <a:p>
            <a:pPr algn="l"/>
            <a:endParaRPr lang="en-US" b="0" i="0" dirty="0">
              <a:effectLst/>
              <a:latin typeface="fkGroteskNeue"/>
            </a:endParaRPr>
          </a:p>
          <a:p>
            <a:r>
              <a:rPr lang="en-IN" b="1" dirty="0">
                <a:latin typeface="fkGroteskNeue"/>
              </a:rPr>
              <a:t>6.Other Components</a:t>
            </a:r>
          </a:p>
          <a:p>
            <a:r>
              <a:rPr lang="en-IN" dirty="0">
                <a:latin typeface="fkGroteskNeue"/>
              </a:rPr>
              <a:t>Serial communication ports support full-duplex UART communication.</a:t>
            </a:r>
          </a:p>
          <a:p>
            <a:r>
              <a:rPr lang="en-IN" dirty="0">
                <a:latin typeface="fkGroteskNeue"/>
              </a:rPr>
              <a:t>Special Function Registers (SFRs) control various operations.</a:t>
            </a:r>
          </a:p>
          <a:p>
            <a:endParaRPr lang="en-IN" dirty="0">
              <a:latin typeface="fkGroteskNeue"/>
            </a:endParaRPr>
          </a:p>
          <a:p>
            <a:r>
              <a:rPr lang="en-US" b="1" dirty="0">
                <a:latin typeface="fkGroteskNeue"/>
              </a:rPr>
              <a:t>7.Construction</a:t>
            </a:r>
          </a:p>
          <a:p>
            <a:r>
              <a:rPr lang="en-US" dirty="0">
                <a:latin typeface="fkGroteskNeue"/>
              </a:rPr>
              <a:t>The entire architecture is fabricated using CMOS technology, integrating all components into a single silicon chip for reliability and compactness</a:t>
            </a:r>
          </a:p>
          <a:p>
            <a:endParaRPr lang="en-IN" dirty="0">
              <a:latin typeface="fkGroteskNeue"/>
            </a:endParaRPr>
          </a:p>
        </p:txBody>
      </p:sp>
    </p:spTree>
    <p:extLst>
      <p:ext uri="{BB962C8B-B14F-4D97-AF65-F5344CB8AC3E}">
        <p14:creationId xmlns:p14="http://schemas.microsoft.com/office/powerpoint/2010/main" val="821682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6FD9E-4D6F-B142-AB8E-6593FDE571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18EACA-5FCB-76DC-C7F4-465DD3548FB0}"/>
              </a:ext>
            </a:extLst>
          </p:cNvPr>
          <p:cNvSpPr txBox="1"/>
          <p:nvPr/>
        </p:nvSpPr>
        <p:spPr>
          <a:xfrm>
            <a:off x="788276" y="105554"/>
            <a:ext cx="8521261" cy="2308324"/>
          </a:xfrm>
          <a:prstGeom prst="rect">
            <a:avLst/>
          </a:prstGeom>
          <a:noFill/>
        </p:spPr>
        <p:txBody>
          <a:bodyPr wrap="square">
            <a:spAutoFit/>
          </a:bodyPr>
          <a:lstStyle/>
          <a:p>
            <a:pPr marL="285750" indent="-285750">
              <a:buFont typeface="Wingdings" panose="05000000000000000000" pitchFamily="2" charset="2"/>
              <a:buChar char="q"/>
            </a:pPr>
            <a:r>
              <a:rPr lang="en-IN" b="1" dirty="0"/>
              <a:t>Types of Interrupts </a:t>
            </a:r>
          </a:p>
          <a:p>
            <a:endParaRPr lang="en-IN" dirty="0"/>
          </a:p>
          <a:p>
            <a:r>
              <a:rPr lang="en-IN" dirty="0"/>
              <a:t>The interrupts of the 8051 microcontrollers have the following sources </a:t>
            </a:r>
          </a:p>
          <a:p>
            <a:endParaRPr lang="en-IN" dirty="0"/>
          </a:p>
          <a:p>
            <a:r>
              <a:rPr lang="en-IN" dirty="0"/>
              <a:t> TF0 (Timer 0 Overflow Interrupt) </a:t>
            </a:r>
          </a:p>
          <a:p>
            <a:r>
              <a:rPr lang="en-IN" dirty="0"/>
              <a:t> TF1 (Timer 1 Overflow Interrupt) </a:t>
            </a:r>
          </a:p>
          <a:p>
            <a:r>
              <a:rPr lang="en-IN" dirty="0"/>
              <a:t> INT0 (External Hardware Interrupt) </a:t>
            </a:r>
          </a:p>
          <a:p>
            <a:r>
              <a:rPr lang="en-IN" dirty="0"/>
              <a:t> INT1 (External Hardware Interrupt)  RI/TI (Serial Communication Interrupt)</a:t>
            </a:r>
          </a:p>
        </p:txBody>
      </p:sp>
      <p:sp>
        <p:nvSpPr>
          <p:cNvPr id="5" name="TextBox 4">
            <a:extLst>
              <a:ext uri="{FF2B5EF4-FFF2-40B4-BE49-F238E27FC236}">
                <a16:creationId xmlns:a16="http://schemas.microsoft.com/office/drawing/2014/main" id="{BEB77E4B-8F80-CC4E-E634-B21C6A272CB2}"/>
              </a:ext>
            </a:extLst>
          </p:cNvPr>
          <p:cNvSpPr txBox="1"/>
          <p:nvPr/>
        </p:nvSpPr>
        <p:spPr>
          <a:xfrm>
            <a:off x="693682" y="2536495"/>
            <a:ext cx="8437179" cy="3139321"/>
          </a:xfrm>
          <a:prstGeom prst="rect">
            <a:avLst/>
          </a:prstGeom>
          <a:noFill/>
        </p:spPr>
        <p:txBody>
          <a:bodyPr wrap="square">
            <a:spAutoFit/>
          </a:bodyPr>
          <a:lstStyle/>
          <a:p>
            <a:r>
              <a:rPr lang="en-US" b="1" dirty="0"/>
              <a:t>Memory</a:t>
            </a:r>
            <a:r>
              <a:rPr lang="en-US" dirty="0"/>
              <a:t> </a:t>
            </a:r>
          </a:p>
          <a:p>
            <a:endParaRPr lang="en-US" dirty="0"/>
          </a:p>
          <a:p>
            <a:r>
              <a:rPr lang="en-US" dirty="0"/>
              <a:t>The memories of the 8051 microcontroller architecture include a program memory and data memory.</a:t>
            </a:r>
          </a:p>
          <a:p>
            <a:endParaRPr lang="en-US" dirty="0"/>
          </a:p>
          <a:p>
            <a:r>
              <a:rPr lang="en-US" dirty="0"/>
              <a:t> The instructions of the CPU are stored in the Program Memory. It is usually implemented as Read-Only Memory or ROM, where the Program written into it will be retained even when the power is down or the system is reset. </a:t>
            </a:r>
          </a:p>
          <a:p>
            <a:r>
              <a:rPr lang="en-US" dirty="0"/>
              <a:t> Data Memory in a Microcontroller is responsible for storing values of variables, temporary data, intermediate results, and other data for the proper operation of the program.</a:t>
            </a:r>
            <a:endParaRPr lang="en-IN" dirty="0"/>
          </a:p>
        </p:txBody>
      </p:sp>
    </p:spTree>
    <p:extLst>
      <p:ext uri="{BB962C8B-B14F-4D97-AF65-F5344CB8AC3E}">
        <p14:creationId xmlns:p14="http://schemas.microsoft.com/office/powerpoint/2010/main" val="5743255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D7EA9-8279-7BBB-0438-0C2B5A5E56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373976-0084-8395-2BB1-9A74B8083512}"/>
              </a:ext>
            </a:extLst>
          </p:cNvPr>
          <p:cNvSpPr txBox="1"/>
          <p:nvPr/>
        </p:nvSpPr>
        <p:spPr>
          <a:xfrm>
            <a:off x="882869" y="199974"/>
            <a:ext cx="8269013" cy="6186309"/>
          </a:xfrm>
          <a:prstGeom prst="rect">
            <a:avLst/>
          </a:prstGeom>
          <a:noFill/>
        </p:spPr>
        <p:txBody>
          <a:bodyPr wrap="square">
            <a:spAutoFit/>
          </a:bodyPr>
          <a:lstStyle/>
          <a:p>
            <a:r>
              <a:rPr lang="en-US" b="1" dirty="0"/>
              <a:t>Timer and Control Unit</a:t>
            </a:r>
          </a:p>
          <a:p>
            <a:endParaRPr lang="en-US" dirty="0"/>
          </a:p>
          <a:p>
            <a:r>
              <a:rPr lang="en-US" dirty="0"/>
              <a:t>The main function of a timer is to make a delay otherwise time gap among two events. This microcontroller includes two timers where each timer is 16-bit where the system can generate two delays concurrently to produce the suitable delay. Generally, every microcontroller uses hardware delays where a physical device can be used through the processor to generate the particular delay which is called a timer. </a:t>
            </a:r>
          </a:p>
          <a:p>
            <a:endParaRPr lang="en-US" dirty="0"/>
          </a:p>
          <a:p>
            <a:r>
              <a:rPr lang="en-US" dirty="0"/>
              <a:t>The delay can be generated through the timer based on the requirement of the processor &amp; transmits the signal to the processor whenever the particular delay gets generated. </a:t>
            </a:r>
          </a:p>
          <a:p>
            <a:endParaRPr lang="en-US" dirty="0"/>
          </a:p>
          <a:p>
            <a:r>
              <a:rPr lang="en-US" dirty="0"/>
              <a:t>By using this processor, we can also produce a delay based on the requirement of the system. However, this will guide to remain the processor active all the time because it will not perform any other task in that specific period. As a result, the existence of a timer within the microcontroller permits the processor to be free for performing other operations. </a:t>
            </a:r>
          </a:p>
          <a:p>
            <a:endParaRPr lang="en-US" dirty="0"/>
          </a:p>
          <a:p>
            <a:r>
              <a:rPr lang="en-US" dirty="0"/>
              <a:t>The microcontroller also includes a program counter, data pointer, stack &amp; stack pointer, instruction registers including latches, temporary registers &amp; buffers for the I/O ports</a:t>
            </a:r>
            <a:endParaRPr lang="en-IN" dirty="0"/>
          </a:p>
        </p:txBody>
      </p:sp>
    </p:spTree>
    <p:extLst>
      <p:ext uri="{BB962C8B-B14F-4D97-AF65-F5344CB8AC3E}">
        <p14:creationId xmlns:p14="http://schemas.microsoft.com/office/powerpoint/2010/main" val="29779384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843A-7F6D-4FB2-8B25-8BF70083B78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7CA17D0-CA49-1445-CE18-916B474028DD}"/>
              </a:ext>
            </a:extLst>
          </p:cNvPr>
          <p:cNvSpPr txBox="1"/>
          <p:nvPr/>
        </p:nvSpPr>
        <p:spPr>
          <a:xfrm>
            <a:off x="840827" y="89276"/>
            <a:ext cx="9151882" cy="6186309"/>
          </a:xfrm>
          <a:prstGeom prst="rect">
            <a:avLst/>
          </a:prstGeom>
          <a:noFill/>
        </p:spPr>
        <p:txBody>
          <a:bodyPr wrap="square">
            <a:spAutoFit/>
          </a:bodyPr>
          <a:lstStyle/>
          <a:p>
            <a:r>
              <a:rPr lang="en-US" b="1" dirty="0"/>
              <a:t>Registers</a:t>
            </a:r>
          </a:p>
          <a:p>
            <a:endParaRPr lang="en-US" dirty="0"/>
          </a:p>
          <a:p>
            <a:r>
              <a:rPr lang="en-US" dirty="0"/>
              <a:t> Registers in microcontrollers are mainly used to store data and short-term instructions which are mainly used to process addresses to fetch data. This microcontroller includes 8-bit registers which have 8-bit start from D0 to D7. Here, D0 to D7 is LSB (least significant bit) and D7 is the most significant bit (MSB).</a:t>
            </a:r>
          </a:p>
          <a:p>
            <a:r>
              <a:rPr lang="en-US" dirty="0"/>
              <a:t> </a:t>
            </a:r>
          </a:p>
          <a:p>
            <a:r>
              <a:rPr lang="en-US" dirty="0"/>
              <a:t>To make the data process better than 8-bit, then it must be separated into eight different bit parts. It includes several registers however general-purpose type registers are frequently available to programmers. There are classified into two types like General purpose &amp; Special purpose. So, most of the general-purpose registers are listed below. </a:t>
            </a:r>
          </a:p>
          <a:p>
            <a:endParaRPr lang="en-US" dirty="0"/>
          </a:p>
          <a:p>
            <a:r>
              <a:rPr lang="en-US" dirty="0"/>
              <a:t> An accumulator is mainly used to execute arithmetic &amp; logic instructions. </a:t>
            </a:r>
          </a:p>
          <a:p>
            <a:r>
              <a:rPr lang="en-US" dirty="0"/>
              <a:t> Registers like B, R0 toR7 are used for storing instruction addresses &amp; data. </a:t>
            </a:r>
          </a:p>
          <a:p>
            <a:r>
              <a:rPr lang="en-US" dirty="0"/>
              <a:t> Data Pointers or DPTR is used to allow &amp; process data in dissimilar addressing modes. This register includes DPH (high byte) &amp; a DPL (low byte) which is mainly used to hold a 16-bit address. So, it can be used as a base register within not direct jumps, lookup table instructions &amp; external data transfer. </a:t>
            </a:r>
          </a:p>
          <a:p>
            <a:r>
              <a:rPr lang="en-US" dirty="0"/>
              <a:t> Program counter or PC is a 16-bit register used to store the next instruction’s address to be performed </a:t>
            </a:r>
          </a:p>
          <a:p>
            <a:r>
              <a:rPr lang="en-US" dirty="0"/>
              <a:t> These registers are 8-bits other than program counter &amp; data pointer registers.</a:t>
            </a:r>
            <a:endParaRPr lang="en-IN" dirty="0"/>
          </a:p>
        </p:txBody>
      </p:sp>
    </p:spTree>
    <p:extLst>
      <p:ext uri="{BB962C8B-B14F-4D97-AF65-F5344CB8AC3E}">
        <p14:creationId xmlns:p14="http://schemas.microsoft.com/office/powerpoint/2010/main" val="4270825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66CDE-1685-45A5-A613-5A8A44E203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303A452-5208-CD65-1DA0-70AA8219F994}"/>
              </a:ext>
            </a:extLst>
          </p:cNvPr>
          <p:cNvSpPr txBox="1"/>
          <p:nvPr/>
        </p:nvSpPr>
        <p:spPr>
          <a:xfrm>
            <a:off x="872359" y="143186"/>
            <a:ext cx="8573813" cy="3693319"/>
          </a:xfrm>
          <a:prstGeom prst="rect">
            <a:avLst/>
          </a:prstGeom>
          <a:noFill/>
        </p:spPr>
        <p:txBody>
          <a:bodyPr wrap="square">
            <a:spAutoFit/>
          </a:bodyPr>
          <a:lstStyle/>
          <a:p>
            <a:r>
              <a:rPr lang="en-US" b="1" dirty="0"/>
              <a:t>PSW Register </a:t>
            </a:r>
          </a:p>
          <a:p>
            <a:endParaRPr lang="en-US" dirty="0"/>
          </a:p>
          <a:p>
            <a:r>
              <a:rPr lang="en-US" dirty="0"/>
              <a:t>The term PSW stands for Program status word and it is one kind of register in the microcontroller. It is also called a flag register, used to demonstrate the position of arithmetic logic instructions such as zero carry bit, carry bit, etc. PSW or flag register is an 8-bit register where 6-bits are used. This register includes 8-flags where these flags are known as conditional flags. These flags will perform instruction simply if the condition is satisfied. </a:t>
            </a:r>
          </a:p>
          <a:p>
            <a:endParaRPr lang="en-US" dirty="0"/>
          </a:p>
          <a:p>
            <a:r>
              <a:rPr lang="en-US" dirty="0"/>
              <a:t>These conditional flags are overflow, parity, auxiliary carry &amp; carry. The Program status word registers bit numbers like 3 &amp; 4 are used to alter the bank registers whereas 1 &amp; 5 are not used but they can be used by the programmer for executing a specific task.</a:t>
            </a:r>
            <a:endParaRPr lang="en-IN" dirty="0"/>
          </a:p>
        </p:txBody>
      </p:sp>
      <p:sp>
        <p:nvSpPr>
          <p:cNvPr id="4" name="TextBox 3">
            <a:extLst>
              <a:ext uri="{FF2B5EF4-FFF2-40B4-BE49-F238E27FC236}">
                <a16:creationId xmlns:a16="http://schemas.microsoft.com/office/drawing/2014/main" id="{85A40B8D-05AA-349C-A5C1-55F73755C85A}"/>
              </a:ext>
            </a:extLst>
          </p:cNvPr>
          <p:cNvSpPr txBox="1"/>
          <p:nvPr/>
        </p:nvSpPr>
        <p:spPr>
          <a:xfrm>
            <a:off x="872359" y="4028963"/>
            <a:ext cx="8510751" cy="2308324"/>
          </a:xfrm>
          <a:prstGeom prst="rect">
            <a:avLst/>
          </a:prstGeom>
          <a:noFill/>
        </p:spPr>
        <p:txBody>
          <a:bodyPr wrap="square">
            <a:spAutoFit/>
          </a:bodyPr>
          <a:lstStyle/>
          <a:p>
            <a:r>
              <a:rPr lang="en-US" b="1" dirty="0"/>
              <a:t>Register Banks </a:t>
            </a:r>
          </a:p>
          <a:p>
            <a:endParaRPr lang="en-US" dirty="0"/>
          </a:p>
          <a:p>
            <a:r>
              <a:rPr lang="en-US" dirty="0"/>
              <a:t>For stacks &amp; register banks, Ram with 32 Bytes is used and these are separated in four types of banks. So, every back includes 8-registers which range from R0 to R7. Here, R0 &amp; R7 denotes the locations of RAM like zero location and seventh location. The second bank register begins from location 8 &amp; ends 05H. The third bank register begins from 10H &amp; completed at the 17H location. The final bank can be placed among the 18H-1FH.</a:t>
            </a:r>
            <a:endParaRPr lang="en-IN" dirty="0"/>
          </a:p>
        </p:txBody>
      </p:sp>
    </p:spTree>
    <p:extLst>
      <p:ext uri="{BB962C8B-B14F-4D97-AF65-F5344CB8AC3E}">
        <p14:creationId xmlns:p14="http://schemas.microsoft.com/office/powerpoint/2010/main" val="939553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820A0-66DD-670A-65EC-809E0152388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06A131D-B864-F350-5901-3EF9ACCA2FF5}"/>
              </a:ext>
            </a:extLst>
          </p:cNvPr>
          <p:cNvSpPr txBox="1"/>
          <p:nvPr/>
        </p:nvSpPr>
        <p:spPr>
          <a:xfrm>
            <a:off x="861848" y="97416"/>
            <a:ext cx="8353096" cy="5355312"/>
          </a:xfrm>
          <a:prstGeom prst="rect">
            <a:avLst/>
          </a:prstGeom>
          <a:noFill/>
        </p:spPr>
        <p:txBody>
          <a:bodyPr wrap="square">
            <a:spAutoFit/>
          </a:bodyPr>
          <a:lstStyle/>
          <a:p>
            <a:r>
              <a:rPr lang="en-US" b="1" dirty="0"/>
              <a:t>Stack</a:t>
            </a:r>
          </a:p>
          <a:p>
            <a:endParaRPr lang="en-US" dirty="0"/>
          </a:p>
          <a:p>
            <a:r>
              <a:rPr lang="en-US" dirty="0"/>
              <a:t>The part of RAM like Stack is mainly used through the processor for data storage otherwise address momentarily. In a microprocessor, it is a very significant part because there are extremely restricted numbers of registers for storing addresses and data.</a:t>
            </a:r>
          </a:p>
          <a:p>
            <a:endParaRPr lang="en-US" dirty="0"/>
          </a:p>
          <a:p>
            <a:r>
              <a:rPr lang="en-US" dirty="0"/>
              <a:t>In the 8051 microcontrollers, the stack is 8-bit wide and it can hold data from 00 – FFH. The stack pointer can be used through the CPU to allow the stack. This microcontroller includes an 8-bit stack pointer that means it can allow values from 00H to FFH. Once it is activated, then the stack pointer includes the 07 value. </a:t>
            </a:r>
          </a:p>
          <a:p>
            <a:endParaRPr lang="en-US" dirty="0"/>
          </a:p>
          <a:p>
            <a:r>
              <a:rPr lang="en-US" b="1" dirty="0"/>
              <a:t>Organization of Memory </a:t>
            </a:r>
          </a:p>
          <a:p>
            <a:endParaRPr lang="en-US" dirty="0"/>
          </a:p>
          <a:p>
            <a:r>
              <a:rPr lang="en-US" dirty="0"/>
              <a:t>The microcontroller has complex memory organization and it includes a separate address bus that is used for program memory, external RAM &amp; data memory. It depends on Harvard architecture that is developed through Harvard in the year 1944.</a:t>
            </a:r>
            <a:endParaRPr lang="en-IN" dirty="0"/>
          </a:p>
        </p:txBody>
      </p:sp>
    </p:spTree>
    <p:extLst>
      <p:ext uri="{BB962C8B-B14F-4D97-AF65-F5344CB8AC3E}">
        <p14:creationId xmlns:p14="http://schemas.microsoft.com/office/powerpoint/2010/main" val="3908168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E4B3E-0381-767D-BB26-95581C4245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1C8A32-5157-70C9-30AB-E391AEEA6FE7}"/>
              </a:ext>
            </a:extLst>
          </p:cNvPr>
          <p:cNvPicPr>
            <a:picLocks noChangeAspect="1"/>
          </p:cNvPicPr>
          <p:nvPr/>
        </p:nvPicPr>
        <p:blipFill>
          <a:blip r:embed="rId2"/>
          <a:srcRect l="2555" t="7435" r="2153" b="2778"/>
          <a:stretch>
            <a:fillRect/>
          </a:stretch>
        </p:blipFill>
        <p:spPr>
          <a:xfrm>
            <a:off x="977462" y="136634"/>
            <a:ext cx="8303172" cy="463506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6681DA76-93B9-EB02-6124-712FB6FBAE85}"/>
              </a:ext>
            </a:extLst>
          </p:cNvPr>
          <p:cNvSpPr txBox="1"/>
          <p:nvPr/>
        </p:nvSpPr>
        <p:spPr>
          <a:xfrm>
            <a:off x="822436" y="5243927"/>
            <a:ext cx="8303172" cy="369332"/>
          </a:xfrm>
          <a:prstGeom prst="rect">
            <a:avLst/>
          </a:prstGeom>
          <a:noFill/>
        </p:spPr>
        <p:txBody>
          <a:bodyPr wrap="square">
            <a:spAutoFit/>
          </a:bodyPr>
          <a:lstStyle/>
          <a:p>
            <a:r>
              <a:rPr lang="en-IN" b="1" dirty="0"/>
              <a:t>Internal Ram Organization</a:t>
            </a:r>
          </a:p>
        </p:txBody>
      </p:sp>
    </p:spTree>
    <p:extLst>
      <p:ext uri="{BB962C8B-B14F-4D97-AF65-F5344CB8AC3E}">
        <p14:creationId xmlns:p14="http://schemas.microsoft.com/office/powerpoint/2010/main" val="3396587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500EC-7AE5-B210-8530-0DADF8BD107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FB64820-A442-1B7E-2D03-AE31D4DC9A57}"/>
              </a:ext>
            </a:extLst>
          </p:cNvPr>
          <p:cNvPicPr>
            <a:picLocks noChangeAspect="1"/>
          </p:cNvPicPr>
          <p:nvPr/>
        </p:nvPicPr>
        <p:blipFill>
          <a:blip r:embed="rId2"/>
          <a:stretch>
            <a:fillRect/>
          </a:stretch>
        </p:blipFill>
        <p:spPr>
          <a:xfrm>
            <a:off x="840829" y="251263"/>
            <a:ext cx="8250620" cy="5406254"/>
          </a:xfrm>
          <a:prstGeom prst="rect">
            <a:avLst/>
          </a:prstGeom>
        </p:spPr>
      </p:pic>
    </p:spTree>
    <p:extLst>
      <p:ext uri="{BB962C8B-B14F-4D97-AF65-F5344CB8AC3E}">
        <p14:creationId xmlns:p14="http://schemas.microsoft.com/office/powerpoint/2010/main" val="1686917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2C6C-1973-A08F-DCAA-314EC72A86D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D55B60E-8E03-D5BB-721D-70E8F1EE0D7A}"/>
              </a:ext>
            </a:extLst>
          </p:cNvPr>
          <p:cNvSpPr txBox="1"/>
          <p:nvPr/>
        </p:nvSpPr>
        <p:spPr>
          <a:xfrm>
            <a:off x="809297" y="164207"/>
            <a:ext cx="8363606" cy="5909310"/>
          </a:xfrm>
          <a:prstGeom prst="rect">
            <a:avLst/>
          </a:prstGeom>
          <a:noFill/>
        </p:spPr>
        <p:txBody>
          <a:bodyPr wrap="square">
            <a:spAutoFit/>
          </a:bodyPr>
          <a:lstStyle/>
          <a:p>
            <a:r>
              <a:rPr lang="en-US" b="1" u="sng" dirty="0"/>
              <a:t>Features</a:t>
            </a:r>
            <a:r>
              <a:rPr lang="en-US" dirty="0"/>
              <a:t> </a:t>
            </a:r>
          </a:p>
          <a:p>
            <a:endParaRPr lang="en-US" dirty="0"/>
          </a:p>
          <a:p>
            <a:r>
              <a:rPr lang="en-US" dirty="0"/>
              <a:t>The main features of the 8051 microcontroller architecture include the following. </a:t>
            </a:r>
          </a:p>
          <a:p>
            <a:endParaRPr lang="en-US" dirty="0"/>
          </a:p>
          <a:p>
            <a:r>
              <a:rPr lang="en-US" dirty="0"/>
              <a:t> 8-bit CPU through two Registers A &amp; B. </a:t>
            </a:r>
          </a:p>
          <a:p>
            <a:r>
              <a:rPr lang="en-US" dirty="0"/>
              <a:t> 8K Bytes – Internal ROM and it is a flash memory that supports while programming the system. </a:t>
            </a:r>
          </a:p>
          <a:p>
            <a:r>
              <a:rPr lang="en-US" dirty="0"/>
              <a:t> 256 Bytes – Internal RAM where the first RAM with 128 Bytes from 00H to 7FH is once more separated into four banks through 8 registers in every bank, addressable registers -16 bit &amp; general-purpose registers – 80. </a:t>
            </a:r>
          </a:p>
          <a:p>
            <a:r>
              <a:rPr lang="en-US" dirty="0"/>
              <a:t> The remaining 128 bytes of the RAM from 80H to FFH include Special Function Registers (SFRs). These registers control various peripherals such as Serial Port, Timers, all I/O Ports, etc. </a:t>
            </a:r>
          </a:p>
          <a:p>
            <a:r>
              <a:rPr lang="en-US" dirty="0"/>
              <a:t> Interrupts like External-2 &amp; Internal-3  Oscillator &amp; CLK Circuit. </a:t>
            </a:r>
          </a:p>
          <a:p>
            <a:r>
              <a:rPr lang="en-US" dirty="0"/>
              <a:t> Control Registers like PCON, SCON, TMOD, TCON, IE, and IP</a:t>
            </a:r>
          </a:p>
          <a:p>
            <a:r>
              <a:rPr lang="en-IN" dirty="0"/>
              <a:t> 16-bit Timers or Counters -2 like T0 &amp; T1. </a:t>
            </a:r>
          </a:p>
          <a:p>
            <a:r>
              <a:rPr lang="en-IN" dirty="0"/>
              <a:t> Program Counter – 16 bit &amp; DPRT (Data Pointer). </a:t>
            </a:r>
          </a:p>
          <a:p>
            <a:r>
              <a:rPr lang="en-IN" dirty="0"/>
              <a:t> I/O Pins – 32 which are arranged like four ports such as P0, P1, P2 &amp; P3.  Stack Pointer (SP) – 8bit &amp; PSW (Processor Status Word). </a:t>
            </a:r>
          </a:p>
          <a:p>
            <a:r>
              <a:rPr lang="en-IN" dirty="0"/>
              <a:t> Serial Data Tx &amp; Rx for Full-Duplex Operation</a:t>
            </a:r>
          </a:p>
        </p:txBody>
      </p:sp>
    </p:spTree>
    <p:extLst>
      <p:ext uri="{BB962C8B-B14F-4D97-AF65-F5344CB8AC3E}">
        <p14:creationId xmlns:p14="http://schemas.microsoft.com/office/powerpoint/2010/main" val="185733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99B58-933E-9624-FCE9-2880CF5DAF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F179EF6-F38C-9DBD-4AE2-288A262CC77E}"/>
              </a:ext>
            </a:extLst>
          </p:cNvPr>
          <p:cNvPicPr>
            <a:picLocks noChangeAspect="1"/>
          </p:cNvPicPr>
          <p:nvPr/>
        </p:nvPicPr>
        <p:blipFill>
          <a:blip r:embed="rId2"/>
          <a:stretch>
            <a:fillRect/>
          </a:stretch>
        </p:blipFill>
        <p:spPr>
          <a:xfrm>
            <a:off x="1230367" y="218418"/>
            <a:ext cx="7419647" cy="5756623"/>
          </a:xfrm>
          <a:prstGeom prst="rect">
            <a:avLst/>
          </a:prstGeom>
        </p:spPr>
      </p:pic>
    </p:spTree>
    <p:extLst>
      <p:ext uri="{BB962C8B-B14F-4D97-AF65-F5344CB8AC3E}">
        <p14:creationId xmlns:p14="http://schemas.microsoft.com/office/powerpoint/2010/main" val="39092506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0EA27-DD57-197B-825F-6B8DA0496F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2E05823-C079-7984-C52F-587100F89E51}"/>
              </a:ext>
            </a:extLst>
          </p:cNvPr>
          <p:cNvSpPr txBox="1"/>
          <p:nvPr/>
        </p:nvSpPr>
        <p:spPr>
          <a:xfrm>
            <a:off x="696115" y="111872"/>
            <a:ext cx="9234963" cy="523220"/>
          </a:xfrm>
          <a:prstGeom prst="rect">
            <a:avLst/>
          </a:prstGeom>
          <a:noFill/>
        </p:spPr>
        <p:txBody>
          <a:bodyPr wrap="square">
            <a:spAutoFit/>
          </a:bodyPr>
          <a:lstStyle/>
          <a:p>
            <a:r>
              <a:rPr lang="en-US" sz="2800" b="1" dirty="0"/>
              <a:t>1.4 Pin configuration and signal description of 8051 </a:t>
            </a:r>
            <a:endParaRPr lang="en-IN" sz="2800" b="1" dirty="0"/>
          </a:p>
        </p:txBody>
      </p:sp>
      <p:pic>
        <p:nvPicPr>
          <p:cNvPr id="4098" name="Picture 2" descr="Microcontrollers - 8051 Pin Description">
            <a:extLst>
              <a:ext uri="{FF2B5EF4-FFF2-40B4-BE49-F238E27FC236}">
                <a16:creationId xmlns:a16="http://schemas.microsoft.com/office/drawing/2014/main" id="{2A234C0E-324C-1681-36A0-5BE6FE7472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574" y="809625"/>
            <a:ext cx="4556471" cy="5809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8922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1A603-BFE9-E45F-C974-686240F639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E86FCD-1236-0F3F-AD16-596ADE780714}"/>
              </a:ext>
            </a:extLst>
          </p:cNvPr>
          <p:cNvSpPr txBox="1"/>
          <p:nvPr/>
        </p:nvSpPr>
        <p:spPr>
          <a:xfrm>
            <a:off x="874644" y="100835"/>
            <a:ext cx="8299174" cy="6463308"/>
          </a:xfrm>
          <a:prstGeom prst="rect">
            <a:avLst/>
          </a:prstGeom>
          <a:noFill/>
        </p:spPr>
        <p:txBody>
          <a:bodyPr wrap="square">
            <a:spAutoFit/>
          </a:bodyPr>
          <a:lstStyle/>
          <a:p>
            <a:r>
              <a:rPr lang="en-US" b="1" dirty="0"/>
              <a:t>Pins 1 to 8 </a:t>
            </a:r>
            <a:r>
              <a:rPr lang="en-US" dirty="0"/>
              <a:t>− These pins are known as Port 1. This port doesn’t serve any other functions. It is internally pulled up, bi-directional I/O port. </a:t>
            </a:r>
          </a:p>
          <a:p>
            <a:endParaRPr lang="en-US" dirty="0"/>
          </a:p>
          <a:p>
            <a:r>
              <a:rPr lang="en-US" b="1" dirty="0"/>
              <a:t>Pin 9 </a:t>
            </a:r>
            <a:r>
              <a:rPr lang="en-US" dirty="0"/>
              <a:t>− It is a RESET pin, which is used to reset the microcontroller to its initial values. </a:t>
            </a:r>
          </a:p>
          <a:p>
            <a:endParaRPr lang="en-US" dirty="0"/>
          </a:p>
          <a:p>
            <a:r>
              <a:rPr lang="en-US" b="1" dirty="0"/>
              <a:t>Pins 10 to 17 </a:t>
            </a:r>
            <a:r>
              <a:rPr lang="en-US" dirty="0"/>
              <a:t>− These pins are known as Port 3. This port serves some functions like interrupts, timer input, control signals, serial communication signals RxD and TxD, etc. </a:t>
            </a:r>
          </a:p>
          <a:p>
            <a:endParaRPr lang="en-US" dirty="0"/>
          </a:p>
          <a:p>
            <a:r>
              <a:rPr lang="en-US" b="1" dirty="0"/>
              <a:t>Pins 18 and 19 </a:t>
            </a:r>
            <a:r>
              <a:rPr lang="en-US" dirty="0"/>
              <a:t>− These pins are used for interfacing an external crystal to get the system clock. </a:t>
            </a:r>
          </a:p>
          <a:p>
            <a:endParaRPr lang="en-US" dirty="0"/>
          </a:p>
          <a:p>
            <a:r>
              <a:rPr lang="en-US" b="1" dirty="0"/>
              <a:t>Pin 20 </a:t>
            </a:r>
            <a:r>
              <a:rPr lang="en-US" dirty="0"/>
              <a:t>− This pin provides the power supply to the circuit. </a:t>
            </a:r>
          </a:p>
          <a:p>
            <a:endParaRPr lang="en-US" dirty="0"/>
          </a:p>
          <a:p>
            <a:r>
              <a:rPr lang="en-US" b="1" dirty="0"/>
              <a:t>Pins 21 to 28 </a:t>
            </a:r>
            <a:r>
              <a:rPr lang="en-US" dirty="0"/>
              <a:t>− These pins are known as Port 2. It serves as I/O port. Higher order address bus signals are also multiplexed using this port.</a:t>
            </a:r>
          </a:p>
          <a:p>
            <a:r>
              <a:rPr lang="en-US" dirty="0"/>
              <a:t> </a:t>
            </a:r>
          </a:p>
          <a:p>
            <a:r>
              <a:rPr lang="en-US" b="1" dirty="0"/>
              <a:t>Pin 29 </a:t>
            </a:r>
            <a:r>
              <a:rPr lang="en-US" dirty="0"/>
              <a:t>− This is PSEN pin which stands for Program Store Enable. It is used to read a signal from the external program memory</a:t>
            </a:r>
          </a:p>
          <a:p>
            <a:endParaRPr lang="en-US" dirty="0"/>
          </a:p>
          <a:p>
            <a:r>
              <a:rPr lang="en-US" b="1" dirty="0"/>
              <a:t>Pin 30 </a:t>
            </a:r>
            <a:r>
              <a:rPr lang="en-US" dirty="0"/>
              <a:t>− This is EA pin which stands for External Access input. It is used to enable/disable the external memory interfacing.</a:t>
            </a:r>
            <a:endParaRPr lang="en-IN" dirty="0"/>
          </a:p>
        </p:txBody>
      </p:sp>
    </p:spTree>
    <p:extLst>
      <p:ext uri="{BB962C8B-B14F-4D97-AF65-F5344CB8AC3E}">
        <p14:creationId xmlns:p14="http://schemas.microsoft.com/office/powerpoint/2010/main" val="1657837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BC86D-BEC8-6930-5289-160CA3C285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493FA16-34F5-6DAF-74F3-7366F406320D}"/>
              </a:ext>
            </a:extLst>
          </p:cNvPr>
          <p:cNvSpPr txBox="1"/>
          <p:nvPr/>
        </p:nvSpPr>
        <p:spPr>
          <a:xfrm>
            <a:off x="815008" y="106811"/>
            <a:ext cx="8458200" cy="2031325"/>
          </a:xfrm>
          <a:prstGeom prst="rect">
            <a:avLst/>
          </a:prstGeom>
          <a:noFill/>
        </p:spPr>
        <p:txBody>
          <a:bodyPr wrap="square">
            <a:spAutoFit/>
          </a:bodyPr>
          <a:lstStyle/>
          <a:p>
            <a:r>
              <a:rPr lang="en-US" b="1" dirty="0"/>
              <a:t>Pin 31 </a:t>
            </a:r>
            <a:r>
              <a:rPr lang="en-US" dirty="0"/>
              <a:t>− This is ALE pin which stands for Address Latch Enable. It is used to demultiplex the address-data signal of port. </a:t>
            </a:r>
          </a:p>
          <a:p>
            <a:endParaRPr lang="en-US" dirty="0"/>
          </a:p>
          <a:p>
            <a:r>
              <a:rPr lang="en-US" b="1" dirty="0"/>
              <a:t>Pins 32 to 39 </a:t>
            </a:r>
            <a:r>
              <a:rPr lang="en-US" dirty="0"/>
              <a:t>− These pins are known as Port 0. It serves as I/O port. Lower order address and data bus signals are multiplexed using this port.</a:t>
            </a:r>
          </a:p>
          <a:p>
            <a:r>
              <a:rPr lang="en-US" dirty="0"/>
              <a:t> </a:t>
            </a:r>
          </a:p>
          <a:p>
            <a:r>
              <a:rPr lang="en-US" b="1" dirty="0"/>
              <a:t>Pin 40 </a:t>
            </a:r>
            <a:r>
              <a:rPr lang="en-US" dirty="0"/>
              <a:t>− This pin is used to provide power supply to the circuit.</a:t>
            </a:r>
            <a:endParaRPr lang="en-IN" dirty="0"/>
          </a:p>
        </p:txBody>
      </p:sp>
    </p:spTree>
    <p:extLst>
      <p:ext uri="{BB962C8B-B14F-4D97-AF65-F5344CB8AC3E}">
        <p14:creationId xmlns:p14="http://schemas.microsoft.com/office/powerpoint/2010/main" val="25042095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97F71-DF49-0F81-BF07-89D3F484BAF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D9F507-B732-5A8E-2F45-8E8A9F86048D}"/>
              </a:ext>
            </a:extLst>
          </p:cNvPr>
          <p:cNvSpPr txBox="1"/>
          <p:nvPr/>
        </p:nvSpPr>
        <p:spPr>
          <a:xfrm>
            <a:off x="944216" y="138356"/>
            <a:ext cx="8010939" cy="369332"/>
          </a:xfrm>
          <a:prstGeom prst="rect">
            <a:avLst/>
          </a:prstGeom>
          <a:noFill/>
        </p:spPr>
        <p:txBody>
          <a:bodyPr wrap="square">
            <a:spAutoFit/>
          </a:bodyPr>
          <a:lstStyle/>
          <a:p>
            <a:r>
              <a:rPr lang="en-IN" b="1" dirty="0"/>
              <a:t>Special Function Registers</a:t>
            </a:r>
          </a:p>
        </p:txBody>
      </p:sp>
      <p:sp>
        <p:nvSpPr>
          <p:cNvPr id="6" name="TextBox 5">
            <a:extLst>
              <a:ext uri="{FF2B5EF4-FFF2-40B4-BE49-F238E27FC236}">
                <a16:creationId xmlns:a16="http://schemas.microsoft.com/office/drawing/2014/main" id="{CE47CA2A-5B6A-864C-FFB1-30ACFA7A6C59}"/>
              </a:ext>
            </a:extLst>
          </p:cNvPr>
          <p:cNvSpPr txBox="1"/>
          <p:nvPr/>
        </p:nvSpPr>
        <p:spPr>
          <a:xfrm>
            <a:off x="944214" y="6073313"/>
            <a:ext cx="8448261" cy="646331"/>
          </a:xfrm>
          <a:prstGeom prst="rect">
            <a:avLst/>
          </a:prstGeom>
          <a:noFill/>
        </p:spPr>
        <p:txBody>
          <a:bodyPr wrap="square">
            <a:spAutoFit/>
          </a:bodyPr>
          <a:lstStyle/>
          <a:p>
            <a:r>
              <a:rPr lang="en-US" b="0" i="0" dirty="0">
                <a:effectLst/>
                <a:latin typeface="fkGroteskNeue"/>
              </a:rPr>
              <a:t>Special Function Registers are critical for programming the 8051 as they allow direct manipulation of hardware and system functions</a:t>
            </a:r>
            <a:endParaRPr lang="en-IN" dirty="0"/>
          </a:p>
        </p:txBody>
      </p:sp>
      <p:pic>
        <p:nvPicPr>
          <p:cNvPr id="5" name="Picture 4">
            <a:extLst>
              <a:ext uri="{FF2B5EF4-FFF2-40B4-BE49-F238E27FC236}">
                <a16:creationId xmlns:a16="http://schemas.microsoft.com/office/drawing/2014/main" id="{AAECEB14-4DD9-7A1B-27F8-D3D0C04D3D99}"/>
              </a:ext>
            </a:extLst>
          </p:cNvPr>
          <p:cNvPicPr>
            <a:picLocks noChangeAspect="1"/>
          </p:cNvPicPr>
          <p:nvPr/>
        </p:nvPicPr>
        <p:blipFill>
          <a:blip r:embed="rId2"/>
          <a:srcRect l="8720" t="6263" r="9775"/>
          <a:stretch>
            <a:fillRect/>
          </a:stretch>
        </p:blipFill>
        <p:spPr>
          <a:xfrm>
            <a:off x="944215" y="507688"/>
            <a:ext cx="8448260" cy="5288626"/>
          </a:xfrm>
          <a:prstGeom prst="rect">
            <a:avLst/>
          </a:prstGeom>
        </p:spPr>
      </p:pic>
    </p:spTree>
    <p:extLst>
      <p:ext uri="{BB962C8B-B14F-4D97-AF65-F5344CB8AC3E}">
        <p14:creationId xmlns:p14="http://schemas.microsoft.com/office/powerpoint/2010/main" val="7118907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9EFF3-9598-A431-D847-8003D4941E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1804F3F-08E4-FABA-33A1-754B1C611A2F}"/>
              </a:ext>
            </a:extLst>
          </p:cNvPr>
          <p:cNvSpPr txBox="1"/>
          <p:nvPr/>
        </p:nvSpPr>
        <p:spPr>
          <a:xfrm>
            <a:off x="893379" y="164887"/>
            <a:ext cx="8563303" cy="2308324"/>
          </a:xfrm>
          <a:prstGeom prst="rect">
            <a:avLst/>
          </a:prstGeom>
          <a:noFill/>
        </p:spPr>
        <p:txBody>
          <a:bodyPr wrap="square">
            <a:spAutoFit/>
          </a:bodyPr>
          <a:lstStyle/>
          <a:p>
            <a:r>
              <a:rPr lang="en-US" b="1" u="sng" dirty="0"/>
              <a:t>Port 3 Alternate Function </a:t>
            </a:r>
          </a:p>
          <a:p>
            <a:endParaRPr lang="en-US" dirty="0"/>
          </a:p>
          <a:p>
            <a:r>
              <a:rPr lang="en-US" dirty="0"/>
              <a:t> All port pins can be used as general I/O, but they also have an alternative function. In order to use these alternative functions, a logic one (1) must be applied to appropriate bit of the P3 register. </a:t>
            </a:r>
          </a:p>
          <a:p>
            <a:r>
              <a:rPr lang="en-US" dirty="0"/>
              <a:t> In terms of hardware, this port is similar to P0, with the difference that its pins have a pull-up resistor built-in. </a:t>
            </a:r>
          </a:p>
          <a:p>
            <a:r>
              <a:rPr lang="en-US" dirty="0"/>
              <a:t> The alternate function of each pin of port 3 is as follows.</a:t>
            </a:r>
            <a:endParaRPr lang="en-IN" dirty="0"/>
          </a:p>
        </p:txBody>
      </p:sp>
      <p:pic>
        <p:nvPicPr>
          <p:cNvPr id="5" name="Picture 4">
            <a:extLst>
              <a:ext uri="{FF2B5EF4-FFF2-40B4-BE49-F238E27FC236}">
                <a16:creationId xmlns:a16="http://schemas.microsoft.com/office/drawing/2014/main" id="{76927F2F-494F-3CE2-D899-003BACBD1124}"/>
              </a:ext>
            </a:extLst>
          </p:cNvPr>
          <p:cNvPicPr>
            <a:picLocks noChangeAspect="1"/>
          </p:cNvPicPr>
          <p:nvPr/>
        </p:nvPicPr>
        <p:blipFill>
          <a:blip r:embed="rId2"/>
          <a:srcRect l="5087" t="5466" r="3539" b="4865"/>
          <a:stretch>
            <a:fillRect/>
          </a:stretch>
        </p:blipFill>
        <p:spPr>
          <a:xfrm>
            <a:off x="1135118" y="2606566"/>
            <a:ext cx="6989379" cy="3682257"/>
          </a:xfrm>
          <a:prstGeom prst="rect">
            <a:avLst/>
          </a:prstGeom>
        </p:spPr>
      </p:pic>
    </p:spTree>
    <p:extLst>
      <p:ext uri="{BB962C8B-B14F-4D97-AF65-F5344CB8AC3E}">
        <p14:creationId xmlns:p14="http://schemas.microsoft.com/office/powerpoint/2010/main" val="2687746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B23C7-D89E-6744-C575-9EE9849C69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3DC30D4-101A-CFFD-A9D9-9E56F850280F}"/>
              </a:ext>
            </a:extLst>
          </p:cNvPr>
          <p:cNvSpPr txBox="1"/>
          <p:nvPr/>
        </p:nvSpPr>
        <p:spPr>
          <a:xfrm>
            <a:off x="809297" y="182177"/>
            <a:ext cx="8594834" cy="5355312"/>
          </a:xfrm>
          <a:prstGeom prst="rect">
            <a:avLst/>
          </a:prstGeom>
          <a:noFill/>
        </p:spPr>
        <p:txBody>
          <a:bodyPr wrap="square">
            <a:spAutoFit/>
          </a:bodyPr>
          <a:lstStyle/>
          <a:p>
            <a:r>
              <a:rPr lang="en-IN" b="1" dirty="0"/>
              <a:t>Types of 8051 Microcontroller Interrupts </a:t>
            </a:r>
          </a:p>
          <a:p>
            <a:endParaRPr lang="en-IN" dirty="0"/>
          </a:p>
          <a:p>
            <a:r>
              <a:rPr lang="en-IN" dirty="0"/>
              <a:t>8051 Microcontroller suffers five different types of interrupts that hampers the main program execution. These five types of interrupts are:</a:t>
            </a:r>
          </a:p>
          <a:p>
            <a:endParaRPr lang="en-IN" dirty="0"/>
          </a:p>
          <a:p>
            <a:r>
              <a:rPr lang="en-IN" dirty="0"/>
              <a:t> Timer 0 overflow interrupt- TF0 </a:t>
            </a:r>
          </a:p>
          <a:p>
            <a:endParaRPr lang="en-IN" dirty="0"/>
          </a:p>
          <a:p>
            <a:r>
              <a:rPr lang="en-IN" dirty="0"/>
              <a:t> Timer 1 overflow interrupt-TF1 </a:t>
            </a:r>
          </a:p>
          <a:p>
            <a:endParaRPr lang="en-IN" dirty="0"/>
          </a:p>
          <a:p>
            <a:r>
              <a:rPr lang="en-IN" dirty="0"/>
              <a:t> External hardware interrupt- INT0 </a:t>
            </a:r>
          </a:p>
          <a:p>
            <a:endParaRPr lang="en-IN" dirty="0"/>
          </a:p>
          <a:p>
            <a:r>
              <a:rPr lang="en-IN" dirty="0"/>
              <a:t> External hardware interrupt- INT1 </a:t>
            </a:r>
          </a:p>
          <a:p>
            <a:endParaRPr lang="en-IN" dirty="0"/>
          </a:p>
          <a:p>
            <a:r>
              <a:rPr lang="en-IN" dirty="0"/>
              <a:t> Serial communication interrupt- RI/TI </a:t>
            </a:r>
          </a:p>
          <a:p>
            <a:endParaRPr lang="en-IN" dirty="0"/>
          </a:p>
          <a:p>
            <a:r>
              <a:rPr lang="en-IN" dirty="0"/>
              <a:t>External Hardware Interrupt- (INT0 &amp; INT1) </a:t>
            </a:r>
          </a:p>
          <a:p>
            <a:endParaRPr lang="en-IN" dirty="0"/>
          </a:p>
          <a:p>
            <a:r>
              <a:rPr lang="en-IN" dirty="0"/>
              <a:t>The 8051 microcontrollers are able to respond to external events through its external interrupts, INT0 and INT1.</a:t>
            </a:r>
          </a:p>
        </p:txBody>
      </p:sp>
    </p:spTree>
    <p:extLst>
      <p:ext uri="{BB962C8B-B14F-4D97-AF65-F5344CB8AC3E}">
        <p14:creationId xmlns:p14="http://schemas.microsoft.com/office/powerpoint/2010/main" val="1451077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9A58A-B010-BA06-500C-5BAD4CAD091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8420F3-49F8-7243-281B-AF6542D59BEC}"/>
              </a:ext>
            </a:extLst>
          </p:cNvPr>
          <p:cNvSpPr txBox="1"/>
          <p:nvPr/>
        </p:nvSpPr>
        <p:spPr>
          <a:xfrm>
            <a:off x="819807" y="169803"/>
            <a:ext cx="8563303" cy="3970318"/>
          </a:xfrm>
          <a:prstGeom prst="rect">
            <a:avLst/>
          </a:prstGeom>
          <a:noFill/>
        </p:spPr>
        <p:txBody>
          <a:bodyPr wrap="square">
            <a:spAutoFit/>
          </a:bodyPr>
          <a:lstStyle/>
          <a:p>
            <a:r>
              <a:rPr lang="en-US" b="1" dirty="0"/>
              <a:t>External Interrupt 0 (INT0) </a:t>
            </a:r>
          </a:p>
          <a:p>
            <a:endParaRPr lang="en-US" dirty="0"/>
          </a:p>
          <a:p>
            <a:r>
              <a:rPr lang="en-US" dirty="0"/>
              <a:t> It is connected to the 8051’s pin PORT3.2. </a:t>
            </a:r>
          </a:p>
          <a:p>
            <a:endParaRPr lang="en-US" dirty="0"/>
          </a:p>
          <a:p>
            <a:r>
              <a:rPr lang="en-US" dirty="0"/>
              <a:t> An interrupt request is issued when this pin transitions from low to high in response to an external signal.</a:t>
            </a:r>
          </a:p>
          <a:p>
            <a:r>
              <a:rPr lang="en-US" dirty="0"/>
              <a:t> </a:t>
            </a:r>
          </a:p>
          <a:p>
            <a:r>
              <a:rPr lang="en-US" dirty="0"/>
              <a:t> It is possible to program the microcontroller to carry out a particular Interrupt Service Routine (ISR) in response to this interrupt.</a:t>
            </a:r>
          </a:p>
          <a:p>
            <a:r>
              <a:rPr lang="en-US" dirty="0"/>
              <a:t> </a:t>
            </a:r>
          </a:p>
          <a:p>
            <a:r>
              <a:rPr lang="en-US" dirty="0"/>
              <a:t> Set the IE (Interrupt Enable) bit for INT0 in the TCON register and configure the IT0 (Interrupt Type 0) bit in the TCON register corresponding to the desired triggering condition (edge or level-triggered) in order to enable and configure INT0. </a:t>
            </a:r>
            <a:endParaRPr lang="en-IN" dirty="0"/>
          </a:p>
        </p:txBody>
      </p:sp>
    </p:spTree>
    <p:extLst>
      <p:ext uri="{BB962C8B-B14F-4D97-AF65-F5344CB8AC3E}">
        <p14:creationId xmlns:p14="http://schemas.microsoft.com/office/powerpoint/2010/main" val="3883609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37DEF-B622-5562-4967-DB6E8535A73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3994860-1161-D1BC-A370-69DB77E27158}"/>
              </a:ext>
            </a:extLst>
          </p:cNvPr>
          <p:cNvSpPr txBox="1"/>
          <p:nvPr/>
        </p:nvSpPr>
        <p:spPr>
          <a:xfrm>
            <a:off x="851338" y="152511"/>
            <a:ext cx="8395137" cy="3139321"/>
          </a:xfrm>
          <a:prstGeom prst="rect">
            <a:avLst/>
          </a:prstGeom>
          <a:noFill/>
        </p:spPr>
        <p:txBody>
          <a:bodyPr wrap="square">
            <a:spAutoFit/>
          </a:bodyPr>
          <a:lstStyle/>
          <a:p>
            <a:r>
              <a:rPr lang="en-US" b="1" dirty="0"/>
              <a:t>External Interrupt 1 (INT1) </a:t>
            </a:r>
          </a:p>
          <a:p>
            <a:endParaRPr lang="en-US" dirty="0"/>
          </a:p>
          <a:p>
            <a:r>
              <a:rPr lang="en-US" dirty="0"/>
              <a:t> It is connected to the 8051’s pin PORT3. </a:t>
            </a:r>
          </a:p>
          <a:p>
            <a:endParaRPr lang="en-US" dirty="0"/>
          </a:p>
          <a:p>
            <a:r>
              <a:rPr lang="en-US" dirty="0"/>
              <a:t> When that particular pin encounters a low-to-high transitions, INT1, like INT0, creates an interrupt request.</a:t>
            </a:r>
          </a:p>
          <a:p>
            <a:r>
              <a:rPr lang="en-US" dirty="0"/>
              <a:t> </a:t>
            </a:r>
          </a:p>
          <a:p>
            <a:r>
              <a:rPr lang="en-US" dirty="0"/>
              <a:t> By configuring the IT1 (Interrupt Type 1) bit in the TCON register and setting the IE bit for INT1 in the TCON register, one can enable and configure INT1.</a:t>
            </a:r>
          </a:p>
          <a:p>
            <a:r>
              <a:rPr lang="en-US" dirty="0"/>
              <a:t> </a:t>
            </a:r>
          </a:p>
          <a:p>
            <a:r>
              <a:rPr lang="en-US" dirty="0"/>
              <a:t> A specific ISR can be executed by the microcontroller in response to INT1</a:t>
            </a:r>
            <a:endParaRPr lang="en-IN" dirty="0"/>
          </a:p>
        </p:txBody>
      </p:sp>
      <p:sp>
        <p:nvSpPr>
          <p:cNvPr id="5" name="TextBox 4">
            <a:extLst>
              <a:ext uri="{FF2B5EF4-FFF2-40B4-BE49-F238E27FC236}">
                <a16:creationId xmlns:a16="http://schemas.microsoft.com/office/drawing/2014/main" id="{6553B6EE-F31C-7FCD-964D-98745F333D49}"/>
              </a:ext>
            </a:extLst>
          </p:cNvPr>
          <p:cNvSpPr txBox="1"/>
          <p:nvPr/>
        </p:nvSpPr>
        <p:spPr>
          <a:xfrm>
            <a:off x="698937" y="3566169"/>
            <a:ext cx="8699937" cy="2862322"/>
          </a:xfrm>
          <a:prstGeom prst="rect">
            <a:avLst/>
          </a:prstGeom>
          <a:noFill/>
        </p:spPr>
        <p:txBody>
          <a:bodyPr wrap="square">
            <a:spAutoFit/>
          </a:bodyPr>
          <a:lstStyle/>
          <a:p>
            <a:r>
              <a:rPr lang="en-US" b="1" dirty="0"/>
              <a:t>Timer Interrupts (Timer0 and Timer1) </a:t>
            </a:r>
          </a:p>
          <a:p>
            <a:endParaRPr lang="en-US" dirty="0"/>
          </a:p>
          <a:p>
            <a:r>
              <a:rPr lang="en-US" dirty="0"/>
              <a:t>Timer 0 and Timer 1 are hardware timers with internal timer interrupts featured in the 8051 microcontrollers. In microcontroller applications, these timers are used to measure time intervals and generate precise delays. The interrupt system of the microcontroller enables it to react quickly to outside events. Interrupts for Timer 0 and Timer 1 are produced when their respective timers exceed their limit. The microcontroller will run the interrupt service routine (ISR) for that timer if the related interrupt is enabled, and the associated interrupt flag is set upon overflow.</a:t>
            </a:r>
            <a:endParaRPr lang="en-IN" dirty="0"/>
          </a:p>
        </p:txBody>
      </p:sp>
    </p:spTree>
    <p:extLst>
      <p:ext uri="{BB962C8B-B14F-4D97-AF65-F5344CB8AC3E}">
        <p14:creationId xmlns:p14="http://schemas.microsoft.com/office/powerpoint/2010/main" val="955775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17BB-4E4E-AC2E-5005-5E0F7047DD6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06D30B-7D4B-B5C7-7C8E-3F32DFB712E9}"/>
              </a:ext>
            </a:extLst>
          </p:cNvPr>
          <p:cNvSpPr txBox="1"/>
          <p:nvPr/>
        </p:nvSpPr>
        <p:spPr>
          <a:xfrm>
            <a:off x="819808" y="98095"/>
            <a:ext cx="8584323" cy="3416320"/>
          </a:xfrm>
          <a:prstGeom prst="rect">
            <a:avLst/>
          </a:prstGeom>
          <a:noFill/>
        </p:spPr>
        <p:txBody>
          <a:bodyPr wrap="square">
            <a:spAutoFit/>
          </a:bodyPr>
          <a:lstStyle/>
          <a:p>
            <a:r>
              <a:rPr lang="en-US" b="1" dirty="0"/>
              <a:t>Timer0 Interrupt </a:t>
            </a:r>
          </a:p>
          <a:p>
            <a:endParaRPr lang="en-US" dirty="0"/>
          </a:p>
          <a:p>
            <a:r>
              <a:rPr lang="en-US" dirty="0"/>
              <a:t> Since Timer 0 is an 8-bit timer, its count range is 0 to 255. </a:t>
            </a:r>
          </a:p>
          <a:p>
            <a:endParaRPr lang="en-US" dirty="0"/>
          </a:p>
          <a:p>
            <a:r>
              <a:rPr lang="en-US" dirty="0"/>
              <a:t> There are two modes of operation for it, 13-bit and 16-bit. It employs the TH0 (Timer 0 High) and TL0 (Timer 0 Low) registers in 13-bit mode and only the TH0 register in 16-bit mode. </a:t>
            </a:r>
          </a:p>
          <a:p>
            <a:endParaRPr lang="en-US" dirty="0"/>
          </a:p>
          <a:p>
            <a:r>
              <a:rPr lang="en-US" dirty="0"/>
              <a:t> It is possible to set timer 0 to interrupt when it approaches zero instead of staying at its maximum value. The microcontroller can perform a particular interrupt service routine (ISR) in response to the interrupt request that this overflow generates.</a:t>
            </a:r>
            <a:endParaRPr lang="en-IN" dirty="0"/>
          </a:p>
        </p:txBody>
      </p:sp>
      <p:sp>
        <p:nvSpPr>
          <p:cNvPr id="5" name="TextBox 4">
            <a:extLst>
              <a:ext uri="{FF2B5EF4-FFF2-40B4-BE49-F238E27FC236}">
                <a16:creationId xmlns:a16="http://schemas.microsoft.com/office/drawing/2014/main" id="{B102ED36-B23C-C60E-5D30-6C186F5B704A}"/>
              </a:ext>
            </a:extLst>
          </p:cNvPr>
          <p:cNvSpPr txBox="1"/>
          <p:nvPr/>
        </p:nvSpPr>
        <p:spPr>
          <a:xfrm>
            <a:off x="455886" y="3747049"/>
            <a:ext cx="9312165" cy="2585323"/>
          </a:xfrm>
          <a:prstGeom prst="rect">
            <a:avLst/>
          </a:prstGeom>
          <a:noFill/>
        </p:spPr>
        <p:txBody>
          <a:bodyPr wrap="square">
            <a:spAutoFit/>
          </a:bodyPr>
          <a:lstStyle/>
          <a:p>
            <a:r>
              <a:rPr lang="en-US" b="1" dirty="0"/>
              <a:t>Timer1 Interrupt</a:t>
            </a:r>
          </a:p>
          <a:p>
            <a:r>
              <a:rPr lang="en-US" dirty="0"/>
              <a:t> </a:t>
            </a:r>
          </a:p>
          <a:p>
            <a:r>
              <a:rPr lang="en-US" dirty="0"/>
              <a:t> Timer 1 is a 16-bit timer with a counting range of 0 to 65,535.</a:t>
            </a:r>
          </a:p>
          <a:p>
            <a:r>
              <a:rPr lang="en-US" dirty="0"/>
              <a:t> </a:t>
            </a:r>
          </a:p>
          <a:p>
            <a:r>
              <a:rPr lang="en-US" dirty="0"/>
              <a:t> It can operate in 16- or 8-bit mode. It employs the TL1 (Timer 1 Low) and TH1 (Timer 1 High) registers in 8-bit mode and only the TH1 register in 16-bit mode.</a:t>
            </a:r>
          </a:p>
          <a:p>
            <a:endParaRPr lang="en-US" dirty="0"/>
          </a:p>
          <a:p>
            <a:r>
              <a:rPr lang="en-US" dirty="0"/>
              <a:t> Timer 1 can be set up to produce an interrupt when it overflows, just like Timer 0. This interruption may cause a certain ISR to be executed.</a:t>
            </a:r>
            <a:endParaRPr lang="en-IN" dirty="0"/>
          </a:p>
        </p:txBody>
      </p:sp>
    </p:spTree>
    <p:extLst>
      <p:ext uri="{BB962C8B-B14F-4D97-AF65-F5344CB8AC3E}">
        <p14:creationId xmlns:p14="http://schemas.microsoft.com/office/powerpoint/2010/main" val="31156616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03FB5-1008-67C4-F025-F5446A99B2D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717F32-6268-6522-3204-1CC09AA49772}"/>
              </a:ext>
            </a:extLst>
          </p:cNvPr>
          <p:cNvSpPr txBox="1"/>
          <p:nvPr/>
        </p:nvSpPr>
        <p:spPr>
          <a:xfrm>
            <a:off x="809296" y="146237"/>
            <a:ext cx="8353096" cy="5632311"/>
          </a:xfrm>
          <a:prstGeom prst="rect">
            <a:avLst/>
          </a:prstGeom>
          <a:noFill/>
        </p:spPr>
        <p:txBody>
          <a:bodyPr wrap="square">
            <a:spAutoFit/>
          </a:bodyPr>
          <a:lstStyle/>
          <a:p>
            <a:r>
              <a:rPr lang="en-US" b="1" dirty="0"/>
              <a:t>Serial Communication Interrupts (UART) </a:t>
            </a:r>
          </a:p>
          <a:p>
            <a:endParaRPr lang="en-US" dirty="0"/>
          </a:p>
          <a:p>
            <a:r>
              <a:rPr lang="en-US" dirty="0"/>
              <a:t>UART (Universal Asynchronous Receiver/Transmitter) is a serial communication protocol used with 8051 microcontrollers. Data is sent over a single cable, bit by bit, in serial transmission. In this sense, “interrupts” refers to the processes that enable the microcontroller to react quickly to external events. </a:t>
            </a:r>
          </a:p>
          <a:p>
            <a:endParaRPr lang="en-US" dirty="0"/>
          </a:p>
          <a:p>
            <a:r>
              <a:rPr lang="en-US" dirty="0"/>
              <a:t>Two SFRs controls the function of interrupts in 8051 microcontrollers. IE is Responsible for disable/enable the function and IP is Responsible for priority assignment: The priority list offers 3 levels of interrupt priority: Reset: When a reset request arrives, everything is stopped and the microcontroller restarts. Reset can be used to disable the interrupt priority 1. Interrupt priority 0 can be disabled by both Reset and interrupt. </a:t>
            </a:r>
          </a:p>
          <a:p>
            <a:endParaRPr lang="en-US" dirty="0"/>
          </a:p>
          <a:p>
            <a:r>
              <a:rPr lang="en-US" dirty="0"/>
              <a:t>Some of the registers used in this microcontroller are : </a:t>
            </a:r>
          </a:p>
          <a:p>
            <a:r>
              <a:rPr lang="en-US" dirty="0"/>
              <a:t> IE (Interrupt Enable) Register </a:t>
            </a:r>
          </a:p>
          <a:p>
            <a:endParaRPr lang="en-US" dirty="0"/>
          </a:p>
          <a:p>
            <a:r>
              <a:rPr lang="en-US" dirty="0"/>
              <a:t> IP (Interrupt Priority) Register </a:t>
            </a:r>
          </a:p>
          <a:p>
            <a:endParaRPr lang="en-US" dirty="0"/>
          </a:p>
          <a:p>
            <a:r>
              <a:rPr lang="en-US" dirty="0"/>
              <a:t> TCON (Timer Control) Register</a:t>
            </a:r>
            <a:endParaRPr lang="en-IN" dirty="0"/>
          </a:p>
        </p:txBody>
      </p:sp>
    </p:spTree>
    <p:extLst>
      <p:ext uri="{BB962C8B-B14F-4D97-AF65-F5344CB8AC3E}">
        <p14:creationId xmlns:p14="http://schemas.microsoft.com/office/powerpoint/2010/main" val="639592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DEED8-BE93-401B-A1E1-980D39B43FB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3220D74-FE05-7175-2424-21DA46F7D58F}"/>
              </a:ext>
            </a:extLst>
          </p:cNvPr>
          <p:cNvSpPr txBox="1"/>
          <p:nvPr/>
        </p:nvSpPr>
        <p:spPr>
          <a:xfrm>
            <a:off x="924339" y="262595"/>
            <a:ext cx="6102626" cy="369332"/>
          </a:xfrm>
          <a:prstGeom prst="rect">
            <a:avLst/>
          </a:prstGeom>
          <a:noFill/>
        </p:spPr>
        <p:txBody>
          <a:bodyPr wrap="square">
            <a:spAutoFit/>
          </a:bodyPr>
          <a:lstStyle/>
          <a:p>
            <a:r>
              <a:rPr lang="en-IN" dirty="0"/>
              <a:t>IE (Interrupt Enable) Register </a:t>
            </a:r>
          </a:p>
        </p:txBody>
      </p:sp>
      <p:pic>
        <p:nvPicPr>
          <p:cNvPr id="5" name="Picture 4">
            <a:extLst>
              <a:ext uri="{FF2B5EF4-FFF2-40B4-BE49-F238E27FC236}">
                <a16:creationId xmlns:a16="http://schemas.microsoft.com/office/drawing/2014/main" id="{F0B6CF94-B6E1-2ECD-2450-5FD0DFD0F8FC}"/>
              </a:ext>
            </a:extLst>
          </p:cNvPr>
          <p:cNvPicPr>
            <a:picLocks noChangeAspect="1"/>
          </p:cNvPicPr>
          <p:nvPr/>
        </p:nvPicPr>
        <p:blipFill>
          <a:blip r:embed="rId2"/>
          <a:srcRect l="2795" t="5951" r="4415"/>
          <a:stretch>
            <a:fillRect/>
          </a:stretch>
        </p:blipFill>
        <p:spPr>
          <a:xfrm>
            <a:off x="1043608" y="964096"/>
            <a:ext cx="8448261" cy="2185780"/>
          </a:xfrm>
          <a:prstGeom prst="rect">
            <a:avLst/>
          </a:prstGeom>
        </p:spPr>
      </p:pic>
      <p:sp>
        <p:nvSpPr>
          <p:cNvPr id="7" name="TextBox 6">
            <a:extLst>
              <a:ext uri="{FF2B5EF4-FFF2-40B4-BE49-F238E27FC236}">
                <a16:creationId xmlns:a16="http://schemas.microsoft.com/office/drawing/2014/main" id="{1636E28C-BE85-17EC-2297-1B81283CA69D}"/>
              </a:ext>
            </a:extLst>
          </p:cNvPr>
          <p:cNvSpPr txBox="1"/>
          <p:nvPr/>
        </p:nvSpPr>
        <p:spPr>
          <a:xfrm>
            <a:off x="1043608" y="3429000"/>
            <a:ext cx="8448261" cy="923330"/>
          </a:xfrm>
          <a:prstGeom prst="rect">
            <a:avLst/>
          </a:prstGeom>
          <a:noFill/>
        </p:spPr>
        <p:txBody>
          <a:bodyPr wrap="square">
            <a:spAutoFit/>
          </a:bodyPr>
          <a:lstStyle/>
          <a:p>
            <a:r>
              <a:rPr lang="en-US" dirty="0"/>
              <a:t>Interrupts can be enabled and disabled using IE Register. It is a register in the 8051 microcontroller that controls interrupt prioritization and triggering. It includes many bits, such as:</a:t>
            </a:r>
            <a:endParaRPr lang="en-IN" dirty="0"/>
          </a:p>
        </p:txBody>
      </p:sp>
      <p:sp>
        <p:nvSpPr>
          <p:cNvPr id="9" name="TextBox 8">
            <a:extLst>
              <a:ext uri="{FF2B5EF4-FFF2-40B4-BE49-F238E27FC236}">
                <a16:creationId xmlns:a16="http://schemas.microsoft.com/office/drawing/2014/main" id="{25D0A2C5-6C76-280A-409C-F6BFCB567CE2}"/>
              </a:ext>
            </a:extLst>
          </p:cNvPr>
          <p:cNvSpPr txBox="1"/>
          <p:nvPr/>
        </p:nvSpPr>
        <p:spPr>
          <a:xfrm>
            <a:off x="1043607" y="4631454"/>
            <a:ext cx="8070575" cy="1754326"/>
          </a:xfrm>
          <a:prstGeom prst="rect">
            <a:avLst/>
          </a:prstGeom>
          <a:noFill/>
        </p:spPr>
        <p:txBody>
          <a:bodyPr wrap="square">
            <a:spAutoFit/>
          </a:bodyPr>
          <a:lstStyle/>
          <a:p>
            <a:r>
              <a:rPr lang="en-US" b="1" dirty="0"/>
              <a:t>EA-Global Interrupt Enable/Disable </a:t>
            </a:r>
            <a:r>
              <a:rPr lang="en-US" dirty="0"/>
              <a:t>– When it is set it enables all interrupt, if cleared disables all interrupts </a:t>
            </a:r>
          </a:p>
          <a:p>
            <a:endParaRPr lang="en-US" dirty="0"/>
          </a:p>
          <a:p>
            <a:r>
              <a:rPr lang="en-US" dirty="0"/>
              <a:t> 0- Disables all interrupt requests </a:t>
            </a:r>
          </a:p>
          <a:p>
            <a:endParaRPr lang="en-US" dirty="0"/>
          </a:p>
          <a:p>
            <a:r>
              <a:rPr lang="en-US" dirty="0"/>
              <a:t> 1- Enables all interrupt requests </a:t>
            </a:r>
            <a:endParaRPr lang="en-IN" dirty="0"/>
          </a:p>
        </p:txBody>
      </p:sp>
    </p:spTree>
    <p:extLst>
      <p:ext uri="{BB962C8B-B14F-4D97-AF65-F5344CB8AC3E}">
        <p14:creationId xmlns:p14="http://schemas.microsoft.com/office/powerpoint/2010/main" val="35618989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A0C27-5823-C5A1-52BD-035A6476585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0480B7-BE05-327F-7706-A61B947F950A}"/>
              </a:ext>
            </a:extLst>
          </p:cNvPr>
          <p:cNvSpPr txBox="1"/>
          <p:nvPr/>
        </p:nvSpPr>
        <p:spPr>
          <a:xfrm>
            <a:off x="805070" y="172282"/>
            <a:ext cx="8309113" cy="5078313"/>
          </a:xfrm>
          <a:prstGeom prst="rect">
            <a:avLst/>
          </a:prstGeom>
          <a:noFill/>
        </p:spPr>
        <p:txBody>
          <a:bodyPr wrap="square">
            <a:spAutoFit/>
          </a:bodyPr>
          <a:lstStyle/>
          <a:p>
            <a:r>
              <a:rPr lang="en-US" b="1" dirty="0"/>
              <a:t>ES (Serial Communication Interrupt Enable)- </a:t>
            </a:r>
            <a:r>
              <a:rPr lang="en-US" dirty="0"/>
              <a:t>This bit enables or disables the interrupt for serial communication. </a:t>
            </a:r>
          </a:p>
          <a:p>
            <a:endParaRPr lang="en-US" dirty="0"/>
          </a:p>
          <a:p>
            <a:r>
              <a:rPr lang="en-US" dirty="0"/>
              <a:t> 1- Interrupt is enabled by UART system </a:t>
            </a:r>
          </a:p>
          <a:p>
            <a:endParaRPr lang="en-US" dirty="0"/>
          </a:p>
          <a:p>
            <a:r>
              <a:rPr lang="en-US" dirty="0"/>
              <a:t> 0-Interrupt cannot be generated by UART system </a:t>
            </a:r>
          </a:p>
          <a:p>
            <a:endParaRPr lang="en-US" dirty="0"/>
          </a:p>
          <a:p>
            <a:r>
              <a:rPr lang="en-US" b="1" dirty="0"/>
              <a:t>ET0</a:t>
            </a:r>
            <a:r>
              <a:rPr lang="en-US" dirty="0"/>
              <a:t>- Bit enables or disables timer 0 interrupt. </a:t>
            </a:r>
          </a:p>
          <a:p>
            <a:endParaRPr lang="en-US" dirty="0"/>
          </a:p>
          <a:p>
            <a:r>
              <a:rPr lang="en-US" dirty="0"/>
              <a:t> 1-Timer 0 is enables an interrupt </a:t>
            </a:r>
          </a:p>
          <a:p>
            <a:endParaRPr lang="en-US" dirty="0"/>
          </a:p>
          <a:p>
            <a:r>
              <a:rPr lang="en-US" dirty="0"/>
              <a:t> 0-Interrupt cannot be generated by the timer 0 </a:t>
            </a:r>
          </a:p>
          <a:p>
            <a:endParaRPr lang="en-US" dirty="0"/>
          </a:p>
          <a:p>
            <a:r>
              <a:rPr lang="en-US" b="1" dirty="0"/>
              <a:t>ET1</a:t>
            </a:r>
            <a:r>
              <a:rPr lang="en-US" dirty="0"/>
              <a:t>– Bit enables or disables timer 1 interrupt. </a:t>
            </a:r>
          </a:p>
          <a:p>
            <a:endParaRPr lang="en-US" dirty="0"/>
          </a:p>
          <a:p>
            <a:r>
              <a:rPr lang="en-US" dirty="0"/>
              <a:t> 1- Interrupt is enabled by timer 1 </a:t>
            </a:r>
          </a:p>
          <a:p>
            <a:endParaRPr lang="en-US" dirty="0"/>
          </a:p>
          <a:p>
            <a:r>
              <a:rPr lang="en-US" dirty="0"/>
              <a:t> 0-Interrupt is disabled by timer 1 </a:t>
            </a:r>
          </a:p>
        </p:txBody>
      </p:sp>
    </p:spTree>
    <p:extLst>
      <p:ext uri="{BB962C8B-B14F-4D97-AF65-F5344CB8AC3E}">
        <p14:creationId xmlns:p14="http://schemas.microsoft.com/office/powerpoint/2010/main" val="1567195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B26C5-6D4F-AC27-AFC6-D1A8C3F8E9B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6BEB79-7B12-9F84-F398-9DE340066E14}"/>
              </a:ext>
            </a:extLst>
          </p:cNvPr>
          <p:cNvSpPr txBox="1"/>
          <p:nvPr/>
        </p:nvSpPr>
        <p:spPr>
          <a:xfrm>
            <a:off x="844826" y="157155"/>
            <a:ext cx="8706678" cy="3970318"/>
          </a:xfrm>
          <a:prstGeom prst="rect">
            <a:avLst/>
          </a:prstGeom>
          <a:noFill/>
        </p:spPr>
        <p:txBody>
          <a:bodyPr wrap="square">
            <a:spAutoFit/>
          </a:bodyPr>
          <a:lstStyle/>
          <a:p>
            <a:r>
              <a:rPr lang="en-US" b="1" dirty="0"/>
              <a:t>EX0 and EX1 (External Interrupt 0 and External Interrupt 1 Enable </a:t>
            </a:r>
          </a:p>
          <a:p>
            <a:endParaRPr lang="en-US" dirty="0"/>
          </a:p>
          <a:p>
            <a:r>
              <a:rPr lang="en-US" dirty="0"/>
              <a:t> These bits control the interrupts from external devices.</a:t>
            </a:r>
          </a:p>
          <a:p>
            <a:r>
              <a:rPr lang="en-US" dirty="0"/>
              <a:t> </a:t>
            </a:r>
          </a:p>
          <a:p>
            <a:r>
              <a:rPr lang="en-US" dirty="0"/>
              <a:t> EX0 – bit enables or disables external 0 interrupt: 0 – change of the INT1 pin logic state cannot generate an interrupt and 1 – enables an external interrupt on the pin INT1 state change</a:t>
            </a:r>
          </a:p>
          <a:p>
            <a:endParaRPr lang="en-US" dirty="0"/>
          </a:p>
          <a:p>
            <a:r>
              <a:rPr lang="en-US" dirty="0"/>
              <a:t> EX1 – bit enables or disables external 1 interrupt: 0 – change of the pin INT0 logic state cannot generate an interrupt and 1 – enables an external interrupt on the pin INT0 state change. </a:t>
            </a:r>
          </a:p>
          <a:p>
            <a:endParaRPr lang="en-US" dirty="0"/>
          </a:p>
          <a:p>
            <a:r>
              <a:rPr lang="en-US" b="1" dirty="0"/>
              <a:t>IT0 and IT1 (External Interrupt 0 and External Interrupt 1 Type)– </a:t>
            </a:r>
            <a:r>
              <a:rPr lang="en-US" dirty="0"/>
              <a:t>These bits determine the type of trigger for external interrupts (level or edge-triggered).</a:t>
            </a:r>
            <a:endParaRPr lang="en-IN" dirty="0"/>
          </a:p>
        </p:txBody>
      </p:sp>
    </p:spTree>
    <p:extLst>
      <p:ext uri="{BB962C8B-B14F-4D97-AF65-F5344CB8AC3E}">
        <p14:creationId xmlns:p14="http://schemas.microsoft.com/office/powerpoint/2010/main" val="734081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8D3D3-1A10-D53C-F28E-7BF85CAD0BC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2F474A-ADFE-4A3D-5CFF-3A03F905F5D9}"/>
              </a:ext>
            </a:extLst>
          </p:cNvPr>
          <p:cNvSpPr txBox="1"/>
          <p:nvPr/>
        </p:nvSpPr>
        <p:spPr>
          <a:xfrm>
            <a:off x="854765" y="197346"/>
            <a:ext cx="8299174" cy="5078313"/>
          </a:xfrm>
          <a:prstGeom prst="rect">
            <a:avLst/>
          </a:prstGeom>
          <a:noFill/>
        </p:spPr>
        <p:txBody>
          <a:bodyPr wrap="square">
            <a:spAutoFit/>
          </a:bodyPr>
          <a:lstStyle/>
          <a:p>
            <a:r>
              <a:rPr lang="en-US" b="1" dirty="0"/>
              <a:t>IP (Interrupt Priority) Register </a:t>
            </a:r>
          </a:p>
          <a:p>
            <a:endParaRPr lang="en-US" dirty="0"/>
          </a:p>
          <a:p>
            <a:r>
              <a:rPr lang="en-US" dirty="0"/>
              <a:t>One cannot predict when one may receive an interrupt request. If multiple interrupts are enabled, it can happen that a request for another interrupt is made while the first one is ongoing. There is a priority list that tells the microcontroller what to do in order to determine whether to respond to a new interrupt request or to carry on with existing operations. The microcontroller restarts once everything stops in response to a reset request. Only Reset has the ability to disable Interrupt priority 1. Both Reset and interrupt priority 1 have the ability to disable interrupt priority 0. The interrupt priority register, or IP Register, indicates which of the current interrupt sources is more significant than other. The program’s start typically defines the interrupt priority. An interrupt will be immediately paused and given preference over any other interrupt if the one with greater priority comes while the other is still in progress. Whenever two interrupt requests that have different priorities occurs simultaneously, the higher priority interrupt is handled first. If two interrupt requests with the same priority level arise one after the other, the subsequent request needs to wait until the entire process is accomplished.</a:t>
            </a:r>
            <a:endParaRPr lang="en-IN" dirty="0"/>
          </a:p>
        </p:txBody>
      </p:sp>
    </p:spTree>
    <p:extLst>
      <p:ext uri="{BB962C8B-B14F-4D97-AF65-F5344CB8AC3E}">
        <p14:creationId xmlns:p14="http://schemas.microsoft.com/office/powerpoint/2010/main" val="3092013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F5987-E498-07FA-2922-232DE28B978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9E041A3-E501-7246-11C5-A67E5FA3D548}"/>
              </a:ext>
            </a:extLst>
          </p:cNvPr>
          <p:cNvPicPr>
            <a:picLocks noChangeAspect="1"/>
          </p:cNvPicPr>
          <p:nvPr/>
        </p:nvPicPr>
        <p:blipFill>
          <a:blip r:embed="rId2"/>
          <a:srcRect l="1554" t="4308" r="359"/>
          <a:stretch>
            <a:fillRect/>
          </a:stretch>
        </p:blipFill>
        <p:spPr>
          <a:xfrm>
            <a:off x="993913" y="119270"/>
            <a:ext cx="8458199" cy="2934942"/>
          </a:xfrm>
          <a:prstGeom prst="rect">
            <a:avLst/>
          </a:prstGeom>
        </p:spPr>
      </p:pic>
      <p:sp>
        <p:nvSpPr>
          <p:cNvPr id="5" name="TextBox 4">
            <a:extLst>
              <a:ext uri="{FF2B5EF4-FFF2-40B4-BE49-F238E27FC236}">
                <a16:creationId xmlns:a16="http://schemas.microsoft.com/office/drawing/2014/main" id="{73D3EE54-BDC1-3B1E-5201-C48E0EB233FC}"/>
              </a:ext>
            </a:extLst>
          </p:cNvPr>
          <p:cNvSpPr txBox="1"/>
          <p:nvPr/>
        </p:nvSpPr>
        <p:spPr>
          <a:xfrm>
            <a:off x="993912" y="3306562"/>
            <a:ext cx="8458199" cy="3139321"/>
          </a:xfrm>
          <a:prstGeom prst="rect">
            <a:avLst/>
          </a:prstGeom>
          <a:noFill/>
        </p:spPr>
        <p:txBody>
          <a:bodyPr wrap="square">
            <a:spAutoFit/>
          </a:bodyPr>
          <a:lstStyle/>
          <a:p>
            <a:r>
              <a:rPr lang="en-IN" b="1" dirty="0"/>
              <a:t>Bit0 (PX0)- External0 interrupt priority bit</a:t>
            </a:r>
          </a:p>
          <a:p>
            <a:r>
              <a:rPr lang="en-IN" b="1" dirty="0"/>
              <a:t> </a:t>
            </a:r>
          </a:p>
          <a:p>
            <a:r>
              <a:rPr lang="en-IN" dirty="0"/>
              <a:t> 0- Sets low priority to external 0 interrupt</a:t>
            </a:r>
          </a:p>
          <a:p>
            <a:r>
              <a:rPr lang="en-IN" dirty="0"/>
              <a:t> </a:t>
            </a:r>
          </a:p>
          <a:p>
            <a:r>
              <a:rPr lang="en-IN" dirty="0"/>
              <a:t> 1- Sets high priority to external 0 interrupt </a:t>
            </a:r>
          </a:p>
          <a:p>
            <a:endParaRPr lang="en-IN" dirty="0"/>
          </a:p>
          <a:p>
            <a:r>
              <a:rPr lang="en-IN" b="1" dirty="0"/>
              <a:t>Bit1 (PT0)- Timer 0 interrupt priority bit</a:t>
            </a:r>
          </a:p>
          <a:p>
            <a:r>
              <a:rPr lang="en-IN" b="1" dirty="0"/>
              <a:t> </a:t>
            </a:r>
          </a:p>
          <a:p>
            <a:r>
              <a:rPr lang="en-IN" dirty="0"/>
              <a:t> 0- Assigns low priority to Timer0 interrupt</a:t>
            </a:r>
          </a:p>
          <a:p>
            <a:r>
              <a:rPr lang="en-IN" dirty="0"/>
              <a:t> </a:t>
            </a:r>
          </a:p>
          <a:p>
            <a:r>
              <a:rPr lang="en-IN" dirty="0"/>
              <a:t> 1- Assigns high priority to Timer0 interrupt </a:t>
            </a:r>
          </a:p>
        </p:txBody>
      </p:sp>
    </p:spTree>
    <p:extLst>
      <p:ext uri="{BB962C8B-B14F-4D97-AF65-F5344CB8AC3E}">
        <p14:creationId xmlns:p14="http://schemas.microsoft.com/office/powerpoint/2010/main" val="23375843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B1D2F-FE2F-07BC-B1A3-E5A7DB71C0B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24D66E-ACE7-C953-55A1-0BFDACE0BED4}"/>
              </a:ext>
            </a:extLst>
          </p:cNvPr>
          <p:cNvSpPr txBox="1"/>
          <p:nvPr/>
        </p:nvSpPr>
        <p:spPr>
          <a:xfrm>
            <a:off x="775252" y="197560"/>
            <a:ext cx="8537713" cy="5355312"/>
          </a:xfrm>
          <a:prstGeom prst="rect">
            <a:avLst/>
          </a:prstGeom>
          <a:noFill/>
        </p:spPr>
        <p:txBody>
          <a:bodyPr wrap="square">
            <a:spAutoFit/>
          </a:bodyPr>
          <a:lstStyle/>
          <a:p>
            <a:r>
              <a:rPr lang="en-IN" b="1" dirty="0"/>
              <a:t>Bit2 (PX1)- External1 interrupt priority bit </a:t>
            </a:r>
          </a:p>
          <a:p>
            <a:endParaRPr lang="en-IN" dirty="0"/>
          </a:p>
          <a:p>
            <a:r>
              <a:rPr lang="en-IN" dirty="0"/>
              <a:t> 0- Sets low priority to external1 interrupt </a:t>
            </a:r>
          </a:p>
          <a:p>
            <a:endParaRPr lang="en-IN" dirty="0"/>
          </a:p>
          <a:p>
            <a:r>
              <a:rPr lang="en-IN" dirty="0"/>
              <a:t> 1- Sets high priority to external1 interrupt </a:t>
            </a:r>
          </a:p>
          <a:p>
            <a:endParaRPr lang="en-IN" dirty="0"/>
          </a:p>
          <a:p>
            <a:r>
              <a:rPr lang="en-IN" b="1" dirty="0"/>
              <a:t>Bit3 (PT1)- Timer1 interrupt priority bit</a:t>
            </a:r>
          </a:p>
          <a:p>
            <a:r>
              <a:rPr lang="en-IN" dirty="0"/>
              <a:t> </a:t>
            </a:r>
          </a:p>
          <a:p>
            <a:r>
              <a:rPr lang="en-IN" dirty="0"/>
              <a:t> 0- Sets low priority to timer1 interrupt </a:t>
            </a:r>
          </a:p>
          <a:p>
            <a:endParaRPr lang="en-IN" dirty="0"/>
          </a:p>
          <a:p>
            <a:r>
              <a:rPr lang="en-IN" dirty="0"/>
              <a:t> 1- Sets high priority to timer1 interrupt </a:t>
            </a:r>
          </a:p>
          <a:p>
            <a:endParaRPr lang="en-IN" dirty="0"/>
          </a:p>
          <a:p>
            <a:r>
              <a:rPr lang="en-IN" b="1" dirty="0"/>
              <a:t>Bit4 (PS)- Serial Input priority bit </a:t>
            </a:r>
          </a:p>
          <a:p>
            <a:endParaRPr lang="en-IN" dirty="0"/>
          </a:p>
          <a:p>
            <a:r>
              <a:rPr lang="en-IN" dirty="0"/>
              <a:t> 0- Assigns low priority to serial interrupt </a:t>
            </a:r>
          </a:p>
          <a:p>
            <a:endParaRPr lang="en-IN" dirty="0"/>
          </a:p>
          <a:p>
            <a:r>
              <a:rPr lang="en-IN" dirty="0"/>
              <a:t> 1- Assigns high priority to serial interrupt </a:t>
            </a:r>
          </a:p>
          <a:p>
            <a:endParaRPr lang="en-IN" dirty="0"/>
          </a:p>
          <a:p>
            <a:r>
              <a:rPr lang="en-IN" b="1" dirty="0"/>
              <a:t>Bit 5,6 &amp; 7- </a:t>
            </a:r>
            <a:r>
              <a:rPr lang="en-IN" dirty="0"/>
              <a:t>These bits are called as the Reserved bits.</a:t>
            </a:r>
          </a:p>
        </p:txBody>
      </p:sp>
    </p:spTree>
    <p:extLst>
      <p:ext uri="{BB962C8B-B14F-4D97-AF65-F5344CB8AC3E}">
        <p14:creationId xmlns:p14="http://schemas.microsoft.com/office/powerpoint/2010/main" val="26756453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A91D-90FA-E802-7646-140E9D13B5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0FB0D1-647C-75AE-6137-C035842D2A8C}"/>
              </a:ext>
            </a:extLst>
          </p:cNvPr>
          <p:cNvSpPr txBox="1"/>
          <p:nvPr/>
        </p:nvSpPr>
        <p:spPr>
          <a:xfrm>
            <a:off x="824948" y="103569"/>
            <a:ext cx="8438322" cy="523220"/>
          </a:xfrm>
          <a:prstGeom prst="rect">
            <a:avLst/>
          </a:prstGeom>
          <a:noFill/>
        </p:spPr>
        <p:txBody>
          <a:bodyPr wrap="square">
            <a:spAutoFit/>
          </a:bodyPr>
          <a:lstStyle/>
          <a:p>
            <a:r>
              <a:rPr lang="en-US" sz="2800" b="1" dirty="0"/>
              <a:t>1.5 Memory Organization of 8051</a:t>
            </a:r>
            <a:endParaRPr lang="en-IN" sz="2800" b="1" dirty="0"/>
          </a:p>
        </p:txBody>
      </p:sp>
      <p:sp>
        <p:nvSpPr>
          <p:cNvPr id="5" name="TextBox 4">
            <a:extLst>
              <a:ext uri="{FF2B5EF4-FFF2-40B4-BE49-F238E27FC236}">
                <a16:creationId xmlns:a16="http://schemas.microsoft.com/office/drawing/2014/main" id="{ADC59C8E-6E0B-4737-D915-790CB504C054}"/>
              </a:ext>
            </a:extLst>
          </p:cNvPr>
          <p:cNvSpPr txBox="1"/>
          <p:nvPr/>
        </p:nvSpPr>
        <p:spPr>
          <a:xfrm>
            <a:off x="824948" y="995729"/>
            <a:ext cx="8706678" cy="1200329"/>
          </a:xfrm>
          <a:prstGeom prst="rect">
            <a:avLst/>
          </a:prstGeom>
          <a:noFill/>
        </p:spPr>
        <p:txBody>
          <a:bodyPr wrap="square">
            <a:spAutoFit/>
          </a:bodyPr>
          <a:lstStyle/>
          <a:p>
            <a:r>
              <a:rPr lang="en-US" dirty="0"/>
              <a:t>The 8051 microcontroller's memory is divided into Program Memory and Data Memory. Program Memory (ROM) is used for permanent saving program being executed, while Data Memory (RAM) is used for temporarily storing and keeping intermediate results and variables.</a:t>
            </a:r>
            <a:endParaRPr lang="en-IN" dirty="0"/>
          </a:p>
        </p:txBody>
      </p:sp>
      <p:sp>
        <p:nvSpPr>
          <p:cNvPr id="7" name="TextBox 6">
            <a:extLst>
              <a:ext uri="{FF2B5EF4-FFF2-40B4-BE49-F238E27FC236}">
                <a16:creationId xmlns:a16="http://schemas.microsoft.com/office/drawing/2014/main" id="{9BAC3F1A-1A72-9C26-49AB-3072B4505290}"/>
              </a:ext>
            </a:extLst>
          </p:cNvPr>
          <p:cNvSpPr txBox="1"/>
          <p:nvPr/>
        </p:nvSpPr>
        <p:spPr>
          <a:xfrm>
            <a:off x="824948" y="2564999"/>
            <a:ext cx="8328991" cy="3416320"/>
          </a:xfrm>
          <a:prstGeom prst="rect">
            <a:avLst/>
          </a:prstGeom>
          <a:noFill/>
        </p:spPr>
        <p:txBody>
          <a:bodyPr wrap="square">
            <a:spAutoFit/>
          </a:bodyPr>
          <a:lstStyle/>
          <a:p>
            <a:r>
              <a:rPr lang="en-US" b="1" dirty="0"/>
              <a:t>Program Memory (ROM) </a:t>
            </a:r>
          </a:p>
          <a:p>
            <a:endParaRPr lang="en-US" dirty="0"/>
          </a:p>
          <a:p>
            <a:r>
              <a:rPr lang="en-US" dirty="0"/>
              <a:t>Program Memory (ROM) is used for permanent saving program (CODE) being executed. The memory is read only. Depending on the settings made in compiler, program memory may also used to store a constant variables. The 8051 executes programs stored in program memory only. code memory type specifier is used to refer to program memory. </a:t>
            </a:r>
          </a:p>
          <a:p>
            <a:endParaRPr lang="en-US" dirty="0"/>
          </a:p>
          <a:p>
            <a:r>
              <a:rPr lang="en-US" dirty="0"/>
              <a:t>8051 memory organization allows external program memory to be added. </a:t>
            </a:r>
          </a:p>
          <a:p>
            <a:endParaRPr lang="en-US" dirty="0"/>
          </a:p>
          <a:p>
            <a:r>
              <a:rPr lang="en-US" dirty="0"/>
              <a:t>How does the microcontroller handle external memory depends on the pin EA logical state</a:t>
            </a:r>
            <a:endParaRPr lang="en-IN" dirty="0"/>
          </a:p>
        </p:txBody>
      </p:sp>
    </p:spTree>
    <p:extLst>
      <p:ext uri="{BB962C8B-B14F-4D97-AF65-F5344CB8AC3E}">
        <p14:creationId xmlns:p14="http://schemas.microsoft.com/office/powerpoint/2010/main" val="16217644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A8E8C-B8DF-8695-9E86-C071B0F30EF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6E59486-0D94-D842-C6B3-C6AB46EA46DD}"/>
              </a:ext>
            </a:extLst>
          </p:cNvPr>
          <p:cNvPicPr>
            <a:picLocks noChangeAspect="1"/>
          </p:cNvPicPr>
          <p:nvPr/>
        </p:nvPicPr>
        <p:blipFill>
          <a:blip r:embed="rId2"/>
          <a:srcRect l="13441" r="6511" b="5712"/>
          <a:stretch>
            <a:fillRect/>
          </a:stretch>
        </p:blipFill>
        <p:spPr>
          <a:xfrm>
            <a:off x="874643" y="95044"/>
            <a:ext cx="8527774" cy="4168843"/>
          </a:xfrm>
          <a:prstGeom prst="rect">
            <a:avLst/>
          </a:prstGeom>
        </p:spPr>
      </p:pic>
      <p:sp>
        <p:nvSpPr>
          <p:cNvPr id="5" name="TextBox 4">
            <a:extLst>
              <a:ext uri="{FF2B5EF4-FFF2-40B4-BE49-F238E27FC236}">
                <a16:creationId xmlns:a16="http://schemas.microsoft.com/office/drawing/2014/main" id="{E00FE129-FC68-F4BF-7AEC-D03A53B61755}"/>
              </a:ext>
            </a:extLst>
          </p:cNvPr>
          <p:cNvSpPr txBox="1"/>
          <p:nvPr/>
        </p:nvSpPr>
        <p:spPr>
          <a:xfrm>
            <a:off x="785192" y="4454632"/>
            <a:ext cx="8527774" cy="2308324"/>
          </a:xfrm>
          <a:prstGeom prst="rect">
            <a:avLst/>
          </a:prstGeom>
          <a:noFill/>
        </p:spPr>
        <p:txBody>
          <a:bodyPr wrap="square">
            <a:spAutoFit/>
          </a:bodyPr>
          <a:lstStyle/>
          <a:p>
            <a:r>
              <a:rPr lang="en-US" b="1" dirty="0"/>
              <a:t>Internal Data Memory </a:t>
            </a:r>
          </a:p>
          <a:p>
            <a:endParaRPr lang="en-US" dirty="0"/>
          </a:p>
          <a:p>
            <a:r>
              <a:rPr lang="en-US" dirty="0"/>
              <a:t>Up to 256 bytes of internal data memory are available depending on the 8051 derivative. Locations available to the user occupy addressing space from 0 to 7Fh, i.e. first 128 registers and this part of RAM is divided in several blocks. The first 128 bytes of internal data memory are both directly and indirectly addressable. The upper 128 bytes of data memory (from 0x80 to 0xFF) can be addressed only indirectly.</a:t>
            </a:r>
            <a:endParaRPr lang="en-IN" dirty="0"/>
          </a:p>
        </p:txBody>
      </p:sp>
    </p:spTree>
    <p:extLst>
      <p:ext uri="{BB962C8B-B14F-4D97-AF65-F5344CB8AC3E}">
        <p14:creationId xmlns:p14="http://schemas.microsoft.com/office/powerpoint/2010/main" val="41680182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D8B3F-249E-CA3F-4430-A612F22FE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B9D860-8D79-3EA2-C90B-A0EB68169407}"/>
              </a:ext>
            </a:extLst>
          </p:cNvPr>
          <p:cNvSpPr txBox="1"/>
          <p:nvPr/>
        </p:nvSpPr>
        <p:spPr>
          <a:xfrm>
            <a:off x="815009" y="129335"/>
            <a:ext cx="8686800" cy="2585323"/>
          </a:xfrm>
          <a:prstGeom prst="rect">
            <a:avLst/>
          </a:prstGeom>
          <a:noFill/>
        </p:spPr>
        <p:txBody>
          <a:bodyPr wrap="square">
            <a:spAutoFit/>
          </a:bodyPr>
          <a:lstStyle/>
          <a:p>
            <a:r>
              <a:rPr lang="en-US" dirty="0"/>
              <a:t>Since internal data memory is used for CALL stack also and there is only 256 bytes splited over few different memory areas fine utilizing of this memory is crucial for fast and compact code. See types efficiency also.</a:t>
            </a:r>
          </a:p>
          <a:p>
            <a:r>
              <a:rPr lang="en-US" dirty="0"/>
              <a:t>Memory block in the range of 20h to 2Fh is bit-addressable, which means that each bit being there has its own address from 0 to 7Fh. Since there are 16 such registers, this block contains in total of 128 bits with separate addresses ( Bit 0 of byte 20h has the bit address 0, and bit 7 of byte 2Fh has the bit address 7Fh). Three memory type specifiers can be used to refer to the internal data memory: data, idata, and bdata</a:t>
            </a:r>
            <a:endParaRPr lang="en-IN" dirty="0"/>
          </a:p>
        </p:txBody>
      </p:sp>
      <p:pic>
        <p:nvPicPr>
          <p:cNvPr id="5" name="Picture 4">
            <a:extLst>
              <a:ext uri="{FF2B5EF4-FFF2-40B4-BE49-F238E27FC236}">
                <a16:creationId xmlns:a16="http://schemas.microsoft.com/office/drawing/2014/main" id="{1A5FAF73-0281-F7B0-871A-B06BD9E2AA0C}"/>
              </a:ext>
            </a:extLst>
          </p:cNvPr>
          <p:cNvPicPr>
            <a:picLocks noChangeAspect="1"/>
          </p:cNvPicPr>
          <p:nvPr/>
        </p:nvPicPr>
        <p:blipFill>
          <a:blip r:embed="rId2"/>
          <a:stretch>
            <a:fillRect/>
          </a:stretch>
        </p:blipFill>
        <p:spPr>
          <a:xfrm>
            <a:off x="1121879" y="2737056"/>
            <a:ext cx="7562850" cy="4012763"/>
          </a:xfrm>
          <a:prstGeom prst="rect">
            <a:avLst/>
          </a:prstGeom>
        </p:spPr>
      </p:pic>
    </p:spTree>
    <p:extLst>
      <p:ext uri="{BB962C8B-B14F-4D97-AF65-F5344CB8AC3E}">
        <p14:creationId xmlns:p14="http://schemas.microsoft.com/office/powerpoint/2010/main" val="1217291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BD55E-B58F-E39F-C6FB-250CB2709FA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54B1A4C-D99B-9805-BFA1-33C994BA21B1}"/>
              </a:ext>
            </a:extLst>
          </p:cNvPr>
          <p:cNvSpPr txBox="1"/>
          <p:nvPr/>
        </p:nvSpPr>
        <p:spPr>
          <a:xfrm>
            <a:off x="902825" y="229805"/>
            <a:ext cx="8475561" cy="2585323"/>
          </a:xfrm>
          <a:prstGeom prst="rect">
            <a:avLst/>
          </a:prstGeom>
          <a:noFill/>
        </p:spPr>
        <p:txBody>
          <a:bodyPr wrap="square">
            <a:spAutoFit/>
          </a:bodyPr>
          <a:lstStyle/>
          <a:p>
            <a:r>
              <a:rPr lang="en-US" b="1" dirty="0"/>
              <a:t>External Data Memory </a:t>
            </a:r>
          </a:p>
          <a:p>
            <a:endParaRPr lang="en-US" dirty="0"/>
          </a:p>
          <a:p>
            <a:r>
              <a:rPr lang="en-US" dirty="0"/>
              <a:t>Access to external memory is slower than access to internal data memory. There may be up to 64K Bytes of external data memory. Several 8051 devices provide on-chip XRAM space that is accessed with the same instructions as the traditional external data space. This XRAM space is typically enabled via proper setting of SFR register and overlaps the external memory space. Setting of that register must be manually done in code, before any access to external memory or XRAM space is made.</a:t>
            </a:r>
            <a:endParaRPr lang="en-IN" dirty="0"/>
          </a:p>
        </p:txBody>
      </p:sp>
    </p:spTree>
    <p:extLst>
      <p:ext uri="{BB962C8B-B14F-4D97-AF65-F5344CB8AC3E}">
        <p14:creationId xmlns:p14="http://schemas.microsoft.com/office/powerpoint/2010/main" val="22829722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52151-8BC9-2011-1923-924F1CDF36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087279E-6ED3-05BC-DEC9-FD967E8600B4}"/>
              </a:ext>
            </a:extLst>
          </p:cNvPr>
          <p:cNvSpPr txBox="1"/>
          <p:nvPr/>
        </p:nvSpPr>
        <p:spPr>
          <a:xfrm>
            <a:off x="682907" y="0"/>
            <a:ext cx="9444942" cy="1384995"/>
          </a:xfrm>
          <a:prstGeom prst="rect">
            <a:avLst/>
          </a:prstGeom>
          <a:noFill/>
        </p:spPr>
        <p:txBody>
          <a:bodyPr wrap="square">
            <a:spAutoFit/>
          </a:bodyPr>
          <a:lstStyle/>
          <a:p>
            <a:r>
              <a:rPr lang="en-US" sz="2800" b="1" dirty="0"/>
              <a:t>1.6 Special features of 8051- Boolean Processor, Power saving options- idle and power down mode, Derivatives of 8051(8951, 8952, 8031, 8751).</a:t>
            </a:r>
            <a:endParaRPr lang="en-IN" sz="2800" b="1" dirty="0"/>
          </a:p>
        </p:txBody>
      </p:sp>
      <p:sp>
        <p:nvSpPr>
          <p:cNvPr id="5" name="TextBox 4">
            <a:extLst>
              <a:ext uri="{FF2B5EF4-FFF2-40B4-BE49-F238E27FC236}">
                <a16:creationId xmlns:a16="http://schemas.microsoft.com/office/drawing/2014/main" id="{5CE091C9-5BC6-41F6-630A-1D712C149739}"/>
              </a:ext>
            </a:extLst>
          </p:cNvPr>
          <p:cNvSpPr txBox="1"/>
          <p:nvPr/>
        </p:nvSpPr>
        <p:spPr>
          <a:xfrm>
            <a:off x="405114" y="-2015752"/>
            <a:ext cx="8753353" cy="369332"/>
          </a:xfrm>
          <a:prstGeom prst="rect">
            <a:avLst/>
          </a:prstGeom>
          <a:noFill/>
        </p:spPr>
        <p:txBody>
          <a:bodyPr wrap="square">
            <a:spAutoFit/>
          </a:bodyPr>
          <a:lstStyle/>
          <a:p>
            <a:endParaRPr lang="en-IN" dirty="0"/>
          </a:p>
        </p:txBody>
      </p:sp>
      <p:sp>
        <p:nvSpPr>
          <p:cNvPr id="7" name="TextBox 6">
            <a:extLst>
              <a:ext uri="{FF2B5EF4-FFF2-40B4-BE49-F238E27FC236}">
                <a16:creationId xmlns:a16="http://schemas.microsoft.com/office/drawing/2014/main" id="{B46028D3-0552-D359-9AFE-F4E91F05F340}"/>
              </a:ext>
            </a:extLst>
          </p:cNvPr>
          <p:cNvSpPr txBox="1"/>
          <p:nvPr/>
        </p:nvSpPr>
        <p:spPr>
          <a:xfrm>
            <a:off x="682907" y="1674674"/>
            <a:ext cx="8692587" cy="1754326"/>
          </a:xfrm>
          <a:prstGeom prst="rect">
            <a:avLst/>
          </a:prstGeom>
          <a:noFill/>
        </p:spPr>
        <p:txBody>
          <a:bodyPr wrap="square">
            <a:spAutoFit/>
          </a:bodyPr>
          <a:lstStyle/>
          <a:p>
            <a:r>
              <a:rPr lang="en-US" b="1" dirty="0"/>
              <a:t>Boolean Processor in 8051 Microcontroller </a:t>
            </a:r>
          </a:p>
          <a:p>
            <a:endParaRPr lang="en-US" dirty="0"/>
          </a:p>
          <a:p>
            <a:r>
              <a:rPr lang="en-US" dirty="0"/>
              <a:t>The 8051 microcontroller is widely used in various embedded systems applications due to its simplicity, ease of use, and versatility. One of the essential components of the 8051 microcontroller is its Boolean Processor, which plays a crucial role in performing logical and bitwise operations.</a:t>
            </a:r>
            <a:endParaRPr lang="en-IN" dirty="0"/>
          </a:p>
        </p:txBody>
      </p:sp>
      <p:sp>
        <p:nvSpPr>
          <p:cNvPr id="9" name="TextBox 8">
            <a:extLst>
              <a:ext uri="{FF2B5EF4-FFF2-40B4-BE49-F238E27FC236}">
                <a16:creationId xmlns:a16="http://schemas.microsoft.com/office/drawing/2014/main" id="{EC135CA3-E265-5F90-2DA4-7B5308777C57}"/>
              </a:ext>
            </a:extLst>
          </p:cNvPr>
          <p:cNvSpPr txBox="1"/>
          <p:nvPr/>
        </p:nvSpPr>
        <p:spPr>
          <a:xfrm>
            <a:off x="503498" y="3799704"/>
            <a:ext cx="8556584" cy="2585323"/>
          </a:xfrm>
          <a:prstGeom prst="rect">
            <a:avLst/>
          </a:prstGeom>
          <a:noFill/>
        </p:spPr>
        <p:txBody>
          <a:bodyPr wrap="square">
            <a:spAutoFit/>
          </a:bodyPr>
          <a:lstStyle/>
          <a:p>
            <a:r>
              <a:rPr lang="en-US" dirty="0"/>
              <a:t> The 8051 microcontroller supports bit addressable memory and bit manipulation instructions for Boolean operation that’s why 8051 is also called as Boolean processor.</a:t>
            </a:r>
          </a:p>
          <a:p>
            <a:r>
              <a:rPr lang="en-US" dirty="0"/>
              <a:t> </a:t>
            </a:r>
          </a:p>
          <a:p>
            <a:r>
              <a:rPr lang="en-US" dirty="0"/>
              <a:t> The ALU is the core component of the Boolean Processor in 8051 microcontroller. It performs arithmetic and logical operations on binary data..</a:t>
            </a:r>
          </a:p>
          <a:p>
            <a:r>
              <a:rPr lang="en-US" dirty="0"/>
              <a:t> </a:t>
            </a:r>
          </a:p>
          <a:p>
            <a:r>
              <a:rPr lang="en-US" dirty="0"/>
              <a:t> The internal RAM contains 128 addressable bits, and the SFR space supports up to 128 other addressable bits</a:t>
            </a:r>
            <a:endParaRPr lang="en-IN" dirty="0"/>
          </a:p>
        </p:txBody>
      </p:sp>
    </p:spTree>
    <p:extLst>
      <p:ext uri="{BB962C8B-B14F-4D97-AF65-F5344CB8AC3E}">
        <p14:creationId xmlns:p14="http://schemas.microsoft.com/office/powerpoint/2010/main" val="27331656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75610-367D-83CE-BB1D-8FFB2951D79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4B643BC-8308-2975-1A60-CCF987D545AE}"/>
              </a:ext>
            </a:extLst>
          </p:cNvPr>
          <p:cNvSpPr txBox="1"/>
          <p:nvPr/>
        </p:nvSpPr>
        <p:spPr>
          <a:xfrm>
            <a:off x="821803" y="196272"/>
            <a:ext cx="8579733" cy="6186309"/>
          </a:xfrm>
          <a:prstGeom prst="rect">
            <a:avLst/>
          </a:prstGeom>
          <a:noFill/>
        </p:spPr>
        <p:txBody>
          <a:bodyPr wrap="square">
            <a:spAutoFit/>
          </a:bodyPr>
          <a:lstStyle/>
          <a:p>
            <a:r>
              <a:rPr lang="en-US" dirty="0"/>
              <a:t> All port lines are bit-addressable, and each can be treated as a separate single-bit port. </a:t>
            </a:r>
          </a:p>
          <a:p>
            <a:endParaRPr lang="en-US" dirty="0"/>
          </a:p>
          <a:p>
            <a:r>
              <a:rPr lang="en-US" dirty="0"/>
              <a:t> The Boolean Processor supports various logical and bitwise operations, which can be performed using instructions such as AND, OR, XOR, and NOT. </a:t>
            </a:r>
          </a:p>
          <a:p>
            <a:endParaRPr lang="en-US" dirty="0"/>
          </a:p>
          <a:p>
            <a:r>
              <a:rPr lang="en-US" dirty="0"/>
              <a:t> These operations allow manipulation of individual bits or groups of bits within registers or memory locations. </a:t>
            </a:r>
          </a:p>
          <a:p>
            <a:endParaRPr lang="en-US" dirty="0"/>
          </a:p>
          <a:p>
            <a:r>
              <a:rPr lang="en-US" dirty="0"/>
              <a:t> </a:t>
            </a:r>
            <a:r>
              <a:rPr lang="en-US" b="1" dirty="0"/>
              <a:t>For</a:t>
            </a:r>
            <a:r>
              <a:rPr lang="en-US" dirty="0"/>
              <a:t> </a:t>
            </a:r>
            <a:r>
              <a:rPr lang="en-US" b="1" dirty="0"/>
              <a:t>example</a:t>
            </a:r>
            <a:r>
              <a:rPr lang="en-US" dirty="0"/>
              <a:t>, ANL C,P1.4 ; AND the bit on P1.4 with carry flag </a:t>
            </a:r>
          </a:p>
          <a:p>
            <a:r>
              <a:rPr lang="en-US" dirty="0"/>
              <a:t>                       ORL P0.1, #1 ; OR the bit P0.1 with 1 (SET bit P0.1) </a:t>
            </a:r>
          </a:p>
          <a:p>
            <a:endParaRPr lang="en-US" dirty="0"/>
          </a:p>
          <a:p>
            <a:r>
              <a:rPr lang="en-US" dirty="0"/>
              <a:t> The Boolean Processor also supports conditional branching instructions based on the status of the flags in the PSW. These instructions allow the microcontroller to change the program flow based on the result of previous operations.</a:t>
            </a:r>
          </a:p>
          <a:p>
            <a:endParaRPr lang="en-US" dirty="0"/>
          </a:p>
          <a:p>
            <a:r>
              <a:rPr lang="en-US" b="1" dirty="0"/>
              <a:t> For example,</a:t>
            </a:r>
          </a:p>
          <a:p>
            <a:r>
              <a:rPr lang="en-US" dirty="0"/>
              <a:t> </a:t>
            </a:r>
          </a:p>
          <a:p>
            <a:pPr marL="342900" indent="-342900">
              <a:buAutoNum type="arabicPeriod"/>
            </a:pPr>
            <a:r>
              <a:rPr lang="en-US" dirty="0"/>
              <a:t>JC rel ; Jump on relative 8-bit address if carry flag is set </a:t>
            </a:r>
          </a:p>
          <a:p>
            <a:pPr marL="342900" indent="-342900">
              <a:buAutoNum type="arabicPeriod"/>
            </a:pPr>
            <a:r>
              <a:rPr lang="en-US" dirty="0"/>
              <a:t>2. JNC rel ; Jump on relative 8-bit address if carry flag is not set </a:t>
            </a:r>
          </a:p>
          <a:p>
            <a:pPr marL="342900" indent="-342900">
              <a:buAutoNum type="arabicPeriod"/>
            </a:pPr>
            <a:r>
              <a:rPr lang="en-US" dirty="0"/>
              <a:t>3. JB </a:t>
            </a:r>
            <a:r>
              <a:rPr lang="en-US" dirty="0" err="1"/>
              <a:t>bit,rel</a:t>
            </a:r>
            <a:r>
              <a:rPr lang="en-US" dirty="0"/>
              <a:t> ; Jump on relative 8-bit address if direct bit is set</a:t>
            </a:r>
            <a:endParaRPr lang="en-IN" dirty="0"/>
          </a:p>
        </p:txBody>
      </p:sp>
    </p:spTree>
    <p:extLst>
      <p:ext uri="{BB962C8B-B14F-4D97-AF65-F5344CB8AC3E}">
        <p14:creationId xmlns:p14="http://schemas.microsoft.com/office/powerpoint/2010/main" val="19097697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E44FC-1395-D488-9322-BB99EF2F1C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68FA081-BFCF-B6F7-EEFC-6138F0AA89D4}"/>
              </a:ext>
            </a:extLst>
          </p:cNvPr>
          <p:cNvSpPr txBox="1"/>
          <p:nvPr/>
        </p:nvSpPr>
        <p:spPr>
          <a:xfrm>
            <a:off x="833377" y="275311"/>
            <a:ext cx="8568158" cy="4247317"/>
          </a:xfrm>
          <a:prstGeom prst="rect">
            <a:avLst/>
          </a:prstGeom>
          <a:noFill/>
        </p:spPr>
        <p:txBody>
          <a:bodyPr wrap="square">
            <a:spAutoFit/>
          </a:bodyPr>
          <a:lstStyle/>
          <a:p>
            <a:r>
              <a:rPr lang="en-US" dirty="0"/>
              <a:t> The Boolean Processor provides instructions to perform left and right shift operations as well as rotate operations on the accumulator or other registers. These operations are useful for shifting or rotating the bits within a binary number. </a:t>
            </a:r>
          </a:p>
          <a:p>
            <a:endParaRPr lang="en-US" dirty="0"/>
          </a:p>
          <a:p>
            <a:r>
              <a:rPr lang="en-US" dirty="0"/>
              <a:t>The Boolean Processor in the 8051 microcontroller enables efficient execution of logical and bitwise operations required in many embedded systems applications</a:t>
            </a:r>
          </a:p>
          <a:p>
            <a:endParaRPr lang="en-US" dirty="0"/>
          </a:p>
          <a:p>
            <a:r>
              <a:rPr lang="en-US" dirty="0"/>
              <a:t>It provides a versatile set of instructions and registers to perform arithmetic, logical, shift, and rotate operations. The use of flags in the PSW allows for conditional branching, enabling decision-making based on the outcome of previous operations. </a:t>
            </a:r>
          </a:p>
          <a:p>
            <a:endParaRPr lang="en-US" dirty="0"/>
          </a:p>
          <a:p>
            <a:r>
              <a:rPr lang="en-US" dirty="0"/>
              <a:t>Overall, the Boolean Processor greatly enhances the computational capabilities of the 8051 microcontroller</a:t>
            </a:r>
            <a:endParaRPr lang="en-IN" dirty="0"/>
          </a:p>
        </p:txBody>
      </p:sp>
    </p:spTree>
    <p:extLst>
      <p:ext uri="{BB962C8B-B14F-4D97-AF65-F5344CB8AC3E}">
        <p14:creationId xmlns:p14="http://schemas.microsoft.com/office/powerpoint/2010/main" val="3068380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2E43-492C-A0B6-0D56-BDC55BBEC5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D6FCBE-8F73-F574-8C7C-8A98122A9B9F}"/>
              </a:ext>
            </a:extLst>
          </p:cNvPr>
          <p:cNvSpPr txBox="1"/>
          <p:nvPr/>
        </p:nvSpPr>
        <p:spPr>
          <a:xfrm>
            <a:off x="879676" y="171932"/>
            <a:ext cx="8498710" cy="3847207"/>
          </a:xfrm>
          <a:prstGeom prst="rect">
            <a:avLst/>
          </a:prstGeom>
          <a:noFill/>
        </p:spPr>
        <p:txBody>
          <a:bodyPr wrap="square">
            <a:spAutoFit/>
          </a:bodyPr>
          <a:lstStyle/>
          <a:p>
            <a:r>
              <a:rPr lang="en-US" sz="2800" b="1" dirty="0"/>
              <a:t>8051 Power Down and Idle Mode </a:t>
            </a:r>
          </a:p>
          <a:p>
            <a:endParaRPr lang="en-US" dirty="0"/>
          </a:p>
          <a:p>
            <a:r>
              <a:rPr lang="en-US" dirty="0"/>
              <a:t> Power Saving mode in 8051 microcontroller is used to save energy during idle time of processor and during power down time of processor. So, is important to make microcontroller as a power saving device. </a:t>
            </a:r>
          </a:p>
          <a:p>
            <a:endParaRPr lang="en-US" dirty="0"/>
          </a:p>
          <a:p>
            <a:r>
              <a:rPr lang="en-US" dirty="0"/>
              <a:t> The 8051 uses current of approximately 25 mA during the normal operation. </a:t>
            </a:r>
          </a:p>
          <a:p>
            <a:endParaRPr lang="en-US" dirty="0"/>
          </a:p>
          <a:p>
            <a:r>
              <a:rPr lang="en-US" dirty="0"/>
              <a:t> In power saving mode, the 8051 microcontroller reduces its total consumption to approximately 40μ </a:t>
            </a:r>
          </a:p>
          <a:p>
            <a:endParaRPr lang="en-US" dirty="0"/>
          </a:p>
          <a:p>
            <a:r>
              <a:rPr lang="en-US" dirty="0"/>
              <a:t> The 8051 supports two power-saving modes of operation: Idle and Power Down as shown in Figure</a:t>
            </a:r>
            <a:endParaRPr lang="en-IN" dirty="0"/>
          </a:p>
        </p:txBody>
      </p:sp>
      <p:pic>
        <p:nvPicPr>
          <p:cNvPr id="5" name="Picture 4">
            <a:extLst>
              <a:ext uri="{FF2B5EF4-FFF2-40B4-BE49-F238E27FC236}">
                <a16:creationId xmlns:a16="http://schemas.microsoft.com/office/drawing/2014/main" id="{4E4BB369-EA9B-3E09-0642-CC5CB2FF6E44}"/>
              </a:ext>
            </a:extLst>
          </p:cNvPr>
          <p:cNvPicPr>
            <a:picLocks noChangeAspect="1"/>
          </p:cNvPicPr>
          <p:nvPr/>
        </p:nvPicPr>
        <p:blipFill>
          <a:blip r:embed="rId2"/>
          <a:stretch>
            <a:fillRect/>
          </a:stretch>
        </p:blipFill>
        <p:spPr>
          <a:xfrm>
            <a:off x="763929" y="4132162"/>
            <a:ext cx="8193911" cy="2233914"/>
          </a:xfrm>
          <a:prstGeom prst="rect">
            <a:avLst/>
          </a:prstGeom>
        </p:spPr>
      </p:pic>
    </p:spTree>
    <p:extLst>
      <p:ext uri="{BB962C8B-B14F-4D97-AF65-F5344CB8AC3E}">
        <p14:creationId xmlns:p14="http://schemas.microsoft.com/office/powerpoint/2010/main" val="36172267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60A9F-3E58-6770-4ACA-ACFB7B358BC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C9E23BD-2862-009F-7724-E995DD105695}"/>
              </a:ext>
            </a:extLst>
          </p:cNvPr>
          <p:cNvSpPr txBox="1"/>
          <p:nvPr/>
        </p:nvSpPr>
        <p:spPr>
          <a:xfrm>
            <a:off x="879676" y="208243"/>
            <a:ext cx="8255642" cy="5509200"/>
          </a:xfrm>
          <a:prstGeom prst="rect">
            <a:avLst/>
          </a:prstGeom>
          <a:noFill/>
        </p:spPr>
        <p:txBody>
          <a:bodyPr wrap="square">
            <a:spAutoFit/>
          </a:bodyPr>
          <a:lstStyle/>
          <a:p>
            <a:r>
              <a:rPr lang="en-US" sz="2800" b="1" dirty="0"/>
              <a:t>Idle Mode </a:t>
            </a:r>
          </a:p>
          <a:p>
            <a:endParaRPr lang="en-US" dirty="0"/>
          </a:p>
          <a:p>
            <a:r>
              <a:rPr lang="en-US" dirty="0"/>
              <a:t> After setting the bit IDL in the PCON register, the microcontroller turns into idle power saving mode. </a:t>
            </a:r>
          </a:p>
          <a:p>
            <a:endParaRPr lang="en-US" dirty="0"/>
          </a:p>
          <a:p>
            <a:r>
              <a:rPr lang="en-US" dirty="0"/>
              <a:t> Where serial port, timers and interrupt system continue operating normally consuming 6.5 mA. 29</a:t>
            </a:r>
          </a:p>
          <a:p>
            <a:endParaRPr lang="en-US" dirty="0"/>
          </a:p>
          <a:p>
            <a:r>
              <a:rPr lang="en-US" dirty="0"/>
              <a:t> In Idle mode, the content of all registers and I/O ports is remains unchanged i.e. the CPU status is preserved entirely. </a:t>
            </a:r>
          </a:p>
          <a:p>
            <a:endParaRPr lang="en-US" dirty="0"/>
          </a:p>
          <a:p>
            <a:r>
              <a:rPr lang="en-US" dirty="0"/>
              <a:t> SP, PC, PSW, Accumulator and other registers remains as it is their data during IDLE mode. </a:t>
            </a:r>
          </a:p>
          <a:p>
            <a:endParaRPr lang="en-US" dirty="0"/>
          </a:p>
          <a:p>
            <a:r>
              <a:rPr lang="en-US" dirty="0"/>
              <a:t> In order to operate the microcontroller normally, interrupt or reset signal can be used. </a:t>
            </a:r>
          </a:p>
          <a:p>
            <a:endParaRPr lang="en-US" dirty="0"/>
          </a:p>
          <a:p>
            <a:r>
              <a:rPr lang="en-US" dirty="0"/>
              <a:t> Then the IDL bit is automatically cleared and the continues execution from program instruction following that instruction which has set the IDL bit.</a:t>
            </a:r>
            <a:endParaRPr lang="en-IN" dirty="0"/>
          </a:p>
        </p:txBody>
      </p:sp>
    </p:spTree>
    <p:extLst>
      <p:ext uri="{BB962C8B-B14F-4D97-AF65-F5344CB8AC3E}">
        <p14:creationId xmlns:p14="http://schemas.microsoft.com/office/powerpoint/2010/main" val="3160046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AD74EBB-5028-1397-6FE9-CBF57D8320D7}"/>
              </a:ext>
            </a:extLst>
          </p:cNvPr>
          <p:cNvSpPr txBox="1"/>
          <p:nvPr/>
        </p:nvSpPr>
        <p:spPr>
          <a:xfrm>
            <a:off x="902825" y="233376"/>
            <a:ext cx="8359814" cy="6340197"/>
          </a:xfrm>
          <a:prstGeom prst="rect">
            <a:avLst/>
          </a:prstGeom>
          <a:noFill/>
        </p:spPr>
        <p:txBody>
          <a:bodyPr wrap="square">
            <a:spAutoFit/>
          </a:bodyPr>
          <a:lstStyle/>
          <a:p>
            <a:r>
              <a:rPr lang="en-US" sz="2800" b="1" dirty="0"/>
              <a:t>Power Down Mode </a:t>
            </a:r>
          </a:p>
          <a:p>
            <a:endParaRPr lang="en-US" dirty="0"/>
          </a:p>
          <a:p>
            <a:r>
              <a:rPr lang="en-US" dirty="0"/>
              <a:t> After setting the bit PD in the PCON register, the microcontroller turns into idle power saving mode. </a:t>
            </a:r>
          </a:p>
          <a:p>
            <a:endParaRPr lang="en-US" dirty="0"/>
          </a:p>
          <a:p>
            <a:r>
              <a:rPr lang="en-US" dirty="0"/>
              <a:t> In this mode, 8051 turns off its internal oscillator which reduces power consumption. </a:t>
            </a:r>
          </a:p>
          <a:p>
            <a:endParaRPr lang="en-US" dirty="0"/>
          </a:p>
          <a:p>
            <a:r>
              <a:rPr lang="en-US" dirty="0"/>
              <a:t> In power-down mode, the 8051 microcontroller operates using only 2V power supply where the total power consumption is less than 40 </a:t>
            </a:r>
            <a:r>
              <a:rPr lang="en-US" dirty="0" err="1"/>
              <a:t>μA</a:t>
            </a:r>
            <a:r>
              <a:rPr lang="en-US" dirty="0"/>
              <a:t>. </a:t>
            </a:r>
          </a:p>
          <a:p>
            <a:endParaRPr lang="en-US" dirty="0"/>
          </a:p>
          <a:p>
            <a:r>
              <a:rPr lang="en-US" dirty="0"/>
              <a:t> The microcontroller can be brought to normal mode by using hardware reset signal only. </a:t>
            </a:r>
          </a:p>
          <a:p>
            <a:endParaRPr lang="en-US" dirty="0"/>
          </a:p>
          <a:p>
            <a:r>
              <a:rPr lang="en-US" dirty="0"/>
              <a:t> In Power Down mode, the contents of all SFR registers and I/O ports remains as it is. </a:t>
            </a:r>
          </a:p>
          <a:p>
            <a:endParaRPr lang="en-US" dirty="0"/>
          </a:p>
          <a:p>
            <a:r>
              <a:rPr lang="en-US" dirty="0"/>
              <a:t> But after the microcontroller brought into the normal mode, the content of the SFR register is lost, but the content of internal RAM is saved. </a:t>
            </a:r>
          </a:p>
          <a:p>
            <a:endParaRPr lang="en-US" dirty="0"/>
          </a:p>
          <a:p>
            <a:r>
              <a:rPr lang="en-US" dirty="0"/>
              <a:t> Reset signal must of approximately 10 </a:t>
            </a:r>
            <a:r>
              <a:rPr lang="en-US" dirty="0" err="1"/>
              <a:t>ms</a:t>
            </a:r>
            <a:r>
              <a:rPr lang="en-US" dirty="0"/>
              <a:t> so that 8051 microcontroller can stabilize quartz Oscillator operating.</a:t>
            </a:r>
            <a:endParaRPr lang="en-IN" dirty="0"/>
          </a:p>
        </p:txBody>
      </p:sp>
    </p:spTree>
    <p:extLst>
      <p:ext uri="{BB962C8B-B14F-4D97-AF65-F5344CB8AC3E}">
        <p14:creationId xmlns:p14="http://schemas.microsoft.com/office/powerpoint/2010/main" val="4192671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3E465-3BE3-71E5-6B5C-007F99DB30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CB3120-DC8E-0739-A2F4-F103BC4E1858}"/>
              </a:ext>
            </a:extLst>
          </p:cNvPr>
          <p:cNvSpPr txBox="1"/>
          <p:nvPr/>
        </p:nvSpPr>
        <p:spPr>
          <a:xfrm>
            <a:off x="902824" y="0"/>
            <a:ext cx="8545009" cy="1754326"/>
          </a:xfrm>
          <a:prstGeom prst="rect">
            <a:avLst/>
          </a:prstGeom>
          <a:noFill/>
        </p:spPr>
        <p:txBody>
          <a:bodyPr wrap="square">
            <a:spAutoFit/>
          </a:bodyPr>
          <a:lstStyle/>
          <a:p>
            <a:r>
              <a:rPr lang="en-US" dirty="0"/>
              <a:t> In the Power Down mode, the oscillator is completely stopped, and the instruction that invokes Power Down is the last instruction executed by 8051 microcontroller. </a:t>
            </a:r>
          </a:p>
          <a:p>
            <a:endParaRPr lang="en-US" dirty="0"/>
          </a:p>
          <a:p>
            <a:r>
              <a:rPr lang="en-US" dirty="0"/>
              <a:t> The internal RAM and Special Function Registers save their values till the Power Down mode is removed.</a:t>
            </a:r>
            <a:endParaRPr lang="en-IN" dirty="0"/>
          </a:p>
        </p:txBody>
      </p:sp>
      <p:sp>
        <p:nvSpPr>
          <p:cNvPr id="5" name="TextBox 4">
            <a:extLst>
              <a:ext uri="{FF2B5EF4-FFF2-40B4-BE49-F238E27FC236}">
                <a16:creationId xmlns:a16="http://schemas.microsoft.com/office/drawing/2014/main" id="{E542769C-A8EB-9FA4-EA5E-020CDA844B5B}"/>
              </a:ext>
            </a:extLst>
          </p:cNvPr>
          <p:cNvSpPr txBox="1"/>
          <p:nvPr/>
        </p:nvSpPr>
        <p:spPr>
          <a:xfrm>
            <a:off x="787077" y="1847479"/>
            <a:ext cx="8660756" cy="369332"/>
          </a:xfrm>
          <a:prstGeom prst="rect">
            <a:avLst/>
          </a:prstGeom>
          <a:noFill/>
        </p:spPr>
        <p:txBody>
          <a:bodyPr wrap="square">
            <a:spAutoFit/>
          </a:bodyPr>
          <a:lstStyle/>
          <a:p>
            <a:r>
              <a:rPr lang="en-US" b="1" dirty="0"/>
              <a:t>Difference Between Power Down Mode and Idle Mode in 8051</a:t>
            </a:r>
            <a:endParaRPr lang="en-IN" b="1" dirty="0"/>
          </a:p>
        </p:txBody>
      </p:sp>
      <p:graphicFrame>
        <p:nvGraphicFramePr>
          <p:cNvPr id="6" name="Table 5">
            <a:extLst>
              <a:ext uri="{FF2B5EF4-FFF2-40B4-BE49-F238E27FC236}">
                <a16:creationId xmlns:a16="http://schemas.microsoft.com/office/drawing/2014/main" id="{3587A3CF-2DF1-6A39-0E64-F16A4D49D3ED}"/>
              </a:ext>
            </a:extLst>
          </p:cNvPr>
          <p:cNvGraphicFramePr>
            <a:graphicFrameLocks noGrp="1"/>
          </p:cNvGraphicFramePr>
          <p:nvPr>
            <p:extLst>
              <p:ext uri="{D42A27DB-BD31-4B8C-83A1-F6EECF244321}">
                <p14:modId xmlns:p14="http://schemas.microsoft.com/office/powerpoint/2010/main" val="4241007885"/>
              </p:ext>
            </p:extLst>
          </p:nvPr>
        </p:nvGraphicFramePr>
        <p:xfrm>
          <a:off x="671331" y="2447802"/>
          <a:ext cx="8461092" cy="4357327"/>
        </p:xfrm>
        <a:graphic>
          <a:graphicData uri="http://schemas.openxmlformats.org/drawingml/2006/table">
            <a:tbl>
              <a:tblPr>
                <a:tableStyleId>{5940675A-B579-460E-94D1-54222C63F5DA}</a:tableStyleId>
              </a:tblPr>
              <a:tblGrid>
                <a:gridCol w="2820364">
                  <a:extLst>
                    <a:ext uri="{9D8B030D-6E8A-4147-A177-3AD203B41FA5}">
                      <a16:colId xmlns:a16="http://schemas.microsoft.com/office/drawing/2014/main" val="305418961"/>
                    </a:ext>
                  </a:extLst>
                </a:gridCol>
                <a:gridCol w="2820364">
                  <a:extLst>
                    <a:ext uri="{9D8B030D-6E8A-4147-A177-3AD203B41FA5}">
                      <a16:colId xmlns:a16="http://schemas.microsoft.com/office/drawing/2014/main" val="1683425065"/>
                    </a:ext>
                  </a:extLst>
                </a:gridCol>
                <a:gridCol w="2820364">
                  <a:extLst>
                    <a:ext uri="{9D8B030D-6E8A-4147-A177-3AD203B41FA5}">
                      <a16:colId xmlns:a16="http://schemas.microsoft.com/office/drawing/2014/main" val="1665543993"/>
                    </a:ext>
                  </a:extLst>
                </a:gridCol>
              </a:tblGrid>
              <a:tr h="342964">
                <a:tc>
                  <a:txBody>
                    <a:bodyPr/>
                    <a:lstStyle/>
                    <a:p>
                      <a:pPr algn="ctr">
                        <a:buNone/>
                      </a:pPr>
                      <a:r>
                        <a:rPr lang="en-IN" sz="2000" b="1">
                          <a:effectLst/>
                        </a:rPr>
                        <a:t>Aspect</a:t>
                      </a:r>
                    </a:p>
                  </a:txBody>
                  <a:tcPr marL="47625" marR="47625" marT="47625" marB="47625" anchor="ctr"/>
                </a:tc>
                <a:tc>
                  <a:txBody>
                    <a:bodyPr/>
                    <a:lstStyle/>
                    <a:p>
                      <a:pPr algn="ctr">
                        <a:buNone/>
                      </a:pPr>
                      <a:r>
                        <a:rPr lang="en-IN" sz="2000" b="1" dirty="0">
                          <a:effectLst/>
                        </a:rPr>
                        <a:t>Power Down Mode</a:t>
                      </a:r>
                    </a:p>
                  </a:txBody>
                  <a:tcPr marL="47625" marR="47625" marT="47625" marB="47625" anchor="ctr"/>
                </a:tc>
                <a:tc>
                  <a:txBody>
                    <a:bodyPr/>
                    <a:lstStyle/>
                    <a:p>
                      <a:pPr algn="ctr">
                        <a:buNone/>
                      </a:pPr>
                      <a:r>
                        <a:rPr lang="en-IN" sz="2000" b="1" dirty="0">
                          <a:effectLst/>
                        </a:rPr>
                        <a:t>Idle Mode</a:t>
                      </a:r>
                    </a:p>
                  </a:txBody>
                  <a:tcPr marL="47625" marR="47625" marT="47625" marB="47625" anchor="ctr"/>
                </a:tc>
                <a:extLst>
                  <a:ext uri="{0D108BD9-81ED-4DB2-BD59-A6C34878D82A}">
                    <a16:rowId xmlns:a16="http://schemas.microsoft.com/office/drawing/2014/main" val="1431342757"/>
                  </a:ext>
                </a:extLst>
              </a:tr>
              <a:tr h="817837">
                <a:tc>
                  <a:txBody>
                    <a:bodyPr/>
                    <a:lstStyle/>
                    <a:p>
                      <a:pPr algn="l">
                        <a:buNone/>
                      </a:pPr>
                      <a:r>
                        <a:rPr lang="en-IN" sz="1400">
                          <a:effectLst/>
                        </a:rPr>
                        <a:t>Clock status</a:t>
                      </a:r>
                    </a:p>
                  </a:txBody>
                  <a:tcPr marL="47625" marR="47625" marT="47625" marB="47625" anchor="ctr"/>
                </a:tc>
                <a:tc>
                  <a:txBody>
                    <a:bodyPr/>
                    <a:lstStyle/>
                    <a:p>
                      <a:pPr algn="l">
                        <a:buNone/>
                      </a:pPr>
                      <a:r>
                        <a:rPr lang="en-US" sz="1400">
                          <a:effectLst/>
                        </a:rPr>
                        <a:t>Oscillator clock stopped, CPU and peripherals clocks OFF</a:t>
                      </a:r>
                    </a:p>
                  </a:txBody>
                  <a:tcPr marL="47625" marR="47625" marT="47625" marB="47625" anchor="ctr"/>
                </a:tc>
                <a:tc>
                  <a:txBody>
                    <a:bodyPr/>
                    <a:lstStyle/>
                    <a:p>
                      <a:pPr algn="l">
                        <a:buNone/>
                      </a:pPr>
                      <a:r>
                        <a:rPr lang="en-US" sz="1400">
                          <a:effectLst/>
                        </a:rPr>
                        <a:t>CPU clock stopped, peripheral clocks active</a:t>
                      </a:r>
                    </a:p>
                  </a:txBody>
                  <a:tcPr marL="47625" marR="47625" marT="47625" marB="47625" anchor="ctr"/>
                </a:tc>
                <a:extLst>
                  <a:ext uri="{0D108BD9-81ED-4DB2-BD59-A6C34878D82A}">
                    <a16:rowId xmlns:a16="http://schemas.microsoft.com/office/drawing/2014/main" val="1404681605"/>
                  </a:ext>
                </a:extLst>
              </a:tr>
              <a:tr h="342964">
                <a:tc>
                  <a:txBody>
                    <a:bodyPr/>
                    <a:lstStyle/>
                    <a:p>
                      <a:pPr algn="l">
                        <a:buNone/>
                      </a:pPr>
                      <a:r>
                        <a:rPr lang="en-IN" sz="1400">
                          <a:effectLst/>
                        </a:rPr>
                        <a:t>CPU operation</a:t>
                      </a:r>
                    </a:p>
                  </a:txBody>
                  <a:tcPr marL="47625" marR="47625" marT="47625" marB="47625" anchor="ctr"/>
                </a:tc>
                <a:tc>
                  <a:txBody>
                    <a:bodyPr/>
                    <a:lstStyle/>
                    <a:p>
                      <a:pPr algn="l">
                        <a:buNone/>
                      </a:pPr>
                      <a:r>
                        <a:rPr lang="en-IN" sz="1400">
                          <a:effectLst/>
                        </a:rPr>
                        <a:t>CPU halted</a:t>
                      </a:r>
                    </a:p>
                  </a:txBody>
                  <a:tcPr marL="47625" marR="47625" marT="47625" marB="47625" anchor="ctr"/>
                </a:tc>
                <a:tc>
                  <a:txBody>
                    <a:bodyPr/>
                    <a:lstStyle/>
                    <a:p>
                      <a:pPr algn="l">
                        <a:buNone/>
                      </a:pPr>
                      <a:r>
                        <a:rPr lang="en-IN" sz="1400">
                          <a:effectLst/>
                        </a:rPr>
                        <a:t>CPU halted</a:t>
                      </a:r>
                    </a:p>
                  </a:txBody>
                  <a:tcPr marL="47625" marR="47625" marT="47625" marB="47625" anchor="ctr"/>
                </a:tc>
                <a:extLst>
                  <a:ext uri="{0D108BD9-81ED-4DB2-BD59-A6C34878D82A}">
                    <a16:rowId xmlns:a16="http://schemas.microsoft.com/office/drawing/2014/main" val="3272234206"/>
                  </a:ext>
                </a:extLst>
              </a:tr>
              <a:tr h="580401">
                <a:tc>
                  <a:txBody>
                    <a:bodyPr/>
                    <a:lstStyle/>
                    <a:p>
                      <a:pPr algn="l">
                        <a:buNone/>
                      </a:pPr>
                      <a:r>
                        <a:rPr lang="en-IN" sz="1400">
                          <a:effectLst/>
                        </a:rPr>
                        <a:t>Peripheral operation</a:t>
                      </a:r>
                    </a:p>
                  </a:txBody>
                  <a:tcPr marL="47625" marR="47625" marT="47625" marB="47625" anchor="ctr"/>
                </a:tc>
                <a:tc>
                  <a:txBody>
                    <a:bodyPr/>
                    <a:lstStyle/>
                    <a:p>
                      <a:pPr algn="l">
                        <a:buNone/>
                      </a:pPr>
                      <a:r>
                        <a:rPr lang="en-IN" sz="1400" dirty="0">
                          <a:effectLst/>
                        </a:rPr>
                        <a:t>Peripherals inactive</a:t>
                      </a:r>
                    </a:p>
                  </a:txBody>
                  <a:tcPr marL="47625" marR="47625" marT="47625" marB="47625" anchor="ctr"/>
                </a:tc>
                <a:tc>
                  <a:txBody>
                    <a:bodyPr/>
                    <a:lstStyle/>
                    <a:p>
                      <a:pPr algn="l">
                        <a:buNone/>
                      </a:pPr>
                      <a:r>
                        <a:rPr lang="en-IN" sz="1400">
                          <a:effectLst/>
                        </a:rPr>
                        <a:t>Peripherals active (timers, serial port, interrupts)</a:t>
                      </a:r>
                    </a:p>
                  </a:txBody>
                  <a:tcPr marL="47625" marR="47625" marT="47625" marB="47625" anchor="ctr"/>
                </a:tc>
                <a:extLst>
                  <a:ext uri="{0D108BD9-81ED-4DB2-BD59-A6C34878D82A}">
                    <a16:rowId xmlns:a16="http://schemas.microsoft.com/office/drawing/2014/main" val="745556740"/>
                  </a:ext>
                </a:extLst>
              </a:tr>
              <a:tr h="817837">
                <a:tc>
                  <a:txBody>
                    <a:bodyPr/>
                    <a:lstStyle/>
                    <a:p>
                      <a:pPr algn="l">
                        <a:buNone/>
                      </a:pPr>
                      <a:r>
                        <a:rPr lang="en-IN" sz="1400">
                          <a:effectLst/>
                        </a:rPr>
                        <a:t>Power consumption</a:t>
                      </a:r>
                    </a:p>
                  </a:txBody>
                  <a:tcPr marL="47625" marR="47625" marT="47625" marB="47625" anchor="ctr"/>
                </a:tc>
                <a:tc>
                  <a:txBody>
                    <a:bodyPr/>
                    <a:lstStyle/>
                    <a:p>
                      <a:pPr algn="l">
                        <a:buNone/>
                      </a:pPr>
                      <a:r>
                        <a:rPr lang="en-IN" sz="1400">
                          <a:effectLst/>
                        </a:rPr>
                        <a:t>Very low (&lt; 40 </a:t>
                      </a:r>
                      <a:r>
                        <a:rPr lang="el-GR" sz="1400">
                          <a:effectLst/>
                        </a:rPr>
                        <a:t>μ</a:t>
                      </a:r>
                      <a:r>
                        <a:rPr lang="en-IN" sz="1400">
                          <a:effectLst/>
                        </a:rPr>
                        <a:t>A)</a:t>
                      </a:r>
                    </a:p>
                  </a:txBody>
                  <a:tcPr marL="47625" marR="47625" marT="47625" marB="47625" anchor="ctr"/>
                </a:tc>
                <a:tc>
                  <a:txBody>
                    <a:bodyPr/>
                    <a:lstStyle/>
                    <a:p>
                      <a:pPr algn="l">
                        <a:buNone/>
                      </a:pPr>
                      <a:r>
                        <a:rPr lang="en-US" sz="1400">
                          <a:effectLst/>
                        </a:rPr>
                        <a:t>Reduced but higher than Power Down (e.g., 6.5 mA)</a:t>
                      </a:r>
                    </a:p>
                  </a:txBody>
                  <a:tcPr marL="47625" marR="47625" marT="47625" marB="47625" anchor="ctr"/>
                </a:tc>
                <a:extLst>
                  <a:ext uri="{0D108BD9-81ED-4DB2-BD59-A6C34878D82A}">
                    <a16:rowId xmlns:a16="http://schemas.microsoft.com/office/drawing/2014/main" val="523467042"/>
                  </a:ext>
                </a:extLst>
              </a:tr>
              <a:tr h="817837">
                <a:tc>
                  <a:txBody>
                    <a:bodyPr/>
                    <a:lstStyle/>
                    <a:p>
                      <a:pPr algn="l">
                        <a:buNone/>
                      </a:pPr>
                      <a:r>
                        <a:rPr lang="en-IN" sz="1400">
                          <a:effectLst/>
                        </a:rPr>
                        <a:t>Exit from mode</a:t>
                      </a:r>
                    </a:p>
                  </a:txBody>
                  <a:tcPr marL="47625" marR="47625" marT="47625" marB="47625" anchor="ctr"/>
                </a:tc>
                <a:tc>
                  <a:txBody>
                    <a:bodyPr/>
                    <a:lstStyle/>
                    <a:p>
                      <a:pPr algn="l">
                        <a:buNone/>
                      </a:pPr>
                      <a:r>
                        <a:rPr lang="en-US" sz="1400">
                          <a:effectLst/>
                        </a:rPr>
                        <a:t>Usually hardware reset or external interrupt in some cases</a:t>
                      </a:r>
                    </a:p>
                  </a:txBody>
                  <a:tcPr marL="47625" marR="47625" marT="47625" marB="47625" anchor="ctr"/>
                </a:tc>
                <a:tc>
                  <a:txBody>
                    <a:bodyPr/>
                    <a:lstStyle/>
                    <a:p>
                      <a:pPr algn="l">
                        <a:buNone/>
                      </a:pPr>
                      <a:r>
                        <a:rPr lang="en-IN" sz="1400">
                          <a:effectLst/>
                        </a:rPr>
                        <a:t>Interrupt or hardware reset</a:t>
                      </a:r>
                    </a:p>
                  </a:txBody>
                  <a:tcPr marL="47625" marR="47625" marT="47625" marB="47625" anchor="ctr"/>
                </a:tc>
                <a:extLst>
                  <a:ext uri="{0D108BD9-81ED-4DB2-BD59-A6C34878D82A}">
                    <a16:rowId xmlns:a16="http://schemas.microsoft.com/office/drawing/2014/main" val="4282154925"/>
                  </a:ext>
                </a:extLst>
              </a:tr>
              <a:tr h="580401">
                <a:tc>
                  <a:txBody>
                    <a:bodyPr/>
                    <a:lstStyle/>
                    <a:p>
                      <a:pPr algn="l">
                        <a:buNone/>
                      </a:pPr>
                      <a:r>
                        <a:rPr lang="en-IN" sz="1400">
                          <a:effectLst/>
                        </a:rPr>
                        <a:t>Power supply voltage</a:t>
                      </a:r>
                    </a:p>
                  </a:txBody>
                  <a:tcPr marL="47625" marR="47625" marT="47625" marB="47625" anchor="ctr"/>
                </a:tc>
                <a:tc>
                  <a:txBody>
                    <a:bodyPr/>
                    <a:lstStyle/>
                    <a:p>
                      <a:pPr algn="l">
                        <a:buNone/>
                      </a:pPr>
                      <a:r>
                        <a:rPr lang="en-US" sz="1400">
                          <a:effectLst/>
                        </a:rPr>
                        <a:t>Can operate at lower voltage (around 2V)</a:t>
                      </a:r>
                    </a:p>
                  </a:txBody>
                  <a:tcPr marL="47625" marR="47625" marT="47625" marB="47625" anchor="ctr"/>
                </a:tc>
                <a:tc>
                  <a:txBody>
                    <a:bodyPr/>
                    <a:lstStyle/>
                    <a:p>
                      <a:pPr algn="l">
                        <a:buNone/>
                      </a:pPr>
                      <a:r>
                        <a:rPr lang="en-IN" sz="1400" dirty="0">
                          <a:effectLst/>
                        </a:rPr>
                        <a:t>Normal voltage operation</a:t>
                      </a:r>
                    </a:p>
                  </a:txBody>
                  <a:tcPr marL="47625" marR="47625" marT="47625" marB="47625" anchor="ctr"/>
                </a:tc>
                <a:extLst>
                  <a:ext uri="{0D108BD9-81ED-4DB2-BD59-A6C34878D82A}">
                    <a16:rowId xmlns:a16="http://schemas.microsoft.com/office/drawing/2014/main" val="2999978365"/>
                  </a:ext>
                </a:extLst>
              </a:tr>
            </a:tbl>
          </a:graphicData>
        </a:graphic>
      </p:graphicFrame>
    </p:spTree>
    <p:extLst>
      <p:ext uri="{BB962C8B-B14F-4D97-AF65-F5344CB8AC3E}">
        <p14:creationId xmlns:p14="http://schemas.microsoft.com/office/powerpoint/2010/main" val="31555491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58EAF-BBCC-902B-1CCE-FFB8C40DD0B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7F1836-9D7A-2FC0-654D-1BFE82F7948F}"/>
              </a:ext>
            </a:extLst>
          </p:cNvPr>
          <p:cNvSpPr txBox="1"/>
          <p:nvPr/>
        </p:nvSpPr>
        <p:spPr>
          <a:xfrm>
            <a:off x="946230" y="203086"/>
            <a:ext cx="6105644" cy="523220"/>
          </a:xfrm>
          <a:prstGeom prst="rect">
            <a:avLst/>
          </a:prstGeom>
          <a:noFill/>
        </p:spPr>
        <p:txBody>
          <a:bodyPr wrap="square">
            <a:spAutoFit/>
          </a:bodyPr>
          <a:lstStyle/>
          <a:p>
            <a:r>
              <a:rPr lang="en-IN" sz="2800" b="1" dirty="0"/>
              <a:t>PCON register </a:t>
            </a:r>
          </a:p>
        </p:txBody>
      </p:sp>
      <p:pic>
        <p:nvPicPr>
          <p:cNvPr id="5" name="Picture 4">
            <a:extLst>
              <a:ext uri="{FF2B5EF4-FFF2-40B4-BE49-F238E27FC236}">
                <a16:creationId xmlns:a16="http://schemas.microsoft.com/office/drawing/2014/main" id="{DF5B9CFD-7DCE-FDF2-AE59-F78D4CFA7CFE}"/>
              </a:ext>
            </a:extLst>
          </p:cNvPr>
          <p:cNvPicPr>
            <a:picLocks noChangeAspect="1"/>
          </p:cNvPicPr>
          <p:nvPr/>
        </p:nvPicPr>
        <p:blipFill>
          <a:blip r:embed="rId2"/>
          <a:srcRect l="1529" t="8345" b="7718"/>
          <a:stretch>
            <a:fillRect/>
          </a:stretch>
        </p:blipFill>
        <p:spPr>
          <a:xfrm>
            <a:off x="829639" y="1018571"/>
            <a:ext cx="7822436" cy="775504"/>
          </a:xfrm>
          <a:prstGeom prst="rect">
            <a:avLst/>
          </a:prstGeom>
        </p:spPr>
      </p:pic>
      <p:sp>
        <p:nvSpPr>
          <p:cNvPr id="7" name="TextBox 6">
            <a:extLst>
              <a:ext uri="{FF2B5EF4-FFF2-40B4-BE49-F238E27FC236}">
                <a16:creationId xmlns:a16="http://schemas.microsoft.com/office/drawing/2014/main" id="{367DC821-8274-1491-FD75-054B0031C16F}"/>
              </a:ext>
            </a:extLst>
          </p:cNvPr>
          <p:cNvSpPr txBox="1"/>
          <p:nvPr/>
        </p:nvSpPr>
        <p:spPr>
          <a:xfrm>
            <a:off x="829639" y="2086340"/>
            <a:ext cx="8672330" cy="3693319"/>
          </a:xfrm>
          <a:prstGeom prst="rect">
            <a:avLst/>
          </a:prstGeom>
          <a:noFill/>
        </p:spPr>
        <p:txBody>
          <a:bodyPr wrap="square">
            <a:spAutoFit/>
          </a:bodyPr>
          <a:lstStyle/>
          <a:p>
            <a:r>
              <a:rPr lang="en-US" dirty="0"/>
              <a:t>The purpose of the Register PCON bits is: </a:t>
            </a:r>
          </a:p>
          <a:p>
            <a:endParaRPr lang="en-US" dirty="0"/>
          </a:p>
          <a:p>
            <a:r>
              <a:rPr lang="en-US" dirty="0"/>
              <a:t> SMOD Baud rate is twice as much higher by setting this bit. </a:t>
            </a:r>
          </a:p>
          <a:p>
            <a:endParaRPr lang="en-US" dirty="0"/>
          </a:p>
          <a:p>
            <a:r>
              <a:rPr lang="en-US" dirty="0"/>
              <a:t> GF1 General-purpose bit (available for use).</a:t>
            </a:r>
          </a:p>
          <a:p>
            <a:endParaRPr lang="en-US" dirty="0"/>
          </a:p>
          <a:p>
            <a:r>
              <a:rPr lang="en-US" dirty="0"/>
              <a:t> GF1 General-purpose bit (available for use). </a:t>
            </a:r>
          </a:p>
          <a:p>
            <a:endParaRPr lang="en-US" dirty="0"/>
          </a:p>
          <a:p>
            <a:r>
              <a:rPr lang="en-US" dirty="0"/>
              <a:t> GF0 General-purpose bit (available for use). </a:t>
            </a:r>
          </a:p>
          <a:p>
            <a:endParaRPr lang="en-US" dirty="0"/>
          </a:p>
          <a:p>
            <a:r>
              <a:rPr lang="en-US" dirty="0"/>
              <a:t> PD By setting this bit the microcontroller enters the Power Down </a:t>
            </a:r>
          </a:p>
          <a:p>
            <a:endParaRPr lang="en-US" dirty="0"/>
          </a:p>
          <a:p>
            <a:r>
              <a:rPr lang="en-US" dirty="0"/>
              <a:t> IDL By setting this bit the microcontroller enters the Idle</a:t>
            </a:r>
            <a:endParaRPr lang="en-IN" dirty="0"/>
          </a:p>
        </p:txBody>
      </p:sp>
    </p:spTree>
    <p:extLst>
      <p:ext uri="{BB962C8B-B14F-4D97-AF65-F5344CB8AC3E}">
        <p14:creationId xmlns:p14="http://schemas.microsoft.com/office/powerpoint/2010/main" val="155697229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E1C55-724C-1547-4B6E-6605F8830E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86E2EE-8B31-1688-7A45-8370B1DD4F30}"/>
              </a:ext>
            </a:extLst>
          </p:cNvPr>
          <p:cNvSpPr txBox="1"/>
          <p:nvPr/>
        </p:nvSpPr>
        <p:spPr>
          <a:xfrm>
            <a:off x="980954" y="272533"/>
            <a:ext cx="8359815" cy="523220"/>
          </a:xfrm>
          <a:prstGeom prst="rect">
            <a:avLst/>
          </a:prstGeom>
          <a:noFill/>
        </p:spPr>
        <p:txBody>
          <a:bodyPr wrap="square">
            <a:spAutoFit/>
          </a:bodyPr>
          <a:lstStyle/>
          <a:p>
            <a:r>
              <a:rPr lang="en-US" sz="2800" b="1" dirty="0"/>
              <a:t>Derivatives of 8051 (8951, 8952, 8031, 8751)</a:t>
            </a:r>
            <a:endParaRPr lang="en-IN" sz="2800" b="1" dirty="0"/>
          </a:p>
        </p:txBody>
      </p:sp>
      <p:pic>
        <p:nvPicPr>
          <p:cNvPr id="7" name="Picture 6">
            <a:extLst>
              <a:ext uri="{FF2B5EF4-FFF2-40B4-BE49-F238E27FC236}">
                <a16:creationId xmlns:a16="http://schemas.microsoft.com/office/drawing/2014/main" id="{A4CAA077-2D48-1037-D3D3-17A1C04C54E7}"/>
              </a:ext>
            </a:extLst>
          </p:cNvPr>
          <p:cNvPicPr>
            <a:picLocks noChangeAspect="1"/>
          </p:cNvPicPr>
          <p:nvPr/>
        </p:nvPicPr>
        <p:blipFill>
          <a:blip r:embed="rId2"/>
          <a:srcRect l="3583" t="5408" r="1495" b="3151"/>
          <a:stretch>
            <a:fillRect/>
          </a:stretch>
        </p:blipFill>
        <p:spPr>
          <a:xfrm>
            <a:off x="752354" y="795754"/>
            <a:ext cx="8785185" cy="4436004"/>
          </a:xfrm>
          <a:prstGeom prst="rect">
            <a:avLst/>
          </a:prstGeom>
        </p:spPr>
      </p:pic>
    </p:spTree>
    <p:extLst>
      <p:ext uri="{BB962C8B-B14F-4D97-AF65-F5344CB8AC3E}">
        <p14:creationId xmlns:p14="http://schemas.microsoft.com/office/powerpoint/2010/main" val="209848056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624</TotalTime>
  <Words>6540</Words>
  <Application>Microsoft Office PowerPoint</Application>
  <PresentationFormat>Widescreen</PresentationFormat>
  <Paragraphs>530</Paragraphs>
  <Slides>54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54</vt:i4>
      </vt:variant>
    </vt:vector>
  </HeadingPairs>
  <TitlesOfParts>
    <vt:vector size="62" baseType="lpstr">
      <vt:lpstr>Aptos</vt:lpstr>
      <vt:lpstr>Arial</vt:lpstr>
      <vt:lpstr>fkGrotesk</vt:lpstr>
      <vt:lpstr>fkGroteskNeue</vt:lpstr>
      <vt:lpstr>Trebuchet MS</vt:lpstr>
      <vt:lpstr>Wingdings</vt:lpstr>
      <vt:lpstr>Wingdings 3</vt:lpstr>
      <vt:lpstr>Facet</vt:lpstr>
      <vt:lpstr>Basics of Microcontroller 8051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2025-10-09T16:35:01Z</dcterms:created>
  <dcterms:modified xsi:type="dcterms:W3CDTF">2025-10-10T18:48:09Z</dcterms:modified>
</cp:coreProperties>
</file>