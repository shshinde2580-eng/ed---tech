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1528144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4254915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2593464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1996A5-7A9F-49DC-A420-2C05572BAE43}"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3904830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1996A5-7A9F-49DC-A420-2C05572BAE43}" type="datetimeFigureOut">
              <a:rPr lang="en-IN" smtClean="0"/>
              <a:t>07-10-2025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2627114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1996A5-7A9F-49DC-A420-2C05572BAE43}" type="datetimeFigureOut">
              <a:rPr lang="en-IN" smtClean="0"/>
              <a:t>07-10-2025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245197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1996A5-7A9F-49DC-A420-2C05572BAE43}" type="datetimeFigureOut">
              <a:rPr lang="en-IN" smtClean="0"/>
              <a:t>07-10-2025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457290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1996A5-7A9F-49DC-A420-2C05572BAE43}"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2372967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1996A5-7A9F-49DC-A420-2C05572BAE43}"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691343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263140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00187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10412205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61588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151503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38187681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1996A5-7A9F-49DC-A420-2C05572BAE43}"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D6A811-A782-438A-B712-6D0BEB442695}" type="slidenum">
              <a:rPr lang="en-IN" smtClean="0"/>
              <a:t>‹#›</a:t>
            </a:fld>
            <a:endParaRPr lang="en-IN"/>
          </a:p>
        </p:txBody>
      </p:sp>
    </p:spTree>
    <p:extLst>
      <p:ext uri="{BB962C8B-B14F-4D97-AF65-F5344CB8AC3E}">
        <p14:creationId xmlns:p14="http://schemas.microsoft.com/office/powerpoint/2010/main" val="2629954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D1996A5-7A9F-49DC-A420-2C05572BAE43}" type="datetimeFigureOut">
              <a:rPr lang="en-IN" smtClean="0"/>
              <a:t>07-10-2025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2D6A811-A782-438A-B712-6D0BEB442695}" type="slidenum">
              <a:rPr lang="en-IN" smtClean="0"/>
              <a:t>‹#›</a:t>
            </a:fld>
            <a:endParaRPr lang="en-IN"/>
          </a:p>
        </p:txBody>
      </p:sp>
    </p:spTree>
    <p:extLst>
      <p:ext uri="{BB962C8B-B14F-4D97-AF65-F5344CB8AC3E}">
        <p14:creationId xmlns:p14="http://schemas.microsoft.com/office/powerpoint/2010/main" val="1179792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F8A6A-B254-6852-7419-CF3777362251}"/>
              </a:ext>
            </a:extLst>
          </p:cNvPr>
          <p:cNvSpPr>
            <a:spLocks noGrp="1"/>
          </p:cNvSpPr>
          <p:nvPr>
            <p:ph type="ctrTitle"/>
          </p:nvPr>
        </p:nvSpPr>
        <p:spPr>
          <a:xfrm>
            <a:off x="685799" y="2454229"/>
            <a:ext cx="9084365" cy="1646302"/>
          </a:xfrm>
        </p:spPr>
        <p:txBody>
          <a:bodyPr/>
          <a:lstStyle/>
          <a:p>
            <a:pPr algn="ctr"/>
            <a:r>
              <a:rPr lang="en-IN" dirty="0"/>
              <a:t>Lambda Expressions and Generics </a:t>
            </a:r>
          </a:p>
        </p:txBody>
      </p:sp>
    </p:spTree>
    <p:extLst>
      <p:ext uri="{BB962C8B-B14F-4D97-AF65-F5344CB8AC3E}">
        <p14:creationId xmlns:p14="http://schemas.microsoft.com/office/powerpoint/2010/main" val="3794761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0FD4C0-BC1A-6769-C909-329BF103FF06}"/>
              </a:ext>
            </a:extLst>
          </p:cNvPr>
          <p:cNvSpPr txBox="1"/>
          <p:nvPr/>
        </p:nvSpPr>
        <p:spPr>
          <a:xfrm>
            <a:off x="1023729" y="113508"/>
            <a:ext cx="8328993" cy="2585323"/>
          </a:xfrm>
          <a:prstGeom prst="rect">
            <a:avLst/>
          </a:prstGeom>
          <a:noFill/>
        </p:spPr>
        <p:txBody>
          <a:bodyPr wrap="square">
            <a:spAutoFit/>
          </a:bodyPr>
          <a:lstStyle/>
          <a:p>
            <a:r>
              <a:rPr lang="en-US" b="1" dirty="0"/>
              <a:t>5.1 Nested classes and inner classes</a:t>
            </a:r>
          </a:p>
          <a:p>
            <a:endParaRPr lang="en-US" b="1" dirty="0"/>
          </a:p>
          <a:p>
            <a:r>
              <a:rPr lang="en-US" b="1" dirty="0"/>
              <a:t>Definition</a:t>
            </a:r>
            <a:endParaRPr lang="en-US" dirty="0"/>
          </a:p>
          <a:p>
            <a:r>
              <a:rPr lang="en-US" dirty="0"/>
              <a:t>Nested Class: A class defined within another class.</a:t>
            </a:r>
          </a:p>
          <a:p>
            <a:r>
              <a:rPr lang="en-US" dirty="0"/>
              <a:t>Inner Class: A non-static nested class. Inner classes are tied to an instance of the outer class and can access its members, even private ones.</a:t>
            </a:r>
          </a:p>
          <a:p>
            <a:r>
              <a:rPr lang="en-US" dirty="0"/>
              <a:t>Static Nested Class: A nested class declared with static. It does not have access to instance variables of the outer class directly.</a:t>
            </a:r>
          </a:p>
          <a:p>
            <a:pPr marL="285750" indent="-285750">
              <a:buFont typeface="Wingdings" panose="05000000000000000000" pitchFamily="2" charset="2"/>
              <a:buChar char="q"/>
            </a:pPr>
            <a:r>
              <a:rPr lang="en-IN" b="1" dirty="0"/>
              <a:t>Types of Nested Classes</a:t>
            </a:r>
          </a:p>
        </p:txBody>
      </p:sp>
      <p:graphicFrame>
        <p:nvGraphicFramePr>
          <p:cNvPr id="6" name="Table 5">
            <a:extLst>
              <a:ext uri="{FF2B5EF4-FFF2-40B4-BE49-F238E27FC236}">
                <a16:creationId xmlns:a16="http://schemas.microsoft.com/office/drawing/2014/main" id="{528DFA53-B872-2F11-C14C-14497537FEE1}"/>
              </a:ext>
            </a:extLst>
          </p:cNvPr>
          <p:cNvGraphicFramePr>
            <a:graphicFrameLocks noGrp="1"/>
          </p:cNvGraphicFramePr>
          <p:nvPr>
            <p:extLst>
              <p:ext uri="{D42A27DB-BD31-4B8C-83A1-F6EECF244321}">
                <p14:modId xmlns:p14="http://schemas.microsoft.com/office/powerpoint/2010/main" val="740283674"/>
              </p:ext>
            </p:extLst>
          </p:nvPr>
        </p:nvGraphicFramePr>
        <p:xfrm>
          <a:off x="1023729" y="2848708"/>
          <a:ext cx="8497958" cy="3891884"/>
        </p:xfrm>
        <a:graphic>
          <a:graphicData uri="http://schemas.openxmlformats.org/drawingml/2006/table">
            <a:tbl>
              <a:tblPr>
                <a:tableStyleId>{5940675A-B579-460E-94D1-54222C63F5DA}</a:tableStyleId>
              </a:tblPr>
              <a:tblGrid>
                <a:gridCol w="2038294">
                  <a:extLst>
                    <a:ext uri="{9D8B030D-6E8A-4147-A177-3AD203B41FA5}">
                      <a16:colId xmlns:a16="http://schemas.microsoft.com/office/drawing/2014/main" val="2526081795"/>
                    </a:ext>
                  </a:extLst>
                </a:gridCol>
                <a:gridCol w="3387013">
                  <a:extLst>
                    <a:ext uri="{9D8B030D-6E8A-4147-A177-3AD203B41FA5}">
                      <a16:colId xmlns:a16="http://schemas.microsoft.com/office/drawing/2014/main" val="3638664971"/>
                    </a:ext>
                  </a:extLst>
                </a:gridCol>
                <a:gridCol w="3072651">
                  <a:extLst>
                    <a:ext uri="{9D8B030D-6E8A-4147-A177-3AD203B41FA5}">
                      <a16:colId xmlns:a16="http://schemas.microsoft.com/office/drawing/2014/main" val="889721440"/>
                    </a:ext>
                  </a:extLst>
                </a:gridCol>
              </a:tblGrid>
              <a:tr h="318122">
                <a:tc>
                  <a:txBody>
                    <a:bodyPr/>
                    <a:lstStyle/>
                    <a:p>
                      <a:pPr algn="l">
                        <a:buNone/>
                      </a:pPr>
                      <a:r>
                        <a:rPr lang="en-IN" sz="1400" b="1">
                          <a:effectLst/>
                        </a:rPr>
                        <a:t>Type</a:t>
                      </a:r>
                    </a:p>
                  </a:txBody>
                  <a:tcPr marL="47335" marR="47335" marT="47335" marB="47335" anchor="ctr"/>
                </a:tc>
                <a:tc>
                  <a:txBody>
                    <a:bodyPr/>
                    <a:lstStyle/>
                    <a:p>
                      <a:pPr algn="l">
                        <a:buNone/>
                      </a:pPr>
                      <a:r>
                        <a:rPr lang="en-IN" sz="1400" b="1">
                          <a:effectLst/>
                        </a:rPr>
                        <a:t>Description</a:t>
                      </a:r>
                    </a:p>
                  </a:txBody>
                  <a:tcPr marL="47335" marR="47335" marT="47335" marB="47335" anchor="ctr"/>
                </a:tc>
                <a:tc>
                  <a:txBody>
                    <a:bodyPr/>
                    <a:lstStyle/>
                    <a:p>
                      <a:pPr algn="l">
                        <a:buNone/>
                      </a:pPr>
                      <a:r>
                        <a:rPr lang="en-IN" sz="1400" b="1">
                          <a:effectLst/>
                        </a:rPr>
                        <a:t>Instantiation Example</a:t>
                      </a:r>
                    </a:p>
                  </a:txBody>
                  <a:tcPr marL="47335" marR="47335" marT="47335" marB="47335" anchor="ctr"/>
                </a:tc>
                <a:extLst>
                  <a:ext uri="{0D108BD9-81ED-4DB2-BD59-A6C34878D82A}">
                    <a16:rowId xmlns:a16="http://schemas.microsoft.com/office/drawing/2014/main" val="456218577"/>
                  </a:ext>
                </a:extLst>
              </a:tr>
              <a:tr h="946692">
                <a:tc>
                  <a:txBody>
                    <a:bodyPr/>
                    <a:lstStyle/>
                    <a:p>
                      <a:pPr algn="l">
                        <a:buNone/>
                      </a:pPr>
                      <a:r>
                        <a:rPr lang="en-IN" sz="1400">
                          <a:effectLst/>
                        </a:rPr>
                        <a:t>Member Inner Class</a:t>
                      </a:r>
                    </a:p>
                  </a:txBody>
                  <a:tcPr marL="47335" marR="47335" marT="47335" marB="47335" anchor="ctr"/>
                </a:tc>
                <a:tc>
                  <a:txBody>
                    <a:bodyPr/>
                    <a:lstStyle/>
                    <a:p>
                      <a:pPr algn="l">
                        <a:buNone/>
                      </a:pPr>
                      <a:r>
                        <a:rPr lang="en-US" sz="1400">
                          <a:effectLst/>
                        </a:rPr>
                        <a:t>Non-static nested class. Can access all members of the outer class, including private ones.</a:t>
                      </a:r>
                    </a:p>
                  </a:txBody>
                  <a:tcPr marL="47335" marR="47335" marT="47335" marB="47335" anchor="ctr"/>
                </a:tc>
                <a:tc>
                  <a:txBody>
                    <a:bodyPr/>
                    <a:lstStyle/>
                    <a:p>
                      <a:pPr algn="l">
                        <a:buNone/>
                      </a:pPr>
                      <a:r>
                        <a:rPr lang="fr-FR" sz="1400" dirty="0" err="1">
                          <a:effectLst/>
                        </a:rPr>
                        <a:t>OuterClass.InnerClass</a:t>
                      </a:r>
                      <a:r>
                        <a:rPr lang="fr-FR" sz="1400" dirty="0">
                          <a:effectLst/>
                        </a:rPr>
                        <a:t> </a:t>
                      </a:r>
                      <a:r>
                        <a:rPr lang="fr-FR" sz="1400" dirty="0" err="1">
                          <a:effectLst/>
                        </a:rPr>
                        <a:t>inner</a:t>
                      </a:r>
                      <a:r>
                        <a:rPr lang="fr-FR" sz="1400" dirty="0">
                          <a:effectLst/>
                        </a:rPr>
                        <a:t> = </a:t>
                      </a:r>
                      <a:r>
                        <a:rPr lang="fr-FR" sz="1400" dirty="0" err="1">
                          <a:effectLst/>
                        </a:rPr>
                        <a:t>outer.new</a:t>
                      </a:r>
                      <a:r>
                        <a:rPr lang="fr-FR" sz="1400" dirty="0">
                          <a:effectLst/>
                        </a:rPr>
                        <a:t> </a:t>
                      </a:r>
                      <a:r>
                        <a:rPr lang="fr-FR" sz="1400" dirty="0" err="1">
                          <a:effectLst/>
                        </a:rPr>
                        <a:t>InnerClass</a:t>
                      </a:r>
                      <a:r>
                        <a:rPr lang="fr-FR" sz="1400" dirty="0">
                          <a:effectLst/>
                        </a:rPr>
                        <a:t>();</a:t>
                      </a:r>
                    </a:p>
                  </a:txBody>
                  <a:tcPr marL="47335" marR="47335" marT="47335" marB="47335" anchor="ctr"/>
                </a:tc>
                <a:extLst>
                  <a:ext uri="{0D108BD9-81ED-4DB2-BD59-A6C34878D82A}">
                    <a16:rowId xmlns:a16="http://schemas.microsoft.com/office/drawing/2014/main" val="3050031600"/>
                  </a:ext>
                </a:extLst>
              </a:tr>
              <a:tr h="946692">
                <a:tc>
                  <a:txBody>
                    <a:bodyPr/>
                    <a:lstStyle/>
                    <a:p>
                      <a:pPr algn="l">
                        <a:buNone/>
                      </a:pPr>
                      <a:r>
                        <a:rPr lang="en-IN" sz="1400">
                          <a:effectLst/>
                        </a:rPr>
                        <a:t>Static Nested Class</a:t>
                      </a:r>
                    </a:p>
                  </a:txBody>
                  <a:tcPr marL="47335" marR="47335" marT="47335" marB="47335" anchor="ctr"/>
                </a:tc>
                <a:tc>
                  <a:txBody>
                    <a:bodyPr/>
                    <a:lstStyle/>
                    <a:p>
                      <a:pPr algn="l">
                        <a:buNone/>
                      </a:pPr>
                      <a:r>
                        <a:rPr lang="en-US" sz="1400">
                          <a:effectLst/>
                        </a:rPr>
                        <a:t>Nested class withstatic. Cannot access instance members of outer class directly.</a:t>
                      </a:r>
                    </a:p>
                  </a:txBody>
                  <a:tcPr marL="47335" marR="47335" marT="47335" marB="47335" anchor="ctr"/>
                </a:tc>
                <a:tc>
                  <a:txBody>
                    <a:bodyPr/>
                    <a:lstStyle/>
                    <a:p>
                      <a:pPr algn="l">
                        <a:buNone/>
                      </a:pPr>
                      <a:r>
                        <a:rPr lang="en-IN" sz="1400" dirty="0" err="1">
                          <a:effectLst/>
                        </a:rPr>
                        <a:t>OuterClass.StaticNestedClass</a:t>
                      </a:r>
                      <a:r>
                        <a:rPr lang="en-IN" sz="1400" dirty="0">
                          <a:effectLst/>
                        </a:rPr>
                        <a:t> nested = new </a:t>
                      </a:r>
                      <a:r>
                        <a:rPr lang="en-IN" sz="1400" dirty="0" err="1">
                          <a:effectLst/>
                        </a:rPr>
                        <a:t>OuterClass.StaticNestedClass</a:t>
                      </a:r>
                      <a:r>
                        <a:rPr lang="en-IN" sz="1400" dirty="0">
                          <a:effectLst/>
                        </a:rPr>
                        <a:t>();</a:t>
                      </a:r>
                    </a:p>
                  </a:txBody>
                  <a:tcPr marL="47335" marR="47335" marT="47335" marB="47335" anchor="ctr"/>
                </a:tc>
                <a:extLst>
                  <a:ext uri="{0D108BD9-81ED-4DB2-BD59-A6C34878D82A}">
                    <a16:rowId xmlns:a16="http://schemas.microsoft.com/office/drawing/2014/main" val="1827636625"/>
                  </a:ext>
                </a:extLst>
              </a:tr>
              <a:tr h="733686">
                <a:tc>
                  <a:txBody>
                    <a:bodyPr/>
                    <a:lstStyle/>
                    <a:p>
                      <a:pPr algn="l">
                        <a:buNone/>
                      </a:pPr>
                      <a:r>
                        <a:rPr lang="en-IN" sz="1400">
                          <a:effectLst/>
                        </a:rPr>
                        <a:t>Local Inner Class</a:t>
                      </a:r>
                    </a:p>
                  </a:txBody>
                  <a:tcPr marL="47335" marR="47335" marT="47335" marB="47335" anchor="ctr"/>
                </a:tc>
                <a:tc>
                  <a:txBody>
                    <a:bodyPr/>
                    <a:lstStyle/>
                    <a:p>
                      <a:pPr algn="l">
                        <a:buNone/>
                      </a:pPr>
                      <a:r>
                        <a:rPr lang="en-US" sz="1400">
                          <a:effectLst/>
                        </a:rPr>
                        <a:t>Inner class defined within a method. Scope limited to the method.</a:t>
                      </a:r>
                    </a:p>
                  </a:txBody>
                  <a:tcPr marL="47335" marR="47335" marT="47335" marB="47335" anchor="ctr"/>
                </a:tc>
                <a:tc>
                  <a:txBody>
                    <a:bodyPr/>
                    <a:lstStyle/>
                    <a:p>
                      <a:pPr algn="l">
                        <a:buNone/>
                      </a:pPr>
                      <a:r>
                        <a:rPr lang="en-IN" sz="1400">
                          <a:effectLst/>
                        </a:rPr>
                        <a:t>Used within method only</a:t>
                      </a:r>
                    </a:p>
                  </a:txBody>
                  <a:tcPr marL="47335" marR="47335" marT="47335" marB="47335" anchor="ctr"/>
                </a:tc>
                <a:extLst>
                  <a:ext uri="{0D108BD9-81ED-4DB2-BD59-A6C34878D82A}">
                    <a16:rowId xmlns:a16="http://schemas.microsoft.com/office/drawing/2014/main" val="4114719522"/>
                  </a:ext>
                </a:extLst>
              </a:tr>
              <a:tr h="946692">
                <a:tc>
                  <a:txBody>
                    <a:bodyPr/>
                    <a:lstStyle/>
                    <a:p>
                      <a:pPr algn="l">
                        <a:buNone/>
                      </a:pPr>
                      <a:r>
                        <a:rPr lang="en-IN" sz="1400">
                          <a:effectLst/>
                        </a:rPr>
                        <a:t>Anonymous Inner Class</a:t>
                      </a:r>
                    </a:p>
                  </a:txBody>
                  <a:tcPr marL="47335" marR="47335" marT="47335" marB="47335" anchor="ctr"/>
                </a:tc>
                <a:tc>
                  <a:txBody>
                    <a:bodyPr/>
                    <a:lstStyle/>
                    <a:p>
                      <a:pPr algn="l">
                        <a:buNone/>
                      </a:pPr>
                      <a:r>
                        <a:rPr lang="en-US" sz="1400">
                          <a:effectLst/>
                        </a:rPr>
                        <a:t>Inner class without a name. Used to implement interfaces or extend classes on the fly.</a:t>
                      </a:r>
                    </a:p>
                  </a:txBody>
                  <a:tcPr marL="47335" marR="47335" marT="47335" marB="47335" anchor="ctr"/>
                </a:tc>
                <a:tc>
                  <a:txBody>
                    <a:bodyPr/>
                    <a:lstStyle/>
                    <a:p>
                      <a:pPr algn="l">
                        <a:buNone/>
                      </a:pPr>
                      <a:r>
                        <a:rPr lang="en-IN" sz="1400" dirty="0">
                          <a:effectLst/>
                        </a:rPr>
                        <a:t>Inline definition</a:t>
                      </a:r>
                    </a:p>
                  </a:txBody>
                  <a:tcPr marL="47335" marR="47335" marT="47335" marB="47335" anchor="ctr"/>
                </a:tc>
                <a:extLst>
                  <a:ext uri="{0D108BD9-81ED-4DB2-BD59-A6C34878D82A}">
                    <a16:rowId xmlns:a16="http://schemas.microsoft.com/office/drawing/2014/main" val="2852269400"/>
                  </a:ext>
                </a:extLst>
              </a:tr>
            </a:tbl>
          </a:graphicData>
        </a:graphic>
      </p:graphicFrame>
    </p:spTree>
    <p:extLst>
      <p:ext uri="{BB962C8B-B14F-4D97-AF65-F5344CB8AC3E}">
        <p14:creationId xmlns:p14="http://schemas.microsoft.com/office/powerpoint/2010/main" val="2545294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33525-FBAC-E5F8-6470-5CE38FD286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0AE2B5-E409-58E3-2433-4AE69393FAF1}"/>
              </a:ext>
            </a:extLst>
          </p:cNvPr>
          <p:cNvSpPr txBox="1"/>
          <p:nvPr/>
        </p:nvSpPr>
        <p:spPr>
          <a:xfrm>
            <a:off x="934278" y="204257"/>
            <a:ext cx="8319051" cy="5909310"/>
          </a:xfrm>
          <a:prstGeom prst="rect">
            <a:avLst/>
          </a:prstGeom>
          <a:noFill/>
        </p:spPr>
        <p:txBody>
          <a:bodyPr wrap="square">
            <a:spAutoFit/>
          </a:bodyPr>
          <a:lstStyle/>
          <a:p>
            <a:pPr>
              <a:buNone/>
            </a:pPr>
            <a:r>
              <a:rPr lang="en-IN" b="1" dirty="0">
                <a:effectLst/>
                <a:latin typeface="fkGrotesk"/>
              </a:rPr>
              <a:t>Example: Member Inner Class</a:t>
            </a:r>
          </a:p>
          <a:p>
            <a:pPr>
              <a:buNone/>
            </a:pPr>
            <a:endParaRPr lang="en-IN" dirty="0">
              <a:latin typeface="fkGrotesk"/>
            </a:endParaRPr>
          </a:p>
          <a:p>
            <a:pPr>
              <a:buNone/>
            </a:pPr>
            <a:r>
              <a:rPr lang="en-IN" dirty="0">
                <a:latin typeface="fkGrotesk"/>
              </a:rPr>
              <a:t>class Outer {</a:t>
            </a:r>
          </a:p>
          <a:p>
            <a:pPr>
              <a:buNone/>
            </a:pPr>
            <a:r>
              <a:rPr lang="en-IN" dirty="0">
                <a:latin typeface="fkGrotesk"/>
              </a:rPr>
              <a:t>    private int outerVar = 10;</a:t>
            </a:r>
          </a:p>
          <a:p>
            <a:pPr>
              <a:buNone/>
            </a:pPr>
            <a:endParaRPr lang="en-IN" dirty="0">
              <a:latin typeface="fkGrotesk"/>
            </a:endParaRPr>
          </a:p>
          <a:p>
            <a:pPr>
              <a:buNone/>
            </a:pPr>
            <a:r>
              <a:rPr lang="en-IN" dirty="0">
                <a:latin typeface="fkGrotesk"/>
              </a:rPr>
              <a:t>    class Inner {</a:t>
            </a:r>
          </a:p>
          <a:p>
            <a:pPr>
              <a:buNone/>
            </a:pPr>
            <a:r>
              <a:rPr lang="en-IN" dirty="0">
                <a:latin typeface="fkGrotesk"/>
              </a:rPr>
              <a:t>        void display() {</a:t>
            </a:r>
          </a:p>
          <a:p>
            <a:pPr>
              <a:buNone/>
            </a:pPr>
            <a:r>
              <a:rPr lang="en-IN" dirty="0">
                <a:latin typeface="fkGrotesk"/>
              </a:rPr>
              <a:t>            </a:t>
            </a:r>
            <a:r>
              <a:rPr lang="en-IN" dirty="0" err="1">
                <a:latin typeface="fkGrotesk"/>
              </a:rPr>
              <a:t>System.out.println</a:t>
            </a:r>
            <a:r>
              <a:rPr lang="en-IN" dirty="0">
                <a:latin typeface="fkGrotesk"/>
              </a:rPr>
              <a:t>("Outer var is " + outerVar);</a:t>
            </a:r>
          </a:p>
          <a:p>
            <a:pPr>
              <a:buNone/>
            </a:pPr>
            <a:r>
              <a:rPr lang="en-IN" dirty="0">
                <a:latin typeface="fkGrotesk"/>
              </a:rPr>
              <a:t>        }</a:t>
            </a:r>
          </a:p>
          <a:p>
            <a:pPr>
              <a:buNone/>
            </a:pPr>
            <a:r>
              <a:rPr lang="en-IN" dirty="0">
                <a:latin typeface="fkGrotesk"/>
              </a:rPr>
              <a:t>    }</a:t>
            </a:r>
          </a:p>
          <a:p>
            <a:pPr>
              <a:buNone/>
            </a:pPr>
            <a:endParaRPr lang="en-IN" dirty="0">
              <a:latin typeface="fkGrotesk"/>
            </a:endParaRPr>
          </a:p>
          <a:p>
            <a:pPr>
              <a:buNone/>
            </a:pPr>
            <a:r>
              <a:rPr lang="en-IN" dirty="0">
                <a:latin typeface="fkGrotesk"/>
              </a:rPr>
              <a:t>    public static void main(String[] args) {</a:t>
            </a:r>
          </a:p>
          <a:p>
            <a:pPr>
              <a:buNone/>
            </a:pPr>
            <a:r>
              <a:rPr lang="en-IN" dirty="0">
                <a:latin typeface="fkGrotesk"/>
              </a:rPr>
              <a:t>        Outer </a:t>
            </a:r>
            <a:r>
              <a:rPr lang="en-IN" dirty="0" err="1">
                <a:latin typeface="fkGrotesk"/>
              </a:rPr>
              <a:t>outer</a:t>
            </a:r>
            <a:r>
              <a:rPr lang="en-IN" dirty="0">
                <a:latin typeface="fkGrotesk"/>
              </a:rPr>
              <a:t> = new Outer();</a:t>
            </a:r>
          </a:p>
          <a:p>
            <a:pPr>
              <a:buNone/>
            </a:pPr>
            <a:r>
              <a:rPr lang="en-IN" dirty="0">
                <a:latin typeface="fkGrotesk"/>
              </a:rPr>
              <a:t>        </a:t>
            </a:r>
            <a:r>
              <a:rPr lang="en-IN" dirty="0" err="1">
                <a:latin typeface="fkGrotesk"/>
              </a:rPr>
              <a:t>Outer.Inner</a:t>
            </a:r>
            <a:r>
              <a:rPr lang="en-IN" dirty="0">
                <a:latin typeface="fkGrotesk"/>
              </a:rPr>
              <a:t> inner = </a:t>
            </a:r>
            <a:r>
              <a:rPr lang="en-IN" dirty="0" err="1">
                <a:latin typeface="fkGrotesk"/>
              </a:rPr>
              <a:t>outer.new</a:t>
            </a:r>
            <a:r>
              <a:rPr lang="en-IN" dirty="0">
                <a:latin typeface="fkGrotesk"/>
              </a:rPr>
              <a:t> Inner();</a:t>
            </a:r>
          </a:p>
          <a:p>
            <a:pPr>
              <a:buNone/>
            </a:pPr>
            <a:r>
              <a:rPr lang="en-IN" dirty="0">
                <a:latin typeface="fkGrotesk"/>
              </a:rPr>
              <a:t>        </a:t>
            </a:r>
            <a:r>
              <a:rPr lang="en-IN" dirty="0" err="1">
                <a:latin typeface="fkGrotesk"/>
              </a:rPr>
              <a:t>inner.display</a:t>
            </a:r>
            <a:r>
              <a:rPr lang="en-IN" dirty="0">
                <a:latin typeface="fkGrotesk"/>
              </a:rPr>
              <a:t>();</a:t>
            </a:r>
          </a:p>
          <a:p>
            <a:pPr>
              <a:buNone/>
            </a:pPr>
            <a:r>
              <a:rPr lang="en-IN" dirty="0">
                <a:latin typeface="fkGrotesk"/>
              </a:rPr>
              <a:t>    }</a:t>
            </a:r>
          </a:p>
          <a:p>
            <a:pPr>
              <a:buNone/>
            </a:pPr>
            <a:r>
              <a:rPr lang="en-IN" dirty="0">
                <a:latin typeface="fkGrotesk"/>
              </a:rPr>
              <a:t>}</a:t>
            </a:r>
          </a:p>
          <a:p>
            <a:pPr>
              <a:buNone/>
            </a:pPr>
            <a:endParaRPr lang="en-IN" b="0" dirty="0">
              <a:effectLst/>
              <a:latin typeface="fkGrotesk"/>
            </a:endParaRPr>
          </a:p>
          <a:p>
            <a:pPr>
              <a:buNone/>
            </a:pPr>
            <a:r>
              <a:rPr lang="en-IN" b="1" dirty="0"/>
              <a:t>Output:</a:t>
            </a:r>
            <a:br>
              <a:rPr lang="en-IN" b="1" dirty="0"/>
            </a:br>
            <a:endParaRPr lang="en-IN" b="1" dirty="0"/>
          </a:p>
          <a:p>
            <a:r>
              <a:rPr lang="en-IN" dirty="0"/>
              <a:t>Outer var is 10</a:t>
            </a:r>
          </a:p>
        </p:txBody>
      </p:sp>
    </p:spTree>
    <p:extLst>
      <p:ext uri="{BB962C8B-B14F-4D97-AF65-F5344CB8AC3E}">
        <p14:creationId xmlns:p14="http://schemas.microsoft.com/office/powerpoint/2010/main" val="2757577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11584-5939-6068-FD3D-0E166017B5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58A210-32E3-E96F-E3CB-350EB47093CB}"/>
              </a:ext>
            </a:extLst>
          </p:cNvPr>
          <p:cNvSpPr txBox="1"/>
          <p:nvPr/>
        </p:nvSpPr>
        <p:spPr>
          <a:xfrm>
            <a:off x="854764" y="210093"/>
            <a:ext cx="8597348" cy="6463308"/>
          </a:xfrm>
          <a:prstGeom prst="rect">
            <a:avLst/>
          </a:prstGeom>
          <a:noFill/>
        </p:spPr>
        <p:txBody>
          <a:bodyPr wrap="square">
            <a:spAutoFit/>
          </a:bodyPr>
          <a:lstStyle/>
          <a:p>
            <a:pPr algn="l">
              <a:buNone/>
            </a:pPr>
            <a:r>
              <a:rPr lang="en-US" b="1" i="0" dirty="0">
                <a:effectLst/>
                <a:latin typeface="fkGrotesk"/>
              </a:rPr>
              <a:t>5.2 Default Methods and Functional Interfaces in Java</a:t>
            </a:r>
          </a:p>
          <a:p>
            <a:pPr>
              <a:buNone/>
            </a:pPr>
            <a:endParaRPr lang="en-US" dirty="0"/>
          </a:p>
          <a:p>
            <a:pPr algn="l">
              <a:buNone/>
            </a:pPr>
            <a:r>
              <a:rPr lang="en-US" b="1" i="0" dirty="0">
                <a:effectLst/>
                <a:latin typeface="fkGrotesk"/>
              </a:rPr>
              <a:t>Default Methods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Introduced in Java 8, default methods allow interfaces to have concrete methods with implementations.</a:t>
            </a:r>
          </a:p>
          <a:p>
            <a:pPr algn="l">
              <a:buFont typeface="Arial" panose="020B0604020202020204" pitchFamily="34" charset="0"/>
              <a:buChar char="•"/>
            </a:pPr>
            <a:r>
              <a:rPr lang="en-US" b="0" i="0" dirty="0">
                <a:effectLst/>
                <a:latin typeface="fkGroteskNeue"/>
              </a:rPr>
              <a:t>They provide backward compatibility to interfaces, allowing new methods to be added without breaking existing implementations.</a:t>
            </a:r>
          </a:p>
          <a:p>
            <a:pPr algn="l">
              <a:buFont typeface="Arial" panose="020B0604020202020204" pitchFamily="34" charset="0"/>
              <a:buChar char="•"/>
            </a:pPr>
            <a:r>
              <a:rPr lang="en-US" b="0" i="0" dirty="0">
                <a:effectLst/>
                <a:latin typeface="fkGroteskNeue"/>
              </a:rPr>
              <a:t>Declared with the </a:t>
            </a:r>
            <a:r>
              <a:rPr lang="en-US" b="0" i="0" dirty="0">
                <a:effectLst/>
                <a:latin typeface="berkeleyMono"/>
              </a:rPr>
              <a:t>default</a:t>
            </a:r>
            <a:r>
              <a:rPr lang="en-US" b="0" i="0" dirty="0">
                <a:effectLst/>
                <a:latin typeface="fkGroteskNeue"/>
              </a:rPr>
              <a:t> keyword followed by the method body.</a:t>
            </a:r>
          </a:p>
          <a:p>
            <a:pPr algn="l">
              <a:buNone/>
            </a:pPr>
            <a:r>
              <a:rPr lang="en-US" b="0" i="0" dirty="0">
                <a:effectLst/>
                <a:latin typeface="fkGroteskNeue"/>
              </a:rPr>
              <a:t>Example of Default Method in Interface:</a:t>
            </a:r>
          </a:p>
          <a:p>
            <a:pPr algn="l">
              <a:buNone/>
            </a:pPr>
            <a:endParaRPr lang="en-US" dirty="0">
              <a:latin typeface="fkGroteskNeue"/>
            </a:endParaRPr>
          </a:p>
          <a:p>
            <a:r>
              <a:rPr lang="en-US" dirty="0">
                <a:latin typeface="fkGroteskNeue"/>
              </a:rPr>
              <a:t>interface </a:t>
            </a:r>
            <a:r>
              <a:rPr lang="en-US" dirty="0" err="1">
                <a:latin typeface="fkGroteskNeue"/>
              </a:rPr>
              <a:t>TestInterface</a:t>
            </a:r>
            <a:r>
              <a:rPr lang="en-US" dirty="0">
                <a:latin typeface="fkGroteskNeue"/>
              </a:rPr>
              <a:t> {</a:t>
            </a:r>
          </a:p>
          <a:p>
            <a:r>
              <a:rPr lang="en-US" dirty="0">
                <a:latin typeface="fkGroteskNeue"/>
              </a:rPr>
              <a:t>    void square(int a);  // abstract method</a:t>
            </a:r>
          </a:p>
          <a:p>
            <a:endParaRPr lang="en-US" dirty="0">
              <a:latin typeface="fkGroteskNeue"/>
            </a:endParaRPr>
          </a:p>
          <a:p>
            <a:r>
              <a:rPr lang="en-US" dirty="0">
                <a:latin typeface="fkGroteskNeue"/>
              </a:rPr>
              <a:t>    default void show() {  // default method with body</a:t>
            </a:r>
          </a:p>
          <a:p>
            <a:r>
              <a:rPr lang="en-US" dirty="0">
                <a:latin typeface="fkGroteskNeue"/>
              </a:rPr>
              <a:t>        </a:t>
            </a:r>
            <a:r>
              <a:rPr lang="en-US" dirty="0" err="1">
                <a:latin typeface="fkGroteskNeue"/>
              </a:rPr>
              <a:t>System.out.println</a:t>
            </a:r>
            <a:r>
              <a:rPr lang="en-US" dirty="0">
                <a:latin typeface="fkGroteskNeue"/>
              </a:rPr>
              <a:t>("Default Method Executed");</a:t>
            </a:r>
          </a:p>
          <a:p>
            <a:r>
              <a:rPr lang="en-US" dirty="0">
                <a:latin typeface="fkGroteskNeue"/>
              </a:rPr>
              <a:t>    }</a:t>
            </a:r>
          </a:p>
          <a:p>
            <a:r>
              <a:rPr lang="en-US" dirty="0">
                <a:latin typeface="fkGroteskNeue"/>
              </a:rPr>
              <a:t>}</a:t>
            </a:r>
          </a:p>
          <a:p>
            <a:endParaRPr lang="en-US" dirty="0">
              <a:latin typeface="fkGroteskNeue"/>
            </a:endParaRPr>
          </a:p>
          <a:p>
            <a:r>
              <a:rPr lang="en-US" dirty="0">
                <a:latin typeface="fkGroteskNeue"/>
              </a:rPr>
              <a:t>class </a:t>
            </a:r>
            <a:r>
              <a:rPr lang="en-US" dirty="0" err="1">
                <a:latin typeface="fkGroteskNeue"/>
              </a:rPr>
              <a:t>TestClass</a:t>
            </a:r>
            <a:r>
              <a:rPr lang="en-US" dirty="0">
                <a:latin typeface="fkGroteskNeue"/>
              </a:rPr>
              <a:t> implements </a:t>
            </a:r>
            <a:r>
              <a:rPr lang="en-US" dirty="0" err="1">
                <a:latin typeface="fkGroteskNeue"/>
              </a:rPr>
              <a:t>TestInterface</a:t>
            </a:r>
            <a:r>
              <a:rPr lang="en-US" dirty="0">
                <a:latin typeface="fkGroteskNeue"/>
              </a:rPr>
              <a:t> {</a:t>
            </a:r>
          </a:p>
          <a:p>
            <a:r>
              <a:rPr lang="en-US" dirty="0">
                <a:latin typeface="fkGroteskNeue"/>
              </a:rPr>
              <a:t>    public void square(int a) {</a:t>
            </a:r>
          </a:p>
          <a:p>
            <a:r>
              <a:rPr lang="en-US" dirty="0">
                <a:latin typeface="fkGroteskNeue"/>
              </a:rPr>
              <a:t>        </a:t>
            </a:r>
            <a:r>
              <a:rPr lang="en-US" dirty="0" err="1">
                <a:latin typeface="fkGroteskNeue"/>
              </a:rPr>
              <a:t>System.out.println</a:t>
            </a:r>
            <a:r>
              <a:rPr lang="en-US" dirty="0">
                <a:latin typeface="fkGroteskNeue"/>
              </a:rPr>
              <a:t>(a * a);</a:t>
            </a:r>
          </a:p>
          <a:p>
            <a:r>
              <a:rPr lang="en-US" dirty="0">
                <a:latin typeface="fkGroteskNeue"/>
              </a:rPr>
              <a:t>    }</a:t>
            </a:r>
          </a:p>
        </p:txBody>
      </p:sp>
    </p:spTree>
    <p:extLst>
      <p:ext uri="{BB962C8B-B14F-4D97-AF65-F5344CB8AC3E}">
        <p14:creationId xmlns:p14="http://schemas.microsoft.com/office/powerpoint/2010/main" val="2156182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3FFE-7583-1788-2A10-9B9BD74D6F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D1CCB1-4B3B-F848-CAA9-EE544D043AF6}"/>
              </a:ext>
            </a:extLst>
          </p:cNvPr>
          <p:cNvSpPr txBox="1"/>
          <p:nvPr/>
        </p:nvSpPr>
        <p:spPr>
          <a:xfrm>
            <a:off x="864703" y="156292"/>
            <a:ext cx="8905461" cy="6463308"/>
          </a:xfrm>
          <a:prstGeom prst="rect">
            <a:avLst/>
          </a:prstGeom>
          <a:noFill/>
        </p:spPr>
        <p:txBody>
          <a:bodyPr wrap="square">
            <a:spAutoFit/>
          </a:bodyPr>
          <a:lstStyle/>
          <a:p>
            <a:r>
              <a:rPr lang="en-IN" dirty="0"/>
              <a:t>    public static void main(String[] args) {</a:t>
            </a:r>
          </a:p>
          <a:p>
            <a:r>
              <a:rPr lang="en-IN" dirty="0"/>
              <a:t>        TestClass d = new TestClass();</a:t>
            </a:r>
          </a:p>
          <a:p>
            <a:r>
              <a:rPr lang="en-IN" dirty="0"/>
              <a:t>        </a:t>
            </a:r>
            <a:r>
              <a:rPr lang="en-IN" dirty="0" err="1"/>
              <a:t>d.square</a:t>
            </a:r>
            <a:r>
              <a:rPr lang="en-IN" dirty="0"/>
              <a:t>(4);  // calls abstract method implementation</a:t>
            </a:r>
          </a:p>
          <a:p>
            <a:r>
              <a:rPr lang="en-IN" dirty="0"/>
              <a:t>        </a:t>
            </a:r>
            <a:r>
              <a:rPr lang="en-IN" dirty="0" err="1"/>
              <a:t>d.show</a:t>
            </a:r>
            <a:r>
              <a:rPr lang="en-IN" dirty="0"/>
              <a:t>();     // calls default method defined in interface</a:t>
            </a:r>
          </a:p>
          <a:p>
            <a:r>
              <a:rPr lang="en-IN" dirty="0"/>
              <a:t>    }</a:t>
            </a:r>
          </a:p>
          <a:p>
            <a:r>
              <a:rPr lang="en-IN" dirty="0"/>
              <a:t>}</a:t>
            </a:r>
          </a:p>
          <a:p>
            <a:endParaRPr lang="en-IN" dirty="0"/>
          </a:p>
          <a:p>
            <a:r>
              <a:rPr lang="en-IN" dirty="0"/>
              <a:t>Output</a:t>
            </a:r>
          </a:p>
          <a:p>
            <a:endParaRPr lang="en-IN" dirty="0"/>
          </a:p>
          <a:p>
            <a:r>
              <a:rPr lang="en-IN" dirty="0"/>
              <a:t>16</a:t>
            </a:r>
          </a:p>
          <a:p>
            <a:r>
              <a:rPr lang="en-IN" dirty="0"/>
              <a:t>Default Method Executed</a:t>
            </a:r>
          </a:p>
          <a:p>
            <a:endParaRPr lang="en-IN" dirty="0"/>
          </a:p>
          <a:p>
            <a:r>
              <a:rPr lang="en-US" dirty="0"/>
              <a:t>Default methods allow new functionality to be added to interfaces without breaking existing code.</a:t>
            </a:r>
          </a:p>
          <a:p>
            <a:endParaRPr lang="en-US" dirty="0"/>
          </a:p>
          <a:p>
            <a:r>
              <a:rPr lang="en-US" dirty="0"/>
              <a:t>Functional Interfaces</a:t>
            </a:r>
          </a:p>
          <a:p>
            <a:endParaRPr lang="en-US" dirty="0"/>
          </a:p>
          <a:p>
            <a:r>
              <a:rPr lang="en-US" dirty="0"/>
              <a:t>A functional interface has exactly one abstract method.</a:t>
            </a:r>
          </a:p>
          <a:p>
            <a:r>
              <a:rPr lang="en-US" dirty="0"/>
              <a:t>Introduced in Java 8 to support lambda expressions, which provide short syntax for implementing single-method interfaces.</a:t>
            </a:r>
          </a:p>
          <a:p>
            <a:r>
              <a:rPr lang="en-US" dirty="0"/>
              <a:t>Functional interfaces can still have multiple default or static methods as long as only one abstract method exists.</a:t>
            </a:r>
          </a:p>
          <a:p>
            <a:r>
              <a:rPr lang="en-US" dirty="0"/>
              <a:t>Annotated with @FunctionalInterface (optional but helps with compilation checks)</a:t>
            </a:r>
          </a:p>
        </p:txBody>
      </p:sp>
    </p:spTree>
    <p:extLst>
      <p:ext uri="{BB962C8B-B14F-4D97-AF65-F5344CB8AC3E}">
        <p14:creationId xmlns:p14="http://schemas.microsoft.com/office/powerpoint/2010/main" val="19763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2FB79-9548-0726-677F-29D6D5E1E4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EEE869-03B9-37C1-A2E1-347CCB2FC76D}"/>
              </a:ext>
            </a:extLst>
          </p:cNvPr>
          <p:cNvSpPr txBox="1"/>
          <p:nvPr/>
        </p:nvSpPr>
        <p:spPr>
          <a:xfrm>
            <a:off x="934278" y="139222"/>
            <a:ext cx="8408504" cy="4247317"/>
          </a:xfrm>
          <a:prstGeom prst="rect">
            <a:avLst/>
          </a:prstGeom>
          <a:noFill/>
        </p:spPr>
        <p:txBody>
          <a:bodyPr wrap="square">
            <a:spAutoFit/>
          </a:bodyPr>
          <a:lstStyle/>
          <a:p>
            <a:pPr algn="l">
              <a:buNone/>
            </a:pPr>
            <a:r>
              <a:rPr lang="en-US" b="0" i="0" dirty="0">
                <a:effectLst/>
                <a:latin typeface="fkGroteskNeue"/>
              </a:rPr>
              <a:t>Example of Functional Interface and Lambda Expression:</a:t>
            </a:r>
          </a:p>
          <a:p>
            <a:pPr algn="l">
              <a:buNone/>
            </a:pPr>
            <a:endParaRPr lang="en-US" dirty="0">
              <a:latin typeface="fkGroteskNeue"/>
            </a:endParaRPr>
          </a:p>
          <a:p>
            <a:r>
              <a:rPr lang="en-US" dirty="0">
                <a:latin typeface="fkGroteskNeue"/>
              </a:rPr>
              <a:t>@FunctionalInterface</a:t>
            </a:r>
          </a:p>
          <a:p>
            <a:r>
              <a:rPr lang="en-US" dirty="0">
                <a:latin typeface="fkGroteskNeue"/>
              </a:rPr>
              <a:t>interface </a:t>
            </a:r>
            <a:r>
              <a:rPr lang="en-US" dirty="0" err="1">
                <a:latin typeface="fkGroteskNeue"/>
              </a:rPr>
              <a:t>MyFunctionalInterface</a:t>
            </a:r>
            <a:r>
              <a:rPr lang="en-US" dirty="0">
                <a:latin typeface="fkGroteskNeue"/>
              </a:rPr>
              <a:t> {</a:t>
            </a:r>
          </a:p>
          <a:p>
            <a:r>
              <a:rPr lang="en-US" dirty="0">
                <a:latin typeface="fkGroteskNeue"/>
              </a:rPr>
              <a:t>    void execute();  // single abstract method</a:t>
            </a:r>
          </a:p>
          <a:p>
            <a:r>
              <a:rPr lang="en-US" dirty="0">
                <a:latin typeface="fkGroteskNeue"/>
              </a:rPr>
              <a:t>}</a:t>
            </a:r>
          </a:p>
          <a:p>
            <a:endParaRPr lang="en-US" dirty="0">
              <a:latin typeface="fkGroteskNeue"/>
            </a:endParaRPr>
          </a:p>
          <a:p>
            <a:r>
              <a:rPr lang="en-US" dirty="0">
                <a:latin typeface="fkGroteskNeue"/>
              </a:rPr>
              <a:t>public class Main {</a:t>
            </a:r>
          </a:p>
          <a:p>
            <a:r>
              <a:rPr lang="en-US" dirty="0">
                <a:latin typeface="fkGroteskNeue"/>
              </a:rPr>
              <a:t>    public static void main(String[] args) {</a:t>
            </a:r>
          </a:p>
          <a:p>
            <a:r>
              <a:rPr lang="en-US" dirty="0">
                <a:latin typeface="fkGroteskNeue"/>
              </a:rPr>
              <a:t>        // Lambda expression to implement functional interface</a:t>
            </a:r>
          </a:p>
          <a:p>
            <a:r>
              <a:rPr lang="en-US" dirty="0">
                <a:latin typeface="fkGroteskNeue"/>
              </a:rPr>
              <a:t>        </a:t>
            </a:r>
            <a:r>
              <a:rPr lang="en-US" dirty="0" err="1">
                <a:latin typeface="fkGroteskNeue"/>
              </a:rPr>
              <a:t>MyFunctionalInterface</a:t>
            </a:r>
            <a:r>
              <a:rPr lang="en-US" dirty="0">
                <a:latin typeface="fkGroteskNeue"/>
              </a:rPr>
              <a:t> f = () -&gt; </a:t>
            </a:r>
            <a:r>
              <a:rPr lang="en-US" dirty="0" err="1">
                <a:latin typeface="fkGroteskNeue"/>
              </a:rPr>
              <a:t>System.out.println</a:t>
            </a:r>
            <a:r>
              <a:rPr lang="en-US" dirty="0">
                <a:latin typeface="fkGroteskNeue"/>
              </a:rPr>
              <a:t>("Executing...");</a:t>
            </a:r>
          </a:p>
          <a:p>
            <a:r>
              <a:rPr lang="en-US" dirty="0">
                <a:latin typeface="fkGroteskNeue"/>
              </a:rPr>
              <a:t>        </a:t>
            </a:r>
            <a:r>
              <a:rPr lang="en-US" dirty="0" err="1">
                <a:latin typeface="fkGroteskNeue"/>
              </a:rPr>
              <a:t>f.execute</a:t>
            </a:r>
            <a:r>
              <a:rPr lang="en-US" dirty="0">
                <a:latin typeface="fkGroteskNeue"/>
              </a:rPr>
              <a:t>();  // Output: Executing...</a:t>
            </a:r>
          </a:p>
          <a:p>
            <a:r>
              <a:rPr lang="en-US" dirty="0">
                <a:latin typeface="fkGroteskNeue"/>
              </a:rPr>
              <a:t>    }</a:t>
            </a:r>
          </a:p>
          <a:p>
            <a:r>
              <a:rPr lang="en-US" dirty="0">
                <a:latin typeface="fkGroteskNeue"/>
              </a:rPr>
              <a:t>}</a:t>
            </a:r>
          </a:p>
          <a:p>
            <a:pPr algn="l">
              <a:buNone/>
            </a:pPr>
            <a:endParaRPr lang="en-US" b="0" i="0" dirty="0">
              <a:effectLst/>
              <a:latin typeface="fkGroteskNeue"/>
            </a:endParaRPr>
          </a:p>
        </p:txBody>
      </p:sp>
    </p:spTree>
    <p:extLst>
      <p:ext uri="{BB962C8B-B14F-4D97-AF65-F5344CB8AC3E}">
        <p14:creationId xmlns:p14="http://schemas.microsoft.com/office/powerpoint/2010/main" val="936011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A039E-5530-E5A0-30D6-0CC1FA9CAA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9193C4-4623-AA25-1A50-C478F89DA281}"/>
              </a:ext>
            </a:extLst>
          </p:cNvPr>
          <p:cNvSpPr txBox="1"/>
          <p:nvPr/>
        </p:nvSpPr>
        <p:spPr>
          <a:xfrm>
            <a:off x="826583" y="0"/>
            <a:ext cx="8368748" cy="6740307"/>
          </a:xfrm>
          <a:prstGeom prst="rect">
            <a:avLst/>
          </a:prstGeom>
          <a:noFill/>
        </p:spPr>
        <p:txBody>
          <a:bodyPr wrap="square">
            <a:spAutoFit/>
          </a:bodyPr>
          <a:lstStyle/>
          <a:p>
            <a:pPr algn="l">
              <a:buNone/>
            </a:pPr>
            <a:r>
              <a:rPr lang="en-US" b="1" i="0" dirty="0">
                <a:effectLst/>
                <a:latin typeface="fkGrotesk"/>
              </a:rPr>
              <a:t>5.3 Introduction to Lambda Expression in Java</a:t>
            </a:r>
          </a:p>
          <a:p>
            <a:pPr>
              <a:buNone/>
            </a:pPr>
            <a:endParaRPr lang="en-US" dirty="0"/>
          </a:p>
          <a:p>
            <a:pPr algn="l">
              <a:buNone/>
            </a:pPr>
            <a:r>
              <a:rPr lang="en-US" b="1" i="0" dirty="0">
                <a:effectLst/>
                <a:latin typeface="fkGrotesk"/>
              </a:rPr>
              <a:t>What is a Lambda Expression?</a:t>
            </a:r>
          </a:p>
          <a:p>
            <a:pPr algn="l">
              <a:buNone/>
            </a:pPr>
            <a:endParaRPr lang="en-US" b="0" i="0" dirty="0">
              <a:effectLst/>
              <a:latin typeface="fkGrotesk"/>
            </a:endParaRPr>
          </a:p>
          <a:p>
            <a:pPr algn="l">
              <a:buNone/>
            </a:pPr>
            <a:r>
              <a:rPr lang="en-US" b="0" i="0" dirty="0">
                <a:effectLst/>
                <a:latin typeface="fkGroteskNeue"/>
              </a:rPr>
              <a:t>A lambda expression in Java is a concise way to represent an anonymous function (a block of code) that can be passed around and executed later. It allows writing functional-style code and is closely tied to functional interfaces.</a:t>
            </a:r>
          </a:p>
          <a:p>
            <a:pPr algn="l">
              <a:buFont typeface="Arial" panose="020B0604020202020204" pitchFamily="34" charset="0"/>
              <a:buChar char="•"/>
            </a:pPr>
            <a:r>
              <a:rPr lang="en-US" b="0" i="0" dirty="0">
                <a:effectLst/>
                <a:latin typeface="fkGroteskNeue"/>
              </a:rPr>
              <a:t>Introduced in Java 8 to simplify code, especially with functional interfaces.</a:t>
            </a:r>
          </a:p>
          <a:p>
            <a:pPr algn="l">
              <a:buFont typeface="Arial" panose="020B0604020202020204" pitchFamily="34" charset="0"/>
              <a:buChar char="•"/>
            </a:pPr>
            <a:r>
              <a:rPr lang="en-US" b="0" i="0" dirty="0">
                <a:effectLst/>
                <a:latin typeface="fkGroteskNeue"/>
              </a:rPr>
              <a:t>Lambda expressions do not require a method name or class; code is written inline.</a:t>
            </a:r>
          </a:p>
          <a:p>
            <a:pPr algn="l">
              <a:buFont typeface="Arial" panose="020B0604020202020204" pitchFamily="34" charset="0"/>
              <a:buChar char="•"/>
            </a:pPr>
            <a:r>
              <a:rPr lang="en-US" b="0" i="0" dirty="0">
                <a:effectLst/>
                <a:latin typeface="fkGroteskNeue"/>
              </a:rPr>
              <a:t>It can accept zero or more parameters and return a value or perform operations.</a:t>
            </a:r>
          </a:p>
          <a:p>
            <a:br>
              <a:rPr lang="en-US" b="1" dirty="0"/>
            </a:br>
            <a:r>
              <a:rPr lang="en-US" b="1" dirty="0"/>
              <a:t>Lambda Syntax</a:t>
            </a:r>
          </a:p>
          <a:p>
            <a:endParaRPr lang="en-US" dirty="0"/>
          </a:p>
          <a:p>
            <a:r>
              <a:rPr lang="en-US" dirty="0"/>
              <a:t>Basic syntax looks as follows:</a:t>
            </a:r>
          </a:p>
          <a:p>
            <a:pPr>
              <a:buNone/>
            </a:pPr>
            <a:endParaRPr lang="en-IN" dirty="0"/>
          </a:p>
          <a:p>
            <a:pPr>
              <a:buNone/>
            </a:pPr>
            <a:r>
              <a:rPr lang="en-IN" dirty="0"/>
              <a:t>(parameters) -&gt; expression</a:t>
            </a:r>
          </a:p>
          <a:p>
            <a:pPr>
              <a:buNone/>
            </a:pPr>
            <a:endParaRPr lang="en-IN" dirty="0"/>
          </a:p>
          <a:p>
            <a:r>
              <a:rPr lang="en-US" b="1" dirty="0"/>
              <a:t>Or, for a block with multiple statements:</a:t>
            </a:r>
            <a:endParaRPr lang="en-IN" b="1" dirty="0"/>
          </a:p>
          <a:p>
            <a:endParaRPr lang="en-IN" dirty="0"/>
          </a:p>
          <a:p>
            <a:r>
              <a:rPr lang="en-US" dirty="0"/>
              <a:t>(parameters) -&gt; {</a:t>
            </a:r>
          </a:p>
          <a:p>
            <a:r>
              <a:rPr lang="en-US" dirty="0"/>
              <a:t>    // multiple statements</a:t>
            </a:r>
          </a:p>
          <a:p>
            <a:r>
              <a:rPr lang="en-US" dirty="0"/>
              <a:t>    return value;</a:t>
            </a:r>
          </a:p>
          <a:p>
            <a:r>
              <a:rPr lang="en-US" dirty="0"/>
              <a:t>}</a:t>
            </a:r>
          </a:p>
          <a:p>
            <a:r>
              <a:rPr lang="en-US" dirty="0"/>
              <a:t>If there is only one parameter, parentheses are optional:</a:t>
            </a:r>
          </a:p>
        </p:txBody>
      </p:sp>
    </p:spTree>
    <p:extLst>
      <p:ext uri="{BB962C8B-B14F-4D97-AF65-F5344CB8AC3E}">
        <p14:creationId xmlns:p14="http://schemas.microsoft.com/office/powerpoint/2010/main" val="1837641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8273E-C0E2-4444-A2B0-F21FE2ECC8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932502-806F-F14D-0A76-AF8D330A5339}"/>
              </a:ext>
            </a:extLst>
          </p:cNvPr>
          <p:cNvSpPr txBox="1"/>
          <p:nvPr/>
        </p:nvSpPr>
        <p:spPr>
          <a:xfrm>
            <a:off x="1083365" y="163204"/>
            <a:ext cx="8189843" cy="6740307"/>
          </a:xfrm>
          <a:prstGeom prst="rect">
            <a:avLst/>
          </a:prstGeom>
          <a:noFill/>
        </p:spPr>
        <p:txBody>
          <a:bodyPr wrap="square">
            <a:spAutoFit/>
          </a:bodyPr>
          <a:lstStyle/>
          <a:p>
            <a:r>
              <a:rPr lang="en-IN" dirty="0"/>
              <a:t>param -&gt; expression</a:t>
            </a:r>
          </a:p>
          <a:p>
            <a:endParaRPr lang="en-IN" dirty="0"/>
          </a:p>
          <a:p>
            <a:r>
              <a:rPr lang="en-IN" b="1" dirty="0"/>
              <a:t>Simple Lambda Expression Example</a:t>
            </a:r>
          </a:p>
          <a:p>
            <a:br>
              <a:rPr lang="en-IN" dirty="0"/>
            </a:br>
            <a:r>
              <a:rPr lang="en-IN" dirty="0"/>
              <a:t>interface Calculator {</a:t>
            </a:r>
          </a:p>
          <a:p>
            <a:r>
              <a:rPr lang="en-IN" dirty="0"/>
              <a:t>    int add(int a, int b);</a:t>
            </a:r>
          </a:p>
          <a:p>
            <a:r>
              <a:rPr lang="en-IN" dirty="0"/>
              <a:t>}</a:t>
            </a:r>
          </a:p>
          <a:p>
            <a:r>
              <a:rPr lang="en-IN" dirty="0"/>
              <a:t>public class Main {</a:t>
            </a:r>
          </a:p>
          <a:p>
            <a:r>
              <a:rPr lang="en-IN" dirty="0"/>
              <a:t>    public static void main(String[] args) {</a:t>
            </a:r>
          </a:p>
          <a:p>
            <a:endParaRPr lang="en-IN" dirty="0"/>
          </a:p>
          <a:p>
            <a:r>
              <a:rPr lang="en-IN" dirty="0"/>
              <a:t>        // Lambda expression implementing add method</a:t>
            </a:r>
          </a:p>
          <a:p>
            <a:r>
              <a:rPr lang="en-IN" dirty="0"/>
              <a:t>        Calculator calc = (a, b) -&gt; a + b;</a:t>
            </a:r>
          </a:p>
          <a:p>
            <a:endParaRPr lang="en-IN" dirty="0"/>
          </a:p>
          <a:p>
            <a:r>
              <a:rPr lang="en-IN" dirty="0"/>
              <a:t>        System.out.println("Sum: " + </a:t>
            </a:r>
            <a:r>
              <a:rPr lang="en-IN" dirty="0" err="1"/>
              <a:t>calc.add</a:t>
            </a:r>
            <a:r>
              <a:rPr lang="en-IN" dirty="0"/>
              <a:t>(5, 3));  // Output: Sum: 8</a:t>
            </a:r>
          </a:p>
          <a:p>
            <a:r>
              <a:rPr lang="en-IN" dirty="0"/>
              <a:t>    }</a:t>
            </a:r>
          </a:p>
          <a:p>
            <a:r>
              <a:rPr lang="en-IN" dirty="0"/>
              <a:t>}</a:t>
            </a:r>
          </a:p>
          <a:p>
            <a:endParaRPr lang="en-IN" dirty="0"/>
          </a:p>
          <a:p>
            <a:r>
              <a:rPr lang="en-US" b="1" dirty="0"/>
              <a:t>Usage of Lambda Expressions</a:t>
            </a:r>
          </a:p>
          <a:p>
            <a:r>
              <a:rPr lang="en-US" dirty="0"/>
              <a:t>Mostly used to implement functional interfaces (interfaces with a single abstract method).</a:t>
            </a:r>
          </a:p>
          <a:p>
            <a:r>
              <a:rPr lang="en-US" dirty="0"/>
              <a:t>Often used in collection APIs such as forEach(), sort(), and streams to simplify code.</a:t>
            </a:r>
          </a:p>
          <a:p>
            <a:r>
              <a:rPr lang="en-US" dirty="0"/>
              <a:t>Makes code more readable and compact by removing boilerplate like anonymous inner classes.</a:t>
            </a:r>
          </a:p>
        </p:txBody>
      </p:sp>
    </p:spTree>
    <p:extLst>
      <p:ext uri="{BB962C8B-B14F-4D97-AF65-F5344CB8AC3E}">
        <p14:creationId xmlns:p14="http://schemas.microsoft.com/office/powerpoint/2010/main" val="1388395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305CA-2AB7-27DF-D87B-96FF838B0E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C488A3-C595-E5F1-C6AD-22EE906D7F87}"/>
              </a:ext>
            </a:extLst>
          </p:cNvPr>
          <p:cNvSpPr txBox="1"/>
          <p:nvPr/>
        </p:nvSpPr>
        <p:spPr>
          <a:xfrm>
            <a:off x="884583" y="80883"/>
            <a:ext cx="8289235" cy="6186309"/>
          </a:xfrm>
          <a:prstGeom prst="rect">
            <a:avLst/>
          </a:prstGeom>
          <a:noFill/>
        </p:spPr>
        <p:txBody>
          <a:bodyPr wrap="square">
            <a:spAutoFit/>
          </a:bodyPr>
          <a:lstStyle/>
          <a:p>
            <a:pPr algn="l">
              <a:buNone/>
            </a:pPr>
            <a:r>
              <a:rPr lang="en-US" b="1" i="0" dirty="0">
                <a:effectLst/>
                <a:latin typeface="fkGrotesk"/>
              </a:rPr>
              <a:t>5.4 Passing Lambda Expression as an Argument in Java</a:t>
            </a:r>
          </a:p>
          <a:p>
            <a:pPr algn="l">
              <a:buNone/>
            </a:pPr>
            <a:endParaRPr lang="en-US" dirty="0"/>
          </a:p>
          <a:p>
            <a:pPr algn="l">
              <a:buNone/>
            </a:pPr>
            <a:r>
              <a:rPr lang="en-US" b="1" i="0" dirty="0">
                <a:effectLst/>
                <a:latin typeface="fkGrotesk"/>
              </a:rPr>
              <a:t>Key Concept</a:t>
            </a:r>
          </a:p>
          <a:p>
            <a:pPr algn="l">
              <a:buFont typeface="Arial" panose="020B0604020202020204" pitchFamily="34" charset="0"/>
              <a:buChar char="•"/>
            </a:pPr>
            <a:r>
              <a:rPr lang="en-US" b="0" i="0" dirty="0">
                <a:effectLst/>
                <a:latin typeface="fkGroteskNeue"/>
              </a:rPr>
              <a:t>To pass a lambda expression as a method argument, the method parameter must be of a functional interface type (an interface with a single abstract method).</a:t>
            </a:r>
          </a:p>
          <a:p>
            <a:pPr algn="l">
              <a:buFont typeface="Arial" panose="020B0604020202020204" pitchFamily="34" charset="0"/>
              <a:buChar char="•"/>
            </a:pPr>
            <a:r>
              <a:rPr lang="en-US" b="0" i="0" dirty="0">
                <a:effectLst/>
                <a:latin typeface="fkGroteskNeue"/>
              </a:rPr>
              <a:t>The lambda expression provides the implementation of that abstract method at the call site, making the code concise and flexible.</a:t>
            </a:r>
          </a:p>
          <a:p>
            <a:br>
              <a:rPr lang="en-US" dirty="0"/>
            </a:br>
            <a:r>
              <a:rPr lang="en-US" dirty="0"/>
              <a:t>Example 1: Passing Lambda to a Method</a:t>
            </a:r>
          </a:p>
          <a:p>
            <a:br>
              <a:rPr lang="en-US" dirty="0"/>
            </a:br>
            <a:r>
              <a:rPr lang="en-US" dirty="0"/>
              <a:t>// Functional interface with one abstract method</a:t>
            </a:r>
          </a:p>
          <a:p>
            <a:r>
              <a:rPr lang="en-US" dirty="0"/>
              <a:t>interface </a:t>
            </a:r>
            <a:r>
              <a:rPr lang="en-US" dirty="0" err="1"/>
              <a:t>MyFunctionalInterface</a:t>
            </a:r>
            <a:r>
              <a:rPr lang="en-US" dirty="0"/>
              <a:t> {</a:t>
            </a:r>
          </a:p>
          <a:p>
            <a:r>
              <a:rPr lang="en-US" dirty="0"/>
              <a:t>    void execute(String s);</a:t>
            </a:r>
          </a:p>
          <a:p>
            <a:r>
              <a:rPr lang="en-US" dirty="0"/>
              <a:t>}</a:t>
            </a:r>
          </a:p>
          <a:p>
            <a:endParaRPr lang="en-US" dirty="0"/>
          </a:p>
          <a:p>
            <a:r>
              <a:rPr lang="en-US" dirty="0"/>
              <a:t>public class </a:t>
            </a:r>
            <a:r>
              <a:rPr lang="en-US" dirty="0" err="1"/>
              <a:t>LambdaArgumentExample</a:t>
            </a:r>
            <a:r>
              <a:rPr lang="en-US" dirty="0"/>
              <a:t> {</a:t>
            </a:r>
          </a:p>
          <a:p>
            <a:r>
              <a:rPr lang="en-US" dirty="0"/>
              <a:t>    </a:t>
            </a:r>
          </a:p>
          <a:p>
            <a:r>
              <a:rPr lang="en-US" dirty="0"/>
              <a:t>    // Method accepting functional interface as parameter</a:t>
            </a:r>
          </a:p>
          <a:p>
            <a:r>
              <a:rPr lang="en-US" dirty="0"/>
              <a:t>    public static void </a:t>
            </a:r>
            <a:r>
              <a:rPr lang="en-US" dirty="0" err="1"/>
              <a:t>printMessage</a:t>
            </a:r>
            <a:r>
              <a:rPr lang="en-US" dirty="0"/>
              <a:t>(String msg, </a:t>
            </a:r>
            <a:r>
              <a:rPr lang="en-US" dirty="0" err="1"/>
              <a:t>MyFunctionalInterface</a:t>
            </a:r>
            <a:r>
              <a:rPr lang="en-US" dirty="0"/>
              <a:t> </a:t>
            </a:r>
            <a:r>
              <a:rPr lang="en-US" dirty="0" err="1"/>
              <a:t>func</a:t>
            </a:r>
            <a:r>
              <a:rPr lang="en-US" dirty="0"/>
              <a:t>) {</a:t>
            </a:r>
          </a:p>
          <a:p>
            <a:r>
              <a:rPr lang="en-US" dirty="0"/>
              <a:t>        </a:t>
            </a:r>
            <a:r>
              <a:rPr lang="en-US" dirty="0" err="1"/>
              <a:t>func.execute</a:t>
            </a:r>
            <a:r>
              <a:rPr lang="en-US" dirty="0"/>
              <a:t>(msg);</a:t>
            </a:r>
          </a:p>
          <a:p>
            <a:r>
              <a:rPr lang="en-US" dirty="0"/>
              <a:t>    }</a:t>
            </a:r>
          </a:p>
          <a:p>
            <a:r>
              <a:rPr lang="en-US" dirty="0"/>
              <a:t>   </a:t>
            </a:r>
          </a:p>
        </p:txBody>
      </p:sp>
    </p:spTree>
    <p:extLst>
      <p:ext uri="{BB962C8B-B14F-4D97-AF65-F5344CB8AC3E}">
        <p14:creationId xmlns:p14="http://schemas.microsoft.com/office/powerpoint/2010/main" val="4230660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3AE4-DA3D-84CB-28AB-19DF21EA52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11696D-4ECC-B3BE-988F-20DB7B58758F}"/>
              </a:ext>
            </a:extLst>
          </p:cNvPr>
          <p:cNvSpPr txBox="1"/>
          <p:nvPr/>
        </p:nvSpPr>
        <p:spPr>
          <a:xfrm>
            <a:off x="894522" y="135765"/>
            <a:ext cx="8070574" cy="6740307"/>
          </a:xfrm>
          <a:prstGeom prst="rect">
            <a:avLst/>
          </a:prstGeom>
          <a:noFill/>
        </p:spPr>
        <p:txBody>
          <a:bodyPr wrap="square">
            <a:spAutoFit/>
          </a:bodyPr>
          <a:lstStyle/>
          <a:p>
            <a:r>
              <a:rPr lang="en-IN" dirty="0"/>
              <a:t>    public static void main(String[] args) {</a:t>
            </a:r>
          </a:p>
          <a:p>
            <a:r>
              <a:rPr lang="en-IN" dirty="0"/>
              <a:t>        // Passing lambda expression as argument</a:t>
            </a:r>
          </a:p>
          <a:p>
            <a:r>
              <a:rPr lang="en-IN" dirty="0"/>
              <a:t>        printMessage("Hello Lambda!", s -&gt; System.out.println(s));</a:t>
            </a:r>
          </a:p>
          <a:p>
            <a:r>
              <a:rPr lang="en-IN" dirty="0"/>
              <a:t>    }</a:t>
            </a:r>
          </a:p>
          <a:p>
            <a:r>
              <a:rPr lang="en-IN" dirty="0"/>
              <a:t>}</a:t>
            </a:r>
          </a:p>
          <a:p>
            <a:endParaRPr lang="en-IN" dirty="0"/>
          </a:p>
          <a:p>
            <a:r>
              <a:rPr lang="en-IN" dirty="0"/>
              <a:t>Output:</a:t>
            </a:r>
          </a:p>
          <a:p>
            <a:br>
              <a:rPr lang="en-IN" dirty="0"/>
            </a:br>
            <a:r>
              <a:rPr lang="en-IN" dirty="0"/>
              <a:t>Hello Lambda!</a:t>
            </a:r>
          </a:p>
          <a:p>
            <a:endParaRPr lang="en-IN" dirty="0"/>
          </a:p>
          <a:p>
            <a:r>
              <a:rPr lang="en-US" b="1" dirty="0"/>
              <a:t>Example 2: Using Lambda with Collection’s forEach</a:t>
            </a:r>
          </a:p>
          <a:p>
            <a:endParaRPr lang="en-US" dirty="0"/>
          </a:p>
          <a:p>
            <a:r>
              <a:rPr lang="en-US" dirty="0"/>
              <a:t>import </a:t>
            </a:r>
            <a:r>
              <a:rPr lang="en-US" dirty="0" err="1"/>
              <a:t>java.util.Arrays</a:t>
            </a:r>
            <a:r>
              <a:rPr lang="en-US" dirty="0"/>
              <a:t>;</a:t>
            </a:r>
          </a:p>
          <a:p>
            <a:r>
              <a:rPr lang="en-US" dirty="0"/>
              <a:t>import </a:t>
            </a:r>
            <a:r>
              <a:rPr lang="en-US" dirty="0" err="1"/>
              <a:t>java.util.List</a:t>
            </a:r>
            <a:r>
              <a:rPr lang="en-US" dirty="0"/>
              <a:t>;</a:t>
            </a:r>
          </a:p>
          <a:p>
            <a:endParaRPr lang="en-US" dirty="0"/>
          </a:p>
          <a:p>
            <a:r>
              <a:rPr lang="en-US" dirty="0"/>
              <a:t>public class LambdaForEachExample {</a:t>
            </a:r>
          </a:p>
          <a:p>
            <a:r>
              <a:rPr lang="en-US" dirty="0"/>
              <a:t>    public static void main(String[] args) {</a:t>
            </a:r>
          </a:p>
          <a:p>
            <a:r>
              <a:rPr lang="en-US" dirty="0"/>
              <a:t>        </a:t>
            </a:r>
          </a:p>
          <a:p>
            <a:r>
              <a:rPr lang="en-US" dirty="0"/>
              <a:t>        List&lt;String&gt; list = </a:t>
            </a:r>
            <a:r>
              <a:rPr lang="en-US" dirty="0" err="1"/>
              <a:t>Arrays.asList</a:t>
            </a:r>
            <a:r>
              <a:rPr lang="en-US" dirty="0"/>
              <a:t>("Java", "Python", "C++");</a:t>
            </a:r>
          </a:p>
          <a:p>
            <a:endParaRPr lang="en-US" dirty="0"/>
          </a:p>
          <a:p>
            <a:r>
              <a:rPr lang="en-US" dirty="0"/>
              <a:t>        // Passing lambda as argument to forEach</a:t>
            </a:r>
          </a:p>
          <a:p>
            <a:r>
              <a:rPr lang="en-US" dirty="0"/>
              <a:t>        list.forEach(item -&gt; </a:t>
            </a:r>
            <a:r>
              <a:rPr lang="en-US" dirty="0" err="1"/>
              <a:t>System.out.println</a:t>
            </a:r>
            <a:r>
              <a:rPr lang="en-US" dirty="0"/>
              <a:t>(</a:t>
            </a:r>
            <a:r>
              <a:rPr lang="en-US" dirty="0" err="1"/>
              <a:t>item.toUpperCase</a:t>
            </a:r>
            <a:r>
              <a:rPr lang="en-US" dirty="0"/>
              <a:t>()));</a:t>
            </a:r>
          </a:p>
          <a:p>
            <a:r>
              <a:rPr lang="en-US" dirty="0"/>
              <a:t>    }</a:t>
            </a:r>
          </a:p>
          <a:p>
            <a:r>
              <a:rPr lang="en-US" dirty="0"/>
              <a:t>}</a:t>
            </a:r>
          </a:p>
        </p:txBody>
      </p:sp>
    </p:spTree>
    <p:extLst>
      <p:ext uri="{BB962C8B-B14F-4D97-AF65-F5344CB8AC3E}">
        <p14:creationId xmlns:p14="http://schemas.microsoft.com/office/powerpoint/2010/main" val="1376195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FFF5E-0CEB-D8EA-F044-8F79904962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7F77E3-EA91-3856-15A1-11F03381667C}"/>
              </a:ext>
            </a:extLst>
          </p:cNvPr>
          <p:cNvSpPr txBox="1"/>
          <p:nvPr/>
        </p:nvSpPr>
        <p:spPr>
          <a:xfrm>
            <a:off x="795131" y="134682"/>
            <a:ext cx="8696739" cy="5355312"/>
          </a:xfrm>
          <a:prstGeom prst="rect">
            <a:avLst/>
          </a:prstGeom>
          <a:noFill/>
        </p:spPr>
        <p:txBody>
          <a:bodyPr wrap="square">
            <a:spAutoFit/>
          </a:bodyPr>
          <a:lstStyle/>
          <a:p>
            <a:pPr>
              <a:buNone/>
            </a:pPr>
            <a:r>
              <a:rPr lang="en-IN" b="0" dirty="0">
                <a:effectLst/>
              </a:rPr>
              <a:t>Output:</a:t>
            </a:r>
            <a:endParaRPr lang="en-IN" dirty="0">
              <a:effectLst/>
            </a:endParaRPr>
          </a:p>
          <a:p>
            <a:pPr>
              <a:buNone/>
            </a:pPr>
            <a:br>
              <a:rPr lang="en-IN" b="0" i="0" dirty="0">
                <a:effectLst/>
                <a:latin typeface="berkeleyMono"/>
              </a:rPr>
            </a:br>
            <a:r>
              <a:rPr lang="en-IN" dirty="0">
                <a:latin typeface="berkeleyMono"/>
              </a:rPr>
              <a:t>JAVA</a:t>
            </a:r>
          </a:p>
          <a:p>
            <a:pPr>
              <a:buNone/>
            </a:pPr>
            <a:r>
              <a:rPr lang="en-IN" dirty="0">
                <a:latin typeface="berkeleyMono"/>
              </a:rPr>
              <a:t>PYTHON</a:t>
            </a:r>
          </a:p>
          <a:p>
            <a:pPr>
              <a:buNone/>
            </a:pPr>
            <a:r>
              <a:rPr lang="en-IN" dirty="0">
                <a:latin typeface="berkeleyMono"/>
              </a:rPr>
              <a:t>C++</a:t>
            </a:r>
          </a:p>
          <a:p>
            <a:pPr>
              <a:buNone/>
            </a:pPr>
            <a:endParaRPr lang="en-IN" dirty="0"/>
          </a:p>
          <a:p>
            <a:r>
              <a:rPr lang="en-US" b="1" dirty="0"/>
              <a:t>5.5 Generics Classes and Interfaces in Java</a:t>
            </a:r>
          </a:p>
          <a:p>
            <a:endParaRPr lang="en-US" dirty="0"/>
          </a:p>
          <a:p>
            <a:r>
              <a:rPr lang="en-US" b="1" dirty="0"/>
              <a:t>What are Generics?</a:t>
            </a:r>
          </a:p>
          <a:p>
            <a:r>
              <a:rPr lang="en-US" dirty="0"/>
              <a:t>Generics enable classes, interfaces, and methods to operate on objects of various types while providing compile-time type safety. Using generics eliminates the need for type casting and reduces runtime errors.</a:t>
            </a:r>
          </a:p>
          <a:p>
            <a:br>
              <a:rPr lang="en-US" dirty="0"/>
            </a:br>
            <a:r>
              <a:rPr lang="en-US" dirty="0"/>
              <a:t>Generic Classes</a:t>
            </a:r>
          </a:p>
          <a:p>
            <a:pPr marL="285750" indent="-285750">
              <a:buFont typeface="Arial" panose="020B0604020202020204" pitchFamily="34" charset="0"/>
              <a:buChar char="•"/>
            </a:pPr>
            <a:r>
              <a:rPr lang="en-US" dirty="0"/>
              <a:t>A generic class has one or more type parameters enclosed in angle brackets (&lt;&gt;).</a:t>
            </a:r>
          </a:p>
          <a:p>
            <a:pPr marL="285750" indent="-285750">
              <a:buFont typeface="Arial" panose="020B0604020202020204" pitchFamily="34" charset="0"/>
              <a:buChar char="•"/>
            </a:pPr>
            <a:r>
              <a:rPr lang="en-US" dirty="0"/>
              <a:t>The type parameter acts as a placeholder for a specific type when creating an instance.</a:t>
            </a:r>
          </a:p>
          <a:p>
            <a:endParaRPr lang="en-IN" dirty="0"/>
          </a:p>
        </p:txBody>
      </p:sp>
    </p:spTree>
    <p:extLst>
      <p:ext uri="{BB962C8B-B14F-4D97-AF65-F5344CB8AC3E}">
        <p14:creationId xmlns:p14="http://schemas.microsoft.com/office/powerpoint/2010/main" val="2274667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FEEA0-16D8-B3D0-5844-976913A2E7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18C114-7A03-F880-6A48-20B8E2B7FDCD}"/>
              </a:ext>
            </a:extLst>
          </p:cNvPr>
          <p:cNvSpPr txBox="1"/>
          <p:nvPr/>
        </p:nvSpPr>
        <p:spPr>
          <a:xfrm>
            <a:off x="854766" y="143326"/>
            <a:ext cx="7832034" cy="5909310"/>
          </a:xfrm>
          <a:prstGeom prst="rect">
            <a:avLst/>
          </a:prstGeom>
          <a:noFill/>
        </p:spPr>
        <p:txBody>
          <a:bodyPr wrap="square">
            <a:spAutoFit/>
          </a:bodyPr>
          <a:lstStyle/>
          <a:p>
            <a:r>
              <a:rPr lang="en-IN" b="0" i="0" dirty="0">
                <a:effectLst/>
                <a:latin typeface="fkGroteskNeue"/>
              </a:rPr>
              <a:t>Syntax</a:t>
            </a:r>
          </a:p>
          <a:p>
            <a:endParaRPr lang="en-IN" b="0" i="0" dirty="0">
              <a:effectLst/>
              <a:latin typeface="fkGroteskNeue"/>
            </a:endParaRPr>
          </a:p>
          <a:p>
            <a:r>
              <a:rPr lang="en-IN" dirty="0"/>
              <a:t>class Box&lt;T&gt; {</a:t>
            </a:r>
          </a:p>
          <a:p>
            <a:r>
              <a:rPr lang="en-IN" dirty="0"/>
              <a:t>    private T </a:t>
            </a:r>
            <a:r>
              <a:rPr lang="en-IN" dirty="0" err="1"/>
              <a:t>t</a:t>
            </a:r>
            <a:r>
              <a:rPr lang="en-IN" dirty="0"/>
              <a:t>;</a:t>
            </a:r>
          </a:p>
          <a:p>
            <a:endParaRPr lang="en-IN" dirty="0"/>
          </a:p>
          <a:p>
            <a:r>
              <a:rPr lang="en-IN" dirty="0"/>
              <a:t>    public void set(T t) {</a:t>
            </a:r>
          </a:p>
          <a:p>
            <a:r>
              <a:rPr lang="en-IN" dirty="0"/>
              <a:t>        this.t = t;</a:t>
            </a:r>
          </a:p>
          <a:p>
            <a:r>
              <a:rPr lang="en-IN" dirty="0"/>
              <a:t>    }</a:t>
            </a:r>
          </a:p>
          <a:p>
            <a:endParaRPr lang="en-IN" dirty="0"/>
          </a:p>
          <a:p>
            <a:r>
              <a:rPr lang="en-IN" dirty="0"/>
              <a:t>    public T get() {</a:t>
            </a:r>
          </a:p>
          <a:p>
            <a:r>
              <a:rPr lang="en-IN" dirty="0"/>
              <a:t>        return t;</a:t>
            </a:r>
          </a:p>
          <a:p>
            <a:r>
              <a:rPr lang="en-IN" dirty="0"/>
              <a:t>    }</a:t>
            </a:r>
          </a:p>
          <a:p>
            <a:r>
              <a:rPr lang="en-IN" dirty="0"/>
              <a:t>}</a:t>
            </a:r>
          </a:p>
          <a:p>
            <a:endParaRPr lang="en-IN" dirty="0"/>
          </a:p>
          <a:p>
            <a:r>
              <a:rPr lang="en-IN" dirty="0"/>
              <a:t>Example:</a:t>
            </a:r>
          </a:p>
          <a:p>
            <a:br>
              <a:rPr lang="en-IN" dirty="0"/>
            </a:br>
            <a:r>
              <a:rPr lang="en-IN" dirty="0"/>
              <a:t>public class </a:t>
            </a:r>
            <a:r>
              <a:rPr lang="en-IN" dirty="0" err="1"/>
              <a:t>GenericDemo</a:t>
            </a:r>
            <a:r>
              <a:rPr lang="en-IN" dirty="0"/>
              <a:t> {</a:t>
            </a:r>
          </a:p>
          <a:p>
            <a:r>
              <a:rPr lang="en-IN" dirty="0"/>
              <a:t>    public static void main(String[] args) {</a:t>
            </a:r>
          </a:p>
          <a:p>
            <a:r>
              <a:rPr lang="en-IN" dirty="0"/>
              <a:t>        Box&lt;Integer&gt; </a:t>
            </a:r>
            <a:r>
              <a:rPr lang="en-IN" dirty="0" err="1"/>
              <a:t>integerBox</a:t>
            </a:r>
            <a:r>
              <a:rPr lang="en-IN" dirty="0"/>
              <a:t> = new Box&lt;&gt;();</a:t>
            </a:r>
          </a:p>
          <a:p>
            <a:r>
              <a:rPr lang="en-IN" dirty="0"/>
              <a:t>        </a:t>
            </a:r>
            <a:r>
              <a:rPr lang="en-IN" dirty="0" err="1"/>
              <a:t>integerBox.set</a:t>
            </a:r>
            <a:r>
              <a:rPr lang="en-IN" dirty="0"/>
              <a:t>(10);</a:t>
            </a:r>
          </a:p>
          <a:p>
            <a:r>
              <a:rPr lang="en-IN" dirty="0"/>
              <a:t>        System.out.println(</a:t>
            </a:r>
            <a:r>
              <a:rPr lang="en-IN" dirty="0" err="1"/>
              <a:t>integerBox.get</a:t>
            </a:r>
            <a:r>
              <a:rPr lang="en-IN" dirty="0"/>
              <a:t>()); // Output: 10</a:t>
            </a:r>
          </a:p>
        </p:txBody>
      </p:sp>
    </p:spTree>
    <p:extLst>
      <p:ext uri="{BB962C8B-B14F-4D97-AF65-F5344CB8AC3E}">
        <p14:creationId xmlns:p14="http://schemas.microsoft.com/office/powerpoint/2010/main" val="1829539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FE60B-855B-094B-57A6-8CF9907ED3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E61F9E-5B0A-C80C-3F5D-EC49B895017B}"/>
              </a:ext>
            </a:extLst>
          </p:cNvPr>
          <p:cNvSpPr txBox="1"/>
          <p:nvPr/>
        </p:nvSpPr>
        <p:spPr>
          <a:xfrm>
            <a:off x="993913" y="180275"/>
            <a:ext cx="8110330" cy="6186309"/>
          </a:xfrm>
          <a:prstGeom prst="rect">
            <a:avLst/>
          </a:prstGeom>
          <a:noFill/>
        </p:spPr>
        <p:txBody>
          <a:bodyPr wrap="square">
            <a:spAutoFit/>
          </a:bodyPr>
          <a:lstStyle/>
          <a:p>
            <a:r>
              <a:rPr lang="en-IN" dirty="0"/>
              <a:t>        Box&lt;String&gt; </a:t>
            </a:r>
            <a:r>
              <a:rPr lang="en-IN" dirty="0" err="1"/>
              <a:t>stringBox</a:t>
            </a:r>
            <a:r>
              <a:rPr lang="en-IN" dirty="0"/>
              <a:t> = new Box&lt;&gt;();</a:t>
            </a:r>
          </a:p>
          <a:p>
            <a:r>
              <a:rPr lang="en-IN" dirty="0"/>
              <a:t>        </a:t>
            </a:r>
            <a:r>
              <a:rPr lang="en-IN" dirty="0" err="1"/>
              <a:t>stringBox.set</a:t>
            </a:r>
            <a:r>
              <a:rPr lang="en-IN" dirty="0"/>
              <a:t>("Hello");</a:t>
            </a:r>
          </a:p>
          <a:p>
            <a:r>
              <a:rPr lang="en-IN" dirty="0"/>
              <a:t>        System.out.println(</a:t>
            </a:r>
            <a:r>
              <a:rPr lang="en-IN" dirty="0" err="1"/>
              <a:t>stringBox.get</a:t>
            </a:r>
            <a:r>
              <a:rPr lang="en-IN" dirty="0"/>
              <a:t>());  // Output: Hello</a:t>
            </a:r>
          </a:p>
          <a:p>
            <a:r>
              <a:rPr lang="en-IN" dirty="0"/>
              <a:t>    }</a:t>
            </a:r>
          </a:p>
          <a:p>
            <a:r>
              <a:rPr lang="en-IN" dirty="0"/>
              <a:t>}</a:t>
            </a:r>
          </a:p>
          <a:p>
            <a:endParaRPr lang="en-IN" dirty="0"/>
          </a:p>
          <a:p>
            <a:r>
              <a:rPr lang="en-US" b="1" dirty="0"/>
              <a:t>Generic Interfaces</a:t>
            </a:r>
          </a:p>
          <a:p>
            <a:r>
              <a:rPr lang="en-US" dirty="0"/>
              <a:t>Interfaces can also be generic by specifying type parameters.</a:t>
            </a:r>
          </a:p>
          <a:p>
            <a:r>
              <a:rPr lang="en-US" dirty="0"/>
              <a:t>Classes implementing generic interfaces must provide concrete types.</a:t>
            </a:r>
          </a:p>
          <a:p>
            <a:endParaRPr lang="en-US" dirty="0"/>
          </a:p>
          <a:p>
            <a:r>
              <a:rPr lang="en-US" dirty="0"/>
              <a:t>Syntax:</a:t>
            </a:r>
          </a:p>
          <a:p>
            <a:endParaRPr lang="en-US" dirty="0"/>
          </a:p>
          <a:p>
            <a:r>
              <a:rPr lang="fr-FR" dirty="0"/>
              <a:t>interface Container&lt;T&gt; {</a:t>
            </a:r>
          </a:p>
          <a:p>
            <a:r>
              <a:rPr lang="fr-FR" dirty="0"/>
              <a:t>    </a:t>
            </a:r>
            <a:r>
              <a:rPr lang="fr-FR" dirty="0" err="1"/>
              <a:t>void</a:t>
            </a:r>
            <a:r>
              <a:rPr lang="fr-FR" dirty="0"/>
              <a:t> </a:t>
            </a:r>
            <a:r>
              <a:rPr lang="fr-FR" dirty="0" err="1"/>
              <a:t>add</a:t>
            </a:r>
            <a:r>
              <a:rPr lang="fr-FR" dirty="0"/>
              <a:t>(T t);</a:t>
            </a:r>
          </a:p>
          <a:p>
            <a:r>
              <a:rPr lang="fr-FR" dirty="0"/>
              <a:t>    T </a:t>
            </a:r>
            <a:r>
              <a:rPr lang="fr-FR" dirty="0" err="1"/>
              <a:t>get</a:t>
            </a:r>
            <a:r>
              <a:rPr lang="fr-FR" dirty="0"/>
              <a:t>(</a:t>
            </a:r>
            <a:r>
              <a:rPr lang="fr-FR" dirty="0" err="1"/>
              <a:t>int</a:t>
            </a:r>
            <a:r>
              <a:rPr lang="fr-FR" dirty="0"/>
              <a:t> index);</a:t>
            </a:r>
          </a:p>
          <a:p>
            <a:r>
              <a:rPr lang="fr-FR" dirty="0"/>
              <a:t>}</a:t>
            </a:r>
          </a:p>
          <a:p>
            <a:endParaRPr lang="en-US" dirty="0"/>
          </a:p>
          <a:p>
            <a:r>
              <a:rPr lang="en-IN" dirty="0"/>
              <a:t>Example:</a:t>
            </a:r>
          </a:p>
          <a:p>
            <a:br>
              <a:rPr lang="en-IN" dirty="0"/>
            </a:br>
            <a:r>
              <a:rPr lang="en-IN" dirty="0"/>
              <a:t>class </a:t>
            </a:r>
            <a:r>
              <a:rPr lang="en-IN" dirty="0" err="1"/>
              <a:t>MyList</a:t>
            </a:r>
            <a:r>
              <a:rPr lang="en-IN" dirty="0"/>
              <a:t>&lt;T&gt; implements Container&lt;T&gt; {</a:t>
            </a:r>
          </a:p>
          <a:p>
            <a:r>
              <a:rPr lang="en-IN" dirty="0"/>
              <a:t>    private </a:t>
            </a:r>
            <a:r>
              <a:rPr lang="en-IN" dirty="0" err="1"/>
              <a:t>ArrayList</a:t>
            </a:r>
            <a:r>
              <a:rPr lang="en-IN" dirty="0"/>
              <a:t>&lt;T&gt; list = new </a:t>
            </a:r>
            <a:r>
              <a:rPr lang="en-IN" dirty="0" err="1"/>
              <a:t>ArrayList</a:t>
            </a:r>
            <a:r>
              <a:rPr lang="en-IN" dirty="0"/>
              <a:t>&lt;&gt;();</a:t>
            </a:r>
            <a:endParaRPr lang="en-US" dirty="0"/>
          </a:p>
          <a:p>
            <a:endParaRPr lang="en-IN" dirty="0"/>
          </a:p>
        </p:txBody>
      </p:sp>
    </p:spTree>
    <p:extLst>
      <p:ext uri="{BB962C8B-B14F-4D97-AF65-F5344CB8AC3E}">
        <p14:creationId xmlns:p14="http://schemas.microsoft.com/office/powerpoint/2010/main" val="3840424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FE4CE-8161-2749-08F6-3AF5FDD8E3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2EF271-3EDE-9479-1D5E-1C661DC3DECB}"/>
              </a:ext>
            </a:extLst>
          </p:cNvPr>
          <p:cNvSpPr txBox="1"/>
          <p:nvPr/>
        </p:nvSpPr>
        <p:spPr>
          <a:xfrm>
            <a:off x="745435" y="129931"/>
            <a:ext cx="8368748" cy="2308324"/>
          </a:xfrm>
          <a:prstGeom prst="rect">
            <a:avLst/>
          </a:prstGeom>
          <a:noFill/>
        </p:spPr>
        <p:txBody>
          <a:bodyPr wrap="square">
            <a:spAutoFit/>
          </a:bodyPr>
          <a:lstStyle/>
          <a:p>
            <a:r>
              <a:rPr lang="en-IN" dirty="0"/>
              <a:t>    public void add(T t) {</a:t>
            </a:r>
          </a:p>
          <a:p>
            <a:r>
              <a:rPr lang="en-IN" dirty="0"/>
              <a:t>        </a:t>
            </a:r>
            <a:r>
              <a:rPr lang="en-IN" dirty="0" err="1"/>
              <a:t>list.add</a:t>
            </a:r>
            <a:r>
              <a:rPr lang="en-IN" dirty="0"/>
              <a:t>(t);</a:t>
            </a:r>
          </a:p>
          <a:p>
            <a:r>
              <a:rPr lang="en-IN" dirty="0"/>
              <a:t>    }</a:t>
            </a:r>
          </a:p>
          <a:p>
            <a:endParaRPr lang="en-IN" dirty="0"/>
          </a:p>
          <a:p>
            <a:r>
              <a:rPr lang="en-IN" dirty="0"/>
              <a:t>    public T get(int index) {</a:t>
            </a:r>
          </a:p>
          <a:p>
            <a:r>
              <a:rPr lang="en-IN" dirty="0"/>
              <a:t>        return </a:t>
            </a:r>
            <a:r>
              <a:rPr lang="en-IN" dirty="0" err="1"/>
              <a:t>list.get</a:t>
            </a:r>
            <a:r>
              <a:rPr lang="en-IN" dirty="0"/>
              <a:t>(index);</a:t>
            </a:r>
          </a:p>
          <a:p>
            <a:r>
              <a:rPr lang="en-IN" dirty="0"/>
              <a:t>    }</a:t>
            </a:r>
          </a:p>
          <a:p>
            <a:r>
              <a:rPr lang="en-IN" dirty="0"/>
              <a:t>}</a:t>
            </a:r>
          </a:p>
        </p:txBody>
      </p:sp>
      <p:sp>
        <p:nvSpPr>
          <p:cNvPr id="5" name="TextBox 4">
            <a:extLst>
              <a:ext uri="{FF2B5EF4-FFF2-40B4-BE49-F238E27FC236}">
                <a16:creationId xmlns:a16="http://schemas.microsoft.com/office/drawing/2014/main" id="{01D71CD0-29EF-FF35-E259-9781E1F5B926}"/>
              </a:ext>
            </a:extLst>
          </p:cNvPr>
          <p:cNvSpPr txBox="1"/>
          <p:nvPr/>
        </p:nvSpPr>
        <p:spPr>
          <a:xfrm>
            <a:off x="646044" y="2584897"/>
            <a:ext cx="8567530" cy="4247317"/>
          </a:xfrm>
          <a:prstGeom prst="rect">
            <a:avLst/>
          </a:prstGeom>
          <a:noFill/>
        </p:spPr>
        <p:txBody>
          <a:bodyPr wrap="square">
            <a:spAutoFit/>
          </a:bodyPr>
          <a:lstStyle/>
          <a:p>
            <a:pPr algn="l">
              <a:buNone/>
            </a:pPr>
            <a:r>
              <a:rPr lang="en-US" b="1" i="0" dirty="0">
                <a:effectLst/>
                <a:latin typeface="fkGrotesk"/>
              </a:rPr>
              <a:t>5.6 Type Parameter and Type Argument in Java Generics</a:t>
            </a:r>
          </a:p>
          <a:p>
            <a:pPr>
              <a:buNone/>
            </a:pPr>
            <a:endParaRPr lang="en-US" dirty="0"/>
          </a:p>
          <a:p>
            <a:pPr algn="l">
              <a:buNone/>
            </a:pPr>
            <a:r>
              <a:rPr lang="en-US" b="1" i="0" dirty="0">
                <a:effectLst/>
                <a:latin typeface="fkGrotesk"/>
              </a:rPr>
              <a:t>Type Parameter</a:t>
            </a:r>
          </a:p>
          <a:p>
            <a:pPr algn="l">
              <a:buNone/>
            </a:pPr>
            <a:endParaRPr lang="en-US" b="1" i="0" dirty="0">
              <a:effectLst/>
              <a:latin typeface="fkGrotesk"/>
            </a:endParaRPr>
          </a:p>
          <a:p>
            <a:pPr algn="l">
              <a:buFont typeface="Arial" panose="020B0604020202020204" pitchFamily="34" charset="0"/>
              <a:buChar char="•"/>
            </a:pPr>
            <a:r>
              <a:rPr lang="en-US" b="0" i="0" dirty="0">
                <a:effectLst/>
                <a:latin typeface="fkGroteskNeue"/>
              </a:rPr>
              <a:t>A type parameter is a placeholder or variable for a type used in the definition of a generic class, interface, or method.</a:t>
            </a:r>
          </a:p>
          <a:p>
            <a:pPr algn="l">
              <a:buFont typeface="Arial" panose="020B0604020202020204" pitchFamily="34" charset="0"/>
              <a:buChar char="•"/>
            </a:pPr>
            <a:r>
              <a:rPr lang="en-US" b="0" i="0" dirty="0">
                <a:effectLst/>
                <a:latin typeface="fkGroteskNeue"/>
              </a:rPr>
              <a:t>It specifies what type will be used, but is not an actual type itself.</a:t>
            </a:r>
          </a:p>
          <a:p>
            <a:pPr algn="l">
              <a:buFont typeface="Arial" panose="020B0604020202020204" pitchFamily="34" charset="0"/>
              <a:buChar char="•"/>
            </a:pPr>
            <a:r>
              <a:rPr lang="en-US" b="0" i="0" dirty="0">
                <a:effectLst/>
                <a:latin typeface="fkGroteskNeue"/>
              </a:rPr>
              <a:t>Declared within angle brackets </a:t>
            </a:r>
            <a:r>
              <a:rPr lang="en-US" b="0" i="0" dirty="0">
                <a:effectLst/>
                <a:latin typeface="berkeleyMono"/>
              </a:rPr>
              <a:t>&lt;T&gt;</a:t>
            </a:r>
            <a:r>
              <a:rPr lang="en-US" b="0" i="0" dirty="0">
                <a:effectLst/>
                <a:latin typeface="fkGroteskNeue"/>
              </a:rPr>
              <a:t>, </a:t>
            </a:r>
            <a:r>
              <a:rPr lang="en-US" b="0" i="0" dirty="0">
                <a:effectLst/>
                <a:latin typeface="berkeleyMono"/>
              </a:rPr>
              <a:t>&lt;E&gt;</a:t>
            </a:r>
            <a:r>
              <a:rPr lang="en-US" b="0" i="0" dirty="0">
                <a:effectLst/>
                <a:latin typeface="fkGroteskNeue"/>
              </a:rPr>
              <a:t>, </a:t>
            </a:r>
            <a:r>
              <a:rPr lang="en-US" b="0" i="0" dirty="0">
                <a:effectLst/>
                <a:latin typeface="berkeleyMono"/>
              </a:rPr>
              <a:t>&lt;K, V&gt;</a:t>
            </a:r>
            <a:r>
              <a:rPr lang="en-US" b="0" i="0" dirty="0">
                <a:effectLst/>
                <a:latin typeface="fkGroteskNeue"/>
              </a:rPr>
              <a:t>, etc., next to the class or interface name.</a:t>
            </a:r>
          </a:p>
          <a:p>
            <a:pPr algn="l">
              <a:buFont typeface="Arial" panose="020B0604020202020204" pitchFamily="34" charset="0"/>
              <a:buChar char="•"/>
            </a:pPr>
            <a:r>
              <a:rPr lang="en-US" b="0" i="0" dirty="0">
                <a:effectLst/>
                <a:latin typeface="fkGroteskNeue"/>
              </a:rPr>
              <a:t>Example:</a:t>
            </a:r>
          </a:p>
          <a:p>
            <a:pPr algn="l">
              <a:buFont typeface="Arial" panose="020B0604020202020204" pitchFamily="34" charset="0"/>
              <a:buChar char="•"/>
            </a:pPr>
            <a:endParaRPr lang="en-US" dirty="0">
              <a:latin typeface="fkGroteskNeue"/>
            </a:endParaRPr>
          </a:p>
          <a:p>
            <a:r>
              <a:rPr lang="en-US" dirty="0">
                <a:latin typeface="fkGroteskNeue"/>
              </a:rPr>
              <a:t>class Box&lt;T&gt; {</a:t>
            </a:r>
          </a:p>
          <a:p>
            <a:r>
              <a:rPr lang="en-US" dirty="0">
                <a:latin typeface="fkGroteskNeue"/>
              </a:rPr>
              <a:t>    private T </a:t>
            </a:r>
            <a:r>
              <a:rPr lang="en-US" dirty="0" err="1">
                <a:latin typeface="fkGroteskNeue"/>
              </a:rPr>
              <a:t>t</a:t>
            </a:r>
            <a:r>
              <a:rPr lang="en-US" dirty="0">
                <a:latin typeface="fkGroteskNeue"/>
              </a:rPr>
              <a:t>;</a:t>
            </a:r>
          </a:p>
          <a:p>
            <a:r>
              <a:rPr lang="en-US" dirty="0">
                <a:latin typeface="fkGroteskNeue"/>
              </a:rPr>
              <a:t>    public void set(T t) { this.t = t; }</a:t>
            </a:r>
          </a:p>
          <a:p>
            <a:r>
              <a:rPr lang="en-US" dirty="0">
                <a:latin typeface="fkGroteskNeue"/>
              </a:rPr>
              <a:t>    public T get() { return t; }</a:t>
            </a:r>
          </a:p>
          <a:p>
            <a:r>
              <a:rPr lang="en-US" dirty="0">
                <a:latin typeface="fkGroteskNeue"/>
              </a:rPr>
              <a:t>}</a:t>
            </a:r>
          </a:p>
        </p:txBody>
      </p:sp>
    </p:spTree>
    <p:extLst>
      <p:ext uri="{BB962C8B-B14F-4D97-AF65-F5344CB8AC3E}">
        <p14:creationId xmlns:p14="http://schemas.microsoft.com/office/powerpoint/2010/main" val="3641721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CA19F-91C0-981B-CA9F-172ED601C1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6BBE7D-FB03-20E3-BE39-A05A830CFC85}"/>
              </a:ext>
            </a:extLst>
          </p:cNvPr>
          <p:cNvSpPr txBox="1"/>
          <p:nvPr/>
        </p:nvSpPr>
        <p:spPr>
          <a:xfrm>
            <a:off x="854765" y="137277"/>
            <a:ext cx="8517835" cy="3139321"/>
          </a:xfrm>
          <a:prstGeom prst="rect">
            <a:avLst/>
          </a:prstGeom>
          <a:noFill/>
        </p:spPr>
        <p:txBody>
          <a:bodyPr wrap="square">
            <a:spAutoFit/>
          </a:bodyPr>
          <a:lstStyle/>
          <a:p>
            <a:pPr algn="l">
              <a:buNone/>
            </a:pPr>
            <a:r>
              <a:rPr lang="en-US" b="1" i="0" dirty="0">
                <a:effectLst/>
                <a:latin typeface="fkGrotesk"/>
              </a:rPr>
              <a:t>Type Argument</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A type argument is the actual data type that replaces the type parameter when creating an instance of a generic class or invoking a generic method.</a:t>
            </a:r>
          </a:p>
          <a:p>
            <a:pPr algn="l">
              <a:buFont typeface="Arial" panose="020B0604020202020204" pitchFamily="34" charset="0"/>
              <a:buChar char="•"/>
            </a:pPr>
            <a:r>
              <a:rPr lang="en-US" b="0" i="0" dirty="0">
                <a:effectLst/>
                <a:latin typeface="fkGroteskNeue"/>
              </a:rPr>
              <a:t>This is the concrete type that the programmer specifies during object creation.</a:t>
            </a:r>
          </a:p>
          <a:p>
            <a:pPr algn="l"/>
            <a:endParaRPr lang="en-US" b="0" i="0" dirty="0">
              <a:effectLst/>
              <a:latin typeface="fkGroteskNeue"/>
            </a:endParaRPr>
          </a:p>
          <a:p>
            <a:pPr algn="l"/>
            <a:r>
              <a:rPr lang="en-US" b="1" i="0" dirty="0">
                <a:effectLst/>
                <a:latin typeface="fkGroteskNeue"/>
              </a:rPr>
              <a:t>Example:</a:t>
            </a:r>
          </a:p>
          <a:p>
            <a:pPr algn="l">
              <a:buFont typeface="Arial" panose="020B0604020202020204" pitchFamily="34" charset="0"/>
              <a:buChar char="•"/>
            </a:pPr>
            <a:endParaRPr lang="en-US" dirty="0">
              <a:latin typeface="fkGroteskNeue"/>
            </a:endParaRPr>
          </a:p>
          <a:p>
            <a:r>
              <a:rPr lang="en-US" dirty="0">
                <a:latin typeface="fkGroteskNeue"/>
              </a:rPr>
              <a:t>Box&lt;Integer&gt; </a:t>
            </a:r>
            <a:r>
              <a:rPr lang="en-US" dirty="0" err="1">
                <a:latin typeface="fkGroteskNeue"/>
              </a:rPr>
              <a:t>integerBox</a:t>
            </a:r>
            <a:r>
              <a:rPr lang="en-US" dirty="0">
                <a:latin typeface="fkGroteskNeue"/>
              </a:rPr>
              <a:t> = new Box&lt;&gt;();</a:t>
            </a:r>
          </a:p>
          <a:p>
            <a:r>
              <a:rPr lang="en-US" dirty="0">
                <a:latin typeface="fkGroteskNeue"/>
              </a:rPr>
              <a:t>Box&lt;String&gt; </a:t>
            </a:r>
            <a:r>
              <a:rPr lang="en-US" dirty="0" err="1">
                <a:latin typeface="fkGroteskNeue"/>
              </a:rPr>
              <a:t>stringBox</a:t>
            </a:r>
            <a:r>
              <a:rPr lang="en-US" dirty="0">
                <a:latin typeface="fkGroteskNeue"/>
              </a:rPr>
              <a:t> = new Box&lt;&gt;();</a:t>
            </a:r>
          </a:p>
          <a:p>
            <a:pPr algn="l"/>
            <a:endParaRPr lang="en-US" b="0" i="0" dirty="0">
              <a:effectLst/>
              <a:latin typeface="fkGroteskNeue"/>
            </a:endParaRPr>
          </a:p>
        </p:txBody>
      </p:sp>
      <p:sp>
        <p:nvSpPr>
          <p:cNvPr id="5" name="TextBox 4">
            <a:extLst>
              <a:ext uri="{FF2B5EF4-FFF2-40B4-BE49-F238E27FC236}">
                <a16:creationId xmlns:a16="http://schemas.microsoft.com/office/drawing/2014/main" id="{5E4B7BFD-2172-248F-9155-2C39C9826AFE}"/>
              </a:ext>
            </a:extLst>
          </p:cNvPr>
          <p:cNvSpPr txBox="1"/>
          <p:nvPr/>
        </p:nvSpPr>
        <p:spPr>
          <a:xfrm>
            <a:off x="755374" y="3130826"/>
            <a:ext cx="9163878" cy="2585323"/>
          </a:xfrm>
          <a:prstGeom prst="rect">
            <a:avLst/>
          </a:prstGeom>
          <a:noFill/>
        </p:spPr>
        <p:txBody>
          <a:bodyPr wrap="square">
            <a:spAutoFit/>
          </a:bodyPr>
          <a:lstStyle/>
          <a:p>
            <a:pPr algn="l">
              <a:buNone/>
            </a:pPr>
            <a:r>
              <a:rPr lang="en-US" b="1" i="0" dirty="0">
                <a:effectLst/>
                <a:latin typeface="fkGrotesk"/>
              </a:rPr>
              <a:t>5.7 Generic Methods in Java</a:t>
            </a:r>
          </a:p>
          <a:p>
            <a:pPr>
              <a:buNone/>
            </a:pPr>
            <a:endParaRPr lang="en-US" dirty="0"/>
          </a:p>
          <a:p>
            <a:pPr algn="l">
              <a:buNone/>
            </a:pPr>
            <a:r>
              <a:rPr lang="en-US" b="1" i="0" dirty="0">
                <a:effectLst/>
                <a:latin typeface="fkGrotesk"/>
              </a:rPr>
              <a:t>What is a Generic Method?</a:t>
            </a:r>
          </a:p>
          <a:p>
            <a:pPr algn="l">
              <a:buNone/>
            </a:pPr>
            <a:endParaRPr lang="en-US" b="0" i="0" dirty="0">
              <a:effectLst/>
              <a:latin typeface="fkGrotesk"/>
            </a:endParaRPr>
          </a:p>
          <a:p>
            <a:pPr algn="l">
              <a:buNone/>
            </a:pPr>
            <a:r>
              <a:rPr lang="en-US" b="0" i="0" dirty="0">
                <a:effectLst/>
                <a:latin typeface="fkGroteskNeue"/>
              </a:rPr>
              <a:t>A generic method is a method that declares its own type parameter(s) independent of any generic type parameters declared by the enclosing class. This allows the method to operate on different types while maintaining type safety.</a:t>
            </a:r>
          </a:p>
          <a:p>
            <a:pPr algn="l">
              <a:buNone/>
            </a:pPr>
            <a:endParaRPr lang="en-US" b="0" i="0" dirty="0">
              <a:effectLst/>
              <a:latin typeface="fkGroteskNeue"/>
            </a:endParaRPr>
          </a:p>
          <a:p>
            <a:pPr algn="l">
              <a:buNone/>
            </a:pPr>
            <a:r>
              <a:rPr lang="en-US" b="0" i="0" dirty="0">
                <a:effectLst/>
                <a:latin typeface="fkGroteskNeue"/>
              </a:rPr>
              <a:t>The type parameter(s) are specified in angle brackets </a:t>
            </a:r>
            <a:r>
              <a:rPr lang="en-US" b="0" i="0" dirty="0">
                <a:effectLst/>
                <a:latin typeface="berkeleyMono"/>
              </a:rPr>
              <a:t>&lt;T&gt;</a:t>
            </a:r>
            <a:r>
              <a:rPr lang="en-US" b="0" i="0" dirty="0">
                <a:effectLst/>
                <a:latin typeface="fkGroteskNeue"/>
              </a:rPr>
              <a:t> right before the method's return type.</a:t>
            </a:r>
          </a:p>
        </p:txBody>
      </p:sp>
    </p:spTree>
    <p:extLst>
      <p:ext uri="{BB962C8B-B14F-4D97-AF65-F5344CB8AC3E}">
        <p14:creationId xmlns:p14="http://schemas.microsoft.com/office/powerpoint/2010/main" val="3945436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A2238-D277-D13A-86A7-DE1100306CF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253BC4-07B6-98F0-FD19-6AE06D521604}"/>
              </a:ext>
            </a:extLst>
          </p:cNvPr>
          <p:cNvSpPr txBox="1"/>
          <p:nvPr/>
        </p:nvSpPr>
        <p:spPr>
          <a:xfrm>
            <a:off x="1106555" y="183081"/>
            <a:ext cx="8206409" cy="5909310"/>
          </a:xfrm>
          <a:prstGeom prst="rect">
            <a:avLst/>
          </a:prstGeom>
          <a:noFill/>
        </p:spPr>
        <p:txBody>
          <a:bodyPr wrap="square">
            <a:spAutoFit/>
          </a:bodyPr>
          <a:lstStyle/>
          <a:p>
            <a:pPr algn="l">
              <a:buNone/>
            </a:pPr>
            <a:r>
              <a:rPr lang="en-IN" b="0" i="0" dirty="0">
                <a:effectLst/>
                <a:latin typeface="fkGrotesk"/>
              </a:rPr>
              <a:t>Syntax</a:t>
            </a:r>
          </a:p>
          <a:p>
            <a:pPr algn="l">
              <a:buNone/>
            </a:pPr>
            <a:endParaRPr lang="en-IN" dirty="0">
              <a:latin typeface="fkGrotesk"/>
            </a:endParaRPr>
          </a:p>
          <a:p>
            <a:r>
              <a:rPr lang="en-US" dirty="0">
                <a:latin typeface="fkGrotesk"/>
              </a:rPr>
              <a:t>public &lt;T&gt; void </a:t>
            </a:r>
            <a:r>
              <a:rPr lang="en-US" dirty="0" err="1">
                <a:latin typeface="fkGrotesk"/>
              </a:rPr>
              <a:t>genericMethod</a:t>
            </a:r>
            <a:r>
              <a:rPr lang="en-US" dirty="0">
                <a:latin typeface="fkGrotesk"/>
              </a:rPr>
              <a:t>(T element) {</a:t>
            </a:r>
          </a:p>
          <a:p>
            <a:r>
              <a:rPr lang="en-US" dirty="0">
                <a:latin typeface="fkGrotesk"/>
              </a:rPr>
              <a:t>    // Method body</a:t>
            </a:r>
          </a:p>
          <a:p>
            <a:r>
              <a:rPr lang="en-US" dirty="0">
                <a:latin typeface="fkGrotesk"/>
              </a:rPr>
              <a:t>}</a:t>
            </a:r>
          </a:p>
          <a:p>
            <a:endParaRPr lang="en-US" dirty="0">
              <a:latin typeface="fkGrotesk"/>
            </a:endParaRPr>
          </a:p>
          <a:p>
            <a:pPr marL="285750" indent="-285750">
              <a:buFont typeface="Arial" panose="020B0604020202020204" pitchFamily="34" charset="0"/>
              <a:buChar char="•"/>
            </a:pPr>
            <a:r>
              <a:rPr lang="en-US" dirty="0"/>
              <a:t>&lt;T&gt; before the return type declares the method as generic with T as the type parameter.</a:t>
            </a:r>
          </a:p>
          <a:p>
            <a:pPr marL="285750" indent="-285750">
              <a:buFont typeface="Arial" panose="020B0604020202020204" pitchFamily="34" charset="0"/>
              <a:buChar char="•"/>
            </a:pPr>
            <a:r>
              <a:rPr lang="en-US" dirty="0"/>
              <a:t>T can then be used in the method's parameters and return type.</a:t>
            </a:r>
          </a:p>
          <a:p>
            <a:endParaRPr lang="en-US" dirty="0">
              <a:latin typeface="fkGrotesk"/>
            </a:endParaRPr>
          </a:p>
          <a:p>
            <a:r>
              <a:rPr lang="en-IN" dirty="0"/>
              <a:t>Example of Generic Method</a:t>
            </a:r>
          </a:p>
          <a:p>
            <a:br>
              <a:rPr lang="en-IN" dirty="0"/>
            </a:br>
            <a:r>
              <a:rPr lang="en-IN" dirty="0"/>
              <a:t>public class Demo {</a:t>
            </a:r>
          </a:p>
          <a:p>
            <a:endParaRPr lang="en-IN" dirty="0"/>
          </a:p>
          <a:p>
            <a:r>
              <a:rPr lang="en-IN" dirty="0"/>
              <a:t>    // Generic method</a:t>
            </a:r>
          </a:p>
          <a:p>
            <a:r>
              <a:rPr lang="en-IN" dirty="0"/>
              <a:t>    public static &lt;T&gt; void printArray(T[] array) {</a:t>
            </a:r>
          </a:p>
          <a:p>
            <a:r>
              <a:rPr lang="en-IN" dirty="0"/>
              <a:t>        for (T element : array) {</a:t>
            </a:r>
          </a:p>
          <a:p>
            <a:r>
              <a:rPr lang="en-IN" dirty="0"/>
              <a:t>            </a:t>
            </a:r>
            <a:r>
              <a:rPr lang="en-IN" dirty="0" err="1"/>
              <a:t>System.out.print</a:t>
            </a:r>
            <a:r>
              <a:rPr lang="en-IN" dirty="0"/>
              <a:t>(element + " ");</a:t>
            </a:r>
          </a:p>
          <a:p>
            <a:r>
              <a:rPr lang="en-IN" dirty="0"/>
              <a:t>        }</a:t>
            </a:r>
          </a:p>
          <a:p>
            <a:r>
              <a:rPr lang="en-IN" dirty="0"/>
              <a:t>        System.out.println();</a:t>
            </a:r>
          </a:p>
          <a:p>
            <a:r>
              <a:rPr lang="en-IN" dirty="0"/>
              <a:t>    }</a:t>
            </a:r>
          </a:p>
        </p:txBody>
      </p:sp>
    </p:spTree>
    <p:extLst>
      <p:ext uri="{BB962C8B-B14F-4D97-AF65-F5344CB8AC3E}">
        <p14:creationId xmlns:p14="http://schemas.microsoft.com/office/powerpoint/2010/main" val="1717360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3C1D5-C47B-85D4-CD67-C16E6BE39E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9512E8-2771-C805-3A8E-344FE74DB248}"/>
              </a:ext>
            </a:extLst>
          </p:cNvPr>
          <p:cNvSpPr txBox="1"/>
          <p:nvPr/>
        </p:nvSpPr>
        <p:spPr>
          <a:xfrm>
            <a:off x="874644" y="126475"/>
            <a:ext cx="8348869" cy="4524315"/>
          </a:xfrm>
          <a:prstGeom prst="rect">
            <a:avLst/>
          </a:prstGeom>
          <a:noFill/>
        </p:spPr>
        <p:txBody>
          <a:bodyPr wrap="square">
            <a:spAutoFit/>
          </a:bodyPr>
          <a:lstStyle/>
          <a:p>
            <a:r>
              <a:rPr lang="en-IN" dirty="0"/>
              <a:t>    public static void main(String[] args) {</a:t>
            </a:r>
          </a:p>
          <a:p>
            <a:r>
              <a:rPr lang="en-IN" dirty="0"/>
              <a:t>        Integer[] </a:t>
            </a:r>
            <a:r>
              <a:rPr lang="en-IN" dirty="0" err="1"/>
              <a:t>intArray</a:t>
            </a:r>
            <a:r>
              <a:rPr lang="en-IN" dirty="0"/>
              <a:t> = {1, 2, 3, 4};</a:t>
            </a:r>
          </a:p>
          <a:p>
            <a:r>
              <a:rPr lang="en-IN" dirty="0"/>
              <a:t>        String[] </a:t>
            </a:r>
            <a:r>
              <a:rPr lang="en-IN" dirty="0" err="1"/>
              <a:t>strArray</a:t>
            </a:r>
            <a:r>
              <a:rPr lang="en-IN" dirty="0"/>
              <a:t> = {"Java", "Generics", "Demo"};</a:t>
            </a:r>
          </a:p>
          <a:p>
            <a:endParaRPr lang="en-IN" dirty="0"/>
          </a:p>
          <a:p>
            <a:r>
              <a:rPr lang="en-IN" dirty="0"/>
              <a:t>        // Calling generic method with Integer array</a:t>
            </a:r>
          </a:p>
          <a:p>
            <a:r>
              <a:rPr lang="en-IN" dirty="0"/>
              <a:t>        printArray(</a:t>
            </a:r>
            <a:r>
              <a:rPr lang="en-IN" dirty="0" err="1"/>
              <a:t>intArray</a:t>
            </a:r>
            <a:r>
              <a:rPr lang="en-IN" dirty="0"/>
              <a:t>);</a:t>
            </a:r>
          </a:p>
          <a:p>
            <a:endParaRPr lang="en-IN" dirty="0"/>
          </a:p>
          <a:p>
            <a:r>
              <a:rPr lang="en-IN" dirty="0"/>
              <a:t>        // Calling generic method with String array</a:t>
            </a:r>
          </a:p>
          <a:p>
            <a:r>
              <a:rPr lang="en-IN" dirty="0"/>
              <a:t>        printArray(</a:t>
            </a:r>
            <a:r>
              <a:rPr lang="en-IN" dirty="0" err="1"/>
              <a:t>strArray</a:t>
            </a:r>
            <a:r>
              <a:rPr lang="en-IN" dirty="0"/>
              <a:t>);</a:t>
            </a:r>
          </a:p>
          <a:p>
            <a:r>
              <a:rPr lang="en-IN" dirty="0"/>
              <a:t>    }</a:t>
            </a:r>
          </a:p>
          <a:p>
            <a:r>
              <a:rPr lang="en-IN" dirty="0"/>
              <a:t>}</a:t>
            </a:r>
          </a:p>
          <a:p>
            <a:endParaRPr lang="en-IN" dirty="0"/>
          </a:p>
          <a:p>
            <a:r>
              <a:rPr lang="en-IN" dirty="0"/>
              <a:t>Output:</a:t>
            </a:r>
          </a:p>
          <a:p>
            <a:br>
              <a:rPr lang="en-IN" dirty="0"/>
            </a:br>
            <a:r>
              <a:rPr lang="it-IT" dirty="0"/>
              <a:t>1 2 3 4 </a:t>
            </a:r>
          </a:p>
          <a:p>
            <a:r>
              <a:rPr lang="it-IT" dirty="0"/>
              <a:t>Java Generics Demo </a:t>
            </a:r>
          </a:p>
        </p:txBody>
      </p:sp>
    </p:spTree>
    <p:extLst>
      <p:ext uri="{BB962C8B-B14F-4D97-AF65-F5344CB8AC3E}">
        <p14:creationId xmlns:p14="http://schemas.microsoft.com/office/powerpoint/2010/main" val="1338496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4EF7B-572C-EA8A-65EF-F837964952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C5DD39-7AC7-AD5D-878A-9F8B7C0FEDC6}"/>
              </a:ext>
            </a:extLst>
          </p:cNvPr>
          <p:cNvSpPr txBox="1"/>
          <p:nvPr/>
        </p:nvSpPr>
        <p:spPr>
          <a:xfrm>
            <a:off x="785191" y="158452"/>
            <a:ext cx="8527774" cy="5632311"/>
          </a:xfrm>
          <a:prstGeom prst="rect">
            <a:avLst/>
          </a:prstGeom>
          <a:noFill/>
        </p:spPr>
        <p:txBody>
          <a:bodyPr wrap="square">
            <a:spAutoFit/>
          </a:bodyPr>
          <a:lstStyle/>
          <a:p>
            <a:pPr algn="l">
              <a:buNone/>
            </a:pPr>
            <a:r>
              <a:rPr lang="en-US" b="1" i="0" dirty="0">
                <a:effectLst/>
                <a:latin typeface="fkGrotesk"/>
              </a:rPr>
              <a:t>5.8 Bounded Generics in Java</a:t>
            </a:r>
          </a:p>
          <a:p>
            <a:pPr>
              <a:buNone/>
            </a:pPr>
            <a:endParaRPr lang="en-US" dirty="0"/>
          </a:p>
          <a:p>
            <a:pPr algn="l">
              <a:buNone/>
            </a:pPr>
            <a:r>
              <a:rPr lang="en-US" b="1" i="0" dirty="0">
                <a:effectLst/>
                <a:latin typeface="fkGrotesk"/>
              </a:rPr>
              <a:t>What are Bounded Generics?</a:t>
            </a:r>
          </a:p>
          <a:p>
            <a:pPr algn="l">
              <a:buNone/>
            </a:pPr>
            <a:endParaRPr lang="en-US" b="0" i="0" dirty="0">
              <a:effectLst/>
              <a:latin typeface="fkGrotesk"/>
            </a:endParaRPr>
          </a:p>
          <a:p>
            <a:pPr algn="l">
              <a:buNone/>
            </a:pPr>
            <a:r>
              <a:rPr lang="en-US" b="0" i="0" dirty="0">
                <a:effectLst/>
                <a:latin typeface="fkGroteskNeue"/>
              </a:rPr>
              <a:t>Bounded generics are a way to restrict the types that can be used as type arguments for generic classes, interfaces, or methods. By bounding a generic type parameter, you specify that it must be a subtype (or the same type) of a particular superclass or implement certain interfaces.</a:t>
            </a:r>
          </a:p>
          <a:p>
            <a:pPr algn="l">
              <a:buNone/>
            </a:pPr>
            <a:endParaRPr lang="en-US" dirty="0">
              <a:latin typeface="fkGroteskNeue"/>
            </a:endParaRPr>
          </a:p>
          <a:p>
            <a:r>
              <a:rPr lang="en-US" dirty="0"/>
              <a:t>Key Points</a:t>
            </a:r>
          </a:p>
          <a:p>
            <a:endParaRPr lang="en-US" dirty="0"/>
          </a:p>
          <a:p>
            <a:pPr marL="285750" indent="-285750">
              <a:buFont typeface="Arial" panose="020B0604020202020204" pitchFamily="34" charset="0"/>
              <a:buChar char="•"/>
            </a:pPr>
            <a:r>
              <a:rPr lang="en-US" dirty="0"/>
              <a:t>Use the extends keyword to declare an upper bound on a type parameter.</a:t>
            </a:r>
          </a:p>
          <a:p>
            <a:pPr marL="285750" indent="-285750">
              <a:buFont typeface="Arial" panose="020B0604020202020204" pitchFamily="34" charset="0"/>
              <a:buChar char="•"/>
            </a:pPr>
            <a:r>
              <a:rPr lang="en-US" dirty="0"/>
              <a:t>This means the type argument must be either the specified class or a subclass.</a:t>
            </a:r>
          </a:p>
          <a:p>
            <a:pPr marL="285750" indent="-285750">
              <a:buFont typeface="Arial" panose="020B0604020202020204" pitchFamily="34" charset="0"/>
              <a:buChar char="•"/>
            </a:pPr>
            <a:r>
              <a:rPr lang="en-US" dirty="0"/>
              <a:t>You can specify multiple bounds using the syntax &lt;T extends Class &amp; Interface1 &amp; Interface2&gt;.</a:t>
            </a:r>
          </a:p>
          <a:p>
            <a:pPr marL="285750" indent="-285750">
              <a:buFont typeface="Arial" panose="020B0604020202020204" pitchFamily="34" charset="0"/>
              <a:buChar char="•"/>
            </a:pPr>
            <a:r>
              <a:rPr lang="en-US" dirty="0"/>
              <a:t>Only one class can be specified as a bound, but multiple interfaces can be combined.</a:t>
            </a:r>
          </a:p>
          <a:p>
            <a:pPr marL="285750" indent="-285750">
              <a:buFont typeface="Arial" panose="020B0604020202020204" pitchFamily="34" charset="0"/>
              <a:buChar char="•"/>
            </a:pPr>
            <a:r>
              <a:rPr lang="en-US" dirty="0"/>
              <a:t>Bounded generics help call methods defined in the bounds safely.</a:t>
            </a:r>
          </a:p>
          <a:p>
            <a:pPr algn="l">
              <a:buNone/>
            </a:pPr>
            <a:endParaRPr lang="en-US" b="0" i="0" dirty="0">
              <a:effectLst/>
              <a:latin typeface="fkGroteskNeue"/>
            </a:endParaRPr>
          </a:p>
        </p:txBody>
      </p:sp>
    </p:spTree>
    <p:extLst>
      <p:ext uri="{BB962C8B-B14F-4D97-AF65-F5344CB8AC3E}">
        <p14:creationId xmlns:p14="http://schemas.microsoft.com/office/powerpoint/2010/main" val="2311632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9541-9AE2-37E2-FF16-D50277B949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843CE3-93BD-BB96-0228-567051439F7A}"/>
              </a:ext>
            </a:extLst>
          </p:cNvPr>
          <p:cNvSpPr txBox="1"/>
          <p:nvPr/>
        </p:nvSpPr>
        <p:spPr>
          <a:xfrm>
            <a:off x="983974" y="133386"/>
            <a:ext cx="8319052" cy="5909310"/>
          </a:xfrm>
          <a:prstGeom prst="rect">
            <a:avLst/>
          </a:prstGeom>
          <a:noFill/>
        </p:spPr>
        <p:txBody>
          <a:bodyPr wrap="square">
            <a:spAutoFit/>
          </a:bodyPr>
          <a:lstStyle/>
          <a:p>
            <a:pPr algn="l">
              <a:buNone/>
            </a:pPr>
            <a:r>
              <a:rPr lang="en-IN" b="0" i="0" dirty="0">
                <a:effectLst/>
                <a:latin typeface="fkGrotesk"/>
              </a:rPr>
              <a:t>Syntax</a:t>
            </a:r>
          </a:p>
          <a:p>
            <a:pPr algn="l">
              <a:buNone/>
            </a:pPr>
            <a:endParaRPr lang="en-IN" dirty="0">
              <a:latin typeface="fkGrotesk"/>
            </a:endParaRPr>
          </a:p>
          <a:p>
            <a:r>
              <a:rPr lang="en-IN" dirty="0">
                <a:latin typeface="fkGrotesk"/>
              </a:rPr>
              <a:t>class </a:t>
            </a:r>
            <a:r>
              <a:rPr lang="en-IN" dirty="0" err="1">
                <a:latin typeface="fkGrotesk"/>
              </a:rPr>
              <a:t>GenericClass</a:t>
            </a:r>
            <a:r>
              <a:rPr lang="en-IN" dirty="0">
                <a:latin typeface="fkGrotesk"/>
              </a:rPr>
              <a:t>&lt;T extends Number&gt; {  // T must be Number or subclass</a:t>
            </a:r>
          </a:p>
          <a:p>
            <a:r>
              <a:rPr lang="en-IN" dirty="0">
                <a:latin typeface="fkGrotesk"/>
              </a:rPr>
              <a:t>    T value;</a:t>
            </a:r>
          </a:p>
          <a:p>
            <a:endParaRPr lang="en-IN" dirty="0">
              <a:latin typeface="fkGrotesk"/>
            </a:endParaRPr>
          </a:p>
          <a:p>
            <a:r>
              <a:rPr lang="en-IN" dirty="0">
                <a:latin typeface="fkGrotesk"/>
              </a:rPr>
              <a:t>    public </a:t>
            </a:r>
            <a:r>
              <a:rPr lang="en-IN" dirty="0" err="1">
                <a:latin typeface="fkGrotesk"/>
              </a:rPr>
              <a:t>GenericClass</a:t>
            </a:r>
            <a:r>
              <a:rPr lang="en-IN" dirty="0">
                <a:latin typeface="fkGrotesk"/>
              </a:rPr>
              <a:t>(T value) {</a:t>
            </a:r>
          </a:p>
          <a:p>
            <a:r>
              <a:rPr lang="en-IN" dirty="0">
                <a:latin typeface="fkGrotesk"/>
              </a:rPr>
              <a:t>        </a:t>
            </a:r>
            <a:r>
              <a:rPr lang="en-IN" dirty="0" err="1">
                <a:latin typeface="fkGrotesk"/>
              </a:rPr>
              <a:t>this.value</a:t>
            </a:r>
            <a:r>
              <a:rPr lang="en-IN" dirty="0">
                <a:latin typeface="fkGrotesk"/>
              </a:rPr>
              <a:t> = value;</a:t>
            </a:r>
          </a:p>
          <a:p>
            <a:r>
              <a:rPr lang="en-IN" dirty="0">
                <a:latin typeface="fkGrotesk"/>
              </a:rPr>
              <a:t>    }</a:t>
            </a:r>
          </a:p>
          <a:p>
            <a:endParaRPr lang="en-IN" dirty="0">
              <a:latin typeface="fkGrotesk"/>
            </a:endParaRPr>
          </a:p>
          <a:p>
            <a:r>
              <a:rPr lang="en-IN" dirty="0">
                <a:latin typeface="fkGrotesk"/>
              </a:rPr>
              <a:t>    public void display() {</a:t>
            </a:r>
          </a:p>
          <a:p>
            <a:r>
              <a:rPr lang="en-IN" dirty="0">
                <a:latin typeface="fkGrotesk"/>
              </a:rPr>
              <a:t>        System.out.println("Value: " + value);</a:t>
            </a:r>
          </a:p>
          <a:p>
            <a:r>
              <a:rPr lang="en-IN" dirty="0">
                <a:latin typeface="fkGrotesk"/>
              </a:rPr>
              <a:t>    }</a:t>
            </a:r>
          </a:p>
          <a:p>
            <a:r>
              <a:rPr lang="en-IN" dirty="0">
                <a:latin typeface="fkGrotesk"/>
              </a:rPr>
              <a:t>}</a:t>
            </a:r>
          </a:p>
          <a:p>
            <a:pPr algn="l">
              <a:buNone/>
            </a:pPr>
            <a:endParaRPr lang="en-IN" b="0" i="0" dirty="0">
              <a:effectLst/>
              <a:latin typeface="fkGrotesk"/>
            </a:endParaRPr>
          </a:p>
          <a:p>
            <a:r>
              <a:rPr lang="en-IN" dirty="0"/>
              <a:t>Example Code</a:t>
            </a:r>
          </a:p>
          <a:p>
            <a:br>
              <a:rPr lang="en-IN" dirty="0"/>
            </a:br>
            <a:r>
              <a:rPr lang="en-IN" dirty="0"/>
              <a:t>class A {</a:t>
            </a:r>
          </a:p>
          <a:p>
            <a:r>
              <a:rPr lang="en-IN" dirty="0"/>
              <a:t>    public void </a:t>
            </a:r>
            <a:r>
              <a:rPr lang="en-IN" dirty="0" err="1"/>
              <a:t>displayClass</a:t>
            </a:r>
            <a:r>
              <a:rPr lang="en-IN" dirty="0"/>
              <a:t>() {</a:t>
            </a:r>
          </a:p>
          <a:p>
            <a:r>
              <a:rPr lang="en-IN" dirty="0"/>
              <a:t>        System.out.println("Inside class A");</a:t>
            </a:r>
          </a:p>
          <a:p>
            <a:r>
              <a:rPr lang="en-IN" dirty="0"/>
              <a:t>    }</a:t>
            </a:r>
          </a:p>
          <a:p>
            <a:r>
              <a:rPr lang="en-IN" dirty="0"/>
              <a:t>}</a:t>
            </a:r>
          </a:p>
        </p:txBody>
      </p:sp>
    </p:spTree>
    <p:extLst>
      <p:ext uri="{BB962C8B-B14F-4D97-AF65-F5344CB8AC3E}">
        <p14:creationId xmlns:p14="http://schemas.microsoft.com/office/powerpoint/2010/main" val="298217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2AE29-42FC-CC33-437B-8BCED22A68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80DBF4-6E17-6589-102D-C2F76AC05C12}"/>
              </a:ext>
            </a:extLst>
          </p:cNvPr>
          <p:cNvSpPr txBox="1"/>
          <p:nvPr/>
        </p:nvSpPr>
        <p:spPr>
          <a:xfrm>
            <a:off x="834886" y="120862"/>
            <a:ext cx="8696739" cy="6740307"/>
          </a:xfrm>
          <a:prstGeom prst="rect">
            <a:avLst/>
          </a:prstGeom>
          <a:noFill/>
        </p:spPr>
        <p:txBody>
          <a:bodyPr wrap="square">
            <a:spAutoFit/>
          </a:bodyPr>
          <a:lstStyle/>
          <a:p>
            <a:r>
              <a:rPr lang="en-IN" dirty="0"/>
              <a:t>class B extends A {</a:t>
            </a:r>
          </a:p>
          <a:p>
            <a:r>
              <a:rPr lang="en-IN" dirty="0"/>
              <a:t>    public void </a:t>
            </a:r>
            <a:r>
              <a:rPr lang="en-IN" dirty="0" err="1"/>
              <a:t>displayClass</a:t>
            </a:r>
            <a:r>
              <a:rPr lang="en-IN" dirty="0"/>
              <a:t>() {</a:t>
            </a:r>
          </a:p>
          <a:p>
            <a:r>
              <a:rPr lang="en-IN" dirty="0"/>
              <a:t>        System.out.println("Inside class B");</a:t>
            </a:r>
          </a:p>
          <a:p>
            <a:r>
              <a:rPr lang="en-IN" dirty="0"/>
              <a:t>    }</a:t>
            </a:r>
          </a:p>
          <a:p>
            <a:r>
              <a:rPr lang="en-IN" dirty="0"/>
              <a:t>}</a:t>
            </a:r>
          </a:p>
          <a:p>
            <a:endParaRPr lang="en-IN" dirty="0"/>
          </a:p>
          <a:p>
            <a:r>
              <a:rPr lang="en-IN" dirty="0"/>
              <a:t>class C extends A {</a:t>
            </a:r>
          </a:p>
          <a:p>
            <a:r>
              <a:rPr lang="en-IN" dirty="0"/>
              <a:t>    public void </a:t>
            </a:r>
            <a:r>
              <a:rPr lang="en-IN" dirty="0" err="1"/>
              <a:t>displayClass</a:t>
            </a:r>
            <a:r>
              <a:rPr lang="en-IN" dirty="0"/>
              <a:t>() {</a:t>
            </a:r>
          </a:p>
          <a:p>
            <a:r>
              <a:rPr lang="en-IN" dirty="0"/>
              <a:t>        System.out.println("Inside class C");</a:t>
            </a:r>
          </a:p>
          <a:p>
            <a:r>
              <a:rPr lang="en-IN" dirty="0"/>
              <a:t>    }</a:t>
            </a:r>
          </a:p>
          <a:p>
            <a:r>
              <a:rPr lang="en-IN" dirty="0"/>
              <a:t>}</a:t>
            </a:r>
          </a:p>
          <a:p>
            <a:endParaRPr lang="en-IN" dirty="0"/>
          </a:p>
          <a:p>
            <a:r>
              <a:rPr lang="en-IN" dirty="0"/>
              <a:t>// Bounded Generic class</a:t>
            </a:r>
          </a:p>
          <a:p>
            <a:r>
              <a:rPr lang="en-IN" dirty="0"/>
              <a:t>class Bound&lt;T extends A&gt; {</a:t>
            </a:r>
          </a:p>
          <a:p>
            <a:r>
              <a:rPr lang="en-IN" dirty="0"/>
              <a:t>    private T </a:t>
            </a:r>
            <a:r>
              <a:rPr lang="en-IN" dirty="0" err="1"/>
              <a:t>obj</a:t>
            </a:r>
            <a:r>
              <a:rPr lang="en-IN" dirty="0"/>
              <a:t>;</a:t>
            </a:r>
          </a:p>
          <a:p>
            <a:endParaRPr lang="en-IN" dirty="0"/>
          </a:p>
          <a:p>
            <a:r>
              <a:rPr lang="en-IN" dirty="0"/>
              <a:t>    public Bound(T </a:t>
            </a:r>
            <a:r>
              <a:rPr lang="en-IN" dirty="0" err="1"/>
              <a:t>obj</a:t>
            </a:r>
            <a:r>
              <a:rPr lang="en-IN" dirty="0"/>
              <a:t>) {</a:t>
            </a:r>
          </a:p>
          <a:p>
            <a:r>
              <a:rPr lang="en-IN" dirty="0"/>
              <a:t>        this.obj = </a:t>
            </a:r>
            <a:r>
              <a:rPr lang="en-IN" dirty="0" err="1"/>
              <a:t>obj</a:t>
            </a:r>
            <a:r>
              <a:rPr lang="en-IN" dirty="0"/>
              <a:t>;</a:t>
            </a:r>
          </a:p>
          <a:p>
            <a:r>
              <a:rPr lang="en-IN" dirty="0"/>
              <a:t>    }</a:t>
            </a:r>
          </a:p>
          <a:p>
            <a:endParaRPr lang="en-IN" dirty="0"/>
          </a:p>
          <a:p>
            <a:r>
              <a:rPr lang="en-IN" dirty="0"/>
              <a:t>    public void </a:t>
            </a:r>
            <a:r>
              <a:rPr lang="en-IN" dirty="0" err="1"/>
              <a:t>doRunTest</a:t>
            </a:r>
            <a:r>
              <a:rPr lang="en-IN" dirty="0"/>
              <a:t>() {</a:t>
            </a:r>
          </a:p>
          <a:p>
            <a:r>
              <a:rPr lang="en-IN" dirty="0"/>
              <a:t>        </a:t>
            </a:r>
            <a:r>
              <a:rPr lang="en-IN" dirty="0" err="1"/>
              <a:t>obj.displayClass</a:t>
            </a:r>
            <a:r>
              <a:rPr lang="en-IN" dirty="0"/>
              <a:t>();</a:t>
            </a:r>
          </a:p>
          <a:p>
            <a:r>
              <a:rPr lang="en-IN" dirty="0"/>
              <a:t>    }</a:t>
            </a:r>
          </a:p>
          <a:p>
            <a:r>
              <a:rPr lang="en-IN" dirty="0"/>
              <a:t>}</a:t>
            </a:r>
          </a:p>
        </p:txBody>
      </p:sp>
    </p:spTree>
    <p:extLst>
      <p:ext uri="{BB962C8B-B14F-4D97-AF65-F5344CB8AC3E}">
        <p14:creationId xmlns:p14="http://schemas.microsoft.com/office/powerpoint/2010/main" val="2652704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25FF3-2462-9A21-F941-9D08A2AE47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C7D184-F81D-7F3F-7FC1-4A2A1B3029B2}"/>
              </a:ext>
            </a:extLst>
          </p:cNvPr>
          <p:cNvSpPr txBox="1"/>
          <p:nvPr/>
        </p:nvSpPr>
        <p:spPr>
          <a:xfrm>
            <a:off x="775252" y="154996"/>
            <a:ext cx="9104244" cy="3416320"/>
          </a:xfrm>
          <a:prstGeom prst="rect">
            <a:avLst/>
          </a:prstGeom>
          <a:noFill/>
        </p:spPr>
        <p:txBody>
          <a:bodyPr wrap="square">
            <a:spAutoFit/>
          </a:bodyPr>
          <a:lstStyle/>
          <a:p>
            <a:r>
              <a:rPr lang="en-IN" dirty="0"/>
              <a:t>public class </a:t>
            </a:r>
            <a:r>
              <a:rPr lang="en-IN" dirty="0" err="1"/>
              <a:t>TestBoundedGenerics</a:t>
            </a:r>
            <a:r>
              <a:rPr lang="en-IN" dirty="0"/>
              <a:t> {</a:t>
            </a:r>
          </a:p>
          <a:p>
            <a:r>
              <a:rPr lang="en-IN" dirty="0"/>
              <a:t>    public static void main(String[] args) {</a:t>
            </a:r>
          </a:p>
          <a:p>
            <a:r>
              <a:rPr lang="en-IN" dirty="0"/>
              <a:t>        Bound&lt;B&gt; b = new Bound&lt;&gt;(new B());</a:t>
            </a:r>
          </a:p>
          <a:p>
            <a:r>
              <a:rPr lang="en-IN" dirty="0"/>
              <a:t>        </a:t>
            </a:r>
            <a:r>
              <a:rPr lang="en-IN" dirty="0" err="1"/>
              <a:t>b.doRunTest</a:t>
            </a:r>
            <a:r>
              <a:rPr lang="en-IN" dirty="0"/>
              <a:t>();  // Output: Inside class B</a:t>
            </a:r>
          </a:p>
          <a:p>
            <a:endParaRPr lang="en-IN" dirty="0"/>
          </a:p>
          <a:p>
            <a:r>
              <a:rPr lang="en-IN" dirty="0"/>
              <a:t>        Bound&lt;C&gt; c = new Bound&lt;&gt;(new C());</a:t>
            </a:r>
          </a:p>
          <a:p>
            <a:r>
              <a:rPr lang="en-IN" dirty="0"/>
              <a:t>        </a:t>
            </a:r>
            <a:r>
              <a:rPr lang="en-IN" dirty="0" err="1"/>
              <a:t>c.doRunTest</a:t>
            </a:r>
            <a:r>
              <a:rPr lang="en-IN" dirty="0"/>
              <a:t>();  // Output: Inside class C</a:t>
            </a:r>
          </a:p>
          <a:p>
            <a:endParaRPr lang="en-IN" dirty="0"/>
          </a:p>
          <a:p>
            <a:r>
              <a:rPr lang="en-IN" dirty="0"/>
              <a:t>        Bound&lt;A&gt; a = new Bound&lt;&gt;(new A());</a:t>
            </a:r>
          </a:p>
          <a:p>
            <a:r>
              <a:rPr lang="en-IN" dirty="0"/>
              <a:t>        </a:t>
            </a:r>
            <a:r>
              <a:rPr lang="en-IN" dirty="0" err="1"/>
              <a:t>a.doRunTest</a:t>
            </a:r>
            <a:r>
              <a:rPr lang="en-IN" dirty="0"/>
              <a:t>();  // Output: Inside class A</a:t>
            </a:r>
          </a:p>
          <a:p>
            <a:r>
              <a:rPr lang="en-IN" dirty="0"/>
              <a:t>    }</a:t>
            </a:r>
          </a:p>
          <a:p>
            <a:r>
              <a:rPr lang="en-IN" dirty="0"/>
              <a:t>}</a:t>
            </a:r>
          </a:p>
        </p:txBody>
      </p:sp>
    </p:spTree>
    <p:extLst>
      <p:ext uri="{BB962C8B-B14F-4D97-AF65-F5344CB8AC3E}">
        <p14:creationId xmlns:p14="http://schemas.microsoft.com/office/powerpoint/2010/main" val="24489528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60</TotalTime>
  <Words>2298</Words>
  <Application>Microsoft Office PowerPoint</Application>
  <PresentationFormat>Widescreen</PresentationFormat>
  <Paragraphs>373</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berkeleyMono</vt:lpstr>
      <vt:lpstr>fkGrotesk</vt:lpstr>
      <vt:lpstr>fkGroteskNeue</vt:lpstr>
      <vt:lpstr>Trebuchet MS</vt:lpstr>
      <vt:lpstr>Wingdings</vt:lpstr>
      <vt:lpstr>Wingdings 3</vt:lpstr>
      <vt:lpstr>Facet</vt:lpstr>
      <vt:lpstr>Lambda Expressions and Generics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2025-10-07T11:31:43Z</dcterms:created>
  <dcterms:modified xsi:type="dcterms:W3CDTF">2025-10-07T12:32:00Z</dcterms:modified>
</cp:coreProperties>
</file>