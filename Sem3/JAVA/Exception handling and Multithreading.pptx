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68" r:id="rId14"/>
    <p:sldId id="269" r:id="rId15"/>
    <p:sldId id="273" r:id="rId16"/>
    <p:sldId id="275" r:id="rId17"/>
    <p:sldId id="27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B2FB4E-B4B6-422D-984F-D419655F8AB0}" v="8" dt="2025-10-07T11:30:14.399"/>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modSld">
      <pc:chgData name="shshinde2580@gmail.com" userId="86fdf0c531315612" providerId="LiveId" clId="{80EF1F59-5901-4077-BC9B-DA299863282D}" dt="2025-10-07T11:29:29.637" v="7" actId="113"/>
      <pc:docMkLst>
        <pc:docMk/>
      </pc:docMkLst>
      <pc:sldChg chg="modSp mod">
        <pc:chgData name="shshinde2580@gmail.com" userId="86fdf0c531315612" providerId="LiveId" clId="{80EF1F59-5901-4077-BC9B-DA299863282D}" dt="2025-10-07T11:28:50.797" v="2" actId="113"/>
        <pc:sldMkLst>
          <pc:docMk/>
          <pc:sldMk cId="3371470257" sldId="262"/>
        </pc:sldMkLst>
        <pc:spChg chg="mod">
          <ac:chgData name="shshinde2580@gmail.com" userId="86fdf0c531315612" providerId="LiveId" clId="{80EF1F59-5901-4077-BC9B-DA299863282D}" dt="2025-10-07T11:28:50.797" v="2" actId="113"/>
          <ac:spMkLst>
            <pc:docMk/>
            <pc:sldMk cId="3371470257" sldId="262"/>
            <ac:spMk id="5" creationId="{0805ED92-13DA-2F1A-1E92-DFEAA0EAEB80}"/>
          </ac:spMkLst>
        </pc:spChg>
      </pc:sldChg>
      <pc:sldChg chg="modSp mod">
        <pc:chgData name="shshinde2580@gmail.com" userId="86fdf0c531315612" providerId="LiveId" clId="{80EF1F59-5901-4077-BC9B-DA299863282D}" dt="2025-10-07T11:28:59.734" v="4" actId="113"/>
        <pc:sldMkLst>
          <pc:docMk/>
          <pc:sldMk cId="3344994862" sldId="263"/>
        </pc:sldMkLst>
        <pc:spChg chg="mod">
          <ac:chgData name="shshinde2580@gmail.com" userId="86fdf0c531315612" providerId="LiveId" clId="{80EF1F59-5901-4077-BC9B-DA299863282D}" dt="2025-10-07T11:28:59.734" v="4" actId="113"/>
          <ac:spMkLst>
            <pc:docMk/>
            <pc:sldMk cId="3344994862" sldId="263"/>
            <ac:spMk id="5" creationId="{7031CE9A-F886-802A-2191-E4C3E322DEBC}"/>
          </ac:spMkLst>
        </pc:spChg>
      </pc:sldChg>
      <pc:sldChg chg="modSp mod">
        <pc:chgData name="shshinde2580@gmail.com" userId="86fdf0c531315612" providerId="LiveId" clId="{80EF1F59-5901-4077-BC9B-DA299863282D}" dt="2025-10-07T11:29:11.340" v="6" actId="113"/>
        <pc:sldMkLst>
          <pc:docMk/>
          <pc:sldMk cId="1598836037" sldId="264"/>
        </pc:sldMkLst>
        <pc:spChg chg="mod">
          <ac:chgData name="shshinde2580@gmail.com" userId="86fdf0c531315612" providerId="LiveId" clId="{80EF1F59-5901-4077-BC9B-DA299863282D}" dt="2025-10-07T11:29:11.340" v="6" actId="113"/>
          <ac:spMkLst>
            <pc:docMk/>
            <pc:sldMk cId="1598836037" sldId="264"/>
            <ac:spMk id="5" creationId="{3B1BFC49-95D1-5242-F9B7-19C1D14556E0}"/>
          </ac:spMkLst>
        </pc:spChg>
      </pc:sldChg>
      <pc:sldChg chg="modSp mod">
        <pc:chgData name="shshinde2580@gmail.com" userId="86fdf0c531315612" providerId="LiveId" clId="{80EF1F59-5901-4077-BC9B-DA299863282D}" dt="2025-10-07T11:29:29.637" v="7" actId="113"/>
        <pc:sldMkLst>
          <pc:docMk/>
          <pc:sldMk cId="2377502042" sldId="269"/>
        </pc:sldMkLst>
        <pc:spChg chg="mod">
          <ac:chgData name="shshinde2580@gmail.com" userId="86fdf0c531315612" providerId="LiveId" clId="{80EF1F59-5901-4077-BC9B-DA299863282D}" dt="2025-10-07T11:29:29.637" v="7" actId="113"/>
          <ac:spMkLst>
            <pc:docMk/>
            <pc:sldMk cId="2377502042" sldId="269"/>
            <ac:spMk id="10" creationId="{D9B1247D-5E38-C847-8E83-33858F4BE2F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380825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3671537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259358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B1B8CF-828F-4355-9326-60DD3B60C184}"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365501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B1B8CF-828F-4355-9326-60DD3B60C184}" type="datetimeFigureOut">
              <a:rPr lang="en-IN" smtClean="0"/>
              <a:t>07-10-2025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2551734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B1B8CF-828F-4355-9326-60DD3B60C184}" type="datetimeFigureOut">
              <a:rPr lang="en-IN" smtClean="0"/>
              <a:t>07-10-2025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2735553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B1B8CF-828F-4355-9326-60DD3B60C184}" type="datetimeFigureOut">
              <a:rPr lang="en-IN" smtClean="0"/>
              <a:t>07-10-2025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3005883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B1B8CF-828F-4355-9326-60DD3B60C184}"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4222433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B1B8CF-828F-4355-9326-60DD3B60C184}"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3052627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77883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3684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1871798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49462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30370354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263853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B1B8CF-828F-4355-9326-60DD3B60C184}"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99B341-E2E3-430D-B1ED-2B319FA6997D}" type="slidenum">
              <a:rPr lang="en-IN" smtClean="0"/>
              <a:t>‹#›</a:t>
            </a:fld>
            <a:endParaRPr lang="en-IN"/>
          </a:p>
        </p:txBody>
      </p:sp>
    </p:spTree>
    <p:extLst>
      <p:ext uri="{BB962C8B-B14F-4D97-AF65-F5344CB8AC3E}">
        <p14:creationId xmlns:p14="http://schemas.microsoft.com/office/powerpoint/2010/main" val="1229238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CB1B8CF-828F-4355-9326-60DD3B60C184}" type="datetimeFigureOut">
              <a:rPr lang="en-IN" smtClean="0"/>
              <a:t>07-10-2025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B99B341-E2E3-430D-B1ED-2B319FA6997D}" type="slidenum">
              <a:rPr lang="en-IN" smtClean="0"/>
              <a:t>‹#›</a:t>
            </a:fld>
            <a:endParaRPr lang="en-IN"/>
          </a:p>
        </p:txBody>
      </p:sp>
    </p:spTree>
    <p:extLst>
      <p:ext uri="{BB962C8B-B14F-4D97-AF65-F5344CB8AC3E}">
        <p14:creationId xmlns:p14="http://schemas.microsoft.com/office/powerpoint/2010/main" val="519114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7901-CEA7-1581-7A33-CFED902414E3}"/>
              </a:ext>
            </a:extLst>
          </p:cNvPr>
          <p:cNvSpPr>
            <a:spLocks noGrp="1"/>
          </p:cNvSpPr>
          <p:nvPr>
            <p:ph type="ctrTitle"/>
          </p:nvPr>
        </p:nvSpPr>
        <p:spPr>
          <a:xfrm>
            <a:off x="586409" y="2156056"/>
            <a:ext cx="9213574" cy="1646302"/>
          </a:xfrm>
        </p:spPr>
        <p:txBody>
          <a:bodyPr/>
          <a:lstStyle/>
          <a:p>
            <a:pPr algn="ctr"/>
            <a:r>
              <a:rPr lang="en-IN" dirty="0"/>
              <a:t>Exception handling and Multithreading </a:t>
            </a:r>
          </a:p>
        </p:txBody>
      </p:sp>
    </p:spTree>
    <p:extLst>
      <p:ext uri="{BB962C8B-B14F-4D97-AF65-F5344CB8AC3E}">
        <p14:creationId xmlns:p14="http://schemas.microsoft.com/office/powerpoint/2010/main" val="397968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D1A2BE-0216-7137-F3E7-42C8ADCC76C7}"/>
              </a:ext>
            </a:extLst>
          </p:cNvPr>
          <p:cNvSpPr txBox="1"/>
          <p:nvPr/>
        </p:nvSpPr>
        <p:spPr>
          <a:xfrm>
            <a:off x="974034" y="143974"/>
            <a:ext cx="8488017" cy="6740307"/>
          </a:xfrm>
          <a:prstGeom prst="rect">
            <a:avLst/>
          </a:prstGeom>
          <a:noFill/>
        </p:spPr>
        <p:txBody>
          <a:bodyPr wrap="square">
            <a:spAutoFit/>
          </a:bodyPr>
          <a:lstStyle/>
          <a:p>
            <a:r>
              <a:rPr lang="en-US" b="1" dirty="0"/>
              <a:t>4.1</a:t>
            </a:r>
            <a:r>
              <a:rPr lang="en-US" dirty="0"/>
              <a:t> </a:t>
            </a:r>
            <a:r>
              <a:rPr lang="en-US" b="1" dirty="0"/>
              <a:t>Errors and Exceptions </a:t>
            </a:r>
          </a:p>
          <a:p>
            <a:r>
              <a:rPr lang="en-US" b="1" dirty="0"/>
              <a:t>4.1.1 try-catch </a:t>
            </a:r>
          </a:p>
          <a:p>
            <a:r>
              <a:rPr lang="en-US" b="1" dirty="0"/>
              <a:t>4.1.2 throw </a:t>
            </a:r>
          </a:p>
          <a:p>
            <a:r>
              <a:rPr lang="en-US" b="1" dirty="0"/>
              <a:t>4.1.3 throws </a:t>
            </a:r>
          </a:p>
          <a:p>
            <a:r>
              <a:rPr lang="en-US" b="1" dirty="0"/>
              <a:t>4.1.4 final</a:t>
            </a:r>
          </a:p>
          <a:p>
            <a:endParaRPr lang="en-US" dirty="0"/>
          </a:p>
          <a:p>
            <a:pPr marL="285750" indent="-285750">
              <a:buFont typeface="Wingdings" panose="05000000000000000000" pitchFamily="2" charset="2"/>
              <a:buChar char="Ø"/>
            </a:pPr>
            <a:r>
              <a:rPr lang="en-US" b="1" dirty="0"/>
              <a:t>Errors</a:t>
            </a:r>
            <a:r>
              <a:rPr lang="en-US" dirty="0"/>
              <a:t>:</a:t>
            </a:r>
            <a:br>
              <a:rPr lang="en-US" dirty="0"/>
            </a:br>
            <a:r>
              <a:rPr lang="en-US" dirty="0"/>
              <a:t>Errors in Java are serious conditions that typically cannot be recovered by the program (e.g., running out of memory, stack overflow). They are represented by the Error class and its subclasses. Errors are usually external to the application and should not be handled using code.</a:t>
            </a:r>
          </a:p>
          <a:p>
            <a:endParaRPr lang="en-US" dirty="0"/>
          </a:p>
          <a:p>
            <a:pPr marL="285750" indent="-285750">
              <a:buFont typeface="Wingdings" panose="05000000000000000000" pitchFamily="2" charset="2"/>
              <a:buChar char="Ø"/>
            </a:pPr>
            <a:r>
              <a:rPr lang="en-US" b="1" dirty="0"/>
              <a:t>Exceptions</a:t>
            </a:r>
            <a:r>
              <a:rPr lang="en-US" dirty="0"/>
              <a:t>:</a:t>
            </a:r>
            <a:br>
              <a:rPr lang="en-US" dirty="0"/>
            </a:br>
            <a:r>
              <a:rPr lang="en-US" dirty="0"/>
              <a:t>Exceptions are conditions that can be handled within the program. They occur when something goes wrong during program execution (such as dividing by zero, file not found, etc.), and are instances of the Exception class or its subclasses. Exception handling enables Java programs to handle these problems gracefully and continue execution.</a:t>
            </a:r>
          </a:p>
          <a:p>
            <a:endParaRPr lang="en-IN" dirty="0"/>
          </a:p>
          <a:p>
            <a:r>
              <a:rPr lang="en-US" b="1" dirty="0"/>
              <a:t>4.1.1 try-catch</a:t>
            </a:r>
          </a:p>
          <a:p>
            <a:endParaRPr lang="en-US" dirty="0"/>
          </a:p>
          <a:p>
            <a:r>
              <a:rPr lang="en-US" dirty="0"/>
              <a:t>The try-catch block is used to handle exceptions. Code that may throw an exception is placed in the try block; errors are caught and handled in the catch block.</a:t>
            </a:r>
          </a:p>
        </p:txBody>
      </p:sp>
    </p:spTree>
    <p:extLst>
      <p:ext uri="{BB962C8B-B14F-4D97-AF65-F5344CB8AC3E}">
        <p14:creationId xmlns:p14="http://schemas.microsoft.com/office/powerpoint/2010/main" val="425604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1EED6-EDFB-D09D-0F37-9A6FFECA4AE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80EB41-0CE3-4288-324A-DF59560E0F8E}"/>
              </a:ext>
            </a:extLst>
          </p:cNvPr>
          <p:cNvSpPr txBox="1"/>
          <p:nvPr/>
        </p:nvSpPr>
        <p:spPr>
          <a:xfrm>
            <a:off x="934278" y="333466"/>
            <a:ext cx="8239540" cy="5355312"/>
          </a:xfrm>
          <a:prstGeom prst="rect">
            <a:avLst/>
          </a:prstGeom>
          <a:noFill/>
        </p:spPr>
        <p:txBody>
          <a:bodyPr wrap="square">
            <a:spAutoFit/>
          </a:bodyPr>
          <a:lstStyle/>
          <a:p>
            <a:pPr>
              <a:buNone/>
            </a:pPr>
            <a:r>
              <a:rPr lang="en-IN" b="1" dirty="0">
                <a:effectLst/>
              </a:rPr>
              <a:t>Syntax:</a:t>
            </a:r>
          </a:p>
          <a:p>
            <a:pPr>
              <a:buNone/>
            </a:pPr>
            <a:endParaRPr lang="en-IN" dirty="0"/>
          </a:p>
          <a:p>
            <a:pPr>
              <a:buNone/>
            </a:pPr>
            <a:r>
              <a:rPr lang="en-US" dirty="0"/>
              <a:t>try {</a:t>
            </a:r>
          </a:p>
          <a:p>
            <a:pPr>
              <a:buNone/>
            </a:pPr>
            <a:r>
              <a:rPr lang="en-US" dirty="0"/>
              <a:t>    // code that may throw exception</a:t>
            </a:r>
          </a:p>
          <a:p>
            <a:pPr>
              <a:buNone/>
            </a:pPr>
            <a:r>
              <a:rPr lang="en-US" dirty="0"/>
              <a:t>} catch (ExceptionType e) {</a:t>
            </a:r>
          </a:p>
          <a:p>
            <a:pPr>
              <a:buNone/>
            </a:pPr>
            <a:r>
              <a:rPr lang="en-US" dirty="0"/>
              <a:t>    // exception handling code</a:t>
            </a:r>
          </a:p>
          <a:p>
            <a:pPr>
              <a:buNone/>
            </a:pPr>
            <a:r>
              <a:rPr lang="en-US" dirty="0"/>
              <a:t>}</a:t>
            </a:r>
          </a:p>
          <a:p>
            <a:pPr>
              <a:buNone/>
            </a:pPr>
            <a:endParaRPr lang="en-IN" dirty="0">
              <a:effectLst/>
            </a:endParaRPr>
          </a:p>
          <a:p>
            <a:r>
              <a:rPr lang="en-IN" b="1" dirty="0"/>
              <a:t>Example</a:t>
            </a:r>
            <a:r>
              <a:rPr lang="en-IN" dirty="0"/>
              <a:t>:</a:t>
            </a:r>
          </a:p>
          <a:p>
            <a:br>
              <a:rPr lang="en-IN" dirty="0"/>
            </a:br>
            <a:r>
              <a:rPr lang="en-US" dirty="0"/>
              <a:t>try {</a:t>
            </a:r>
          </a:p>
          <a:p>
            <a:r>
              <a:rPr lang="en-US" dirty="0"/>
              <a:t>    int result = 10 / 0; // This will throw ArithmeticException</a:t>
            </a:r>
          </a:p>
          <a:p>
            <a:r>
              <a:rPr lang="en-US" dirty="0"/>
              <a:t>} catch (ArithmeticException e) {</a:t>
            </a:r>
          </a:p>
          <a:p>
            <a:r>
              <a:rPr lang="en-US" dirty="0"/>
              <a:t>    </a:t>
            </a:r>
            <a:r>
              <a:rPr lang="en-US" dirty="0" err="1"/>
              <a:t>System.out.println</a:t>
            </a:r>
            <a:r>
              <a:rPr lang="en-US" dirty="0"/>
              <a:t>("Exception caught: " + e);</a:t>
            </a:r>
          </a:p>
          <a:p>
            <a:r>
              <a:rPr lang="en-US" dirty="0"/>
              <a:t>}</a:t>
            </a:r>
          </a:p>
          <a:p>
            <a:endParaRPr lang="en-IN" dirty="0">
              <a:effectLst/>
            </a:endParaRPr>
          </a:p>
          <a:p>
            <a:r>
              <a:rPr lang="en-US" dirty="0"/>
              <a:t>Output:</a:t>
            </a:r>
            <a:br>
              <a:rPr lang="en-US" dirty="0"/>
            </a:br>
            <a:r>
              <a:rPr lang="en-US" dirty="0"/>
              <a:t>Exception caught: </a:t>
            </a:r>
            <a:r>
              <a:rPr lang="en-US" dirty="0" err="1"/>
              <a:t>java.lang.ArithmeticException</a:t>
            </a:r>
            <a:r>
              <a:rPr lang="en-US" dirty="0"/>
              <a:t>: / by zero.</a:t>
            </a:r>
          </a:p>
          <a:p>
            <a:endParaRPr lang="en-IN" dirty="0">
              <a:effectLst/>
            </a:endParaRPr>
          </a:p>
        </p:txBody>
      </p:sp>
    </p:spTree>
    <p:extLst>
      <p:ext uri="{BB962C8B-B14F-4D97-AF65-F5344CB8AC3E}">
        <p14:creationId xmlns:p14="http://schemas.microsoft.com/office/powerpoint/2010/main" val="2434015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0AEAF-8671-C26E-1D72-8980D9A266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9A5C46-FE63-BDFB-DF89-FF4054A68E27}"/>
              </a:ext>
            </a:extLst>
          </p:cNvPr>
          <p:cNvSpPr txBox="1"/>
          <p:nvPr/>
        </p:nvSpPr>
        <p:spPr>
          <a:xfrm>
            <a:off x="854766" y="165148"/>
            <a:ext cx="8497956" cy="5632311"/>
          </a:xfrm>
          <a:prstGeom prst="rect">
            <a:avLst/>
          </a:prstGeom>
          <a:noFill/>
        </p:spPr>
        <p:txBody>
          <a:bodyPr wrap="square">
            <a:spAutoFit/>
          </a:bodyPr>
          <a:lstStyle/>
          <a:p>
            <a:pPr algn="l">
              <a:buNone/>
            </a:pPr>
            <a:r>
              <a:rPr lang="en-US" b="1" i="0" dirty="0">
                <a:effectLst/>
                <a:latin typeface="fkGrotesk"/>
              </a:rPr>
              <a:t>4.1.2 throw</a:t>
            </a:r>
          </a:p>
          <a:p>
            <a:pPr algn="l">
              <a:buNone/>
            </a:pPr>
            <a:endParaRPr lang="en-US" b="0" i="0" dirty="0">
              <a:effectLst/>
              <a:latin typeface="fkGrotesk"/>
            </a:endParaRPr>
          </a:p>
          <a:p>
            <a:pPr algn="l">
              <a:buNone/>
            </a:pPr>
            <a:r>
              <a:rPr lang="en-US" b="0" i="0" dirty="0">
                <a:effectLst/>
                <a:latin typeface="fkGroteskNeue"/>
              </a:rPr>
              <a:t>The </a:t>
            </a:r>
            <a:r>
              <a:rPr lang="en-US" b="0" i="0" dirty="0">
                <a:effectLst/>
                <a:latin typeface="berkeleyMono"/>
              </a:rPr>
              <a:t>throw</a:t>
            </a:r>
            <a:r>
              <a:rPr lang="en-US" b="0" i="0" dirty="0">
                <a:effectLst/>
                <a:latin typeface="fkGroteskNeue"/>
              </a:rPr>
              <a:t> keyword is used to explicitly throw an exception from a method or a block of code.</a:t>
            </a:r>
          </a:p>
          <a:p>
            <a:pPr algn="l">
              <a:buNone/>
            </a:pPr>
            <a:endParaRPr lang="en-US" b="0" i="0" dirty="0">
              <a:effectLst/>
              <a:latin typeface="fkGroteskNeue"/>
            </a:endParaRPr>
          </a:p>
          <a:p>
            <a:pPr algn="l">
              <a:buNone/>
            </a:pPr>
            <a:r>
              <a:rPr lang="en-US" b="1" i="0" dirty="0">
                <a:effectLst/>
                <a:latin typeface="fkGroteskNeue"/>
              </a:rPr>
              <a:t>Syntax:</a:t>
            </a:r>
          </a:p>
          <a:p>
            <a:pPr algn="l">
              <a:buNone/>
            </a:pPr>
            <a:endParaRPr lang="en-US" dirty="0">
              <a:latin typeface="fkGroteskNeue"/>
            </a:endParaRPr>
          </a:p>
          <a:p>
            <a:r>
              <a:rPr lang="en-US" dirty="0">
                <a:latin typeface="fkGroteskNeue"/>
              </a:rPr>
              <a:t>throw new ExceptionType("Error message");</a:t>
            </a:r>
          </a:p>
          <a:p>
            <a:pPr algn="l">
              <a:buNone/>
            </a:pPr>
            <a:endParaRPr lang="en-US" b="0" i="0" dirty="0">
              <a:effectLst/>
              <a:latin typeface="fkGroteskNeue"/>
            </a:endParaRPr>
          </a:p>
          <a:p>
            <a:r>
              <a:rPr lang="en-IN" b="1" dirty="0"/>
              <a:t>Example</a:t>
            </a:r>
            <a:r>
              <a:rPr lang="en-IN" dirty="0"/>
              <a:t>:</a:t>
            </a:r>
          </a:p>
          <a:p>
            <a:br>
              <a:rPr lang="en-IN" dirty="0"/>
            </a:br>
            <a:r>
              <a:rPr lang="en-US" dirty="0"/>
              <a:t>public static void </a:t>
            </a:r>
            <a:r>
              <a:rPr lang="en-US" dirty="0" err="1"/>
              <a:t>checkAge</a:t>
            </a:r>
            <a:r>
              <a:rPr lang="en-US" dirty="0"/>
              <a:t>(int age) {</a:t>
            </a:r>
          </a:p>
          <a:p>
            <a:r>
              <a:rPr lang="en-US" dirty="0"/>
              <a:t>    if (age &lt; 18) {</a:t>
            </a:r>
          </a:p>
          <a:p>
            <a:r>
              <a:rPr lang="en-US" dirty="0"/>
              <a:t>        throw new ArithmeticException("Age is not valid for voting");</a:t>
            </a:r>
          </a:p>
          <a:p>
            <a:r>
              <a:rPr lang="en-US" dirty="0"/>
              <a:t>    } else {</a:t>
            </a:r>
          </a:p>
          <a:p>
            <a:r>
              <a:rPr lang="en-US" dirty="0"/>
              <a:t>        System.out.println("You are eligible to vote");</a:t>
            </a:r>
          </a:p>
          <a:p>
            <a:r>
              <a:rPr lang="en-US" dirty="0"/>
              <a:t>    }</a:t>
            </a:r>
          </a:p>
          <a:p>
            <a:r>
              <a:rPr lang="en-US" dirty="0"/>
              <a:t>}</a:t>
            </a:r>
          </a:p>
          <a:p>
            <a:endParaRPr lang="en-IN" dirty="0"/>
          </a:p>
          <a:p>
            <a:r>
              <a:rPr lang="en-US" dirty="0"/>
              <a:t>If you call </a:t>
            </a:r>
            <a:r>
              <a:rPr lang="en-US" dirty="0" err="1"/>
              <a:t>checkAge</a:t>
            </a:r>
            <a:r>
              <a:rPr lang="en-US" dirty="0"/>
              <a:t>(15);, it will throw an exception.</a:t>
            </a:r>
            <a:endParaRPr lang="en-IN" dirty="0"/>
          </a:p>
        </p:txBody>
      </p:sp>
    </p:spTree>
    <p:extLst>
      <p:ext uri="{BB962C8B-B14F-4D97-AF65-F5344CB8AC3E}">
        <p14:creationId xmlns:p14="http://schemas.microsoft.com/office/powerpoint/2010/main" val="417309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BD172-B79F-341C-DF9B-C6C341361A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BC44CEE-7E74-E69F-F5CA-9CEAFDEB1C52}"/>
              </a:ext>
            </a:extLst>
          </p:cNvPr>
          <p:cNvSpPr txBox="1"/>
          <p:nvPr/>
        </p:nvSpPr>
        <p:spPr>
          <a:xfrm>
            <a:off x="805070" y="165797"/>
            <a:ext cx="8627165" cy="5355312"/>
          </a:xfrm>
          <a:prstGeom prst="rect">
            <a:avLst/>
          </a:prstGeom>
          <a:noFill/>
        </p:spPr>
        <p:txBody>
          <a:bodyPr wrap="square">
            <a:spAutoFit/>
          </a:bodyPr>
          <a:lstStyle/>
          <a:p>
            <a:pPr algn="l">
              <a:buNone/>
            </a:pPr>
            <a:r>
              <a:rPr lang="en-US" b="1" i="0" dirty="0">
                <a:effectLst/>
                <a:latin typeface="fkGrotesk"/>
              </a:rPr>
              <a:t>4.1.3 throws</a:t>
            </a:r>
          </a:p>
          <a:p>
            <a:pPr algn="l">
              <a:buNone/>
            </a:pPr>
            <a:endParaRPr lang="en-US" b="0" i="0" dirty="0">
              <a:effectLst/>
              <a:latin typeface="fkGrotesk"/>
            </a:endParaRPr>
          </a:p>
          <a:p>
            <a:pPr algn="l">
              <a:buNone/>
            </a:pPr>
            <a:r>
              <a:rPr lang="en-US" b="0" i="0" dirty="0">
                <a:effectLst/>
                <a:latin typeface="fkGroteskNeue"/>
              </a:rPr>
              <a:t>The </a:t>
            </a:r>
            <a:r>
              <a:rPr lang="en-US" b="0" i="0" dirty="0">
                <a:effectLst/>
                <a:latin typeface="berkeleyMono"/>
              </a:rPr>
              <a:t>throws</a:t>
            </a:r>
            <a:r>
              <a:rPr lang="en-US" b="0" i="0" dirty="0">
                <a:effectLst/>
                <a:latin typeface="fkGroteskNeue"/>
              </a:rPr>
              <a:t> keyword is used in a method’s signature to declare the exceptions that might be thrown by the method. It tells the caller of the method to handle those exceptions.</a:t>
            </a:r>
          </a:p>
          <a:p>
            <a:pPr algn="l">
              <a:buNone/>
            </a:pPr>
            <a:endParaRPr lang="en-US" b="0" i="0" dirty="0">
              <a:effectLst/>
              <a:latin typeface="fkGroteskNeue"/>
            </a:endParaRPr>
          </a:p>
          <a:p>
            <a:pPr algn="l">
              <a:buNone/>
            </a:pPr>
            <a:r>
              <a:rPr lang="en-US" b="1" i="0" dirty="0">
                <a:effectLst/>
                <a:latin typeface="fkGroteskNeue"/>
              </a:rPr>
              <a:t>Syntax</a:t>
            </a:r>
            <a:r>
              <a:rPr lang="en-US" b="0" i="0" dirty="0">
                <a:effectLst/>
                <a:latin typeface="fkGroteskNeue"/>
              </a:rPr>
              <a:t>:</a:t>
            </a:r>
          </a:p>
          <a:p>
            <a:pPr algn="l">
              <a:buNone/>
            </a:pPr>
            <a:endParaRPr lang="en-US" dirty="0">
              <a:latin typeface="fkGroteskNeue"/>
            </a:endParaRPr>
          </a:p>
          <a:p>
            <a:r>
              <a:rPr lang="en-US" dirty="0">
                <a:latin typeface="fkGroteskNeue"/>
              </a:rPr>
              <a:t>void methodName() throws ExceptionType1, ExceptionType2 {</a:t>
            </a:r>
          </a:p>
          <a:p>
            <a:r>
              <a:rPr lang="en-US" dirty="0">
                <a:latin typeface="fkGroteskNeue"/>
              </a:rPr>
              <a:t>    // method code</a:t>
            </a:r>
          </a:p>
          <a:p>
            <a:r>
              <a:rPr lang="en-US" dirty="0">
                <a:latin typeface="fkGroteskNeue"/>
              </a:rPr>
              <a:t>}</a:t>
            </a:r>
          </a:p>
          <a:p>
            <a:pPr algn="l">
              <a:buNone/>
            </a:pPr>
            <a:endParaRPr lang="en-US" b="0" i="0" dirty="0">
              <a:effectLst/>
              <a:latin typeface="fkGroteskNeue"/>
            </a:endParaRPr>
          </a:p>
          <a:p>
            <a:r>
              <a:rPr lang="en-IN" b="1" dirty="0"/>
              <a:t>Example:</a:t>
            </a:r>
          </a:p>
          <a:p>
            <a:br>
              <a:rPr lang="en-IN" dirty="0"/>
            </a:br>
            <a:r>
              <a:rPr lang="en-US" dirty="0"/>
              <a:t>void myMethod() throws IOException {</a:t>
            </a:r>
          </a:p>
          <a:p>
            <a:r>
              <a:rPr lang="en-US" dirty="0"/>
              <a:t>    // code that may throw IOException</a:t>
            </a:r>
          </a:p>
          <a:p>
            <a:r>
              <a:rPr lang="en-US" dirty="0"/>
              <a:t>}</a:t>
            </a:r>
            <a:endParaRPr lang="en-US" b="0" i="0" dirty="0">
              <a:effectLst/>
              <a:latin typeface="fkGroteskNeue"/>
            </a:endParaRPr>
          </a:p>
          <a:p>
            <a:endParaRPr lang="en-US" dirty="0">
              <a:latin typeface="fkGroteskNeue"/>
            </a:endParaRPr>
          </a:p>
          <a:p>
            <a:r>
              <a:rPr lang="en-US" dirty="0"/>
              <a:t>If a method declares throws IOException, the caller must handle or declare it as well.</a:t>
            </a:r>
            <a:endParaRPr lang="en-US" b="0" i="0" dirty="0">
              <a:effectLst/>
              <a:latin typeface="fkGroteskNeue"/>
            </a:endParaRPr>
          </a:p>
        </p:txBody>
      </p:sp>
    </p:spTree>
    <p:extLst>
      <p:ext uri="{BB962C8B-B14F-4D97-AF65-F5344CB8AC3E}">
        <p14:creationId xmlns:p14="http://schemas.microsoft.com/office/powerpoint/2010/main" val="266983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FAFD4-1196-2E08-9BF8-5B679248343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1BECD6E-CECE-9DCB-3046-53D699E681A5}"/>
              </a:ext>
            </a:extLst>
          </p:cNvPr>
          <p:cNvSpPr txBox="1"/>
          <p:nvPr/>
        </p:nvSpPr>
        <p:spPr>
          <a:xfrm>
            <a:off x="884583" y="126689"/>
            <a:ext cx="8567530" cy="4524315"/>
          </a:xfrm>
          <a:prstGeom prst="rect">
            <a:avLst/>
          </a:prstGeom>
          <a:noFill/>
        </p:spPr>
        <p:txBody>
          <a:bodyPr wrap="square">
            <a:spAutoFit/>
          </a:bodyPr>
          <a:lstStyle/>
          <a:p>
            <a:pPr algn="l">
              <a:buNone/>
            </a:pPr>
            <a:r>
              <a:rPr lang="en-US" b="1" i="0" dirty="0">
                <a:effectLst/>
                <a:latin typeface="fkGrotesk"/>
              </a:rPr>
              <a:t>4.1.4 final</a:t>
            </a:r>
          </a:p>
          <a:p>
            <a:pPr algn="l">
              <a:buNone/>
            </a:pPr>
            <a:endParaRPr lang="en-US" b="0" i="0" dirty="0">
              <a:effectLst/>
              <a:latin typeface="fkGrotesk"/>
            </a:endParaRPr>
          </a:p>
          <a:p>
            <a:pPr algn="l">
              <a:buNone/>
            </a:pPr>
            <a:r>
              <a:rPr lang="en-US" b="0" i="0" dirty="0">
                <a:effectLst/>
                <a:latin typeface="fkGroteskNeue"/>
              </a:rPr>
              <a:t>The </a:t>
            </a:r>
            <a:r>
              <a:rPr lang="en-US" b="0" i="0" dirty="0">
                <a:effectLst/>
                <a:latin typeface="berkeleyMono"/>
              </a:rPr>
              <a:t>final</a:t>
            </a:r>
            <a:r>
              <a:rPr lang="en-US" b="0" i="0" dirty="0">
                <a:effectLst/>
                <a:latin typeface="fkGroteskNeue"/>
              </a:rPr>
              <a:t> keyword is used to restrict modification.</a:t>
            </a:r>
          </a:p>
          <a:p>
            <a:pPr algn="l">
              <a:buFont typeface="Arial" panose="020B0604020202020204" pitchFamily="34" charset="0"/>
              <a:buChar char="•"/>
            </a:pPr>
            <a:r>
              <a:rPr lang="en-US" b="0" i="0" dirty="0">
                <a:effectLst/>
                <a:latin typeface="fkGroteskNeue"/>
              </a:rPr>
              <a:t>Final variable: its value cannot be changed (constant).</a:t>
            </a:r>
          </a:p>
          <a:p>
            <a:pPr algn="l">
              <a:buFont typeface="Arial" panose="020B0604020202020204" pitchFamily="34" charset="0"/>
              <a:buChar char="•"/>
            </a:pPr>
            <a:r>
              <a:rPr lang="en-US" b="0" i="0" dirty="0">
                <a:effectLst/>
                <a:latin typeface="fkGroteskNeue"/>
              </a:rPr>
              <a:t>Final method: cannot be overridden by subclasses.</a:t>
            </a:r>
          </a:p>
          <a:p>
            <a:pPr algn="l">
              <a:buFont typeface="Arial" panose="020B0604020202020204" pitchFamily="34" charset="0"/>
              <a:buChar char="•"/>
            </a:pPr>
            <a:r>
              <a:rPr lang="en-US" b="0" i="0" dirty="0">
                <a:effectLst/>
                <a:latin typeface="fkGroteskNeue"/>
              </a:rPr>
              <a:t>Final class: cannot be subclassed.</a:t>
            </a:r>
          </a:p>
          <a:p>
            <a:pPr algn="l"/>
            <a:endParaRPr lang="en-US" b="0" i="0" dirty="0">
              <a:effectLst/>
              <a:latin typeface="fkGroteskNeue"/>
            </a:endParaRPr>
          </a:p>
          <a:p>
            <a:pPr algn="l">
              <a:buNone/>
            </a:pPr>
            <a:r>
              <a:rPr lang="en-US" b="1" i="0" dirty="0">
                <a:effectLst/>
                <a:latin typeface="fkGroteskNeue"/>
              </a:rPr>
              <a:t>Example:</a:t>
            </a:r>
          </a:p>
          <a:p>
            <a:pPr algn="l">
              <a:buNone/>
            </a:pPr>
            <a:endParaRPr lang="en-US" dirty="0">
              <a:latin typeface="fkGroteskNeue"/>
            </a:endParaRPr>
          </a:p>
          <a:p>
            <a:r>
              <a:rPr lang="en-US" dirty="0">
                <a:latin typeface="fkGroteskNeue"/>
              </a:rPr>
              <a:t>final int a = 5;</a:t>
            </a:r>
          </a:p>
          <a:p>
            <a:r>
              <a:rPr lang="en-US" dirty="0">
                <a:latin typeface="fkGroteskNeue"/>
              </a:rPr>
              <a:t>a = 10; // Error: cannot assign a value to final variable a</a:t>
            </a:r>
          </a:p>
          <a:p>
            <a:endParaRPr lang="en-US" dirty="0">
              <a:latin typeface="fkGroteskNeue"/>
            </a:endParaRPr>
          </a:p>
          <a:p>
            <a:r>
              <a:rPr lang="en-US" dirty="0">
                <a:latin typeface="fkGroteskNeue"/>
              </a:rPr>
              <a:t>final void display() {</a:t>
            </a:r>
          </a:p>
          <a:p>
            <a:r>
              <a:rPr lang="en-US" dirty="0">
                <a:latin typeface="fkGroteskNeue"/>
              </a:rPr>
              <a:t>    System.out.println("This cannot be overridden");</a:t>
            </a:r>
          </a:p>
          <a:p>
            <a:r>
              <a:rPr lang="en-US" dirty="0">
                <a:latin typeface="fkGroteskNeue"/>
              </a:rPr>
              <a:t>}</a:t>
            </a:r>
          </a:p>
          <a:p>
            <a:pPr algn="l">
              <a:buNone/>
            </a:pPr>
            <a:endParaRPr lang="en-US" b="0" i="0" dirty="0">
              <a:effectLst/>
              <a:latin typeface="fkGroteskNeue"/>
            </a:endParaRPr>
          </a:p>
        </p:txBody>
      </p:sp>
    </p:spTree>
    <p:extLst>
      <p:ext uri="{BB962C8B-B14F-4D97-AF65-F5344CB8AC3E}">
        <p14:creationId xmlns:p14="http://schemas.microsoft.com/office/powerpoint/2010/main" val="703860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9D14B-0EDA-55B8-DAF8-4EC1653CA1D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05ED92-13DA-2F1A-1E92-DFEAA0EAEB80}"/>
              </a:ext>
            </a:extLst>
          </p:cNvPr>
          <p:cNvSpPr txBox="1"/>
          <p:nvPr/>
        </p:nvSpPr>
        <p:spPr>
          <a:xfrm>
            <a:off x="944217" y="183081"/>
            <a:ext cx="8189843" cy="6186309"/>
          </a:xfrm>
          <a:prstGeom prst="rect">
            <a:avLst/>
          </a:prstGeom>
          <a:noFill/>
        </p:spPr>
        <p:txBody>
          <a:bodyPr wrap="square">
            <a:spAutoFit/>
          </a:bodyPr>
          <a:lstStyle/>
          <a:p>
            <a:r>
              <a:rPr lang="en-IN" b="1" dirty="0"/>
              <a:t>4.2 User defined exceptions</a:t>
            </a:r>
          </a:p>
          <a:p>
            <a:endParaRPr lang="en-IN" dirty="0"/>
          </a:p>
          <a:p>
            <a:pPr marL="285750" indent="-285750">
              <a:buFont typeface="Wingdings" panose="05000000000000000000" pitchFamily="2" charset="2"/>
              <a:buChar char="Ø"/>
            </a:pPr>
            <a:r>
              <a:rPr lang="en-US" dirty="0"/>
              <a:t>A user defined exception in Java (also called a custom exception) is an exception created by the programmer to handle specific, application-related error situations that are not covered by Java’s built-in exceptions. This involves creating a new class that extends Exception (for checked exceptions) or </a:t>
            </a:r>
            <a:r>
              <a:rPr lang="en-US" dirty="0" err="1"/>
              <a:t>RuntimeException</a:t>
            </a:r>
            <a:r>
              <a:rPr lang="en-US" dirty="0"/>
              <a:t> (for unchecked exceptions), and then using it like other exceptions.</a:t>
            </a:r>
          </a:p>
          <a:p>
            <a:endParaRPr lang="en-US" dirty="0"/>
          </a:p>
          <a:p>
            <a:pPr marL="285750" indent="-285750">
              <a:buFont typeface="Wingdings" panose="05000000000000000000" pitchFamily="2" charset="2"/>
              <a:buChar char="q"/>
            </a:pPr>
            <a:r>
              <a:rPr lang="en-US" b="1" dirty="0"/>
              <a:t>How to Create and Use User Defined Exceptions</a:t>
            </a:r>
          </a:p>
          <a:p>
            <a:endParaRPr lang="en-US" dirty="0"/>
          </a:p>
          <a:p>
            <a:r>
              <a:rPr lang="en-US" b="1" dirty="0"/>
              <a:t>Step 1: Define your custom exception class by extending Exception:</a:t>
            </a:r>
          </a:p>
          <a:p>
            <a:endParaRPr lang="en-US" dirty="0"/>
          </a:p>
          <a:p>
            <a:r>
              <a:rPr lang="en-US" dirty="0"/>
              <a:t>Java</a:t>
            </a:r>
          </a:p>
          <a:p>
            <a:endParaRPr lang="en-US" dirty="0"/>
          </a:p>
          <a:p>
            <a:r>
              <a:rPr lang="en-US" dirty="0"/>
              <a:t>class </a:t>
            </a:r>
            <a:r>
              <a:rPr lang="en-US" dirty="0" err="1"/>
              <a:t>MyException</a:t>
            </a:r>
            <a:r>
              <a:rPr lang="en-US" dirty="0"/>
              <a:t> extends Exception {</a:t>
            </a:r>
          </a:p>
          <a:p>
            <a:r>
              <a:rPr lang="en-US" dirty="0"/>
              <a:t>    public </a:t>
            </a:r>
            <a:r>
              <a:rPr lang="en-US" dirty="0" err="1"/>
              <a:t>MyException</a:t>
            </a:r>
            <a:r>
              <a:rPr lang="en-US" dirty="0"/>
              <a:t>(String message) {</a:t>
            </a:r>
          </a:p>
          <a:p>
            <a:r>
              <a:rPr lang="en-US" dirty="0"/>
              <a:t>        super(message);</a:t>
            </a:r>
          </a:p>
          <a:p>
            <a:r>
              <a:rPr lang="en-US" dirty="0"/>
              <a:t>    }</a:t>
            </a:r>
          </a:p>
          <a:p>
            <a:r>
              <a:rPr lang="en-US" dirty="0"/>
              <a:t>}</a:t>
            </a:r>
          </a:p>
          <a:p>
            <a:endParaRPr lang="en-US" dirty="0"/>
          </a:p>
          <a:p>
            <a:r>
              <a:rPr lang="en-US" dirty="0"/>
              <a:t>Step 2: Use your exception class in code:</a:t>
            </a:r>
          </a:p>
        </p:txBody>
      </p:sp>
    </p:spTree>
    <p:extLst>
      <p:ext uri="{BB962C8B-B14F-4D97-AF65-F5344CB8AC3E}">
        <p14:creationId xmlns:p14="http://schemas.microsoft.com/office/powerpoint/2010/main" val="3371470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75679-DF6A-DD1F-FAAB-6E210FD373F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31CE9A-F886-802A-2191-E4C3E322DEBC}"/>
              </a:ext>
            </a:extLst>
          </p:cNvPr>
          <p:cNvSpPr txBox="1"/>
          <p:nvPr/>
        </p:nvSpPr>
        <p:spPr>
          <a:xfrm>
            <a:off x="964096" y="259140"/>
            <a:ext cx="8567530" cy="6186309"/>
          </a:xfrm>
          <a:prstGeom prst="rect">
            <a:avLst/>
          </a:prstGeom>
          <a:noFill/>
        </p:spPr>
        <p:txBody>
          <a:bodyPr wrap="square">
            <a:spAutoFit/>
          </a:bodyPr>
          <a:lstStyle/>
          <a:p>
            <a:r>
              <a:rPr lang="en-IN" dirty="0"/>
              <a:t>public class TestException {</a:t>
            </a:r>
          </a:p>
          <a:p>
            <a:r>
              <a:rPr lang="en-IN" dirty="0"/>
              <a:t>    public static void main(String[] args) {</a:t>
            </a:r>
          </a:p>
          <a:p>
            <a:r>
              <a:rPr lang="en-IN" dirty="0"/>
              <a:t>        try {</a:t>
            </a:r>
          </a:p>
          <a:p>
            <a:r>
              <a:rPr lang="en-IN" dirty="0"/>
              <a:t>            throw new MyException("This is a custom exception!");</a:t>
            </a:r>
          </a:p>
          <a:p>
            <a:r>
              <a:rPr lang="en-IN" dirty="0"/>
              <a:t>        } catch (MyException e) {</a:t>
            </a:r>
          </a:p>
          <a:p>
            <a:r>
              <a:rPr lang="en-IN" dirty="0"/>
              <a:t>            </a:t>
            </a:r>
            <a:r>
              <a:rPr lang="en-IN" dirty="0" err="1"/>
              <a:t>System.out.println</a:t>
            </a:r>
            <a:r>
              <a:rPr lang="en-IN" dirty="0"/>
              <a:t>("Caught custom exception: " + </a:t>
            </a:r>
            <a:r>
              <a:rPr lang="en-IN" dirty="0" err="1"/>
              <a:t>e.getMessage</a:t>
            </a:r>
            <a:r>
              <a:rPr lang="en-IN" dirty="0"/>
              <a:t>());</a:t>
            </a:r>
          </a:p>
          <a:p>
            <a:r>
              <a:rPr lang="en-IN" dirty="0"/>
              <a:t>        }</a:t>
            </a:r>
          </a:p>
          <a:p>
            <a:r>
              <a:rPr lang="en-IN" dirty="0"/>
              <a:t>    }</a:t>
            </a:r>
          </a:p>
          <a:p>
            <a:r>
              <a:rPr lang="en-IN" dirty="0"/>
              <a:t>}</a:t>
            </a:r>
          </a:p>
          <a:p>
            <a:endParaRPr lang="en-IN" dirty="0"/>
          </a:p>
          <a:p>
            <a:r>
              <a:rPr lang="en-IN" b="1" dirty="0"/>
              <a:t>Output</a:t>
            </a:r>
            <a:r>
              <a:rPr lang="en-IN" dirty="0"/>
              <a:t>:</a:t>
            </a:r>
          </a:p>
          <a:p>
            <a:br>
              <a:rPr lang="en-IN" b="1" dirty="0"/>
            </a:br>
            <a:r>
              <a:rPr lang="en-US" b="1" dirty="0"/>
              <a:t>Caught custom exception: This is a custom exception!</a:t>
            </a:r>
          </a:p>
          <a:p>
            <a:endParaRPr lang="en-IN" dirty="0"/>
          </a:p>
          <a:p>
            <a:r>
              <a:rPr lang="en-IN" dirty="0"/>
              <a:t>Real Example: Age Validation</a:t>
            </a:r>
          </a:p>
          <a:p>
            <a:br>
              <a:rPr lang="en-IN" dirty="0"/>
            </a:br>
            <a:r>
              <a:rPr lang="en-IN" dirty="0"/>
              <a:t>// Step 1: Create User-defined Exception</a:t>
            </a:r>
          </a:p>
          <a:p>
            <a:r>
              <a:rPr lang="en-IN" dirty="0"/>
              <a:t>class MyException extends Exception {</a:t>
            </a:r>
          </a:p>
          <a:p>
            <a:r>
              <a:rPr lang="en-IN" dirty="0"/>
              <a:t>    MyException(String message) {</a:t>
            </a:r>
          </a:p>
          <a:p>
            <a:r>
              <a:rPr lang="en-IN" dirty="0"/>
              <a:t>        super(message); // pass message to Exception class</a:t>
            </a:r>
          </a:p>
          <a:p>
            <a:r>
              <a:rPr lang="en-IN" dirty="0"/>
              <a:t>    }</a:t>
            </a:r>
          </a:p>
          <a:p>
            <a:r>
              <a:rPr lang="en-IN" dirty="0"/>
              <a:t>}</a:t>
            </a:r>
          </a:p>
        </p:txBody>
      </p:sp>
    </p:spTree>
    <p:extLst>
      <p:ext uri="{BB962C8B-B14F-4D97-AF65-F5344CB8AC3E}">
        <p14:creationId xmlns:p14="http://schemas.microsoft.com/office/powerpoint/2010/main" val="3344994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90C22-9941-C22B-2502-10CABBA27AB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B1BFC49-95D1-5242-F9B7-19C1D14556E0}"/>
              </a:ext>
            </a:extLst>
          </p:cNvPr>
          <p:cNvSpPr txBox="1"/>
          <p:nvPr/>
        </p:nvSpPr>
        <p:spPr>
          <a:xfrm>
            <a:off x="954155" y="193891"/>
            <a:ext cx="7861853" cy="6740307"/>
          </a:xfrm>
          <a:prstGeom prst="rect">
            <a:avLst/>
          </a:prstGeom>
          <a:noFill/>
        </p:spPr>
        <p:txBody>
          <a:bodyPr wrap="square">
            <a:spAutoFit/>
          </a:bodyPr>
          <a:lstStyle/>
          <a:p>
            <a:r>
              <a:rPr lang="en-IN" dirty="0"/>
              <a:t>// Step 2: Use the Exception</a:t>
            </a:r>
          </a:p>
          <a:p>
            <a:r>
              <a:rPr lang="en-IN" dirty="0"/>
              <a:t>public class pack {</a:t>
            </a:r>
          </a:p>
          <a:p>
            <a:r>
              <a:rPr lang="en-IN" dirty="0"/>
              <a:t>    static void checkNumber(int num) throws MyException {</a:t>
            </a:r>
          </a:p>
          <a:p>
            <a:r>
              <a:rPr lang="en-IN" dirty="0"/>
              <a:t>        if (num &lt; 1) {</a:t>
            </a:r>
          </a:p>
          <a:p>
            <a:r>
              <a:rPr lang="en-IN" dirty="0"/>
              <a:t>            throw new MyException("Number is less than 1");</a:t>
            </a:r>
          </a:p>
          <a:p>
            <a:r>
              <a:rPr lang="en-IN" dirty="0"/>
              <a:t>        } else {</a:t>
            </a:r>
          </a:p>
          <a:p>
            <a:r>
              <a:rPr lang="en-IN" dirty="0"/>
              <a:t>            System.out.println("Number is: " + num);</a:t>
            </a:r>
          </a:p>
          <a:p>
            <a:r>
              <a:rPr lang="en-IN" dirty="0"/>
              <a:t>        }</a:t>
            </a:r>
          </a:p>
          <a:p>
            <a:r>
              <a:rPr lang="en-IN" dirty="0"/>
              <a:t>    }</a:t>
            </a:r>
          </a:p>
          <a:p>
            <a:endParaRPr lang="en-IN" dirty="0"/>
          </a:p>
          <a:p>
            <a:r>
              <a:rPr lang="en-IN" dirty="0"/>
              <a:t>    public static void main(String args[]) {</a:t>
            </a:r>
          </a:p>
          <a:p>
            <a:r>
              <a:rPr lang="en-IN" dirty="0"/>
              <a:t>        try {</a:t>
            </a:r>
          </a:p>
          <a:p>
            <a:r>
              <a:rPr lang="en-IN" dirty="0"/>
              <a:t>            checkNumber(0); // triggers exception</a:t>
            </a:r>
          </a:p>
          <a:p>
            <a:r>
              <a:rPr lang="en-IN" dirty="0"/>
              <a:t>        } catch (MyException e) {</a:t>
            </a:r>
          </a:p>
          <a:p>
            <a:r>
              <a:rPr lang="en-IN" dirty="0"/>
              <a:t>            System.out.println("Caught Exception: " + e.getMessage());</a:t>
            </a:r>
          </a:p>
          <a:p>
            <a:r>
              <a:rPr lang="en-IN" dirty="0"/>
              <a:t>        }</a:t>
            </a:r>
          </a:p>
          <a:p>
            <a:endParaRPr lang="en-IN" dirty="0"/>
          </a:p>
          <a:p>
            <a:r>
              <a:rPr lang="en-IN" dirty="0"/>
              <a:t>        try {</a:t>
            </a:r>
          </a:p>
          <a:p>
            <a:r>
              <a:rPr lang="en-IN" dirty="0"/>
              <a:t>            checkNumber(5); // no exception</a:t>
            </a:r>
          </a:p>
          <a:p>
            <a:r>
              <a:rPr lang="en-IN" dirty="0"/>
              <a:t>        } catch (MyException e) {</a:t>
            </a:r>
          </a:p>
          <a:p>
            <a:r>
              <a:rPr lang="en-IN" dirty="0"/>
              <a:t>            System.out.println(e.getMessage());</a:t>
            </a:r>
          </a:p>
          <a:p>
            <a:r>
              <a:rPr lang="en-IN" dirty="0"/>
              <a:t>        }</a:t>
            </a:r>
          </a:p>
          <a:p>
            <a:r>
              <a:rPr lang="en-IN" dirty="0"/>
              <a:t>    }</a:t>
            </a:r>
          </a:p>
          <a:p>
            <a:r>
              <a:rPr lang="en-IN" dirty="0"/>
              <a:t>}</a:t>
            </a:r>
          </a:p>
        </p:txBody>
      </p:sp>
    </p:spTree>
    <p:extLst>
      <p:ext uri="{BB962C8B-B14F-4D97-AF65-F5344CB8AC3E}">
        <p14:creationId xmlns:p14="http://schemas.microsoft.com/office/powerpoint/2010/main" val="1598836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E1DE-F0A6-FD15-9D37-AC848D0013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FA80A5-EDC8-536D-3F88-8F280FDE0DAB}"/>
              </a:ext>
            </a:extLst>
          </p:cNvPr>
          <p:cNvSpPr txBox="1"/>
          <p:nvPr/>
        </p:nvSpPr>
        <p:spPr>
          <a:xfrm>
            <a:off x="954156" y="252656"/>
            <a:ext cx="8209721" cy="1477328"/>
          </a:xfrm>
          <a:prstGeom prst="rect">
            <a:avLst/>
          </a:prstGeom>
          <a:noFill/>
        </p:spPr>
        <p:txBody>
          <a:bodyPr wrap="square">
            <a:spAutoFit/>
          </a:bodyPr>
          <a:lstStyle/>
          <a:p>
            <a:pPr>
              <a:buNone/>
            </a:pPr>
            <a:r>
              <a:rPr lang="en-IN" b="1" dirty="0"/>
              <a:t>Output:</a:t>
            </a:r>
          </a:p>
          <a:p>
            <a:pPr>
              <a:buNone/>
            </a:pPr>
            <a:endParaRPr lang="en-IN" b="1" dirty="0"/>
          </a:p>
          <a:p>
            <a:pPr>
              <a:buNone/>
            </a:pPr>
            <a:r>
              <a:rPr lang="en-US" dirty="0"/>
              <a:t>Caught Exception: Number is less than 1</a:t>
            </a:r>
          </a:p>
          <a:p>
            <a:pPr>
              <a:buNone/>
            </a:pPr>
            <a:r>
              <a:rPr lang="en-US" dirty="0"/>
              <a:t>Number is: 5</a:t>
            </a:r>
          </a:p>
          <a:p>
            <a:pPr>
              <a:buNone/>
            </a:pPr>
            <a:endParaRPr lang="en-IN" dirty="0"/>
          </a:p>
        </p:txBody>
      </p:sp>
      <p:sp>
        <p:nvSpPr>
          <p:cNvPr id="7" name="TextBox 6">
            <a:extLst>
              <a:ext uri="{FF2B5EF4-FFF2-40B4-BE49-F238E27FC236}">
                <a16:creationId xmlns:a16="http://schemas.microsoft.com/office/drawing/2014/main" id="{684F6C83-F8D1-88A3-46A7-9017DCFE8379}"/>
              </a:ext>
            </a:extLst>
          </p:cNvPr>
          <p:cNvSpPr txBox="1"/>
          <p:nvPr/>
        </p:nvSpPr>
        <p:spPr>
          <a:xfrm>
            <a:off x="815008" y="1545392"/>
            <a:ext cx="8627166" cy="3693319"/>
          </a:xfrm>
          <a:prstGeom prst="rect">
            <a:avLst/>
          </a:prstGeom>
          <a:noFill/>
        </p:spPr>
        <p:txBody>
          <a:bodyPr wrap="square">
            <a:spAutoFit/>
          </a:bodyPr>
          <a:lstStyle/>
          <a:p>
            <a:r>
              <a:rPr lang="en-US" b="1" dirty="0"/>
              <a:t>4.3 Multithreading </a:t>
            </a:r>
          </a:p>
          <a:p>
            <a:r>
              <a:rPr lang="en-US" b="1" dirty="0"/>
              <a:t>4.3.1 Thread life cycle </a:t>
            </a:r>
          </a:p>
          <a:p>
            <a:r>
              <a:rPr lang="en-US" b="1" dirty="0"/>
              <a:t>4.3.2 Creating thread </a:t>
            </a:r>
          </a:p>
          <a:p>
            <a:r>
              <a:rPr lang="en-US" b="1" dirty="0"/>
              <a:t>4.3.3 Thread priority </a:t>
            </a:r>
          </a:p>
          <a:p>
            <a:endParaRPr lang="en-US" dirty="0"/>
          </a:p>
          <a:p>
            <a:r>
              <a:rPr lang="en-US" dirty="0"/>
              <a:t>Multithreading is a Java feature that allows concurrent execution of two or more parts of a program to maximize CPU utilization and responsiveness.</a:t>
            </a:r>
          </a:p>
          <a:p>
            <a:endParaRPr lang="en-IN" b="1" dirty="0"/>
          </a:p>
          <a:p>
            <a:r>
              <a:rPr lang="en-US" b="1" dirty="0"/>
              <a:t>4.3.1 Thread Life Cycle</a:t>
            </a:r>
          </a:p>
          <a:p>
            <a:endParaRPr lang="en-US" b="1" dirty="0"/>
          </a:p>
          <a:p>
            <a:r>
              <a:rPr lang="en-US" dirty="0"/>
              <a:t>A thread in Java goes through various states:</a:t>
            </a:r>
          </a:p>
          <a:p>
            <a:br>
              <a:rPr lang="en-US" dirty="0"/>
            </a:br>
            <a:endParaRPr lang="en-IN" b="1" dirty="0"/>
          </a:p>
        </p:txBody>
      </p:sp>
    </p:spTree>
    <p:extLst>
      <p:ext uri="{BB962C8B-B14F-4D97-AF65-F5344CB8AC3E}">
        <p14:creationId xmlns:p14="http://schemas.microsoft.com/office/powerpoint/2010/main" val="3907114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73DD1-F92B-8994-A421-858BAA08B0A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E9E51EB-B52F-B11A-763C-46A1D5134AFD}"/>
              </a:ext>
            </a:extLst>
          </p:cNvPr>
          <p:cNvGraphicFramePr>
            <a:graphicFrameLocks noGrp="1"/>
          </p:cNvGraphicFramePr>
          <p:nvPr>
            <p:extLst>
              <p:ext uri="{D42A27DB-BD31-4B8C-83A1-F6EECF244321}">
                <p14:modId xmlns:p14="http://schemas.microsoft.com/office/powerpoint/2010/main" val="153190467"/>
              </p:ext>
            </p:extLst>
          </p:nvPr>
        </p:nvGraphicFramePr>
        <p:xfrm>
          <a:off x="824947" y="397564"/>
          <a:ext cx="8596312" cy="3200400"/>
        </p:xfrm>
        <a:graphic>
          <a:graphicData uri="http://schemas.openxmlformats.org/drawingml/2006/table">
            <a:tbl>
              <a:tblPr>
                <a:tableStyleId>{5940675A-B579-460E-94D1-54222C63F5DA}</a:tableStyleId>
              </a:tblPr>
              <a:tblGrid>
                <a:gridCol w="3399183">
                  <a:extLst>
                    <a:ext uri="{9D8B030D-6E8A-4147-A177-3AD203B41FA5}">
                      <a16:colId xmlns:a16="http://schemas.microsoft.com/office/drawing/2014/main" val="262258596"/>
                    </a:ext>
                  </a:extLst>
                </a:gridCol>
                <a:gridCol w="5197129">
                  <a:extLst>
                    <a:ext uri="{9D8B030D-6E8A-4147-A177-3AD203B41FA5}">
                      <a16:colId xmlns:a16="http://schemas.microsoft.com/office/drawing/2014/main" val="4221980787"/>
                    </a:ext>
                  </a:extLst>
                </a:gridCol>
              </a:tblGrid>
              <a:tr h="0">
                <a:tc>
                  <a:txBody>
                    <a:bodyPr/>
                    <a:lstStyle/>
                    <a:p>
                      <a:pPr algn="ctr">
                        <a:buNone/>
                      </a:pPr>
                      <a:r>
                        <a:rPr lang="en-IN" b="1">
                          <a:effectLst/>
                        </a:rPr>
                        <a:t>State</a:t>
                      </a:r>
                    </a:p>
                  </a:txBody>
                  <a:tcPr marL="60960" marR="60960" marT="60960" marB="60960" anchor="ctr"/>
                </a:tc>
                <a:tc>
                  <a:txBody>
                    <a:bodyPr/>
                    <a:lstStyle/>
                    <a:p>
                      <a:pPr algn="ctr">
                        <a:buNone/>
                      </a:pPr>
                      <a:r>
                        <a:rPr lang="en-IN" b="1" dirty="0">
                          <a:effectLst/>
                        </a:rPr>
                        <a:t>Description</a:t>
                      </a:r>
                    </a:p>
                  </a:txBody>
                  <a:tcPr marL="60960" marR="60960" marT="60960" marB="60960" anchor="ctr"/>
                </a:tc>
                <a:extLst>
                  <a:ext uri="{0D108BD9-81ED-4DB2-BD59-A6C34878D82A}">
                    <a16:rowId xmlns:a16="http://schemas.microsoft.com/office/drawing/2014/main" val="142863132"/>
                  </a:ext>
                </a:extLst>
              </a:tr>
              <a:tr h="0">
                <a:tc>
                  <a:txBody>
                    <a:bodyPr/>
                    <a:lstStyle/>
                    <a:p>
                      <a:pPr algn="l">
                        <a:buNone/>
                      </a:pPr>
                      <a:r>
                        <a:rPr lang="en-IN">
                          <a:effectLst/>
                        </a:rPr>
                        <a:t>New</a:t>
                      </a:r>
                    </a:p>
                  </a:txBody>
                  <a:tcPr marL="60960" marR="60960" marT="60960" marB="60960" anchor="ctr"/>
                </a:tc>
                <a:tc>
                  <a:txBody>
                    <a:bodyPr/>
                    <a:lstStyle/>
                    <a:p>
                      <a:pPr algn="l">
                        <a:buNone/>
                      </a:pPr>
                      <a:r>
                        <a:rPr lang="en-US">
                          <a:effectLst/>
                        </a:rPr>
                        <a:t>Thread is created but not started.</a:t>
                      </a:r>
                    </a:p>
                  </a:txBody>
                  <a:tcPr marL="60960" marR="60960" marT="60960" marB="60960" anchor="ctr"/>
                </a:tc>
                <a:extLst>
                  <a:ext uri="{0D108BD9-81ED-4DB2-BD59-A6C34878D82A}">
                    <a16:rowId xmlns:a16="http://schemas.microsoft.com/office/drawing/2014/main" val="4269071291"/>
                  </a:ext>
                </a:extLst>
              </a:tr>
              <a:tr h="0">
                <a:tc>
                  <a:txBody>
                    <a:bodyPr/>
                    <a:lstStyle/>
                    <a:p>
                      <a:pPr algn="l">
                        <a:buNone/>
                      </a:pPr>
                      <a:r>
                        <a:rPr lang="en-IN">
                          <a:effectLst/>
                        </a:rPr>
                        <a:t>Runnable</a:t>
                      </a:r>
                    </a:p>
                  </a:txBody>
                  <a:tcPr marL="60960" marR="60960" marT="60960" marB="60960" anchor="ctr"/>
                </a:tc>
                <a:tc>
                  <a:txBody>
                    <a:bodyPr/>
                    <a:lstStyle/>
                    <a:p>
                      <a:pPr algn="l">
                        <a:buNone/>
                      </a:pPr>
                      <a:r>
                        <a:rPr lang="en-US" dirty="0">
                          <a:effectLst/>
                        </a:rPr>
                        <a:t>Thread is ready to run and waiting for CPU allocation.</a:t>
                      </a:r>
                    </a:p>
                  </a:txBody>
                  <a:tcPr marL="60960" marR="60960" marT="60960" marB="60960" anchor="ctr"/>
                </a:tc>
                <a:extLst>
                  <a:ext uri="{0D108BD9-81ED-4DB2-BD59-A6C34878D82A}">
                    <a16:rowId xmlns:a16="http://schemas.microsoft.com/office/drawing/2014/main" val="2697357934"/>
                  </a:ext>
                </a:extLst>
              </a:tr>
              <a:tr h="0">
                <a:tc>
                  <a:txBody>
                    <a:bodyPr/>
                    <a:lstStyle/>
                    <a:p>
                      <a:pPr algn="l">
                        <a:buNone/>
                      </a:pPr>
                      <a:r>
                        <a:rPr lang="en-IN" dirty="0">
                          <a:effectLst/>
                        </a:rPr>
                        <a:t>Running</a:t>
                      </a:r>
                    </a:p>
                  </a:txBody>
                  <a:tcPr marL="60960" marR="60960" marT="60960" marB="60960" anchor="ctr"/>
                </a:tc>
                <a:tc>
                  <a:txBody>
                    <a:bodyPr/>
                    <a:lstStyle/>
                    <a:p>
                      <a:pPr algn="l">
                        <a:buNone/>
                      </a:pPr>
                      <a:r>
                        <a:rPr lang="en-IN">
                          <a:effectLst/>
                        </a:rPr>
                        <a:t>Thread is executing.</a:t>
                      </a:r>
                    </a:p>
                  </a:txBody>
                  <a:tcPr marL="60960" marR="60960" marT="60960" marB="60960" anchor="ctr"/>
                </a:tc>
                <a:extLst>
                  <a:ext uri="{0D108BD9-81ED-4DB2-BD59-A6C34878D82A}">
                    <a16:rowId xmlns:a16="http://schemas.microsoft.com/office/drawing/2014/main" val="396562030"/>
                  </a:ext>
                </a:extLst>
              </a:tr>
              <a:tr h="0">
                <a:tc>
                  <a:txBody>
                    <a:bodyPr/>
                    <a:lstStyle/>
                    <a:p>
                      <a:pPr algn="l">
                        <a:buNone/>
                      </a:pPr>
                      <a:r>
                        <a:rPr lang="en-IN">
                          <a:effectLst/>
                        </a:rPr>
                        <a:t>Blocked/Waiting/Timed Waiting</a:t>
                      </a:r>
                    </a:p>
                  </a:txBody>
                  <a:tcPr marL="60960" marR="60960" marT="60960" marB="60960" anchor="ctr"/>
                </a:tc>
                <a:tc>
                  <a:txBody>
                    <a:bodyPr/>
                    <a:lstStyle/>
                    <a:p>
                      <a:pPr algn="l">
                        <a:buNone/>
                      </a:pPr>
                      <a:r>
                        <a:rPr lang="en-US">
                          <a:effectLst/>
                        </a:rPr>
                        <a:t>Thread is paused, waiting for some event (resource, time, notify).</a:t>
                      </a:r>
                    </a:p>
                  </a:txBody>
                  <a:tcPr marL="60960" marR="60960" marT="60960" marB="60960" anchor="ctr"/>
                </a:tc>
                <a:extLst>
                  <a:ext uri="{0D108BD9-81ED-4DB2-BD59-A6C34878D82A}">
                    <a16:rowId xmlns:a16="http://schemas.microsoft.com/office/drawing/2014/main" val="2185063007"/>
                  </a:ext>
                </a:extLst>
              </a:tr>
              <a:tr h="516836">
                <a:tc>
                  <a:txBody>
                    <a:bodyPr/>
                    <a:lstStyle/>
                    <a:p>
                      <a:pPr algn="l">
                        <a:buNone/>
                      </a:pPr>
                      <a:r>
                        <a:rPr lang="en-IN" dirty="0">
                          <a:effectLst/>
                        </a:rPr>
                        <a:t>Terminated (Dead)</a:t>
                      </a:r>
                    </a:p>
                  </a:txBody>
                  <a:tcPr marL="60960" marR="60960" marT="60960" marB="60960" anchor="ctr"/>
                </a:tc>
                <a:tc>
                  <a:txBody>
                    <a:bodyPr/>
                    <a:lstStyle/>
                    <a:p>
                      <a:pPr algn="l">
                        <a:buNone/>
                      </a:pPr>
                      <a:r>
                        <a:rPr lang="en-US" dirty="0">
                          <a:effectLst/>
                        </a:rPr>
                        <a:t>Thread has finished execution or stopped due to an exception.</a:t>
                      </a:r>
                    </a:p>
                  </a:txBody>
                  <a:tcPr marL="60960" marR="60960" marT="60960" marB="60960" anchor="ctr"/>
                </a:tc>
                <a:extLst>
                  <a:ext uri="{0D108BD9-81ED-4DB2-BD59-A6C34878D82A}">
                    <a16:rowId xmlns:a16="http://schemas.microsoft.com/office/drawing/2014/main" val="219859666"/>
                  </a:ext>
                </a:extLst>
              </a:tr>
            </a:tbl>
          </a:graphicData>
        </a:graphic>
      </p:graphicFrame>
      <p:sp>
        <p:nvSpPr>
          <p:cNvPr id="6" name="TextBox 5">
            <a:extLst>
              <a:ext uri="{FF2B5EF4-FFF2-40B4-BE49-F238E27FC236}">
                <a16:creationId xmlns:a16="http://schemas.microsoft.com/office/drawing/2014/main" id="{32BBC4A2-8005-97BF-203B-82686E947BC8}"/>
              </a:ext>
            </a:extLst>
          </p:cNvPr>
          <p:cNvSpPr txBox="1"/>
          <p:nvPr/>
        </p:nvSpPr>
        <p:spPr>
          <a:xfrm>
            <a:off x="735494" y="3802222"/>
            <a:ext cx="8915401" cy="646331"/>
          </a:xfrm>
          <a:prstGeom prst="rect">
            <a:avLst/>
          </a:prstGeom>
          <a:noFill/>
        </p:spPr>
        <p:txBody>
          <a:bodyPr wrap="square">
            <a:spAutoFit/>
          </a:bodyPr>
          <a:lstStyle/>
          <a:p>
            <a:pPr algn="l">
              <a:buNone/>
            </a:pPr>
            <a:r>
              <a:rPr lang="en-US" b="0" i="0" dirty="0">
                <a:effectLst/>
                <a:latin typeface="fkGroteskNeue"/>
              </a:rPr>
              <a:t>Transitions between these states are managed by the thread scheduler and happen based on program events and CPU availability.</a:t>
            </a:r>
          </a:p>
        </p:txBody>
      </p:sp>
    </p:spTree>
    <p:extLst>
      <p:ext uri="{BB962C8B-B14F-4D97-AF65-F5344CB8AC3E}">
        <p14:creationId xmlns:p14="http://schemas.microsoft.com/office/powerpoint/2010/main" val="2971865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2CF28-167C-4562-129A-FD2297AE54E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FD7FC8D-6127-1E5F-E407-726B1958463B}"/>
              </a:ext>
            </a:extLst>
          </p:cNvPr>
          <p:cNvPicPr>
            <a:picLocks noChangeAspect="1"/>
          </p:cNvPicPr>
          <p:nvPr/>
        </p:nvPicPr>
        <p:blipFill>
          <a:blip r:embed="rId2"/>
          <a:stretch>
            <a:fillRect/>
          </a:stretch>
        </p:blipFill>
        <p:spPr>
          <a:xfrm>
            <a:off x="874572" y="272080"/>
            <a:ext cx="7779170" cy="6317563"/>
          </a:xfrm>
          <a:prstGeom prst="rect">
            <a:avLst/>
          </a:prstGeom>
        </p:spPr>
      </p:pic>
    </p:spTree>
    <p:extLst>
      <p:ext uri="{BB962C8B-B14F-4D97-AF65-F5344CB8AC3E}">
        <p14:creationId xmlns:p14="http://schemas.microsoft.com/office/powerpoint/2010/main" val="3114830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881AB-28EF-E12E-6ABD-D24BD9CEF08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3D6039C-4233-E701-C26C-147290D87507}"/>
              </a:ext>
            </a:extLst>
          </p:cNvPr>
          <p:cNvSpPr txBox="1"/>
          <p:nvPr/>
        </p:nvSpPr>
        <p:spPr>
          <a:xfrm>
            <a:off x="914398" y="130506"/>
            <a:ext cx="8915400" cy="5355312"/>
          </a:xfrm>
          <a:prstGeom prst="rect">
            <a:avLst/>
          </a:prstGeom>
          <a:noFill/>
        </p:spPr>
        <p:txBody>
          <a:bodyPr wrap="square">
            <a:spAutoFit/>
          </a:bodyPr>
          <a:lstStyle/>
          <a:p>
            <a:pPr algn="l">
              <a:buNone/>
            </a:pPr>
            <a:r>
              <a:rPr lang="en-US" b="1" i="0" dirty="0">
                <a:effectLst/>
                <a:latin typeface="fkGrotesk"/>
              </a:rPr>
              <a:t>4.3.2 Creating Threads</a:t>
            </a:r>
          </a:p>
          <a:p>
            <a:pPr algn="l">
              <a:buNone/>
            </a:pPr>
            <a:endParaRPr lang="en-US" b="0" i="0" dirty="0">
              <a:effectLst/>
              <a:latin typeface="fkGrotesk"/>
            </a:endParaRPr>
          </a:p>
          <a:p>
            <a:pPr algn="l">
              <a:buNone/>
            </a:pPr>
            <a:r>
              <a:rPr lang="en-US" b="0" i="0" dirty="0">
                <a:effectLst/>
                <a:latin typeface="fkGroteskNeue"/>
              </a:rPr>
              <a:t>Two main ways to create threads:</a:t>
            </a:r>
          </a:p>
          <a:p>
            <a:pPr algn="l">
              <a:buNone/>
            </a:pPr>
            <a:endParaRPr lang="en-US" b="0" i="0" dirty="0">
              <a:effectLst/>
              <a:latin typeface="fkGroteskNeue"/>
            </a:endParaRPr>
          </a:p>
          <a:p>
            <a:pPr algn="l">
              <a:buFont typeface="+mj-lt"/>
              <a:buAutoNum type="arabicPeriod"/>
            </a:pPr>
            <a:r>
              <a:rPr lang="en-US" b="0" i="0" dirty="0">
                <a:effectLst/>
                <a:latin typeface="fkGroteskNeue"/>
              </a:rPr>
              <a:t>Extending the Thread class</a:t>
            </a:r>
          </a:p>
          <a:p>
            <a:pPr algn="l">
              <a:buFont typeface="+mj-lt"/>
              <a:buAutoNum type="arabicPeriod"/>
            </a:pPr>
            <a:endParaRPr lang="en-US" dirty="0">
              <a:latin typeface="fkGroteskNeue"/>
            </a:endParaRPr>
          </a:p>
          <a:p>
            <a:r>
              <a:rPr lang="en-US" dirty="0">
                <a:latin typeface="fkGroteskNeue"/>
              </a:rPr>
              <a:t>class MyThread extends Thread {</a:t>
            </a:r>
          </a:p>
          <a:p>
            <a:r>
              <a:rPr lang="en-US" dirty="0">
                <a:latin typeface="fkGroteskNeue"/>
              </a:rPr>
              <a:t>    public void run() {</a:t>
            </a:r>
          </a:p>
          <a:p>
            <a:r>
              <a:rPr lang="en-US" dirty="0">
                <a:latin typeface="fkGroteskNeue"/>
              </a:rPr>
              <a:t>        System.out.println("Thread running");</a:t>
            </a:r>
          </a:p>
          <a:p>
            <a:r>
              <a:rPr lang="en-US" dirty="0">
                <a:latin typeface="fkGroteskNeue"/>
              </a:rPr>
              <a:t>    }</a:t>
            </a:r>
          </a:p>
          <a:p>
            <a:r>
              <a:rPr lang="en-US" dirty="0">
                <a:latin typeface="fkGroteskNeue"/>
              </a:rPr>
              <a:t>}</a:t>
            </a:r>
          </a:p>
          <a:p>
            <a:endParaRPr lang="en-US" dirty="0">
              <a:latin typeface="fkGroteskNeue"/>
            </a:endParaRPr>
          </a:p>
          <a:p>
            <a:r>
              <a:rPr lang="en-US" dirty="0">
                <a:latin typeface="fkGroteskNeue"/>
              </a:rPr>
              <a:t>public class Test {</a:t>
            </a:r>
          </a:p>
          <a:p>
            <a:r>
              <a:rPr lang="en-US" dirty="0">
                <a:latin typeface="fkGroteskNeue"/>
              </a:rPr>
              <a:t>    public static void main(String[] args) {</a:t>
            </a:r>
          </a:p>
          <a:p>
            <a:r>
              <a:rPr lang="en-US" dirty="0">
                <a:latin typeface="fkGroteskNeue"/>
              </a:rPr>
              <a:t>        MyThread t1 = new MyThread();</a:t>
            </a:r>
          </a:p>
          <a:p>
            <a:r>
              <a:rPr lang="en-US" dirty="0">
                <a:latin typeface="fkGroteskNeue"/>
              </a:rPr>
              <a:t>        t1.start();  // start() begins new thread execution and calls run()</a:t>
            </a:r>
          </a:p>
          <a:p>
            <a:r>
              <a:rPr lang="en-US" dirty="0">
                <a:latin typeface="fkGroteskNeue"/>
              </a:rPr>
              <a:t>    }</a:t>
            </a:r>
          </a:p>
          <a:p>
            <a:r>
              <a:rPr lang="en-US" dirty="0">
                <a:latin typeface="fkGroteskNeue"/>
              </a:rPr>
              <a:t>}</a:t>
            </a:r>
          </a:p>
          <a:p>
            <a:pPr algn="l"/>
            <a:endParaRPr lang="en-US" b="0" i="0" dirty="0">
              <a:effectLst/>
              <a:latin typeface="fkGroteskNeue"/>
            </a:endParaRPr>
          </a:p>
        </p:txBody>
      </p:sp>
    </p:spTree>
    <p:extLst>
      <p:ext uri="{BB962C8B-B14F-4D97-AF65-F5344CB8AC3E}">
        <p14:creationId xmlns:p14="http://schemas.microsoft.com/office/powerpoint/2010/main" val="660595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42CB-DCAF-EABE-9F0C-9E9970C8002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9FB600-6075-3D70-1A26-BB6E013F903F}"/>
              </a:ext>
            </a:extLst>
          </p:cNvPr>
          <p:cNvSpPr txBox="1"/>
          <p:nvPr/>
        </p:nvSpPr>
        <p:spPr>
          <a:xfrm>
            <a:off x="954157" y="295654"/>
            <a:ext cx="8239539" cy="369332"/>
          </a:xfrm>
          <a:prstGeom prst="rect">
            <a:avLst/>
          </a:prstGeom>
          <a:noFill/>
        </p:spPr>
        <p:txBody>
          <a:bodyPr wrap="square">
            <a:spAutoFit/>
          </a:bodyPr>
          <a:lstStyle/>
          <a:p>
            <a:pPr algn="l">
              <a:buNone/>
            </a:pPr>
            <a:r>
              <a:rPr lang="en-US" b="0" i="0" dirty="0">
                <a:effectLst/>
                <a:latin typeface="fkGroteskNeue"/>
              </a:rPr>
              <a:t>.</a:t>
            </a:r>
          </a:p>
        </p:txBody>
      </p:sp>
      <p:sp>
        <p:nvSpPr>
          <p:cNvPr id="10" name="TextBox 9">
            <a:extLst>
              <a:ext uri="{FF2B5EF4-FFF2-40B4-BE49-F238E27FC236}">
                <a16:creationId xmlns:a16="http://schemas.microsoft.com/office/drawing/2014/main" id="{D9B1247D-5E38-C847-8E83-33858F4BE2F0}"/>
              </a:ext>
            </a:extLst>
          </p:cNvPr>
          <p:cNvSpPr txBox="1"/>
          <p:nvPr/>
        </p:nvSpPr>
        <p:spPr>
          <a:xfrm>
            <a:off x="954157" y="295654"/>
            <a:ext cx="8428382" cy="4524315"/>
          </a:xfrm>
          <a:prstGeom prst="rect">
            <a:avLst/>
          </a:prstGeom>
          <a:noFill/>
        </p:spPr>
        <p:txBody>
          <a:bodyPr wrap="square">
            <a:spAutoFit/>
          </a:bodyPr>
          <a:lstStyle/>
          <a:p>
            <a:pPr>
              <a:buFont typeface="+mj-lt"/>
              <a:buAutoNum type="arabicPeriod" startAt="2"/>
            </a:pPr>
            <a:r>
              <a:rPr lang="en-IN" b="1" dirty="0">
                <a:effectLst/>
              </a:rPr>
              <a:t>Implementing Runnable interface</a:t>
            </a:r>
          </a:p>
          <a:p>
            <a:pPr>
              <a:buFont typeface="+mj-lt"/>
              <a:buAutoNum type="arabicPeriod" startAt="2"/>
            </a:pPr>
            <a:endParaRPr lang="en-IN" dirty="0"/>
          </a:p>
          <a:p>
            <a:r>
              <a:rPr lang="en-IN" dirty="0"/>
              <a:t>class MyRunnable implements Runnable {</a:t>
            </a:r>
          </a:p>
          <a:p>
            <a:r>
              <a:rPr lang="en-IN" dirty="0"/>
              <a:t>    public void run() {</a:t>
            </a:r>
          </a:p>
          <a:p>
            <a:r>
              <a:rPr lang="en-IN" dirty="0"/>
              <a:t>        System.out.println("Runnable thread running");</a:t>
            </a:r>
          </a:p>
          <a:p>
            <a:r>
              <a:rPr lang="en-IN" dirty="0"/>
              <a:t>    }</a:t>
            </a:r>
          </a:p>
          <a:p>
            <a:r>
              <a:rPr lang="en-IN" dirty="0"/>
              <a:t>}</a:t>
            </a:r>
          </a:p>
          <a:p>
            <a:endParaRPr lang="en-IN" dirty="0"/>
          </a:p>
          <a:p>
            <a:r>
              <a:rPr lang="en-IN" dirty="0"/>
              <a:t>public class </a:t>
            </a:r>
            <a:r>
              <a:rPr lang="en-IN" dirty="0" err="1"/>
              <a:t>TestRunnable</a:t>
            </a:r>
            <a:r>
              <a:rPr lang="en-IN" dirty="0"/>
              <a:t> {</a:t>
            </a:r>
          </a:p>
          <a:p>
            <a:r>
              <a:rPr lang="en-IN" dirty="0"/>
              <a:t>    public static void main(String[] args) {</a:t>
            </a:r>
          </a:p>
          <a:p>
            <a:r>
              <a:rPr lang="en-IN" dirty="0"/>
              <a:t>        Thread t1 = new Thread(new MyRunnable());</a:t>
            </a:r>
          </a:p>
          <a:p>
            <a:r>
              <a:rPr lang="en-IN" dirty="0"/>
              <a:t>        t1.start();</a:t>
            </a:r>
          </a:p>
          <a:p>
            <a:r>
              <a:rPr lang="en-IN" dirty="0"/>
              <a:t>    }</a:t>
            </a:r>
          </a:p>
          <a:p>
            <a:r>
              <a:rPr lang="en-IN" dirty="0"/>
              <a:t>}</a:t>
            </a:r>
          </a:p>
          <a:p>
            <a:endParaRPr lang="en-IN" dirty="0">
              <a:effectLst/>
            </a:endParaRPr>
          </a:p>
          <a:p>
            <a:r>
              <a:rPr lang="en-US" dirty="0"/>
              <a:t>The start() method starts a new thread and calls the run() method internally.</a:t>
            </a:r>
            <a:endParaRPr lang="en-IN" dirty="0">
              <a:effectLst/>
            </a:endParaRPr>
          </a:p>
        </p:txBody>
      </p:sp>
    </p:spTree>
    <p:extLst>
      <p:ext uri="{BB962C8B-B14F-4D97-AF65-F5344CB8AC3E}">
        <p14:creationId xmlns:p14="http://schemas.microsoft.com/office/powerpoint/2010/main" val="2377502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F0EF5-DB4A-A7D1-1E35-DCD906ECDE6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87C3216-C767-76AC-516A-E891058B0762}"/>
              </a:ext>
            </a:extLst>
          </p:cNvPr>
          <p:cNvSpPr txBox="1"/>
          <p:nvPr/>
        </p:nvSpPr>
        <p:spPr>
          <a:xfrm>
            <a:off x="884583" y="226729"/>
            <a:ext cx="8497956" cy="1754326"/>
          </a:xfrm>
          <a:prstGeom prst="rect">
            <a:avLst/>
          </a:prstGeom>
          <a:noFill/>
        </p:spPr>
        <p:txBody>
          <a:bodyPr wrap="square">
            <a:spAutoFit/>
          </a:bodyPr>
          <a:lstStyle/>
          <a:p>
            <a:pPr algn="l">
              <a:buNone/>
            </a:pPr>
            <a:r>
              <a:rPr lang="en-US" b="1" i="0" dirty="0">
                <a:effectLst/>
                <a:latin typeface="fkGrotesk"/>
              </a:rPr>
              <a:t>4.3.3 Thread Priority in Java</a:t>
            </a:r>
          </a:p>
          <a:p>
            <a:pPr algn="l">
              <a:buNone/>
            </a:pPr>
            <a:endParaRPr lang="en-US" b="0" i="0" dirty="0">
              <a:effectLst/>
              <a:latin typeface="fkGrotesk"/>
            </a:endParaRPr>
          </a:p>
          <a:p>
            <a:pPr algn="l">
              <a:buNone/>
            </a:pPr>
            <a:r>
              <a:rPr lang="en-US" b="0" i="0" dirty="0">
                <a:effectLst/>
                <a:latin typeface="fkGroteskNeue"/>
              </a:rPr>
              <a:t>Thread priority is a mechanism that helps the Java thread scheduler decide the order in which threads are executed when multiple threads are runnable. Threads with higher priority are preferred to be executed before threads with lower priority, though this behavior depends on the JVM and underlying OS and is not strictly guaranteed.</a:t>
            </a:r>
          </a:p>
        </p:txBody>
      </p:sp>
      <p:sp>
        <p:nvSpPr>
          <p:cNvPr id="8" name="TextBox 7">
            <a:extLst>
              <a:ext uri="{FF2B5EF4-FFF2-40B4-BE49-F238E27FC236}">
                <a16:creationId xmlns:a16="http://schemas.microsoft.com/office/drawing/2014/main" id="{585436CC-346D-0454-557F-96AADF39F94A}"/>
              </a:ext>
            </a:extLst>
          </p:cNvPr>
          <p:cNvSpPr txBox="1"/>
          <p:nvPr/>
        </p:nvSpPr>
        <p:spPr>
          <a:xfrm>
            <a:off x="884583" y="2070006"/>
            <a:ext cx="8666921" cy="3970318"/>
          </a:xfrm>
          <a:prstGeom prst="rect">
            <a:avLst/>
          </a:prstGeom>
          <a:noFill/>
        </p:spPr>
        <p:txBody>
          <a:bodyPr wrap="square">
            <a:spAutoFit/>
          </a:bodyPr>
          <a:lstStyle/>
          <a:p>
            <a:pPr algn="l">
              <a:buNone/>
            </a:pPr>
            <a:r>
              <a:rPr lang="en-US" b="1" i="0" dirty="0">
                <a:effectLst/>
                <a:latin typeface="fkGrotesk"/>
              </a:rPr>
              <a:t>Key Points about Thread Priority</a:t>
            </a:r>
          </a:p>
          <a:p>
            <a:pPr algn="l">
              <a:buNone/>
            </a:pPr>
            <a:endParaRPr lang="en-US" b="1" i="0" dirty="0">
              <a:effectLst/>
              <a:latin typeface="fkGrotesk"/>
            </a:endParaRPr>
          </a:p>
          <a:p>
            <a:pPr algn="l">
              <a:buFont typeface="Arial" panose="020B0604020202020204" pitchFamily="34" charset="0"/>
              <a:buChar char="•"/>
            </a:pPr>
            <a:r>
              <a:rPr lang="en-US" b="0" i="0" dirty="0">
                <a:effectLst/>
                <a:latin typeface="fkGroteskNeue"/>
              </a:rPr>
              <a:t>Priority values range from 1 to 10:</a:t>
            </a:r>
          </a:p>
          <a:p>
            <a:pPr marL="742950" lvl="1" indent="-285750" algn="l">
              <a:buFont typeface="Arial" panose="020B0604020202020204" pitchFamily="34" charset="0"/>
              <a:buChar char="•"/>
            </a:pPr>
            <a:r>
              <a:rPr lang="en-US" b="0" i="0" dirty="0">
                <a:effectLst/>
                <a:latin typeface="fkGroteskNeue"/>
              </a:rPr>
              <a:t>MIN_PRIORITY (1): Lowest priority</a:t>
            </a:r>
          </a:p>
          <a:p>
            <a:pPr marL="742950" lvl="1" indent="-285750" algn="l">
              <a:buFont typeface="Arial" panose="020B0604020202020204" pitchFamily="34" charset="0"/>
              <a:buChar char="•"/>
            </a:pPr>
            <a:r>
              <a:rPr lang="en-US" b="0" i="0" dirty="0">
                <a:effectLst/>
                <a:latin typeface="fkGroteskNeue"/>
              </a:rPr>
              <a:t>NORM_PRIORITY (5): Default priority assigned to new threads</a:t>
            </a:r>
          </a:p>
          <a:p>
            <a:pPr marL="742950" lvl="1" indent="-285750" algn="l">
              <a:buFont typeface="Arial" panose="020B0604020202020204" pitchFamily="34" charset="0"/>
              <a:buChar char="•"/>
            </a:pPr>
            <a:r>
              <a:rPr lang="en-US" b="0" i="0" dirty="0">
                <a:effectLst/>
                <a:latin typeface="fkGroteskNeue"/>
              </a:rPr>
              <a:t>MAX_PRIORITY (10): Highest priority</a:t>
            </a:r>
          </a:p>
          <a:p>
            <a:pPr algn="l">
              <a:buFont typeface="Arial" panose="020B0604020202020204" pitchFamily="34" charset="0"/>
              <a:buChar char="•"/>
            </a:pPr>
            <a:r>
              <a:rPr lang="en-US" b="0" i="0" dirty="0">
                <a:effectLst/>
                <a:latin typeface="fkGroteskNeue"/>
              </a:rPr>
              <a:t>Threads inherit the priority of the thread that created them unless explicitly changed.</a:t>
            </a: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1" i="0" dirty="0">
                <a:effectLst/>
                <a:latin typeface="fkGroteskNeue"/>
              </a:rPr>
              <a:t>Methods</a:t>
            </a:r>
            <a:r>
              <a:rPr lang="en-US" b="0" i="0" dirty="0">
                <a:effectLst/>
                <a:latin typeface="fkGroteskNeue"/>
              </a:rPr>
              <a:t>:</a:t>
            </a:r>
          </a:p>
          <a:p>
            <a:pPr marL="742950" lvl="1" indent="-285750" algn="l">
              <a:buFont typeface="Arial" panose="020B0604020202020204" pitchFamily="34" charset="0"/>
              <a:buChar char="•"/>
            </a:pPr>
            <a:r>
              <a:rPr lang="en-US" b="0" i="0" dirty="0">
                <a:effectLst/>
                <a:latin typeface="berkeleyMono"/>
              </a:rPr>
              <a:t>getPriority()</a:t>
            </a:r>
            <a:r>
              <a:rPr lang="en-US" b="0" i="0" dirty="0">
                <a:effectLst/>
                <a:latin typeface="fkGroteskNeue"/>
              </a:rPr>
              <a:t>: Returns the priority of a thread.</a:t>
            </a:r>
          </a:p>
          <a:p>
            <a:pPr marL="742950" lvl="1" indent="-285750" algn="l">
              <a:buFont typeface="Arial" panose="020B0604020202020204" pitchFamily="34" charset="0"/>
              <a:buChar char="•"/>
            </a:pPr>
            <a:r>
              <a:rPr lang="en-US" b="0" i="0" dirty="0">
                <a:effectLst/>
                <a:latin typeface="berkeleyMono"/>
              </a:rPr>
              <a:t>setPriority(int newPriority)</a:t>
            </a:r>
            <a:r>
              <a:rPr lang="en-US" b="0" i="0" dirty="0">
                <a:effectLst/>
                <a:latin typeface="fkGroteskNeue"/>
              </a:rPr>
              <a:t>: Sets the thread's priority; throws </a:t>
            </a:r>
            <a:r>
              <a:rPr lang="en-US" b="0" i="0" dirty="0">
                <a:effectLst/>
                <a:latin typeface="berkeleyMono"/>
              </a:rPr>
              <a:t>IllegalArgumentException</a:t>
            </a:r>
            <a:r>
              <a:rPr lang="en-US" b="0" i="0" dirty="0">
                <a:effectLst/>
                <a:latin typeface="fkGroteskNeue"/>
              </a:rPr>
              <a:t> if outside 1-10 range.</a:t>
            </a:r>
          </a:p>
          <a:p>
            <a:pPr>
              <a:buNone/>
            </a:pPr>
            <a:br>
              <a:rPr lang="en-US" dirty="0"/>
            </a:br>
            <a:endParaRPr lang="en-IN" dirty="0"/>
          </a:p>
        </p:txBody>
      </p:sp>
    </p:spTree>
    <p:extLst>
      <p:ext uri="{BB962C8B-B14F-4D97-AF65-F5344CB8AC3E}">
        <p14:creationId xmlns:p14="http://schemas.microsoft.com/office/powerpoint/2010/main" val="1967563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D415-6942-C518-5F26-47A2F5FD607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6E0F7C7-9DE0-1CE1-54E2-1D60840E8A94}"/>
              </a:ext>
            </a:extLst>
          </p:cNvPr>
          <p:cNvSpPr txBox="1"/>
          <p:nvPr/>
        </p:nvSpPr>
        <p:spPr>
          <a:xfrm>
            <a:off x="894522" y="164499"/>
            <a:ext cx="8478078" cy="6186309"/>
          </a:xfrm>
          <a:prstGeom prst="rect">
            <a:avLst/>
          </a:prstGeom>
          <a:noFill/>
        </p:spPr>
        <p:txBody>
          <a:bodyPr wrap="square">
            <a:spAutoFit/>
          </a:bodyPr>
          <a:lstStyle/>
          <a:p>
            <a:pPr>
              <a:buNone/>
            </a:pPr>
            <a:r>
              <a:rPr lang="en-IN" b="0" dirty="0">
                <a:effectLst/>
                <a:latin typeface="fkGrotesk"/>
              </a:rPr>
              <a:t>Example of Thread Priority</a:t>
            </a:r>
          </a:p>
          <a:p>
            <a:pPr>
              <a:buNone/>
            </a:pPr>
            <a:endParaRPr lang="en-IN" dirty="0">
              <a:latin typeface="fkGrotesk"/>
            </a:endParaRPr>
          </a:p>
          <a:p>
            <a:pPr>
              <a:buNone/>
            </a:pPr>
            <a:r>
              <a:rPr lang="en-IN" dirty="0">
                <a:latin typeface="fkGrotesk"/>
              </a:rPr>
              <a:t>class PriorityDemo extends Thread {</a:t>
            </a:r>
          </a:p>
          <a:p>
            <a:pPr>
              <a:buNone/>
            </a:pPr>
            <a:r>
              <a:rPr lang="en-IN" dirty="0">
                <a:latin typeface="fkGrotesk"/>
              </a:rPr>
              <a:t>    public void run() {</a:t>
            </a:r>
          </a:p>
          <a:p>
            <a:pPr>
              <a:buNone/>
            </a:pPr>
            <a:r>
              <a:rPr lang="en-IN" dirty="0">
                <a:latin typeface="fkGrotesk"/>
              </a:rPr>
              <a:t>        System.out.println(Thread.currentThread().getName() + " is running with priority: " + Thread.currentThread().getPriority());</a:t>
            </a:r>
          </a:p>
          <a:p>
            <a:pPr>
              <a:buNone/>
            </a:pPr>
            <a:r>
              <a:rPr lang="en-IN" dirty="0">
                <a:latin typeface="fkGrotesk"/>
              </a:rPr>
              <a:t>    }</a:t>
            </a:r>
          </a:p>
          <a:p>
            <a:pPr>
              <a:buNone/>
            </a:pPr>
            <a:r>
              <a:rPr lang="en-IN" dirty="0">
                <a:latin typeface="fkGrotesk"/>
              </a:rPr>
              <a:t>}</a:t>
            </a:r>
          </a:p>
          <a:p>
            <a:pPr>
              <a:buNone/>
            </a:pPr>
            <a:endParaRPr lang="en-IN" dirty="0">
              <a:latin typeface="fkGrotesk"/>
            </a:endParaRPr>
          </a:p>
          <a:p>
            <a:pPr>
              <a:buNone/>
            </a:pPr>
            <a:r>
              <a:rPr lang="en-IN" dirty="0">
                <a:latin typeface="fkGrotesk"/>
              </a:rPr>
              <a:t>public class ThreadPriorityExample {</a:t>
            </a:r>
          </a:p>
          <a:p>
            <a:pPr>
              <a:buNone/>
            </a:pPr>
            <a:r>
              <a:rPr lang="en-IN" dirty="0">
                <a:latin typeface="fkGrotesk"/>
              </a:rPr>
              <a:t>    public static void main(String[] args) {</a:t>
            </a:r>
          </a:p>
          <a:p>
            <a:pPr>
              <a:buNone/>
            </a:pPr>
            <a:r>
              <a:rPr lang="en-IN" dirty="0">
                <a:latin typeface="fkGrotesk"/>
              </a:rPr>
              <a:t>        PriorityDemo t1 = new PriorityDemo();</a:t>
            </a:r>
          </a:p>
          <a:p>
            <a:pPr>
              <a:buNone/>
            </a:pPr>
            <a:r>
              <a:rPr lang="en-IN" dirty="0">
                <a:latin typeface="fkGrotesk"/>
              </a:rPr>
              <a:t>        PriorityDemo t2 = new PriorityDemo();</a:t>
            </a:r>
          </a:p>
          <a:p>
            <a:pPr>
              <a:buNone/>
            </a:pPr>
            <a:r>
              <a:rPr lang="en-IN" dirty="0">
                <a:latin typeface="fkGrotesk"/>
              </a:rPr>
              <a:t>        PriorityDemo t3 = new PriorityDemo();</a:t>
            </a:r>
          </a:p>
          <a:p>
            <a:pPr>
              <a:buNone/>
            </a:pPr>
            <a:endParaRPr lang="en-IN" dirty="0">
              <a:latin typeface="fkGrotesk"/>
            </a:endParaRPr>
          </a:p>
          <a:p>
            <a:pPr>
              <a:buNone/>
            </a:pPr>
            <a:r>
              <a:rPr lang="en-IN" dirty="0">
                <a:latin typeface="fkGrotesk"/>
              </a:rPr>
              <a:t>        t1.setPriority(</a:t>
            </a:r>
            <a:r>
              <a:rPr lang="en-IN" dirty="0" err="1">
                <a:latin typeface="fkGrotesk"/>
              </a:rPr>
              <a:t>Thread.MIN_PRIORITY</a:t>
            </a:r>
            <a:r>
              <a:rPr lang="en-IN" dirty="0">
                <a:latin typeface="fkGrotesk"/>
              </a:rPr>
              <a:t>);</a:t>
            </a:r>
          </a:p>
          <a:p>
            <a:pPr>
              <a:buNone/>
            </a:pPr>
            <a:r>
              <a:rPr lang="en-IN" dirty="0">
                <a:latin typeface="fkGrotesk"/>
              </a:rPr>
              <a:t>        t2.setPriority(</a:t>
            </a:r>
            <a:r>
              <a:rPr lang="en-IN" dirty="0" err="1">
                <a:latin typeface="fkGrotesk"/>
              </a:rPr>
              <a:t>Thread.NORM_PRIORITY</a:t>
            </a:r>
            <a:r>
              <a:rPr lang="en-IN" dirty="0">
                <a:latin typeface="fkGrotesk"/>
              </a:rPr>
              <a:t>);</a:t>
            </a:r>
          </a:p>
          <a:p>
            <a:pPr>
              <a:buNone/>
            </a:pPr>
            <a:r>
              <a:rPr lang="en-IN" dirty="0">
                <a:latin typeface="fkGrotesk"/>
              </a:rPr>
              <a:t>        t3.setPriority(</a:t>
            </a:r>
            <a:r>
              <a:rPr lang="en-IN" dirty="0" err="1">
                <a:latin typeface="fkGrotesk"/>
              </a:rPr>
              <a:t>Thread.MAX_PRIORITY</a:t>
            </a:r>
            <a:r>
              <a:rPr lang="en-IN" dirty="0">
                <a:latin typeface="fkGrotesk"/>
              </a:rPr>
              <a:t>);</a:t>
            </a:r>
          </a:p>
          <a:p>
            <a:pPr>
              <a:buNone/>
            </a:pPr>
            <a:endParaRPr lang="en-IN" dirty="0">
              <a:latin typeface="fkGrotesk"/>
            </a:endParaRPr>
          </a:p>
          <a:p>
            <a:pPr>
              <a:buNone/>
            </a:pPr>
            <a:r>
              <a:rPr lang="en-IN" dirty="0">
                <a:latin typeface="fkGrotesk"/>
              </a:rPr>
              <a:t>        t1.start();</a:t>
            </a:r>
          </a:p>
          <a:p>
            <a:pPr>
              <a:buNone/>
            </a:pPr>
            <a:r>
              <a:rPr lang="en-IN" dirty="0">
                <a:latin typeface="fkGrotesk"/>
              </a:rPr>
              <a:t>        t2.start();</a:t>
            </a:r>
          </a:p>
          <a:p>
            <a:pPr>
              <a:buNone/>
            </a:pPr>
            <a:r>
              <a:rPr lang="en-IN" dirty="0">
                <a:latin typeface="fkGrotesk"/>
              </a:rPr>
              <a:t>        t3.start();</a:t>
            </a:r>
          </a:p>
        </p:txBody>
      </p:sp>
    </p:spTree>
    <p:extLst>
      <p:ext uri="{BB962C8B-B14F-4D97-AF65-F5344CB8AC3E}">
        <p14:creationId xmlns:p14="http://schemas.microsoft.com/office/powerpoint/2010/main" val="3996594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D7E7E-6412-3DB2-0D66-EC12F69965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10263A3-0334-1D2A-0D40-3D68BF5F970D}"/>
              </a:ext>
            </a:extLst>
          </p:cNvPr>
          <p:cNvSpPr txBox="1"/>
          <p:nvPr/>
        </p:nvSpPr>
        <p:spPr>
          <a:xfrm>
            <a:off x="864704" y="262168"/>
            <a:ext cx="8398566" cy="1477328"/>
          </a:xfrm>
          <a:prstGeom prst="rect">
            <a:avLst/>
          </a:prstGeom>
          <a:noFill/>
        </p:spPr>
        <p:txBody>
          <a:bodyPr wrap="square">
            <a:spAutoFit/>
          </a:bodyPr>
          <a:lstStyle/>
          <a:p>
            <a:r>
              <a:rPr lang="en-IN" dirty="0"/>
              <a:t>        System.out.println("Priority of t1: " + t1.getPriority());</a:t>
            </a:r>
          </a:p>
          <a:p>
            <a:r>
              <a:rPr lang="en-IN" dirty="0"/>
              <a:t>        System.out.println("Priority of t2: " + t2.getPriority());</a:t>
            </a:r>
          </a:p>
          <a:p>
            <a:r>
              <a:rPr lang="en-IN" dirty="0"/>
              <a:t>        System.out.println("Priority of t3: " + t3.getPriority());</a:t>
            </a:r>
          </a:p>
          <a:p>
            <a:r>
              <a:rPr lang="en-IN" dirty="0"/>
              <a:t>    }</a:t>
            </a:r>
          </a:p>
          <a:p>
            <a:r>
              <a:rPr lang="en-IN" dirty="0"/>
              <a:t>}</a:t>
            </a:r>
          </a:p>
        </p:txBody>
      </p:sp>
    </p:spTree>
    <p:extLst>
      <p:ext uri="{BB962C8B-B14F-4D97-AF65-F5344CB8AC3E}">
        <p14:creationId xmlns:p14="http://schemas.microsoft.com/office/powerpoint/2010/main" val="239247716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198</TotalTime>
  <Words>1515</Words>
  <Application>Microsoft Office PowerPoint</Application>
  <PresentationFormat>Widescreen</PresentationFormat>
  <Paragraphs>244</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berkeleyMono</vt:lpstr>
      <vt:lpstr>fkGrotesk</vt:lpstr>
      <vt:lpstr>fkGroteskNeue</vt:lpstr>
      <vt:lpstr>Trebuchet MS</vt:lpstr>
      <vt:lpstr>Wingdings</vt:lpstr>
      <vt:lpstr>Wingdings 3</vt:lpstr>
      <vt:lpstr>Facet</vt:lpstr>
      <vt:lpstr>Exception handling and Multithreading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2025-10-07T08:12:13Z</dcterms:created>
  <dcterms:modified xsi:type="dcterms:W3CDTF">2025-10-07T11:30:14Z</dcterms:modified>
</cp:coreProperties>
</file>