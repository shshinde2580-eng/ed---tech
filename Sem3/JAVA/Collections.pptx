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674EF0-64DC-48E4-B9F8-9615651DDB18}" v="8" dt="2025-10-07T18:23:34.123"/>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undo custSel modSld">
      <pc:chgData name="shshinde2580@gmail.com" userId="86fdf0c531315612" providerId="LiveId" clId="{80EF1F59-5901-4077-BC9B-DA299863282D}" dt="2025-10-07T18:23:58.393" v="679" actId="113"/>
      <pc:docMkLst>
        <pc:docMk/>
      </pc:docMkLst>
      <pc:sldChg chg="modSp mod">
        <pc:chgData name="shshinde2580@gmail.com" userId="86fdf0c531315612" providerId="LiveId" clId="{80EF1F59-5901-4077-BC9B-DA299863282D}" dt="2025-10-07T18:20:47.161" v="44" actId="14100"/>
        <pc:sldMkLst>
          <pc:docMk/>
          <pc:sldMk cId="1100522328" sldId="294"/>
        </pc:sldMkLst>
        <pc:spChg chg="mod">
          <ac:chgData name="shshinde2580@gmail.com" userId="86fdf0c531315612" providerId="LiveId" clId="{80EF1F59-5901-4077-BC9B-DA299863282D}" dt="2025-10-07T18:20:47.161" v="44" actId="14100"/>
          <ac:spMkLst>
            <pc:docMk/>
            <pc:sldMk cId="1100522328" sldId="294"/>
            <ac:spMk id="8" creationId="{02CD9501-E897-C7D7-370A-7DF7238AEE07}"/>
          </ac:spMkLst>
        </pc:spChg>
      </pc:sldChg>
      <pc:sldChg chg="addSp modSp mod">
        <pc:chgData name="shshinde2580@gmail.com" userId="86fdf0c531315612" providerId="LiveId" clId="{80EF1F59-5901-4077-BC9B-DA299863282D}" dt="2025-10-07T18:22:43.696" v="339" actId="20577"/>
        <pc:sldMkLst>
          <pc:docMk/>
          <pc:sldMk cId="1892330077" sldId="295"/>
        </pc:sldMkLst>
        <pc:spChg chg="add mod">
          <ac:chgData name="shshinde2580@gmail.com" userId="86fdf0c531315612" providerId="LiveId" clId="{80EF1F59-5901-4077-BC9B-DA299863282D}" dt="2025-10-07T18:21:23.799" v="53" actId="14100"/>
          <ac:spMkLst>
            <pc:docMk/>
            <pc:sldMk cId="1892330077" sldId="295"/>
            <ac:spMk id="3" creationId="{F3B3B83F-DB23-2CB3-6001-B690CFB405DE}"/>
          </ac:spMkLst>
        </pc:spChg>
        <pc:spChg chg="add mod">
          <ac:chgData name="shshinde2580@gmail.com" userId="86fdf0c531315612" providerId="LiveId" clId="{80EF1F59-5901-4077-BC9B-DA299863282D}" dt="2025-10-07T18:22:04.551" v="67" actId="14100"/>
          <ac:spMkLst>
            <pc:docMk/>
            <pc:sldMk cId="1892330077" sldId="295"/>
            <ac:spMk id="6" creationId="{4936CF06-CC8F-455B-4D23-EA315EB413F4}"/>
          </ac:spMkLst>
        </pc:spChg>
        <pc:spChg chg="add mod">
          <ac:chgData name="shshinde2580@gmail.com" userId="86fdf0c531315612" providerId="LiveId" clId="{80EF1F59-5901-4077-BC9B-DA299863282D}" dt="2025-10-07T18:22:43.696" v="339" actId="20577"/>
          <ac:spMkLst>
            <pc:docMk/>
            <pc:sldMk cId="1892330077" sldId="295"/>
            <ac:spMk id="8" creationId="{5136FE58-512E-BA38-1BFB-120A2023CCF9}"/>
          </ac:spMkLst>
        </pc:spChg>
        <pc:graphicFrameChg chg="add mod modGraphic">
          <ac:chgData name="shshinde2580@gmail.com" userId="86fdf0c531315612" providerId="LiveId" clId="{80EF1F59-5901-4077-BC9B-DA299863282D}" dt="2025-10-07T18:21:55.043" v="64" actId="1076"/>
          <ac:graphicFrameMkLst>
            <pc:docMk/>
            <pc:sldMk cId="1892330077" sldId="295"/>
            <ac:graphicFrameMk id="4" creationId="{AE430D64-1A3A-0F2F-447D-0B7044517881}"/>
          </ac:graphicFrameMkLst>
        </pc:graphicFrameChg>
      </pc:sldChg>
      <pc:sldChg chg="addSp modSp mod">
        <pc:chgData name="shshinde2580@gmail.com" userId="86fdf0c531315612" providerId="LiveId" clId="{80EF1F59-5901-4077-BC9B-DA299863282D}" dt="2025-10-07T18:23:58.393" v="679" actId="113"/>
        <pc:sldMkLst>
          <pc:docMk/>
          <pc:sldMk cId="3313557241" sldId="296"/>
        </pc:sldMkLst>
        <pc:spChg chg="add mod">
          <ac:chgData name="shshinde2580@gmail.com" userId="86fdf0c531315612" providerId="LiveId" clId="{80EF1F59-5901-4077-BC9B-DA299863282D}" dt="2025-10-07T18:23:25.207" v="675" actId="1076"/>
          <ac:spMkLst>
            <pc:docMk/>
            <pc:sldMk cId="3313557241" sldId="296"/>
            <ac:spMk id="3" creationId="{B5FF6C0C-312D-B3A7-AE72-2B5E4D703B90}"/>
          </ac:spMkLst>
        </pc:spChg>
        <pc:spChg chg="add mod">
          <ac:chgData name="shshinde2580@gmail.com" userId="86fdf0c531315612" providerId="LiveId" clId="{80EF1F59-5901-4077-BC9B-DA299863282D}" dt="2025-10-07T18:23:58.393" v="679" actId="113"/>
          <ac:spMkLst>
            <pc:docMk/>
            <pc:sldMk cId="3313557241" sldId="296"/>
            <ac:spMk id="5" creationId="{AD6AFDE6-B887-7C47-5CAD-AB78EE87853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E7C0BEF-FDC2-4F25-BC8A-CE374814CEA2}"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4053895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C0BEF-FDC2-4F25-BC8A-CE374814CEA2}"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677653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7C0BEF-FDC2-4F25-BC8A-CE374814CEA2}"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750704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7C0BEF-FDC2-4F25-BC8A-CE374814CEA2}"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2607276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7C0BEF-FDC2-4F25-BC8A-CE374814CEA2}" type="datetimeFigureOut">
              <a:rPr lang="en-IN" smtClean="0"/>
              <a:t>07-10-2025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1263980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7C0BEF-FDC2-4F25-BC8A-CE374814CEA2}" type="datetimeFigureOut">
              <a:rPr lang="en-IN" smtClean="0"/>
              <a:t>07-10-2025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330387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7C0BEF-FDC2-4F25-BC8A-CE374814CEA2}" type="datetimeFigureOut">
              <a:rPr lang="en-IN" smtClean="0"/>
              <a:t>07-10-2025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1581687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7C0BEF-FDC2-4F25-BC8A-CE374814CEA2}"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2875147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7C0BEF-FDC2-4F25-BC8A-CE374814CEA2}"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3732620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7C0BEF-FDC2-4F25-BC8A-CE374814CEA2}"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1376255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7C0BEF-FDC2-4F25-BC8A-CE374814CEA2}"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5CEB6F-6362-4B8B-A5B4-34042B894DB9}"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709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7C0BEF-FDC2-4F25-BC8A-CE374814CEA2}"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1544975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7C0BEF-FDC2-4F25-BC8A-CE374814CEA2}"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5CEB6F-6362-4B8B-A5B4-34042B894DB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59116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7C0BEF-FDC2-4F25-BC8A-CE374814CEA2}"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37548575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C0BEF-FDC2-4F25-BC8A-CE374814CEA2}"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30568037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7C0BEF-FDC2-4F25-BC8A-CE374814CEA2}"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5CEB6F-6362-4B8B-A5B4-34042B894DB9}" type="slidenum">
              <a:rPr lang="en-IN" smtClean="0"/>
              <a:t>‹#›</a:t>
            </a:fld>
            <a:endParaRPr lang="en-IN"/>
          </a:p>
        </p:txBody>
      </p:sp>
    </p:spTree>
    <p:extLst>
      <p:ext uri="{BB962C8B-B14F-4D97-AF65-F5344CB8AC3E}">
        <p14:creationId xmlns:p14="http://schemas.microsoft.com/office/powerpoint/2010/main" val="4116035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E7C0BEF-FDC2-4F25-BC8A-CE374814CEA2}" type="datetimeFigureOut">
              <a:rPr lang="en-IN" smtClean="0"/>
              <a:t>07-10-2025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55CEB6F-6362-4B8B-A5B4-34042B894DB9}" type="slidenum">
              <a:rPr lang="en-IN" smtClean="0"/>
              <a:t>‹#›</a:t>
            </a:fld>
            <a:endParaRPr lang="en-IN"/>
          </a:p>
        </p:txBody>
      </p:sp>
    </p:spTree>
    <p:extLst>
      <p:ext uri="{BB962C8B-B14F-4D97-AF65-F5344CB8AC3E}">
        <p14:creationId xmlns:p14="http://schemas.microsoft.com/office/powerpoint/2010/main" val="6338902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20BF6-680D-0029-86B3-D4F12DF420B9}"/>
              </a:ext>
            </a:extLst>
          </p:cNvPr>
          <p:cNvSpPr>
            <a:spLocks noGrp="1"/>
          </p:cNvSpPr>
          <p:nvPr>
            <p:ph type="ctrTitle"/>
          </p:nvPr>
        </p:nvSpPr>
        <p:spPr>
          <a:xfrm>
            <a:off x="586409" y="2066603"/>
            <a:ext cx="9462052" cy="1646302"/>
          </a:xfrm>
        </p:spPr>
        <p:txBody>
          <a:bodyPr/>
          <a:lstStyle/>
          <a:p>
            <a:pPr algn="ctr"/>
            <a:r>
              <a:rPr lang="en-IN" dirty="0"/>
              <a:t>Collections </a:t>
            </a:r>
          </a:p>
        </p:txBody>
      </p:sp>
    </p:spTree>
    <p:extLst>
      <p:ext uri="{BB962C8B-B14F-4D97-AF65-F5344CB8AC3E}">
        <p14:creationId xmlns:p14="http://schemas.microsoft.com/office/powerpoint/2010/main" val="2812633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55CEE2E-E76C-97B2-2F78-355E42C64765}"/>
              </a:ext>
            </a:extLst>
          </p:cNvPr>
          <p:cNvSpPr txBox="1"/>
          <p:nvPr/>
        </p:nvSpPr>
        <p:spPr>
          <a:xfrm>
            <a:off x="904461" y="329362"/>
            <a:ext cx="8378687" cy="3970318"/>
          </a:xfrm>
          <a:prstGeom prst="rect">
            <a:avLst/>
          </a:prstGeom>
          <a:noFill/>
        </p:spPr>
        <p:txBody>
          <a:bodyPr wrap="square">
            <a:spAutoFit/>
          </a:bodyPr>
          <a:lstStyle/>
          <a:p>
            <a:r>
              <a:rPr lang="en-IN" b="1" dirty="0"/>
              <a:t>7.1 Collection in Java</a:t>
            </a:r>
          </a:p>
          <a:p>
            <a:pPr algn="l">
              <a:buNone/>
            </a:pPr>
            <a:endParaRPr lang="en-US" dirty="0">
              <a:latin typeface="fkGroteskNeue"/>
            </a:endParaRPr>
          </a:p>
          <a:p>
            <a:pPr algn="l">
              <a:buNone/>
            </a:pPr>
            <a:r>
              <a:rPr lang="en-US" b="0" i="0" dirty="0">
                <a:effectLst/>
                <a:latin typeface="fkGroteskNeue"/>
              </a:rPr>
              <a:t>The Java Collections Framework is a unified architecture that provides a set of interfaces and classes to represent and manipulate groups of objects efficiently.</a:t>
            </a:r>
          </a:p>
          <a:p>
            <a:pPr algn="l">
              <a:buNone/>
            </a:pPr>
            <a:endParaRPr lang="en-US" b="0" i="0" dirty="0">
              <a:effectLst/>
              <a:latin typeface="fkGroteskNeue"/>
            </a:endParaRPr>
          </a:p>
          <a:p>
            <a:pPr algn="l">
              <a:buNone/>
            </a:pPr>
            <a:r>
              <a:rPr lang="en-US" b="1" i="0" dirty="0">
                <a:effectLst/>
                <a:latin typeface="fkGrotesk"/>
              </a:rPr>
              <a:t>Overview of Collections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Collections store, search, sort, and organize data using standardized methods.</a:t>
            </a:r>
          </a:p>
          <a:p>
            <a:pPr algn="l">
              <a:buFont typeface="Arial" panose="020B0604020202020204" pitchFamily="34" charset="0"/>
              <a:buChar char="•"/>
            </a:pPr>
            <a:r>
              <a:rPr lang="en-US" b="0" i="0" dirty="0">
                <a:effectLst/>
                <a:latin typeface="fkGroteskNeue"/>
              </a:rPr>
              <a:t>The framework includes core interfaces such as </a:t>
            </a:r>
            <a:r>
              <a:rPr lang="en-US" b="0" i="0" dirty="0">
                <a:effectLst/>
                <a:latin typeface="berkeleyMono"/>
              </a:rPr>
              <a:t>Collection</a:t>
            </a:r>
            <a:r>
              <a:rPr lang="en-US" b="0" i="0" dirty="0">
                <a:effectLst/>
                <a:latin typeface="fkGroteskNeue"/>
              </a:rPr>
              <a:t>, </a:t>
            </a:r>
            <a:r>
              <a:rPr lang="en-US" b="0" i="0" dirty="0">
                <a:effectLst/>
                <a:latin typeface="berkeleyMono"/>
              </a:rPr>
              <a:t>List</a:t>
            </a:r>
            <a:r>
              <a:rPr lang="en-US" b="0" i="0" dirty="0">
                <a:effectLst/>
                <a:latin typeface="fkGroteskNeue"/>
              </a:rPr>
              <a:t>, </a:t>
            </a:r>
            <a:r>
              <a:rPr lang="en-US" b="0" i="0" dirty="0">
                <a:effectLst/>
                <a:latin typeface="berkeleyMono"/>
              </a:rPr>
              <a:t>Set</a:t>
            </a:r>
            <a:r>
              <a:rPr lang="en-US" b="0" i="0" dirty="0">
                <a:effectLst/>
                <a:latin typeface="fkGroteskNeue"/>
              </a:rPr>
              <a:t>, </a:t>
            </a:r>
            <a:r>
              <a:rPr lang="en-US" b="0" i="0" dirty="0">
                <a:effectLst/>
                <a:latin typeface="berkeleyMono"/>
              </a:rPr>
              <a:t>Queue</a:t>
            </a:r>
            <a:r>
              <a:rPr lang="en-US" b="0" i="0" dirty="0">
                <a:effectLst/>
                <a:latin typeface="fkGroteskNeue"/>
              </a:rPr>
              <a:t>, and </a:t>
            </a:r>
            <a:r>
              <a:rPr lang="en-US" b="0" i="0" dirty="0">
                <a:effectLst/>
                <a:latin typeface="berkeleyMono"/>
              </a:rPr>
              <a:t>Map</a:t>
            </a:r>
            <a:r>
              <a:rPr lang="en-US" b="0" i="0" dirty="0">
                <a:effectLst/>
                <a:latin typeface="fkGroteskNeue"/>
              </a:rPr>
              <a:t>.</a:t>
            </a:r>
          </a:p>
          <a:p>
            <a:pPr algn="l">
              <a:buFont typeface="Arial" panose="020B0604020202020204" pitchFamily="34" charset="0"/>
              <a:buChar char="•"/>
            </a:pPr>
            <a:r>
              <a:rPr lang="en-US" b="0" i="0" dirty="0">
                <a:effectLst/>
                <a:latin typeface="fkGroteskNeue"/>
              </a:rPr>
              <a:t>Implementations provide concrete data structures like </a:t>
            </a:r>
            <a:r>
              <a:rPr lang="en-US" b="0" i="0" dirty="0">
                <a:effectLst/>
                <a:latin typeface="berkeleyMono"/>
              </a:rPr>
              <a:t>ArrayList</a:t>
            </a:r>
            <a:r>
              <a:rPr lang="en-US" b="0" i="0" dirty="0">
                <a:effectLst/>
                <a:latin typeface="fkGroteskNeue"/>
              </a:rPr>
              <a:t>, </a:t>
            </a:r>
            <a:r>
              <a:rPr lang="en-US" b="0" i="0" dirty="0">
                <a:effectLst/>
                <a:latin typeface="berkeleyMono"/>
              </a:rPr>
              <a:t>LinkedList</a:t>
            </a:r>
            <a:r>
              <a:rPr lang="en-US" b="0" i="0" dirty="0">
                <a:effectLst/>
                <a:latin typeface="fkGroteskNeue"/>
              </a:rPr>
              <a:t>, </a:t>
            </a:r>
            <a:r>
              <a:rPr lang="en-US" b="0" i="0" dirty="0">
                <a:effectLst/>
                <a:latin typeface="berkeleyMono"/>
              </a:rPr>
              <a:t>HashSet</a:t>
            </a:r>
            <a:r>
              <a:rPr lang="en-US" b="0" i="0" dirty="0">
                <a:effectLst/>
                <a:latin typeface="fkGroteskNeue"/>
              </a:rPr>
              <a:t>, </a:t>
            </a:r>
            <a:r>
              <a:rPr lang="en-US" b="0" i="0" dirty="0">
                <a:effectLst/>
                <a:latin typeface="berkeleyMono"/>
              </a:rPr>
              <a:t>TreeSet</a:t>
            </a:r>
            <a:r>
              <a:rPr lang="en-US" b="0" i="0" dirty="0">
                <a:effectLst/>
                <a:latin typeface="fkGroteskNeue"/>
              </a:rPr>
              <a:t>, and </a:t>
            </a:r>
            <a:r>
              <a:rPr lang="en-US" b="0" i="0" dirty="0">
                <a:effectLst/>
                <a:latin typeface="berkeleyMono"/>
              </a:rPr>
              <a:t>HashMap</a:t>
            </a:r>
            <a:r>
              <a:rPr lang="en-US" b="0" i="0" dirty="0">
                <a:effectLst/>
                <a:latin typeface="fkGroteskNeue"/>
              </a:rPr>
              <a:t>.</a:t>
            </a:r>
          </a:p>
          <a:p>
            <a:pPr algn="l">
              <a:buFont typeface="Arial" panose="020B0604020202020204" pitchFamily="34" charset="0"/>
              <a:buChar char="•"/>
            </a:pPr>
            <a:r>
              <a:rPr lang="en-US" b="0" i="0" dirty="0">
                <a:effectLst/>
                <a:latin typeface="fkGroteskNeue"/>
              </a:rPr>
              <a:t>Collections dynamically resize, unlike arrays with fixed size, and provide efficient algorithms for sorting and searching.</a:t>
            </a:r>
          </a:p>
          <a:p>
            <a:pPr algn="l"/>
            <a:endParaRPr lang="en-US" dirty="0">
              <a:latin typeface="fkGroteskNeue"/>
            </a:endParaRPr>
          </a:p>
        </p:txBody>
      </p:sp>
    </p:spTree>
    <p:extLst>
      <p:ext uri="{BB962C8B-B14F-4D97-AF65-F5344CB8AC3E}">
        <p14:creationId xmlns:p14="http://schemas.microsoft.com/office/powerpoint/2010/main" val="2331799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B20EB-8B4B-3B26-CAD3-5AEEF1C9470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F74551-6BFC-28A7-FD95-7D2DEEB67F99}"/>
              </a:ext>
            </a:extLst>
          </p:cNvPr>
          <p:cNvSpPr txBox="1"/>
          <p:nvPr/>
        </p:nvSpPr>
        <p:spPr>
          <a:xfrm>
            <a:off x="954158" y="94926"/>
            <a:ext cx="8189842" cy="369332"/>
          </a:xfrm>
          <a:prstGeom prst="rect">
            <a:avLst/>
          </a:prstGeom>
          <a:noFill/>
        </p:spPr>
        <p:txBody>
          <a:bodyPr wrap="square">
            <a:spAutoFit/>
          </a:bodyPr>
          <a:lstStyle/>
          <a:p>
            <a:pPr algn="l">
              <a:buNone/>
            </a:pPr>
            <a:r>
              <a:rPr lang="en-US" b="1" i="0" dirty="0">
                <a:effectLst/>
                <a:latin typeface="fkGrotesk"/>
              </a:rPr>
              <a:t>Core Interfaces and Their Roles</a:t>
            </a:r>
          </a:p>
        </p:txBody>
      </p:sp>
      <p:graphicFrame>
        <p:nvGraphicFramePr>
          <p:cNvPr id="4" name="Table 3">
            <a:extLst>
              <a:ext uri="{FF2B5EF4-FFF2-40B4-BE49-F238E27FC236}">
                <a16:creationId xmlns:a16="http://schemas.microsoft.com/office/drawing/2014/main" id="{A971F23E-1A31-395C-E4B5-2A9C1F057FD6}"/>
              </a:ext>
            </a:extLst>
          </p:cNvPr>
          <p:cNvGraphicFramePr>
            <a:graphicFrameLocks noGrp="1"/>
          </p:cNvGraphicFramePr>
          <p:nvPr>
            <p:extLst>
              <p:ext uri="{D42A27DB-BD31-4B8C-83A1-F6EECF244321}">
                <p14:modId xmlns:p14="http://schemas.microsoft.com/office/powerpoint/2010/main" val="1724861573"/>
              </p:ext>
            </p:extLst>
          </p:nvPr>
        </p:nvGraphicFramePr>
        <p:xfrm>
          <a:off x="826950" y="624840"/>
          <a:ext cx="8596311" cy="2804160"/>
        </p:xfrm>
        <a:graphic>
          <a:graphicData uri="http://schemas.openxmlformats.org/drawingml/2006/table">
            <a:tbl>
              <a:tblPr>
                <a:tableStyleId>{5940675A-B579-460E-94D1-54222C63F5DA}</a:tableStyleId>
              </a:tblPr>
              <a:tblGrid>
                <a:gridCol w="1309963">
                  <a:extLst>
                    <a:ext uri="{9D8B030D-6E8A-4147-A177-3AD203B41FA5}">
                      <a16:colId xmlns:a16="http://schemas.microsoft.com/office/drawing/2014/main" val="1551697971"/>
                    </a:ext>
                  </a:extLst>
                </a:gridCol>
                <a:gridCol w="4420911">
                  <a:extLst>
                    <a:ext uri="{9D8B030D-6E8A-4147-A177-3AD203B41FA5}">
                      <a16:colId xmlns:a16="http://schemas.microsoft.com/office/drawing/2014/main" val="2917939655"/>
                    </a:ext>
                  </a:extLst>
                </a:gridCol>
                <a:gridCol w="2865437">
                  <a:extLst>
                    <a:ext uri="{9D8B030D-6E8A-4147-A177-3AD203B41FA5}">
                      <a16:colId xmlns:a16="http://schemas.microsoft.com/office/drawing/2014/main" val="3508447944"/>
                    </a:ext>
                  </a:extLst>
                </a:gridCol>
              </a:tblGrid>
              <a:tr h="0">
                <a:tc>
                  <a:txBody>
                    <a:bodyPr/>
                    <a:lstStyle/>
                    <a:p>
                      <a:pPr algn="ctr">
                        <a:buNone/>
                      </a:pPr>
                      <a:r>
                        <a:rPr lang="en-IN" b="1">
                          <a:effectLst/>
                        </a:rPr>
                        <a:t>Interface</a:t>
                      </a:r>
                    </a:p>
                  </a:txBody>
                  <a:tcPr marL="60960" marR="60960" marT="60960" marB="60960" anchor="ctr"/>
                </a:tc>
                <a:tc>
                  <a:txBody>
                    <a:bodyPr/>
                    <a:lstStyle/>
                    <a:p>
                      <a:pPr algn="ctr">
                        <a:buNone/>
                      </a:pPr>
                      <a:r>
                        <a:rPr lang="en-IN" b="1">
                          <a:effectLst/>
                        </a:rPr>
                        <a:t>Description</a:t>
                      </a:r>
                    </a:p>
                  </a:txBody>
                  <a:tcPr marL="60960" marR="60960" marT="60960" marB="60960" anchor="ctr"/>
                </a:tc>
                <a:tc>
                  <a:txBody>
                    <a:bodyPr/>
                    <a:lstStyle/>
                    <a:p>
                      <a:pPr algn="ctr">
                        <a:buNone/>
                      </a:pPr>
                      <a:r>
                        <a:rPr lang="en-IN" b="1" dirty="0">
                          <a:effectLst/>
                        </a:rPr>
                        <a:t>Common Implementations</a:t>
                      </a:r>
                    </a:p>
                  </a:txBody>
                  <a:tcPr marL="60960" marR="60960" marT="60960" marB="60960" anchor="ctr"/>
                </a:tc>
                <a:extLst>
                  <a:ext uri="{0D108BD9-81ED-4DB2-BD59-A6C34878D82A}">
                    <a16:rowId xmlns:a16="http://schemas.microsoft.com/office/drawing/2014/main" val="3266145892"/>
                  </a:ext>
                </a:extLst>
              </a:tr>
              <a:tr h="0">
                <a:tc>
                  <a:txBody>
                    <a:bodyPr/>
                    <a:lstStyle/>
                    <a:p>
                      <a:pPr algn="l">
                        <a:buNone/>
                      </a:pPr>
                      <a:r>
                        <a:rPr lang="en-IN">
                          <a:effectLst/>
                        </a:rPr>
                        <a:t>List</a:t>
                      </a:r>
                    </a:p>
                  </a:txBody>
                  <a:tcPr marL="60960" marR="60960" marT="60960" marB="60960" anchor="ctr"/>
                </a:tc>
                <a:tc>
                  <a:txBody>
                    <a:bodyPr/>
                    <a:lstStyle/>
                    <a:p>
                      <a:pPr algn="l">
                        <a:buNone/>
                      </a:pPr>
                      <a:r>
                        <a:rPr lang="en-IN">
                          <a:effectLst/>
                        </a:rPr>
                        <a:t>Ordered collection allowing duplicates</a:t>
                      </a:r>
                    </a:p>
                  </a:txBody>
                  <a:tcPr marL="60960" marR="60960" marT="60960" marB="60960" anchor="ctr"/>
                </a:tc>
                <a:tc>
                  <a:txBody>
                    <a:bodyPr/>
                    <a:lstStyle/>
                    <a:p>
                      <a:pPr algn="l">
                        <a:buNone/>
                      </a:pPr>
                      <a:r>
                        <a:rPr lang="en-IN" dirty="0">
                          <a:effectLst/>
                        </a:rPr>
                        <a:t>ArrayList, LinkedList</a:t>
                      </a:r>
                    </a:p>
                  </a:txBody>
                  <a:tcPr marL="60960" marR="60960" marT="60960" marB="60960" anchor="ctr"/>
                </a:tc>
                <a:extLst>
                  <a:ext uri="{0D108BD9-81ED-4DB2-BD59-A6C34878D82A}">
                    <a16:rowId xmlns:a16="http://schemas.microsoft.com/office/drawing/2014/main" val="3418757977"/>
                  </a:ext>
                </a:extLst>
              </a:tr>
              <a:tr h="0">
                <a:tc>
                  <a:txBody>
                    <a:bodyPr/>
                    <a:lstStyle/>
                    <a:p>
                      <a:pPr algn="l">
                        <a:buNone/>
                      </a:pPr>
                      <a:r>
                        <a:rPr lang="en-IN">
                          <a:effectLst/>
                        </a:rPr>
                        <a:t>Set</a:t>
                      </a:r>
                    </a:p>
                  </a:txBody>
                  <a:tcPr marL="60960" marR="60960" marT="60960" marB="60960" anchor="ctr"/>
                </a:tc>
                <a:tc>
                  <a:txBody>
                    <a:bodyPr/>
                    <a:lstStyle/>
                    <a:p>
                      <a:pPr algn="l">
                        <a:buNone/>
                      </a:pPr>
                      <a:r>
                        <a:rPr lang="en-IN">
                          <a:effectLst/>
                        </a:rPr>
                        <a:t>Collection of unique elements</a:t>
                      </a:r>
                    </a:p>
                  </a:txBody>
                  <a:tcPr marL="60960" marR="60960" marT="60960" marB="60960" anchor="ctr"/>
                </a:tc>
                <a:tc>
                  <a:txBody>
                    <a:bodyPr/>
                    <a:lstStyle/>
                    <a:p>
                      <a:pPr algn="l">
                        <a:buNone/>
                      </a:pPr>
                      <a:r>
                        <a:rPr lang="en-IN" dirty="0">
                          <a:effectLst/>
                        </a:rPr>
                        <a:t>HashSet, TreeSet, LinkedHashSet</a:t>
                      </a:r>
                    </a:p>
                  </a:txBody>
                  <a:tcPr marL="60960" marR="60960" marT="60960" marB="60960" anchor="ctr"/>
                </a:tc>
                <a:extLst>
                  <a:ext uri="{0D108BD9-81ED-4DB2-BD59-A6C34878D82A}">
                    <a16:rowId xmlns:a16="http://schemas.microsoft.com/office/drawing/2014/main" val="744700882"/>
                  </a:ext>
                </a:extLst>
              </a:tr>
              <a:tr h="0">
                <a:tc>
                  <a:txBody>
                    <a:bodyPr/>
                    <a:lstStyle/>
                    <a:p>
                      <a:pPr algn="l">
                        <a:buNone/>
                      </a:pPr>
                      <a:r>
                        <a:rPr lang="en-IN">
                          <a:effectLst/>
                        </a:rPr>
                        <a:t>Map</a:t>
                      </a:r>
                    </a:p>
                  </a:txBody>
                  <a:tcPr marL="60960" marR="60960" marT="60960" marB="60960" anchor="ctr"/>
                </a:tc>
                <a:tc>
                  <a:txBody>
                    <a:bodyPr/>
                    <a:lstStyle/>
                    <a:p>
                      <a:pPr algn="l">
                        <a:buNone/>
                      </a:pPr>
                      <a:r>
                        <a:rPr lang="en-US">
                          <a:effectLst/>
                        </a:rPr>
                        <a:t>Stores key-value pairs with unique keys</a:t>
                      </a:r>
                    </a:p>
                  </a:txBody>
                  <a:tcPr marL="60960" marR="60960" marT="60960" marB="60960" anchor="ctr"/>
                </a:tc>
                <a:tc>
                  <a:txBody>
                    <a:bodyPr/>
                    <a:lstStyle/>
                    <a:p>
                      <a:pPr algn="l">
                        <a:buNone/>
                      </a:pPr>
                      <a:r>
                        <a:rPr lang="en-IN">
                          <a:effectLst/>
                        </a:rPr>
                        <a:t>HashMap, TreeMap, LinkedHashMap</a:t>
                      </a:r>
                    </a:p>
                  </a:txBody>
                  <a:tcPr marL="60960" marR="60960" marT="60960" marB="60960" anchor="ctr"/>
                </a:tc>
                <a:extLst>
                  <a:ext uri="{0D108BD9-81ED-4DB2-BD59-A6C34878D82A}">
                    <a16:rowId xmlns:a16="http://schemas.microsoft.com/office/drawing/2014/main" val="177175475"/>
                  </a:ext>
                </a:extLst>
              </a:tr>
              <a:tr h="0">
                <a:tc>
                  <a:txBody>
                    <a:bodyPr/>
                    <a:lstStyle/>
                    <a:p>
                      <a:pPr algn="l">
                        <a:buNone/>
                      </a:pPr>
                      <a:r>
                        <a:rPr lang="en-IN">
                          <a:effectLst/>
                        </a:rPr>
                        <a:t>Queue</a:t>
                      </a:r>
                    </a:p>
                  </a:txBody>
                  <a:tcPr marL="60960" marR="60960" marT="60960" marB="60960" anchor="ctr"/>
                </a:tc>
                <a:tc>
                  <a:txBody>
                    <a:bodyPr/>
                    <a:lstStyle/>
                    <a:p>
                      <a:pPr algn="l">
                        <a:buNone/>
                      </a:pPr>
                      <a:r>
                        <a:rPr lang="en-US" dirty="0">
                          <a:effectLst/>
                        </a:rPr>
                        <a:t>FIFO collection for scheduling, buffering</a:t>
                      </a:r>
                    </a:p>
                  </a:txBody>
                  <a:tcPr marL="60960" marR="60960" marT="60960" marB="60960" anchor="ctr"/>
                </a:tc>
                <a:tc>
                  <a:txBody>
                    <a:bodyPr/>
                    <a:lstStyle/>
                    <a:p>
                      <a:pPr algn="l">
                        <a:buNone/>
                      </a:pPr>
                      <a:r>
                        <a:rPr lang="en-IN" dirty="0">
                          <a:effectLst/>
                        </a:rPr>
                        <a:t>PriorityQueue, ArrayDeque</a:t>
                      </a:r>
                    </a:p>
                  </a:txBody>
                  <a:tcPr marL="60960" marR="60960" marT="60960" marB="60960" anchor="ctr"/>
                </a:tc>
                <a:extLst>
                  <a:ext uri="{0D108BD9-81ED-4DB2-BD59-A6C34878D82A}">
                    <a16:rowId xmlns:a16="http://schemas.microsoft.com/office/drawing/2014/main" val="3004688587"/>
                  </a:ext>
                </a:extLst>
              </a:tr>
            </a:tbl>
          </a:graphicData>
        </a:graphic>
      </p:graphicFrame>
      <p:sp>
        <p:nvSpPr>
          <p:cNvPr id="6" name="TextBox 5">
            <a:extLst>
              <a:ext uri="{FF2B5EF4-FFF2-40B4-BE49-F238E27FC236}">
                <a16:creationId xmlns:a16="http://schemas.microsoft.com/office/drawing/2014/main" id="{5AFBEA8E-CCFB-1E50-D089-04D51571266C}"/>
              </a:ext>
            </a:extLst>
          </p:cNvPr>
          <p:cNvSpPr txBox="1"/>
          <p:nvPr/>
        </p:nvSpPr>
        <p:spPr>
          <a:xfrm>
            <a:off x="826950" y="3589582"/>
            <a:ext cx="8963093" cy="2031325"/>
          </a:xfrm>
          <a:prstGeom prst="rect">
            <a:avLst/>
          </a:prstGeom>
          <a:noFill/>
        </p:spPr>
        <p:txBody>
          <a:bodyPr wrap="square">
            <a:spAutoFit/>
          </a:bodyPr>
          <a:lstStyle/>
          <a:p>
            <a:pPr algn="l">
              <a:buNone/>
            </a:pPr>
            <a:r>
              <a:rPr lang="en-US" b="1" i="0" dirty="0">
                <a:effectLst/>
                <a:latin typeface="fkGrotesk"/>
              </a:rPr>
              <a:t>Key Benefits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Reusability and maintainability: Provides ready-made data structures that reduce boilerplate code.</a:t>
            </a:r>
          </a:p>
          <a:p>
            <a:pPr algn="l">
              <a:buFont typeface="Arial" panose="020B0604020202020204" pitchFamily="34" charset="0"/>
              <a:buChar char="•"/>
            </a:pPr>
            <a:r>
              <a:rPr lang="en-US" b="0" i="0" dirty="0">
                <a:effectLst/>
                <a:latin typeface="fkGroteskNeue"/>
              </a:rPr>
              <a:t>Interoperability: Interfaces allow different implementations to work similarly.</a:t>
            </a:r>
          </a:p>
          <a:p>
            <a:pPr algn="l">
              <a:buFont typeface="Arial" panose="020B0604020202020204" pitchFamily="34" charset="0"/>
              <a:buChar char="•"/>
            </a:pPr>
            <a:r>
              <a:rPr lang="en-US" b="0" i="0" dirty="0">
                <a:effectLst/>
                <a:latin typeface="fkGroteskNeue"/>
              </a:rPr>
              <a:t>Performance: Optimized data structures for common tasks.</a:t>
            </a:r>
          </a:p>
          <a:p>
            <a:pPr algn="l">
              <a:buFont typeface="Arial" panose="020B0604020202020204" pitchFamily="34" charset="0"/>
              <a:buChar char="•"/>
            </a:pPr>
            <a:r>
              <a:rPr lang="en-US" b="0" i="0" dirty="0">
                <a:effectLst/>
                <a:latin typeface="fkGroteskNeue"/>
              </a:rPr>
              <a:t>Generics: Collections are type-safe and prevent runtime errors through compile-time checks.</a:t>
            </a:r>
          </a:p>
        </p:txBody>
      </p:sp>
    </p:spTree>
    <p:extLst>
      <p:ext uri="{BB962C8B-B14F-4D97-AF65-F5344CB8AC3E}">
        <p14:creationId xmlns:p14="http://schemas.microsoft.com/office/powerpoint/2010/main" val="877067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27964-CAEA-6F92-C8BC-23F399446F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A3B875-BF58-7E66-F259-F5B3A83A119C}"/>
              </a:ext>
            </a:extLst>
          </p:cNvPr>
          <p:cNvSpPr txBox="1"/>
          <p:nvPr/>
        </p:nvSpPr>
        <p:spPr>
          <a:xfrm>
            <a:off x="1043609" y="174439"/>
            <a:ext cx="8199782" cy="5078313"/>
          </a:xfrm>
          <a:prstGeom prst="rect">
            <a:avLst/>
          </a:prstGeom>
          <a:noFill/>
        </p:spPr>
        <p:txBody>
          <a:bodyPr wrap="square">
            <a:spAutoFit/>
          </a:bodyPr>
          <a:lstStyle/>
          <a:p>
            <a:pPr>
              <a:buNone/>
            </a:pPr>
            <a:r>
              <a:rPr lang="en-IN" b="1" dirty="0">
                <a:effectLst/>
                <a:latin typeface="fkGrotesk"/>
              </a:rPr>
              <a:t>Simple Example Using ArrayList</a:t>
            </a:r>
          </a:p>
          <a:p>
            <a:pPr>
              <a:buNone/>
            </a:pPr>
            <a:endParaRPr lang="en-IN" dirty="0">
              <a:latin typeface="fkGrotesk"/>
            </a:endParaRPr>
          </a:p>
          <a:p>
            <a:pPr>
              <a:buNone/>
            </a:pPr>
            <a:r>
              <a:rPr lang="en-IN" dirty="0">
                <a:latin typeface="fkGrotesk"/>
              </a:rPr>
              <a:t>import </a:t>
            </a:r>
            <a:r>
              <a:rPr lang="en-IN" dirty="0" err="1">
                <a:latin typeface="fkGrotesk"/>
              </a:rPr>
              <a:t>java.util.ArrayList</a:t>
            </a:r>
            <a:r>
              <a:rPr lang="en-IN" dirty="0">
                <a:latin typeface="fkGrotesk"/>
              </a:rPr>
              <a:t>;</a:t>
            </a:r>
          </a:p>
          <a:p>
            <a:pPr>
              <a:buNone/>
            </a:pPr>
            <a:r>
              <a:rPr lang="en-IN" dirty="0">
                <a:latin typeface="fkGrotesk"/>
              </a:rPr>
              <a:t>import </a:t>
            </a:r>
            <a:r>
              <a:rPr lang="en-IN" dirty="0" err="1">
                <a:latin typeface="fkGrotesk"/>
              </a:rPr>
              <a:t>java.util.List</a:t>
            </a:r>
            <a:r>
              <a:rPr lang="en-IN" dirty="0">
                <a:latin typeface="fkGrotesk"/>
              </a:rPr>
              <a:t>;</a:t>
            </a:r>
          </a:p>
          <a:p>
            <a:pPr>
              <a:buNone/>
            </a:pPr>
            <a:endParaRPr lang="en-IN" dirty="0">
              <a:latin typeface="fkGrotesk"/>
            </a:endParaRPr>
          </a:p>
          <a:p>
            <a:pPr>
              <a:buNone/>
            </a:pPr>
            <a:r>
              <a:rPr lang="en-IN" dirty="0">
                <a:latin typeface="fkGrotesk"/>
              </a:rPr>
              <a:t>public class Example {</a:t>
            </a:r>
          </a:p>
          <a:p>
            <a:pPr>
              <a:buNone/>
            </a:pPr>
            <a:r>
              <a:rPr lang="en-IN" dirty="0">
                <a:latin typeface="fkGrotesk"/>
              </a:rPr>
              <a:t>    public static void main(String[] args) {</a:t>
            </a:r>
          </a:p>
          <a:p>
            <a:pPr>
              <a:buNone/>
            </a:pPr>
            <a:r>
              <a:rPr lang="en-IN" dirty="0">
                <a:latin typeface="fkGrotesk"/>
              </a:rPr>
              <a:t>        List&lt;String&gt; languages = new ArrayList&lt;&gt;();</a:t>
            </a:r>
          </a:p>
          <a:p>
            <a:pPr>
              <a:buNone/>
            </a:pPr>
            <a:r>
              <a:rPr lang="en-IN" dirty="0">
                <a:latin typeface="fkGrotesk"/>
              </a:rPr>
              <a:t>        languages.add("Java");</a:t>
            </a:r>
          </a:p>
          <a:p>
            <a:pPr>
              <a:buNone/>
            </a:pPr>
            <a:r>
              <a:rPr lang="en-IN" dirty="0">
                <a:latin typeface="fkGrotesk"/>
              </a:rPr>
              <a:t>        languages.add("Python");</a:t>
            </a:r>
          </a:p>
          <a:p>
            <a:pPr>
              <a:buNone/>
            </a:pPr>
            <a:r>
              <a:rPr lang="en-IN" dirty="0">
                <a:latin typeface="fkGrotesk"/>
              </a:rPr>
              <a:t>        languages.add("C++");</a:t>
            </a:r>
          </a:p>
          <a:p>
            <a:pPr>
              <a:buNone/>
            </a:pPr>
            <a:r>
              <a:rPr lang="en-IN" dirty="0">
                <a:latin typeface="fkGrotesk"/>
              </a:rPr>
              <a:t>        </a:t>
            </a:r>
          </a:p>
          <a:p>
            <a:pPr>
              <a:buNone/>
            </a:pPr>
            <a:r>
              <a:rPr lang="en-IN" dirty="0">
                <a:latin typeface="fkGrotesk"/>
              </a:rPr>
              <a:t>        for (String lang : languages) {</a:t>
            </a:r>
          </a:p>
          <a:p>
            <a:pPr>
              <a:buNone/>
            </a:pPr>
            <a:r>
              <a:rPr lang="en-IN" dirty="0">
                <a:latin typeface="fkGrotesk"/>
              </a:rPr>
              <a:t>            System.out.println(lang);</a:t>
            </a:r>
          </a:p>
          <a:p>
            <a:pPr>
              <a:buNone/>
            </a:pPr>
            <a:r>
              <a:rPr lang="en-IN" dirty="0">
                <a:latin typeface="fkGrotesk"/>
              </a:rPr>
              <a:t>        }</a:t>
            </a:r>
          </a:p>
          <a:p>
            <a:pPr>
              <a:buNone/>
            </a:pPr>
            <a:r>
              <a:rPr lang="en-IN" dirty="0">
                <a:latin typeface="fkGrotesk"/>
              </a:rPr>
              <a:t>    }</a:t>
            </a:r>
          </a:p>
          <a:p>
            <a:pPr>
              <a:buNone/>
            </a:pPr>
            <a:r>
              <a:rPr lang="en-IN" dirty="0">
                <a:latin typeface="fkGrotesk"/>
              </a:rPr>
              <a:t>}</a:t>
            </a:r>
          </a:p>
          <a:p>
            <a:pPr>
              <a:buNone/>
            </a:pPr>
            <a:endParaRPr lang="en-IN" b="0" dirty="0">
              <a:effectLst/>
              <a:latin typeface="fkGrotesk"/>
            </a:endParaRPr>
          </a:p>
        </p:txBody>
      </p:sp>
    </p:spTree>
    <p:extLst>
      <p:ext uri="{BB962C8B-B14F-4D97-AF65-F5344CB8AC3E}">
        <p14:creationId xmlns:p14="http://schemas.microsoft.com/office/powerpoint/2010/main" val="919127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96952-E071-FC8A-BEFC-B4FD8C3BC9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315B82-5E32-6C69-235E-E8C1D5BB0E68}"/>
              </a:ext>
            </a:extLst>
          </p:cNvPr>
          <p:cNvSpPr txBox="1"/>
          <p:nvPr/>
        </p:nvSpPr>
        <p:spPr>
          <a:xfrm>
            <a:off x="874643" y="222838"/>
            <a:ext cx="8517835" cy="5078313"/>
          </a:xfrm>
          <a:prstGeom prst="rect">
            <a:avLst/>
          </a:prstGeom>
          <a:noFill/>
        </p:spPr>
        <p:txBody>
          <a:bodyPr wrap="square">
            <a:spAutoFit/>
          </a:bodyPr>
          <a:lstStyle/>
          <a:p>
            <a:r>
              <a:rPr lang="en-US" b="1" dirty="0"/>
              <a:t>7.2 Hierarchy of Collection framework</a:t>
            </a:r>
          </a:p>
          <a:p>
            <a:endParaRPr lang="en-US" dirty="0"/>
          </a:p>
          <a:p>
            <a:r>
              <a:rPr lang="en-US" dirty="0"/>
              <a:t>The Java Collections Framework hierarchy defines the relationships among interfaces and classes that organize and manage groups of objects efficiently.</a:t>
            </a:r>
          </a:p>
          <a:p>
            <a:endParaRPr lang="en-US" dirty="0"/>
          </a:p>
          <a:p>
            <a:r>
              <a:rPr lang="en-US" b="1" dirty="0"/>
              <a:t>Hierarchy Overview</a:t>
            </a:r>
          </a:p>
          <a:p>
            <a:endParaRPr lang="en-US" dirty="0"/>
          </a:p>
          <a:p>
            <a:pPr marL="285750" indent="-285750">
              <a:buFont typeface="Arial" panose="020B0604020202020204" pitchFamily="34" charset="0"/>
              <a:buChar char="•"/>
            </a:pPr>
            <a:r>
              <a:rPr lang="en-US" dirty="0"/>
              <a:t>At the top is the Iterable interface, which allows objects to be iterated using a for-each loop.</a:t>
            </a:r>
          </a:p>
          <a:p>
            <a:pPr marL="285750" indent="-285750">
              <a:buFont typeface="Arial" panose="020B0604020202020204" pitchFamily="34" charset="0"/>
              <a:buChar char="•"/>
            </a:pPr>
            <a:r>
              <a:rPr lang="en-US" dirty="0"/>
              <a:t>The Collection interface extends Iterable and serves as the root interface for most collection types.</a:t>
            </a:r>
          </a:p>
          <a:p>
            <a:pPr marL="285750" indent="-285750">
              <a:buFont typeface="Arial" panose="020B0604020202020204" pitchFamily="34" charset="0"/>
              <a:buChar char="•"/>
            </a:pPr>
            <a:r>
              <a:rPr lang="en-US" dirty="0"/>
              <a:t>Key subinterfaces of Collection are:</a:t>
            </a:r>
          </a:p>
          <a:p>
            <a:pPr marL="742950" lvl="1" indent="-285750">
              <a:buFont typeface="Arial" panose="020B0604020202020204" pitchFamily="34" charset="0"/>
              <a:buChar char="•"/>
            </a:pPr>
            <a:r>
              <a:rPr lang="en-US" dirty="0"/>
              <a:t>List: Ordered collections allowing duplicates (e.g., ArrayList, LinkedList)</a:t>
            </a:r>
          </a:p>
          <a:p>
            <a:pPr marL="742950" lvl="1" indent="-285750">
              <a:buFont typeface="Arial" panose="020B0604020202020204" pitchFamily="34" charset="0"/>
              <a:buChar char="•"/>
            </a:pPr>
            <a:r>
              <a:rPr lang="en-US" dirty="0"/>
              <a:t>Set: Collections of unique elements, no duplicates allowed (e.g., HashSet, TreeSet)</a:t>
            </a:r>
          </a:p>
          <a:p>
            <a:pPr marL="742950" lvl="1" indent="-285750">
              <a:buFont typeface="Arial" panose="020B0604020202020204" pitchFamily="34" charset="0"/>
              <a:buChar char="•"/>
            </a:pPr>
            <a:r>
              <a:rPr lang="en-US" dirty="0"/>
              <a:t>Queue: Collections designed for holding elements prior to processing, typically FIFO (e.g., PriorityQueue, ArrayDeque)</a:t>
            </a:r>
          </a:p>
          <a:p>
            <a:r>
              <a:rPr lang="en-US" dirty="0"/>
              <a:t> </a:t>
            </a:r>
            <a:endParaRPr lang="en-IN" dirty="0"/>
          </a:p>
        </p:txBody>
      </p:sp>
    </p:spTree>
    <p:extLst>
      <p:ext uri="{BB962C8B-B14F-4D97-AF65-F5344CB8AC3E}">
        <p14:creationId xmlns:p14="http://schemas.microsoft.com/office/powerpoint/2010/main" val="3380764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F2A72-BBC6-A0EA-ECD9-6D4CE3B6124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13BEEE-AA84-25AF-590E-781E3DB5422B}"/>
              </a:ext>
            </a:extLst>
          </p:cNvPr>
          <p:cNvSpPr txBox="1"/>
          <p:nvPr/>
        </p:nvSpPr>
        <p:spPr>
          <a:xfrm>
            <a:off x="1063486" y="194318"/>
            <a:ext cx="8219661" cy="5909310"/>
          </a:xfrm>
          <a:prstGeom prst="rect">
            <a:avLst/>
          </a:prstGeom>
          <a:noFill/>
        </p:spPr>
        <p:txBody>
          <a:bodyPr wrap="square">
            <a:spAutoFit/>
          </a:bodyPr>
          <a:lstStyle/>
          <a:p>
            <a:pPr>
              <a:buNone/>
            </a:pPr>
            <a:r>
              <a:rPr lang="en-IN" b="0" dirty="0">
                <a:effectLst/>
                <a:latin typeface="fkGrotesk"/>
              </a:rPr>
              <a:t>Detailed Hierarchy Structure</a:t>
            </a:r>
          </a:p>
          <a:p>
            <a:pPr>
              <a:buNone/>
            </a:pPr>
            <a:endParaRPr lang="en-IN" dirty="0">
              <a:latin typeface="fkGrotesk"/>
            </a:endParaRPr>
          </a:p>
          <a:p>
            <a:pPr>
              <a:buNone/>
            </a:pPr>
            <a:r>
              <a:rPr lang="en-IN" dirty="0" err="1">
                <a:latin typeface="fkGrotesk"/>
              </a:rPr>
              <a:t>Iterable</a:t>
            </a:r>
            <a:endParaRPr lang="en-IN" dirty="0">
              <a:latin typeface="fkGrotesk"/>
            </a:endParaRPr>
          </a:p>
          <a:p>
            <a:pPr>
              <a:buNone/>
            </a:pPr>
            <a:r>
              <a:rPr lang="en-IN" dirty="0">
                <a:latin typeface="fkGrotesk"/>
              </a:rPr>
              <a:t> └── Collection</a:t>
            </a:r>
          </a:p>
          <a:p>
            <a:pPr>
              <a:buNone/>
            </a:pPr>
            <a:r>
              <a:rPr lang="en-IN" dirty="0">
                <a:latin typeface="fkGrotesk"/>
              </a:rPr>
              <a:t>      ├── List</a:t>
            </a:r>
          </a:p>
          <a:p>
            <a:pPr>
              <a:buNone/>
            </a:pPr>
            <a:r>
              <a:rPr lang="en-IN" dirty="0">
                <a:latin typeface="fkGrotesk"/>
              </a:rPr>
              <a:t>      │    ├── ArrayList</a:t>
            </a:r>
          </a:p>
          <a:p>
            <a:pPr>
              <a:buNone/>
            </a:pPr>
            <a:r>
              <a:rPr lang="en-IN" dirty="0">
                <a:latin typeface="fkGrotesk"/>
              </a:rPr>
              <a:t>      │    ├── LinkedList</a:t>
            </a:r>
          </a:p>
          <a:p>
            <a:pPr>
              <a:buNone/>
            </a:pPr>
            <a:r>
              <a:rPr lang="en-IN" dirty="0">
                <a:latin typeface="fkGrotesk"/>
              </a:rPr>
              <a:t>      │    └── Vector</a:t>
            </a:r>
          </a:p>
          <a:p>
            <a:pPr>
              <a:buNone/>
            </a:pPr>
            <a:r>
              <a:rPr lang="en-IN" dirty="0">
                <a:latin typeface="fkGrotesk"/>
              </a:rPr>
              <a:t>      ├── Set</a:t>
            </a:r>
          </a:p>
          <a:p>
            <a:pPr>
              <a:buNone/>
            </a:pPr>
            <a:r>
              <a:rPr lang="en-IN" dirty="0">
                <a:latin typeface="fkGrotesk"/>
              </a:rPr>
              <a:t>      │    ├── HashSet</a:t>
            </a:r>
          </a:p>
          <a:p>
            <a:pPr>
              <a:buNone/>
            </a:pPr>
            <a:r>
              <a:rPr lang="en-IN" dirty="0">
                <a:latin typeface="fkGrotesk"/>
              </a:rPr>
              <a:t>      │    ├── LinkedHashSet</a:t>
            </a:r>
          </a:p>
          <a:p>
            <a:pPr>
              <a:buNone/>
            </a:pPr>
            <a:r>
              <a:rPr lang="en-IN" dirty="0">
                <a:latin typeface="fkGrotesk"/>
              </a:rPr>
              <a:t>      │    └── TreeSet</a:t>
            </a:r>
          </a:p>
          <a:p>
            <a:pPr>
              <a:buNone/>
            </a:pPr>
            <a:r>
              <a:rPr lang="en-IN" dirty="0">
                <a:latin typeface="fkGrotesk"/>
              </a:rPr>
              <a:t>      └── Queue</a:t>
            </a:r>
          </a:p>
          <a:p>
            <a:pPr>
              <a:buNone/>
            </a:pPr>
            <a:r>
              <a:rPr lang="en-IN" dirty="0">
                <a:latin typeface="fkGrotesk"/>
              </a:rPr>
              <a:t>           ├── PriorityQueue</a:t>
            </a:r>
          </a:p>
          <a:p>
            <a:pPr>
              <a:buNone/>
            </a:pPr>
            <a:r>
              <a:rPr lang="en-IN" dirty="0">
                <a:latin typeface="fkGrotesk"/>
              </a:rPr>
              <a:t>           └── ArrayDeque</a:t>
            </a:r>
          </a:p>
          <a:p>
            <a:pPr>
              <a:buNone/>
            </a:pPr>
            <a:endParaRPr lang="en-IN" dirty="0">
              <a:latin typeface="fkGrotesk"/>
            </a:endParaRPr>
          </a:p>
          <a:p>
            <a:pPr>
              <a:buNone/>
            </a:pPr>
            <a:r>
              <a:rPr lang="en-IN" dirty="0">
                <a:latin typeface="fkGrotesk"/>
              </a:rPr>
              <a:t>Map (separate interface)</a:t>
            </a:r>
          </a:p>
          <a:p>
            <a:pPr>
              <a:buNone/>
            </a:pPr>
            <a:r>
              <a:rPr lang="en-IN" dirty="0">
                <a:latin typeface="fkGrotesk"/>
              </a:rPr>
              <a:t> ├── HashMap</a:t>
            </a:r>
          </a:p>
          <a:p>
            <a:pPr>
              <a:buNone/>
            </a:pPr>
            <a:r>
              <a:rPr lang="en-IN" dirty="0">
                <a:latin typeface="fkGrotesk"/>
              </a:rPr>
              <a:t> ├── </a:t>
            </a:r>
            <a:r>
              <a:rPr lang="en-IN" dirty="0" err="1">
                <a:latin typeface="fkGrotesk"/>
              </a:rPr>
              <a:t>LinkedHashMap</a:t>
            </a:r>
            <a:endParaRPr lang="en-IN" dirty="0">
              <a:latin typeface="fkGrotesk"/>
            </a:endParaRPr>
          </a:p>
          <a:p>
            <a:pPr>
              <a:buNone/>
            </a:pPr>
            <a:r>
              <a:rPr lang="en-IN" dirty="0">
                <a:latin typeface="fkGrotesk"/>
              </a:rPr>
              <a:t> └── </a:t>
            </a:r>
            <a:r>
              <a:rPr lang="en-IN" dirty="0" err="1">
                <a:latin typeface="fkGrotesk"/>
              </a:rPr>
              <a:t>TreeMap</a:t>
            </a:r>
            <a:endParaRPr lang="en-IN" dirty="0">
              <a:latin typeface="fkGrotesk"/>
            </a:endParaRPr>
          </a:p>
          <a:p>
            <a:pPr>
              <a:buNone/>
            </a:pPr>
            <a:endParaRPr lang="en-IN" b="0" dirty="0">
              <a:effectLst/>
              <a:latin typeface="fkGrotesk"/>
            </a:endParaRPr>
          </a:p>
        </p:txBody>
      </p:sp>
    </p:spTree>
    <p:extLst>
      <p:ext uri="{BB962C8B-B14F-4D97-AF65-F5344CB8AC3E}">
        <p14:creationId xmlns:p14="http://schemas.microsoft.com/office/powerpoint/2010/main" val="3230276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91589-9ED9-8750-27F2-3F522A29DD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3C7863-67CB-C10B-B93F-CF44B2EDCC02}"/>
              </a:ext>
            </a:extLst>
          </p:cNvPr>
          <p:cNvSpPr txBox="1"/>
          <p:nvPr/>
        </p:nvSpPr>
        <p:spPr>
          <a:xfrm>
            <a:off x="864704" y="109404"/>
            <a:ext cx="8547652" cy="2862322"/>
          </a:xfrm>
          <a:prstGeom prst="rect">
            <a:avLst/>
          </a:prstGeom>
          <a:noFill/>
        </p:spPr>
        <p:txBody>
          <a:bodyPr wrap="square">
            <a:spAutoFit/>
          </a:bodyPr>
          <a:lstStyle/>
          <a:p>
            <a:pPr algn="l">
              <a:buNone/>
            </a:pPr>
            <a:r>
              <a:rPr lang="en-US" b="1" i="0" dirty="0">
                <a:effectLst/>
                <a:latin typeface="fkGrotesk"/>
              </a:rPr>
              <a:t>Key Points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berkeleyMono"/>
              </a:rPr>
              <a:t>Iterable</a:t>
            </a:r>
            <a:r>
              <a:rPr lang="en-US" b="0" i="0" dirty="0">
                <a:effectLst/>
                <a:latin typeface="fkGroteskNeue"/>
              </a:rPr>
              <a:t> is the root interface enabling traversal.</a:t>
            </a:r>
          </a:p>
          <a:p>
            <a:pPr algn="l">
              <a:buFont typeface="Arial" panose="020B0604020202020204" pitchFamily="34" charset="0"/>
              <a:buChar char="•"/>
            </a:pPr>
            <a:r>
              <a:rPr lang="en-US" b="0" i="0" dirty="0">
                <a:effectLst/>
                <a:latin typeface="berkeleyMono"/>
              </a:rPr>
              <a:t>Collection</a:t>
            </a:r>
            <a:r>
              <a:rPr lang="en-US" b="0" i="0" dirty="0">
                <a:effectLst/>
                <a:latin typeface="fkGroteskNeue"/>
              </a:rPr>
              <a:t> defines core methods like </a:t>
            </a:r>
            <a:r>
              <a:rPr lang="en-US" b="0" i="0" dirty="0">
                <a:effectLst/>
                <a:latin typeface="berkeleyMono"/>
              </a:rPr>
              <a:t>add()</a:t>
            </a:r>
            <a:r>
              <a:rPr lang="en-US" b="0" i="0" dirty="0">
                <a:effectLst/>
                <a:latin typeface="fkGroteskNeue"/>
              </a:rPr>
              <a:t>, </a:t>
            </a:r>
            <a:r>
              <a:rPr lang="en-US" b="0" i="0" dirty="0">
                <a:effectLst/>
                <a:latin typeface="berkeleyMono"/>
              </a:rPr>
              <a:t>remove()</a:t>
            </a:r>
            <a:r>
              <a:rPr lang="en-US" b="0" i="0" dirty="0">
                <a:effectLst/>
                <a:latin typeface="fkGroteskNeue"/>
              </a:rPr>
              <a:t>, </a:t>
            </a:r>
            <a:r>
              <a:rPr lang="en-US" b="0" i="0" dirty="0">
                <a:effectLst/>
                <a:latin typeface="berkeleyMono"/>
              </a:rPr>
              <a:t>size()</a:t>
            </a:r>
            <a:r>
              <a:rPr lang="en-US" b="0" i="0" dirty="0">
                <a:effectLst/>
                <a:latin typeface="fkGroteskNeue"/>
              </a:rPr>
              <a:t>.</a:t>
            </a:r>
          </a:p>
          <a:p>
            <a:pPr algn="l">
              <a:buFont typeface="Arial" panose="020B0604020202020204" pitchFamily="34" charset="0"/>
              <a:buChar char="•"/>
            </a:pPr>
            <a:r>
              <a:rPr lang="en-US" b="0" i="0" dirty="0">
                <a:effectLst/>
                <a:latin typeface="berkeleyMono"/>
              </a:rPr>
              <a:t>List</a:t>
            </a:r>
            <a:r>
              <a:rPr lang="en-US" b="0" i="0" dirty="0">
                <a:effectLst/>
                <a:latin typeface="fkGroteskNeue"/>
              </a:rPr>
              <a:t> maintains insertion order and allows duplicates.</a:t>
            </a:r>
          </a:p>
          <a:p>
            <a:pPr algn="l">
              <a:buFont typeface="Arial" panose="020B0604020202020204" pitchFamily="34" charset="0"/>
              <a:buChar char="•"/>
            </a:pPr>
            <a:r>
              <a:rPr lang="en-US" b="0" i="0" dirty="0">
                <a:effectLst/>
                <a:latin typeface="berkeleyMono"/>
              </a:rPr>
              <a:t>Set</a:t>
            </a:r>
            <a:r>
              <a:rPr lang="en-US" b="0" i="0" dirty="0">
                <a:effectLst/>
                <a:latin typeface="fkGroteskNeue"/>
              </a:rPr>
              <a:t> ensures uniqueness of elements.</a:t>
            </a:r>
          </a:p>
          <a:p>
            <a:pPr algn="l">
              <a:buFont typeface="Arial" panose="020B0604020202020204" pitchFamily="34" charset="0"/>
              <a:buChar char="•"/>
            </a:pPr>
            <a:r>
              <a:rPr lang="en-US" b="0" i="0" dirty="0">
                <a:effectLst/>
                <a:latin typeface="berkeleyMono"/>
              </a:rPr>
              <a:t>Queue</a:t>
            </a:r>
            <a:r>
              <a:rPr lang="en-US" b="0" i="0" dirty="0">
                <a:effectLst/>
                <a:latin typeface="fkGroteskNeue"/>
              </a:rPr>
              <a:t> serves as a holding structure for elements to be processed.</a:t>
            </a:r>
          </a:p>
          <a:p>
            <a:pPr algn="l">
              <a:buFont typeface="Arial" panose="020B0604020202020204" pitchFamily="34" charset="0"/>
              <a:buChar char="•"/>
            </a:pPr>
            <a:r>
              <a:rPr lang="en-US" b="0" i="0" dirty="0">
                <a:effectLst/>
                <a:latin typeface="berkeleyMono"/>
              </a:rPr>
              <a:t>Map</a:t>
            </a:r>
            <a:r>
              <a:rPr lang="en-US" b="0" i="0" dirty="0">
                <a:effectLst/>
                <a:latin typeface="fkGroteskNeue"/>
              </a:rPr>
              <a:t> handles key-value pairs but is not a subtype of </a:t>
            </a:r>
            <a:r>
              <a:rPr lang="en-US" b="0" i="0" dirty="0">
                <a:effectLst/>
                <a:latin typeface="berkeleyMono"/>
              </a:rPr>
              <a:t>Collection</a:t>
            </a:r>
            <a:r>
              <a:rPr lang="en-US" b="0" i="0" dirty="0">
                <a:effectLst/>
                <a:latin typeface="fkGroteskNeue"/>
              </a:rPr>
              <a:t>.</a:t>
            </a:r>
          </a:p>
          <a:p>
            <a:pPr algn="l">
              <a:buFont typeface="Arial" panose="020B0604020202020204" pitchFamily="34" charset="0"/>
              <a:buChar char="•"/>
            </a:pPr>
            <a:r>
              <a:rPr lang="en-US" b="0" i="0" dirty="0">
                <a:effectLst/>
                <a:latin typeface="fkGroteskNeue"/>
              </a:rPr>
              <a:t>Concrete classes implement these interfaces with specific data structures and performance characteristics.</a:t>
            </a:r>
          </a:p>
        </p:txBody>
      </p:sp>
      <p:sp>
        <p:nvSpPr>
          <p:cNvPr id="5" name="TextBox 4">
            <a:extLst>
              <a:ext uri="{FF2B5EF4-FFF2-40B4-BE49-F238E27FC236}">
                <a16:creationId xmlns:a16="http://schemas.microsoft.com/office/drawing/2014/main" id="{0645ECD2-E9D7-07F1-1E81-DE496E06D418}"/>
              </a:ext>
            </a:extLst>
          </p:cNvPr>
          <p:cNvSpPr txBox="1"/>
          <p:nvPr/>
        </p:nvSpPr>
        <p:spPr>
          <a:xfrm>
            <a:off x="864704" y="3147611"/>
            <a:ext cx="8547651" cy="1477328"/>
          </a:xfrm>
          <a:prstGeom prst="rect">
            <a:avLst/>
          </a:prstGeom>
          <a:noFill/>
        </p:spPr>
        <p:txBody>
          <a:bodyPr wrap="square">
            <a:spAutoFit/>
          </a:bodyPr>
          <a:lstStyle/>
          <a:p>
            <a:pPr algn="l">
              <a:buNone/>
            </a:pPr>
            <a:r>
              <a:rPr lang="en-US" b="1" i="0" dirty="0">
                <a:effectLst/>
                <a:latin typeface="fkGrotesk"/>
              </a:rPr>
              <a:t>7.3 Methods of Collection interface</a:t>
            </a:r>
          </a:p>
          <a:p>
            <a:pPr>
              <a:buNone/>
            </a:pPr>
            <a:br>
              <a:rPr lang="en-US" dirty="0"/>
            </a:br>
            <a:r>
              <a:rPr lang="en-US" dirty="0"/>
              <a:t>The Collection interface in Java defines the core methods that are common to all collections. These methods support basic operations like adding, removing, querying, and iterating over elements.</a:t>
            </a:r>
            <a:endParaRPr lang="en-IN" dirty="0"/>
          </a:p>
        </p:txBody>
      </p:sp>
    </p:spTree>
    <p:extLst>
      <p:ext uri="{BB962C8B-B14F-4D97-AF65-F5344CB8AC3E}">
        <p14:creationId xmlns:p14="http://schemas.microsoft.com/office/powerpoint/2010/main" val="1536925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D2989-0FFD-514B-5B37-275AFDA3E9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002127-8C97-6493-FBD8-5963F1CD0A2C}"/>
              </a:ext>
            </a:extLst>
          </p:cNvPr>
          <p:cNvSpPr txBox="1"/>
          <p:nvPr/>
        </p:nvSpPr>
        <p:spPr>
          <a:xfrm>
            <a:off x="934280" y="73757"/>
            <a:ext cx="8378686" cy="369332"/>
          </a:xfrm>
          <a:prstGeom prst="rect">
            <a:avLst/>
          </a:prstGeom>
          <a:noFill/>
        </p:spPr>
        <p:txBody>
          <a:bodyPr wrap="square">
            <a:spAutoFit/>
          </a:bodyPr>
          <a:lstStyle/>
          <a:p>
            <a:pPr algn="l">
              <a:buNone/>
            </a:pPr>
            <a:r>
              <a:rPr lang="en-US" b="0" i="0" dirty="0">
                <a:effectLst/>
                <a:latin typeface="fkGrotesk"/>
              </a:rPr>
              <a:t>Common Methods of Collection Interface</a:t>
            </a:r>
          </a:p>
        </p:txBody>
      </p:sp>
      <p:graphicFrame>
        <p:nvGraphicFramePr>
          <p:cNvPr id="4" name="Table 3">
            <a:extLst>
              <a:ext uri="{FF2B5EF4-FFF2-40B4-BE49-F238E27FC236}">
                <a16:creationId xmlns:a16="http://schemas.microsoft.com/office/drawing/2014/main" id="{8B90CCD3-17EB-26A7-8A7D-BB4FD9DBCCEC}"/>
              </a:ext>
            </a:extLst>
          </p:cNvPr>
          <p:cNvGraphicFramePr>
            <a:graphicFrameLocks noGrp="1"/>
          </p:cNvGraphicFramePr>
          <p:nvPr>
            <p:extLst>
              <p:ext uri="{D42A27DB-BD31-4B8C-83A1-F6EECF244321}">
                <p14:modId xmlns:p14="http://schemas.microsoft.com/office/powerpoint/2010/main" val="1178101147"/>
              </p:ext>
            </p:extLst>
          </p:nvPr>
        </p:nvGraphicFramePr>
        <p:xfrm>
          <a:off x="805071" y="516834"/>
          <a:ext cx="8796129" cy="6130358"/>
        </p:xfrm>
        <a:graphic>
          <a:graphicData uri="http://schemas.openxmlformats.org/drawingml/2006/table">
            <a:tbl>
              <a:tblPr>
                <a:tableStyleId>{5940675A-B579-460E-94D1-54222C63F5DA}</a:tableStyleId>
              </a:tblPr>
              <a:tblGrid>
                <a:gridCol w="2525407">
                  <a:extLst>
                    <a:ext uri="{9D8B030D-6E8A-4147-A177-3AD203B41FA5}">
                      <a16:colId xmlns:a16="http://schemas.microsoft.com/office/drawing/2014/main" val="1047836914"/>
                    </a:ext>
                  </a:extLst>
                </a:gridCol>
                <a:gridCol w="6270722">
                  <a:extLst>
                    <a:ext uri="{9D8B030D-6E8A-4147-A177-3AD203B41FA5}">
                      <a16:colId xmlns:a16="http://schemas.microsoft.com/office/drawing/2014/main" val="599642393"/>
                    </a:ext>
                  </a:extLst>
                </a:gridCol>
              </a:tblGrid>
              <a:tr h="200501">
                <a:tc>
                  <a:txBody>
                    <a:bodyPr/>
                    <a:lstStyle/>
                    <a:p>
                      <a:pPr algn="l">
                        <a:buNone/>
                      </a:pPr>
                      <a:r>
                        <a:rPr lang="en-IN" sz="1200" b="1" dirty="0">
                          <a:effectLst/>
                        </a:rPr>
                        <a:t>Method</a:t>
                      </a:r>
                    </a:p>
                  </a:txBody>
                  <a:tcPr marL="19215" marR="19215" marT="19215" marB="19215" anchor="ctr"/>
                </a:tc>
                <a:tc>
                  <a:txBody>
                    <a:bodyPr/>
                    <a:lstStyle/>
                    <a:p>
                      <a:pPr algn="l">
                        <a:buNone/>
                      </a:pPr>
                      <a:r>
                        <a:rPr lang="en-IN" sz="1200" b="1" dirty="0">
                          <a:effectLst/>
                        </a:rPr>
                        <a:t>Description</a:t>
                      </a:r>
                    </a:p>
                  </a:txBody>
                  <a:tcPr marL="19215" marR="19215" marT="19215" marB="19215" anchor="ctr"/>
                </a:tc>
                <a:extLst>
                  <a:ext uri="{0D108BD9-81ED-4DB2-BD59-A6C34878D82A}">
                    <a16:rowId xmlns:a16="http://schemas.microsoft.com/office/drawing/2014/main" val="2832784886"/>
                  </a:ext>
                </a:extLst>
              </a:tr>
              <a:tr h="326319">
                <a:tc>
                  <a:txBody>
                    <a:bodyPr/>
                    <a:lstStyle/>
                    <a:p>
                      <a:pPr algn="l">
                        <a:buNone/>
                      </a:pPr>
                      <a:r>
                        <a:rPr lang="en-IN" sz="1200">
                          <a:effectLst/>
                        </a:rPr>
                        <a:t>add(E e)</a:t>
                      </a:r>
                    </a:p>
                  </a:txBody>
                  <a:tcPr marL="19215" marR="19215" marT="19215" marB="19215" anchor="ctr"/>
                </a:tc>
                <a:tc>
                  <a:txBody>
                    <a:bodyPr/>
                    <a:lstStyle/>
                    <a:p>
                      <a:pPr algn="l">
                        <a:buNone/>
                      </a:pPr>
                      <a:r>
                        <a:rPr lang="en-US" sz="1200">
                          <a:effectLst/>
                        </a:rPr>
                        <a:t>Adds an element to the collection. Returns true if added successfully.</a:t>
                      </a:r>
                    </a:p>
                  </a:txBody>
                  <a:tcPr marL="19215" marR="19215" marT="19215" marB="19215" anchor="ctr"/>
                </a:tc>
                <a:extLst>
                  <a:ext uri="{0D108BD9-81ED-4DB2-BD59-A6C34878D82A}">
                    <a16:rowId xmlns:a16="http://schemas.microsoft.com/office/drawing/2014/main" val="3711880669"/>
                  </a:ext>
                </a:extLst>
              </a:tr>
              <a:tr h="326319">
                <a:tc>
                  <a:txBody>
                    <a:bodyPr/>
                    <a:lstStyle/>
                    <a:p>
                      <a:pPr algn="l">
                        <a:buNone/>
                      </a:pPr>
                      <a:r>
                        <a:rPr lang="en-IN" sz="1200">
                          <a:effectLst/>
                        </a:rPr>
                        <a:t>addAll(Collection&lt;? extends E&gt; c)</a:t>
                      </a:r>
                    </a:p>
                  </a:txBody>
                  <a:tcPr marL="19215" marR="19215" marT="19215" marB="19215" anchor="ctr"/>
                </a:tc>
                <a:tc>
                  <a:txBody>
                    <a:bodyPr/>
                    <a:lstStyle/>
                    <a:p>
                      <a:pPr algn="l">
                        <a:buNone/>
                      </a:pPr>
                      <a:r>
                        <a:rPr lang="en-US" sz="1200">
                          <a:effectLst/>
                        </a:rPr>
                        <a:t>Adds all elements from another collection.</a:t>
                      </a:r>
                    </a:p>
                  </a:txBody>
                  <a:tcPr marL="19215" marR="19215" marT="19215" marB="19215" anchor="ctr"/>
                </a:tc>
                <a:extLst>
                  <a:ext uri="{0D108BD9-81ED-4DB2-BD59-A6C34878D82A}">
                    <a16:rowId xmlns:a16="http://schemas.microsoft.com/office/drawing/2014/main" val="1628879526"/>
                  </a:ext>
                </a:extLst>
              </a:tr>
              <a:tr h="326319">
                <a:tc>
                  <a:txBody>
                    <a:bodyPr/>
                    <a:lstStyle/>
                    <a:p>
                      <a:pPr algn="l">
                        <a:buNone/>
                      </a:pPr>
                      <a:r>
                        <a:rPr lang="en-IN" sz="1200">
                          <a:effectLst/>
                        </a:rPr>
                        <a:t>clear()</a:t>
                      </a:r>
                    </a:p>
                  </a:txBody>
                  <a:tcPr marL="19215" marR="19215" marT="19215" marB="19215" anchor="ctr"/>
                </a:tc>
                <a:tc>
                  <a:txBody>
                    <a:bodyPr/>
                    <a:lstStyle/>
                    <a:p>
                      <a:pPr algn="l">
                        <a:buNone/>
                      </a:pPr>
                      <a:r>
                        <a:rPr lang="en-US" sz="1200">
                          <a:effectLst/>
                        </a:rPr>
                        <a:t>Removes all elements from the collection.</a:t>
                      </a:r>
                    </a:p>
                  </a:txBody>
                  <a:tcPr marL="19215" marR="19215" marT="19215" marB="19215" anchor="ctr"/>
                </a:tc>
                <a:extLst>
                  <a:ext uri="{0D108BD9-81ED-4DB2-BD59-A6C34878D82A}">
                    <a16:rowId xmlns:a16="http://schemas.microsoft.com/office/drawing/2014/main" val="1952172659"/>
                  </a:ext>
                </a:extLst>
              </a:tr>
              <a:tr h="326319">
                <a:tc>
                  <a:txBody>
                    <a:bodyPr/>
                    <a:lstStyle/>
                    <a:p>
                      <a:pPr algn="l">
                        <a:buNone/>
                      </a:pPr>
                      <a:r>
                        <a:rPr lang="en-IN" sz="1200">
                          <a:effectLst/>
                        </a:rPr>
                        <a:t>contains(Object o)</a:t>
                      </a:r>
                    </a:p>
                  </a:txBody>
                  <a:tcPr marL="19215" marR="19215" marT="19215" marB="19215" anchor="ctr"/>
                </a:tc>
                <a:tc>
                  <a:txBody>
                    <a:bodyPr/>
                    <a:lstStyle/>
                    <a:p>
                      <a:pPr algn="l">
                        <a:buNone/>
                      </a:pPr>
                      <a:r>
                        <a:rPr lang="en-US" sz="1200">
                          <a:effectLst/>
                        </a:rPr>
                        <a:t>Checks if the collection contains a specified element.</a:t>
                      </a:r>
                    </a:p>
                  </a:txBody>
                  <a:tcPr marL="19215" marR="19215" marT="19215" marB="19215" anchor="ctr"/>
                </a:tc>
                <a:extLst>
                  <a:ext uri="{0D108BD9-81ED-4DB2-BD59-A6C34878D82A}">
                    <a16:rowId xmlns:a16="http://schemas.microsoft.com/office/drawing/2014/main" val="613090970"/>
                  </a:ext>
                </a:extLst>
              </a:tr>
              <a:tr h="326319">
                <a:tc>
                  <a:txBody>
                    <a:bodyPr/>
                    <a:lstStyle/>
                    <a:p>
                      <a:pPr algn="l">
                        <a:buNone/>
                      </a:pPr>
                      <a:r>
                        <a:rPr lang="en-IN" sz="1200">
                          <a:effectLst/>
                        </a:rPr>
                        <a:t>containsAll(Collection&lt;?&gt; c)</a:t>
                      </a:r>
                    </a:p>
                  </a:txBody>
                  <a:tcPr marL="19215" marR="19215" marT="19215" marB="19215" anchor="ctr"/>
                </a:tc>
                <a:tc>
                  <a:txBody>
                    <a:bodyPr/>
                    <a:lstStyle/>
                    <a:p>
                      <a:pPr algn="l">
                        <a:buNone/>
                      </a:pPr>
                      <a:r>
                        <a:rPr lang="en-US" sz="1200">
                          <a:effectLst/>
                        </a:rPr>
                        <a:t>Checks if the collection contains all elements of another collection.</a:t>
                      </a:r>
                    </a:p>
                  </a:txBody>
                  <a:tcPr marL="19215" marR="19215" marT="19215" marB="19215" anchor="ctr"/>
                </a:tc>
                <a:extLst>
                  <a:ext uri="{0D108BD9-81ED-4DB2-BD59-A6C34878D82A}">
                    <a16:rowId xmlns:a16="http://schemas.microsoft.com/office/drawing/2014/main" val="308805424"/>
                  </a:ext>
                </a:extLst>
              </a:tr>
              <a:tr h="326319">
                <a:tc>
                  <a:txBody>
                    <a:bodyPr/>
                    <a:lstStyle/>
                    <a:p>
                      <a:pPr algn="l">
                        <a:buNone/>
                      </a:pPr>
                      <a:r>
                        <a:rPr lang="en-IN" sz="1200">
                          <a:effectLst/>
                        </a:rPr>
                        <a:t>remove(Object o)</a:t>
                      </a:r>
                    </a:p>
                  </a:txBody>
                  <a:tcPr marL="19215" marR="19215" marT="19215" marB="19215" anchor="ctr"/>
                </a:tc>
                <a:tc>
                  <a:txBody>
                    <a:bodyPr/>
                    <a:lstStyle/>
                    <a:p>
                      <a:pPr algn="l">
                        <a:buNone/>
                      </a:pPr>
                      <a:r>
                        <a:rPr lang="en-US" sz="1200" dirty="0">
                          <a:effectLst/>
                        </a:rPr>
                        <a:t>Removes a single instance of the specified element if present.</a:t>
                      </a:r>
                    </a:p>
                  </a:txBody>
                  <a:tcPr marL="19215" marR="19215" marT="19215" marB="19215" anchor="ctr"/>
                </a:tc>
                <a:extLst>
                  <a:ext uri="{0D108BD9-81ED-4DB2-BD59-A6C34878D82A}">
                    <a16:rowId xmlns:a16="http://schemas.microsoft.com/office/drawing/2014/main" val="2301806859"/>
                  </a:ext>
                </a:extLst>
              </a:tr>
              <a:tr h="326319">
                <a:tc>
                  <a:txBody>
                    <a:bodyPr/>
                    <a:lstStyle/>
                    <a:p>
                      <a:pPr algn="l">
                        <a:buNone/>
                      </a:pPr>
                      <a:r>
                        <a:rPr lang="en-IN" sz="1200" dirty="0" err="1">
                          <a:effectLst/>
                        </a:rPr>
                        <a:t>removeAll</a:t>
                      </a:r>
                      <a:r>
                        <a:rPr lang="en-IN" sz="1200" dirty="0">
                          <a:effectLst/>
                        </a:rPr>
                        <a:t>(Collection&lt;?&gt; c)</a:t>
                      </a:r>
                    </a:p>
                  </a:txBody>
                  <a:tcPr marL="19215" marR="19215" marT="19215" marB="19215" anchor="ctr"/>
                </a:tc>
                <a:tc>
                  <a:txBody>
                    <a:bodyPr/>
                    <a:lstStyle/>
                    <a:p>
                      <a:pPr algn="l">
                        <a:buNone/>
                      </a:pPr>
                      <a:r>
                        <a:rPr lang="en-US" sz="1200">
                          <a:effectLst/>
                        </a:rPr>
                        <a:t>Removes all elements present in another collection.</a:t>
                      </a:r>
                    </a:p>
                  </a:txBody>
                  <a:tcPr marL="19215" marR="19215" marT="19215" marB="19215" anchor="ctr"/>
                </a:tc>
                <a:extLst>
                  <a:ext uri="{0D108BD9-81ED-4DB2-BD59-A6C34878D82A}">
                    <a16:rowId xmlns:a16="http://schemas.microsoft.com/office/drawing/2014/main" val="3622873509"/>
                  </a:ext>
                </a:extLst>
              </a:tr>
              <a:tr h="326319">
                <a:tc>
                  <a:txBody>
                    <a:bodyPr/>
                    <a:lstStyle/>
                    <a:p>
                      <a:pPr algn="l">
                        <a:buNone/>
                      </a:pPr>
                      <a:r>
                        <a:rPr lang="en-IN" sz="1200" dirty="0" err="1">
                          <a:effectLst/>
                        </a:rPr>
                        <a:t>retainAll</a:t>
                      </a:r>
                      <a:r>
                        <a:rPr lang="en-IN" sz="1200" dirty="0">
                          <a:effectLst/>
                        </a:rPr>
                        <a:t>(Collection&lt;?&gt; c)</a:t>
                      </a:r>
                    </a:p>
                  </a:txBody>
                  <a:tcPr marL="19215" marR="19215" marT="19215" marB="19215" anchor="ctr"/>
                </a:tc>
                <a:tc>
                  <a:txBody>
                    <a:bodyPr/>
                    <a:lstStyle/>
                    <a:p>
                      <a:pPr algn="l">
                        <a:buNone/>
                      </a:pPr>
                      <a:r>
                        <a:rPr lang="en-US" sz="1200">
                          <a:effectLst/>
                        </a:rPr>
                        <a:t>Retains only the elements present in another collection.</a:t>
                      </a:r>
                    </a:p>
                  </a:txBody>
                  <a:tcPr marL="19215" marR="19215" marT="19215" marB="19215" anchor="ctr"/>
                </a:tc>
                <a:extLst>
                  <a:ext uri="{0D108BD9-81ED-4DB2-BD59-A6C34878D82A}">
                    <a16:rowId xmlns:a16="http://schemas.microsoft.com/office/drawing/2014/main" val="3966284577"/>
                  </a:ext>
                </a:extLst>
              </a:tr>
              <a:tr h="326319">
                <a:tc>
                  <a:txBody>
                    <a:bodyPr/>
                    <a:lstStyle/>
                    <a:p>
                      <a:pPr algn="l">
                        <a:buNone/>
                      </a:pPr>
                      <a:r>
                        <a:rPr lang="en-IN" sz="1200">
                          <a:effectLst/>
                        </a:rPr>
                        <a:t>removeIf(Predicate&lt;? super E&gt; filter)</a:t>
                      </a:r>
                    </a:p>
                  </a:txBody>
                  <a:tcPr marL="19215" marR="19215" marT="19215" marB="19215" anchor="ctr"/>
                </a:tc>
                <a:tc>
                  <a:txBody>
                    <a:bodyPr/>
                    <a:lstStyle/>
                    <a:p>
                      <a:pPr algn="l">
                        <a:buNone/>
                      </a:pPr>
                      <a:r>
                        <a:rPr lang="en-US" sz="1200">
                          <a:effectLst/>
                        </a:rPr>
                        <a:t>Removes elements satisfying a given predicate.</a:t>
                      </a:r>
                    </a:p>
                  </a:txBody>
                  <a:tcPr marL="19215" marR="19215" marT="19215" marB="19215" anchor="ctr"/>
                </a:tc>
                <a:extLst>
                  <a:ext uri="{0D108BD9-81ED-4DB2-BD59-A6C34878D82A}">
                    <a16:rowId xmlns:a16="http://schemas.microsoft.com/office/drawing/2014/main" val="3826129628"/>
                  </a:ext>
                </a:extLst>
              </a:tr>
              <a:tr h="272462">
                <a:tc>
                  <a:txBody>
                    <a:bodyPr/>
                    <a:lstStyle/>
                    <a:p>
                      <a:pPr algn="l">
                        <a:buNone/>
                      </a:pPr>
                      <a:r>
                        <a:rPr lang="en-IN" sz="1200">
                          <a:effectLst/>
                        </a:rPr>
                        <a:t>size()</a:t>
                      </a:r>
                    </a:p>
                  </a:txBody>
                  <a:tcPr marL="19215" marR="19215" marT="19215" marB="19215" anchor="ctr"/>
                </a:tc>
                <a:tc>
                  <a:txBody>
                    <a:bodyPr/>
                    <a:lstStyle/>
                    <a:p>
                      <a:pPr algn="l">
                        <a:buNone/>
                      </a:pPr>
                      <a:r>
                        <a:rPr lang="en-US" sz="1200" dirty="0">
                          <a:effectLst/>
                        </a:rPr>
                        <a:t>Returns the number of elements in the collection.</a:t>
                      </a:r>
                    </a:p>
                  </a:txBody>
                  <a:tcPr marL="19215" marR="19215" marT="19215" marB="19215" anchor="ctr"/>
                </a:tc>
                <a:extLst>
                  <a:ext uri="{0D108BD9-81ED-4DB2-BD59-A6C34878D82A}">
                    <a16:rowId xmlns:a16="http://schemas.microsoft.com/office/drawing/2014/main" val="4003395552"/>
                  </a:ext>
                </a:extLst>
              </a:tr>
              <a:tr h="200501">
                <a:tc>
                  <a:txBody>
                    <a:bodyPr/>
                    <a:lstStyle/>
                    <a:p>
                      <a:pPr algn="l">
                        <a:buNone/>
                      </a:pPr>
                      <a:r>
                        <a:rPr lang="en-IN" sz="1200">
                          <a:effectLst/>
                        </a:rPr>
                        <a:t>isEmpty()</a:t>
                      </a:r>
                    </a:p>
                  </a:txBody>
                  <a:tcPr marL="19215" marR="19215" marT="19215" marB="19215" anchor="ctr"/>
                </a:tc>
                <a:tc>
                  <a:txBody>
                    <a:bodyPr/>
                    <a:lstStyle/>
                    <a:p>
                      <a:pPr algn="l">
                        <a:buNone/>
                      </a:pPr>
                      <a:r>
                        <a:rPr lang="en-US" sz="1200">
                          <a:effectLst/>
                        </a:rPr>
                        <a:t>Checks if the collection is empty.</a:t>
                      </a:r>
                    </a:p>
                  </a:txBody>
                  <a:tcPr marL="19215" marR="19215" marT="19215" marB="19215" anchor="ctr"/>
                </a:tc>
                <a:extLst>
                  <a:ext uri="{0D108BD9-81ED-4DB2-BD59-A6C34878D82A}">
                    <a16:rowId xmlns:a16="http://schemas.microsoft.com/office/drawing/2014/main" val="1500947463"/>
                  </a:ext>
                </a:extLst>
              </a:tr>
              <a:tr h="200501">
                <a:tc>
                  <a:txBody>
                    <a:bodyPr/>
                    <a:lstStyle/>
                    <a:p>
                      <a:pPr algn="l">
                        <a:buNone/>
                      </a:pPr>
                      <a:r>
                        <a:rPr lang="en-IN" sz="1200">
                          <a:effectLst/>
                        </a:rPr>
                        <a:t>iterator()</a:t>
                      </a:r>
                    </a:p>
                  </a:txBody>
                  <a:tcPr marL="19215" marR="19215" marT="19215" marB="19215" anchor="ctr"/>
                </a:tc>
                <a:tc>
                  <a:txBody>
                    <a:bodyPr/>
                    <a:lstStyle/>
                    <a:p>
                      <a:pPr algn="l">
                        <a:buNone/>
                      </a:pPr>
                      <a:r>
                        <a:rPr lang="en-US" sz="1200">
                          <a:effectLst/>
                        </a:rPr>
                        <a:t>Returns an iterator over the elements.</a:t>
                      </a:r>
                    </a:p>
                  </a:txBody>
                  <a:tcPr marL="19215" marR="19215" marT="19215" marB="19215" anchor="ctr"/>
                </a:tc>
                <a:extLst>
                  <a:ext uri="{0D108BD9-81ED-4DB2-BD59-A6C34878D82A}">
                    <a16:rowId xmlns:a16="http://schemas.microsoft.com/office/drawing/2014/main" val="198544955"/>
                  </a:ext>
                </a:extLst>
              </a:tr>
              <a:tr h="326319">
                <a:tc>
                  <a:txBody>
                    <a:bodyPr/>
                    <a:lstStyle/>
                    <a:p>
                      <a:pPr algn="l">
                        <a:buNone/>
                      </a:pPr>
                      <a:r>
                        <a:rPr lang="en-IN" sz="1200">
                          <a:effectLst/>
                        </a:rPr>
                        <a:t>stream()</a:t>
                      </a:r>
                    </a:p>
                  </a:txBody>
                  <a:tcPr marL="19215" marR="19215" marT="19215" marB="19215" anchor="ctr"/>
                </a:tc>
                <a:tc>
                  <a:txBody>
                    <a:bodyPr/>
                    <a:lstStyle/>
                    <a:p>
                      <a:pPr algn="l">
                        <a:buNone/>
                      </a:pPr>
                      <a:r>
                        <a:rPr lang="en-US" sz="1200">
                          <a:effectLst/>
                        </a:rPr>
                        <a:t>Returns a sequential stream with the collection as source.</a:t>
                      </a:r>
                    </a:p>
                  </a:txBody>
                  <a:tcPr marL="19215" marR="19215" marT="19215" marB="19215" anchor="ctr"/>
                </a:tc>
                <a:extLst>
                  <a:ext uri="{0D108BD9-81ED-4DB2-BD59-A6C34878D82A}">
                    <a16:rowId xmlns:a16="http://schemas.microsoft.com/office/drawing/2014/main" val="2695114932"/>
                  </a:ext>
                </a:extLst>
              </a:tr>
              <a:tr h="326319">
                <a:tc>
                  <a:txBody>
                    <a:bodyPr/>
                    <a:lstStyle/>
                    <a:p>
                      <a:pPr algn="l">
                        <a:buNone/>
                      </a:pPr>
                      <a:r>
                        <a:rPr lang="en-IN" sz="1200">
                          <a:effectLst/>
                        </a:rPr>
                        <a:t>parallelStream()</a:t>
                      </a:r>
                    </a:p>
                  </a:txBody>
                  <a:tcPr marL="19215" marR="19215" marT="19215" marB="19215" anchor="ctr"/>
                </a:tc>
                <a:tc>
                  <a:txBody>
                    <a:bodyPr/>
                    <a:lstStyle/>
                    <a:p>
                      <a:pPr algn="l">
                        <a:buNone/>
                      </a:pPr>
                      <a:r>
                        <a:rPr lang="en-US" sz="1200">
                          <a:effectLst/>
                        </a:rPr>
                        <a:t>Returns a parallel stream with the collection as source.</a:t>
                      </a:r>
                    </a:p>
                  </a:txBody>
                  <a:tcPr marL="19215" marR="19215" marT="19215" marB="19215" anchor="ctr"/>
                </a:tc>
                <a:extLst>
                  <a:ext uri="{0D108BD9-81ED-4DB2-BD59-A6C34878D82A}">
                    <a16:rowId xmlns:a16="http://schemas.microsoft.com/office/drawing/2014/main" val="4256175515"/>
                  </a:ext>
                </a:extLst>
              </a:tr>
              <a:tr h="326319">
                <a:tc>
                  <a:txBody>
                    <a:bodyPr/>
                    <a:lstStyle/>
                    <a:p>
                      <a:pPr algn="l">
                        <a:buNone/>
                      </a:pPr>
                      <a:r>
                        <a:rPr lang="en-IN" sz="1200">
                          <a:effectLst/>
                        </a:rPr>
                        <a:t>toArray()</a:t>
                      </a:r>
                    </a:p>
                  </a:txBody>
                  <a:tcPr marL="19215" marR="19215" marT="19215" marB="19215" anchor="ctr"/>
                </a:tc>
                <a:tc>
                  <a:txBody>
                    <a:bodyPr/>
                    <a:lstStyle/>
                    <a:p>
                      <a:pPr algn="l">
                        <a:buNone/>
                      </a:pPr>
                      <a:r>
                        <a:rPr lang="en-US" sz="1200">
                          <a:effectLst/>
                        </a:rPr>
                        <a:t>Converts the collection to an array of Objects.</a:t>
                      </a:r>
                    </a:p>
                  </a:txBody>
                  <a:tcPr marL="19215" marR="19215" marT="19215" marB="19215" anchor="ctr"/>
                </a:tc>
                <a:extLst>
                  <a:ext uri="{0D108BD9-81ED-4DB2-BD59-A6C34878D82A}">
                    <a16:rowId xmlns:a16="http://schemas.microsoft.com/office/drawing/2014/main" val="1530233229"/>
                  </a:ext>
                </a:extLst>
              </a:tr>
              <a:tr h="326319">
                <a:tc>
                  <a:txBody>
                    <a:bodyPr/>
                    <a:lstStyle/>
                    <a:p>
                      <a:pPr algn="l">
                        <a:buNone/>
                      </a:pPr>
                      <a:r>
                        <a:rPr lang="en-IN" sz="1200">
                          <a:effectLst/>
                        </a:rPr>
                        <a:t>toArray(T[] a)</a:t>
                      </a:r>
                    </a:p>
                  </a:txBody>
                  <a:tcPr marL="19215" marR="19215" marT="19215" marB="19215" anchor="ctr"/>
                </a:tc>
                <a:tc>
                  <a:txBody>
                    <a:bodyPr/>
                    <a:lstStyle/>
                    <a:p>
                      <a:pPr algn="l">
                        <a:buNone/>
                      </a:pPr>
                      <a:r>
                        <a:rPr lang="en-US" sz="1200">
                          <a:effectLst/>
                        </a:rPr>
                        <a:t>Converts the collection to an array of a specified type.</a:t>
                      </a:r>
                    </a:p>
                  </a:txBody>
                  <a:tcPr marL="19215" marR="19215" marT="19215" marB="19215" anchor="ctr"/>
                </a:tc>
                <a:extLst>
                  <a:ext uri="{0D108BD9-81ED-4DB2-BD59-A6C34878D82A}">
                    <a16:rowId xmlns:a16="http://schemas.microsoft.com/office/drawing/2014/main" val="3881763942"/>
                  </a:ext>
                </a:extLst>
              </a:tr>
              <a:tr h="326319">
                <a:tc>
                  <a:txBody>
                    <a:bodyPr/>
                    <a:lstStyle/>
                    <a:p>
                      <a:pPr algn="l">
                        <a:buNone/>
                      </a:pPr>
                      <a:r>
                        <a:rPr lang="en-IN" sz="1200">
                          <a:effectLst/>
                        </a:rPr>
                        <a:t>equals(Object o)</a:t>
                      </a:r>
                    </a:p>
                  </a:txBody>
                  <a:tcPr marL="19215" marR="19215" marT="19215" marB="19215" anchor="ctr"/>
                </a:tc>
                <a:tc>
                  <a:txBody>
                    <a:bodyPr/>
                    <a:lstStyle/>
                    <a:p>
                      <a:pPr algn="l">
                        <a:buNone/>
                      </a:pPr>
                      <a:r>
                        <a:rPr lang="en-US" sz="1200">
                          <a:effectLst/>
                        </a:rPr>
                        <a:t>Compares the collection with another object for equality.</a:t>
                      </a:r>
                    </a:p>
                  </a:txBody>
                  <a:tcPr marL="19215" marR="19215" marT="19215" marB="19215" anchor="ctr"/>
                </a:tc>
                <a:extLst>
                  <a:ext uri="{0D108BD9-81ED-4DB2-BD59-A6C34878D82A}">
                    <a16:rowId xmlns:a16="http://schemas.microsoft.com/office/drawing/2014/main" val="3290256805"/>
                  </a:ext>
                </a:extLst>
              </a:tr>
              <a:tr h="326319">
                <a:tc>
                  <a:txBody>
                    <a:bodyPr/>
                    <a:lstStyle/>
                    <a:p>
                      <a:pPr algn="l">
                        <a:buNone/>
                      </a:pPr>
                      <a:r>
                        <a:rPr lang="en-IN" sz="1200">
                          <a:effectLst/>
                        </a:rPr>
                        <a:t>hashCode()</a:t>
                      </a:r>
                    </a:p>
                  </a:txBody>
                  <a:tcPr marL="19215" marR="19215" marT="19215" marB="19215" anchor="ctr"/>
                </a:tc>
                <a:tc>
                  <a:txBody>
                    <a:bodyPr/>
                    <a:lstStyle/>
                    <a:p>
                      <a:pPr algn="l">
                        <a:buNone/>
                      </a:pPr>
                      <a:r>
                        <a:rPr lang="en-US" sz="1200">
                          <a:effectLst/>
                        </a:rPr>
                        <a:t>Returns the hash code value for the collection.</a:t>
                      </a:r>
                    </a:p>
                  </a:txBody>
                  <a:tcPr marL="19215" marR="19215" marT="19215" marB="19215" anchor="ctr"/>
                </a:tc>
                <a:extLst>
                  <a:ext uri="{0D108BD9-81ED-4DB2-BD59-A6C34878D82A}">
                    <a16:rowId xmlns:a16="http://schemas.microsoft.com/office/drawing/2014/main" val="126868088"/>
                  </a:ext>
                </a:extLst>
              </a:tr>
              <a:tr h="200501">
                <a:tc>
                  <a:txBody>
                    <a:bodyPr/>
                    <a:lstStyle/>
                    <a:p>
                      <a:pPr algn="l">
                        <a:buNone/>
                      </a:pPr>
                      <a:r>
                        <a:rPr lang="en-IN" sz="1200">
                          <a:effectLst/>
                        </a:rPr>
                        <a:t>spliterator()</a:t>
                      </a:r>
                    </a:p>
                  </a:txBody>
                  <a:tcPr marL="19215" marR="19215" marT="19215" marB="19215" anchor="ctr"/>
                </a:tc>
                <a:tc>
                  <a:txBody>
                    <a:bodyPr/>
                    <a:lstStyle/>
                    <a:p>
                      <a:pPr algn="l">
                        <a:buNone/>
                      </a:pPr>
                      <a:r>
                        <a:rPr lang="en-US" sz="1200" dirty="0">
                          <a:effectLst/>
                        </a:rPr>
                        <a:t>Returns a </a:t>
                      </a:r>
                      <a:r>
                        <a:rPr lang="en-US" sz="1200" dirty="0" err="1">
                          <a:effectLst/>
                        </a:rPr>
                        <a:t>Spliterator</a:t>
                      </a:r>
                      <a:r>
                        <a:rPr lang="en-US" sz="1200" dirty="0">
                          <a:effectLst/>
                        </a:rPr>
                        <a:t> over the elements.</a:t>
                      </a:r>
                    </a:p>
                  </a:txBody>
                  <a:tcPr marL="19215" marR="19215" marT="19215" marB="19215" anchor="ctr"/>
                </a:tc>
                <a:extLst>
                  <a:ext uri="{0D108BD9-81ED-4DB2-BD59-A6C34878D82A}">
                    <a16:rowId xmlns:a16="http://schemas.microsoft.com/office/drawing/2014/main" val="4268232669"/>
                  </a:ext>
                </a:extLst>
              </a:tr>
            </a:tbl>
          </a:graphicData>
        </a:graphic>
      </p:graphicFrame>
    </p:spTree>
    <p:extLst>
      <p:ext uri="{BB962C8B-B14F-4D97-AF65-F5344CB8AC3E}">
        <p14:creationId xmlns:p14="http://schemas.microsoft.com/office/powerpoint/2010/main" val="1131765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406B7-CD19-7FE8-718B-9BBA80B883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96A3F14-E77C-C95B-24EE-A6D76CE89423}"/>
              </a:ext>
            </a:extLst>
          </p:cNvPr>
          <p:cNvSpPr txBox="1"/>
          <p:nvPr/>
        </p:nvSpPr>
        <p:spPr>
          <a:xfrm>
            <a:off x="894522" y="214845"/>
            <a:ext cx="8338930" cy="2862322"/>
          </a:xfrm>
          <a:prstGeom prst="rect">
            <a:avLst/>
          </a:prstGeom>
          <a:noFill/>
        </p:spPr>
        <p:txBody>
          <a:bodyPr wrap="square">
            <a:spAutoFit/>
          </a:bodyPr>
          <a:lstStyle/>
          <a:p>
            <a:r>
              <a:rPr lang="en-IN" b="1" dirty="0"/>
              <a:t>7.4 Collections </a:t>
            </a:r>
          </a:p>
          <a:p>
            <a:r>
              <a:rPr lang="en-IN" b="1" dirty="0"/>
              <a:t>7.4.1 Iterator interface </a:t>
            </a:r>
          </a:p>
          <a:p>
            <a:r>
              <a:rPr lang="en-IN" b="1" dirty="0"/>
              <a:t>7.4.2 Collection interface </a:t>
            </a:r>
          </a:p>
          <a:p>
            <a:r>
              <a:rPr lang="en-IN" b="1" dirty="0"/>
              <a:t>7.4.3 List interface </a:t>
            </a:r>
          </a:p>
          <a:p>
            <a:r>
              <a:rPr lang="en-IN" b="1" dirty="0"/>
              <a:t>7.4.4 ArrayList </a:t>
            </a:r>
          </a:p>
          <a:p>
            <a:r>
              <a:rPr lang="en-IN" b="1" dirty="0"/>
              <a:t>7.4.5 LinkedList </a:t>
            </a:r>
          </a:p>
          <a:p>
            <a:r>
              <a:rPr lang="en-IN" b="1" dirty="0"/>
              <a:t>7.4.6 Vector </a:t>
            </a:r>
          </a:p>
          <a:p>
            <a:r>
              <a:rPr lang="en-IN" b="1" dirty="0"/>
              <a:t>7.4.7 Stack </a:t>
            </a:r>
          </a:p>
          <a:p>
            <a:r>
              <a:rPr lang="en-IN" b="1" dirty="0"/>
              <a:t>7.4.8 Queue interface </a:t>
            </a:r>
          </a:p>
          <a:p>
            <a:r>
              <a:rPr lang="en-IN" b="1" dirty="0"/>
              <a:t>7.4.9 Set interf</a:t>
            </a:r>
          </a:p>
        </p:txBody>
      </p:sp>
      <p:sp>
        <p:nvSpPr>
          <p:cNvPr id="5" name="TextBox 4">
            <a:extLst>
              <a:ext uri="{FF2B5EF4-FFF2-40B4-BE49-F238E27FC236}">
                <a16:creationId xmlns:a16="http://schemas.microsoft.com/office/drawing/2014/main" id="{E8563916-CFD8-DADB-7AC0-9E756811BFF8}"/>
              </a:ext>
            </a:extLst>
          </p:cNvPr>
          <p:cNvSpPr txBox="1"/>
          <p:nvPr/>
        </p:nvSpPr>
        <p:spPr>
          <a:xfrm>
            <a:off x="894522" y="3160750"/>
            <a:ext cx="9024730" cy="369332"/>
          </a:xfrm>
          <a:prstGeom prst="rect">
            <a:avLst/>
          </a:prstGeom>
          <a:noFill/>
        </p:spPr>
        <p:txBody>
          <a:bodyPr wrap="square">
            <a:spAutoFit/>
          </a:bodyPr>
          <a:lstStyle/>
          <a:p>
            <a:pPr algn="l">
              <a:buNone/>
            </a:pPr>
            <a:r>
              <a:rPr lang="en-IN" b="1" i="0" dirty="0">
                <a:effectLst/>
                <a:latin typeface="fkGrotesk"/>
              </a:rPr>
              <a:t>7.4.1 Iterator Interface</a:t>
            </a:r>
          </a:p>
        </p:txBody>
      </p:sp>
      <p:sp>
        <p:nvSpPr>
          <p:cNvPr id="7" name="TextBox 6">
            <a:extLst>
              <a:ext uri="{FF2B5EF4-FFF2-40B4-BE49-F238E27FC236}">
                <a16:creationId xmlns:a16="http://schemas.microsoft.com/office/drawing/2014/main" id="{02A2A7C6-76EA-2A4D-9205-4CBBDD42F84B}"/>
              </a:ext>
            </a:extLst>
          </p:cNvPr>
          <p:cNvSpPr txBox="1"/>
          <p:nvPr/>
        </p:nvSpPr>
        <p:spPr>
          <a:xfrm>
            <a:off x="616227" y="3545782"/>
            <a:ext cx="8428382" cy="3416320"/>
          </a:xfrm>
          <a:prstGeom prst="rect">
            <a:avLst/>
          </a:prstGeom>
          <a:noFill/>
        </p:spPr>
        <p:txBody>
          <a:bodyPr wrap="square">
            <a:spAutoFit/>
          </a:bodyPr>
          <a:lstStyle/>
          <a:p>
            <a:pPr algn="l">
              <a:buNone/>
            </a:pPr>
            <a:r>
              <a:rPr lang="en-US" b="0" i="0" dirty="0">
                <a:effectLst/>
                <a:latin typeface="fkGroteskNeue"/>
              </a:rPr>
              <a:t>The Iterator interface in Java is a core component of the Collections Framework that provides a way to traverse elements in a collection sequentially.</a:t>
            </a:r>
          </a:p>
          <a:p>
            <a:pPr algn="l">
              <a:buNone/>
            </a:pPr>
            <a:endParaRPr lang="en-US" b="0" i="0" dirty="0">
              <a:effectLst/>
              <a:latin typeface="fkGroteskNeue"/>
            </a:endParaRPr>
          </a:p>
          <a:p>
            <a:pPr algn="l">
              <a:buNone/>
            </a:pPr>
            <a:r>
              <a:rPr lang="en-US" b="1" i="0" dirty="0">
                <a:effectLst/>
                <a:latin typeface="fkGrotesk"/>
              </a:rPr>
              <a:t>Key Methods of Iterator Interface</a:t>
            </a:r>
          </a:p>
          <a:p>
            <a:pPr marL="742950" lvl="1" indent="-285750" algn="l">
              <a:buFont typeface="Arial" panose="020B0604020202020204" pitchFamily="34" charset="0"/>
              <a:buChar char="•"/>
            </a:pPr>
            <a:r>
              <a:rPr lang="en-US" b="1" i="0" dirty="0">
                <a:effectLst/>
                <a:latin typeface="fkGroteskNeue"/>
              </a:rPr>
              <a:t>hasNext</a:t>
            </a:r>
            <a:r>
              <a:rPr lang="en-US" b="0" i="0" dirty="0">
                <a:effectLst/>
                <a:latin typeface="fkGroteskNeue"/>
              </a:rPr>
              <a:t>()</a:t>
            </a:r>
            <a:br>
              <a:rPr lang="en-US" b="0" i="0" dirty="0">
                <a:effectLst/>
                <a:latin typeface="fkGroteskNeue"/>
              </a:rPr>
            </a:br>
            <a:r>
              <a:rPr lang="en-US" b="0" i="0" dirty="0">
                <a:effectLst/>
                <a:latin typeface="fkGroteskNeue"/>
              </a:rPr>
              <a:t>Returns </a:t>
            </a:r>
            <a:r>
              <a:rPr lang="en-US" b="0" i="0" dirty="0">
                <a:effectLst/>
                <a:latin typeface="berkeleyMono"/>
              </a:rPr>
              <a:t>true</a:t>
            </a:r>
            <a:r>
              <a:rPr lang="en-US" b="0" i="0" dirty="0">
                <a:effectLst/>
                <a:latin typeface="fkGroteskNeue"/>
              </a:rPr>
              <a:t> if the iteration has more elements.</a:t>
            </a:r>
            <a:br>
              <a:rPr lang="en-US" b="0" i="0" dirty="0">
                <a:effectLst/>
                <a:latin typeface="fkGroteskNeue"/>
              </a:rPr>
            </a:br>
            <a:r>
              <a:rPr lang="en-US" b="0" i="0" dirty="0">
                <a:effectLst/>
                <a:latin typeface="fkGroteskNeue"/>
              </a:rPr>
              <a:t>Signature: </a:t>
            </a:r>
            <a:r>
              <a:rPr lang="en-US" b="0" i="0" dirty="0">
                <a:effectLst/>
                <a:latin typeface="berkeleyMono"/>
              </a:rPr>
              <a:t>boolean hasNext()</a:t>
            </a:r>
          </a:p>
          <a:p>
            <a:pPr lvl="1" algn="l"/>
            <a:endParaRPr lang="en-US" b="0" i="0" dirty="0">
              <a:effectLst/>
              <a:latin typeface="fkGroteskNeue"/>
            </a:endParaRPr>
          </a:p>
          <a:p>
            <a:pPr marL="742950" lvl="1" indent="-285750" algn="l">
              <a:buFont typeface="Arial" panose="020B0604020202020204" pitchFamily="34" charset="0"/>
              <a:buChar char="•"/>
            </a:pPr>
            <a:r>
              <a:rPr lang="en-US" b="1" i="0" dirty="0">
                <a:effectLst/>
                <a:latin typeface="fkGroteskNeue"/>
              </a:rPr>
              <a:t>next</a:t>
            </a:r>
            <a:r>
              <a:rPr lang="en-US" b="0" i="0" dirty="0">
                <a:effectLst/>
                <a:latin typeface="fkGroteskNeue"/>
              </a:rPr>
              <a:t>()</a:t>
            </a:r>
            <a:br>
              <a:rPr lang="en-US" b="0" i="0" dirty="0">
                <a:effectLst/>
                <a:latin typeface="fkGroteskNeue"/>
              </a:rPr>
            </a:br>
            <a:r>
              <a:rPr lang="en-US" b="0" i="0" dirty="0">
                <a:effectLst/>
                <a:latin typeface="fkGroteskNeue"/>
              </a:rPr>
              <a:t>Returns the next element in the iteration. Throws </a:t>
            </a:r>
            <a:r>
              <a:rPr lang="en-US" b="0" i="0" dirty="0">
                <a:effectLst/>
                <a:latin typeface="berkeleyMono"/>
              </a:rPr>
              <a:t>NoSuchElementException</a:t>
            </a:r>
            <a:r>
              <a:rPr lang="en-US" b="0" i="0" dirty="0">
                <a:effectLst/>
                <a:latin typeface="fkGroteskNeue"/>
              </a:rPr>
              <a:t> if no more elements exist.</a:t>
            </a:r>
            <a:br>
              <a:rPr lang="en-US" b="0" i="0" dirty="0">
                <a:effectLst/>
                <a:latin typeface="fkGroteskNeue"/>
              </a:rPr>
            </a:br>
            <a:r>
              <a:rPr lang="en-US" b="0" i="0" dirty="0">
                <a:effectLst/>
                <a:latin typeface="fkGroteskNeue"/>
              </a:rPr>
              <a:t>Signature: </a:t>
            </a:r>
            <a:r>
              <a:rPr lang="en-US" b="0" i="0" dirty="0">
                <a:effectLst/>
                <a:latin typeface="berkeleyMono"/>
              </a:rPr>
              <a:t>E next()</a:t>
            </a:r>
            <a:endParaRPr lang="en-US" b="0" i="0" dirty="0">
              <a:effectLst/>
              <a:latin typeface="fkGroteskNeue"/>
            </a:endParaRPr>
          </a:p>
        </p:txBody>
      </p:sp>
    </p:spTree>
    <p:extLst>
      <p:ext uri="{BB962C8B-B14F-4D97-AF65-F5344CB8AC3E}">
        <p14:creationId xmlns:p14="http://schemas.microsoft.com/office/powerpoint/2010/main" val="1069234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3469D-E0D3-335E-C5DA-18EF2C2448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F32FAE-041A-29C1-4521-DE709936AC9A}"/>
              </a:ext>
            </a:extLst>
          </p:cNvPr>
          <p:cNvSpPr txBox="1"/>
          <p:nvPr/>
        </p:nvSpPr>
        <p:spPr>
          <a:xfrm>
            <a:off x="944218" y="108756"/>
            <a:ext cx="8468139" cy="2585323"/>
          </a:xfrm>
          <a:prstGeom prst="rect">
            <a:avLst/>
          </a:prstGeom>
          <a:noFill/>
        </p:spPr>
        <p:txBody>
          <a:bodyPr wrap="square">
            <a:spAutoFit/>
          </a:bodyPr>
          <a:lstStyle/>
          <a:p>
            <a:pPr algn="l">
              <a:buFont typeface="Arial" panose="020B0604020202020204" pitchFamily="34" charset="0"/>
              <a:buChar char="•"/>
            </a:pPr>
            <a:r>
              <a:rPr lang="en-US" b="1" i="0" dirty="0">
                <a:effectLst/>
                <a:latin typeface="fkGroteskNeue"/>
              </a:rPr>
              <a:t>remove</a:t>
            </a:r>
            <a:r>
              <a:rPr lang="en-US" b="0" i="0" dirty="0">
                <a:effectLst/>
                <a:latin typeface="fkGroteskNeue"/>
              </a:rPr>
              <a:t>()</a:t>
            </a:r>
            <a:br>
              <a:rPr lang="en-US" b="0" i="0" dirty="0">
                <a:effectLst/>
                <a:latin typeface="fkGroteskNeue"/>
              </a:rPr>
            </a:br>
            <a:r>
              <a:rPr lang="en-US" b="0" i="0" dirty="0">
                <a:effectLst/>
                <a:latin typeface="fkGroteskNeue"/>
              </a:rPr>
              <a:t>Removes from the underlying collection the last element returned by this iterator. Can only be called once per call to </a:t>
            </a:r>
            <a:r>
              <a:rPr lang="en-US" b="0" i="0" dirty="0">
                <a:effectLst/>
                <a:latin typeface="berkeleyMono"/>
              </a:rPr>
              <a:t>next()</a:t>
            </a:r>
            <a:r>
              <a:rPr lang="en-US" b="0" i="0" dirty="0">
                <a:effectLst/>
                <a:latin typeface="fkGroteskNeue"/>
              </a:rPr>
              <a:t>. Throws </a:t>
            </a:r>
            <a:r>
              <a:rPr lang="en-US" b="0" i="0" dirty="0">
                <a:effectLst/>
                <a:latin typeface="berkeleyMono"/>
              </a:rPr>
              <a:t>IllegalStateException</a:t>
            </a:r>
            <a:r>
              <a:rPr lang="en-US" b="0" i="0" dirty="0">
                <a:effectLst/>
                <a:latin typeface="fkGroteskNeue"/>
              </a:rPr>
              <a:t> if called before </a:t>
            </a:r>
            <a:r>
              <a:rPr lang="en-US" b="0" i="0" dirty="0">
                <a:effectLst/>
                <a:latin typeface="berkeleyMono"/>
              </a:rPr>
              <a:t>next()</a:t>
            </a:r>
            <a:r>
              <a:rPr lang="en-US" b="0" i="0" dirty="0">
                <a:effectLst/>
                <a:latin typeface="fkGroteskNeue"/>
              </a:rPr>
              <a:t>.</a:t>
            </a:r>
            <a:br>
              <a:rPr lang="en-US" b="0" i="0" dirty="0">
                <a:effectLst/>
                <a:latin typeface="fkGroteskNeue"/>
              </a:rPr>
            </a:br>
            <a:r>
              <a:rPr lang="en-US" b="0" i="0" dirty="0">
                <a:effectLst/>
                <a:latin typeface="fkGroteskNeue"/>
              </a:rPr>
              <a:t>Signature: </a:t>
            </a:r>
            <a:r>
              <a:rPr lang="en-US" b="0" i="0" dirty="0">
                <a:effectLst/>
                <a:latin typeface="berkeleyMono"/>
              </a:rPr>
              <a:t>void remove()</a:t>
            </a:r>
          </a:p>
          <a:p>
            <a:pPr algn="l"/>
            <a:endParaRPr lang="en-US" b="0" i="0" dirty="0">
              <a:effectLst/>
              <a:latin typeface="fkGroteskNeue"/>
            </a:endParaRPr>
          </a:p>
          <a:p>
            <a:pPr algn="l">
              <a:buFont typeface="Arial" panose="020B0604020202020204" pitchFamily="34" charset="0"/>
              <a:buChar char="•"/>
            </a:pPr>
            <a:r>
              <a:rPr lang="en-US" b="1" i="0" dirty="0">
                <a:effectLst/>
                <a:latin typeface="fkGroteskNeue"/>
              </a:rPr>
              <a:t>forEachRemaining(Consumer&lt;? super E&gt; action) (since Java 8)</a:t>
            </a:r>
            <a:br>
              <a:rPr lang="en-US" b="1" i="0" dirty="0">
                <a:effectLst/>
                <a:latin typeface="fkGroteskNeue"/>
              </a:rPr>
            </a:br>
            <a:r>
              <a:rPr lang="en-US" b="0" i="0" dirty="0">
                <a:effectLst/>
                <a:latin typeface="fkGroteskNeue"/>
              </a:rPr>
              <a:t>Performs the given action for each remaining element until all elements are processed or an exception is thrown.</a:t>
            </a:r>
            <a:br>
              <a:rPr lang="en-US" b="0" i="0" dirty="0">
                <a:effectLst/>
                <a:latin typeface="fkGroteskNeue"/>
              </a:rPr>
            </a:br>
            <a:r>
              <a:rPr lang="en-US" b="0" i="0" dirty="0">
                <a:effectLst/>
                <a:latin typeface="fkGroteskNeue"/>
              </a:rPr>
              <a:t>Signature: </a:t>
            </a:r>
            <a:r>
              <a:rPr lang="en-US" b="0" i="0" dirty="0">
                <a:effectLst/>
                <a:latin typeface="berkeleyMono"/>
              </a:rPr>
              <a:t>void forEachRemaining(Consumer&lt;? super E&gt; action)</a:t>
            </a:r>
            <a:endParaRPr lang="en-US" b="0" i="0" dirty="0">
              <a:effectLst/>
              <a:latin typeface="fkGroteskNeue"/>
            </a:endParaRPr>
          </a:p>
        </p:txBody>
      </p:sp>
      <p:sp>
        <p:nvSpPr>
          <p:cNvPr id="5" name="TextBox 4">
            <a:extLst>
              <a:ext uri="{FF2B5EF4-FFF2-40B4-BE49-F238E27FC236}">
                <a16:creationId xmlns:a16="http://schemas.microsoft.com/office/drawing/2014/main" id="{2575250A-2D71-BBD3-D6EF-E240A6E490BB}"/>
              </a:ext>
            </a:extLst>
          </p:cNvPr>
          <p:cNvSpPr txBox="1"/>
          <p:nvPr/>
        </p:nvSpPr>
        <p:spPr>
          <a:xfrm>
            <a:off x="944218" y="2724471"/>
            <a:ext cx="8756373" cy="4247317"/>
          </a:xfrm>
          <a:prstGeom prst="rect">
            <a:avLst/>
          </a:prstGeom>
          <a:noFill/>
        </p:spPr>
        <p:txBody>
          <a:bodyPr wrap="square">
            <a:spAutoFit/>
          </a:bodyPr>
          <a:lstStyle/>
          <a:p>
            <a:pPr>
              <a:buNone/>
            </a:pPr>
            <a:r>
              <a:rPr lang="en-IN" b="0" dirty="0">
                <a:effectLst/>
                <a:latin typeface="fkGrotesk"/>
              </a:rPr>
              <a:t>Usage Example</a:t>
            </a:r>
          </a:p>
          <a:p>
            <a:pPr>
              <a:buNone/>
            </a:pPr>
            <a:endParaRPr lang="en-IN" dirty="0">
              <a:latin typeface="fkGrotesk"/>
            </a:endParaRPr>
          </a:p>
          <a:p>
            <a:pPr>
              <a:buNone/>
            </a:pPr>
            <a:r>
              <a:rPr lang="en-IN" dirty="0">
                <a:latin typeface="fkGrotesk"/>
              </a:rPr>
              <a:t>import </a:t>
            </a:r>
            <a:r>
              <a:rPr lang="en-IN" dirty="0" err="1">
                <a:latin typeface="fkGrotesk"/>
              </a:rPr>
              <a:t>java.util</a:t>
            </a:r>
            <a:r>
              <a:rPr lang="en-IN" dirty="0">
                <a:latin typeface="fkGrotesk"/>
              </a:rPr>
              <a:t>.*;</a:t>
            </a:r>
          </a:p>
          <a:p>
            <a:pPr>
              <a:buNone/>
            </a:pPr>
            <a:endParaRPr lang="en-IN" dirty="0">
              <a:latin typeface="fkGrotesk"/>
            </a:endParaRPr>
          </a:p>
          <a:p>
            <a:pPr>
              <a:buNone/>
            </a:pPr>
            <a:r>
              <a:rPr lang="en-IN" dirty="0">
                <a:latin typeface="fkGrotesk"/>
              </a:rPr>
              <a:t>public class </a:t>
            </a:r>
            <a:r>
              <a:rPr lang="en-IN" dirty="0" err="1">
                <a:latin typeface="fkGrotesk"/>
              </a:rPr>
              <a:t>IteratorExample</a:t>
            </a:r>
            <a:r>
              <a:rPr lang="en-IN" dirty="0">
                <a:latin typeface="fkGrotesk"/>
              </a:rPr>
              <a:t> {</a:t>
            </a:r>
          </a:p>
          <a:p>
            <a:pPr>
              <a:buNone/>
            </a:pPr>
            <a:r>
              <a:rPr lang="en-IN" dirty="0">
                <a:latin typeface="fkGrotesk"/>
              </a:rPr>
              <a:t>    public static void main(String[] args) {</a:t>
            </a:r>
          </a:p>
          <a:p>
            <a:pPr>
              <a:buNone/>
            </a:pPr>
            <a:r>
              <a:rPr lang="en-IN" dirty="0">
                <a:latin typeface="fkGrotesk"/>
              </a:rPr>
              <a:t>        List&lt;String&gt; list = new LinkedList&lt;&gt;();</a:t>
            </a:r>
          </a:p>
          <a:p>
            <a:pPr>
              <a:buNone/>
            </a:pPr>
            <a:r>
              <a:rPr lang="en-IN" dirty="0">
                <a:latin typeface="fkGrotesk"/>
              </a:rPr>
              <a:t>        </a:t>
            </a:r>
            <a:r>
              <a:rPr lang="en-IN" dirty="0" err="1">
                <a:latin typeface="fkGrotesk"/>
              </a:rPr>
              <a:t>list.add</a:t>
            </a:r>
            <a:r>
              <a:rPr lang="en-IN" dirty="0">
                <a:latin typeface="fkGrotesk"/>
              </a:rPr>
              <a:t>("Welcome");</a:t>
            </a:r>
          </a:p>
          <a:p>
            <a:pPr>
              <a:buNone/>
            </a:pPr>
            <a:r>
              <a:rPr lang="en-IN" dirty="0">
                <a:latin typeface="fkGrotesk"/>
              </a:rPr>
              <a:t>        </a:t>
            </a:r>
            <a:r>
              <a:rPr lang="en-IN" dirty="0" err="1">
                <a:latin typeface="fkGrotesk"/>
              </a:rPr>
              <a:t>list.add</a:t>
            </a:r>
            <a:r>
              <a:rPr lang="en-IN" dirty="0">
                <a:latin typeface="fkGrotesk"/>
              </a:rPr>
              <a:t>("to");</a:t>
            </a:r>
          </a:p>
          <a:p>
            <a:pPr>
              <a:buNone/>
            </a:pPr>
            <a:r>
              <a:rPr lang="en-IN" dirty="0">
                <a:latin typeface="fkGrotesk"/>
              </a:rPr>
              <a:t>        </a:t>
            </a:r>
            <a:r>
              <a:rPr lang="en-IN" dirty="0" err="1">
                <a:latin typeface="fkGrotesk"/>
              </a:rPr>
              <a:t>list.add</a:t>
            </a:r>
            <a:r>
              <a:rPr lang="en-IN" dirty="0">
                <a:latin typeface="fkGrotesk"/>
              </a:rPr>
              <a:t>("Java");</a:t>
            </a:r>
          </a:p>
          <a:p>
            <a:pPr>
              <a:buNone/>
            </a:pPr>
            <a:endParaRPr lang="en-IN" dirty="0">
              <a:latin typeface="fkGrotesk"/>
            </a:endParaRPr>
          </a:p>
          <a:p>
            <a:pPr>
              <a:buNone/>
            </a:pPr>
            <a:r>
              <a:rPr lang="en-IN" dirty="0">
                <a:latin typeface="fkGrotesk"/>
              </a:rPr>
              <a:t>        Iterator&lt;String&gt; </a:t>
            </a:r>
            <a:r>
              <a:rPr lang="en-IN" dirty="0" err="1">
                <a:latin typeface="fkGrotesk"/>
              </a:rPr>
              <a:t>itr</a:t>
            </a:r>
            <a:r>
              <a:rPr lang="en-IN" dirty="0">
                <a:latin typeface="fkGrotesk"/>
              </a:rPr>
              <a:t> = </a:t>
            </a:r>
            <a:r>
              <a:rPr lang="en-IN" dirty="0" err="1">
                <a:latin typeface="fkGrotesk"/>
              </a:rPr>
              <a:t>list.iterator</a:t>
            </a:r>
            <a:r>
              <a:rPr lang="en-IN" dirty="0">
                <a:latin typeface="fkGrotesk"/>
              </a:rPr>
              <a:t>();</a:t>
            </a:r>
          </a:p>
          <a:p>
            <a:pPr>
              <a:buNone/>
            </a:pPr>
            <a:r>
              <a:rPr lang="en-IN" dirty="0">
                <a:latin typeface="fkGrotesk"/>
              </a:rPr>
              <a:t>        while (</a:t>
            </a:r>
            <a:r>
              <a:rPr lang="en-IN" dirty="0" err="1">
                <a:latin typeface="fkGrotesk"/>
              </a:rPr>
              <a:t>itr.hasNext</a:t>
            </a:r>
            <a:r>
              <a:rPr lang="en-IN" dirty="0">
                <a:latin typeface="fkGrotesk"/>
              </a:rPr>
              <a:t>()) {</a:t>
            </a:r>
          </a:p>
          <a:p>
            <a:pPr>
              <a:buNone/>
            </a:pPr>
            <a:r>
              <a:rPr lang="en-IN" dirty="0">
                <a:latin typeface="fkGrotesk"/>
              </a:rPr>
              <a:t>            System.out.println(</a:t>
            </a:r>
            <a:r>
              <a:rPr lang="en-IN" dirty="0" err="1">
                <a:latin typeface="fkGrotesk"/>
              </a:rPr>
              <a:t>itr.next</a:t>
            </a:r>
            <a:r>
              <a:rPr lang="en-IN" dirty="0">
                <a:latin typeface="fkGrotesk"/>
              </a:rPr>
              <a:t>());</a:t>
            </a:r>
          </a:p>
          <a:p>
            <a:pPr>
              <a:buNone/>
            </a:pPr>
            <a:r>
              <a:rPr lang="en-IN" dirty="0">
                <a:latin typeface="fkGrotesk"/>
              </a:rPr>
              <a:t>        }</a:t>
            </a:r>
          </a:p>
        </p:txBody>
      </p:sp>
    </p:spTree>
    <p:extLst>
      <p:ext uri="{BB962C8B-B14F-4D97-AF65-F5344CB8AC3E}">
        <p14:creationId xmlns:p14="http://schemas.microsoft.com/office/powerpoint/2010/main" val="1324900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9F505-3AD4-0D20-B998-FC0E10608D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CA248B-486B-3772-67E1-667E939743F8}"/>
              </a:ext>
            </a:extLst>
          </p:cNvPr>
          <p:cNvSpPr txBox="1"/>
          <p:nvPr/>
        </p:nvSpPr>
        <p:spPr>
          <a:xfrm>
            <a:off x="904461" y="213983"/>
            <a:ext cx="8239539" cy="1477328"/>
          </a:xfrm>
          <a:prstGeom prst="rect">
            <a:avLst/>
          </a:prstGeom>
          <a:noFill/>
        </p:spPr>
        <p:txBody>
          <a:bodyPr wrap="square">
            <a:spAutoFit/>
          </a:bodyPr>
          <a:lstStyle/>
          <a:p>
            <a:r>
              <a:rPr lang="en-IN" dirty="0"/>
              <a:t>        // Removing the last returned element</a:t>
            </a:r>
          </a:p>
          <a:p>
            <a:r>
              <a:rPr lang="en-IN" dirty="0"/>
              <a:t>        </a:t>
            </a:r>
            <a:r>
              <a:rPr lang="en-IN" dirty="0" err="1"/>
              <a:t>itr.remove</a:t>
            </a:r>
            <a:r>
              <a:rPr lang="en-IN" dirty="0"/>
              <a:t>();  // Removes "Java"</a:t>
            </a:r>
          </a:p>
          <a:p>
            <a:r>
              <a:rPr lang="en-IN" dirty="0"/>
              <a:t>        System.out.println("After removal: " + list);</a:t>
            </a:r>
          </a:p>
          <a:p>
            <a:r>
              <a:rPr lang="en-IN" dirty="0"/>
              <a:t>    }</a:t>
            </a:r>
          </a:p>
          <a:p>
            <a:r>
              <a:rPr lang="en-IN" dirty="0"/>
              <a:t>}</a:t>
            </a:r>
          </a:p>
        </p:txBody>
      </p:sp>
      <p:sp>
        <p:nvSpPr>
          <p:cNvPr id="5" name="TextBox 4">
            <a:extLst>
              <a:ext uri="{FF2B5EF4-FFF2-40B4-BE49-F238E27FC236}">
                <a16:creationId xmlns:a16="http://schemas.microsoft.com/office/drawing/2014/main" id="{75FB2042-D6F2-F192-4C4D-2F091B6A08FE}"/>
              </a:ext>
            </a:extLst>
          </p:cNvPr>
          <p:cNvSpPr txBox="1"/>
          <p:nvPr/>
        </p:nvSpPr>
        <p:spPr>
          <a:xfrm>
            <a:off x="775252" y="1844213"/>
            <a:ext cx="8647044" cy="1754326"/>
          </a:xfrm>
          <a:prstGeom prst="rect">
            <a:avLst/>
          </a:prstGeom>
          <a:noFill/>
        </p:spPr>
        <p:txBody>
          <a:bodyPr wrap="square">
            <a:spAutoFit/>
          </a:bodyPr>
          <a:lstStyle/>
          <a:p>
            <a:pPr>
              <a:buNone/>
            </a:pPr>
            <a:r>
              <a:rPr lang="en-IN" b="0" dirty="0">
                <a:effectLst/>
                <a:latin typeface="fkGrotesk"/>
              </a:rPr>
              <a:t>Output</a:t>
            </a:r>
          </a:p>
          <a:p>
            <a:pPr>
              <a:buNone/>
            </a:pPr>
            <a:endParaRPr lang="en-IN" dirty="0">
              <a:latin typeface="fkGrotesk"/>
            </a:endParaRPr>
          </a:p>
          <a:p>
            <a:pPr>
              <a:buNone/>
            </a:pPr>
            <a:r>
              <a:rPr lang="en-US" dirty="0">
                <a:latin typeface="fkGrotesk"/>
              </a:rPr>
              <a:t>Welcome</a:t>
            </a:r>
          </a:p>
          <a:p>
            <a:pPr>
              <a:buNone/>
            </a:pPr>
            <a:r>
              <a:rPr lang="en-US" dirty="0">
                <a:latin typeface="fkGrotesk"/>
              </a:rPr>
              <a:t>to</a:t>
            </a:r>
          </a:p>
          <a:p>
            <a:pPr>
              <a:buNone/>
            </a:pPr>
            <a:r>
              <a:rPr lang="en-US" dirty="0">
                <a:latin typeface="fkGrotesk"/>
              </a:rPr>
              <a:t>Java</a:t>
            </a:r>
          </a:p>
          <a:p>
            <a:pPr>
              <a:buNone/>
            </a:pPr>
            <a:r>
              <a:rPr lang="en-US" dirty="0">
                <a:latin typeface="fkGrotesk"/>
              </a:rPr>
              <a:t>After removal: [Welcome, to]</a:t>
            </a:r>
          </a:p>
        </p:txBody>
      </p:sp>
      <p:sp>
        <p:nvSpPr>
          <p:cNvPr id="7" name="TextBox 6">
            <a:extLst>
              <a:ext uri="{FF2B5EF4-FFF2-40B4-BE49-F238E27FC236}">
                <a16:creationId xmlns:a16="http://schemas.microsoft.com/office/drawing/2014/main" id="{097E9001-DE77-9B00-F9A1-23B333920368}"/>
              </a:ext>
            </a:extLst>
          </p:cNvPr>
          <p:cNvSpPr txBox="1"/>
          <p:nvPr/>
        </p:nvSpPr>
        <p:spPr>
          <a:xfrm>
            <a:off x="685800" y="3751441"/>
            <a:ext cx="8458200" cy="2308324"/>
          </a:xfrm>
          <a:prstGeom prst="rect">
            <a:avLst/>
          </a:prstGeom>
          <a:noFill/>
        </p:spPr>
        <p:txBody>
          <a:bodyPr wrap="square">
            <a:spAutoFit/>
          </a:bodyPr>
          <a:lstStyle/>
          <a:p>
            <a:pPr algn="l">
              <a:buNone/>
            </a:pPr>
            <a:r>
              <a:rPr lang="en-US" b="1" i="0" dirty="0">
                <a:effectLst/>
                <a:latin typeface="fkGrotesk"/>
              </a:rPr>
              <a:t>Additional</a:t>
            </a:r>
            <a:r>
              <a:rPr lang="en-US" b="0" i="0" dirty="0">
                <a:effectLst/>
                <a:latin typeface="fkGrotesk"/>
              </a:rPr>
              <a:t> </a:t>
            </a:r>
            <a:r>
              <a:rPr lang="en-US" b="1" i="0" dirty="0">
                <a:effectLst/>
                <a:latin typeface="fkGrotesk"/>
              </a:rPr>
              <a:t>Notes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Iterators provide safe, standardized traversal mechanisms independent of the underlying collection implementation.</a:t>
            </a:r>
          </a:p>
          <a:p>
            <a:pPr algn="l">
              <a:buFont typeface="Arial" panose="020B0604020202020204" pitchFamily="34" charset="0"/>
              <a:buChar char="•"/>
            </a:pPr>
            <a:r>
              <a:rPr lang="en-US" b="0" i="0" dirty="0">
                <a:effectLst/>
                <a:latin typeface="fkGroteskNeue"/>
              </a:rPr>
              <a:t>Modifying a collection while iterating without using </a:t>
            </a:r>
            <a:r>
              <a:rPr lang="en-US" b="0" i="0" dirty="0">
                <a:effectLst/>
                <a:latin typeface="berkeleyMono"/>
              </a:rPr>
              <a:t>remove()</a:t>
            </a:r>
            <a:r>
              <a:rPr lang="en-US" b="0" i="0" dirty="0">
                <a:effectLst/>
                <a:latin typeface="fkGroteskNeue"/>
              </a:rPr>
              <a:t> generally causes </a:t>
            </a:r>
            <a:r>
              <a:rPr lang="en-US" b="0" i="0" dirty="0">
                <a:effectLst/>
                <a:latin typeface="berkeleyMono"/>
              </a:rPr>
              <a:t>ConcurrentModificationException</a:t>
            </a:r>
            <a:r>
              <a:rPr lang="en-US" b="0" i="0" dirty="0">
                <a:effectLst/>
                <a:latin typeface="fkGroteskNeue"/>
              </a:rPr>
              <a:t>.</a:t>
            </a:r>
          </a:p>
          <a:p>
            <a:pPr algn="l">
              <a:buFont typeface="Arial" panose="020B0604020202020204" pitchFamily="34" charset="0"/>
              <a:buChar char="•"/>
            </a:pPr>
            <a:r>
              <a:rPr lang="en-US" b="0" i="0" dirty="0">
                <a:effectLst/>
                <a:latin typeface="fkGroteskNeue"/>
              </a:rPr>
              <a:t>ListIterator is a subinterface supporting bidirectional traversal and element modification.</a:t>
            </a:r>
          </a:p>
        </p:txBody>
      </p:sp>
    </p:spTree>
    <p:extLst>
      <p:ext uri="{BB962C8B-B14F-4D97-AF65-F5344CB8AC3E}">
        <p14:creationId xmlns:p14="http://schemas.microsoft.com/office/powerpoint/2010/main" val="1811379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ED54F-37AD-F654-4F98-B4FD0A2E35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1F93CA-292B-2807-B9F1-5046CB92CFB2}"/>
              </a:ext>
            </a:extLst>
          </p:cNvPr>
          <p:cNvSpPr txBox="1"/>
          <p:nvPr/>
        </p:nvSpPr>
        <p:spPr>
          <a:xfrm>
            <a:off x="934278" y="143324"/>
            <a:ext cx="8418444" cy="4247317"/>
          </a:xfrm>
          <a:prstGeom prst="rect">
            <a:avLst/>
          </a:prstGeom>
          <a:noFill/>
        </p:spPr>
        <p:txBody>
          <a:bodyPr wrap="square">
            <a:spAutoFit/>
          </a:bodyPr>
          <a:lstStyle/>
          <a:p>
            <a:r>
              <a:rPr lang="en-IN" b="1" dirty="0"/>
              <a:t>7.4.2 Collection interface</a:t>
            </a:r>
          </a:p>
          <a:p>
            <a:endParaRPr lang="en-IN" b="1" dirty="0"/>
          </a:p>
          <a:p>
            <a:r>
              <a:rPr lang="en-US" dirty="0"/>
              <a:t>The Collection interface in Java is the root interface of the Java Collections Framework. It defines the basic operations for manipulating groups of objects (elements) and provides the foundation for most standard collection types, including List, Set, and Queue.</a:t>
            </a:r>
          </a:p>
          <a:p>
            <a:endParaRPr lang="en-US" dirty="0"/>
          </a:p>
          <a:p>
            <a:r>
              <a:rPr lang="en-US" b="1" dirty="0"/>
              <a:t>Key Points of Collection Interface</a:t>
            </a:r>
          </a:p>
          <a:p>
            <a:pPr marL="285750" indent="-285750">
              <a:buFont typeface="Arial" panose="020B0604020202020204" pitchFamily="34" charset="0"/>
              <a:buChar char="•"/>
            </a:pPr>
            <a:r>
              <a:rPr lang="en-US" dirty="0"/>
              <a:t>Root Interface: The Collection interface is the parent for List, Set, and Queue subinterfaces.</a:t>
            </a:r>
          </a:p>
          <a:p>
            <a:pPr marL="285750" indent="-285750">
              <a:buFont typeface="Arial" panose="020B0604020202020204" pitchFamily="34" charset="0"/>
              <a:buChar char="•"/>
            </a:pPr>
            <a:r>
              <a:rPr lang="en-US" dirty="0"/>
              <a:t>No Direct Implementation: It is not implemented directly—classes like ArrayList, HashSet, and LinkedList implement its subinterfaces.</a:t>
            </a:r>
          </a:p>
          <a:p>
            <a:pPr marL="285750" indent="-285750">
              <a:buFont typeface="Arial" panose="020B0604020202020204" pitchFamily="34" charset="0"/>
              <a:buChar char="•"/>
            </a:pPr>
            <a:r>
              <a:rPr lang="en-US" dirty="0"/>
              <a:t>Generic Support: Uses generics for type safety, allowing collections of a specific datatype.</a:t>
            </a:r>
          </a:p>
          <a:p>
            <a:endParaRPr lang="en-IN" dirty="0"/>
          </a:p>
        </p:txBody>
      </p:sp>
    </p:spTree>
    <p:extLst>
      <p:ext uri="{BB962C8B-B14F-4D97-AF65-F5344CB8AC3E}">
        <p14:creationId xmlns:p14="http://schemas.microsoft.com/office/powerpoint/2010/main" val="229141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1A15A-B11B-AB42-5526-B5EC426A5C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8E1933-628B-CFEA-243D-5B0BC84ADB5F}"/>
              </a:ext>
            </a:extLst>
          </p:cNvPr>
          <p:cNvSpPr txBox="1"/>
          <p:nvPr/>
        </p:nvSpPr>
        <p:spPr>
          <a:xfrm>
            <a:off x="894522" y="114804"/>
            <a:ext cx="6102626" cy="369332"/>
          </a:xfrm>
          <a:prstGeom prst="rect">
            <a:avLst/>
          </a:prstGeom>
          <a:noFill/>
        </p:spPr>
        <p:txBody>
          <a:bodyPr wrap="square">
            <a:spAutoFit/>
          </a:bodyPr>
          <a:lstStyle/>
          <a:p>
            <a:pPr algn="l">
              <a:buNone/>
            </a:pPr>
            <a:r>
              <a:rPr lang="en-IN" b="1" i="0" dirty="0">
                <a:effectLst/>
                <a:latin typeface="fkGrotesk"/>
              </a:rPr>
              <a:t>Core Methods</a:t>
            </a:r>
          </a:p>
        </p:txBody>
      </p:sp>
      <p:graphicFrame>
        <p:nvGraphicFramePr>
          <p:cNvPr id="4" name="Table 3">
            <a:extLst>
              <a:ext uri="{FF2B5EF4-FFF2-40B4-BE49-F238E27FC236}">
                <a16:creationId xmlns:a16="http://schemas.microsoft.com/office/drawing/2014/main" id="{B1D2541A-182F-F47D-437D-05AD3CB23E35}"/>
              </a:ext>
            </a:extLst>
          </p:cNvPr>
          <p:cNvGraphicFramePr>
            <a:graphicFrameLocks noGrp="1"/>
          </p:cNvGraphicFramePr>
          <p:nvPr>
            <p:extLst>
              <p:ext uri="{D42A27DB-BD31-4B8C-83A1-F6EECF244321}">
                <p14:modId xmlns:p14="http://schemas.microsoft.com/office/powerpoint/2010/main" val="1654046630"/>
              </p:ext>
            </p:extLst>
          </p:nvPr>
        </p:nvGraphicFramePr>
        <p:xfrm>
          <a:off x="1113181" y="600143"/>
          <a:ext cx="5883967" cy="4338404"/>
        </p:xfrm>
        <a:graphic>
          <a:graphicData uri="http://schemas.openxmlformats.org/drawingml/2006/table">
            <a:tbl>
              <a:tblPr>
                <a:tableStyleId>{5940675A-B579-460E-94D1-54222C63F5DA}</a:tableStyleId>
              </a:tblPr>
              <a:tblGrid>
                <a:gridCol w="2554358">
                  <a:extLst>
                    <a:ext uri="{9D8B030D-6E8A-4147-A177-3AD203B41FA5}">
                      <a16:colId xmlns:a16="http://schemas.microsoft.com/office/drawing/2014/main" val="103400317"/>
                    </a:ext>
                  </a:extLst>
                </a:gridCol>
                <a:gridCol w="3329609">
                  <a:extLst>
                    <a:ext uri="{9D8B030D-6E8A-4147-A177-3AD203B41FA5}">
                      <a16:colId xmlns:a16="http://schemas.microsoft.com/office/drawing/2014/main" val="2333078614"/>
                    </a:ext>
                  </a:extLst>
                </a:gridCol>
              </a:tblGrid>
              <a:tr h="264182">
                <a:tc>
                  <a:txBody>
                    <a:bodyPr/>
                    <a:lstStyle/>
                    <a:p>
                      <a:pPr algn="l">
                        <a:buNone/>
                      </a:pPr>
                      <a:r>
                        <a:rPr lang="en-IN" sz="1400" b="1">
                          <a:effectLst/>
                        </a:rPr>
                        <a:t>Method</a:t>
                      </a:r>
                    </a:p>
                  </a:txBody>
                  <a:tcPr marL="40643" marR="40643" marT="40643" marB="40643" anchor="ctr"/>
                </a:tc>
                <a:tc>
                  <a:txBody>
                    <a:bodyPr/>
                    <a:lstStyle/>
                    <a:p>
                      <a:pPr algn="l">
                        <a:buNone/>
                      </a:pPr>
                      <a:r>
                        <a:rPr lang="en-IN" sz="1400" b="1">
                          <a:effectLst/>
                        </a:rPr>
                        <a:t>Description</a:t>
                      </a:r>
                    </a:p>
                  </a:txBody>
                  <a:tcPr marL="40643" marR="40643" marT="40643" marB="40643" anchor="ctr"/>
                </a:tc>
                <a:extLst>
                  <a:ext uri="{0D108BD9-81ED-4DB2-BD59-A6C34878D82A}">
                    <a16:rowId xmlns:a16="http://schemas.microsoft.com/office/drawing/2014/main" val="2702720721"/>
                  </a:ext>
                </a:extLst>
              </a:tr>
              <a:tr h="264182">
                <a:tc>
                  <a:txBody>
                    <a:bodyPr/>
                    <a:lstStyle/>
                    <a:p>
                      <a:pPr algn="l">
                        <a:buNone/>
                      </a:pPr>
                      <a:r>
                        <a:rPr lang="en-IN" sz="1400">
                          <a:effectLst/>
                        </a:rPr>
                        <a:t>add(E e)</a:t>
                      </a:r>
                    </a:p>
                  </a:txBody>
                  <a:tcPr marL="40643" marR="40643" marT="40643" marB="40643" anchor="ctr"/>
                </a:tc>
                <a:tc>
                  <a:txBody>
                    <a:bodyPr/>
                    <a:lstStyle/>
                    <a:p>
                      <a:pPr algn="l">
                        <a:buNone/>
                      </a:pPr>
                      <a:r>
                        <a:rPr lang="en-IN" sz="1400">
                          <a:effectLst/>
                        </a:rPr>
                        <a:t>Adds an element</a:t>
                      </a:r>
                    </a:p>
                  </a:txBody>
                  <a:tcPr marL="40643" marR="40643" marT="40643" marB="40643" anchor="ctr"/>
                </a:tc>
                <a:extLst>
                  <a:ext uri="{0D108BD9-81ED-4DB2-BD59-A6C34878D82A}">
                    <a16:rowId xmlns:a16="http://schemas.microsoft.com/office/drawing/2014/main" val="2024833509"/>
                  </a:ext>
                </a:extLst>
              </a:tr>
              <a:tr h="447076">
                <a:tc>
                  <a:txBody>
                    <a:bodyPr/>
                    <a:lstStyle/>
                    <a:p>
                      <a:pPr algn="l">
                        <a:buNone/>
                      </a:pPr>
                      <a:r>
                        <a:rPr lang="en-IN" sz="1400">
                          <a:effectLst/>
                        </a:rPr>
                        <a:t>addAll(Collection&lt;? extends E&gt; c)</a:t>
                      </a:r>
                    </a:p>
                  </a:txBody>
                  <a:tcPr marL="40643" marR="40643" marT="40643" marB="40643" anchor="ctr"/>
                </a:tc>
                <a:tc>
                  <a:txBody>
                    <a:bodyPr/>
                    <a:lstStyle/>
                    <a:p>
                      <a:pPr algn="l">
                        <a:buNone/>
                      </a:pPr>
                      <a:r>
                        <a:rPr lang="en-US" sz="1400">
                          <a:effectLst/>
                        </a:rPr>
                        <a:t>Adds all elements from another collection</a:t>
                      </a:r>
                    </a:p>
                  </a:txBody>
                  <a:tcPr marL="40643" marR="40643" marT="40643" marB="40643" anchor="ctr"/>
                </a:tc>
                <a:extLst>
                  <a:ext uri="{0D108BD9-81ED-4DB2-BD59-A6C34878D82A}">
                    <a16:rowId xmlns:a16="http://schemas.microsoft.com/office/drawing/2014/main" val="1149114366"/>
                  </a:ext>
                </a:extLst>
              </a:tr>
              <a:tr h="264182">
                <a:tc>
                  <a:txBody>
                    <a:bodyPr/>
                    <a:lstStyle/>
                    <a:p>
                      <a:pPr algn="l">
                        <a:buNone/>
                      </a:pPr>
                      <a:r>
                        <a:rPr lang="en-IN" sz="1400">
                          <a:effectLst/>
                        </a:rPr>
                        <a:t>remove(Object o)</a:t>
                      </a:r>
                    </a:p>
                  </a:txBody>
                  <a:tcPr marL="40643" marR="40643" marT="40643" marB="40643" anchor="ctr"/>
                </a:tc>
                <a:tc>
                  <a:txBody>
                    <a:bodyPr/>
                    <a:lstStyle/>
                    <a:p>
                      <a:pPr algn="l">
                        <a:buNone/>
                      </a:pPr>
                      <a:r>
                        <a:rPr lang="en-IN" sz="1400">
                          <a:effectLst/>
                        </a:rPr>
                        <a:t>Removes a specific element</a:t>
                      </a:r>
                    </a:p>
                  </a:txBody>
                  <a:tcPr marL="40643" marR="40643" marT="40643" marB="40643" anchor="ctr"/>
                </a:tc>
                <a:extLst>
                  <a:ext uri="{0D108BD9-81ED-4DB2-BD59-A6C34878D82A}">
                    <a16:rowId xmlns:a16="http://schemas.microsoft.com/office/drawing/2014/main" val="729823676"/>
                  </a:ext>
                </a:extLst>
              </a:tr>
              <a:tr h="264182">
                <a:tc>
                  <a:txBody>
                    <a:bodyPr/>
                    <a:lstStyle/>
                    <a:p>
                      <a:pPr algn="l">
                        <a:buNone/>
                      </a:pPr>
                      <a:r>
                        <a:rPr lang="en-IN" sz="1400">
                          <a:effectLst/>
                        </a:rPr>
                        <a:t>removeAll(Collection&lt;?&gt; c)</a:t>
                      </a:r>
                    </a:p>
                  </a:txBody>
                  <a:tcPr marL="40643" marR="40643" marT="40643" marB="40643" anchor="ctr"/>
                </a:tc>
                <a:tc>
                  <a:txBody>
                    <a:bodyPr/>
                    <a:lstStyle/>
                    <a:p>
                      <a:pPr algn="l">
                        <a:buNone/>
                      </a:pPr>
                      <a:r>
                        <a:rPr lang="en-IN" sz="1400">
                          <a:effectLst/>
                        </a:rPr>
                        <a:t>Removes all specified elements</a:t>
                      </a:r>
                    </a:p>
                  </a:txBody>
                  <a:tcPr marL="40643" marR="40643" marT="40643" marB="40643" anchor="ctr"/>
                </a:tc>
                <a:extLst>
                  <a:ext uri="{0D108BD9-81ED-4DB2-BD59-A6C34878D82A}">
                    <a16:rowId xmlns:a16="http://schemas.microsoft.com/office/drawing/2014/main" val="2172399845"/>
                  </a:ext>
                </a:extLst>
              </a:tr>
              <a:tr h="264182">
                <a:tc>
                  <a:txBody>
                    <a:bodyPr/>
                    <a:lstStyle/>
                    <a:p>
                      <a:pPr algn="l">
                        <a:buNone/>
                      </a:pPr>
                      <a:r>
                        <a:rPr lang="en-IN" sz="1400">
                          <a:effectLst/>
                        </a:rPr>
                        <a:t>retainAll(Collection&lt;?&gt; c)</a:t>
                      </a:r>
                    </a:p>
                  </a:txBody>
                  <a:tcPr marL="40643" marR="40643" marT="40643" marB="40643" anchor="ctr"/>
                </a:tc>
                <a:tc>
                  <a:txBody>
                    <a:bodyPr/>
                    <a:lstStyle/>
                    <a:p>
                      <a:pPr algn="l">
                        <a:buNone/>
                      </a:pPr>
                      <a:r>
                        <a:rPr lang="en-US" sz="1400">
                          <a:effectLst/>
                        </a:rPr>
                        <a:t>Retains only the specified elements</a:t>
                      </a:r>
                    </a:p>
                  </a:txBody>
                  <a:tcPr marL="40643" marR="40643" marT="40643" marB="40643" anchor="ctr"/>
                </a:tc>
                <a:extLst>
                  <a:ext uri="{0D108BD9-81ED-4DB2-BD59-A6C34878D82A}">
                    <a16:rowId xmlns:a16="http://schemas.microsoft.com/office/drawing/2014/main" val="2346743565"/>
                  </a:ext>
                </a:extLst>
              </a:tr>
              <a:tr h="264182">
                <a:tc>
                  <a:txBody>
                    <a:bodyPr/>
                    <a:lstStyle/>
                    <a:p>
                      <a:pPr algn="l">
                        <a:buNone/>
                      </a:pPr>
                      <a:r>
                        <a:rPr lang="en-IN" sz="1400">
                          <a:effectLst/>
                        </a:rPr>
                        <a:t>clear()</a:t>
                      </a:r>
                    </a:p>
                  </a:txBody>
                  <a:tcPr marL="40643" marR="40643" marT="40643" marB="40643" anchor="ctr"/>
                </a:tc>
                <a:tc>
                  <a:txBody>
                    <a:bodyPr/>
                    <a:lstStyle/>
                    <a:p>
                      <a:pPr algn="l">
                        <a:buNone/>
                      </a:pPr>
                      <a:r>
                        <a:rPr lang="en-IN" sz="1400">
                          <a:effectLst/>
                        </a:rPr>
                        <a:t>Removes all elements</a:t>
                      </a:r>
                    </a:p>
                  </a:txBody>
                  <a:tcPr marL="40643" marR="40643" marT="40643" marB="40643" anchor="ctr"/>
                </a:tc>
                <a:extLst>
                  <a:ext uri="{0D108BD9-81ED-4DB2-BD59-A6C34878D82A}">
                    <a16:rowId xmlns:a16="http://schemas.microsoft.com/office/drawing/2014/main" val="2367506974"/>
                  </a:ext>
                </a:extLst>
              </a:tr>
              <a:tr h="264182">
                <a:tc>
                  <a:txBody>
                    <a:bodyPr/>
                    <a:lstStyle/>
                    <a:p>
                      <a:pPr algn="l">
                        <a:buNone/>
                      </a:pPr>
                      <a:r>
                        <a:rPr lang="en-IN" sz="1400">
                          <a:effectLst/>
                        </a:rPr>
                        <a:t>contains(Object o)</a:t>
                      </a:r>
                    </a:p>
                  </a:txBody>
                  <a:tcPr marL="40643" marR="40643" marT="40643" marB="40643" anchor="ctr"/>
                </a:tc>
                <a:tc>
                  <a:txBody>
                    <a:bodyPr/>
                    <a:lstStyle/>
                    <a:p>
                      <a:pPr algn="l">
                        <a:buNone/>
                      </a:pPr>
                      <a:r>
                        <a:rPr lang="en-US" sz="1400" dirty="0">
                          <a:effectLst/>
                        </a:rPr>
                        <a:t>Checks if an element exists</a:t>
                      </a:r>
                    </a:p>
                  </a:txBody>
                  <a:tcPr marL="40643" marR="40643" marT="40643" marB="40643" anchor="ctr"/>
                </a:tc>
                <a:extLst>
                  <a:ext uri="{0D108BD9-81ED-4DB2-BD59-A6C34878D82A}">
                    <a16:rowId xmlns:a16="http://schemas.microsoft.com/office/drawing/2014/main" val="1807571578"/>
                  </a:ext>
                </a:extLst>
              </a:tr>
              <a:tr h="264182">
                <a:tc>
                  <a:txBody>
                    <a:bodyPr/>
                    <a:lstStyle/>
                    <a:p>
                      <a:pPr algn="l">
                        <a:buNone/>
                      </a:pPr>
                      <a:r>
                        <a:rPr lang="en-IN" sz="1400">
                          <a:effectLst/>
                        </a:rPr>
                        <a:t>containsAll(Collection&lt;?&gt; c)</a:t>
                      </a:r>
                    </a:p>
                  </a:txBody>
                  <a:tcPr marL="40643" marR="40643" marT="40643" marB="40643" anchor="ctr"/>
                </a:tc>
                <a:tc>
                  <a:txBody>
                    <a:bodyPr/>
                    <a:lstStyle/>
                    <a:p>
                      <a:pPr algn="l">
                        <a:buNone/>
                      </a:pPr>
                      <a:r>
                        <a:rPr lang="en-US" sz="1400">
                          <a:effectLst/>
                        </a:rPr>
                        <a:t>Checks if all elements exist</a:t>
                      </a:r>
                    </a:p>
                  </a:txBody>
                  <a:tcPr marL="40643" marR="40643" marT="40643" marB="40643" anchor="ctr"/>
                </a:tc>
                <a:extLst>
                  <a:ext uri="{0D108BD9-81ED-4DB2-BD59-A6C34878D82A}">
                    <a16:rowId xmlns:a16="http://schemas.microsoft.com/office/drawing/2014/main" val="17568519"/>
                  </a:ext>
                </a:extLst>
              </a:tr>
              <a:tr h="264182">
                <a:tc>
                  <a:txBody>
                    <a:bodyPr/>
                    <a:lstStyle/>
                    <a:p>
                      <a:pPr algn="l">
                        <a:buNone/>
                      </a:pPr>
                      <a:r>
                        <a:rPr lang="en-IN" sz="1400">
                          <a:effectLst/>
                        </a:rPr>
                        <a:t>size()</a:t>
                      </a:r>
                    </a:p>
                  </a:txBody>
                  <a:tcPr marL="40643" marR="40643" marT="40643" marB="40643" anchor="ctr"/>
                </a:tc>
                <a:tc>
                  <a:txBody>
                    <a:bodyPr/>
                    <a:lstStyle/>
                    <a:p>
                      <a:pPr algn="l">
                        <a:buNone/>
                      </a:pPr>
                      <a:r>
                        <a:rPr lang="en-IN" sz="1400">
                          <a:effectLst/>
                        </a:rPr>
                        <a:t>Counts elements</a:t>
                      </a:r>
                    </a:p>
                  </a:txBody>
                  <a:tcPr marL="40643" marR="40643" marT="40643" marB="40643" anchor="ctr"/>
                </a:tc>
                <a:extLst>
                  <a:ext uri="{0D108BD9-81ED-4DB2-BD59-A6C34878D82A}">
                    <a16:rowId xmlns:a16="http://schemas.microsoft.com/office/drawing/2014/main" val="4284248919"/>
                  </a:ext>
                </a:extLst>
              </a:tr>
              <a:tr h="264182">
                <a:tc>
                  <a:txBody>
                    <a:bodyPr/>
                    <a:lstStyle/>
                    <a:p>
                      <a:pPr algn="l">
                        <a:buNone/>
                      </a:pPr>
                      <a:r>
                        <a:rPr lang="en-IN" sz="1400">
                          <a:effectLst/>
                        </a:rPr>
                        <a:t>isEmpty()</a:t>
                      </a:r>
                    </a:p>
                  </a:txBody>
                  <a:tcPr marL="40643" marR="40643" marT="40643" marB="40643" anchor="ctr"/>
                </a:tc>
                <a:tc>
                  <a:txBody>
                    <a:bodyPr/>
                    <a:lstStyle/>
                    <a:p>
                      <a:pPr algn="l">
                        <a:buNone/>
                      </a:pPr>
                      <a:r>
                        <a:rPr lang="en-US" sz="1400" dirty="0">
                          <a:effectLst/>
                        </a:rPr>
                        <a:t>Checks if collection is empty</a:t>
                      </a:r>
                    </a:p>
                  </a:txBody>
                  <a:tcPr marL="40643" marR="40643" marT="40643" marB="40643" anchor="ctr"/>
                </a:tc>
                <a:extLst>
                  <a:ext uri="{0D108BD9-81ED-4DB2-BD59-A6C34878D82A}">
                    <a16:rowId xmlns:a16="http://schemas.microsoft.com/office/drawing/2014/main" val="2284460178"/>
                  </a:ext>
                </a:extLst>
              </a:tr>
              <a:tr h="264182">
                <a:tc>
                  <a:txBody>
                    <a:bodyPr/>
                    <a:lstStyle/>
                    <a:p>
                      <a:pPr algn="l">
                        <a:buNone/>
                      </a:pPr>
                      <a:r>
                        <a:rPr lang="en-IN" sz="1400">
                          <a:effectLst/>
                        </a:rPr>
                        <a:t>iterator()</a:t>
                      </a:r>
                    </a:p>
                  </a:txBody>
                  <a:tcPr marL="40643" marR="40643" marT="40643" marB="40643" anchor="ctr"/>
                </a:tc>
                <a:tc>
                  <a:txBody>
                    <a:bodyPr/>
                    <a:lstStyle/>
                    <a:p>
                      <a:pPr algn="l">
                        <a:buNone/>
                      </a:pPr>
                      <a:r>
                        <a:rPr lang="en-US" sz="1400">
                          <a:effectLst/>
                        </a:rPr>
                        <a:t>Creates an Iterator for traversal</a:t>
                      </a:r>
                    </a:p>
                  </a:txBody>
                  <a:tcPr marL="40643" marR="40643" marT="40643" marB="40643" anchor="ctr"/>
                </a:tc>
                <a:extLst>
                  <a:ext uri="{0D108BD9-81ED-4DB2-BD59-A6C34878D82A}">
                    <a16:rowId xmlns:a16="http://schemas.microsoft.com/office/drawing/2014/main" val="1893008444"/>
                  </a:ext>
                </a:extLst>
              </a:tr>
              <a:tr h="264182">
                <a:tc>
                  <a:txBody>
                    <a:bodyPr/>
                    <a:lstStyle/>
                    <a:p>
                      <a:pPr algn="l">
                        <a:buNone/>
                      </a:pPr>
                      <a:r>
                        <a:rPr lang="en-IN" sz="1400">
                          <a:effectLst/>
                        </a:rPr>
                        <a:t>toArray()</a:t>
                      </a:r>
                    </a:p>
                  </a:txBody>
                  <a:tcPr marL="40643" marR="40643" marT="40643" marB="40643" anchor="ctr"/>
                </a:tc>
                <a:tc>
                  <a:txBody>
                    <a:bodyPr/>
                    <a:lstStyle/>
                    <a:p>
                      <a:pPr algn="l">
                        <a:buNone/>
                      </a:pPr>
                      <a:r>
                        <a:rPr lang="en-IN" sz="1400">
                          <a:effectLst/>
                        </a:rPr>
                        <a:t>Converts to array</a:t>
                      </a:r>
                    </a:p>
                  </a:txBody>
                  <a:tcPr marL="40643" marR="40643" marT="40643" marB="40643" anchor="ctr"/>
                </a:tc>
                <a:extLst>
                  <a:ext uri="{0D108BD9-81ED-4DB2-BD59-A6C34878D82A}">
                    <a16:rowId xmlns:a16="http://schemas.microsoft.com/office/drawing/2014/main" val="1289672016"/>
                  </a:ext>
                </a:extLst>
              </a:tr>
              <a:tr h="264182">
                <a:tc>
                  <a:txBody>
                    <a:bodyPr/>
                    <a:lstStyle/>
                    <a:p>
                      <a:pPr algn="l">
                        <a:buNone/>
                      </a:pPr>
                      <a:r>
                        <a:rPr lang="en-IN" sz="1400">
                          <a:effectLst/>
                        </a:rPr>
                        <a:t>stream(), parallelStream()</a:t>
                      </a:r>
                    </a:p>
                  </a:txBody>
                  <a:tcPr marL="40643" marR="40643" marT="40643" marB="40643" anchor="ctr"/>
                </a:tc>
                <a:tc>
                  <a:txBody>
                    <a:bodyPr/>
                    <a:lstStyle/>
                    <a:p>
                      <a:pPr algn="l">
                        <a:buNone/>
                      </a:pPr>
                      <a:r>
                        <a:rPr lang="en-IN" sz="1400" dirty="0">
                          <a:effectLst/>
                        </a:rPr>
                        <a:t>Returns (parallel) stream</a:t>
                      </a:r>
                    </a:p>
                  </a:txBody>
                  <a:tcPr marL="40643" marR="40643" marT="40643" marB="40643" anchor="ctr"/>
                </a:tc>
                <a:extLst>
                  <a:ext uri="{0D108BD9-81ED-4DB2-BD59-A6C34878D82A}">
                    <a16:rowId xmlns:a16="http://schemas.microsoft.com/office/drawing/2014/main" val="3244820037"/>
                  </a:ext>
                </a:extLst>
              </a:tr>
            </a:tbl>
          </a:graphicData>
        </a:graphic>
      </p:graphicFrame>
      <p:sp>
        <p:nvSpPr>
          <p:cNvPr id="6" name="TextBox 5">
            <a:extLst>
              <a:ext uri="{FF2B5EF4-FFF2-40B4-BE49-F238E27FC236}">
                <a16:creationId xmlns:a16="http://schemas.microsoft.com/office/drawing/2014/main" id="{847DFD5A-BB32-BA58-AD6F-181499A977F9}"/>
              </a:ext>
            </a:extLst>
          </p:cNvPr>
          <p:cNvSpPr txBox="1"/>
          <p:nvPr/>
        </p:nvSpPr>
        <p:spPr>
          <a:xfrm>
            <a:off x="556591" y="5057528"/>
            <a:ext cx="8547652" cy="1477328"/>
          </a:xfrm>
          <a:prstGeom prst="rect">
            <a:avLst/>
          </a:prstGeom>
          <a:noFill/>
        </p:spPr>
        <p:txBody>
          <a:bodyPr wrap="square">
            <a:spAutoFit/>
          </a:bodyPr>
          <a:lstStyle/>
          <a:p>
            <a:pPr algn="l">
              <a:buNone/>
            </a:pPr>
            <a:r>
              <a:rPr lang="en-IN" b="1" i="0" dirty="0">
                <a:effectLst/>
                <a:latin typeface="fkGrotesk"/>
              </a:rPr>
              <a:t>Subinterfaces</a:t>
            </a:r>
          </a:p>
          <a:p>
            <a:pPr algn="l">
              <a:buNone/>
            </a:pPr>
            <a:endParaRPr lang="en-IN" b="0" i="0" dirty="0">
              <a:effectLst/>
              <a:latin typeface="fkGrotesk"/>
            </a:endParaRPr>
          </a:p>
          <a:p>
            <a:pPr algn="l">
              <a:buFont typeface="Arial" panose="020B0604020202020204" pitchFamily="34" charset="0"/>
              <a:buChar char="•"/>
            </a:pPr>
            <a:r>
              <a:rPr lang="en-IN" b="0" i="0" dirty="0">
                <a:effectLst/>
                <a:latin typeface="fkGroteskNeue"/>
              </a:rPr>
              <a:t>List: Ordered, allows duplicates (ArrayList, LinkedList, Vector, Stack).</a:t>
            </a:r>
          </a:p>
          <a:p>
            <a:pPr algn="l">
              <a:buFont typeface="Arial" panose="020B0604020202020204" pitchFamily="34" charset="0"/>
              <a:buChar char="•"/>
            </a:pPr>
            <a:r>
              <a:rPr lang="en-IN" b="0" i="0" dirty="0">
                <a:effectLst/>
                <a:latin typeface="fkGroteskNeue"/>
              </a:rPr>
              <a:t>Set: Unordered, unique elements (HashSet, TreeSet, LinkedHashSet).</a:t>
            </a:r>
          </a:p>
          <a:p>
            <a:pPr algn="l">
              <a:buFont typeface="Arial" panose="020B0604020202020204" pitchFamily="34" charset="0"/>
              <a:buChar char="•"/>
            </a:pPr>
            <a:r>
              <a:rPr lang="en-IN" b="0" i="0" dirty="0">
                <a:effectLst/>
                <a:latin typeface="fkGroteskNeue"/>
              </a:rPr>
              <a:t>Queue: FIFO ordering (PriorityQueue, ArrayDeque, LinkedList).</a:t>
            </a:r>
          </a:p>
        </p:txBody>
      </p:sp>
    </p:spTree>
    <p:extLst>
      <p:ext uri="{BB962C8B-B14F-4D97-AF65-F5344CB8AC3E}">
        <p14:creationId xmlns:p14="http://schemas.microsoft.com/office/powerpoint/2010/main" val="2714547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E8069-76D6-6AA7-39F2-AAB4C9CED3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8BCB56-3CCF-AB39-E6D6-0C57333E2661}"/>
              </a:ext>
            </a:extLst>
          </p:cNvPr>
          <p:cNvSpPr txBox="1"/>
          <p:nvPr/>
        </p:nvSpPr>
        <p:spPr>
          <a:xfrm>
            <a:off x="1013790" y="273831"/>
            <a:ext cx="8428384" cy="3970318"/>
          </a:xfrm>
          <a:prstGeom prst="rect">
            <a:avLst/>
          </a:prstGeom>
          <a:noFill/>
        </p:spPr>
        <p:txBody>
          <a:bodyPr wrap="square">
            <a:spAutoFit/>
          </a:bodyPr>
          <a:lstStyle/>
          <a:p>
            <a:pPr>
              <a:buNone/>
            </a:pPr>
            <a:r>
              <a:rPr lang="en-IN" b="0" dirty="0">
                <a:effectLst/>
                <a:latin typeface="fkGrotesk"/>
              </a:rPr>
              <a:t>Simple Example</a:t>
            </a:r>
          </a:p>
          <a:p>
            <a:pPr>
              <a:buNone/>
            </a:pPr>
            <a:endParaRPr lang="en-IN" dirty="0">
              <a:latin typeface="fkGrotesk"/>
            </a:endParaRPr>
          </a:p>
          <a:p>
            <a:pPr>
              <a:buNone/>
            </a:pPr>
            <a:r>
              <a:rPr lang="en-IN" dirty="0">
                <a:latin typeface="fkGrotesk"/>
              </a:rPr>
              <a:t>import </a:t>
            </a:r>
            <a:r>
              <a:rPr lang="en-IN" dirty="0" err="1">
                <a:latin typeface="fkGrotesk"/>
              </a:rPr>
              <a:t>java.util</a:t>
            </a:r>
            <a:r>
              <a:rPr lang="en-IN" dirty="0">
                <a:latin typeface="fkGrotesk"/>
              </a:rPr>
              <a:t>.*;</a:t>
            </a:r>
          </a:p>
          <a:p>
            <a:pPr>
              <a:buNone/>
            </a:pPr>
            <a:endParaRPr lang="en-IN" dirty="0">
              <a:latin typeface="fkGrotesk"/>
            </a:endParaRPr>
          </a:p>
          <a:p>
            <a:pPr>
              <a:buNone/>
            </a:pPr>
            <a:r>
              <a:rPr lang="en-IN" dirty="0">
                <a:latin typeface="fkGrotesk"/>
              </a:rPr>
              <a:t>Collection&lt;Integer&gt; numbers = new ArrayList&lt;&gt;();</a:t>
            </a:r>
          </a:p>
          <a:p>
            <a:pPr>
              <a:buNone/>
            </a:pPr>
            <a:r>
              <a:rPr lang="en-IN" dirty="0" err="1">
                <a:latin typeface="fkGrotesk"/>
              </a:rPr>
              <a:t>numbers.add</a:t>
            </a:r>
            <a:r>
              <a:rPr lang="en-IN" dirty="0">
                <a:latin typeface="fkGrotesk"/>
              </a:rPr>
              <a:t>(10);</a:t>
            </a:r>
          </a:p>
          <a:p>
            <a:pPr>
              <a:buNone/>
            </a:pPr>
            <a:r>
              <a:rPr lang="en-IN" dirty="0" err="1">
                <a:latin typeface="fkGrotesk"/>
              </a:rPr>
              <a:t>numbers.add</a:t>
            </a:r>
            <a:r>
              <a:rPr lang="en-IN" dirty="0">
                <a:latin typeface="fkGrotesk"/>
              </a:rPr>
              <a:t>(20);</a:t>
            </a:r>
          </a:p>
          <a:p>
            <a:pPr>
              <a:buNone/>
            </a:pPr>
            <a:r>
              <a:rPr lang="en-IN" dirty="0">
                <a:latin typeface="fkGrotesk"/>
              </a:rPr>
              <a:t>System.out.println(</a:t>
            </a:r>
            <a:r>
              <a:rPr lang="en-IN" dirty="0" err="1">
                <a:latin typeface="fkGrotesk"/>
              </a:rPr>
              <a:t>numbers.size</a:t>
            </a:r>
            <a:r>
              <a:rPr lang="en-IN" dirty="0">
                <a:latin typeface="fkGrotesk"/>
              </a:rPr>
              <a:t>()); // Output: 2</a:t>
            </a:r>
          </a:p>
          <a:p>
            <a:pPr>
              <a:buNone/>
            </a:pPr>
            <a:r>
              <a:rPr lang="en-IN" dirty="0">
                <a:latin typeface="fkGrotesk"/>
              </a:rPr>
              <a:t>for (Integer n : numbers) {</a:t>
            </a:r>
          </a:p>
          <a:p>
            <a:pPr>
              <a:buNone/>
            </a:pPr>
            <a:r>
              <a:rPr lang="en-IN" dirty="0">
                <a:latin typeface="fkGrotesk"/>
              </a:rPr>
              <a:t>    System.out.println(n);</a:t>
            </a:r>
          </a:p>
          <a:p>
            <a:pPr>
              <a:buNone/>
            </a:pPr>
            <a:r>
              <a:rPr lang="en-IN" dirty="0">
                <a:latin typeface="fkGrotesk"/>
              </a:rPr>
              <a:t>}</a:t>
            </a:r>
          </a:p>
          <a:p>
            <a:pPr>
              <a:buNone/>
            </a:pPr>
            <a:endParaRPr lang="en-IN" b="0" dirty="0">
              <a:effectLst/>
              <a:latin typeface="fkGrotesk"/>
            </a:endParaRPr>
          </a:p>
          <a:p>
            <a:pPr>
              <a:buNone/>
            </a:pPr>
            <a:r>
              <a:rPr lang="en-US" dirty="0"/>
              <a:t>The Collection interface enables Java to manage groups of related objects efficiently, using a variety of standard and extendable data structures.</a:t>
            </a:r>
            <a:endParaRPr lang="en-IN" b="0" dirty="0">
              <a:effectLst/>
              <a:latin typeface="fkGrotesk"/>
            </a:endParaRPr>
          </a:p>
        </p:txBody>
      </p:sp>
    </p:spTree>
    <p:extLst>
      <p:ext uri="{BB962C8B-B14F-4D97-AF65-F5344CB8AC3E}">
        <p14:creationId xmlns:p14="http://schemas.microsoft.com/office/powerpoint/2010/main" val="2458637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B9FA8-1686-DD89-D5B6-D091A1945C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0DAB719-1E85-CE27-E8E6-549DA50328A5}"/>
              </a:ext>
            </a:extLst>
          </p:cNvPr>
          <p:cNvSpPr txBox="1"/>
          <p:nvPr/>
        </p:nvSpPr>
        <p:spPr>
          <a:xfrm>
            <a:off x="894522" y="222838"/>
            <a:ext cx="8368748" cy="6186309"/>
          </a:xfrm>
          <a:prstGeom prst="rect">
            <a:avLst/>
          </a:prstGeom>
          <a:noFill/>
        </p:spPr>
        <p:txBody>
          <a:bodyPr wrap="square">
            <a:spAutoFit/>
          </a:bodyPr>
          <a:lstStyle/>
          <a:p>
            <a:r>
              <a:rPr lang="en-IN" b="1" dirty="0"/>
              <a:t>7.4.3 List interface</a:t>
            </a:r>
          </a:p>
          <a:p>
            <a:endParaRPr lang="en-IN" b="1" dirty="0"/>
          </a:p>
          <a:p>
            <a:r>
              <a:rPr lang="en-US" dirty="0"/>
              <a:t>The List interface in Java extends the Collection interface and represents an ordered collection where elements can be accessed by their integer index and duplicates are allowed.</a:t>
            </a:r>
          </a:p>
          <a:p>
            <a:endParaRPr lang="en-US" dirty="0"/>
          </a:p>
          <a:p>
            <a:r>
              <a:rPr lang="en-US" b="1" dirty="0"/>
              <a:t>Key Features of the List Interface</a:t>
            </a:r>
          </a:p>
          <a:p>
            <a:endParaRPr lang="en-US" dirty="0"/>
          </a:p>
          <a:p>
            <a:pPr marL="285750" indent="-285750">
              <a:buFont typeface="Arial" panose="020B0604020202020204" pitchFamily="34" charset="0"/>
              <a:buChar char="•"/>
            </a:pPr>
            <a:r>
              <a:rPr lang="en-US" dirty="0"/>
              <a:t>Ordered Collection: Elements maintain the order in which they are inserted.</a:t>
            </a:r>
          </a:p>
          <a:p>
            <a:pPr marL="285750" indent="-285750">
              <a:buFont typeface="Arial" panose="020B0604020202020204" pitchFamily="34" charset="0"/>
              <a:buChar char="•"/>
            </a:pPr>
            <a:r>
              <a:rPr lang="en-US" dirty="0"/>
              <a:t>Index-Based Access: Elements can be accessed, inserted, or removed using their index (starting at 0).</a:t>
            </a:r>
          </a:p>
          <a:p>
            <a:pPr marL="285750" indent="-285750">
              <a:buFont typeface="Arial" panose="020B0604020202020204" pitchFamily="34" charset="0"/>
              <a:buChar char="•"/>
            </a:pPr>
            <a:r>
              <a:rPr lang="en-US" dirty="0"/>
              <a:t>Allows Duplicates: Same element can appear multiple times in a list.</a:t>
            </a:r>
          </a:p>
          <a:p>
            <a:pPr marL="285750" indent="-285750">
              <a:buFont typeface="Arial" panose="020B0604020202020204" pitchFamily="34" charset="0"/>
              <a:buChar char="•"/>
            </a:pPr>
            <a:r>
              <a:rPr lang="en-US" dirty="0"/>
              <a:t>Supports Nulls: Many list implementations permit null elements.</a:t>
            </a:r>
          </a:p>
          <a:p>
            <a:pPr marL="285750" indent="-285750">
              <a:buFont typeface="Arial" panose="020B0604020202020204" pitchFamily="34" charset="0"/>
              <a:buChar char="•"/>
            </a:pPr>
            <a:r>
              <a:rPr lang="en-US" dirty="0"/>
              <a:t>Bi-directional Traversal: Can be traversed forward and backward using ListIterator.</a:t>
            </a:r>
          </a:p>
          <a:p>
            <a:pPr marL="285750" indent="-285750">
              <a:buFont typeface="Arial" panose="020B0604020202020204" pitchFamily="34" charset="0"/>
              <a:buChar char="•"/>
            </a:pPr>
            <a:endParaRPr lang="en-US" dirty="0"/>
          </a:p>
          <a:p>
            <a:r>
              <a:rPr lang="en-US" b="1" dirty="0"/>
              <a:t>Common List Implementations</a:t>
            </a:r>
          </a:p>
          <a:p>
            <a:endParaRPr lang="en-US" dirty="0"/>
          </a:p>
          <a:p>
            <a:pPr marL="285750" indent="-285750">
              <a:buFont typeface="Arial" panose="020B0604020202020204" pitchFamily="34" charset="0"/>
              <a:buChar char="•"/>
            </a:pPr>
            <a:r>
              <a:rPr lang="en-US" dirty="0"/>
              <a:t>ArrayList: Fast random access, resizable array for dynamic data storage.</a:t>
            </a:r>
          </a:p>
          <a:p>
            <a:pPr marL="285750" indent="-285750">
              <a:buFont typeface="Arial" panose="020B0604020202020204" pitchFamily="34" charset="0"/>
              <a:buChar char="•"/>
            </a:pPr>
            <a:r>
              <a:rPr lang="en-US" dirty="0"/>
              <a:t>LinkedList: Efficient insertions and deletions, can be used as both a list and a queue.</a:t>
            </a:r>
          </a:p>
          <a:p>
            <a:pPr marL="285750" indent="-285750">
              <a:buFont typeface="Arial" panose="020B0604020202020204" pitchFamily="34" charset="0"/>
              <a:buChar char="•"/>
            </a:pPr>
            <a:r>
              <a:rPr lang="en-US" dirty="0"/>
              <a:t>Vector and Stack: Legacy classes, but still follow List interface.</a:t>
            </a:r>
          </a:p>
        </p:txBody>
      </p:sp>
    </p:spTree>
    <p:extLst>
      <p:ext uri="{BB962C8B-B14F-4D97-AF65-F5344CB8AC3E}">
        <p14:creationId xmlns:p14="http://schemas.microsoft.com/office/powerpoint/2010/main" val="302485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9AFF5-D4D0-D0DF-79D6-9DA19D1176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A5829DA-7635-DB62-BABF-2116D8B84E7D}"/>
              </a:ext>
            </a:extLst>
          </p:cNvPr>
          <p:cNvSpPr txBox="1"/>
          <p:nvPr/>
        </p:nvSpPr>
        <p:spPr>
          <a:xfrm>
            <a:off x="1013791" y="154561"/>
            <a:ext cx="8468139" cy="369332"/>
          </a:xfrm>
          <a:prstGeom prst="rect">
            <a:avLst/>
          </a:prstGeom>
          <a:noFill/>
        </p:spPr>
        <p:txBody>
          <a:bodyPr wrap="square">
            <a:spAutoFit/>
          </a:bodyPr>
          <a:lstStyle/>
          <a:p>
            <a:pPr algn="l">
              <a:buNone/>
            </a:pPr>
            <a:r>
              <a:rPr lang="en-IN" b="0" i="0" dirty="0">
                <a:effectLst/>
                <a:latin typeface="fkGrotesk"/>
              </a:rPr>
              <a:t>Core Methods</a:t>
            </a:r>
          </a:p>
        </p:txBody>
      </p:sp>
      <p:graphicFrame>
        <p:nvGraphicFramePr>
          <p:cNvPr id="4" name="Table 3">
            <a:extLst>
              <a:ext uri="{FF2B5EF4-FFF2-40B4-BE49-F238E27FC236}">
                <a16:creationId xmlns:a16="http://schemas.microsoft.com/office/drawing/2014/main" id="{8CAF5907-E730-8676-DE7E-BA4586AAAA81}"/>
              </a:ext>
            </a:extLst>
          </p:cNvPr>
          <p:cNvGraphicFramePr>
            <a:graphicFrameLocks noGrp="1"/>
          </p:cNvGraphicFramePr>
          <p:nvPr>
            <p:extLst>
              <p:ext uri="{D42A27DB-BD31-4B8C-83A1-F6EECF244321}">
                <p14:modId xmlns:p14="http://schemas.microsoft.com/office/powerpoint/2010/main" val="465268251"/>
              </p:ext>
            </p:extLst>
          </p:nvPr>
        </p:nvGraphicFramePr>
        <p:xfrm>
          <a:off x="1013791" y="689597"/>
          <a:ext cx="8348870" cy="3881436"/>
        </p:xfrm>
        <a:graphic>
          <a:graphicData uri="http://schemas.openxmlformats.org/drawingml/2006/table">
            <a:tbl>
              <a:tblPr>
                <a:tableStyleId>{5940675A-B579-460E-94D1-54222C63F5DA}</a:tableStyleId>
              </a:tblPr>
              <a:tblGrid>
                <a:gridCol w="3269974">
                  <a:extLst>
                    <a:ext uri="{9D8B030D-6E8A-4147-A177-3AD203B41FA5}">
                      <a16:colId xmlns:a16="http://schemas.microsoft.com/office/drawing/2014/main" val="3363958720"/>
                    </a:ext>
                  </a:extLst>
                </a:gridCol>
                <a:gridCol w="5078896">
                  <a:extLst>
                    <a:ext uri="{9D8B030D-6E8A-4147-A177-3AD203B41FA5}">
                      <a16:colId xmlns:a16="http://schemas.microsoft.com/office/drawing/2014/main" val="3987382517"/>
                    </a:ext>
                  </a:extLst>
                </a:gridCol>
              </a:tblGrid>
              <a:tr h="363012">
                <a:tc>
                  <a:txBody>
                    <a:bodyPr/>
                    <a:lstStyle/>
                    <a:p>
                      <a:pPr algn="l">
                        <a:buNone/>
                      </a:pPr>
                      <a:r>
                        <a:rPr lang="en-IN" sz="1600" b="1">
                          <a:effectLst/>
                        </a:rPr>
                        <a:t>Method</a:t>
                      </a:r>
                    </a:p>
                  </a:txBody>
                  <a:tcPr marL="55848" marR="55848" marT="55848" marB="55848" anchor="ctr"/>
                </a:tc>
                <a:tc>
                  <a:txBody>
                    <a:bodyPr/>
                    <a:lstStyle/>
                    <a:p>
                      <a:pPr algn="l">
                        <a:buNone/>
                      </a:pPr>
                      <a:r>
                        <a:rPr lang="en-IN" sz="1600" b="1">
                          <a:effectLst/>
                        </a:rPr>
                        <a:t>Description</a:t>
                      </a:r>
                    </a:p>
                  </a:txBody>
                  <a:tcPr marL="55848" marR="55848" marT="55848" marB="55848" anchor="ctr"/>
                </a:tc>
                <a:extLst>
                  <a:ext uri="{0D108BD9-81ED-4DB2-BD59-A6C34878D82A}">
                    <a16:rowId xmlns:a16="http://schemas.microsoft.com/office/drawing/2014/main" val="1669252718"/>
                  </a:ext>
                </a:extLst>
              </a:tr>
              <a:tr h="614328">
                <a:tc>
                  <a:txBody>
                    <a:bodyPr/>
                    <a:lstStyle/>
                    <a:p>
                      <a:pPr algn="l">
                        <a:buNone/>
                      </a:pPr>
                      <a:r>
                        <a:rPr lang="en-IN" sz="1600">
                          <a:effectLst/>
                        </a:rPr>
                        <a:t>add(E element)</a:t>
                      </a:r>
                    </a:p>
                  </a:txBody>
                  <a:tcPr marL="55848" marR="55848" marT="55848" marB="55848" anchor="ctr"/>
                </a:tc>
                <a:tc>
                  <a:txBody>
                    <a:bodyPr/>
                    <a:lstStyle/>
                    <a:p>
                      <a:pPr algn="l">
                        <a:buNone/>
                      </a:pPr>
                      <a:r>
                        <a:rPr lang="en-US" sz="1600">
                          <a:effectLst/>
                        </a:rPr>
                        <a:t>Inserts the specified element at the end of list</a:t>
                      </a:r>
                    </a:p>
                  </a:txBody>
                  <a:tcPr marL="55848" marR="55848" marT="55848" marB="55848" anchor="ctr"/>
                </a:tc>
                <a:extLst>
                  <a:ext uri="{0D108BD9-81ED-4DB2-BD59-A6C34878D82A}">
                    <a16:rowId xmlns:a16="http://schemas.microsoft.com/office/drawing/2014/main" val="3139565628"/>
                  </a:ext>
                </a:extLst>
              </a:tr>
              <a:tr h="363012">
                <a:tc>
                  <a:txBody>
                    <a:bodyPr/>
                    <a:lstStyle/>
                    <a:p>
                      <a:pPr algn="l">
                        <a:buNone/>
                      </a:pPr>
                      <a:r>
                        <a:rPr lang="en-IN" sz="1600">
                          <a:effectLst/>
                        </a:rPr>
                        <a:t>add(int index, E element)</a:t>
                      </a:r>
                    </a:p>
                  </a:txBody>
                  <a:tcPr marL="55848" marR="55848" marT="55848" marB="55848" anchor="ctr"/>
                </a:tc>
                <a:tc>
                  <a:txBody>
                    <a:bodyPr/>
                    <a:lstStyle/>
                    <a:p>
                      <a:pPr algn="l">
                        <a:buNone/>
                      </a:pPr>
                      <a:r>
                        <a:rPr lang="en-US" sz="1600">
                          <a:effectLst/>
                        </a:rPr>
                        <a:t>Inserts element at the specified position</a:t>
                      </a:r>
                    </a:p>
                  </a:txBody>
                  <a:tcPr marL="55848" marR="55848" marT="55848" marB="55848" anchor="ctr"/>
                </a:tc>
                <a:extLst>
                  <a:ext uri="{0D108BD9-81ED-4DB2-BD59-A6C34878D82A}">
                    <a16:rowId xmlns:a16="http://schemas.microsoft.com/office/drawing/2014/main" val="3946778046"/>
                  </a:ext>
                </a:extLst>
              </a:tr>
              <a:tr h="363012">
                <a:tc>
                  <a:txBody>
                    <a:bodyPr/>
                    <a:lstStyle/>
                    <a:p>
                      <a:pPr algn="l">
                        <a:buNone/>
                      </a:pPr>
                      <a:r>
                        <a:rPr lang="en-IN" sz="1600">
                          <a:effectLst/>
                        </a:rPr>
                        <a:t>get(int index)</a:t>
                      </a:r>
                    </a:p>
                  </a:txBody>
                  <a:tcPr marL="55848" marR="55848" marT="55848" marB="55848" anchor="ctr"/>
                </a:tc>
                <a:tc>
                  <a:txBody>
                    <a:bodyPr/>
                    <a:lstStyle/>
                    <a:p>
                      <a:pPr algn="l">
                        <a:buNone/>
                      </a:pPr>
                      <a:r>
                        <a:rPr lang="en-US" sz="1600" dirty="0">
                          <a:effectLst/>
                        </a:rPr>
                        <a:t>Retrieves the element at specified index</a:t>
                      </a:r>
                    </a:p>
                  </a:txBody>
                  <a:tcPr marL="55848" marR="55848" marT="55848" marB="55848" anchor="ctr"/>
                </a:tc>
                <a:extLst>
                  <a:ext uri="{0D108BD9-81ED-4DB2-BD59-A6C34878D82A}">
                    <a16:rowId xmlns:a16="http://schemas.microsoft.com/office/drawing/2014/main" val="3625814290"/>
                  </a:ext>
                </a:extLst>
              </a:tr>
              <a:tr h="363012">
                <a:tc>
                  <a:txBody>
                    <a:bodyPr/>
                    <a:lstStyle/>
                    <a:p>
                      <a:pPr algn="l">
                        <a:buNone/>
                      </a:pPr>
                      <a:r>
                        <a:rPr lang="en-IN" sz="1600">
                          <a:effectLst/>
                        </a:rPr>
                        <a:t>set(int index, E element)</a:t>
                      </a:r>
                    </a:p>
                  </a:txBody>
                  <a:tcPr marL="55848" marR="55848" marT="55848" marB="55848" anchor="ctr"/>
                </a:tc>
                <a:tc>
                  <a:txBody>
                    <a:bodyPr/>
                    <a:lstStyle/>
                    <a:p>
                      <a:pPr algn="l">
                        <a:buNone/>
                      </a:pPr>
                      <a:r>
                        <a:rPr lang="en-US" sz="1600">
                          <a:effectLst/>
                        </a:rPr>
                        <a:t>Replaces the element at specified index</a:t>
                      </a:r>
                    </a:p>
                  </a:txBody>
                  <a:tcPr marL="55848" marR="55848" marT="55848" marB="55848" anchor="ctr"/>
                </a:tc>
                <a:extLst>
                  <a:ext uri="{0D108BD9-81ED-4DB2-BD59-A6C34878D82A}">
                    <a16:rowId xmlns:a16="http://schemas.microsoft.com/office/drawing/2014/main" val="3437438722"/>
                  </a:ext>
                </a:extLst>
              </a:tr>
              <a:tr h="363012">
                <a:tc>
                  <a:txBody>
                    <a:bodyPr/>
                    <a:lstStyle/>
                    <a:p>
                      <a:pPr algn="l">
                        <a:buNone/>
                      </a:pPr>
                      <a:r>
                        <a:rPr lang="en-IN" sz="1600">
                          <a:effectLst/>
                        </a:rPr>
                        <a:t>remove(int index)</a:t>
                      </a:r>
                    </a:p>
                  </a:txBody>
                  <a:tcPr marL="55848" marR="55848" marT="55848" marB="55848" anchor="ctr"/>
                </a:tc>
                <a:tc>
                  <a:txBody>
                    <a:bodyPr/>
                    <a:lstStyle/>
                    <a:p>
                      <a:pPr algn="l">
                        <a:buNone/>
                      </a:pPr>
                      <a:r>
                        <a:rPr lang="en-US" sz="1600">
                          <a:effectLst/>
                        </a:rPr>
                        <a:t>Removes element at the given index</a:t>
                      </a:r>
                    </a:p>
                  </a:txBody>
                  <a:tcPr marL="55848" marR="55848" marT="55848" marB="55848" anchor="ctr"/>
                </a:tc>
                <a:extLst>
                  <a:ext uri="{0D108BD9-81ED-4DB2-BD59-A6C34878D82A}">
                    <a16:rowId xmlns:a16="http://schemas.microsoft.com/office/drawing/2014/main" val="3063597103"/>
                  </a:ext>
                </a:extLst>
              </a:tr>
              <a:tr h="363012">
                <a:tc>
                  <a:txBody>
                    <a:bodyPr/>
                    <a:lstStyle/>
                    <a:p>
                      <a:pPr algn="l">
                        <a:buNone/>
                      </a:pPr>
                      <a:r>
                        <a:rPr lang="en-IN" sz="1600">
                          <a:effectLst/>
                        </a:rPr>
                        <a:t>indexOf(E obj)</a:t>
                      </a:r>
                    </a:p>
                  </a:txBody>
                  <a:tcPr marL="55848" marR="55848" marT="55848" marB="55848" anchor="ctr"/>
                </a:tc>
                <a:tc>
                  <a:txBody>
                    <a:bodyPr/>
                    <a:lstStyle/>
                    <a:p>
                      <a:pPr algn="l">
                        <a:buNone/>
                      </a:pPr>
                      <a:r>
                        <a:rPr lang="en-US" sz="1600">
                          <a:effectLst/>
                        </a:rPr>
                        <a:t>Returns first occurrence index or -1</a:t>
                      </a:r>
                    </a:p>
                  </a:txBody>
                  <a:tcPr marL="55848" marR="55848" marT="55848" marB="55848" anchor="ctr"/>
                </a:tc>
                <a:extLst>
                  <a:ext uri="{0D108BD9-81ED-4DB2-BD59-A6C34878D82A}">
                    <a16:rowId xmlns:a16="http://schemas.microsoft.com/office/drawing/2014/main" val="1978745629"/>
                  </a:ext>
                </a:extLst>
              </a:tr>
              <a:tr h="363012">
                <a:tc>
                  <a:txBody>
                    <a:bodyPr/>
                    <a:lstStyle/>
                    <a:p>
                      <a:pPr algn="l">
                        <a:buNone/>
                      </a:pPr>
                      <a:r>
                        <a:rPr lang="en-IN" sz="1600">
                          <a:effectLst/>
                        </a:rPr>
                        <a:t>lastIndexOf(E obj)</a:t>
                      </a:r>
                    </a:p>
                  </a:txBody>
                  <a:tcPr marL="55848" marR="55848" marT="55848" marB="55848" anchor="ctr"/>
                </a:tc>
                <a:tc>
                  <a:txBody>
                    <a:bodyPr/>
                    <a:lstStyle/>
                    <a:p>
                      <a:pPr algn="l">
                        <a:buNone/>
                      </a:pPr>
                      <a:r>
                        <a:rPr lang="en-US" sz="1600">
                          <a:effectLst/>
                        </a:rPr>
                        <a:t>Returns last occurrence index or -1</a:t>
                      </a:r>
                    </a:p>
                  </a:txBody>
                  <a:tcPr marL="55848" marR="55848" marT="55848" marB="55848" anchor="ctr"/>
                </a:tc>
                <a:extLst>
                  <a:ext uri="{0D108BD9-81ED-4DB2-BD59-A6C34878D82A}">
                    <a16:rowId xmlns:a16="http://schemas.microsoft.com/office/drawing/2014/main" val="2172744485"/>
                  </a:ext>
                </a:extLst>
              </a:tr>
              <a:tr h="363012">
                <a:tc>
                  <a:txBody>
                    <a:bodyPr/>
                    <a:lstStyle/>
                    <a:p>
                      <a:pPr algn="l">
                        <a:buNone/>
                      </a:pPr>
                      <a:r>
                        <a:rPr lang="en-IN" sz="1600">
                          <a:effectLst/>
                        </a:rPr>
                        <a:t>size()</a:t>
                      </a:r>
                    </a:p>
                  </a:txBody>
                  <a:tcPr marL="55848" marR="55848" marT="55848" marB="55848" anchor="ctr"/>
                </a:tc>
                <a:tc>
                  <a:txBody>
                    <a:bodyPr/>
                    <a:lstStyle/>
                    <a:p>
                      <a:pPr algn="l">
                        <a:buNone/>
                      </a:pPr>
                      <a:r>
                        <a:rPr lang="en-US" sz="1600">
                          <a:effectLst/>
                        </a:rPr>
                        <a:t>Number of elements in the list</a:t>
                      </a:r>
                    </a:p>
                  </a:txBody>
                  <a:tcPr marL="55848" marR="55848" marT="55848" marB="55848" anchor="ctr"/>
                </a:tc>
                <a:extLst>
                  <a:ext uri="{0D108BD9-81ED-4DB2-BD59-A6C34878D82A}">
                    <a16:rowId xmlns:a16="http://schemas.microsoft.com/office/drawing/2014/main" val="3888506442"/>
                  </a:ext>
                </a:extLst>
              </a:tr>
              <a:tr h="363012">
                <a:tc>
                  <a:txBody>
                    <a:bodyPr/>
                    <a:lstStyle/>
                    <a:p>
                      <a:pPr algn="l">
                        <a:buNone/>
                      </a:pPr>
                      <a:r>
                        <a:rPr lang="en-IN" sz="1600">
                          <a:effectLst/>
                        </a:rPr>
                        <a:t>isEmpty()</a:t>
                      </a:r>
                    </a:p>
                  </a:txBody>
                  <a:tcPr marL="55848" marR="55848" marT="55848" marB="55848" anchor="ctr"/>
                </a:tc>
                <a:tc>
                  <a:txBody>
                    <a:bodyPr/>
                    <a:lstStyle/>
                    <a:p>
                      <a:pPr algn="l">
                        <a:buNone/>
                      </a:pPr>
                      <a:r>
                        <a:rPr lang="en-US" sz="1600" dirty="0">
                          <a:effectLst/>
                        </a:rPr>
                        <a:t>Checks if the list is empty</a:t>
                      </a:r>
                    </a:p>
                  </a:txBody>
                  <a:tcPr marL="55848" marR="55848" marT="55848" marB="55848" anchor="ctr"/>
                </a:tc>
                <a:extLst>
                  <a:ext uri="{0D108BD9-81ED-4DB2-BD59-A6C34878D82A}">
                    <a16:rowId xmlns:a16="http://schemas.microsoft.com/office/drawing/2014/main" val="1672133493"/>
                  </a:ext>
                </a:extLst>
              </a:tr>
            </a:tbl>
          </a:graphicData>
        </a:graphic>
      </p:graphicFrame>
      <p:sp>
        <p:nvSpPr>
          <p:cNvPr id="6" name="TextBox 5">
            <a:extLst>
              <a:ext uri="{FF2B5EF4-FFF2-40B4-BE49-F238E27FC236}">
                <a16:creationId xmlns:a16="http://schemas.microsoft.com/office/drawing/2014/main" id="{251B4A69-226B-90C4-A8C9-852FF0F64197}"/>
              </a:ext>
            </a:extLst>
          </p:cNvPr>
          <p:cNvSpPr txBox="1"/>
          <p:nvPr/>
        </p:nvSpPr>
        <p:spPr>
          <a:xfrm>
            <a:off x="1013790" y="4905465"/>
            <a:ext cx="8348869" cy="369332"/>
          </a:xfrm>
          <a:prstGeom prst="rect">
            <a:avLst/>
          </a:prstGeom>
          <a:noFill/>
        </p:spPr>
        <p:txBody>
          <a:bodyPr wrap="square">
            <a:spAutoFit/>
          </a:bodyPr>
          <a:lstStyle/>
          <a:p>
            <a:pPr>
              <a:buNone/>
            </a:pPr>
            <a:r>
              <a:rPr lang="en-IN" b="1" dirty="0">
                <a:effectLst/>
                <a:latin typeface="fkGrotesk"/>
              </a:rPr>
              <a:t>Simple Example</a:t>
            </a:r>
          </a:p>
        </p:txBody>
      </p:sp>
    </p:spTree>
    <p:extLst>
      <p:ext uri="{BB962C8B-B14F-4D97-AF65-F5344CB8AC3E}">
        <p14:creationId xmlns:p14="http://schemas.microsoft.com/office/powerpoint/2010/main" val="2952277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3528B-69F0-053B-2F87-4DDD8DB266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2DCB61-377E-4B1F-829D-544CB1685DCA}"/>
              </a:ext>
            </a:extLst>
          </p:cNvPr>
          <p:cNvSpPr txBox="1"/>
          <p:nvPr/>
        </p:nvSpPr>
        <p:spPr>
          <a:xfrm>
            <a:off x="864704" y="0"/>
            <a:ext cx="8328991" cy="3970318"/>
          </a:xfrm>
          <a:prstGeom prst="rect">
            <a:avLst/>
          </a:prstGeom>
          <a:noFill/>
        </p:spPr>
        <p:txBody>
          <a:bodyPr wrap="square">
            <a:spAutoFit/>
          </a:bodyPr>
          <a:lstStyle/>
          <a:p>
            <a:r>
              <a:rPr lang="en-IN" dirty="0"/>
              <a:t>import </a:t>
            </a:r>
            <a:r>
              <a:rPr lang="en-IN" dirty="0" err="1"/>
              <a:t>java.util</a:t>
            </a:r>
            <a:r>
              <a:rPr lang="en-IN" dirty="0"/>
              <a:t>.*;</a:t>
            </a:r>
          </a:p>
          <a:p>
            <a:r>
              <a:rPr lang="en-IN" dirty="0"/>
              <a:t>public class </a:t>
            </a:r>
            <a:r>
              <a:rPr lang="en-IN" dirty="0" err="1"/>
              <a:t>ListExample</a:t>
            </a:r>
            <a:r>
              <a:rPr lang="en-IN" dirty="0"/>
              <a:t> {</a:t>
            </a:r>
          </a:p>
          <a:p>
            <a:r>
              <a:rPr lang="en-IN" dirty="0"/>
              <a:t>    public static void main(String[] args) {</a:t>
            </a:r>
          </a:p>
          <a:p>
            <a:r>
              <a:rPr lang="en-IN" dirty="0"/>
              <a:t>        List&lt;String&gt; </a:t>
            </a:r>
            <a:r>
              <a:rPr lang="en-IN" dirty="0" err="1"/>
              <a:t>langs</a:t>
            </a:r>
            <a:r>
              <a:rPr lang="en-IN" dirty="0"/>
              <a:t> = new ArrayList&lt;&gt;();</a:t>
            </a:r>
          </a:p>
          <a:p>
            <a:r>
              <a:rPr lang="en-IN" dirty="0"/>
              <a:t>        </a:t>
            </a:r>
            <a:r>
              <a:rPr lang="en-IN" dirty="0" err="1"/>
              <a:t>langs.add</a:t>
            </a:r>
            <a:r>
              <a:rPr lang="en-IN" dirty="0"/>
              <a:t>("Java");</a:t>
            </a:r>
          </a:p>
          <a:p>
            <a:r>
              <a:rPr lang="en-IN" dirty="0"/>
              <a:t>        </a:t>
            </a:r>
            <a:r>
              <a:rPr lang="en-IN" dirty="0" err="1"/>
              <a:t>langs.add</a:t>
            </a:r>
            <a:r>
              <a:rPr lang="en-IN" dirty="0"/>
              <a:t>("Python");</a:t>
            </a:r>
          </a:p>
          <a:p>
            <a:r>
              <a:rPr lang="en-IN" dirty="0"/>
              <a:t>        </a:t>
            </a:r>
            <a:r>
              <a:rPr lang="en-IN" dirty="0" err="1"/>
              <a:t>langs.add</a:t>
            </a:r>
            <a:r>
              <a:rPr lang="en-IN" dirty="0"/>
              <a:t>("Java");</a:t>
            </a:r>
          </a:p>
          <a:p>
            <a:r>
              <a:rPr lang="en-IN" dirty="0"/>
              <a:t>        </a:t>
            </a:r>
            <a:r>
              <a:rPr lang="en-IN" dirty="0" err="1"/>
              <a:t>langs.add</a:t>
            </a:r>
            <a:r>
              <a:rPr lang="en-IN" dirty="0"/>
              <a:t>("C#");</a:t>
            </a:r>
          </a:p>
          <a:p>
            <a:r>
              <a:rPr lang="en-IN" dirty="0"/>
              <a:t>        System.out.println(</a:t>
            </a:r>
            <a:r>
              <a:rPr lang="en-IN" dirty="0" err="1"/>
              <a:t>langs</a:t>
            </a:r>
            <a:r>
              <a:rPr lang="en-IN" dirty="0"/>
              <a:t>);               // [Java, Python, Java, C#]</a:t>
            </a:r>
          </a:p>
          <a:p>
            <a:r>
              <a:rPr lang="en-IN" dirty="0"/>
              <a:t>        System.out.println(</a:t>
            </a:r>
            <a:r>
              <a:rPr lang="en-IN" dirty="0" err="1"/>
              <a:t>langs.get</a:t>
            </a:r>
            <a:r>
              <a:rPr lang="en-IN" dirty="0"/>
              <a:t>(1));        // Python</a:t>
            </a:r>
          </a:p>
          <a:p>
            <a:r>
              <a:rPr lang="en-IN" dirty="0"/>
              <a:t>        </a:t>
            </a:r>
            <a:r>
              <a:rPr lang="en-IN" dirty="0" err="1"/>
              <a:t>langs.remove</a:t>
            </a:r>
            <a:r>
              <a:rPr lang="en-IN" dirty="0"/>
              <a:t>("Java");                    // Removes first 'Java'</a:t>
            </a:r>
          </a:p>
          <a:p>
            <a:r>
              <a:rPr lang="en-IN" dirty="0"/>
              <a:t>        System.out.println(</a:t>
            </a:r>
            <a:r>
              <a:rPr lang="en-IN" dirty="0" err="1"/>
              <a:t>langs</a:t>
            </a:r>
            <a:r>
              <a:rPr lang="en-IN" dirty="0"/>
              <a:t>);               // [Python, Java, C#]</a:t>
            </a:r>
          </a:p>
          <a:p>
            <a:r>
              <a:rPr lang="en-IN" dirty="0"/>
              <a:t>    }</a:t>
            </a:r>
          </a:p>
          <a:p>
            <a:r>
              <a:rPr lang="en-IN" dirty="0"/>
              <a:t>}</a:t>
            </a:r>
          </a:p>
        </p:txBody>
      </p:sp>
      <p:sp>
        <p:nvSpPr>
          <p:cNvPr id="5" name="TextBox 4">
            <a:extLst>
              <a:ext uri="{FF2B5EF4-FFF2-40B4-BE49-F238E27FC236}">
                <a16:creationId xmlns:a16="http://schemas.microsoft.com/office/drawing/2014/main" id="{9C4EA3AE-461B-17C5-A027-973CA259745D}"/>
              </a:ext>
            </a:extLst>
          </p:cNvPr>
          <p:cNvSpPr txBox="1"/>
          <p:nvPr/>
        </p:nvSpPr>
        <p:spPr>
          <a:xfrm>
            <a:off x="397564" y="3894695"/>
            <a:ext cx="8955157" cy="2862322"/>
          </a:xfrm>
          <a:prstGeom prst="rect">
            <a:avLst/>
          </a:prstGeom>
          <a:noFill/>
        </p:spPr>
        <p:txBody>
          <a:bodyPr wrap="square">
            <a:spAutoFit/>
          </a:bodyPr>
          <a:lstStyle/>
          <a:p>
            <a:pPr algn="l">
              <a:buNone/>
            </a:pPr>
            <a:r>
              <a:rPr lang="en-US" b="0" i="0" dirty="0">
                <a:effectLst/>
                <a:latin typeface="fkGroteskNeue"/>
              </a:rPr>
              <a:t>The List interface is essential for ordered, index-based collections and is widely used in Java programs for its flexibility and powerful features.The List interface in Java extends the Collection interface and is part of the </a:t>
            </a:r>
            <a:r>
              <a:rPr lang="en-US" b="0" i="0" dirty="0" err="1">
                <a:effectLst/>
                <a:latin typeface="fkGroteskNeue"/>
              </a:rPr>
              <a:t>java.util</a:t>
            </a:r>
            <a:r>
              <a:rPr lang="en-US" b="0" i="0" dirty="0">
                <a:effectLst/>
                <a:latin typeface="fkGroteskNeue"/>
              </a:rPr>
              <a:t> package. It is used to store ordered collections where duplicates are allowed and elements can be accessed by their index. Key features of the List interface include maintaining insertion order, supporting duplicate and null elements (depending on implementation), providing index-based element access, and allowing bi-directional traversal via ListIterator.</a:t>
            </a:r>
          </a:p>
          <a:p>
            <a:pPr algn="l">
              <a:buNone/>
            </a:pPr>
            <a:endParaRPr lang="en-US" b="0" i="0" dirty="0">
              <a:effectLst/>
              <a:latin typeface="fkGroteskNeue"/>
            </a:endParaRPr>
          </a:p>
          <a:p>
            <a:pPr algn="l">
              <a:buNone/>
            </a:pPr>
            <a:r>
              <a:rPr lang="en-US" b="0" i="0" dirty="0">
                <a:effectLst/>
                <a:latin typeface="fkGroteskNeue"/>
              </a:rPr>
              <a:t>Common methods include add, get, set, remove, indexOf, lastIndexOf, size, and isEmpty. The List interface is implemented by classes such as ArrayList, LinkedList, Vector, and Stack</a:t>
            </a:r>
          </a:p>
        </p:txBody>
      </p:sp>
    </p:spTree>
    <p:extLst>
      <p:ext uri="{BB962C8B-B14F-4D97-AF65-F5344CB8AC3E}">
        <p14:creationId xmlns:p14="http://schemas.microsoft.com/office/powerpoint/2010/main" val="2064544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F0345-DDE9-AB0F-248B-019F169DB35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BC28BE-7C03-9C07-6309-A6C3DB99AC9E}"/>
              </a:ext>
            </a:extLst>
          </p:cNvPr>
          <p:cNvSpPr txBox="1"/>
          <p:nvPr/>
        </p:nvSpPr>
        <p:spPr>
          <a:xfrm>
            <a:off x="924339" y="242716"/>
            <a:ext cx="8319052" cy="5355312"/>
          </a:xfrm>
          <a:prstGeom prst="rect">
            <a:avLst/>
          </a:prstGeom>
          <a:noFill/>
        </p:spPr>
        <p:txBody>
          <a:bodyPr wrap="square">
            <a:spAutoFit/>
          </a:bodyPr>
          <a:lstStyle/>
          <a:p>
            <a:r>
              <a:rPr lang="en-IN" b="1" dirty="0"/>
              <a:t>7.4.4 ArrayList </a:t>
            </a:r>
          </a:p>
          <a:p>
            <a:endParaRPr lang="en-IN" b="1" dirty="0"/>
          </a:p>
          <a:p>
            <a:r>
              <a:rPr lang="en-US" dirty="0"/>
              <a:t>ArrayList in Java is a resizable array implementation of the List interface, which allows dynamic storage, fast access, and easy manipulation of elements.</a:t>
            </a:r>
          </a:p>
          <a:p>
            <a:endParaRPr lang="en-US" dirty="0"/>
          </a:p>
          <a:p>
            <a:r>
              <a:rPr lang="en-US" b="1" dirty="0"/>
              <a:t>Key Features of ArrayList</a:t>
            </a:r>
          </a:p>
          <a:p>
            <a:endParaRPr lang="en-US" dirty="0"/>
          </a:p>
          <a:p>
            <a:pPr marL="285750" indent="-285750">
              <a:buFont typeface="Arial" panose="020B0604020202020204" pitchFamily="34" charset="0"/>
              <a:buChar char="•"/>
            </a:pPr>
            <a:r>
              <a:rPr lang="en-US" dirty="0"/>
              <a:t>Dynamic Size: Expands and shrinks as needed when elements are added or removed.</a:t>
            </a:r>
          </a:p>
          <a:p>
            <a:pPr marL="285750" indent="-285750">
              <a:buFont typeface="Arial" panose="020B0604020202020204" pitchFamily="34" charset="0"/>
              <a:buChar char="•"/>
            </a:pPr>
            <a:r>
              <a:rPr lang="en-US" dirty="0"/>
              <a:t>Indexed Access: Elements can be accessed directly by index, similar to arrays.</a:t>
            </a:r>
          </a:p>
          <a:p>
            <a:pPr marL="285750" indent="-285750">
              <a:buFont typeface="Arial" panose="020B0604020202020204" pitchFamily="34" charset="0"/>
              <a:buChar char="•"/>
            </a:pPr>
            <a:r>
              <a:rPr lang="en-US" dirty="0"/>
              <a:t>Allows Duplicates and Nulls: Permits duplicate values and null elements.</a:t>
            </a:r>
          </a:p>
          <a:p>
            <a:pPr marL="285750" indent="-285750">
              <a:buFont typeface="Arial" panose="020B0604020202020204" pitchFamily="34" charset="0"/>
              <a:buChar char="•"/>
            </a:pPr>
            <a:r>
              <a:rPr lang="en-US" dirty="0"/>
              <a:t>Maintains Insertion Order: Preserves the order in which elements are inserted.</a:t>
            </a:r>
          </a:p>
          <a:p>
            <a:pPr marL="285750" indent="-285750">
              <a:buFont typeface="Arial" panose="020B0604020202020204" pitchFamily="34" charset="0"/>
              <a:buChar char="•"/>
            </a:pPr>
            <a:r>
              <a:rPr lang="en-US" dirty="0"/>
              <a:t>Type Safety: Can be used with generics for type checks at compile time.</a:t>
            </a:r>
          </a:p>
          <a:p>
            <a:pPr marL="285750" indent="-285750">
              <a:buFont typeface="Arial" panose="020B0604020202020204" pitchFamily="34" charset="0"/>
              <a:buChar char="•"/>
            </a:pPr>
            <a:r>
              <a:rPr lang="en-US" dirty="0"/>
              <a:t>Not Synchronized: ArrayList is not thread-safe by default, but can be made synchronized.</a:t>
            </a:r>
          </a:p>
          <a:p>
            <a:endParaRPr lang="en-IN" b="1" dirty="0"/>
          </a:p>
        </p:txBody>
      </p:sp>
      <p:sp>
        <p:nvSpPr>
          <p:cNvPr id="5" name="TextBox 4">
            <a:extLst>
              <a:ext uri="{FF2B5EF4-FFF2-40B4-BE49-F238E27FC236}">
                <a16:creationId xmlns:a16="http://schemas.microsoft.com/office/drawing/2014/main" id="{0DBE4569-1388-FAEB-3B0E-F3AA0068CB4D}"/>
              </a:ext>
            </a:extLst>
          </p:cNvPr>
          <p:cNvSpPr txBox="1"/>
          <p:nvPr/>
        </p:nvSpPr>
        <p:spPr>
          <a:xfrm>
            <a:off x="795131" y="5598028"/>
            <a:ext cx="8319052" cy="369332"/>
          </a:xfrm>
          <a:prstGeom prst="rect">
            <a:avLst/>
          </a:prstGeom>
          <a:noFill/>
        </p:spPr>
        <p:txBody>
          <a:bodyPr wrap="square">
            <a:spAutoFit/>
          </a:bodyPr>
          <a:lstStyle/>
          <a:p>
            <a:pPr algn="l">
              <a:buNone/>
            </a:pPr>
            <a:r>
              <a:rPr lang="en-IN" b="1" i="0" dirty="0">
                <a:effectLst/>
                <a:latin typeface="fkGrotesk"/>
              </a:rPr>
              <a:t>Core Methods</a:t>
            </a:r>
          </a:p>
        </p:txBody>
      </p:sp>
    </p:spTree>
    <p:extLst>
      <p:ext uri="{BB962C8B-B14F-4D97-AF65-F5344CB8AC3E}">
        <p14:creationId xmlns:p14="http://schemas.microsoft.com/office/powerpoint/2010/main" val="2277434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80C99-2556-687C-D249-16C4A82DA965}"/>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AE63E4F-B783-0AE4-77F3-75CA048D0E71}"/>
              </a:ext>
            </a:extLst>
          </p:cNvPr>
          <p:cNvGraphicFramePr>
            <a:graphicFrameLocks noGrp="1"/>
          </p:cNvGraphicFramePr>
          <p:nvPr>
            <p:extLst>
              <p:ext uri="{D42A27DB-BD31-4B8C-83A1-F6EECF244321}">
                <p14:modId xmlns:p14="http://schemas.microsoft.com/office/powerpoint/2010/main" val="3448536155"/>
              </p:ext>
            </p:extLst>
          </p:nvPr>
        </p:nvGraphicFramePr>
        <p:xfrm>
          <a:off x="876646" y="201191"/>
          <a:ext cx="8307111" cy="3566160"/>
        </p:xfrm>
        <a:graphic>
          <a:graphicData uri="http://schemas.openxmlformats.org/drawingml/2006/table">
            <a:tbl>
              <a:tblPr>
                <a:tableStyleId>{5940675A-B579-460E-94D1-54222C63F5DA}</a:tableStyleId>
              </a:tblPr>
              <a:tblGrid>
                <a:gridCol w="3299318">
                  <a:extLst>
                    <a:ext uri="{9D8B030D-6E8A-4147-A177-3AD203B41FA5}">
                      <a16:colId xmlns:a16="http://schemas.microsoft.com/office/drawing/2014/main" val="2409456036"/>
                    </a:ext>
                  </a:extLst>
                </a:gridCol>
                <a:gridCol w="5007793">
                  <a:extLst>
                    <a:ext uri="{9D8B030D-6E8A-4147-A177-3AD203B41FA5}">
                      <a16:colId xmlns:a16="http://schemas.microsoft.com/office/drawing/2014/main" val="551775970"/>
                    </a:ext>
                  </a:extLst>
                </a:gridCol>
              </a:tblGrid>
              <a:tr h="0">
                <a:tc>
                  <a:txBody>
                    <a:bodyPr/>
                    <a:lstStyle/>
                    <a:p>
                      <a:pPr algn="ctr">
                        <a:buNone/>
                      </a:pPr>
                      <a:r>
                        <a:rPr lang="en-IN" b="1" dirty="0">
                          <a:effectLst/>
                        </a:rPr>
                        <a:t>Method</a:t>
                      </a:r>
                    </a:p>
                  </a:txBody>
                  <a:tcPr marL="60960" marR="60960" marT="60960" marB="60960" anchor="ctr"/>
                </a:tc>
                <a:tc>
                  <a:txBody>
                    <a:bodyPr/>
                    <a:lstStyle/>
                    <a:p>
                      <a:pPr algn="ctr">
                        <a:buNone/>
                      </a:pPr>
                      <a:r>
                        <a:rPr lang="en-IN" b="1" dirty="0">
                          <a:effectLst/>
                        </a:rPr>
                        <a:t>Description</a:t>
                      </a:r>
                    </a:p>
                  </a:txBody>
                  <a:tcPr marL="60960" marR="60960" marT="60960" marB="60960" anchor="ctr"/>
                </a:tc>
                <a:extLst>
                  <a:ext uri="{0D108BD9-81ED-4DB2-BD59-A6C34878D82A}">
                    <a16:rowId xmlns:a16="http://schemas.microsoft.com/office/drawing/2014/main" val="1634729807"/>
                  </a:ext>
                </a:extLst>
              </a:tr>
              <a:tr h="0">
                <a:tc>
                  <a:txBody>
                    <a:bodyPr/>
                    <a:lstStyle/>
                    <a:p>
                      <a:pPr algn="l">
                        <a:buNone/>
                      </a:pPr>
                      <a:r>
                        <a:rPr lang="en-IN">
                          <a:effectLst/>
                        </a:rPr>
                        <a:t>add(E element)</a:t>
                      </a:r>
                    </a:p>
                  </a:txBody>
                  <a:tcPr marL="60960" marR="60960" marT="60960" marB="60960" anchor="ctr"/>
                </a:tc>
                <a:tc>
                  <a:txBody>
                    <a:bodyPr/>
                    <a:lstStyle/>
                    <a:p>
                      <a:pPr algn="l">
                        <a:buNone/>
                      </a:pPr>
                      <a:r>
                        <a:rPr lang="en-US">
                          <a:effectLst/>
                        </a:rPr>
                        <a:t>Appends element at the end of the list</a:t>
                      </a:r>
                    </a:p>
                  </a:txBody>
                  <a:tcPr marL="60960" marR="60960" marT="60960" marB="60960" anchor="ctr"/>
                </a:tc>
                <a:extLst>
                  <a:ext uri="{0D108BD9-81ED-4DB2-BD59-A6C34878D82A}">
                    <a16:rowId xmlns:a16="http://schemas.microsoft.com/office/drawing/2014/main" val="1584089419"/>
                  </a:ext>
                </a:extLst>
              </a:tr>
              <a:tr h="0">
                <a:tc>
                  <a:txBody>
                    <a:bodyPr/>
                    <a:lstStyle/>
                    <a:p>
                      <a:pPr algn="l">
                        <a:buNone/>
                      </a:pPr>
                      <a:r>
                        <a:rPr lang="en-IN">
                          <a:effectLst/>
                        </a:rPr>
                        <a:t>add(int index, E element)</a:t>
                      </a:r>
                    </a:p>
                  </a:txBody>
                  <a:tcPr marL="60960" marR="60960" marT="60960" marB="60960" anchor="ctr"/>
                </a:tc>
                <a:tc>
                  <a:txBody>
                    <a:bodyPr/>
                    <a:lstStyle/>
                    <a:p>
                      <a:pPr algn="l">
                        <a:buNone/>
                      </a:pPr>
                      <a:r>
                        <a:rPr lang="en-US">
                          <a:effectLst/>
                        </a:rPr>
                        <a:t>Inserts element at the specified position</a:t>
                      </a:r>
                    </a:p>
                  </a:txBody>
                  <a:tcPr marL="60960" marR="60960" marT="60960" marB="60960" anchor="ctr"/>
                </a:tc>
                <a:extLst>
                  <a:ext uri="{0D108BD9-81ED-4DB2-BD59-A6C34878D82A}">
                    <a16:rowId xmlns:a16="http://schemas.microsoft.com/office/drawing/2014/main" val="3996204160"/>
                  </a:ext>
                </a:extLst>
              </a:tr>
              <a:tr h="0">
                <a:tc>
                  <a:txBody>
                    <a:bodyPr/>
                    <a:lstStyle/>
                    <a:p>
                      <a:pPr algn="l">
                        <a:buNone/>
                      </a:pPr>
                      <a:r>
                        <a:rPr lang="en-IN">
                          <a:effectLst/>
                        </a:rPr>
                        <a:t>get(int index)</a:t>
                      </a:r>
                    </a:p>
                  </a:txBody>
                  <a:tcPr marL="60960" marR="60960" marT="60960" marB="60960" anchor="ctr"/>
                </a:tc>
                <a:tc>
                  <a:txBody>
                    <a:bodyPr/>
                    <a:lstStyle/>
                    <a:p>
                      <a:pPr algn="l">
                        <a:buNone/>
                      </a:pPr>
                      <a:r>
                        <a:rPr lang="en-US" dirty="0">
                          <a:effectLst/>
                        </a:rPr>
                        <a:t>Returns the element at specified index</a:t>
                      </a:r>
                    </a:p>
                  </a:txBody>
                  <a:tcPr marL="60960" marR="60960" marT="60960" marB="60960" anchor="ctr"/>
                </a:tc>
                <a:extLst>
                  <a:ext uri="{0D108BD9-81ED-4DB2-BD59-A6C34878D82A}">
                    <a16:rowId xmlns:a16="http://schemas.microsoft.com/office/drawing/2014/main" val="4176139088"/>
                  </a:ext>
                </a:extLst>
              </a:tr>
              <a:tr h="0">
                <a:tc>
                  <a:txBody>
                    <a:bodyPr/>
                    <a:lstStyle/>
                    <a:p>
                      <a:pPr algn="l">
                        <a:buNone/>
                      </a:pPr>
                      <a:r>
                        <a:rPr lang="en-IN">
                          <a:effectLst/>
                        </a:rPr>
                        <a:t>set(int index, E element)</a:t>
                      </a:r>
                    </a:p>
                  </a:txBody>
                  <a:tcPr marL="60960" marR="60960" marT="60960" marB="60960" anchor="ctr"/>
                </a:tc>
                <a:tc>
                  <a:txBody>
                    <a:bodyPr/>
                    <a:lstStyle/>
                    <a:p>
                      <a:pPr algn="l">
                        <a:buNone/>
                      </a:pPr>
                      <a:r>
                        <a:rPr lang="en-US">
                          <a:effectLst/>
                        </a:rPr>
                        <a:t>Replaces element at the specified index</a:t>
                      </a:r>
                    </a:p>
                  </a:txBody>
                  <a:tcPr marL="60960" marR="60960" marT="60960" marB="60960" anchor="ctr"/>
                </a:tc>
                <a:extLst>
                  <a:ext uri="{0D108BD9-81ED-4DB2-BD59-A6C34878D82A}">
                    <a16:rowId xmlns:a16="http://schemas.microsoft.com/office/drawing/2014/main" val="2529461719"/>
                  </a:ext>
                </a:extLst>
              </a:tr>
              <a:tr h="0">
                <a:tc>
                  <a:txBody>
                    <a:bodyPr/>
                    <a:lstStyle/>
                    <a:p>
                      <a:pPr algn="l">
                        <a:buNone/>
                      </a:pPr>
                      <a:r>
                        <a:rPr lang="en-IN">
                          <a:effectLst/>
                        </a:rPr>
                        <a:t>remove(int index)</a:t>
                      </a:r>
                    </a:p>
                  </a:txBody>
                  <a:tcPr marL="60960" marR="60960" marT="60960" marB="60960" anchor="ctr"/>
                </a:tc>
                <a:tc>
                  <a:txBody>
                    <a:bodyPr/>
                    <a:lstStyle/>
                    <a:p>
                      <a:pPr algn="l">
                        <a:buNone/>
                      </a:pPr>
                      <a:r>
                        <a:rPr lang="en-US">
                          <a:effectLst/>
                        </a:rPr>
                        <a:t>Removes the element at specified index</a:t>
                      </a:r>
                    </a:p>
                  </a:txBody>
                  <a:tcPr marL="60960" marR="60960" marT="60960" marB="60960" anchor="ctr"/>
                </a:tc>
                <a:extLst>
                  <a:ext uri="{0D108BD9-81ED-4DB2-BD59-A6C34878D82A}">
                    <a16:rowId xmlns:a16="http://schemas.microsoft.com/office/drawing/2014/main" val="3731888998"/>
                  </a:ext>
                </a:extLst>
              </a:tr>
              <a:tr h="0">
                <a:tc>
                  <a:txBody>
                    <a:bodyPr/>
                    <a:lstStyle/>
                    <a:p>
                      <a:pPr algn="l">
                        <a:buNone/>
                      </a:pPr>
                      <a:r>
                        <a:rPr lang="en-IN">
                          <a:effectLst/>
                        </a:rPr>
                        <a:t>size()</a:t>
                      </a:r>
                    </a:p>
                  </a:txBody>
                  <a:tcPr marL="60960" marR="60960" marT="60960" marB="60960" anchor="ctr"/>
                </a:tc>
                <a:tc>
                  <a:txBody>
                    <a:bodyPr/>
                    <a:lstStyle/>
                    <a:p>
                      <a:pPr algn="l">
                        <a:buNone/>
                      </a:pPr>
                      <a:r>
                        <a:rPr lang="en-US">
                          <a:effectLst/>
                        </a:rPr>
                        <a:t>Returns the number of elements</a:t>
                      </a:r>
                    </a:p>
                  </a:txBody>
                  <a:tcPr marL="60960" marR="60960" marT="60960" marB="60960" anchor="ctr"/>
                </a:tc>
                <a:extLst>
                  <a:ext uri="{0D108BD9-81ED-4DB2-BD59-A6C34878D82A}">
                    <a16:rowId xmlns:a16="http://schemas.microsoft.com/office/drawing/2014/main" val="3536295605"/>
                  </a:ext>
                </a:extLst>
              </a:tr>
              <a:tr h="0">
                <a:tc>
                  <a:txBody>
                    <a:bodyPr/>
                    <a:lstStyle/>
                    <a:p>
                      <a:pPr algn="l">
                        <a:buNone/>
                      </a:pPr>
                      <a:r>
                        <a:rPr lang="en-IN">
                          <a:effectLst/>
                        </a:rPr>
                        <a:t>clear()</a:t>
                      </a:r>
                    </a:p>
                  </a:txBody>
                  <a:tcPr marL="60960" marR="60960" marT="60960" marB="60960" anchor="ctr"/>
                </a:tc>
                <a:tc>
                  <a:txBody>
                    <a:bodyPr/>
                    <a:lstStyle/>
                    <a:p>
                      <a:pPr algn="l">
                        <a:buNone/>
                      </a:pPr>
                      <a:r>
                        <a:rPr lang="en-IN">
                          <a:effectLst/>
                        </a:rPr>
                        <a:t>Removes all elements</a:t>
                      </a:r>
                    </a:p>
                  </a:txBody>
                  <a:tcPr marL="60960" marR="60960" marT="60960" marB="60960" anchor="ctr"/>
                </a:tc>
                <a:extLst>
                  <a:ext uri="{0D108BD9-81ED-4DB2-BD59-A6C34878D82A}">
                    <a16:rowId xmlns:a16="http://schemas.microsoft.com/office/drawing/2014/main" val="660079134"/>
                  </a:ext>
                </a:extLst>
              </a:tr>
              <a:tr h="0">
                <a:tc>
                  <a:txBody>
                    <a:bodyPr/>
                    <a:lstStyle/>
                    <a:p>
                      <a:pPr algn="l">
                        <a:buNone/>
                      </a:pPr>
                      <a:r>
                        <a:rPr lang="en-IN" dirty="0">
                          <a:effectLst/>
                        </a:rPr>
                        <a:t>contains(Object o)</a:t>
                      </a:r>
                    </a:p>
                  </a:txBody>
                  <a:tcPr marL="60960" marR="60960" marT="60960" marB="60960" anchor="ctr"/>
                </a:tc>
                <a:tc>
                  <a:txBody>
                    <a:bodyPr/>
                    <a:lstStyle/>
                    <a:p>
                      <a:pPr algn="l">
                        <a:buNone/>
                      </a:pPr>
                      <a:r>
                        <a:rPr lang="en-US" dirty="0">
                          <a:effectLst/>
                        </a:rPr>
                        <a:t>Returns true if element is present</a:t>
                      </a:r>
                    </a:p>
                  </a:txBody>
                  <a:tcPr marL="60960" marR="60960" marT="60960" marB="60960" anchor="ctr"/>
                </a:tc>
                <a:extLst>
                  <a:ext uri="{0D108BD9-81ED-4DB2-BD59-A6C34878D82A}">
                    <a16:rowId xmlns:a16="http://schemas.microsoft.com/office/drawing/2014/main" val="129838372"/>
                  </a:ext>
                </a:extLst>
              </a:tr>
            </a:tbl>
          </a:graphicData>
        </a:graphic>
      </p:graphicFrame>
      <p:sp>
        <p:nvSpPr>
          <p:cNvPr id="4" name="TextBox 3">
            <a:extLst>
              <a:ext uri="{FF2B5EF4-FFF2-40B4-BE49-F238E27FC236}">
                <a16:creationId xmlns:a16="http://schemas.microsoft.com/office/drawing/2014/main" id="{CD4FBA61-6837-1307-7DD1-F5536D0F223C}"/>
              </a:ext>
            </a:extLst>
          </p:cNvPr>
          <p:cNvSpPr txBox="1"/>
          <p:nvPr/>
        </p:nvSpPr>
        <p:spPr>
          <a:xfrm>
            <a:off x="876645" y="3971187"/>
            <a:ext cx="8307111" cy="369332"/>
          </a:xfrm>
          <a:prstGeom prst="rect">
            <a:avLst/>
          </a:prstGeom>
          <a:noFill/>
        </p:spPr>
        <p:txBody>
          <a:bodyPr wrap="square">
            <a:spAutoFit/>
          </a:bodyPr>
          <a:lstStyle/>
          <a:p>
            <a:pPr>
              <a:buNone/>
            </a:pPr>
            <a:r>
              <a:rPr lang="en-IN" b="1" dirty="0">
                <a:effectLst/>
                <a:latin typeface="fkGrotesk"/>
              </a:rPr>
              <a:t>Simple</a:t>
            </a:r>
            <a:r>
              <a:rPr lang="en-IN" b="0" dirty="0">
                <a:effectLst/>
                <a:latin typeface="fkGrotesk"/>
              </a:rPr>
              <a:t> </a:t>
            </a:r>
            <a:r>
              <a:rPr lang="en-IN" b="1" dirty="0">
                <a:effectLst/>
                <a:latin typeface="fkGrotesk"/>
              </a:rPr>
              <a:t>Example</a:t>
            </a:r>
          </a:p>
        </p:txBody>
      </p:sp>
      <p:sp>
        <p:nvSpPr>
          <p:cNvPr id="6" name="TextBox 5">
            <a:extLst>
              <a:ext uri="{FF2B5EF4-FFF2-40B4-BE49-F238E27FC236}">
                <a16:creationId xmlns:a16="http://schemas.microsoft.com/office/drawing/2014/main" id="{A63745B6-AFF4-8F54-A18C-04B52092EA91}"/>
              </a:ext>
            </a:extLst>
          </p:cNvPr>
          <p:cNvSpPr txBox="1"/>
          <p:nvPr/>
        </p:nvSpPr>
        <p:spPr>
          <a:xfrm>
            <a:off x="876645" y="4544355"/>
            <a:ext cx="8227598" cy="1200329"/>
          </a:xfrm>
          <a:prstGeom prst="rect">
            <a:avLst/>
          </a:prstGeom>
          <a:noFill/>
        </p:spPr>
        <p:txBody>
          <a:bodyPr wrap="square">
            <a:spAutoFit/>
          </a:bodyPr>
          <a:lstStyle/>
          <a:p>
            <a:r>
              <a:rPr lang="en-IN" dirty="0"/>
              <a:t>import java.util.ArrayList;</a:t>
            </a:r>
          </a:p>
          <a:p>
            <a:endParaRPr lang="en-IN" dirty="0"/>
          </a:p>
          <a:p>
            <a:r>
              <a:rPr lang="en-IN" dirty="0"/>
              <a:t>public class Example {</a:t>
            </a:r>
          </a:p>
          <a:p>
            <a:r>
              <a:rPr lang="en-IN" dirty="0"/>
              <a:t>    public static void main(String[] args) {</a:t>
            </a:r>
          </a:p>
        </p:txBody>
      </p:sp>
    </p:spTree>
    <p:extLst>
      <p:ext uri="{BB962C8B-B14F-4D97-AF65-F5344CB8AC3E}">
        <p14:creationId xmlns:p14="http://schemas.microsoft.com/office/powerpoint/2010/main" val="1155927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30D09-CB3C-6511-0E0F-C0396508A5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6EE56B-B761-45CF-6A17-A41DCA3F44B2}"/>
              </a:ext>
            </a:extLst>
          </p:cNvPr>
          <p:cNvSpPr txBox="1"/>
          <p:nvPr/>
        </p:nvSpPr>
        <p:spPr>
          <a:xfrm>
            <a:off x="864703" y="0"/>
            <a:ext cx="8507896" cy="3693319"/>
          </a:xfrm>
          <a:prstGeom prst="rect">
            <a:avLst/>
          </a:prstGeom>
          <a:noFill/>
        </p:spPr>
        <p:txBody>
          <a:bodyPr wrap="square">
            <a:spAutoFit/>
          </a:bodyPr>
          <a:lstStyle/>
          <a:p>
            <a:r>
              <a:rPr lang="en-IN" dirty="0"/>
              <a:t>ArrayList&lt;String&gt; fruits = new ArrayList&lt;&gt;();</a:t>
            </a:r>
          </a:p>
          <a:p>
            <a:r>
              <a:rPr lang="en-IN" dirty="0"/>
              <a:t>        fruits.add("Apple");</a:t>
            </a:r>
          </a:p>
          <a:p>
            <a:r>
              <a:rPr lang="en-IN" dirty="0"/>
              <a:t>        fruits.add("Banana");</a:t>
            </a:r>
          </a:p>
          <a:p>
            <a:r>
              <a:rPr lang="en-IN" dirty="0"/>
              <a:t>        fruits.add("Mango");</a:t>
            </a:r>
          </a:p>
          <a:p>
            <a:r>
              <a:rPr lang="en-IN" dirty="0"/>
              <a:t>        System.out.println(fruits); // [Apple, Banana, Mango]</a:t>
            </a:r>
          </a:p>
          <a:p>
            <a:r>
              <a:rPr lang="en-IN" dirty="0"/>
              <a:t>        </a:t>
            </a:r>
          </a:p>
          <a:p>
            <a:r>
              <a:rPr lang="en-IN" dirty="0"/>
              <a:t>        fruits.add(1, "Orange");</a:t>
            </a:r>
          </a:p>
          <a:p>
            <a:r>
              <a:rPr lang="en-IN" dirty="0"/>
              <a:t>        System.out.println(fruits); // [Apple, Orange, Banana, Mango]</a:t>
            </a:r>
          </a:p>
          <a:p>
            <a:r>
              <a:rPr lang="en-IN" dirty="0"/>
              <a:t>        </a:t>
            </a:r>
          </a:p>
          <a:p>
            <a:r>
              <a:rPr lang="en-IN" dirty="0"/>
              <a:t>        fruits.remove("Banana");</a:t>
            </a:r>
          </a:p>
          <a:p>
            <a:r>
              <a:rPr lang="en-IN" dirty="0"/>
              <a:t>        System.out.println(fruits); // [Apple, Orange, Mango]</a:t>
            </a:r>
          </a:p>
          <a:p>
            <a:r>
              <a:rPr lang="en-IN" dirty="0"/>
              <a:t>    }</a:t>
            </a:r>
          </a:p>
          <a:p>
            <a:r>
              <a:rPr lang="en-IN" dirty="0"/>
              <a:t>}</a:t>
            </a:r>
          </a:p>
        </p:txBody>
      </p:sp>
      <p:sp>
        <p:nvSpPr>
          <p:cNvPr id="5" name="TextBox 4">
            <a:extLst>
              <a:ext uri="{FF2B5EF4-FFF2-40B4-BE49-F238E27FC236}">
                <a16:creationId xmlns:a16="http://schemas.microsoft.com/office/drawing/2014/main" id="{4C84F061-88B0-3560-3ADF-EDBA21750704}"/>
              </a:ext>
            </a:extLst>
          </p:cNvPr>
          <p:cNvSpPr txBox="1"/>
          <p:nvPr/>
        </p:nvSpPr>
        <p:spPr>
          <a:xfrm>
            <a:off x="576469" y="3808115"/>
            <a:ext cx="8726556" cy="2308324"/>
          </a:xfrm>
          <a:prstGeom prst="rect">
            <a:avLst/>
          </a:prstGeom>
          <a:noFill/>
        </p:spPr>
        <p:txBody>
          <a:bodyPr wrap="square">
            <a:spAutoFit/>
          </a:bodyPr>
          <a:lstStyle/>
          <a:p>
            <a:pPr>
              <a:buNone/>
            </a:pPr>
            <a:r>
              <a:rPr lang="en-US" b="1" dirty="0">
                <a:effectLst/>
                <a:latin typeface="fkGrotesk"/>
              </a:rPr>
              <a:t>Constructors</a:t>
            </a:r>
          </a:p>
          <a:p>
            <a:pPr>
              <a:buNone/>
            </a:pPr>
            <a:endParaRPr lang="en-US" b="1" dirty="0">
              <a:effectLst/>
              <a:latin typeface="fkGrotesk"/>
            </a:endParaRPr>
          </a:p>
          <a:p>
            <a:pPr>
              <a:buFont typeface="Arial" panose="020B0604020202020204" pitchFamily="34" charset="0"/>
              <a:buChar char="•"/>
            </a:pPr>
            <a:r>
              <a:rPr lang="en-US" b="0" dirty="0">
                <a:effectLst/>
                <a:latin typeface="berkeleyMono"/>
              </a:rPr>
              <a:t>ArrayList()</a:t>
            </a:r>
            <a:r>
              <a:rPr lang="en-US" dirty="0">
                <a:effectLst/>
                <a:latin typeface="fkGroteskNeue"/>
              </a:rPr>
              <a:t>: Creates an empty list.</a:t>
            </a:r>
          </a:p>
          <a:p>
            <a:pPr>
              <a:buFont typeface="Arial" panose="020B0604020202020204" pitchFamily="34" charset="0"/>
              <a:buChar char="•"/>
            </a:pPr>
            <a:r>
              <a:rPr lang="en-US" b="0" dirty="0">
                <a:effectLst/>
                <a:latin typeface="berkeleyMono"/>
              </a:rPr>
              <a:t>ArrayList(Collection&lt;? extends E&gt; c)</a:t>
            </a:r>
            <a:r>
              <a:rPr lang="en-US" dirty="0">
                <a:effectLst/>
                <a:latin typeface="fkGroteskNeue"/>
              </a:rPr>
              <a:t>: Initializes list with elements from the specified collection.</a:t>
            </a:r>
          </a:p>
          <a:p>
            <a:pPr>
              <a:buFont typeface="Arial" panose="020B0604020202020204" pitchFamily="34" charset="0"/>
              <a:buChar char="•"/>
            </a:pPr>
            <a:r>
              <a:rPr lang="en-US" b="0" dirty="0">
                <a:effectLst/>
                <a:latin typeface="berkeleyMono"/>
              </a:rPr>
              <a:t>ArrayList(int initialCapacity)</a:t>
            </a:r>
            <a:r>
              <a:rPr lang="en-US" dirty="0">
                <a:effectLst/>
                <a:latin typeface="fkGroteskNeue"/>
              </a:rPr>
              <a:t>: Initializes list with specified capacity.</a:t>
            </a:r>
          </a:p>
          <a:p>
            <a:pPr>
              <a:buNone/>
            </a:pPr>
            <a:r>
              <a:rPr lang="en-US" dirty="0">
                <a:effectLst/>
                <a:latin typeface="fkGroteskNeue"/>
              </a:rPr>
              <a:t>ArrayList is widely used due to its flexibility and powerful operations for dynamic data storage and retrieval.</a:t>
            </a:r>
          </a:p>
        </p:txBody>
      </p:sp>
    </p:spTree>
    <p:extLst>
      <p:ext uri="{BB962C8B-B14F-4D97-AF65-F5344CB8AC3E}">
        <p14:creationId xmlns:p14="http://schemas.microsoft.com/office/powerpoint/2010/main" val="2224712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B48DE-D23C-A4DF-FD92-318695EFEB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D6F7BD1-C0EE-86B7-E3AE-12DA84EF23D3}"/>
              </a:ext>
            </a:extLst>
          </p:cNvPr>
          <p:cNvSpPr txBox="1"/>
          <p:nvPr/>
        </p:nvSpPr>
        <p:spPr>
          <a:xfrm>
            <a:off x="983974" y="173143"/>
            <a:ext cx="8209722" cy="4247317"/>
          </a:xfrm>
          <a:prstGeom prst="rect">
            <a:avLst/>
          </a:prstGeom>
          <a:noFill/>
        </p:spPr>
        <p:txBody>
          <a:bodyPr wrap="square">
            <a:spAutoFit/>
          </a:bodyPr>
          <a:lstStyle/>
          <a:p>
            <a:r>
              <a:rPr lang="en-IN" b="1" dirty="0"/>
              <a:t>7.4.5 LinkedList </a:t>
            </a:r>
          </a:p>
          <a:p>
            <a:endParaRPr lang="en-IN" b="1" dirty="0"/>
          </a:p>
          <a:p>
            <a:r>
              <a:rPr lang="en-US" dirty="0"/>
              <a:t>LinkedList in Java is a doubly-linked list implementation of the List and Deque interfaces, designed for frequent insertions and deletions.</a:t>
            </a:r>
          </a:p>
          <a:p>
            <a:endParaRPr lang="en-US" dirty="0"/>
          </a:p>
          <a:p>
            <a:r>
              <a:rPr lang="en-US" b="1" dirty="0"/>
              <a:t>Key Features of LinkedList</a:t>
            </a:r>
          </a:p>
          <a:p>
            <a:endParaRPr lang="en-US" dirty="0"/>
          </a:p>
          <a:p>
            <a:pPr marL="285750" indent="-285750">
              <a:buFont typeface="Arial" panose="020B0604020202020204" pitchFamily="34" charset="0"/>
              <a:buChar char="•"/>
            </a:pPr>
            <a:r>
              <a:rPr lang="en-US" dirty="0"/>
              <a:t>Doubly Linked Structure: Each node contains data and references to both previous and next nodes.</a:t>
            </a:r>
          </a:p>
          <a:p>
            <a:pPr marL="285750" indent="-285750">
              <a:buFont typeface="Arial" panose="020B0604020202020204" pitchFamily="34" charset="0"/>
              <a:buChar char="•"/>
            </a:pPr>
            <a:r>
              <a:rPr lang="en-US" dirty="0"/>
              <a:t>Implements List and Deque: Can be used as a list, queue, or stack.</a:t>
            </a:r>
          </a:p>
          <a:p>
            <a:pPr marL="285750" indent="-285750">
              <a:buFont typeface="Arial" panose="020B0604020202020204" pitchFamily="34" charset="0"/>
              <a:buChar char="•"/>
            </a:pPr>
            <a:r>
              <a:rPr lang="en-US" dirty="0"/>
              <a:t>Dynamic Size: Grows and shrinks as elements are added or removed.</a:t>
            </a:r>
          </a:p>
          <a:p>
            <a:pPr marL="285750" indent="-285750">
              <a:buFont typeface="Arial" panose="020B0604020202020204" pitchFamily="34" charset="0"/>
              <a:buChar char="•"/>
            </a:pPr>
            <a:r>
              <a:rPr lang="en-US" dirty="0"/>
              <a:t>Allows Nulls and Duplicates: Null values and duplicate elements are permitted.</a:t>
            </a:r>
          </a:p>
          <a:p>
            <a:pPr marL="285750" indent="-285750">
              <a:buFont typeface="Arial" panose="020B0604020202020204" pitchFamily="34" charset="0"/>
              <a:buChar char="•"/>
            </a:pPr>
            <a:r>
              <a:rPr lang="en-US" dirty="0"/>
              <a:t>Efficient Insertions/Deletions: Fast for operations at the beginning, end, or middle; slower for random access compared to ArrayList.</a:t>
            </a:r>
          </a:p>
        </p:txBody>
      </p:sp>
      <p:sp>
        <p:nvSpPr>
          <p:cNvPr id="5" name="TextBox 4">
            <a:extLst>
              <a:ext uri="{FF2B5EF4-FFF2-40B4-BE49-F238E27FC236}">
                <a16:creationId xmlns:a16="http://schemas.microsoft.com/office/drawing/2014/main" id="{5B792E9F-127B-07FF-4DEA-A8B91188863C}"/>
              </a:ext>
            </a:extLst>
          </p:cNvPr>
          <p:cNvSpPr txBox="1"/>
          <p:nvPr/>
        </p:nvSpPr>
        <p:spPr>
          <a:xfrm>
            <a:off x="1053547" y="4567534"/>
            <a:ext cx="8289235" cy="369332"/>
          </a:xfrm>
          <a:prstGeom prst="rect">
            <a:avLst/>
          </a:prstGeom>
          <a:noFill/>
        </p:spPr>
        <p:txBody>
          <a:bodyPr wrap="square">
            <a:spAutoFit/>
          </a:bodyPr>
          <a:lstStyle/>
          <a:p>
            <a:pPr algn="l">
              <a:buNone/>
            </a:pPr>
            <a:r>
              <a:rPr lang="en-IN" b="1" i="0" dirty="0">
                <a:effectLst/>
                <a:latin typeface="fkGrotesk"/>
              </a:rPr>
              <a:t>Core Methods</a:t>
            </a:r>
          </a:p>
        </p:txBody>
      </p:sp>
    </p:spTree>
    <p:extLst>
      <p:ext uri="{BB962C8B-B14F-4D97-AF65-F5344CB8AC3E}">
        <p14:creationId xmlns:p14="http://schemas.microsoft.com/office/powerpoint/2010/main" val="2261077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76AA6-D4DD-F511-626B-6ADBE1BEC895}"/>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1AD66FB-6563-7703-9D46-6A7ED3EF57A5}"/>
              </a:ext>
            </a:extLst>
          </p:cNvPr>
          <p:cNvGraphicFramePr>
            <a:graphicFrameLocks noGrp="1"/>
          </p:cNvGraphicFramePr>
          <p:nvPr>
            <p:extLst>
              <p:ext uri="{D42A27DB-BD31-4B8C-83A1-F6EECF244321}">
                <p14:modId xmlns:p14="http://schemas.microsoft.com/office/powerpoint/2010/main" val="2775249747"/>
              </p:ext>
            </p:extLst>
          </p:nvPr>
        </p:nvGraphicFramePr>
        <p:xfrm>
          <a:off x="870693" y="361606"/>
          <a:ext cx="8472090" cy="4786563"/>
        </p:xfrm>
        <a:graphic>
          <a:graphicData uri="http://schemas.openxmlformats.org/drawingml/2006/table">
            <a:tbl>
              <a:tblPr>
                <a:tableStyleId>{5940675A-B579-460E-94D1-54222C63F5DA}</a:tableStyleId>
              </a:tblPr>
              <a:tblGrid>
                <a:gridCol w="1902324">
                  <a:extLst>
                    <a:ext uri="{9D8B030D-6E8A-4147-A177-3AD203B41FA5}">
                      <a16:colId xmlns:a16="http://schemas.microsoft.com/office/drawing/2014/main" val="1542686190"/>
                    </a:ext>
                  </a:extLst>
                </a:gridCol>
                <a:gridCol w="6569766">
                  <a:extLst>
                    <a:ext uri="{9D8B030D-6E8A-4147-A177-3AD203B41FA5}">
                      <a16:colId xmlns:a16="http://schemas.microsoft.com/office/drawing/2014/main" val="1795711256"/>
                    </a:ext>
                  </a:extLst>
                </a:gridCol>
              </a:tblGrid>
              <a:tr h="313408">
                <a:tc>
                  <a:txBody>
                    <a:bodyPr/>
                    <a:lstStyle/>
                    <a:p>
                      <a:pPr algn="l">
                        <a:buNone/>
                      </a:pPr>
                      <a:r>
                        <a:rPr lang="en-IN" sz="1800" b="1" dirty="0">
                          <a:effectLst/>
                        </a:rPr>
                        <a:t>Method</a:t>
                      </a:r>
                    </a:p>
                  </a:txBody>
                  <a:tcPr marL="48217" marR="48217" marT="48217" marB="48217" anchor="ctr"/>
                </a:tc>
                <a:tc>
                  <a:txBody>
                    <a:bodyPr/>
                    <a:lstStyle/>
                    <a:p>
                      <a:pPr algn="l">
                        <a:buNone/>
                      </a:pPr>
                      <a:r>
                        <a:rPr lang="en-IN" sz="1800" b="1">
                          <a:effectLst/>
                        </a:rPr>
                        <a:t>Description</a:t>
                      </a:r>
                    </a:p>
                  </a:txBody>
                  <a:tcPr marL="48217" marR="48217" marT="48217" marB="48217" anchor="ctr"/>
                </a:tc>
                <a:extLst>
                  <a:ext uri="{0D108BD9-81ED-4DB2-BD59-A6C34878D82A}">
                    <a16:rowId xmlns:a16="http://schemas.microsoft.com/office/drawing/2014/main" val="2670945020"/>
                  </a:ext>
                </a:extLst>
              </a:tr>
              <a:tr h="313408">
                <a:tc>
                  <a:txBody>
                    <a:bodyPr/>
                    <a:lstStyle/>
                    <a:p>
                      <a:pPr algn="l">
                        <a:buNone/>
                      </a:pPr>
                      <a:r>
                        <a:rPr lang="en-IN" sz="1800">
                          <a:effectLst/>
                        </a:rPr>
                        <a:t>add(E element)</a:t>
                      </a:r>
                    </a:p>
                  </a:txBody>
                  <a:tcPr marL="48217" marR="48217" marT="48217" marB="48217" anchor="ctr"/>
                </a:tc>
                <a:tc>
                  <a:txBody>
                    <a:bodyPr/>
                    <a:lstStyle/>
                    <a:p>
                      <a:pPr algn="l">
                        <a:buNone/>
                      </a:pPr>
                      <a:r>
                        <a:rPr lang="en-IN" sz="1800">
                          <a:effectLst/>
                        </a:rPr>
                        <a:t>Appends to the end</a:t>
                      </a:r>
                    </a:p>
                  </a:txBody>
                  <a:tcPr marL="48217" marR="48217" marT="48217" marB="48217" anchor="ctr"/>
                </a:tc>
                <a:extLst>
                  <a:ext uri="{0D108BD9-81ED-4DB2-BD59-A6C34878D82A}">
                    <a16:rowId xmlns:a16="http://schemas.microsoft.com/office/drawing/2014/main" val="3069531596"/>
                  </a:ext>
                </a:extLst>
              </a:tr>
              <a:tr h="313408">
                <a:tc>
                  <a:txBody>
                    <a:bodyPr/>
                    <a:lstStyle/>
                    <a:p>
                      <a:pPr algn="l">
                        <a:buNone/>
                      </a:pPr>
                      <a:r>
                        <a:rPr lang="en-IN" sz="1800">
                          <a:effectLst/>
                        </a:rPr>
                        <a:t>addFirst(E e)</a:t>
                      </a:r>
                    </a:p>
                  </a:txBody>
                  <a:tcPr marL="48217" marR="48217" marT="48217" marB="48217" anchor="ctr"/>
                </a:tc>
                <a:tc>
                  <a:txBody>
                    <a:bodyPr/>
                    <a:lstStyle/>
                    <a:p>
                      <a:pPr algn="l">
                        <a:buNone/>
                      </a:pPr>
                      <a:r>
                        <a:rPr lang="en-IN" sz="1800">
                          <a:effectLst/>
                        </a:rPr>
                        <a:t>Inserts at the beginning</a:t>
                      </a:r>
                    </a:p>
                  </a:txBody>
                  <a:tcPr marL="48217" marR="48217" marT="48217" marB="48217" anchor="ctr"/>
                </a:tc>
                <a:extLst>
                  <a:ext uri="{0D108BD9-81ED-4DB2-BD59-A6C34878D82A}">
                    <a16:rowId xmlns:a16="http://schemas.microsoft.com/office/drawing/2014/main" val="4182641020"/>
                  </a:ext>
                </a:extLst>
              </a:tr>
              <a:tr h="313408">
                <a:tc>
                  <a:txBody>
                    <a:bodyPr/>
                    <a:lstStyle/>
                    <a:p>
                      <a:pPr algn="l">
                        <a:buNone/>
                      </a:pPr>
                      <a:r>
                        <a:rPr lang="en-IN" sz="1800">
                          <a:effectLst/>
                        </a:rPr>
                        <a:t>addLast(E e)</a:t>
                      </a:r>
                    </a:p>
                  </a:txBody>
                  <a:tcPr marL="48217" marR="48217" marT="48217" marB="48217" anchor="ctr"/>
                </a:tc>
                <a:tc>
                  <a:txBody>
                    <a:bodyPr/>
                    <a:lstStyle/>
                    <a:p>
                      <a:pPr algn="l">
                        <a:buNone/>
                      </a:pPr>
                      <a:r>
                        <a:rPr lang="en-IN" sz="1800">
                          <a:effectLst/>
                        </a:rPr>
                        <a:t>Inserts at the end</a:t>
                      </a:r>
                    </a:p>
                  </a:txBody>
                  <a:tcPr marL="48217" marR="48217" marT="48217" marB="48217" anchor="ctr"/>
                </a:tc>
                <a:extLst>
                  <a:ext uri="{0D108BD9-81ED-4DB2-BD59-A6C34878D82A}">
                    <a16:rowId xmlns:a16="http://schemas.microsoft.com/office/drawing/2014/main" val="2218474744"/>
                  </a:ext>
                </a:extLst>
              </a:tr>
              <a:tr h="313408">
                <a:tc>
                  <a:txBody>
                    <a:bodyPr/>
                    <a:lstStyle/>
                    <a:p>
                      <a:pPr algn="l">
                        <a:buNone/>
                      </a:pPr>
                      <a:r>
                        <a:rPr lang="it-IT" sz="1800">
                          <a:effectLst/>
                        </a:rPr>
                        <a:t>add(int index, E e)</a:t>
                      </a:r>
                    </a:p>
                  </a:txBody>
                  <a:tcPr marL="48217" marR="48217" marT="48217" marB="48217" anchor="ctr"/>
                </a:tc>
                <a:tc>
                  <a:txBody>
                    <a:bodyPr/>
                    <a:lstStyle/>
                    <a:p>
                      <a:pPr algn="l">
                        <a:buNone/>
                      </a:pPr>
                      <a:r>
                        <a:rPr lang="en-US" sz="1800">
                          <a:effectLst/>
                        </a:rPr>
                        <a:t>Inserts at a specific index</a:t>
                      </a:r>
                    </a:p>
                  </a:txBody>
                  <a:tcPr marL="48217" marR="48217" marT="48217" marB="48217" anchor="ctr"/>
                </a:tc>
                <a:extLst>
                  <a:ext uri="{0D108BD9-81ED-4DB2-BD59-A6C34878D82A}">
                    <a16:rowId xmlns:a16="http://schemas.microsoft.com/office/drawing/2014/main" val="831697299"/>
                  </a:ext>
                </a:extLst>
              </a:tr>
              <a:tr h="313408">
                <a:tc>
                  <a:txBody>
                    <a:bodyPr/>
                    <a:lstStyle/>
                    <a:p>
                      <a:pPr algn="l">
                        <a:buNone/>
                      </a:pPr>
                      <a:r>
                        <a:rPr lang="en-IN" sz="1800">
                          <a:effectLst/>
                        </a:rPr>
                        <a:t>remove()</a:t>
                      </a:r>
                    </a:p>
                  </a:txBody>
                  <a:tcPr marL="48217" marR="48217" marT="48217" marB="48217" anchor="ctr"/>
                </a:tc>
                <a:tc>
                  <a:txBody>
                    <a:bodyPr/>
                    <a:lstStyle/>
                    <a:p>
                      <a:pPr algn="l">
                        <a:buNone/>
                      </a:pPr>
                      <a:r>
                        <a:rPr lang="en-US" sz="1800">
                          <a:effectLst/>
                        </a:rPr>
                        <a:t>Removes and returns the first element</a:t>
                      </a:r>
                    </a:p>
                  </a:txBody>
                  <a:tcPr marL="48217" marR="48217" marT="48217" marB="48217" anchor="ctr"/>
                </a:tc>
                <a:extLst>
                  <a:ext uri="{0D108BD9-81ED-4DB2-BD59-A6C34878D82A}">
                    <a16:rowId xmlns:a16="http://schemas.microsoft.com/office/drawing/2014/main" val="2269755664"/>
                  </a:ext>
                </a:extLst>
              </a:tr>
              <a:tr h="313408">
                <a:tc>
                  <a:txBody>
                    <a:bodyPr/>
                    <a:lstStyle/>
                    <a:p>
                      <a:pPr algn="l">
                        <a:buNone/>
                      </a:pPr>
                      <a:r>
                        <a:rPr lang="en-IN" sz="1800">
                          <a:effectLst/>
                        </a:rPr>
                        <a:t>removeFirst()</a:t>
                      </a:r>
                    </a:p>
                  </a:txBody>
                  <a:tcPr marL="48217" marR="48217" marT="48217" marB="48217" anchor="ctr"/>
                </a:tc>
                <a:tc>
                  <a:txBody>
                    <a:bodyPr/>
                    <a:lstStyle/>
                    <a:p>
                      <a:pPr algn="l">
                        <a:buNone/>
                      </a:pPr>
                      <a:r>
                        <a:rPr lang="en-IN" sz="1800">
                          <a:effectLst/>
                        </a:rPr>
                        <a:t>Removes the first element</a:t>
                      </a:r>
                    </a:p>
                  </a:txBody>
                  <a:tcPr marL="48217" marR="48217" marT="48217" marB="48217" anchor="ctr"/>
                </a:tc>
                <a:extLst>
                  <a:ext uri="{0D108BD9-81ED-4DB2-BD59-A6C34878D82A}">
                    <a16:rowId xmlns:a16="http://schemas.microsoft.com/office/drawing/2014/main" val="1783607427"/>
                  </a:ext>
                </a:extLst>
              </a:tr>
              <a:tr h="313408">
                <a:tc>
                  <a:txBody>
                    <a:bodyPr/>
                    <a:lstStyle/>
                    <a:p>
                      <a:pPr algn="l">
                        <a:buNone/>
                      </a:pPr>
                      <a:r>
                        <a:rPr lang="en-IN" sz="1800">
                          <a:effectLst/>
                        </a:rPr>
                        <a:t>removeLast()</a:t>
                      </a:r>
                    </a:p>
                  </a:txBody>
                  <a:tcPr marL="48217" marR="48217" marT="48217" marB="48217" anchor="ctr"/>
                </a:tc>
                <a:tc>
                  <a:txBody>
                    <a:bodyPr/>
                    <a:lstStyle/>
                    <a:p>
                      <a:pPr algn="l">
                        <a:buNone/>
                      </a:pPr>
                      <a:r>
                        <a:rPr lang="en-IN" sz="1800" dirty="0">
                          <a:effectLst/>
                        </a:rPr>
                        <a:t>Removes the last element</a:t>
                      </a:r>
                    </a:p>
                  </a:txBody>
                  <a:tcPr marL="48217" marR="48217" marT="48217" marB="48217" anchor="ctr"/>
                </a:tc>
                <a:extLst>
                  <a:ext uri="{0D108BD9-81ED-4DB2-BD59-A6C34878D82A}">
                    <a16:rowId xmlns:a16="http://schemas.microsoft.com/office/drawing/2014/main" val="326447168"/>
                  </a:ext>
                </a:extLst>
              </a:tr>
              <a:tr h="530383">
                <a:tc>
                  <a:txBody>
                    <a:bodyPr/>
                    <a:lstStyle/>
                    <a:p>
                      <a:pPr algn="l">
                        <a:buNone/>
                      </a:pPr>
                      <a:r>
                        <a:rPr lang="en-IN" sz="1800">
                          <a:effectLst/>
                        </a:rPr>
                        <a:t>get(int index)</a:t>
                      </a:r>
                    </a:p>
                  </a:txBody>
                  <a:tcPr marL="48217" marR="48217" marT="48217" marB="48217" anchor="ctr"/>
                </a:tc>
                <a:tc>
                  <a:txBody>
                    <a:bodyPr/>
                    <a:lstStyle/>
                    <a:p>
                      <a:pPr algn="l">
                        <a:buNone/>
                      </a:pPr>
                      <a:r>
                        <a:rPr lang="en-US" sz="1800">
                          <a:effectLst/>
                        </a:rPr>
                        <a:t>Gets the element at the specified position</a:t>
                      </a:r>
                    </a:p>
                  </a:txBody>
                  <a:tcPr marL="48217" marR="48217" marT="48217" marB="48217" anchor="ctr"/>
                </a:tc>
                <a:extLst>
                  <a:ext uri="{0D108BD9-81ED-4DB2-BD59-A6C34878D82A}">
                    <a16:rowId xmlns:a16="http://schemas.microsoft.com/office/drawing/2014/main" val="1268177288"/>
                  </a:ext>
                </a:extLst>
              </a:tr>
              <a:tr h="530383">
                <a:tc>
                  <a:txBody>
                    <a:bodyPr/>
                    <a:lstStyle/>
                    <a:p>
                      <a:pPr algn="l">
                        <a:buNone/>
                      </a:pPr>
                      <a:r>
                        <a:rPr lang="en-IN" sz="1800">
                          <a:effectLst/>
                        </a:rPr>
                        <a:t>set(int index, E e)</a:t>
                      </a:r>
                    </a:p>
                  </a:txBody>
                  <a:tcPr marL="48217" marR="48217" marT="48217" marB="48217" anchor="ctr"/>
                </a:tc>
                <a:tc>
                  <a:txBody>
                    <a:bodyPr/>
                    <a:lstStyle/>
                    <a:p>
                      <a:pPr algn="l">
                        <a:buNone/>
                      </a:pPr>
                      <a:r>
                        <a:rPr lang="en-US" sz="1800">
                          <a:effectLst/>
                        </a:rPr>
                        <a:t>Replaces element at the specified position</a:t>
                      </a:r>
                    </a:p>
                  </a:txBody>
                  <a:tcPr marL="48217" marR="48217" marT="48217" marB="48217" anchor="ctr"/>
                </a:tc>
                <a:extLst>
                  <a:ext uri="{0D108BD9-81ED-4DB2-BD59-A6C34878D82A}">
                    <a16:rowId xmlns:a16="http://schemas.microsoft.com/office/drawing/2014/main" val="3016858602"/>
                  </a:ext>
                </a:extLst>
              </a:tr>
              <a:tr h="313408">
                <a:tc>
                  <a:txBody>
                    <a:bodyPr/>
                    <a:lstStyle/>
                    <a:p>
                      <a:pPr algn="l">
                        <a:buNone/>
                      </a:pPr>
                      <a:r>
                        <a:rPr lang="en-IN" sz="1800" dirty="0">
                          <a:effectLst/>
                        </a:rPr>
                        <a:t>size()</a:t>
                      </a:r>
                    </a:p>
                  </a:txBody>
                  <a:tcPr marL="48217" marR="48217" marT="48217" marB="48217" anchor="ctr"/>
                </a:tc>
                <a:tc>
                  <a:txBody>
                    <a:bodyPr/>
                    <a:lstStyle/>
                    <a:p>
                      <a:pPr algn="l">
                        <a:buNone/>
                      </a:pPr>
                      <a:r>
                        <a:rPr lang="en-US" sz="1800" dirty="0">
                          <a:effectLst/>
                        </a:rPr>
                        <a:t>Returns the number of elements</a:t>
                      </a:r>
                    </a:p>
                  </a:txBody>
                  <a:tcPr marL="48217" marR="48217" marT="48217" marB="48217" anchor="ctr"/>
                </a:tc>
                <a:extLst>
                  <a:ext uri="{0D108BD9-81ED-4DB2-BD59-A6C34878D82A}">
                    <a16:rowId xmlns:a16="http://schemas.microsoft.com/office/drawing/2014/main" val="4162824957"/>
                  </a:ext>
                </a:extLst>
              </a:tr>
            </a:tbl>
          </a:graphicData>
        </a:graphic>
      </p:graphicFrame>
    </p:spTree>
    <p:extLst>
      <p:ext uri="{BB962C8B-B14F-4D97-AF65-F5344CB8AC3E}">
        <p14:creationId xmlns:p14="http://schemas.microsoft.com/office/powerpoint/2010/main" val="2266899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06F78-D790-58CF-80F3-4A7405870B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025E98-23D2-DC8D-48DF-375F6EEED645}"/>
              </a:ext>
            </a:extLst>
          </p:cNvPr>
          <p:cNvSpPr txBox="1"/>
          <p:nvPr/>
        </p:nvSpPr>
        <p:spPr>
          <a:xfrm>
            <a:off x="854765" y="194318"/>
            <a:ext cx="8219661" cy="6186309"/>
          </a:xfrm>
          <a:prstGeom prst="rect">
            <a:avLst/>
          </a:prstGeom>
          <a:noFill/>
        </p:spPr>
        <p:txBody>
          <a:bodyPr wrap="square">
            <a:spAutoFit/>
          </a:bodyPr>
          <a:lstStyle/>
          <a:p>
            <a:pPr>
              <a:buNone/>
            </a:pPr>
            <a:r>
              <a:rPr lang="en-IN" b="0" dirty="0">
                <a:effectLst/>
                <a:latin typeface="fkGrotesk"/>
              </a:rPr>
              <a:t>Example Usage</a:t>
            </a:r>
          </a:p>
          <a:p>
            <a:pPr>
              <a:buNone/>
            </a:pPr>
            <a:endParaRPr lang="en-IN" dirty="0">
              <a:latin typeface="fkGrotesk"/>
            </a:endParaRPr>
          </a:p>
          <a:p>
            <a:pPr>
              <a:buNone/>
            </a:pPr>
            <a:r>
              <a:rPr lang="en-IN" dirty="0">
                <a:latin typeface="fkGrotesk"/>
              </a:rPr>
              <a:t>import </a:t>
            </a:r>
            <a:r>
              <a:rPr lang="en-IN" dirty="0" err="1">
                <a:latin typeface="fkGrotesk"/>
              </a:rPr>
              <a:t>java.util.LinkedList</a:t>
            </a:r>
            <a:r>
              <a:rPr lang="en-IN" dirty="0">
                <a:latin typeface="fkGrotesk"/>
              </a:rPr>
              <a:t>;</a:t>
            </a:r>
          </a:p>
          <a:p>
            <a:pPr>
              <a:buNone/>
            </a:pPr>
            <a:endParaRPr lang="en-IN" dirty="0">
              <a:latin typeface="fkGrotesk"/>
            </a:endParaRPr>
          </a:p>
          <a:p>
            <a:pPr>
              <a:buNone/>
            </a:pPr>
            <a:r>
              <a:rPr lang="en-IN" dirty="0">
                <a:latin typeface="fkGrotesk"/>
              </a:rPr>
              <a:t>public class Example {</a:t>
            </a:r>
          </a:p>
          <a:p>
            <a:pPr>
              <a:buNone/>
            </a:pPr>
            <a:r>
              <a:rPr lang="en-IN" dirty="0">
                <a:latin typeface="fkGrotesk"/>
              </a:rPr>
              <a:t>    public static void main(String[] args) {</a:t>
            </a:r>
          </a:p>
          <a:p>
            <a:pPr>
              <a:buNone/>
            </a:pPr>
            <a:r>
              <a:rPr lang="en-IN" dirty="0">
                <a:latin typeface="fkGrotesk"/>
              </a:rPr>
              <a:t>        LinkedList&lt;String&gt; items = new LinkedList&lt;&gt;();</a:t>
            </a:r>
          </a:p>
          <a:p>
            <a:pPr>
              <a:buNone/>
            </a:pPr>
            <a:r>
              <a:rPr lang="en-IN" dirty="0">
                <a:latin typeface="fkGrotesk"/>
              </a:rPr>
              <a:t>        </a:t>
            </a:r>
            <a:r>
              <a:rPr lang="en-IN" dirty="0" err="1">
                <a:latin typeface="fkGrotesk"/>
              </a:rPr>
              <a:t>items.add</a:t>
            </a:r>
            <a:r>
              <a:rPr lang="en-IN" dirty="0">
                <a:latin typeface="fkGrotesk"/>
              </a:rPr>
              <a:t>("A");</a:t>
            </a:r>
          </a:p>
          <a:p>
            <a:pPr>
              <a:buNone/>
            </a:pPr>
            <a:r>
              <a:rPr lang="en-IN" dirty="0">
                <a:latin typeface="fkGrotesk"/>
              </a:rPr>
              <a:t>        </a:t>
            </a:r>
            <a:r>
              <a:rPr lang="en-IN" dirty="0" err="1">
                <a:latin typeface="fkGrotesk"/>
              </a:rPr>
              <a:t>items.add</a:t>
            </a:r>
            <a:r>
              <a:rPr lang="en-IN" dirty="0">
                <a:latin typeface="fkGrotesk"/>
              </a:rPr>
              <a:t>("B");</a:t>
            </a:r>
          </a:p>
          <a:p>
            <a:pPr>
              <a:buNone/>
            </a:pPr>
            <a:r>
              <a:rPr lang="en-IN" dirty="0">
                <a:latin typeface="fkGrotesk"/>
              </a:rPr>
              <a:t>        </a:t>
            </a:r>
            <a:r>
              <a:rPr lang="en-IN" dirty="0" err="1">
                <a:latin typeface="fkGrotesk"/>
              </a:rPr>
              <a:t>items.addFirst</a:t>
            </a:r>
            <a:r>
              <a:rPr lang="en-IN" dirty="0">
                <a:latin typeface="fkGrotesk"/>
              </a:rPr>
              <a:t>("Start");</a:t>
            </a:r>
          </a:p>
          <a:p>
            <a:pPr>
              <a:buNone/>
            </a:pPr>
            <a:r>
              <a:rPr lang="en-IN" dirty="0">
                <a:latin typeface="fkGrotesk"/>
              </a:rPr>
              <a:t>        </a:t>
            </a:r>
            <a:r>
              <a:rPr lang="en-IN" dirty="0" err="1">
                <a:latin typeface="fkGrotesk"/>
              </a:rPr>
              <a:t>items.addLast</a:t>
            </a:r>
            <a:r>
              <a:rPr lang="en-IN" dirty="0">
                <a:latin typeface="fkGrotesk"/>
              </a:rPr>
              <a:t>("End");</a:t>
            </a:r>
          </a:p>
          <a:p>
            <a:pPr>
              <a:buNone/>
            </a:pPr>
            <a:r>
              <a:rPr lang="en-IN" dirty="0">
                <a:latin typeface="fkGrotesk"/>
              </a:rPr>
              <a:t>        System.out.println(items); // [Start, A, B, End]</a:t>
            </a:r>
          </a:p>
          <a:p>
            <a:pPr>
              <a:buNone/>
            </a:pPr>
            <a:r>
              <a:rPr lang="en-IN" dirty="0">
                <a:latin typeface="fkGrotesk"/>
              </a:rPr>
              <a:t>        </a:t>
            </a:r>
            <a:r>
              <a:rPr lang="en-IN" dirty="0" err="1">
                <a:latin typeface="fkGrotesk"/>
              </a:rPr>
              <a:t>items.remove</a:t>
            </a:r>
            <a:r>
              <a:rPr lang="en-IN" dirty="0">
                <a:latin typeface="fkGrotesk"/>
              </a:rPr>
              <a:t>("B");</a:t>
            </a:r>
          </a:p>
          <a:p>
            <a:pPr>
              <a:buNone/>
            </a:pPr>
            <a:r>
              <a:rPr lang="en-IN" dirty="0">
                <a:latin typeface="fkGrotesk"/>
              </a:rPr>
              <a:t>        System.out.println(items); // [Start, A, End]</a:t>
            </a:r>
          </a:p>
          <a:p>
            <a:pPr>
              <a:buNone/>
            </a:pPr>
            <a:r>
              <a:rPr lang="en-IN" dirty="0">
                <a:latin typeface="fkGrotesk"/>
              </a:rPr>
              <a:t>    }</a:t>
            </a:r>
          </a:p>
          <a:p>
            <a:pPr>
              <a:buNone/>
            </a:pPr>
            <a:r>
              <a:rPr lang="en-IN" dirty="0">
                <a:latin typeface="fkGrotesk"/>
              </a:rPr>
              <a:t>}</a:t>
            </a:r>
          </a:p>
          <a:p>
            <a:pPr>
              <a:buNone/>
            </a:pPr>
            <a:endParaRPr lang="en-IN" dirty="0">
              <a:latin typeface="fkGrotesk"/>
            </a:endParaRPr>
          </a:p>
          <a:p>
            <a:pPr>
              <a:buNone/>
            </a:pPr>
            <a:r>
              <a:rPr lang="en-US" dirty="0"/>
              <a:t>LinkedList is valuable when applications require frequent addition and removal of elements, especially at the front or rear, and when bidirectional traversal is </a:t>
            </a:r>
            <a:r>
              <a:rPr lang="en-US" dirty="0" err="1"/>
              <a:t>needed.The</a:t>
            </a:r>
            <a:r>
              <a:rPr lang="en-US" dirty="0"/>
              <a:t> LinkedList class in Java is a doubly-linked list implementation of the List and Deque interfaces, allowing efficient element insertions and removals.</a:t>
            </a:r>
            <a:endParaRPr lang="en-IN" dirty="0">
              <a:latin typeface="fkGrotesk"/>
            </a:endParaRPr>
          </a:p>
        </p:txBody>
      </p:sp>
    </p:spTree>
    <p:extLst>
      <p:ext uri="{BB962C8B-B14F-4D97-AF65-F5344CB8AC3E}">
        <p14:creationId xmlns:p14="http://schemas.microsoft.com/office/powerpoint/2010/main" val="378305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02350-376D-D038-327C-0D27409003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D2210A-7D2B-D171-EB76-49A1A48E48F5}"/>
              </a:ext>
            </a:extLst>
          </p:cNvPr>
          <p:cNvSpPr txBox="1"/>
          <p:nvPr/>
        </p:nvSpPr>
        <p:spPr>
          <a:xfrm>
            <a:off x="824948" y="177033"/>
            <a:ext cx="8527774" cy="2585323"/>
          </a:xfrm>
          <a:prstGeom prst="rect">
            <a:avLst/>
          </a:prstGeom>
          <a:noFill/>
        </p:spPr>
        <p:txBody>
          <a:bodyPr wrap="square">
            <a:spAutoFit/>
          </a:bodyPr>
          <a:lstStyle/>
          <a:p>
            <a:pPr algn="l">
              <a:buNone/>
            </a:pPr>
            <a:r>
              <a:rPr lang="en-US" b="1" i="0" dirty="0">
                <a:effectLst/>
                <a:latin typeface="fkGrotesk"/>
              </a:rPr>
              <a:t>Key Features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Elements are stored as nodes, each containing data and references to the previous and next nodes.</a:t>
            </a:r>
          </a:p>
          <a:p>
            <a:pPr algn="l">
              <a:buFont typeface="Arial" panose="020B0604020202020204" pitchFamily="34" charset="0"/>
              <a:buChar char="•"/>
            </a:pPr>
            <a:r>
              <a:rPr lang="en-US" b="0" i="0" dirty="0">
                <a:effectLst/>
                <a:latin typeface="fkGroteskNeue"/>
              </a:rPr>
              <a:t>Implements both List (indexed access) and Deque (queue and stack operations).</a:t>
            </a:r>
          </a:p>
          <a:p>
            <a:pPr algn="l">
              <a:buFont typeface="Arial" panose="020B0604020202020204" pitchFamily="34" charset="0"/>
              <a:buChar char="•"/>
            </a:pPr>
            <a:r>
              <a:rPr lang="en-US" b="0" i="0" dirty="0">
                <a:effectLst/>
                <a:latin typeface="fkGroteskNeue"/>
              </a:rPr>
              <a:t>Allows null elements and duplicates.</a:t>
            </a:r>
          </a:p>
          <a:p>
            <a:pPr algn="l">
              <a:buFont typeface="Arial" panose="020B0604020202020204" pitchFamily="34" charset="0"/>
              <a:buChar char="•"/>
            </a:pPr>
            <a:r>
              <a:rPr lang="en-US" b="0" i="0" dirty="0">
                <a:effectLst/>
                <a:latin typeface="fkGroteskNeue"/>
              </a:rPr>
              <a:t>Supports constant-time insertions/removals at both ends.</a:t>
            </a:r>
          </a:p>
          <a:p>
            <a:pPr algn="l">
              <a:buFont typeface="Arial" panose="020B0604020202020204" pitchFamily="34" charset="0"/>
              <a:buChar char="•"/>
            </a:pPr>
            <a:endParaRPr lang="en-US" dirty="0">
              <a:latin typeface="fkGroteskNeue"/>
            </a:endParaRPr>
          </a:p>
          <a:p>
            <a:r>
              <a:rPr lang="en-IN" dirty="0"/>
              <a:t>Common Methods</a:t>
            </a:r>
          </a:p>
        </p:txBody>
      </p:sp>
      <p:graphicFrame>
        <p:nvGraphicFramePr>
          <p:cNvPr id="4" name="Table 3">
            <a:extLst>
              <a:ext uri="{FF2B5EF4-FFF2-40B4-BE49-F238E27FC236}">
                <a16:creationId xmlns:a16="http://schemas.microsoft.com/office/drawing/2014/main" id="{372B17B6-D43F-B3BF-D2DB-3F12C95ADC1D}"/>
              </a:ext>
            </a:extLst>
          </p:cNvPr>
          <p:cNvGraphicFramePr>
            <a:graphicFrameLocks noGrp="1"/>
          </p:cNvGraphicFramePr>
          <p:nvPr>
            <p:extLst>
              <p:ext uri="{D42A27DB-BD31-4B8C-83A1-F6EECF244321}">
                <p14:modId xmlns:p14="http://schemas.microsoft.com/office/powerpoint/2010/main" val="734809912"/>
              </p:ext>
            </p:extLst>
          </p:nvPr>
        </p:nvGraphicFramePr>
        <p:xfrm>
          <a:off x="677863" y="2912586"/>
          <a:ext cx="8596312" cy="2377440"/>
        </p:xfrm>
        <a:graphic>
          <a:graphicData uri="http://schemas.openxmlformats.org/drawingml/2006/table">
            <a:tbl>
              <a:tblPr>
                <a:tableStyleId>{5940675A-B579-460E-94D1-54222C63F5DA}</a:tableStyleId>
              </a:tblPr>
              <a:tblGrid>
                <a:gridCol w="4122737">
                  <a:extLst>
                    <a:ext uri="{9D8B030D-6E8A-4147-A177-3AD203B41FA5}">
                      <a16:colId xmlns:a16="http://schemas.microsoft.com/office/drawing/2014/main" val="890303565"/>
                    </a:ext>
                  </a:extLst>
                </a:gridCol>
                <a:gridCol w="4473575">
                  <a:extLst>
                    <a:ext uri="{9D8B030D-6E8A-4147-A177-3AD203B41FA5}">
                      <a16:colId xmlns:a16="http://schemas.microsoft.com/office/drawing/2014/main" val="4246685807"/>
                    </a:ext>
                  </a:extLst>
                </a:gridCol>
              </a:tblGrid>
              <a:tr h="0">
                <a:tc>
                  <a:txBody>
                    <a:bodyPr/>
                    <a:lstStyle/>
                    <a:p>
                      <a:pPr algn="ctr">
                        <a:buNone/>
                      </a:pPr>
                      <a:r>
                        <a:rPr lang="en-IN" b="1">
                          <a:effectLst/>
                        </a:rPr>
                        <a:t>Method</a:t>
                      </a:r>
                    </a:p>
                  </a:txBody>
                  <a:tcPr marL="60960" marR="60960" marT="60960" marB="60960" anchor="ctr"/>
                </a:tc>
                <a:tc>
                  <a:txBody>
                    <a:bodyPr/>
                    <a:lstStyle/>
                    <a:p>
                      <a:pPr algn="ctr">
                        <a:buNone/>
                      </a:pPr>
                      <a:r>
                        <a:rPr lang="en-IN" b="1" dirty="0">
                          <a:effectLst/>
                        </a:rPr>
                        <a:t>Description</a:t>
                      </a:r>
                    </a:p>
                  </a:txBody>
                  <a:tcPr marL="60960" marR="60960" marT="60960" marB="60960" anchor="ctr"/>
                </a:tc>
                <a:extLst>
                  <a:ext uri="{0D108BD9-81ED-4DB2-BD59-A6C34878D82A}">
                    <a16:rowId xmlns:a16="http://schemas.microsoft.com/office/drawing/2014/main" val="1998472896"/>
                  </a:ext>
                </a:extLst>
              </a:tr>
              <a:tr h="0">
                <a:tc>
                  <a:txBody>
                    <a:bodyPr/>
                    <a:lstStyle/>
                    <a:p>
                      <a:pPr algn="l">
                        <a:buNone/>
                      </a:pPr>
                      <a:r>
                        <a:rPr lang="en-IN" dirty="0">
                          <a:effectLst/>
                        </a:rPr>
                        <a:t>add(E e)</a:t>
                      </a:r>
                    </a:p>
                  </a:txBody>
                  <a:tcPr marL="60960" marR="60960" marT="60960" marB="60960" anchor="ctr"/>
                </a:tc>
                <a:tc>
                  <a:txBody>
                    <a:bodyPr/>
                    <a:lstStyle/>
                    <a:p>
                      <a:pPr algn="l">
                        <a:buNone/>
                      </a:pPr>
                      <a:r>
                        <a:rPr lang="en-US">
                          <a:effectLst/>
                        </a:rPr>
                        <a:t>Adds an element to the end</a:t>
                      </a:r>
                    </a:p>
                  </a:txBody>
                  <a:tcPr marL="60960" marR="60960" marT="60960" marB="60960" anchor="ctr"/>
                </a:tc>
                <a:extLst>
                  <a:ext uri="{0D108BD9-81ED-4DB2-BD59-A6C34878D82A}">
                    <a16:rowId xmlns:a16="http://schemas.microsoft.com/office/drawing/2014/main" val="1163220576"/>
                  </a:ext>
                </a:extLst>
              </a:tr>
              <a:tr h="0">
                <a:tc>
                  <a:txBody>
                    <a:bodyPr/>
                    <a:lstStyle/>
                    <a:p>
                      <a:pPr algn="l">
                        <a:buNone/>
                      </a:pPr>
                      <a:r>
                        <a:rPr lang="it-IT" dirty="0">
                          <a:effectLst/>
                        </a:rPr>
                        <a:t>addFirst(E e), addLast(E e)</a:t>
                      </a:r>
                    </a:p>
                  </a:txBody>
                  <a:tcPr marL="60960" marR="60960" marT="60960" marB="60960" anchor="ctr"/>
                </a:tc>
                <a:tc>
                  <a:txBody>
                    <a:bodyPr/>
                    <a:lstStyle/>
                    <a:p>
                      <a:pPr algn="l">
                        <a:buNone/>
                      </a:pPr>
                      <a:r>
                        <a:rPr lang="en-US">
                          <a:effectLst/>
                        </a:rPr>
                        <a:t>Adds to the beginning/end</a:t>
                      </a:r>
                    </a:p>
                  </a:txBody>
                  <a:tcPr marL="60960" marR="60960" marT="60960" marB="60960" anchor="ctr"/>
                </a:tc>
                <a:extLst>
                  <a:ext uri="{0D108BD9-81ED-4DB2-BD59-A6C34878D82A}">
                    <a16:rowId xmlns:a16="http://schemas.microsoft.com/office/drawing/2014/main" val="3114694623"/>
                  </a:ext>
                </a:extLst>
              </a:tr>
              <a:tr h="0">
                <a:tc>
                  <a:txBody>
                    <a:bodyPr/>
                    <a:lstStyle/>
                    <a:p>
                      <a:pPr algn="l">
                        <a:buNone/>
                      </a:pPr>
                      <a:r>
                        <a:rPr lang="en-IN">
                          <a:effectLst/>
                        </a:rPr>
                        <a:t>remove(), removeFirst(), removeLast()</a:t>
                      </a:r>
                    </a:p>
                  </a:txBody>
                  <a:tcPr marL="60960" marR="60960" marT="60960" marB="60960" anchor="ctr"/>
                </a:tc>
                <a:tc>
                  <a:txBody>
                    <a:bodyPr/>
                    <a:lstStyle/>
                    <a:p>
                      <a:pPr algn="l">
                        <a:buNone/>
                      </a:pPr>
                      <a:r>
                        <a:rPr lang="en-US">
                          <a:effectLst/>
                        </a:rPr>
                        <a:t>Removes elements from front/end</a:t>
                      </a:r>
                    </a:p>
                  </a:txBody>
                  <a:tcPr marL="60960" marR="60960" marT="60960" marB="60960" anchor="ctr"/>
                </a:tc>
                <a:extLst>
                  <a:ext uri="{0D108BD9-81ED-4DB2-BD59-A6C34878D82A}">
                    <a16:rowId xmlns:a16="http://schemas.microsoft.com/office/drawing/2014/main" val="2209202007"/>
                  </a:ext>
                </a:extLst>
              </a:tr>
              <a:tr h="0">
                <a:tc>
                  <a:txBody>
                    <a:bodyPr/>
                    <a:lstStyle/>
                    <a:p>
                      <a:pPr algn="l">
                        <a:buNone/>
                      </a:pPr>
                      <a:r>
                        <a:rPr lang="en-IN">
                          <a:effectLst/>
                        </a:rPr>
                        <a:t>get(int index)</a:t>
                      </a:r>
                    </a:p>
                  </a:txBody>
                  <a:tcPr marL="60960" marR="60960" marT="60960" marB="60960" anchor="ctr"/>
                </a:tc>
                <a:tc>
                  <a:txBody>
                    <a:bodyPr/>
                    <a:lstStyle/>
                    <a:p>
                      <a:pPr algn="l">
                        <a:buNone/>
                      </a:pPr>
                      <a:r>
                        <a:rPr lang="en-IN">
                          <a:effectLst/>
                        </a:rPr>
                        <a:t>Gets element at index</a:t>
                      </a:r>
                    </a:p>
                  </a:txBody>
                  <a:tcPr marL="60960" marR="60960" marT="60960" marB="60960" anchor="ctr"/>
                </a:tc>
                <a:extLst>
                  <a:ext uri="{0D108BD9-81ED-4DB2-BD59-A6C34878D82A}">
                    <a16:rowId xmlns:a16="http://schemas.microsoft.com/office/drawing/2014/main" val="3741715000"/>
                  </a:ext>
                </a:extLst>
              </a:tr>
              <a:tr h="0">
                <a:tc>
                  <a:txBody>
                    <a:bodyPr/>
                    <a:lstStyle/>
                    <a:p>
                      <a:pPr algn="l">
                        <a:buNone/>
                      </a:pPr>
                      <a:r>
                        <a:rPr lang="en-IN">
                          <a:effectLst/>
                        </a:rPr>
                        <a:t>set(int index, E e)</a:t>
                      </a:r>
                    </a:p>
                  </a:txBody>
                  <a:tcPr marL="60960" marR="60960" marT="60960" marB="60960" anchor="ctr"/>
                </a:tc>
                <a:tc>
                  <a:txBody>
                    <a:bodyPr/>
                    <a:lstStyle/>
                    <a:p>
                      <a:pPr algn="l">
                        <a:buNone/>
                      </a:pPr>
                      <a:r>
                        <a:rPr lang="en-IN" dirty="0">
                          <a:effectLst/>
                        </a:rPr>
                        <a:t>Replaces element at index</a:t>
                      </a:r>
                    </a:p>
                  </a:txBody>
                  <a:tcPr marL="60960" marR="60960" marT="60960" marB="60960" anchor="ctr"/>
                </a:tc>
                <a:extLst>
                  <a:ext uri="{0D108BD9-81ED-4DB2-BD59-A6C34878D82A}">
                    <a16:rowId xmlns:a16="http://schemas.microsoft.com/office/drawing/2014/main" val="3150698197"/>
                  </a:ext>
                </a:extLst>
              </a:tr>
            </a:tbl>
          </a:graphicData>
        </a:graphic>
      </p:graphicFrame>
      <p:sp>
        <p:nvSpPr>
          <p:cNvPr id="6" name="TextBox 5">
            <a:extLst>
              <a:ext uri="{FF2B5EF4-FFF2-40B4-BE49-F238E27FC236}">
                <a16:creationId xmlns:a16="http://schemas.microsoft.com/office/drawing/2014/main" id="{6088A7E4-3D2A-EBF4-F901-16D2A23015EE}"/>
              </a:ext>
            </a:extLst>
          </p:cNvPr>
          <p:cNvSpPr txBox="1"/>
          <p:nvPr/>
        </p:nvSpPr>
        <p:spPr>
          <a:xfrm>
            <a:off x="586407" y="5440256"/>
            <a:ext cx="8687767" cy="369332"/>
          </a:xfrm>
          <a:prstGeom prst="rect">
            <a:avLst/>
          </a:prstGeom>
          <a:noFill/>
        </p:spPr>
        <p:txBody>
          <a:bodyPr wrap="square">
            <a:spAutoFit/>
          </a:bodyPr>
          <a:lstStyle/>
          <a:p>
            <a:pPr>
              <a:buNone/>
            </a:pPr>
            <a:r>
              <a:rPr lang="en-IN" b="1" dirty="0">
                <a:effectLst/>
                <a:latin typeface="fkGrotesk"/>
              </a:rPr>
              <a:t>Example</a:t>
            </a:r>
          </a:p>
        </p:txBody>
      </p:sp>
    </p:spTree>
    <p:extLst>
      <p:ext uri="{BB962C8B-B14F-4D97-AF65-F5344CB8AC3E}">
        <p14:creationId xmlns:p14="http://schemas.microsoft.com/office/powerpoint/2010/main" val="361683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C1FC5-8F32-6F90-6CF1-95A95B7AABF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F19EEC0-07D8-B527-303A-65634B463D50}"/>
              </a:ext>
            </a:extLst>
          </p:cNvPr>
          <p:cNvSpPr txBox="1"/>
          <p:nvPr/>
        </p:nvSpPr>
        <p:spPr>
          <a:xfrm>
            <a:off x="874644" y="139222"/>
            <a:ext cx="8408504" cy="3693319"/>
          </a:xfrm>
          <a:prstGeom prst="rect">
            <a:avLst/>
          </a:prstGeom>
          <a:noFill/>
        </p:spPr>
        <p:txBody>
          <a:bodyPr wrap="square">
            <a:spAutoFit/>
          </a:bodyPr>
          <a:lstStyle/>
          <a:p>
            <a:r>
              <a:rPr lang="en-IN" dirty="0"/>
              <a:t>import java.util.LinkedList;</a:t>
            </a:r>
          </a:p>
          <a:p>
            <a:endParaRPr lang="en-IN" dirty="0"/>
          </a:p>
          <a:p>
            <a:r>
              <a:rPr lang="en-IN" dirty="0"/>
              <a:t>LinkedList&lt;String&gt; list = new LinkedList&lt;&gt;();</a:t>
            </a:r>
          </a:p>
          <a:p>
            <a:r>
              <a:rPr lang="en-IN" dirty="0"/>
              <a:t>list.add("A");</a:t>
            </a:r>
          </a:p>
          <a:p>
            <a:r>
              <a:rPr lang="en-IN" dirty="0"/>
              <a:t>list.add("B");</a:t>
            </a:r>
          </a:p>
          <a:p>
            <a:r>
              <a:rPr lang="en-IN" dirty="0"/>
              <a:t>list.addFirst("Start");</a:t>
            </a:r>
          </a:p>
          <a:p>
            <a:r>
              <a:rPr lang="en-IN" dirty="0"/>
              <a:t>list.addLast("End");</a:t>
            </a:r>
          </a:p>
          <a:p>
            <a:r>
              <a:rPr lang="en-IN" dirty="0"/>
              <a:t>System.out.println(list); // [Start, A, B, End]</a:t>
            </a:r>
          </a:p>
          <a:p>
            <a:r>
              <a:rPr lang="en-IN" dirty="0"/>
              <a:t>list.remove("B");</a:t>
            </a:r>
          </a:p>
          <a:p>
            <a:r>
              <a:rPr lang="en-IN" dirty="0"/>
              <a:t>System.out.println(list); // [Start, A, End]</a:t>
            </a:r>
          </a:p>
          <a:p>
            <a:endParaRPr lang="en-IN" dirty="0"/>
          </a:p>
          <a:p>
            <a:r>
              <a:rPr lang="en-US" dirty="0"/>
              <a:t>LinkedList is ideal for scenarios with frequent insertions/deletions, especially at the front or rear of a list.</a:t>
            </a:r>
            <a:endParaRPr lang="en-IN" dirty="0"/>
          </a:p>
        </p:txBody>
      </p:sp>
    </p:spTree>
    <p:extLst>
      <p:ext uri="{BB962C8B-B14F-4D97-AF65-F5344CB8AC3E}">
        <p14:creationId xmlns:p14="http://schemas.microsoft.com/office/powerpoint/2010/main" val="2277263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DA80A-6B27-A118-9B55-2A96C0DA731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D339D87-134B-B706-5AC2-5CE3E7E46A5E}"/>
              </a:ext>
            </a:extLst>
          </p:cNvPr>
          <p:cNvSpPr txBox="1"/>
          <p:nvPr/>
        </p:nvSpPr>
        <p:spPr>
          <a:xfrm>
            <a:off x="1053546" y="173143"/>
            <a:ext cx="8140149" cy="4801314"/>
          </a:xfrm>
          <a:prstGeom prst="rect">
            <a:avLst/>
          </a:prstGeom>
          <a:noFill/>
        </p:spPr>
        <p:txBody>
          <a:bodyPr wrap="square">
            <a:spAutoFit/>
          </a:bodyPr>
          <a:lstStyle/>
          <a:p>
            <a:r>
              <a:rPr lang="en-IN" b="1" dirty="0"/>
              <a:t>7.4.6 Vector</a:t>
            </a:r>
          </a:p>
          <a:p>
            <a:endParaRPr lang="en-IN" b="1" dirty="0"/>
          </a:p>
          <a:p>
            <a:r>
              <a:rPr lang="en-US" dirty="0"/>
              <a:t>The Vector class in Java is a legacy implementation of a growable array that is synchronized for thread safety and found in the java.util package.</a:t>
            </a:r>
          </a:p>
          <a:p>
            <a:endParaRPr lang="en-US" dirty="0"/>
          </a:p>
          <a:p>
            <a:r>
              <a:rPr lang="en-US" b="1" dirty="0"/>
              <a:t>Key Features of Vector</a:t>
            </a:r>
          </a:p>
          <a:p>
            <a:endParaRPr lang="en-US" dirty="0"/>
          </a:p>
          <a:p>
            <a:pPr marL="285750" indent="-285750">
              <a:buFont typeface="Arial" panose="020B0604020202020204" pitchFamily="34" charset="0"/>
              <a:buChar char="•"/>
            </a:pPr>
            <a:r>
              <a:rPr lang="en-US" dirty="0"/>
              <a:t>Resizable Array: Grows dynamically as elements are added; default initial capacity is 10.</a:t>
            </a:r>
          </a:p>
          <a:p>
            <a:pPr marL="285750" indent="-285750">
              <a:buFont typeface="Arial" panose="020B0604020202020204" pitchFamily="34" charset="0"/>
              <a:buChar char="•"/>
            </a:pPr>
            <a:r>
              <a:rPr lang="en-US" dirty="0"/>
              <a:t>Synchronized: Thread-safe by default, making it suitable for multi-threaded applications.</a:t>
            </a:r>
          </a:p>
          <a:p>
            <a:pPr marL="285750" indent="-285750">
              <a:buFont typeface="Arial" panose="020B0604020202020204" pitchFamily="34" charset="0"/>
              <a:buChar char="•"/>
            </a:pPr>
            <a:r>
              <a:rPr lang="en-US" dirty="0"/>
              <a:t>Allows Duplicates and Nulls: Maintains insertion order, allows duplicate values and null elements.</a:t>
            </a:r>
          </a:p>
          <a:p>
            <a:pPr marL="285750" indent="-285750">
              <a:buFont typeface="Arial" panose="020B0604020202020204" pitchFamily="34" charset="0"/>
              <a:buChar char="•"/>
            </a:pPr>
            <a:r>
              <a:rPr lang="en-US" dirty="0"/>
              <a:t>Implements List, RandomAccess, Cloneable, Serializable: Inherits versatile functionality found across collection classes</a:t>
            </a:r>
          </a:p>
          <a:p>
            <a:r>
              <a:rPr lang="en-IN" b="1" dirty="0"/>
              <a:t> </a:t>
            </a:r>
          </a:p>
          <a:p>
            <a:r>
              <a:rPr lang="en-IN" b="1" dirty="0"/>
              <a:t>Core Methods</a:t>
            </a:r>
          </a:p>
        </p:txBody>
      </p:sp>
    </p:spTree>
    <p:extLst>
      <p:ext uri="{BB962C8B-B14F-4D97-AF65-F5344CB8AC3E}">
        <p14:creationId xmlns:p14="http://schemas.microsoft.com/office/powerpoint/2010/main" val="2350236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360C0-5F8D-FECB-48B6-5531F0F9A83D}"/>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64400D2-C20F-3A9E-9987-283FB2EC59BC}"/>
              </a:ext>
            </a:extLst>
          </p:cNvPr>
          <p:cNvGraphicFramePr>
            <a:graphicFrameLocks noGrp="1"/>
          </p:cNvGraphicFramePr>
          <p:nvPr>
            <p:extLst>
              <p:ext uri="{D42A27DB-BD31-4B8C-83A1-F6EECF244321}">
                <p14:modId xmlns:p14="http://schemas.microsoft.com/office/powerpoint/2010/main" val="3676434977"/>
              </p:ext>
            </p:extLst>
          </p:nvPr>
        </p:nvGraphicFramePr>
        <p:xfrm>
          <a:off x="944218" y="81444"/>
          <a:ext cx="8140148" cy="4988232"/>
        </p:xfrm>
        <a:graphic>
          <a:graphicData uri="http://schemas.openxmlformats.org/drawingml/2006/table">
            <a:tbl>
              <a:tblPr>
                <a:tableStyleId>{5940675A-B579-460E-94D1-54222C63F5DA}</a:tableStyleId>
              </a:tblPr>
              <a:tblGrid>
                <a:gridCol w="4070074">
                  <a:extLst>
                    <a:ext uri="{9D8B030D-6E8A-4147-A177-3AD203B41FA5}">
                      <a16:colId xmlns:a16="http://schemas.microsoft.com/office/drawing/2014/main" val="927920912"/>
                    </a:ext>
                  </a:extLst>
                </a:gridCol>
                <a:gridCol w="4070074">
                  <a:extLst>
                    <a:ext uri="{9D8B030D-6E8A-4147-A177-3AD203B41FA5}">
                      <a16:colId xmlns:a16="http://schemas.microsoft.com/office/drawing/2014/main" val="2394580388"/>
                    </a:ext>
                  </a:extLst>
                </a:gridCol>
              </a:tblGrid>
              <a:tr h="252293">
                <a:tc>
                  <a:txBody>
                    <a:bodyPr/>
                    <a:lstStyle/>
                    <a:p>
                      <a:pPr algn="ctr">
                        <a:buNone/>
                      </a:pPr>
                      <a:r>
                        <a:rPr lang="en-IN" sz="1600" b="1" dirty="0">
                          <a:effectLst/>
                        </a:rPr>
                        <a:t>Method</a:t>
                      </a:r>
                    </a:p>
                  </a:txBody>
                  <a:tcPr marL="38814" marR="38814" marT="38814" marB="38814" anchor="ctr"/>
                </a:tc>
                <a:tc>
                  <a:txBody>
                    <a:bodyPr/>
                    <a:lstStyle/>
                    <a:p>
                      <a:pPr algn="ctr">
                        <a:buNone/>
                      </a:pPr>
                      <a:r>
                        <a:rPr lang="en-IN" sz="1600" b="1" dirty="0">
                          <a:effectLst/>
                        </a:rPr>
                        <a:t>Description</a:t>
                      </a:r>
                    </a:p>
                  </a:txBody>
                  <a:tcPr marL="38814" marR="38814" marT="38814" marB="38814" anchor="ctr"/>
                </a:tc>
                <a:extLst>
                  <a:ext uri="{0D108BD9-81ED-4DB2-BD59-A6C34878D82A}">
                    <a16:rowId xmlns:a16="http://schemas.microsoft.com/office/drawing/2014/main" val="1637998937"/>
                  </a:ext>
                </a:extLst>
              </a:tr>
              <a:tr h="252293">
                <a:tc>
                  <a:txBody>
                    <a:bodyPr/>
                    <a:lstStyle/>
                    <a:p>
                      <a:pPr algn="l">
                        <a:buNone/>
                      </a:pPr>
                      <a:r>
                        <a:rPr lang="en-IN" sz="1600" dirty="0">
                          <a:effectLst/>
                        </a:rPr>
                        <a:t>add(E e)</a:t>
                      </a:r>
                    </a:p>
                  </a:txBody>
                  <a:tcPr marL="38814" marR="38814" marT="38814" marB="38814" anchor="ctr"/>
                </a:tc>
                <a:tc>
                  <a:txBody>
                    <a:bodyPr/>
                    <a:lstStyle/>
                    <a:p>
                      <a:pPr algn="l">
                        <a:buNone/>
                      </a:pPr>
                      <a:r>
                        <a:rPr lang="en-US" sz="1600">
                          <a:effectLst/>
                        </a:rPr>
                        <a:t>Adds an element to the end</a:t>
                      </a:r>
                    </a:p>
                  </a:txBody>
                  <a:tcPr marL="38814" marR="38814" marT="38814" marB="38814" anchor="ctr"/>
                </a:tc>
                <a:extLst>
                  <a:ext uri="{0D108BD9-81ED-4DB2-BD59-A6C34878D82A}">
                    <a16:rowId xmlns:a16="http://schemas.microsoft.com/office/drawing/2014/main" val="3689527779"/>
                  </a:ext>
                </a:extLst>
              </a:tr>
              <a:tr h="252293">
                <a:tc>
                  <a:txBody>
                    <a:bodyPr/>
                    <a:lstStyle/>
                    <a:p>
                      <a:pPr algn="l">
                        <a:buNone/>
                      </a:pPr>
                      <a:r>
                        <a:rPr lang="it-IT" sz="1600">
                          <a:effectLst/>
                        </a:rPr>
                        <a:t>add(int index, E e)</a:t>
                      </a:r>
                    </a:p>
                  </a:txBody>
                  <a:tcPr marL="38814" marR="38814" marT="38814" marB="38814" anchor="ctr"/>
                </a:tc>
                <a:tc>
                  <a:txBody>
                    <a:bodyPr/>
                    <a:lstStyle/>
                    <a:p>
                      <a:pPr algn="l">
                        <a:buNone/>
                      </a:pPr>
                      <a:r>
                        <a:rPr lang="en-US" sz="1600">
                          <a:effectLst/>
                        </a:rPr>
                        <a:t>Inserts element at specified index</a:t>
                      </a:r>
                    </a:p>
                  </a:txBody>
                  <a:tcPr marL="38814" marR="38814" marT="38814" marB="38814" anchor="ctr"/>
                </a:tc>
                <a:extLst>
                  <a:ext uri="{0D108BD9-81ED-4DB2-BD59-A6C34878D82A}">
                    <a16:rowId xmlns:a16="http://schemas.microsoft.com/office/drawing/2014/main" val="3533962107"/>
                  </a:ext>
                </a:extLst>
              </a:tr>
              <a:tr h="252293">
                <a:tc>
                  <a:txBody>
                    <a:bodyPr/>
                    <a:lstStyle/>
                    <a:p>
                      <a:pPr algn="l">
                        <a:buNone/>
                      </a:pPr>
                      <a:r>
                        <a:rPr lang="en-IN" sz="1600">
                          <a:effectLst/>
                        </a:rPr>
                        <a:t>get(int index)</a:t>
                      </a:r>
                    </a:p>
                  </a:txBody>
                  <a:tcPr marL="38814" marR="38814" marT="38814" marB="38814" anchor="ctr"/>
                </a:tc>
                <a:tc>
                  <a:txBody>
                    <a:bodyPr/>
                    <a:lstStyle/>
                    <a:p>
                      <a:pPr algn="l">
                        <a:buNone/>
                      </a:pPr>
                      <a:r>
                        <a:rPr lang="en-US" sz="1600">
                          <a:effectLst/>
                        </a:rPr>
                        <a:t>Retrieves element at specified index</a:t>
                      </a:r>
                    </a:p>
                  </a:txBody>
                  <a:tcPr marL="38814" marR="38814" marT="38814" marB="38814" anchor="ctr"/>
                </a:tc>
                <a:extLst>
                  <a:ext uri="{0D108BD9-81ED-4DB2-BD59-A6C34878D82A}">
                    <a16:rowId xmlns:a16="http://schemas.microsoft.com/office/drawing/2014/main" val="2735681176"/>
                  </a:ext>
                </a:extLst>
              </a:tr>
              <a:tr h="252293">
                <a:tc>
                  <a:txBody>
                    <a:bodyPr/>
                    <a:lstStyle/>
                    <a:p>
                      <a:pPr algn="l">
                        <a:buNone/>
                      </a:pPr>
                      <a:r>
                        <a:rPr lang="en-IN" sz="1600">
                          <a:effectLst/>
                        </a:rPr>
                        <a:t>set(int index, E e)</a:t>
                      </a:r>
                    </a:p>
                  </a:txBody>
                  <a:tcPr marL="38814" marR="38814" marT="38814" marB="38814" anchor="ctr"/>
                </a:tc>
                <a:tc>
                  <a:txBody>
                    <a:bodyPr/>
                    <a:lstStyle/>
                    <a:p>
                      <a:pPr algn="l">
                        <a:buNone/>
                      </a:pPr>
                      <a:r>
                        <a:rPr lang="en-US" sz="1600">
                          <a:effectLst/>
                        </a:rPr>
                        <a:t>Replaces element at specified index</a:t>
                      </a:r>
                    </a:p>
                  </a:txBody>
                  <a:tcPr marL="38814" marR="38814" marT="38814" marB="38814" anchor="ctr"/>
                </a:tc>
                <a:extLst>
                  <a:ext uri="{0D108BD9-81ED-4DB2-BD59-A6C34878D82A}">
                    <a16:rowId xmlns:a16="http://schemas.microsoft.com/office/drawing/2014/main" val="1330217919"/>
                  </a:ext>
                </a:extLst>
              </a:tr>
              <a:tr h="252293">
                <a:tc>
                  <a:txBody>
                    <a:bodyPr/>
                    <a:lstStyle/>
                    <a:p>
                      <a:pPr algn="l">
                        <a:buNone/>
                      </a:pPr>
                      <a:r>
                        <a:rPr lang="en-IN" sz="1600" dirty="0">
                          <a:effectLst/>
                        </a:rPr>
                        <a:t>remove(int index)</a:t>
                      </a:r>
                    </a:p>
                  </a:txBody>
                  <a:tcPr marL="38814" marR="38814" marT="38814" marB="38814" anchor="ctr"/>
                </a:tc>
                <a:tc>
                  <a:txBody>
                    <a:bodyPr/>
                    <a:lstStyle/>
                    <a:p>
                      <a:pPr algn="l">
                        <a:buNone/>
                      </a:pPr>
                      <a:r>
                        <a:rPr lang="en-US" sz="1600">
                          <a:effectLst/>
                        </a:rPr>
                        <a:t>Removes element at the given index</a:t>
                      </a:r>
                    </a:p>
                  </a:txBody>
                  <a:tcPr marL="38814" marR="38814" marT="38814" marB="38814" anchor="ctr"/>
                </a:tc>
                <a:extLst>
                  <a:ext uri="{0D108BD9-81ED-4DB2-BD59-A6C34878D82A}">
                    <a16:rowId xmlns:a16="http://schemas.microsoft.com/office/drawing/2014/main" val="4188081741"/>
                  </a:ext>
                </a:extLst>
              </a:tr>
              <a:tr h="426958">
                <a:tc>
                  <a:txBody>
                    <a:bodyPr/>
                    <a:lstStyle/>
                    <a:p>
                      <a:pPr algn="l">
                        <a:buNone/>
                      </a:pPr>
                      <a:r>
                        <a:rPr lang="en-IN" sz="1600">
                          <a:effectLst/>
                        </a:rPr>
                        <a:t>remove(Object o)</a:t>
                      </a:r>
                    </a:p>
                  </a:txBody>
                  <a:tcPr marL="38814" marR="38814" marT="38814" marB="38814" anchor="ctr"/>
                </a:tc>
                <a:tc>
                  <a:txBody>
                    <a:bodyPr/>
                    <a:lstStyle/>
                    <a:p>
                      <a:pPr algn="l">
                        <a:buNone/>
                      </a:pPr>
                      <a:r>
                        <a:rPr lang="en-US" sz="1600" dirty="0">
                          <a:effectLst/>
                        </a:rPr>
                        <a:t>Removes the first occurrence of the element</a:t>
                      </a:r>
                    </a:p>
                  </a:txBody>
                  <a:tcPr marL="38814" marR="38814" marT="38814" marB="38814" anchor="ctr"/>
                </a:tc>
                <a:extLst>
                  <a:ext uri="{0D108BD9-81ED-4DB2-BD59-A6C34878D82A}">
                    <a16:rowId xmlns:a16="http://schemas.microsoft.com/office/drawing/2014/main" val="868425325"/>
                  </a:ext>
                </a:extLst>
              </a:tr>
              <a:tr h="252293">
                <a:tc>
                  <a:txBody>
                    <a:bodyPr/>
                    <a:lstStyle/>
                    <a:p>
                      <a:pPr algn="l">
                        <a:buNone/>
                      </a:pPr>
                      <a:r>
                        <a:rPr lang="en-IN" sz="1600">
                          <a:effectLst/>
                        </a:rPr>
                        <a:t>size()</a:t>
                      </a:r>
                    </a:p>
                  </a:txBody>
                  <a:tcPr marL="38814" marR="38814" marT="38814" marB="38814" anchor="ctr"/>
                </a:tc>
                <a:tc>
                  <a:txBody>
                    <a:bodyPr/>
                    <a:lstStyle/>
                    <a:p>
                      <a:pPr algn="l">
                        <a:buNone/>
                      </a:pPr>
                      <a:r>
                        <a:rPr lang="en-US" sz="1600">
                          <a:effectLst/>
                        </a:rPr>
                        <a:t>Number of elements in the vector</a:t>
                      </a:r>
                    </a:p>
                  </a:txBody>
                  <a:tcPr marL="38814" marR="38814" marT="38814" marB="38814" anchor="ctr"/>
                </a:tc>
                <a:extLst>
                  <a:ext uri="{0D108BD9-81ED-4DB2-BD59-A6C34878D82A}">
                    <a16:rowId xmlns:a16="http://schemas.microsoft.com/office/drawing/2014/main" val="2152882837"/>
                  </a:ext>
                </a:extLst>
              </a:tr>
              <a:tr h="252293">
                <a:tc>
                  <a:txBody>
                    <a:bodyPr/>
                    <a:lstStyle/>
                    <a:p>
                      <a:pPr algn="l">
                        <a:buNone/>
                      </a:pPr>
                      <a:r>
                        <a:rPr lang="en-IN" sz="1600">
                          <a:effectLst/>
                        </a:rPr>
                        <a:t>isEmpty()</a:t>
                      </a:r>
                    </a:p>
                  </a:txBody>
                  <a:tcPr marL="38814" marR="38814" marT="38814" marB="38814" anchor="ctr"/>
                </a:tc>
                <a:tc>
                  <a:txBody>
                    <a:bodyPr/>
                    <a:lstStyle/>
                    <a:p>
                      <a:pPr algn="l">
                        <a:buNone/>
                      </a:pPr>
                      <a:r>
                        <a:rPr lang="en-US" sz="1600">
                          <a:effectLst/>
                        </a:rPr>
                        <a:t>Tests if the vector has no elements</a:t>
                      </a:r>
                    </a:p>
                  </a:txBody>
                  <a:tcPr marL="38814" marR="38814" marT="38814" marB="38814" anchor="ctr"/>
                </a:tc>
                <a:extLst>
                  <a:ext uri="{0D108BD9-81ED-4DB2-BD59-A6C34878D82A}">
                    <a16:rowId xmlns:a16="http://schemas.microsoft.com/office/drawing/2014/main" val="2878762947"/>
                  </a:ext>
                </a:extLst>
              </a:tr>
              <a:tr h="426958">
                <a:tc>
                  <a:txBody>
                    <a:bodyPr/>
                    <a:lstStyle/>
                    <a:p>
                      <a:pPr algn="l">
                        <a:buNone/>
                      </a:pPr>
                      <a:r>
                        <a:rPr lang="en-IN" sz="1600">
                          <a:effectLst/>
                        </a:rPr>
                        <a:t>capacity()</a:t>
                      </a:r>
                    </a:p>
                  </a:txBody>
                  <a:tcPr marL="38814" marR="38814" marT="38814" marB="38814" anchor="ctr"/>
                </a:tc>
                <a:tc>
                  <a:txBody>
                    <a:bodyPr/>
                    <a:lstStyle/>
                    <a:p>
                      <a:pPr algn="l">
                        <a:buNone/>
                      </a:pPr>
                      <a:r>
                        <a:rPr lang="en-US" sz="1600" dirty="0">
                          <a:effectLst/>
                        </a:rPr>
                        <a:t>Returns current capacity (space before resizing)</a:t>
                      </a:r>
                    </a:p>
                  </a:txBody>
                  <a:tcPr marL="38814" marR="38814" marT="38814" marB="38814" anchor="ctr"/>
                </a:tc>
                <a:extLst>
                  <a:ext uri="{0D108BD9-81ED-4DB2-BD59-A6C34878D82A}">
                    <a16:rowId xmlns:a16="http://schemas.microsoft.com/office/drawing/2014/main" val="78955939"/>
                  </a:ext>
                </a:extLst>
              </a:tr>
              <a:tr h="252293">
                <a:tc>
                  <a:txBody>
                    <a:bodyPr/>
                    <a:lstStyle/>
                    <a:p>
                      <a:pPr algn="l">
                        <a:buNone/>
                      </a:pPr>
                      <a:r>
                        <a:rPr lang="en-IN" sz="1600">
                          <a:effectLst/>
                        </a:rPr>
                        <a:t>ensureCapacity(int minCapacity)</a:t>
                      </a:r>
                    </a:p>
                  </a:txBody>
                  <a:tcPr marL="38814" marR="38814" marT="38814" marB="38814" anchor="ctr"/>
                </a:tc>
                <a:tc>
                  <a:txBody>
                    <a:bodyPr/>
                    <a:lstStyle/>
                    <a:p>
                      <a:pPr algn="l">
                        <a:buNone/>
                      </a:pPr>
                      <a:r>
                        <a:rPr lang="en-IN" sz="1600">
                          <a:effectLst/>
                        </a:rPr>
                        <a:t>Guarantees minimum vector capacity</a:t>
                      </a:r>
                    </a:p>
                  </a:txBody>
                  <a:tcPr marL="38814" marR="38814" marT="38814" marB="38814" anchor="ctr"/>
                </a:tc>
                <a:extLst>
                  <a:ext uri="{0D108BD9-81ED-4DB2-BD59-A6C34878D82A}">
                    <a16:rowId xmlns:a16="http://schemas.microsoft.com/office/drawing/2014/main" val="2153568439"/>
                  </a:ext>
                </a:extLst>
              </a:tr>
              <a:tr h="252293">
                <a:tc>
                  <a:txBody>
                    <a:bodyPr/>
                    <a:lstStyle/>
                    <a:p>
                      <a:pPr algn="l">
                        <a:buNone/>
                      </a:pPr>
                      <a:r>
                        <a:rPr lang="en-IN" sz="1600">
                          <a:effectLst/>
                        </a:rPr>
                        <a:t>clear()</a:t>
                      </a:r>
                    </a:p>
                  </a:txBody>
                  <a:tcPr marL="38814" marR="38814" marT="38814" marB="38814" anchor="ctr"/>
                </a:tc>
                <a:tc>
                  <a:txBody>
                    <a:bodyPr/>
                    <a:lstStyle/>
                    <a:p>
                      <a:pPr algn="l">
                        <a:buNone/>
                      </a:pPr>
                      <a:r>
                        <a:rPr lang="en-IN" sz="1600">
                          <a:effectLst/>
                        </a:rPr>
                        <a:t>Removes all elements</a:t>
                      </a:r>
                    </a:p>
                  </a:txBody>
                  <a:tcPr marL="38814" marR="38814" marT="38814" marB="38814" anchor="ctr"/>
                </a:tc>
                <a:extLst>
                  <a:ext uri="{0D108BD9-81ED-4DB2-BD59-A6C34878D82A}">
                    <a16:rowId xmlns:a16="http://schemas.microsoft.com/office/drawing/2014/main" val="2905500373"/>
                  </a:ext>
                </a:extLst>
              </a:tr>
              <a:tr h="252293">
                <a:tc>
                  <a:txBody>
                    <a:bodyPr/>
                    <a:lstStyle/>
                    <a:p>
                      <a:pPr algn="l">
                        <a:buNone/>
                      </a:pPr>
                      <a:r>
                        <a:rPr lang="en-IN" sz="1600">
                          <a:effectLst/>
                        </a:rPr>
                        <a:t>firstElement()</a:t>
                      </a:r>
                    </a:p>
                  </a:txBody>
                  <a:tcPr marL="38814" marR="38814" marT="38814" marB="38814" anchor="ctr"/>
                </a:tc>
                <a:tc>
                  <a:txBody>
                    <a:bodyPr/>
                    <a:lstStyle/>
                    <a:p>
                      <a:pPr algn="l">
                        <a:buNone/>
                      </a:pPr>
                      <a:r>
                        <a:rPr lang="en-IN" sz="1600">
                          <a:effectLst/>
                        </a:rPr>
                        <a:t>Retrieves the first element</a:t>
                      </a:r>
                    </a:p>
                  </a:txBody>
                  <a:tcPr marL="38814" marR="38814" marT="38814" marB="38814" anchor="ctr"/>
                </a:tc>
                <a:extLst>
                  <a:ext uri="{0D108BD9-81ED-4DB2-BD59-A6C34878D82A}">
                    <a16:rowId xmlns:a16="http://schemas.microsoft.com/office/drawing/2014/main" val="3660844395"/>
                  </a:ext>
                </a:extLst>
              </a:tr>
              <a:tr h="252293">
                <a:tc>
                  <a:txBody>
                    <a:bodyPr/>
                    <a:lstStyle/>
                    <a:p>
                      <a:pPr algn="l">
                        <a:buNone/>
                      </a:pPr>
                      <a:r>
                        <a:rPr lang="en-IN" sz="1600">
                          <a:effectLst/>
                        </a:rPr>
                        <a:t>lastElement()</a:t>
                      </a:r>
                    </a:p>
                  </a:txBody>
                  <a:tcPr marL="38814" marR="38814" marT="38814" marB="38814" anchor="ctr"/>
                </a:tc>
                <a:tc>
                  <a:txBody>
                    <a:bodyPr/>
                    <a:lstStyle/>
                    <a:p>
                      <a:pPr algn="l">
                        <a:buNone/>
                      </a:pPr>
                      <a:r>
                        <a:rPr lang="en-IN" sz="1600" dirty="0">
                          <a:effectLst/>
                        </a:rPr>
                        <a:t>Retrieves the last element</a:t>
                      </a:r>
                    </a:p>
                  </a:txBody>
                  <a:tcPr marL="38814" marR="38814" marT="38814" marB="38814" anchor="ctr"/>
                </a:tc>
                <a:extLst>
                  <a:ext uri="{0D108BD9-81ED-4DB2-BD59-A6C34878D82A}">
                    <a16:rowId xmlns:a16="http://schemas.microsoft.com/office/drawing/2014/main" val="2010177743"/>
                  </a:ext>
                </a:extLst>
              </a:tr>
            </a:tbl>
          </a:graphicData>
        </a:graphic>
      </p:graphicFrame>
      <p:sp>
        <p:nvSpPr>
          <p:cNvPr id="4" name="TextBox 3">
            <a:extLst>
              <a:ext uri="{FF2B5EF4-FFF2-40B4-BE49-F238E27FC236}">
                <a16:creationId xmlns:a16="http://schemas.microsoft.com/office/drawing/2014/main" id="{0B217604-BF42-DDFA-CD88-5D3D3FCE2623}"/>
              </a:ext>
            </a:extLst>
          </p:cNvPr>
          <p:cNvSpPr txBox="1"/>
          <p:nvPr/>
        </p:nvSpPr>
        <p:spPr>
          <a:xfrm>
            <a:off x="854765" y="5322909"/>
            <a:ext cx="8388626" cy="369332"/>
          </a:xfrm>
          <a:prstGeom prst="rect">
            <a:avLst/>
          </a:prstGeom>
          <a:noFill/>
        </p:spPr>
        <p:txBody>
          <a:bodyPr wrap="square">
            <a:spAutoFit/>
          </a:bodyPr>
          <a:lstStyle/>
          <a:p>
            <a:pPr algn="l">
              <a:buNone/>
            </a:pPr>
            <a:r>
              <a:rPr lang="en-IN" b="1" i="0" dirty="0">
                <a:effectLst/>
                <a:latin typeface="fkGrotesk"/>
              </a:rPr>
              <a:t>Constructors</a:t>
            </a:r>
          </a:p>
        </p:txBody>
      </p:sp>
    </p:spTree>
    <p:extLst>
      <p:ext uri="{BB962C8B-B14F-4D97-AF65-F5344CB8AC3E}">
        <p14:creationId xmlns:p14="http://schemas.microsoft.com/office/powerpoint/2010/main" val="4284969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97588-D3CB-9921-C0B8-7689DE6795F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C48FFB-1EDE-D7A8-2A67-57BC2BDFA57B}"/>
              </a:ext>
            </a:extLst>
          </p:cNvPr>
          <p:cNvSpPr txBox="1"/>
          <p:nvPr/>
        </p:nvSpPr>
        <p:spPr>
          <a:xfrm>
            <a:off x="884582" y="147216"/>
            <a:ext cx="8915400" cy="7017306"/>
          </a:xfrm>
          <a:prstGeom prst="rect">
            <a:avLst/>
          </a:prstGeom>
          <a:noFill/>
        </p:spPr>
        <p:txBody>
          <a:bodyPr wrap="square">
            <a:spAutoFit/>
          </a:bodyPr>
          <a:lstStyle/>
          <a:p>
            <a:pPr algn="l">
              <a:buFont typeface="Arial" panose="020B0604020202020204" pitchFamily="34" charset="0"/>
              <a:buChar char="•"/>
            </a:pPr>
            <a:r>
              <a:rPr lang="en-US" b="0" i="0" dirty="0">
                <a:effectLst/>
                <a:latin typeface="berkeleyMono"/>
              </a:rPr>
              <a:t>Vector()</a:t>
            </a:r>
            <a:r>
              <a:rPr lang="en-US" b="0" i="0" dirty="0">
                <a:effectLst/>
                <a:latin typeface="fkGroteskNeue"/>
              </a:rPr>
              <a:t>: Default capacity of 10.</a:t>
            </a:r>
          </a:p>
          <a:p>
            <a:pPr algn="l">
              <a:buFont typeface="Arial" panose="020B0604020202020204" pitchFamily="34" charset="0"/>
              <a:buChar char="•"/>
            </a:pPr>
            <a:r>
              <a:rPr lang="en-US" b="0" i="0" dirty="0">
                <a:effectLst/>
                <a:latin typeface="berkeleyMono"/>
              </a:rPr>
              <a:t>Vector(int initialCapacity)</a:t>
            </a:r>
            <a:r>
              <a:rPr lang="en-US" b="0" i="0" dirty="0">
                <a:effectLst/>
                <a:latin typeface="fkGroteskNeue"/>
              </a:rPr>
              <a:t>: Custom initial capacity.</a:t>
            </a:r>
          </a:p>
          <a:p>
            <a:pPr algn="l">
              <a:buFont typeface="Arial" panose="020B0604020202020204" pitchFamily="34" charset="0"/>
              <a:buChar char="•"/>
            </a:pPr>
            <a:r>
              <a:rPr lang="en-US" b="0" i="0" dirty="0">
                <a:effectLst/>
                <a:latin typeface="berkeleyMono"/>
              </a:rPr>
              <a:t>Vector(int initialCapacity, int </a:t>
            </a:r>
            <a:r>
              <a:rPr lang="en-US" b="0" i="0" dirty="0" err="1">
                <a:effectLst/>
                <a:latin typeface="berkeleyMono"/>
              </a:rPr>
              <a:t>capacityIncrement</a:t>
            </a:r>
            <a:r>
              <a:rPr lang="en-US" b="0" i="0" dirty="0">
                <a:effectLst/>
                <a:latin typeface="berkeleyMono"/>
              </a:rPr>
              <a:t>)</a:t>
            </a:r>
            <a:r>
              <a:rPr lang="en-US" b="0" i="0" dirty="0">
                <a:effectLst/>
                <a:latin typeface="fkGroteskNeue"/>
              </a:rPr>
              <a:t>: Custom capacity and increment.</a:t>
            </a:r>
          </a:p>
          <a:p>
            <a:pPr algn="l">
              <a:buFont typeface="Arial" panose="020B0604020202020204" pitchFamily="34" charset="0"/>
              <a:buChar char="•"/>
            </a:pPr>
            <a:r>
              <a:rPr lang="en-US" b="0" i="0" dirty="0">
                <a:effectLst/>
                <a:latin typeface="berkeleyMono"/>
              </a:rPr>
              <a:t>Vector(Collection c)</a:t>
            </a:r>
            <a:r>
              <a:rPr lang="en-US" b="0" i="0" dirty="0">
                <a:effectLst/>
                <a:latin typeface="fkGroteskNeue"/>
              </a:rPr>
              <a:t>: Initializes with elements from another collection.</a:t>
            </a:r>
          </a:p>
          <a:p>
            <a:endParaRPr lang="en-IN" dirty="0"/>
          </a:p>
          <a:p>
            <a:r>
              <a:rPr lang="en-IN" b="1" dirty="0"/>
              <a:t>Example</a:t>
            </a:r>
          </a:p>
          <a:p>
            <a:br>
              <a:rPr lang="en-IN" dirty="0"/>
            </a:br>
            <a:r>
              <a:rPr lang="en-IN" dirty="0"/>
              <a:t>import </a:t>
            </a:r>
            <a:r>
              <a:rPr lang="en-IN" dirty="0" err="1"/>
              <a:t>java.util.Vector</a:t>
            </a:r>
            <a:r>
              <a:rPr lang="en-IN" dirty="0"/>
              <a:t>;</a:t>
            </a:r>
          </a:p>
          <a:p>
            <a:endParaRPr lang="en-IN" dirty="0"/>
          </a:p>
          <a:p>
            <a:r>
              <a:rPr lang="en-IN" dirty="0"/>
              <a:t>public class VectorDemo {</a:t>
            </a:r>
          </a:p>
          <a:p>
            <a:r>
              <a:rPr lang="en-IN" dirty="0"/>
              <a:t>    public static void main(String[] args) {</a:t>
            </a:r>
          </a:p>
          <a:p>
            <a:r>
              <a:rPr lang="en-IN" dirty="0"/>
              <a:t>        Vector&lt;String&gt; vec = new Vector&lt;&gt;();</a:t>
            </a:r>
          </a:p>
          <a:p>
            <a:r>
              <a:rPr lang="en-IN" dirty="0"/>
              <a:t>        </a:t>
            </a:r>
            <a:r>
              <a:rPr lang="en-IN" dirty="0" err="1"/>
              <a:t>vec.add</a:t>
            </a:r>
            <a:r>
              <a:rPr lang="en-IN" dirty="0"/>
              <a:t>("Apple");</a:t>
            </a:r>
          </a:p>
          <a:p>
            <a:r>
              <a:rPr lang="en-IN" dirty="0"/>
              <a:t>        vec.add("Banana");</a:t>
            </a:r>
          </a:p>
          <a:p>
            <a:r>
              <a:rPr lang="en-IN" dirty="0"/>
              <a:t>        vec.add("Cherry");</a:t>
            </a:r>
          </a:p>
          <a:p>
            <a:r>
              <a:rPr lang="en-IN" dirty="0"/>
              <a:t>        System.out.println(vec); // [Apple, Banana, Cherry]</a:t>
            </a:r>
          </a:p>
          <a:p>
            <a:r>
              <a:rPr lang="en-IN" dirty="0"/>
              <a:t>        </a:t>
            </a:r>
            <a:r>
              <a:rPr lang="en-IN" dirty="0" err="1"/>
              <a:t>vec.remove</a:t>
            </a:r>
            <a:r>
              <a:rPr lang="en-IN" dirty="0"/>
              <a:t>("Banana");</a:t>
            </a:r>
          </a:p>
          <a:p>
            <a:r>
              <a:rPr lang="en-IN" dirty="0"/>
              <a:t>        System.out.println(vec); // [Apple, Cherry]</a:t>
            </a:r>
          </a:p>
          <a:p>
            <a:r>
              <a:rPr lang="en-IN" dirty="0"/>
              <a:t>        </a:t>
            </a:r>
          </a:p>
          <a:p>
            <a:r>
              <a:rPr lang="en-IN" dirty="0"/>
              <a:t>        for (String s : vec) {</a:t>
            </a:r>
          </a:p>
          <a:p>
            <a:r>
              <a:rPr lang="en-IN" dirty="0"/>
              <a:t>            System.out.println(s);</a:t>
            </a:r>
          </a:p>
          <a:p>
            <a:r>
              <a:rPr lang="en-IN" dirty="0"/>
              <a:t>        }</a:t>
            </a:r>
          </a:p>
          <a:p>
            <a:r>
              <a:rPr lang="en-IN" dirty="0"/>
              <a:t>    }</a:t>
            </a:r>
          </a:p>
          <a:p>
            <a:r>
              <a:rPr lang="en-IN" dirty="0"/>
              <a:t>}</a:t>
            </a:r>
          </a:p>
          <a:p>
            <a:endParaRPr lang="en-US" b="0" i="0" dirty="0">
              <a:effectLst/>
              <a:latin typeface="fkGrotesk"/>
            </a:endParaRPr>
          </a:p>
        </p:txBody>
      </p:sp>
    </p:spTree>
    <p:extLst>
      <p:ext uri="{BB962C8B-B14F-4D97-AF65-F5344CB8AC3E}">
        <p14:creationId xmlns:p14="http://schemas.microsoft.com/office/powerpoint/2010/main" val="4272327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FF7BB-C161-6CBB-E050-3BF0076BD5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C16F65-C97F-540A-6DBB-79481B29A6EB}"/>
              </a:ext>
            </a:extLst>
          </p:cNvPr>
          <p:cNvSpPr txBox="1"/>
          <p:nvPr/>
        </p:nvSpPr>
        <p:spPr>
          <a:xfrm>
            <a:off x="934278" y="126689"/>
            <a:ext cx="8259418" cy="4524315"/>
          </a:xfrm>
          <a:prstGeom prst="rect">
            <a:avLst/>
          </a:prstGeom>
          <a:noFill/>
        </p:spPr>
        <p:txBody>
          <a:bodyPr wrap="square">
            <a:spAutoFit/>
          </a:bodyPr>
          <a:lstStyle/>
          <a:p>
            <a:pPr algn="l">
              <a:buNone/>
            </a:pPr>
            <a:r>
              <a:rPr lang="en-US" b="0" i="0" dirty="0">
                <a:effectLst/>
                <a:latin typeface="fkGroteskNeue"/>
              </a:rPr>
              <a:t>Vector’s main use is in thread-safe applications, but for modern single-threaded use, ArrayList is generally preferred due to better performance.The Vector class in Java is a growable array implementation that is part of the Collection Framework and is found in the java.util package.</a:t>
            </a:r>
          </a:p>
          <a:p>
            <a:pPr algn="l">
              <a:buNone/>
            </a:pPr>
            <a:endParaRPr lang="en-US" dirty="0">
              <a:latin typeface="fkGroteskNeue"/>
            </a:endParaRPr>
          </a:p>
          <a:p>
            <a:r>
              <a:rPr lang="en-US" dirty="0">
                <a:latin typeface="fkGroteskNeue"/>
              </a:rPr>
              <a:t>Key Features of Vector</a:t>
            </a:r>
          </a:p>
          <a:p>
            <a:endParaRPr lang="en-US" dirty="0">
              <a:latin typeface="fkGroteskNeue"/>
            </a:endParaRPr>
          </a:p>
          <a:p>
            <a:pPr marL="285750" indent="-285750">
              <a:buFont typeface="Arial" panose="020B0604020202020204" pitchFamily="34" charset="0"/>
              <a:buChar char="•"/>
            </a:pPr>
            <a:r>
              <a:rPr lang="en-US" dirty="0">
                <a:latin typeface="fkGroteskNeue"/>
              </a:rPr>
              <a:t>Resizable Array: Automatically expands as elements are added.</a:t>
            </a:r>
          </a:p>
          <a:p>
            <a:pPr marL="285750" indent="-285750">
              <a:buFont typeface="Arial" panose="020B0604020202020204" pitchFamily="34" charset="0"/>
              <a:buChar char="•"/>
            </a:pPr>
            <a:r>
              <a:rPr lang="en-US" dirty="0">
                <a:latin typeface="fkGroteskNeue"/>
              </a:rPr>
              <a:t>Synchronized: Thread-safe by default, making it suitable for use in multi-threaded programs.</a:t>
            </a:r>
          </a:p>
          <a:p>
            <a:pPr marL="285750" indent="-285750">
              <a:buFont typeface="Arial" panose="020B0604020202020204" pitchFamily="34" charset="0"/>
              <a:buChar char="•"/>
            </a:pPr>
            <a:r>
              <a:rPr lang="en-US" dirty="0">
                <a:latin typeface="fkGroteskNeue"/>
              </a:rPr>
              <a:t>Maintains Insertion Order: Preserves the order of element addition.</a:t>
            </a:r>
          </a:p>
          <a:p>
            <a:pPr marL="285750" indent="-285750">
              <a:buFont typeface="Arial" panose="020B0604020202020204" pitchFamily="34" charset="0"/>
              <a:buChar char="•"/>
            </a:pPr>
            <a:r>
              <a:rPr lang="en-US" dirty="0">
                <a:latin typeface="fkGroteskNeue"/>
              </a:rPr>
              <a:t>Allows Duplicates and Nulls: Supports repeated and null elements.</a:t>
            </a:r>
          </a:p>
          <a:p>
            <a:pPr marL="285750" indent="-285750">
              <a:buFont typeface="Arial" panose="020B0604020202020204" pitchFamily="34" charset="0"/>
              <a:buChar char="•"/>
            </a:pPr>
            <a:r>
              <a:rPr lang="en-US" dirty="0">
                <a:latin typeface="fkGroteskNeue"/>
              </a:rPr>
              <a:t>Legacy Class: Older than ArrayList; contains legacy methods and is generally slower due to synchronization</a:t>
            </a:r>
          </a:p>
          <a:p>
            <a:pPr algn="l">
              <a:buNone/>
            </a:pPr>
            <a:endParaRPr lang="en-US" b="0" i="0" dirty="0">
              <a:effectLst/>
              <a:latin typeface="fkGroteskNeue"/>
            </a:endParaRPr>
          </a:p>
          <a:p>
            <a:r>
              <a:rPr lang="en-IN" b="1" dirty="0"/>
              <a:t>Core Methods</a:t>
            </a:r>
          </a:p>
        </p:txBody>
      </p:sp>
    </p:spTree>
    <p:extLst>
      <p:ext uri="{BB962C8B-B14F-4D97-AF65-F5344CB8AC3E}">
        <p14:creationId xmlns:p14="http://schemas.microsoft.com/office/powerpoint/2010/main" val="2438648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0E00-16B6-D0B8-745F-732323BC0E18}"/>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88DB782-C679-6208-3BA5-E76D323E5F49}"/>
              </a:ext>
            </a:extLst>
          </p:cNvPr>
          <p:cNvGraphicFramePr>
            <a:graphicFrameLocks noGrp="1"/>
          </p:cNvGraphicFramePr>
          <p:nvPr>
            <p:extLst>
              <p:ext uri="{D42A27DB-BD31-4B8C-83A1-F6EECF244321}">
                <p14:modId xmlns:p14="http://schemas.microsoft.com/office/powerpoint/2010/main" val="231224113"/>
              </p:ext>
            </p:extLst>
          </p:nvPr>
        </p:nvGraphicFramePr>
        <p:xfrm>
          <a:off x="914399" y="192640"/>
          <a:ext cx="7056784" cy="6038314"/>
        </p:xfrm>
        <a:graphic>
          <a:graphicData uri="http://schemas.openxmlformats.org/drawingml/2006/table">
            <a:tbl>
              <a:tblPr>
                <a:tableStyleId>{5940675A-B579-460E-94D1-54222C63F5DA}</a:tableStyleId>
              </a:tblPr>
              <a:tblGrid>
                <a:gridCol w="2057638">
                  <a:extLst>
                    <a:ext uri="{9D8B030D-6E8A-4147-A177-3AD203B41FA5}">
                      <a16:colId xmlns:a16="http://schemas.microsoft.com/office/drawing/2014/main" val="1868587488"/>
                    </a:ext>
                  </a:extLst>
                </a:gridCol>
                <a:gridCol w="4999146">
                  <a:extLst>
                    <a:ext uri="{9D8B030D-6E8A-4147-A177-3AD203B41FA5}">
                      <a16:colId xmlns:a16="http://schemas.microsoft.com/office/drawing/2014/main" val="41769662"/>
                    </a:ext>
                  </a:extLst>
                </a:gridCol>
              </a:tblGrid>
              <a:tr h="468376">
                <a:tc>
                  <a:txBody>
                    <a:bodyPr/>
                    <a:lstStyle/>
                    <a:p>
                      <a:pPr algn="l">
                        <a:buNone/>
                      </a:pPr>
                      <a:r>
                        <a:rPr lang="en-IN" sz="2000" b="1">
                          <a:effectLst/>
                        </a:rPr>
                        <a:t>Method</a:t>
                      </a:r>
                    </a:p>
                  </a:txBody>
                  <a:tcPr marL="48217" marR="48217" marT="48217" marB="48217" anchor="ctr"/>
                </a:tc>
                <a:tc>
                  <a:txBody>
                    <a:bodyPr/>
                    <a:lstStyle/>
                    <a:p>
                      <a:pPr algn="l">
                        <a:buNone/>
                      </a:pPr>
                      <a:r>
                        <a:rPr lang="en-IN" sz="2000" b="1">
                          <a:effectLst/>
                        </a:rPr>
                        <a:t>Description</a:t>
                      </a:r>
                    </a:p>
                  </a:txBody>
                  <a:tcPr marL="48217" marR="48217" marT="48217" marB="48217" anchor="ctr"/>
                </a:tc>
                <a:extLst>
                  <a:ext uri="{0D108BD9-81ED-4DB2-BD59-A6C34878D82A}">
                    <a16:rowId xmlns:a16="http://schemas.microsoft.com/office/drawing/2014/main" val="1952404461"/>
                  </a:ext>
                </a:extLst>
              </a:tr>
              <a:tr h="468376">
                <a:tc>
                  <a:txBody>
                    <a:bodyPr/>
                    <a:lstStyle/>
                    <a:p>
                      <a:pPr algn="l">
                        <a:buNone/>
                      </a:pPr>
                      <a:r>
                        <a:rPr lang="en-IN" sz="2000">
                          <a:effectLst/>
                        </a:rPr>
                        <a:t>add(E e)</a:t>
                      </a:r>
                    </a:p>
                  </a:txBody>
                  <a:tcPr marL="48217" marR="48217" marT="48217" marB="48217" anchor="ctr"/>
                </a:tc>
                <a:tc>
                  <a:txBody>
                    <a:bodyPr/>
                    <a:lstStyle/>
                    <a:p>
                      <a:pPr algn="l">
                        <a:buNone/>
                      </a:pPr>
                      <a:r>
                        <a:rPr lang="en-US" sz="2000">
                          <a:effectLst/>
                        </a:rPr>
                        <a:t>Adds an element to the end</a:t>
                      </a:r>
                    </a:p>
                  </a:txBody>
                  <a:tcPr marL="48217" marR="48217" marT="48217" marB="48217" anchor="ctr"/>
                </a:tc>
                <a:extLst>
                  <a:ext uri="{0D108BD9-81ED-4DB2-BD59-A6C34878D82A}">
                    <a16:rowId xmlns:a16="http://schemas.microsoft.com/office/drawing/2014/main" val="1448918877"/>
                  </a:ext>
                </a:extLst>
              </a:tr>
              <a:tr h="792636">
                <a:tc>
                  <a:txBody>
                    <a:bodyPr/>
                    <a:lstStyle/>
                    <a:p>
                      <a:pPr algn="l">
                        <a:buNone/>
                      </a:pPr>
                      <a:r>
                        <a:rPr lang="it-IT" sz="2000">
                          <a:effectLst/>
                        </a:rPr>
                        <a:t>add(int index, E e)</a:t>
                      </a:r>
                    </a:p>
                  </a:txBody>
                  <a:tcPr marL="48217" marR="48217" marT="48217" marB="48217" anchor="ctr"/>
                </a:tc>
                <a:tc>
                  <a:txBody>
                    <a:bodyPr/>
                    <a:lstStyle/>
                    <a:p>
                      <a:pPr algn="l">
                        <a:buNone/>
                      </a:pPr>
                      <a:r>
                        <a:rPr lang="en-US" sz="2000">
                          <a:effectLst/>
                        </a:rPr>
                        <a:t>Adds an element at the specified position</a:t>
                      </a:r>
                    </a:p>
                  </a:txBody>
                  <a:tcPr marL="48217" marR="48217" marT="48217" marB="48217" anchor="ctr"/>
                </a:tc>
                <a:extLst>
                  <a:ext uri="{0D108BD9-81ED-4DB2-BD59-A6C34878D82A}">
                    <a16:rowId xmlns:a16="http://schemas.microsoft.com/office/drawing/2014/main" val="285414979"/>
                  </a:ext>
                </a:extLst>
              </a:tr>
              <a:tr h="468376">
                <a:tc>
                  <a:txBody>
                    <a:bodyPr/>
                    <a:lstStyle/>
                    <a:p>
                      <a:pPr algn="l">
                        <a:buNone/>
                      </a:pPr>
                      <a:r>
                        <a:rPr lang="en-IN" sz="2000" dirty="0">
                          <a:effectLst/>
                        </a:rPr>
                        <a:t>get(int index)</a:t>
                      </a:r>
                    </a:p>
                  </a:txBody>
                  <a:tcPr marL="48217" marR="48217" marT="48217" marB="48217" anchor="ctr"/>
                </a:tc>
                <a:tc>
                  <a:txBody>
                    <a:bodyPr/>
                    <a:lstStyle/>
                    <a:p>
                      <a:pPr algn="l">
                        <a:buNone/>
                      </a:pPr>
                      <a:r>
                        <a:rPr lang="en-US" sz="2000">
                          <a:effectLst/>
                        </a:rPr>
                        <a:t>Returns the element at a given index</a:t>
                      </a:r>
                    </a:p>
                  </a:txBody>
                  <a:tcPr marL="48217" marR="48217" marT="48217" marB="48217" anchor="ctr"/>
                </a:tc>
                <a:extLst>
                  <a:ext uri="{0D108BD9-81ED-4DB2-BD59-A6C34878D82A}">
                    <a16:rowId xmlns:a16="http://schemas.microsoft.com/office/drawing/2014/main" val="1917391053"/>
                  </a:ext>
                </a:extLst>
              </a:tr>
              <a:tr h="792636">
                <a:tc>
                  <a:txBody>
                    <a:bodyPr/>
                    <a:lstStyle/>
                    <a:p>
                      <a:pPr algn="l">
                        <a:buNone/>
                      </a:pPr>
                      <a:r>
                        <a:rPr lang="en-IN" sz="2000" dirty="0">
                          <a:effectLst/>
                        </a:rPr>
                        <a:t>remove(int index)</a:t>
                      </a:r>
                    </a:p>
                  </a:txBody>
                  <a:tcPr marL="48217" marR="48217" marT="48217" marB="48217" anchor="ctr"/>
                </a:tc>
                <a:tc>
                  <a:txBody>
                    <a:bodyPr/>
                    <a:lstStyle/>
                    <a:p>
                      <a:pPr algn="l">
                        <a:buNone/>
                      </a:pPr>
                      <a:r>
                        <a:rPr lang="en-US" sz="2000" dirty="0">
                          <a:effectLst/>
                        </a:rPr>
                        <a:t>Removes the element at the specified index</a:t>
                      </a:r>
                    </a:p>
                  </a:txBody>
                  <a:tcPr marL="48217" marR="48217" marT="48217" marB="48217" anchor="ctr"/>
                </a:tc>
                <a:extLst>
                  <a:ext uri="{0D108BD9-81ED-4DB2-BD59-A6C34878D82A}">
                    <a16:rowId xmlns:a16="http://schemas.microsoft.com/office/drawing/2014/main" val="2156039098"/>
                  </a:ext>
                </a:extLst>
              </a:tr>
              <a:tr h="468376">
                <a:tc>
                  <a:txBody>
                    <a:bodyPr/>
                    <a:lstStyle/>
                    <a:p>
                      <a:pPr algn="l">
                        <a:buNone/>
                      </a:pPr>
                      <a:r>
                        <a:rPr lang="en-IN" sz="2000">
                          <a:effectLst/>
                        </a:rPr>
                        <a:t>size()</a:t>
                      </a:r>
                    </a:p>
                  </a:txBody>
                  <a:tcPr marL="48217" marR="48217" marT="48217" marB="48217" anchor="ctr"/>
                </a:tc>
                <a:tc>
                  <a:txBody>
                    <a:bodyPr/>
                    <a:lstStyle/>
                    <a:p>
                      <a:pPr algn="l">
                        <a:buNone/>
                      </a:pPr>
                      <a:r>
                        <a:rPr lang="en-US" sz="2000">
                          <a:effectLst/>
                        </a:rPr>
                        <a:t>Returns the number of elements</a:t>
                      </a:r>
                    </a:p>
                  </a:txBody>
                  <a:tcPr marL="48217" marR="48217" marT="48217" marB="48217" anchor="ctr"/>
                </a:tc>
                <a:extLst>
                  <a:ext uri="{0D108BD9-81ED-4DB2-BD59-A6C34878D82A}">
                    <a16:rowId xmlns:a16="http://schemas.microsoft.com/office/drawing/2014/main" val="907970343"/>
                  </a:ext>
                </a:extLst>
              </a:tr>
              <a:tr h="468376">
                <a:tc>
                  <a:txBody>
                    <a:bodyPr/>
                    <a:lstStyle/>
                    <a:p>
                      <a:pPr algn="l">
                        <a:buNone/>
                      </a:pPr>
                      <a:r>
                        <a:rPr lang="en-IN" sz="2000">
                          <a:effectLst/>
                        </a:rPr>
                        <a:t>capacity()</a:t>
                      </a:r>
                    </a:p>
                  </a:txBody>
                  <a:tcPr marL="48217" marR="48217" marT="48217" marB="48217" anchor="ctr"/>
                </a:tc>
                <a:tc>
                  <a:txBody>
                    <a:bodyPr/>
                    <a:lstStyle/>
                    <a:p>
                      <a:pPr algn="l">
                        <a:buNone/>
                      </a:pPr>
                      <a:r>
                        <a:rPr lang="en-IN" sz="2000">
                          <a:effectLst/>
                        </a:rPr>
                        <a:t>Returns current storage capacity</a:t>
                      </a:r>
                    </a:p>
                  </a:txBody>
                  <a:tcPr marL="48217" marR="48217" marT="48217" marB="48217" anchor="ctr"/>
                </a:tc>
                <a:extLst>
                  <a:ext uri="{0D108BD9-81ED-4DB2-BD59-A6C34878D82A}">
                    <a16:rowId xmlns:a16="http://schemas.microsoft.com/office/drawing/2014/main" val="2840608141"/>
                  </a:ext>
                </a:extLst>
              </a:tr>
              <a:tr h="468376">
                <a:tc>
                  <a:txBody>
                    <a:bodyPr/>
                    <a:lstStyle/>
                    <a:p>
                      <a:pPr algn="l">
                        <a:buNone/>
                      </a:pPr>
                      <a:r>
                        <a:rPr lang="en-IN" sz="2000">
                          <a:effectLst/>
                        </a:rPr>
                        <a:t>ensureCapacity(int)</a:t>
                      </a:r>
                    </a:p>
                  </a:txBody>
                  <a:tcPr marL="48217" marR="48217" marT="48217" marB="48217" anchor="ctr"/>
                </a:tc>
                <a:tc>
                  <a:txBody>
                    <a:bodyPr/>
                    <a:lstStyle/>
                    <a:p>
                      <a:pPr algn="l">
                        <a:buNone/>
                      </a:pPr>
                      <a:r>
                        <a:rPr lang="en-IN" sz="2000">
                          <a:effectLst/>
                        </a:rPr>
                        <a:t>Ensures minimum capacity</a:t>
                      </a:r>
                    </a:p>
                  </a:txBody>
                  <a:tcPr marL="48217" marR="48217" marT="48217" marB="48217" anchor="ctr"/>
                </a:tc>
                <a:extLst>
                  <a:ext uri="{0D108BD9-81ED-4DB2-BD59-A6C34878D82A}">
                    <a16:rowId xmlns:a16="http://schemas.microsoft.com/office/drawing/2014/main" val="85734118"/>
                  </a:ext>
                </a:extLst>
              </a:tr>
              <a:tr h="468376">
                <a:tc>
                  <a:txBody>
                    <a:bodyPr/>
                    <a:lstStyle/>
                    <a:p>
                      <a:pPr algn="l">
                        <a:buNone/>
                      </a:pPr>
                      <a:r>
                        <a:rPr lang="en-IN" sz="2000">
                          <a:effectLst/>
                        </a:rPr>
                        <a:t>clear()</a:t>
                      </a:r>
                    </a:p>
                  </a:txBody>
                  <a:tcPr marL="48217" marR="48217" marT="48217" marB="48217" anchor="ctr"/>
                </a:tc>
                <a:tc>
                  <a:txBody>
                    <a:bodyPr/>
                    <a:lstStyle/>
                    <a:p>
                      <a:pPr algn="l">
                        <a:buNone/>
                      </a:pPr>
                      <a:r>
                        <a:rPr lang="en-IN" sz="2000">
                          <a:effectLst/>
                        </a:rPr>
                        <a:t>Removes all elements</a:t>
                      </a:r>
                    </a:p>
                  </a:txBody>
                  <a:tcPr marL="48217" marR="48217" marT="48217" marB="48217" anchor="ctr"/>
                </a:tc>
                <a:extLst>
                  <a:ext uri="{0D108BD9-81ED-4DB2-BD59-A6C34878D82A}">
                    <a16:rowId xmlns:a16="http://schemas.microsoft.com/office/drawing/2014/main" val="2371635283"/>
                  </a:ext>
                </a:extLst>
              </a:tr>
              <a:tr h="468376">
                <a:tc>
                  <a:txBody>
                    <a:bodyPr/>
                    <a:lstStyle/>
                    <a:p>
                      <a:pPr algn="l">
                        <a:buNone/>
                      </a:pPr>
                      <a:r>
                        <a:rPr lang="en-IN" sz="2000">
                          <a:effectLst/>
                        </a:rPr>
                        <a:t>firstElement()</a:t>
                      </a:r>
                    </a:p>
                  </a:txBody>
                  <a:tcPr marL="48217" marR="48217" marT="48217" marB="48217" anchor="ctr"/>
                </a:tc>
                <a:tc>
                  <a:txBody>
                    <a:bodyPr/>
                    <a:lstStyle/>
                    <a:p>
                      <a:pPr algn="l">
                        <a:buNone/>
                      </a:pPr>
                      <a:r>
                        <a:rPr lang="en-IN" sz="2000">
                          <a:effectLst/>
                        </a:rPr>
                        <a:t>Returns first element</a:t>
                      </a:r>
                    </a:p>
                  </a:txBody>
                  <a:tcPr marL="48217" marR="48217" marT="48217" marB="48217" anchor="ctr"/>
                </a:tc>
                <a:extLst>
                  <a:ext uri="{0D108BD9-81ED-4DB2-BD59-A6C34878D82A}">
                    <a16:rowId xmlns:a16="http://schemas.microsoft.com/office/drawing/2014/main" val="3742119417"/>
                  </a:ext>
                </a:extLst>
              </a:tr>
              <a:tr h="468376">
                <a:tc>
                  <a:txBody>
                    <a:bodyPr/>
                    <a:lstStyle/>
                    <a:p>
                      <a:pPr algn="l">
                        <a:buNone/>
                      </a:pPr>
                      <a:r>
                        <a:rPr lang="en-IN" sz="2000">
                          <a:effectLst/>
                        </a:rPr>
                        <a:t>lastElement()</a:t>
                      </a:r>
                    </a:p>
                  </a:txBody>
                  <a:tcPr marL="48217" marR="48217" marT="48217" marB="48217" anchor="ctr"/>
                </a:tc>
                <a:tc>
                  <a:txBody>
                    <a:bodyPr/>
                    <a:lstStyle/>
                    <a:p>
                      <a:pPr algn="l">
                        <a:buNone/>
                      </a:pPr>
                      <a:r>
                        <a:rPr lang="en-IN" sz="2000" dirty="0">
                          <a:effectLst/>
                        </a:rPr>
                        <a:t>Returns last element</a:t>
                      </a:r>
                    </a:p>
                  </a:txBody>
                  <a:tcPr marL="48217" marR="48217" marT="48217" marB="48217" anchor="ctr"/>
                </a:tc>
                <a:extLst>
                  <a:ext uri="{0D108BD9-81ED-4DB2-BD59-A6C34878D82A}">
                    <a16:rowId xmlns:a16="http://schemas.microsoft.com/office/drawing/2014/main" val="2111408146"/>
                  </a:ext>
                </a:extLst>
              </a:tr>
            </a:tbl>
          </a:graphicData>
        </a:graphic>
      </p:graphicFrame>
    </p:spTree>
    <p:extLst>
      <p:ext uri="{BB962C8B-B14F-4D97-AF65-F5344CB8AC3E}">
        <p14:creationId xmlns:p14="http://schemas.microsoft.com/office/powerpoint/2010/main" val="151036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4A13D-E406-B6BE-6CCB-32836B2AA55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714C42-52AD-C3E9-7FEF-62BF059150E6}"/>
              </a:ext>
            </a:extLst>
          </p:cNvPr>
          <p:cNvSpPr txBox="1"/>
          <p:nvPr/>
        </p:nvSpPr>
        <p:spPr>
          <a:xfrm>
            <a:off x="1013791" y="204257"/>
            <a:ext cx="8100391" cy="4801314"/>
          </a:xfrm>
          <a:prstGeom prst="rect">
            <a:avLst/>
          </a:prstGeom>
          <a:noFill/>
        </p:spPr>
        <p:txBody>
          <a:bodyPr wrap="square">
            <a:spAutoFit/>
          </a:bodyPr>
          <a:lstStyle/>
          <a:p>
            <a:pPr>
              <a:buNone/>
            </a:pPr>
            <a:r>
              <a:rPr lang="en-IN" b="1" dirty="0">
                <a:effectLst/>
                <a:latin typeface="fkGrotesk"/>
              </a:rPr>
              <a:t>Example Usage</a:t>
            </a:r>
          </a:p>
          <a:p>
            <a:pPr>
              <a:buNone/>
            </a:pPr>
            <a:endParaRPr lang="en-IN" dirty="0">
              <a:latin typeface="fkGrotesk"/>
            </a:endParaRPr>
          </a:p>
          <a:p>
            <a:pPr>
              <a:buNone/>
            </a:pPr>
            <a:r>
              <a:rPr lang="en-IN" dirty="0">
                <a:latin typeface="fkGrotesk"/>
              </a:rPr>
              <a:t>import java.util.Vector;</a:t>
            </a:r>
          </a:p>
          <a:p>
            <a:pPr>
              <a:buNone/>
            </a:pPr>
            <a:endParaRPr lang="en-IN" dirty="0">
              <a:latin typeface="fkGrotesk"/>
            </a:endParaRPr>
          </a:p>
          <a:p>
            <a:pPr>
              <a:buNone/>
            </a:pPr>
            <a:r>
              <a:rPr lang="en-IN" dirty="0">
                <a:latin typeface="fkGrotesk"/>
              </a:rPr>
              <a:t>public class </a:t>
            </a:r>
            <a:r>
              <a:rPr lang="en-IN" dirty="0" err="1">
                <a:latin typeface="fkGrotesk"/>
              </a:rPr>
              <a:t>VectorExample</a:t>
            </a:r>
            <a:r>
              <a:rPr lang="en-IN" dirty="0">
                <a:latin typeface="fkGrotesk"/>
              </a:rPr>
              <a:t> {</a:t>
            </a:r>
          </a:p>
          <a:p>
            <a:pPr>
              <a:buNone/>
            </a:pPr>
            <a:r>
              <a:rPr lang="en-IN" dirty="0">
                <a:latin typeface="fkGrotesk"/>
              </a:rPr>
              <a:t>    public static void main(String[] args) {</a:t>
            </a:r>
          </a:p>
          <a:p>
            <a:pPr>
              <a:buNone/>
            </a:pPr>
            <a:r>
              <a:rPr lang="en-IN" dirty="0">
                <a:latin typeface="fkGrotesk"/>
              </a:rPr>
              <a:t>        Vector&lt;Integer&gt; v = new Vector&lt;&gt;(3, 2);</a:t>
            </a:r>
          </a:p>
          <a:p>
            <a:pPr>
              <a:buNone/>
            </a:pPr>
            <a:r>
              <a:rPr lang="en-IN" dirty="0">
                <a:latin typeface="fkGrotesk"/>
              </a:rPr>
              <a:t>        </a:t>
            </a:r>
            <a:r>
              <a:rPr lang="en-IN" dirty="0" err="1">
                <a:latin typeface="fkGrotesk"/>
              </a:rPr>
              <a:t>v.addElement</a:t>
            </a:r>
            <a:r>
              <a:rPr lang="en-IN" dirty="0">
                <a:latin typeface="fkGrotesk"/>
              </a:rPr>
              <a:t>(1);</a:t>
            </a:r>
          </a:p>
          <a:p>
            <a:pPr>
              <a:buNone/>
            </a:pPr>
            <a:r>
              <a:rPr lang="en-IN" dirty="0">
                <a:latin typeface="fkGrotesk"/>
              </a:rPr>
              <a:t>        </a:t>
            </a:r>
            <a:r>
              <a:rPr lang="en-IN" dirty="0" err="1">
                <a:latin typeface="fkGrotesk"/>
              </a:rPr>
              <a:t>v.addElement</a:t>
            </a:r>
            <a:r>
              <a:rPr lang="en-IN" dirty="0">
                <a:latin typeface="fkGrotesk"/>
              </a:rPr>
              <a:t>(2);</a:t>
            </a:r>
          </a:p>
          <a:p>
            <a:pPr>
              <a:buNone/>
            </a:pPr>
            <a:r>
              <a:rPr lang="en-IN" dirty="0">
                <a:latin typeface="fkGrotesk"/>
              </a:rPr>
              <a:t>        </a:t>
            </a:r>
            <a:r>
              <a:rPr lang="en-IN" dirty="0" err="1">
                <a:latin typeface="fkGrotesk"/>
              </a:rPr>
              <a:t>v.addElement</a:t>
            </a:r>
            <a:r>
              <a:rPr lang="en-IN" dirty="0">
                <a:latin typeface="fkGrotesk"/>
              </a:rPr>
              <a:t>(3);</a:t>
            </a:r>
          </a:p>
          <a:p>
            <a:pPr>
              <a:buNone/>
            </a:pPr>
            <a:r>
              <a:rPr lang="en-IN" dirty="0">
                <a:latin typeface="fkGrotesk"/>
              </a:rPr>
              <a:t>        </a:t>
            </a:r>
            <a:r>
              <a:rPr lang="en-IN" dirty="0" err="1">
                <a:latin typeface="fkGrotesk"/>
              </a:rPr>
              <a:t>v.insertElementAt</a:t>
            </a:r>
            <a:r>
              <a:rPr lang="en-IN" dirty="0">
                <a:latin typeface="fkGrotesk"/>
              </a:rPr>
              <a:t>(0, 1);</a:t>
            </a:r>
          </a:p>
          <a:p>
            <a:pPr>
              <a:buNone/>
            </a:pPr>
            <a:r>
              <a:rPr lang="en-IN" dirty="0">
                <a:latin typeface="fkGrotesk"/>
              </a:rPr>
              <a:t>        </a:t>
            </a:r>
            <a:r>
              <a:rPr lang="en-IN" dirty="0" err="1">
                <a:latin typeface="fkGrotesk"/>
              </a:rPr>
              <a:t>v.removeElementAt</a:t>
            </a:r>
            <a:r>
              <a:rPr lang="en-IN" dirty="0">
                <a:latin typeface="fkGrotesk"/>
              </a:rPr>
              <a:t>(2);</a:t>
            </a:r>
          </a:p>
          <a:p>
            <a:pPr>
              <a:buNone/>
            </a:pPr>
            <a:r>
              <a:rPr lang="en-IN" dirty="0">
                <a:latin typeface="fkGrotesk"/>
              </a:rPr>
              <a:t>        for (int </a:t>
            </a:r>
            <a:r>
              <a:rPr lang="en-IN" dirty="0" err="1">
                <a:latin typeface="fkGrotesk"/>
              </a:rPr>
              <a:t>i</a:t>
            </a:r>
            <a:r>
              <a:rPr lang="en-IN" dirty="0">
                <a:latin typeface="fkGrotesk"/>
              </a:rPr>
              <a:t> : v) {</a:t>
            </a:r>
          </a:p>
          <a:p>
            <a:pPr>
              <a:buNone/>
            </a:pPr>
            <a:r>
              <a:rPr lang="en-IN" dirty="0">
                <a:latin typeface="fkGrotesk"/>
              </a:rPr>
              <a:t>            System.out.println(</a:t>
            </a:r>
            <a:r>
              <a:rPr lang="en-IN" dirty="0" err="1">
                <a:latin typeface="fkGrotesk"/>
              </a:rPr>
              <a:t>i</a:t>
            </a:r>
            <a:r>
              <a:rPr lang="en-IN" dirty="0">
                <a:latin typeface="fkGrotesk"/>
              </a:rPr>
              <a:t>);  // Output: 1, 0, 3</a:t>
            </a:r>
          </a:p>
          <a:p>
            <a:pPr>
              <a:buNone/>
            </a:pPr>
            <a:r>
              <a:rPr lang="en-IN" dirty="0">
                <a:latin typeface="fkGrotesk"/>
              </a:rPr>
              <a:t>        }</a:t>
            </a:r>
          </a:p>
          <a:p>
            <a:pPr>
              <a:buNone/>
            </a:pPr>
            <a:r>
              <a:rPr lang="en-IN" dirty="0">
                <a:latin typeface="fkGrotesk"/>
              </a:rPr>
              <a:t>    }</a:t>
            </a:r>
          </a:p>
          <a:p>
            <a:pPr>
              <a:buNone/>
            </a:pPr>
            <a:r>
              <a:rPr lang="en-IN" dirty="0">
                <a:latin typeface="fkGrotesk"/>
              </a:rPr>
              <a:t>}</a:t>
            </a:r>
          </a:p>
        </p:txBody>
      </p:sp>
    </p:spTree>
    <p:extLst>
      <p:ext uri="{BB962C8B-B14F-4D97-AF65-F5344CB8AC3E}">
        <p14:creationId xmlns:p14="http://schemas.microsoft.com/office/powerpoint/2010/main" val="3182185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80948-8006-05D2-7FFA-FA58F952BC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D61BA0-5D85-ECAD-DD13-3A85144748D1}"/>
              </a:ext>
            </a:extLst>
          </p:cNvPr>
          <p:cNvSpPr txBox="1"/>
          <p:nvPr/>
        </p:nvSpPr>
        <p:spPr>
          <a:xfrm>
            <a:off x="715619" y="224858"/>
            <a:ext cx="8915400" cy="2308324"/>
          </a:xfrm>
          <a:prstGeom prst="rect">
            <a:avLst/>
          </a:prstGeom>
          <a:noFill/>
        </p:spPr>
        <p:txBody>
          <a:bodyPr wrap="square">
            <a:spAutoFit/>
          </a:bodyPr>
          <a:lstStyle/>
          <a:p>
            <a:pPr>
              <a:buNone/>
            </a:pPr>
            <a:r>
              <a:rPr lang="en-US" b="1" dirty="0">
                <a:effectLst/>
                <a:latin typeface="fkGrotesk"/>
              </a:rPr>
              <a:t>Constructors</a:t>
            </a:r>
          </a:p>
          <a:p>
            <a:pPr>
              <a:buNone/>
            </a:pPr>
            <a:endParaRPr lang="en-US" b="0" dirty="0">
              <a:effectLst/>
              <a:latin typeface="fkGrotesk"/>
            </a:endParaRPr>
          </a:p>
          <a:p>
            <a:pPr>
              <a:buFont typeface="Arial" panose="020B0604020202020204" pitchFamily="34" charset="0"/>
              <a:buChar char="•"/>
            </a:pPr>
            <a:r>
              <a:rPr lang="en-US" b="0" dirty="0">
                <a:effectLst/>
                <a:latin typeface="berkeleyMono"/>
              </a:rPr>
              <a:t>Vector()</a:t>
            </a:r>
            <a:r>
              <a:rPr lang="en-US" dirty="0">
                <a:effectLst/>
                <a:latin typeface="fkGroteskNeue"/>
              </a:rPr>
              <a:t>: Default capacity of 10.</a:t>
            </a:r>
          </a:p>
          <a:p>
            <a:pPr>
              <a:buFont typeface="Arial" panose="020B0604020202020204" pitchFamily="34" charset="0"/>
              <a:buChar char="•"/>
            </a:pPr>
            <a:r>
              <a:rPr lang="en-US" b="0" dirty="0">
                <a:effectLst/>
                <a:latin typeface="berkeleyMono"/>
              </a:rPr>
              <a:t>Vector(int size)</a:t>
            </a:r>
            <a:r>
              <a:rPr lang="en-US" dirty="0">
                <a:effectLst/>
                <a:latin typeface="fkGroteskNeue"/>
              </a:rPr>
              <a:t>: Initial specified capacity.</a:t>
            </a:r>
          </a:p>
          <a:p>
            <a:pPr>
              <a:buFont typeface="Arial" panose="020B0604020202020204" pitchFamily="34" charset="0"/>
              <a:buChar char="•"/>
            </a:pPr>
            <a:r>
              <a:rPr lang="en-US" b="0" dirty="0">
                <a:effectLst/>
                <a:latin typeface="berkeleyMono"/>
              </a:rPr>
              <a:t>Vector(int size, int increment)</a:t>
            </a:r>
            <a:r>
              <a:rPr lang="en-US" dirty="0">
                <a:effectLst/>
                <a:latin typeface="fkGroteskNeue"/>
              </a:rPr>
              <a:t>: Initial capacity and increment value.</a:t>
            </a:r>
          </a:p>
          <a:p>
            <a:pPr>
              <a:buFont typeface="Arial" panose="020B0604020202020204" pitchFamily="34" charset="0"/>
              <a:buChar char="•"/>
            </a:pPr>
            <a:r>
              <a:rPr lang="en-US" b="0" dirty="0">
                <a:effectLst/>
                <a:latin typeface="berkeleyMono"/>
              </a:rPr>
              <a:t>Vector(Collection c)</a:t>
            </a:r>
            <a:r>
              <a:rPr lang="en-US" dirty="0">
                <a:effectLst/>
                <a:latin typeface="fkGroteskNeue"/>
              </a:rPr>
              <a:t>: Initializes vector with elements from a collection.</a:t>
            </a:r>
          </a:p>
          <a:p>
            <a:pPr>
              <a:buNone/>
            </a:pPr>
            <a:r>
              <a:rPr lang="en-US" dirty="0">
                <a:effectLst/>
                <a:latin typeface="fkGroteskNeue"/>
              </a:rPr>
              <a:t>Vector is reliable in multi-threaded environments but typically slower than ArrayList for single-threaded use due to synchronization overhead.</a:t>
            </a:r>
          </a:p>
        </p:txBody>
      </p:sp>
    </p:spTree>
    <p:extLst>
      <p:ext uri="{BB962C8B-B14F-4D97-AF65-F5344CB8AC3E}">
        <p14:creationId xmlns:p14="http://schemas.microsoft.com/office/powerpoint/2010/main" val="302968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FD53A-5B64-9036-E6A2-51F1875B9B5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5079A0-1F81-30F2-4028-220915FFDC77}"/>
              </a:ext>
            </a:extLst>
          </p:cNvPr>
          <p:cNvSpPr txBox="1"/>
          <p:nvPr/>
        </p:nvSpPr>
        <p:spPr>
          <a:xfrm>
            <a:off x="924339" y="173142"/>
            <a:ext cx="8299174" cy="369332"/>
          </a:xfrm>
          <a:prstGeom prst="rect">
            <a:avLst/>
          </a:prstGeom>
          <a:noFill/>
        </p:spPr>
        <p:txBody>
          <a:bodyPr wrap="square">
            <a:spAutoFit/>
          </a:bodyPr>
          <a:lstStyle/>
          <a:p>
            <a:r>
              <a:rPr lang="en-IN" b="1" dirty="0"/>
              <a:t>7.4.7 Stack </a:t>
            </a:r>
          </a:p>
        </p:txBody>
      </p:sp>
      <p:sp>
        <p:nvSpPr>
          <p:cNvPr id="5" name="TextBox 4">
            <a:extLst>
              <a:ext uri="{FF2B5EF4-FFF2-40B4-BE49-F238E27FC236}">
                <a16:creationId xmlns:a16="http://schemas.microsoft.com/office/drawing/2014/main" id="{5ED2E7FF-60B8-9109-28D2-DD83424363F3}"/>
              </a:ext>
            </a:extLst>
          </p:cNvPr>
          <p:cNvSpPr txBox="1"/>
          <p:nvPr/>
        </p:nvSpPr>
        <p:spPr>
          <a:xfrm>
            <a:off x="854765" y="641866"/>
            <a:ext cx="8438322" cy="4247317"/>
          </a:xfrm>
          <a:prstGeom prst="rect">
            <a:avLst/>
          </a:prstGeom>
          <a:noFill/>
        </p:spPr>
        <p:txBody>
          <a:bodyPr wrap="square">
            <a:spAutoFit/>
          </a:bodyPr>
          <a:lstStyle/>
          <a:p>
            <a:r>
              <a:rPr lang="en-US" b="0" i="0" dirty="0">
                <a:effectLst/>
                <a:latin typeface="fkGroteskNeue"/>
              </a:rPr>
              <a:t>The Stack class in Java is a legacy collection that implements a last-in-first-out (LIFO) data structure. It extends the Vector class and provides operations at only one end: the top of the stack</a:t>
            </a:r>
          </a:p>
          <a:p>
            <a:endParaRPr lang="en-US" dirty="0">
              <a:latin typeface="fkGroteskNeue"/>
            </a:endParaRPr>
          </a:p>
          <a:p>
            <a:r>
              <a:rPr lang="en-US" b="1" dirty="0">
                <a:latin typeface="fkGroteskNeue"/>
              </a:rPr>
              <a:t>Key</a:t>
            </a:r>
            <a:r>
              <a:rPr lang="en-US" dirty="0">
                <a:latin typeface="fkGroteskNeue"/>
              </a:rPr>
              <a:t> </a:t>
            </a:r>
            <a:r>
              <a:rPr lang="en-US" b="1" dirty="0">
                <a:latin typeface="fkGroteskNeue"/>
              </a:rPr>
              <a:t>Features</a:t>
            </a:r>
          </a:p>
          <a:p>
            <a:endParaRPr lang="en-US" dirty="0">
              <a:latin typeface="fkGroteskNeue"/>
            </a:endParaRPr>
          </a:p>
          <a:p>
            <a:pPr marL="285750" indent="-285750">
              <a:buFont typeface="Arial" panose="020B0604020202020204" pitchFamily="34" charset="0"/>
              <a:buChar char="•"/>
            </a:pPr>
            <a:r>
              <a:rPr lang="en-US" dirty="0">
                <a:latin typeface="fkGroteskNeue"/>
              </a:rPr>
              <a:t>LIFO Principle: The last element added is the first one to be removed.</a:t>
            </a:r>
          </a:p>
          <a:p>
            <a:pPr marL="285750" indent="-285750">
              <a:buFont typeface="Arial" panose="020B0604020202020204" pitchFamily="34" charset="0"/>
              <a:buChar char="•"/>
            </a:pPr>
            <a:r>
              <a:rPr lang="en-US" dirty="0">
                <a:latin typeface="fkGroteskNeue"/>
              </a:rPr>
              <a:t>Thread-Safe: Inherits synchronization from Vector.</a:t>
            </a:r>
          </a:p>
          <a:p>
            <a:pPr marL="285750" indent="-285750">
              <a:buFont typeface="Arial" panose="020B0604020202020204" pitchFamily="34" charset="0"/>
              <a:buChar char="•"/>
            </a:pPr>
            <a:r>
              <a:rPr lang="en-US" dirty="0">
                <a:latin typeface="fkGroteskNeue"/>
              </a:rPr>
              <a:t>Generic Support: Can hold any reference type (e.g., Stack&lt;Integer&gt;).</a:t>
            </a:r>
          </a:p>
          <a:p>
            <a:pPr marL="285750" indent="-285750">
              <a:buFont typeface="Arial" panose="020B0604020202020204" pitchFamily="34" charset="0"/>
              <a:buChar char="•"/>
            </a:pPr>
            <a:r>
              <a:rPr lang="en-US" dirty="0">
                <a:latin typeface="fkGroteskNeue"/>
              </a:rPr>
              <a:t>Allows Duplicates and Nulls: Like Vector, Stack supports both.</a:t>
            </a:r>
          </a:p>
          <a:p>
            <a:pPr marL="285750" indent="-285750">
              <a:buFont typeface="Arial" panose="020B0604020202020204" pitchFamily="34" charset="0"/>
              <a:buChar char="•"/>
            </a:pPr>
            <a:r>
              <a:rPr lang="en-US" dirty="0">
                <a:latin typeface="fkGroteskNeue"/>
              </a:rPr>
              <a:t>Direct Top Operations: All core operations (push, pop, peek, search) work on the top element</a:t>
            </a:r>
            <a:r>
              <a:rPr lang="en-US" dirty="0"/>
              <a:t>.</a:t>
            </a:r>
          </a:p>
          <a:p>
            <a:endParaRPr lang="en-IN" dirty="0"/>
          </a:p>
          <a:p>
            <a:r>
              <a:rPr lang="en-IN" b="1" dirty="0"/>
              <a:t>Core Methods</a:t>
            </a:r>
          </a:p>
          <a:p>
            <a:endParaRPr lang="en-IN" dirty="0"/>
          </a:p>
        </p:txBody>
      </p:sp>
    </p:spTree>
    <p:extLst>
      <p:ext uri="{BB962C8B-B14F-4D97-AF65-F5344CB8AC3E}">
        <p14:creationId xmlns:p14="http://schemas.microsoft.com/office/powerpoint/2010/main" val="22247634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CEB32-3203-F8E2-C1C0-11D411BD9F7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86E2549-4249-DFCD-BA77-FCC3A53E0195}"/>
              </a:ext>
            </a:extLst>
          </p:cNvPr>
          <p:cNvGraphicFramePr>
            <a:graphicFrameLocks noGrp="1"/>
          </p:cNvGraphicFramePr>
          <p:nvPr>
            <p:extLst>
              <p:ext uri="{D42A27DB-BD31-4B8C-83A1-F6EECF244321}">
                <p14:modId xmlns:p14="http://schemas.microsoft.com/office/powerpoint/2010/main" val="3004804911"/>
              </p:ext>
            </p:extLst>
          </p:nvPr>
        </p:nvGraphicFramePr>
        <p:xfrm>
          <a:off x="1125123" y="113727"/>
          <a:ext cx="6766546" cy="2377440"/>
        </p:xfrm>
        <a:graphic>
          <a:graphicData uri="http://schemas.openxmlformats.org/drawingml/2006/table">
            <a:tbl>
              <a:tblPr>
                <a:tableStyleId>{5940675A-B579-460E-94D1-54222C63F5DA}</a:tableStyleId>
              </a:tblPr>
              <a:tblGrid>
                <a:gridCol w="1876493">
                  <a:extLst>
                    <a:ext uri="{9D8B030D-6E8A-4147-A177-3AD203B41FA5}">
                      <a16:colId xmlns:a16="http://schemas.microsoft.com/office/drawing/2014/main" val="3785349137"/>
                    </a:ext>
                  </a:extLst>
                </a:gridCol>
                <a:gridCol w="4890053">
                  <a:extLst>
                    <a:ext uri="{9D8B030D-6E8A-4147-A177-3AD203B41FA5}">
                      <a16:colId xmlns:a16="http://schemas.microsoft.com/office/drawing/2014/main" val="3815065033"/>
                    </a:ext>
                  </a:extLst>
                </a:gridCol>
              </a:tblGrid>
              <a:tr h="0">
                <a:tc>
                  <a:txBody>
                    <a:bodyPr/>
                    <a:lstStyle/>
                    <a:p>
                      <a:pPr algn="l">
                        <a:buNone/>
                      </a:pPr>
                      <a:r>
                        <a:rPr lang="en-IN" b="1" dirty="0">
                          <a:effectLst/>
                        </a:rPr>
                        <a:t>Method</a:t>
                      </a:r>
                    </a:p>
                  </a:txBody>
                  <a:tcPr marL="60960" marR="60960" marT="60960" marB="60960" anchor="ctr"/>
                </a:tc>
                <a:tc>
                  <a:txBody>
                    <a:bodyPr/>
                    <a:lstStyle/>
                    <a:p>
                      <a:pPr algn="l">
                        <a:buNone/>
                      </a:pPr>
                      <a:r>
                        <a:rPr lang="en-IN" b="1">
                          <a:effectLst/>
                        </a:rPr>
                        <a:t>Description</a:t>
                      </a:r>
                    </a:p>
                  </a:txBody>
                  <a:tcPr marL="60960" marR="60960" marT="60960" marB="60960" anchor="ctr"/>
                </a:tc>
                <a:extLst>
                  <a:ext uri="{0D108BD9-81ED-4DB2-BD59-A6C34878D82A}">
                    <a16:rowId xmlns:a16="http://schemas.microsoft.com/office/drawing/2014/main" val="1545669881"/>
                  </a:ext>
                </a:extLst>
              </a:tr>
              <a:tr h="0">
                <a:tc>
                  <a:txBody>
                    <a:bodyPr/>
                    <a:lstStyle/>
                    <a:p>
                      <a:pPr algn="l">
                        <a:buNone/>
                      </a:pPr>
                      <a:r>
                        <a:rPr lang="en-IN">
                          <a:effectLst/>
                        </a:rPr>
                        <a:t>push(E e)</a:t>
                      </a:r>
                    </a:p>
                  </a:txBody>
                  <a:tcPr marL="60960" marR="60960" marT="60960" marB="60960" anchor="ctr"/>
                </a:tc>
                <a:tc>
                  <a:txBody>
                    <a:bodyPr/>
                    <a:lstStyle/>
                    <a:p>
                      <a:pPr algn="l">
                        <a:buNone/>
                      </a:pPr>
                      <a:r>
                        <a:rPr lang="en-US">
                          <a:effectLst/>
                        </a:rPr>
                        <a:t>Adds an element to the top of the stack</a:t>
                      </a:r>
                    </a:p>
                  </a:txBody>
                  <a:tcPr marL="60960" marR="60960" marT="60960" marB="60960" anchor="ctr"/>
                </a:tc>
                <a:extLst>
                  <a:ext uri="{0D108BD9-81ED-4DB2-BD59-A6C34878D82A}">
                    <a16:rowId xmlns:a16="http://schemas.microsoft.com/office/drawing/2014/main" val="829195304"/>
                  </a:ext>
                </a:extLst>
              </a:tr>
              <a:tr h="0">
                <a:tc>
                  <a:txBody>
                    <a:bodyPr/>
                    <a:lstStyle/>
                    <a:p>
                      <a:pPr algn="l">
                        <a:buNone/>
                      </a:pPr>
                      <a:r>
                        <a:rPr lang="en-IN">
                          <a:effectLst/>
                        </a:rPr>
                        <a:t>pop()</a:t>
                      </a:r>
                    </a:p>
                  </a:txBody>
                  <a:tcPr marL="60960" marR="60960" marT="60960" marB="60960" anchor="ctr"/>
                </a:tc>
                <a:tc>
                  <a:txBody>
                    <a:bodyPr/>
                    <a:lstStyle/>
                    <a:p>
                      <a:pPr algn="l">
                        <a:buNone/>
                      </a:pPr>
                      <a:r>
                        <a:rPr lang="en-US">
                          <a:effectLst/>
                        </a:rPr>
                        <a:t>Removes and returns the top element</a:t>
                      </a:r>
                    </a:p>
                  </a:txBody>
                  <a:tcPr marL="60960" marR="60960" marT="60960" marB="60960" anchor="ctr"/>
                </a:tc>
                <a:extLst>
                  <a:ext uri="{0D108BD9-81ED-4DB2-BD59-A6C34878D82A}">
                    <a16:rowId xmlns:a16="http://schemas.microsoft.com/office/drawing/2014/main" val="180601743"/>
                  </a:ext>
                </a:extLst>
              </a:tr>
              <a:tr h="0">
                <a:tc>
                  <a:txBody>
                    <a:bodyPr/>
                    <a:lstStyle/>
                    <a:p>
                      <a:pPr algn="l">
                        <a:buNone/>
                      </a:pPr>
                      <a:r>
                        <a:rPr lang="en-IN">
                          <a:effectLst/>
                        </a:rPr>
                        <a:t>peek()</a:t>
                      </a:r>
                    </a:p>
                  </a:txBody>
                  <a:tcPr marL="60960" marR="60960" marT="60960" marB="60960" anchor="ctr"/>
                </a:tc>
                <a:tc>
                  <a:txBody>
                    <a:bodyPr/>
                    <a:lstStyle/>
                    <a:p>
                      <a:pPr algn="l">
                        <a:buNone/>
                      </a:pPr>
                      <a:r>
                        <a:rPr lang="en-US" dirty="0">
                          <a:effectLst/>
                        </a:rPr>
                        <a:t>Returns the top element without removing it</a:t>
                      </a:r>
                    </a:p>
                  </a:txBody>
                  <a:tcPr marL="60960" marR="60960" marT="60960" marB="60960" anchor="ctr"/>
                </a:tc>
                <a:extLst>
                  <a:ext uri="{0D108BD9-81ED-4DB2-BD59-A6C34878D82A}">
                    <a16:rowId xmlns:a16="http://schemas.microsoft.com/office/drawing/2014/main" val="1978053108"/>
                  </a:ext>
                </a:extLst>
              </a:tr>
              <a:tr h="0">
                <a:tc>
                  <a:txBody>
                    <a:bodyPr/>
                    <a:lstStyle/>
                    <a:p>
                      <a:pPr algn="l">
                        <a:buNone/>
                      </a:pPr>
                      <a:r>
                        <a:rPr lang="en-IN">
                          <a:effectLst/>
                        </a:rPr>
                        <a:t>empty()</a:t>
                      </a:r>
                    </a:p>
                  </a:txBody>
                  <a:tcPr marL="60960" marR="60960" marT="60960" marB="60960" anchor="ctr"/>
                </a:tc>
                <a:tc>
                  <a:txBody>
                    <a:bodyPr/>
                    <a:lstStyle/>
                    <a:p>
                      <a:pPr algn="l">
                        <a:buNone/>
                      </a:pPr>
                      <a:r>
                        <a:rPr lang="en-US">
                          <a:effectLst/>
                        </a:rPr>
                        <a:t>Checks if the stack is empty</a:t>
                      </a:r>
                    </a:p>
                  </a:txBody>
                  <a:tcPr marL="60960" marR="60960" marT="60960" marB="60960" anchor="ctr"/>
                </a:tc>
                <a:extLst>
                  <a:ext uri="{0D108BD9-81ED-4DB2-BD59-A6C34878D82A}">
                    <a16:rowId xmlns:a16="http://schemas.microsoft.com/office/drawing/2014/main" val="1552912131"/>
                  </a:ext>
                </a:extLst>
              </a:tr>
              <a:tr h="0">
                <a:tc>
                  <a:txBody>
                    <a:bodyPr/>
                    <a:lstStyle/>
                    <a:p>
                      <a:pPr algn="l">
                        <a:buNone/>
                      </a:pPr>
                      <a:r>
                        <a:rPr lang="en-IN" dirty="0">
                          <a:effectLst/>
                        </a:rPr>
                        <a:t>search(E e)</a:t>
                      </a:r>
                    </a:p>
                  </a:txBody>
                  <a:tcPr marL="60960" marR="60960" marT="60960" marB="60960" anchor="ctr"/>
                </a:tc>
                <a:tc>
                  <a:txBody>
                    <a:bodyPr/>
                    <a:lstStyle/>
                    <a:p>
                      <a:pPr algn="l">
                        <a:buNone/>
                      </a:pPr>
                      <a:r>
                        <a:rPr lang="en-US" dirty="0">
                          <a:effectLst/>
                        </a:rPr>
                        <a:t>Returns 1-based position from top if found</a:t>
                      </a:r>
                    </a:p>
                  </a:txBody>
                  <a:tcPr marL="60960" marR="60960" marT="60960" marB="60960" anchor="ctr"/>
                </a:tc>
                <a:extLst>
                  <a:ext uri="{0D108BD9-81ED-4DB2-BD59-A6C34878D82A}">
                    <a16:rowId xmlns:a16="http://schemas.microsoft.com/office/drawing/2014/main" val="1689556714"/>
                  </a:ext>
                </a:extLst>
              </a:tr>
            </a:tbl>
          </a:graphicData>
        </a:graphic>
      </p:graphicFrame>
      <p:sp>
        <p:nvSpPr>
          <p:cNvPr id="4" name="TextBox 3">
            <a:extLst>
              <a:ext uri="{FF2B5EF4-FFF2-40B4-BE49-F238E27FC236}">
                <a16:creationId xmlns:a16="http://schemas.microsoft.com/office/drawing/2014/main" id="{E104B900-6BCD-F858-28C9-C089CE7E4418}"/>
              </a:ext>
            </a:extLst>
          </p:cNvPr>
          <p:cNvSpPr txBox="1"/>
          <p:nvPr/>
        </p:nvSpPr>
        <p:spPr>
          <a:xfrm>
            <a:off x="1125123" y="2698978"/>
            <a:ext cx="6102626" cy="369332"/>
          </a:xfrm>
          <a:prstGeom prst="rect">
            <a:avLst/>
          </a:prstGeom>
          <a:noFill/>
        </p:spPr>
        <p:txBody>
          <a:bodyPr wrap="square">
            <a:spAutoFit/>
          </a:bodyPr>
          <a:lstStyle/>
          <a:p>
            <a:pPr>
              <a:buNone/>
            </a:pPr>
            <a:r>
              <a:rPr lang="en-IN" b="1" dirty="0">
                <a:effectLst/>
                <a:latin typeface="fkGrotesk"/>
              </a:rPr>
              <a:t>Example</a:t>
            </a:r>
            <a:r>
              <a:rPr lang="en-IN" b="0" dirty="0">
                <a:effectLst/>
                <a:latin typeface="fkGrotesk"/>
              </a:rPr>
              <a:t> </a:t>
            </a:r>
            <a:r>
              <a:rPr lang="en-IN" b="1" dirty="0">
                <a:effectLst/>
                <a:latin typeface="fkGrotesk"/>
              </a:rPr>
              <a:t>Usage</a:t>
            </a:r>
          </a:p>
        </p:txBody>
      </p:sp>
      <p:sp>
        <p:nvSpPr>
          <p:cNvPr id="6" name="TextBox 5">
            <a:extLst>
              <a:ext uri="{FF2B5EF4-FFF2-40B4-BE49-F238E27FC236}">
                <a16:creationId xmlns:a16="http://schemas.microsoft.com/office/drawing/2014/main" id="{ACEFA301-3597-866F-80FE-22C1AC1534C2}"/>
              </a:ext>
            </a:extLst>
          </p:cNvPr>
          <p:cNvSpPr txBox="1"/>
          <p:nvPr/>
        </p:nvSpPr>
        <p:spPr>
          <a:xfrm>
            <a:off x="906754" y="3068310"/>
            <a:ext cx="9071259" cy="3693319"/>
          </a:xfrm>
          <a:prstGeom prst="rect">
            <a:avLst/>
          </a:prstGeom>
          <a:noFill/>
        </p:spPr>
        <p:txBody>
          <a:bodyPr wrap="square">
            <a:spAutoFit/>
          </a:bodyPr>
          <a:lstStyle/>
          <a:p>
            <a:r>
              <a:rPr lang="en-IN" dirty="0"/>
              <a:t>import </a:t>
            </a:r>
            <a:r>
              <a:rPr lang="en-IN" dirty="0" err="1"/>
              <a:t>java.util.Stack</a:t>
            </a:r>
            <a:r>
              <a:rPr lang="en-IN" dirty="0"/>
              <a:t>;</a:t>
            </a:r>
          </a:p>
          <a:p>
            <a:endParaRPr lang="en-IN" dirty="0"/>
          </a:p>
          <a:p>
            <a:r>
              <a:rPr lang="en-IN" dirty="0"/>
              <a:t>public class </a:t>
            </a:r>
            <a:r>
              <a:rPr lang="en-IN" dirty="0" err="1"/>
              <a:t>StackDemo</a:t>
            </a:r>
            <a:r>
              <a:rPr lang="en-IN" dirty="0"/>
              <a:t> {</a:t>
            </a:r>
          </a:p>
          <a:p>
            <a:r>
              <a:rPr lang="en-IN" dirty="0"/>
              <a:t>    public static void main(String[] args) {</a:t>
            </a:r>
          </a:p>
          <a:p>
            <a:r>
              <a:rPr lang="en-IN" dirty="0"/>
              <a:t>        Stack&lt;String&gt; stack = new Stack&lt;&gt;();</a:t>
            </a:r>
          </a:p>
          <a:p>
            <a:r>
              <a:rPr lang="en-IN" dirty="0"/>
              <a:t>        </a:t>
            </a:r>
            <a:r>
              <a:rPr lang="en-IN" dirty="0" err="1"/>
              <a:t>stack.push</a:t>
            </a:r>
            <a:r>
              <a:rPr lang="en-IN" dirty="0"/>
              <a:t>("Java");</a:t>
            </a:r>
          </a:p>
          <a:p>
            <a:r>
              <a:rPr lang="en-IN" dirty="0"/>
              <a:t>        </a:t>
            </a:r>
            <a:r>
              <a:rPr lang="en-IN" dirty="0" err="1"/>
              <a:t>stack.push</a:t>
            </a:r>
            <a:r>
              <a:rPr lang="en-IN" dirty="0"/>
              <a:t>("Python");</a:t>
            </a:r>
          </a:p>
          <a:p>
            <a:r>
              <a:rPr lang="en-IN" dirty="0"/>
              <a:t>        </a:t>
            </a:r>
            <a:r>
              <a:rPr lang="en-IN" dirty="0" err="1"/>
              <a:t>stack.push</a:t>
            </a:r>
            <a:r>
              <a:rPr lang="en-IN" dirty="0"/>
              <a:t>("C++");</a:t>
            </a:r>
          </a:p>
          <a:p>
            <a:r>
              <a:rPr lang="en-IN" dirty="0"/>
              <a:t>        System.out.println(stack);               // [Java, Python, C++]</a:t>
            </a:r>
          </a:p>
          <a:p>
            <a:r>
              <a:rPr lang="en-IN" dirty="0"/>
              <a:t>        System.out.println(</a:t>
            </a:r>
            <a:r>
              <a:rPr lang="en-IN" dirty="0" err="1"/>
              <a:t>stack.peek</a:t>
            </a:r>
            <a:r>
              <a:rPr lang="en-IN" dirty="0"/>
              <a:t>());        // C++</a:t>
            </a:r>
          </a:p>
          <a:p>
            <a:r>
              <a:rPr lang="en-IN" dirty="0"/>
              <a:t>        System.out.println(</a:t>
            </a:r>
            <a:r>
              <a:rPr lang="en-IN" dirty="0" err="1"/>
              <a:t>stack.pop</a:t>
            </a:r>
            <a:r>
              <a:rPr lang="en-IN" dirty="0"/>
              <a:t>());         // C++</a:t>
            </a:r>
          </a:p>
          <a:p>
            <a:r>
              <a:rPr lang="en-IN" dirty="0"/>
              <a:t>        System.out.println(stack);               // [Java, Python]</a:t>
            </a:r>
          </a:p>
          <a:p>
            <a:r>
              <a:rPr lang="en-IN" dirty="0"/>
              <a:t>        System.out.println(</a:t>
            </a:r>
            <a:r>
              <a:rPr lang="en-IN" dirty="0" err="1"/>
              <a:t>stack.empty</a:t>
            </a:r>
            <a:r>
              <a:rPr lang="en-IN" dirty="0"/>
              <a:t>());       // false</a:t>
            </a:r>
          </a:p>
        </p:txBody>
      </p:sp>
    </p:spTree>
    <p:extLst>
      <p:ext uri="{BB962C8B-B14F-4D97-AF65-F5344CB8AC3E}">
        <p14:creationId xmlns:p14="http://schemas.microsoft.com/office/powerpoint/2010/main" val="2516428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C5324-2784-7EAF-7387-EE6391D8BA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F334A6-4256-A8E3-38E2-64F47B20451D}"/>
              </a:ext>
            </a:extLst>
          </p:cNvPr>
          <p:cNvSpPr txBox="1"/>
          <p:nvPr/>
        </p:nvSpPr>
        <p:spPr>
          <a:xfrm>
            <a:off x="934497" y="279406"/>
            <a:ext cx="8000999" cy="923330"/>
          </a:xfrm>
          <a:prstGeom prst="rect">
            <a:avLst/>
          </a:prstGeom>
          <a:noFill/>
        </p:spPr>
        <p:txBody>
          <a:bodyPr wrap="square">
            <a:spAutoFit/>
          </a:bodyPr>
          <a:lstStyle/>
          <a:p>
            <a:r>
              <a:rPr lang="en-IN"/>
              <a:t>System</a:t>
            </a:r>
            <a:r>
              <a:rPr lang="en-IN" dirty="0"/>
              <a:t>.out.println(</a:t>
            </a:r>
            <a:r>
              <a:rPr lang="en-IN" dirty="0" err="1"/>
              <a:t>stack.search</a:t>
            </a:r>
            <a:r>
              <a:rPr lang="en-IN" dirty="0"/>
              <a:t>("Java"));// 2</a:t>
            </a:r>
          </a:p>
          <a:p>
            <a:r>
              <a:rPr lang="en-IN" dirty="0"/>
              <a:t>    }</a:t>
            </a:r>
          </a:p>
          <a:p>
            <a:r>
              <a:rPr lang="en-IN" dirty="0"/>
              <a:t>}</a:t>
            </a:r>
          </a:p>
        </p:txBody>
      </p:sp>
      <p:sp>
        <p:nvSpPr>
          <p:cNvPr id="5" name="TextBox 4">
            <a:extLst>
              <a:ext uri="{FF2B5EF4-FFF2-40B4-BE49-F238E27FC236}">
                <a16:creationId xmlns:a16="http://schemas.microsoft.com/office/drawing/2014/main" id="{46282015-1B30-79DD-733A-E193512B9364}"/>
              </a:ext>
            </a:extLst>
          </p:cNvPr>
          <p:cNvSpPr txBox="1"/>
          <p:nvPr/>
        </p:nvSpPr>
        <p:spPr>
          <a:xfrm>
            <a:off x="823965" y="1362111"/>
            <a:ext cx="8222062" cy="2585323"/>
          </a:xfrm>
          <a:prstGeom prst="rect">
            <a:avLst/>
          </a:prstGeom>
          <a:noFill/>
        </p:spPr>
        <p:txBody>
          <a:bodyPr wrap="square">
            <a:spAutoFit/>
          </a:bodyPr>
          <a:lstStyle/>
          <a:p>
            <a:pPr>
              <a:buNone/>
            </a:pPr>
            <a:r>
              <a:rPr lang="en-IN" b="1" dirty="0">
                <a:effectLst/>
                <a:latin typeface="fkGrotesk"/>
              </a:rPr>
              <a:t>Output</a:t>
            </a:r>
          </a:p>
          <a:p>
            <a:pPr>
              <a:buNone/>
            </a:pPr>
            <a:endParaRPr lang="en-IN" b="1" dirty="0">
              <a:latin typeface="fkGrotesk"/>
            </a:endParaRPr>
          </a:p>
          <a:p>
            <a:pPr>
              <a:buNone/>
            </a:pPr>
            <a:r>
              <a:rPr lang="fi-FI" dirty="0">
                <a:latin typeface="fkGrotesk"/>
              </a:rPr>
              <a:t>[Java, Python, C++]</a:t>
            </a:r>
          </a:p>
          <a:p>
            <a:pPr>
              <a:buNone/>
            </a:pPr>
            <a:r>
              <a:rPr lang="fi-FI" dirty="0">
                <a:latin typeface="fkGrotesk"/>
              </a:rPr>
              <a:t>C++</a:t>
            </a:r>
          </a:p>
          <a:p>
            <a:pPr>
              <a:buNone/>
            </a:pPr>
            <a:r>
              <a:rPr lang="fi-FI" dirty="0">
                <a:latin typeface="fkGrotesk"/>
              </a:rPr>
              <a:t>C++</a:t>
            </a:r>
          </a:p>
          <a:p>
            <a:pPr>
              <a:buNone/>
            </a:pPr>
            <a:r>
              <a:rPr lang="fi-FI" dirty="0">
                <a:latin typeface="fkGrotesk"/>
              </a:rPr>
              <a:t>[Java, Python]</a:t>
            </a:r>
          </a:p>
          <a:p>
            <a:pPr>
              <a:buNone/>
            </a:pPr>
            <a:r>
              <a:rPr lang="fi-FI" dirty="0">
                <a:latin typeface="fkGrotesk"/>
              </a:rPr>
              <a:t>false</a:t>
            </a:r>
          </a:p>
          <a:p>
            <a:pPr>
              <a:buNone/>
            </a:pPr>
            <a:r>
              <a:rPr lang="fi-FI" dirty="0">
                <a:latin typeface="fkGrotesk"/>
              </a:rPr>
              <a:t>2</a:t>
            </a:r>
          </a:p>
          <a:p>
            <a:pPr>
              <a:buNone/>
            </a:pPr>
            <a:endParaRPr lang="en-IN" dirty="0">
              <a:effectLst/>
              <a:latin typeface="fkGrotesk"/>
            </a:endParaRPr>
          </a:p>
        </p:txBody>
      </p:sp>
    </p:spTree>
    <p:extLst>
      <p:ext uri="{BB962C8B-B14F-4D97-AF65-F5344CB8AC3E}">
        <p14:creationId xmlns:p14="http://schemas.microsoft.com/office/powerpoint/2010/main" val="20249951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472B9-450F-C157-85DC-8E75F80C9B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37FDD1-1682-61EF-A35A-D9A17E1FA974}"/>
              </a:ext>
            </a:extLst>
          </p:cNvPr>
          <p:cNvSpPr txBox="1"/>
          <p:nvPr/>
        </p:nvSpPr>
        <p:spPr>
          <a:xfrm>
            <a:off x="944217" y="163203"/>
            <a:ext cx="6102626" cy="369332"/>
          </a:xfrm>
          <a:prstGeom prst="rect">
            <a:avLst/>
          </a:prstGeom>
          <a:noFill/>
        </p:spPr>
        <p:txBody>
          <a:bodyPr wrap="square">
            <a:spAutoFit/>
          </a:bodyPr>
          <a:lstStyle/>
          <a:p>
            <a:r>
              <a:rPr lang="en-IN" b="1" dirty="0"/>
              <a:t>7.4.8 Queue interface </a:t>
            </a:r>
          </a:p>
        </p:txBody>
      </p:sp>
      <p:sp>
        <p:nvSpPr>
          <p:cNvPr id="5" name="TextBox 4">
            <a:extLst>
              <a:ext uri="{FF2B5EF4-FFF2-40B4-BE49-F238E27FC236}">
                <a16:creationId xmlns:a16="http://schemas.microsoft.com/office/drawing/2014/main" id="{DC4EA84A-97B0-875C-560D-8662F717A568}"/>
              </a:ext>
            </a:extLst>
          </p:cNvPr>
          <p:cNvSpPr txBox="1"/>
          <p:nvPr/>
        </p:nvSpPr>
        <p:spPr>
          <a:xfrm>
            <a:off x="944217" y="635530"/>
            <a:ext cx="8299174" cy="3416320"/>
          </a:xfrm>
          <a:prstGeom prst="rect">
            <a:avLst/>
          </a:prstGeom>
          <a:noFill/>
        </p:spPr>
        <p:txBody>
          <a:bodyPr wrap="square">
            <a:spAutoFit/>
          </a:bodyPr>
          <a:lstStyle/>
          <a:p>
            <a:pPr algn="l">
              <a:buNone/>
            </a:pPr>
            <a:r>
              <a:rPr lang="en-US" b="0" i="0" dirty="0">
                <a:effectLst/>
                <a:latin typeface="fkGroteskNeue"/>
              </a:rPr>
              <a:t>The Queue interface in Java, part of the java.util package, represents a collection designed for holding elements prior to processing and follows the First-In-First-Out (FIFO) principle.</a:t>
            </a:r>
          </a:p>
          <a:p>
            <a:pPr algn="l">
              <a:buNone/>
            </a:pPr>
            <a:endParaRPr lang="en-US" b="0" i="0" dirty="0">
              <a:effectLst/>
              <a:latin typeface="fkGroteskNeue"/>
            </a:endParaRPr>
          </a:p>
          <a:p>
            <a:pPr algn="l">
              <a:buNone/>
            </a:pPr>
            <a:r>
              <a:rPr lang="en-US" b="1" i="0" dirty="0">
                <a:effectLst/>
                <a:latin typeface="fkGrotesk"/>
              </a:rPr>
              <a:t>Key Features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FIFO Order: Elements are added at the end (tail) and removed from the front (head).</a:t>
            </a:r>
          </a:p>
          <a:p>
            <a:pPr algn="l">
              <a:buFont typeface="Arial" panose="020B0604020202020204" pitchFamily="34" charset="0"/>
              <a:buChar char="•"/>
            </a:pPr>
            <a:r>
              <a:rPr lang="en-US" b="0" i="0" dirty="0">
                <a:effectLst/>
                <a:latin typeface="fkGroteskNeue"/>
              </a:rPr>
              <a:t>Implements Collection: Inherits all core collection methods.</a:t>
            </a:r>
          </a:p>
          <a:p>
            <a:pPr algn="l">
              <a:buFont typeface="Arial" panose="020B0604020202020204" pitchFamily="34" charset="0"/>
              <a:buChar char="•"/>
            </a:pPr>
            <a:r>
              <a:rPr lang="en-US" b="0" i="0" dirty="0">
                <a:effectLst/>
                <a:latin typeface="fkGroteskNeue"/>
              </a:rPr>
              <a:t>Not Directly Instantiable: Common implementations include LinkedList, PriorityQueue, and ArrayDeque.</a:t>
            </a:r>
          </a:p>
          <a:p>
            <a:pPr algn="l">
              <a:buFont typeface="Arial" panose="020B0604020202020204" pitchFamily="34" charset="0"/>
              <a:buChar char="•"/>
            </a:pPr>
            <a:endParaRPr lang="en-US" dirty="0">
              <a:latin typeface="fkGroteskNeue"/>
            </a:endParaRPr>
          </a:p>
          <a:p>
            <a:r>
              <a:rPr lang="en-IN" b="1" dirty="0"/>
              <a:t>Common Methods</a:t>
            </a:r>
          </a:p>
        </p:txBody>
      </p:sp>
    </p:spTree>
    <p:extLst>
      <p:ext uri="{BB962C8B-B14F-4D97-AF65-F5344CB8AC3E}">
        <p14:creationId xmlns:p14="http://schemas.microsoft.com/office/powerpoint/2010/main" val="27038361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88B1-5921-4E81-DCB7-4D8C4E1862EF}"/>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F585D05-97A8-2A8B-D0A9-2FA0D9EBEB90}"/>
              </a:ext>
            </a:extLst>
          </p:cNvPr>
          <p:cNvGraphicFramePr>
            <a:graphicFrameLocks noGrp="1"/>
          </p:cNvGraphicFramePr>
          <p:nvPr>
            <p:extLst>
              <p:ext uri="{D42A27DB-BD31-4B8C-83A1-F6EECF244321}">
                <p14:modId xmlns:p14="http://schemas.microsoft.com/office/powerpoint/2010/main" val="1878949067"/>
              </p:ext>
            </p:extLst>
          </p:nvPr>
        </p:nvGraphicFramePr>
        <p:xfrm>
          <a:off x="1032273" y="223335"/>
          <a:ext cx="7549562" cy="3919438"/>
        </p:xfrm>
        <a:graphic>
          <a:graphicData uri="http://schemas.openxmlformats.org/drawingml/2006/table">
            <a:tbl>
              <a:tblPr>
                <a:tableStyleId>{5940675A-B579-460E-94D1-54222C63F5DA}</a:tableStyleId>
              </a:tblPr>
              <a:tblGrid>
                <a:gridCol w="1850075">
                  <a:extLst>
                    <a:ext uri="{9D8B030D-6E8A-4147-A177-3AD203B41FA5}">
                      <a16:colId xmlns:a16="http://schemas.microsoft.com/office/drawing/2014/main" val="1735711533"/>
                    </a:ext>
                  </a:extLst>
                </a:gridCol>
                <a:gridCol w="5699487">
                  <a:extLst>
                    <a:ext uri="{9D8B030D-6E8A-4147-A177-3AD203B41FA5}">
                      <a16:colId xmlns:a16="http://schemas.microsoft.com/office/drawing/2014/main" val="1908221599"/>
                    </a:ext>
                  </a:extLst>
                </a:gridCol>
              </a:tblGrid>
              <a:tr h="347991">
                <a:tc>
                  <a:txBody>
                    <a:bodyPr/>
                    <a:lstStyle/>
                    <a:p>
                      <a:pPr algn="ctr">
                        <a:buNone/>
                      </a:pPr>
                      <a:r>
                        <a:rPr lang="en-IN" sz="1600" b="1" dirty="0">
                          <a:effectLst/>
                        </a:rPr>
                        <a:t>Method</a:t>
                      </a:r>
                    </a:p>
                  </a:txBody>
                  <a:tcPr marL="53537" marR="53537" marT="53537" marB="53537" anchor="ctr"/>
                </a:tc>
                <a:tc>
                  <a:txBody>
                    <a:bodyPr/>
                    <a:lstStyle/>
                    <a:p>
                      <a:pPr algn="ctr">
                        <a:buNone/>
                      </a:pPr>
                      <a:r>
                        <a:rPr lang="en-IN" sz="1600" b="1" dirty="0">
                          <a:effectLst/>
                        </a:rPr>
                        <a:t>Description</a:t>
                      </a:r>
                    </a:p>
                  </a:txBody>
                  <a:tcPr marL="53537" marR="53537" marT="53537" marB="53537" anchor="ctr"/>
                </a:tc>
                <a:extLst>
                  <a:ext uri="{0D108BD9-81ED-4DB2-BD59-A6C34878D82A}">
                    <a16:rowId xmlns:a16="http://schemas.microsoft.com/office/drawing/2014/main" val="2569809499"/>
                  </a:ext>
                </a:extLst>
              </a:tr>
              <a:tr h="588908">
                <a:tc>
                  <a:txBody>
                    <a:bodyPr/>
                    <a:lstStyle/>
                    <a:p>
                      <a:pPr algn="l">
                        <a:buNone/>
                      </a:pPr>
                      <a:r>
                        <a:rPr lang="en-IN" sz="1600">
                          <a:effectLst/>
                        </a:rPr>
                        <a:t>add(E e)</a:t>
                      </a:r>
                    </a:p>
                  </a:txBody>
                  <a:tcPr marL="53537" marR="53537" marT="53537" marB="53537" anchor="ctr"/>
                </a:tc>
                <a:tc>
                  <a:txBody>
                    <a:bodyPr/>
                    <a:lstStyle/>
                    <a:p>
                      <a:pPr algn="l">
                        <a:buNone/>
                      </a:pPr>
                      <a:r>
                        <a:rPr lang="en-US" sz="1600">
                          <a:effectLst/>
                        </a:rPr>
                        <a:t>Inserts the element at the end; throws exception if capacity is exceeded</a:t>
                      </a:r>
                    </a:p>
                  </a:txBody>
                  <a:tcPr marL="53537" marR="53537" marT="53537" marB="53537" anchor="ctr"/>
                </a:tc>
                <a:extLst>
                  <a:ext uri="{0D108BD9-81ED-4DB2-BD59-A6C34878D82A}">
                    <a16:rowId xmlns:a16="http://schemas.microsoft.com/office/drawing/2014/main" val="2626767916"/>
                  </a:ext>
                </a:extLst>
              </a:tr>
              <a:tr h="588908">
                <a:tc>
                  <a:txBody>
                    <a:bodyPr/>
                    <a:lstStyle/>
                    <a:p>
                      <a:pPr algn="l">
                        <a:buNone/>
                      </a:pPr>
                      <a:r>
                        <a:rPr lang="en-IN" sz="1600">
                          <a:effectLst/>
                        </a:rPr>
                        <a:t>offer(E e)</a:t>
                      </a:r>
                    </a:p>
                  </a:txBody>
                  <a:tcPr marL="53537" marR="53537" marT="53537" marB="53537" anchor="ctr"/>
                </a:tc>
                <a:tc>
                  <a:txBody>
                    <a:bodyPr/>
                    <a:lstStyle/>
                    <a:p>
                      <a:pPr algn="l">
                        <a:buNone/>
                      </a:pPr>
                      <a:r>
                        <a:rPr lang="en-US" sz="1600">
                          <a:effectLst/>
                        </a:rPr>
                        <a:t>Inserts the element at the end; returns false if the queue is full</a:t>
                      </a:r>
                    </a:p>
                  </a:txBody>
                  <a:tcPr marL="53537" marR="53537" marT="53537" marB="53537" anchor="ctr"/>
                </a:tc>
                <a:extLst>
                  <a:ext uri="{0D108BD9-81ED-4DB2-BD59-A6C34878D82A}">
                    <a16:rowId xmlns:a16="http://schemas.microsoft.com/office/drawing/2014/main" val="1687927468"/>
                  </a:ext>
                </a:extLst>
              </a:tr>
              <a:tr h="588908">
                <a:tc>
                  <a:txBody>
                    <a:bodyPr/>
                    <a:lstStyle/>
                    <a:p>
                      <a:pPr algn="l">
                        <a:buNone/>
                      </a:pPr>
                      <a:r>
                        <a:rPr lang="en-IN" sz="1600">
                          <a:effectLst/>
                        </a:rPr>
                        <a:t>remove()</a:t>
                      </a:r>
                    </a:p>
                  </a:txBody>
                  <a:tcPr marL="53537" marR="53537" marT="53537" marB="53537" anchor="ctr"/>
                </a:tc>
                <a:tc>
                  <a:txBody>
                    <a:bodyPr/>
                    <a:lstStyle/>
                    <a:p>
                      <a:pPr algn="l">
                        <a:buNone/>
                      </a:pPr>
                      <a:r>
                        <a:rPr lang="en-US" sz="1600">
                          <a:effectLst/>
                        </a:rPr>
                        <a:t>Removes and returns the head; throws exception if the queue is empty</a:t>
                      </a:r>
                    </a:p>
                  </a:txBody>
                  <a:tcPr marL="53537" marR="53537" marT="53537" marB="53537" anchor="ctr"/>
                </a:tc>
                <a:extLst>
                  <a:ext uri="{0D108BD9-81ED-4DB2-BD59-A6C34878D82A}">
                    <a16:rowId xmlns:a16="http://schemas.microsoft.com/office/drawing/2014/main" val="2698473530"/>
                  </a:ext>
                </a:extLst>
              </a:tr>
              <a:tr h="588908">
                <a:tc>
                  <a:txBody>
                    <a:bodyPr/>
                    <a:lstStyle/>
                    <a:p>
                      <a:pPr algn="l">
                        <a:buNone/>
                      </a:pPr>
                      <a:r>
                        <a:rPr lang="en-IN" sz="1600">
                          <a:effectLst/>
                        </a:rPr>
                        <a:t>poll()</a:t>
                      </a:r>
                    </a:p>
                  </a:txBody>
                  <a:tcPr marL="53537" marR="53537" marT="53537" marB="53537" anchor="ctr"/>
                </a:tc>
                <a:tc>
                  <a:txBody>
                    <a:bodyPr/>
                    <a:lstStyle/>
                    <a:p>
                      <a:pPr algn="l">
                        <a:buNone/>
                      </a:pPr>
                      <a:r>
                        <a:rPr lang="en-US" sz="1600">
                          <a:effectLst/>
                        </a:rPr>
                        <a:t>Removes and returns the head; returns null if the queue is empty</a:t>
                      </a:r>
                    </a:p>
                  </a:txBody>
                  <a:tcPr marL="53537" marR="53537" marT="53537" marB="53537" anchor="ctr"/>
                </a:tc>
                <a:extLst>
                  <a:ext uri="{0D108BD9-81ED-4DB2-BD59-A6C34878D82A}">
                    <a16:rowId xmlns:a16="http://schemas.microsoft.com/office/drawing/2014/main" val="580843214"/>
                  </a:ext>
                </a:extLst>
              </a:tr>
              <a:tr h="588908">
                <a:tc>
                  <a:txBody>
                    <a:bodyPr/>
                    <a:lstStyle/>
                    <a:p>
                      <a:pPr algn="l">
                        <a:buNone/>
                      </a:pPr>
                      <a:r>
                        <a:rPr lang="en-IN" sz="1600">
                          <a:effectLst/>
                        </a:rPr>
                        <a:t>element()</a:t>
                      </a:r>
                    </a:p>
                  </a:txBody>
                  <a:tcPr marL="53537" marR="53537" marT="53537" marB="53537" anchor="ctr"/>
                </a:tc>
                <a:tc>
                  <a:txBody>
                    <a:bodyPr/>
                    <a:lstStyle/>
                    <a:p>
                      <a:pPr algn="l">
                        <a:buNone/>
                      </a:pPr>
                      <a:r>
                        <a:rPr lang="en-US" sz="1600">
                          <a:effectLst/>
                        </a:rPr>
                        <a:t>Retrieves, but does not remove, the head; throws if the queue is empty</a:t>
                      </a:r>
                    </a:p>
                  </a:txBody>
                  <a:tcPr marL="53537" marR="53537" marT="53537" marB="53537" anchor="ctr"/>
                </a:tc>
                <a:extLst>
                  <a:ext uri="{0D108BD9-81ED-4DB2-BD59-A6C34878D82A}">
                    <a16:rowId xmlns:a16="http://schemas.microsoft.com/office/drawing/2014/main" val="1270034786"/>
                  </a:ext>
                </a:extLst>
              </a:tr>
              <a:tr h="588908">
                <a:tc>
                  <a:txBody>
                    <a:bodyPr/>
                    <a:lstStyle/>
                    <a:p>
                      <a:pPr algn="l">
                        <a:buNone/>
                      </a:pPr>
                      <a:r>
                        <a:rPr lang="en-IN" sz="1600">
                          <a:effectLst/>
                        </a:rPr>
                        <a:t>peek()</a:t>
                      </a:r>
                    </a:p>
                  </a:txBody>
                  <a:tcPr marL="53537" marR="53537" marT="53537" marB="53537" anchor="ctr"/>
                </a:tc>
                <a:tc>
                  <a:txBody>
                    <a:bodyPr/>
                    <a:lstStyle/>
                    <a:p>
                      <a:pPr algn="l">
                        <a:buNone/>
                      </a:pPr>
                      <a:r>
                        <a:rPr lang="en-US" sz="1600" dirty="0">
                          <a:effectLst/>
                        </a:rPr>
                        <a:t>Retrieves, but does not remove, the head; returns null if the queue is empty</a:t>
                      </a:r>
                    </a:p>
                  </a:txBody>
                  <a:tcPr marL="53537" marR="53537" marT="53537" marB="53537" anchor="ctr"/>
                </a:tc>
                <a:extLst>
                  <a:ext uri="{0D108BD9-81ED-4DB2-BD59-A6C34878D82A}">
                    <a16:rowId xmlns:a16="http://schemas.microsoft.com/office/drawing/2014/main" val="398346674"/>
                  </a:ext>
                </a:extLst>
              </a:tr>
            </a:tbl>
          </a:graphicData>
        </a:graphic>
      </p:graphicFrame>
      <p:sp>
        <p:nvSpPr>
          <p:cNvPr id="5" name="TextBox 4">
            <a:extLst>
              <a:ext uri="{FF2B5EF4-FFF2-40B4-BE49-F238E27FC236}">
                <a16:creationId xmlns:a16="http://schemas.microsoft.com/office/drawing/2014/main" id="{9C767BA4-D5FC-40B6-55FD-49761414F338}"/>
              </a:ext>
            </a:extLst>
          </p:cNvPr>
          <p:cNvSpPr txBox="1"/>
          <p:nvPr/>
        </p:nvSpPr>
        <p:spPr>
          <a:xfrm>
            <a:off x="1032273" y="4328995"/>
            <a:ext cx="7549562" cy="369332"/>
          </a:xfrm>
          <a:prstGeom prst="rect">
            <a:avLst/>
          </a:prstGeom>
          <a:noFill/>
        </p:spPr>
        <p:txBody>
          <a:bodyPr wrap="square">
            <a:spAutoFit/>
          </a:bodyPr>
          <a:lstStyle/>
          <a:p>
            <a:pPr>
              <a:buNone/>
            </a:pPr>
            <a:r>
              <a:rPr lang="en-IN" b="1" dirty="0">
                <a:effectLst/>
                <a:latin typeface="fkGrotesk"/>
              </a:rPr>
              <a:t>Example</a:t>
            </a:r>
            <a:r>
              <a:rPr lang="en-IN" b="0" dirty="0">
                <a:effectLst/>
                <a:latin typeface="fkGrotesk"/>
              </a:rPr>
              <a:t> </a:t>
            </a:r>
            <a:r>
              <a:rPr lang="en-IN" b="1" dirty="0">
                <a:effectLst/>
                <a:latin typeface="fkGrotesk"/>
              </a:rPr>
              <a:t>Usage</a:t>
            </a:r>
          </a:p>
        </p:txBody>
      </p:sp>
    </p:spTree>
    <p:extLst>
      <p:ext uri="{BB962C8B-B14F-4D97-AF65-F5344CB8AC3E}">
        <p14:creationId xmlns:p14="http://schemas.microsoft.com/office/powerpoint/2010/main" val="602111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913E5-CA83-CBD7-F194-CBE0C18D3BB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DAFD0F-F7C2-9A30-0AC1-0247C9C38706}"/>
              </a:ext>
            </a:extLst>
          </p:cNvPr>
          <p:cNvSpPr txBox="1"/>
          <p:nvPr/>
        </p:nvSpPr>
        <p:spPr>
          <a:xfrm>
            <a:off x="924339" y="142464"/>
            <a:ext cx="8517835" cy="4247317"/>
          </a:xfrm>
          <a:prstGeom prst="rect">
            <a:avLst/>
          </a:prstGeom>
          <a:noFill/>
        </p:spPr>
        <p:txBody>
          <a:bodyPr wrap="square">
            <a:spAutoFit/>
          </a:bodyPr>
          <a:lstStyle/>
          <a:p>
            <a:r>
              <a:rPr lang="en-IN" dirty="0"/>
              <a:t>import </a:t>
            </a:r>
            <a:r>
              <a:rPr lang="en-IN" dirty="0" err="1"/>
              <a:t>java.util.Queue</a:t>
            </a:r>
            <a:r>
              <a:rPr lang="en-IN" dirty="0"/>
              <a:t>;</a:t>
            </a:r>
          </a:p>
          <a:p>
            <a:r>
              <a:rPr lang="en-IN" dirty="0"/>
              <a:t>import java.util.LinkedList;</a:t>
            </a:r>
          </a:p>
          <a:p>
            <a:endParaRPr lang="en-IN" dirty="0"/>
          </a:p>
          <a:p>
            <a:r>
              <a:rPr lang="en-IN" dirty="0"/>
              <a:t>public class QueueDemo {</a:t>
            </a:r>
          </a:p>
          <a:p>
            <a:r>
              <a:rPr lang="en-IN" dirty="0"/>
              <a:t>    public static void main(String[] args) {</a:t>
            </a:r>
          </a:p>
          <a:p>
            <a:r>
              <a:rPr lang="en-IN" dirty="0"/>
              <a:t>        Queue&lt;Integer&gt; q = new LinkedList&lt;&gt;();</a:t>
            </a:r>
          </a:p>
          <a:p>
            <a:r>
              <a:rPr lang="en-IN" dirty="0"/>
              <a:t>        </a:t>
            </a:r>
            <a:r>
              <a:rPr lang="en-IN" dirty="0" err="1"/>
              <a:t>q.add</a:t>
            </a:r>
            <a:r>
              <a:rPr lang="en-IN" dirty="0"/>
              <a:t>(10);</a:t>
            </a:r>
          </a:p>
          <a:p>
            <a:r>
              <a:rPr lang="en-IN" dirty="0"/>
              <a:t>        q.add(20);</a:t>
            </a:r>
          </a:p>
          <a:p>
            <a:r>
              <a:rPr lang="en-IN" dirty="0"/>
              <a:t>        q.add(30);</a:t>
            </a:r>
          </a:p>
          <a:p>
            <a:r>
              <a:rPr lang="en-IN" dirty="0"/>
              <a:t>        System.out.println(q);           // [10, 20, 30]</a:t>
            </a:r>
          </a:p>
          <a:p>
            <a:r>
              <a:rPr lang="en-IN" dirty="0"/>
              <a:t>        System.out.println(</a:t>
            </a:r>
            <a:r>
              <a:rPr lang="en-IN" dirty="0" err="1"/>
              <a:t>q.remove</a:t>
            </a:r>
            <a:r>
              <a:rPr lang="en-IN" dirty="0"/>
              <a:t>());  // 10</a:t>
            </a:r>
          </a:p>
          <a:p>
            <a:r>
              <a:rPr lang="en-IN" dirty="0"/>
              <a:t>        System.out.println(</a:t>
            </a:r>
            <a:r>
              <a:rPr lang="en-IN" dirty="0" err="1"/>
              <a:t>q.peek</a:t>
            </a:r>
            <a:r>
              <a:rPr lang="en-IN" dirty="0"/>
              <a:t>());    // 20</a:t>
            </a:r>
          </a:p>
          <a:p>
            <a:r>
              <a:rPr lang="en-IN" dirty="0"/>
              <a:t>        System.out.println(q);           // [20, 30]</a:t>
            </a:r>
          </a:p>
          <a:p>
            <a:r>
              <a:rPr lang="en-IN" dirty="0"/>
              <a:t>    }</a:t>
            </a:r>
          </a:p>
          <a:p>
            <a:r>
              <a:rPr lang="en-IN" dirty="0"/>
              <a:t>}</a:t>
            </a:r>
          </a:p>
        </p:txBody>
      </p:sp>
      <p:sp>
        <p:nvSpPr>
          <p:cNvPr id="5" name="TextBox 4">
            <a:extLst>
              <a:ext uri="{FF2B5EF4-FFF2-40B4-BE49-F238E27FC236}">
                <a16:creationId xmlns:a16="http://schemas.microsoft.com/office/drawing/2014/main" id="{3721ACCD-3133-170D-D12E-DE754F15A3A1}"/>
              </a:ext>
            </a:extLst>
          </p:cNvPr>
          <p:cNvSpPr txBox="1"/>
          <p:nvPr/>
        </p:nvSpPr>
        <p:spPr>
          <a:xfrm>
            <a:off x="655983" y="4529724"/>
            <a:ext cx="8229600" cy="1754326"/>
          </a:xfrm>
          <a:prstGeom prst="rect">
            <a:avLst/>
          </a:prstGeom>
          <a:noFill/>
        </p:spPr>
        <p:txBody>
          <a:bodyPr wrap="square">
            <a:spAutoFit/>
          </a:bodyPr>
          <a:lstStyle/>
          <a:p>
            <a:pPr algn="l">
              <a:buNone/>
            </a:pPr>
            <a:r>
              <a:rPr lang="en-US" b="1" i="0" dirty="0">
                <a:effectLst/>
                <a:latin typeface="fkGrotesk"/>
              </a:rPr>
              <a:t>Implementations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LinkedList: Can be used as a queue, stack, or deque.</a:t>
            </a:r>
          </a:p>
          <a:p>
            <a:pPr algn="l">
              <a:buFont typeface="Arial" panose="020B0604020202020204" pitchFamily="34" charset="0"/>
              <a:buChar char="•"/>
            </a:pPr>
            <a:r>
              <a:rPr lang="en-US" b="0" i="0" dirty="0">
                <a:effectLst/>
                <a:latin typeface="fkGroteskNeue"/>
              </a:rPr>
              <a:t>PriorityQueue: Processes elements based on their natural order or comparator.</a:t>
            </a:r>
          </a:p>
          <a:p>
            <a:pPr algn="l">
              <a:buFont typeface="Arial" panose="020B0604020202020204" pitchFamily="34" charset="0"/>
              <a:buChar char="•"/>
            </a:pPr>
            <a:r>
              <a:rPr lang="en-US" b="0" i="0" dirty="0">
                <a:effectLst/>
                <a:latin typeface="fkGroteskNeue"/>
              </a:rPr>
              <a:t>ArrayDeque: Resizable array implementation with better performance for most queue operations</a:t>
            </a:r>
          </a:p>
        </p:txBody>
      </p:sp>
    </p:spTree>
    <p:extLst>
      <p:ext uri="{BB962C8B-B14F-4D97-AF65-F5344CB8AC3E}">
        <p14:creationId xmlns:p14="http://schemas.microsoft.com/office/powerpoint/2010/main" val="40042075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66456-6FBA-90B5-28B4-677E9331D51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2CD9501-E897-C7D7-370A-7DF7238AEE07}"/>
              </a:ext>
            </a:extLst>
          </p:cNvPr>
          <p:cNvSpPr txBox="1"/>
          <p:nvPr/>
        </p:nvSpPr>
        <p:spPr>
          <a:xfrm>
            <a:off x="974034" y="153264"/>
            <a:ext cx="8557592" cy="6740307"/>
          </a:xfrm>
          <a:prstGeom prst="rect">
            <a:avLst/>
          </a:prstGeom>
          <a:noFill/>
        </p:spPr>
        <p:txBody>
          <a:bodyPr wrap="square">
            <a:spAutoFit/>
          </a:bodyPr>
          <a:lstStyle/>
          <a:p>
            <a:r>
              <a:rPr lang="en-IN" b="1" dirty="0"/>
              <a:t>7.4.9 Set interf 	</a:t>
            </a:r>
          </a:p>
          <a:p>
            <a:endParaRPr lang="en-IN" b="1" dirty="0"/>
          </a:p>
          <a:p>
            <a:r>
              <a:rPr lang="en-US" dirty="0"/>
              <a:t>The Set interface in Java is a key component of the Java Collections Framework used to store a collection of unique elements, prohibiting duplicates and generally not maintaining any specific order.</a:t>
            </a:r>
          </a:p>
          <a:p>
            <a:endParaRPr lang="en-US" b="1" dirty="0"/>
          </a:p>
          <a:p>
            <a:r>
              <a:rPr lang="en-US" b="1" dirty="0"/>
              <a:t>Key</a:t>
            </a:r>
            <a:r>
              <a:rPr lang="en-US" dirty="0"/>
              <a:t> </a:t>
            </a:r>
            <a:r>
              <a:rPr lang="en-US" b="1" dirty="0"/>
              <a:t>Features</a:t>
            </a:r>
          </a:p>
          <a:p>
            <a:endParaRPr lang="en-US" dirty="0"/>
          </a:p>
          <a:p>
            <a:pPr marL="285750" indent="-285750">
              <a:buFont typeface="Arial" panose="020B0604020202020204" pitchFamily="34" charset="0"/>
              <a:buChar char="•"/>
            </a:pPr>
            <a:r>
              <a:rPr lang="en-US" dirty="0"/>
              <a:t>No Duplicates: The Set interface ensures that every element in the collection is unique.</a:t>
            </a:r>
          </a:p>
          <a:p>
            <a:pPr marL="285750" indent="-285750">
              <a:buFont typeface="Arial" panose="020B0604020202020204" pitchFamily="34" charset="0"/>
              <a:buChar char="•"/>
            </a:pPr>
            <a:r>
              <a:rPr lang="en-US" dirty="0"/>
              <a:t>No Guaranteed Order: Standard implementations (like HashSet) do not preserve order, though LinkedHashSet maintains insertion order and TreeSet sorts elements.</a:t>
            </a:r>
          </a:p>
          <a:p>
            <a:pPr marL="285750" indent="-285750">
              <a:buFont typeface="Arial" panose="020B0604020202020204" pitchFamily="34" charset="0"/>
              <a:buChar char="•"/>
            </a:pPr>
            <a:r>
              <a:rPr lang="en-US" dirty="0"/>
              <a:t>Allows One Null: Most Set implementations allow a single null element.</a:t>
            </a:r>
          </a:p>
          <a:p>
            <a:pPr marL="285750" indent="-285750">
              <a:buFont typeface="Arial" panose="020B0604020202020204" pitchFamily="34" charset="0"/>
              <a:buChar char="•"/>
            </a:pPr>
            <a:r>
              <a:rPr lang="en-US" dirty="0"/>
              <a:t>Dynamic Size: A Set grows and shrinks as elements are added or removed.</a:t>
            </a:r>
          </a:p>
          <a:p>
            <a:pPr marL="285750" indent="-285750">
              <a:buFont typeface="Arial" panose="020B0604020202020204" pitchFamily="34" charset="0"/>
              <a:buChar char="•"/>
            </a:pPr>
            <a:r>
              <a:rPr lang="en-US" dirty="0"/>
              <a:t>Inherited Methods: Uses methods from the Collection interface such as add(), remove(), contains(), size(), and iterator().</a:t>
            </a:r>
          </a:p>
          <a:p>
            <a:pPr marL="285750" indent="-285750">
              <a:buFont typeface="Arial" panose="020B0604020202020204" pitchFamily="34" charset="0"/>
              <a:buChar char="•"/>
            </a:pPr>
            <a:endParaRPr lang="en-US" dirty="0"/>
          </a:p>
          <a:p>
            <a:r>
              <a:rPr lang="en-US" b="1" dirty="0"/>
              <a:t>Common Implementations</a:t>
            </a:r>
          </a:p>
          <a:p>
            <a:endParaRPr lang="en-US" dirty="0"/>
          </a:p>
          <a:p>
            <a:pPr marL="285750" indent="-285750">
              <a:buFont typeface="Arial" panose="020B0604020202020204" pitchFamily="34" charset="0"/>
              <a:buChar char="•"/>
            </a:pPr>
            <a:r>
              <a:rPr lang="en-US" dirty="0"/>
              <a:t>HashSet: Fast, unordered storage of unique elements.</a:t>
            </a:r>
          </a:p>
          <a:p>
            <a:pPr marL="285750" indent="-285750">
              <a:buFont typeface="Arial" panose="020B0604020202020204" pitchFamily="34" charset="0"/>
              <a:buChar char="•"/>
            </a:pPr>
            <a:r>
              <a:rPr lang="en-US" dirty="0"/>
              <a:t>TreeSet: Keeps elements sorted according to their natural order or a specified comparator.</a:t>
            </a:r>
          </a:p>
          <a:p>
            <a:pPr marL="285750" indent="-285750">
              <a:buFont typeface="Arial" panose="020B0604020202020204" pitchFamily="34" charset="0"/>
              <a:buChar char="•"/>
            </a:pPr>
            <a:r>
              <a:rPr lang="en-US" dirty="0"/>
              <a:t>LinkedHashSet: Maintains insertion order while ensuring element uniqueness</a:t>
            </a:r>
          </a:p>
        </p:txBody>
      </p:sp>
    </p:spTree>
    <p:extLst>
      <p:ext uri="{BB962C8B-B14F-4D97-AF65-F5344CB8AC3E}">
        <p14:creationId xmlns:p14="http://schemas.microsoft.com/office/powerpoint/2010/main" val="11005223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8C3D3-A3FB-05E7-89D1-BF574D5E2AB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B3B83F-DB23-2CB3-6001-B690CFB405DE}"/>
              </a:ext>
            </a:extLst>
          </p:cNvPr>
          <p:cNvSpPr txBox="1"/>
          <p:nvPr/>
        </p:nvSpPr>
        <p:spPr>
          <a:xfrm>
            <a:off x="924338" y="94926"/>
            <a:ext cx="8299175" cy="369332"/>
          </a:xfrm>
          <a:prstGeom prst="rect">
            <a:avLst/>
          </a:prstGeom>
          <a:noFill/>
        </p:spPr>
        <p:txBody>
          <a:bodyPr wrap="square">
            <a:spAutoFit/>
          </a:bodyPr>
          <a:lstStyle/>
          <a:p>
            <a:pPr algn="l">
              <a:buNone/>
            </a:pPr>
            <a:r>
              <a:rPr lang="en-IN" b="0" i="0" dirty="0">
                <a:effectLst/>
                <a:latin typeface="fkGrotesk"/>
              </a:rPr>
              <a:t>Core Methods</a:t>
            </a:r>
          </a:p>
        </p:txBody>
      </p:sp>
      <p:graphicFrame>
        <p:nvGraphicFramePr>
          <p:cNvPr id="4" name="Table 3">
            <a:extLst>
              <a:ext uri="{FF2B5EF4-FFF2-40B4-BE49-F238E27FC236}">
                <a16:creationId xmlns:a16="http://schemas.microsoft.com/office/drawing/2014/main" id="{AE430D64-1A3A-0F2F-447D-0B7044517881}"/>
              </a:ext>
            </a:extLst>
          </p:cNvPr>
          <p:cNvGraphicFramePr>
            <a:graphicFrameLocks noGrp="1"/>
          </p:cNvGraphicFramePr>
          <p:nvPr>
            <p:extLst>
              <p:ext uri="{D42A27DB-BD31-4B8C-83A1-F6EECF244321}">
                <p14:modId xmlns:p14="http://schemas.microsoft.com/office/powerpoint/2010/main" val="2492447137"/>
              </p:ext>
            </p:extLst>
          </p:nvPr>
        </p:nvGraphicFramePr>
        <p:xfrm>
          <a:off x="924338" y="639838"/>
          <a:ext cx="8596312" cy="3169920"/>
        </p:xfrm>
        <a:graphic>
          <a:graphicData uri="http://schemas.openxmlformats.org/drawingml/2006/table">
            <a:tbl>
              <a:tblPr>
                <a:tableStyleId>{5940675A-B579-460E-94D1-54222C63F5DA}</a:tableStyleId>
              </a:tblPr>
              <a:tblGrid>
                <a:gridCol w="2959859">
                  <a:extLst>
                    <a:ext uri="{9D8B030D-6E8A-4147-A177-3AD203B41FA5}">
                      <a16:colId xmlns:a16="http://schemas.microsoft.com/office/drawing/2014/main" val="1308108752"/>
                    </a:ext>
                  </a:extLst>
                </a:gridCol>
                <a:gridCol w="5636453">
                  <a:extLst>
                    <a:ext uri="{9D8B030D-6E8A-4147-A177-3AD203B41FA5}">
                      <a16:colId xmlns:a16="http://schemas.microsoft.com/office/drawing/2014/main" val="3028026016"/>
                    </a:ext>
                  </a:extLst>
                </a:gridCol>
              </a:tblGrid>
              <a:tr h="0">
                <a:tc>
                  <a:txBody>
                    <a:bodyPr/>
                    <a:lstStyle/>
                    <a:p>
                      <a:pPr algn="l">
                        <a:buNone/>
                      </a:pPr>
                      <a:r>
                        <a:rPr lang="en-IN" b="1">
                          <a:effectLst/>
                        </a:rPr>
                        <a:t>Method</a:t>
                      </a:r>
                    </a:p>
                  </a:txBody>
                  <a:tcPr marL="60960" marR="60960" marT="60960" marB="60960" anchor="ctr"/>
                </a:tc>
                <a:tc>
                  <a:txBody>
                    <a:bodyPr/>
                    <a:lstStyle/>
                    <a:p>
                      <a:pPr algn="l">
                        <a:buNone/>
                      </a:pPr>
                      <a:r>
                        <a:rPr lang="en-IN" b="1">
                          <a:effectLst/>
                        </a:rPr>
                        <a:t>Description</a:t>
                      </a:r>
                    </a:p>
                  </a:txBody>
                  <a:tcPr marL="60960" marR="60960" marT="60960" marB="60960" anchor="ctr"/>
                </a:tc>
                <a:extLst>
                  <a:ext uri="{0D108BD9-81ED-4DB2-BD59-A6C34878D82A}">
                    <a16:rowId xmlns:a16="http://schemas.microsoft.com/office/drawing/2014/main" val="2312358314"/>
                  </a:ext>
                </a:extLst>
              </a:tr>
              <a:tr h="0">
                <a:tc>
                  <a:txBody>
                    <a:bodyPr/>
                    <a:lstStyle/>
                    <a:p>
                      <a:pPr algn="l">
                        <a:buNone/>
                      </a:pPr>
                      <a:r>
                        <a:rPr lang="en-IN">
                          <a:effectLst/>
                        </a:rPr>
                        <a:t>add(E e)</a:t>
                      </a:r>
                    </a:p>
                  </a:txBody>
                  <a:tcPr marL="60960" marR="60960" marT="60960" marB="60960" anchor="ctr"/>
                </a:tc>
                <a:tc>
                  <a:txBody>
                    <a:bodyPr/>
                    <a:lstStyle/>
                    <a:p>
                      <a:pPr algn="l">
                        <a:buNone/>
                      </a:pPr>
                      <a:r>
                        <a:rPr lang="en-US">
                          <a:effectLst/>
                        </a:rPr>
                        <a:t>Adds an element if it's not a duplicate</a:t>
                      </a:r>
                    </a:p>
                  </a:txBody>
                  <a:tcPr marL="60960" marR="60960" marT="60960" marB="60960" anchor="ctr"/>
                </a:tc>
                <a:extLst>
                  <a:ext uri="{0D108BD9-81ED-4DB2-BD59-A6C34878D82A}">
                    <a16:rowId xmlns:a16="http://schemas.microsoft.com/office/drawing/2014/main" val="933155065"/>
                  </a:ext>
                </a:extLst>
              </a:tr>
              <a:tr h="0">
                <a:tc>
                  <a:txBody>
                    <a:bodyPr/>
                    <a:lstStyle/>
                    <a:p>
                      <a:pPr algn="l">
                        <a:buNone/>
                      </a:pPr>
                      <a:r>
                        <a:rPr lang="en-IN">
                          <a:effectLst/>
                        </a:rPr>
                        <a:t>remove(Object o)</a:t>
                      </a:r>
                    </a:p>
                  </a:txBody>
                  <a:tcPr marL="60960" marR="60960" marT="60960" marB="60960" anchor="ctr"/>
                </a:tc>
                <a:tc>
                  <a:txBody>
                    <a:bodyPr/>
                    <a:lstStyle/>
                    <a:p>
                      <a:pPr algn="l">
                        <a:buNone/>
                      </a:pPr>
                      <a:r>
                        <a:rPr lang="en-IN">
                          <a:effectLst/>
                        </a:rPr>
                        <a:t>Removes the specified element</a:t>
                      </a:r>
                    </a:p>
                  </a:txBody>
                  <a:tcPr marL="60960" marR="60960" marT="60960" marB="60960" anchor="ctr"/>
                </a:tc>
                <a:extLst>
                  <a:ext uri="{0D108BD9-81ED-4DB2-BD59-A6C34878D82A}">
                    <a16:rowId xmlns:a16="http://schemas.microsoft.com/office/drawing/2014/main" val="1351755448"/>
                  </a:ext>
                </a:extLst>
              </a:tr>
              <a:tr h="0">
                <a:tc>
                  <a:txBody>
                    <a:bodyPr/>
                    <a:lstStyle/>
                    <a:p>
                      <a:pPr algn="l">
                        <a:buNone/>
                      </a:pPr>
                      <a:r>
                        <a:rPr lang="en-IN">
                          <a:effectLst/>
                        </a:rPr>
                        <a:t>contains(Object o)</a:t>
                      </a:r>
                    </a:p>
                  </a:txBody>
                  <a:tcPr marL="60960" marR="60960" marT="60960" marB="60960" anchor="ctr"/>
                </a:tc>
                <a:tc>
                  <a:txBody>
                    <a:bodyPr/>
                    <a:lstStyle/>
                    <a:p>
                      <a:pPr algn="l">
                        <a:buNone/>
                      </a:pPr>
                      <a:r>
                        <a:rPr lang="en-US">
                          <a:effectLst/>
                        </a:rPr>
                        <a:t>Checks if the set contains the element</a:t>
                      </a:r>
                    </a:p>
                  </a:txBody>
                  <a:tcPr marL="60960" marR="60960" marT="60960" marB="60960" anchor="ctr"/>
                </a:tc>
                <a:extLst>
                  <a:ext uri="{0D108BD9-81ED-4DB2-BD59-A6C34878D82A}">
                    <a16:rowId xmlns:a16="http://schemas.microsoft.com/office/drawing/2014/main" val="3564270360"/>
                  </a:ext>
                </a:extLst>
              </a:tr>
              <a:tr h="0">
                <a:tc>
                  <a:txBody>
                    <a:bodyPr/>
                    <a:lstStyle/>
                    <a:p>
                      <a:pPr algn="l">
                        <a:buNone/>
                      </a:pPr>
                      <a:r>
                        <a:rPr lang="en-IN">
                          <a:effectLst/>
                        </a:rPr>
                        <a:t>size()</a:t>
                      </a:r>
                    </a:p>
                  </a:txBody>
                  <a:tcPr marL="60960" marR="60960" marT="60960" marB="60960" anchor="ctr"/>
                </a:tc>
                <a:tc>
                  <a:txBody>
                    <a:bodyPr/>
                    <a:lstStyle/>
                    <a:p>
                      <a:pPr algn="l">
                        <a:buNone/>
                      </a:pPr>
                      <a:r>
                        <a:rPr lang="en-US">
                          <a:effectLst/>
                        </a:rPr>
                        <a:t>Returns the number of elements</a:t>
                      </a:r>
                    </a:p>
                  </a:txBody>
                  <a:tcPr marL="60960" marR="60960" marT="60960" marB="60960" anchor="ctr"/>
                </a:tc>
                <a:extLst>
                  <a:ext uri="{0D108BD9-81ED-4DB2-BD59-A6C34878D82A}">
                    <a16:rowId xmlns:a16="http://schemas.microsoft.com/office/drawing/2014/main" val="976390859"/>
                  </a:ext>
                </a:extLst>
              </a:tr>
              <a:tr h="0">
                <a:tc>
                  <a:txBody>
                    <a:bodyPr/>
                    <a:lstStyle/>
                    <a:p>
                      <a:pPr algn="l">
                        <a:buNone/>
                      </a:pPr>
                      <a:r>
                        <a:rPr lang="en-IN">
                          <a:effectLst/>
                        </a:rPr>
                        <a:t>clear()</a:t>
                      </a:r>
                    </a:p>
                  </a:txBody>
                  <a:tcPr marL="60960" marR="60960" marT="60960" marB="60960" anchor="ctr"/>
                </a:tc>
                <a:tc>
                  <a:txBody>
                    <a:bodyPr/>
                    <a:lstStyle/>
                    <a:p>
                      <a:pPr algn="l">
                        <a:buNone/>
                      </a:pPr>
                      <a:r>
                        <a:rPr lang="en-IN">
                          <a:effectLst/>
                        </a:rPr>
                        <a:t>Removes all elements</a:t>
                      </a:r>
                    </a:p>
                  </a:txBody>
                  <a:tcPr marL="60960" marR="60960" marT="60960" marB="60960" anchor="ctr"/>
                </a:tc>
                <a:extLst>
                  <a:ext uri="{0D108BD9-81ED-4DB2-BD59-A6C34878D82A}">
                    <a16:rowId xmlns:a16="http://schemas.microsoft.com/office/drawing/2014/main" val="3638347821"/>
                  </a:ext>
                </a:extLst>
              </a:tr>
              <a:tr h="0">
                <a:tc>
                  <a:txBody>
                    <a:bodyPr/>
                    <a:lstStyle/>
                    <a:p>
                      <a:pPr algn="l">
                        <a:buNone/>
                      </a:pPr>
                      <a:r>
                        <a:rPr lang="en-IN">
                          <a:effectLst/>
                        </a:rPr>
                        <a:t>iterator()</a:t>
                      </a:r>
                    </a:p>
                  </a:txBody>
                  <a:tcPr marL="60960" marR="60960" marT="60960" marB="60960" anchor="ctr"/>
                </a:tc>
                <a:tc>
                  <a:txBody>
                    <a:bodyPr/>
                    <a:lstStyle/>
                    <a:p>
                      <a:pPr algn="l">
                        <a:buNone/>
                      </a:pPr>
                      <a:r>
                        <a:rPr lang="en-US">
                          <a:effectLst/>
                        </a:rPr>
                        <a:t>Provides an iterator over the set</a:t>
                      </a:r>
                    </a:p>
                  </a:txBody>
                  <a:tcPr marL="60960" marR="60960" marT="60960" marB="60960" anchor="ctr"/>
                </a:tc>
                <a:extLst>
                  <a:ext uri="{0D108BD9-81ED-4DB2-BD59-A6C34878D82A}">
                    <a16:rowId xmlns:a16="http://schemas.microsoft.com/office/drawing/2014/main" val="2377021975"/>
                  </a:ext>
                </a:extLst>
              </a:tr>
              <a:tr h="0">
                <a:tc>
                  <a:txBody>
                    <a:bodyPr/>
                    <a:lstStyle/>
                    <a:p>
                      <a:pPr algn="l">
                        <a:buNone/>
                      </a:pPr>
                      <a:r>
                        <a:rPr lang="en-IN" dirty="0" err="1">
                          <a:effectLst/>
                        </a:rPr>
                        <a:t>addAll</a:t>
                      </a:r>
                      <a:r>
                        <a:rPr lang="en-IN" dirty="0">
                          <a:effectLst/>
                        </a:rPr>
                        <a:t>(Collection c)</a:t>
                      </a:r>
                    </a:p>
                  </a:txBody>
                  <a:tcPr marL="60960" marR="60960" marT="60960" marB="60960" anchor="ctr"/>
                </a:tc>
                <a:tc>
                  <a:txBody>
                    <a:bodyPr/>
                    <a:lstStyle/>
                    <a:p>
                      <a:pPr algn="l">
                        <a:buNone/>
                      </a:pPr>
                      <a:r>
                        <a:rPr lang="en-US" dirty="0">
                          <a:effectLst/>
                        </a:rPr>
                        <a:t>Adds all elements from another collection</a:t>
                      </a:r>
                    </a:p>
                  </a:txBody>
                  <a:tcPr marL="60960" marR="60960" marT="60960" marB="60960" anchor="ctr"/>
                </a:tc>
                <a:extLst>
                  <a:ext uri="{0D108BD9-81ED-4DB2-BD59-A6C34878D82A}">
                    <a16:rowId xmlns:a16="http://schemas.microsoft.com/office/drawing/2014/main" val="1369119220"/>
                  </a:ext>
                </a:extLst>
              </a:tr>
            </a:tbl>
          </a:graphicData>
        </a:graphic>
      </p:graphicFrame>
      <p:sp>
        <p:nvSpPr>
          <p:cNvPr id="6" name="TextBox 5">
            <a:extLst>
              <a:ext uri="{FF2B5EF4-FFF2-40B4-BE49-F238E27FC236}">
                <a16:creationId xmlns:a16="http://schemas.microsoft.com/office/drawing/2014/main" id="{4936CF06-CC8F-455B-4D23-EA315EB413F4}"/>
              </a:ext>
            </a:extLst>
          </p:cNvPr>
          <p:cNvSpPr txBox="1"/>
          <p:nvPr/>
        </p:nvSpPr>
        <p:spPr>
          <a:xfrm>
            <a:off x="795130" y="3985338"/>
            <a:ext cx="8725520" cy="369332"/>
          </a:xfrm>
          <a:prstGeom prst="rect">
            <a:avLst/>
          </a:prstGeom>
          <a:noFill/>
        </p:spPr>
        <p:txBody>
          <a:bodyPr wrap="square">
            <a:spAutoFit/>
          </a:bodyPr>
          <a:lstStyle/>
          <a:p>
            <a:pPr>
              <a:buNone/>
            </a:pPr>
            <a:r>
              <a:rPr lang="en-IN" b="1" dirty="0">
                <a:effectLst/>
                <a:latin typeface="fkGrotesk"/>
              </a:rPr>
              <a:t>Example</a:t>
            </a:r>
          </a:p>
        </p:txBody>
      </p:sp>
      <p:sp>
        <p:nvSpPr>
          <p:cNvPr id="8" name="TextBox 7">
            <a:extLst>
              <a:ext uri="{FF2B5EF4-FFF2-40B4-BE49-F238E27FC236}">
                <a16:creationId xmlns:a16="http://schemas.microsoft.com/office/drawing/2014/main" id="{5136FE58-512E-BA38-1BFB-120A2023CCF9}"/>
              </a:ext>
            </a:extLst>
          </p:cNvPr>
          <p:cNvSpPr txBox="1"/>
          <p:nvPr/>
        </p:nvSpPr>
        <p:spPr>
          <a:xfrm>
            <a:off x="488053" y="4354670"/>
            <a:ext cx="8596312" cy="2308324"/>
          </a:xfrm>
          <a:prstGeom prst="rect">
            <a:avLst/>
          </a:prstGeom>
          <a:noFill/>
        </p:spPr>
        <p:txBody>
          <a:bodyPr wrap="square">
            <a:spAutoFit/>
          </a:bodyPr>
          <a:lstStyle/>
          <a:p>
            <a:r>
              <a:rPr lang="en-IN" dirty="0"/>
              <a:t>import </a:t>
            </a:r>
            <a:r>
              <a:rPr lang="en-IN" dirty="0" err="1"/>
              <a:t>java.util.Set</a:t>
            </a:r>
            <a:r>
              <a:rPr lang="en-IN" dirty="0"/>
              <a:t>;</a:t>
            </a:r>
          </a:p>
          <a:p>
            <a:r>
              <a:rPr lang="en-IN" dirty="0"/>
              <a:t>import </a:t>
            </a:r>
            <a:r>
              <a:rPr lang="en-IN" dirty="0" err="1"/>
              <a:t>java.util.HashSet</a:t>
            </a:r>
            <a:r>
              <a:rPr lang="en-IN" dirty="0"/>
              <a:t>;</a:t>
            </a:r>
          </a:p>
          <a:p>
            <a:endParaRPr lang="en-IN" dirty="0"/>
          </a:p>
          <a:p>
            <a:r>
              <a:rPr lang="en-IN" dirty="0"/>
              <a:t>public class </a:t>
            </a:r>
            <a:r>
              <a:rPr lang="en-IN" dirty="0" err="1"/>
              <a:t>SetDemo</a:t>
            </a:r>
            <a:r>
              <a:rPr lang="en-IN" dirty="0"/>
              <a:t> {</a:t>
            </a:r>
          </a:p>
          <a:p>
            <a:r>
              <a:rPr lang="en-IN" dirty="0"/>
              <a:t>    public static void main(String[] args) {</a:t>
            </a:r>
          </a:p>
          <a:p>
            <a:r>
              <a:rPr lang="en-IN" dirty="0"/>
              <a:t>        Set&lt;String&gt; set = new HashSet&lt;&gt;();</a:t>
            </a:r>
          </a:p>
          <a:p>
            <a:r>
              <a:rPr lang="en-IN" dirty="0"/>
              <a:t>        </a:t>
            </a:r>
            <a:r>
              <a:rPr lang="en-IN" dirty="0" err="1"/>
              <a:t>set.add</a:t>
            </a:r>
            <a:r>
              <a:rPr lang="en-IN" dirty="0"/>
              <a:t>("A");</a:t>
            </a:r>
          </a:p>
          <a:p>
            <a:r>
              <a:rPr lang="en-IN" dirty="0"/>
              <a:t>        </a:t>
            </a:r>
            <a:r>
              <a:rPr lang="en-IN" dirty="0" err="1"/>
              <a:t>set.add</a:t>
            </a:r>
            <a:r>
              <a:rPr lang="en-IN" dirty="0"/>
              <a:t>("B");</a:t>
            </a:r>
          </a:p>
        </p:txBody>
      </p:sp>
    </p:spTree>
    <p:extLst>
      <p:ext uri="{BB962C8B-B14F-4D97-AF65-F5344CB8AC3E}">
        <p14:creationId xmlns:p14="http://schemas.microsoft.com/office/powerpoint/2010/main" val="18923300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17D00-7DDD-6D2E-D322-BC1FB70F48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5FF6C0C-312D-B3A7-AE72-2B5E4D703B90}"/>
              </a:ext>
            </a:extLst>
          </p:cNvPr>
          <p:cNvSpPr txBox="1"/>
          <p:nvPr/>
        </p:nvSpPr>
        <p:spPr>
          <a:xfrm>
            <a:off x="1003852" y="173577"/>
            <a:ext cx="8289235" cy="2308324"/>
          </a:xfrm>
          <a:prstGeom prst="rect">
            <a:avLst/>
          </a:prstGeom>
          <a:noFill/>
        </p:spPr>
        <p:txBody>
          <a:bodyPr wrap="square">
            <a:spAutoFit/>
          </a:bodyPr>
          <a:lstStyle/>
          <a:p>
            <a:r>
              <a:rPr lang="en-IN" dirty="0"/>
              <a:t>        </a:t>
            </a:r>
            <a:r>
              <a:rPr lang="en-IN" dirty="0" err="1"/>
              <a:t>set.add</a:t>
            </a:r>
            <a:r>
              <a:rPr lang="en-IN" dirty="0"/>
              <a:t>("C");</a:t>
            </a:r>
          </a:p>
          <a:p>
            <a:r>
              <a:rPr lang="en-IN" dirty="0"/>
              <a:t>        set.add("A"); // Duplicate, ignored</a:t>
            </a:r>
          </a:p>
          <a:p>
            <a:r>
              <a:rPr lang="en-IN" dirty="0"/>
              <a:t>        System.out.println(set); // Output: [A, B, C]</a:t>
            </a:r>
          </a:p>
          <a:p>
            <a:r>
              <a:rPr lang="en-IN" dirty="0"/>
              <a:t>        set.remove("B");</a:t>
            </a:r>
          </a:p>
          <a:p>
            <a:r>
              <a:rPr lang="en-IN" dirty="0"/>
              <a:t>        System.out.println(set); // Output: [A, C]</a:t>
            </a:r>
          </a:p>
          <a:p>
            <a:r>
              <a:rPr lang="en-IN" dirty="0"/>
              <a:t>        System.out.println(</a:t>
            </a:r>
            <a:r>
              <a:rPr lang="en-IN" dirty="0" err="1"/>
              <a:t>set.contains</a:t>
            </a:r>
            <a:r>
              <a:rPr lang="en-IN" dirty="0"/>
              <a:t>("C")); // Output: true</a:t>
            </a:r>
          </a:p>
          <a:p>
            <a:r>
              <a:rPr lang="en-IN" dirty="0"/>
              <a:t>    }</a:t>
            </a:r>
          </a:p>
          <a:p>
            <a:r>
              <a:rPr lang="en-IN" dirty="0"/>
              <a:t>}</a:t>
            </a:r>
          </a:p>
        </p:txBody>
      </p:sp>
      <p:sp>
        <p:nvSpPr>
          <p:cNvPr id="5" name="TextBox 4">
            <a:extLst>
              <a:ext uri="{FF2B5EF4-FFF2-40B4-BE49-F238E27FC236}">
                <a16:creationId xmlns:a16="http://schemas.microsoft.com/office/drawing/2014/main" id="{AD6AFDE6-B887-7C47-5CAD-AB78EE87853E}"/>
              </a:ext>
            </a:extLst>
          </p:cNvPr>
          <p:cNvSpPr txBox="1"/>
          <p:nvPr/>
        </p:nvSpPr>
        <p:spPr>
          <a:xfrm>
            <a:off x="775252" y="2828836"/>
            <a:ext cx="8378687" cy="1200329"/>
          </a:xfrm>
          <a:prstGeom prst="rect">
            <a:avLst/>
          </a:prstGeom>
          <a:noFill/>
        </p:spPr>
        <p:txBody>
          <a:bodyPr wrap="square">
            <a:spAutoFit/>
          </a:bodyPr>
          <a:lstStyle/>
          <a:p>
            <a:pPr algn="l">
              <a:buNone/>
            </a:pPr>
            <a:r>
              <a:rPr lang="en-US" b="1" i="0" dirty="0">
                <a:effectLst/>
                <a:latin typeface="fkGrotesk"/>
              </a:rPr>
              <a:t>When to Use a Set</a:t>
            </a:r>
          </a:p>
          <a:p>
            <a:pPr algn="l">
              <a:buNone/>
            </a:pPr>
            <a:endParaRPr lang="en-US" b="0" i="0" dirty="0">
              <a:effectLst/>
              <a:latin typeface="fkGrotesk"/>
            </a:endParaRPr>
          </a:p>
          <a:p>
            <a:pPr algn="l">
              <a:buNone/>
            </a:pPr>
            <a:r>
              <a:rPr lang="en-US" b="0" i="0" dirty="0">
                <a:effectLst/>
                <a:latin typeface="fkGroteskNeue"/>
              </a:rPr>
              <a:t>Use a Set when the application requires the storage of distinct values (like user IDs, tags, or unique items) and no element should be repeated.</a:t>
            </a:r>
          </a:p>
        </p:txBody>
      </p:sp>
    </p:spTree>
    <p:extLst>
      <p:ext uri="{BB962C8B-B14F-4D97-AF65-F5344CB8AC3E}">
        <p14:creationId xmlns:p14="http://schemas.microsoft.com/office/powerpoint/2010/main" val="33135572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F7DDD-7555-5C40-D107-D35BF3804563}"/>
            </a:ext>
          </a:extLst>
        </p:cNvPr>
        <p:cNvGrpSpPr/>
        <p:nvPr/>
      </p:nvGrpSpPr>
      <p:grpSpPr>
        <a:xfrm>
          <a:off x="0" y="0"/>
          <a:ext cx="0" cy="0"/>
          <a:chOff x="0" y="0"/>
          <a:chExt cx="0" cy="0"/>
        </a:xfrm>
      </p:grpSpPr>
    </p:spTree>
    <p:extLst>
      <p:ext uri="{BB962C8B-B14F-4D97-AF65-F5344CB8AC3E}">
        <p14:creationId xmlns:p14="http://schemas.microsoft.com/office/powerpoint/2010/main" val="8364411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9006B-20C0-B7A7-A70B-93E09D9D6C4D}"/>
            </a:ext>
          </a:extLst>
        </p:cNvPr>
        <p:cNvGrpSpPr/>
        <p:nvPr/>
      </p:nvGrpSpPr>
      <p:grpSpPr>
        <a:xfrm>
          <a:off x="0" y="0"/>
          <a:ext cx="0" cy="0"/>
          <a:chOff x="0" y="0"/>
          <a:chExt cx="0" cy="0"/>
        </a:xfrm>
      </p:grpSpPr>
    </p:spTree>
    <p:extLst>
      <p:ext uri="{BB962C8B-B14F-4D97-AF65-F5344CB8AC3E}">
        <p14:creationId xmlns:p14="http://schemas.microsoft.com/office/powerpoint/2010/main" val="14168318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69BD1-08FB-397B-ED72-2CA1EB1C50CD}"/>
            </a:ext>
          </a:extLst>
        </p:cNvPr>
        <p:cNvGrpSpPr/>
        <p:nvPr/>
      </p:nvGrpSpPr>
      <p:grpSpPr>
        <a:xfrm>
          <a:off x="0" y="0"/>
          <a:ext cx="0" cy="0"/>
          <a:chOff x="0" y="0"/>
          <a:chExt cx="0" cy="0"/>
        </a:xfrm>
      </p:grpSpPr>
    </p:spTree>
    <p:extLst>
      <p:ext uri="{BB962C8B-B14F-4D97-AF65-F5344CB8AC3E}">
        <p14:creationId xmlns:p14="http://schemas.microsoft.com/office/powerpoint/2010/main" val="39711279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7ACE9-1FF2-6228-BE64-A0F8C03449B0}"/>
            </a:ext>
          </a:extLst>
        </p:cNvPr>
        <p:cNvGrpSpPr/>
        <p:nvPr/>
      </p:nvGrpSpPr>
      <p:grpSpPr>
        <a:xfrm>
          <a:off x="0" y="0"/>
          <a:ext cx="0" cy="0"/>
          <a:chOff x="0" y="0"/>
          <a:chExt cx="0" cy="0"/>
        </a:xfrm>
      </p:grpSpPr>
    </p:spTree>
    <p:extLst>
      <p:ext uri="{BB962C8B-B14F-4D97-AF65-F5344CB8AC3E}">
        <p14:creationId xmlns:p14="http://schemas.microsoft.com/office/powerpoint/2010/main" val="369888597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93</TotalTime>
  <Words>4889</Words>
  <Application>Microsoft Office PowerPoint</Application>
  <PresentationFormat>Widescreen</PresentationFormat>
  <Paragraphs>706</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berkeleyMono</vt:lpstr>
      <vt:lpstr>fkGrotesk</vt:lpstr>
      <vt:lpstr>fkGroteskNeue</vt:lpstr>
      <vt:lpstr>Trebuchet MS</vt:lpstr>
      <vt:lpstr>Wingdings 3</vt:lpstr>
      <vt:lpstr>Facet</vt:lpstr>
      <vt:lpstr>Collections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2025-10-07T16:50:11Z</dcterms:created>
  <dcterms:modified xsi:type="dcterms:W3CDTF">2025-10-07T18:24:00Z</dcterms:modified>
</cp:coreProperties>
</file>