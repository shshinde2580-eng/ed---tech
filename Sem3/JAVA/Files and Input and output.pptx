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1166236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17577165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2779922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AAB886-3EC1-4C05-80AB-051D565494BA}"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132478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AAB886-3EC1-4C05-80AB-051D565494BA}" type="datetimeFigureOut">
              <a:rPr lang="en-IN" smtClean="0"/>
              <a:t>07-10-2025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1833980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AAB886-3EC1-4C05-80AB-051D565494BA}" type="datetimeFigureOut">
              <a:rPr lang="en-IN" smtClean="0"/>
              <a:t>07-10-2025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2900149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AAB886-3EC1-4C05-80AB-051D565494BA}" type="datetimeFigureOut">
              <a:rPr lang="en-IN" smtClean="0"/>
              <a:t>07-10-2025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4117325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AAB886-3EC1-4C05-80AB-051D565494BA}"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826648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AAB886-3EC1-4C05-80AB-051D565494BA}" type="datetimeFigureOut">
              <a:rPr lang="en-IN" smtClean="0"/>
              <a:t>07-10-2025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2051510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893894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76344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10335295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208860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756686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20243045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AAB886-3EC1-4C05-80AB-051D565494BA}"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43602-63D2-4CE6-9DE9-6099439493B5}" type="slidenum">
              <a:rPr lang="en-IN" smtClean="0"/>
              <a:t>‹#›</a:t>
            </a:fld>
            <a:endParaRPr lang="en-IN"/>
          </a:p>
        </p:txBody>
      </p:sp>
    </p:spTree>
    <p:extLst>
      <p:ext uri="{BB962C8B-B14F-4D97-AF65-F5344CB8AC3E}">
        <p14:creationId xmlns:p14="http://schemas.microsoft.com/office/powerpoint/2010/main" val="1138211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AAB886-3EC1-4C05-80AB-051D565494BA}" type="datetimeFigureOut">
              <a:rPr lang="en-IN" smtClean="0"/>
              <a:t>07-10-2025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ED43602-63D2-4CE6-9DE9-6099439493B5}" type="slidenum">
              <a:rPr lang="en-IN" smtClean="0"/>
              <a:t>‹#›</a:t>
            </a:fld>
            <a:endParaRPr lang="en-IN"/>
          </a:p>
        </p:txBody>
      </p:sp>
    </p:spTree>
    <p:extLst>
      <p:ext uri="{BB962C8B-B14F-4D97-AF65-F5344CB8AC3E}">
        <p14:creationId xmlns:p14="http://schemas.microsoft.com/office/powerpoint/2010/main" val="2723588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E3CD0-D8A9-2638-9D55-03797F14FD2E}"/>
              </a:ext>
            </a:extLst>
          </p:cNvPr>
          <p:cNvSpPr>
            <a:spLocks noGrp="1"/>
          </p:cNvSpPr>
          <p:nvPr>
            <p:ph type="ctrTitle"/>
          </p:nvPr>
        </p:nvSpPr>
        <p:spPr>
          <a:xfrm>
            <a:off x="496957" y="2404534"/>
            <a:ext cx="9432234" cy="1646302"/>
          </a:xfrm>
        </p:spPr>
        <p:txBody>
          <a:bodyPr/>
          <a:lstStyle/>
          <a:p>
            <a:pPr algn="ctr"/>
            <a:r>
              <a:rPr lang="en-IN" dirty="0"/>
              <a:t>Files and I/O </a:t>
            </a:r>
          </a:p>
        </p:txBody>
      </p:sp>
    </p:spTree>
    <p:extLst>
      <p:ext uri="{BB962C8B-B14F-4D97-AF65-F5344CB8AC3E}">
        <p14:creationId xmlns:p14="http://schemas.microsoft.com/office/powerpoint/2010/main" val="2744366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394534-A76B-368F-499F-466908557A0E}"/>
              </a:ext>
            </a:extLst>
          </p:cNvPr>
          <p:cNvSpPr txBox="1"/>
          <p:nvPr/>
        </p:nvSpPr>
        <p:spPr>
          <a:xfrm>
            <a:off x="1003852" y="103569"/>
            <a:ext cx="8199782" cy="6740307"/>
          </a:xfrm>
          <a:prstGeom prst="rect">
            <a:avLst/>
          </a:prstGeom>
          <a:noFill/>
        </p:spPr>
        <p:txBody>
          <a:bodyPr wrap="square">
            <a:spAutoFit/>
          </a:bodyPr>
          <a:lstStyle/>
          <a:p>
            <a:r>
              <a:rPr lang="en-IN" b="1" dirty="0"/>
              <a:t>6.1 I/O basics </a:t>
            </a:r>
          </a:p>
          <a:p>
            <a:endParaRPr lang="en-IN" dirty="0"/>
          </a:p>
          <a:p>
            <a:r>
              <a:rPr lang="en-US" dirty="0"/>
              <a:t>I/O Basics refers to the fundamental concepts of input/output operations in a computer system. It covers how data is transferred between the central processing unit (CPU), memory, and external devices (peripherals) through input/output modules.</a:t>
            </a:r>
          </a:p>
          <a:p>
            <a:endParaRPr lang="en-US" dirty="0"/>
          </a:p>
          <a:p>
            <a:pPr marL="285750" indent="-285750">
              <a:buFont typeface="Wingdings" panose="05000000000000000000" pitchFamily="2" charset="2"/>
              <a:buChar char="q"/>
            </a:pPr>
            <a:r>
              <a:rPr lang="en-US" b="1" dirty="0"/>
              <a:t>Key Concepts of I/O Basics</a:t>
            </a:r>
          </a:p>
          <a:p>
            <a:endParaRPr lang="en-US" dirty="0"/>
          </a:p>
          <a:p>
            <a:r>
              <a:rPr lang="en-US" dirty="0"/>
              <a:t>Role of I/O Modules: I/O modules connect peripheral devices to the system bus and control communication between the processor and these devices. They perform functions such as control and timing, processor communication, device communication, data buffering, and error detection. This ensures efficient and synchronized data exchange despite peripheral speed differences from the CPU.</a:t>
            </a:r>
          </a:p>
          <a:p>
            <a:endParaRPr lang="en-US" dirty="0"/>
          </a:p>
          <a:p>
            <a:pPr marL="342900" indent="-342900">
              <a:buFont typeface="+mj-lt"/>
              <a:buAutoNum type="arabicPeriod"/>
            </a:pPr>
            <a:r>
              <a:rPr lang="en-US" dirty="0"/>
              <a:t>Data Transfer Techniques: There are three basic forms of I/O data transfer:</a:t>
            </a:r>
          </a:p>
          <a:p>
            <a:pPr marL="285750" indent="-285750">
              <a:buFont typeface="Arial" panose="020B0604020202020204" pitchFamily="34" charset="0"/>
              <a:buChar char="•"/>
            </a:pPr>
            <a:r>
              <a:rPr lang="en-US" dirty="0"/>
              <a:t>Programmed I/O, where the CPU actively waits for the I/O operation to complete</a:t>
            </a:r>
          </a:p>
          <a:p>
            <a:pPr marL="285750" indent="-285750">
              <a:buFont typeface="Arial" panose="020B0604020202020204" pitchFamily="34" charset="0"/>
              <a:buChar char="•"/>
            </a:pPr>
            <a:r>
              <a:rPr lang="en-US" dirty="0"/>
              <a:t>Interrupt-driven I/O, where the CPU is interrupted after the device is ready</a:t>
            </a:r>
          </a:p>
          <a:p>
            <a:pPr marL="285750" indent="-285750">
              <a:buFont typeface="Arial" panose="020B0604020202020204" pitchFamily="34" charset="0"/>
              <a:buChar char="•"/>
            </a:pPr>
            <a:r>
              <a:rPr lang="en-US" dirty="0"/>
              <a:t>Direct Memory Access (DMA), where data is transferred directly between memory and device bypassing CPU involvement</a:t>
            </a:r>
          </a:p>
        </p:txBody>
      </p:sp>
    </p:spTree>
    <p:extLst>
      <p:ext uri="{BB962C8B-B14F-4D97-AF65-F5344CB8AC3E}">
        <p14:creationId xmlns:p14="http://schemas.microsoft.com/office/powerpoint/2010/main" val="2379441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4ACF9-A76F-F1EE-37B5-63CAA113D3B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A03988-3B4F-F6B1-40DF-083C0422AB9E}"/>
              </a:ext>
            </a:extLst>
          </p:cNvPr>
          <p:cNvSpPr txBox="1"/>
          <p:nvPr/>
        </p:nvSpPr>
        <p:spPr>
          <a:xfrm>
            <a:off x="819977" y="100114"/>
            <a:ext cx="8607287" cy="2862322"/>
          </a:xfrm>
          <a:prstGeom prst="rect">
            <a:avLst/>
          </a:prstGeom>
          <a:noFill/>
        </p:spPr>
        <p:txBody>
          <a:bodyPr wrap="square">
            <a:spAutoFit/>
          </a:bodyPr>
          <a:lstStyle/>
          <a:p>
            <a:pPr algn="l"/>
            <a:r>
              <a:rPr lang="en-US" b="0" i="0" dirty="0">
                <a:effectLst/>
                <a:latin typeface="fkGroteskNeue"/>
              </a:rPr>
              <a:t>2.  Addressing Methods: Two addressing methods are used for I/O devices:</a:t>
            </a:r>
          </a:p>
          <a:p>
            <a:pPr marL="742950" lvl="1" indent="-285750" algn="l">
              <a:buFont typeface="Arial" panose="020B0604020202020204" pitchFamily="34" charset="0"/>
              <a:buChar char="•"/>
            </a:pPr>
            <a:r>
              <a:rPr lang="en-US" b="0" i="0" dirty="0">
                <a:effectLst/>
                <a:latin typeface="fkGroteskNeue"/>
              </a:rPr>
              <a:t>Memory-mapped I/O, where I/O devices share the same address space as memory</a:t>
            </a:r>
          </a:p>
          <a:p>
            <a:pPr marL="742950" lvl="1" indent="-285750" algn="l">
              <a:buFont typeface="Arial" panose="020B0604020202020204" pitchFamily="34" charset="0"/>
              <a:buChar char="•"/>
            </a:pPr>
            <a:r>
              <a:rPr lang="en-US" b="0" i="0" dirty="0">
                <a:effectLst/>
                <a:latin typeface="fkGroteskNeue"/>
              </a:rPr>
              <a:t>Isolated or I/O-mapped I/O, where I/O devices have separate address space from memory.</a:t>
            </a:r>
          </a:p>
          <a:p>
            <a:pPr lvl="1" algn="l"/>
            <a:endParaRPr lang="en-US" b="0" i="0" dirty="0">
              <a:effectLst/>
              <a:latin typeface="fkGroteskNeue"/>
            </a:endParaRPr>
          </a:p>
          <a:p>
            <a:pPr algn="l"/>
            <a:r>
              <a:rPr lang="en-US" b="0" i="0" dirty="0">
                <a:effectLst/>
                <a:latin typeface="fkGroteskNeue"/>
              </a:rPr>
              <a:t>3.  I/O Channels: Dedicated processors called I/O channels manage I/O operations independently of the CPU to reduce its workload, increasing efficiency. Types of I/O channels include selector channels (handle one device at a time) and multiplexer channels (handle multiple devices simultaneously)</a:t>
            </a:r>
          </a:p>
        </p:txBody>
      </p:sp>
      <p:sp>
        <p:nvSpPr>
          <p:cNvPr id="5" name="TextBox 4">
            <a:extLst>
              <a:ext uri="{FF2B5EF4-FFF2-40B4-BE49-F238E27FC236}">
                <a16:creationId xmlns:a16="http://schemas.microsoft.com/office/drawing/2014/main" id="{DF16C4AB-5218-97E2-284B-C31866C1D7AC}"/>
              </a:ext>
            </a:extLst>
          </p:cNvPr>
          <p:cNvSpPr txBox="1"/>
          <p:nvPr/>
        </p:nvSpPr>
        <p:spPr>
          <a:xfrm>
            <a:off x="819977" y="2962436"/>
            <a:ext cx="8458200" cy="3970318"/>
          </a:xfrm>
          <a:prstGeom prst="rect">
            <a:avLst/>
          </a:prstGeom>
          <a:noFill/>
        </p:spPr>
        <p:txBody>
          <a:bodyPr wrap="square">
            <a:spAutoFit/>
          </a:bodyPr>
          <a:lstStyle/>
          <a:p>
            <a:r>
              <a:rPr lang="en-US" b="1" dirty="0"/>
              <a:t>6.2 Byte streams and character streams</a:t>
            </a:r>
          </a:p>
          <a:p>
            <a:endParaRPr lang="en-US" b="0" i="0" dirty="0">
              <a:effectLst/>
              <a:latin typeface="fkGroteskNeue"/>
            </a:endParaRPr>
          </a:p>
          <a:p>
            <a:pPr algn="l">
              <a:buNone/>
            </a:pPr>
            <a:r>
              <a:rPr lang="en-US" b="0" i="0" dirty="0">
                <a:effectLst/>
                <a:latin typeface="fkGroteskNeue"/>
              </a:rPr>
              <a:t>Byte streams and character streams are two types of data streams used in computer input/output operations, especially in programming contexts like Java.</a:t>
            </a:r>
          </a:p>
          <a:p>
            <a:pPr algn="l">
              <a:buNone/>
            </a:pPr>
            <a:endParaRPr lang="en-US" b="0" i="0" dirty="0">
              <a:effectLst/>
              <a:latin typeface="fkGroteskNeue"/>
            </a:endParaRPr>
          </a:p>
          <a:p>
            <a:pPr algn="l">
              <a:buNone/>
            </a:pPr>
            <a:r>
              <a:rPr lang="en-US" b="1" i="0" dirty="0">
                <a:effectLst/>
                <a:latin typeface="fkGrotesk"/>
              </a:rPr>
              <a:t>Byte Streams</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Handle input and output of raw 8-bit binary data.</a:t>
            </a:r>
          </a:p>
          <a:p>
            <a:pPr algn="l">
              <a:buFont typeface="Arial" panose="020B0604020202020204" pitchFamily="34" charset="0"/>
              <a:buChar char="•"/>
            </a:pPr>
            <a:r>
              <a:rPr lang="en-US" b="0" i="0" dirty="0">
                <a:effectLst/>
                <a:latin typeface="fkGroteskNeue"/>
              </a:rPr>
              <a:t>Suitable for reading and writing non-text data such as images, audio, video, or any binary file.</a:t>
            </a:r>
          </a:p>
          <a:p>
            <a:pPr algn="l">
              <a:buFont typeface="Arial" panose="020B0604020202020204" pitchFamily="34" charset="0"/>
              <a:buChar char="•"/>
            </a:pPr>
            <a:r>
              <a:rPr lang="en-US" b="0" i="0" dirty="0">
                <a:effectLst/>
                <a:latin typeface="fkGroteskNeue"/>
              </a:rPr>
              <a:t>Process data byte by byte without converting it.</a:t>
            </a:r>
          </a:p>
          <a:p>
            <a:pPr algn="l">
              <a:buFont typeface="Arial" panose="020B0604020202020204" pitchFamily="34" charset="0"/>
              <a:buChar char="•"/>
            </a:pPr>
            <a:r>
              <a:rPr lang="en-US" b="0" i="0" dirty="0">
                <a:effectLst/>
                <a:latin typeface="fkGroteskNeue"/>
              </a:rPr>
              <a:t>Common classes in Java end with InputStream/OutputStream (e.g., FileInputStream, FileOutputStream).</a:t>
            </a:r>
          </a:p>
          <a:p>
            <a:pPr algn="l">
              <a:buFont typeface="Arial" panose="020B0604020202020204" pitchFamily="34" charset="0"/>
              <a:buChar char="•"/>
            </a:pPr>
            <a:r>
              <a:rPr lang="en-US" b="0" i="0" dirty="0">
                <a:effectLst/>
                <a:latin typeface="fkGroteskNeue"/>
              </a:rPr>
              <a:t>Used when dealing with raw binary data where no character encoding is needed.</a:t>
            </a:r>
          </a:p>
        </p:txBody>
      </p:sp>
    </p:spTree>
    <p:extLst>
      <p:ext uri="{BB962C8B-B14F-4D97-AF65-F5344CB8AC3E}">
        <p14:creationId xmlns:p14="http://schemas.microsoft.com/office/powerpoint/2010/main" val="1111124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0FCD8-7855-0B41-178C-35A942E8736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848B709-D0AE-E308-22F1-A34A47F36061}"/>
              </a:ext>
            </a:extLst>
          </p:cNvPr>
          <p:cNvSpPr txBox="1"/>
          <p:nvPr/>
        </p:nvSpPr>
        <p:spPr>
          <a:xfrm>
            <a:off x="815009" y="149810"/>
            <a:ext cx="8517835" cy="2308324"/>
          </a:xfrm>
          <a:prstGeom prst="rect">
            <a:avLst/>
          </a:prstGeom>
          <a:noFill/>
        </p:spPr>
        <p:txBody>
          <a:bodyPr wrap="square">
            <a:spAutoFit/>
          </a:bodyPr>
          <a:lstStyle/>
          <a:p>
            <a:pPr algn="l">
              <a:buNone/>
            </a:pPr>
            <a:r>
              <a:rPr lang="en-US" b="1" i="0" dirty="0">
                <a:effectLst/>
                <a:latin typeface="fkGrotesk"/>
              </a:rPr>
              <a:t>Character Streams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Handle input and output of 16-bit Unicode characters, processing text data.</a:t>
            </a:r>
          </a:p>
          <a:p>
            <a:pPr algn="l">
              <a:buFont typeface="Arial" panose="020B0604020202020204" pitchFamily="34" charset="0"/>
              <a:buChar char="•"/>
            </a:pPr>
            <a:r>
              <a:rPr lang="en-US" b="0" i="0" dirty="0">
                <a:effectLst/>
                <a:latin typeface="fkGroteskNeue"/>
              </a:rPr>
              <a:t>Useful for text files where data is read/written character by character.</a:t>
            </a:r>
          </a:p>
          <a:p>
            <a:pPr algn="l">
              <a:buFont typeface="Arial" panose="020B0604020202020204" pitchFamily="34" charset="0"/>
              <a:buChar char="•"/>
            </a:pPr>
            <a:r>
              <a:rPr lang="en-US" b="0" i="0" dirty="0">
                <a:effectLst/>
                <a:latin typeface="fkGroteskNeue"/>
              </a:rPr>
              <a:t>Automatically convert bytes to characters and vice versa, supporting internationalization due to Unicode usage.</a:t>
            </a:r>
          </a:p>
          <a:p>
            <a:pPr algn="l">
              <a:buFont typeface="Arial" panose="020B0604020202020204" pitchFamily="34" charset="0"/>
              <a:buChar char="•"/>
            </a:pPr>
            <a:r>
              <a:rPr lang="en-US" b="0" i="0" dirty="0">
                <a:effectLst/>
                <a:latin typeface="fkGroteskNeue"/>
              </a:rPr>
              <a:t>Common classes in Java end with Reader/Writer (e.g., FileReader, FileWriter).</a:t>
            </a:r>
          </a:p>
          <a:p>
            <a:pPr algn="l">
              <a:buFont typeface="Arial" panose="020B0604020202020204" pitchFamily="34" charset="0"/>
              <a:buChar char="•"/>
            </a:pPr>
            <a:r>
              <a:rPr lang="en-US" b="0" i="0" dirty="0">
                <a:effectLst/>
                <a:latin typeface="fkGroteskNeue"/>
              </a:rPr>
              <a:t>Used when processing text files or any data where character encoding matters.</a:t>
            </a:r>
          </a:p>
        </p:txBody>
      </p:sp>
      <p:sp>
        <p:nvSpPr>
          <p:cNvPr id="5" name="TextBox 4">
            <a:extLst>
              <a:ext uri="{FF2B5EF4-FFF2-40B4-BE49-F238E27FC236}">
                <a16:creationId xmlns:a16="http://schemas.microsoft.com/office/drawing/2014/main" id="{5CBC0FBC-B3AD-28A8-727C-39729470B1CD}"/>
              </a:ext>
            </a:extLst>
          </p:cNvPr>
          <p:cNvSpPr txBox="1"/>
          <p:nvPr/>
        </p:nvSpPr>
        <p:spPr>
          <a:xfrm>
            <a:off x="815009" y="2588351"/>
            <a:ext cx="8756374" cy="3970318"/>
          </a:xfrm>
          <a:prstGeom prst="rect">
            <a:avLst/>
          </a:prstGeom>
          <a:noFill/>
        </p:spPr>
        <p:txBody>
          <a:bodyPr wrap="square">
            <a:spAutoFit/>
          </a:bodyPr>
          <a:lstStyle/>
          <a:p>
            <a:r>
              <a:rPr lang="en-IN" b="1" dirty="0"/>
              <a:t>6.3 Reading/writing characters</a:t>
            </a:r>
          </a:p>
          <a:p>
            <a:endParaRPr lang="en-IN" dirty="0"/>
          </a:p>
          <a:p>
            <a:r>
              <a:rPr lang="en-US" dirty="0"/>
              <a:t>Reading and writing characters refers to operations that involve handling textual data, character by character, typically through character streams in programming languages like Java or through I/O functions in C.</a:t>
            </a:r>
            <a:r>
              <a:rPr lang="en-IN" dirty="0"/>
              <a:t> </a:t>
            </a:r>
          </a:p>
          <a:p>
            <a:endParaRPr lang="en-IN" dirty="0"/>
          </a:p>
          <a:p>
            <a:r>
              <a:rPr lang="en-US" b="1" dirty="0"/>
              <a:t>Reading Characters</a:t>
            </a:r>
          </a:p>
          <a:p>
            <a:pPr marL="285750" indent="-285750">
              <a:buFont typeface="Arial" panose="020B0604020202020204" pitchFamily="34" charset="0"/>
              <a:buChar char="•"/>
            </a:pPr>
            <a:r>
              <a:rPr lang="en-US" dirty="0"/>
              <a:t>Reading characters often involves using specialized classes or functions that process the input one character at a time.</a:t>
            </a:r>
          </a:p>
          <a:p>
            <a:endParaRPr lang="en-US" dirty="0"/>
          </a:p>
          <a:p>
            <a:pPr marL="285750" indent="-285750">
              <a:buFont typeface="Arial" panose="020B0604020202020204" pitchFamily="34" charset="0"/>
              <a:buChar char="•"/>
            </a:pPr>
            <a:r>
              <a:rPr lang="en-US" dirty="0"/>
              <a:t>For example, in Java, the Reader class and its subclasses (like FileReader, BufferedReader) are used. The method read() reads a single character and returns it as an integer; it returns -1 when the end of the stream is reached.</a:t>
            </a:r>
          </a:p>
        </p:txBody>
      </p:sp>
    </p:spTree>
    <p:extLst>
      <p:ext uri="{BB962C8B-B14F-4D97-AF65-F5344CB8AC3E}">
        <p14:creationId xmlns:p14="http://schemas.microsoft.com/office/powerpoint/2010/main" val="23809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A964E-27F7-DDA3-2779-149030BB6E4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3CEF38D-8132-E0B5-E25C-EDD11AC4EA61}"/>
              </a:ext>
            </a:extLst>
          </p:cNvPr>
          <p:cNvSpPr txBox="1"/>
          <p:nvPr/>
        </p:nvSpPr>
        <p:spPr>
          <a:xfrm>
            <a:off x="874644" y="130579"/>
            <a:ext cx="8497956" cy="6463308"/>
          </a:xfrm>
          <a:prstGeom prst="rect">
            <a:avLst/>
          </a:prstGeom>
          <a:noFill/>
        </p:spPr>
        <p:txBody>
          <a:bodyPr wrap="square">
            <a:spAutoFit/>
          </a:bodyPr>
          <a:lstStyle/>
          <a:p>
            <a:pPr algn="l">
              <a:buFont typeface="Arial" panose="020B0604020202020204" pitchFamily="34" charset="0"/>
              <a:buChar char="•"/>
            </a:pPr>
            <a:r>
              <a:rPr lang="en-US" b="0" i="0" dirty="0">
                <a:effectLst/>
                <a:latin typeface="fkGroteskNeue"/>
              </a:rPr>
              <a:t>Reading can be done in loops to process entire text files or streams character by character.</a:t>
            </a:r>
          </a:p>
          <a:p>
            <a:pPr algn="l"/>
            <a:endParaRPr lang="en-US" b="0" i="0" dirty="0">
              <a:effectLst/>
              <a:latin typeface="fkGroteskNeue"/>
            </a:endParaRPr>
          </a:p>
          <a:p>
            <a:pPr marL="285750" indent="-285750" algn="l">
              <a:buFont typeface="Wingdings" panose="05000000000000000000" pitchFamily="2" charset="2"/>
              <a:buChar char="Ø"/>
            </a:pPr>
            <a:r>
              <a:rPr lang="en-US" b="1" i="0" dirty="0">
                <a:effectLst/>
                <a:latin typeface="fkGrotesk"/>
              </a:rPr>
              <a:t>Writing Characters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Writing characters is done using the </a:t>
            </a:r>
            <a:r>
              <a:rPr lang="en-US" b="0" i="0" dirty="0">
                <a:effectLst/>
                <a:latin typeface="berkeleyMono"/>
              </a:rPr>
              <a:t>Writer</a:t>
            </a:r>
            <a:r>
              <a:rPr lang="en-US" b="0" i="0" dirty="0">
                <a:effectLst/>
                <a:latin typeface="fkGroteskNeue"/>
              </a:rPr>
              <a:t> class and its subclasses in Java, such as </a:t>
            </a:r>
            <a:r>
              <a:rPr lang="en-US" b="0" i="0" dirty="0">
                <a:effectLst/>
                <a:latin typeface="berkeleyMono"/>
              </a:rPr>
              <a:t>FileWriter</a:t>
            </a:r>
            <a:r>
              <a:rPr lang="en-US" b="0" i="0" dirty="0">
                <a:effectLst/>
                <a:latin typeface="fkGroteskNeue"/>
              </a:rPr>
              <a:t> and </a:t>
            </a:r>
            <a:r>
              <a:rPr lang="en-US" b="0" i="0" dirty="0">
                <a:effectLst/>
                <a:latin typeface="berkeleyMono"/>
              </a:rPr>
              <a:t>BufferedWriter</a:t>
            </a:r>
            <a:r>
              <a:rPr lang="en-US" b="0" i="0" dirty="0">
                <a:effectLst/>
                <a:latin typeface="fkGroteskNeue"/>
              </a:rPr>
              <a:t>.</a:t>
            </a:r>
          </a:p>
          <a:p>
            <a:pPr algn="l">
              <a:buFont typeface="Arial" panose="020B0604020202020204" pitchFamily="34" charset="0"/>
              <a:buChar char="•"/>
            </a:pPr>
            <a:r>
              <a:rPr lang="en-US" b="0" i="0" dirty="0">
                <a:effectLst/>
                <a:latin typeface="fkGroteskNeue"/>
              </a:rPr>
              <a:t>The </a:t>
            </a:r>
            <a:r>
              <a:rPr lang="en-US" b="0" i="0" dirty="0">
                <a:effectLst/>
                <a:latin typeface="berkeleyMono"/>
              </a:rPr>
              <a:t>write()</a:t>
            </a:r>
            <a:r>
              <a:rPr lang="en-US" b="0" i="0" dirty="0">
                <a:effectLst/>
                <a:latin typeface="fkGroteskNeue"/>
              </a:rPr>
              <a:t> method typically writes characters or arrays of characters to an output destination such as a file.</a:t>
            </a:r>
          </a:p>
          <a:p>
            <a:pPr algn="l">
              <a:buFont typeface="Arial" panose="020B0604020202020204" pitchFamily="34" charset="0"/>
              <a:buChar char="•"/>
            </a:pPr>
            <a:r>
              <a:rPr lang="en-US" b="0" i="0" dirty="0">
                <a:effectLst/>
                <a:latin typeface="fkGroteskNeue"/>
              </a:rPr>
              <a:t>This allows applications to output textual data to files or other character output destinations.</a:t>
            </a:r>
          </a:p>
          <a:p>
            <a:pPr algn="l">
              <a:buFont typeface="Arial" panose="020B0604020202020204" pitchFamily="34" charset="0"/>
              <a:buChar char="•"/>
            </a:pPr>
            <a:r>
              <a:rPr lang="en-US" b="0" i="0" dirty="0">
                <a:effectLst/>
                <a:latin typeface="fkGroteskNeue"/>
              </a:rPr>
              <a:t>In C, character I/O uses functions like </a:t>
            </a:r>
            <a:r>
              <a:rPr lang="en-US" b="0" i="0" dirty="0">
                <a:effectLst/>
                <a:latin typeface="berkeleyMono"/>
              </a:rPr>
              <a:t>fgetc()</a:t>
            </a:r>
            <a:r>
              <a:rPr lang="en-US" b="0" i="0" dirty="0">
                <a:effectLst/>
                <a:latin typeface="fkGroteskNeue"/>
              </a:rPr>
              <a:t> to read and </a:t>
            </a:r>
            <a:r>
              <a:rPr lang="en-US" b="0" i="0" dirty="0">
                <a:effectLst/>
                <a:latin typeface="berkeleyMono"/>
              </a:rPr>
              <a:t>fputc()</a:t>
            </a:r>
            <a:r>
              <a:rPr lang="en-US" b="0" i="0" dirty="0">
                <a:effectLst/>
                <a:latin typeface="fkGroteskNeue"/>
              </a:rPr>
              <a:t> to write single characters to files or streams.</a:t>
            </a:r>
          </a:p>
          <a:p>
            <a:pPr algn="l"/>
            <a:endParaRPr lang="en-US" b="0" i="0" dirty="0">
              <a:effectLst/>
              <a:latin typeface="fkGroteskNeue"/>
            </a:endParaRPr>
          </a:p>
          <a:p>
            <a:pPr algn="l">
              <a:buNone/>
            </a:pPr>
            <a:r>
              <a:rPr lang="en-US" b="1" i="0" dirty="0">
                <a:effectLst/>
                <a:latin typeface="fkGrotesk"/>
              </a:rPr>
              <a:t>Example in Java</a:t>
            </a:r>
          </a:p>
          <a:p>
            <a:pPr algn="l">
              <a:buNone/>
            </a:pPr>
            <a:endParaRPr lang="en-US" b="1" dirty="0">
              <a:latin typeface="fkGrotesk"/>
            </a:endParaRPr>
          </a:p>
          <a:p>
            <a:r>
              <a:rPr lang="en-US" dirty="0">
                <a:latin typeface="fkGrotesk"/>
              </a:rPr>
              <a:t>// Reading characters from a file using FileReader</a:t>
            </a:r>
          </a:p>
          <a:p>
            <a:r>
              <a:rPr lang="en-US" dirty="0">
                <a:latin typeface="fkGrotesk"/>
              </a:rPr>
              <a:t>FileReader reader = new FileReader("example.txt");</a:t>
            </a:r>
          </a:p>
          <a:p>
            <a:r>
              <a:rPr lang="en-US" dirty="0">
                <a:latin typeface="fkGrotesk"/>
              </a:rPr>
              <a:t>int c;</a:t>
            </a:r>
          </a:p>
          <a:p>
            <a:r>
              <a:rPr lang="en-US" dirty="0">
                <a:latin typeface="fkGrotesk"/>
              </a:rPr>
              <a:t>while((c = </a:t>
            </a:r>
            <a:r>
              <a:rPr lang="en-US" dirty="0" err="1">
                <a:latin typeface="fkGrotesk"/>
              </a:rPr>
              <a:t>reader.read</a:t>
            </a:r>
            <a:r>
              <a:rPr lang="en-US" dirty="0">
                <a:latin typeface="fkGrotesk"/>
              </a:rPr>
              <a:t>()) != -1) {</a:t>
            </a:r>
          </a:p>
          <a:p>
            <a:r>
              <a:rPr lang="en-US" dirty="0">
                <a:latin typeface="fkGrotesk"/>
              </a:rPr>
              <a:t>    </a:t>
            </a:r>
            <a:r>
              <a:rPr lang="en-US" dirty="0" err="1">
                <a:latin typeface="fkGrotesk"/>
              </a:rPr>
              <a:t>System.out.print</a:t>
            </a:r>
            <a:r>
              <a:rPr lang="en-US" dirty="0">
                <a:latin typeface="fkGrotesk"/>
              </a:rPr>
              <a:t>((char)c);</a:t>
            </a:r>
          </a:p>
          <a:p>
            <a:r>
              <a:rPr lang="en-US" dirty="0">
                <a:latin typeface="fkGrotesk"/>
              </a:rPr>
              <a:t>}</a:t>
            </a:r>
          </a:p>
          <a:p>
            <a:r>
              <a:rPr lang="en-US" dirty="0" err="1">
                <a:latin typeface="fkGrotesk"/>
              </a:rPr>
              <a:t>reader.close</a:t>
            </a:r>
            <a:r>
              <a:rPr lang="en-US" dirty="0">
                <a:latin typeface="fkGrotesk"/>
              </a:rPr>
              <a:t>();</a:t>
            </a:r>
          </a:p>
        </p:txBody>
      </p:sp>
    </p:spTree>
    <p:extLst>
      <p:ext uri="{BB962C8B-B14F-4D97-AF65-F5344CB8AC3E}">
        <p14:creationId xmlns:p14="http://schemas.microsoft.com/office/powerpoint/2010/main" val="1580931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08097-622A-FA7C-6A66-8423AAAEFD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5BFC40-DC1D-146A-E9D4-524FBE3FDE18}"/>
              </a:ext>
            </a:extLst>
          </p:cNvPr>
          <p:cNvSpPr txBox="1"/>
          <p:nvPr/>
        </p:nvSpPr>
        <p:spPr>
          <a:xfrm>
            <a:off x="805069" y="170336"/>
            <a:ext cx="8299174" cy="5632311"/>
          </a:xfrm>
          <a:prstGeom prst="rect">
            <a:avLst/>
          </a:prstGeom>
          <a:noFill/>
        </p:spPr>
        <p:txBody>
          <a:bodyPr wrap="square">
            <a:spAutoFit/>
          </a:bodyPr>
          <a:lstStyle/>
          <a:p>
            <a:r>
              <a:rPr lang="en-IN" dirty="0"/>
              <a:t>// Writing characters to a file using </a:t>
            </a:r>
            <a:r>
              <a:rPr lang="en-IN" dirty="0" err="1"/>
              <a:t>FileWriter</a:t>
            </a:r>
            <a:endParaRPr lang="en-IN" dirty="0"/>
          </a:p>
          <a:p>
            <a:r>
              <a:rPr lang="en-IN" dirty="0" err="1"/>
              <a:t>FileWriter</a:t>
            </a:r>
            <a:r>
              <a:rPr lang="en-IN" dirty="0"/>
              <a:t> writer = new </a:t>
            </a:r>
            <a:r>
              <a:rPr lang="en-IN" dirty="0" err="1"/>
              <a:t>FileWriter</a:t>
            </a:r>
            <a:r>
              <a:rPr lang="en-IN" dirty="0"/>
              <a:t>("output.txt");</a:t>
            </a:r>
          </a:p>
          <a:p>
            <a:r>
              <a:rPr lang="en-IN" dirty="0" err="1"/>
              <a:t>writer.write</a:t>
            </a:r>
            <a:r>
              <a:rPr lang="en-IN" dirty="0"/>
              <a:t>("Hello World");</a:t>
            </a:r>
          </a:p>
          <a:p>
            <a:r>
              <a:rPr lang="en-IN" dirty="0" err="1"/>
              <a:t>writer.close</a:t>
            </a:r>
            <a:r>
              <a:rPr lang="en-IN" dirty="0"/>
              <a:t>();</a:t>
            </a:r>
          </a:p>
          <a:p>
            <a:endParaRPr lang="en-IN" dirty="0"/>
          </a:p>
          <a:p>
            <a:r>
              <a:rPr lang="en-IN" b="1" dirty="0"/>
              <a:t>6.4 Reading/writing bytes</a:t>
            </a:r>
          </a:p>
          <a:p>
            <a:endParaRPr lang="en-IN" dirty="0"/>
          </a:p>
          <a:p>
            <a:r>
              <a:rPr lang="en-US" dirty="0"/>
              <a:t>Reading and writing bytes involves handling raw binary data, processing input and output at the level of individual bytes rather than characters.</a:t>
            </a:r>
          </a:p>
          <a:p>
            <a:endParaRPr lang="en-US" dirty="0"/>
          </a:p>
          <a:p>
            <a:r>
              <a:rPr lang="en-US" b="1" dirty="0"/>
              <a:t>Reading Bytes</a:t>
            </a:r>
          </a:p>
          <a:p>
            <a:endParaRPr lang="en-US" dirty="0"/>
          </a:p>
          <a:p>
            <a:pPr marL="285750" indent="-285750">
              <a:buFont typeface="Arial" panose="020B0604020202020204" pitchFamily="34" charset="0"/>
              <a:buChar char="•"/>
            </a:pPr>
            <a:r>
              <a:rPr lang="en-US" dirty="0"/>
              <a:t>Byte streams read data as raw 8-bit bytes.</a:t>
            </a:r>
          </a:p>
          <a:p>
            <a:pPr marL="285750" indent="-285750">
              <a:buFont typeface="Arial" panose="020B0604020202020204" pitchFamily="34" charset="0"/>
              <a:buChar char="•"/>
            </a:pPr>
            <a:r>
              <a:rPr lang="en-US" dirty="0"/>
              <a:t>In Java, classes like FileInputStream and </a:t>
            </a:r>
            <a:r>
              <a:rPr lang="en-US" dirty="0" err="1"/>
              <a:t>BufferedInputStream</a:t>
            </a:r>
            <a:r>
              <a:rPr lang="en-US" dirty="0"/>
              <a:t> are used for reading bytes from files or other input sources.</a:t>
            </a:r>
          </a:p>
          <a:p>
            <a:pPr marL="285750" indent="-285750">
              <a:buFont typeface="Arial" panose="020B0604020202020204" pitchFamily="34" charset="0"/>
              <a:buChar char="•"/>
            </a:pPr>
            <a:r>
              <a:rPr lang="en-US" dirty="0"/>
              <a:t>Reading method read() returns the next byte as an integer or -1 if end-of-file is reached.</a:t>
            </a:r>
          </a:p>
          <a:p>
            <a:pPr marL="285750" indent="-285750">
              <a:buFont typeface="Arial" panose="020B0604020202020204" pitchFamily="34" charset="0"/>
              <a:buChar char="•"/>
            </a:pPr>
            <a:r>
              <a:rPr lang="en-US" dirty="0"/>
              <a:t>Byte streams are useful for non-text files like images, audio, and executable files.</a:t>
            </a:r>
          </a:p>
          <a:p>
            <a:endParaRPr lang="en-IN" dirty="0"/>
          </a:p>
        </p:txBody>
      </p:sp>
    </p:spTree>
    <p:extLst>
      <p:ext uri="{BB962C8B-B14F-4D97-AF65-F5344CB8AC3E}">
        <p14:creationId xmlns:p14="http://schemas.microsoft.com/office/powerpoint/2010/main" val="2557010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10F44-533D-E0F1-0796-DF0C5DF6EC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CF177E-37D3-7B1A-0441-AD0D0F722136}"/>
              </a:ext>
            </a:extLst>
          </p:cNvPr>
          <p:cNvSpPr txBox="1"/>
          <p:nvPr/>
        </p:nvSpPr>
        <p:spPr>
          <a:xfrm>
            <a:off x="745435" y="128635"/>
            <a:ext cx="8865704" cy="5909310"/>
          </a:xfrm>
          <a:prstGeom prst="rect">
            <a:avLst/>
          </a:prstGeom>
          <a:noFill/>
        </p:spPr>
        <p:txBody>
          <a:bodyPr wrap="square">
            <a:spAutoFit/>
          </a:bodyPr>
          <a:lstStyle/>
          <a:p>
            <a:pPr algn="l">
              <a:buNone/>
            </a:pPr>
            <a:r>
              <a:rPr lang="en-US" b="1" i="0" dirty="0">
                <a:effectLst/>
                <a:latin typeface="fkGrotesk"/>
              </a:rPr>
              <a:t>Writing Bytes</a:t>
            </a:r>
          </a:p>
          <a:p>
            <a:pPr algn="l">
              <a:buNone/>
            </a:pPr>
            <a:endParaRPr lang="en-US" b="1" i="0" dirty="0">
              <a:effectLst/>
              <a:latin typeface="fkGrotesk"/>
            </a:endParaRPr>
          </a:p>
          <a:p>
            <a:pPr algn="l">
              <a:buFont typeface="Arial" panose="020B0604020202020204" pitchFamily="34" charset="0"/>
              <a:buChar char="•"/>
            </a:pPr>
            <a:r>
              <a:rPr lang="en-US" b="0" i="0" dirty="0">
                <a:effectLst/>
                <a:latin typeface="fkGroteskNeue"/>
              </a:rPr>
              <a:t>Writing bytes uses classes such as </a:t>
            </a:r>
            <a:r>
              <a:rPr lang="en-US" b="0" i="0" dirty="0">
                <a:effectLst/>
                <a:latin typeface="berkeleyMono"/>
              </a:rPr>
              <a:t>FileOutputStream</a:t>
            </a:r>
            <a:r>
              <a:rPr lang="en-US" b="0" i="0" dirty="0">
                <a:effectLst/>
                <a:latin typeface="fkGroteskNeue"/>
              </a:rPr>
              <a:t> and </a:t>
            </a:r>
            <a:r>
              <a:rPr lang="en-US" b="0" i="0" dirty="0">
                <a:effectLst/>
                <a:latin typeface="berkeleyMono"/>
              </a:rPr>
              <a:t>BufferedOutputStream</a:t>
            </a:r>
            <a:r>
              <a:rPr lang="en-US" b="0" i="0" dirty="0">
                <a:effectLst/>
                <a:latin typeface="fkGroteskNeue"/>
              </a:rPr>
              <a:t>.</a:t>
            </a:r>
          </a:p>
          <a:p>
            <a:pPr algn="l">
              <a:buFont typeface="Arial" panose="020B0604020202020204" pitchFamily="34" charset="0"/>
              <a:buChar char="•"/>
            </a:pPr>
            <a:r>
              <a:rPr lang="en-US" b="0" i="0" dirty="0">
                <a:effectLst/>
                <a:latin typeface="fkGroteskNeue"/>
              </a:rPr>
              <a:t>The </a:t>
            </a:r>
            <a:r>
              <a:rPr lang="en-US" b="0" i="0" dirty="0">
                <a:effectLst/>
                <a:latin typeface="berkeleyMono"/>
              </a:rPr>
              <a:t>write(byte[] b)</a:t>
            </a:r>
            <a:r>
              <a:rPr lang="en-US" b="0" i="0" dirty="0">
                <a:effectLst/>
                <a:latin typeface="fkGroteskNeue"/>
              </a:rPr>
              <a:t> method writes an array of bytes to the output destination.</a:t>
            </a:r>
          </a:p>
          <a:p>
            <a:pPr algn="l">
              <a:buFont typeface="Arial" panose="020B0604020202020204" pitchFamily="34" charset="0"/>
              <a:buChar char="•"/>
            </a:pPr>
            <a:r>
              <a:rPr lang="en-US" b="0" i="0" dirty="0">
                <a:effectLst/>
                <a:latin typeface="fkGroteskNeue"/>
              </a:rPr>
              <a:t>Data such as strings must be converted to bytes before writing, commonly with the </a:t>
            </a:r>
            <a:r>
              <a:rPr lang="en-US" b="0" i="0" dirty="0" err="1">
                <a:effectLst/>
                <a:latin typeface="berkeleyMono"/>
              </a:rPr>
              <a:t>getBytes</a:t>
            </a:r>
            <a:r>
              <a:rPr lang="en-US" b="0" i="0" dirty="0">
                <a:effectLst/>
                <a:latin typeface="berkeleyMono"/>
              </a:rPr>
              <a:t>()</a:t>
            </a:r>
            <a:r>
              <a:rPr lang="en-US" b="0" i="0" dirty="0">
                <a:effectLst/>
                <a:latin typeface="fkGroteskNeue"/>
              </a:rPr>
              <a:t> method of strings.</a:t>
            </a:r>
          </a:p>
          <a:p>
            <a:pPr algn="l">
              <a:buFont typeface="Arial" panose="020B0604020202020204" pitchFamily="34" charset="0"/>
              <a:buChar char="•"/>
            </a:pPr>
            <a:r>
              <a:rPr lang="en-US" b="0" i="0" dirty="0">
                <a:effectLst/>
                <a:latin typeface="fkGroteskNeue"/>
              </a:rPr>
              <a:t>This process ensures exact binary data replication and is critical for binary file I/O.</a:t>
            </a:r>
          </a:p>
          <a:p>
            <a:pPr algn="l">
              <a:buFont typeface="Arial" panose="020B0604020202020204" pitchFamily="34" charset="0"/>
              <a:buChar char="•"/>
            </a:pPr>
            <a:endParaRPr lang="en-US" dirty="0">
              <a:latin typeface="fkGroteskNeue"/>
            </a:endParaRPr>
          </a:p>
          <a:p>
            <a:r>
              <a:rPr lang="en-US" b="1" dirty="0"/>
              <a:t>Key Points</a:t>
            </a:r>
          </a:p>
          <a:p>
            <a:endParaRPr lang="en-US" dirty="0"/>
          </a:p>
          <a:p>
            <a:pPr marL="285750" indent="-285750">
              <a:buFont typeface="Arial" panose="020B0604020202020204" pitchFamily="34" charset="0"/>
              <a:buChar char="•"/>
            </a:pPr>
            <a:r>
              <a:rPr lang="en-US" dirty="0"/>
              <a:t>Byte I/O operations work directly with byte arrays and streams providing unbuffered or buffered data transfer.</a:t>
            </a:r>
          </a:p>
          <a:p>
            <a:pPr marL="285750" indent="-285750">
              <a:buFont typeface="Arial" panose="020B0604020202020204" pitchFamily="34" charset="0"/>
              <a:buChar char="•"/>
            </a:pPr>
            <a:r>
              <a:rPr lang="en-US" dirty="0"/>
              <a:t>Byte streams do not perform character encoding or decoding, which makes them suitable for any binary data handling.</a:t>
            </a:r>
          </a:p>
          <a:p>
            <a:pPr marL="285750" indent="-285750">
              <a:buFont typeface="Arial" panose="020B0604020202020204" pitchFamily="34" charset="0"/>
              <a:buChar char="•"/>
            </a:pPr>
            <a:r>
              <a:rPr lang="en-US" dirty="0"/>
              <a:t>Performance can be improved by buffering data to minimize costly physical I/O operations.</a:t>
            </a:r>
          </a:p>
          <a:p>
            <a:endParaRPr lang="en-US" dirty="0"/>
          </a:p>
          <a:p>
            <a:r>
              <a:rPr lang="en-IN" b="1" dirty="0"/>
              <a:t>Example in Java</a:t>
            </a:r>
          </a:p>
          <a:p>
            <a:br>
              <a:rPr lang="en-IN" dirty="0"/>
            </a:br>
            <a:endParaRPr lang="en-US" dirty="0"/>
          </a:p>
          <a:p>
            <a:pPr algn="l"/>
            <a:endParaRPr lang="en-US" b="0" i="0" dirty="0">
              <a:effectLst/>
              <a:latin typeface="fkGroteskNeue"/>
            </a:endParaRPr>
          </a:p>
        </p:txBody>
      </p:sp>
    </p:spTree>
    <p:extLst>
      <p:ext uri="{BB962C8B-B14F-4D97-AF65-F5344CB8AC3E}">
        <p14:creationId xmlns:p14="http://schemas.microsoft.com/office/powerpoint/2010/main" val="3415215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8D7D5-1421-3C77-D164-36A6F47FD90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A14A39F-9DBA-85A8-4F61-5F1B03F5966C}"/>
              </a:ext>
            </a:extLst>
          </p:cNvPr>
          <p:cNvSpPr txBox="1"/>
          <p:nvPr/>
        </p:nvSpPr>
        <p:spPr>
          <a:xfrm>
            <a:off x="805070" y="172281"/>
            <a:ext cx="8925339" cy="4524315"/>
          </a:xfrm>
          <a:prstGeom prst="rect">
            <a:avLst/>
          </a:prstGeom>
          <a:noFill/>
        </p:spPr>
        <p:txBody>
          <a:bodyPr wrap="square">
            <a:spAutoFit/>
          </a:bodyPr>
          <a:lstStyle/>
          <a:p>
            <a:r>
              <a:rPr lang="en-IN" dirty="0"/>
              <a:t>// Reading bytes from a file</a:t>
            </a:r>
          </a:p>
          <a:p>
            <a:r>
              <a:rPr lang="en-IN" dirty="0"/>
              <a:t>FileInputStream input = new FileInputStream("inputfile.bin");</a:t>
            </a:r>
          </a:p>
          <a:p>
            <a:r>
              <a:rPr lang="en-IN" dirty="0"/>
              <a:t>int byteData;</a:t>
            </a:r>
          </a:p>
          <a:p>
            <a:r>
              <a:rPr lang="en-IN" dirty="0"/>
              <a:t>while ((byteData = input.read()) != -1) {</a:t>
            </a:r>
          </a:p>
          <a:p>
            <a:r>
              <a:rPr lang="en-IN" dirty="0"/>
              <a:t>    System.out.print(byteData + " ");</a:t>
            </a:r>
          </a:p>
          <a:p>
            <a:r>
              <a:rPr lang="en-IN" dirty="0"/>
              <a:t>}</a:t>
            </a:r>
          </a:p>
          <a:p>
            <a:r>
              <a:rPr lang="en-IN" dirty="0"/>
              <a:t>input.close();</a:t>
            </a:r>
          </a:p>
          <a:p>
            <a:endParaRPr lang="en-IN" dirty="0"/>
          </a:p>
          <a:p>
            <a:r>
              <a:rPr lang="en-IN" dirty="0"/>
              <a:t>// Writing bytes to a file</a:t>
            </a:r>
          </a:p>
          <a:p>
            <a:r>
              <a:rPr lang="en-IN" dirty="0"/>
              <a:t>FileOutputStream output = new FileOutputStream("outputfile.bin");</a:t>
            </a:r>
          </a:p>
          <a:p>
            <a:r>
              <a:rPr lang="en-IN" dirty="0"/>
              <a:t>byte[] data = "</a:t>
            </a:r>
            <a:r>
              <a:rPr lang="en-IN" dirty="0" err="1"/>
              <a:t>Hello".getBytes</a:t>
            </a:r>
            <a:r>
              <a:rPr lang="en-IN" dirty="0"/>
              <a:t>();</a:t>
            </a:r>
          </a:p>
          <a:p>
            <a:r>
              <a:rPr lang="en-IN" dirty="0"/>
              <a:t>output.write(data);</a:t>
            </a:r>
          </a:p>
          <a:p>
            <a:r>
              <a:rPr lang="en-IN" dirty="0"/>
              <a:t>output.close();</a:t>
            </a:r>
          </a:p>
          <a:p>
            <a:endParaRPr lang="en-IN" dirty="0"/>
          </a:p>
          <a:p>
            <a:r>
              <a:rPr lang="en-US" dirty="0"/>
              <a:t>This approach is essential for applications working with raw data or files where byte-exact copying is required.</a:t>
            </a:r>
            <a:endParaRPr lang="en-IN" dirty="0"/>
          </a:p>
        </p:txBody>
      </p:sp>
    </p:spTree>
    <p:extLst>
      <p:ext uri="{BB962C8B-B14F-4D97-AF65-F5344CB8AC3E}">
        <p14:creationId xmlns:p14="http://schemas.microsoft.com/office/powerpoint/2010/main" val="4197944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14CBC-7C89-49B2-D16B-6FAB67A0B1A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1E465F-8094-7553-F0E8-4C077F15A893}"/>
              </a:ext>
            </a:extLst>
          </p:cNvPr>
          <p:cNvSpPr txBox="1"/>
          <p:nvPr/>
        </p:nvSpPr>
        <p:spPr>
          <a:xfrm>
            <a:off x="805068" y="143326"/>
            <a:ext cx="8796132" cy="3970318"/>
          </a:xfrm>
          <a:prstGeom prst="rect">
            <a:avLst/>
          </a:prstGeom>
          <a:noFill/>
        </p:spPr>
        <p:txBody>
          <a:bodyPr wrap="square">
            <a:spAutoFit/>
          </a:bodyPr>
          <a:lstStyle/>
          <a:p>
            <a:r>
              <a:rPr lang="en-IN" b="1" dirty="0"/>
              <a:t>6.5 Files and Directories </a:t>
            </a:r>
          </a:p>
          <a:p>
            <a:endParaRPr lang="en-IN" dirty="0"/>
          </a:p>
          <a:p>
            <a:r>
              <a:rPr lang="en-US" dirty="0"/>
              <a:t>Files and directories form the organizational structure of data storage on computer systems, enabling efficient management and access to data.</a:t>
            </a:r>
          </a:p>
          <a:p>
            <a:endParaRPr lang="en-US" dirty="0"/>
          </a:p>
          <a:p>
            <a:r>
              <a:rPr lang="en-US" b="1" dirty="0"/>
              <a:t>Files</a:t>
            </a:r>
          </a:p>
          <a:p>
            <a:endParaRPr lang="en-US" dirty="0"/>
          </a:p>
          <a:p>
            <a:pPr marL="285750" indent="-285750">
              <a:buFont typeface="Arial" panose="020B0604020202020204" pitchFamily="34" charset="0"/>
              <a:buChar char="•"/>
            </a:pPr>
            <a:r>
              <a:rPr lang="en-US" dirty="0"/>
              <a:t>A file is a named collection of related data stored on secondary storage like a disk.</a:t>
            </a:r>
          </a:p>
          <a:p>
            <a:pPr marL="285750" indent="-285750">
              <a:buFont typeface="Arial" panose="020B0604020202020204" pitchFamily="34" charset="0"/>
              <a:buChar char="•"/>
            </a:pPr>
            <a:r>
              <a:rPr lang="en-US" dirty="0"/>
              <a:t>Files can store programs, text, images, or any digital information.</a:t>
            </a:r>
          </a:p>
          <a:p>
            <a:pPr marL="285750" indent="-285750">
              <a:buFont typeface="Arial" panose="020B0604020202020204" pitchFamily="34" charset="0"/>
              <a:buChar char="•"/>
            </a:pPr>
            <a:r>
              <a:rPr lang="en-US" dirty="0"/>
              <a:t>Each file has attributes such as name, extension, size, permissions, owner, and timestamps.</a:t>
            </a:r>
          </a:p>
          <a:p>
            <a:pPr marL="285750" indent="-285750">
              <a:buFont typeface="Arial" panose="020B0604020202020204" pitchFamily="34" charset="0"/>
              <a:buChar char="•"/>
            </a:pPr>
            <a:r>
              <a:rPr lang="en-US" dirty="0"/>
              <a:t>File extensions (e.g., .txt, .exe) indicate the file type and its intended use.</a:t>
            </a:r>
          </a:p>
          <a:p>
            <a:endParaRPr lang="en-IN" dirty="0"/>
          </a:p>
        </p:txBody>
      </p:sp>
      <p:sp>
        <p:nvSpPr>
          <p:cNvPr id="5" name="TextBox 4">
            <a:extLst>
              <a:ext uri="{FF2B5EF4-FFF2-40B4-BE49-F238E27FC236}">
                <a16:creationId xmlns:a16="http://schemas.microsoft.com/office/drawing/2014/main" id="{E73D7E3F-5854-679F-9CDF-1FD691EDEDC4}"/>
              </a:ext>
            </a:extLst>
          </p:cNvPr>
          <p:cNvSpPr txBox="1"/>
          <p:nvPr/>
        </p:nvSpPr>
        <p:spPr>
          <a:xfrm>
            <a:off x="805068" y="4113644"/>
            <a:ext cx="8875645" cy="2308324"/>
          </a:xfrm>
          <a:prstGeom prst="rect">
            <a:avLst/>
          </a:prstGeom>
          <a:noFill/>
        </p:spPr>
        <p:txBody>
          <a:bodyPr wrap="square">
            <a:spAutoFit/>
          </a:bodyPr>
          <a:lstStyle/>
          <a:p>
            <a:pPr algn="l">
              <a:buNone/>
            </a:pPr>
            <a:r>
              <a:rPr lang="en-US" b="1" i="0" dirty="0">
                <a:effectLst/>
                <a:latin typeface="fkGrotesk"/>
              </a:rPr>
              <a:t>Directories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A directory is a special kind of file that holds references (names and locations) to other files and subdirectories.</a:t>
            </a:r>
          </a:p>
          <a:p>
            <a:pPr algn="l">
              <a:buFont typeface="Arial" panose="020B0604020202020204" pitchFamily="34" charset="0"/>
              <a:buChar char="•"/>
            </a:pPr>
            <a:r>
              <a:rPr lang="en-US" b="0" i="0" dirty="0">
                <a:effectLst/>
                <a:latin typeface="fkGroteskNeue"/>
              </a:rPr>
              <a:t>It organizes files hierarchically, creating a tree-like structure for easy navigation and management.</a:t>
            </a:r>
          </a:p>
          <a:p>
            <a:pPr algn="l">
              <a:buFont typeface="Arial" panose="020B0604020202020204" pitchFamily="34" charset="0"/>
              <a:buChar char="•"/>
            </a:pPr>
            <a:r>
              <a:rPr lang="en-US" b="0" i="0" dirty="0">
                <a:effectLst/>
                <a:latin typeface="fkGroteskNeue"/>
              </a:rPr>
              <a:t>Directories enable grouping of related files and support nested directory/subdirectory structures</a:t>
            </a:r>
          </a:p>
        </p:txBody>
      </p:sp>
    </p:spTree>
    <p:extLst>
      <p:ext uri="{BB962C8B-B14F-4D97-AF65-F5344CB8AC3E}">
        <p14:creationId xmlns:p14="http://schemas.microsoft.com/office/powerpoint/2010/main" val="1702901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586DE-6140-DC0E-F18C-26E4E816BB8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4C8999C-246C-5736-B2E4-7F14C0D5D8B1}"/>
              </a:ext>
            </a:extLst>
          </p:cNvPr>
          <p:cNvSpPr txBox="1"/>
          <p:nvPr/>
        </p:nvSpPr>
        <p:spPr>
          <a:xfrm>
            <a:off x="805069" y="152403"/>
            <a:ext cx="8587409" cy="6186309"/>
          </a:xfrm>
          <a:prstGeom prst="rect">
            <a:avLst/>
          </a:prstGeom>
          <a:noFill/>
        </p:spPr>
        <p:txBody>
          <a:bodyPr wrap="square">
            <a:spAutoFit/>
          </a:bodyPr>
          <a:lstStyle/>
          <a:p>
            <a:pPr algn="l">
              <a:buNone/>
            </a:pPr>
            <a:r>
              <a:rPr lang="en-US" b="1" i="0" dirty="0">
                <a:effectLst/>
                <a:latin typeface="fkGrotesk"/>
              </a:rPr>
              <a:t>Directory Structures</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Single-Level Directory: All files are in one directory; simple but not scalable.</a:t>
            </a:r>
          </a:p>
          <a:p>
            <a:pPr algn="l">
              <a:buFont typeface="Arial" panose="020B0604020202020204" pitchFamily="34" charset="0"/>
              <a:buChar char="•"/>
            </a:pPr>
            <a:r>
              <a:rPr lang="en-US" b="0" i="0" dirty="0">
                <a:effectLst/>
                <a:latin typeface="fkGroteskNeue"/>
              </a:rPr>
              <a:t>Two-Level Directory: Each user has their own directory containing their files; better isolation.</a:t>
            </a:r>
          </a:p>
          <a:p>
            <a:pPr algn="l">
              <a:buFont typeface="Arial" panose="020B0604020202020204" pitchFamily="34" charset="0"/>
              <a:buChar char="•"/>
            </a:pPr>
            <a:r>
              <a:rPr lang="en-US" b="0" i="0" dirty="0">
                <a:effectLst/>
                <a:latin typeface="fkGroteskNeue"/>
              </a:rPr>
              <a:t>Tree-Structured Directory: Hierarchical directory with nested folders/subfolders; most common in modern OSs.</a:t>
            </a:r>
          </a:p>
          <a:p>
            <a:pPr algn="l">
              <a:buFont typeface="Arial" panose="020B0604020202020204" pitchFamily="34" charset="0"/>
              <a:buChar char="•"/>
            </a:pPr>
            <a:endParaRPr lang="en-US" b="0" i="0" dirty="0">
              <a:effectLst/>
              <a:latin typeface="fkGroteskNeue"/>
            </a:endParaRPr>
          </a:p>
          <a:p>
            <a:pPr algn="l">
              <a:buNone/>
            </a:pPr>
            <a:r>
              <a:rPr lang="en-US" b="1" i="0" dirty="0">
                <a:effectLst/>
                <a:latin typeface="fkGrotesk"/>
              </a:rPr>
              <a:t>File System Role</a:t>
            </a:r>
          </a:p>
          <a:p>
            <a:pPr algn="l">
              <a:buNone/>
            </a:pPr>
            <a:endParaRPr lang="en-US" b="0" i="0" dirty="0">
              <a:effectLst/>
              <a:latin typeface="fkGrotesk"/>
            </a:endParaRPr>
          </a:p>
          <a:p>
            <a:pPr algn="l">
              <a:buFont typeface="Arial" panose="020B0604020202020204" pitchFamily="34" charset="0"/>
              <a:buChar char="•"/>
            </a:pPr>
            <a:r>
              <a:rPr lang="en-US" b="0" i="0" dirty="0">
                <a:effectLst/>
                <a:latin typeface="fkGroteskNeue"/>
              </a:rPr>
              <a:t>The file system manages file names, storage locations, and space allocation.</a:t>
            </a:r>
          </a:p>
          <a:p>
            <a:pPr algn="l">
              <a:buFont typeface="Arial" panose="020B0604020202020204" pitchFamily="34" charset="0"/>
              <a:buChar char="•"/>
            </a:pPr>
            <a:r>
              <a:rPr lang="en-US" b="0" i="0" dirty="0">
                <a:effectLst/>
                <a:latin typeface="fkGroteskNeue"/>
              </a:rPr>
              <a:t>It maps file names to physical locations on disk using structures like </a:t>
            </a:r>
            <a:r>
              <a:rPr lang="en-US" b="0" i="0" dirty="0" err="1">
                <a:effectLst/>
                <a:latin typeface="fkGroteskNeue"/>
              </a:rPr>
              <a:t>inodes</a:t>
            </a:r>
            <a:r>
              <a:rPr lang="en-US" b="0" i="0" dirty="0">
                <a:effectLst/>
                <a:latin typeface="fkGroteskNeue"/>
              </a:rPr>
              <a:t> (UNIX) or file allocation tables (FAT, NTFS in Windows).</a:t>
            </a:r>
          </a:p>
          <a:p>
            <a:pPr algn="l">
              <a:buFont typeface="Arial" panose="020B0604020202020204" pitchFamily="34" charset="0"/>
              <a:buChar char="•"/>
            </a:pPr>
            <a:r>
              <a:rPr lang="en-US" b="0" i="0" dirty="0">
                <a:effectLst/>
                <a:latin typeface="fkGroteskNeue"/>
              </a:rPr>
              <a:t>It ensures protection, access control, and reliability, preserving data integrity even during crashes.</a:t>
            </a:r>
          </a:p>
          <a:p>
            <a:pPr algn="l">
              <a:buFont typeface="Arial" panose="020B0604020202020204" pitchFamily="34" charset="0"/>
              <a:buChar char="•"/>
            </a:pPr>
            <a:endParaRPr lang="en-US" dirty="0">
              <a:latin typeface="fkGroteskNeue"/>
            </a:endParaRPr>
          </a:p>
          <a:p>
            <a:r>
              <a:rPr lang="en-US" b="1" dirty="0"/>
              <a:t>Java Directory Operations</a:t>
            </a:r>
          </a:p>
          <a:p>
            <a:endParaRPr lang="en-US" dirty="0"/>
          </a:p>
          <a:p>
            <a:pPr marL="285750" indent="-285750">
              <a:buFont typeface="Arial" panose="020B0604020202020204" pitchFamily="34" charset="0"/>
              <a:buChar char="•"/>
            </a:pPr>
            <a:r>
              <a:rPr lang="en-US" dirty="0">
                <a:latin typeface="fkGroteskNeue"/>
              </a:rPr>
              <a:t>In Java, directories can be manipulated using the File class.</a:t>
            </a:r>
          </a:p>
          <a:p>
            <a:pPr marL="285750" indent="-285750">
              <a:buFont typeface="Arial" panose="020B0604020202020204" pitchFamily="34" charset="0"/>
              <a:buChar char="•"/>
            </a:pPr>
            <a:r>
              <a:rPr lang="en-US" dirty="0">
                <a:latin typeface="fkGroteskNeue"/>
              </a:rPr>
              <a:t>Methods like mkdir() and mkdirs() create directories and subdirectories.</a:t>
            </a:r>
          </a:p>
          <a:p>
            <a:pPr marL="285750" indent="-285750">
              <a:buFont typeface="Arial" panose="020B0604020202020204" pitchFamily="34" charset="0"/>
              <a:buChar char="•"/>
            </a:pPr>
            <a:r>
              <a:rPr lang="en-US" dirty="0">
                <a:latin typeface="fkGroteskNeue"/>
              </a:rPr>
              <a:t>The File class also provides ways to list files within directories</a:t>
            </a:r>
          </a:p>
          <a:p>
            <a:pPr algn="l"/>
            <a:endParaRPr lang="en-US" b="0" i="0" dirty="0">
              <a:effectLst/>
              <a:latin typeface="fkGroteskNeue"/>
            </a:endParaRPr>
          </a:p>
        </p:txBody>
      </p:sp>
    </p:spTree>
    <p:extLst>
      <p:ext uri="{BB962C8B-B14F-4D97-AF65-F5344CB8AC3E}">
        <p14:creationId xmlns:p14="http://schemas.microsoft.com/office/powerpoint/2010/main" val="3525544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AD8E-88EB-EEED-F61B-CBC5A3AF4F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4B3052F-AB94-7F9A-3B44-D0B2542234AF}"/>
              </a:ext>
            </a:extLst>
          </p:cNvPr>
          <p:cNvSpPr txBox="1"/>
          <p:nvPr/>
        </p:nvSpPr>
        <p:spPr>
          <a:xfrm>
            <a:off x="974034" y="153265"/>
            <a:ext cx="8239539" cy="6740307"/>
          </a:xfrm>
          <a:prstGeom prst="rect">
            <a:avLst/>
          </a:prstGeom>
          <a:noFill/>
        </p:spPr>
        <p:txBody>
          <a:bodyPr wrap="square">
            <a:spAutoFit/>
          </a:bodyPr>
          <a:lstStyle/>
          <a:p>
            <a:r>
              <a:rPr lang="en-IN" b="1" dirty="0"/>
              <a:t>6.6 Creating files/directories </a:t>
            </a:r>
          </a:p>
          <a:p>
            <a:endParaRPr lang="en-IN" dirty="0"/>
          </a:p>
          <a:p>
            <a:r>
              <a:rPr lang="en-US" dirty="0"/>
              <a:t>Creating files and directories involves system operations to allocate storage space and set up organizational structures for managing data.</a:t>
            </a:r>
          </a:p>
          <a:p>
            <a:endParaRPr lang="en-US" dirty="0"/>
          </a:p>
          <a:p>
            <a:r>
              <a:rPr lang="en-US" b="1" dirty="0"/>
              <a:t>Creating Files</a:t>
            </a:r>
          </a:p>
          <a:p>
            <a:endParaRPr lang="en-US" dirty="0"/>
          </a:p>
          <a:p>
            <a:pPr marL="285750" indent="-285750">
              <a:buFont typeface="Arial" panose="020B0604020202020204" pitchFamily="34" charset="0"/>
              <a:buChar char="•"/>
            </a:pPr>
            <a:r>
              <a:rPr lang="en-US" dirty="0"/>
              <a:t>Creating a file typically involves two steps: allocating space in the file system and registering the file in the directory structure.</a:t>
            </a:r>
          </a:p>
          <a:p>
            <a:pPr marL="285750" indent="-285750">
              <a:buFont typeface="Arial" panose="020B0604020202020204" pitchFamily="34" charset="0"/>
              <a:buChar char="•"/>
            </a:pPr>
            <a:r>
              <a:rPr lang="en-US" dirty="0"/>
              <a:t>In programming, files can be created using system calls or APIs like createNewFile() in Java's File class.</a:t>
            </a:r>
          </a:p>
          <a:p>
            <a:pPr marL="285750" indent="-285750">
              <a:buFont typeface="Arial" panose="020B0604020202020204" pitchFamily="34" charset="0"/>
              <a:buChar char="•"/>
            </a:pPr>
            <a:r>
              <a:rPr lang="en-US" dirty="0"/>
              <a:t>The createNewFile() method creates an empty file if it does not already exist, returning true if successful or false if the file exists.</a:t>
            </a:r>
          </a:p>
          <a:p>
            <a:pPr marL="285750" indent="-285750">
              <a:buFont typeface="Arial" panose="020B0604020202020204" pitchFamily="34" charset="0"/>
              <a:buChar char="•"/>
            </a:pPr>
            <a:r>
              <a:rPr lang="en-US" dirty="0"/>
              <a:t>In command-line environments, creating a file can be as simple as using commands like touch filename in Linux or creating new text files in file explorers</a:t>
            </a:r>
          </a:p>
          <a:p>
            <a:endParaRPr lang="en-IN" dirty="0"/>
          </a:p>
          <a:p>
            <a:r>
              <a:rPr lang="en-US" b="1" dirty="0"/>
              <a:t>Creating Directories</a:t>
            </a:r>
          </a:p>
          <a:p>
            <a:endParaRPr lang="en-US" dirty="0"/>
          </a:p>
          <a:p>
            <a:pPr marL="285750" indent="-285750">
              <a:buFont typeface="Arial" panose="020B0604020202020204" pitchFamily="34" charset="0"/>
              <a:buChar char="•"/>
            </a:pPr>
            <a:r>
              <a:rPr lang="en-US" dirty="0"/>
              <a:t>Creating a directory involves creating a new entry in the file system and setting up default directory entries for . (self) and .. (parent).</a:t>
            </a:r>
          </a:p>
          <a:p>
            <a:pPr marL="285750" indent="-285750">
              <a:buFont typeface="Arial" panose="020B0604020202020204" pitchFamily="34" charset="0"/>
              <a:buChar char="•"/>
            </a:pPr>
            <a:r>
              <a:rPr lang="en-US" dirty="0"/>
              <a:t>Directories can be created using system calls like mkdir() or commands like mkdir in terminal shells.</a:t>
            </a:r>
          </a:p>
          <a:p>
            <a:endParaRPr lang="en-US" dirty="0"/>
          </a:p>
        </p:txBody>
      </p:sp>
    </p:spTree>
    <p:extLst>
      <p:ext uri="{BB962C8B-B14F-4D97-AF65-F5344CB8AC3E}">
        <p14:creationId xmlns:p14="http://schemas.microsoft.com/office/powerpoint/2010/main" val="2106522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0C1F9-5BE1-A51F-839F-8678CDE597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6D8505-C7B1-21B7-A077-BB47EA9F7DF7}"/>
              </a:ext>
            </a:extLst>
          </p:cNvPr>
          <p:cNvSpPr txBox="1"/>
          <p:nvPr/>
        </p:nvSpPr>
        <p:spPr>
          <a:xfrm>
            <a:off x="854765" y="130579"/>
            <a:ext cx="8458200" cy="6186309"/>
          </a:xfrm>
          <a:prstGeom prst="rect">
            <a:avLst/>
          </a:prstGeom>
          <a:noFill/>
        </p:spPr>
        <p:txBody>
          <a:bodyPr wrap="square">
            <a:spAutoFit/>
          </a:bodyPr>
          <a:lstStyle/>
          <a:p>
            <a:pPr marL="285750" indent="-285750" algn="l">
              <a:buFont typeface="Arial" panose="020B0604020202020204" pitchFamily="34" charset="0"/>
              <a:buChar char="•"/>
            </a:pPr>
            <a:r>
              <a:rPr lang="en-US" b="0" i="0" dirty="0">
                <a:effectLst/>
                <a:latin typeface="fkGroteskNeue"/>
              </a:rPr>
              <a:t>In Java, the </a:t>
            </a:r>
            <a:r>
              <a:rPr lang="en-US" b="0" i="0" dirty="0">
                <a:effectLst/>
                <a:latin typeface="berkeleyMono"/>
              </a:rPr>
              <a:t>mkdir()</a:t>
            </a:r>
            <a:r>
              <a:rPr lang="en-US" b="0" i="0" dirty="0">
                <a:effectLst/>
                <a:latin typeface="fkGroteskNeue"/>
              </a:rPr>
              <a:t> method creates a single directory, while </a:t>
            </a:r>
            <a:r>
              <a:rPr lang="en-US" b="0" i="0" dirty="0">
                <a:effectLst/>
                <a:latin typeface="berkeleyMono"/>
              </a:rPr>
              <a:t>mkdirs()</a:t>
            </a:r>
            <a:r>
              <a:rPr lang="en-US" b="0" i="0" dirty="0">
                <a:effectLst/>
                <a:latin typeface="fkGroteskNeue"/>
              </a:rPr>
              <a:t> creates necessary parent directories along the specified path if they do not exist, both returning a boolean for success/failure.</a:t>
            </a:r>
          </a:p>
          <a:p>
            <a:pPr marL="285750" indent="-285750" algn="l">
              <a:buFont typeface="Arial" panose="020B0604020202020204" pitchFamily="34" charset="0"/>
              <a:buChar char="•"/>
            </a:pPr>
            <a:r>
              <a:rPr lang="en-US" b="0" i="0" dirty="0">
                <a:effectLst/>
                <a:latin typeface="fkGroteskNeue"/>
              </a:rPr>
              <a:t>Directory creation supports organizing files hierarchically for better file system management.</a:t>
            </a:r>
          </a:p>
          <a:p>
            <a:pPr marL="285750" indent="-285750" algn="l">
              <a:buFont typeface="Arial" panose="020B0604020202020204" pitchFamily="34" charset="0"/>
              <a:buChar char="•"/>
            </a:pPr>
            <a:endParaRPr lang="en-US" dirty="0">
              <a:latin typeface="fkGroteskNeue"/>
            </a:endParaRPr>
          </a:p>
          <a:p>
            <a:r>
              <a:rPr lang="en-IN" dirty="0"/>
              <a:t>Example in Java</a:t>
            </a:r>
          </a:p>
          <a:p>
            <a:br>
              <a:rPr lang="en-IN" dirty="0"/>
            </a:br>
            <a:r>
              <a:rPr lang="en-IN" dirty="0"/>
              <a:t>import </a:t>
            </a:r>
            <a:r>
              <a:rPr lang="en-IN" dirty="0" err="1"/>
              <a:t>java.io.File</a:t>
            </a:r>
            <a:r>
              <a:rPr lang="en-IN" dirty="0"/>
              <a:t>;</a:t>
            </a:r>
          </a:p>
          <a:p>
            <a:r>
              <a:rPr lang="en-IN" dirty="0"/>
              <a:t>import </a:t>
            </a:r>
            <a:r>
              <a:rPr lang="en-IN" dirty="0" err="1"/>
              <a:t>java.io.IOException</a:t>
            </a:r>
            <a:r>
              <a:rPr lang="en-IN" dirty="0"/>
              <a:t>;</a:t>
            </a:r>
          </a:p>
          <a:p>
            <a:endParaRPr lang="en-IN" dirty="0"/>
          </a:p>
          <a:p>
            <a:r>
              <a:rPr lang="en-IN" dirty="0"/>
              <a:t>public class </a:t>
            </a:r>
            <a:r>
              <a:rPr lang="en-IN" dirty="0" err="1"/>
              <a:t>CreateFileAndDirectory</a:t>
            </a:r>
            <a:r>
              <a:rPr lang="en-IN" dirty="0"/>
              <a:t> {</a:t>
            </a:r>
          </a:p>
          <a:p>
            <a:r>
              <a:rPr lang="en-IN" dirty="0"/>
              <a:t>    public static void main(String[] </a:t>
            </a:r>
            <a:r>
              <a:rPr lang="en-IN" dirty="0" err="1"/>
              <a:t>args</a:t>
            </a:r>
            <a:r>
              <a:rPr lang="en-IN" dirty="0"/>
              <a:t>) {</a:t>
            </a:r>
          </a:p>
          <a:p>
            <a:r>
              <a:rPr lang="en-IN" dirty="0"/>
              <a:t>        try {</a:t>
            </a:r>
          </a:p>
          <a:p>
            <a:r>
              <a:rPr lang="en-IN" dirty="0"/>
              <a:t>            // Create a directory</a:t>
            </a:r>
          </a:p>
          <a:p>
            <a:r>
              <a:rPr lang="en-IN" dirty="0"/>
              <a:t>            File dir = new File("</a:t>
            </a:r>
            <a:r>
              <a:rPr lang="en-IN" dirty="0" err="1"/>
              <a:t>exampleDir</a:t>
            </a:r>
            <a:r>
              <a:rPr lang="en-IN" dirty="0"/>
              <a:t>");</a:t>
            </a:r>
          </a:p>
          <a:p>
            <a:r>
              <a:rPr lang="en-IN" dirty="0"/>
              <a:t>            if (</a:t>
            </a:r>
            <a:r>
              <a:rPr lang="en-IN" dirty="0" err="1"/>
              <a:t>dir.mkdir</a:t>
            </a:r>
            <a:r>
              <a:rPr lang="en-IN" dirty="0"/>
              <a:t>()) {</a:t>
            </a:r>
          </a:p>
          <a:p>
            <a:r>
              <a:rPr lang="en-IN" dirty="0"/>
              <a:t>                </a:t>
            </a:r>
            <a:r>
              <a:rPr lang="en-IN" dirty="0" err="1"/>
              <a:t>System.out.println</a:t>
            </a:r>
            <a:r>
              <a:rPr lang="en-IN" dirty="0"/>
              <a:t>("Directory created successfully.");</a:t>
            </a:r>
          </a:p>
          <a:p>
            <a:r>
              <a:rPr lang="en-IN" dirty="0"/>
              <a:t>            } else {</a:t>
            </a:r>
          </a:p>
          <a:p>
            <a:r>
              <a:rPr lang="en-IN" dirty="0"/>
              <a:t>                </a:t>
            </a:r>
            <a:r>
              <a:rPr lang="en-IN" dirty="0" err="1"/>
              <a:t>System.out.println</a:t>
            </a:r>
            <a:r>
              <a:rPr lang="en-IN" dirty="0"/>
              <a:t>("Directory already exists or failed to create.");</a:t>
            </a:r>
          </a:p>
          <a:p>
            <a:r>
              <a:rPr lang="en-IN" dirty="0"/>
              <a:t>            }</a:t>
            </a:r>
          </a:p>
          <a:p>
            <a:endParaRPr lang="en-IN" dirty="0"/>
          </a:p>
        </p:txBody>
      </p:sp>
    </p:spTree>
    <p:extLst>
      <p:ext uri="{BB962C8B-B14F-4D97-AF65-F5344CB8AC3E}">
        <p14:creationId xmlns:p14="http://schemas.microsoft.com/office/powerpoint/2010/main" val="9824834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57297-01A0-0163-C6E6-C53C6FF9373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384CCB-4EC5-CF5D-99CE-46EEC307CFF7}"/>
              </a:ext>
            </a:extLst>
          </p:cNvPr>
          <p:cNvSpPr txBox="1"/>
          <p:nvPr/>
        </p:nvSpPr>
        <p:spPr>
          <a:xfrm>
            <a:off x="844825" y="172068"/>
            <a:ext cx="8388626" cy="3693319"/>
          </a:xfrm>
          <a:prstGeom prst="rect">
            <a:avLst/>
          </a:prstGeom>
          <a:noFill/>
        </p:spPr>
        <p:txBody>
          <a:bodyPr wrap="square">
            <a:spAutoFit/>
          </a:bodyPr>
          <a:lstStyle/>
          <a:p>
            <a:r>
              <a:rPr lang="en-IN" dirty="0"/>
              <a:t>           // Create a file inside the directory</a:t>
            </a:r>
          </a:p>
          <a:p>
            <a:r>
              <a:rPr lang="en-IN" dirty="0"/>
              <a:t>            File file = new File(dir, "exampleFile.txt");</a:t>
            </a:r>
          </a:p>
          <a:p>
            <a:r>
              <a:rPr lang="en-IN" dirty="0"/>
              <a:t>            if (file.createNewFile()) {</a:t>
            </a:r>
          </a:p>
          <a:p>
            <a:r>
              <a:rPr lang="en-IN" dirty="0"/>
              <a:t>                System.out.println("File created: " + file.getName());</a:t>
            </a:r>
          </a:p>
          <a:p>
            <a:r>
              <a:rPr lang="en-IN" dirty="0"/>
              <a:t>            } else {</a:t>
            </a:r>
          </a:p>
          <a:p>
            <a:r>
              <a:rPr lang="en-IN" dirty="0"/>
              <a:t>                System.out.println("File already exists.");</a:t>
            </a:r>
          </a:p>
          <a:p>
            <a:r>
              <a:rPr lang="en-IN" dirty="0"/>
              <a:t>            }</a:t>
            </a:r>
          </a:p>
          <a:p>
            <a:endParaRPr lang="en-IN" dirty="0"/>
          </a:p>
          <a:p>
            <a:r>
              <a:rPr lang="en-IN" dirty="0"/>
              <a:t>        } catch (IOException e) {</a:t>
            </a:r>
          </a:p>
          <a:p>
            <a:r>
              <a:rPr lang="en-IN" dirty="0"/>
              <a:t>            e.printStackTrace();</a:t>
            </a:r>
          </a:p>
          <a:p>
            <a:r>
              <a:rPr lang="en-IN" dirty="0"/>
              <a:t>        }</a:t>
            </a:r>
          </a:p>
          <a:p>
            <a:r>
              <a:rPr lang="en-IN" dirty="0"/>
              <a:t>    }</a:t>
            </a:r>
          </a:p>
          <a:p>
            <a:r>
              <a:rPr lang="en-IN" dirty="0"/>
              <a:t>}</a:t>
            </a:r>
          </a:p>
        </p:txBody>
      </p:sp>
    </p:spTree>
    <p:extLst>
      <p:ext uri="{BB962C8B-B14F-4D97-AF65-F5344CB8AC3E}">
        <p14:creationId xmlns:p14="http://schemas.microsoft.com/office/powerpoint/2010/main" val="4124982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4ABCF-9A9D-AEB0-36ED-7B8EA78B84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92C298-8BDB-9F52-0542-13D1DF4CCFF0}"/>
              </a:ext>
            </a:extLst>
          </p:cNvPr>
          <p:cNvSpPr txBox="1"/>
          <p:nvPr/>
        </p:nvSpPr>
        <p:spPr>
          <a:xfrm>
            <a:off x="854764" y="0"/>
            <a:ext cx="9949071" cy="6463308"/>
          </a:xfrm>
          <a:prstGeom prst="rect">
            <a:avLst/>
          </a:prstGeom>
          <a:noFill/>
        </p:spPr>
        <p:txBody>
          <a:bodyPr wrap="square">
            <a:spAutoFit/>
          </a:bodyPr>
          <a:lstStyle/>
          <a:p>
            <a:r>
              <a:rPr lang="en-US" b="1" dirty="0"/>
              <a:t>6.7 The java.util.Scanner class </a:t>
            </a:r>
          </a:p>
          <a:p>
            <a:endParaRPr lang="en-US" dirty="0"/>
          </a:p>
          <a:p>
            <a:r>
              <a:rPr lang="en-US" dirty="0"/>
              <a:t>The java.util.Scanner class in Java is a simple and versatile text scanner used to parse primitive types and strings using regular expressions. It is commonly used for reading input from the console, files, or other input sources.</a:t>
            </a:r>
          </a:p>
          <a:p>
            <a:endParaRPr lang="en-US" dirty="0"/>
          </a:p>
          <a:p>
            <a:r>
              <a:rPr lang="en-US" b="1" dirty="0"/>
              <a:t>Key Features of Scanner</a:t>
            </a:r>
          </a:p>
          <a:p>
            <a:endParaRPr lang="en-US" dirty="0"/>
          </a:p>
          <a:p>
            <a:pPr marL="285750" indent="-285750">
              <a:buFont typeface="Arial" panose="020B0604020202020204" pitchFamily="34" charset="0"/>
              <a:buChar char="•"/>
            </a:pPr>
            <a:r>
              <a:rPr lang="en-US" dirty="0"/>
              <a:t>It breaks input into tokens using delimiters (default whitespace).</a:t>
            </a:r>
          </a:p>
          <a:p>
            <a:pPr marL="285750" indent="-285750">
              <a:buFont typeface="Arial" panose="020B0604020202020204" pitchFamily="34" charset="0"/>
              <a:buChar char="•"/>
            </a:pPr>
            <a:r>
              <a:rPr lang="en-US" dirty="0"/>
              <a:t>Can parse data types like int, float, double, long, boolean, and strings.</a:t>
            </a:r>
          </a:p>
          <a:p>
            <a:pPr marL="285750" indent="-285750">
              <a:buFont typeface="Arial" panose="020B0604020202020204" pitchFamily="34" charset="0"/>
              <a:buChar char="•"/>
            </a:pPr>
            <a:r>
              <a:rPr lang="en-US" dirty="0"/>
              <a:t>Supports reading line-by-line or token-by-token.</a:t>
            </a:r>
          </a:p>
          <a:p>
            <a:pPr marL="285750" indent="-285750">
              <a:buFont typeface="Arial" panose="020B0604020202020204" pitchFamily="34" charset="0"/>
              <a:buChar char="•"/>
            </a:pPr>
            <a:r>
              <a:rPr lang="en-US" dirty="0"/>
              <a:t>Handles input from various sources including InputStream, File, and Path.</a:t>
            </a:r>
          </a:p>
          <a:p>
            <a:pPr marL="285750" indent="-285750">
              <a:buFont typeface="Arial" panose="020B0604020202020204" pitchFamily="34" charset="0"/>
              <a:buChar char="•"/>
            </a:pPr>
            <a:endParaRPr lang="en-US" dirty="0"/>
          </a:p>
          <a:p>
            <a:r>
              <a:rPr lang="en-US" b="1" dirty="0"/>
              <a:t>Reading from Files with Scanner</a:t>
            </a:r>
          </a:p>
          <a:p>
            <a:endParaRPr lang="en-US" dirty="0"/>
          </a:p>
          <a:p>
            <a:pPr marL="285750" indent="-285750">
              <a:buFont typeface="Arial" panose="020B0604020202020204" pitchFamily="34" charset="0"/>
              <a:buChar char="•"/>
            </a:pPr>
            <a:r>
              <a:rPr lang="en-US" dirty="0"/>
              <a:t>Scanner can be created using a File or Path object to read from a file.</a:t>
            </a:r>
          </a:p>
          <a:p>
            <a:pPr marL="285750" indent="-285750">
              <a:buFont typeface="Arial" panose="020B0604020202020204" pitchFamily="34" charset="0"/>
              <a:buChar char="•"/>
            </a:pPr>
            <a:r>
              <a:rPr lang="en-US" dirty="0"/>
              <a:t>The hasNext() or hasNextLine() methods check for more input.</a:t>
            </a:r>
          </a:p>
          <a:p>
            <a:pPr marL="285750" indent="-285750">
              <a:buFont typeface="Arial" panose="020B0604020202020204" pitchFamily="34" charset="0"/>
              <a:buChar char="•"/>
            </a:pPr>
            <a:r>
              <a:rPr lang="en-US" dirty="0"/>
              <a:t>The next(), nextLine(), or next&lt;Type&gt;() methods read the next token, line, or specific type.</a:t>
            </a:r>
          </a:p>
          <a:p>
            <a:pPr marL="285750" indent="-285750">
              <a:buFont typeface="Arial" panose="020B0604020202020204" pitchFamily="34" charset="0"/>
              <a:buChar char="•"/>
            </a:pPr>
            <a:r>
              <a:rPr lang="en-US" dirty="0"/>
              <a:t>Scanner automatically converts bytes from the file to characters using the platform's or specified charset.</a:t>
            </a:r>
          </a:p>
          <a:p>
            <a:pPr marL="285750" indent="-285750">
              <a:buFont typeface="Arial" panose="020B0604020202020204" pitchFamily="34" charset="0"/>
              <a:buChar char="•"/>
            </a:pPr>
            <a:r>
              <a:rPr lang="en-US" dirty="0"/>
              <a:t>Proper exception handling (e.g., FileNotFoundException) is required when reading files.</a:t>
            </a:r>
          </a:p>
          <a:p>
            <a:pPr marL="285750" indent="-285750">
              <a:buFont typeface="Arial" panose="020B0604020202020204" pitchFamily="34" charset="0"/>
              <a:buChar char="•"/>
            </a:pPr>
            <a:r>
              <a:rPr lang="en-US" dirty="0"/>
              <a:t>Closing Scanner releases underlying resources and should be done ideally using try-with-resources.</a:t>
            </a:r>
          </a:p>
        </p:txBody>
      </p:sp>
    </p:spTree>
    <p:extLst>
      <p:ext uri="{BB962C8B-B14F-4D97-AF65-F5344CB8AC3E}">
        <p14:creationId xmlns:p14="http://schemas.microsoft.com/office/powerpoint/2010/main" val="18970734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80968-2D8E-9130-71CB-20AC97C060A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58E5495-3C8C-4390-9BC0-DCBD845790F9}"/>
              </a:ext>
            </a:extLst>
          </p:cNvPr>
          <p:cNvSpPr txBox="1"/>
          <p:nvPr/>
        </p:nvSpPr>
        <p:spPr>
          <a:xfrm>
            <a:off x="924339" y="41053"/>
            <a:ext cx="8497956" cy="5632311"/>
          </a:xfrm>
          <a:prstGeom prst="rect">
            <a:avLst/>
          </a:prstGeom>
          <a:noFill/>
        </p:spPr>
        <p:txBody>
          <a:bodyPr wrap="square">
            <a:spAutoFit/>
          </a:bodyPr>
          <a:lstStyle/>
          <a:p>
            <a:pPr>
              <a:buNone/>
            </a:pPr>
            <a:r>
              <a:rPr lang="en-US" b="0" dirty="0">
                <a:effectLst/>
                <a:latin typeface="fkGrotesk"/>
              </a:rPr>
              <a:t>Example: Reading a File Using Scanner</a:t>
            </a:r>
          </a:p>
          <a:p>
            <a:pPr>
              <a:buNone/>
            </a:pPr>
            <a:endParaRPr lang="en-US" dirty="0">
              <a:latin typeface="fkGrotesk"/>
            </a:endParaRPr>
          </a:p>
          <a:p>
            <a:pPr>
              <a:buNone/>
            </a:pPr>
            <a:r>
              <a:rPr lang="en-US" dirty="0">
                <a:latin typeface="fkGrotesk"/>
              </a:rPr>
              <a:t>import java.io.File;</a:t>
            </a:r>
          </a:p>
          <a:p>
            <a:pPr>
              <a:buNone/>
            </a:pPr>
            <a:r>
              <a:rPr lang="en-US" dirty="0">
                <a:latin typeface="fkGrotesk"/>
              </a:rPr>
              <a:t>import java.io.FileNotFoundException;</a:t>
            </a:r>
          </a:p>
          <a:p>
            <a:pPr>
              <a:buNone/>
            </a:pPr>
            <a:r>
              <a:rPr lang="en-US" dirty="0">
                <a:latin typeface="fkGrotesk"/>
              </a:rPr>
              <a:t>import java.util.Scanner;</a:t>
            </a:r>
          </a:p>
          <a:p>
            <a:pPr>
              <a:buNone/>
            </a:pPr>
            <a:endParaRPr lang="en-US" dirty="0">
              <a:latin typeface="fkGrotesk"/>
            </a:endParaRPr>
          </a:p>
          <a:p>
            <a:pPr>
              <a:buNone/>
            </a:pPr>
            <a:r>
              <a:rPr lang="en-US" dirty="0">
                <a:latin typeface="fkGrotesk"/>
              </a:rPr>
              <a:t>public class ReadFile {</a:t>
            </a:r>
          </a:p>
          <a:p>
            <a:pPr>
              <a:buNone/>
            </a:pPr>
            <a:r>
              <a:rPr lang="en-US" dirty="0">
                <a:latin typeface="fkGrotesk"/>
              </a:rPr>
              <a:t>    public static void main(String[] args) {</a:t>
            </a:r>
          </a:p>
          <a:p>
            <a:pPr>
              <a:buNone/>
            </a:pPr>
            <a:r>
              <a:rPr lang="en-US" dirty="0">
                <a:latin typeface="fkGrotesk"/>
              </a:rPr>
              <a:t>        File file = new File("example.txt");</a:t>
            </a:r>
          </a:p>
          <a:p>
            <a:pPr>
              <a:buNone/>
            </a:pPr>
            <a:r>
              <a:rPr lang="en-US" dirty="0">
                <a:latin typeface="fkGrotesk"/>
              </a:rPr>
              <a:t>        try (Scanner scanner = new Scanner(file)) {</a:t>
            </a:r>
          </a:p>
          <a:p>
            <a:pPr>
              <a:buNone/>
            </a:pPr>
            <a:r>
              <a:rPr lang="en-US" dirty="0">
                <a:latin typeface="fkGrotesk"/>
              </a:rPr>
              <a:t>            while (scanner.hasNextLine()) {</a:t>
            </a:r>
          </a:p>
          <a:p>
            <a:pPr>
              <a:buNone/>
            </a:pPr>
            <a:r>
              <a:rPr lang="en-US" dirty="0">
                <a:latin typeface="fkGrotesk"/>
              </a:rPr>
              <a:t>                String line = scanner.nextLine();</a:t>
            </a:r>
          </a:p>
          <a:p>
            <a:pPr>
              <a:buNone/>
            </a:pPr>
            <a:r>
              <a:rPr lang="en-US" dirty="0">
                <a:latin typeface="fkGrotesk"/>
              </a:rPr>
              <a:t>                System.out.println(line);</a:t>
            </a:r>
          </a:p>
          <a:p>
            <a:pPr>
              <a:buNone/>
            </a:pPr>
            <a:r>
              <a:rPr lang="en-US" dirty="0">
                <a:latin typeface="fkGrotesk"/>
              </a:rPr>
              <a:t>            }</a:t>
            </a:r>
          </a:p>
          <a:p>
            <a:pPr>
              <a:buNone/>
            </a:pPr>
            <a:r>
              <a:rPr lang="en-US" dirty="0">
                <a:latin typeface="fkGrotesk"/>
              </a:rPr>
              <a:t>        } catch (FileNotFoundException e) {</a:t>
            </a:r>
          </a:p>
          <a:p>
            <a:pPr>
              <a:buNone/>
            </a:pPr>
            <a:r>
              <a:rPr lang="en-US" dirty="0">
                <a:latin typeface="fkGrotesk"/>
              </a:rPr>
              <a:t>            System.out.println("File not found: " + e.getMessage());</a:t>
            </a:r>
          </a:p>
          <a:p>
            <a:pPr>
              <a:buNone/>
            </a:pPr>
            <a:r>
              <a:rPr lang="en-US" dirty="0">
                <a:latin typeface="fkGrotesk"/>
              </a:rPr>
              <a:t>        }</a:t>
            </a:r>
          </a:p>
          <a:p>
            <a:pPr>
              <a:buNone/>
            </a:pPr>
            <a:r>
              <a:rPr lang="en-US" dirty="0">
                <a:latin typeface="fkGrotesk"/>
              </a:rPr>
              <a:t>    }</a:t>
            </a:r>
          </a:p>
          <a:p>
            <a:pPr>
              <a:buNone/>
            </a:pPr>
            <a:r>
              <a:rPr lang="en-US" dirty="0">
                <a:latin typeface="fkGrotesk"/>
              </a:rPr>
              <a:t>}</a:t>
            </a:r>
          </a:p>
          <a:p>
            <a:pPr>
              <a:buNone/>
            </a:pPr>
            <a:endParaRPr lang="en-US" b="0" dirty="0">
              <a:effectLst/>
              <a:latin typeface="fkGrotesk"/>
            </a:endParaRPr>
          </a:p>
        </p:txBody>
      </p:sp>
    </p:spTree>
    <p:extLst>
      <p:ext uri="{BB962C8B-B14F-4D97-AF65-F5344CB8AC3E}">
        <p14:creationId xmlns:p14="http://schemas.microsoft.com/office/powerpoint/2010/main" val="3452327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FD94B-CCC2-FFD7-96EA-CFC278AF3FE1}"/>
            </a:ext>
          </a:extLst>
        </p:cNvPr>
        <p:cNvGrpSpPr/>
        <p:nvPr/>
      </p:nvGrpSpPr>
      <p:grpSpPr>
        <a:xfrm>
          <a:off x="0" y="0"/>
          <a:ext cx="0" cy="0"/>
          <a:chOff x="0" y="0"/>
          <a:chExt cx="0" cy="0"/>
        </a:xfrm>
      </p:grpSpPr>
    </p:spTree>
    <p:extLst>
      <p:ext uri="{BB962C8B-B14F-4D97-AF65-F5344CB8AC3E}">
        <p14:creationId xmlns:p14="http://schemas.microsoft.com/office/powerpoint/2010/main" val="3304628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9BBFF-77CA-6B96-B7AC-A52F69F03CEB}"/>
            </a:ext>
          </a:extLst>
        </p:cNvPr>
        <p:cNvGrpSpPr/>
        <p:nvPr/>
      </p:nvGrpSpPr>
      <p:grpSpPr>
        <a:xfrm>
          <a:off x="0" y="0"/>
          <a:ext cx="0" cy="0"/>
          <a:chOff x="0" y="0"/>
          <a:chExt cx="0" cy="0"/>
        </a:xfrm>
      </p:grpSpPr>
    </p:spTree>
    <p:extLst>
      <p:ext uri="{BB962C8B-B14F-4D97-AF65-F5344CB8AC3E}">
        <p14:creationId xmlns:p14="http://schemas.microsoft.com/office/powerpoint/2010/main" val="819669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67649-7D4E-A97B-3216-D665944C4640}"/>
            </a:ext>
          </a:extLst>
        </p:cNvPr>
        <p:cNvGrpSpPr/>
        <p:nvPr/>
      </p:nvGrpSpPr>
      <p:grpSpPr>
        <a:xfrm>
          <a:off x="0" y="0"/>
          <a:ext cx="0" cy="0"/>
          <a:chOff x="0" y="0"/>
          <a:chExt cx="0" cy="0"/>
        </a:xfrm>
      </p:grpSpPr>
    </p:spTree>
    <p:extLst>
      <p:ext uri="{BB962C8B-B14F-4D97-AF65-F5344CB8AC3E}">
        <p14:creationId xmlns:p14="http://schemas.microsoft.com/office/powerpoint/2010/main" val="3545024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41</TotalTime>
  <Words>2124</Words>
  <Application>Microsoft Office PowerPoint</Application>
  <PresentationFormat>Widescreen</PresentationFormat>
  <Paragraphs>222</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berkeleyMono</vt:lpstr>
      <vt:lpstr>fkGrotesk</vt:lpstr>
      <vt:lpstr>fkGroteskNeue</vt:lpstr>
      <vt:lpstr>Trebuchet MS</vt:lpstr>
      <vt:lpstr>Wingdings</vt:lpstr>
      <vt:lpstr>Wingdings 3</vt:lpstr>
      <vt:lpstr>Facet</vt:lpstr>
      <vt:lpstr>Files and I/O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shshinde2580@gmail.com</dc:creator>
  <cp:lastModifiedBy>shshinde2580@gmail.com</cp:lastModifiedBy>
  <cp:revision>1</cp:revision>
  <dcterms:created xsi:type="dcterms:W3CDTF">2025-10-07T16:05:54Z</dcterms:created>
  <dcterms:modified xsi:type="dcterms:W3CDTF">2025-10-07T16:46:59Z</dcterms:modified>
</cp:coreProperties>
</file>