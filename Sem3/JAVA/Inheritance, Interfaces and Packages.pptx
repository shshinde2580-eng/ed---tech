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6" r:id="rId22"/>
    <p:sldId id="278" r:id="rId23"/>
    <p:sldId id="279" r:id="rId24"/>
    <p:sldId id="280" r:id="rId25"/>
    <p:sldId id="281" r:id="rId26"/>
    <p:sldId id="284" r:id="rId27"/>
    <p:sldId id="283" r:id="rId28"/>
    <p:sldId id="28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1D455E-DDC9-446D-846F-62D53D5E5591}" v="5" dt="2025-10-07T07:30:59.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modSld">
      <pc:chgData name="shshinde2580@gmail.com" userId="86fdf0c531315612" providerId="LiveId" clId="{80EF1F59-5901-4077-BC9B-DA299863282D}" dt="2025-10-07T07:32:08.332" v="3" actId="113"/>
      <pc:docMkLst>
        <pc:docMk/>
      </pc:docMkLst>
      <pc:sldChg chg="modSp mod">
        <pc:chgData name="shshinde2580@gmail.com" userId="86fdf0c531315612" providerId="LiveId" clId="{80EF1F59-5901-4077-BC9B-DA299863282D}" dt="2025-10-07T07:31:08.576" v="0" actId="113"/>
        <pc:sldMkLst>
          <pc:docMk/>
          <pc:sldMk cId="1436871764" sldId="258"/>
        </pc:sldMkLst>
        <pc:spChg chg="mod">
          <ac:chgData name="shshinde2580@gmail.com" userId="86fdf0c531315612" providerId="LiveId" clId="{80EF1F59-5901-4077-BC9B-DA299863282D}" dt="2025-10-07T07:31:08.576" v="0" actId="113"/>
          <ac:spMkLst>
            <pc:docMk/>
            <pc:sldMk cId="1436871764" sldId="258"/>
            <ac:spMk id="7" creationId="{60406AD5-7182-5BF1-5EEA-6F08AF413D52}"/>
          </ac:spMkLst>
        </pc:spChg>
      </pc:sldChg>
      <pc:sldChg chg="modSp mod">
        <pc:chgData name="shshinde2580@gmail.com" userId="86fdf0c531315612" providerId="LiveId" clId="{80EF1F59-5901-4077-BC9B-DA299863282D}" dt="2025-10-07T07:31:30.654" v="1" actId="113"/>
        <pc:sldMkLst>
          <pc:docMk/>
          <pc:sldMk cId="2076126037" sldId="266"/>
        </pc:sldMkLst>
        <pc:spChg chg="mod">
          <ac:chgData name="shshinde2580@gmail.com" userId="86fdf0c531315612" providerId="LiveId" clId="{80EF1F59-5901-4077-BC9B-DA299863282D}" dt="2025-10-07T07:31:30.654" v="1" actId="113"/>
          <ac:spMkLst>
            <pc:docMk/>
            <pc:sldMk cId="2076126037" sldId="266"/>
            <ac:spMk id="5" creationId="{C1A8A273-DCF0-3AB8-ACB5-78F53859DD9E}"/>
          </ac:spMkLst>
        </pc:spChg>
      </pc:sldChg>
      <pc:sldChg chg="modSp mod">
        <pc:chgData name="shshinde2580@gmail.com" userId="86fdf0c531315612" providerId="LiveId" clId="{80EF1F59-5901-4077-BC9B-DA299863282D}" dt="2025-10-07T07:31:57.543" v="2" actId="113"/>
        <pc:sldMkLst>
          <pc:docMk/>
          <pc:sldMk cId="459119041" sldId="274"/>
        </pc:sldMkLst>
        <pc:spChg chg="mod">
          <ac:chgData name="shshinde2580@gmail.com" userId="86fdf0c531315612" providerId="LiveId" clId="{80EF1F59-5901-4077-BC9B-DA299863282D}" dt="2025-10-07T07:31:57.543" v="2" actId="113"/>
          <ac:spMkLst>
            <pc:docMk/>
            <pc:sldMk cId="459119041" sldId="274"/>
            <ac:spMk id="5" creationId="{5E11C15E-8593-F32A-4245-B77BC6632856}"/>
          </ac:spMkLst>
        </pc:spChg>
      </pc:sldChg>
      <pc:sldChg chg="modSp mod">
        <pc:chgData name="shshinde2580@gmail.com" userId="86fdf0c531315612" providerId="LiveId" clId="{80EF1F59-5901-4077-BC9B-DA299863282D}" dt="2025-10-07T07:32:08.332" v="3" actId="113"/>
        <pc:sldMkLst>
          <pc:docMk/>
          <pc:sldMk cId="626992512" sldId="278"/>
        </pc:sldMkLst>
        <pc:spChg chg="mod">
          <ac:chgData name="shshinde2580@gmail.com" userId="86fdf0c531315612" providerId="LiveId" clId="{80EF1F59-5901-4077-BC9B-DA299863282D}" dt="2025-10-07T07:32:08.332" v="3" actId="113"/>
          <ac:spMkLst>
            <pc:docMk/>
            <pc:sldMk cId="626992512" sldId="278"/>
            <ac:spMk id="5" creationId="{0DC31997-126C-7CCF-7016-BB2B24F058A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2F5555-891A-4AF2-AF93-DA63CD63DB7E}" type="datetimeFigureOut">
              <a:rPr lang="en-IN" smtClean="0"/>
              <a:t>07-10-2025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32B71E-E1F1-4B0E-B29A-45C961ABD8B3}" type="slidenum">
              <a:rPr lang="en-IN" smtClean="0"/>
              <a:t>‹#›</a:t>
            </a:fld>
            <a:endParaRPr lang="en-IN"/>
          </a:p>
        </p:txBody>
      </p:sp>
    </p:spTree>
    <p:extLst>
      <p:ext uri="{BB962C8B-B14F-4D97-AF65-F5344CB8AC3E}">
        <p14:creationId xmlns:p14="http://schemas.microsoft.com/office/powerpoint/2010/main" val="1617025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32B71E-E1F1-4B0E-B29A-45C961ABD8B3}" type="slidenum">
              <a:rPr lang="en-IN" smtClean="0"/>
              <a:t>21</a:t>
            </a:fld>
            <a:endParaRPr lang="en-IN"/>
          </a:p>
        </p:txBody>
      </p:sp>
    </p:spTree>
    <p:extLst>
      <p:ext uri="{BB962C8B-B14F-4D97-AF65-F5344CB8AC3E}">
        <p14:creationId xmlns:p14="http://schemas.microsoft.com/office/powerpoint/2010/main" val="1047389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219113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4073943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2310623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FA5816-A011-4A3D-BD26-E16D219586FC}"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103246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FA5816-A011-4A3D-BD26-E16D219586FC}" type="datetimeFigureOut">
              <a:rPr lang="en-IN" smtClean="0"/>
              <a:t>07-10-2025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375392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FA5816-A011-4A3D-BD26-E16D219586FC}" type="datetimeFigureOut">
              <a:rPr lang="en-IN" smtClean="0"/>
              <a:t>07-10-2025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3217376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FA5816-A011-4A3D-BD26-E16D219586FC}" type="datetimeFigureOut">
              <a:rPr lang="en-IN" smtClean="0"/>
              <a:t>07-10-2025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1366886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FA5816-A011-4A3D-BD26-E16D219586FC}"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4018071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FA5816-A011-4A3D-BD26-E16D219586FC}"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1396187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1800351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39019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3269618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73606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569620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3345847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FA5816-A011-4A3D-BD26-E16D219586FC}"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90986F-71E7-4429-8475-80DD5640A660}" type="slidenum">
              <a:rPr lang="en-IN" smtClean="0"/>
              <a:t>‹#›</a:t>
            </a:fld>
            <a:endParaRPr lang="en-IN"/>
          </a:p>
        </p:txBody>
      </p:sp>
    </p:spTree>
    <p:extLst>
      <p:ext uri="{BB962C8B-B14F-4D97-AF65-F5344CB8AC3E}">
        <p14:creationId xmlns:p14="http://schemas.microsoft.com/office/powerpoint/2010/main" val="1195514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FA5816-A011-4A3D-BD26-E16D219586FC}" type="datetimeFigureOut">
              <a:rPr lang="en-IN" smtClean="0"/>
              <a:t>07-10-2025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890986F-71E7-4429-8475-80DD5640A660}" type="slidenum">
              <a:rPr lang="en-IN" smtClean="0"/>
              <a:t>‹#›</a:t>
            </a:fld>
            <a:endParaRPr lang="en-IN"/>
          </a:p>
        </p:txBody>
      </p:sp>
    </p:spTree>
    <p:extLst>
      <p:ext uri="{BB962C8B-B14F-4D97-AF65-F5344CB8AC3E}">
        <p14:creationId xmlns:p14="http://schemas.microsoft.com/office/powerpoint/2010/main" val="13006990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0B22-9880-CC25-2B2D-0B2EFD0437ED}"/>
              </a:ext>
            </a:extLst>
          </p:cNvPr>
          <p:cNvSpPr>
            <a:spLocks noGrp="1"/>
          </p:cNvSpPr>
          <p:nvPr>
            <p:ph type="ctrTitle"/>
          </p:nvPr>
        </p:nvSpPr>
        <p:spPr>
          <a:xfrm>
            <a:off x="506896" y="2444290"/>
            <a:ext cx="9422296" cy="1646302"/>
          </a:xfrm>
        </p:spPr>
        <p:txBody>
          <a:bodyPr/>
          <a:lstStyle/>
          <a:p>
            <a:pPr algn="ctr"/>
            <a:r>
              <a:rPr lang="en-IN" dirty="0"/>
              <a:t>Inheritance, Interfaces and Packages </a:t>
            </a:r>
          </a:p>
        </p:txBody>
      </p:sp>
    </p:spTree>
    <p:extLst>
      <p:ext uri="{BB962C8B-B14F-4D97-AF65-F5344CB8AC3E}">
        <p14:creationId xmlns:p14="http://schemas.microsoft.com/office/powerpoint/2010/main" val="809350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0406AD5-7182-5BF1-5EEA-6F08AF413D52}"/>
              </a:ext>
            </a:extLst>
          </p:cNvPr>
          <p:cNvSpPr txBox="1"/>
          <p:nvPr/>
        </p:nvSpPr>
        <p:spPr>
          <a:xfrm>
            <a:off x="924340" y="103567"/>
            <a:ext cx="8617226" cy="5909310"/>
          </a:xfrm>
          <a:prstGeom prst="rect">
            <a:avLst/>
          </a:prstGeom>
          <a:noFill/>
        </p:spPr>
        <p:txBody>
          <a:bodyPr wrap="square">
            <a:spAutoFit/>
          </a:bodyPr>
          <a:lstStyle/>
          <a:p>
            <a:r>
              <a:rPr lang="en-US" b="1" dirty="0"/>
              <a:t>3.1 Inheritance-concept, types of inheritance</a:t>
            </a:r>
          </a:p>
          <a:p>
            <a:endParaRPr lang="en-US" dirty="0"/>
          </a:p>
          <a:p>
            <a:pPr marL="285750" indent="-285750">
              <a:buFont typeface="Arial" panose="020B0604020202020204" pitchFamily="34" charset="0"/>
              <a:buChar char="•"/>
            </a:pPr>
            <a:r>
              <a:rPr lang="en-US" dirty="0"/>
              <a:t>Inheritance is one of the main pilers of object – oriented programming (oop) (along with Encapsulation , Abstraction , and polymorphism).</a:t>
            </a:r>
          </a:p>
          <a:p>
            <a:r>
              <a:rPr lang="en-US" dirty="0"/>
              <a:t>		In java , inheritance allows a new class ( called child or subclass ) to acquire the properties and method of an existing (called parent or superclass)</a:t>
            </a:r>
          </a:p>
          <a:p>
            <a:endParaRPr lang="en-US" dirty="0"/>
          </a:p>
          <a:p>
            <a:r>
              <a:rPr lang="en-US" dirty="0"/>
              <a:t>Example :-</a:t>
            </a:r>
          </a:p>
          <a:p>
            <a:endParaRPr lang="en-US" dirty="0"/>
          </a:p>
          <a:p>
            <a:r>
              <a:rPr lang="en-US" dirty="0"/>
              <a:t>class parent {</a:t>
            </a:r>
          </a:p>
          <a:p>
            <a:r>
              <a:rPr lang="en-US" dirty="0"/>
              <a:t>    void display() {</a:t>
            </a:r>
          </a:p>
          <a:p>
            <a:r>
              <a:rPr lang="en-US" dirty="0"/>
              <a:t>        System.out.println("This is the parent class");</a:t>
            </a:r>
          </a:p>
          <a:p>
            <a:r>
              <a:rPr lang="en-US" dirty="0"/>
              <a:t>    }</a:t>
            </a:r>
          </a:p>
          <a:p>
            <a:r>
              <a:rPr lang="en-US" dirty="0"/>
              <a:t>}</a:t>
            </a:r>
          </a:p>
          <a:p>
            <a:endParaRPr lang="en-US" dirty="0"/>
          </a:p>
          <a:p>
            <a:r>
              <a:rPr lang="en-US" dirty="0"/>
              <a:t>class child extends parent {</a:t>
            </a:r>
          </a:p>
          <a:p>
            <a:r>
              <a:rPr lang="en-US" dirty="0"/>
              <a:t>    void show() {</a:t>
            </a:r>
          </a:p>
          <a:p>
            <a:r>
              <a:rPr lang="en-US" dirty="0"/>
              <a:t>        System.out.println("This is the child class");</a:t>
            </a:r>
          </a:p>
          <a:p>
            <a:r>
              <a:rPr lang="en-US" dirty="0"/>
              <a:t>    }</a:t>
            </a:r>
          </a:p>
          <a:p>
            <a:r>
              <a:rPr lang="en-US" dirty="0"/>
              <a:t>}</a:t>
            </a:r>
          </a:p>
          <a:p>
            <a:endParaRPr lang="en-US" dirty="0"/>
          </a:p>
        </p:txBody>
      </p:sp>
    </p:spTree>
    <p:extLst>
      <p:ext uri="{BB962C8B-B14F-4D97-AF65-F5344CB8AC3E}">
        <p14:creationId xmlns:p14="http://schemas.microsoft.com/office/powerpoint/2010/main" val="143687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2871-0837-BB7A-3524-287DA1FDCED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CBBDCEE-AF57-F881-8AE3-1FF092E6435C}"/>
              </a:ext>
            </a:extLst>
          </p:cNvPr>
          <p:cNvSpPr txBox="1"/>
          <p:nvPr/>
        </p:nvSpPr>
        <p:spPr>
          <a:xfrm>
            <a:off x="993913" y="165584"/>
            <a:ext cx="8249478" cy="6463308"/>
          </a:xfrm>
          <a:prstGeom prst="rect">
            <a:avLst/>
          </a:prstGeom>
          <a:noFill/>
        </p:spPr>
        <p:txBody>
          <a:bodyPr wrap="square">
            <a:spAutoFit/>
          </a:bodyPr>
          <a:lstStyle/>
          <a:p>
            <a:r>
              <a:rPr lang="en-IN" dirty="0"/>
              <a:t>public class pack {</a:t>
            </a:r>
          </a:p>
          <a:p>
            <a:r>
              <a:rPr lang="en-IN" dirty="0"/>
              <a:t>    public static void main(String args[]) {</a:t>
            </a:r>
          </a:p>
          <a:p>
            <a:r>
              <a:rPr lang="en-IN" dirty="0"/>
              <a:t>        child c1 = new child();</a:t>
            </a:r>
          </a:p>
          <a:p>
            <a:r>
              <a:rPr lang="en-IN" dirty="0"/>
              <a:t>        c1.display();</a:t>
            </a:r>
          </a:p>
          <a:p>
            <a:r>
              <a:rPr lang="en-IN" dirty="0"/>
              <a:t>        c1.show();</a:t>
            </a:r>
          </a:p>
          <a:p>
            <a:r>
              <a:rPr lang="en-IN" dirty="0"/>
              <a:t>    }</a:t>
            </a:r>
          </a:p>
          <a:p>
            <a:r>
              <a:rPr lang="en-IN" dirty="0"/>
              <a:t>}</a:t>
            </a:r>
          </a:p>
          <a:p>
            <a:endParaRPr lang="en-IN" dirty="0"/>
          </a:p>
          <a:p>
            <a:r>
              <a:rPr lang="en-IN" b="1" dirty="0"/>
              <a:t>1] Single Inheritance</a:t>
            </a:r>
          </a:p>
          <a:p>
            <a:endParaRPr lang="en-IN" dirty="0"/>
          </a:p>
          <a:p>
            <a:pPr marL="285750" indent="-285750">
              <a:buFont typeface="Arial" panose="020B0604020202020204" pitchFamily="34" charset="0"/>
              <a:buChar char="•"/>
            </a:pPr>
            <a:r>
              <a:rPr lang="en-IN" dirty="0"/>
              <a:t>One class inherits from another</a:t>
            </a:r>
          </a:p>
          <a:p>
            <a:pPr marL="285750" indent="-285750">
              <a:buFont typeface="Arial" panose="020B0604020202020204" pitchFamily="34" charset="0"/>
              <a:buChar char="•"/>
            </a:pPr>
            <a:endParaRPr lang="en-IN" dirty="0"/>
          </a:p>
          <a:p>
            <a:r>
              <a:rPr lang="en-US" dirty="0"/>
              <a:t>class parent {</a:t>
            </a:r>
          </a:p>
          <a:p>
            <a:r>
              <a:rPr lang="en-US" dirty="0"/>
              <a:t>    void display() {</a:t>
            </a:r>
          </a:p>
          <a:p>
            <a:r>
              <a:rPr lang="en-US" dirty="0"/>
              <a:t>        System.out.println("This is the parent class");</a:t>
            </a:r>
          </a:p>
          <a:p>
            <a:r>
              <a:rPr lang="en-US" dirty="0"/>
              <a:t>    }</a:t>
            </a:r>
          </a:p>
          <a:p>
            <a:r>
              <a:rPr lang="en-US" dirty="0"/>
              <a:t>}</a:t>
            </a:r>
          </a:p>
          <a:p>
            <a:endParaRPr lang="en-US" dirty="0"/>
          </a:p>
          <a:p>
            <a:r>
              <a:rPr lang="en-US" dirty="0"/>
              <a:t>class child extends parent {  // child inherits from parent</a:t>
            </a:r>
          </a:p>
          <a:p>
            <a:r>
              <a:rPr lang="en-US" dirty="0"/>
              <a:t>    void show() {</a:t>
            </a:r>
          </a:p>
          <a:p>
            <a:r>
              <a:rPr lang="en-US" dirty="0"/>
              <a:t>        System.out.println("This is the child class");</a:t>
            </a:r>
          </a:p>
          <a:p>
            <a:r>
              <a:rPr lang="en-US" dirty="0"/>
              <a:t>    }</a:t>
            </a:r>
          </a:p>
          <a:p>
            <a:r>
              <a:rPr lang="en-US" dirty="0"/>
              <a:t>}</a:t>
            </a:r>
          </a:p>
        </p:txBody>
      </p:sp>
    </p:spTree>
    <p:extLst>
      <p:ext uri="{BB962C8B-B14F-4D97-AF65-F5344CB8AC3E}">
        <p14:creationId xmlns:p14="http://schemas.microsoft.com/office/powerpoint/2010/main" val="1432668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881D6-6B12-B5F1-3DB4-862BF00CD1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DCDBBB-1BC9-6D63-C1CA-B5C24A10CCB5}"/>
              </a:ext>
            </a:extLst>
          </p:cNvPr>
          <p:cNvSpPr txBox="1"/>
          <p:nvPr/>
        </p:nvSpPr>
        <p:spPr>
          <a:xfrm>
            <a:off x="993913" y="115888"/>
            <a:ext cx="8150087" cy="6463308"/>
          </a:xfrm>
          <a:prstGeom prst="rect">
            <a:avLst/>
          </a:prstGeom>
          <a:noFill/>
        </p:spPr>
        <p:txBody>
          <a:bodyPr wrap="square">
            <a:spAutoFit/>
          </a:bodyPr>
          <a:lstStyle/>
          <a:p>
            <a:r>
              <a:rPr lang="en-IN" dirty="0"/>
              <a:t>public class pack {</a:t>
            </a:r>
          </a:p>
          <a:p>
            <a:r>
              <a:rPr lang="en-IN" dirty="0"/>
              <a:t>    public static void main(String args[]) {</a:t>
            </a:r>
          </a:p>
          <a:p>
            <a:r>
              <a:rPr lang="en-IN" dirty="0"/>
              <a:t>        child c1 = new child();  // object of child class</a:t>
            </a:r>
          </a:p>
          <a:p>
            <a:r>
              <a:rPr lang="en-IN" dirty="0"/>
              <a:t>        c1.show();               // calls child class method</a:t>
            </a:r>
          </a:p>
          <a:p>
            <a:r>
              <a:rPr lang="en-IN" dirty="0"/>
              <a:t>        c1.display();            // can also call parent class method (inherited)</a:t>
            </a:r>
          </a:p>
          <a:p>
            <a:r>
              <a:rPr lang="en-IN" dirty="0"/>
              <a:t>    }</a:t>
            </a:r>
          </a:p>
          <a:p>
            <a:r>
              <a:rPr lang="en-IN" dirty="0"/>
              <a:t>}</a:t>
            </a:r>
          </a:p>
          <a:p>
            <a:endParaRPr lang="en-IN" dirty="0"/>
          </a:p>
          <a:p>
            <a:r>
              <a:rPr lang="en-IN" b="1" dirty="0"/>
              <a:t>2] Multilevel inheritance </a:t>
            </a:r>
          </a:p>
          <a:p>
            <a:endParaRPr lang="en-IN" dirty="0"/>
          </a:p>
          <a:p>
            <a:pPr marL="285750" indent="-285750">
              <a:buFont typeface="Arial" panose="020B0604020202020204" pitchFamily="34" charset="0"/>
              <a:buChar char="•"/>
            </a:pPr>
            <a:r>
              <a:rPr lang="en-IN" dirty="0"/>
              <a:t>Class Inherits from another class , which itself inherits from another</a:t>
            </a:r>
          </a:p>
          <a:p>
            <a:endParaRPr lang="en-IN" dirty="0"/>
          </a:p>
          <a:p>
            <a:r>
              <a:rPr lang="en-IN" dirty="0"/>
              <a:t>class A {</a:t>
            </a:r>
          </a:p>
          <a:p>
            <a:r>
              <a:rPr lang="en-IN" dirty="0"/>
              <a:t>    void display() {</a:t>
            </a:r>
          </a:p>
          <a:p>
            <a:r>
              <a:rPr lang="en-IN" dirty="0"/>
              <a:t>        </a:t>
            </a:r>
            <a:r>
              <a:rPr lang="en-IN" dirty="0" err="1"/>
              <a:t>System.out.println</a:t>
            </a:r>
            <a:r>
              <a:rPr lang="en-IN" dirty="0"/>
              <a:t>("This is the A class");</a:t>
            </a:r>
          </a:p>
          <a:p>
            <a:r>
              <a:rPr lang="en-IN" dirty="0"/>
              <a:t>    }</a:t>
            </a:r>
          </a:p>
          <a:p>
            <a:r>
              <a:rPr lang="en-IN" dirty="0"/>
              <a:t>}</a:t>
            </a:r>
          </a:p>
          <a:p>
            <a:endParaRPr lang="en-IN" dirty="0"/>
          </a:p>
          <a:p>
            <a:r>
              <a:rPr lang="en-IN" dirty="0"/>
              <a:t>class B extends A {</a:t>
            </a:r>
          </a:p>
          <a:p>
            <a:r>
              <a:rPr lang="en-IN" dirty="0"/>
              <a:t>    void display() {</a:t>
            </a:r>
          </a:p>
          <a:p>
            <a:r>
              <a:rPr lang="en-IN" dirty="0"/>
              <a:t>        System.out.println("This is the B class");</a:t>
            </a:r>
          </a:p>
          <a:p>
            <a:r>
              <a:rPr lang="en-IN" dirty="0"/>
              <a:t>    }</a:t>
            </a:r>
          </a:p>
          <a:p>
            <a:r>
              <a:rPr lang="en-IN" dirty="0"/>
              <a:t>}</a:t>
            </a:r>
          </a:p>
        </p:txBody>
      </p:sp>
    </p:spTree>
    <p:extLst>
      <p:ext uri="{BB962C8B-B14F-4D97-AF65-F5344CB8AC3E}">
        <p14:creationId xmlns:p14="http://schemas.microsoft.com/office/powerpoint/2010/main" val="2196242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1225-2167-8AE7-F7FF-A7DE92D408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D38BD7-BF73-1B78-B8D5-32C40A6B8DFB}"/>
              </a:ext>
            </a:extLst>
          </p:cNvPr>
          <p:cNvSpPr txBox="1"/>
          <p:nvPr/>
        </p:nvSpPr>
        <p:spPr>
          <a:xfrm>
            <a:off x="864703" y="225431"/>
            <a:ext cx="8865705" cy="5909310"/>
          </a:xfrm>
          <a:prstGeom prst="rect">
            <a:avLst/>
          </a:prstGeom>
          <a:noFill/>
        </p:spPr>
        <p:txBody>
          <a:bodyPr wrap="square">
            <a:spAutoFit/>
          </a:bodyPr>
          <a:lstStyle/>
          <a:p>
            <a:r>
              <a:rPr lang="en-IN" dirty="0"/>
              <a:t>class c extends B {</a:t>
            </a:r>
          </a:p>
          <a:p>
            <a:r>
              <a:rPr lang="en-IN" dirty="0"/>
              <a:t>    void display() {</a:t>
            </a:r>
          </a:p>
          <a:p>
            <a:r>
              <a:rPr lang="en-IN" dirty="0"/>
              <a:t>        System.out.println("This is the c class");</a:t>
            </a:r>
          </a:p>
          <a:p>
            <a:r>
              <a:rPr lang="en-IN" dirty="0"/>
              <a:t>    }</a:t>
            </a:r>
          </a:p>
          <a:p>
            <a:r>
              <a:rPr lang="en-IN" dirty="0"/>
              <a:t>}</a:t>
            </a:r>
          </a:p>
          <a:p>
            <a:endParaRPr lang="en-IN" dirty="0"/>
          </a:p>
          <a:p>
            <a:r>
              <a:rPr lang="en-IN" b="1" dirty="0"/>
              <a:t>3] Hierarchical inheritance </a:t>
            </a:r>
          </a:p>
          <a:p>
            <a:endParaRPr lang="en-IN" dirty="0"/>
          </a:p>
          <a:p>
            <a:pPr marL="285750" indent="-285750">
              <a:buFont typeface="Arial" panose="020B0604020202020204" pitchFamily="34" charset="0"/>
              <a:buChar char="•"/>
            </a:pPr>
            <a:r>
              <a:rPr lang="en-IN" dirty="0"/>
              <a:t>Multi classes inherit from one parent </a:t>
            </a:r>
          </a:p>
          <a:p>
            <a:pPr marL="285750" indent="-285750">
              <a:buFont typeface="Arial" panose="020B0604020202020204" pitchFamily="34" charset="0"/>
              <a:buChar char="•"/>
            </a:pPr>
            <a:endParaRPr lang="en-IN" dirty="0"/>
          </a:p>
          <a:p>
            <a:r>
              <a:rPr lang="en-US" dirty="0"/>
              <a:t>class Parent {</a:t>
            </a:r>
          </a:p>
          <a:p>
            <a:r>
              <a:rPr lang="en-US" dirty="0"/>
              <a:t>    void display() {</a:t>
            </a:r>
          </a:p>
          <a:p>
            <a:r>
              <a:rPr lang="en-US" dirty="0"/>
              <a:t>        System.out.println("This is the Parent class");</a:t>
            </a:r>
          </a:p>
          <a:p>
            <a:r>
              <a:rPr lang="en-US" dirty="0"/>
              <a:t>    }</a:t>
            </a:r>
          </a:p>
          <a:p>
            <a:r>
              <a:rPr lang="en-US" dirty="0"/>
              <a:t>}</a:t>
            </a:r>
          </a:p>
          <a:p>
            <a:endParaRPr lang="en-US" dirty="0"/>
          </a:p>
          <a:p>
            <a:r>
              <a:rPr lang="en-US" dirty="0"/>
              <a:t>class Child1 extends Parent {</a:t>
            </a:r>
          </a:p>
          <a:p>
            <a:r>
              <a:rPr lang="en-US" dirty="0"/>
              <a:t>    void show1() {</a:t>
            </a:r>
          </a:p>
          <a:p>
            <a:r>
              <a:rPr lang="en-US" dirty="0"/>
              <a:t>        System.out.println("This is Child1 class");</a:t>
            </a:r>
          </a:p>
          <a:p>
            <a:r>
              <a:rPr lang="en-US" dirty="0"/>
              <a:t>    }</a:t>
            </a:r>
          </a:p>
          <a:p>
            <a:r>
              <a:rPr lang="en-US" dirty="0"/>
              <a:t>}</a:t>
            </a:r>
          </a:p>
        </p:txBody>
      </p:sp>
    </p:spTree>
    <p:extLst>
      <p:ext uri="{BB962C8B-B14F-4D97-AF65-F5344CB8AC3E}">
        <p14:creationId xmlns:p14="http://schemas.microsoft.com/office/powerpoint/2010/main" val="2542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074D8-BD33-6A44-198F-A14C2AEEC5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D3B267-64A4-45EF-89EC-833323FE8DBB}"/>
              </a:ext>
            </a:extLst>
          </p:cNvPr>
          <p:cNvSpPr txBox="1"/>
          <p:nvPr/>
        </p:nvSpPr>
        <p:spPr>
          <a:xfrm>
            <a:off x="884582" y="214630"/>
            <a:ext cx="8607287" cy="6463308"/>
          </a:xfrm>
          <a:prstGeom prst="rect">
            <a:avLst/>
          </a:prstGeom>
          <a:noFill/>
        </p:spPr>
        <p:txBody>
          <a:bodyPr wrap="square">
            <a:spAutoFit/>
          </a:bodyPr>
          <a:lstStyle/>
          <a:p>
            <a:r>
              <a:rPr lang="en-IN" dirty="0"/>
              <a:t>class Child2 extends Parent {</a:t>
            </a:r>
          </a:p>
          <a:p>
            <a:r>
              <a:rPr lang="en-IN" dirty="0"/>
              <a:t>    void show2() {</a:t>
            </a:r>
          </a:p>
          <a:p>
            <a:r>
              <a:rPr lang="en-IN" dirty="0"/>
              <a:t>        System.out.println("This is Child2 class");</a:t>
            </a:r>
          </a:p>
          <a:p>
            <a:r>
              <a:rPr lang="en-IN" dirty="0"/>
              <a:t>    }</a:t>
            </a:r>
          </a:p>
          <a:p>
            <a:r>
              <a:rPr lang="en-IN" dirty="0"/>
              <a:t>}</a:t>
            </a:r>
          </a:p>
          <a:p>
            <a:endParaRPr lang="en-IN" dirty="0"/>
          </a:p>
          <a:p>
            <a:r>
              <a:rPr lang="en-IN" dirty="0"/>
              <a:t>public class pack {</a:t>
            </a:r>
          </a:p>
          <a:p>
            <a:r>
              <a:rPr lang="en-IN" dirty="0"/>
              <a:t>    public static void main(String args[]) {</a:t>
            </a:r>
          </a:p>
          <a:p>
            <a:r>
              <a:rPr lang="en-IN" dirty="0"/>
              <a:t>        Child1 c1 = new Child1();</a:t>
            </a:r>
          </a:p>
          <a:p>
            <a:r>
              <a:rPr lang="en-IN" dirty="0"/>
              <a:t>        Child2 c2 = new Child2();</a:t>
            </a:r>
          </a:p>
          <a:p>
            <a:endParaRPr lang="en-IN" dirty="0"/>
          </a:p>
          <a:p>
            <a:r>
              <a:rPr lang="en-IN" dirty="0"/>
              <a:t>        c1.display();  // Inherited from Parent</a:t>
            </a:r>
          </a:p>
          <a:p>
            <a:r>
              <a:rPr lang="en-IN" dirty="0"/>
              <a:t>        c1.show1();    // Child1's own method</a:t>
            </a:r>
          </a:p>
          <a:p>
            <a:endParaRPr lang="en-IN" dirty="0"/>
          </a:p>
          <a:p>
            <a:r>
              <a:rPr lang="en-IN" dirty="0"/>
              <a:t>        c2.display();  // Inherited from Parent</a:t>
            </a:r>
          </a:p>
          <a:p>
            <a:r>
              <a:rPr lang="en-IN" dirty="0"/>
              <a:t>        c2.show2();    // Child2's own method</a:t>
            </a:r>
          </a:p>
          <a:p>
            <a:r>
              <a:rPr lang="en-IN" dirty="0"/>
              <a:t>    }</a:t>
            </a:r>
          </a:p>
          <a:p>
            <a:r>
              <a:rPr lang="en-IN" dirty="0"/>
              <a:t>}</a:t>
            </a:r>
          </a:p>
          <a:p>
            <a:endParaRPr lang="en-IN" dirty="0"/>
          </a:p>
          <a:p>
            <a:r>
              <a:rPr lang="en-IN" b="1" dirty="0"/>
              <a:t>4] multiple inheritance (Via interfaces)</a:t>
            </a:r>
          </a:p>
          <a:p>
            <a:endParaRPr lang="en-IN" dirty="0"/>
          </a:p>
          <a:p>
            <a:pPr marL="285750" indent="-285750">
              <a:buFont typeface="Arial" panose="020B0604020202020204" pitchFamily="34" charset="0"/>
              <a:buChar char="•"/>
            </a:pPr>
            <a:r>
              <a:rPr lang="en-IN" dirty="0"/>
              <a:t>Java does not allows multiple inheritance with class to avoid ambiguity (Diamond problem). But it support multiple inheritance through interface </a:t>
            </a:r>
          </a:p>
        </p:txBody>
      </p:sp>
    </p:spTree>
    <p:extLst>
      <p:ext uri="{BB962C8B-B14F-4D97-AF65-F5344CB8AC3E}">
        <p14:creationId xmlns:p14="http://schemas.microsoft.com/office/powerpoint/2010/main" val="754538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C9701-5915-BD44-D060-08A5DE518A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1D2904-2CAD-909A-FE47-5C4BF6FC1473}"/>
              </a:ext>
            </a:extLst>
          </p:cNvPr>
          <p:cNvSpPr txBox="1"/>
          <p:nvPr/>
        </p:nvSpPr>
        <p:spPr>
          <a:xfrm>
            <a:off x="884582" y="-79653"/>
            <a:ext cx="8488017" cy="7017306"/>
          </a:xfrm>
          <a:prstGeom prst="rect">
            <a:avLst/>
          </a:prstGeom>
          <a:noFill/>
        </p:spPr>
        <p:txBody>
          <a:bodyPr wrap="square">
            <a:spAutoFit/>
          </a:bodyPr>
          <a:lstStyle/>
          <a:p>
            <a:r>
              <a:rPr lang="en-IN" dirty="0"/>
              <a:t>interface A {</a:t>
            </a:r>
          </a:p>
          <a:p>
            <a:r>
              <a:rPr lang="en-IN" dirty="0"/>
              <a:t>    void show();</a:t>
            </a:r>
          </a:p>
          <a:p>
            <a:r>
              <a:rPr lang="en-IN" dirty="0"/>
              <a:t>}</a:t>
            </a:r>
          </a:p>
          <a:p>
            <a:endParaRPr lang="en-IN" dirty="0"/>
          </a:p>
          <a:p>
            <a:r>
              <a:rPr lang="en-IN" dirty="0"/>
              <a:t>interface B {</a:t>
            </a:r>
          </a:p>
          <a:p>
            <a:r>
              <a:rPr lang="en-IN" dirty="0"/>
              <a:t>    void display();</a:t>
            </a:r>
          </a:p>
          <a:p>
            <a:r>
              <a:rPr lang="en-IN" dirty="0"/>
              <a:t>}</a:t>
            </a:r>
          </a:p>
          <a:p>
            <a:endParaRPr lang="en-IN" dirty="0"/>
          </a:p>
          <a:p>
            <a:r>
              <a:rPr lang="en-IN" dirty="0"/>
              <a:t>class C implements A, B {</a:t>
            </a:r>
          </a:p>
          <a:p>
            <a:r>
              <a:rPr lang="en-IN" dirty="0"/>
              <a:t>    public void show() {</a:t>
            </a:r>
          </a:p>
          <a:p>
            <a:r>
              <a:rPr lang="en-IN" dirty="0"/>
              <a:t>        System.out.println("This is show() from Interface A");</a:t>
            </a:r>
          </a:p>
          <a:p>
            <a:r>
              <a:rPr lang="en-IN" dirty="0"/>
              <a:t>    }</a:t>
            </a:r>
          </a:p>
          <a:p>
            <a:endParaRPr lang="en-IN" dirty="0"/>
          </a:p>
          <a:p>
            <a:r>
              <a:rPr lang="en-IN" dirty="0"/>
              <a:t>    public void display() {</a:t>
            </a:r>
          </a:p>
          <a:p>
            <a:r>
              <a:rPr lang="en-IN" dirty="0"/>
              <a:t>        System.out.println("This is display() from Interface B");</a:t>
            </a:r>
          </a:p>
          <a:p>
            <a:r>
              <a:rPr lang="en-IN" dirty="0"/>
              <a:t>    }</a:t>
            </a:r>
          </a:p>
          <a:p>
            <a:r>
              <a:rPr lang="en-IN" dirty="0"/>
              <a:t>}</a:t>
            </a:r>
          </a:p>
          <a:p>
            <a:endParaRPr lang="en-IN" dirty="0"/>
          </a:p>
          <a:p>
            <a:r>
              <a:rPr lang="en-IN" dirty="0"/>
              <a:t>public class pack {</a:t>
            </a:r>
          </a:p>
          <a:p>
            <a:r>
              <a:rPr lang="en-IN" dirty="0"/>
              <a:t>    public static void main(String args[]) {</a:t>
            </a:r>
          </a:p>
          <a:p>
            <a:r>
              <a:rPr lang="en-IN" dirty="0"/>
              <a:t>        C obj = new C();</a:t>
            </a:r>
          </a:p>
          <a:p>
            <a:r>
              <a:rPr lang="en-IN" dirty="0"/>
              <a:t>        </a:t>
            </a:r>
            <a:r>
              <a:rPr lang="en-IN" dirty="0" err="1"/>
              <a:t>obj.show</a:t>
            </a:r>
            <a:r>
              <a:rPr lang="en-IN" dirty="0"/>
              <a:t>();</a:t>
            </a:r>
          </a:p>
          <a:p>
            <a:r>
              <a:rPr lang="en-IN" dirty="0"/>
              <a:t>        </a:t>
            </a:r>
            <a:r>
              <a:rPr lang="en-IN" dirty="0" err="1"/>
              <a:t>obj.display</a:t>
            </a:r>
            <a:r>
              <a:rPr lang="en-IN" dirty="0"/>
              <a:t>();</a:t>
            </a:r>
          </a:p>
          <a:p>
            <a:r>
              <a:rPr lang="en-IN" dirty="0"/>
              <a:t>    }</a:t>
            </a:r>
          </a:p>
          <a:p>
            <a:r>
              <a:rPr lang="en-IN" dirty="0"/>
              <a:t>}</a:t>
            </a:r>
          </a:p>
        </p:txBody>
      </p:sp>
    </p:spTree>
    <p:extLst>
      <p:ext uri="{BB962C8B-B14F-4D97-AF65-F5344CB8AC3E}">
        <p14:creationId xmlns:p14="http://schemas.microsoft.com/office/powerpoint/2010/main" val="3783291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6225-0DE8-3390-E0F8-8E6AAD1E25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72A87A-E5DA-F38D-0763-4A47A258C58B}"/>
              </a:ext>
            </a:extLst>
          </p:cNvPr>
          <p:cNvSpPr txBox="1"/>
          <p:nvPr/>
        </p:nvSpPr>
        <p:spPr>
          <a:xfrm>
            <a:off x="924340" y="135332"/>
            <a:ext cx="8388626" cy="1200329"/>
          </a:xfrm>
          <a:prstGeom prst="rect">
            <a:avLst/>
          </a:prstGeom>
          <a:noFill/>
        </p:spPr>
        <p:txBody>
          <a:bodyPr wrap="square">
            <a:spAutoFit/>
          </a:bodyPr>
          <a:lstStyle/>
          <a:p>
            <a:pPr>
              <a:buNone/>
            </a:pPr>
            <a:r>
              <a:rPr lang="en-US" b="1" dirty="0"/>
              <a:t>Note:</a:t>
            </a:r>
          </a:p>
          <a:p>
            <a:pPr>
              <a:buFont typeface="Arial" panose="020B0604020202020204" pitchFamily="34" charset="0"/>
              <a:buChar char="•"/>
            </a:pPr>
            <a:r>
              <a:rPr lang="en-US" dirty="0"/>
              <a:t>Keyword used:</a:t>
            </a:r>
          </a:p>
          <a:p>
            <a:pPr marL="742950" lvl="1" indent="-285750">
              <a:buFont typeface="Arial" panose="020B0604020202020204" pitchFamily="34" charset="0"/>
              <a:buChar char="•"/>
            </a:pPr>
            <a:r>
              <a:rPr lang="en-US" dirty="0">
                <a:latin typeface="Trebuchet MS (Body)"/>
              </a:rPr>
              <a:t>extends</a:t>
            </a:r>
            <a:r>
              <a:rPr lang="en-US" dirty="0"/>
              <a:t> → for class-to-class inheritance</a:t>
            </a:r>
            <a:endParaRPr lang="en-US" dirty="0">
              <a:latin typeface="Trebuchet MS (Body)"/>
            </a:endParaRPr>
          </a:p>
          <a:p>
            <a:pPr marL="742950" lvl="1" indent="-285750">
              <a:buFont typeface="Arial" panose="020B0604020202020204" pitchFamily="34" charset="0"/>
              <a:buChar char="•"/>
            </a:pPr>
            <a:r>
              <a:rPr lang="en-US" dirty="0">
                <a:latin typeface="Trebuchet MS (Body)"/>
              </a:rPr>
              <a:t>implements</a:t>
            </a:r>
            <a:r>
              <a:rPr lang="en-US" dirty="0"/>
              <a:t> → for class-to-interface inheritance</a:t>
            </a:r>
          </a:p>
        </p:txBody>
      </p:sp>
      <p:sp>
        <p:nvSpPr>
          <p:cNvPr id="7" name="TextBox 6">
            <a:extLst>
              <a:ext uri="{FF2B5EF4-FFF2-40B4-BE49-F238E27FC236}">
                <a16:creationId xmlns:a16="http://schemas.microsoft.com/office/drawing/2014/main" id="{11874F42-A723-C57C-8CBB-3AC107A7B6EC}"/>
              </a:ext>
            </a:extLst>
          </p:cNvPr>
          <p:cNvSpPr txBox="1"/>
          <p:nvPr/>
        </p:nvSpPr>
        <p:spPr>
          <a:xfrm>
            <a:off x="924340" y="1335661"/>
            <a:ext cx="8577469" cy="5355312"/>
          </a:xfrm>
          <a:prstGeom prst="rect">
            <a:avLst/>
          </a:prstGeom>
          <a:noFill/>
        </p:spPr>
        <p:txBody>
          <a:bodyPr wrap="square">
            <a:spAutoFit/>
          </a:bodyPr>
          <a:lstStyle/>
          <a:p>
            <a:r>
              <a:rPr lang="en-IN" b="1" dirty="0"/>
              <a:t>5] Hybrid inheritance (Via interfaces)</a:t>
            </a:r>
          </a:p>
          <a:p>
            <a:endParaRPr lang="en-IN" dirty="0"/>
          </a:p>
          <a:p>
            <a:pPr marL="285750" indent="-285750">
              <a:buFont typeface="Arial" panose="020B0604020202020204" pitchFamily="34" charset="0"/>
              <a:buChar char="•"/>
            </a:pPr>
            <a:r>
              <a:rPr lang="en-IN" dirty="0"/>
              <a:t>A combination of two or more types of inheritance , achieved using interfaces.</a:t>
            </a:r>
          </a:p>
          <a:p>
            <a:pPr marL="285750" indent="-285750">
              <a:buFont typeface="Arial" panose="020B0604020202020204" pitchFamily="34" charset="0"/>
              <a:buChar char="•"/>
            </a:pPr>
            <a:endParaRPr lang="en-IN" dirty="0"/>
          </a:p>
          <a:p>
            <a:r>
              <a:rPr lang="en-IN" dirty="0"/>
              <a:t>interface A {</a:t>
            </a:r>
          </a:p>
          <a:p>
            <a:r>
              <a:rPr lang="en-IN" dirty="0"/>
              <a:t>    void </a:t>
            </a:r>
            <a:r>
              <a:rPr lang="en-IN" dirty="0" err="1"/>
              <a:t>methodA</a:t>
            </a:r>
            <a:r>
              <a:rPr lang="en-IN" dirty="0"/>
              <a:t>();</a:t>
            </a:r>
          </a:p>
          <a:p>
            <a:r>
              <a:rPr lang="en-IN" dirty="0"/>
              <a:t>}</a:t>
            </a:r>
          </a:p>
          <a:p>
            <a:endParaRPr lang="en-IN" dirty="0"/>
          </a:p>
          <a:p>
            <a:r>
              <a:rPr lang="en-IN" dirty="0"/>
              <a:t>class B implements A {</a:t>
            </a:r>
          </a:p>
          <a:p>
            <a:r>
              <a:rPr lang="en-IN" dirty="0"/>
              <a:t>    public void </a:t>
            </a:r>
            <a:r>
              <a:rPr lang="en-IN" dirty="0" err="1"/>
              <a:t>methodA</a:t>
            </a:r>
            <a:r>
              <a:rPr lang="en-IN" dirty="0"/>
              <a:t>() {</a:t>
            </a:r>
          </a:p>
          <a:p>
            <a:r>
              <a:rPr lang="en-IN" dirty="0"/>
              <a:t>        System.out.println("Method from Interface A");</a:t>
            </a:r>
          </a:p>
          <a:p>
            <a:r>
              <a:rPr lang="en-IN" dirty="0"/>
              <a:t>    }</a:t>
            </a:r>
          </a:p>
          <a:p>
            <a:r>
              <a:rPr lang="en-IN" dirty="0"/>
              <a:t>}</a:t>
            </a:r>
          </a:p>
          <a:p>
            <a:endParaRPr lang="en-IN" dirty="0"/>
          </a:p>
          <a:p>
            <a:r>
              <a:rPr lang="en-IN" dirty="0"/>
              <a:t>class C extends B {</a:t>
            </a:r>
          </a:p>
          <a:p>
            <a:r>
              <a:rPr lang="en-IN" dirty="0"/>
              <a:t>    void </a:t>
            </a:r>
            <a:r>
              <a:rPr lang="en-IN" dirty="0" err="1"/>
              <a:t>methodC</a:t>
            </a:r>
            <a:r>
              <a:rPr lang="en-IN" dirty="0"/>
              <a:t>() {</a:t>
            </a:r>
          </a:p>
          <a:p>
            <a:r>
              <a:rPr lang="en-IN" dirty="0"/>
              <a:t>        System.out.println("Method from Class C");</a:t>
            </a:r>
          </a:p>
          <a:p>
            <a:r>
              <a:rPr lang="en-IN" dirty="0"/>
              <a:t>    }</a:t>
            </a:r>
          </a:p>
          <a:p>
            <a:r>
              <a:rPr lang="en-IN" dirty="0"/>
              <a:t>}</a:t>
            </a:r>
          </a:p>
        </p:txBody>
      </p:sp>
    </p:spTree>
    <p:extLst>
      <p:ext uri="{BB962C8B-B14F-4D97-AF65-F5344CB8AC3E}">
        <p14:creationId xmlns:p14="http://schemas.microsoft.com/office/powerpoint/2010/main" val="2861177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5FD58-7E1A-FF1E-A5AD-B5352381483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EBEFBDD-9691-E63C-A8E4-B32C9C840902}"/>
              </a:ext>
            </a:extLst>
          </p:cNvPr>
          <p:cNvSpPr txBox="1"/>
          <p:nvPr/>
        </p:nvSpPr>
        <p:spPr>
          <a:xfrm>
            <a:off x="914399" y="182007"/>
            <a:ext cx="8468139" cy="5632311"/>
          </a:xfrm>
          <a:prstGeom prst="rect">
            <a:avLst/>
          </a:prstGeom>
          <a:noFill/>
        </p:spPr>
        <p:txBody>
          <a:bodyPr wrap="square">
            <a:spAutoFit/>
          </a:bodyPr>
          <a:lstStyle/>
          <a:p>
            <a:r>
              <a:rPr lang="en-IN" dirty="0"/>
              <a:t>class D extends C {</a:t>
            </a:r>
          </a:p>
          <a:p>
            <a:r>
              <a:rPr lang="en-IN" dirty="0"/>
              <a:t>    void </a:t>
            </a:r>
            <a:r>
              <a:rPr lang="en-IN" dirty="0" err="1"/>
              <a:t>methodD</a:t>
            </a:r>
            <a:r>
              <a:rPr lang="en-IN" dirty="0"/>
              <a:t>() {</a:t>
            </a:r>
          </a:p>
          <a:p>
            <a:r>
              <a:rPr lang="en-IN" dirty="0"/>
              <a:t>        System.out.println("Method from Class D");</a:t>
            </a:r>
          </a:p>
          <a:p>
            <a:r>
              <a:rPr lang="en-IN" dirty="0"/>
              <a:t>    }</a:t>
            </a:r>
          </a:p>
          <a:p>
            <a:r>
              <a:rPr lang="en-IN" dirty="0"/>
              <a:t>}</a:t>
            </a:r>
          </a:p>
          <a:p>
            <a:endParaRPr lang="en-IN" dirty="0"/>
          </a:p>
          <a:p>
            <a:r>
              <a:rPr lang="en-IN" dirty="0"/>
              <a:t>public class pack {</a:t>
            </a:r>
          </a:p>
          <a:p>
            <a:r>
              <a:rPr lang="en-IN" dirty="0"/>
              <a:t>    public static void main(String args[]) {</a:t>
            </a:r>
          </a:p>
          <a:p>
            <a:r>
              <a:rPr lang="en-IN" dirty="0"/>
              <a:t>        D obj = new D();</a:t>
            </a:r>
          </a:p>
          <a:p>
            <a:r>
              <a:rPr lang="en-IN" dirty="0"/>
              <a:t>        </a:t>
            </a:r>
            <a:r>
              <a:rPr lang="en-IN" dirty="0" err="1"/>
              <a:t>obj.methodA</a:t>
            </a:r>
            <a:r>
              <a:rPr lang="en-IN" dirty="0"/>
              <a:t>(); // from Interface A (via class B)</a:t>
            </a:r>
          </a:p>
          <a:p>
            <a:r>
              <a:rPr lang="en-IN" dirty="0"/>
              <a:t>        </a:t>
            </a:r>
            <a:r>
              <a:rPr lang="en-IN" dirty="0" err="1"/>
              <a:t>obj.methodC</a:t>
            </a:r>
            <a:r>
              <a:rPr lang="en-IN" dirty="0"/>
              <a:t>(); // from class C</a:t>
            </a:r>
          </a:p>
          <a:p>
            <a:r>
              <a:rPr lang="en-IN" dirty="0"/>
              <a:t>        </a:t>
            </a:r>
            <a:r>
              <a:rPr lang="en-IN" dirty="0" err="1"/>
              <a:t>obj.methodD</a:t>
            </a:r>
            <a:r>
              <a:rPr lang="en-IN" dirty="0"/>
              <a:t>(); // from class D</a:t>
            </a:r>
          </a:p>
          <a:p>
            <a:r>
              <a:rPr lang="en-IN" dirty="0"/>
              <a:t>    }</a:t>
            </a:r>
          </a:p>
          <a:p>
            <a:r>
              <a:rPr lang="en-IN" dirty="0"/>
              <a:t>}</a:t>
            </a:r>
          </a:p>
          <a:p>
            <a:endParaRPr lang="en-IN" dirty="0"/>
          </a:p>
          <a:p>
            <a:r>
              <a:rPr lang="en-IN" b="1" dirty="0"/>
              <a:t>Output:</a:t>
            </a:r>
          </a:p>
          <a:p>
            <a:endParaRPr lang="en-IN" dirty="0"/>
          </a:p>
          <a:p>
            <a:r>
              <a:rPr lang="en-US" dirty="0"/>
              <a:t>Method from Interface A</a:t>
            </a:r>
          </a:p>
          <a:p>
            <a:r>
              <a:rPr lang="en-US" dirty="0"/>
              <a:t>Method from Class C</a:t>
            </a:r>
          </a:p>
          <a:p>
            <a:r>
              <a:rPr lang="en-US" dirty="0"/>
              <a:t>Method from Class D</a:t>
            </a:r>
          </a:p>
        </p:txBody>
      </p:sp>
    </p:spTree>
    <p:extLst>
      <p:ext uri="{BB962C8B-B14F-4D97-AF65-F5344CB8AC3E}">
        <p14:creationId xmlns:p14="http://schemas.microsoft.com/office/powerpoint/2010/main" val="2697896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71E6-3ECB-824A-BA5D-EFA014739F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1A8A273-DCF0-3AB8-ACB5-78F53859DD9E}"/>
              </a:ext>
            </a:extLst>
          </p:cNvPr>
          <p:cNvSpPr txBox="1"/>
          <p:nvPr/>
        </p:nvSpPr>
        <p:spPr>
          <a:xfrm>
            <a:off x="834886" y="103568"/>
            <a:ext cx="8507897" cy="6740307"/>
          </a:xfrm>
          <a:prstGeom prst="rect">
            <a:avLst/>
          </a:prstGeom>
          <a:noFill/>
        </p:spPr>
        <p:txBody>
          <a:bodyPr wrap="square">
            <a:spAutoFit/>
          </a:bodyPr>
          <a:lstStyle/>
          <a:p>
            <a:r>
              <a:rPr lang="en-US" b="1" dirty="0"/>
              <a:t>3.2 Use of super keyword </a:t>
            </a:r>
          </a:p>
          <a:p>
            <a:endParaRPr lang="en-US" dirty="0"/>
          </a:p>
          <a:p>
            <a:pPr marL="285750" indent="-285750">
              <a:buFont typeface="Arial" panose="020B0604020202020204" pitchFamily="34" charset="0"/>
              <a:buChar char="•"/>
            </a:pPr>
            <a:r>
              <a:rPr lang="en-US" dirty="0"/>
              <a:t>The super keyword in Java is used to refer to immediate parent class members like variables, methods, and constructors. It is mainly used in inheritance to resolve ambiguity when a subclass has overridden methods or variables with the same name as the parent class.it has three main ways :- </a:t>
            </a:r>
          </a:p>
          <a:p>
            <a:pPr marL="285750" indent="-285750">
              <a:buFont typeface="Arial" panose="020B0604020202020204" pitchFamily="34" charset="0"/>
              <a:buChar char="•"/>
            </a:pPr>
            <a:endParaRPr lang="en-US" dirty="0"/>
          </a:p>
          <a:p>
            <a:pPr marL="342900" indent="-342900">
              <a:buFont typeface="+mj-lt"/>
              <a:buAutoNum type="arabicPeriod"/>
            </a:pPr>
            <a:r>
              <a:rPr lang="en-US" b="1" dirty="0"/>
              <a:t>Use of super for Variables</a:t>
            </a:r>
          </a:p>
          <a:p>
            <a:endParaRPr lang="en-US" dirty="0"/>
          </a:p>
          <a:p>
            <a:r>
              <a:rPr lang="en-US" dirty="0"/>
              <a:t>If both parent and child classes have a variable with the same name, super helps to access the parent class variable.</a:t>
            </a:r>
          </a:p>
          <a:p>
            <a:endParaRPr lang="en-US" dirty="0"/>
          </a:p>
          <a:p>
            <a:r>
              <a:rPr lang="en-US" dirty="0"/>
              <a:t>class Vehicle {</a:t>
            </a:r>
          </a:p>
          <a:p>
            <a:r>
              <a:rPr lang="en-US" dirty="0"/>
              <a:t>    int maxSpeed = 120;</a:t>
            </a:r>
          </a:p>
          <a:p>
            <a:r>
              <a:rPr lang="en-US" dirty="0"/>
              <a:t>}</a:t>
            </a:r>
          </a:p>
          <a:p>
            <a:endParaRPr lang="en-US" dirty="0"/>
          </a:p>
          <a:p>
            <a:r>
              <a:rPr lang="en-US" dirty="0"/>
              <a:t>class Car extends Vehicle {</a:t>
            </a:r>
          </a:p>
          <a:p>
            <a:r>
              <a:rPr lang="en-US" dirty="0"/>
              <a:t>    int maxSpeed = 180;</a:t>
            </a:r>
          </a:p>
          <a:p>
            <a:endParaRPr lang="en-US" dirty="0"/>
          </a:p>
          <a:p>
            <a:r>
              <a:rPr lang="en-US" dirty="0"/>
              <a:t>    void display() {</a:t>
            </a:r>
          </a:p>
          <a:p>
            <a:r>
              <a:rPr lang="en-US" dirty="0"/>
              <a:t>        System.out.println("Maximum Speed: " + super.maxSpeed);</a:t>
            </a:r>
          </a:p>
          <a:p>
            <a:r>
              <a:rPr lang="en-US" dirty="0"/>
              <a:t>    }</a:t>
            </a:r>
          </a:p>
          <a:p>
            <a:r>
              <a:rPr lang="en-US" dirty="0"/>
              <a:t>}</a:t>
            </a:r>
          </a:p>
          <a:p>
            <a:endParaRPr lang="en-IN" dirty="0"/>
          </a:p>
        </p:txBody>
      </p:sp>
    </p:spTree>
    <p:extLst>
      <p:ext uri="{BB962C8B-B14F-4D97-AF65-F5344CB8AC3E}">
        <p14:creationId xmlns:p14="http://schemas.microsoft.com/office/powerpoint/2010/main" val="2076126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4858-7AC8-8AAE-BE6C-10CF2A94AA7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A6C9CA-3937-6561-25CD-8681C2BE88AF}"/>
              </a:ext>
            </a:extLst>
          </p:cNvPr>
          <p:cNvSpPr txBox="1"/>
          <p:nvPr/>
        </p:nvSpPr>
        <p:spPr>
          <a:xfrm>
            <a:off x="834887" y="155645"/>
            <a:ext cx="8378687" cy="6186309"/>
          </a:xfrm>
          <a:prstGeom prst="rect">
            <a:avLst/>
          </a:prstGeom>
          <a:noFill/>
        </p:spPr>
        <p:txBody>
          <a:bodyPr wrap="square">
            <a:spAutoFit/>
          </a:bodyPr>
          <a:lstStyle/>
          <a:p>
            <a:r>
              <a:rPr lang="en-IN" dirty="0"/>
              <a:t>class Test {</a:t>
            </a:r>
          </a:p>
          <a:p>
            <a:r>
              <a:rPr lang="en-IN" dirty="0"/>
              <a:t>    public static void main(String[] args) {</a:t>
            </a:r>
          </a:p>
          <a:p>
            <a:r>
              <a:rPr lang="en-IN" dirty="0"/>
              <a:t>        Car small = new Car();</a:t>
            </a:r>
          </a:p>
          <a:p>
            <a:r>
              <a:rPr lang="en-IN" dirty="0"/>
              <a:t>        </a:t>
            </a:r>
            <a:r>
              <a:rPr lang="en-IN" dirty="0" err="1"/>
              <a:t>small.display</a:t>
            </a:r>
            <a:r>
              <a:rPr lang="en-IN" dirty="0"/>
              <a:t>();</a:t>
            </a:r>
          </a:p>
          <a:p>
            <a:r>
              <a:rPr lang="en-IN" dirty="0"/>
              <a:t>    }</a:t>
            </a:r>
          </a:p>
          <a:p>
            <a:r>
              <a:rPr lang="en-IN" dirty="0"/>
              <a:t>}</a:t>
            </a:r>
          </a:p>
          <a:p>
            <a:r>
              <a:rPr lang="en-IN" dirty="0"/>
              <a:t>// Output: Maximum Speed: 120</a:t>
            </a:r>
          </a:p>
          <a:p>
            <a:endParaRPr lang="en-IN" dirty="0"/>
          </a:p>
          <a:p>
            <a:r>
              <a:rPr lang="en-US" dirty="0"/>
              <a:t>This code prints the maxSpeed from the Vehicle (parent) class using super.maxSpeed.</a:t>
            </a:r>
          </a:p>
          <a:p>
            <a:endParaRPr lang="en-US" dirty="0"/>
          </a:p>
          <a:p>
            <a:r>
              <a:rPr lang="en-US" b="1" dirty="0"/>
              <a:t>2. Use of super for Methods</a:t>
            </a:r>
          </a:p>
          <a:p>
            <a:endParaRPr lang="en-US" b="1" dirty="0"/>
          </a:p>
          <a:p>
            <a:pPr marL="285750" indent="-285750">
              <a:buFont typeface="Arial" panose="020B0604020202020204" pitchFamily="34" charset="0"/>
              <a:buChar char="•"/>
            </a:pPr>
            <a:r>
              <a:rPr lang="en-US" dirty="0"/>
              <a:t>super is also used to invoke the parent class's method when both parent and child have methods with the same name.</a:t>
            </a:r>
          </a:p>
          <a:p>
            <a:endParaRPr lang="en-US" dirty="0"/>
          </a:p>
          <a:p>
            <a:r>
              <a:rPr lang="en-US" dirty="0"/>
              <a:t>class Animal {</a:t>
            </a:r>
          </a:p>
          <a:p>
            <a:r>
              <a:rPr lang="en-US" dirty="0"/>
              <a:t>    void display() {</a:t>
            </a:r>
          </a:p>
          <a:p>
            <a:r>
              <a:rPr lang="en-US" dirty="0"/>
              <a:t>        System.out.println("I am an animal");</a:t>
            </a:r>
          </a:p>
          <a:p>
            <a:r>
              <a:rPr lang="en-US" dirty="0"/>
              <a:t>    }</a:t>
            </a:r>
          </a:p>
          <a:p>
            <a:r>
              <a:rPr lang="en-US" dirty="0"/>
              <a:t>}</a:t>
            </a:r>
          </a:p>
          <a:p>
            <a:endParaRPr lang="en-US" dirty="0"/>
          </a:p>
        </p:txBody>
      </p:sp>
    </p:spTree>
    <p:extLst>
      <p:ext uri="{BB962C8B-B14F-4D97-AF65-F5344CB8AC3E}">
        <p14:creationId xmlns:p14="http://schemas.microsoft.com/office/powerpoint/2010/main" val="2120366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8778-F864-AD66-36E0-458C1B44F76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121354-02F4-B3A6-2C48-1AA349F33F82}"/>
              </a:ext>
            </a:extLst>
          </p:cNvPr>
          <p:cNvSpPr txBox="1"/>
          <p:nvPr/>
        </p:nvSpPr>
        <p:spPr>
          <a:xfrm>
            <a:off x="934278" y="0"/>
            <a:ext cx="8239539" cy="6463308"/>
          </a:xfrm>
          <a:prstGeom prst="rect">
            <a:avLst/>
          </a:prstGeom>
          <a:noFill/>
        </p:spPr>
        <p:txBody>
          <a:bodyPr wrap="square">
            <a:spAutoFit/>
          </a:bodyPr>
          <a:lstStyle/>
          <a:p>
            <a:r>
              <a:rPr lang="en-IN" dirty="0"/>
              <a:t>class Dog extends Animal {</a:t>
            </a:r>
          </a:p>
          <a:p>
            <a:r>
              <a:rPr lang="en-IN" dirty="0"/>
              <a:t>    void display() {</a:t>
            </a:r>
          </a:p>
          <a:p>
            <a:r>
              <a:rPr lang="en-IN" dirty="0"/>
              <a:t>        System.out.println("I am a dog");</a:t>
            </a:r>
          </a:p>
          <a:p>
            <a:r>
              <a:rPr lang="en-IN" dirty="0"/>
              <a:t>    }</a:t>
            </a:r>
          </a:p>
          <a:p>
            <a:endParaRPr lang="en-IN" dirty="0"/>
          </a:p>
          <a:p>
            <a:r>
              <a:rPr lang="en-IN" dirty="0"/>
              <a:t>    void </a:t>
            </a:r>
            <a:r>
              <a:rPr lang="en-IN" dirty="0" err="1"/>
              <a:t>printMessage</a:t>
            </a:r>
            <a:r>
              <a:rPr lang="en-IN" dirty="0"/>
              <a:t>() {</a:t>
            </a:r>
          </a:p>
          <a:p>
            <a:r>
              <a:rPr lang="en-IN" dirty="0"/>
              <a:t>        </a:t>
            </a:r>
            <a:r>
              <a:rPr lang="en-IN" dirty="0" err="1"/>
              <a:t>super.display</a:t>
            </a:r>
            <a:r>
              <a:rPr lang="en-IN" dirty="0"/>
              <a:t>(); // Calls Animal's display()</a:t>
            </a:r>
          </a:p>
          <a:p>
            <a:r>
              <a:rPr lang="en-IN" dirty="0"/>
              <a:t>        display();       // Calls Dog's display()</a:t>
            </a:r>
          </a:p>
          <a:p>
            <a:r>
              <a:rPr lang="en-IN" dirty="0"/>
              <a:t>    }</a:t>
            </a:r>
          </a:p>
          <a:p>
            <a:r>
              <a:rPr lang="en-IN" dirty="0"/>
              <a:t>}</a:t>
            </a:r>
          </a:p>
          <a:p>
            <a:endParaRPr lang="en-IN" dirty="0"/>
          </a:p>
          <a:p>
            <a:r>
              <a:rPr lang="en-IN" dirty="0"/>
              <a:t>class Main {</a:t>
            </a:r>
          </a:p>
          <a:p>
            <a:r>
              <a:rPr lang="en-IN" dirty="0"/>
              <a:t>    public static void main(String[] args) {</a:t>
            </a:r>
          </a:p>
          <a:p>
            <a:r>
              <a:rPr lang="en-IN" dirty="0"/>
              <a:t>        Dog dog = new Dog();</a:t>
            </a:r>
          </a:p>
          <a:p>
            <a:r>
              <a:rPr lang="en-IN" dirty="0"/>
              <a:t>        dog.printMessage();</a:t>
            </a:r>
          </a:p>
          <a:p>
            <a:r>
              <a:rPr lang="en-IN" dirty="0"/>
              <a:t>    }</a:t>
            </a:r>
          </a:p>
          <a:p>
            <a:r>
              <a:rPr lang="en-IN" dirty="0"/>
              <a:t>}</a:t>
            </a:r>
          </a:p>
          <a:p>
            <a:r>
              <a:rPr lang="en-IN" dirty="0"/>
              <a:t>// Output:</a:t>
            </a:r>
          </a:p>
          <a:p>
            <a:r>
              <a:rPr lang="en-IN" dirty="0"/>
              <a:t>// I am an animal</a:t>
            </a:r>
          </a:p>
          <a:p>
            <a:r>
              <a:rPr lang="en-IN" dirty="0"/>
              <a:t>// I am a dog</a:t>
            </a:r>
          </a:p>
          <a:p>
            <a:endParaRPr lang="en-IN" dirty="0"/>
          </a:p>
          <a:p>
            <a:r>
              <a:rPr lang="en-US" dirty="0"/>
              <a:t>This code demonstrates </a:t>
            </a:r>
            <a:r>
              <a:rPr lang="en-US" dirty="0" err="1"/>
              <a:t>super.display</a:t>
            </a:r>
            <a:r>
              <a:rPr lang="en-US" dirty="0"/>
              <a:t>() calling the parent method.</a:t>
            </a:r>
          </a:p>
          <a:p>
            <a:endParaRPr lang="en-US" dirty="0"/>
          </a:p>
        </p:txBody>
      </p:sp>
    </p:spTree>
    <p:extLst>
      <p:ext uri="{BB962C8B-B14F-4D97-AF65-F5344CB8AC3E}">
        <p14:creationId xmlns:p14="http://schemas.microsoft.com/office/powerpoint/2010/main" val="3351826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0F7EC-20BD-16A1-5573-63C4DE36B7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FB1221-4A96-4F76-590D-8FC4EC466FFD}"/>
              </a:ext>
            </a:extLst>
          </p:cNvPr>
          <p:cNvSpPr txBox="1"/>
          <p:nvPr/>
        </p:nvSpPr>
        <p:spPr>
          <a:xfrm>
            <a:off x="1103243" y="234074"/>
            <a:ext cx="8239539" cy="6186309"/>
          </a:xfrm>
          <a:prstGeom prst="rect">
            <a:avLst/>
          </a:prstGeom>
          <a:noFill/>
        </p:spPr>
        <p:txBody>
          <a:bodyPr wrap="square">
            <a:spAutoFit/>
          </a:bodyPr>
          <a:lstStyle/>
          <a:p>
            <a:pPr algn="l">
              <a:buNone/>
            </a:pPr>
            <a:r>
              <a:rPr lang="en-US" b="1" i="0" dirty="0">
                <a:effectLst/>
                <a:latin typeface="fkGrotesk"/>
              </a:rPr>
              <a:t>3. Use of </a:t>
            </a:r>
            <a:r>
              <a:rPr lang="en-US" b="1" i="0" dirty="0">
                <a:effectLst/>
                <a:latin typeface="berkeleyMono"/>
              </a:rPr>
              <a:t>super</a:t>
            </a:r>
            <a:r>
              <a:rPr lang="en-US" b="1" i="0" dirty="0">
                <a:effectLst/>
                <a:latin typeface="fkGrotesk"/>
              </a:rPr>
              <a:t> for Constructors</a:t>
            </a:r>
          </a:p>
          <a:p>
            <a:pPr algn="l">
              <a:buNone/>
            </a:pPr>
            <a:endParaRPr lang="en-US" b="1" i="0" dirty="0">
              <a:effectLst/>
              <a:latin typeface="fkGrotesk"/>
            </a:endParaRPr>
          </a:p>
          <a:p>
            <a:pPr marL="285750" indent="-285750" algn="l">
              <a:buFont typeface="Arial" panose="020B0604020202020204" pitchFamily="34" charset="0"/>
              <a:buChar char="•"/>
            </a:pPr>
            <a:r>
              <a:rPr lang="en-US" b="0" i="0" dirty="0">
                <a:effectLst/>
                <a:latin typeface="berkeleyMono"/>
              </a:rPr>
              <a:t>super()</a:t>
            </a:r>
            <a:r>
              <a:rPr lang="en-US" b="0" i="0" dirty="0">
                <a:effectLst/>
                <a:latin typeface="fkGroteskNeue"/>
              </a:rPr>
              <a:t> calls the parent class constructor from the child class constructor.</a:t>
            </a:r>
          </a:p>
          <a:p>
            <a:pPr algn="l"/>
            <a:endParaRPr lang="en-US" dirty="0">
              <a:latin typeface="fkGroteskNeue"/>
            </a:endParaRPr>
          </a:p>
          <a:p>
            <a:r>
              <a:rPr lang="en-US" dirty="0">
                <a:latin typeface="fkGroteskNeue"/>
              </a:rPr>
              <a:t>class Animal {</a:t>
            </a:r>
          </a:p>
          <a:p>
            <a:r>
              <a:rPr lang="en-US" dirty="0">
                <a:latin typeface="fkGroteskNeue"/>
              </a:rPr>
              <a:t>    Animal(String name) {</a:t>
            </a:r>
          </a:p>
          <a:p>
            <a:r>
              <a:rPr lang="en-US" dirty="0">
                <a:latin typeface="fkGroteskNeue"/>
              </a:rPr>
              <a:t>        System.out.println("Animal constructor called: " + name);</a:t>
            </a:r>
          </a:p>
          <a:p>
            <a:r>
              <a:rPr lang="en-US" dirty="0">
                <a:latin typeface="fkGroteskNeue"/>
              </a:rPr>
              <a:t>    }</a:t>
            </a:r>
          </a:p>
          <a:p>
            <a:r>
              <a:rPr lang="en-US" dirty="0">
                <a:latin typeface="fkGroteskNeue"/>
              </a:rPr>
              <a:t>}</a:t>
            </a:r>
          </a:p>
          <a:p>
            <a:endParaRPr lang="en-US" dirty="0">
              <a:latin typeface="fkGroteskNeue"/>
            </a:endParaRPr>
          </a:p>
          <a:p>
            <a:r>
              <a:rPr lang="en-US" dirty="0">
                <a:latin typeface="fkGroteskNeue"/>
              </a:rPr>
              <a:t>class Dog extends Animal {</a:t>
            </a:r>
          </a:p>
          <a:p>
            <a:r>
              <a:rPr lang="en-US" dirty="0">
                <a:latin typeface="fkGroteskNeue"/>
              </a:rPr>
              <a:t>    Dog(String name) {</a:t>
            </a:r>
          </a:p>
          <a:p>
            <a:r>
              <a:rPr lang="en-US" dirty="0">
                <a:latin typeface="fkGroteskNeue"/>
              </a:rPr>
              <a:t>        super(name); // Calls Animal's constructor</a:t>
            </a:r>
          </a:p>
          <a:p>
            <a:r>
              <a:rPr lang="en-US" dirty="0">
                <a:latin typeface="fkGroteskNeue"/>
              </a:rPr>
              <a:t>        System.out.println("Dog constructor called");</a:t>
            </a:r>
          </a:p>
          <a:p>
            <a:r>
              <a:rPr lang="en-US" dirty="0">
                <a:latin typeface="fkGroteskNeue"/>
              </a:rPr>
              <a:t>    }</a:t>
            </a:r>
          </a:p>
          <a:p>
            <a:r>
              <a:rPr lang="en-US" dirty="0">
                <a:latin typeface="fkGroteskNeue"/>
              </a:rPr>
              <a:t>}</a:t>
            </a:r>
          </a:p>
          <a:p>
            <a:endParaRPr lang="en-US" dirty="0">
              <a:latin typeface="fkGroteskNeue"/>
            </a:endParaRPr>
          </a:p>
          <a:p>
            <a:r>
              <a:rPr lang="en-US" dirty="0">
                <a:latin typeface="fkGroteskNeue"/>
              </a:rPr>
              <a:t>class Main {</a:t>
            </a:r>
          </a:p>
          <a:p>
            <a:r>
              <a:rPr lang="en-US" dirty="0">
                <a:latin typeface="fkGroteskNeue"/>
              </a:rPr>
              <a:t>    public static void main(String[] args) {</a:t>
            </a:r>
          </a:p>
          <a:p>
            <a:r>
              <a:rPr lang="en-US" dirty="0">
                <a:latin typeface="fkGroteskNeue"/>
              </a:rPr>
              <a:t>        Dog </a:t>
            </a:r>
            <a:r>
              <a:rPr lang="en-US" dirty="0" err="1">
                <a:latin typeface="fkGroteskNeue"/>
              </a:rPr>
              <a:t>dog</a:t>
            </a:r>
            <a:r>
              <a:rPr lang="en-US" dirty="0">
                <a:latin typeface="fkGroteskNeue"/>
              </a:rPr>
              <a:t> = new Dog("Buddy");</a:t>
            </a:r>
          </a:p>
          <a:p>
            <a:r>
              <a:rPr lang="en-US" dirty="0">
                <a:latin typeface="fkGroteskNeue"/>
              </a:rPr>
              <a:t>    }</a:t>
            </a:r>
          </a:p>
          <a:p>
            <a:r>
              <a:rPr lang="en-US" dirty="0">
                <a:latin typeface="fkGroteskNeue"/>
              </a:rPr>
              <a:t>}</a:t>
            </a:r>
          </a:p>
        </p:txBody>
      </p:sp>
    </p:spTree>
    <p:extLst>
      <p:ext uri="{BB962C8B-B14F-4D97-AF65-F5344CB8AC3E}">
        <p14:creationId xmlns:p14="http://schemas.microsoft.com/office/powerpoint/2010/main" val="759175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3FDD8-D991-95D0-15D0-CA5C57E247E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8E1DA25-3A42-71FE-9157-BAAE4F24906A}"/>
              </a:ext>
            </a:extLst>
          </p:cNvPr>
          <p:cNvSpPr txBox="1"/>
          <p:nvPr/>
        </p:nvSpPr>
        <p:spPr>
          <a:xfrm>
            <a:off x="964096" y="218661"/>
            <a:ext cx="8080513" cy="4247317"/>
          </a:xfrm>
          <a:prstGeom prst="rect">
            <a:avLst/>
          </a:prstGeom>
          <a:noFill/>
        </p:spPr>
        <p:txBody>
          <a:bodyPr wrap="square">
            <a:spAutoFit/>
          </a:bodyPr>
          <a:lstStyle/>
          <a:p>
            <a:r>
              <a:rPr lang="en-IN" dirty="0"/>
              <a:t>// Output:</a:t>
            </a:r>
          </a:p>
          <a:p>
            <a:r>
              <a:rPr lang="en-IN" dirty="0"/>
              <a:t>// Animal constructor called: Buddy</a:t>
            </a:r>
          </a:p>
          <a:p>
            <a:r>
              <a:rPr lang="en-IN" dirty="0"/>
              <a:t>// Dog constructor called</a:t>
            </a:r>
          </a:p>
          <a:p>
            <a:endParaRPr lang="en-IN" dirty="0"/>
          </a:p>
          <a:p>
            <a:r>
              <a:rPr lang="en-US" dirty="0"/>
              <a:t>his uses super(name) to call the parent class constructor.</a:t>
            </a:r>
          </a:p>
          <a:p>
            <a:endParaRPr lang="en-US" dirty="0"/>
          </a:p>
          <a:p>
            <a:r>
              <a:rPr lang="en-IN" b="1" dirty="0"/>
              <a:t>3.3 Method overriding</a:t>
            </a:r>
          </a:p>
          <a:p>
            <a:endParaRPr lang="en-IN" dirty="0"/>
          </a:p>
          <a:p>
            <a:pPr marL="285750" indent="-285750">
              <a:buFont typeface="Arial" panose="020B0604020202020204" pitchFamily="34" charset="0"/>
              <a:buChar char="•"/>
            </a:pPr>
            <a:r>
              <a:rPr lang="en-US" dirty="0"/>
              <a:t>Method overriding occurs when a subclass provides its own implementation for a method that is already defined in its parent (superclass). The overriding method in the child class must have the same name, return type, and parameters as the method in the parent class. This allows the child class to offer specialized behavior while inheriting from a general class</a:t>
            </a:r>
          </a:p>
          <a:p>
            <a:endParaRPr lang="en-US" dirty="0"/>
          </a:p>
        </p:txBody>
      </p:sp>
    </p:spTree>
    <p:extLst>
      <p:ext uri="{BB962C8B-B14F-4D97-AF65-F5344CB8AC3E}">
        <p14:creationId xmlns:p14="http://schemas.microsoft.com/office/powerpoint/2010/main" val="2927248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13B23-4C4A-557D-0E21-6032C86950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40B2FC-E239-C36E-4B3B-4F9ADFF62444}"/>
              </a:ext>
            </a:extLst>
          </p:cNvPr>
          <p:cNvSpPr txBox="1"/>
          <p:nvPr/>
        </p:nvSpPr>
        <p:spPr>
          <a:xfrm>
            <a:off x="894522" y="85421"/>
            <a:ext cx="8199782" cy="6463308"/>
          </a:xfrm>
          <a:prstGeom prst="rect">
            <a:avLst/>
          </a:prstGeom>
          <a:noFill/>
        </p:spPr>
        <p:txBody>
          <a:bodyPr wrap="square">
            <a:spAutoFit/>
          </a:bodyPr>
          <a:lstStyle/>
          <a:p>
            <a:r>
              <a:rPr lang="en-IN" dirty="0"/>
              <a:t>class Animal {</a:t>
            </a:r>
          </a:p>
          <a:p>
            <a:r>
              <a:rPr lang="en-IN" dirty="0"/>
              <a:t>    void sound() {</a:t>
            </a:r>
          </a:p>
          <a:p>
            <a:r>
              <a:rPr lang="en-IN" dirty="0"/>
              <a:t>        System.out.println("Animal makes a sound");</a:t>
            </a:r>
          </a:p>
          <a:p>
            <a:r>
              <a:rPr lang="en-IN" dirty="0"/>
              <a:t>    }</a:t>
            </a:r>
          </a:p>
          <a:p>
            <a:r>
              <a:rPr lang="en-IN" dirty="0"/>
              <a:t>}</a:t>
            </a:r>
          </a:p>
          <a:p>
            <a:endParaRPr lang="en-IN" dirty="0"/>
          </a:p>
          <a:p>
            <a:r>
              <a:rPr lang="en-IN" dirty="0"/>
              <a:t>class Dog extends Animal {</a:t>
            </a:r>
          </a:p>
          <a:p>
            <a:r>
              <a:rPr lang="en-IN" dirty="0"/>
              <a:t>    @Override</a:t>
            </a:r>
          </a:p>
          <a:p>
            <a:r>
              <a:rPr lang="en-IN" dirty="0"/>
              <a:t>    void sound() {</a:t>
            </a:r>
          </a:p>
          <a:p>
            <a:r>
              <a:rPr lang="en-IN" dirty="0"/>
              <a:t>        System.out.println("Dog barks");</a:t>
            </a:r>
          </a:p>
          <a:p>
            <a:r>
              <a:rPr lang="en-IN" dirty="0"/>
              <a:t>    }</a:t>
            </a:r>
          </a:p>
          <a:p>
            <a:r>
              <a:rPr lang="en-IN" dirty="0"/>
              <a:t>}</a:t>
            </a:r>
          </a:p>
          <a:p>
            <a:endParaRPr lang="en-IN" dirty="0"/>
          </a:p>
          <a:p>
            <a:r>
              <a:rPr lang="en-IN" dirty="0"/>
              <a:t>public class Test {</a:t>
            </a:r>
          </a:p>
          <a:p>
            <a:r>
              <a:rPr lang="en-IN" dirty="0"/>
              <a:t>    public static void main(String args[]) {</a:t>
            </a:r>
          </a:p>
          <a:p>
            <a:r>
              <a:rPr lang="en-IN" dirty="0"/>
              <a:t>        Dog d = new Dog();</a:t>
            </a:r>
          </a:p>
          <a:p>
            <a:r>
              <a:rPr lang="en-IN" dirty="0"/>
              <a:t>        </a:t>
            </a:r>
            <a:r>
              <a:rPr lang="en-IN" dirty="0" err="1"/>
              <a:t>d.sound</a:t>
            </a:r>
            <a:r>
              <a:rPr lang="en-IN" dirty="0"/>
              <a:t>();  // Output: Dog barks</a:t>
            </a:r>
          </a:p>
          <a:p>
            <a:r>
              <a:rPr lang="en-IN" dirty="0"/>
              <a:t>    }</a:t>
            </a:r>
          </a:p>
          <a:p>
            <a:r>
              <a:rPr lang="en-IN" dirty="0"/>
              <a:t>}</a:t>
            </a:r>
          </a:p>
          <a:p>
            <a:endParaRPr lang="en-IN" dirty="0"/>
          </a:p>
          <a:p>
            <a:r>
              <a:rPr lang="en-US" dirty="0"/>
              <a:t>In this example, the Dog class overrides the sound() method from the Animal class. When sound() is called on a Dog object, the overridden method in the child class is executed.</a:t>
            </a:r>
            <a:endParaRPr lang="en-IN" dirty="0"/>
          </a:p>
        </p:txBody>
      </p:sp>
    </p:spTree>
    <p:extLst>
      <p:ext uri="{BB962C8B-B14F-4D97-AF65-F5344CB8AC3E}">
        <p14:creationId xmlns:p14="http://schemas.microsoft.com/office/powerpoint/2010/main" val="3651661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0CE5F-0181-CC85-07D4-E93AD3E80E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C54F88-A23B-D0A3-890F-D1C11A997D68}"/>
              </a:ext>
            </a:extLst>
          </p:cNvPr>
          <p:cNvSpPr txBox="1"/>
          <p:nvPr/>
        </p:nvSpPr>
        <p:spPr>
          <a:xfrm>
            <a:off x="924339" y="58846"/>
            <a:ext cx="8756374" cy="6740307"/>
          </a:xfrm>
          <a:prstGeom prst="rect">
            <a:avLst/>
          </a:prstGeom>
          <a:noFill/>
        </p:spPr>
        <p:txBody>
          <a:bodyPr wrap="square">
            <a:spAutoFit/>
          </a:bodyPr>
          <a:lstStyle/>
          <a:p>
            <a:r>
              <a:rPr lang="en-IN" b="1" dirty="0"/>
              <a:t>3.4 Dynamic method dispatch</a:t>
            </a:r>
          </a:p>
          <a:p>
            <a:endParaRPr lang="en-IN" dirty="0"/>
          </a:p>
          <a:p>
            <a:pPr marL="285750" indent="-285750">
              <a:buFont typeface="Arial" panose="020B0604020202020204" pitchFamily="34" charset="0"/>
              <a:buChar char="•"/>
            </a:pPr>
            <a:r>
              <a:rPr lang="en-US" dirty="0"/>
              <a:t>Dynamic Method Dispatch in Java is the process by which a call to an overridden method is resolved at runtime, rather than compile time. This mechanism allows Java to decide which version of an overridden method to execute based on the actual type of the object referenced, enabling runtime polymorphism.</a:t>
            </a:r>
          </a:p>
          <a:p>
            <a:pPr marL="285750" indent="-285750">
              <a:buFont typeface="Arial" panose="020B0604020202020204" pitchFamily="34" charset="0"/>
              <a:buChar char="•"/>
            </a:pPr>
            <a:endParaRPr lang="en-US" dirty="0"/>
          </a:p>
          <a:p>
            <a:r>
              <a:rPr lang="en-IN" dirty="0"/>
              <a:t>class Animal {</a:t>
            </a:r>
          </a:p>
          <a:p>
            <a:r>
              <a:rPr lang="en-IN" dirty="0"/>
              <a:t>    void sound() {</a:t>
            </a:r>
          </a:p>
          <a:p>
            <a:r>
              <a:rPr lang="en-IN" dirty="0"/>
              <a:t>        System.out.println("Animal makes a sound");</a:t>
            </a:r>
          </a:p>
          <a:p>
            <a:r>
              <a:rPr lang="en-IN" dirty="0"/>
              <a:t>    }</a:t>
            </a:r>
          </a:p>
          <a:p>
            <a:r>
              <a:rPr lang="en-IN" dirty="0"/>
              <a:t>}</a:t>
            </a:r>
          </a:p>
          <a:p>
            <a:endParaRPr lang="en-IN" dirty="0"/>
          </a:p>
          <a:p>
            <a:r>
              <a:rPr lang="en-IN" dirty="0"/>
              <a:t>class Dog extends Animal {</a:t>
            </a:r>
          </a:p>
          <a:p>
            <a:r>
              <a:rPr lang="en-IN" dirty="0"/>
              <a:t>    void sound() {</a:t>
            </a:r>
          </a:p>
          <a:p>
            <a:r>
              <a:rPr lang="en-IN" dirty="0"/>
              <a:t>        System.out.println("Dog barks");</a:t>
            </a:r>
          </a:p>
          <a:p>
            <a:r>
              <a:rPr lang="en-IN" dirty="0"/>
              <a:t>    }</a:t>
            </a:r>
          </a:p>
          <a:p>
            <a:r>
              <a:rPr lang="en-IN" dirty="0"/>
              <a:t>}</a:t>
            </a:r>
          </a:p>
          <a:p>
            <a:endParaRPr lang="en-IN" dirty="0"/>
          </a:p>
          <a:p>
            <a:r>
              <a:rPr lang="en-IN" dirty="0"/>
              <a:t>class Cat extends Animal {</a:t>
            </a:r>
          </a:p>
          <a:p>
            <a:r>
              <a:rPr lang="en-IN" dirty="0"/>
              <a:t>    void sound() {</a:t>
            </a:r>
          </a:p>
          <a:p>
            <a:r>
              <a:rPr lang="en-IN" dirty="0"/>
              <a:t>        System.out.println("Cat meows");</a:t>
            </a:r>
          </a:p>
          <a:p>
            <a:r>
              <a:rPr lang="en-IN" dirty="0"/>
              <a:t>	}</a:t>
            </a:r>
          </a:p>
          <a:p>
            <a:r>
              <a:rPr lang="en-IN" dirty="0"/>
              <a:t>}</a:t>
            </a:r>
          </a:p>
        </p:txBody>
      </p:sp>
    </p:spTree>
    <p:extLst>
      <p:ext uri="{BB962C8B-B14F-4D97-AF65-F5344CB8AC3E}">
        <p14:creationId xmlns:p14="http://schemas.microsoft.com/office/powerpoint/2010/main" val="4248606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7488E-FB6F-C6D0-4A1B-843993DA91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234058-184C-0E40-03E8-DF5DF6FC9D3C}"/>
              </a:ext>
            </a:extLst>
          </p:cNvPr>
          <p:cNvSpPr txBox="1"/>
          <p:nvPr/>
        </p:nvSpPr>
        <p:spPr>
          <a:xfrm>
            <a:off x="983973" y="141602"/>
            <a:ext cx="8299174" cy="4801314"/>
          </a:xfrm>
          <a:prstGeom prst="rect">
            <a:avLst/>
          </a:prstGeom>
          <a:noFill/>
        </p:spPr>
        <p:txBody>
          <a:bodyPr wrap="square">
            <a:spAutoFit/>
          </a:bodyPr>
          <a:lstStyle/>
          <a:p>
            <a:r>
              <a:rPr lang="en-IN" dirty="0"/>
              <a:t>public class pack {</a:t>
            </a:r>
          </a:p>
          <a:p>
            <a:r>
              <a:rPr lang="en-IN" dirty="0"/>
              <a:t>    public static void main(String args[]) {</a:t>
            </a:r>
          </a:p>
          <a:p>
            <a:r>
              <a:rPr lang="en-IN" dirty="0"/>
              <a:t>        Animal a;        // reference of parent class</a:t>
            </a:r>
          </a:p>
          <a:p>
            <a:endParaRPr lang="en-IN" dirty="0"/>
          </a:p>
          <a:p>
            <a:r>
              <a:rPr lang="en-IN" dirty="0"/>
              <a:t>        a = new Dog();   // referring to Dog object</a:t>
            </a:r>
          </a:p>
          <a:p>
            <a:r>
              <a:rPr lang="en-IN" dirty="0"/>
              <a:t>        </a:t>
            </a:r>
            <a:r>
              <a:rPr lang="en-IN" dirty="0" err="1"/>
              <a:t>a.sound</a:t>
            </a:r>
            <a:r>
              <a:rPr lang="en-IN" dirty="0"/>
              <a:t>();       // calls Dog's sound()</a:t>
            </a:r>
          </a:p>
          <a:p>
            <a:endParaRPr lang="en-IN" dirty="0"/>
          </a:p>
          <a:p>
            <a:r>
              <a:rPr lang="en-IN" dirty="0"/>
              <a:t>        a = new Cat();   // referring to Cat object</a:t>
            </a:r>
          </a:p>
          <a:p>
            <a:r>
              <a:rPr lang="en-IN" dirty="0"/>
              <a:t>        a.sound();       // calls Cat's sound()</a:t>
            </a:r>
          </a:p>
          <a:p>
            <a:r>
              <a:rPr lang="en-IN" dirty="0"/>
              <a:t>    }</a:t>
            </a:r>
          </a:p>
          <a:p>
            <a:r>
              <a:rPr lang="en-IN" dirty="0"/>
              <a:t>}</a:t>
            </a:r>
          </a:p>
          <a:p>
            <a:endParaRPr lang="en-IN" dirty="0"/>
          </a:p>
          <a:p>
            <a:r>
              <a:rPr lang="en-IN" b="1" dirty="0"/>
              <a:t>Output:</a:t>
            </a:r>
          </a:p>
          <a:p>
            <a:endParaRPr lang="en-IN" b="1" dirty="0"/>
          </a:p>
          <a:p>
            <a:r>
              <a:rPr lang="en-IN" dirty="0"/>
              <a:t>Dog barks</a:t>
            </a:r>
          </a:p>
          <a:p>
            <a:r>
              <a:rPr lang="en-IN" dirty="0"/>
              <a:t>Cat meows</a:t>
            </a:r>
          </a:p>
          <a:p>
            <a:endParaRPr lang="en-IN" dirty="0"/>
          </a:p>
        </p:txBody>
      </p:sp>
    </p:spTree>
    <p:extLst>
      <p:ext uri="{BB962C8B-B14F-4D97-AF65-F5344CB8AC3E}">
        <p14:creationId xmlns:p14="http://schemas.microsoft.com/office/powerpoint/2010/main" val="1598670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1FD3D-A4E3-6E8C-D6DC-2C6871F027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11C15E-8593-F32A-4245-B77BC6632856}"/>
              </a:ext>
            </a:extLst>
          </p:cNvPr>
          <p:cNvSpPr txBox="1"/>
          <p:nvPr/>
        </p:nvSpPr>
        <p:spPr>
          <a:xfrm>
            <a:off x="854765" y="153264"/>
            <a:ext cx="8587409" cy="6740307"/>
          </a:xfrm>
          <a:prstGeom prst="rect">
            <a:avLst/>
          </a:prstGeom>
          <a:noFill/>
        </p:spPr>
        <p:txBody>
          <a:bodyPr wrap="square">
            <a:spAutoFit/>
          </a:bodyPr>
          <a:lstStyle/>
          <a:p>
            <a:r>
              <a:rPr lang="en-US" b="1" dirty="0"/>
              <a:t>3.5 Abstract methods and classes </a:t>
            </a:r>
          </a:p>
          <a:p>
            <a:endParaRPr lang="en-US" dirty="0"/>
          </a:p>
          <a:p>
            <a:pPr marL="342900" indent="-342900">
              <a:buFont typeface="Arial" panose="020B0604020202020204" pitchFamily="34" charset="0"/>
              <a:buChar char="•"/>
            </a:pPr>
            <a:r>
              <a:rPr lang="en-US" dirty="0"/>
              <a:t>An abstract class is a class that cannot be instantiated directly (you cannot create objects from it). It can contain both abstract methods (methods without a body) and non-abstract methods (with a body). To use its features, it must be inherited by another class which provides implementations for the abstract methods</a:t>
            </a:r>
          </a:p>
          <a:p>
            <a:pPr marL="342900" indent="-342900">
              <a:buFont typeface="Arial" panose="020B0604020202020204" pitchFamily="34" charset="0"/>
              <a:buChar char="•"/>
            </a:pPr>
            <a:endParaRPr lang="en-US" dirty="0"/>
          </a:p>
          <a:p>
            <a:pPr marL="285750" indent="-285750">
              <a:buFont typeface="Wingdings" panose="05000000000000000000" pitchFamily="2" charset="2"/>
              <a:buChar char="Ø"/>
            </a:pPr>
            <a:r>
              <a:rPr lang="en-US" b="1" dirty="0"/>
              <a:t>What is Abstract class </a:t>
            </a:r>
          </a:p>
          <a:p>
            <a:endParaRPr lang="en-US" dirty="0"/>
          </a:p>
          <a:p>
            <a:r>
              <a:rPr lang="en-US" dirty="0"/>
              <a:t>An abstract class in Java is a class that cannot be instantiated directly and is used as a base class for other classes. It is declared with the abstract keyword and may contain both abstract methods (methods without a body) and concrete methods (with implementations). The purpose of an abstract class is to provide a common interface and blueprint for related classes, ensuring that subclasses implement specific abstract methods to define their own behavior.</a:t>
            </a:r>
          </a:p>
          <a:p>
            <a:endParaRPr lang="en-US" dirty="0"/>
          </a:p>
          <a:p>
            <a:r>
              <a:rPr lang="en-US" b="1" dirty="0"/>
              <a:t>Key Characteristics of Abstract Class:</a:t>
            </a:r>
          </a:p>
          <a:p>
            <a:pPr marL="285750" indent="-285750">
              <a:buFont typeface="Arial" panose="020B0604020202020204" pitchFamily="34" charset="0"/>
              <a:buChar char="•"/>
            </a:pPr>
            <a:r>
              <a:rPr lang="en-US" dirty="0"/>
              <a:t>Cannot create objects directly from an abstract class.</a:t>
            </a:r>
          </a:p>
          <a:p>
            <a:pPr marL="285750" indent="-285750">
              <a:buFont typeface="Arial" panose="020B0604020202020204" pitchFamily="34" charset="0"/>
              <a:buChar char="•"/>
            </a:pPr>
            <a:r>
              <a:rPr lang="en-US" dirty="0"/>
              <a:t>Can contain abstract methods that subclasses must implement.</a:t>
            </a:r>
          </a:p>
          <a:p>
            <a:pPr marL="285750" indent="-285750">
              <a:buFont typeface="Arial" panose="020B0604020202020204" pitchFamily="34" charset="0"/>
              <a:buChar char="•"/>
            </a:pPr>
            <a:r>
              <a:rPr lang="en-US" dirty="0"/>
              <a:t>Can have regular methods with code.</a:t>
            </a:r>
          </a:p>
          <a:p>
            <a:pPr marL="285750" indent="-285750">
              <a:buFont typeface="Arial" panose="020B0604020202020204" pitchFamily="34" charset="0"/>
              <a:buChar char="•"/>
            </a:pPr>
            <a:r>
              <a:rPr lang="en-US" dirty="0"/>
              <a:t>Can have constructors and member variables.</a:t>
            </a:r>
          </a:p>
          <a:p>
            <a:pPr marL="285750" indent="-285750">
              <a:buFont typeface="Arial" panose="020B0604020202020204" pitchFamily="34" charset="0"/>
              <a:buChar char="•"/>
            </a:pPr>
            <a:r>
              <a:rPr lang="en-US" dirty="0"/>
              <a:t>Subclasses must provide implementation for all abstract methods, or they must also be declared abstract.</a:t>
            </a:r>
          </a:p>
        </p:txBody>
      </p:sp>
    </p:spTree>
    <p:extLst>
      <p:ext uri="{BB962C8B-B14F-4D97-AF65-F5344CB8AC3E}">
        <p14:creationId xmlns:p14="http://schemas.microsoft.com/office/powerpoint/2010/main" val="459119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85C92-6967-87FE-7244-57AAF79E86C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2900598-4B2E-59A5-7518-25DAC443C73A}"/>
              </a:ext>
            </a:extLst>
          </p:cNvPr>
          <p:cNvSpPr txBox="1"/>
          <p:nvPr/>
        </p:nvSpPr>
        <p:spPr>
          <a:xfrm>
            <a:off x="993912" y="143326"/>
            <a:ext cx="8289236" cy="5632311"/>
          </a:xfrm>
          <a:prstGeom prst="rect">
            <a:avLst/>
          </a:prstGeom>
          <a:noFill/>
        </p:spPr>
        <p:txBody>
          <a:bodyPr wrap="square">
            <a:spAutoFit/>
          </a:bodyPr>
          <a:lstStyle/>
          <a:p>
            <a:pPr>
              <a:buNone/>
            </a:pPr>
            <a:r>
              <a:rPr lang="en-IN" b="1" dirty="0"/>
              <a:t>Syntax:</a:t>
            </a:r>
          </a:p>
          <a:p>
            <a:pPr>
              <a:buNone/>
            </a:pPr>
            <a:endParaRPr lang="en-IN" b="1" dirty="0"/>
          </a:p>
          <a:p>
            <a:pPr>
              <a:buNone/>
            </a:pPr>
            <a:r>
              <a:rPr lang="en-IN" dirty="0"/>
              <a:t>abstract class ClassName {</a:t>
            </a:r>
          </a:p>
          <a:p>
            <a:pPr>
              <a:buNone/>
            </a:pPr>
            <a:r>
              <a:rPr lang="en-IN" dirty="0"/>
              <a:t>    abstract void methodName(); // abstract method (no body)</a:t>
            </a:r>
          </a:p>
          <a:p>
            <a:pPr>
              <a:buNone/>
            </a:pPr>
            <a:endParaRPr lang="en-IN" dirty="0"/>
          </a:p>
          <a:p>
            <a:pPr>
              <a:buNone/>
            </a:pPr>
            <a:r>
              <a:rPr lang="en-IN" dirty="0"/>
              <a:t>    void normalMethod() {       // concrete method</a:t>
            </a:r>
          </a:p>
          <a:p>
            <a:pPr>
              <a:buNone/>
            </a:pPr>
            <a:r>
              <a:rPr lang="en-IN" dirty="0"/>
              <a:t>        System.out.println("This is a normal method");</a:t>
            </a:r>
          </a:p>
          <a:p>
            <a:pPr>
              <a:buNone/>
            </a:pPr>
            <a:r>
              <a:rPr lang="en-IN" dirty="0"/>
              <a:t>    }</a:t>
            </a:r>
          </a:p>
          <a:p>
            <a:pPr>
              <a:buNone/>
            </a:pPr>
            <a:r>
              <a:rPr lang="en-IN" dirty="0"/>
              <a:t>}</a:t>
            </a:r>
          </a:p>
          <a:p>
            <a:pPr>
              <a:buNone/>
            </a:pPr>
            <a:endParaRPr lang="en-IN" dirty="0"/>
          </a:p>
          <a:p>
            <a:pPr>
              <a:buNone/>
            </a:pPr>
            <a:endParaRPr lang="en-IN" dirty="0"/>
          </a:p>
          <a:p>
            <a:pPr>
              <a:buNone/>
            </a:pPr>
            <a:r>
              <a:rPr lang="en-IN" b="1" dirty="0"/>
              <a:t>Example</a:t>
            </a:r>
            <a:r>
              <a:rPr lang="en-IN" dirty="0"/>
              <a:t> </a:t>
            </a:r>
          </a:p>
          <a:p>
            <a:pPr>
              <a:buNone/>
            </a:pPr>
            <a:endParaRPr lang="en-IN" dirty="0"/>
          </a:p>
          <a:p>
            <a:pPr>
              <a:buNone/>
            </a:pPr>
            <a:r>
              <a:rPr lang="en-IN" dirty="0"/>
              <a:t>abstract class Animal {</a:t>
            </a:r>
          </a:p>
          <a:p>
            <a:pPr>
              <a:buNone/>
            </a:pPr>
            <a:r>
              <a:rPr lang="en-IN" dirty="0"/>
              <a:t>    abstract void sound(); // abstract method</a:t>
            </a:r>
          </a:p>
          <a:p>
            <a:pPr>
              <a:buNone/>
            </a:pPr>
            <a:endParaRPr lang="en-IN" dirty="0"/>
          </a:p>
          <a:p>
            <a:pPr>
              <a:buNone/>
            </a:pPr>
            <a:r>
              <a:rPr lang="en-IN" dirty="0"/>
              <a:t>    void sleep() {</a:t>
            </a:r>
          </a:p>
          <a:p>
            <a:pPr>
              <a:buNone/>
            </a:pPr>
            <a:r>
              <a:rPr lang="en-IN" dirty="0"/>
              <a:t>        System.out.println("Animals can sleep");</a:t>
            </a:r>
          </a:p>
          <a:p>
            <a:pPr>
              <a:buNone/>
            </a:pPr>
            <a:r>
              <a:rPr lang="en-IN" dirty="0"/>
              <a:t>    }</a:t>
            </a:r>
          </a:p>
          <a:p>
            <a:pPr>
              <a:buNone/>
            </a:pPr>
            <a:r>
              <a:rPr lang="en-IN" dirty="0"/>
              <a:t>}</a:t>
            </a:r>
          </a:p>
        </p:txBody>
      </p:sp>
    </p:spTree>
    <p:extLst>
      <p:ext uri="{BB962C8B-B14F-4D97-AF65-F5344CB8AC3E}">
        <p14:creationId xmlns:p14="http://schemas.microsoft.com/office/powerpoint/2010/main" val="2659300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EE82-1E6B-BED1-5968-A47906FA60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EE1658-BECE-E399-DCF3-73134DC8525A}"/>
              </a:ext>
            </a:extLst>
          </p:cNvPr>
          <p:cNvSpPr txBox="1"/>
          <p:nvPr/>
        </p:nvSpPr>
        <p:spPr>
          <a:xfrm>
            <a:off x="934279" y="146354"/>
            <a:ext cx="8179904" cy="3693319"/>
          </a:xfrm>
          <a:prstGeom prst="rect">
            <a:avLst/>
          </a:prstGeom>
          <a:noFill/>
        </p:spPr>
        <p:txBody>
          <a:bodyPr wrap="square">
            <a:spAutoFit/>
          </a:bodyPr>
          <a:lstStyle/>
          <a:p>
            <a:r>
              <a:rPr lang="en-IN" dirty="0"/>
              <a:t>class Dog extends Animal {</a:t>
            </a:r>
          </a:p>
          <a:p>
            <a:r>
              <a:rPr lang="en-IN" dirty="0"/>
              <a:t>    void sound() {</a:t>
            </a:r>
          </a:p>
          <a:p>
            <a:r>
              <a:rPr lang="en-IN" dirty="0"/>
              <a:t>        System.out.println("Dog barks");</a:t>
            </a:r>
          </a:p>
          <a:p>
            <a:r>
              <a:rPr lang="en-IN" dirty="0"/>
              <a:t>    }</a:t>
            </a:r>
          </a:p>
          <a:p>
            <a:r>
              <a:rPr lang="en-IN" dirty="0"/>
              <a:t>}</a:t>
            </a:r>
          </a:p>
          <a:p>
            <a:endParaRPr lang="en-IN" dirty="0"/>
          </a:p>
          <a:p>
            <a:r>
              <a:rPr lang="en-IN" dirty="0"/>
              <a:t>public class pack {</a:t>
            </a:r>
          </a:p>
          <a:p>
            <a:r>
              <a:rPr lang="en-IN" dirty="0"/>
              <a:t>    public static void main(String args[]) {</a:t>
            </a:r>
          </a:p>
          <a:p>
            <a:r>
              <a:rPr lang="en-IN" dirty="0"/>
              <a:t>        Dog d = new Dog();</a:t>
            </a:r>
          </a:p>
          <a:p>
            <a:r>
              <a:rPr lang="en-IN" dirty="0"/>
              <a:t>        d.sound();  // implemented in Dog</a:t>
            </a:r>
          </a:p>
          <a:p>
            <a:r>
              <a:rPr lang="en-IN" dirty="0"/>
              <a:t>        </a:t>
            </a:r>
            <a:r>
              <a:rPr lang="en-IN" dirty="0" err="1"/>
              <a:t>d.sleep</a:t>
            </a:r>
            <a:r>
              <a:rPr lang="en-IN" dirty="0"/>
              <a:t>();  // inherited from Animal</a:t>
            </a:r>
          </a:p>
          <a:p>
            <a:r>
              <a:rPr lang="en-IN" dirty="0"/>
              <a:t>    }</a:t>
            </a:r>
          </a:p>
          <a:p>
            <a:r>
              <a:rPr lang="en-IN" dirty="0"/>
              <a:t>}</a:t>
            </a:r>
          </a:p>
        </p:txBody>
      </p:sp>
    </p:spTree>
    <p:extLst>
      <p:ext uri="{BB962C8B-B14F-4D97-AF65-F5344CB8AC3E}">
        <p14:creationId xmlns:p14="http://schemas.microsoft.com/office/powerpoint/2010/main" val="1903055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D914-2FD8-9D34-D5E0-15035D71EDA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CCD7B1A-1A3F-3DF8-954A-8C173525AC2E}"/>
              </a:ext>
            </a:extLst>
          </p:cNvPr>
          <p:cNvSpPr txBox="1"/>
          <p:nvPr/>
        </p:nvSpPr>
        <p:spPr>
          <a:xfrm>
            <a:off x="795131" y="268356"/>
            <a:ext cx="8348869" cy="5909310"/>
          </a:xfrm>
          <a:prstGeom prst="rect">
            <a:avLst/>
          </a:prstGeom>
          <a:noFill/>
        </p:spPr>
        <p:txBody>
          <a:bodyPr wrap="square">
            <a:spAutoFit/>
          </a:bodyPr>
          <a:lstStyle/>
          <a:p>
            <a:pPr marL="285750" indent="-285750">
              <a:buFont typeface="Wingdings" panose="05000000000000000000" pitchFamily="2" charset="2"/>
              <a:buChar char="Ø"/>
            </a:pPr>
            <a:r>
              <a:rPr lang="en-IN" b="1" dirty="0"/>
              <a:t>What is an Abstract method?</a:t>
            </a:r>
          </a:p>
          <a:p>
            <a:endParaRPr lang="en-IN" dirty="0"/>
          </a:p>
          <a:p>
            <a:r>
              <a:rPr lang="en-US" dirty="0"/>
              <a:t>An abstract method in Java is a method that is declared without an implementation (without a method body). It only provides the method signature (name, return type, and parameters) and uses the keyword abstract. The purpose of an abstract method is to be overridden in subclasses, where each subclass provides its own specific implementation.</a:t>
            </a:r>
          </a:p>
          <a:p>
            <a:endParaRPr lang="en-US" dirty="0"/>
          </a:p>
          <a:p>
            <a:r>
              <a:rPr lang="en-US" b="1" dirty="0"/>
              <a:t>Key points about abstract methods:</a:t>
            </a:r>
          </a:p>
          <a:p>
            <a:pPr marL="285750" indent="-285750">
              <a:buFont typeface="Arial" panose="020B0604020202020204" pitchFamily="34" charset="0"/>
              <a:buChar char="•"/>
            </a:pPr>
            <a:r>
              <a:rPr lang="en-US" dirty="0"/>
              <a:t>Declared with the abstract keyword.</a:t>
            </a:r>
          </a:p>
          <a:p>
            <a:pPr marL="285750" indent="-285750">
              <a:buFont typeface="Arial" panose="020B0604020202020204" pitchFamily="34" charset="0"/>
              <a:buChar char="•"/>
            </a:pPr>
            <a:r>
              <a:rPr lang="en-US" dirty="0"/>
              <a:t>Has no body (no code block {}).</a:t>
            </a:r>
          </a:p>
          <a:p>
            <a:pPr marL="285750" indent="-285750">
              <a:buFont typeface="Arial" panose="020B0604020202020204" pitchFamily="34" charset="0"/>
              <a:buChar char="•"/>
            </a:pPr>
            <a:r>
              <a:rPr lang="en-US" dirty="0"/>
              <a:t>Must be declared in an abstract class or interface.</a:t>
            </a:r>
          </a:p>
          <a:p>
            <a:pPr marL="285750" indent="-285750">
              <a:buFont typeface="Arial" panose="020B0604020202020204" pitchFamily="34" charset="0"/>
              <a:buChar char="•"/>
            </a:pPr>
            <a:r>
              <a:rPr lang="en-US" dirty="0"/>
              <a:t>Subclasses are required to provide the implementation of all abstract methods.</a:t>
            </a:r>
          </a:p>
          <a:p>
            <a:pPr marL="285750" indent="-285750">
              <a:buFont typeface="Arial" panose="020B0604020202020204" pitchFamily="34" charset="0"/>
              <a:buChar char="•"/>
            </a:pPr>
            <a:r>
              <a:rPr lang="en-US" dirty="0"/>
              <a:t>If a subclass does not implement these methods, it must also be declared abstract.</a:t>
            </a:r>
          </a:p>
          <a:p>
            <a:pPr marL="285750" indent="-285750">
              <a:buFont typeface="Arial" panose="020B0604020202020204" pitchFamily="34" charset="0"/>
              <a:buChar char="•"/>
            </a:pPr>
            <a:endParaRPr lang="en-US" dirty="0"/>
          </a:p>
          <a:p>
            <a:r>
              <a:rPr lang="en-IN" b="1" dirty="0"/>
              <a:t>Syntax</a:t>
            </a:r>
          </a:p>
          <a:p>
            <a:endParaRPr lang="en-US" dirty="0"/>
          </a:p>
          <a:p>
            <a:r>
              <a:rPr lang="en-US" dirty="0"/>
              <a:t>abstract void methodName();</a:t>
            </a:r>
          </a:p>
          <a:p>
            <a:endParaRPr lang="en-US" dirty="0"/>
          </a:p>
        </p:txBody>
      </p:sp>
    </p:spTree>
    <p:extLst>
      <p:ext uri="{BB962C8B-B14F-4D97-AF65-F5344CB8AC3E}">
        <p14:creationId xmlns:p14="http://schemas.microsoft.com/office/powerpoint/2010/main" val="117581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4EA1D-DD51-60BC-65AC-97A55277D1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DC31997-126C-7CCF-7016-BB2B24F058A9}"/>
              </a:ext>
            </a:extLst>
          </p:cNvPr>
          <p:cNvSpPr txBox="1"/>
          <p:nvPr/>
        </p:nvSpPr>
        <p:spPr>
          <a:xfrm>
            <a:off x="934278" y="222839"/>
            <a:ext cx="6102626" cy="369332"/>
          </a:xfrm>
          <a:prstGeom prst="rect">
            <a:avLst/>
          </a:prstGeom>
          <a:noFill/>
        </p:spPr>
        <p:txBody>
          <a:bodyPr wrap="square">
            <a:spAutoFit/>
          </a:bodyPr>
          <a:lstStyle/>
          <a:p>
            <a:r>
              <a:rPr lang="en-IN" b="1" dirty="0"/>
              <a:t>Example </a:t>
            </a:r>
          </a:p>
        </p:txBody>
      </p:sp>
      <p:sp>
        <p:nvSpPr>
          <p:cNvPr id="7" name="TextBox 6">
            <a:extLst>
              <a:ext uri="{FF2B5EF4-FFF2-40B4-BE49-F238E27FC236}">
                <a16:creationId xmlns:a16="http://schemas.microsoft.com/office/drawing/2014/main" id="{0E0A964E-0220-303C-ACD3-F9D7032F7E28}"/>
              </a:ext>
            </a:extLst>
          </p:cNvPr>
          <p:cNvSpPr txBox="1"/>
          <p:nvPr/>
        </p:nvSpPr>
        <p:spPr>
          <a:xfrm>
            <a:off x="934278" y="869317"/>
            <a:ext cx="8557592" cy="4524315"/>
          </a:xfrm>
          <a:prstGeom prst="rect">
            <a:avLst/>
          </a:prstGeom>
          <a:noFill/>
        </p:spPr>
        <p:txBody>
          <a:bodyPr wrap="square">
            <a:spAutoFit/>
          </a:bodyPr>
          <a:lstStyle/>
          <a:p>
            <a:r>
              <a:rPr lang="en-IN" dirty="0"/>
              <a:t>abstract class Shape {</a:t>
            </a:r>
          </a:p>
          <a:p>
            <a:r>
              <a:rPr lang="en-IN" dirty="0"/>
              <a:t>    abstract void draw(); // abstract method (no body)</a:t>
            </a:r>
          </a:p>
          <a:p>
            <a:r>
              <a:rPr lang="en-IN" dirty="0"/>
              <a:t>}</a:t>
            </a:r>
          </a:p>
          <a:p>
            <a:endParaRPr lang="en-IN" dirty="0"/>
          </a:p>
          <a:p>
            <a:r>
              <a:rPr lang="en-IN" dirty="0"/>
              <a:t>class Circle extends Shape {</a:t>
            </a:r>
          </a:p>
          <a:p>
            <a:r>
              <a:rPr lang="en-IN" dirty="0"/>
              <a:t>    void draw() { // implementing abstract method</a:t>
            </a:r>
          </a:p>
          <a:p>
            <a:r>
              <a:rPr lang="en-IN" dirty="0"/>
              <a:t>        System.out.println("Drawing a Circle");</a:t>
            </a:r>
          </a:p>
          <a:p>
            <a:r>
              <a:rPr lang="en-IN" dirty="0"/>
              <a:t>    }</a:t>
            </a:r>
          </a:p>
          <a:p>
            <a:r>
              <a:rPr lang="en-IN" dirty="0"/>
              <a:t>}</a:t>
            </a:r>
          </a:p>
          <a:p>
            <a:endParaRPr lang="en-IN" dirty="0"/>
          </a:p>
          <a:p>
            <a:r>
              <a:rPr lang="en-IN" dirty="0"/>
              <a:t>public class pack {</a:t>
            </a:r>
          </a:p>
          <a:p>
            <a:r>
              <a:rPr lang="en-IN" dirty="0"/>
              <a:t>    public static void main(String args[]) {</a:t>
            </a:r>
          </a:p>
          <a:p>
            <a:r>
              <a:rPr lang="en-IN" dirty="0"/>
              <a:t>        Shape s = new Circle(); // reference of abstract class</a:t>
            </a:r>
          </a:p>
          <a:p>
            <a:r>
              <a:rPr lang="en-IN" dirty="0"/>
              <a:t>        </a:t>
            </a:r>
            <a:r>
              <a:rPr lang="en-IN" dirty="0" err="1"/>
              <a:t>s.draw</a:t>
            </a:r>
            <a:r>
              <a:rPr lang="en-IN" dirty="0"/>
              <a:t>();</a:t>
            </a:r>
          </a:p>
          <a:p>
            <a:r>
              <a:rPr lang="en-IN" dirty="0"/>
              <a:t>    }</a:t>
            </a:r>
          </a:p>
          <a:p>
            <a:r>
              <a:rPr lang="en-IN" dirty="0"/>
              <a:t>}</a:t>
            </a:r>
          </a:p>
        </p:txBody>
      </p:sp>
    </p:spTree>
    <p:extLst>
      <p:ext uri="{BB962C8B-B14F-4D97-AF65-F5344CB8AC3E}">
        <p14:creationId xmlns:p14="http://schemas.microsoft.com/office/powerpoint/2010/main" val="626992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783D7-554C-47B4-5348-E55CAFEA5D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4532FD-3C58-34C9-4A0E-28BAA02561DB}"/>
              </a:ext>
            </a:extLst>
          </p:cNvPr>
          <p:cNvSpPr txBox="1"/>
          <p:nvPr/>
        </p:nvSpPr>
        <p:spPr>
          <a:xfrm>
            <a:off x="944217" y="361985"/>
            <a:ext cx="8269356" cy="5355312"/>
          </a:xfrm>
          <a:prstGeom prst="rect">
            <a:avLst/>
          </a:prstGeom>
          <a:noFill/>
        </p:spPr>
        <p:txBody>
          <a:bodyPr wrap="square">
            <a:spAutoFit/>
          </a:bodyPr>
          <a:lstStyle/>
          <a:p>
            <a:r>
              <a:rPr lang="en-IN" b="1" dirty="0"/>
              <a:t>3.6 Interfaces</a:t>
            </a:r>
          </a:p>
          <a:p>
            <a:endParaRPr lang="en-IN" dirty="0"/>
          </a:p>
          <a:p>
            <a:pPr marL="285750" indent="-285750">
              <a:buFont typeface="Arial" panose="020B0604020202020204" pitchFamily="34" charset="0"/>
              <a:buChar char="•"/>
            </a:pPr>
            <a:r>
              <a:rPr lang="en-US" dirty="0"/>
              <a:t>An interface in Java is a reference type, similar to a class, that can contain only constants, method signatures, default methods, static methods, and nested types.</a:t>
            </a:r>
          </a:p>
          <a:p>
            <a:pPr marL="285750" indent="-285750">
              <a:buFont typeface="Arial" panose="020B0604020202020204" pitchFamily="34" charset="0"/>
              <a:buChar char="•"/>
            </a:pPr>
            <a:r>
              <a:rPr lang="en-US" dirty="0"/>
              <a:t>Interfaces cannot contain instance fields or constructors.</a:t>
            </a:r>
          </a:p>
          <a:p>
            <a:pPr marL="285750" indent="-285750">
              <a:buFont typeface="Arial" panose="020B0604020202020204" pitchFamily="34" charset="0"/>
              <a:buChar char="•"/>
            </a:pPr>
            <a:r>
              <a:rPr lang="en-US" dirty="0"/>
              <a:t>Methods declared in an interface are implicitly abstract (except default and static methods).</a:t>
            </a:r>
          </a:p>
          <a:p>
            <a:pPr marL="285750" indent="-285750">
              <a:buFont typeface="Arial" panose="020B0604020202020204" pitchFamily="34" charset="0"/>
              <a:buChar char="•"/>
            </a:pPr>
            <a:r>
              <a:rPr lang="en-US" dirty="0"/>
              <a:t>A class implements an interface by providing concrete implementations for all the interface methods.</a:t>
            </a:r>
          </a:p>
          <a:p>
            <a:pPr marL="285750" indent="-285750">
              <a:buFont typeface="Arial" panose="020B0604020202020204" pitchFamily="34" charset="0"/>
              <a:buChar char="•"/>
            </a:pPr>
            <a:r>
              <a:rPr lang="en-US" dirty="0"/>
              <a:t>Interfaces provide a way to achieve full abstraction and multiple inheritance in Java.</a:t>
            </a:r>
          </a:p>
          <a:p>
            <a:endParaRPr lang="en-IN" dirty="0"/>
          </a:p>
          <a:p>
            <a:r>
              <a:rPr lang="en-US" b="1" dirty="0"/>
              <a:t>Example of Interface in Java</a:t>
            </a:r>
          </a:p>
          <a:p>
            <a:endParaRPr lang="en-IN" dirty="0"/>
          </a:p>
          <a:p>
            <a:r>
              <a:rPr lang="en-IN" dirty="0"/>
              <a:t>// Interface definition</a:t>
            </a:r>
          </a:p>
          <a:p>
            <a:r>
              <a:rPr lang="en-IN" dirty="0"/>
              <a:t>interface Drawable {</a:t>
            </a:r>
          </a:p>
          <a:p>
            <a:r>
              <a:rPr lang="en-IN" dirty="0"/>
              <a:t>    void draw(); // abstract method</a:t>
            </a:r>
          </a:p>
          <a:p>
            <a:r>
              <a:rPr lang="en-IN" dirty="0"/>
              <a:t>}</a:t>
            </a:r>
          </a:p>
        </p:txBody>
      </p:sp>
    </p:spTree>
    <p:extLst>
      <p:ext uri="{BB962C8B-B14F-4D97-AF65-F5344CB8AC3E}">
        <p14:creationId xmlns:p14="http://schemas.microsoft.com/office/powerpoint/2010/main" val="252915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1051-D1D0-9153-42A5-80E5091E9CE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FF0342-823F-CFCD-87B3-60E54CA99437}"/>
              </a:ext>
            </a:extLst>
          </p:cNvPr>
          <p:cNvSpPr txBox="1"/>
          <p:nvPr/>
        </p:nvSpPr>
        <p:spPr>
          <a:xfrm>
            <a:off x="824948" y="204692"/>
            <a:ext cx="8259417" cy="3970318"/>
          </a:xfrm>
          <a:prstGeom prst="rect">
            <a:avLst/>
          </a:prstGeom>
          <a:noFill/>
        </p:spPr>
        <p:txBody>
          <a:bodyPr wrap="square">
            <a:spAutoFit/>
          </a:bodyPr>
          <a:lstStyle/>
          <a:p>
            <a:r>
              <a:rPr lang="en-IN" dirty="0"/>
              <a:t>// Class implementing the interface</a:t>
            </a:r>
          </a:p>
          <a:p>
            <a:r>
              <a:rPr lang="en-IN" dirty="0"/>
              <a:t>class Circle implements Drawable {</a:t>
            </a:r>
          </a:p>
          <a:p>
            <a:r>
              <a:rPr lang="en-IN" dirty="0"/>
              <a:t>    public void draw() { // method implementation</a:t>
            </a:r>
          </a:p>
          <a:p>
            <a:r>
              <a:rPr lang="en-IN" dirty="0"/>
              <a:t>        System.out.println("Drawing a Circle");</a:t>
            </a:r>
          </a:p>
          <a:p>
            <a:r>
              <a:rPr lang="en-IN" dirty="0"/>
              <a:t>    }</a:t>
            </a:r>
          </a:p>
          <a:p>
            <a:r>
              <a:rPr lang="en-IN" dirty="0"/>
              <a:t>}</a:t>
            </a:r>
          </a:p>
          <a:p>
            <a:endParaRPr lang="en-IN" dirty="0"/>
          </a:p>
          <a:p>
            <a:r>
              <a:rPr lang="en-IN" dirty="0"/>
              <a:t>// Main class</a:t>
            </a:r>
          </a:p>
          <a:p>
            <a:r>
              <a:rPr lang="en-IN" dirty="0"/>
              <a:t>public class pack {</a:t>
            </a:r>
          </a:p>
          <a:p>
            <a:r>
              <a:rPr lang="en-IN" dirty="0"/>
              <a:t>    public static void main(String args[]) {</a:t>
            </a:r>
          </a:p>
          <a:p>
            <a:r>
              <a:rPr lang="en-IN" dirty="0"/>
              <a:t>        Circle c = new Circle(); // create object of Circle</a:t>
            </a:r>
          </a:p>
          <a:p>
            <a:r>
              <a:rPr lang="en-IN" dirty="0"/>
              <a:t>        </a:t>
            </a:r>
            <a:r>
              <a:rPr lang="en-IN" dirty="0" err="1"/>
              <a:t>c.draw</a:t>
            </a:r>
            <a:r>
              <a:rPr lang="en-IN" dirty="0"/>
              <a:t>(); // call implemented method</a:t>
            </a:r>
          </a:p>
          <a:p>
            <a:r>
              <a:rPr lang="en-IN" dirty="0"/>
              <a:t>    }</a:t>
            </a:r>
          </a:p>
          <a:p>
            <a:r>
              <a:rPr lang="en-IN" dirty="0"/>
              <a:t>}</a:t>
            </a:r>
          </a:p>
        </p:txBody>
      </p:sp>
    </p:spTree>
    <p:extLst>
      <p:ext uri="{BB962C8B-B14F-4D97-AF65-F5344CB8AC3E}">
        <p14:creationId xmlns:p14="http://schemas.microsoft.com/office/powerpoint/2010/main" val="1057601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8DE8-F397-2A93-6AA1-FFAEB99B69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0A83CDA-AEDF-09E4-DEA5-2BD20FB765AA}"/>
              </a:ext>
            </a:extLst>
          </p:cNvPr>
          <p:cNvSpPr txBox="1"/>
          <p:nvPr/>
        </p:nvSpPr>
        <p:spPr>
          <a:xfrm>
            <a:off x="675861" y="163852"/>
            <a:ext cx="8895522" cy="6740307"/>
          </a:xfrm>
          <a:prstGeom prst="rect">
            <a:avLst/>
          </a:prstGeom>
          <a:noFill/>
        </p:spPr>
        <p:txBody>
          <a:bodyPr wrap="square">
            <a:spAutoFit/>
          </a:bodyPr>
          <a:lstStyle/>
          <a:p>
            <a:r>
              <a:rPr lang="en-US" b="1" dirty="0"/>
              <a:t>3.7 Packages-creating user defined packages, using packages</a:t>
            </a:r>
          </a:p>
          <a:p>
            <a:endParaRPr lang="en-US" dirty="0"/>
          </a:p>
          <a:p>
            <a:pPr marL="285750" indent="-285750">
              <a:buFont typeface="Arial" panose="020B0604020202020204" pitchFamily="34" charset="0"/>
              <a:buChar char="•"/>
            </a:pPr>
            <a:r>
              <a:rPr lang="en-US" dirty="0"/>
              <a:t>Packages in Java are used to organize classes, interfaces, and sub-packages into namespaces, making code easier to manage and reuse. There are two types: built-in packages (like </a:t>
            </a:r>
            <a:r>
              <a:rPr lang="en-US" dirty="0" err="1"/>
              <a:t>java.util</a:t>
            </a:r>
            <a:r>
              <a:rPr lang="en-US" dirty="0"/>
              <a:t>) and user-defined packages (created by programmers).</a:t>
            </a:r>
          </a:p>
          <a:p>
            <a:endParaRPr lang="en-US" dirty="0"/>
          </a:p>
          <a:p>
            <a:r>
              <a:rPr lang="en-US" b="1" dirty="0"/>
              <a:t>Types of Packages:</a:t>
            </a:r>
          </a:p>
          <a:p>
            <a:pPr marL="342900" indent="-342900">
              <a:buFont typeface="+mj-lt"/>
              <a:buAutoNum type="arabicPeriod"/>
            </a:pPr>
            <a:r>
              <a:rPr lang="en-US" dirty="0"/>
              <a:t>Built-in</a:t>
            </a:r>
            <a:r>
              <a:rPr lang="en-US" b="1" dirty="0"/>
              <a:t>(</a:t>
            </a:r>
            <a:r>
              <a:rPr lang="en-US" dirty="0"/>
              <a:t>Predefine)Packages – Provided by Java (e.g., java.util, java.io, </a:t>
            </a:r>
            <a:r>
              <a:rPr lang="en-US" dirty="0" err="1"/>
              <a:t>java.sql</a:t>
            </a:r>
            <a:r>
              <a:rPr lang="en-US" dirty="0"/>
              <a:t>).</a:t>
            </a:r>
          </a:p>
          <a:p>
            <a:pPr marL="342900" indent="-342900">
              <a:buFont typeface="+mj-lt"/>
              <a:buAutoNum type="arabicPeriod"/>
            </a:pPr>
            <a:r>
              <a:rPr lang="en-US" dirty="0"/>
              <a:t>User-defined</a:t>
            </a:r>
            <a:r>
              <a:rPr lang="en-US" b="1" dirty="0"/>
              <a:t> </a:t>
            </a:r>
            <a:r>
              <a:rPr lang="en-US" dirty="0"/>
              <a:t>Packages – Created by the programmer.</a:t>
            </a:r>
          </a:p>
          <a:p>
            <a:endParaRPr lang="en-US" dirty="0"/>
          </a:p>
          <a:p>
            <a:pPr marL="342900" indent="-342900">
              <a:buAutoNum type="arabicPeriod"/>
            </a:pPr>
            <a:r>
              <a:rPr lang="en-IN" b="1" dirty="0"/>
              <a:t>Built-in (Predefined) Packages:</a:t>
            </a:r>
          </a:p>
          <a:p>
            <a:endParaRPr lang="en-IN" dirty="0"/>
          </a:p>
          <a:p>
            <a:r>
              <a:rPr lang="en-IN" dirty="0"/>
              <a:t>These are the packages provided by the Java API that come preinstalled with the Java Development Kit (JDK).</a:t>
            </a:r>
          </a:p>
          <a:p>
            <a:r>
              <a:rPr lang="en-IN" dirty="0"/>
              <a:t>They contain a large number of classes grouped by functionality.</a:t>
            </a:r>
          </a:p>
          <a:p>
            <a:r>
              <a:rPr lang="en-IN" dirty="0"/>
              <a:t>Examples include:</a:t>
            </a:r>
          </a:p>
          <a:p>
            <a:pPr marL="742950" lvl="1" indent="-285750">
              <a:buFont typeface="Arial" panose="020B0604020202020204" pitchFamily="34" charset="0"/>
              <a:buChar char="•"/>
            </a:pPr>
            <a:r>
              <a:rPr lang="en-IN" dirty="0"/>
              <a:t>java.lang: Fundamental classes like String, Math, System (automatically imported).</a:t>
            </a:r>
          </a:p>
          <a:p>
            <a:pPr marL="742950" lvl="1" indent="-285750">
              <a:buFont typeface="Arial" panose="020B0604020202020204" pitchFamily="34" charset="0"/>
              <a:buChar char="•"/>
            </a:pPr>
            <a:r>
              <a:rPr lang="en-IN" dirty="0"/>
              <a:t>java.util: Utility classes (Collections, Date, etc.).</a:t>
            </a:r>
          </a:p>
          <a:p>
            <a:pPr marL="742950" lvl="1" indent="-285750">
              <a:buFont typeface="Arial" panose="020B0604020202020204" pitchFamily="34" charset="0"/>
              <a:buChar char="•"/>
            </a:pPr>
            <a:r>
              <a:rPr lang="en-IN" dirty="0"/>
              <a:t>java.io: Classes for input/output.</a:t>
            </a:r>
          </a:p>
          <a:p>
            <a:pPr marL="742950" lvl="1" indent="-285750">
              <a:buFont typeface="Arial" panose="020B0604020202020204" pitchFamily="34" charset="0"/>
              <a:buChar char="•"/>
            </a:pPr>
            <a:r>
              <a:rPr lang="en-IN" dirty="0"/>
              <a:t>java.awt and javax.swing: GUI components.</a:t>
            </a:r>
          </a:p>
          <a:p>
            <a:pPr marL="742950" lvl="1" indent="-285750">
              <a:buFont typeface="Arial" panose="020B0604020202020204" pitchFamily="34" charset="0"/>
              <a:buChar char="•"/>
            </a:pPr>
            <a:r>
              <a:rPr lang="en-IN" dirty="0"/>
              <a:t>java.net: Networking classes.</a:t>
            </a:r>
          </a:p>
          <a:p>
            <a:pPr marL="742950" lvl="1" indent="-285750">
              <a:buFont typeface="Arial" panose="020B0604020202020204" pitchFamily="34" charset="0"/>
              <a:buChar char="•"/>
            </a:pPr>
            <a:r>
              <a:rPr lang="en-US" dirty="0"/>
              <a:t>java.sql: Database connectivity classes.</a:t>
            </a:r>
          </a:p>
        </p:txBody>
      </p:sp>
    </p:spTree>
    <p:extLst>
      <p:ext uri="{BB962C8B-B14F-4D97-AF65-F5344CB8AC3E}">
        <p14:creationId xmlns:p14="http://schemas.microsoft.com/office/powerpoint/2010/main" val="3797761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BA46-DA60-2E0D-3279-5C13D00F849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ABCD183-1ABA-4838-E953-1B58C5933D7F}"/>
              </a:ext>
            </a:extLst>
          </p:cNvPr>
          <p:cNvSpPr txBox="1"/>
          <p:nvPr/>
        </p:nvSpPr>
        <p:spPr>
          <a:xfrm>
            <a:off x="775253" y="289174"/>
            <a:ext cx="8319052" cy="5355312"/>
          </a:xfrm>
          <a:prstGeom prst="rect">
            <a:avLst/>
          </a:prstGeom>
          <a:noFill/>
        </p:spPr>
        <p:txBody>
          <a:bodyPr wrap="square">
            <a:spAutoFit/>
          </a:bodyPr>
          <a:lstStyle/>
          <a:p>
            <a:r>
              <a:rPr lang="en-US" b="1" dirty="0"/>
              <a:t>Example using Scanner class from java.util package</a:t>
            </a:r>
          </a:p>
          <a:p>
            <a:endParaRPr lang="en-IN" dirty="0"/>
          </a:p>
          <a:p>
            <a:r>
              <a:rPr lang="en-IN" dirty="0"/>
              <a:t>import java.util. Scanner; // import built-in package</a:t>
            </a:r>
          </a:p>
          <a:p>
            <a:endParaRPr lang="en-IN" dirty="0"/>
          </a:p>
          <a:p>
            <a:r>
              <a:rPr lang="en-IN" dirty="0"/>
              <a:t>public class pack {</a:t>
            </a:r>
          </a:p>
          <a:p>
            <a:r>
              <a:rPr lang="en-IN" dirty="0"/>
              <a:t>    public static void main(String args[]) {</a:t>
            </a:r>
          </a:p>
          <a:p>
            <a:r>
              <a:rPr lang="en-IN" dirty="0"/>
              <a:t>        Scanner sc = new Scanner(System.in); // create Scanner object</a:t>
            </a:r>
          </a:p>
          <a:p>
            <a:endParaRPr lang="en-IN" dirty="0"/>
          </a:p>
          <a:p>
            <a:r>
              <a:rPr lang="en-IN" dirty="0"/>
              <a:t>        System.out.print("Enter your name: ");</a:t>
            </a:r>
          </a:p>
          <a:p>
            <a:r>
              <a:rPr lang="en-IN" dirty="0"/>
              <a:t>        String name = sc.nextLine();</a:t>
            </a:r>
          </a:p>
          <a:p>
            <a:endParaRPr lang="en-IN" dirty="0"/>
          </a:p>
          <a:p>
            <a:r>
              <a:rPr lang="en-IN" dirty="0"/>
              <a:t>        System.out.print("Enter your age: ");</a:t>
            </a:r>
          </a:p>
          <a:p>
            <a:r>
              <a:rPr lang="en-IN" dirty="0"/>
              <a:t>        int age = sc.nextInt();</a:t>
            </a:r>
          </a:p>
          <a:p>
            <a:endParaRPr lang="en-IN" dirty="0"/>
          </a:p>
          <a:p>
            <a:r>
              <a:rPr lang="en-IN" dirty="0"/>
              <a:t>        System.out.println("Hello " + name + ", you are " + age + " years old.");</a:t>
            </a:r>
          </a:p>
          <a:p>
            <a:endParaRPr lang="en-IN" dirty="0"/>
          </a:p>
          <a:p>
            <a:r>
              <a:rPr lang="en-IN" dirty="0"/>
              <a:t>        sc.close();</a:t>
            </a:r>
          </a:p>
          <a:p>
            <a:r>
              <a:rPr lang="en-IN" dirty="0"/>
              <a:t>    }</a:t>
            </a:r>
          </a:p>
          <a:p>
            <a:r>
              <a:rPr lang="en-IN" dirty="0"/>
              <a:t>}</a:t>
            </a:r>
          </a:p>
        </p:txBody>
      </p:sp>
    </p:spTree>
    <p:extLst>
      <p:ext uri="{BB962C8B-B14F-4D97-AF65-F5344CB8AC3E}">
        <p14:creationId xmlns:p14="http://schemas.microsoft.com/office/powerpoint/2010/main" val="299914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715E3-178E-7772-9ECC-1B1C262522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D6F477-733D-3CCA-9B3E-EF5AB2BF8D63}"/>
              </a:ext>
            </a:extLst>
          </p:cNvPr>
          <p:cNvSpPr txBox="1"/>
          <p:nvPr/>
        </p:nvSpPr>
        <p:spPr>
          <a:xfrm>
            <a:off x="914400" y="279019"/>
            <a:ext cx="8537713" cy="2308324"/>
          </a:xfrm>
          <a:prstGeom prst="rect">
            <a:avLst/>
          </a:prstGeom>
          <a:noFill/>
        </p:spPr>
        <p:txBody>
          <a:bodyPr wrap="square">
            <a:spAutoFit/>
          </a:bodyPr>
          <a:lstStyle/>
          <a:p>
            <a:pPr algn="l"/>
            <a:r>
              <a:rPr lang="en-US" b="1" i="0" dirty="0">
                <a:effectLst/>
                <a:latin typeface="fkGroteskNeue"/>
              </a:rPr>
              <a:t>2. User-defined Packages:</a:t>
            </a:r>
          </a:p>
          <a:p>
            <a:pPr algn="l"/>
            <a:endParaRPr lang="en-US" b="0" i="0" dirty="0">
              <a:effectLst/>
              <a:latin typeface="fkGroteskNeue"/>
            </a:endParaRPr>
          </a:p>
          <a:p>
            <a:pPr marL="742950" lvl="1" indent="-285750" algn="l">
              <a:buFont typeface="Arial" panose="020B0604020202020204" pitchFamily="34" charset="0"/>
              <a:buChar char="•"/>
            </a:pPr>
            <a:r>
              <a:rPr lang="en-US" b="0" i="0" dirty="0">
                <a:effectLst/>
                <a:latin typeface="fkGroteskNeue"/>
              </a:rPr>
              <a:t>These are packages created by developers to group related classes and interfaces.</a:t>
            </a:r>
          </a:p>
          <a:p>
            <a:pPr marL="742950" lvl="1" indent="-285750" algn="l">
              <a:buFont typeface="Arial" panose="020B0604020202020204" pitchFamily="34" charset="0"/>
              <a:buChar char="•"/>
            </a:pPr>
            <a:r>
              <a:rPr lang="en-US" b="0" i="0" dirty="0">
                <a:effectLst/>
                <a:latin typeface="fkGroteskNeue"/>
              </a:rPr>
              <a:t>Helps in organizing code logically, avoiding naming conflicts, and controlling access.</a:t>
            </a:r>
          </a:p>
          <a:p>
            <a:pPr marL="742950" lvl="1" indent="-285750" algn="l">
              <a:buFont typeface="Arial" panose="020B0604020202020204" pitchFamily="34" charset="0"/>
              <a:buChar char="•"/>
            </a:pPr>
            <a:r>
              <a:rPr lang="en-US" b="0" i="0" dirty="0">
                <a:effectLst/>
                <a:latin typeface="fkGroteskNeue"/>
              </a:rPr>
              <a:t>Created using the </a:t>
            </a:r>
            <a:r>
              <a:rPr lang="en-US" b="0" i="0" dirty="0">
                <a:effectLst/>
                <a:latin typeface="berkeleyMono"/>
              </a:rPr>
              <a:t>package</a:t>
            </a:r>
            <a:r>
              <a:rPr lang="en-US" b="0" i="0" dirty="0">
                <a:effectLst/>
                <a:latin typeface="fkGroteskNeue"/>
              </a:rPr>
              <a:t> keyword followed by the package name.</a:t>
            </a:r>
          </a:p>
          <a:p>
            <a:pPr marL="742950" lvl="1" indent="-285750" algn="l">
              <a:buFont typeface="Arial" panose="020B0604020202020204" pitchFamily="34" charset="0"/>
              <a:buChar char="•"/>
            </a:pPr>
            <a:r>
              <a:rPr lang="en-US" b="0" i="0" dirty="0">
                <a:effectLst/>
                <a:latin typeface="fkGroteskNeue"/>
              </a:rPr>
              <a:t>Example package name could be </a:t>
            </a:r>
            <a:r>
              <a:rPr lang="en-US" b="0" i="0" dirty="0">
                <a:effectLst/>
                <a:latin typeface="berkeleyMono"/>
              </a:rPr>
              <a:t>com.example.myapp</a:t>
            </a:r>
            <a:r>
              <a:rPr lang="en-US" b="0" i="0" dirty="0">
                <a:effectLst/>
                <a:latin typeface="fkGroteskNeue"/>
              </a:rPr>
              <a:t>.</a:t>
            </a:r>
          </a:p>
          <a:p>
            <a:pPr marL="742950" lvl="1" indent="-285750" algn="l">
              <a:buFont typeface="Arial" panose="020B0604020202020204" pitchFamily="34" charset="0"/>
              <a:buChar char="•"/>
            </a:pPr>
            <a:endParaRPr lang="en-US" dirty="0">
              <a:latin typeface="fkGroteskNeue"/>
            </a:endParaRPr>
          </a:p>
        </p:txBody>
      </p:sp>
      <p:sp>
        <p:nvSpPr>
          <p:cNvPr id="3" name="TextBox 2">
            <a:extLst>
              <a:ext uri="{FF2B5EF4-FFF2-40B4-BE49-F238E27FC236}">
                <a16:creationId xmlns:a16="http://schemas.microsoft.com/office/drawing/2014/main" id="{24AB06A3-4AEB-9D7F-22F9-E73B66596B0C}"/>
              </a:ext>
            </a:extLst>
          </p:cNvPr>
          <p:cNvSpPr txBox="1"/>
          <p:nvPr/>
        </p:nvSpPr>
        <p:spPr>
          <a:xfrm>
            <a:off x="914399" y="2587343"/>
            <a:ext cx="8537713" cy="4247317"/>
          </a:xfrm>
          <a:prstGeom prst="rect">
            <a:avLst/>
          </a:prstGeom>
          <a:noFill/>
        </p:spPr>
        <p:txBody>
          <a:bodyPr wrap="square">
            <a:spAutoFit/>
          </a:bodyPr>
          <a:lstStyle/>
          <a:p>
            <a:pPr>
              <a:buNone/>
            </a:pPr>
            <a:r>
              <a:rPr lang="en-US" b="1" dirty="0"/>
              <a:t>Step 1 — Create a Package</a:t>
            </a:r>
          </a:p>
          <a:p>
            <a:endParaRPr lang="en-IN" b="1" dirty="0"/>
          </a:p>
          <a:p>
            <a:r>
              <a:rPr lang="en-IN" b="1" dirty="0"/>
              <a:t>File:</a:t>
            </a:r>
            <a:r>
              <a:rPr lang="en-IN" dirty="0"/>
              <a:t> MyPackage.java</a:t>
            </a:r>
          </a:p>
          <a:p>
            <a:pPr>
              <a:buNone/>
            </a:pPr>
            <a:endParaRPr lang="en-US" dirty="0"/>
          </a:p>
          <a:p>
            <a:pPr>
              <a:buNone/>
            </a:pPr>
            <a:r>
              <a:rPr lang="en-US" dirty="0"/>
              <a:t>package </a:t>
            </a:r>
            <a:r>
              <a:rPr lang="en-US" dirty="0" err="1"/>
              <a:t>mypackage</a:t>
            </a:r>
            <a:r>
              <a:rPr lang="en-US" dirty="0"/>
              <a:t>; // package declaration</a:t>
            </a:r>
          </a:p>
          <a:p>
            <a:pPr>
              <a:buNone/>
            </a:pPr>
            <a:endParaRPr lang="en-US" dirty="0"/>
          </a:p>
          <a:p>
            <a:pPr>
              <a:buNone/>
            </a:pPr>
            <a:r>
              <a:rPr lang="en-US" dirty="0"/>
              <a:t>public class MyPackage {</a:t>
            </a:r>
          </a:p>
          <a:p>
            <a:pPr>
              <a:buNone/>
            </a:pPr>
            <a:r>
              <a:rPr lang="en-US" dirty="0"/>
              <a:t>    public void show() {</a:t>
            </a:r>
          </a:p>
          <a:p>
            <a:pPr>
              <a:buNone/>
            </a:pPr>
            <a:r>
              <a:rPr lang="en-US" dirty="0"/>
              <a:t>        System.out.println("This is a user-defined package");</a:t>
            </a:r>
          </a:p>
          <a:p>
            <a:pPr>
              <a:buNone/>
            </a:pPr>
            <a:r>
              <a:rPr lang="en-US" dirty="0"/>
              <a:t>    }</a:t>
            </a:r>
          </a:p>
          <a:p>
            <a:pPr>
              <a:buNone/>
            </a:pPr>
            <a:r>
              <a:rPr lang="en-US" dirty="0"/>
              <a:t>}</a:t>
            </a:r>
          </a:p>
          <a:p>
            <a:pPr>
              <a:buNone/>
            </a:pPr>
            <a:endParaRPr lang="en-US" dirty="0"/>
          </a:p>
          <a:p>
            <a:r>
              <a:rPr lang="en-IN" b="1" dirty="0"/>
              <a:t>Compile the package:</a:t>
            </a:r>
          </a:p>
          <a:p>
            <a:endParaRPr lang="en-US" dirty="0"/>
          </a:p>
          <a:p>
            <a:pPr>
              <a:buNone/>
            </a:pPr>
            <a:r>
              <a:rPr lang="en-US" dirty="0"/>
              <a:t>javac -d . MyPackage.java</a:t>
            </a:r>
          </a:p>
        </p:txBody>
      </p:sp>
    </p:spTree>
    <p:extLst>
      <p:ext uri="{BB962C8B-B14F-4D97-AF65-F5344CB8AC3E}">
        <p14:creationId xmlns:p14="http://schemas.microsoft.com/office/powerpoint/2010/main" val="591845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E37F-F493-5373-80E1-943A619D78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7B6160-66CE-660C-3F32-13E68F1C3EE1}"/>
              </a:ext>
            </a:extLst>
          </p:cNvPr>
          <p:cNvSpPr txBox="1"/>
          <p:nvPr/>
        </p:nvSpPr>
        <p:spPr>
          <a:xfrm>
            <a:off x="844826" y="123447"/>
            <a:ext cx="8408504" cy="4801314"/>
          </a:xfrm>
          <a:prstGeom prst="rect">
            <a:avLst/>
          </a:prstGeom>
          <a:noFill/>
        </p:spPr>
        <p:txBody>
          <a:bodyPr wrap="square">
            <a:spAutoFit/>
          </a:bodyPr>
          <a:lstStyle/>
          <a:p>
            <a:pPr>
              <a:buNone/>
            </a:pPr>
            <a:r>
              <a:rPr lang="en-US" b="1" dirty="0"/>
              <a:t>Step 2 — Use the Package</a:t>
            </a:r>
          </a:p>
          <a:p>
            <a:pPr>
              <a:buNone/>
            </a:pPr>
            <a:endParaRPr lang="en-US" b="1" dirty="0"/>
          </a:p>
          <a:p>
            <a:r>
              <a:rPr lang="en-IN" b="1" dirty="0"/>
              <a:t>File:</a:t>
            </a:r>
            <a:r>
              <a:rPr lang="en-IN" dirty="0"/>
              <a:t> TestPackage.java</a:t>
            </a:r>
          </a:p>
          <a:p>
            <a:pPr>
              <a:buNone/>
            </a:pPr>
            <a:endParaRPr lang="en-US" b="1" dirty="0"/>
          </a:p>
          <a:p>
            <a:pPr>
              <a:buNone/>
            </a:pPr>
            <a:r>
              <a:rPr lang="en-US" dirty="0"/>
              <a:t>import </a:t>
            </a:r>
            <a:r>
              <a:rPr lang="en-US" dirty="0" err="1"/>
              <a:t>mypackage.MyPackage</a:t>
            </a:r>
            <a:r>
              <a:rPr lang="en-US" dirty="0"/>
              <a:t>; // import the package</a:t>
            </a:r>
          </a:p>
          <a:p>
            <a:pPr>
              <a:buNone/>
            </a:pPr>
            <a:endParaRPr lang="en-US" dirty="0"/>
          </a:p>
          <a:p>
            <a:pPr>
              <a:buNone/>
            </a:pPr>
            <a:r>
              <a:rPr lang="en-US" dirty="0"/>
              <a:t>public class TestPackage {</a:t>
            </a:r>
          </a:p>
          <a:p>
            <a:pPr>
              <a:buNone/>
            </a:pPr>
            <a:r>
              <a:rPr lang="en-US" dirty="0"/>
              <a:t>    public static void main(String args[]) {</a:t>
            </a:r>
          </a:p>
          <a:p>
            <a:pPr>
              <a:buNone/>
            </a:pPr>
            <a:r>
              <a:rPr lang="en-US" dirty="0"/>
              <a:t>        MyPackage obj = new MyPackage(); // create object</a:t>
            </a:r>
          </a:p>
          <a:p>
            <a:pPr>
              <a:buNone/>
            </a:pPr>
            <a:r>
              <a:rPr lang="en-US" dirty="0"/>
              <a:t>        </a:t>
            </a:r>
            <a:r>
              <a:rPr lang="en-US" dirty="0" err="1"/>
              <a:t>obj.show</a:t>
            </a:r>
            <a:r>
              <a:rPr lang="en-US" dirty="0"/>
              <a:t>(); // call method from package</a:t>
            </a:r>
          </a:p>
          <a:p>
            <a:pPr>
              <a:buNone/>
            </a:pPr>
            <a:r>
              <a:rPr lang="en-US" dirty="0"/>
              <a:t>    }</a:t>
            </a:r>
          </a:p>
          <a:p>
            <a:pPr>
              <a:buNone/>
            </a:pPr>
            <a:r>
              <a:rPr lang="en-US" dirty="0"/>
              <a:t>}</a:t>
            </a:r>
          </a:p>
          <a:p>
            <a:pPr>
              <a:buNone/>
            </a:pPr>
            <a:endParaRPr lang="en-US" dirty="0"/>
          </a:p>
          <a:p>
            <a:r>
              <a:rPr lang="en-IN" b="1" dirty="0"/>
              <a:t>Compile and Run:</a:t>
            </a:r>
          </a:p>
          <a:p>
            <a:endParaRPr lang="en-IN" b="1" dirty="0"/>
          </a:p>
          <a:p>
            <a:r>
              <a:rPr lang="en-IN" dirty="0"/>
              <a:t>javac TestPackage.java</a:t>
            </a:r>
          </a:p>
          <a:p>
            <a:r>
              <a:rPr lang="en-IN" dirty="0"/>
              <a:t>java TestPackage</a:t>
            </a:r>
          </a:p>
        </p:txBody>
      </p:sp>
    </p:spTree>
    <p:extLst>
      <p:ext uri="{BB962C8B-B14F-4D97-AF65-F5344CB8AC3E}">
        <p14:creationId xmlns:p14="http://schemas.microsoft.com/office/powerpoint/2010/main" val="29432583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149</TotalTime>
  <Words>2928</Words>
  <Application>Microsoft Office PowerPoint</Application>
  <PresentationFormat>Widescreen</PresentationFormat>
  <Paragraphs>508</Paragraphs>
  <Slides>28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Aptos</vt:lpstr>
      <vt:lpstr>Arial</vt:lpstr>
      <vt:lpstr>berkeleyMono</vt:lpstr>
      <vt:lpstr>fkGrotesk</vt:lpstr>
      <vt:lpstr>fkGroteskNeue</vt:lpstr>
      <vt:lpstr>Trebuchet MS</vt:lpstr>
      <vt:lpstr>Trebuchet MS (Body)</vt:lpstr>
      <vt:lpstr>Wingdings</vt:lpstr>
      <vt:lpstr>Wingdings 3</vt:lpstr>
      <vt:lpstr>Facet</vt:lpstr>
      <vt:lpstr>Inheritance, Interfaces and Packages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2025-10-07T05:03:15Z</dcterms:created>
  <dcterms:modified xsi:type="dcterms:W3CDTF">2025-10-07T07:32:16Z</dcterms:modified>
</cp:coreProperties>
</file>