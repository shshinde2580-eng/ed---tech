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9"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69A01C1-0838-4FE5-B56B-7989B11F2B74}" v="54" dt="2025-10-05T13:50:09.013"/>
  </p1510:revLst>
</p1510:revInfo>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07" autoAdjust="0"/>
    <p:restoredTop sz="94660"/>
  </p:normalViewPr>
  <p:slideViewPr>
    <p:cSldViewPr snapToGrid="0">
      <p:cViewPr varScale="1">
        <p:scale>
          <a:sx n="77" d="100"/>
          <a:sy n="77" d="100"/>
        </p:scale>
        <p:origin x="86"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shinde2580@gmail.com" userId="86fdf0c531315612" providerId="LiveId" clId="{80EF1F59-5901-4077-BC9B-DA299863282D}"/>
    <pc:docChg chg="undo custSel modSld">
      <pc:chgData name="shshinde2580@gmail.com" userId="86fdf0c531315612" providerId="LiveId" clId="{80EF1F59-5901-4077-BC9B-DA299863282D}" dt="2025-10-05T13:52:56.484" v="3991" actId="1076"/>
      <pc:docMkLst>
        <pc:docMk/>
      </pc:docMkLst>
      <pc:sldChg chg="addSp modSp mod">
        <pc:chgData name="shshinde2580@gmail.com" userId="86fdf0c531315612" providerId="LiveId" clId="{80EF1F59-5901-4077-BC9B-DA299863282D}" dt="2025-10-05T12:39:36.141" v="281" actId="20577"/>
        <pc:sldMkLst>
          <pc:docMk/>
          <pc:sldMk cId="3677471827" sldId="258"/>
        </pc:sldMkLst>
        <pc:spChg chg="add mod">
          <ac:chgData name="shshinde2580@gmail.com" userId="86fdf0c531315612" providerId="LiveId" clId="{80EF1F59-5901-4077-BC9B-DA299863282D}" dt="2025-10-05T12:39:36.141" v="281" actId="20577"/>
          <ac:spMkLst>
            <pc:docMk/>
            <pc:sldMk cId="3677471827" sldId="258"/>
            <ac:spMk id="3" creationId="{DF5F8A71-D2A7-5FCC-76E2-70C948178EFC}"/>
          </ac:spMkLst>
        </pc:spChg>
        <pc:spChg chg="add mod">
          <ac:chgData name="shshinde2580@gmail.com" userId="86fdf0c531315612" providerId="LiveId" clId="{80EF1F59-5901-4077-BC9B-DA299863282D}" dt="2025-10-05T12:33:19.720" v="71" actId="1076"/>
          <ac:spMkLst>
            <pc:docMk/>
            <pc:sldMk cId="3677471827" sldId="258"/>
            <ac:spMk id="5" creationId="{4E360168-A6A9-F971-FD4F-D765F1B59490}"/>
          </ac:spMkLst>
        </pc:spChg>
      </pc:sldChg>
      <pc:sldChg chg="addSp modSp mod">
        <pc:chgData name="shshinde2580@gmail.com" userId="86fdf0c531315612" providerId="LiveId" clId="{80EF1F59-5901-4077-BC9B-DA299863282D}" dt="2025-10-05T12:41:12.421" v="319"/>
        <pc:sldMkLst>
          <pc:docMk/>
          <pc:sldMk cId="3713436022" sldId="259"/>
        </pc:sldMkLst>
        <pc:spChg chg="add mod">
          <ac:chgData name="shshinde2580@gmail.com" userId="86fdf0c531315612" providerId="LiveId" clId="{80EF1F59-5901-4077-BC9B-DA299863282D}" dt="2025-10-05T12:41:12.421" v="319"/>
          <ac:spMkLst>
            <pc:docMk/>
            <pc:sldMk cId="3713436022" sldId="259"/>
            <ac:spMk id="3" creationId="{89923583-7DF1-0006-9495-5DE8F051F829}"/>
          </ac:spMkLst>
        </pc:spChg>
      </pc:sldChg>
      <pc:sldChg chg="addSp modSp mod">
        <pc:chgData name="shshinde2580@gmail.com" userId="86fdf0c531315612" providerId="LiveId" clId="{80EF1F59-5901-4077-BC9B-DA299863282D}" dt="2025-10-05T12:44:13.300" v="360" actId="20577"/>
        <pc:sldMkLst>
          <pc:docMk/>
          <pc:sldMk cId="2877220247" sldId="260"/>
        </pc:sldMkLst>
        <pc:spChg chg="add mod">
          <ac:chgData name="shshinde2580@gmail.com" userId="86fdf0c531315612" providerId="LiveId" clId="{80EF1F59-5901-4077-BC9B-DA299863282D}" dt="2025-10-05T12:44:13.300" v="360" actId="20577"/>
          <ac:spMkLst>
            <pc:docMk/>
            <pc:sldMk cId="2877220247" sldId="260"/>
            <ac:spMk id="3" creationId="{659EB0DA-9403-38B9-6D95-4B9A7597E451}"/>
          </ac:spMkLst>
        </pc:spChg>
      </pc:sldChg>
      <pc:sldChg chg="addSp delSp modSp mod">
        <pc:chgData name="shshinde2580@gmail.com" userId="86fdf0c531315612" providerId="LiveId" clId="{80EF1F59-5901-4077-BC9B-DA299863282D}" dt="2025-10-05T13:07:25.965" v="1722" actId="21"/>
        <pc:sldMkLst>
          <pc:docMk/>
          <pc:sldMk cId="3738199119" sldId="261"/>
        </pc:sldMkLst>
        <pc:spChg chg="add del mod">
          <ac:chgData name="shshinde2580@gmail.com" userId="86fdf0c531315612" providerId="LiveId" clId="{80EF1F59-5901-4077-BC9B-DA299863282D}" dt="2025-10-05T12:44:12.845" v="359" actId="22"/>
          <ac:spMkLst>
            <pc:docMk/>
            <pc:sldMk cId="3738199119" sldId="261"/>
            <ac:spMk id="3" creationId="{D823241B-DA55-3C81-AE5D-182DE03821EF}"/>
          </ac:spMkLst>
        </pc:spChg>
        <pc:spChg chg="add del mod">
          <ac:chgData name="shshinde2580@gmail.com" userId="86fdf0c531315612" providerId="LiveId" clId="{80EF1F59-5901-4077-BC9B-DA299863282D}" dt="2025-10-05T12:46:02.791" v="364" actId="21"/>
          <ac:spMkLst>
            <pc:docMk/>
            <pc:sldMk cId="3738199119" sldId="261"/>
            <ac:spMk id="5" creationId="{ABADAF60-79BE-7EFC-A144-CD03DB5A255E}"/>
          </ac:spMkLst>
        </pc:spChg>
        <pc:spChg chg="add mod">
          <ac:chgData name="shshinde2580@gmail.com" userId="86fdf0c531315612" providerId="LiveId" clId="{80EF1F59-5901-4077-BC9B-DA299863282D}" dt="2025-10-05T12:46:03.951" v="365"/>
          <ac:spMkLst>
            <pc:docMk/>
            <pc:sldMk cId="3738199119" sldId="261"/>
            <ac:spMk id="6" creationId="{ABADAF60-79BE-7EFC-A144-CD03DB5A255E}"/>
          </ac:spMkLst>
        </pc:spChg>
        <pc:spChg chg="add del mod">
          <ac:chgData name="shshinde2580@gmail.com" userId="86fdf0c531315612" providerId="LiveId" clId="{80EF1F59-5901-4077-BC9B-DA299863282D}" dt="2025-10-05T13:07:25.965" v="1722" actId="21"/>
          <ac:spMkLst>
            <pc:docMk/>
            <pc:sldMk cId="3738199119" sldId="261"/>
            <ac:spMk id="8" creationId="{A02EC28C-1031-2FCD-3043-FC30DDD3028E}"/>
          </ac:spMkLst>
        </pc:spChg>
      </pc:sldChg>
      <pc:sldChg chg="addSp modSp mod">
        <pc:chgData name="shshinde2580@gmail.com" userId="86fdf0c531315612" providerId="LiveId" clId="{80EF1F59-5901-4077-BC9B-DA299863282D}" dt="2025-10-05T13:06:47.773" v="1720" actId="20577"/>
        <pc:sldMkLst>
          <pc:docMk/>
          <pc:sldMk cId="1942011438" sldId="262"/>
        </pc:sldMkLst>
        <pc:spChg chg="add mod">
          <ac:chgData name="shshinde2580@gmail.com" userId="86fdf0c531315612" providerId="LiveId" clId="{80EF1F59-5901-4077-BC9B-DA299863282D}" dt="2025-10-05T12:49:18.436" v="382" actId="113"/>
          <ac:spMkLst>
            <pc:docMk/>
            <pc:sldMk cId="1942011438" sldId="262"/>
            <ac:spMk id="3" creationId="{EF3E30F4-3C4D-D727-0805-E2C953406A48}"/>
          </ac:spMkLst>
        </pc:spChg>
        <pc:spChg chg="add mod">
          <ac:chgData name="shshinde2580@gmail.com" userId="86fdf0c531315612" providerId="LiveId" clId="{80EF1F59-5901-4077-BC9B-DA299863282D}" dt="2025-10-05T13:06:47.773" v="1720" actId="20577"/>
          <ac:spMkLst>
            <pc:docMk/>
            <pc:sldMk cId="1942011438" sldId="262"/>
            <ac:spMk id="5" creationId="{D1B2593E-79A5-D708-5C2E-50E2B3207EA3}"/>
          </ac:spMkLst>
        </pc:spChg>
        <pc:cxnChg chg="add mod">
          <ac:chgData name="shshinde2580@gmail.com" userId="86fdf0c531315612" providerId="LiveId" clId="{80EF1F59-5901-4077-BC9B-DA299863282D}" dt="2025-10-05T12:59:01.934" v="994" actId="14100"/>
          <ac:cxnSpMkLst>
            <pc:docMk/>
            <pc:sldMk cId="1942011438" sldId="262"/>
            <ac:cxnSpMk id="7" creationId="{5E43113D-67C8-60E3-3765-44857436686D}"/>
          </ac:cxnSpMkLst>
        </pc:cxnChg>
        <pc:cxnChg chg="add mod">
          <ac:chgData name="shshinde2580@gmail.com" userId="86fdf0c531315612" providerId="LiveId" clId="{80EF1F59-5901-4077-BC9B-DA299863282D}" dt="2025-10-05T12:59:35.682" v="1004" actId="1076"/>
          <ac:cxnSpMkLst>
            <pc:docMk/>
            <pc:sldMk cId="1942011438" sldId="262"/>
            <ac:cxnSpMk id="11" creationId="{68C23671-747A-6353-86C7-C42C556F8C89}"/>
          </ac:cxnSpMkLst>
        </pc:cxnChg>
        <pc:cxnChg chg="add mod">
          <ac:chgData name="shshinde2580@gmail.com" userId="86fdf0c531315612" providerId="LiveId" clId="{80EF1F59-5901-4077-BC9B-DA299863282D}" dt="2025-10-05T13:06:45.794" v="1719" actId="1076"/>
          <ac:cxnSpMkLst>
            <pc:docMk/>
            <pc:sldMk cId="1942011438" sldId="262"/>
            <ac:cxnSpMk id="14" creationId="{B1191BE6-B934-7BCB-E2AA-155C21B10420}"/>
          </ac:cxnSpMkLst>
        </pc:cxnChg>
        <pc:cxnChg chg="add mod">
          <ac:chgData name="shshinde2580@gmail.com" userId="86fdf0c531315612" providerId="LiveId" clId="{80EF1F59-5901-4077-BC9B-DA299863282D}" dt="2025-10-05T12:59:38.189" v="1005" actId="1076"/>
          <ac:cxnSpMkLst>
            <pc:docMk/>
            <pc:sldMk cId="1942011438" sldId="262"/>
            <ac:cxnSpMk id="15" creationId="{3C783BE9-C9A4-8A21-A65E-33C9E14377D4}"/>
          </ac:cxnSpMkLst>
        </pc:cxnChg>
        <pc:cxnChg chg="add mod">
          <ac:chgData name="shshinde2580@gmail.com" userId="86fdf0c531315612" providerId="LiveId" clId="{80EF1F59-5901-4077-BC9B-DA299863282D}" dt="2025-10-05T12:59:15.500" v="999" actId="1076"/>
          <ac:cxnSpMkLst>
            <pc:docMk/>
            <pc:sldMk cId="1942011438" sldId="262"/>
            <ac:cxnSpMk id="19" creationId="{E1FD41DE-DA47-842D-A230-9C59FA6E88D2}"/>
          </ac:cxnSpMkLst>
        </pc:cxnChg>
      </pc:sldChg>
      <pc:sldChg chg="addSp delSp modSp mod">
        <pc:chgData name="shshinde2580@gmail.com" userId="86fdf0c531315612" providerId="LiveId" clId="{80EF1F59-5901-4077-BC9B-DA299863282D}" dt="2025-10-05T13:25:56.340" v="3595" actId="12"/>
        <pc:sldMkLst>
          <pc:docMk/>
          <pc:sldMk cId="2445941642" sldId="263"/>
        </pc:sldMkLst>
        <pc:spChg chg="add del mod">
          <ac:chgData name="shshinde2580@gmail.com" userId="86fdf0c531315612" providerId="LiveId" clId="{80EF1F59-5901-4077-BC9B-DA299863282D}" dt="2025-10-05T13:10:33.556" v="2485" actId="113"/>
          <ac:spMkLst>
            <pc:docMk/>
            <pc:sldMk cId="2445941642" sldId="263"/>
            <ac:spMk id="2" creationId="{2004096B-AD02-7D43-A4A0-95CF41B1607C}"/>
          </ac:spMkLst>
        </pc:spChg>
        <pc:spChg chg="add mod">
          <ac:chgData name="shshinde2580@gmail.com" userId="86fdf0c531315612" providerId="LiveId" clId="{80EF1F59-5901-4077-BC9B-DA299863282D}" dt="2025-10-05T13:14:01.815" v="2503" actId="113"/>
          <ac:spMkLst>
            <pc:docMk/>
            <pc:sldMk cId="2445941642" sldId="263"/>
            <ac:spMk id="4" creationId="{A95AF5DE-B7B3-BD68-31C4-0A6855E383AD}"/>
          </ac:spMkLst>
        </pc:spChg>
        <pc:spChg chg="add mod">
          <ac:chgData name="shshinde2580@gmail.com" userId="86fdf0c531315612" providerId="LiveId" clId="{80EF1F59-5901-4077-BC9B-DA299863282D}" dt="2025-10-05T13:25:56.340" v="3595" actId="12"/>
          <ac:spMkLst>
            <pc:docMk/>
            <pc:sldMk cId="2445941642" sldId="263"/>
            <ac:spMk id="6" creationId="{8484B907-7A07-40BB-BA3B-0C83904AC787}"/>
          </ac:spMkLst>
        </pc:spChg>
      </pc:sldChg>
      <pc:sldChg chg="addSp delSp modSp mod">
        <pc:chgData name="shshinde2580@gmail.com" userId="86fdf0c531315612" providerId="LiveId" clId="{80EF1F59-5901-4077-BC9B-DA299863282D}" dt="2025-10-05T13:35:02.020" v="3777" actId="21"/>
        <pc:sldMkLst>
          <pc:docMk/>
          <pc:sldMk cId="518752870" sldId="264"/>
        </pc:sldMkLst>
        <pc:spChg chg="add mod">
          <ac:chgData name="shshinde2580@gmail.com" userId="86fdf0c531315612" providerId="LiveId" clId="{80EF1F59-5901-4077-BC9B-DA299863282D}" dt="2025-10-05T13:32:58.635" v="3757" actId="12"/>
          <ac:spMkLst>
            <pc:docMk/>
            <pc:sldMk cId="518752870" sldId="264"/>
            <ac:spMk id="3" creationId="{A954770F-06CD-7881-6B2C-66102AD7E702}"/>
          </ac:spMkLst>
        </pc:spChg>
        <pc:spChg chg="add mod">
          <ac:chgData name="shshinde2580@gmail.com" userId="86fdf0c531315612" providerId="LiveId" clId="{80EF1F59-5901-4077-BC9B-DA299863282D}" dt="2025-10-05T13:33:55.625" v="3766" actId="5793"/>
          <ac:spMkLst>
            <pc:docMk/>
            <pc:sldMk cId="518752870" sldId="264"/>
            <ac:spMk id="5" creationId="{2767C6BB-47CD-B9DD-9D67-35AFEBB6DF2B}"/>
          </ac:spMkLst>
        </pc:spChg>
        <pc:graphicFrameChg chg="add del mod modGraphic">
          <ac:chgData name="shshinde2580@gmail.com" userId="86fdf0c531315612" providerId="LiveId" clId="{80EF1F59-5901-4077-BC9B-DA299863282D}" dt="2025-10-05T13:35:02.020" v="3777" actId="21"/>
          <ac:graphicFrameMkLst>
            <pc:docMk/>
            <pc:sldMk cId="518752870" sldId="264"/>
            <ac:graphicFrameMk id="6" creationId="{65DDA10C-33EA-9130-683B-0122E438027E}"/>
          </ac:graphicFrameMkLst>
        </pc:graphicFrameChg>
      </pc:sldChg>
      <pc:sldChg chg="addSp modSp mod">
        <pc:chgData name="shshinde2580@gmail.com" userId="86fdf0c531315612" providerId="LiveId" clId="{80EF1F59-5901-4077-BC9B-DA299863282D}" dt="2025-10-05T13:35:11.149" v="3778" actId="1076"/>
        <pc:sldMkLst>
          <pc:docMk/>
          <pc:sldMk cId="4060283827" sldId="265"/>
        </pc:sldMkLst>
        <pc:graphicFrameChg chg="add mod">
          <ac:chgData name="shshinde2580@gmail.com" userId="86fdf0c531315612" providerId="LiveId" clId="{80EF1F59-5901-4077-BC9B-DA299863282D}" dt="2025-10-05T13:35:11.149" v="3778" actId="1076"/>
          <ac:graphicFrameMkLst>
            <pc:docMk/>
            <pc:sldMk cId="4060283827" sldId="265"/>
            <ac:graphicFrameMk id="2" creationId="{3751BD2D-2F67-389F-6BC6-504E0B94376F}"/>
          </ac:graphicFrameMkLst>
        </pc:graphicFrameChg>
      </pc:sldChg>
      <pc:sldChg chg="addSp modSp mod">
        <pc:chgData name="shshinde2580@gmail.com" userId="86fdf0c531315612" providerId="LiveId" clId="{80EF1F59-5901-4077-BC9B-DA299863282D}" dt="2025-10-05T13:37:48.771" v="3811" actId="113"/>
        <pc:sldMkLst>
          <pc:docMk/>
          <pc:sldMk cId="2574496722" sldId="266"/>
        </pc:sldMkLst>
        <pc:spChg chg="add mod">
          <ac:chgData name="shshinde2580@gmail.com" userId="86fdf0c531315612" providerId="LiveId" clId="{80EF1F59-5901-4077-BC9B-DA299863282D}" dt="2025-10-05T13:36:28.045" v="3783" actId="113"/>
          <ac:spMkLst>
            <pc:docMk/>
            <pc:sldMk cId="2574496722" sldId="266"/>
            <ac:spMk id="3" creationId="{ED3A2982-2533-796C-AACF-2D274BE88B00}"/>
          </ac:spMkLst>
        </pc:spChg>
        <pc:spChg chg="add mod">
          <ac:chgData name="shshinde2580@gmail.com" userId="86fdf0c531315612" providerId="LiveId" clId="{80EF1F59-5901-4077-BC9B-DA299863282D}" dt="2025-10-05T13:36:55.451" v="3792" actId="20577"/>
          <ac:spMkLst>
            <pc:docMk/>
            <pc:sldMk cId="2574496722" sldId="266"/>
            <ac:spMk id="5" creationId="{C61B39F3-3808-B686-5597-B2F8BFC77080}"/>
          </ac:spMkLst>
        </pc:spChg>
        <pc:spChg chg="add mod">
          <ac:chgData name="shshinde2580@gmail.com" userId="86fdf0c531315612" providerId="LiveId" clId="{80EF1F59-5901-4077-BC9B-DA299863282D}" dt="2025-10-05T13:37:48.771" v="3811" actId="113"/>
          <ac:spMkLst>
            <pc:docMk/>
            <pc:sldMk cId="2574496722" sldId="266"/>
            <ac:spMk id="7" creationId="{DA1CD9F0-BB92-CFB8-8424-B6B2A81EAAB4}"/>
          </ac:spMkLst>
        </pc:spChg>
      </pc:sldChg>
      <pc:sldChg chg="addSp modSp mod">
        <pc:chgData name="shshinde2580@gmail.com" userId="86fdf0c531315612" providerId="LiveId" clId="{80EF1F59-5901-4077-BC9B-DA299863282D}" dt="2025-10-05T13:40:51.930" v="3848" actId="20577"/>
        <pc:sldMkLst>
          <pc:docMk/>
          <pc:sldMk cId="1895191068" sldId="267"/>
        </pc:sldMkLst>
        <pc:spChg chg="add mod">
          <ac:chgData name="shshinde2580@gmail.com" userId="86fdf0c531315612" providerId="LiveId" clId="{80EF1F59-5901-4077-BC9B-DA299863282D}" dt="2025-10-05T13:40:51.930" v="3848" actId="20577"/>
          <ac:spMkLst>
            <pc:docMk/>
            <pc:sldMk cId="1895191068" sldId="267"/>
            <ac:spMk id="3" creationId="{C22A3A16-3E2C-89B7-9FE1-19AFE05F402E}"/>
          </ac:spMkLst>
        </pc:spChg>
      </pc:sldChg>
      <pc:sldChg chg="addSp modSp mod">
        <pc:chgData name="shshinde2580@gmail.com" userId="86fdf0c531315612" providerId="LiveId" clId="{80EF1F59-5901-4077-BC9B-DA299863282D}" dt="2025-10-05T13:43:45.585" v="3876" actId="14100"/>
        <pc:sldMkLst>
          <pc:docMk/>
          <pc:sldMk cId="1862643827" sldId="268"/>
        </pc:sldMkLst>
        <pc:spChg chg="add mod">
          <ac:chgData name="shshinde2580@gmail.com" userId="86fdf0c531315612" providerId="LiveId" clId="{80EF1F59-5901-4077-BC9B-DA299863282D}" dt="2025-10-05T13:43:23.081" v="3868" actId="113"/>
          <ac:spMkLst>
            <pc:docMk/>
            <pc:sldMk cId="1862643827" sldId="268"/>
            <ac:spMk id="3" creationId="{9E31753E-F379-AC1F-8F39-70774ECEFB12}"/>
          </ac:spMkLst>
        </pc:spChg>
        <pc:spChg chg="add mod">
          <ac:chgData name="shshinde2580@gmail.com" userId="86fdf0c531315612" providerId="LiveId" clId="{80EF1F59-5901-4077-BC9B-DA299863282D}" dt="2025-10-05T13:43:45.585" v="3876" actId="14100"/>
          <ac:spMkLst>
            <pc:docMk/>
            <pc:sldMk cId="1862643827" sldId="268"/>
            <ac:spMk id="6" creationId="{CF5D823C-0EFC-BFE8-41D7-5CE763F0B563}"/>
          </ac:spMkLst>
        </pc:spChg>
        <pc:graphicFrameChg chg="add mod modGraphic">
          <ac:chgData name="shshinde2580@gmail.com" userId="86fdf0c531315612" providerId="LiveId" clId="{80EF1F59-5901-4077-BC9B-DA299863282D}" dt="2025-10-05T13:43:17.034" v="3867" actId="1076"/>
          <ac:graphicFrameMkLst>
            <pc:docMk/>
            <pc:sldMk cId="1862643827" sldId="268"/>
            <ac:graphicFrameMk id="4" creationId="{371BC42C-E800-64DD-6300-FBF75BD1DC54}"/>
          </ac:graphicFrameMkLst>
        </pc:graphicFrameChg>
      </pc:sldChg>
      <pc:sldChg chg="addSp modSp mod">
        <pc:chgData name="shshinde2580@gmail.com" userId="86fdf0c531315612" providerId="LiveId" clId="{80EF1F59-5901-4077-BC9B-DA299863282D}" dt="2025-10-05T13:45:08.720" v="3900" actId="113"/>
        <pc:sldMkLst>
          <pc:docMk/>
          <pc:sldMk cId="2371474367" sldId="269"/>
        </pc:sldMkLst>
        <pc:spChg chg="add mod">
          <ac:chgData name="shshinde2580@gmail.com" userId="86fdf0c531315612" providerId="LiveId" clId="{80EF1F59-5901-4077-BC9B-DA299863282D}" dt="2025-10-05T13:45:08.720" v="3900" actId="113"/>
          <ac:spMkLst>
            <pc:docMk/>
            <pc:sldMk cId="2371474367" sldId="269"/>
            <ac:spMk id="3" creationId="{78D66980-464A-9263-6AB3-5F761083EC50}"/>
          </ac:spMkLst>
        </pc:spChg>
        <pc:spChg chg="add mod">
          <ac:chgData name="shshinde2580@gmail.com" userId="86fdf0c531315612" providerId="LiveId" clId="{80EF1F59-5901-4077-BC9B-DA299863282D}" dt="2025-10-05T13:44:53.554" v="3897" actId="113"/>
          <ac:spMkLst>
            <pc:docMk/>
            <pc:sldMk cId="2371474367" sldId="269"/>
            <ac:spMk id="5" creationId="{199B2D3B-CC2A-0697-0975-7B816D838691}"/>
          </ac:spMkLst>
        </pc:spChg>
      </pc:sldChg>
      <pc:sldChg chg="addSp modSp mod">
        <pc:chgData name="shshinde2580@gmail.com" userId="86fdf0c531315612" providerId="LiveId" clId="{80EF1F59-5901-4077-BC9B-DA299863282D}" dt="2025-10-05T13:46:16.219" v="3916" actId="113"/>
        <pc:sldMkLst>
          <pc:docMk/>
          <pc:sldMk cId="3520961469" sldId="270"/>
        </pc:sldMkLst>
        <pc:spChg chg="add mod">
          <ac:chgData name="shshinde2580@gmail.com" userId="86fdf0c531315612" providerId="LiveId" clId="{80EF1F59-5901-4077-BC9B-DA299863282D}" dt="2025-10-05T13:46:16.219" v="3916" actId="113"/>
          <ac:spMkLst>
            <pc:docMk/>
            <pc:sldMk cId="3520961469" sldId="270"/>
            <ac:spMk id="3" creationId="{4272C555-8530-921A-CD54-4F9361284620}"/>
          </ac:spMkLst>
        </pc:spChg>
      </pc:sldChg>
      <pc:sldChg chg="addSp modSp mod">
        <pc:chgData name="shshinde2580@gmail.com" userId="86fdf0c531315612" providerId="LiveId" clId="{80EF1F59-5901-4077-BC9B-DA299863282D}" dt="2025-10-05T13:50:21.965" v="3942" actId="113"/>
        <pc:sldMkLst>
          <pc:docMk/>
          <pc:sldMk cId="2225445473" sldId="271"/>
        </pc:sldMkLst>
        <pc:spChg chg="add mod">
          <ac:chgData name="shshinde2580@gmail.com" userId="86fdf0c531315612" providerId="LiveId" clId="{80EF1F59-5901-4077-BC9B-DA299863282D}" dt="2025-10-05T13:48:11.831" v="3920" actId="113"/>
          <ac:spMkLst>
            <pc:docMk/>
            <pc:sldMk cId="2225445473" sldId="271"/>
            <ac:spMk id="3" creationId="{ADC3FD2D-6DC6-BA7C-2BCD-B2439EC388FB}"/>
          </ac:spMkLst>
        </pc:spChg>
        <pc:spChg chg="add mod">
          <ac:chgData name="shshinde2580@gmail.com" userId="86fdf0c531315612" providerId="LiveId" clId="{80EF1F59-5901-4077-BC9B-DA299863282D}" dt="2025-10-05T13:48:59.125" v="3924" actId="113"/>
          <ac:spMkLst>
            <pc:docMk/>
            <pc:sldMk cId="2225445473" sldId="271"/>
            <ac:spMk id="5" creationId="{4923DF7F-5DA1-B83E-7874-2CBD34C01B90}"/>
          </ac:spMkLst>
        </pc:spChg>
        <pc:spChg chg="add mod">
          <ac:chgData name="shshinde2580@gmail.com" userId="86fdf0c531315612" providerId="LiveId" clId="{80EF1F59-5901-4077-BC9B-DA299863282D}" dt="2025-10-05T13:50:21.965" v="3942" actId="113"/>
          <ac:spMkLst>
            <pc:docMk/>
            <pc:sldMk cId="2225445473" sldId="271"/>
            <ac:spMk id="7" creationId="{D6936822-531D-0643-AF1B-B8D80BCBCED1}"/>
          </ac:spMkLst>
        </pc:spChg>
      </pc:sldChg>
      <pc:sldChg chg="addSp modSp mod">
        <pc:chgData name="shshinde2580@gmail.com" userId="86fdf0c531315612" providerId="LiveId" clId="{80EF1F59-5901-4077-BC9B-DA299863282D}" dt="2025-10-05T13:51:46.697" v="3966" actId="113"/>
        <pc:sldMkLst>
          <pc:docMk/>
          <pc:sldMk cId="1210965438" sldId="272"/>
        </pc:sldMkLst>
        <pc:spChg chg="add mod">
          <ac:chgData name="shshinde2580@gmail.com" userId="86fdf0c531315612" providerId="LiveId" clId="{80EF1F59-5901-4077-BC9B-DA299863282D}" dt="2025-10-05T13:51:46.697" v="3966" actId="113"/>
          <ac:spMkLst>
            <pc:docMk/>
            <pc:sldMk cId="1210965438" sldId="272"/>
            <ac:spMk id="3" creationId="{6FCDA748-D499-6D1E-5DCC-9134A0C2CF2A}"/>
          </ac:spMkLst>
        </pc:spChg>
        <pc:spChg chg="add mod">
          <ac:chgData name="shshinde2580@gmail.com" userId="86fdf0c531315612" providerId="LiveId" clId="{80EF1F59-5901-4077-BC9B-DA299863282D}" dt="2025-10-05T13:50:57.714" v="3949" actId="14100"/>
          <ac:spMkLst>
            <pc:docMk/>
            <pc:sldMk cId="1210965438" sldId="272"/>
            <ac:spMk id="5" creationId="{35357A7D-3CFC-A8C2-CBF4-F841939524EB}"/>
          </ac:spMkLst>
        </pc:spChg>
        <pc:spChg chg="add mod">
          <ac:chgData name="shshinde2580@gmail.com" userId="86fdf0c531315612" providerId="LiveId" clId="{80EF1F59-5901-4077-BC9B-DA299863282D}" dt="2025-10-05T13:51:42.045" v="3965" actId="113"/>
          <ac:spMkLst>
            <pc:docMk/>
            <pc:sldMk cId="1210965438" sldId="272"/>
            <ac:spMk id="7" creationId="{40023373-551D-1FC9-AE10-AA194E2A2B67}"/>
          </ac:spMkLst>
        </pc:spChg>
      </pc:sldChg>
      <pc:sldChg chg="addSp modSp mod">
        <pc:chgData name="shshinde2580@gmail.com" userId="86fdf0c531315612" providerId="LiveId" clId="{80EF1F59-5901-4077-BC9B-DA299863282D}" dt="2025-10-05T13:52:56.484" v="3991" actId="1076"/>
        <pc:sldMkLst>
          <pc:docMk/>
          <pc:sldMk cId="2951564876" sldId="273"/>
        </pc:sldMkLst>
        <pc:spChg chg="add mod">
          <ac:chgData name="shshinde2580@gmail.com" userId="86fdf0c531315612" providerId="LiveId" clId="{80EF1F59-5901-4077-BC9B-DA299863282D}" dt="2025-10-05T13:52:09.553" v="3971" actId="14100"/>
          <ac:spMkLst>
            <pc:docMk/>
            <pc:sldMk cId="2951564876" sldId="273"/>
            <ac:spMk id="3" creationId="{74EFFFA0-12A9-7AB4-872A-DBDAC55EB1C4}"/>
          </ac:spMkLst>
        </pc:spChg>
        <pc:spChg chg="add mod">
          <ac:chgData name="shshinde2580@gmail.com" userId="86fdf0c531315612" providerId="LiveId" clId="{80EF1F59-5901-4077-BC9B-DA299863282D}" dt="2025-10-05T13:52:24.119" v="3976" actId="113"/>
          <ac:spMkLst>
            <pc:docMk/>
            <pc:sldMk cId="2951564876" sldId="273"/>
            <ac:spMk id="5" creationId="{C6927146-6CF5-9080-58A7-44C6F8F7E4B6}"/>
          </ac:spMkLst>
        </pc:spChg>
        <pc:spChg chg="add mod">
          <ac:chgData name="shshinde2580@gmail.com" userId="86fdf0c531315612" providerId="LiveId" clId="{80EF1F59-5901-4077-BC9B-DA299863282D}" dt="2025-10-05T13:52:34.094" v="3980" actId="1076"/>
          <ac:spMkLst>
            <pc:docMk/>
            <pc:sldMk cId="2951564876" sldId="273"/>
            <ac:spMk id="7" creationId="{42F67DD3-5B31-B34C-9F33-720AF57DA74C}"/>
          </ac:spMkLst>
        </pc:spChg>
        <pc:spChg chg="add mod">
          <ac:chgData name="shshinde2580@gmail.com" userId="86fdf0c531315612" providerId="LiveId" clId="{80EF1F59-5901-4077-BC9B-DA299863282D}" dt="2025-10-05T13:52:49.701" v="3989" actId="113"/>
          <ac:spMkLst>
            <pc:docMk/>
            <pc:sldMk cId="2951564876" sldId="273"/>
            <ac:spMk id="9" creationId="{1A4271CD-F359-8B27-0E22-C6E2821B17A9}"/>
          </ac:spMkLst>
        </pc:spChg>
        <pc:spChg chg="add mod">
          <ac:chgData name="shshinde2580@gmail.com" userId="86fdf0c531315612" providerId="LiveId" clId="{80EF1F59-5901-4077-BC9B-DA299863282D}" dt="2025-10-05T13:52:56.484" v="3991" actId="1076"/>
          <ac:spMkLst>
            <pc:docMk/>
            <pc:sldMk cId="2951564876" sldId="273"/>
            <ac:spMk id="11" creationId="{5E0BEE9D-FE9D-A504-B649-F0F2D57424EB}"/>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208D601-16AD-4C8D-946A-3FFA0FA53D1B}" type="datetimeFigureOut">
              <a:rPr lang="en-IN" smtClean="0"/>
              <a:t>05-10-2025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87B0EDE-F3D4-42B8-BF81-D048488DB591}" type="slidenum">
              <a:rPr lang="en-IN" smtClean="0"/>
              <a:t>‹#›</a:t>
            </a:fld>
            <a:endParaRPr lang="en-IN"/>
          </a:p>
        </p:txBody>
      </p:sp>
    </p:spTree>
    <p:extLst>
      <p:ext uri="{BB962C8B-B14F-4D97-AF65-F5344CB8AC3E}">
        <p14:creationId xmlns:p14="http://schemas.microsoft.com/office/powerpoint/2010/main" val="30515966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208D601-16AD-4C8D-946A-3FFA0FA53D1B}" type="datetimeFigureOut">
              <a:rPr lang="en-IN" smtClean="0"/>
              <a:t>05-10-2025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87B0EDE-F3D4-42B8-BF81-D048488DB591}" type="slidenum">
              <a:rPr lang="en-IN" smtClean="0"/>
              <a:t>‹#›</a:t>
            </a:fld>
            <a:endParaRPr lang="en-IN"/>
          </a:p>
        </p:txBody>
      </p:sp>
    </p:spTree>
    <p:extLst>
      <p:ext uri="{BB962C8B-B14F-4D97-AF65-F5344CB8AC3E}">
        <p14:creationId xmlns:p14="http://schemas.microsoft.com/office/powerpoint/2010/main" val="31652849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208D601-16AD-4C8D-946A-3FFA0FA53D1B}" type="datetimeFigureOut">
              <a:rPr lang="en-IN" smtClean="0"/>
              <a:t>05-10-2025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87B0EDE-F3D4-42B8-BF81-D048488DB591}" type="slidenum">
              <a:rPr lang="en-IN" smtClean="0"/>
              <a:t>‹#›</a:t>
            </a:fld>
            <a:endParaRPr lang="en-IN"/>
          </a:p>
        </p:txBody>
      </p:sp>
    </p:spTree>
    <p:extLst>
      <p:ext uri="{BB962C8B-B14F-4D97-AF65-F5344CB8AC3E}">
        <p14:creationId xmlns:p14="http://schemas.microsoft.com/office/powerpoint/2010/main" val="2019472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208D601-16AD-4C8D-946A-3FFA0FA53D1B}" type="datetimeFigureOut">
              <a:rPr lang="en-IN" smtClean="0"/>
              <a:t>05-10-2025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87B0EDE-F3D4-42B8-BF81-D048488DB591}" type="slidenum">
              <a:rPr lang="en-IN" smtClean="0"/>
              <a:t>‹#›</a:t>
            </a:fld>
            <a:endParaRPr lang="en-IN"/>
          </a:p>
        </p:txBody>
      </p:sp>
    </p:spTree>
    <p:extLst>
      <p:ext uri="{BB962C8B-B14F-4D97-AF65-F5344CB8AC3E}">
        <p14:creationId xmlns:p14="http://schemas.microsoft.com/office/powerpoint/2010/main" val="9680405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208D601-16AD-4C8D-946A-3FFA0FA53D1B}" type="datetimeFigureOut">
              <a:rPr lang="en-IN" smtClean="0"/>
              <a:t>05-10-2025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87B0EDE-F3D4-42B8-BF81-D048488DB591}" type="slidenum">
              <a:rPr lang="en-IN" smtClean="0"/>
              <a:t>‹#›</a:t>
            </a:fld>
            <a:endParaRPr lang="en-IN"/>
          </a:p>
        </p:txBody>
      </p:sp>
    </p:spTree>
    <p:extLst>
      <p:ext uri="{BB962C8B-B14F-4D97-AF65-F5344CB8AC3E}">
        <p14:creationId xmlns:p14="http://schemas.microsoft.com/office/powerpoint/2010/main" val="27994239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208D601-16AD-4C8D-946A-3FFA0FA53D1B}" type="datetimeFigureOut">
              <a:rPr lang="en-IN" smtClean="0"/>
              <a:t>05-10-2025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87B0EDE-F3D4-42B8-BF81-D048488DB591}" type="slidenum">
              <a:rPr lang="en-IN" smtClean="0"/>
              <a:t>‹#›</a:t>
            </a:fld>
            <a:endParaRPr lang="en-IN"/>
          </a:p>
        </p:txBody>
      </p:sp>
    </p:spTree>
    <p:extLst>
      <p:ext uri="{BB962C8B-B14F-4D97-AF65-F5344CB8AC3E}">
        <p14:creationId xmlns:p14="http://schemas.microsoft.com/office/powerpoint/2010/main" val="14214680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208D601-16AD-4C8D-946A-3FFA0FA53D1B}" type="datetimeFigureOut">
              <a:rPr lang="en-IN" smtClean="0"/>
              <a:t>05-10-2025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87B0EDE-F3D4-42B8-BF81-D048488DB591}" type="slidenum">
              <a:rPr lang="en-IN" smtClean="0"/>
              <a:t>‹#›</a:t>
            </a:fld>
            <a:endParaRPr lang="en-IN"/>
          </a:p>
        </p:txBody>
      </p:sp>
    </p:spTree>
    <p:extLst>
      <p:ext uri="{BB962C8B-B14F-4D97-AF65-F5344CB8AC3E}">
        <p14:creationId xmlns:p14="http://schemas.microsoft.com/office/powerpoint/2010/main" val="38765542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208D601-16AD-4C8D-946A-3FFA0FA53D1B}" type="datetimeFigureOut">
              <a:rPr lang="en-IN" smtClean="0"/>
              <a:t>05-10-2025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87B0EDE-F3D4-42B8-BF81-D048488DB591}" type="slidenum">
              <a:rPr lang="en-IN" smtClean="0"/>
              <a:t>‹#›</a:t>
            </a:fld>
            <a:endParaRPr lang="en-IN"/>
          </a:p>
        </p:txBody>
      </p:sp>
    </p:spTree>
    <p:extLst>
      <p:ext uri="{BB962C8B-B14F-4D97-AF65-F5344CB8AC3E}">
        <p14:creationId xmlns:p14="http://schemas.microsoft.com/office/powerpoint/2010/main" val="14297232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208D601-16AD-4C8D-946A-3FFA0FA53D1B}" type="datetimeFigureOut">
              <a:rPr lang="en-IN" smtClean="0"/>
              <a:t>05-10-2025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87B0EDE-F3D4-42B8-BF81-D048488DB591}" type="slidenum">
              <a:rPr lang="en-IN" smtClean="0"/>
              <a:t>‹#›</a:t>
            </a:fld>
            <a:endParaRPr lang="en-IN"/>
          </a:p>
        </p:txBody>
      </p:sp>
    </p:spTree>
    <p:extLst>
      <p:ext uri="{BB962C8B-B14F-4D97-AF65-F5344CB8AC3E}">
        <p14:creationId xmlns:p14="http://schemas.microsoft.com/office/powerpoint/2010/main" val="29422265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208D601-16AD-4C8D-946A-3FFA0FA53D1B}" type="datetimeFigureOut">
              <a:rPr lang="en-IN" smtClean="0"/>
              <a:t>05-10-2025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87B0EDE-F3D4-42B8-BF81-D048488DB591}" type="slidenum">
              <a:rPr lang="en-IN" smtClean="0"/>
              <a:t>‹#›</a:t>
            </a:fld>
            <a:endParaRPr lang="en-IN"/>
          </a:p>
        </p:txBody>
      </p:sp>
    </p:spTree>
    <p:extLst>
      <p:ext uri="{BB962C8B-B14F-4D97-AF65-F5344CB8AC3E}">
        <p14:creationId xmlns:p14="http://schemas.microsoft.com/office/powerpoint/2010/main" val="26151158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208D601-16AD-4C8D-946A-3FFA0FA53D1B}" type="datetimeFigureOut">
              <a:rPr lang="en-IN" smtClean="0"/>
              <a:t>05-10-2025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87B0EDE-F3D4-42B8-BF81-D048488DB591}"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728068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208D601-16AD-4C8D-946A-3FFA0FA53D1B}" type="datetimeFigureOut">
              <a:rPr lang="en-IN" smtClean="0"/>
              <a:t>05-10-2025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87B0EDE-F3D4-42B8-BF81-D048488DB591}" type="slidenum">
              <a:rPr lang="en-IN" smtClean="0"/>
              <a:t>‹#›</a:t>
            </a:fld>
            <a:endParaRPr lang="en-IN"/>
          </a:p>
        </p:txBody>
      </p:sp>
    </p:spTree>
    <p:extLst>
      <p:ext uri="{BB962C8B-B14F-4D97-AF65-F5344CB8AC3E}">
        <p14:creationId xmlns:p14="http://schemas.microsoft.com/office/powerpoint/2010/main" val="5259599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208D601-16AD-4C8D-946A-3FFA0FA53D1B}" type="datetimeFigureOut">
              <a:rPr lang="en-IN" smtClean="0"/>
              <a:t>05-10-2025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87B0EDE-F3D4-42B8-BF81-D048488DB591}"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1022066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208D601-16AD-4C8D-946A-3FFA0FA53D1B}" type="datetimeFigureOut">
              <a:rPr lang="en-IN" smtClean="0"/>
              <a:t>05-10-2025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87B0EDE-F3D4-42B8-BF81-D048488DB591}" type="slidenum">
              <a:rPr lang="en-IN" smtClean="0"/>
              <a:t>‹#›</a:t>
            </a:fld>
            <a:endParaRPr lang="en-IN"/>
          </a:p>
        </p:txBody>
      </p:sp>
    </p:spTree>
    <p:extLst>
      <p:ext uri="{BB962C8B-B14F-4D97-AF65-F5344CB8AC3E}">
        <p14:creationId xmlns:p14="http://schemas.microsoft.com/office/powerpoint/2010/main" val="38814552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208D601-16AD-4C8D-946A-3FFA0FA53D1B}" type="datetimeFigureOut">
              <a:rPr lang="en-IN" smtClean="0"/>
              <a:t>05-10-2025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87B0EDE-F3D4-42B8-BF81-D048488DB591}" type="slidenum">
              <a:rPr lang="en-IN" smtClean="0"/>
              <a:t>‹#›</a:t>
            </a:fld>
            <a:endParaRPr lang="en-IN"/>
          </a:p>
        </p:txBody>
      </p:sp>
    </p:spTree>
    <p:extLst>
      <p:ext uri="{BB962C8B-B14F-4D97-AF65-F5344CB8AC3E}">
        <p14:creationId xmlns:p14="http://schemas.microsoft.com/office/powerpoint/2010/main" val="14244056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208D601-16AD-4C8D-946A-3FFA0FA53D1B}" type="datetimeFigureOut">
              <a:rPr lang="en-IN" smtClean="0"/>
              <a:t>05-10-2025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87B0EDE-F3D4-42B8-BF81-D048488DB591}" type="slidenum">
              <a:rPr lang="en-IN" smtClean="0"/>
              <a:t>‹#›</a:t>
            </a:fld>
            <a:endParaRPr lang="en-IN"/>
          </a:p>
        </p:txBody>
      </p:sp>
    </p:spTree>
    <p:extLst>
      <p:ext uri="{BB962C8B-B14F-4D97-AF65-F5344CB8AC3E}">
        <p14:creationId xmlns:p14="http://schemas.microsoft.com/office/powerpoint/2010/main" val="6913566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208D601-16AD-4C8D-946A-3FFA0FA53D1B}" type="datetimeFigureOut">
              <a:rPr lang="en-IN" smtClean="0"/>
              <a:t>05-10-2025</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B87B0EDE-F3D4-42B8-BF81-D048488DB591}" type="slidenum">
              <a:rPr lang="en-IN" smtClean="0"/>
              <a:t>‹#›</a:t>
            </a:fld>
            <a:endParaRPr lang="en-IN"/>
          </a:p>
        </p:txBody>
      </p:sp>
    </p:spTree>
    <p:extLst>
      <p:ext uri="{BB962C8B-B14F-4D97-AF65-F5344CB8AC3E}">
        <p14:creationId xmlns:p14="http://schemas.microsoft.com/office/powerpoint/2010/main" val="1163360850"/>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 id="2147483702" r:id="rId13"/>
    <p:sldLayoutId id="2147483703" r:id="rId14"/>
    <p:sldLayoutId id="2147483704" r:id="rId15"/>
    <p:sldLayoutId id="2147483705"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AC031-CD18-9BB4-4D95-EEDD822BA886}"/>
              </a:ext>
            </a:extLst>
          </p:cNvPr>
          <p:cNvSpPr>
            <a:spLocks noGrp="1"/>
          </p:cNvSpPr>
          <p:nvPr>
            <p:ph type="ctrTitle"/>
          </p:nvPr>
        </p:nvSpPr>
        <p:spPr>
          <a:xfrm>
            <a:off x="119269" y="2503926"/>
            <a:ext cx="10356574" cy="1646302"/>
          </a:xfrm>
        </p:spPr>
        <p:txBody>
          <a:bodyPr/>
          <a:lstStyle/>
          <a:p>
            <a:pPr algn="ctr"/>
            <a:r>
              <a:rPr lang="en-US" dirty="0"/>
              <a:t>Basic Syntactical Constructs in Java </a:t>
            </a:r>
            <a:endParaRPr lang="en-IN" dirty="0"/>
          </a:p>
        </p:txBody>
      </p:sp>
    </p:spTree>
    <p:extLst>
      <p:ext uri="{BB962C8B-B14F-4D97-AF65-F5344CB8AC3E}">
        <p14:creationId xmlns:p14="http://schemas.microsoft.com/office/powerpoint/2010/main" val="35706460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45F80EB1-CC58-8326-0C67-3258660EE81F}"/>
              </a:ext>
            </a:extLst>
          </p:cNvPr>
          <p:cNvSpPr txBox="1"/>
          <p:nvPr/>
        </p:nvSpPr>
        <p:spPr>
          <a:xfrm>
            <a:off x="1013791" y="214051"/>
            <a:ext cx="6102626" cy="369332"/>
          </a:xfrm>
          <a:prstGeom prst="rect">
            <a:avLst/>
          </a:prstGeom>
          <a:noFill/>
        </p:spPr>
        <p:txBody>
          <a:bodyPr wrap="square">
            <a:spAutoFit/>
          </a:bodyPr>
          <a:lstStyle/>
          <a:p>
            <a:r>
              <a:rPr lang="en-IN" b="1" dirty="0"/>
              <a:t>1.1 Features of Java </a:t>
            </a:r>
          </a:p>
        </p:txBody>
      </p:sp>
      <p:sp>
        <p:nvSpPr>
          <p:cNvPr id="8" name="TextBox 7">
            <a:extLst>
              <a:ext uri="{FF2B5EF4-FFF2-40B4-BE49-F238E27FC236}">
                <a16:creationId xmlns:a16="http://schemas.microsoft.com/office/drawing/2014/main" id="{5C2D37AA-7AA3-FCC2-BCA1-6F34B48D23BD}"/>
              </a:ext>
            </a:extLst>
          </p:cNvPr>
          <p:cNvSpPr txBox="1"/>
          <p:nvPr/>
        </p:nvSpPr>
        <p:spPr>
          <a:xfrm>
            <a:off x="844826" y="676727"/>
            <a:ext cx="8299173" cy="2031325"/>
          </a:xfrm>
          <a:prstGeom prst="rect">
            <a:avLst/>
          </a:prstGeom>
          <a:noFill/>
        </p:spPr>
        <p:txBody>
          <a:bodyPr wrap="square">
            <a:spAutoFit/>
          </a:bodyPr>
          <a:lstStyle/>
          <a:p>
            <a:pPr algn="l">
              <a:buNone/>
            </a:pPr>
            <a:r>
              <a:rPr lang="en-US" b="1" i="0" dirty="0">
                <a:effectLst/>
                <a:latin typeface="fkGrotesk"/>
              </a:rPr>
              <a:t>Features of Java for Diploma Students</a:t>
            </a:r>
          </a:p>
          <a:p>
            <a:pPr algn="l">
              <a:buNone/>
            </a:pPr>
            <a:r>
              <a:rPr lang="en-US" b="0" i="0" dirty="0">
                <a:effectLst/>
                <a:latin typeface="fkGroteskNeue"/>
              </a:rPr>
              <a:t>Let's learn about Java's features in a simple way so you can understand what makes Java special.</a:t>
            </a:r>
          </a:p>
          <a:p>
            <a:pPr algn="l">
              <a:buNone/>
            </a:pPr>
            <a:endParaRPr lang="en-US" b="0" i="0" dirty="0">
              <a:effectLst/>
              <a:latin typeface="fkGroteskNeue"/>
            </a:endParaRPr>
          </a:p>
          <a:p>
            <a:pPr algn="l">
              <a:buNone/>
            </a:pPr>
            <a:r>
              <a:rPr lang="en-US" b="1" i="0" dirty="0">
                <a:effectLst/>
                <a:latin typeface="fkGrotesk"/>
              </a:rPr>
              <a:t>What is Java?</a:t>
            </a:r>
          </a:p>
          <a:p>
            <a:pPr algn="l">
              <a:buNone/>
            </a:pPr>
            <a:r>
              <a:rPr lang="en-US" b="0" i="0" dirty="0">
                <a:effectLst/>
                <a:latin typeface="fkGroteskNeue"/>
              </a:rPr>
              <a:t>Java is a programming language used to create software that can run on many devices like computers, phones, and more. It is designed to be easy to learn and very reliable.</a:t>
            </a:r>
          </a:p>
        </p:txBody>
      </p:sp>
      <p:sp>
        <p:nvSpPr>
          <p:cNvPr id="10" name="TextBox 9">
            <a:extLst>
              <a:ext uri="{FF2B5EF4-FFF2-40B4-BE49-F238E27FC236}">
                <a16:creationId xmlns:a16="http://schemas.microsoft.com/office/drawing/2014/main" id="{0776D470-540E-1C4C-A0B1-4E6F7A6DAE8B}"/>
              </a:ext>
            </a:extLst>
          </p:cNvPr>
          <p:cNvSpPr txBox="1"/>
          <p:nvPr/>
        </p:nvSpPr>
        <p:spPr>
          <a:xfrm>
            <a:off x="581438" y="2894741"/>
            <a:ext cx="9258301" cy="3693319"/>
          </a:xfrm>
          <a:prstGeom prst="rect">
            <a:avLst/>
          </a:prstGeom>
          <a:noFill/>
        </p:spPr>
        <p:txBody>
          <a:bodyPr wrap="square">
            <a:spAutoFit/>
          </a:bodyPr>
          <a:lstStyle/>
          <a:p>
            <a:pPr algn="l">
              <a:buNone/>
            </a:pPr>
            <a:r>
              <a:rPr lang="en-US" b="1" i="0" dirty="0">
                <a:effectLst/>
                <a:latin typeface="fkGrotesk"/>
              </a:rPr>
              <a:t>Important Features of Java:</a:t>
            </a:r>
          </a:p>
          <a:p>
            <a:pPr algn="l">
              <a:buFont typeface="+mj-lt"/>
              <a:buAutoNum type="arabicPeriod"/>
            </a:pPr>
            <a:r>
              <a:rPr lang="en-US" b="1" i="0" dirty="0">
                <a:effectLst/>
                <a:latin typeface="fkGroteskNeue"/>
              </a:rPr>
              <a:t>Simple</a:t>
            </a:r>
            <a:r>
              <a:rPr lang="en-US" b="0" i="0" dirty="0">
                <a:effectLst/>
                <a:latin typeface="fkGroteskNeue"/>
              </a:rPr>
              <a:t>: Java's rules are easy to follow. It does not include confusing things like pointers, so beginners can learn it quickly.</a:t>
            </a:r>
          </a:p>
          <a:p>
            <a:pPr algn="l">
              <a:buFont typeface="+mj-lt"/>
              <a:buAutoNum type="arabicPeriod"/>
            </a:pPr>
            <a:r>
              <a:rPr lang="en-US" b="1" i="0" dirty="0">
                <a:effectLst/>
                <a:latin typeface="fkGroteskNeue"/>
              </a:rPr>
              <a:t>Object-Oriented</a:t>
            </a:r>
            <a:r>
              <a:rPr lang="en-US" b="0" i="0" dirty="0">
                <a:effectLst/>
                <a:latin typeface="fkGroteskNeue"/>
              </a:rPr>
              <a:t>: Java uses objects to organize code. Objects can hold data (like name or age) and actions (like print info). This helps write reusable and organized programs.</a:t>
            </a:r>
          </a:p>
          <a:p>
            <a:pPr algn="l">
              <a:buFont typeface="+mj-lt"/>
              <a:buAutoNum type="arabicPeriod"/>
            </a:pPr>
            <a:r>
              <a:rPr lang="en-US" b="1" i="0" dirty="0">
                <a:effectLst/>
                <a:latin typeface="fkGroteskNeue"/>
              </a:rPr>
              <a:t>Platform Independent: </a:t>
            </a:r>
            <a:r>
              <a:rPr lang="en-US" b="0" i="0" dirty="0">
                <a:effectLst/>
                <a:latin typeface="fkGroteskNeue"/>
              </a:rPr>
              <a:t>Java programs can run on any computer or device. Write the code once, and it works everywhere without changes. This is called "Write Once, Run Anywhere".</a:t>
            </a:r>
          </a:p>
          <a:p>
            <a:pPr algn="l">
              <a:buFont typeface="+mj-lt"/>
              <a:buAutoNum type="arabicPeriod"/>
            </a:pPr>
            <a:r>
              <a:rPr lang="en-US" b="1" i="0" dirty="0">
                <a:effectLst/>
                <a:latin typeface="fkGroteskNeue"/>
              </a:rPr>
              <a:t>Secure</a:t>
            </a:r>
            <a:r>
              <a:rPr lang="en-US" b="0" i="0" dirty="0">
                <a:effectLst/>
                <a:latin typeface="fkGroteskNeue"/>
              </a:rPr>
              <a:t>: Java helps keep your programs safe from threats by controlling how the code runs.</a:t>
            </a:r>
          </a:p>
          <a:p>
            <a:pPr algn="l">
              <a:buFont typeface="+mj-lt"/>
              <a:buAutoNum type="arabicPeriod"/>
            </a:pPr>
            <a:r>
              <a:rPr lang="en-US" b="1" i="0" dirty="0">
                <a:effectLst/>
                <a:latin typeface="fkGroteskNeue"/>
              </a:rPr>
              <a:t>Robust</a:t>
            </a:r>
            <a:r>
              <a:rPr lang="en-US" b="0" i="0" dirty="0">
                <a:effectLst/>
                <a:latin typeface="fkGroteskNeue"/>
              </a:rPr>
              <a:t>: Java has features that prevent errors and crashes, making programs more reliable.</a:t>
            </a:r>
          </a:p>
          <a:p>
            <a:pPr algn="l">
              <a:buFont typeface="+mj-lt"/>
              <a:buAutoNum type="arabicPeriod"/>
            </a:pPr>
            <a:r>
              <a:rPr lang="en-US" b="1" i="0" dirty="0">
                <a:effectLst/>
                <a:latin typeface="fkGroteskNeue"/>
              </a:rPr>
              <a:t>Multithreaded</a:t>
            </a:r>
            <a:r>
              <a:rPr lang="en-US" b="0" i="0" dirty="0">
                <a:effectLst/>
                <a:latin typeface="fkGroteskNeue"/>
              </a:rPr>
              <a:t>: Java can do many tasks at the same time in a program, which makes it faster and efficient.</a:t>
            </a:r>
          </a:p>
          <a:p>
            <a:pPr algn="l">
              <a:buFont typeface="+mj-lt"/>
              <a:buAutoNum type="arabicPeriod"/>
            </a:pPr>
            <a:r>
              <a:rPr lang="en-US" b="1" i="0" dirty="0">
                <a:effectLst/>
                <a:latin typeface="fkGroteskNeue"/>
              </a:rPr>
              <a:t>Portable</a:t>
            </a:r>
            <a:r>
              <a:rPr lang="en-US" b="0" i="0" dirty="0">
                <a:effectLst/>
                <a:latin typeface="fkGroteskNeue"/>
              </a:rPr>
              <a:t>: Since Java programs run on the Java Virtual Machine (JVM), they can move between different devices easily</a:t>
            </a:r>
          </a:p>
        </p:txBody>
      </p:sp>
    </p:spTree>
    <p:extLst>
      <p:ext uri="{BB962C8B-B14F-4D97-AF65-F5344CB8AC3E}">
        <p14:creationId xmlns:p14="http://schemas.microsoft.com/office/powerpoint/2010/main" val="32410610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04B1B2-DD06-2732-B9FB-1FD0437F499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F5F8A71-D2A7-5FCC-76E2-70C948178EFC}"/>
              </a:ext>
            </a:extLst>
          </p:cNvPr>
          <p:cNvSpPr txBox="1"/>
          <p:nvPr/>
        </p:nvSpPr>
        <p:spPr>
          <a:xfrm>
            <a:off x="785191" y="507840"/>
            <a:ext cx="8537712" cy="5909310"/>
          </a:xfrm>
          <a:prstGeom prst="rect">
            <a:avLst/>
          </a:prstGeom>
          <a:noFill/>
        </p:spPr>
        <p:txBody>
          <a:bodyPr wrap="square">
            <a:spAutoFit/>
          </a:bodyPr>
          <a:lstStyle/>
          <a:p>
            <a:pPr algn="l">
              <a:buNone/>
            </a:pPr>
            <a:r>
              <a:rPr lang="en-US" b="1" i="0" dirty="0">
                <a:effectLst/>
                <a:latin typeface="fkGrotesk"/>
              </a:rPr>
              <a:t>What is a Class?</a:t>
            </a:r>
          </a:p>
          <a:p>
            <a:pPr algn="l">
              <a:buFont typeface="Arial" panose="020B0604020202020204" pitchFamily="34" charset="0"/>
              <a:buChar char="•"/>
            </a:pPr>
            <a:r>
              <a:rPr lang="en-US" b="0" i="0" dirty="0">
                <a:effectLst/>
                <a:latin typeface="fkGroteskNeue"/>
              </a:rPr>
              <a:t>A class is like a blueprint or template.</a:t>
            </a:r>
          </a:p>
          <a:p>
            <a:pPr algn="l">
              <a:buFont typeface="Arial" panose="020B0604020202020204" pitchFamily="34" charset="0"/>
              <a:buChar char="•"/>
            </a:pPr>
            <a:r>
              <a:rPr lang="en-US" b="0" i="0" dirty="0">
                <a:effectLst/>
                <a:latin typeface="fkGroteskNeue"/>
              </a:rPr>
              <a:t>It describes the properties (attributes) and actions (methods) that objects created from it will have.</a:t>
            </a:r>
          </a:p>
          <a:p>
            <a:pPr algn="l">
              <a:buFont typeface="Arial" panose="020B0604020202020204" pitchFamily="34" charset="0"/>
              <a:buChar char="•"/>
            </a:pPr>
            <a:r>
              <a:rPr lang="en-US" b="0" i="0" dirty="0">
                <a:effectLst/>
                <a:latin typeface="fkGroteskNeue"/>
              </a:rPr>
              <a:t>Think of a class as a plan to build many similar things. For example, a Car class describes what a car is like</a:t>
            </a:r>
            <a:endParaRPr lang="en-US" dirty="0">
              <a:latin typeface="fkGroteskNeue"/>
            </a:endParaRPr>
          </a:p>
          <a:p>
            <a:pPr algn="l">
              <a:buFont typeface="Arial" panose="020B0604020202020204" pitchFamily="34" charset="0"/>
              <a:buChar char="•"/>
            </a:pPr>
            <a:endParaRPr lang="en-US" b="0" i="0" dirty="0">
              <a:effectLst/>
              <a:latin typeface="fkGroteskNeue"/>
            </a:endParaRPr>
          </a:p>
          <a:p>
            <a:r>
              <a:rPr lang="en-US" b="1" dirty="0"/>
              <a:t>How to Define a Class?</a:t>
            </a:r>
          </a:p>
          <a:p>
            <a:pPr marL="285750" indent="-285750">
              <a:buFont typeface="Arial" panose="020B0604020202020204" pitchFamily="34" charset="0"/>
              <a:buChar char="•"/>
            </a:pPr>
            <a:r>
              <a:rPr lang="en-US" dirty="0"/>
              <a:t>Use the keyword class followed by the class name.</a:t>
            </a:r>
          </a:p>
          <a:p>
            <a:pPr marL="285750" indent="-285750">
              <a:buFont typeface="Arial" panose="020B0604020202020204" pitchFamily="34" charset="0"/>
              <a:buChar char="•"/>
            </a:pPr>
            <a:r>
              <a:rPr lang="en-US" b="1" dirty="0"/>
              <a:t>Example</a:t>
            </a:r>
          </a:p>
          <a:p>
            <a:endParaRPr lang="en-US" b="1" dirty="0"/>
          </a:p>
          <a:p>
            <a:r>
              <a:rPr lang="en-US" dirty="0"/>
              <a:t>class Car {</a:t>
            </a:r>
          </a:p>
          <a:p>
            <a:r>
              <a:rPr lang="en-US" dirty="0"/>
              <a:t>  String color;  // attribute or field</a:t>
            </a:r>
          </a:p>
          <a:p>
            <a:r>
              <a:rPr lang="en-US" dirty="0"/>
              <a:t>  int year;      // attribute or field</a:t>
            </a:r>
          </a:p>
          <a:p>
            <a:endParaRPr lang="en-US" dirty="0"/>
          </a:p>
          <a:p>
            <a:r>
              <a:rPr lang="en-US" dirty="0"/>
              <a:t>  void drive() {  // method</a:t>
            </a:r>
          </a:p>
          <a:p>
            <a:r>
              <a:rPr lang="en-US" dirty="0"/>
              <a:t>    </a:t>
            </a:r>
            <a:r>
              <a:rPr lang="en-US" dirty="0" err="1"/>
              <a:t>System.out.println</a:t>
            </a:r>
            <a:r>
              <a:rPr lang="en-US" dirty="0"/>
              <a:t>("Car is driving");</a:t>
            </a:r>
          </a:p>
          <a:p>
            <a:r>
              <a:rPr lang="en-US" dirty="0"/>
              <a:t>  }</a:t>
            </a:r>
          </a:p>
          <a:p>
            <a:r>
              <a:rPr lang="en-US" dirty="0"/>
              <a:t>}</a:t>
            </a:r>
          </a:p>
          <a:p>
            <a:endParaRPr lang="en-US" dirty="0"/>
          </a:p>
          <a:p>
            <a:r>
              <a:rPr lang="en-US" dirty="0"/>
              <a:t>The fields hold data (state), and methods represent actions (behavior).</a:t>
            </a:r>
          </a:p>
        </p:txBody>
      </p:sp>
      <p:sp>
        <p:nvSpPr>
          <p:cNvPr id="5" name="TextBox 4">
            <a:extLst>
              <a:ext uri="{FF2B5EF4-FFF2-40B4-BE49-F238E27FC236}">
                <a16:creationId xmlns:a16="http://schemas.microsoft.com/office/drawing/2014/main" id="{4E360168-A6A9-F971-FD4F-D765F1B59490}"/>
              </a:ext>
            </a:extLst>
          </p:cNvPr>
          <p:cNvSpPr txBox="1"/>
          <p:nvPr/>
        </p:nvSpPr>
        <p:spPr>
          <a:xfrm>
            <a:off x="785191" y="138508"/>
            <a:ext cx="7146235" cy="369332"/>
          </a:xfrm>
          <a:prstGeom prst="rect">
            <a:avLst/>
          </a:prstGeom>
          <a:noFill/>
        </p:spPr>
        <p:txBody>
          <a:bodyPr wrap="square">
            <a:spAutoFit/>
          </a:bodyPr>
          <a:lstStyle/>
          <a:p>
            <a:r>
              <a:rPr lang="en-US" b="1" dirty="0"/>
              <a:t>1.2 Defining class, creating object, accessing class members </a:t>
            </a:r>
            <a:endParaRPr lang="en-IN" b="1" dirty="0"/>
          </a:p>
        </p:txBody>
      </p:sp>
    </p:spTree>
    <p:extLst>
      <p:ext uri="{BB962C8B-B14F-4D97-AF65-F5344CB8AC3E}">
        <p14:creationId xmlns:p14="http://schemas.microsoft.com/office/powerpoint/2010/main" val="36774718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850A-07C4-541E-9167-C3ABAB73CD1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9923583-7DF1-0006-9495-5DE8F051F829}"/>
              </a:ext>
            </a:extLst>
          </p:cNvPr>
          <p:cNvSpPr txBox="1"/>
          <p:nvPr/>
        </p:nvSpPr>
        <p:spPr>
          <a:xfrm>
            <a:off x="864704" y="109404"/>
            <a:ext cx="8209722" cy="4801314"/>
          </a:xfrm>
          <a:prstGeom prst="rect">
            <a:avLst/>
          </a:prstGeom>
          <a:noFill/>
        </p:spPr>
        <p:txBody>
          <a:bodyPr wrap="square">
            <a:spAutoFit/>
          </a:bodyPr>
          <a:lstStyle/>
          <a:p>
            <a:pPr algn="l">
              <a:buNone/>
            </a:pPr>
            <a:r>
              <a:rPr lang="en-US" b="1" i="0" dirty="0">
                <a:effectLst/>
                <a:latin typeface="fkGrotesk"/>
              </a:rPr>
              <a:t>What is an Object?</a:t>
            </a:r>
          </a:p>
          <a:p>
            <a:pPr algn="l">
              <a:buFont typeface="Arial" panose="020B0604020202020204" pitchFamily="34" charset="0"/>
              <a:buChar char="•"/>
            </a:pPr>
            <a:r>
              <a:rPr lang="en-US" b="0" i="0" dirty="0">
                <a:effectLst/>
                <a:latin typeface="fkGroteskNeue"/>
              </a:rPr>
              <a:t>An object is an instance of a class.</a:t>
            </a:r>
          </a:p>
          <a:p>
            <a:pPr algn="l">
              <a:buFont typeface="Arial" panose="020B0604020202020204" pitchFamily="34" charset="0"/>
              <a:buChar char="•"/>
            </a:pPr>
            <a:r>
              <a:rPr lang="en-US" b="0" i="0" dirty="0">
                <a:effectLst/>
                <a:latin typeface="fkGroteskNeue"/>
              </a:rPr>
              <a:t>Using the blueprint (class), an object is built with specific values.</a:t>
            </a:r>
          </a:p>
          <a:p>
            <a:pPr algn="l">
              <a:buFont typeface="Arial" panose="020B0604020202020204" pitchFamily="34" charset="0"/>
              <a:buChar char="•"/>
            </a:pPr>
            <a:r>
              <a:rPr lang="en-US" b="0" i="0" dirty="0">
                <a:effectLst/>
                <a:latin typeface="fkGroteskNeue"/>
              </a:rPr>
              <a:t>Example: From the class Car, an object could be a red 2020 car.</a:t>
            </a:r>
          </a:p>
          <a:p>
            <a:pPr algn="l"/>
            <a:endParaRPr lang="en-US" b="0" i="0" dirty="0">
              <a:effectLst/>
              <a:latin typeface="fkGroteskNeue"/>
            </a:endParaRPr>
          </a:p>
          <a:p>
            <a:pPr algn="l">
              <a:buNone/>
            </a:pPr>
            <a:r>
              <a:rPr lang="en-US" b="1" i="0" dirty="0">
                <a:effectLst/>
                <a:latin typeface="fkGrotesk"/>
              </a:rPr>
              <a:t>How to Create an Object?</a:t>
            </a:r>
          </a:p>
          <a:p>
            <a:pPr algn="l">
              <a:buFont typeface="+mj-lt"/>
              <a:buAutoNum type="arabicPeriod"/>
            </a:pPr>
            <a:r>
              <a:rPr lang="en-US" b="0" i="0" dirty="0">
                <a:effectLst/>
                <a:latin typeface="fkGroteskNeue"/>
              </a:rPr>
              <a:t>Declare a variable to hold the object.</a:t>
            </a:r>
          </a:p>
          <a:p>
            <a:pPr algn="l">
              <a:buFont typeface="+mj-lt"/>
              <a:buAutoNum type="arabicPeriod"/>
            </a:pPr>
            <a:r>
              <a:rPr lang="en-US" b="0" i="0" dirty="0">
                <a:effectLst/>
                <a:latin typeface="fkGroteskNeue"/>
              </a:rPr>
              <a:t>Instantiate the object using </a:t>
            </a:r>
            <a:r>
              <a:rPr lang="en-US" b="0" i="0" dirty="0">
                <a:effectLst/>
                <a:latin typeface="berkeleyMono"/>
              </a:rPr>
              <a:t>new</a:t>
            </a:r>
            <a:r>
              <a:rPr lang="en-US" b="0" i="0" dirty="0">
                <a:effectLst/>
                <a:latin typeface="fkGroteskNeue"/>
              </a:rPr>
              <a:t> keyword.</a:t>
            </a:r>
          </a:p>
          <a:p>
            <a:pPr algn="l">
              <a:buFont typeface="+mj-lt"/>
              <a:buAutoNum type="arabicPeriod"/>
            </a:pPr>
            <a:r>
              <a:rPr lang="en-US" b="0" i="0" dirty="0">
                <a:effectLst/>
                <a:latin typeface="fkGroteskNeue"/>
              </a:rPr>
              <a:t>Initialize the object using constructor or by assigning values.</a:t>
            </a:r>
          </a:p>
          <a:p>
            <a:pPr algn="l">
              <a:buNone/>
            </a:pPr>
            <a:r>
              <a:rPr lang="en-US" b="1" i="0" dirty="0">
                <a:effectLst/>
                <a:latin typeface="fkGroteskNeue"/>
              </a:rPr>
              <a:t>Syntax:</a:t>
            </a:r>
          </a:p>
          <a:p>
            <a:pPr algn="l">
              <a:buNone/>
            </a:pPr>
            <a:endParaRPr lang="en-US" dirty="0">
              <a:latin typeface="fkGroteskNeue"/>
            </a:endParaRPr>
          </a:p>
          <a:p>
            <a:r>
              <a:rPr lang="en-US" dirty="0">
                <a:latin typeface="fkGroteskNeue"/>
              </a:rPr>
              <a:t>ClassName </a:t>
            </a:r>
            <a:r>
              <a:rPr lang="en-US" dirty="0" err="1">
                <a:latin typeface="fkGroteskNeue"/>
              </a:rPr>
              <a:t>objectName</a:t>
            </a:r>
            <a:r>
              <a:rPr lang="en-US" dirty="0">
                <a:latin typeface="fkGroteskNeue"/>
              </a:rPr>
              <a:t> = new ClassName();</a:t>
            </a:r>
          </a:p>
          <a:p>
            <a:pPr algn="l">
              <a:buNone/>
            </a:pPr>
            <a:endParaRPr lang="en-US" b="0" i="0" dirty="0">
              <a:effectLst/>
              <a:latin typeface="fkGroteskNeue"/>
            </a:endParaRPr>
          </a:p>
          <a:p>
            <a:pPr algn="l">
              <a:buNone/>
            </a:pPr>
            <a:r>
              <a:rPr lang="en-US" dirty="0">
                <a:latin typeface="fkGroteskNeue"/>
              </a:rPr>
              <a:t>Examples :- </a:t>
            </a:r>
          </a:p>
          <a:p>
            <a:pPr algn="l">
              <a:buNone/>
            </a:pPr>
            <a:endParaRPr lang="en-US" b="0" i="0" dirty="0">
              <a:effectLst/>
              <a:latin typeface="fkGroteskNeue"/>
            </a:endParaRPr>
          </a:p>
          <a:p>
            <a:r>
              <a:rPr lang="en-US" dirty="0">
                <a:latin typeface="fkGroteskNeue"/>
              </a:rPr>
              <a:t>Car </a:t>
            </a:r>
            <a:r>
              <a:rPr lang="en-US" dirty="0" err="1">
                <a:latin typeface="fkGroteskNeue"/>
              </a:rPr>
              <a:t>myCar</a:t>
            </a:r>
            <a:r>
              <a:rPr lang="en-US" dirty="0">
                <a:latin typeface="fkGroteskNeue"/>
              </a:rPr>
              <a:t> = new Car();</a:t>
            </a:r>
          </a:p>
          <a:p>
            <a:pPr algn="l">
              <a:buNone/>
            </a:pPr>
            <a:endParaRPr lang="en-US" b="0" i="0" dirty="0">
              <a:effectLst/>
              <a:latin typeface="fkGroteskNeue"/>
            </a:endParaRPr>
          </a:p>
        </p:txBody>
      </p:sp>
    </p:spTree>
    <p:extLst>
      <p:ext uri="{BB962C8B-B14F-4D97-AF65-F5344CB8AC3E}">
        <p14:creationId xmlns:p14="http://schemas.microsoft.com/office/powerpoint/2010/main" val="37134360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F18DEF-AC05-CD15-9599-79CC4B5C5E8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59EB0DA-9403-38B9-6D95-4B9A7597E451}"/>
              </a:ext>
            </a:extLst>
          </p:cNvPr>
          <p:cNvSpPr txBox="1"/>
          <p:nvPr/>
        </p:nvSpPr>
        <p:spPr>
          <a:xfrm>
            <a:off x="983974" y="175736"/>
            <a:ext cx="8010939" cy="3693319"/>
          </a:xfrm>
          <a:prstGeom prst="rect">
            <a:avLst/>
          </a:prstGeom>
          <a:noFill/>
        </p:spPr>
        <p:txBody>
          <a:bodyPr wrap="square">
            <a:spAutoFit/>
          </a:bodyPr>
          <a:lstStyle/>
          <a:p>
            <a:pPr algn="l">
              <a:buNone/>
            </a:pPr>
            <a:r>
              <a:rPr lang="en-US" b="1" i="0" dirty="0">
                <a:effectLst/>
                <a:latin typeface="fkGrotesk"/>
              </a:rPr>
              <a:t>How to Access Class Members?</a:t>
            </a:r>
          </a:p>
          <a:p>
            <a:pPr algn="l">
              <a:buFont typeface="Arial" panose="020B0604020202020204" pitchFamily="34" charset="0"/>
              <a:buChar char="•"/>
            </a:pPr>
            <a:r>
              <a:rPr lang="en-US" b="0" i="0" dirty="0">
                <a:effectLst/>
                <a:latin typeface="fkGroteskNeue"/>
              </a:rPr>
              <a:t>Use the dot operator (</a:t>
            </a:r>
            <a:r>
              <a:rPr lang="en-US" b="0" i="0" dirty="0">
                <a:effectLst/>
                <a:latin typeface="berkeleyMono"/>
              </a:rPr>
              <a:t>.</a:t>
            </a:r>
            <a:r>
              <a:rPr lang="en-US" b="0" i="0" dirty="0">
                <a:effectLst/>
                <a:latin typeface="fkGroteskNeue"/>
              </a:rPr>
              <a:t>) with the object name.</a:t>
            </a:r>
          </a:p>
          <a:p>
            <a:pPr algn="l">
              <a:buFont typeface="Arial" panose="020B0604020202020204" pitchFamily="34" charset="0"/>
              <a:buChar char="•"/>
            </a:pPr>
            <a:r>
              <a:rPr lang="en-US" b="0" i="0" dirty="0">
                <a:effectLst/>
                <a:latin typeface="fkGroteskNeue"/>
              </a:rPr>
              <a:t>Access attributes: </a:t>
            </a:r>
            <a:r>
              <a:rPr lang="en-US" b="0" i="0" dirty="0" err="1">
                <a:effectLst/>
                <a:latin typeface="berkeleyMono"/>
              </a:rPr>
              <a:t>myCar.color</a:t>
            </a:r>
            <a:endParaRPr lang="en-US" b="0" i="0" dirty="0">
              <a:effectLst/>
              <a:latin typeface="fkGroteskNeue"/>
            </a:endParaRPr>
          </a:p>
          <a:p>
            <a:pPr algn="l">
              <a:buFont typeface="Arial" panose="020B0604020202020204" pitchFamily="34" charset="0"/>
              <a:buChar char="•"/>
            </a:pPr>
            <a:r>
              <a:rPr lang="en-US" b="0" i="0" dirty="0">
                <a:effectLst/>
                <a:latin typeface="fkGroteskNeue"/>
              </a:rPr>
              <a:t>Call methods: </a:t>
            </a:r>
            <a:r>
              <a:rPr lang="en-US" b="0" i="0" dirty="0" err="1">
                <a:effectLst/>
                <a:latin typeface="berkeleyMono"/>
              </a:rPr>
              <a:t>myCar.drive</a:t>
            </a:r>
            <a:r>
              <a:rPr lang="en-US" b="0" i="0" dirty="0">
                <a:effectLst/>
                <a:latin typeface="berkeleyMono"/>
              </a:rPr>
              <a:t>();</a:t>
            </a:r>
            <a:endParaRPr lang="en-US" b="0" i="0" dirty="0">
              <a:effectLst/>
              <a:latin typeface="fkGroteskNeue"/>
            </a:endParaRPr>
          </a:p>
          <a:p>
            <a:pPr algn="l">
              <a:buNone/>
            </a:pPr>
            <a:r>
              <a:rPr lang="en-US" b="1" i="0" dirty="0">
                <a:effectLst/>
                <a:latin typeface="fkGroteskNeue"/>
              </a:rPr>
              <a:t>Example:</a:t>
            </a:r>
          </a:p>
          <a:p>
            <a:pPr algn="l">
              <a:buNone/>
            </a:pPr>
            <a:endParaRPr lang="en-US" dirty="0">
              <a:latin typeface="fkGroteskNeue"/>
            </a:endParaRPr>
          </a:p>
          <a:p>
            <a:r>
              <a:rPr lang="en-US" dirty="0" err="1">
                <a:latin typeface="fkGroteskNeue"/>
              </a:rPr>
              <a:t>myCar.color</a:t>
            </a:r>
            <a:r>
              <a:rPr lang="en-US" dirty="0">
                <a:latin typeface="fkGroteskNeue"/>
              </a:rPr>
              <a:t> = "Red";</a:t>
            </a:r>
          </a:p>
          <a:p>
            <a:r>
              <a:rPr lang="en-US" dirty="0" err="1">
                <a:latin typeface="fkGroteskNeue"/>
              </a:rPr>
              <a:t>myCar.year</a:t>
            </a:r>
            <a:r>
              <a:rPr lang="en-US" dirty="0">
                <a:latin typeface="fkGroteskNeue"/>
              </a:rPr>
              <a:t> = 2020;</a:t>
            </a:r>
          </a:p>
          <a:p>
            <a:r>
              <a:rPr lang="en-US" dirty="0" err="1">
                <a:latin typeface="fkGroteskNeue"/>
              </a:rPr>
              <a:t>myCar.drive</a:t>
            </a:r>
            <a:r>
              <a:rPr lang="en-US" dirty="0">
                <a:latin typeface="fkGroteskNeue"/>
              </a:rPr>
              <a:t>();</a:t>
            </a:r>
          </a:p>
          <a:p>
            <a:pPr algn="l">
              <a:buNone/>
            </a:pPr>
            <a:endParaRPr lang="en-US" b="0" i="0" dirty="0">
              <a:effectLst/>
              <a:latin typeface="fkGroteskNeue"/>
            </a:endParaRPr>
          </a:p>
          <a:p>
            <a:r>
              <a:rPr lang="en-IN" dirty="0"/>
              <a:t>Simple Program Example</a:t>
            </a:r>
          </a:p>
          <a:p>
            <a:br>
              <a:rPr lang="en-IN" dirty="0"/>
            </a:br>
            <a:endParaRPr lang="en-US" b="0" i="0" dirty="0">
              <a:effectLst/>
              <a:latin typeface="fkGroteskNeue"/>
            </a:endParaRPr>
          </a:p>
        </p:txBody>
      </p:sp>
    </p:spTree>
    <p:extLst>
      <p:ext uri="{BB962C8B-B14F-4D97-AF65-F5344CB8AC3E}">
        <p14:creationId xmlns:p14="http://schemas.microsoft.com/office/powerpoint/2010/main" val="28772202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DB23B9-5F91-CADF-54B4-E5CF9BC658A8}"/>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A02EC28C-1031-2FCD-3043-FC30DDD3028E}"/>
              </a:ext>
            </a:extLst>
          </p:cNvPr>
          <p:cNvSpPr txBox="1"/>
          <p:nvPr/>
        </p:nvSpPr>
        <p:spPr>
          <a:xfrm>
            <a:off x="884584" y="-79653"/>
            <a:ext cx="9949069" cy="7017306"/>
          </a:xfrm>
          <a:prstGeom prst="rect">
            <a:avLst/>
          </a:prstGeom>
          <a:noFill/>
        </p:spPr>
        <p:txBody>
          <a:bodyPr wrap="square">
            <a:spAutoFit/>
          </a:bodyPr>
          <a:lstStyle/>
          <a:p>
            <a:r>
              <a:rPr lang="en-IN" dirty="0"/>
              <a:t>class Car {</a:t>
            </a:r>
          </a:p>
          <a:p>
            <a:r>
              <a:rPr lang="en-IN" dirty="0"/>
              <a:t>    // data members (variables)</a:t>
            </a:r>
          </a:p>
          <a:p>
            <a:r>
              <a:rPr lang="en-IN" dirty="0"/>
              <a:t>    String brand;</a:t>
            </a:r>
          </a:p>
          <a:p>
            <a:r>
              <a:rPr lang="en-IN" dirty="0"/>
              <a:t>    int speed;</a:t>
            </a:r>
          </a:p>
          <a:p>
            <a:endParaRPr lang="en-IN" dirty="0"/>
          </a:p>
          <a:p>
            <a:r>
              <a:rPr lang="en-IN" dirty="0"/>
              <a:t>    // member method</a:t>
            </a:r>
          </a:p>
          <a:p>
            <a:r>
              <a:rPr lang="en-IN" dirty="0"/>
              <a:t>    void showDetails() {</a:t>
            </a:r>
          </a:p>
          <a:p>
            <a:r>
              <a:rPr lang="en-IN" dirty="0"/>
              <a:t>        System.out.println("Brand: " + brand);</a:t>
            </a:r>
          </a:p>
          <a:p>
            <a:r>
              <a:rPr lang="en-IN" dirty="0"/>
              <a:t>        System.out.println("Speed: " + speed + " km/h");</a:t>
            </a:r>
          </a:p>
          <a:p>
            <a:r>
              <a:rPr lang="en-IN" dirty="0"/>
              <a:t>    }</a:t>
            </a:r>
          </a:p>
          <a:p>
            <a:r>
              <a:rPr lang="en-IN" dirty="0"/>
              <a:t>}</a:t>
            </a:r>
          </a:p>
          <a:p>
            <a:endParaRPr lang="en-IN" dirty="0"/>
          </a:p>
          <a:p>
            <a:r>
              <a:rPr lang="en-IN" dirty="0"/>
              <a:t>public class Main {</a:t>
            </a:r>
          </a:p>
          <a:p>
            <a:r>
              <a:rPr lang="en-IN" dirty="0"/>
              <a:t>    public static void main(String[] args) {</a:t>
            </a:r>
          </a:p>
          <a:p>
            <a:r>
              <a:rPr lang="en-IN" dirty="0"/>
              <a:t>        // creating object of Car class</a:t>
            </a:r>
          </a:p>
          <a:p>
            <a:r>
              <a:rPr lang="en-IN" dirty="0"/>
              <a:t>        Car c1 = new Car();</a:t>
            </a:r>
          </a:p>
          <a:p>
            <a:endParaRPr lang="en-IN" dirty="0"/>
          </a:p>
          <a:p>
            <a:r>
              <a:rPr lang="en-IN" dirty="0"/>
              <a:t>        // assigning values to object</a:t>
            </a:r>
          </a:p>
          <a:p>
            <a:r>
              <a:rPr lang="en-IN" dirty="0"/>
              <a:t>        c1.brand = "Tata";</a:t>
            </a:r>
          </a:p>
          <a:p>
            <a:r>
              <a:rPr lang="en-IN" dirty="0"/>
              <a:t>        c1.speed = 120;</a:t>
            </a:r>
          </a:p>
          <a:p>
            <a:endParaRPr lang="en-IN" dirty="0"/>
          </a:p>
          <a:p>
            <a:r>
              <a:rPr lang="en-IN" dirty="0"/>
              <a:t>        // calling method using object</a:t>
            </a:r>
          </a:p>
          <a:p>
            <a:r>
              <a:rPr lang="en-IN" dirty="0"/>
              <a:t>        c1.showDetails();</a:t>
            </a:r>
          </a:p>
          <a:p>
            <a:r>
              <a:rPr lang="en-IN" dirty="0"/>
              <a:t>    }</a:t>
            </a:r>
          </a:p>
          <a:p>
            <a:r>
              <a:rPr lang="en-IN" dirty="0"/>
              <a:t>}</a:t>
            </a:r>
          </a:p>
        </p:txBody>
      </p:sp>
    </p:spTree>
    <p:extLst>
      <p:ext uri="{BB962C8B-B14F-4D97-AF65-F5344CB8AC3E}">
        <p14:creationId xmlns:p14="http://schemas.microsoft.com/office/powerpoint/2010/main" val="37381991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138B3-C9DE-D788-FFD8-755A9EF32FB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F3E30F4-3C4D-D727-0805-E2C953406A48}"/>
              </a:ext>
            </a:extLst>
          </p:cNvPr>
          <p:cNvSpPr txBox="1"/>
          <p:nvPr/>
        </p:nvSpPr>
        <p:spPr>
          <a:xfrm>
            <a:off x="864704" y="164500"/>
            <a:ext cx="8209722" cy="369332"/>
          </a:xfrm>
          <a:prstGeom prst="rect">
            <a:avLst/>
          </a:prstGeom>
          <a:noFill/>
        </p:spPr>
        <p:txBody>
          <a:bodyPr wrap="square">
            <a:spAutoFit/>
          </a:bodyPr>
          <a:lstStyle/>
          <a:p>
            <a:pPr algn="l">
              <a:buNone/>
            </a:pPr>
            <a:r>
              <a:rPr lang="en-US" b="1" i="0" dirty="0">
                <a:effectLst/>
                <a:latin typeface="fkGrotesk"/>
              </a:rPr>
              <a:t>1.3 public static void main() method explain</a:t>
            </a:r>
          </a:p>
        </p:txBody>
      </p:sp>
      <p:sp>
        <p:nvSpPr>
          <p:cNvPr id="5" name="TextBox 4">
            <a:extLst>
              <a:ext uri="{FF2B5EF4-FFF2-40B4-BE49-F238E27FC236}">
                <a16:creationId xmlns:a16="http://schemas.microsoft.com/office/drawing/2014/main" id="{D1B2593E-79A5-D708-5C2E-50E2B3207EA3}"/>
              </a:ext>
            </a:extLst>
          </p:cNvPr>
          <p:cNvSpPr txBox="1"/>
          <p:nvPr/>
        </p:nvSpPr>
        <p:spPr>
          <a:xfrm>
            <a:off x="755374" y="533832"/>
            <a:ext cx="8955156" cy="6186309"/>
          </a:xfrm>
          <a:prstGeom prst="rect">
            <a:avLst/>
          </a:prstGeom>
          <a:noFill/>
        </p:spPr>
        <p:txBody>
          <a:bodyPr wrap="square">
            <a:spAutoFit/>
          </a:bodyPr>
          <a:lstStyle/>
          <a:p>
            <a:pPr algn="l">
              <a:buNone/>
            </a:pPr>
            <a:r>
              <a:rPr lang="en-US" b="0" i="0" dirty="0">
                <a:effectLst/>
                <a:latin typeface="fkGroteskNeue"/>
              </a:rPr>
              <a:t> This method is the entry point where a Java program starts running. Let's break down what each </a:t>
            </a:r>
          </a:p>
          <a:p>
            <a:pPr algn="l">
              <a:buNone/>
            </a:pPr>
            <a:r>
              <a:rPr lang="en-US" b="0" i="0" dirty="0">
                <a:effectLst/>
                <a:latin typeface="fkGroteskNeue"/>
              </a:rPr>
              <a:t>   keyword means:</a:t>
            </a:r>
          </a:p>
          <a:p>
            <a:pPr algn="l">
              <a:buNone/>
            </a:pPr>
            <a:endParaRPr lang="en-US" b="0" i="0" dirty="0">
              <a:effectLst/>
              <a:latin typeface="fkGroteskNeue"/>
            </a:endParaRPr>
          </a:p>
          <a:p>
            <a:pPr algn="l">
              <a:buNone/>
            </a:pPr>
            <a:r>
              <a:rPr lang="en-US" dirty="0">
                <a:latin typeface="fkGroteskNeue"/>
              </a:rPr>
              <a:t>Access Specifier       return type                 String array (Predefine class) </a:t>
            </a:r>
          </a:p>
          <a:p>
            <a:pPr algn="l">
              <a:buNone/>
            </a:pPr>
            <a:endParaRPr lang="en-US" dirty="0">
              <a:latin typeface="fkGroteskNeue"/>
            </a:endParaRPr>
          </a:p>
          <a:p>
            <a:pPr algn="l">
              <a:buNone/>
            </a:pPr>
            <a:r>
              <a:rPr lang="en-US" b="1" dirty="0">
                <a:latin typeface="fkGroteskNeue"/>
              </a:rPr>
              <a:t> Public        static         void            main              (String [] args)</a:t>
            </a:r>
          </a:p>
          <a:p>
            <a:pPr algn="l">
              <a:buNone/>
            </a:pPr>
            <a:endParaRPr lang="en-US" b="0" i="0" dirty="0">
              <a:effectLst/>
              <a:latin typeface="fkGroteskNeue"/>
            </a:endParaRPr>
          </a:p>
          <a:p>
            <a:pPr algn="l">
              <a:buNone/>
            </a:pPr>
            <a:r>
              <a:rPr lang="en-US" dirty="0">
                <a:latin typeface="fkGroteskNeue"/>
              </a:rPr>
              <a:t>           Static keyword               Method Name </a:t>
            </a:r>
          </a:p>
          <a:p>
            <a:pPr algn="l">
              <a:buNone/>
            </a:pPr>
            <a:endParaRPr lang="en-US" dirty="0">
              <a:latin typeface="fkGroteskNeue"/>
            </a:endParaRPr>
          </a:p>
          <a:p>
            <a:pPr marL="342900" indent="-342900" algn="l">
              <a:buAutoNum type="arabicPeriod"/>
            </a:pPr>
            <a:r>
              <a:rPr lang="en-US" b="1" dirty="0">
                <a:latin typeface="fkGroteskNeue"/>
              </a:rPr>
              <a:t>Public</a:t>
            </a:r>
            <a:r>
              <a:rPr lang="en-US" dirty="0">
                <a:latin typeface="fkGroteskNeue"/>
              </a:rPr>
              <a:t> :- A keyword and is an access modifier , which specifies from where and who can access this method and because the main method is public so it means this method can be called from anywhere and JVM can call it from outside this class</a:t>
            </a:r>
          </a:p>
          <a:p>
            <a:pPr marL="342900" indent="-342900" algn="l">
              <a:buAutoNum type="arabicPeriod"/>
            </a:pPr>
            <a:endParaRPr lang="en-US" dirty="0">
              <a:latin typeface="fkGroteskNeue"/>
            </a:endParaRPr>
          </a:p>
          <a:p>
            <a:pPr marL="342900" indent="-342900" algn="l">
              <a:buAutoNum type="arabicPeriod"/>
            </a:pPr>
            <a:r>
              <a:rPr lang="en-US" b="1" dirty="0">
                <a:latin typeface="fkGroteskNeue"/>
              </a:rPr>
              <a:t>Static</a:t>
            </a:r>
            <a:r>
              <a:rPr lang="en-US" dirty="0">
                <a:latin typeface="fkGroteskNeue"/>
              </a:rPr>
              <a:t> :- The second keyword is static and is used so that the main method can be accessed directly by class instead of creating object of main class</a:t>
            </a:r>
          </a:p>
          <a:p>
            <a:pPr marL="342900" indent="-342900" algn="l">
              <a:buAutoNum type="arabicPeriod"/>
            </a:pPr>
            <a:endParaRPr lang="en-US" dirty="0">
              <a:latin typeface="fkGroteskNeue"/>
            </a:endParaRPr>
          </a:p>
          <a:p>
            <a:pPr marL="342900" indent="-342900" algn="l">
              <a:buAutoNum type="arabicPeriod"/>
            </a:pPr>
            <a:r>
              <a:rPr lang="en-US" b="1" dirty="0">
                <a:latin typeface="fkGroteskNeue"/>
              </a:rPr>
              <a:t>Void</a:t>
            </a:r>
            <a:r>
              <a:rPr lang="en-US" dirty="0">
                <a:latin typeface="fkGroteskNeue"/>
              </a:rPr>
              <a:t> :- The third keyword is void and it signifies that main () method does not return any value </a:t>
            </a:r>
          </a:p>
          <a:p>
            <a:pPr marL="342900" indent="-342900" algn="l">
              <a:buAutoNum type="arabicPeriod"/>
            </a:pPr>
            <a:endParaRPr lang="en-US" dirty="0">
              <a:latin typeface="fkGroteskNeue"/>
            </a:endParaRPr>
          </a:p>
          <a:p>
            <a:pPr marL="342900" indent="-342900" algn="l">
              <a:buAutoNum type="arabicPeriod"/>
            </a:pPr>
            <a:r>
              <a:rPr lang="en-US" b="1" dirty="0">
                <a:latin typeface="fkGroteskNeue"/>
              </a:rPr>
              <a:t>Main</a:t>
            </a:r>
            <a:r>
              <a:rPr lang="en-US" dirty="0">
                <a:latin typeface="fkGroteskNeue"/>
              </a:rPr>
              <a:t> :- This is the name of the method . It’s a special name that the JVM looks for when starting your program  </a:t>
            </a:r>
          </a:p>
        </p:txBody>
      </p:sp>
      <p:cxnSp>
        <p:nvCxnSpPr>
          <p:cNvPr id="7" name="Straight Arrow Connector 6">
            <a:extLst>
              <a:ext uri="{FF2B5EF4-FFF2-40B4-BE49-F238E27FC236}">
                <a16:creationId xmlns:a16="http://schemas.microsoft.com/office/drawing/2014/main" id="{5E43113D-67C8-60E3-3765-44857436686D}"/>
              </a:ext>
            </a:extLst>
          </p:cNvPr>
          <p:cNvCxnSpPr>
            <a:cxnSpLocks/>
          </p:cNvCxnSpPr>
          <p:nvPr/>
        </p:nvCxnSpPr>
        <p:spPr>
          <a:xfrm>
            <a:off x="1123122" y="1980549"/>
            <a:ext cx="0" cy="24927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1" name="Straight Arrow Connector 10">
            <a:extLst>
              <a:ext uri="{FF2B5EF4-FFF2-40B4-BE49-F238E27FC236}">
                <a16:creationId xmlns:a16="http://schemas.microsoft.com/office/drawing/2014/main" id="{68C23671-747A-6353-86C7-C42C556F8C89}"/>
              </a:ext>
            </a:extLst>
          </p:cNvPr>
          <p:cNvCxnSpPr>
            <a:cxnSpLocks/>
          </p:cNvCxnSpPr>
          <p:nvPr/>
        </p:nvCxnSpPr>
        <p:spPr>
          <a:xfrm>
            <a:off x="2060713" y="2468361"/>
            <a:ext cx="0" cy="32467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4" name="Straight Arrow Connector 13">
            <a:extLst>
              <a:ext uri="{FF2B5EF4-FFF2-40B4-BE49-F238E27FC236}">
                <a16:creationId xmlns:a16="http://schemas.microsoft.com/office/drawing/2014/main" id="{B1191BE6-B934-7BCB-E2AA-155C21B10420}"/>
              </a:ext>
            </a:extLst>
          </p:cNvPr>
          <p:cNvCxnSpPr>
            <a:cxnSpLocks/>
          </p:cNvCxnSpPr>
          <p:nvPr/>
        </p:nvCxnSpPr>
        <p:spPr>
          <a:xfrm>
            <a:off x="3074504" y="1980549"/>
            <a:ext cx="0" cy="30811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5" name="Straight Arrow Connector 14">
            <a:extLst>
              <a:ext uri="{FF2B5EF4-FFF2-40B4-BE49-F238E27FC236}">
                <a16:creationId xmlns:a16="http://schemas.microsoft.com/office/drawing/2014/main" id="{3C783BE9-C9A4-8A21-A65E-33C9E14377D4}"/>
              </a:ext>
            </a:extLst>
          </p:cNvPr>
          <p:cNvCxnSpPr>
            <a:cxnSpLocks/>
          </p:cNvCxnSpPr>
          <p:nvPr/>
        </p:nvCxnSpPr>
        <p:spPr>
          <a:xfrm>
            <a:off x="4061789" y="2468361"/>
            <a:ext cx="0" cy="32467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E1FD41DE-DA47-842D-A230-9C59FA6E88D2}"/>
              </a:ext>
            </a:extLst>
          </p:cNvPr>
          <p:cNvCxnSpPr>
            <a:cxnSpLocks/>
          </p:cNvCxnSpPr>
          <p:nvPr/>
        </p:nvCxnSpPr>
        <p:spPr>
          <a:xfrm>
            <a:off x="5552661" y="1980549"/>
            <a:ext cx="0" cy="30811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9420114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60CADF-20D2-167E-0D40-317929ADC7A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004096B-AD02-7D43-A4A0-95CF41B1607C}"/>
              </a:ext>
            </a:extLst>
          </p:cNvPr>
          <p:cNvSpPr txBox="1"/>
          <p:nvPr/>
        </p:nvSpPr>
        <p:spPr>
          <a:xfrm>
            <a:off x="834889" y="79373"/>
            <a:ext cx="8537711" cy="923330"/>
          </a:xfrm>
          <a:prstGeom prst="rect">
            <a:avLst/>
          </a:prstGeom>
          <a:noFill/>
        </p:spPr>
        <p:txBody>
          <a:bodyPr wrap="square">
            <a:spAutoFit/>
          </a:bodyPr>
          <a:lstStyle/>
          <a:p>
            <a:r>
              <a:rPr lang="en-US" dirty="0"/>
              <a:t>5. </a:t>
            </a:r>
            <a:r>
              <a:rPr lang="en-US" b="1" dirty="0"/>
              <a:t>String [] args </a:t>
            </a:r>
            <a:r>
              <a:rPr lang="en-US" dirty="0"/>
              <a:t>:- This is the parameter the main method takes . Its an array of string values , which allows you to pass command – line argument when you run </a:t>
            </a:r>
          </a:p>
          <a:p>
            <a:r>
              <a:rPr lang="en-US" dirty="0"/>
              <a:t>The program .  </a:t>
            </a:r>
            <a:endParaRPr lang="en-IN" dirty="0"/>
          </a:p>
        </p:txBody>
      </p:sp>
      <p:sp>
        <p:nvSpPr>
          <p:cNvPr id="4" name="TextBox 3">
            <a:extLst>
              <a:ext uri="{FF2B5EF4-FFF2-40B4-BE49-F238E27FC236}">
                <a16:creationId xmlns:a16="http://schemas.microsoft.com/office/drawing/2014/main" id="{A95AF5DE-B7B3-BD68-31C4-0A6855E383AD}"/>
              </a:ext>
            </a:extLst>
          </p:cNvPr>
          <p:cNvSpPr txBox="1"/>
          <p:nvPr/>
        </p:nvSpPr>
        <p:spPr>
          <a:xfrm>
            <a:off x="834889" y="1122259"/>
            <a:ext cx="6102626" cy="369332"/>
          </a:xfrm>
          <a:prstGeom prst="rect">
            <a:avLst/>
          </a:prstGeom>
          <a:noFill/>
        </p:spPr>
        <p:txBody>
          <a:bodyPr wrap="square">
            <a:spAutoFit/>
          </a:bodyPr>
          <a:lstStyle/>
          <a:p>
            <a:r>
              <a:rPr lang="en-US" b="1" dirty="0"/>
              <a:t>1.4 Java tokens and data types</a:t>
            </a:r>
            <a:endParaRPr lang="en-IN" b="1" dirty="0"/>
          </a:p>
        </p:txBody>
      </p:sp>
      <p:sp>
        <p:nvSpPr>
          <p:cNvPr id="6" name="TextBox 5">
            <a:extLst>
              <a:ext uri="{FF2B5EF4-FFF2-40B4-BE49-F238E27FC236}">
                <a16:creationId xmlns:a16="http://schemas.microsoft.com/office/drawing/2014/main" id="{8484B907-7A07-40BB-BA3B-0C83904AC787}"/>
              </a:ext>
            </a:extLst>
          </p:cNvPr>
          <p:cNvSpPr txBox="1"/>
          <p:nvPr/>
        </p:nvSpPr>
        <p:spPr>
          <a:xfrm>
            <a:off x="805074" y="1611147"/>
            <a:ext cx="8726552" cy="5078313"/>
          </a:xfrm>
          <a:prstGeom prst="rect">
            <a:avLst/>
          </a:prstGeom>
          <a:noFill/>
        </p:spPr>
        <p:txBody>
          <a:bodyPr wrap="square">
            <a:spAutoFit/>
          </a:bodyPr>
          <a:lstStyle/>
          <a:p>
            <a:pPr algn="l">
              <a:buNone/>
            </a:pPr>
            <a:r>
              <a:rPr lang="en-US" b="1" i="0" dirty="0">
                <a:effectLst/>
                <a:latin typeface="fkGrotesk"/>
              </a:rPr>
              <a:t>What are Java Tokens?</a:t>
            </a:r>
          </a:p>
          <a:p>
            <a:pPr algn="l"/>
            <a:r>
              <a:rPr lang="en-US" dirty="0">
                <a:latin typeface="fkGroteskNeue"/>
              </a:rPr>
              <a:t>In java token is a smallest unit of a program , think of token as the basic building block. There are fine main types of tokens </a:t>
            </a:r>
          </a:p>
          <a:p>
            <a:pPr algn="l"/>
            <a:endParaRPr lang="en-US" b="0" i="0" dirty="0">
              <a:effectLst/>
              <a:latin typeface="fkGroteskNeue"/>
            </a:endParaRPr>
          </a:p>
          <a:p>
            <a:pPr algn="l"/>
            <a:r>
              <a:rPr lang="en-US" b="0" i="0" dirty="0">
                <a:effectLst/>
                <a:latin typeface="fkGrotesk"/>
              </a:rPr>
              <a:t>Types of Java Tokens:</a:t>
            </a:r>
          </a:p>
          <a:p>
            <a:pPr algn="l">
              <a:buNone/>
            </a:pPr>
            <a:endParaRPr lang="en-US" b="0" i="0" dirty="0">
              <a:effectLst/>
              <a:latin typeface="fkGrotesk"/>
            </a:endParaRPr>
          </a:p>
          <a:p>
            <a:pPr algn="l">
              <a:buFont typeface="+mj-lt"/>
              <a:buAutoNum type="arabicPeriod"/>
            </a:pPr>
            <a:r>
              <a:rPr lang="en-US" b="1" i="0" dirty="0">
                <a:effectLst/>
                <a:latin typeface="fkGroteskNeue"/>
              </a:rPr>
              <a:t>Keywords: </a:t>
            </a:r>
          </a:p>
          <a:p>
            <a:pPr algn="l"/>
            <a:r>
              <a:rPr lang="en-US" i="0" dirty="0">
                <a:effectLst/>
                <a:latin typeface="fkGroteskNeue"/>
              </a:rPr>
              <a:t>Reserved words that have a predefined meaning in java</a:t>
            </a:r>
          </a:p>
          <a:p>
            <a:pPr marL="285750" indent="-285750" algn="l">
              <a:buFont typeface="Wingdings" panose="05000000000000000000" pitchFamily="2" charset="2"/>
              <a:buChar char="§"/>
            </a:pPr>
            <a:r>
              <a:rPr lang="en-US" b="0" i="0" dirty="0">
                <a:effectLst/>
                <a:latin typeface="fkGroteskNeue"/>
              </a:rPr>
              <a:t>Examples: </a:t>
            </a:r>
            <a:r>
              <a:rPr lang="en-US" b="0" i="0" dirty="0">
                <a:effectLst/>
                <a:latin typeface="berkeleyMono"/>
              </a:rPr>
              <a:t>class</a:t>
            </a:r>
            <a:r>
              <a:rPr lang="en-US" b="0" i="0" dirty="0">
                <a:effectLst/>
                <a:latin typeface="fkGroteskNeue"/>
              </a:rPr>
              <a:t>, </a:t>
            </a:r>
            <a:r>
              <a:rPr lang="en-US" b="0" i="0" dirty="0">
                <a:effectLst/>
                <a:latin typeface="berkeleyMono"/>
              </a:rPr>
              <a:t>public</a:t>
            </a:r>
            <a:r>
              <a:rPr lang="en-US" b="0" i="0" dirty="0">
                <a:effectLst/>
                <a:latin typeface="fkGroteskNeue"/>
              </a:rPr>
              <a:t>, </a:t>
            </a:r>
            <a:r>
              <a:rPr lang="en-US" b="0" i="0" dirty="0">
                <a:effectLst/>
                <a:latin typeface="berkeleyMono"/>
              </a:rPr>
              <a:t>void</a:t>
            </a:r>
            <a:r>
              <a:rPr lang="en-US" b="0" i="0" dirty="0">
                <a:effectLst/>
                <a:latin typeface="fkGroteskNeue"/>
              </a:rPr>
              <a:t>, </a:t>
            </a:r>
            <a:r>
              <a:rPr lang="en-US" b="0" i="0" dirty="0">
                <a:effectLst/>
                <a:latin typeface="berkeleyMono"/>
              </a:rPr>
              <a:t>int</a:t>
            </a:r>
            <a:r>
              <a:rPr lang="en-US" b="0" i="0" dirty="0">
                <a:effectLst/>
                <a:latin typeface="fkGroteskNeue"/>
              </a:rPr>
              <a:t>, </a:t>
            </a:r>
            <a:r>
              <a:rPr lang="en-US" b="0" i="0" dirty="0">
                <a:effectLst/>
                <a:latin typeface="berkeleyMono"/>
              </a:rPr>
              <a:t>if</a:t>
            </a:r>
            <a:r>
              <a:rPr lang="en-US" b="0" i="0" dirty="0">
                <a:effectLst/>
                <a:latin typeface="fkGroteskNeue"/>
              </a:rPr>
              <a:t>, </a:t>
            </a:r>
            <a:r>
              <a:rPr lang="en-US" b="0" i="0" dirty="0">
                <a:effectLst/>
                <a:latin typeface="berkeleyMono"/>
              </a:rPr>
              <a:t>else</a:t>
            </a:r>
            <a:r>
              <a:rPr lang="en-US" b="0" i="0" dirty="0">
                <a:effectLst/>
                <a:latin typeface="fkGroteskNeue"/>
              </a:rPr>
              <a:t>, </a:t>
            </a:r>
            <a:r>
              <a:rPr lang="en-US" b="0" i="0" dirty="0">
                <a:effectLst/>
                <a:latin typeface="berkeleyMono"/>
              </a:rPr>
              <a:t>while , Static , return , new , Boolean </a:t>
            </a:r>
            <a:r>
              <a:rPr lang="en-US" b="0" i="0" dirty="0">
                <a:effectLst/>
                <a:latin typeface="fkGroteskNeue"/>
              </a:rPr>
              <a:t>.</a:t>
            </a:r>
            <a:endParaRPr lang="en-US" dirty="0">
              <a:latin typeface="fkGroteskNeue"/>
            </a:endParaRPr>
          </a:p>
          <a:p>
            <a:pPr lvl="1" algn="l"/>
            <a:endParaRPr lang="en-US" b="0" i="0" dirty="0">
              <a:effectLst/>
              <a:latin typeface="fkGroteskNeue"/>
            </a:endParaRPr>
          </a:p>
          <a:p>
            <a:pPr algn="l"/>
            <a:r>
              <a:rPr lang="en-US" b="1" i="0" dirty="0">
                <a:effectLst/>
                <a:latin typeface="fkGroteskNeue"/>
              </a:rPr>
              <a:t>2. Identifiers: </a:t>
            </a:r>
            <a:endParaRPr lang="en-US" b="1" dirty="0">
              <a:latin typeface="fkGroteskNeue"/>
            </a:endParaRPr>
          </a:p>
          <a:p>
            <a:pPr algn="l"/>
            <a:r>
              <a:rPr lang="en-US" dirty="0">
                <a:latin typeface="fkGroteskNeue"/>
              </a:rPr>
              <a:t>Name used for class , Methods, variables , etc. you create these</a:t>
            </a:r>
          </a:p>
          <a:p>
            <a:pPr marL="285750" indent="-285750" algn="l">
              <a:buFont typeface="Wingdings" panose="05000000000000000000" pitchFamily="2" charset="2"/>
              <a:buChar char="§"/>
            </a:pPr>
            <a:r>
              <a:rPr lang="en-US" i="0" dirty="0">
                <a:effectLst/>
                <a:latin typeface="fkGroteskNeue"/>
              </a:rPr>
              <a:t>Examples : main, myclass , number , printdata </a:t>
            </a:r>
          </a:p>
          <a:p>
            <a:pPr algn="l"/>
            <a:endParaRPr lang="en-US" dirty="0">
              <a:latin typeface="fkGroteskNeue"/>
            </a:endParaRPr>
          </a:p>
          <a:p>
            <a:pPr algn="l"/>
            <a:r>
              <a:rPr lang="en-US" b="1" i="0" dirty="0">
                <a:effectLst/>
                <a:latin typeface="fkGroteskNeue"/>
              </a:rPr>
              <a:t>3. Literals </a:t>
            </a:r>
            <a:r>
              <a:rPr lang="en-US" b="1" dirty="0">
                <a:latin typeface="fkGroteskNeue"/>
              </a:rPr>
              <a:t>:</a:t>
            </a:r>
            <a:r>
              <a:rPr lang="en-US" b="1" i="0" dirty="0">
                <a:effectLst/>
                <a:latin typeface="fkGroteskNeue"/>
              </a:rPr>
              <a:t> </a:t>
            </a:r>
          </a:p>
          <a:p>
            <a:pPr algn="l"/>
            <a:r>
              <a:rPr lang="en-US" i="0" dirty="0">
                <a:effectLst/>
                <a:latin typeface="fkGroteskNeue"/>
              </a:rPr>
              <a:t>Fi</a:t>
            </a:r>
            <a:r>
              <a:rPr lang="en-US" dirty="0">
                <a:latin typeface="fkGroteskNeue"/>
              </a:rPr>
              <a:t>xed values used in code</a:t>
            </a:r>
          </a:p>
          <a:p>
            <a:pPr marL="285750" indent="-285750" algn="l">
              <a:buFont typeface="Wingdings" panose="05000000000000000000" pitchFamily="2" charset="2"/>
              <a:buChar char="§"/>
            </a:pPr>
            <a:r>
              <a:rPr lang="en-US" dirty="0">
                <a:latin typeface="fkGroteskNeue"/>
              </a:rPr>
              <a:t> </a:t>
            </a:r>
            <a:r>
              <a:rPr lang="en-US" dirty="0"/>
              <a:t>Example: Numbers like 100, decimals like 3.14, characters like 'A', strings like "Hello".</a:t>
            </a:r>
          </a:p>
        </p:txBody>
      </p:sp>
    </p:spTree>
    <p:extLst>
      <p:ext uri="{BB962C8B-B14F-4D97-AF65-F5344CB8AC3E}">
        <p14:creationId xmlns:p14="http://schemas.microsoft.com/office/powerpoint/2010/main" val="24459416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7D817F-F5BB-3FEC-8219-6FE40D32ACC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954770F-06CD-7881-6B2C-66102AD7E702}"/>
              </a:ext>
            </a:extLst>
          </p:cNvPr>
          <p:cNvSpPr txBox="1"/>
          <p:nvPr/>
        </p:nvSpPr>
        <p:spPr>
          <a:xfrm>
            <a:off x="1123121" y="214196"/>
            <a:ext cx="8060635" cy="2308324"/>
          </a:xfrm>
          <a:prstGeom prst="rect">
            <a:avLst/>
          </a:prstGeom>
          <a:noFill/>
        </p:spPr>
        <p:txBody>
          <a:bodyPr wrap="square">
            <a:spAutoFit/>
          </a:bodyPr>
          <a:lstStyle/>
          <a:p>
            <a:pPr algn="l">
              <a:buNone/>
            </a:pPr>
            <a:r>
              <a:rPr lang="en-US" b="1" i="0" dirty="0">
                <a:effectLst/>
                <a:latin typeface="fkGroteskNeue"/>
              </a:rPr>
              <a:t>4. Operators: </a:t>
            </a:r>
          </a:p>
          <a:p>
            <a:pPr algn="l">
              <a:buNone/>
            </a:pPr>
            <a:r>
              <a:rPr lang="en-US" b="0" i="0" dirty="0">
                <a:effectLst/>
                <a:latin typeface="fkGroteskNeue"/>
              </a:rPr>
              <a:t>Symbols that perform operations</a:t>
            </a:r>
            <a:r>
              <a:rPr lang="en-US" dirty="0">
                <a:latin typeface="fkGroteskNeue"/>
              </a:rPr>
              <a:t> on variables and values</a:t>
            </a:r>
          </a:p>
          <a:p>
            <a:pPr marL="285750" indent="-285750" algn="l">
              <a:buFont typeface="Wingdings" panose="05000000000000000000" pitchFamily="2" charset="2"/>
              <a:buChar char="§"/>
            </a:pPr>
            <a:r>
              <a:rPr lang="en-US" dirty="0">
                <a:latin typeface="fkGroteskNeue"/>
              </a:rPr>
              <a:t> </a:t>
            </a:r>
            <a:r>
              <a:rPr lang="en-IN" dirty="0"/>
              <a:t>Examples: +, -, *, /, =, ==.</a:t>
            </a:r>
            <a:r>
              <a:rPr lang="en-US" dirty="0">
                <a:latin typeface="fkGroteskNeue"/>
              </a:rPr>
              <a:t> </a:t>
            </a:r>
          </a:p>
          <a:p>
            <a:pPr marL="285750" indent="-285750" algn="l">
              <a:buFont typeface="Wingdings" panose="05000000000000000000" pitchFamily="2" charset="2"/>
              <a:buChar char="§"/>
            </a:pPr>
            <a:endParaRPr lang="en-US" b="0" i="0" dirty="0">
              <a:effectLst/>
              <a:latin typeface="fkGroteskNeue"/>
            </a:endParaRPr>
          </a:p>
          <a:p>
            <a:r>
              <a:rPr lang="en-US" b="1" dirty="0">
                <a:latin typeface="fkGroteskNeue"/>
              </a:rPr>
              <a:t>5. </a:t>
            </a:r>
            <a:r>
              <a:rPr lang="en-US" b="1" dirty="0"/>
              <a:t>Separators:</a:t>
            </a:r>
          </a:p>
          <a:p>
            <a:r>
              <a:rPr lang="en-US" dirty="0"/>
              <a:t>Symbols used to separate code elements </a:t>
            </a:r>
          </a:p>
          <a:p>
            <a:pPr marL="285750" indent="-285750">
              <a:buFont typeface="Wingdings" panose="05000000000000000000" pitchFamily="2" charset="2"/>
              <a:buChar char="§"/>
            </a:pPr>
            <a:r>
              <a:rPr lang="en-US" dirty="0"/>
              <a:t> </a:t>
            </a:r>
            <a:r>
              <a:rPr lang="en-IN" dirty="0"/>
              <a:t>Examples: ; (semicolon), {} (</a:t>
            </a:r>
            <a:r>
              <a:rPr lang="en-IN" dirty="0" err="1"/>
              <a:t>curlybraces</a:t>
            </a:r>
            <a:r>
              <a:rPr lang="en-IN" dirty="0"/>
              <a:t>), ( ) (parentheses), , (comma).</a:t>
            </a:r>
          </a:p>
          <a:p>
            <a:endParaRPr lang="en-US" dirty="0"/>
          </a:p>
        </p:txBody>
      </p:sp>
      <p:sp>
        <p:nvSpPr>
          <p:cNvPr id="5" name="TextBox 4">
            <a:extLst>
              <a:ext uri="{FF2B5EF4-FFF2-40B4-BE49-F238E27FC236}">
                <a16:creationId xmlns:a16="http://schemas.microsoft.com/office/drawing/2014/main" id="{2767C6BB-47CD-B9DD-9D67-35AFEBB6DF2B}"/>
              </a:ext>
            </a:extLst>
          </p:cNvPr>
          <p:cNvSpPr txBox="1"/>
          <p:nvPr/>
        </p:nvSpPr>
        <p:spPr>
          <a:xfrm>
            <a:off x="834887" y="2413338"/>
            <a:ext cx="8319052" cy="1477328"/>
          </a:xfrm>
          <a:prstGeom prst="rect">
            <a:avLst/>
          </a:prstGeom>
          <a:noFill/>
        </p:spPr>
        <p:txBody>
          <a:bodyPr wrap="square">
            <a:spAutoFit/>
          </a:bodyPr>
          <a:lstStyle/>
          <a:p>
            <a:pPr marL="285750" indent="-285750" algn="l">
              <a:buFont typeface="Wingdings" panose="05000000000000000000" pitchFamily="2" charset="2"/>
              <a:buChar char="§"/>
            </a:pPr>
            <a:r>
              <a:rPr lang="en-US" b="1" i="0" dirty="0">
                <a:effectLst/>
                <a:latin typeface="fkGrotesk"/>
              </a:rPr>
              <a:t>What are Data Types in Java?</a:t>
            </a:r>
          </a:p>
          <a:p>
            <a:pPr algn="l"/>
            <a:endParaRPr lang="en-US" b="1" i="0" dirty="0">
              <a:effectLst/>
              <a:latin typeface="fkGrotesk"/>
            </a:endParaRPr>
          </a:p>
          <a:p>
            <a:pPr algn="l">
              <a:buFont typeface="Arial" panose="020B0604020202020204" pitchFamily="34" charset="0"/>
              <a:buChar char="•"/>
            </a:pPr>
            <a:r>
              <a:rPr lang="en-US" b="0" i="0" dirty="0">
                <a:effectLst/>
                <a:latin typeface="fkGroteskNeue"/>
              </a:rPr>
              <a:t>Data types specify the type of data a variable can hold.</a:t>
            </a:r>
          </a:p>
          <a:p>
            <a:pPr algn="l">
              <a:buFont typeface="Arial" panose="020B0604020202020204" pitchFamily="34" charset="0"/>
              <a:buChar char="•"/>
            </a:pPr>
            <a:r>
              <a:rPr lang="en-US" b="0" i="0" dirty="0">
                <a:effectLst/>
                <a:latin typeface="fkGroteskNeue"/>
              </a:rPr>
              <a:t>Java is a strongly-typed language, so every variable must have a data type.</a:t>
            </a:r>
          </a:p>
          <a:p>
            <a:pPr algn="l">
              <a:buNone/>
            </a:pPr>
            <a:r>
              <a:rPr lang="en-US" b="0" i="0" dirty="0">
                <a:effectLst/>
                <a:latin typeface="fkGrotesk"/>
              </a:rPr>
              <a:t>Important Java Data Types:</a:t>
            </a:r>
          </a:p>
        </p:txBody>
      </p:sp>
    </p:spTree>
    <p:extLst>
      <p:ext uri="{BB962C8B-B14F-4D97-AF65-F5344CB8AC3E}">
        <p14:creationId xmlns:p14="http://schemas.microsoft.com/office/powerpoint/2010/main" val="5187528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2EB749-4E9D-CF7E-435A-30B3B513C6AD}"/>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3751BD2D-2F67-389F-6BC6-504E0B94376F}"/>
              </a:ext>
            </a:extLst>
          </p:cNvPr>
          <p:cNvGraphicFramePr>
            <a:graphicFrameLocks noGrp="1"/>
          </p:cNvGraphicFramePr>
          <p:nvPr>
            <p:extLst>
              <p:ext uri="{D42A27DB-BD31-4B8C-83A1-F6EECF244321}">
                <p14:modId xmlns:p14="http://schemas.microsoft.com/office/powerpoint/2010/main" val="326295340"/>
              </p:ext>
            </p:extLst>
          </p:nvPr>
        </p:nvGraphicFramePr>
        <p:xfrm>
          <a:off x="805587" y="163492"/>
          <a:ext cx="8596312" cy="3596640"/>
        </p:xfrm>
        <a:graphic>
          <a:graphicData uri="http://schemas.openxmlformats.org/drawingml/2006/table">
            <a:tbl>
              <a:tblPr>
                <a:tableStyleId>{5940675A-B579-460E-94D1-54222C63F5DA}</a:tableStyleId>
              </a:tblPr>
              <a:tblGrid>
                <a:gridCol w="2149078">
                  <a:extLst>
                    <a:ext uri="{9D8B030D-6E8A-4147-A177-3AD203B41FA5}">
                      <a16:colId xmlns:a16="http://schemas.microsoft.com/office/drawing/2014/main" val="3181818358"/>
                    </a:ext>
                  </a:extLst>
                </a:gridCol>
                <a:gridCol w="2149078">
                  <a:extLst>
                    <a:ext uri="{9D8B030D-6E8A-4147-A177-3AD203B41FA5}">
                      <a16:colId xmlns:a16="http://schemas.microsoft.com/office/drawing/2014/main" val="2293323877"/>
                    </a:ext>
                  </a:extLst>
                </a:gridCol>
                <a:gridCol w="2149078">
                  <a:extLst>
                    <a:ext uri="{9D8B030D-6E8A-4147-A177-3AD203B41FA5}">
                      <a16:colId xmlns:a16="http://schemas.microsoft.com/office/drawing/2014/main" val="1882591648"/>
                    </a:ext>
                  </a:extLst>
                </a:gridCol>
                <a:gridCol w="2149078">
                  <a:extLst>
                    <a:ext uri="{9D8B030D-6E8A-4147-A177-3AD203B41FA5}">
                      <a16:colId xmlns:a16="http://schemas.microsoft.com/office/drawing/2014/main" val="3035452910"/>
                    </a:ext>
                  </a:extLst>
                </a:gridCol>
              </a:tblGrid>
              <a:tr h="0">
                <a:tc>
                  <a:txBody>
                    <a:bodyPr/>
                    <a:lstStyle/>
                    <a:p>
                      <a:pPr algn="l">
                        <a:buNone/>
                      </a:pPr>
                      <a:r>
                        <a:rPr lang="en-IN" b="1">
                          <a:effectLst/>
                        </a:rPr>
                        <a:t>Data Type</a:t>
                      </a:r>
                    </a:p>
                  </a:txBody>
                  <a:tcPr marL="60960" marR="60960" marT="60960" marB="60960" anchor="ctr"/>
                </a:tc>
                <a:tc>
                  <a:txBody>
                    <a:bodyPr/>
                    <a:lstStyle/>
                    <a:p>
                      <a:pPr algn="l">
                        <a:buNone/>
                      </a:pPr>
                      <a:r>
                        <a:rPr lang="en-IN" b="1" dirty="0">
                          <a:effectLst/>
                        </a:rPr>
                        <a:t>Description</a:t>
                      </a:r>
                    </a:p>
                  </a:txBody>
                  <a:tcPr marL="60960" marR="60960" marT="60960" marB="60960" anchor="ctr"/>
                </a:tc>
                <a:tc>
                  <a:txBody>
                    <a:bodyPr/>
                    <a:lstStyle/>
                    <a:p>
                      <a:pPr algn="l">
                        <a:buNone/>
                      </a:pPr>
                      <a:r>
                        <a:rPr lang="en-IN" b="1" dirty="0">
                          <a:effectLst/>
                        </a:rPr>
                        <a:t>Size</a:t>
                      </a:r>
                    </a:p>
                  </a:txBody>
                  <a:tcPr marL="60960" marR="60960" marT="60960" marB="60960" anchor="ctr"/>
                </a:tc>
                <a:tc>
                  <a:txBody>
                    <a:bodyPr/>
                    <a:lstStyle/>
                    <a:p>
                      <a:pPr algn="l">
                        <a:buNone/>
                      </a:pPr>
                      <a:r>
                        <a:rPr lang="en-IN" b="1">
                          <a:effectLst/>
                        </a:rPr>
                        <a:t>Example Value</a:t>
                      </a:r>
                    </a:p>
                  </a:txBody>
                  <a:tcPr marL="60960" marR="60960" marT="60960" marB="60960" anchor="ctr"/>
                </a:tc>
                <a:extLst>
                  <a:ext uri="{0D108BD9-81ED-4DB2-BD59-A6C34878D82A}">
                    <a16:rowId xmlns:a16="http://schemas.microsoft.com/office/drawing/2014/main" val="4293182959"/>
                  </a:ext>
                </a:extLst>
              </a:tr>
              <a:tr h="0">
                <a:tc>
                  <a:txBody>
                    <a:bodyPr/>
                    <a:lstStyle/>
                    <a:p>
                      <a:pPr algn="l">
                        <a:buNone/>
                      </a:pPr>
                      <a:r>
                        <a:rPr lang="en-IN">
                          <a:effectLst/>
                        </a:rPr>
                        <a:t>int</a:t>
                      </a:r>
                    </a:p>
                  </a:txBody>
                  <a:tcPr marL="60960" marR="60960" marT="60960" marB="60960" anchor="ctr"/>
                </a:tc>
                <a:tc>
                  <a:txBody>
                    <a:bodyPr/>
                    <a:lstStyle/>
                    <a:p>
                      <a:pPr algn="l">
                        <a:buNone/>
                      </a:pPr>
                      <a:r>
                        <a:rPr lang="en-IN">
                          <a:effectLst/>
                        </a:rPr>
                        <a:t>Integer numbers</a:t>
                      </a:r>
                    </a:p>
                  </a:txBody>
                  <a:tcPr marL="60960" marR="60960" marT="60960" marB="60960" anchor="ctr"/>
                </a:tc>
                <a:tc>
                  <a:txBody>
                    <a:bodyPr/>
                    <a:lstStyle/>
                    <a:p>
                      <a:pPr algn="l">
                        <a:buNone/>
                      </a:pPr>
                      <a:r>
                        <a:rPr lang="en-IN" dirty="0">
                          <a:effectLst/>
                        </a:rPr>
                        <a:t>4 bytes</a:t>
                      </a:r>
                    </a:p>
                  </a:txBody>
                  <a:tcPr marL="60960" marR="60960" marT="60960" marB="60960" anchor="ctr"/>
                </a:tc>
                <a:tc>
                  <a:txBody>
                    <a:bodyPr/>
                    <a:lstStyle/>
                    <a:p>
                      <a:pPr algn="l">
                        <a:buNone/>
                      </a:pPr>
                      <a:r>
                        <a:rPr lang="en-IN">
                          <a:effectLst/>
                        </a:rPr>
                        <a:t>100</a:t>
                      </a:r>
                    </a:p>
                  </a:txBody>
                  <a:tcPr marL="60960" marR="60960" marT="60960" marB="60960" anchor="ctr"/>
                </a:tc>
                <a:extLst>
                  <a:ext uri="{0D108BD9-81ED-4DB2-BD59-A6C34878D82A}">
                    <a16:rowId xmlns:a16="http://schemas.microsoft.com/office/drawing/2014/main" val="3014434305"/>
                  </a:ext>
                </a:extLst>
              </a:tr>
              <a:tr h="0">
                <a:tc>
                  <a:txBody>
                    <a:bodyPr/>
                    <a:lstStyle/>
                    <a:p>
                      <a:pPr algn="l">
                        <a:buNone/>
                      </a:pPr>
                      <a:r>
                        <a:rPr lang="en-IN" dirty="0">
                          <a:effectLst/>
                        </a:rPr>
                        <a:t>float</a:t>
                      </a:r>
                    </a:p>
                  </a:txBody>
                  <a:tcPr marL="60960" marR="60960" marT="60960" marB="60960" anchor="ctr"/>
                </a:tc>
                <a:tc>
                  <a:txBody>
                    <a:bodyPr/>
                    <a:lstStyle/>
                    <a:p>
                      <a:pPr algn="l">
                        <a:buNone/>
                      </a:pPr>
                      <a:r>
                        <a:rPr lang="en-IN">
                          <a:effectLst/>
                        </a:rPr>
                        <a:t>Decimal numbers (single precision)</a:t>
                      </a:r>
                    </a:p>
                  </a:txBody>
                  <a:tcPr marL="60960" marR="60960" marT="60960" marB="60960" anchor="ctr"/>
                </a:tc>
                <a:tc>
                  <a:txBody>
                    <a:bodyPr/>
                    <a:lstStyle/>
                    <a:p>
                      <a:pPr algn="l">
                        <a:buNone/>
                      </a:pPr>
                      <a:r>
                        <a:rPr lang="en-IN">
                          <a:effectLst/>
                        </a:rPr>
                        <a:t>4 bytes</a:t>
                      </a:r>
                    </a:p>
                  </a:txBody>
                  <a:tcPr marL="60960" marR="60960" marT="60960" marB="60960" anchor="ctr"/>
                </a:tc>
                <a:tc>
                  <a:txBody>
                    <a:bodyPr/>
                    <a:lstStyle/>
                    <a:p>
                      <a:pPr algn="l">
                        <a:buNone/>
                      </a:pPr>
                      <a:r>
                        <a:rPr lang="en-IN" dirty="0">
                          <a:effectLst/>
                        </a:rPr>
                        <a:t>3.14f</a:t>
                      </a:r>
                    </a:p>
                  </a:txBody>
                  <a:tcPr marL="60960" marR="60960" marT="60960" marB="60960" anchor="ctr"/>
                </a:tc>
                <a:extLst>
                  <a:ext uri="{0D108BD9-81ED-4DB2-BD59-A6C34878D82A}">
                    <a16:rowId xmlns:a16="http://schemas.microsoft.com/office/drawing/2014/main" val="1348474943"/>
                  </a:ext>
                </a:extLst>
              </a:tr>
              <a:tr h="0">
                <a:tc>
                  <a:txBody>
                    <a:bodyPr/>
                    <a:lstStyle/>
                    <a:p>
                      <a:pPr algn="l">
                        <a:buNone/>
                      </a:pPr>
                      <a:r>
                        <a:rPr lang="en-IN">
                          <a:effectLst/>
                        </a:rPr>
                        <a:t>double</a:t>
                      </a:r>
                    </a:p>
                  </a:txBody>
                  <a:tcPr marL="60960" marR="60960" marT="60960" marB="60960" anchor="ctr"/>
                </a:tc>
                <a:tc>
                  <a:txBody>
                    <a:bodyPr/>
                    <a:lstStyle/>
                    <a:p>
                      <a:pPr algn="l">
                        <a:buNone/>
                      </a:pPr>
                      <a:r>
                        <a:rPr lang="en-IN" dirty="0">
                          <a:effectLst/>
                        </a:rPr>
                        <a:t>Decimal numbers (double precision)</a:t>
                      </a:r>
                    </a:p>
                  </a:txBody>
                  <a:tcPr marL="60960" marR="60960" marT="60960" marB="60960" anchor="ctr"/>
                </a:tc>
                <a:tc>
                  <a:txBody>
                    <a:bodyPr/>
                    <a:lstStyle/>
                    <a:p>
                      <a:pPr algn="l">
                        <a:buNone/>
                      </a:pPr>
                      <a:r>
                        <a:rPr lang="en-IN">
                          <a:effectLst/>
                        </a:rPr>
                        <a:t>8 bytes</a:t>
                      </a:r>
                    </a:p>
                  </a:txBody>
                  <a:tcPr marL="60960" marR="60960" marT="60960" marB="60960" anchor="ctr"/>
                </a:tc>
                <a:tc>
                  <a:txBody>
                    <a:bodyPr/>
                    <a:lstStyle/>
                    <a:p>
                      <a:pPr algn="l">
                        <a:buNone/>
                      </a:pPr>
                      <a:r>
                        <a:rPr lang="en-IN" dirty="0">
                          <a:effectLst/>
                        </a:rPr>
                        <a:t>3.14159</a:t>
                      </a:r>
                    </a:p>
                  </a:txBody>
                  <a:tcPr marL="60960" marR="60960" marT="60960" marB="60960" anchor="ctr"/>
                </a:tc>
                <a:extLst>
                  <a:ext uri="{0D108BD9-81ED-4DB2-BD59-A6C34878D82A}">
                    <a16:rowId xmlns:a16="http://schemas.microsoft.com/office/drawing/2014/main" val="806428873"/>
                  </a:ext>
                </a:extLst>
              </a:tr>
              <a:tr h="0">
                <a:tc>
                  <a:txBody>
                    <a:bodyPr/>
                    <a:lstStyle/>
                    <a:p>
                      <a:pPr algn="l">
                        <a:buNone/>
                      </a:pPr>
                      <a:r>
                        <a:rPr lang="en-IN">
                          <a:effectLst/>
                        </a:rPr>
                        <a:t>char</a:t>
                      </a:r>
                    </a:p>
                  </a:txBody>
                  <a:tcPr marL="60960" marR="60960" marT="60960" marB="60960" anchor="ctr"/>
                </a:tc>
                <a:tc>
                  <a:txBody>
                    <a:bodyPr/>
                    <a:lstStyle/>
                    <a:p>
                      <a:pPr algn="l">
                        <a:buNone/>
                      </a:pPr>
                      <a:r>
                        <a:rPr lang="en-IN">
                          <a:effectLst/>
                        </a:rPr>
                        <a:t>Single character</a:t>
                      </a:r>
                    </a:p>
                  </a:txBody>
                  <a:tcPr marL="60960" marR="60960" marT="60960" marB="60960" anchor="ctr"/>
                </a:tc>
                <a:tc>
                  <a:txBody>
                    <a:bodyPr/>
                    <a:lstStyle/>
                    <a:p>
                      <a:pPr algn="l">
                        <a:buNone/>
                      </a:pPr>
                      <a:r>
                        <a:rPr lang="en-IN">
                          <a:effectLst/>
                        </a:rPr>
                        <a:t>2 bytes</a:t>
                      </a:r>
                    </a:p>
                  </a:txBody>
                  <a:tcPr marL="60960" marR="60960" marT="60960" marB="60960" anchor="ctr"/>
                </a:tc>
                <a:tc>
                  <a:txBody>
                    <a:bodyPr/>
                    <a:lstStyle/>
                    <a:p>
                      <a:pPr algn="l">
                        <a:buNone/>
                      </a:pPr>
                      <a:r>
                        <a:rPr lang="en-IN">
                          <a:effectLst/>
                        </a:rPr>
                        <a:t>'A'</a:t>
                      </a:r>
                    </a:p>
                  </a:txBody>
                  <a:tcPr marL="60960" marR="60960" marT="60960" marB="60960" anchor="ctr"/>
                </a:tc>
                <a:extLst>
                  <a:ext uri="{0D108BD9-81ED-4DB2-BD59-A6C34878D82A}">
                    <a16:rowId xmlns:a16="http://schemas.microsoft.com/office/drawing/2014/main" val="2392762198"/>
                  </a:ext>
                </a:extLst>
              </a:tr>
              <a:tr h="0">
                <a:tc>
                  <a:txBody>
                    <a:bodyPr/>
                    <a:lstStyle/>
                    <a:p>
                      <a:pPr algn="l">
                        <a:buNone/>
                      </a:pPr>
                      <a:r>
                        <a:rPr lang="en-IN">
                          <a:effectLst/>
                        </a:rPr>
                        <a:t>boolean</a:t>
                      </a:r>
                    </a:p>
                  </a:txBody>
                  <a:tcPr marL="60960" marR="60960" marT="60960" marB="60960" anchor="ctr"/>
                </a:tc>
                <a:tc>
                  <a:txBody>
                    <a:bodyPr/>
                    <a:lstStyle/>
                    <a:p>
                      <a:pPr algn="l">
                        <a:buNone/>
                      </a:pPr>
                      <a:r>
                        <a:rPr lang="en-IN">
                          <a:effectLst/>
                        </a:rPr>
                        <a:t>True or false values</a:t>
                      </a:r>
                    </a:p>
                  </a:txBody>
                  <a:tcPr marL="60960" marR="60960" marT="60960" marB="60960" anchor="ctr"/>
                </a:tc>
                <a:tc>
                  <a:txBody>
                    <a:bodyPr/>
                    <a:lstStyle/>
                    <a:p>
                      <a:pPr algn="l">
                        <a:buNone/>
                      </a:pPr>
                      <a:r>
                        <a:rPr lang="en-IN">
                          <a:effectLst/>
                        </a:rPr>
                        <a:t>1 bit (true/false)</a:t>
                      </a:r>
                    </a:p>
                  </a:txBody>
                  <a:tcPr marL="60960" marR="60960" marT="60960" marB="60960" anchor="ctr"/>
                </a:tc>
                <a:tc>
                  <a:txBody>
                    <a:bodyPr/>
                    <a:lstStyle/>
                    <a:p>
                      <a:pPr algn="l">
                        <a:buNone/>
                      </a:pPr>
                      <a:r>
                        <a:rPr lang="en-IN">
                          <a:effectLst/>
                        </a:rPr>
                        <a:t>true</a:t>
                      </a:r>
                    </a:p>
                  </a:txBody>
                  <a:tcPr marL="60960" marR="60960" marT="60960" marB="60960" anchor="ctr"/>
                </a:tc>
                <a:extLst>
                  <a:ext uri="{0D108BD9-81ED-4DB2-BD59-A6C34878D82A}">
                    <a16:rowId xmlns:a16="http://schemas.microsoft.com/office/drawing/2014/main" val="2288108659"/>
                  </a:ext>
                </a:extLst>
              </a:tr>
              <a:tr h="0">
                <a:tc>
                  <a:txBody>
                    <a:bodyPr/>
                    <a:lstStyle/>
                    <a:p>
                      <a:pPr algn="l">
                        <a:buNone/>
                      </a:pPr>
                      <a:r>
                        <a:rPr lang="en-IN" dirty="0">
                          <a:effectLst/>
                        </a:rPr>
                        <a:t>String</a:t>
                      </a:r>
                    </a:p>
                  </a:txBody>
                  <a:tcPr marL="60960" marR="60960" marT="60960" marB="60960" anchor="ctr"/>
                </a:tc>
                <a:tc>
                  <a:txBody>
                    <a:bodyPr/>
                    <a:lstStyle/>
                    <a:p>
                      <a:pPr algn="l">
                        <a:buNone/>
                      </a:pPr>
                      <a:r>
                        <a:rPr lang="en-IN">
                          <a:effectLst/>
                        </a:rPr>
                        <a:t>Group of characters (text)</a:t>
                      </a:r>
                    </a:p>
                  </a:txBody>
                  <a:tcPr marL="60960" marR="60960" marT="60960" marB="60960" anchor="ctr"/>
                </a:tc>
                <a:tc>
                  <a:txBody>
                    <a:bodyPr/>
                    <a:lstStyle/>
                    <a:p>
                      <a:pPr algn="l">
                        <a:buNone/>
                      </a:pPr>
                      <a:r>
                        <a:rPr lang="en-IN">
                          <a:effectLst/>
                        </a:rPr>
                        <a:t>Depends</a:t>
                      </a:r>
                    </a:p>
                  </a:txBody>
                  <a:tcPr marL="60960" marR="60960" marT="60960" marB="60960" anchor="ctr"/>
                </a:tc>
                <a:tc>
                  <a:txBody>
                    <a:bodyPr/>
                    <a:lstStyle/>
                    <a:p>
                      <a:pPr algn="l">
                        <a:buNone/>
                      </a:pPr>
                      <a:r>
                        <a:rPr lang="en-IN" dirty="0">
                          <a:effectLst/>
                        </a:rPr>
                        <a:t>"Hello"</a:t>
                      </a:r>
                    </a:p>
                  </a:txBody>
                  <a:tcPr marL="60960" marR="60960" marT="60960" marB="60960" anchor="ctr"/>
                </a:tc>
                <a:extLst>
                  <a:ext uri="{0D108BD9-81ED-4DB2-BD59-A6C34878D82A}">
                    <a16:rowId xmlns:a16="http://schemas.microsoft.com/office/drawing/2014/main" val="113028874"/>
                  </a:ext>
                </a:extLst>
              </a:tr>
            </a:tbl>
          </a:graphicData>
        </a:graphic>
      </p:graphicFrame>
    </p:spTree>
    <p:extLst>
      <p:ext uri="{BB962C8B-B14F-4D97-AF65-F5344CB8AC3E}">
        <p14:creationId xmlns:p14="http://schemas.microsoft.com/office/powerpoint/2010/main" val="40602838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6E9FF1-A6AA-0399-C8A1-63E0B3DF280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D3A2982-2533-796C-AACF-2D274BE88B00}"/>
              </a:ext>
            </a:extLst>
          </p:cNvPr>
          <p:cNvSpPr txBox="1"/>
          <p:nvPr/>
        </p:nvSpPr>
        <p:spPr>
          <a:xfrm>
            <a:off x="1013791" y="202960"/>
            <a:ext cx="8189843" cy="369332"/>
          </a:xfrm>
          <a:prstGeom prst="rect">
            <a:avLst/>
          </a:prstGeom>
          <a:noFill/>
        </p:spPr>
        <p:txBody>
          <a:bodyPr wrap="square">
            <a:spAutoFit/>
          </a:bodyPr>
          <a:lstStyle/>
          <a:p>
            <a:r>
              <a:rPr lang="en-IN" b="1" dirty="0"/>
              <a:t>1.5 Operators and expressions </a:t>
            </a:r>
          </a:p>
        </p:txBody>
      </p:sp>
      <p:sp>
        <p:nvSpPr>
          <p:cNvPr id="5" name="TextBox 4">
            <a:extLst>
              <a:ext uri="{FF2B5EF4-FFF2-40B4-BE49-F238E27FC236}">
                <a16:creationId xmlns:a16="http://schemas.microsoft.com/office/drawing/2014/main" id="{C61B39F3-3808-B686-5597-B2F8BFC77080}"/>
              </a:ext>
            </a:extLst>
          </p:cNvPr>
          <p:cNvSpPr txBox="1"/>
          <p:nvPr/>
        </p:nvSpPr>
        <p:spPr>
          <a:xfrm>
            <a:off x="894521" y="702510"/>
            <a:ext cx="8309113" cy="1477328"/>
          </a:xfrm>
          <a:prstGeom prst="rect">
            <a:avLst/>
          </a:prstGeom>
          <a:noFill/>
        </p:spPr>
        <p:txBody>
          <a:bodyPr wrap="square">
            <a:spAutoFit/>
          </a:bodyPr>
          <a:lstStyle/>
          <a:p>
            <a:pPr algn="l">
              <a:buNone/>
            </a:pPr>
            <a:r>
              <a:rPr lang="en-US" b="1" i="0" dirty="0">
                <a:effectLst/>
                <a:latin typeface="fkGrotesk"/>
              </a:rPr>
              <a:t>What are Operators?</a:t>
            </a:r>
          </a:p>
          <a:p>
            <a:pPr algn="l">
              <a:buNone/>
            </a:pPr>
            <a:r>
              <a:rPr lang="en-US" b="0" i="0" dirty="0">
                <a:effectLst/>
                <a:latin typeface="fkGroteskNeue"/>
              </a:rPr>
              <a:t>Operators are special symbols or characters in Java that perform operations on variables and values.</a:t>
            </a:r>
          </a:p>
          <a:p>
            <a:pPr algn="l">
              <a:buNone/>
            </a:pPr>
            <a:endParaRPr lang="en-US" b="0" i="0" dirty="0">
              <a:effectLst/>
              <a:latin typeface="fkGroteskNeue"/>
            </a:endParaRPr>
          </a:p>
          <a:p>
            <a:pPr algn="l">
              <a:buNone/>
            </a:pPr>
            <a:r>
              <a:rPr lang="en-US" b="0" i="0" dirty="0">
                <a:effectLst/>
                <a:latin typeface="fkGroteskNeue"/>
              </a:rPr>
              <a:t>For example, the </a:t>
            </a:r>
            <a:r>
              <a:rPr lang="en-US" b="0" i="0" dirty="0">
                <a:effectLst/>
                <a:latin typeface="berkeleyMono"/>
              </a:rPr>
              <a:t>+</a:t>
            </a:r>
            <a:r>
              <a:rPr lang="en-US" b="0" i="0" dirty="0">
                <a:effectLst/>
                <a:latin typeface="fkGroteskNeue"/>
              </a:rPr>
              <a:t> operator adds two numbers, and the </a:t>
            </a:r>
            <a:r>
              <a:rPr lang="en-US" b="0" i="0" dirty="0">
                <a:effectLst/>
                <a:latin typeface="berkeleyMono"/>
              </a:rPr>
              <a:t>*</a:t>
            </a:r>
            <a:r>
              <a:rPr lang="en-US" b="0" i="0" dirty="0">
                <a:effectLst/>
                <a:latin typeface="fkGroteskNeue"/>
              </a:rPr>
              <a:t> operator multiplies them.</a:t>
            </a:r>
          </a:p>
        </p:txBody>
      </p:sp>
      <p:sp>
        <p:nvSpPr>
          <p:cNvPr id="7" name="TextBox 6">
            <a:extLst>
              <a:ext uri="{FF2B5EF4-FFF2-40B4-BE49-F238E27FC236}">
                <a16:creationId xmlns:a16="http://schemas.microsoft.com/office/drawing/2014/main" id="{DA1CD9F0-BB92-CFB8-8424-B6B2A81EAAB4}"/>
              </a:ext>
            </a:extLst>
          </p:cNvPr>
          <p:cNvSpPr txBox="1"/>
          <p:nvPr/>
        </p:nvSpPr>
        <p:spPr>
          <a:xfrm>
            <a:off x="894520" y="2179838"/>
            <a:ext cx="8706679" cy="4247317"/>
          </a:xfrm>
          <a:prstGeom prst="rect">
            <a:avLst/>
          </a:prstGeom>
          <a:noFill/>
        </p:spPr>
        <p:txBody>
          <a:bodyPr wrap="square">
            <a:spAutoFit/>
          </a:bodyPr>
          <a:lstStyle/>
          <a:p>
            <a:pPr algn="l">
              <a:buNone/>
            </a:pPr>
            <a:r>
              <a:rPr lang="en-US" b="1" i="0" dirty="0">
                <a:effectLst/>
                <a:latin typeface="fkGrotesk"/>
              </a:rPr>
              <a:t>Types of Operators in Java</a:t>
            </a:r>
          </a:p>
          <a:p>
            <a:pPr algn="l">
              <a:buNone/>
            </a:pPr>
            <a:r>
              <a:rPr lang="en-US" b="0" i="0" dirty="0">
                <a:effectLst/>
                <a:latin typeface="fkGroteskNeue"/>
              </a:rPr>
              <a:t>Here are the main types of operators you should know:</a:t>
            </a:r>
          </a:p>
          <a:p>
            <a:pPr algn="l">
              <a:buNone/>
            </a:pPr>
            <a:endParaRPr lang="en-US" b="0" i="0" dirty="0">
              <a:effectLst/>
              <a:latin typeface="fkGroteskNeue"/>
            </a:endParaRPr>
          </a:p>
          <a:p>
            <a:pPr algn="l">
              <a:buFont typeface="+mj-lt"/>
              <a:buAutoNum type="arabicPeriod"/>
            </a:pPr>
            <a:r>
              <a:rPr lang="en-US" b="1" i="0" dirty="0">
                <a:effectLst/>
                <a:latin typeface="fkGroteskNeue"/>
              </a:rPr>
              <a:t>Arithmetic Operators</a:t>
            </a:r>
          </a:p>
          <a:p>
            <a:pPr marL="742950" lvl="1" indent="-285750" algn="l">
              <a:buFont typeface="+mj-lt"/>
              <a:buAutoNum type="arabicPeriod"/>
            </a:pPr>
            <a:r>
              <a:rPr lang="en-US" b="0" i="0" dirty="0">
                <a:effectLst/>
                <a:latin typeface="fkGroteskNeue"/>
              </a:rPr>
              <a:t>Perform calculations like addition, subtraction, multiplication, division, and modulus (remainder).</a:t>
            </a:r>
          </a:p>
          <a:p>
            <a:pPr marL="742950" lvl="1" indent="-285750" algn="l">
              <a:buFont typeface="+mj-lt"/>
              <a:buAutoNum type="arabicPeriod"/>
            </a:pPr>
            <a:r>
              <a:rPr lang="en-US" b="0" i="0" dirty="0">
                <a:effectLst/>
                <a:latin typeface="fkGroteskNeue"/>
              </a:rPr>
              <a:t>Symbols: </a:t>
            </a:r>
            <a:r>
              <a:rPr lang="en-US" b="0" i="0" dirty="0">
                <a:effectLst/>
                <a:latin typeface="berkeleyMono"/>
              </a:rPr>
              <a:t>+</a:t>
            </a:r>
            <a:r>
              <a:rPr lang="en-US" b="0" i="0" dirty="0">
                <a:effectLst/>
                <a:latin typeface="fkGroteskNeue"/>
              </a:rPr>
              <a:t>, </a:t>
            </a:r>
            <a:r>
              <a:rPr lang="en-US" b="0" i="0" dirty="0">
                <a:effectLst/>
                <a:latin typeface="berkeleyMono"/>
              </a:rPr>
              <a:t>-</a:t>
            </a:r>
            <a:r>
              <a:rPr lang="en-US" b="0" i="0" dirty="0">
                <a:effectLst/>
                <a:latin typeface="fkGroteskNeue"/>
              </a:rPr>
              <a:t>, </a:t>
            </a:r>
            <a:r>
              <a:rPr lang="en-US" b="0" i="0" dirty="0">
                <a:effectLst/>
                <a:latin typeface="berkeleyMono"/>
              </a:rPr>
              <a:t>*</a:t>
            </a:r>
            <a:r>
              <a:rPr lang="en-US" b="0" i="0" dirty="0">
                <a:effectLst/>
                <a:latin typeface="fkGroteskNeue"/>
              </a:rPr>
              <a:t>, </a:t>
            </a:r>
            <a:r>
              <a:rPr lang="en-US" b="0" i="0" dirty="0">
                <a:effectLst/>
                <a:latin typeface="berkeleyMono"/>
              </a:rPr>
              <a:t>/</a:t>
            </a:r>
            <a:r>
              <a:rPr lang="en-US" b="0" i="0" dirty="0">
                <a:effectLst/>
                <a:latin typeface="fkGroteskNeue"/>
              </a:rPr>
              <a:t>, </a:t>
            </a:r>
            <a:r>
              <a:rPr lang="en-US" b="0" i="0" dirty="0">
                <a:effectLst/>
                <a:latin typeface="berkeleyMono"/>
              </a:rPr>
              <a:t>%</a:t>
            </a:r>
          </a:p>
          <a:p>
            <a:pPr lvl="1" algn="l"/>
            <a:endParaRPr lang="en-US" b="0" i="0" dirty="0">
              <a:effectLst/>
              <a:latin typeface="fkGroteskNeue"/>
            </a:endParaRPr>
          </a:p>
          <a:p>
            <a:pPr algn="l">
              <a:buFont typeface="+mj-lt"/>
              <a:buAutoNum type="arabicPeriod"/>
            </a:pPr>
            <a:r>
              <a:rPr lang="en-US" b="1" i="0" dirty="0">
                <a:effectLst/>
                <a:latin typeface="fkGroteskNeue"/>
              </a:rPr>
              <a:t>Unary Operators</a:t>
            </a:r>
          </a:p>
          <a:p>
            <a:pPr marL="742950" lvl="1" indent="-285750" algn="l">
              <a:buFont typeface="+mj-lt"/>
              <a:buAutoNum type="arabicPeriod"/>
            </a:pPr>
            <a:r>
              <a:rPr lang="en-US" b="0" i="0" dirty="0">
                <a:effectLst/>
                <a:latin typeface="fkGroteskNeue"/>
              </a:rPr>
              <a:t>Work with a single operand to increase or decrease a value, or invert boolean.</a:t>
            </a:r>
          </a:p>
          <a:p>
            <a:pPr marL="742950" lvl="1" indent="-285750" algn="l">
              <a:buFont typeface="+mj-lt"/>
              <a:buAutoNum type="arabicPeriod"/>
            </a:pPr>
            <a:r>
              <a:rPr lang="en-US" b="0" i="0" dirty="0">
                <a:effectLst/>
                <a:latin typeface="fkGroteskNeue"/>
              </a:rPr>
              <a:t>Examples: </a:t>
            </a:r>
            <a:r>
              <a:rPr lang="en-US" b="0" i="0" dirty="0">
                <a:effectLst/>
                <a:latin typeface="berkeleyMono"/>
              </a:rPr>
              <a:t>++</a:t>
            </a:r>
            <a:r>
              <a:rPr lang="en-US" b="0" i="0" dirty="0">
                <a:effectLst/>
                <a:latin typeface="fkGroteskNeue"/>
              </a:rPr>
              <a:t> (increment), </a:t>
            </a:r>
            <a:r>
              <a:rPr lang="en-US" b="0" i="0" dirty="0">
                <a:effectLst/>
                <a:latin typeface="berkeleyMono"/>
              </a:rPr>
              <a:t>--</a:t>
            </a:r>
            <a:r>
              <a:rPr lang="en-US" b="0" i="0" dirty="0">
                <a:effectLst/>
                <a:latin typeface="fkGroteskNeue"/>
              </a:rPr>
              <a:t> (decrement), </a:t>
            </a:r>
            <a:r>
              <a:rPr lang="en-US" b="0" i="0" dirty="0">
                <a:effectLst/>
                <a:latin typeface="berkeleyMono"/>
              </a:rPr>
              <a:t>!</a:t>
            </a:r>
            <a:r>
              <a:rPr lang="en-US" b="0" i="0" dirty="0">
                <a:effectLst/>
                <a:latin typeface="fkGroteskNeue"/>
              </a:rPr>
              <a:t> (not)</a:t>
            </a:r>
          </a:p>
          <a:p>
            <a:pPr lvl="1" algn="l"/>
            <a:endParaRPr lang="en-US" b="0" i="0" dirty="0">
              <a:effectLst/>
              <a:latin typeface="fkGroteskNeue"/>
            </a:endParaRPr>
          </a:p>
          <a:p>
            <a:pPr algn="l">
              <a:buFont typeface="+mj-lt"/>
              <a:buAutoNum type="arabicPeriod"/>
            </a:pPr>
            <a:r>
              <a:rPr lang="en-US" b="1" i="0" dirty="0">
                <a:effectLst/>
                <a:latin typeface="fkGroteskNeue"/>
              </a:rPr>
              <a:t>Assignment Operators</a:t>
            </a:r>
          </a:p>
          <a:p>
            <a:pPr marL="742950" lvl="1" indent="-285750" algn="l">
              <a:buFont typeface="+mj-lt"/>
              <a:buAutoNum type="arabicPeriod"/>
            </a:pPr>
            <a:r>
              <a:rPr lang="en-US" b="0" i="0" dirty="0">
                <a:effectLst/>
                <a:latin typeface="fkGroteskNeue"/>
              </a:rPr>
              <a:t>Assign values to variables.</a:t>
            </a:r>
          </a:p>
          <a:p>
            <a:pPr marL="742950" lvl="1" indent="-285750" algn="l">
              <a:buFont typeface="+mj-lt"/>
              <a:buAutoNum type="arabicPeriod"/>
            </a:pPr>
            <a:r>
              <a:rPr lang="en-US" b="0" i="0" dirty="0">
                <a:effectLst/>
                <a:latin typeface="fkGroteskNeue"/>
              </a:rPr>
              <a:t>Example: </a:t>
            </a:r>
            <a:r>
              <a:rPr lang="en-US" b="0" i="0" dirty="0">
                <a:effectLst/>
                <a:latin typeface="berkeleyMono"/>
              </a:rPr>
              <a:t>=</a:t>
            </a:r>
            <a:r>
              <a:rPr lang="en-US" b="0" i="0" dirty="0">
                <a:effectLst/>
                <a:latin typeface="fkGroteskNeue"/>
              </a:rPr>
              <a:t>, </a:t>
            </a:r>
            <a:r>
              <a:rPr lang="en-US" b="0" i="0" dirty="0">
                <a:effectLst/>
                <a:latin typeface="berkeleyMono"/>
              </a:rPr>
              <a:t>+=</a:t>
            </a:r>
            <a:r>
              <a:rPr lang="en-US" b="0" i="0" dirty="0">
                <a:effectLst/>
                <a:latin typeface="fkGroteskNeue"/>
              </a:rPr>
              <a:t>, </a:t>
            </a:r>
            <a:r>
              <a:rPr lang="en-US" b="0" i="0" dirty="0">
                <a:effectLst/>
                <a:latin typeface="berkeleyMono"/>
              </a:rPr>
              <a:t>-=</a:t>
            </a:r>
            <a:r>
              <a:rPr lang="en-US" b="0" i="0" dirty="0">
                <a:effectLst/>
                <a:latin typeface="fkGroteskNeue"/>
              </a:rPr>
              <a:t>, </a:t>
            </a:r>
            <a:r>
              <a:rPr lang="en-US" b="0" i="0" dirty="0">
                <a:effectLst/>
                <a:latin typeface="berkeleyMono"/>
              </a:rPr>
              <a:t>*=</a:t>
            </a:r>
            <a:endParaRPr lang="en-US" b="0" i="0" dirty="0">
              <a:effectLst/>
              <a:latin typeface="fkGroteskNeue"/>
            </a:endParaRPr>
          </a:p>
        </p:txBody>
      </p:sp>
    </p:spTree>
    <p:extLst>
      <p:ext uri="{BB962C8B-B14F-4D97-AF65-F5344CB8AC3E}">
        <p14:creationId xmlns:p14="http://schemas.microsoft.com/office/powerpoint/2010/main" val="25744967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77D89C-E0BC-4D09-EC26-53E2A0F5948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22A3A16-3E2C-89B7-9FE1-19AFE05F402E}"/>
              </a:ext>
            </a:extLst>
          </p:cNvPr>
          <p:cNvSpPr txBox="1"/>
          <p:nvPr/>
        </p:nvSpPr>
        <p:spPr>
          <a:xfrm>
            <a:off x="1043609" y="220033"/>
            <a:ext cx="8279296" cy="4247317"/>
          </a:xfrm>
          <a:prstGeom prst="rect">
            <a:avLst/>
          </a:prstGeom>
          <a:noFill/>
        </p:spPr>
        <p:txBody>
          <a:bodyPr wrap="square">
            <a:spAutoFit/>
          </a:bodyPr>
          <a:lstStyle/>
          <a:p>
            <a:pPr algn="l"/>
            <a:r>
              <a:rPr lang="en-US" b="1" i="0" dirty="0">
                <a:effectLst/>
                <a:latin typeface="fkGroteskNeue"/>
              </a:rPr>
              <a:t>4.Relational Operators</a:t>
            </a:r>
          </a:p>
          <a:p>
            <a:pPr marL="742950" lvl="1" indent="-285750" algn="l">
              <a:buFont typeface="+mj-lt"/>
              <a:buAutoNum type="arabicPeriod"/>
            </a:pPr>
            <a:r>
              <a:rPr lang="en-US" b="0" i="0" dirty="0">
                <a:effectLst/>
                <a:latin typeface="fkGroteskNeue"/>
              </a:rPr>
              <a:t>Compare two values, result is true or false.</a:t>
            </a:r>
          </a:p>
          <a:p>
            <a:pPr marL="742950" lvl="1" indent="-285750" algn="l">
              <a:buFont typeface="+mj-lt"/>
              <a:buAutoNum type="arabicPeriod"/>
            </a:pPr>
            <a:r>
              <a:rPr lang="en-US" b="0" i="0" dirty="0">
                <a:effectLst/>
                <a:latin typeface="fkGroteskNeue"/>
              </a:rPr>
              <a:t>Examples: </a:t>
            </a:r>
            <a:r>
              <a:rPr lang="en-US" b="0" i="0" dirty="0">
                <a:effectLst/>
                <a:latin typeface="berkeleyMono"/>
              </a:rPr>
              <a:t>==</a:t>
            </a:r>
            <a:r>
              <a:rPr lang="en-US" b="0" i="0" dirty="0">
                <a:effectLst/>
                <a:latin typeface="fkGroteskNeue"/>
              </a:rPr>
              <a:t>, </a:t>
            </a:r>
            <a:r>
              <a:rPr lang="en-US" b="0" i="0" dirty="0">
                <a:effectLst/>
                <a:latin typeface="berkeleyMono"/>
              </a:rPr>
              <a:t>!=</a:t>
            </a:r>
            <a:r>
              <a:rPr lang="en-US" b="0" i="0" dirty="0">
                <a:effectLst/>
                <a:latin typeface="fkGroteskNeue"/>
              </a:rPr>
              <a:t>, </a:t>
            </a:r>
            <a:r>
              <a:rPr lang="en-US" b="0" i="0" dirty="0">
                <a:effectLst/>
                <a:latin typeface="berkeleyMono"/>
              </a:rPr>
              <a:t>&gt;</a:t>
            </a:r>
            <a:r>
              <a:rPr lang="en-US" b="0" i="0" dirty="0">
                <a:effectLst/>
                <a:latin typeface="fkGroteskNeue"/>
              </a:rPr>
              <a:t>, </a:t>
            </a:r>
            <a:r>
              <a:rPr lang="en-US" b="0" i="0" dirty="0">
                <a:effectLst/>
                <a:latin typeface="berkeleyMono"/>
              </a:rPr>
              <a:t>&lt;</a:t>
            </a:r>
            <a:r>
              <a:rPr lang="en-US" b="0" i="0" dirty="0">
                <a:effectLst/>
                <a:latin typeface="fkGroteskNeue"/>
              </a:rPr>
              <a:t>, </a:t>
            </a:r>
            <a:r>
              <a:rPr lang="en-US" b="0" i="0" dirty="0">
                <a:effectLst/>
                <a:latin typeface="berkeleyMono"/>
              </a:rPr>
              <a:t>&gt;=</a:t>
            </a:r>
            <a:r>
              <a:rPr lang="en-US" b="0" i="0" dirty="0">
                <a:effectLst/>
                <a:latin typeface="fkGroteskNeue"/>
              </a:rPr>
              <a:t>, </a:t>
            </a:r>
            <a:r>
              <a:rPr lang="en-US" b="0" i="0" dirty="0">
                <a:effectLst/>
                <a:latin typeface="berkeleyMono"/>
              </a:rPr>
              <a:t>&lt;=,</a:t>
            </a:r>
          </a:p>
          <a:p>
            <a:pPr lvl="1" algn="l"/>
            <a:endParaRPr lang="en-US" b="0" i="0" dirty="0">
              <a:effectLst/>
              <a:latin typeface="fkGroteskNeue"/>
            </a:endParaRPr>
          </a:p>
          <a:p>
            <a:pPr algn="l"/>
            <a:r>
              <a:rPr lang="en-US" b="1" i="0" dirty="0">
                <a:effectLst/>
                <a:latin typeface="fkGroteskNeue"/>
              </a:rPr>
              <a:t>5. Logical Operators</a:t>
            </a:r>
          </a:p>
          <a:p>
            <a:pPr marL="742950" lvl="1" indent="-285750" algn="l">
              <a:buFont typeface="+mj-lt"/>
              <a:buAutoNum type="arabicPeriod"/>
            </a:pPr>
            <a:r>
              <a:rPr lang="en-US" b="0" i="0" dirty="0">
                <a:effectLst/>
                <a:latin typeface="fkGroteskNeue"/>
              </a:rPr>
              <a:t>Combine multiple boolean expressions.</a:t>
            </a:r>
          </a:p>
          <a:p>
            <a:pPr marL="742950" lvl="1" indent="-285750" algn="l">
              <a:buFont typeface="+mj-lt"/>
              <a:buAutoNum type="arabicPeriod"/>
            </a:pPr>
            <a:r>
              <a:rPr lang="en-US" b="0" i="0" dirty="0">
                <a:effectLst/>
                <a:latin typeface="fkGroteskNeue"/>
              </a:rPr>
              <a:t>Examples: </a:t>
            </a:r>
            <a:r>
              <a:rPr lang="en-US" b="0" i="0" dirty="0">
                <a:effectLst/>
                <a:latin typeface="berkeleyMono"/>
              </a:rPr>
              <a:t>&amp;&amp;</a:t>
            </a:r>
            <a:r>
              <a:rPr lang="en-US" b="0" i="0" dirty="0">
                <a:effectLst/>
                <a:latin typeface="fkGroteskNeue"/>
              </a:rPr>
              <a:t> (and), </a:t>
            </a:r>
            <a:r>
              <a:rPr lang="en-US" b="0" i="0" dirty="0">
                <a:effectLst/>
                <a:latin typeface="berkeleyMono"/>
              </a:rPr>
              <a:t>||</a:t>
            </a:r>
            <a:r>
              <a:rPr lang="en-US" b="0" i="0" dirty="0">
                <a:effectLst/>
                <a:latin typeface="fkGroteskNeue"/>
              </a:rPr>
              <a:t> (or), </a:t>
            </a:r>
            <a:r>
              <a:rPr lang="en-US" b="0" i="0" dirty="0">
                <a:effectLst/>
                <a:latin typeface="berkeleyMono"/>
              </a:rPr>
              <a:t>!</a:t>
            </a:r>
            <a:r>
              <a:rPr lang="en-US" b="0" i="0" dirty="0">
                <a:effectLst/>
                <a:latin typeface="fkGroteskNeue"/>
              </a:rPr>
              <a:t> (not)</a:t>
            </a:r>
          </a:p>
          <a:p>
            <a:pPr lvl="1" algn="l"/>
            <a:endParaRPr lang="en-US" b="0" i="0" dirty="0">
              <a:effectLst/>
              <a:latin typeface="fkGroteskNeue"/>
            </a:endParaRPr>
          </a:p>
          <a:p>
            <a:pPr algn="l"/>
            <a:r>
              <a:rPr lang="en-US" b="1" dirty="0">
                <a:latin typeface="fkGroteskNeue"/>
              </a:rPr>
              <a:t>6. </a:t>
            </a:r>
            <a:r>
              <a:rPr lang="en-US" b="1" i="0" dirty="0">
                <a:effectLst/>
                <a:latin typeface="fkGroteskNeue"/>
              </a:rPr>
              <a:t>Ternary Operator</a:t>
            </a:r>
          </a:p>
          <a:p>
            <a:pPr marL="742950" lvl="1" indent="-285750" algn="l">
              <a:buFont typeface="+mj-lt"/>
              <a:buAutoNum type="arabicPeriod"/>
            </a:pPr>
            <a:r>
              <a:rPr lang="en-US" b="0" i="0" dirty="0">
                <a:effectLst/>
                <a:latin typeface="fkGroteskNeue"/>
              </a:rPr>
              <a:t>A shorthand for </a:t>
            </a:r>
            <a:r>
              <a:rPr lang="en-US" b="0" i="0" dirty="0">
                <a:effectLst/>
                <a:latin typeface="berkeleyMono"/>
              </a:rPr>
              <a:t>if-else</a:t>
            </a:r>
            <a:r>
              <a:rPr lang="en-US" b="0" i="0" dirty="0">
                <a:effectLst/>
                <a:latin typeface="fkGroteskNeue"/>
              </a:rPr>
              <a:t>.</a:t>
            </a:r>
          </a:p>
          <a:p>
            <a:pPr marL="742950" lvl="1" indent="-285750" algn="l">
              <a:buFont typeface="+mj-lt"/>
              <a:buAutoNum type="arabicPeriod"/>
            </a:pPr>
            <a:r>
              <a:rPr lang="en-US" b="0" i="0" dirty="0">
                <a:effectLst/>
                <a:latin typeface="fkGroteskNeue"/>
              </a:rPr>
              <a:t>Format: </a:t>
            </a:r>
            <a:r>
              <a:rPr lang="en-US" b="0" i="0" dirty="0">
                <a:effectLst/>
                <a:latin typeface="berkeleyMono"/>
              </a:rPr>
              <a:t>condition ? valueIfTrue : valueIfFalse</a:t>
            </a:r>
          </a:p>
          <a:p>
            <a:pPr lvl="1" algn="l"/>
            <a:endParaRPr lang="en-US" b="0" i="0" dirty="0">
              <a:effectLst/>
              <a:latin typeface="fkGroteskNeue"/>
            </a:endParaRPr>
          </a:p>
          <a:p>
            <a:pPr algn="l"/>
            <a:r>
              <a:rPr lang="en-US" b="1" i="0" dirty="0">
                <a:effectLst/>
                <a:latin typeface="fkGroteskNeue"/>
              </a:rPr>
              <a:t>8. Bitwise Operators</a:t>
            </a:r>
          </a:p>
          <a:p>
            <a:pPr marL="742950" lvl="1" indent="-285750" algn="l">
              <a:buFont typeface="+mj-lt"/>
              <a:buAutoNum type="arabicPeriod"/>
            </a:pPr>
            <a:r>
              <a:rPr lang="en-US" b="0" i="0" dirty="0">
                <a:effectLst/>
                <a:latin typeface="fkGroteskNeue"/>
              </a:rPr>
              <a:t>Operate on bits (0s and 1s) of integer values.</a:t>
            </a:r>
          </a:p>
          <a:p>
            <a:pPr marL="742950" lvl="1" indent="-285750" algn="l">
              <a:buFont typeface="+mj-lt"/>
              <a:buAutoNum type="arabicPeriod"/>
            </a:pPr>
            <a:r>
              <a:rPr lang="en-US" b="0" i="0" dirty="0">
                <a:effectLst/>
                <a:latin typeface="fkGroteskNeue"/>
              </a:rPr>
              <a:t>Examples: </a:t>
            </a:r>
            <a:r>
              <a:rPr lang="en-US" b="0" i="0" dirty="0">
                <a:effectLst/>
                <a:latin typeface="berkeleyMono"/>
              </a:rPr>
              <a:t>&amp;</a:t>
            </a:r>
            <a:r>
              <a:rPr lang="en-US" b="0" i="0" dirty="0">
                <a:effectLst/>
                <a:latin typeface="fkGroteskNeue"/>
              </a:rPr>
              <a:t>, </a:t>
            </a:r>
            <a:r>
              <a:rPr lang="en-US" b="0" i="0" dirty="0">
                <a:effectLst/>
                <a:latin typeface="berkeleyMono"/>
              </a:rPr>
              <a:t>|</a:t>
            </a:r>
            <a:r>
              <a:rPr lang="en-US" b="0" i="0" dirty="0">
                <a:effectLst/>
                <a:latin typeface="fkGroteskNeue"/>
              </a:rPr>
              <a:t>, </a:t>
            </a:r>
            <a:r>
              <a:rPr lang="en-US" b="0" i="0" dirty="0">
                <a:effectLst/>
                <a:latin typeface="berkeleyMono"/>
              </a:rPr>
              <a:t>^</a:t>
            </a:r>
            <a:r>
              <a:rPr lang="en-US" b="0" i="0" dirty="0">
                <a:effectLst/>
                <a:latin typeface="fkGroteskNeue"/>
              </a:rPr>
              <a:t>, </a:t>
            </a:r>
            <a:r>
              <a:rPr lang="en-US" b="0" i="0" dirty="0">
                <a:effectLst/>
                <a:latin typeface="berkeleyMono"/>
              </a:rPr>
              <a:t>~</a:t>
            </a:r>
            <a:r>
              <a:rPr lang="en-US" b="0" i="0" dirty="0">
                <a:effectLst/>
                <a:latin typeface="fkGroteskNeue"/>
              </a:rPr>
              <a:t>, </a:t>
            </a:r>
            <a:r>
              <a:rPr lang="en-US" b="0" i="0" dirty="0">
                <a:effectLst/>
                <a:latin typeface="berkeleyMono"/>
              </a:rPr>
              <a:t>&lt;&lt;</a:t>
            </a:r>
            <a:r>
              <a:rPr lang="en-US" b="0" i="0" dirty="0">
                <a:effectLst/>
                <a:latin typeface="fkGroteskNeue"/>
              </a:rPr>
              <a:t>, </a:t>
            </a:r>
            <a:r>
              <a:rPr lang="en-US" b="0" i="0" dirty="0">
                <a:effectLst/>
                <a:latin typeface="berkeleyMono"/>
              </a:rPr>
              <a:t>&gt;&gt;</a:t>
            </a:r>
            <a:endParaRPr lang="en-US" b="0" i="0" dirty="0">
              <a:effectLst/>
              <a:latin typeface="fkGroteskNeue"/>
            </a:endParaRPr>
          </a:p>
        </p:txBody>
      </p:sp>
    </p:spTree>
    <p:extLst>
      <p:ext uri="{BB962C8B-B14F-4D97-AF65-F5344CB8AC3E}">
        <p14:creationId xmlns:p14="http://schemas.microsoft.com/office/powerpoint/2010/main" val="18951910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695CB1-D1C0-F885-D2F5-A88FE6BD645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E31753E-F379-AC1F-8F39-70774ECEFB12}"/>
              </a:ext>
            </a:extLst>
          </p:cNvPr>
          <p:cNvSpPr txBox="1"/>
          <p:nvPr/>
        </p:nvSpPr>
        <p:spPr>
          <a:xfrm>
            <a:off x="1023729" y="184379"/>
            <a:ext cx="7971183" cy="369332"/>
          </a:xfrm>
          <a:prstGeom prst="rect">
            <a:avLst/>
          </a:prstGeom>
          <a:noFill/>
        </p:spPr>
        <p:txBody>
          <a:bodyPr wrap="square">
            <a:spAutoFit/>
          </a:bodyPr>
          <a:lstStyle/>
          <a:p>
            <a:pPr algn="l">
              <a:buNone/>
            </a:pPr>
            <a:r>
              <a:rPr lang="en-IN" b="1" i="0" dirty="0">
                <a:effectLst/>
                <a:latin typeface="fkGrotesk"/>
              </a:rPr>
              <a:t>Arithmetic Operators with Examples</a:t>
            </a:r>
          </a:p>
        </p:txBody>
      </p:sp>
      <p:graphicFrame>
        <p:nvGraphicFramePr>
          <p:cNvPr id="4" name="Table 3">
            <a:extLst>
              <a:ext uri="{FF2B5EF4-FFF2-40B4-BE49-F238E27FC236}">
                <a16:creationId xmlns:a16="http://schemas.microsoft.com/office/drawing/2014/main" id="{371BC42C-E800-64DD-6300-FBF75BD1DC54}"/>
              </a:ext>
            </a:extLst>
          </p:cNvPr>
          <p:cNvGraphicFramePr>
            <a:graphicFrameLocks noGrp="1"/>
          </p:cNvGraphicFramePr>
          <p:nvPr>
            <p:extLst>
              <p:ext uri="{D42A27DB-BD31-4B8C-83A1-F6EECF244321}">
                <p14:modId xmlns:p14="http://schemas.microsoft.com/office/powerpoint/2010/main" val="2584939964"/>
              </p:ext>
            </p:extLst>
          </p:nvPr>
        </p:nvGraphicFramePr>
        <p:xfrm>
          <a:off x="1023729" y="720016"/>
          <a:ext cx="7578071" cy="2377440"/>
        </p:xfrm>
        <a:graphic>
          <a:graphicData uri="http://schemas.openxmlformats.org/drawingml/2006/table">
            <a:tbl>
              <a:tblPr>
                <a:tableStyleId>{5940675A-B579-460E-94D1-54222C63F5DA}</a:tableStyleId>
              </a:tblPr>
              <a:tblGrid>
                <a:gridCol w="1192697">
                  <a:extLst>
                    <a:ext uri="{9D8B030D-6E8A-4147-A177-3AD203B41FA5}">
                      <a16:colId xmlns:a16="http://schemas.microsoft.com/office/drawing/2014/main" val="483423975"/>
                    </a:ext>
                  </a:extLst>
                </a:gridCol>
                <a:gridCol w="2494722">
                  <a:extLst>
                    <a:ext uri="{9D8B030D-6E8A-4147-A177-3AD203B41FA5}">
                      <a16:colId xmlns:a16="http://schemas.microsoft.com/office/drawing/2014/main" val="1012216519"/>
                    </a:ext>
                  </a:extLst>
                </a:gridCol>
                <a:gridCol w="2494722">
                  <a:extLst>
                    <a:ext uri="{9D8B030D-6E8A-4147-A177-3AD203B41FA5}">
                      <a16:colId xmlns:a16="http://schemas.microsoft.com/office/drawing/2014/main" val="2516505642"/>
                    </a:ext>
                  </a:extLst>
                </a:gridCol>
                <a:gridCol w="1395930">
                  <a:extLst>
                    <a:ext uri="{9D8B030D-6E8A-4147-A177-3AD203B41FA5}">
                      <a16:colId xmlns:a16="http://schemas.microsoft.com/office/drawing/2014/main" val="123094061"/>
                    </a:ext>
                  </a:extLst>
                </a:gridCol>
              </a:tblGrid>
              <a:tr h="0">
                <a:tc>
                  <a:txBody>
                    <a:bodyPr/>
                    <a:lstStyle/>
                    <a:p>
                      <a:pPr algn="l">
                        <a:buNone/>
                      </a:pPr>
                      <a:r>
                        <a:rPr lang="en-IN" b="1">
                          <a:effectLst/>
                        </a:rPr>
                        <a:t>Operator</a:t>
                      </a:r>
                    </a:p>
                  </a:txBody>
                  <a:tcPr marL="60960" marR="60960" marT="60960" marB="60960" anchor="ctr"/>
                </a:tc>
                <a:tc>
                  <a:txBody>
                    <a:bodyPr/>
                    <a:lstStyle/>
                    <a:p>
                      <a:pPr algn="l">
                        <a:buNone/>
                      </a:pPr>
                      <a:r>
                        <a:rPr lang="en-IN" b="1">
                          <a:effectLst/>
                        </a:rPr>
                        <a:t>Meaning</a:t>
                      </a:r>
                    </a:p>
                  </a:txBody>
                  <a:tcPr marL="60960" marR="60960" marT="60960" marB="60960" anchor="ctr"/>
                </a:tc>
                <a:tc>
                  <a:txBody>
                    <a:bodyPr/>
                    <a:lstStyle/>
                    <a:p>
                      <a:pPr algn="l">
                        <a:buNone/>
                      </a:pPr>
                      <a:r>
                        <a:rPr lang="en-IN" b="1">
                          <a:effectLst/>
                        </a:rPr>
                        <a:t>Example</a:t>
                      </a:r>
                    </a:p>
                  </a:txBody>
                  <a:tcPr marL="60960" marR="60960" marT="60960" marB="60960" anchor="ctr"/>
                </a:tc>
                <a:tc>
                  <a:txBody>
                    <a:bodyPr/>
                    <a:lstStyle/>
                    <a:p>
                      <a:pPr algn="l">
                        <a:buNone/>
                      </a:pPr>
                      <a:r>
                        <a:rPr lang="en-IN" b="1">
                          <a:effectLst/>
                        </a:rPr>
                        <a:t>Result</a:t>
                      </a:r>
                    </a:p>
                  </a:txBody>
                  <a:tcPr marL="60960" marR="60960" marT="60960" marB="60960" anchor="ctr"/>
                </a:tc>
                <a:extLst>
                  <a:ext uri="{0D108BD9-81ED-4DB2-BD59-A6C34878D82A}">
                    <a16:rowId xmlns:a16="http://schemas.microsoft.com/office/drawing/2014/main" val="3039509747"/>
                  </a:ext>
                </a:extLst>
              </a:tr>
              <a:tr h="0">
                <a:tc>
                  <a:txBody>
                    <a:bodyPr/>
                    <a:lstStyle/>
                    <a:p>
                      <a:pPr algn="l">
                        <a:buNone/>
                      </a:pPr>
                      <a:r>
                        <a:rPr lang="en-IN">
                          <a:effectLst/>
                        </a:rPr>
                        <a:t>+</a:t>
                      </a:r>
                    </a:p>
                  </a:txBody>
                  <a:tcPr marL="60960" marR="60960" marT="60960" marB="60960" anchor="ctr"/>
                </a:tc>
                <a:tc>
                  <a:txBody>
                    <a:bodyPr/>
                    <a:lstStyle/>
                    <a:p>
                      <a:pPr algn="l">
                        <a:buNone/>
                      </a:pPr>
                      <a:r>
                        <a:rPr lang="en-IN">
                          <a:effectLst/>
                        </a:rPr>
                        <a:t>Addition</a:t>
                      </a:r>
                    </a:p>
                  </a:txBody>
                  <a:tcPr marL="60960" marR="60960" marT="60960" marB="60960" anchor="ctr"/>
                </a:tc>
                <a:tc>
                  <a:txBody>
                    <a:bodyPr/>
                    <a:lstStyle/>
                    <a:p>
                      <a:pPr algn="l">
                        <a:buNone/>
                      </a:pPr>
                      <a:r>
                        <a:rPr lang="en-IN">
                          <a:effectLst/>
                        </a:rPr>
                        <a:t>5 + 3</a:t>
                      </a:r>
                    </a:p>
                  </a:txBody>
                  <a:tcPr marL="60960" marR="60960" marT="60960" marB="60960" anchor="ctr"/>
                </a:tc>
                <a:tc>
                  <a:txBody>
                    <a:bodyPr/>
                    <a:lstStyle/>
                    <a:p>
                      <a:pPr algn="l">
                        <a:buNone/>
                      </a:pPr>
                      <a:r>
                        <a:rPr lang="en-IN" dirty="0">
                          <a:effectLst/>
                        </a:rPr>
                        <a:t>8</a:t>
                      </a:r>
                    </a:p>
                  </a:txBody>
                  <a:tcPr marL="60960" marR="60960" marT="60960" marB="60960" anchor="ctr"/>
                </a:tc>
                <a:extLst>
                  <a:ext uri="{0D108BD9-81ED-4DB2-BD59-A6C34878D82A}">
                    <a16:rowId xmlns:a16="http://schemas.microsoft.com/office/drawing/2014/main" val="378748725"/>
                  </a:ext>
                </a:extLst>
              </a:tr>
              <a:tr h="0">
                <a:tc>
                  <a:txBody>
                    <a:bodyPr/>
                    <a:lstStyle/>
                    <a:p>
                      <a:pPr algn="l">
                        <a:buNone/>
                      </a:pPr>
                      <a:r>
                        <a:rPr lang="en-IN">
                          <a:effectLst/>
                        </a:rPr>
                        <a:t>-</a:t>
                      </a:r>
                    </a:p>
                  </a:txBody>
                  <a:tcPr marL="60960" marR="60960" marT="60960" marB="60960" anchor="ctr"/>
                </a:tc>
                <a:tc>
                  <a:txBody>
                    <a:bodyPr/>
                    <a:lstStyle/>
                    <a:p>
                      <a:pPr algn="l">
                        <a:buNone/>
                      </a:pPr>
                      <a:r>
                        <a:rPr lang="en-IN">
                          <a:effectLst/>
                        </a:rPr>
                        <a:t>Subtraction</a:t>
                      </a:r>
                    </a:p>
                  </a:txBody>
                  <a:tcPr marL="60960" marR="60960" marT="60960" marB="60960" anchor="ctr"/>
                </a:tc>
                <a:tc>
                  <a:txBody>
                    <a:bodyPr/>
                    <a:lstStyle/>
                    <a:p>
                      <a:pPr algn="l">
                        <a:buNone/>
                      </a:pPr>
                      <a:r>
                        <a:rPr lang="en-IN">
                          <a:effectLst/>
                        </a:rPr>
                        <a:t>5 - 3</a:t>
                      </a:r>
                    </a:p>
                  </a:txBody>
                  <a:tcPr marL="60960" marR="60960" marT="60960" marB="60960" anchor="ctr"/>
                </a:tc>
                <a:tc>
                  <a:txBody>
                    <a:bodyPr/>
                    <a:lstStyle/>
                    <a:p>
                      <a:pPr algn="l">
                        <a:buNone/>
                      </a:pPr>
                      <a:r>
                        <a:rPr lang="en-IN">
                          <a:effectLst/>
                        </a:rPr>
                        <a:t>2</a:t>
                      </a:r>
                    </a:p>
                  </a:txBody>
                  <a:tcPr marL="60960" marR="60960" marT="60960" marB="60960" anchor="ctr"/>
                </a:tc>
                <a:extLst>
                  <a:ext uri="{0D108BD9-81ED-4DB2-BD59-A6C34878D82A}">
                    <a16:rowId xmlns:a16="http://schemas.microsoft.com/office/drawing/2014/main" val="3883710161"/>
                  </a:ext>
                </a:extLst>
              </a:tr>
              <a:tr h="0">
                <a:tc>
                  <a:txBody>
                    <a:bodyPr/>
                    <a:lstStyle/>
                    <a:p>
                      <a:pPr algn="l">
                        <a:buNone/>
                      </a:pPr>
                      <a:r>
                        <a:rPr lang="en-IN">
                          <a:effectLst/>
                        </a:rPr>
                        <a:t>*</a:t>
                      </a:r>
                    </a:p>
                  </a:txBody>
                  <a:tcPr marL="60960" marR="60960" marT="60960" marB="60960" anchor="ctr"/>
                </a:tc>
                <a:tc>
                  <a:txBody>
                    <a:bodyPr/>
                    <a:lstStyle/>
                    <a:p>
                      <a:pPr algn="l">
                        <a:buNone/>
                      </a:pPr>
                      <a:r>
                        <a:rPr lang="en-IN" dirty="0">
                          <a:effectLst/>
                        </a:rPr>
                        <a:t>Multiplication</a:t>
                      </a:r>
                    </a:p>
                  </a:txBody>
                  <a:tcPr marL="60960" marR="60960" marT="60960" marB="60960" anchor="ctr"/>
                </a:tc>
                <a:tc>
                  <a:txBody>
                    <a:bodyPr/>
                    <a:lstStyle/>
                    <a:p>
                      <a:pPr algn="l">
                        <a:buNone/>
                      </a:pPr>
                      <a:r>
                        <a:rPr lang="en-IN">
                          <a:effectLst/>
                        </a:rPr>
                        <a:t>5 * 3</a:t>
                      </a:r>
                    </a:p>
                  </a:txBody>
                  <a:tcPr marL="60960" marR="60960" marT="60960" marB="60960" anchor="ctr"/>
                </a:tc>
                <a:tc>
                  <a:txBody>
                    <a:bodyPr/>
                    <a:lstStyle/>
                    <a:p>
                      <a:pPr algn="l">
                        <a:buNone/>
                      </a:pPr>
                      <a:r>
                        <a:rPr lang="en-IN">
                          <a:effectLst/>
                        </a:rPr>
                        <a:t>15</a:t>
                      </a:r>
                    </a:p>
                  </a:txBody>
                  <a:tcPr marL="60960" marR="60960" marT="60960" marB="60960" anchor="ctr"/>
                </a:tc>
                <a:extLst>
                  <a:ext uri="{0D108BD9-81ED-4DB2-BD59-A6C34878D82A}">
                    <a16:rowId xmlns:a16="http://schemas.microsoft.com/office/drawing/2014/main" val="753414643"/>
                  </a:ext>
                </a:extLst>
              </a:tr>
              <a:tr h="0">
                <a:tc>
                  <a:txBody>
                    <a:bodyPr/>
                    <a:lstStyle/>
                    <a:p>
                      <a:pPr algn="l">
                        <a:buNone/>
                      </a:pPr>
                      <a:r>
                        <a:rPr lang="en-IN">
                          <a:effectLst/>
                        </a:rPr>
                        <a:t>/</a:t>
                      </a:r>
                    </a:p>
                  </a:txBody>
                  <a:tcPr marL="60960" marR="60960" marT="60960" marB="60960" anchor="ctr"/>
                </a:tc>
                <a:tc>
                  <a:txBody>
                    <a:bodyPr/>
                    <a:lstStyle/>
                    <a:p>
                      <a:pPr algn="l">
                        <a:buNone/>
                      </a:pPr>
                      <a:r>
                        <a:rPr lang="en-IN">
                          <a:effectLst/>
                        </a:rPr>
                        <a:t>Division</a:t>
                      </a:r>
                    </a:p>
                  </a:txBody>
                  <a:tcPr marL="60960" marR="60960" marT="60960" marB="60960" anchor="ctr"/>
                </a:tc>
                <a:tc>
                  <a:txBody>
                    <a:bodyPr/>
                    <a:lstStyle/>
                    <a:p>
                      <a:pPr algn="l">
                        <a:buNone/>
                      </a:pPr>
                      <a:r>
                        <a:rPr lang="en-IN">
                          <a:effectLst/>
                        </a:rPr>
                        <a:t>5 / 3(integer division)</a:t>
                      </a:r>
                    </a:p>
                  </a:txBody>
                  <a:tcPr marL="60960" marR="60960" marT="60960" marB="60960" anchor="ctr"/>
                </a:tc>
                <a:tc>
                  <a:txBody>
                    <a:bodyPr/>
                    <a:lstStyle/>
                    <a:p>
                      <a:pPr algn="l">
                        <a:buNone/>
                      </a:pPr>
                      <a:r>
                        <a:rPr lang="en-IN">
                          <a:effectLst/>
                        </a:rPr>
                        <a:t>1</a:t>
                      </a:r>
                    </a:p>
                  </a:txBody>
                  <a:tcPr marL="60960" marR="60960" marT="60960" marB="60960" anchor="ctr"/>
                </a:tc>
                <a:extLst>
                  <a:ext uri="{0D108BD9-81ED-4DB2-BD59-A6C34878D82A}">
                    <a16:rowId xmlns:a16="http://schemas.microsoft.com/office/drawing/2014/main" val="2533576868"/>
                  </a:ext>
                </a:extLst>
              </a:tr>
              <a:tr h="0">
                <a:tc>
                  <a:txBody>
                    <a:bodyPr/>
                    <a:lstStyle/>
                    <a:p>
                      <a:pPr algn="l">
                        <a:buNone/>
                      </a:pPr>
                      <a:r>
                        <a:rPr lang="en-IN">
                          <a:effectLst/>
                        </a:rPr>
                        <a:t>%</a:t>
                      </a:r>
                    </a:p>
                  </a:txBody>
                  <a:tcPr marL="60960" marR="60960" marT="60960" marB="60960" anchor="ctr"/>
                </a:tc>
                <a:tc>
                  <a:txBody>
                    <a:bodyPr/>
                    <a:lstStyle/>
                    <a:p>
                      <a:pPr algn="l">
                        <a:buNone/>
                      </a:pPr>
                      <a:r>
                        <a:rPr lang="en-IN">
                          <a:effectLst/>
                        </a:rPr>
                        <a:t>Modulus (remainder)</a:t>
                      </a:r>
                    </a:p>
                  </a:txBody>
                  <a:tcPr marL="60960" marR="60960" marT="60960" marB="60960" anchor="ctr"/>
                </a:tc>
                <a:tc>
                  <a:txBody>
                    <a:bodyPr/>
                    <a:lstStyle/>
                    <a:p>
                      <a:pPr algn="l">
                        <a:buNone/>
                      </a:pPr>
                      <a:r>
                        <a:rPr lang="en-IN">
                          <a:effectLst/>
                        </a:rPr>
                        <a:t>5 % 3</a:t>
                      </a:r>
                    </a:p>
                  </a:txBody>
                  <a:tcPr marL="60960" marR="60960" marT="60960" marB="60960" anchor="ctr"/>
                </a:tc>
                <a:tc>
                  <a:txBody>
                    <a:bodyPr/>
                    <a:lstStyle/>
                    <a:p>
                      <a:pPr algn="l">
                        <a:buNone/>
                      </a:pPr>
                      <a:r>
                        <a:rPr lang="en-IN" dirty="0">
                          <a:effectLst/>
                        </a:rPr>
                        <a:t>2</a:t>
                      </a:r>
                    </a:p>
                  </a:txBody>
                  <a:tcPr marL="60960" marR="60960" marT="60960" marB="60960" anchor="ctr"/>
                </a:tc>
                <a:extLst>
                  <a:ext uri="{0D108BD9-81ED-4DB2-BD59-A6C34878D82A}">
                    <a16:rowId xmlns:a16="http://schemas.microsoft.com/office/drawing/2014/main" val="610166907"/>
                  </a:ext>
                </a:extLst>
              </a:tr>
            </a:tbl>
          </a:graphicData>
        </a:graphic>
      </p:graphicFrame>
      <p:sp>
        <p:nvSpPr>
          <p:cNvPr id="6" name="TextBox 5">
            <a:extLst>
              <a:ext uri="{FF2B5EF4-FFF2-40B4-BE49-F238E27FC236}">
                <a16:creationId xmlns:a16="http://schemas.microsoft.com/office/drawing/2014/main" id="{CF5D823C-0EFC-BFE8-41D7-5CE763F0B563}"/>
              </a:ext>
            </a:extLst>
          </p:cNvPr>
          <p:cNvSpPr txBox="1"/>
          <p:nvPr/>
        </p:nvSpPr>
        <p:spPr>
          <a:xfrm>
            <a:off x="854763" y="3263761"/>
            <a:ext cx="9064489" cy="646331"/>
          </a:xfrm>
          <a:prstGeom prst="rect">
            <a:avLst/>
          </a:prstGeom>
          <a:noFill/>
        </p:spPr>
        <p:txBody>
          <a:bodyPr wrap="square">
            <a:spAutoFit/>
          </a:bodyPr>
          <a:lstStyle/>
          <a:p>
            <a:pPr algn="l">
              <a:buNone/>
            </a:pPr>
            <a:r>
              <a:rPr lang="en-US" b="0" i="0" dirty="0">
                <a:effectLst/>
                <a:latin typeface="fkGroteskNeue"/>
              </a:rPr>
              <a:t>Note: Dividing integers truncates (drops) decimals. For floating-point division use </a:t>
            </a:r>
            <a:r>
              <a:rPr lang="en-US" b="0" i="0" dirty="0">
                <a:effectLst/>
                <a:latin typeface="berkeleyMono"/>
              </a:rPr>
              <a:t>float</a:t>
            </a:r>
            <a:r>
              <a:rPr lang="en-US" b="0" i="0" dirty="0">
                <a:effectLst/>
                <a:latin typeface="fkGroteskNeue"/>
              </a:rPr>
              <a:t> or </a:t>
            </a:r>
            <a:r>
              <a:rPr lang="en-US" b="0" i="0" dirty="0">
                <a:effectLst/>
                <a:latin typeface="berkeleyMono"/>
              </a:rPr>
              <a:t>double</a:t>
            </a:r>
            <a:r>
              <a:rPr lang="en-US" b="0" i="0" dirty="0">
                <a:effectLst/>
                <a:latin typeface="fkGroteskNeue"/>
              </a:rPr>
              <a:t>.</a:t>
            </a:r>
          </a:p>
        </p:txBody>
      </p:sp>
    </p:spTree>
    <p:extLst>
      <p:ext uri="{BB962C8B-B14F-4D97-AF65-F5344CB8AC3E}">
        <p14:creationId xmlns:p14="http://schemas.microsoft.com/office/powerpoint/2010/main" val="18626438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605A35-F5D6-CC63-79DE-9D4A672717E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8D66980-464A-9263-6AB3-5F761083EC50}"/>
              </a:ext>
            </a:extLst>
          </p:cNvPr>
          <p:cNvSpPr txBox="1"/>
          <p:nvPr/>
        </p:nvSpPr>
        <p:spPr>
          <a:xfrm>
            <a:off x="974034" y="174439"/>
            <a:ext cx="8150087" cy="369332"/>
          </a:xfrm>
          <a:prstGeom prst="rect">
            <a:avLst/>
          </a:prstGeom>
          <a:noFill/>
        </p:spPr>
        <p:txBody>
          <a:bodyPr wrap="square">
            <a:spAutoFit/>
          </a:bodyPr>
          <a:lstStyle/>
          <a:p>
            <a:pPr>
              <a:buNone/>
            </a:pPr>
            <a:r>
              <a:rPr lang="en-IN" b="1" dirty="0">
                <a:effectLst/>
                <a:latin typeface="fkGrotesk"/>
              </a:rPr>
              <a:t>Example Program</a:t>
            </a:r>
            <a:endParaRPr lang="en-IN" b="1" dirty="0"/>
          </a:p>
        </p:txBody>
      </p:sp>
      <p:sp>
        <p:nvSpPr>
          <p:cNvPr id="5" name="TextBox 4">
            <a:extLst>
              <a:ext uri="{FF2B5EF4-FFF2-40B4-BE49-F238E27FC236}">
                <a16:creationId xmlns:a16="http://schemas.microsoft.com/office/drawing/2014/main" id="{199B2D3B-CC2A-0697-0975-7B816D838691}"/>
              </a:ext>
            </a:extLst>
          </p:cNvPr>
          <p:cNvSpPr txBox="1"/>
          <p:nvPr/>
        </p:nvSpPr>
        <p:spPr>
          <a:xfrm>
            <a:off x="974033" y="716987"/>
            <a:ext cx="8249479" cy="5355312"/>
          </a:xfrm>
          <a:prstGeom prst="rect">
            <a:avLst/>
          </a:prstGeom>
          <a:noFill/>
        </p:spPr>
        <p:txBody>
          <a:bodyPr wrap="square">
            <a:spAutoFit/>
          </a:bodyPr>
          <a:lstStyle/>
          <a:p>
            <a:r>
              <a:rPr lang="en-IN" dirty="0"/>
              <a:t>public class OperatorsExample {</a:t>
            </a:r>
          </a:p>
          <a:p>
            <a:r>
              <a:rPr lang="en-IN" dirty="0"/>
              <a:t>  public static void main(String[] args) {</a:t>
            </a:r>
          </a:p>
          <a:p>
            <a:r>
              <a:rPr lang="en-IN" dirty="0"/>
              <a:t>    int a = 10;</a:t>
            </a:r>
          </a:p>
          <a:p>
            <a:r>
              <a:rPr lang="en-IN" dirty="0"/>
              <a:t>    int b = 3;</a:t>
            </a:r>
          </a:p>
          <a:p>
            <a:endParaRPr lang="en-IN" dirty="0"/>
          </a:p>
          <a:p>
            <a:r>
              <a:rPr lang="en-IN" dirty="0"/>
              <a:t>    System.out.println("a + b = " + (a + b));</a:t>
            </a:r>
          </a:p>
          <a:p>
            <a:r>
              <a:rPr lang="en-IN" dirty="0"/>
              <a:t>    System.out.println("a - b = " + (a - b));</a:t>
            </a:r>
          </a:p>
          <a:p>
            <a:r>
              <a:rPr lang="en-IN" dirty="0"/>
              <a:t>    System.out.println("a * b = " + (a * b));</a:t>
            </a:r>
          </a:p>
          <a:p>
            <a:r>
              <a:rPr lang="en-IN" dirty="0"/>
              <a:t>    System.out.println("a / b = " + (a / b));</a:t>
            </a:r>
          </a:p>
          <a:p>
            <a:r>
              <a:rPr lang="en-IN" dirty="0"/>
              <a:t>    System.out.println("a % b = " + (a % b));</a:t>
            </a:r>
          </a:p>
          <a:p>
            <a:r>
              <a:rPr lang="en-IN" dirty="0"/>
              <a:t>  }</a:t>
            </a:r>
          </a:p>
          <a:p>
            <a:r>
              <a:rPr lang="en-IN" dirty="0"/>
              <a:t>}</a:t>
            </a:r>
          </a:p>
          <a:p>
            <a:endParaRPr lang="en-IN" dirty="0"/>
          </a:p>
          <a:p>
            <a:r>
              <a:rPr lang="en-IN" b="1" dirty="0"/>
              <a:t>This will output:</a:t>
            </a:r>
          </a:p>
          <a:p>
            <a:r>
              <a:rPr lang="pt-BR" dirty="0"/>
              <a:t>a + b = 13</a:t>
            </a:r>
          </a:p>
          <a:p>
            <a:r>
              <a:rPr lang="pt-BR" dirty="0"/>
              <a:t>a - b = 7</a:t>
            </a:r>
          </a:p>
          <a:p>
            <a:r>
              <a:rPr lang="pt-BR" dirty="0"/>
              <a:t>a * b = 30</a:t>
            </a:r>
          </a:p>
          <a:p>
            <a:r>
              <a:rPr lang="pt-BR" dirty="0"/>
              <a:t>a / b = 3</a:t>
            </a:r>
          </a:p>
          <a:p>
            <a:r>
              <a:rPr lang="pt-BR" dirty="0"/>
              <a:t>a % b = 1</a:t>
            </a:r>
          </a:p>
        </p:txBody>
      </p:sp>
    </p:spTree>
    <p:extLst>
      <p:ext uri="{BB962C8B-B14F-4D97-AF65-F5344CB8AC3E}">
        <p14:creationId xmlns:p14="http://schemas.microsoft.com/office/powerpoint/2010/main" val="23714743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F981F2-F38D-C7B3-8FDE-08B020C32E9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272C555-8530-921A-CD54-4F9361284620}"/>
              </a:ext>
            </a:extLst>
          </p:cNvPr>
          <p:cNvSpPr txBox="1"/>
          <p:nvPr/>
        </p:nvSpPr>
        <p:spPr>
          <a:xfrm>
            <a:off x="864705" y="147216"/>
            <a:ext cx="8497956" cy="1477328"/>
          </a:xfrm>
          <a:prstGeom prst="rect">
            <a:avLst/>
          </a:prstGeom>
          <a:noFill/>
        </p:spPr>
        <p:txBody>
          <a:bodyPr wrap="square">
            <a:spAutoFit/>
          </a:bodyPr>
          <a:lstStyle/>
          <a:p>
            <a:pPr marL="285750" indent="-285750" algn="l">
              <a:buFont typeface="Wingdings" panose="05000000000000000000" pitchFamily="2" charset="2"/>
              <a:buChar char="§"/>
            </a:pPr>
            <a:r>
              <a:rPr lang="en-US" b="1" i="0" dirty="0">
                <a:effectLst/>
                <a:latin typeface="fkGrotesk"/>
              </a:rPr>
              <a:t>What are Expressions?</a:t>
            </a:r>
          </a:p>
          <a:p>
            <a:pPr algn="l">
              <a:buFont typeface="Arial" panose="020B0604020202020204" pitchFamily="34" charset="0"/>
              <a:buChar char="•"/>
            </a:pPr>
            <a:r>
              <a:rPr lang="en-US" b="0" i="0" dirty="0">
                <a:effectLst/>
                <a:latin typeface="fkGroteskNeue"/>
              </a:rPr>
              <a:t>An expression is a combination of variables, operators, and values that evaluates to a single result.</a:t>
            </a:r>
          </a:p>
          <a:p>
            <a:pPr algn="l">
              <a:buFont typeface="Arial" panose="020B0604020202020204" pitchFamily="34" charset="0"/>
              <a:buChar char="•"/>
            </a:pPr>
            <a:r>
              <a:rPr lang="en-US" b="1" i="0" dirty="0">
                <a:effectLst/>
                <a:latin typeface="fkGroteskNeue"/>
              </a:rPr>
              <a:t>For</a:t>
            </a:r>
            <a:r>
              <a:rPr lang="en-US" b="0" i="0" dirty="0">
                <a:effectLst/>
                <a:latin typeface="fkGroteskNeue"/>
              </a:rPr>
              <a:t> </a:t>
            </a:r>
            <a:r>
              <a:rPr lang="en-US" b="1" i="0" dirty="0">
                <a:effectLst/>
                <a:latin typeface="fkGroteskNeue"/>
              </a:rPr>
              <a:t>example</a:t>
            </a:r>
            <a:r>
              <a:rPr lang="en-US" b="0" i="0" dirty="0">
                <a:effectLst/>
                <a:latin typeface="fkGroteskNeue"/>
              </a:rPr>
              <a:t>, </a:t>
            </a:r>
            <a:r>
              <a:rPr lang="en-US" b="0" i="0" dirty="0">
                <a:effectLst/>
                <a:latin typeface="berkeleyMono"/>
              </a:rPr>
              <a:t>(a + b) * c</a:t>
            </a:r>
            <a:r>
              <a:rPr lang="en-US" b="0" i="0" dirty="0">
                <a:effectLst/>
                <a:latin typeface="fkGroteskNeue"/>
              </a:rPr>
              <a:t> is an expression; Java computes the value by following operator precedence.</a:t>
            </a:r>
          </a:p>
        </p:txBody>
      </p:sp>
    </p:spTree>
    <p:extLst>
      <p:ext uri="{BB962C8B-B14F-4D97-AF65-F5344CB8AC3E}">
        <p14:creationId xmlns:p14="http://schemas.microsoft.com/office/powerpoint/2010/main" val="35209614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57725-BF23-9EC9-D503-18564267DF9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DC3FD2D-6DC6-BA7C-2BCD-B2439EC388FB}"/>
              </a:ext>
            </a:extLst>
          </p:cNvPr>
          <p:cNvSpPr txBox="1"/>
          <p:nvPr/>
        </p:nvSpPr>
        <p:spPr>
          <a:xfrm>
            <a:off x="765312" y="252656"/>
            <a:ext cx="8587409" cy="369332"/>
          </a:xfrm>
          <a:prstGeom prst="rect">
            <a:avLst/>
          </a:prstGeom>
          <a:noFill/>
        </p:spPr>
        <p:txBody>
          <a:bodyPr wrap="square">
            <a:spAutoFit/>
          </a:bodyPr>
          <a:lstStyle/>
          <a:p>
            <a:r>
              <a:rPr lang="en-US" b="1" dirty="0"/>
              <a:t>1.6 Decision making and looping </a:t>
            </a:r>
            <a:endParaRPr lang="en-IN" b="1" dirty="0"/>
          </a:p>
        </p:txBody>
      </p:sp>
      <p:sp>
        <p:nvSpPr>
          <p:cNvPr id="5" name="TextBox 4">
            <a:extLst>
              <a:ext uri="{FF2B5EF4-FFF2-40B4-BE49-F238E27FC236}">
                <a16:creationId xmlns:a16="http://schemas.microsoft.com/office/drawing/2014/main" id="{4923DF7F-5DA1-B83E-7874-2CBD34C01B90}"/>
              </a:ext>
            </a:extLst>
          </p:cNvPr>
          <p:cNvSpPr txBox="1"/>
          <p:nvPr/>
        </p:nvSpPr>
        <p:spPr>
          <a:xfrm>
            <a:off x="834887" y="810544"/>
            <a:ext cx="8587408" cy="923330"/>
          </a:xfrm>
          <a:prstGeom prst="rect">
            <a:avLst/>
          </a:prstGeom>
          <a:noFill/>
        </p:spPr>
        <p:txBody>
          <a:bodyPr wrap="square">
            <a:spAutoFit/>
          </a:bodyPr>
          <a:lstStyle/>
          <a:p>
            <a:pPr algn="l">
              <a:buNone/>
            </a:pPr>
            <a:r>
              <a:rPr lang="en-US" b="1" i="0" dirty="0">
                <a:effectLst/>
                <a:latin typeface="fkGrotesk"/>
              </a:rPr>
              <a:t>Decision Making and Looping in Java</a:t>
            </a:r>
          </a:p>
          <a:p>
            <a:pPr algn="l">
              <a:buNone/>
            </a:pPr>
            <a:r>
              <a:rPr lang="en-US" b="0" i="0" dirty="0">
                <a:effectLst/>
                <a:latin typeface="fkGroteskNeue"/>
              </a:rPr>
              <a:t>Let’s explore how Java helps you make decisions and repeat actions with simple explanations and examples.</a:t>
            </a:r>
          </a:p>
        </p:txBody>
      </p:sp>
      <p:sp>
        <p:nvSpPr>
          <p:cNvPr id="7" name="TextBox 6">
            <a:extLst>
              <a:ext uri="{FF2B5EF4-FFF2-40B4-BE49-F238E27FC236}">
                <a16:creationId xmlns:a16="http://schemas.microsoft.com/office/drawing/2014/main" id="{D6936822-531D-0643-AF1B-B8D80BCBCED1}"/>
              </a:ext>
            </a:extLst>
          </p:cNvPr>
          <p:cNvSpPr txBox="1"/>
          <p:nvPr/>
        </p:nvSpPr>
        <p:spPr>
          <a:xfrm>
            <a:off x="834887" y="1779687"/>
            <a:ext cx="8319052" cy="5078313"/>
          </a:xfrm>
          <a:prstGeom prst="rect">
            <a:avLst/>
          </a:prstGeom>
          <a:noFill/>
        </p:spPr>
        <p:txBody>
          <a:bodyPr wrap="square">
            <a:spAutoFit/>
          </a:bodyPr>
          <a:lstStyle/>
          <a:p>
            <a:pPr algn="l">
              <a:buNone/>
            </a:pPr>
            <a:r>
              <a:rPr lang="en-US" b="1" i="0" dirty="0">
                <a:effectLst/>
                <a:latin typeface="fkGrotesk"/>
              </a:rPr>
              <a:t>1. Decision Making</a:t>
            </a:r>
          </a:p>
          <a:p>
            <a:pPr algn="l">
              <a:buNone/>
            </a:pPr>
            <a:r>
              <a:rPr lang="en-US" b="0" i="0" dirty="0">
                <a:effectLst/>
                <a:latin typeface="fkGroteskNeue"/>
              </a:rPr>
              <a:t>Decision making in Java is done using conditional statements. These statements let the program choose different actions based on conditions.</a:t>
            </a:r>
            <a:endParaRPr lang="en-US" dirty="0">
              <a:latin typeface="fkGroteskNeue"/>
            </a:endParaRPr>
          </a:p>
          <a:p>
            <a:pPr algn="l">
              <a:buNone/>
            </a:pPr>
            <a:endParaRPr lang="en-US" b="0" i="0" dirty="0">
              <a:effectLst/>
              <a:latin typeface="fkGroteskNeue"/>
            </a:endParaRPr>
          </a:p>
          <a:p>
            <a:pPr algn="l">
              <a:buNone/>
            </a:pPr>
            <a:r>
              <a:rPr lang="en-US" b="1" i="0" dirty="0">
                <a:effectLst/>
                <a:latin typeface="fkGrotesk"/>
              </a:rPr>
              <a:t>Common Decision Structures</a:t>
            </a:r>
          </a:p>
          <a:p>
            <a:pPr algn="l">
              <a:buFont typeface="Arial" panose="020B0604020202020204" pitchFamily="34" charset="0"/>
              <a:buChar char="•"/>
            </a:pPr>
            <a:r>
              <a:rPr lang="en-US" b="0" i="0" dirty="0">
                <a:effectLst/>
                <a:latin typeface="fkGroteskNeue"/>
              </a:rPr>
              <a:t>if statement: Executes a block of code if a condition is true.</a:t>
            </a:r>
          </a:p>
          <a:p>
            <a:pPr algn="l">
              <a:buFont typeface="Arial" panose="020B0604020202020204" pitchFamily="34" charset="0"/>
              <a:buChar char="•"/>
            </a:pPr>
            <a:r>
              <a:rPr lang="en-US" b="0" i="0" dirty="0">
                <a:effectLst/>
                <a:latin typeface="fkGroteskNeue"/>
              </a:rPr>
              <a:t>if-else statement: Executes one block if the condition is true, and another if it is false.</a:t>
            </a:r>
          </a:p>
          <a:p>
            <a:pPr algn="l">
              <a:buFont typeface="Arial" panose="020B0604020202020204" pitchFamily="34" charset="0"/>
              <a:buChar char="•"/>
            </a:pPr>
            <a:r>
              <a:rPr lang="en-US" b="0" i="0" dirty="0">
                <a:effectLst/>
                <a:latin typeface="fkGroteskNeue"/>
              </a:rPr>
              <a:t>if-else if-else ladder: Tests multiple conditions in order.</a:t>
            </a:r>
          </a:p>
          <a:p>
            <a:pPr algn="l">
              <a:buFont typeface="Arial" panose="020B0604020202020204" pitchFamily="34" charset="0"/>
              <a:buChar char="•"/>
            </a:pPr>
            <a:r>
              <a:rPr lang="en-US" b="0" i="0" dirty="0">
                <a:effectLst/>
                <a:latin typeface="fkGroteskNeue"/>
              </a:rPr>
              <a:t>nested if: An if or else block inside another if or else.</a:t>
            </a:r>
          </a:p>
          <a:p>
            <a:pPr algn="l"/>
            <a:endParaRPr lang="en-US" b="0" i="0" dirty="0">
              <a:effectLst/>
              <a:latin typeface="fkGroteskNeue"/>
            </a:endParaRPr>
          </a:p>
          <a:p>
            <a:pPr algn="l">
              <a:buNone/>
            </a:pPr>
            <a:r>
              <a:rPr lang="en-US" b="1" i="0" dirty="0">
                <a:effectLst/>
                <a:latin typeface="fkGrotesk"/>
              </a:rPr>
              <a:t>Syntax</a:t>
            </a:r>
            <a:r>
              <a:rPr lang="en-US" b="0" i="0" dirty="0">
                <a:effectLst/>
                <a:latin typeface="fkGrotesk"/>
              </a:rPr>
              <a:t>:</a:t>
            </a:r>
          </a:p>
          <a:p>
            <a:r>
              <a:rPr lang="en-US" dirty="0">
                <a:latin typeface="fkGrotesk"/>
              </a:rPr>
              <a:t>if (condition) {</a:t>
            </a:r>
          </a:p>
          <a:p>
            <a:r>
              <a:rPr lang="en-US" dirty="0">
                <a:latin typeface="fkGrotesk"/>
              </a:rPr>
              <a:t>  // code runs if condition is true</a:t>
            </a:r>
          </a:p>
          <a:p>
            <a:r>
              <a:rPr lang="en-US" dirty="0">
                <a:latin typeface="fkGrotesk"/>
              </a:rPr>
              <a:t>} else if (otherCondition) {</a:t>
            </a:r>
          </a:p>
          <a:p>
            <a:r>
              <a:rPr lang="en-US" dirty="0">
                <a:latin typeface="fkGrotesk"/>
              </a:rPr>
              <a:t>  // runs if first false and this true</a:t>
            </a:r>
          </a:p>
          <a:p>
            <a:r>
              <a:rPr lang="en-US" dirty="0">
                <a:latin typeface="fkGrotesk"/>
              </a:rPr>
              <a:t>} else {</a:t>
            </a:r>
          </a:p>
          <a:p>
            <a:r>
              <a:rPr lang="en-US" dirty="0">
                <a:latin typeface="fkGrotesk"/>
              </a:rPr>
              <a:t>  // runs if none above are true</a:t>
            </a:r>
          </a:p>
          <a:p>
            <a:r>
              <a:rPr lang="en-US" dirty="0">
                <a:latin typeface="fkGrotesk"/>
              </a:rPr>
              <a:t>}</a:t>
            </a:r>
          </a:p>
        </p:txBody>
      </p:sp>
    </p:spTree>
    <p:extLst>
      <p:ext uri="{BB962C8B-B14F-4D97-AF65-F5344CB8AC3E}">
        <p14:creationId xmlns:p14="http://schemas.microsoft.com/office/powerpoint/2010/main" val="22254454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F3D099-F9BB-F18F-17D9-0C397143CEF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FCDA748-D499-6D1E-5DCC-9134A0C2CF2A}"/>
              </a:ext>
            </a:extLst>
          </p:cNvPr>
          <p:cNvSpPr txBox="1"/>
          <p:nvPr/>
        </p:nvSpPr>
        <p:spPr>
          <a:xfrm>
            <a:off x="964095" y="104865"/>
            <a:ext cx="6102626" cy="369332"/>
          </a:xfrm>
          <a:prstGeom prst="rect">
            <a:avLst/>
          </a:prstGeom>
          <a:noFill/>
        </p:spPr>
        <p:txBody>
          <a:bodyPr wrap="square">
            <a:spAutoFit/>
          </a:bodyPr>
          <a:lstStyle/>
          <a:p>
            <a:pPr>
              <a:buNone/>
            </a:pPr>
            <a:r>
              <a:rPr lang="en-IN" b="1" dirty="0">
                <a:effectLst/>
                <a:latin typeface="fkGrotesk"/>
              </a:rPr>
              <a:t>Simple Example:</a:t>
            </a:r>
          </a:p>
        </p:txBody>
      </p:sp>
      <p:sp>
        <p:nvSpPr>
          <p:cNvPr id="5" name="TextBox 4">
            <a:extLst>
              <a:ext uri="{FF2B5EF4-FFF2-40B4-BE49-F238E27FC236}">
                <a16:creationId xmlns:a16="http://schemas.microsoft.com/office/drawing/2014/main" id="{35357A7D-3CFC-A8C2-CBF4-F841939524EB}"/>
              </a:ext>
            </a:extLst>
          </p:cNvPr>
          <p:cNvSpPr txBox="1"/>
          <p:nvPr/>
        </p:nvSpPr>
        <p:spPr>
          <a:xfrm>
            <a:off x="964095" y="615004"/>
            <a:ext cx="8169966" cy="2308324"/>
          </a:xfrm>
          <a:prstGeom prst="rect">
            <a:avLst/>
          </a:prstGeom>
          <a:noFill/>
        </p:spPr>
        <p:txBody>
          <a:bodyPr wrap="square">
            <a:spAutoFit/>
          </a:bodyPr>
          <a:lstStyle/>
          <a:p>
            <a:r>
              <a:rPr lang="en-IN" dirty="0"/>
              <a:t>int number = 10;</a:t>
            </a:r>
          </a:p>
          <a:p>
            <a:r>
              <a:rPr lang="en-IN" dirty="0"/>
              <a:t>if (number &gt; 0) {</a:t>
            </a:r>
          </a:p>
          <a:p>
            <a:r>
              <a:rPr lang="en-IN" dirty="0"/>
              <a:t>  System.out.println("Number is positive.");</a:t>
            </a:r>
          </a:p>
          <a:p>
            <a:r>
              <a:rPr lang="en-IN" dirty="0"/>
              <a:t>} else if (number == 0) {</a:t>
            </a:r>
          </a:p>
          <a:p>
            <a:r>
              <a:rPr lang="en-IN" dirty="0"/>
              <a:t>  System.out.println("Number is zero.");</a:t>
            </a:r>
          </a:p>
          <a:p>
            <a:r>
              <a:rPr lang="en-IN" dirty="0"/>
              <a:t>} else {</a:t>
            </a:r>
          </a:p>
          <a:p>
            <a:r>
              <a:rPr lang="en-IN" dirty="0"/>
              <a:t>  System.out.println("Number is negative.");</a:t>
            </a:r>
          </a:p>
          <a:p>
            <a:r>
              <a:rPr lang="en-IN" dirty="0"/>
              <a:t>}</a:t>
            </a:r>
          </a:p>
        </p:txBody>
      </p:sp>
      <p:sp>
        <p:nvSpPr>
          <p:cNvPr id="7" name="TextBox 6">
            <a:extLst>
              <a:ext uri="{FF2B5EF4-FFF2-40B4-BE49-F238E27FC236}">
                <a16:creationId xmlns:a16="http://schemas.microsoft.com/office/drawing/2014/main" id="{40023373-551D-1FC9-AE10-AA194E2A2B67}"/>
              </a:ext>
            </a:extLst>
          </p:cNvPr>
          <p:cNvSpPr txBox="1"/>
          <p:nvPr/>
        </p:nvSpPr>
        <p:spPr>
          <a:xfrm>
            <a:off x="964094" y="3064135"/>
            <a:ext cx="8458201" cy="2862322"/>
          </a:xfrm>
          <a:prstGeom prst="rect">
            <a:avLst/>
          </a:prstGeom>
          <a:noFill/>
        </p:spPr>
        <p:txBody>
          <a:bodyPr wrap="square">
            <a:spAutoFit/>
          </a:bodyPr>
          <a:lstStyle/>
          <a:p>
            <a:pPr>
              <a:buNone/>
            </a:pPr>
            <a:r>
              <a:rPr lang="en-US" b="1" dirty="0">
                <a:effectLst/>
                <a:latin typeface="fkGrotesk"/>
              </a:rPr>
              <a:t>2. Looping</a:t>
            </a:r>
          </a:p>
          <a:p>
            <a:pPr>
              <a:buNone/>
            </a:pPr>
            <a:r>
              <a:rPr lang="en-US" dirty="0">
                <a:effectLst/>
              </a:rPr>
              <a:t>Looping helps run the same code multiple times without rewriting it.</a:t>
            </a:r>
          </a:p>
          <a:p>
            <a:pPr>
              <a:buNone/>
            </a:pPr>
            <a:endParaRPr lang="en-US" b="0" dirty="0">
              <a:latin typeface="fkGrotesk"/>
            </a:endParaRPr>
          </a:p>
          <a:p>
            <a:pPr>
              <a:buNone/>
            </a:pPr>
            <a:r>
              <a:rPr lang="en-US" b="1" dirty="0">
                <a:effectLst/>
                <a:latin typeface="fkGrotesk"/>
              </a:rPr>
              <a:t>Types of loops in Java:</a:t>
            </a:r>
          </a:p>
          <a:p>
            <a:pPr>
              <a:buFont typeface="Arial" panose="020B0604020202020204" pitchFamily="34" charset="0"/>
              <a:buChar char="•"/>
            </a:pPr>
            <a:r>
              <a:rPr lang="en-US" b="0" dirty="0">
                <a:effectLst/>
              </a:rPr>
              <a:t>for loop</a:t>
            </a:r>
            <a:r>
              <a:rPr lang="en-US" dirty="0">
                <a:effectLst/>
              </a:rPr>
              <a:t>: Runs code a specific number of times.</a:t>
            </a:r>
          </a:p>
          <a:p>
            <a:pPr>
              <a:buFont typeface="Arial" panose="020B0604020202020204" pitchFamily="34" charset="0"/>
              <a:buChar char="•"/>
            </a:pPr>
            <a:r>
              <a:rPr lang="en-US" b="0" dirty="0">
                <a:effectLst/>
              </a:rPr>
              <a:t>while loop</a:t>
            </a:r>
            <a:r>
              <a:rPr lang="en-US" dirty="0">
                <a:effectLst/>
              </a:rPr>
              <a:t>: Runs code while a condition is true.</a:t>
            </a:r>
          </a:p>
          <a:p>
            <a:pPr>
              <a:buFont typeface="Arial" panose="020B0604020202020204" pitchFamily="34" charset="0"/>
              <a:buChar char="•"/>
            </a:pPr>
            <a:r>
              <a:rPr lang="en-US" b="0" dirty="0">
                <a:effectLst/>
              </a:rPr>
              <a:t>do-while loop</a:t>
            </a:r>
            <a:r>
              <a:rPr lang="en-US" dirty="0">
                <a:effectLst/>
              </a:rPr>
              <a:t>: Runs code at least once, and then repeats while condition is true.</a:t>
            </a:r>
          </a:p>
          <a:p>
            <a:pPr>
              <a:buNone/>
            </a:pPr>
            <a:endParaRPr lang="en-US" b="0" dirty="0">
              <a:latin typeface="fkGrotesk"/>
            </a:endParaRPr>
          </a:p>
          <a:p>
            <a:pPr>
              <a:buNone/>
            </a:pPr>
            <a:r>
              <a:rPr lang="en-US" b="1" dirty="0">
                <a:effectLst/>
                <a:latin typeface="fkGrotesk"/>
              </a:rPr>
              <a:t>Example of for loop:</a:t>
            </a:r>
          </a:p>
        </p:txBody>
      </p:sp>
    </p:spTree>
    <p:extLst>
      <p:ext uri="{BB962C8B-B14F-4D97-AF65-F5344CB8AC3E}">
        <p14:creationId xmlns:p14="http://schemas.microsoft.com/office/powerpoint/2010/main" val="12109654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75D155-4C5F-EC58-08E2-7AD249CAC41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4EFFFA0-12A9-7AB4-872A-DBDAC55EB1C4}"/>
              </a:ext>
            </a:extLst>
          </p:cNvPr>
          <p:cNvSpPr txBox="1"/>
          <p:nvPr/>
        </p:nvSpPr>
        <p:spPr>
          <a:xfrm>
            <a:off x="944216" y="154561"/>
            <a:ext cx="8090453" cy="923330"/>
          </a:xfrm>
          <a:prstGeom prst="rect">
            <a:avLst/>
          </a:prstGeom>
          <a:noFill/>
        </p:spPr>
        <p:txBody>
          <a:bodyPr wrap="square">
            <a:spAutoFit/>
          </a:bodyPr>
          <a:lstStyle/>
          <a:p>
            <a:r>
              <a:rPr lang="en-IN" dirty="0"/>
              <a:t>for (int </a:t>
            </a:r>
            <a:r>
              <a:rPr lang="en-IN" dirty="0" err="1"/>
              <a:t>i</a:t>
            </a:r>
            <a:r>
              <a:rPr lang="en-IN" dirty="0"/>
              <a:t> = 1; </a:t>
            </a:r>
            <a:r>
              <a:rPr lang="en-IN" dirty="0" err="1"/>
              <a:t>i</a:t>
            </a:r>
            <a:r>
              <a:rPr lang="en-IN" dirty="0"/>
              <a:t> &lt;= 5; </a:t>
            </a:r>
            <a:r>
              <a:rPr lang="en-IN" dirty="0" err="1"/>
              <a:t>i</a:t>
            </a:r>
            <a:r>
              <a:rPr lang="en-IN" dirty="0"/>
              <a:t>++) {</a:t>
            </a:r>
          </a:p>
          <a:p>
            <a:r>
              <a:rPr lang="en-IN" dirty="0"/>
              <a:t>  System.out.println("Count: " + </a:t>
            </a:r>
            <a:r>
              <a:rPr lang="en-IN" dirty="0" err="1"/>
              <a:t>i</a:t>
            </a:r>
            <a:r>
              <a:rPr lang="en-IN" dirty="0"/>
              <a:t>);</a:t>
            </a:r>
          </a:p>
          <a:p>
            <a:r>
              <a:rPr lang="en-IN" dirty="0"/>
              <a:t>}</a:t>
            </a:r>
          </a:p>
        </p:txBody>
      </p:sp>
      <p:sp>
        <p:nvSpPr>
          <p:cNvPr id="5" name="TextBox 4">
            <a:extLst>
              <a:ext uri="{FF2B5EF4-FFF2-40B4-BE49-F238E27FC236}">
                <a16:creationId xmlns:a16="http://schemas.microsoft.com/office/drawing/2014/main" id="{C6927146-6CF5-9080-58A7-44C6F8F7E4B6}"/>
              </a:ext>
            </a:extLst>
          </p:cNvPr>
          <p:cNvSpPr txBox="1"/>
          <p:nvPr/>
        </p:nvSpPr>
        <p:spPr>
          <a:xfrm>
            <a:off x="944216" y="1227987"/>
            <a:ext cx="6102626" cy="369332"/>
          </a:xfrm>
          <a:prstGeom prst="rect">
            <a:avLst/>
          </a:prstGeom>
          <a:noFill/>
        </p:spPr>
        <p:txBody>
          <a:bodyPr wrap="square">
            <a:spAutoFit/>
          </a:bodyPr>
          <a:lstStyle/>
          <a:p>
            <a:pPr>
              <a:buNone/>
            </a:pPr>
            <a:r>
              <a:rPr lang="en-IN" b="1" dirty="0">
                <a:effectLst/>
                <a:latin typeface="fkGrotesk"/>
              </a:rPr>
              <a:t>Example of while loop:</a:t>
            </a:r>
          </a:p>
        </p:txBody>
      </p:sp>
      <p:sp>
        <p:nvSpPr>
          <p:cNvPr id="7" name="TextBox 6">
            <a:extLst>
              <a:ext uri="{FF2B5EF4-FFF2-40B4-BE49-F238E27FC236}">
                <a16:creationId xmlns:a16="http://schemas.microsoft.com/office/drawing/2014/main" id="{42F67DD3-5B31-B34C-9F33-720AF57DA74C}"/>
              </a:ext>
            </a:extLst>
          </p:cNvPr>
          <p:cNvSpPr txBox="1"/>
          <p:nvPr/>
        </p:nvSpPr>
        <p:spPr>
          <a:xfrm>
            <a:off x="944216" y="1597319"/>
            <a:ext cx="6102626" cy="1477328"/>
          </a:xfrm>
          <a:prstGeom prst="rect">
            <a:avLst/>
          </a:prstGeom>
          <a:noFill/>
        </p:spPr>
        <p:txBody>
          <a:bodyPr wrap="square">
            <a:spAutoFit/>
          </a:bodyPr>
          <a:lstStyle/>
          <a:p>
            <a:r>
              <a:rPr lang="en-IN" dirty="0"/>
              <a:t>int </a:t>
            </a:r>
            <a:r>
              <a:rPr lang="en-IN" dirty="0" err="1"/>
              <a:t>i</a:t>
            </a:r>
            <a:r>
              <a:rPr lang="en-IN" dirty="0"/>
              <a:t> = 1;</a:t>
            </a:r>
          </a:p>
          <a:p>
            <a:r>
              <a:rPr lang="en-IN" dirty="0"/>
              <a:t>while(</a:t>
            </a:r>
            <a:r>
              <a:rPr lang="en-IN" dirty="0" err="1"/>
              <a:t>i</a:t>
            </a:r>
            <a:r>
              <a:rPr lang="en-IN" dirty="0"/>
              <a:t> &lt;= 5) {</a:t>
            </a:r>
          </a:p>
          <a:p>
            <a:r>
              <a:rPr lang="en-IN" dirty="0"/>
              <a:t>  System.out.println("Count: " + </a:t>
            </a:r>
            <a:r>
              <a:rPr lang="en-IN" dirty="0" err="1"/>
              <a:t>i</a:t>
            </a:r>
            <a:r>
              <a:rPr lang="en-IN" dirty="0"/>
              <a:t>);</a:t>
            </a:r>
          </a:p>
          <a:p>
            <a:r>
              <a:rPr lang="en-IN" dirty="0"/>
              <a:t>  </a:t>
            </a:r>
            <a:r>
              <a:rPr lang="en-IN" dirty="0" err="1"/>
              <a:t>i</a:t>
            </a:r>
            <a:r>
              <a:rPr lang="en-IN" dirty="0"/>
              <a:t>++;</a:t>
            </a:r>
          </a:p>
          <a:p>
            <a:r>
              <a:rPr lang="en-IN" dirty="0"/>
              <a:t>}</a:t>
            </a:r>
          </a:p>
        </p:txBody>
      </p:sp>
      <p:sp>
        <p:nvSpPr>
          <p:cNvPr id="9" name="TextBox 8">
            <a:extLst>
              <a:ext uri="{FF2B5EF4-FFF2-40B4-BE49-F238E27FC236}">
                <a16:creationId xmlns:a16="http://schemas.microsoft.com/office/drawing/2014/main" id="{1A4271CD-F359-8B27-0E22-C6E2821B17A9}"/>
              </a:ext>
            </a:extLst>
          </p:cNvPr>
          <p:cNvSpPr txBox="1"/>
          <p:nvPr/>
        </p:nvSpPr>
        <p:spPr>
          <a:xfrm>
            <a:off x="944216" y="3244334"/>
            <a:ext cx="6102626" cy="369332"/>
          </a:xfrm>
          <a:prstGeom prst="rect">
            <a:avLst/>
          </a:prstGeom>
          <a:noFill/>
        </p:spPr>
        <p:txBody>
          <a:bodyPr wrap="square">
            <a:spAutoFit/>
          </a:bodyPr>
          <a:lstStyle/>
          <a:p>
            <a:pPr>
              <a:buNone/>
            </a:pPr>
            <a:r>
              <a:rPr lang="en-IN" b="1" dirty="0">
                <a:effectLst/>
                <a:latin typeface="fkGrotesk"/>
              </a:rPr>
              <a:t>Example of do-while loop:</a:t>
            </a:r>
          </a:p>
        </p:txBody>
      </p:sp>
      <p:sp>
        <p:nvSpPr>
          <p:cNvPr id="11" name="TextBox 10">
            <a:extLst>
              <a:ext uri="{FF2B5EF4-FFF2-40B4-BE49-F238E27FC236}">
                <a16:creationId xmlns:a16="http://schemas.microsoft.com/office/drawing/2014/main" id="{5E0BEE9D-FE9D-A504-B649-F0F2D57424EB}"/>
              </a:ext>
            </a:extLst>
          </p:cNvPr>
          <p:cNvSpPr txBox="1"/>
          <p:nvPr/>
        </p:nvSpPr>
        <p:spPr>
          <a:xfrm>
            <a:off x="944216" y="3704127"/>
            <a:ext cx="6102626" cy="1477328"/>
          </a:xfrm>
          <a:prstGeom prst="rect">
            <a:avLst/>
          </a:prstGeom>
          <a:noFill/>
        </p:spPr>
        <p:txBody>
          <a:bodyPr wrap="square">
            <a:spAutoFit/>
          </a:bodyPr>
          <a:lstStyle/>
          <a:p>
            <a:r>
              <a:rPr lang="en-IN" dirty="0"/>
              <a:t>int </a:t>
            </a:r>
            <a:r>
              <a:rPr lang="en-IN" dirty="0" err="1"/>
              <a:t>i</a:t>
            </a:r>
            <a:r>
              <a:rPr lang="en-IN" dirty="0"/>
              <a:t> = 1;</a:t>
            </a:r>
          </a:p>
          <a:p>
            <a:r>
              <a:rPr lang="en-IN" dirty="0"/>
              <a:t>do {</a:t>
            </a:r>
          </a:p>
          <a:p>
            <a:r>
              <a:rPr lang="en-IN" dirty="0"/>
              <a:t>  System.out.println("Count: " + </a:t>
            </a:r>
            <a:r>
              <a:rPr lang="en-IN" dirty="0" err="1"/>
              <a:t>i</a:t>
            </a:r>
            <a:r>
              <a:rPr lang="en-IN" dirty="0"/>
              <a:t>);</a:t>
            </a:r>
          </a:p>
          <a:p>
            <a:r>
              <a:rPr lang="en-IN" dirty="0"/>
              <a:t>  </a:t>
            </a:r>
            <a:r>
              <a:rPr lang="en-IN" dirty="0" err="1"/>
              <a:t>i</a:t>
            </a:r>
            <a:r>
              <a:rPr lang="en-IN" dirty="0"/>
              <a:t>++;</a:t>
            </a:r>
          </a:p>
          <a:p>
            <a:r>
              <a:rPr lang="en-IN" dirty="0"/>
              <a:t>} while(</a:t>
            </a:r>
            <a:r>
              <a:rPr lang="en-IN" dirty="0" err="1"/>
              <a:t>i</a:t>
            </a:r>
            <a:r>
              <a:rPr lang="en-IN" dirty="0"/>
              <a:t> &lt;= 5);</a:t>
            </a:r>
          </a:p>
        </p:txBody>
      </p:sp>
    </p:spTree>
    <p:extLst>
      <p:ext uri="{BB962C8B-B14F-4D97-AF65-F5344CB8AC3E}">
        <p14:creationId xmlns:p14="http://schemas.microsoft.com/office/powerpoint/2010/main" val="2951564876"/>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185</TotalTime>
  <Words>2003</Words>
  <Application>Microsoft Office PowerPoint</Application>
  <PresentationFormat>Widescreen</PresentationFormat>
  <Paragraphs>300</Paragraphs>
  <Slides>18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Arial</vt:lpstr>
      <vt:lpstr>berkeleyMono</vt:lpstr>
      <vt:lpstr>fkGrotesk</vt:lpstr>
      <vt:lpstr>fkGroteskNeue</vt:lpstr>
      <vt:lpstr>Trebuchet MS</vt:lpstr>
      <vt:lpstr>Wingdings</vt:lpstr>
      <vt:lpstr>Wingdings 3</vt:lpstr>
      <vt:lpstr>Facet</vt:lpstr>
      <vt:lpstr>Basic Syntactical Constructs in Java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shshinde2580@gmail.com</dc:creator>
  <cp:lastModifiedBy>shshinde2580@gmail.com</cp:lastModifiedBy>
  <cp:revision>2</cp:revision>
  <dcterms:created xsi:type="dcterms:W3CDTF">2025-10-05T11:09:05Z</dcterms:created>
  <dcterms:modified xsi:type="dcterms:W3CDTF">2025-10-05T16:23:51Z</dcterms:modified>
</cp:coreProperties>
</file>