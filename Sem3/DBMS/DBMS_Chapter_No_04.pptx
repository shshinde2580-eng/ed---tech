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61" r:id="rId9"/>
    <p:sldId id="262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pan Shedge" userId="22a150230ee0bb78" providerId="LiveId" clId="{D0B83722-EE95-4F0C-97AC-6D0BF809942E}"/>
    <pc:docChg chg="modSld">
      <pc:chgData name="Darpan Shedge" userId="22a150230ee0bb78" providerId="LiveId" clId="{D0B83722-EE95-4F0C-97AC-6D0BF809942E}" dt="2025-11-03T06:11:37.014" v="0" actId="22"/>
      <pc:docMkLst>
        <pc:docMk/>
      </pc:docMkLst>
      <pc:sldChg chg="addSp mod">
        <pc:chgData name="Darpan Shedge" userId="22a150230ee0bb78" providerId="LiveId" clId="{D0B83722-EE95-4F0C-97AC-6D0BF809942E}" dt="2025-11-03T06:11:37.014" v="0" actId="22"/>
        <pc:sldMkLst>
          <pc:docMk/>
          <pc:sldMk cId="3139823682" sldId="256"/>
        </pc:sldMkLst>
        <pc:picChg chg="add">
          <ac:chgData name="Darpan Shedge" userId="22a150230ee0bb78" providerId="LiveId" clId="{D0B83722-EE95-4F0C-97AC-6D0BF809942E}" dt="2025-11-03T06:11:37.014" v="0" actId="22"/>
          <ac:picMkLst>
            <pc:docMk/>
            <pc:sldMk cId="3139823682" sldId="256"/>
            <ac:picMk id="5" creationId="{D5A5CCC3-1209-9349-76D5-EB11FDC21E2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168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678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899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2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632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95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276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589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987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97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6572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717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970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2023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14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1251C-4ABF-4417-9267-7B230EF17EF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B4417-437B-446F-87CA-8A1113AC0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194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D3294-A434-A93A-7484-33F6A323F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0385" y="2208314"/>
            <a:ext cx="8791575" cy="1655762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rgbClr val="FFFF00"/>
                </a:solidFill>
                <a:latin typeface="Algerian" panose="04020705040A02060702" pitchFamily="82" charset="0"/>
              </a:rPr>
              <a:t>04. </a:t>
            </a:r>
            <a:r>
              <a:rPr lang="en-US" sz="7200" u="sng" dirty="0">
                <a:solidFill>
                  <a:srgbClr val="FFFF00"/>
                </a:solidFill>
                <a:latin typeface="Algerian" panose="04020705040A02060702" pitchFamily="82" charset="0"/>
              </a:rPr>
              <a:t>normalization</a:t>
            </a:r>
            <a:endParaRPr lang="en-IN" sz="7200" u="sng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5816B-8A8A-3588-BF5B-36F76A5EB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2734" y="4899896"/>
            <a:ext cx="8791575" cy="1655762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823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CCF57-7B3F-B91D-BC7D-9C9DA17C3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449" y="0"/>
            <a:ext cx="10568810" cy="757084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4.1]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introduction normalization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267BF-42A9-85D4-777C-767B22FBC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4065" y="639097"/>
            <a:ext cx="10697496" cy="621890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Normalization is a systematic process used in database design to organize data in a way that reduces redundancy (repetition of data) and improves data integrity.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It ensures that the database is efficient, consistent, and easy to maintain. Normalization eliminates these issues by dividing large tables into smaller, related tables and defining relationships between them.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Normalization is carried out in several steps known as Normal Forms (NF). Each normal form has specific rules that must be satisfied before proceeding to the next.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u="sng" dirty="0">
                <a:latin typeface="Century Schoolbook" panose="02040604050505020304" pitchFamily="18" charset="0"/>
              </a:rPr>
              <a:t>Types of Normal Forms</a:t>
            </a:r>
            <a:r>
              <a:rPr lang="en-IN" sz="2400" b="1" dirty="0">
                <a:latin typeface="Century Schoolbook" panose="02040604050505020304" pitchFamily="18" charset="0"/>
              </a:rPr>
              <a:t> : -</a:t>
            </a:r>
          </a:p>
          <a:p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First Normal Form (1NF).</a:t>
            </a:r>
          </a:p>
          <a:p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Second Normal Form (2NF).</a:t>
            </a:r>
          </a:p>
          <a:p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Third Normal Form (3NF).</a:t>
            </a:r>
          </a:p>
          <a:p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4. Boyce-Codd Normal Form (BCNF).</a:t>
            </a:r>
          </a:p>
        </p:txBody>
      </p:sp>
    </p:spTree>
    <p:extLst>
      <p:ext uri="{BB962C8B-B14F-4D97-AF65-F5344CB8AC3E}">
        <p14:creationId xmlns:p14="http://schemas.microsoft.com/office/powerpoint/2010/main" val="172508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9E261-C440-F028-315D-C339F251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0"/>
            <a:ext cx="9905955" cy="79641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Data redundancy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0444F-0D2E-AF73-9432-E01BA2340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4232" y="796413"/>
            <a:ext cx="10510684" cy="605667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Data redundancy occurs when the same piece of data is stored in multiple places within a database.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leads to unnecessary duplication of data, which increases storage space and may cause inconsistency.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Problems Caused by Data Redundancy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Increased storage space</a:t>
            </a:r>
            <a:r>
              <a:rPr lang="en-US" sz="2400" b="1" dirty="0">
                <a:latin typeface="Century Schoolbook" panose="02040604050505020304" pitchFamily="18" charset="0"/>
              </a:rPr>
              <a:t> : Duplicate data takes more memory.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Data inconsistency</a:t>
            </a:r>
            <a:r>
              <a:rPr lang="en-US" sz="2400" b="1" dirty="0">
                <a:latin typeface="Century Schoolbook" panose="02040604050505020304" pitchFamily="18" charset="0"/>
              </a:rPr>
              <a:t> : If one copy is updated and another is not, the data becomes inconsistent.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Difficult maintenance</a:t>
            </a:r>
            <a:r>
              <a:rPr lang="en-US" sz="2400" b="1" dirty="0">
                <a:latin typeface="Century Schoolbook" panose="02040604050505020304" pitchFamily="18" charset="0"/>
              </a:rPr>
              <a:t> : More data to manage, update, or delete.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Reduced efficiency</a:t>
            </a:r>
            <a:r>
              <a:rPr lang="en-US" sz="2400" b="1" dirty="0">
                <a:latin typeface="Century Schoolbook" panose="02040604050505020304" pitchFamily="18" charset="0"/>
              </a:rPr>
              <a:t> : Queries and updates take longer time.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228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35473-D14A-C30C-F47B-FCB99F724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-86986"/>
            <a:ext cx="10320407" cy="1037305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 of data redundancy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FB4A3-357C-B31B-7D13-30EAE3692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3A2E1D-7054-3DEB-FEB8-7E461E012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10" y="950318"/>
            <a:ext cx="10491019" cy="554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061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9129B-0F37-D763-A3F8-9A7A5C1BB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108" y="-88490"/>
            <a:ext cx="9905955" cy="90456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Updating anomalies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AF43B-5C0F-AD08-9218-28E18F259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5574" y="410496"/>
            <a:ext cx="10583992" cy="603700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When data redundancy exists, it often causes anomalies (errors or problems) during operations like updating, inserting, or deleting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Updating anomalies are mainly of three types : </a:t>
            </a:r>
          </a:p>
          <a:p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Update Anomaly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400" b="1" dirty="0">
                <a:latin typeface="Century Schoolbook" panose="02040604050505020304" pitchFamily="18" charset="0"/>
              </a:rPr>
              <a:t>Occurs when a data item is updated in one place but not everywhere it appears.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If “Mr. Patil” changes to “Mr. Deshmukh”, it must be updated in all rows.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If one record is missed, the database becomes inconsistent.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521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98032-190F-87C3-9678-C9F94B590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272" y="-938980"/>
            <a:ext cx="9905955" cy="865239"/>
          </a:xfrm>
        </p:spPr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36CAC-B47E-1C16-0F64-429C88FD9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1272" y="-226143"/>
            <a:ext cx="10230660" cy="6858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Insertion Anomaly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400" b="1" dirty="0">
                <a:latin typeface="Century Schoolbook" panose="02040604050505020304" pitchFamily="18" charset="0"/>
              </a:rPr>
              <a:t>Occurs when new data cannot be inserted into the database without the presence of other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If a new course “Networking” is introduced but no student has enrolled yet, we cannot insert the course details until at least one student joins.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Deletion Anomaly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dirty="0">
                <a:latin typeface="Century Schoolbook" panose="02040604050505020304" pitchFamily="18" charset="0"/>
              </a:rPr>
              <a:t>Occurs when deleting data unintentionally removes additional useful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If the only student enrolled in “DBMS” (Ram) leaves and his record is deleted, the course and instructor information for “DBMS” is also lost.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41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D85BA-E22C-80C7-F0F4-B81848378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778" y="-106866"/>
            <a:ext cx="9905955" cy="91460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Functinal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 dependency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58056-9565-1CDB-225D-363110000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6896" y="601658"/>
            <a:ext cx="10942436" cy="6366873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Functional Dependency (FD) in DBMS                                                                           is a relationship between two attributes of                                                                  a relation (table), which shows that one                                                                               attribute uniquely determines another.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If an attribute A uniquely determines                                                            attribute B, it is written as: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➡ A → B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(read as “A functionally determines B”)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This means that for each value of A, there                                                                          is exactly one corresponding value of B.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 of Functional Dependencies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Century Schoolbook" panose="02040604050505020304" pitchFamily="18" charset="0"/>
              </a:rPr>
              <a:t>Trivial Functional Dependency: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Century Schoolbook" panose="02040604050505020304" pitchFamily="18" charset="0"/>
              </a:rPr>
              <a:t>Non-Trivial Functional Dependency: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Century Schoolbook" panose="02040604050505020304" pitchFamily="18" charset="0"/>
              </a:rPr>
              <a:t>Transitive Functional Dependency:</a:t>
            </a:r>
            <a:br>
              <a:rPr lang="en-US" sz="2200" b="1" dirty="0">
                <a:latin typeface="Century Schoolbook" panose="02040604050505020304" pitchFamily="18" charset="0"/>
              </a:rPr>
            </a:br>
            <a:endParaRPr lang="en-IN" sz="2200" b="1" dirty="0">
              <a:latin typeface="Century Schoolbook" panose="020406040505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F37CA9-E25D-9DC6-EC12-0ADDB1128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013" y="705321"/>
            <a:ext cx="4564192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968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AA61C-5261-BC97-DE61-0B271AE32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82495"/>
            <a:ext cx="9905955" cy="95372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Multi-value dependency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A5839-055E-FE9F-4DBE-C1E2EDE66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686" y="472273"/>
            <a:ext cx="10508628" cy="52351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A Multi-Valued Dependency (MVD) in                                                                          DBMS is a type of data dependency                                                                               where one attribute in a table                                                                             determines multiple independent values                                                                 of another attribute.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If an attribute A determines multiple                                                                          values of attribute B, independently of                                                                                            other attributes, it is represented as:</a:t>
            </a:r>
            <a:br>
              <a:rPr lang="en-US" sz="2000" b="1" dirty="0"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➡ A →→ B</a:t>
            </a:r>
            <a:br>
              <a:rPr lang="en-US" sz="2000" b="1" dirty="0"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(read as “A multi-determines B”)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This means that for a single value of A, there can be multiple values of B, and these values of B are independent of other attributes in the relation.</a:t>
            </a:r>
            <a:endParaRPr lang="en-IN" sz="20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972E99-DE85-0969-539B-C499F36B5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555" y="720509"/>
            <a:ext cx="5349704" cy="381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1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C8D3-CA7B-3252-F72E-55085023B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660" y="0"/>
            <a:ext cx="10481186" cy="648929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u="sng" dirty="0">
                <a:solidFill>
                  <a:srgbClr val="FFFF00"/>
                </a:solidFill>
                <a:latin typeface="Algerian" panose="04020705040A02060702" pitchFamily="82" charset="0"/>
              </a:rPr>
              <a:t>Normalization based on functional dependencies</a:t>
            </a:r>
            <a:r>
              <a:rPr lang="en-US" sz="2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2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E7B89-99E1-3ACE-1ED4-5A01C5AD0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6678" y="648929"/>
            <a:ext cx="10658601" cy="638605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Functional dependencies form the basis for the first three normal forms (1NF, 2NF, 3NF) and Boyce-Codd Normal Form (BCNF).</a:t>
            </a:r>
          </a:p>
          <a:p>
            <a:pPr marL="457200" indent="-457200">
              <a:buAutoNum type="arabicPeriod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1NF (First Normal Form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) </a:t>
            </a:r>
            <a:r>
              <a:rPr lang="en-US" sz="2800" b="1" dirty="0">
                <a:latin typeface="Century Schoolbook" panose="02040604050505020304" pitchFamily="18" charset="0"/>
              </a:rPr>
              <a:t>: -</a:t>
            </a:r>
            <a:r>
              <a:rPr lang="en-US" sz="2400" b="1" dirty="0">
                <a:latin typeface="Century Schoolbook" panose="02040604050505020304" pitchFamily="18" charset="0"/>
              </a:rPr>
              <a:t> Every attribute contains atomic (indivisible) values.</a:t>
            </a:r>
          </a:p>
          <a:p>
            <a:pPr marL="457200" indent="-457200">
              <a:buAutoNum type="arabicPeriod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2NF (Second Normal Form)</a:t>
            </a:r>
            <a:r>
              <a:rPr lang="en-US" sz="2800" b="1" dirty="0">
                <a:latin typeface="Century Schoolbook" panose="02040604050505020304" pitchFamily="18" charset="0"/>
              </a:rPr>
              <a:t> : -</a:t>
            </a:r>
            <a:r>
              <a:rPr lang="en-US" sz="2400" b="1" dirty="0">
                <a:latin typeface="Century Schoolbook" panose="02040604050505020304" pitchFamily="18" charset="0"/>
              </a:rPr>
              <a:t> Removes partial dependency, i.e., no non-key attribute depends on a part of a composite key.</a:t>
            </a:r>
          </a:p>
          <a:p>
            <a:pPr marL="457200" indent="-457200">
              <a:buAutoNum type="arabicPeriod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3NF (Third Normal Form)</a:t>
            </a:r>
            <a:r>
              <a:rPr lang="en-US" sz="2800" b="1" dirty="0">
                <a:latin typeface="Century Schoolbook" panose="02040604050505020304" pitchFamily="18" charset="0"/>
              </a:rPr>
              <a:t> : - </a:t>
            </a:r>
            <a:r>
              <a:rPr lang="en-US" sz="2400" b="1" dirty="0">
                <a:latin typeface="Century Schoolbook" panose="02040604050505020304" pitchFamily="18" charset="0"/>
              </a:rPr>
              <a:t>Removes transitive dependency, i.e., non-key attributes should not depend on other non-key attributes.</a:t>
            </a:r>
          </a:p>
          <a:p>
            <a:pPr marL="457200" indent="-457200">
              <a:buAutoNum type="arabicPeriod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BCNF (Boyce-Codd Normal Form)</a:t>
            </a:r>
            <a:r>
              <a:rPr lang="en-US" sz="2800" b="1" dirty="0">
                <a:latin typeface="Century Schoolbook" panose="02040604050505020304" pitchFamily="18" charset="0"/>
              </a:rPr>
              <a:t> : - </a:t>
            </a:r>
            <a:r>
              <a:rPr lang="en-US" sz="2400" b="1" dirty="0">
                <a:latin typeface="Century Schoolbook" panose="02040604050505020304" pitchFamily="18" charset="0"/>
              </a:rPr>
              <a:t>For every FD (A → B), A must be a candidate key.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156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F109-0FA9-E3CF-C3DB-BF082618D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897" y="0"/>
            <a:ext cx="10726079" cy="560439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u="sng" dirty="0">
                <a:solidFill>
                  <a:srgbClr val="FFFF00"/>
                </a:solidFill>
                <a:latin typeface="Algerian" panose="04020705040A02060702" pitchFamily="82" charset="0"/>
              </a:rPr>
              <a:t>Normalization based on multi-valued dependencies</a:t>
            </a:r>
            <a:r>
              <a:rPr lang="en-US" sz="2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2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2E857-B82E-E08D-A944-C566828A2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3896" y="481781"/>
            <a:ext cx="10726079" cy="517176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Multi-valued dependencies are used to define Fourth Normal Form (4NF) and Fifth Normal Form (5NF).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4NF (Fourth Normal Form)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0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Must be in BCNF.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There should be no multi-valued dependency except those that are functional dependencies.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5NF (Fifth Normal Form)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Also called Project-Join Normal Form (PJNF).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Deals with join dependencies, ensuring that a relation cannot be further decomposed without losing information.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803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EF42-600B-BAAB-4836-9B0501AC0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778" y="0"/>
            <a:ext cx="9905955" cy="875071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Normal forms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4D062-BB41-CF41-5D18-50A2886F4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1778" y="639097"/>
            <a:ext cx="10051029" cy="613041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Normal Forms in DBMS are rules or guidelines used to organize data in a database efficiently.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They help in removing data redundancy, avoiding anomalies, and ensuring data consistency through a step-by-step process called Normalization.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Each level of Normal Form builds upon the previous one, making the database more structured and reliable.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400" b="1" u="sng" dirty="0">
                <a:latin typeface="Century Schoolbook" panose="02040604050505020304" pitchFamily="18" charset="0"/>
              </a:rPr>
              <a:t>Types of Normal Forms</a:t>
            </a:r>
            <a:r>
              <a:rPr lang="en-US" sz="2400" b="1" dirty="0"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First Normal Form (1NF).</a:t>
            </a:r>
          </a:p>
          <a:p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Second Normal Form (2NF).</a:t>
            </a:r>
          </a:p>
          <a:p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Third Normal Form (3NF).</a:t>
            </a:r>
          </a:p>
          <a:p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4. Boyce–Codd Normal Form (BCNF).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562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88CE2-CBB6-71BC-AF49-B4B1809F2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443" y="-68826"/>
            <a:ext cx="9905955" cy="82007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First normal form (1nf)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115EA-9FBF-516A-6AC3-265246A75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6613" y="751251"/>
            <a:ext cx="10288785" cy="6106749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A relation (table) is said to be in                                                                    First Normal Form (1NF) if all its                                                               attributes contain only atomic                                                   (indivisible) values, and there are                                                                     no repeating groups or arrays.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Each record must be unique,                                                           identified by a primary key.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Rules for 1NF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Each table cell should contain only one value (atomic value).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Each record (row) must be unique.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Each column should have a unique name.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 order of rows and columns does not matter.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2FD4F7-F037-FA52-A1D9-DEAA7058A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091" y="820076"/>
            <a:ext cx="5278562" cy="344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766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CB19-BD89-7C39-3B9E-4F8B5574C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939" y="0"/>
            <a:ext cx="9905955" cy="74725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Second normal form (2nf)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 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7745A-6D15-8C87-7294-2AC93FE4F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4533" y="747252"/>
            <a:ext cx="10412361" cy="570271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A relation (table) is said to be in                                                                                 Second Normal Form (2NF) if :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1. It is already in First Normal                                                                                                Form (1NF), and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2. All non-key attributes are fully                                                                functionally dependent on the                                                                              entire primary key — not just a                                                                    part of it.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In other words, 2NF removes partial dependency, which occurs when a non-key attribute depends on only part of a composite (multi-attribute) primary key.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960901-4EC3-648B-2007-A8842F4F7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466" y="747252"/>
            <a:ext cx="5651652" cy="366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26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5D7E7-6865-D0D0-3C85-0CEB37BE5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771" y="-88490"/>
            <a:ext cx="9905955" cy="83574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3.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Third normal form (3nf)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72432-6A21-1D19-8409-C361FBABE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8675" y="535858"/>
            <a:ext cx="10390145" cy="557489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A relation (table) is said to be in                                                                           Third Normal Form (3NF) if :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1. It is already in Second Normal                                                                     Form (2NF), and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2. There is no transitive dependency                                                             between non-key attributes.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simple terms, every non-key                                                                   attribute must depend only on the                                                           primary key, not on another non-key attribute.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If A → B and B → C, then A → C is a transitive dependency.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3EE3A0-27AD-859B-C75F-B066F4751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735" y="747252"/>
            <a:ext cx="5055377" cy="348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17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8E848-17BB-49C3-8695-6DA2D1E87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433" y="-98322"/>
            <a:ext cx="10578596" cy="829795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4. 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boyce-codd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 normal form (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bcnf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)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4EEFB-02F4-5776-4737-A612BFC70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9890" y="731473"/>
            <a:ext cx="10088339" cy="6218903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A relation (table) is said to be in                                                                                            Boyce–Codd Normal Form (BCNF) if: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1. It is already in Third Normal Form                                                                          (3NF), and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2. For every functional dependency                                                                                                      (A → B), the determinant (A) must be a                                                                                candidate key.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In simple words, every determinant                                                                                     in a relation should be a candidate key.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BCNF is considered a stronger version of 3NF and removes certain types of anomalies that 3NF cannot handle.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Rules for BCNF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It is in 3NF,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For every non-trivial functional dependency A → B, A is a super key (or candidate key).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4C6F5-BEF0-8FE9-449E-41614F4CF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090" y="731474"/>
            <a:ext cx="5261482" cy="330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008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984</TotalTime>
  <Words>1387</Words>
  <Application>Microsoft Office PowerPoint</Application>
  <PresentationFormat>Widescreen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Algerian</vt:lpstr>
      <vt:lpstr>Arial</vt:lpstr>
      <vt:lpstr>Century Schoolbook</vt:lpstr>
      <vt:lpstr>Tw Cen MT</vt:lpstr>
      <vt:lpstr>Wingdings</vt:lpstr>
      <vt:lpstr>Circuit</vt:lpstr>
      <vt:lpstr>04. normalization</vt:lpstr>
      <vt:lpstr>4.1] introduction normalization : -</vt:lpstr>
      <vt:lpstr>Data redundancy : -</vt:lpstr>
      <vt:lpstr>Example of data redundancy : -</vt:lpstr>
      <vt:lpstr>Updating anomalies : -</vt:lpstr>
      <vt:lpstr>PowerPoint Presentation</vt:lpstr>
      <vt:lpstr>Functinal dependency : -</vt:lpstr>
      <vt:lpstr>Multi-value dependency : -</vt:lpstr>
      <vt:lpstr>Normalization based on functional dependencies : -</vt:lpstr>
      <vt:lpstr>Normalization based on multi-valued dependencies : -</vt:lpstr>
      <vt:lpstr>Normal forms : -</vt:lpstr>
      <vt:lpstr>1. First normal form (1nf) : -</vt:lpstr>
      <vt:lpstr>2. Second normal form (2nf) : - </vt:lpstr>
      <vt:lpstr>3. Third normal form (3nf) : -</vt:lpstr>
      <vt:lpstr>4. boyce-codd normal form (bcnf)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shshinde2580@gmail.com</cp:lastModifiedBy>
  <cp:revision>3</cp:revision>
  <dcterms:created xsi:type="dcterms:W3CDTF">2025-10-19T15:53:26Z</dcterms:created>
  <dcterms:modified xsi:type="dcterms:W3CDTF">2025-11-06T15:02:41Z</dcterms:modified>
</cp:coreProperties>
</file>