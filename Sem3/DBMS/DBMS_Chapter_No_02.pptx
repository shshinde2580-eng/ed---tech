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30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8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19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96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762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7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84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4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2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09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955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425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881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21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818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319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3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7AF8B-C9FC-4F2A-B33B-C5A22B3A431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D987-73EB-4B5B-B426-46C2ADD5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730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29C6-A03F-5339-8DE5-E4D84E0EF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0721" y="2017097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solidFill>
                  <a:srgbClr val="FFFF00"/>
                </a:solidFill>
                <a:latin typeface="Algerian" panose="04020705040A02060702" pitchFamily="82" charset="0"/>
              </a:rPr>
              <a:t>02. Relational Data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36413-BD82-4EFD-492A-07CA89E32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0721" y="4958890"/>
            <a:ext cx="8791575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998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56B3-3C25-7554-0A7D-F35E9C7B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0"/>
            <a:ext cx="10992465" cy="74725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2.1]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basic concepts of relational model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D2841-622D-A99D-08A8-E3CCC97FD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435" y="678426"/>
            <a:ext cx="10529481" cy="456216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Relational Model was introduced by E.F. Codd in 1970. It is the most widely used model in database systems.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this model, data is stored in the form of tables (relations). Each table consists of rows and columns, where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Rows represent records (tuples)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Columns represent fields (attributes)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relational model provides an easy and logical way to organize, retrieve, and manage data.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2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5383-CBB7-88E0-0C04-112F24B9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7652"/>
            <a:ext cx="9905955" cy="98322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Domain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6737F-D43B-6771-F23C-F176AB0F3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5071" y="658761"/>
            <a:ext cx="10717161" cy="519143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Domain is the set of all possible values that an attribute can take.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defines the type of data that can be stored in a column.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attribute in a relation is associated with a domain.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we have an attribute Age, its domain could be integer values between 1 and 100.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we have an attribute Gender, its domain could be {Male, Female, Other}.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83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BC80-041C-E379-B61E-BD32BDA6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78658"/>
            <a:ext cx="9905955" cy="86523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Attribute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DFF5-CB47-E410-4B50-8F91FFF2A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274" y="673508"/>
            <a:ext cx="10637635" cy="467523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Attribute is a column in a table.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represents a specific property or characteristic of the entity described by the table.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attribute has a unique name and is associated with a domain.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 a relation STUDENT (Roll_No, Name, Age, Course)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→ Attributes are Roll_No, Name, Age, and Course.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5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CA5A-F61F-6CBA-A8A1-BA0C64E5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27820"/>
            <a:ext cx="9905955" cy="94389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Tuple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EC439-6F6B-8721-97A8-36C8E1F1A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3426" y="688259"/>
            <a:ext cx="10549145" cy="323481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Tuple is a single row in a relation.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represents one record or one instance of the entity.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tuple contains a value for each attribute in the table.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 the STUDENT table: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0CF9B7-A283-999B-33DA-16B736894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366326"/>
              </p:ext>
            </p:extLst>
          </p:nvPr>
        </p:nvGraphicFramePr>
        <p:xfrm>
          <a:off x="1023426" y="3645311"/>
          <a:ext cx="10224676" cy="386780"/>
        </p:xfrm>
        <a:graphic>
          <a:graphicData uri="http://schemas.openxmlformats.org/drawingml/2006/table">
            <a:tbl>
              <a:tblPr/>
              <a:tblGrid>
                <a:gridCol w="2556169">
                  <a:extLst>
                    <a:ext uri="{9D8B030D-6E8A-4147-A177-3AD203B41FA5}">
                      <a16:colId xmlns:a16="http://schemas.microsoft.com/office/drawing/2014/main" val="955921632"/>
                    </a:ext>
                  </a:extLst>
                </a:gridCol>
                <a:gridCol w="2556169">
                  <a:extLst>
                    <a:ext uri="{9D8B030D-6E8A-4147-A177-3AD203B41FA5}">
                      <a16:colId xmlns:a16="http://schemas.microsoft.com/office/drawing/2014/main" val="3629784784"/>
                    </a:ext>
                  </a:extLst>
                </a:gridCol>
                <a:gridCol w="2556169">
                  <a:extLst>
                    <a:ext uri="{9D8B030D-6E8A-4147-A177-3AD203B41FA5}">
                      <a16:colId xmlns:a16="http://schemas.microsoft.com/office/drawing/2014/main" val="789959291"/>
                    </a:ext>
                  </a:extLst>
                </a:gridCol>
                <a:gridCol w="2556169">
                  <a:extLst>
                    <a:ext uri="{9D8B030D-6E8A-4147-A177-3AD203B41FA5}">
                      <a16:colId xmlns:a16="http://schemas.microsoft.com/office/drawing/2014/main" val="2863515162"/>
                    </a:ext>
                  </a:extLst>
                </a:gridCol>
              </a:tblGrid>
              <a:tr h="38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Roll_No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0402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957220-1AB0-DF76-71D1-38A633E4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016532"/>
              </p:ext>
            </p:extLst>
          </p:nvPr>
        </p:nvGraphicFramePr>
        <p:xfrm>
          <a:off x="1023426" y="4032091"/>
          <a:ext cx="10224676" cy="598530"/>
        </p:xfrm>
        <a:graphic>
          <a:graphicData uri="http://schemas.openxmlformats.org/drawingml/2006/table">
            <a:tbl>
              <a:tblPr/>
              <a:tblGrid>
                <a:gridCol w="2556169">
                  <a:extLst>
                    <a:ext uri="{9D8B030D-6E8A-4147-A177-3AD203B41FA5}">
                      <a16:colId xmlns:a16="http://schemas.microsoft.com/office/drawing/2014/main" val="723024988"/>
                    </a:ext>
                  </a:extLst>
                </a:gridCol>
                <a:gridCol w="2556169">
                  <a:extLst>
                    <a:ext uri="{9D8B030D-6E8A-4147-A177-3AD203B41FA5}">
                      <a16:colId xmlns:a16="http://schemas.microsoft.com/office/drawing/2014/main" val="1478138208"/>
                    </a:ext>
                  </a:extLst>
                </a:gridCol>
                <a:gridCol w="2556169">
                  <a:extLst>
                    <a:ext uri="{9D8B030D-6E8A-4147-A177-3AD203B41FA5}">
                      <a16:colId xmlns:a16="http://schemas.microsoft.com/office/drawing/2014/main" val="575919921"/>
                    </a:ext>
                  </a:extLst>
                </a:gridCol>
                <a:gridCol w="2556169">
                  <a:extLst>
                    <a:ext uri="{9D8B030D-6E8A-4147-A177-3AD203B41FA5}">
                      <a16:colId xmlns:a16="http://schemas.microsoft.com/office/drawing/2014/main" val="4117547319"/>
                    </a:ext>
                  </a:extLst>
                </a:gridCol>
              </a:tblGrid>
              <a:tr h="598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785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20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A949-3E70-92FB-8722-40DE513CF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45" y="-68826"/>
            <a:ext cx="9905955" cy="88490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Relation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93A13A-93E7-CF8B-4386-D15942850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672126"/>
              </p:ext>
            </p:extLst>
          </p:nvPr>
        </p:nvGraphicFramePr>
        <p:xfrm>
          <a:off x="1143000" y="4661474"/>
          <a:ext cx="9906000" cy="14630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72904980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94513533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69053292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414615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Roll_No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400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7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9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05715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2B7ACC-AE55-4E78-DB06-0E850A223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4568" y="816077"/>
            <a:ext cx="10609007" cy="4119716"/>
          </a:xfrm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Relation is a table that contains data about a particular entity.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set of tuples having the same attributes.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relation has a unique name, and tuples in a relation are unordered (their order does not matter).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cell in the relation contains a single atomic value (no multiple values in one cell).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STUDENT (Roll_No, Name, Age, Course)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2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F0CA-B949-BC04-F9D4-E1179823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47" y="-108155"/>
            <a:ext cx="9905955" cy="92423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2.2]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Codd’s rules of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rdbms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0D5A5-7B17-86FF-E1A1-869F4CC80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015" y="698091"/>
            <a:ext cx="10509817" cy="615990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Dr. E. F. Codd, who introduced the Relational Model in 1970, later defined 12 rules (also called Codd’s 12 Rules) in 1985 to evaluate whether a database system is truly relational.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These rules act as guidelines to ensure that a database management system fully supports the relational model.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No commercial database fully satisfies all 12 rules, but most follow them closely.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0 – Foundation Rule</a:t>
            </a:r>
            <a:r>
              <a:rPr lang="en-IN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200" b="1" dirty="0">
                <a:latin typeface="Century Schoolbook" panose="02040604050505020304" pitchFamily="18" charset="0"/>
              </a:rPr>
              <a:t>A system must be able to manage databases entirely through its relational capabilities.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1 – Information Rule</a:t>
            </a:r>
            <a:r>
              <a:rPr lang="en-IN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200" b="1" dirty="0">
                <a:latin typeface="Century Schoolbook" panose="02040604050505020304" pitchFamily="18" charset="0"/>
              </a:rPr>
              <a:t>All information in a database is represented logically as values in tables (relations).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2 – Guaranteed Access Rule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200" b="1" dirty="0">
                <a:latin typeface="Century Schoolbook" panose="02040604050505020304" pitchFamily="18" charset="0"/>
              </a:rPr>
              <a:t>Each data item should be uniquely accessible using a combination of table name, primary key, and column name.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11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D922-315B-9C6D-B303-5A809876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01" y="-963561"/>
            <a:ext cx="9905955" cy="963561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1E04A-9574-451B-66F7-6AF311408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5070" y="0"/>
            <a:ext cx="10933471" cy="664169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3 – Systematic Treatment of Null Values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The system must handle NULL values (missing or unknown information) in a consistent and systematic way.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4 – Dynamic Online Catalog Based on the Relational Model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The database’s metadata (data about data) must be stored in the same way as ordinary data, i.e., in tables.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5 – Comprehensive Data Sublanguage Rule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The system must support at least one relational language (like SQL) that can define data, manipulate data, and control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6 – View Updating Rule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All views (virtual tables) that are theoretically updatable must also be updatable by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7 – High-Level Insert, Update, and Delete Rule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The system must support set-level operations, not just single-record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8 – Physical Data Independence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Changes in the physical storage (how data is stored) must not affect how the data is accessed logically.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46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0D73-7E82-D39A-4CAB-A592D8B9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14" y="-1066802"/>
            <a:ext cx="9905955" cy="106680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243F3-BE1B-634E-EF79-3DA949654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3226" y="0"/>
            <a:ext cx="10333703" cy="520126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9 – Logical Data Independence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Changes in logical structure (like adding new fields or tables) should not affect applications that use the database.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10 – Integrity Independence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Integrity constraints (like primary key, foreign key) must be stored in the catalog and independent of application programs.</a:t>
            </a:r>
            <a:endParaRPr lang="en-IN" b="1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11 – Distribution Independence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The system should work independently of data distribution, i.e., whether data is stored locally or across multiple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 12 – Non-Subversion Rule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If a low-level (record-based) interface exists, it must not bypass or violate the integrity rules and constraints defined by the system.</a:t>
            </a:r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50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5719-DD8A-13E6-AE4A-AFD04B24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959" y="0"/>
            <a:ext cx="10981718" cy="707923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2.3]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structured query language (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2195B-B0A9-A46B-3F48-7077029DB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435" y="707923"/>
            <a:ext cx="10598307" cy="293001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SQL (Structured Query Language) is a standard language used to store, manipulate, and retrieve data in a relational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allows users to create database objects, insert data, modify data, and control access to the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divided into several categories based on functionality.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592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3206-B36B-8E61-A77C-FFED766A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46" y="0"/>
            <a:ext cx="9905955" cy="70792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Types in SQL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13904-8081-92B9-1675-53AE95233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6099" y="570763"/>
            <a:ext cx="10536133" cy="285522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Data types define the type of values that can be stored in a database column.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ensure data accuracy and consistency.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Common SQL Data Types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9D8D58-41C7-0F6D-45FA-37F1EE5A9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81262"/>
              </p:ext>
            </p:extLst>
          </p:nvPr>
        </p:nvGraphicFramePr>
        <p:xfrm>
          <a:off x="1141413" y="2903400"/>
          <a:ext cx="9906000" cy="36576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14092493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82782147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199869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Category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7179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704116-09D0-0712-AC7E-AEE93E479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30701"/>
              </p:ext>
            </p:extLst>
          </p:nvPr>
        </p:nvGraphicFramePr>
        <p:xfrm>
          <a:off x="1141413" y="4687397"/>
          <a:ext cx="9906000" cy="91440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2820763698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884028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151963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Numeric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INTEGER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SMALLINT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DECIMAL(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p,s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NUMERIC(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p,s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store numeric values. Example: Age, 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5532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D1752F-DDD2-52AF-CF9F-31466FFA4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450513"/>
              </p:ext>
            </p:extLst>
          </p:nvPr>
        </p:nvGraphicFramePr>
        <p:xfrm>
          <a:off x="1141413" y="3268801"/>
          <a:ext cx="9906000" cy="64008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71974875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919110897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647637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Character/String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Courier New" panose="02070309020205020404" pitchFamily="49" charset="0"/>
                        </a:rPr>
                        <a:t>CHAR(n)</a:t>
                      </a:r>
                      <a:r>
                        <a:rPr lang="pt-BR" dirty="0"/>
                        <a:t>, </a:t>
                      </a:r>
                      <a:r>
                        <a:rPr lang="pt-BR" dirty="0">
                          <a:latin typeface="Courier New" panose="02070309020205020404" pitchFamily="49" charset="0"/>
                        </a:rPr>
                        <a:t>VARCHAR(n)</a:t>
                      </a:r>
                      <a:r>
                        <a:rPr lang="pt-BR" dirty="0"/>
                        <a:t>, </a:t>
                      </a:r>
                      <a:r>
                        <a:rPr lang="pt-BR" dirty="0">
                          <a:latin typeface="Courier New" panose="02070309020205020404" pitchFamily="49" charset="0"/>
                        </a:rPr>
                        <a:t>TEXT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store text values. Example: Name,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1491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321AF5-2A2D-1AAC-C0D3-C17619740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306321"/>
              </p:ext>
            </p:extLst>
          </p:nvPr>
        </p:nvGraphicFramePr>
        <p:xfrm>
          <a:off x="1141413" y="5464637"/>
          <a:ext cx="9906000" cy="64008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239585709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80501956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458714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Date/Time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DATE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TIME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DATETIME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TIMESTAMP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store date and time values.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9634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BB962C-2F4B-D854-F2A6-017E340B3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524421"/>
              </p:ext>
            </p:extLst>
          </p:nvPr>
        </p:nvGraphicFramePr>
        <p:xfrm>
          <a:off x="1141413" y="3897308"/>
          <a:ext cx="9906000" cy="36576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21135729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694441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748661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Boolean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BOOLEAN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TRUE or FALSE values.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942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1163EB-B27F-CF53-1D6F-D1DCD0F1A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087323"/>
              </p:ext>
            </p:extLst>
          </p:nvPr>
        </p:nvGraphicFramePr>
        <p:xfrm>
          <a:off x="1141413" y="4228562"/>
          <a:ext cx="9906000" cy="64008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3639315796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19114877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40527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Binary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BLOB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BINARY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VARBINARY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store binary data like images, files.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4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62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C2A0-F330-57DB-E29C-26C07CAA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24523"/>
            <a:ext cx="10962097" cy="99310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definition language (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ddl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DEA95F-24A6-B3EF-177B-4A84B24A541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43499" y="612380"/>
            <a:ext cx="11168472" cy="700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DDL commands are used to define and manage the structure of database objects such as tables, schemas, and indexes.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DDL (Data Definition Language) is a part of SQL (Structured Query Language) that is used to define, modify, and manage the structure of database objects such as tables, views, schemas, and indexes.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deals with the structure of the database, not the actual data stored in it.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Functions of DDL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Defines database structure (tables, columns, data types, constraints).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Controls how data is organized and stored in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Automatically commits changes to the database (no rollback).</a:t>
            </a: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6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12C3-C569-FE27-3156-14FB4981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125740"/>
            <a:ext cx="9905955" cy="96213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Common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ddl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commands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FBE9E-FCD1-4219-CAF7-98790FC99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149" y="737419"/>
            <a:ext cx="10333702" cy="57223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CREATE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Used to create a new database object such as a table, view, or index.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ALTER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8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Used to modify the structure of an existing table. for example, adding, deleting, or modifying columns.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DROP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Used to delete an entire table or database permanently (including all data and structure).</a:t>
            </a:r>
            <a:endParaRPr lang="en-US" sz="2800" b="1" dirty="0">
              <a:latin typeface="Century Schoolbook" panose="02040604050505020304" pitchFamily="18" charset="0"/>
            </a:endParaRP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TRUNCATE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Used to remove all rows from a table but keep the structure (the table can still be used).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RENAME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8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Used to change the name of an existing table or database object.</a:t>
            </a:r>
          </a:p>
          <a:p>
            <a:endParaRPr lang="en-IN" sz="2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9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6269-F31E-41C9-A634-7169E520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2" y="-157316"/>
            <a:ext cx="10923639" cy="934065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manipulation language (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dml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1A511-BC75-CFE0-EE19-D67A0D8E8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5268" y="688259"/>
            <a:ext cx="10588474" cy="625823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DML (Data Manipulation Language) is a part of SQL (Structured Query Language) that is used to manipulate and manage data stored in database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Unlike DDL (which defines the structure), DML deals with the actual data inside the tables — inserting, updating, deleting, and retrieving records.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 of DML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insert new records into tables.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update existing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delete unwanted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retrieve data from one or more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DML commands help users and applications interact with the data stored in the database.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3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CECC-478E-A912-60D9-20A2CA70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245806"/>
            <a:ext cx="9905955" cy="115037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DML Commands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8BB65-83B2-FDDA-9A73-D85D3B38E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653845"/>
            <a:ext cx="10224680" cy="519634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INSERT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1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add new data (rows) to a table.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UPDATE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modify existing data in a table.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DELETE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remove one or more rows from a table.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SELECT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retrieve data from one or more tables.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67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15F4-799B-6DA2-20C7-10EEB0DB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26" y="-206478"/>
            <a:ext cx="11286564" cy="106680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Transaction control language (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tcl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CA4F2-4E06-48D2-24EC-A41D725D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4903" y="688258"/>
            <a:ext cx="10854813" cy="62484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TCL (Transaction Control Language) is a part of SQL (Structured Query Language) that is used to manage transactions in a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transaction is a group of one or more SQL statements that are executed together as a single unit of work.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TCL ensures that all the operations within a transaction are completed successfully, and if any operation fails, the entire transaction can be rolled back to maintain data consistency.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 of TCL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manage changes made by DML (Data Manipulation Language) statements.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control the saving or undoing of data modifications.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maintain the integrity of the database during transactions.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866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540F-C3D1-78F9-CE02-A90602F8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76981"/>
            <a:ext cx="9905955" cy="10668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Common TCL Commands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0862A-08D7-BE3B-FFA9-42D68C9A6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2723" y="658762"/>
            <a:ext cx="10530348" cy="5840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COMMIT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to save all the changes made in the current transaction permanently.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After a commit, changes cannot be undone.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ROLLBACK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to undo the changes made in the current transaction before it is committed.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It restores the database to its last committed state.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SAVEPOINT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to set a temporary point within a transaction.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You can roll back to that specific point instead of rolling back the entire transaction.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98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562A-755C-472A-4ADC-8593D6FC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797" y="-117987"/>
            <a:ext cx="10765409" cy="96356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control language (dcl)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2BC41-A1B5-E387-8259-A8F4A435A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100" y="619433"/>
            <a:ext cx="10617971" cy="616974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DCL (Data Control Language) is a part of SQL (Structured Query Language) that is used to control access and permissions on data stored in a database.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It helps the Database Administrator (DBA) to manage security and privileges for users in the database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DCL ensures that only authorized users can perform specific operations like reading, inserting, updating, or deleting data.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 of DCL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control access rights of users in a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grant or remove privileges on database objects like tables, views, and procedures.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maintain database security and integrity.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79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2363-719C-C211-A899-464C0B0F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88491"/>
            <a:ext cx="9905955" cy="89473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Common DCL Commands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EE4E3-4964-760E-1826-AA40A9576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3729" y="653844"/>
            <a:ext cx="10373032" cy="547165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GRANT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to provide specific permissions to one or more users to perform actions on database objects.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dirty="0">
                <a:latin typeface="Century Schoolbook" panose="02040604050505020304" pitchFamily="18" charset="0"/>
              </a:rPr>
              <a:t>GRANT privileges ON object TO user;</a:t>
            </a:r>
          </a:p>
          <a:p>
            <a:endParaRPr lang="en-US" dirty="0">
              <a:latin typeface="Century Schoolbook" panose="020406040505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REVOKE Command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to remove previously granted privileges from a user or role.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dirty="0">
                <a:latin typeface="Century Schoolbook" panose="02040604050505020304" pitchFamily="18" charset="0"/>
              </a:rPr>
              <a:t>REVOKE privileges ON object FROM user;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16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4CFF-F753-DBC5-2112-147E25B0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57316"/>
            <a:ext cx="9905955" cy="99305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2.4]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clauses in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BBA79-8994-F216-66FF-A01073D34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2890" y="570272"/>
            <a:ext cx="10559845" cy="550606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In SQL (Structured Query Language), clauses are used to filter, group, and sort the data retrieved from a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They are used along with the SELECT statement to make data retrieval more powerful and meaningful.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The main SQL clauses are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WHERE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GROUP 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HAVING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ORDER BY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Each clause has a specific purpose in organizing and managing query results.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2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B0BF-CB4D-C759-15CD-F9D63856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359" y="-127820"/>
            <a:ext cx="9905955" cy="99305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Where clause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E480-E99B-BC31-5E5C-6CA0253C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9686" y="727587"/>
            <a:ext cx="10628671" cy="576170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 -</a:t>
            </a:r>
            <a:endParaRPr lang="en-US" sz="2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Schoolbook" panose="02040604050505020304" pitchFamily="18" charset="0"/>
              </a:rPr>
              <a:t>The </a:t>
            </a:r>
            <a:r>
              <a:rPr lang="en-US" sz="2000" b="1" dirty="0">
                <a:latin typeface="Century Schoolbook" panose="02040604050505020304" pitchFamily="18" charset="0"/>
              </a:rPr>
              <a:t>WHERE</a:t>
            </a:r>
            <a:r>
              <a:rPr lang="en-US" sz="2000" dirty="0">
                <a:latin typeface="Century Schoolbook" panose="02040604050505020304" pitchFamily="18" charset="0"/>
              </a:rPr>
              <a:t> clause is used to </a:t>
            </a:r>
            <a:r>
              <a:rPr lang="en-US" sz="2000" b="1" dirty="0">
                <a:latin typeface="Century Schoolbook" panose="02040604050505020304" pitchFamily="18" charset="0"/>
              </a:rPr>
              <a:t>filter records</a:t>
            </a:r>
            <a:r>
              <a:rPr lang="en-US" sz="2000" dirty="0">
                <a:latin typeface="Century Schoolbook" panose="02040604050505020304" pitchFamily="18" charset="0"/>
              </a:rPr>
              <a:t> from a table based on a </a:t>
            </a:r>
            <a:r>
              <a:rPr lang="en-US" sz="2000" b="1" dirty="0">
                <a:latin typeface="Century Schoolbook" panose="02040604050505020304" pitchFamily="18" charset="0"/>
              </a:rPr>
              <a:t>specific condition</a:t>
            </a:r>
            <a:r>
              <a:rPr lang="en-US" sz="2000" dirty="0">
                <a:latin typeface="Century Schoolbook" panose="020406040505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Schoolbook" panose="02040604050505020304" pitchFamily="18" charset="0"/>
              </a:rPr>
              <a:t>It is used with </a:t>
            </a:r>
            <a:r>
              <a:rPr lang="en-US" sz="2000" b="1" dirty="0">
                <a:latin typeface="Century Schoolbook" panose="02040604050505020304" pitchFamily="18" charset="0"/>
              </a:rPr>
              <a:t>SELECT, UPDATE, DELETE</a:t>
            </a:r>
            <a:r>
              <a:rPr lang="en-US" sz="2000" dirty="0">
                <a:latin typeface="Century Schoolbook" panose="02040604050505020304" pitchFamily="18" charset="0"/>
              </a:rPr>
              <a:t>, etc., to extract only those rows that satisfy the given condition.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2000" dirty="0">
                <a:latin typeface="Century Schoolbook" panose="02040604050505020304" pitchFamily="18" charset="0"/>
              </a:rPr>
              <a:t>SELECT </a:t>
            </a:r>
            <a:r>
              <a:rPr lang="en-US" sz="2000" dirty="0" err="1">
                <a:latin typeface="Century Schoolbook" panose="02040604050505020304" pitchFamily="18" charset="0"/>
              </a:rPr>
              <a:t>column_name</a:t>
            </a:r>
            <a:endParaRPr lang="en-US" sz="2000" dirty="0">
              <a:latin typeface="Century Schoolbook" panose="02040604050505020304" pitchFamily="18" charset="0"/>
            </a:endParaRPr>
          </a:p>
          <a:p>
            <a:r>
              <a:rPr lang="en-US" sz="2000" dirty="0">
                <a:latin typeface="Century Schoolbook" panose="02040604050505020304" pitchFamily="18" charset="0"/>
              </a:rPr>
              <a:t>FROM </a:t>
            </a:r>
            <a:r>
              <a:rPr lang="en-US" sz="2000" dirty="0" err="1">
                <a:latin typeface="Century Schoolbook" panose="02040604050505020304" pitchFamily="18" charset="0"/>
              </a:rPr>
              <a:t>table_name</a:t>
            </a:r>
            <a:endParaRPr lang="en-US" sz="2000" dirty="0">
              <a:latin typeface="Century Schoolbook" panose="02040604050505020304" pitchFamily="18" charset="0"/>
            </a:endParaRPr>
          </a:p>
          <a:p>
            <a:r>
              <a:rPr lang="en-US" sz="2000" dirty="0">
                <a:latin typeface="Century Schoolbook" panose="02040604050505020304" pitchFamily="18" charset="0"/>
              </a:rPr>
              <a:t>WHERE condition;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2000" dirty="0">
                <a:latin typeface="Century Schoolbook" panose="02040604050505020304" pitchFamily="18" charset="0"/>
              </a:rPr>
              <a:t>SELECT * FROM Student WHERE Age &gt; 18;</a:t>
            </a:r>
          </a:p>
          <a:p>
            <a:endParaRPr lang="en-IN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610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3FA0-FCFE-36C1-5984-A2DDCAD3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7651"/>
            <a:ext cx="9905955" cy="84557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Having clause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5EFF3-88CB-5130-CECF-51BDF1BC3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087" y="707923"/>
            <a:ext cx="10539313" cy="627789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HAVING clause is used to filter groups based on a condition.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It is similar to the WHERE clause, but HAVING works with aggregate functions, while WHERE does not.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000" b="1" dirty="0">
                <a:latin typeface="Century Schoolbook" panose="02040604050505020304" pitchFamily="18" charset="0"/>
              </a:rPr>
              <a:t>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000" b="1" dirty="0">
                <a:latin typeface="Century Schoolbook" panose="02040604050505020304" pitchFamily="18" charset="0"/>
              </a:rPr>
              <a:t>, </a:t>
            </a:r>
            <a:r>
              <a:rPr lang="en-US" sz="2000" b="1" dirty="0" err="1">
                <a:latin typeface="Century Schoolbook" panose="02040604050505020304" pitchFamily="18" charset="0"/>
              </a:rPr>
              <a:t>aggregate_function</a:t>
            </a:r>
            <a:r>
              <a:rPr lang="en-US" sz="2000" b="1" dirty="0">
                <a:latin typeface="Century Schoolbook" panose="02040604050505020304" pitchFamily="18" charset="0"/>
              </a:rPr>
              <a:t>(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000" b="1" dirty="0">
                <a:latin typeface="Century Schoolbook" panose="02040604050505020304" pitchFamily="18" charset="0"/>
              </a:rPr>
              <a:t>)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</a:t>
            </a:r>
            <a:r>
              <a:rPr lang="en-US" sz="2000" b="1" dirty="0" err="1">
                <a:latin typeface="Century Schoolbook" panose="02040604050505020304" pitchFamily="18" charset="0"/>
              </a:rPr>
              <a:t>table_name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GROUP BY 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HAVING condition;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Course, COUNT(*)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Student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GROUP BY Course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HAVING COUNT(*) &gt; 2;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313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9D08-303C-8A29-8457-059E0BEC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86813"/>
            <a:ext cx="9905955" cy="98322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Group by clause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8F200-1075-A2D5-2A06-375B2B8B1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3255" y="668594"/>
            <a:ext cx="10667132" cy="625823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GROUP BY clause is used to arrange identical data into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It is generally used with aggregate functions (like COUNT(), MAX(), MIN(), AVG(), SUM()) to perform calculations on each group of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000" b="1" dirty="0">
                <a:latin typeface="Century Schoolbook" panose="02040604050505020304" pitchFamily="18" charset="0"/>
              </a:rPr>
              <a:t>, </a:t>
            </a:r>
            <a:r>
              <a:rPr lang="en-US" sz="2000" b="1" dirty="0" err="1">
                <a:latin typeface="Century Schoolbook" panose="02040604050505020304" pitchFamily="18" charset="0"/>
              </a:rPr>
              <a:t>aggregate_function</a:t>
            </a:r>
            <a:r>
              <a:rPr lang="en-US" sz="2000" b="1" dirty="0">
                <a:latin typeface="Century Schoolbook" panose="02040604050505020304" pitchFamily="18" charset="0"/>
              </a:rPr>
              <a:t>(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000" b="1" dirty="0">
                <a:latin typeface="Century Schoolbook" panose="02040604050505020304" pitchFamily="18" charset="0"/>
              </a:rPr>
              <a:t>)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</a:t>
            </a:r>
            <a:r>
              <a:rPr lang="en-US" sz="2000" b="1" dirty="0" err="1">
                <a:latin typeface="Century Schoolbook" panose="02040604050505020304" pitchFamily="18" charset="0"/>
              </a:rPr>
              <a:t>table_name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GROUP BY 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Course, COUNT(*)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Student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GROUP BY Course;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3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A627-9EAF-0DF5-2921-86C5E8B2A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443" y="-78658"/>
            <a:ext cx="9905955" cy="77674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Order by clause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CB0F4-6ADD-E420-0A74-741541927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6789" y="226142"/>
            <a:ext cx="10251262" cy="586494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The ORDER BY clause is used to sort the result set of a query in ascending (ASC) or descending (DESC) order.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By default, it sorts the data in ascending order.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FROM </a:t>
            </a:r>
            <a:r>
              <a:rPr lang="en-US" sz="2000" b="1" dirty="0" err="1">
                <a:latin typeface="Century Schoolbook" panose="02040604050505020304" pitchFamily="18" charset="0"/>
              </a:rPr>
              <a:t>table_name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ORDER BY </a:t>
            </a:r>
            <a:r>
              <a:rPr lang="en-US" sz="20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000" b="1" dirty="0">
                <a:latin typeface="Century Schoolbook" panose="02040604050505020304" pitchFamily="18" charset="0"/>
              </a:rPr>
              <a:t> [ASC | DESC];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* FROM Student ORDER BY Name ASC;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485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FFA-6A0A-2926-B2DE-1377908A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15" y="-147484"/>
            <a:ext cx="9905955" cy="97339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2.5]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functions in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9EDDA-5F7E-118E-E405-A1F852FB7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4933" y="752168"/>
            <a:ext cx="10627802" cy="610583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SQL (Structured Query Language), functions are predefined programs or built-in operations that perform specific tasks on data and return a value.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are used to manipulate data, perform calculations, and extract useful information from database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Functions make SQL queries more powerful and efficient.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SQL Functions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SQL functions are mainly divided into the following categories: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Date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Time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String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Aggregate Functions.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283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F7C9-63C4-7940-8147-AB1BE4292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734" y="-167148"/>
            <a:ext cx="9905955" cy="99305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Date function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F044B-7179-C9D3-D915-C98B50901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3393" y="629266"/>
            <a:ext cx="10609007" cy="310699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Date functions are used to manipulate and extract information from date values in a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They help to perform operations such as getting the current date, extracting a part of a date, or calculating the difference between dates.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Common Date Functions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E7EBFF-421D-B23D-90DA-7A566E731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19628"/>
              </p:ext>
            </p:extLst>
          </p:nvPr>
        </p:nvGraphicFramePr>
        <p:xfrm>
          <a:off x="1072585" y="3291840"/>
          <a:ext cx="9297270" cy="3566160"/>
        </p:xfrm>
        <a:graphic>
          <a:graphicData uri="http://schemas.openxmlformats.org/drawingml/2006/table">
            <a:tbl>
              <a:tblPr/>
              <a:tblGrid>
                <a:gridCol w="3099090">
                  <a:extLst>
                    <a:ext uri="{9D8B030D-6E8A-4147-A177-3AD203B41FA5}">
                      <a16:colId xmlns:a16="http://schemas.microsoft.com/office/drawing/2014/main" val="2422215100"/>
                    </a:ext>
                  </a:extLst>
                </a:gridCol>
                <a:gridCol w="3099090">
                  <a:extLst>
                    <a:ext uri="{9D8B030D-6E8A-4147-A177-3AD203B41FA5}">
                      <a16:colId xmlns:a16="http://schemas.microsoft.com/office/drawing/2014/main" val="3723982187"/>
                    </a:ext>
                  </a:extLst>
                </a:gridCol>
                <a:gridCol w="3099090">
                  <a:extLst>
                    <a:ext uri="{9D8B030D-6E8A-4147-A177-3AD203B41FA5}">
                      <a16:colId xmlns:a16="http://schemas.microsoft.com/office/drawing/2014/main" val="4124463308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Function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28567"/>
                  </a:ext>
                </a:extLst>
              </a:tr>
              <a:tr h="61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CURRENT_DATE()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the current system date.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CURRENT_DATE();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212278"/>
                  </a:ext>
                </a:extLst>
              </a:tr>
              <a:tr h="61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DATE()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Extracts the date part from a date/time value.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DATE('2025-10-30 08:15:00');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332618"/>
                  </a:ext>
                </a:extLst>
              </a:tr>
              <a:tr h="61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DAY(date)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the day part of a date.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DAY('2025-10-30');</a:t>
                      </a:r>
                      <a:r>
                        <a:rPr lang="en-IN"/>
                        <a:t> → 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82923"/>
                  </a:ext>
                </a:extLst>
              </a:tr>
              <a:tr h="61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MONTH(date)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the month part of a date.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MONTH('2025-10-30');</a:t>
                      </a:r>
                      <a:r>
                        <a:rPr lang="en-IN"/>
                        <a:t> →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893886"/>
                  </a:ext>
                </a:extLst>
              </a:tr>
              <a:tr h="615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YEAR(date)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the year part of a date.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SELECT YEAR('2025-10-30');</a:t>
                      </a:r>
                      <a:r>
                        <a:rPr lang="en-IN" dirty="0"/>
                        <a:t> → 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718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818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6C89-3B63-3599-C8C5-1C62622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0"/>
            <a:ext cx="9905955" cy="82591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Time function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4982F-6C44-7A77-0F26-76136531B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5772" y="604016"/>
            <a:ext cx="10686796" cy="26915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Time functions are used to work with time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They can extract or modify parts of a time (like hours, minutes, seconds).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Common Time Functions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ADB6C14-7378-7FEE-AF8D-A5967B1D7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183251"/>
              </p:ext>
            </p:extLst>
          </p:nvPr>
        </p:nvGraphicFramePr>
        <p:xfrm>
          <a:off x="1143022" y="2784319"/>
          <a:ext cx="9838089" cy="3562404"/>
        </p:xfrm>
        <a:graphic>
          <a:graphicData uri="http://schemas.openxmlformats.org/drawingml/2006/table">
            <a:tbl>
              <a:tblPr/>
              <a:tblGrid>
                <a:gridCol w="3279363">
                  <a:extLst>
                    <a:ext uri="{9D8B030D-6E8A-4147-A177-3AD203B41FA5}">
                      <a16:colId xmlns:a16="http://schemas.microsoft.com/office/drawing/2014/main" val="3030489857"/>
                    </a:ext>
                  </a:extLst>
                </a:gridCol>
                <a:gridCol w="3279363">
                  <a:extLst>
                    <a:ext uri="{9D8B030D-6E8A-4147-A177-3AD203B41FA5}">
                      <a16:colId xmlns:a16="http://schemas.microsoft.com/office/drawing/2014/main" val="3947042141"/>
                    </a:ext>
                  </a:extLst>
                </a:gridCol>
                <a:gridCol w="3279363">
                  <a:extLst>
                    <a:ext uri="{9D8B030D-6E8A-4147-A177-3AD203B41FA5}">
                      <a16:colId xmlns:a16="http://schemas.microsoft.com/office/drawing/2014/main" val="3920181764"/>
                    </a:ext>
                  </a:extLst>
                </a:gridCol>
              </a:tblGrid>
              <a:tr h="36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Example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575348"/>
                  </a:ext>
                </a:extLst>
              </a:tr>
              <a:tr h="36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CURRENT_TIME()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current system time.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SELECT CURRENT_TIME();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981567"/>
                  </a:ext>
                </a:extLst>
              </a:tr>
              <a:tr h="635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HOUR(time)</a:t>
                      </a:r>
                      <a:endParaRPr lang="en-IN" sz="1800" dirty="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hour part of a time value.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SELECT HOUR('08:30:45');</a:t>
                      </a:r>
                      <a:r>
                        <a:rPr lang="en-IN" sz="1800"/>
                        <a:t> → 8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679454"/>
                  </a:ext>
                </a:extLst>
              </a:tr>
              <a:tr h="908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MINUTE(time)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minute part of a time value.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SELECT MINUTE('08:30:45');</a:t>
                      </a:r>
                      <a:r>
                        <a:rPr lang="en-IN" sz="1800"/>
                        <a:t> → 30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11018"/>
                  </a:ext>
                </a:extLst>
              </a:tr>
              <a:tr h="908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SECOND(time)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seconds part of a time value.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SELECT SECOND('08:30:45');</a:t>
                      </a:r>
                      <a:r>
                        <a:rPr lang="en-IN" sz="1800"/>
                        <a:t> → 45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088197"/>
                  </a:ext>
                </a:extLst>
              </a:tr>
              <a:tr h="36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NOW()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current date and time.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SELECT NOW();</a:t>
                      </a:r>
                      <a:endParaRPr lang="en-IN" sz="1800" dirty="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851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859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ED17-B2D7-4C54-0683-3006D067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98322"/>
            <a:ext cx="9905955" cy="875071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String functions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59807-A8C1-B69A-B0BF-232196926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4429" y="629265"/>
            <a:ext cx="10637636" cy="287101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String functions are used to manipulate and process text (character strings).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They are helpful for formatting, extracting, and converting string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Common String Functions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33D021-A6A0-1A81-B4F3-36E92BB3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98593"/>
              </p:ext>
            </p:extLst>
          </p:nvPr>
        </p:nvGraphicFramePr>
        <p:xfrm>
          <a:off x="1471332" y="3016404"/>
          <a:ext cx="8075790" cy="3767854"/>
        </p:xfrm>
        <a:graphic>
          <a:graphicData uri="http://schemas.openxmlformats.org/drawingml/2006/table">
            <a:tbl>
              <a:tblPr/>
              <a:tblGrid>
                <a:gridCol w="2691930">
                  <a:extLst>
                    <a:ext uri="{9D8B030D-6E8A-4147-A177-3AD203B41FA5}">
                      <a16:colId xmlns:a16="http://schemas.microsoft.com/office/drawing/2014/main" val="3037399471"/>
                    </a:ext>
                  </a:extLst>
                </a:gridCol>
                <a:gridCol w="2691930">
                  <a:extLst>
                    <a:ext uri="{9D8B030D-6E8A-4147-A177-3AD203B41FA5}">
                      <a16:colId xmlns:a16="http://schemas.microsoft.com/office/drawing/2014/main" val="4023999901"/>
                    </a:ext>
                  </a:extLst>
                </a:gridCol>
                <a:gridCol w="2691930">
                  <a:extLst>
                    <a:ext uri="{9D8B030D-6E8A-4147-A177-3AD203B41FA5}">
                      <a16:colId xmlns:a16="http://schemas.microsoft.com/office/drawing/2014/main" val="1066170429"/>
                    </a:ext>
                  </a:extLst>
                </a:gridCol>
              </a:tblGrid>
              <a:tr h="307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Function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Description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Example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293690"/>
                  </a:ext>
                </a:extLst>
              </a:tr>
              <a:tr h="5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LENGTH(str)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the number of characters in a string.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SELECT LENGTH('SQL');</a:t>
                      </a:r>
                      <a:r>
                        <a:rPr lang="en-IN" sz="1400"/>
                        <a:t> → 3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068750"/>
                  </a:ext>
                </a:extLst>
              </a:tr>
              <a:tr h="5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UPPER(str)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Converts a string to uppercase.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SELECT UPPER('sql');</a:t>
                      </a:r>
                      <a:r>
                        <a:rPr lang="en-IN" sz="1400"/>
                        <a:t> → SQL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471590"/>
                  </a:ext>
                </a:extLst>
              </a:tr>
              <a:tr h="5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LOWER(str)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Converts a string to lowercase.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SELECT LOWER('HELLO');</a:t>
                      </a:r>
                      <a:r>
                        <a:rPr lang="en-IN" sz="1400"/>
                        <a:t> → hello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4751"/>
                  </a:ext>
                </a:extLst>
              </a:tr>
              <a:tr h="5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CONCAT(str1, str2)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Joins two or more strings.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SELECT CONCAT('Data', 'Base');</a:t>
                      </a:r>
                      <a:r>
                        <a:rPr lang="en-IN" sz="1400"/>
                        <a:t> → Database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352819"/>
                  </a:ext>
                </a:extLst>
              </a:tr>
              <a:tr h="768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SUBSTRING(str, start, length)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Extracts part of a string.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SELECT SUBSTRING('Database', 1, 4);</a:t>
                      </a:r>
                      <a:r>
                        <a:rPr lang="en-US" sz="1400"/>
                        <a:t> → Data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086925"/>
                  </a:ext>
                </a:extLst>
              </a:tr>
              <a:tr h="5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TRIM(str)</a:t>
                      </a:r>
                      <a:endParaRPr lang="en-IN" sz="1400"/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leading and trailing spaces.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SELECT TRIM(' SQL ');</a:t>
                      </a:r>
                      <a:r>
                        <a:rPr lang="en-IN" sz="1400" dirty="0"/>
                        <a:t> → SQL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4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816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01DD-A73E-BF09-0F66-62A94DF8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359" y="-176981"/>
            <a:ext cx="9905955" cy="106680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Aggregate functions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CE808-86BE-66BB-C9A2-03BCDC0B4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435" y="646471"/>
            <a:ext cx="10706462" cy="279973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Aggregate functions are used to perform calculations on a group of values and return a single summarized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They are mostly used with the GROUP BY clause.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Common Aggregate Functions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D37035-FE71-961A-955A-B29DD8ED8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42375"/>
              </p:ext>
            </p:extLst>
          </p:nvPr>
        </p:nvGraphicFramePr>
        <p:xfrm>
          <a:off x="1300291" y="3025722"/>
          <a:ext cx="9838089" cy="3562404"/>
        </p:xfrm>
        <a:graphic>
          <a:graphicData uri="http://schemas.openxmlformats.org/drawingml/2006/table">
            <a:tbl>
              <a:tblPr/>
              <a:tblGrid>
                <a:gridCol w="3279363">
                  <a:extLst>
                    <a:ext uri="{9D8B030D-6E8A-4147-A177-3AD203B41FA5}">
                      <a16:colId xmlns:a16="http://schemas.microsoft.com/office/drawing/2014/main" val="4085384281"/>
                    </a:ext>
                  </a:extLst>
                </a:gridCol>
                <a:gridCol w="3279363">
                  <a:extLst>
                    <a:ext uri="{9D8B030D-6E8A-4147-A177-3AD203B41FA5}">
                      <a16:colId xmlns:a16="http://schemas.microsoft.com/office/drawing/2014/main" val="1329969958"/>
                    </a:ext>
                  </a:extLst>
                </a:gridCol>
                <a:gridCol w="3279363">
                  <a:extLst>
                    <a:ext uri="{9D8B030D-6E8A-4147-A177-3AD203B41FA5}">
                      <a16:colId xmlns:a16="http://schemas.microsoft.com/office/drawing/2014/main" val="2073038842"/>
                    </a:ext>
                  </a:extLst>
                </a:gridCol>
              </a:tblGrid>
              <a:tr h="363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Example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027720"/>
                  </a:ext>
                </a:extLst>
              </a:tr>
              <a:tr h="635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COUNT()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number of rows.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SELECT COUNT(*) FROM Student;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890286"/>
                  </a:ext>
                </a:extLst>
              </a:tr>
              <a:tr h="635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SUM()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total sum of a numeric column.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SELECT SUM(Salary) FROM Employee;</a:t>
                      </a:r>
                      <a:endParaRPr lang="en-US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02023"/>
                  </a:ext>
                </a:extLst>
              </a:tr>
              <a:tr h="635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AVG()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average value of a numeric column.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SELECT AVG(Marks) FROM Student;</a:t>
                      </a:r>
                      <a:endParaRPr lang="en-US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195399"/>
                  </a:ext>
                </a:extLst>
              </a:tr>
              <a:tr h="635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MAX()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maximum value in a column.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SELECT MAX(Salary) FROM Employee;</a:t>
                      </a:r>
                      <a:endParaRPr lang="en-US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237168"/>
                  </a:ext>
                </a:extLst>
              </a:tr>
              <a:tr h="635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MIN()</a:t>
                      </a:r>
                      <a:endParaRPr lang="en-IN" sz="180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minimum value in a column.</a:t>
                      </a:r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SELECT MIN(Salary) FROM Employee;</a:t>
                      </a:r>
                      <a:endParaRPr lang="en-US" sz="1800" dirty="0"/>
                    </a:p>
                  </a:txBody>
                  <a:tcPr marL="90813" marR="90813" marT="45407" marB="454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947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17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32C8-0174-35E1-F1F4-A0D6A258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47484"/>
            <a:ext cx="9905955" cy="97339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2.6]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concept of nested query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04758-6AC6-140A-8F39-EB6D18C55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100" y="452285"/>
            <a:ext cx="10657299" cy="618940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Nested Query (also called a Subquery) is a query that is written inside another query.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 inner query provides data to the outer query.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nested query is a query that is embedded inside another SQL query such as a SELECT, INSERT, UPDATE, or DELETE statement.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is enclosed within parentheses ().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dirty="0">
                <a:latin typeface="Century Schoolbook" panose="02040604050505020304" pitchFamily="18" charset="0"/>
              </a:rPr>
              <a:t> </a:t>
            </a:r>
            <a:r>
              <a:rPr lang="en-US" sz="2600" b="1" u="sng" dirty="0">
                <a:latin typeface="Century Schoolbook" panose="02040604050505020304" pitchFamily="18" charset="0"/>
              </a:rPr>
              <a:t>Types of Nested Queries</a:t>
            </a:r>
            <a:r>
              <a:rPr lang="en-US" sz="2600" b="1" dirty="0"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Single-row Subquery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Returns only one row of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Multiple-row Subquery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Returns more than one row of result.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Multiple-column Subquery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Returns more than one column.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Correlated Subquery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The inner query depends on the outer query for its values. It is executed repeatedly for each row of the outer query.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31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3A4E-BFDD-833C-1E92-9C30DB4C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27820"/>
            <a:ext cx="9905955" cy="95372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2.7]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concept of join in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2F5D8-20A6-5E3E-BD30-3EC057F3F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5939" y="471949"/>
            <a:ext cx="10716293" cy="621890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Join is used to combine data from two or more tables based on a related column between them.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helps retrieve data that is stored across multiple tables in a relational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JOIN clause is used to combine rows from two or more tables based on a common column (usually a foreign key and a primary key relationship).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join in SQL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Equi Join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Non-Equi join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Outer Join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Self join </a:t>
            </a:r>
          </a:p>
        </p:txBody>
      </p:sp>
    </p:spTree>
    <p:extLst>
      <p:ext uri="{BB962C8B-B14F-4D97-AF65-F5344CB8AC3E}">
        <p14:creationId xmlns:p14="http://schemas.microsoft.com/office/powerpoint/2010/main" val="882892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C796-EE05-0753-6E45-B030C46D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47484"/>
            <a:ext cx="9905955" cy="98322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Equi join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E6778-F8F1-85AE-C43E-8519C8059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2266" y="324466"/>
            <a:ext cx="10647468" cy="606650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join condition using the equality (=) operator to match columns between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result includes only rows where the specified columns in both tables are equal.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students.name, </a:t>
            </a:r>
            <a:r>
              <a:rPr lang="en-US" sz="2000" b="1" dirty="0" err="1">
                <a:latin typeface="Century Schoolbook" panose="02040604050505020304" pitchFamily="18" charset="0"/>
              </a:rPr>
              <a:t>departments.dept_name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FROM students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JOIN departments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ON </a:t>
            </a:r>
            <a:r>
              <a:rPr lang="en-US" sz="2000" b="1" dirty="0" err="1">
                <a:latin typeface="Century Schoolbook" panose="02040604050505020304" pitchFamily="18" charset="0"/>
              </a:rPr>
              <a:t>students.dept_id</a:t>
            </a:r>
            <a:r>
              <a:rPr lang="en-US" sz="2000" b="1" dirty="0">
                <a:latin typeface="Century Schoolbook" panose="02040604050505020304" pitchFamily="18" charset="0"/>
              </a:rPr>
              <a:t> = </a:t>
            </a:r>
            <a:r>
              <a:rPr lang="en-US" sz="2000" b="1" dirty="0" err="1">
                <a:latin typeface="Century Schoolbook" panose="02040604050505020304" pitchFamily="18" charset="0"/>
              </a:rPr>
              <a:t>departments.dept_id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→ </a:t>
            </a:r>
            <a:r>
              <a:rPr lang="en-US" sz="2400" b="1" dirty="0">
                <a:latin typeface="Century Schoolbook" panose="02040604050505020304" pitchFamily="18" charset="0"/>
              </a:rPr>
              <a:t>Returns students with their department names where </a:t>
            </a:r>
            <a:r>
              <a:rPr lang="en-US" sz="2400" b="1" dirty="0" err="1">
                <a:latin typeface="Century Schoolbook" panose="02040604050505020304" pitchFamily="18" charset="0"/>
              </a:rPr>
              <a:t>dept_id</a:t>
            </a:r>
            <a:r>
              <a:rPr lang="en-US" sz="2400" b="1" dirty="0">
                <a:latin typeface="Century Schoolbook" panose="02040604050505020304" pitchFamily="18" charset="0"/>
              </a:rPr>
              <a:t> values match.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358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7EB0-1804-6D36-4ED6-E5B758A1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27819"/>
            <a:ext cx="9905955" cy="875071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Non -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equi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join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1506A-9101-D8A0-42E9-DA1782A0E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436" y="599769"/>
            <a:ext cx="10657299" cy="52012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join does not use an equality (=) condition.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uses other comparison operators such as &lt;, &gt;, &lt;=, &gt;=, or BETWEEN.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</a:t>
            </a:r>
            <a:r>
              <a:rPr lang="en-US" sz="2000" b="1" dirty="0" err="1">
                <a:latin typeface="Century Schoolbook" panose="02040604050505020304" pitchFamily="18" charset="0"/>
              </a:rPr>
              <a:t>emp_name</a:t>
            </a:r>
            <a:r>
              <a:rPr lang="en-US" sz="2000" b="1" dirty="0">
                <a:latin typeface="Century Schoolbook" panose="02040604050505020304" pitchFamily="18" charset="0"/>
              </a:rPr>
              <a:t>, salary, grade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employees e, </a:t>
            </a:r>
            <a:r>
              <a:rPr lang="en-US" sz="2000" b="1" dirty="0" err="1">
                <a:latin typeface="Century Schoolbook" panose="02040604050505020304" pitchFamily="18" charset="0"/>
              </a:rPr>
              <a:t>salary_grade</a:t>
            </a:r>
            <a:r>
              <a:rPr lang="en-US" sz="2000" b="1" dirty="0">
                <a:latin typeface="Century Schoolbook" panose="02040604050505020304" pitchFamily="18" charset="0"/>
              </a:rPr>
              <a:t> 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WHERE </a:t>
            </a:r>
            <a:r>
              <a:rPr lang="en-US" sz="2000" b="1" dirty="0" err="1">
                <a:latin typeface="Century Schoolbook" panose="02040604050505020304" pitchFamily="18" charset="0"/>
              </a:rPr>
              <a:t>e.salary</a:t>
            </a:r>
            <a:r>
              <a:rPr lang="en-US" sz="2000" b="1" dirty="0">
                <a:latin typeface="Century Schoolbook" panose="02040604050505020304" pitchFamily="18" charset="0"/>
              </a:rPr>
              <a:t> BETWEEN </a:t>
            </a:r>
            <a:r>
              <a:rPr lang="en-US" sz="2000" b="1" dirty="0" err="1">
                <a:latin typeface="Century Schoolbook" panose="02040604050505020304" pitchFamily="18" charset="0"/>
              </a:rPr>
              <a:t>s.min_salary</a:t>
            </a:r>
            <a:r>
              <a:rPr lang="en-US" sz="2000" b="1" dirty="0">
                <a:latin typeface="Century Schoolbook" panose="02040604050505020304" pitchFamily="18" charset="0"/>
              </a:rPr>
              <a:t> AND </a:t>
            </a:r>
            <a:r>
              <a:rPr lang="en-US" sz="2000" b="1" dirty="0" err="1">
                <a:latin typeface="Century Schoolbook" panose="02040604050505020304" pitchFamily="18" charset="0"/>
              </a:rPr>
              <a:t>s.max_salary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→ Returns employee names with their salary grades where salary falls within the grade range.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844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72D9-3C85-4714-40B3-4E8FD61D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7652"/>
            <a:ext cx="9905955" cy="963561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Outer join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FBA3E-4B0F-DA24-2A47-847A4CE0D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3057" y="609600"/>
            <a:ext cx="10402095" cy="617957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Returns matching rows from both tables and the non-matching rows from one or both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divided into three types: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LEFT OUTER JOIN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Returns all rows from the left table, and matching rows from the right table.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SELECT students.name, </a:t>
            </a:r>
            <a:r>
              <a:rPr lang="en-US" b="1" dirty="0" err="1">
                <a:latin typeface="Century Schoolbook" panose="02040604050505020304" pitchFamily="18" charset="0"/>
              </a:rPr>
              <a:t>departments.dept_name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FROM students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LEFT OUTER JOIN departments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ON </a:t>
            </a:r>
            <a:r>
              <a:rPr lang="en-US" b="1" dirty="0" err="1">
                <a:latin typeface="Century Schoolbook" panose="02040604050505020304" pitchFamily="18" charset="0"/>
              </a:rPr>
              <a:t>students.dept_id</a:t>
            </a:r>
            <a:r>
              <a:rPr lang="en-US" b="1" dirty="0">
                <a:latin typeface="Century Schoolbook" panose="02040604050505020304" pitchFamily="18" charset="0"/>
              </a:rPr>
              <a:t> = </a:t>
            </a:r>
            <a:r>
              <a:rPr lang="en-US" b="1" dirty="0" err="1">
                <a:latin typeface="Century Schoolbook" panose="02040604050505020304" pitchFamily="18" charset="0"/>
              </a:rPr>
              <a:t>departments.dept_id</a:t>
            </a:r>
            <a:r>
              <a:rPr lang="en-US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→ Shows all students even if they don’t belong to any department.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06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562B-4E8D-262B-DDD1-BD20D6CC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798" y="-3429000"/>
            <a:ext cx="9905955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71855-1AF6-8100-DC43-55911B659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798" y="73741"/>
            <a:ext cx="10755576" cy="691699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RIGHT OUTER JOIN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Returns all rows from the right table, and matching rows from the left table.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SELECT students.name, </a:t>
            </a:r>
            <a:r>
              <a:rPr lang="en-US" b="1" dirty="0" err="1">
                <a:latin typeface="Century Schoolbook" panose="02040604050505020304" pitchFamily="18" charset="0"/>
              </a:rPr>
              <a:t>departments.dept_name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FROM students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RIGHT OUTER JOIN departments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ON </a:t>
            </a:r>
            <a:r>
              <a:rPr lang="en-US" b="1" dirty="0" err="1">
                <a:latin typeface="Century Schoolbook" panose="02040604050505020304" pitchFamily="18" charset="0"/>
              </a:rPr>
              <a:t>students.dept_id</a:t>
            </a:r>
            <a:r>
              <a:rPr lang="en-US" b="1" dirty="0">
                <a:latin typeface="Century Schoolbook" panose="02040604050505020304" pitchFamily="18" charset="0"/>
              </a:rPr>
              <a:t> = </a:t>
            </a:r>
            <a:r>
              <a:rPr lang="en-US" b="1" dirty="0" err="1">
                <a:latin typeface="Century Schoolbook" panose="02040604050505020304" pitchFamily="18" charset="0"/>
              </a:rPr>
              <a:t>departments.dept_id</a:t>
            </a:r>
            <a:r>
              <a:rPr lang="en-US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→ </a:t>
            </a:r>
            <a:r>
              <a:rPr lang="en-US" sz="2000" b="1" dirty="0">
                <a:latin typeface="Century Schoolbook" panose="02040604050505020304" pitchFamily="18" charset="0"/>
              </a:rPr>
              <a:t>Shows all departments even if they have no students.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FULL OUTER JOIN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Returns all rows from both tables, matching and non-matching.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SELECT students.name, </a:t>
            </a:r>
            <a:r>
              <a:rPr lang="en-US" b="1" dirty="0" err="1">
                <a:latin typeface="Century Schoolbook" panose="02040604050505020304" pitchFamily="18" charset="0"/>
              </a:rPr>
              <a:t>departments.dept_name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FROM students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FULL OUTER JOIN departments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ON </a:t>
            </a:r>
            <a:r>
              <a:rPr lang="en-US" b="1" dirty="0" err="1">
                <a:latin typeface="Century Schoolbook" panose="02040604050505020304" pitchFamily="18" charset="0"/>
              </a:rPr>
              <a:t>students.dept_id</a:t>
            </a:r>
            <a:r>
              <a:rPr lang="en-US" b="1" dirty="0">
                <a:latin typeface="Century Schoolbook" panose="02040604050505020304" pitchFamily="18" charset="0"/>
              </a:rPr>
              <a:t> = </a:t>
            </a:r>
            <a:r>
              <a:rPr lang="en-US" b="1" dirty="0" err="1">
                <a:latin typeface="Century Schoolbook" panose="02040604050505020304" pitchFamily="18" charset="0"/>
              </a:rPr>
              <a:t>departments.dept_id</a:t>
            </a:r>
            <a:r>
              <a:rPr lang="en-US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→ </a:t>
            </a:r>
            <a:r>
              <a:rPr lang="en-US" sz="2000" b="1" dirty="0">
                <a:latin typeface="Century Schoolbook" panose="02040604050505020304" pitchFamily="18" charset="0"/>
              </a:rPr>
              <a:t>Shows all students and all departments, whether matched or not.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97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8C4B-3F2F-4D41-B9C1-2F544AA3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49" y="-137652"/>
            <a:ext cx="9905955" cy="9144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Self join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EB0BD-7218-6833-78D9-8FF96D087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175" y="462116"/>
            <a:ext cx="10519649" cy="525042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Self Join is a join of a table with itself.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used when comparing rows within the same table.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SELECT e1.emp_name AS Employee, e2.emp_name AS Manager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FROM employees e1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JOIN employees e2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ON e1.manager_id = e2.emp_id;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→ Finds each employee along with their manager’s name (both stored in the same table).</a:t>
            </a:r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667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B1AC-5628-B610-232A-7EA98575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7652"/>
            <a:ext cx="9905955" cy="93406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2.8]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views in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dbms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2E280-E20C-998D-FEEC-2F75A81B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5771" y="658762"/>
            <a:ext cx="10667132" cy="575187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View is a virtual table that is based on the result of an SQL query.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It does not store data physically; it only displays data stored in one or more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View is a logical representation of one or more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is created using a SELECT query and acts as a window through which users can view or manipulate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Main purpose of Views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simplify complex queries.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provide security by restricting access to specific columns or rows.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present data in a customized format for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To maintain data independence - changes in base tables don’t affect the view structure.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42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0573-E865-B596-E273-AFC80E35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08155"/>
            <a:ext cx="9905955" cy="88490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Creating a view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AA6F6-8680-4149-933C-37CDD43F1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3926" y="403123"/>
            <a:ext cx="10608139" cy="590918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CREATE VIEW </a:t>
            </a:r>
            <a:r>
              <a:rPr lang="en-US" sz="2000" b="1" dirty="0" err="1">
                <a:latin typeface="Century Schoolbook" panose="02040604050505020304" pitchFamily="18" charset="0"/>
              </a:rPr>
              <a:t>view_name</a:t>
            </a:r>
            <a:r>
              <a:rPr lang="en-US" sz="2000" b="1" dirty="0">
                <a:latin typeface="Century Schoolbook" panose="02040604050505020304" pitchFamily="18" charset="0"/>
              </a:rPr>
              <a:t> AS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column1, column2, ...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</a:t>
            </a:r>
            <a:r>
              <a:rPr lang="en-US" sz="2000" b="1" dirty="0" err="1">
                <a:latin typeface="Century Schoolbook" panose="02040604050505020304" pitchFamily="18" charset="0"/>
              </a:rPr>
              <a:t>table_name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r>
              <a:rPr lang="en-US" sz="2000" b="1" dirty="0">
                <a:latin typeface="Century Schoolbook" panose="02040604050505020304" pitchFamily="18" charset="0"/>
              </a:rPr>
              <a:t>WHERE condition;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CREATE VIEW </a:t>
            </a:r>
            <a:r>
              <a:rPr lang="en-US" sz="2000" b="1" dirty="0" err="1">
                <a:latin typeface="Century Schoolbook" panose="02040604050505020304" pitchFamily="18" charset="0"/>
              </a:rPr>
              <a:t>student_info</a:t>
            </a:r>
            <a:r>
              <a:rPr lang="en-US" sz="2000" b="1" dirty="0">
                <a:latin typeface="Century Schoolbook" panose="02040604050505020304" pitchFamily="18" charset="0"/>
              </a:rPr>
              <a:t> AS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SELECT name, </a:t>
            </a:r>
            <a:r>
              <a:rPr lang="en-US" sz="2000" b="1" dirty="0" err="1">
                <a:latin typeface="Century Schoolbook" panose="02040604050505020304" pitchFamily="18" charset="0"/>
              </a:rPr>
              <a:t>dept_id</a:t>
            </a:r>
            <a:r>
              <a:rPr lang="en-US" sz="2000" b="1" dirty="0">
                <a:latin typeface="Century Schoolbook" panose="02040604050505020304" pitchFamily="18" charset="0"/>
              </a:rPr>
              <a:t>, marks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FROM students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WHERE marks &gt; 60;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→ Creates a view showing only students who scored more than 60 marks.</a:t>
            </a:r>
          </a:p>
        </p:txBody>
      </p:sp>
    </p:spTree>
    <p:extLst>
      <p:ext uri="{BB962C8B-B14F-4D97-AF65-F5344CB8AC3E}">
        <p14:creationId xmlns:p14="http://schemas.microsoft.com/office/powerpoint/2010/main" val="648782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BFA5-6619-3A3B-538A-A843E1C4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108155"/>
            <a:ext cx="9905955" cy="88490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Updating a view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D0AE-C7CA-C4C2-8CBC-90B6CE9F2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491614"/>
            <a:ext cx="9904459" cy="625823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If the view is updatable (i.e., based on a single table without group functions, DISTINCT, etc.),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You can update it using the CREATE OR REPLACE statement.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CREATE OR REPLACE VIEW </a:t>
            </a:r>
            <a:r>
              <a:rPr lang="en-US" b="1" dirty="0" err="1">
                <a:latin typeface="Century Schoolbook" panose="02040604050505020304" pitchFamily="18" charset="0"/>
              </a:rPr>
              <a:t>view_name</a:t>
            </a:r>
            <a:r>
              <a:rPr lang="en-US" b="1" dirty="0">
                <a:latin typeface="Century Schoolbook" panose="02040604050505020304" pitchFamily="18" charset="0"/>
              </a:rPr>
              <a:t> AS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SELECT column1, column2, ...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FROM </a:t>
            </a:r>
            <a:r>
              <a:rPr lang="en-US" b="1" dirty="0" err="1">
                <a:latin typeface="Century Schoolbook" panose="02040604050505020304" pitchFamily="18" charset="0"/>
              </a:rPr>
              <a:t>table_name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WHERE </a:t>
            </a:r>
            <a:r>
              <a:rPr lang="en-US" b="1" dirty="0" err="1">
                <a:latin typeface="Century Schoolbook" panose="02040604050505020304" pitchFamily="18" charset="0"/>
              </a:rPr>
              <a:t>new_condition</a:t>
            </a:r>
            <a:r>
              <a:rPr lang="en-US" b="1" dirty="0">
                <a:latin typeface="Century Schoolbook" panose="02040604050505020304" pitchFamily="18" charset="0"/>
              </a:rPr>
              <a:t>;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CREATE OR REPLACE VIEW </a:t>
            </a:r>
            <a:r>
              <a:rPr lang="en-US" b="1" dirty="0" err="1">
                <a:latin typeface="Century Schoolbook" panose="02040604050505020304" pitchFamily="18" charset="0"/>
              </a:rPr>
              <a:t>student_info</a:t>
            </a:r>
            <a:r>
              <a:rPr lang="en-US" b="1" dirty="0">
                <a:latin typeface="Century Schoolbook" panose="02040604050505020304" pitchFamily="18" charset="0"/>
              </a:rPr>
              <a:t> AS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SELECT name, </a:t>
            </a:r>
            <a:r>
              <a:rPr lang="en-US" b="1" dirty="0" err="1">
                <a:latin typeface="Century Schoolbook" panose="02040604050505020304" pitchFamily="18" charset="0"/>
              </a:rPr>
              <a:t>dept_id</a:t>
            </a:r>
            <a:r>
              <a:rPr lang="en-US" b="1" dirty="0">
                <a:latin typeface="Century Schoolbook" panose="02040604050505020304" pitchFamily="18" charset="0"/>
              </a:rPr>
              <a:t>, marks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FROM students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WHERE marks &gt; 75; 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→ Updates the existing view to now include students scoring above 75 marks.</a:t>
            </a:r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184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AFF1F-E305-219A-6936-38901C05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46" y="0"/>
            <a:ext cx="9905955" cy="89473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676D1-F313-5E43-C90A-C16C41B5D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5" y="894735"/>
            <a:ext cx="10598306" cy="596326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175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2182-7B5B-4BF2-91AE-CB5A7E82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573AC-6375-9DE7-7BB1-1230767D1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22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EE93-3AEE-FAF0-8469-54A0209A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10D7-145F-8DAB-F455-917A76AB1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251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D732-0440-DF27-A780-49BA6CD6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D6C18-13B6-2560-D4D4-DF980F6AC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4483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DBDF-3377-4560-D178-C447269A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A83A4-D6A6-502B-9DBD-C9D1C42BF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506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4E1A-5A90-E253-8030-D3983B543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9F620-6B88-DABF-AB0B-AC78CC766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2511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A874-AD64-C8A7-41F7-F309A8B3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235A8-E4B6-15A7-E968-6DD02954B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383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C55C-6437-48BC-C8CE-CF9B0EA9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E8B23-CF47-053A-75F1-BE3C5E833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945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859A-D984-4CE6-B970-FCE9C4D9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A9F92-E93F-3F3E-65AE-8B3FE02A3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076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A90F-AB35-9F4B-865C-A0EE3C2B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6151D-A081-68F2-0B19-9F3681A6C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15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1130</TotalTime>
  <Words>3969</Words>
  <Application>Microsoft Office PowerPoint</Application>
  <PresentationFormat>Widescreen</PresentationFormat>
  <Paragraphs>429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Algerian</vt:lpstr>
      <vt:lpstr>Arial</vt:lpstr>
      <vt:lpstr>Century Schoolbook</vt:lpstr>
      <vt:lpstr>Courier New</vt:lpstr>
      <vt:lpstr>Tw Cen MT</vt:lpstr>
      <vt:lpstr>Wingdings</vt:lpstr>
      <vt:lpstr>Circuit</vt:lpstr>
      <vt:lpstr>02. Relational Data Model</vt:lpstr>
      <vt:lpstr>2.1] basic concepts of relational model : -</vt:lpstr>
      <vt:lpstr>Domain : -</vt:lpstr>
      <vt:lpstr>Attribute : -</vt:lpstr>
      <vt:lpstr>Tuple : -</vt:lpstr>
      <vt:lpstr>Relation : -</vt:lpstr>
      <vt:lpstr>2.2] Codd’s rules of rdbms : -</vt:lpstr>
      <vt:lpstr>PowerPoint Presentation</vt:lpstr>
      <vt:lpstr>PowerPoint Presentation</vt:lpstr>
      <vt:lpstr>2.3] structured query language (sql) : -</vt:lpstr>
      <vt:lpstr>Data Types in SQL : -</vt:lpstr>
      <vt:lpstr>1. data definition language (ddl) : -</vt:lpstr>
      <vt:lpstr>Common ddl commands : -</vt:lpstr>
      <vt:lpstr>2. Data manipulation language (dml) : -</vt:lpstr>
      <vt:lpstr>Types of DML Commands : -</vt:lpstr>
      <vt:lpstr>3. Transaction control language (tcl) : -</vt:lpstr>
      <vt:lpstr>Common TCL Commands : -</vt:lpstr>
      <vt:lpstr>Data control language (dcl) : -</vt:lpstr>
      <vt:lpstr>Common DCL Commands : -</vt:lpstr>
      <vt:lpstr>2.4] clauses in sql : -</vt:lpstr>
      <vt:lpstr>1. Where clause : -</vt:lpstr>
      <vt:lpstr>2. Having clause : -</vt:lpstr>
      <vt:lpstr>3.  Group by clause : -</vt:lpstr>
      <vt:lpstr>4. Order by clause : -</vt:lpstr>
      <vt:lpstr>2.5] functions in sql : -</vt:lpstr>
      <vt:lpstr>1. Date function : -</vt:lpstr>
      <vt:lpstr>2. Time function : -</vt:lpstr>
      <vt:lpstr>3. String functions : -</vt:lpstr>
      <vt:lpstr>4. Aggregate functions : -</vt:lpstr>
      <vt:lpstr>2.6] concept of nested query : -</vt:lpstr>
      <vt:lpstr>2.7] concept of join in sql : -</vt:lpstr>
      <vt:lpstr>1. Equi join : -</vt:lpstr>
      <vt:lpstr>2. Non - equi join : -</vt:lpstr>
      <vt:lpstr>3. Outer join : -</vt:lpstr>
      <vt:lpstr>PowerPoint Presentation</vt:lpstr>
      <vt:lpstr>4. Self join : -</vt:lpstr>
      <vt:lpstr>2.8] views in dbms : -</vt:lpstr>
      <vt:lpstr>1. Creating a view : -</vt:lpstr>
      <vt:lpstr>2. Updating a view :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2025-10-30T14:42:02Z</dcterms:created>
  <dcterms:modified xsi:type="dcterms:W3CDTF">2025-11-03T06:04:37Z</dcterms:modified>
</cp:coreProperties>
</file>