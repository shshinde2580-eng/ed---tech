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4" r:id="rId18"/>
    <p:sldId id="273" r:id="rId19"/>
    <p:sldId id="275" r:id="rId20"/>
    <p:sldId id="276" r:id="rId21"/>
    <p:sldId id="277" r:id="rId22"/>
    <p:sldId id="278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C4D77C-888B-4C78-840C-0092A4A3BEE0}" v="47" dt="2025-10-21T16:22:37.9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064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6512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076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702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8933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8939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771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0931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1149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3302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77740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269589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0977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87590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07684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5517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5133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8949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5DE2E-7912-5B6F-3570-3B9783FEC8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46926" y="1494504"/>
            <a:ext cx="9528996" cy="2949525"/>
          </a:xfrm>
        </p:spPr>
        <p:txBody>
          <a:bodyPr>
            <a:normAutofit/>
          </a:bodyPr>
          <a:lstStyle/>
          <a:p>
            <a:pPr algn="ctr"/>
            <a:r>
              <a:rPr lang="en-IN" sz="8000" dirty="0">
                <a:solidFill>
                  <a:srgbClr val="FFFF00"/>
                </a:solidFill>
                <a:latin typeface="Algerian" panose="04020705040A02060702" pitchFamily="82" charset="0"/>
              </a:rPr>
              <a:t>05. Transaction Processing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F3C59C-D7A7-34C2-256D-467669A920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4914" y="4781909"/>
            <a:ext cx="8791575" cy="165576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7316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16C3-1113-1E58-8782-6C2A8C5CA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7534" y="-98323"/>
            <a:ext cx="9905955" cy="845574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5.1] </a:t>
            </a: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transaction concepts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54E321-6E8B-E977-1741-AA4BA56D86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75940" y="648929"/>
            <a:ext cx="10227549" cy="6209071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In a Database Management System (DBMS), a transaction is a sequence of one or more database operations (such as INSERT, UPDATE, DELETE, or SELECT) that are treated as a single logical unit of work.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A transaction ensures that the database remains in a consistent state even in case of failures such as system crashes, power loss, or concurrent access by multiple users.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</a:t>
            </a:r>
            <a:r>
              <a:rPr lang="en-US" sz="26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 of a Transaction</a:t>
            </a:r>
            <a:r>
              <a:rPr lang="en-US" sz="26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200" b="1" dirty="0">
                <a:latin typeface="Century Schoolbook" panose="02040604050505020304" pitchFamily="18" charset="0"/>
              </a:rPr>
              <a:t>Consider a bank transaction where ₹1000 is transferred from Account A to Account B.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</a:t>
            </a:r>
            <a:r>
              <a:rPr lang="en-US" sz="26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Steps involved</a:t>
            </a:r>
            <a:r>
              <a:rPr lang="en-US" sz="26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endParaRPr lang="en-US" sz="2400" b="1" dirty="0">
              <a:solidFill>
                <a:srgbClr val="FFFF00"/>
              </a:solidFill>
              <a:latin typeface="Century Schoolbook" panose="020406040505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Century Schoolbook" panose="02040604050505020304" pitchFamily="18" charset="0"/>
              </a:rPr>
              <a:t>Read balance of Account 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Century Schoolbook" panose="02040604050505020304" pitchFamily="18" charset="0"/>
              </a:rPr>
              <a:t>Subtract ₹1000 from Account 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Century Schoolbook" panose="02040604050505020304" pitchFamily="18" charset="0"/>
              </a:rPr>
              <a:t>Add ₹1000 to Account B.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Century Schoolbook" panose="02040604050505020304" pitchFamily="18" charset="0"/>
              </a:rPr>
              <a:t>Write new balances to both accounts.</a:t>
            </a:r>
          </a:p>
          <a:p>
            <a:endParaRPr lang="en-IN" sz="20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4965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50560-AB81-0F1D-D6F1-0B33B8B76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5071" y="-98323"/>
            <a:ext cx="11189110" cy="717755"/>
          </a:xfrm>
        </p:spPr>
        <p:txBody>
          <a:bodyPr>
            <a:normAutofit fontScale="90000"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u="sng" dirty="0">
                <a:solidFill>
                  <a:srgbClr val="FFFF00"/>
                </a:solidFill>
                <a:latin typeface="Algerian" panose="04020705040A02060702" pitchFamily="82" charset="0"/>
              </a:rPr>
              <a:t>Transaction Properties (ACID Properties)</a:t>
            </a:r>
            <a:r>
              <a:rPr lang="en-IN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2CC719-C39F-6189-373F-98B675E078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3562" y="619432"/>
            <a:ext cx="10569678" cy="4984955"/>
          </a:xfrm>
        </p:spPr>
        <p:txBody>
          <a:bodyPr>
            <a:normAutofit/>
          </a:bodyPr>
          <a:lstStyle/>
          <a:p>
            <a:pPr algn="just"/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1. </a:t>
            </a: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Atomicity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Atomicity means that a transaction is treated as a single, indivisible unit.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Either all operations of a transaction are executed successfully (commit) or none are executed (rollback).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If ₹1000 is deducted from Account A but not added to Account B due to a failure, the entire transaction is rolled back — so the money is not lost.</a:t>
            </a:r>
            <a:endParaRPr lang="en-US" sz="2000" b="1" dirty="0">
              <a:latin typeface="Century Schoolbook" panose="02040604050505020304" pitchFamily="18" charset="0"/>
            </a:endParaRPr>
          </a:p>
          <a:p>
            <a:endParaRPr lang="en-IN" sz="20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2036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4F0D9-0A9F-89F8-A5D7-A73EFCF33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0" y="-457202"/>
            <a:ext cx="9905955" cy="457202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D79EC0-D237-71F7-4E1A-54B2EBD683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30768" y="-228601"/>
            <a:ext cx="10155855" cy="5171768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2. </a:t>
            </a: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Consistency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Ensures that a transaction brings the database from one valid state to another valid state.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The integrity constraints (like foreign keys, unique keys, etc.) must always hold true before and after a transaction.</a:t>
            </a:r>
            <a:endParaRPr lang="en-US" b="1" dirty="0">
              <a:latin typeface="Century Schoolbook" panose="020406040505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The total amount in both accounts (A + B) before and after the transfer remains the same - database remains consistent.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3523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FCCA3-BB0D-A35D-314F-94D00DCB8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0" y="-580103"/>
            <a:ext cx="9905955" cy="580103"/>
          </a:xfrm>
        </p:spPr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ACA884-8860-E82B-B6B2-BF2B43FB59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1410" y="206476"/>
            <a:ext cx="10244345" cy="5830529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3. </a:t>
            </a: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Isolation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 Each transaction should execute as if it is the only transaction in the system.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 Concurrent transactions should not interfere with each other.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 Isolation prevents problems like dirty reads, lost updates, and uncommitted data access.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</a:t>
            </a: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endParaRPr lang="en-US" sz="2400" b="1" dirty="0">
              <a:solidFill>
                <a:srgbClr val="FFFF00"/>
              </a:solidFill>
              <a:latin typeface="Century Schoolbook" panose="020406040505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If two users try to transfer money from the same account at the same time, each transaction should execute independently to avoid incorrect balances.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3860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16B5E-A6C2-35D1-DD75-380963A57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8939" y="-432619"/>
            <a:ext cx="9905955" cy="432619"/>
          </a:xfrm>
        </p:spPr>
        <p:txBody>
          <a:bodyPr>
            <a:normAutofit fontScale="90000"/>
          </a:bodyPr>
          <a:lstStyle/>
          <a:p>
            <a:endParaRPr lang="en-IN" dirty="0">
              <a:solidFill>
                <a:srgbClr val="FFFF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E7A27F-B716-660E-C1C1-9371CC0798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21746" y="68826"/>
            <a:ext cx="10608138" cy="4729316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4. </a:t>
            </a: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Durability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 Once a transaction is committed, its changes are permanent, even if the system fails immediately after.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 The DBMS ensures this by storing changes in non-volatile memory (like disk).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</a:t>
            </a: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endParaRPr lang="en-US" sz="2400" b="1" dirty="0">
              <a:solidFill>
                <a:srgbClr val="FFFF00"/>
              </a:solidFill>
              <a:latin typeface="Century Schoolbook" panose="020406040505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If money transfer is completed and confirmed, the new balances remain even after a system crash.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3747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B2680-5C8F-65BE-F86C-5C13DF694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22" y="-88490"/>
            <a:ext cx="9905955" cy="860325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Transaction States in DBMS</a:t>
            </a:r>
            <a:r>
              <a:rPr lang="en-IN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877192-DC9F-D146-31DF-78EB4A825A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3022" y="693178"/>
            <a:ext cx="9904459" cy="6110747"/>
          </a:xfrm>
        </p:spPr>
        <p:txBody>
          <a:bodyPr>
            <a:normAutofit fontScale="92500" lnSpcReduction="10000"/>
          </a:bodyPr>
          <a:lstStyle/>
          <a:p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1. </a:t>
            </a: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Active State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The transaction is currently being executed.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All read/write operations are performed in this state.</a:t>
            </a:r>
          </a:p>
          <a:p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2. </a:t>
            </a: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Partially Committed State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The transaction has executed its final statement but changes are not yet saved permanently.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The system performs checks to ensure everything is valid before committing.</a:t>
            </a:r>
          </a:p>
          <a:p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3. </a:t>
            </a: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Committed State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The transaction has successfully completed and all changes are permanently stored in the database.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The system ensures durability.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9718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5EB4F-F7FE-CDAE-8ED4-06AFE0FFF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914" y="-422787"/>
            <a:ext cx="9905955" cy="344129"/>
          </a:xfrm>
        </p:spPr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D4B1D2-8C7E-2C1A-F2F7-437BB5F6CA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29900" y="-78658"/>
            <a:ext cx="9904459" cy="5169159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4. </a:t>
            </a: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Failed State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The transaction cannot proceed due to an error or system failure.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Any partial changes are rolled back to maintain consistency.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5. </a:t>
            </a: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Aborted State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The transaction has been rolled back after failure.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The database returns to its previous consistent state.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Sometimes the transaction may be restarted automatically</a:t>
            </a:r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2540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72EC6-0F4D-08EA-B6D1-B52AF0FD5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448" y="-65314"/>
            <a:ext cx="11022552" cy="718457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FFFF00"/>
                </a:solidFill>
                <a:latin typeface="Algerian" panose="04020705040A02060702" pitchFamily="82" charset="0"/>
              </a:rPr>
              <a:t>5.2] </a:t>
            </a:r>
            <a:r>
              <a:rPr lang="en-US" sz="4000" u="sng" dirty="0">
                <a:solidFill>
                  <a:srgbClr val="FFFF00"/>
                </a:solidFill>
                <a:latin typeface="Algerian" panose="04020705040A02060702" pitchFamily="82" charset="0"/>
              </a:rPr>
              <a:t>Concurrent Execution of Transactions</a:t>
            </a:r>
            <a:r>
              <a:rPr lang="en-US" sz="40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0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F17AFD-4A3F-D22D-D3CC-9F3677530C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6748" y="731801"/>
            <a:ext cx="10894142" cy="6204857"/>
          </a:xfrm>
        </p:spPr>
        <p:txBody>
          <a:bodyPr>
            <a:no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Concurrent Execution of Transactions means that two or more transactions are executed simultaneously (at the same time) in a multi-user database system.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Instead of executing one transaction completely before starting another, the DBMS allows overlapping execution of multiple transactions to improve performance and resource utilization.</a:t>
            </a:r>
            <a:endParaRPr lang="en-US" sz="2000" b="1" dirty="0">
              <a:latin typeface="Century Schoolbook" panose="020406040505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Suppose two users perform actions on a bank database:</a:t>
            </a:r>
          </a:p>
          <a:p>
            <a:r>
              <a:rPr lang="en-US" sz="2000" b="1" dirty="0">
                <a:latin typeface="Century Schoolbook" panose="02040604050505020304" pitchFamily="18" charset="0"/>
              </a:rPr>
              <a:t>- T1: Transfers ₹1000 from Account A to Account B</a:t>
            </a:r>
          </a:p>
          <a:p>
            <a:r>
              <a:rPr lang="en-US" sz="2000" b="1" dirty="0">
                <a:latin typeface="Century Schoolbook" panose="02040604050505020304" pitchFamily="18" charset="0"/>
              </a:rPr>
              <a:t>- T2: Adds 5% interest to Account 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If both transactions run concurrently, the database system handles them together — but must ensure that the final result is correct and consistent, as if they were executed one after another.</a:t>
            </a:r>
          </a:p>
          <a:p>
            <a:endParaRPr lang="en-IN" sz="20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09984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1D875-2750-57C4-8AAA-8884D26D3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9275" y="-68826"/>
            <a:ext cx="9905955" cy="806245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5.3] </a:t>
            </a: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schedule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ABCBD5-9FFE-F35C-EC1D-B5FC348043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49710" y="334296"/>
            <a:ext cx="10692580" cy="6445043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In a Database Management System                                                                                         (DBMS), a schedule defines the order in                                                                          which multiple transactions’ operations                                                                                                                                                                   (READ, WRITE) are executed.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It helps to manage concurrent                                                               transactions and ensures that the final                                                                                 outcome is consistent with the database                                                                              rules.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A schedule is a sequence that shows the                                                                                   interleaving of operations from one or                                                                             more transactions.</a:t>
            </a:r>
            <a:endParaRPr lang="en-US" sz="2400" b="1" dirty="0">
              <a:latin typeface="Century Schoolbook" panose="020406040505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</a:t>
            </a: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Types of Schedules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000" b="1" dirty="0">
                <a:latin typeface="Century Schoolbook" panose="02040604050505020304" pitchFamily="18" charset="0"/>
              </a:rPr>
              <a:t>1. Serial Schedule.</a:t>
            </a:r>
          </a:p>
          <a:p>
            <a:r>
              <a:rPr lang="en-US" sz="2000" b="1" dirty="0">
                <a:latin typeface="Century Schoolbook" panose="02040604050505020304" pitchFamily="18" charset="0"/>
              </a:rPr>
              <a:t>2. Concurrent Schedule (Non-Serial Schedule).</a:t>
            </a:r>
          </a:p>
          <a:p>
            <a:r>
              <a:rPr lang="en-IN" sz="2000" b="1" dirty="0">
                <a:latin typeface="Century Schoolbook" panose="02040604050505020304" pitchFamily="18" charset="0"/>
              </a:rPr>
              <a:t>3. Cascade less Schedule.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B9FFF9-4BD7-3571-4700-33398177D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429" y="639099"/>
            <a:ext cx="5585106" cy="4817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718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B8D6F-7174-6549-B099-5196B9D21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8939" y="0"/>
            <a:ext cx="9905955" cy="723613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1. </a:t>
            </a: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Serial schedule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89C733-0460-584D-1433-3059230A87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8091" y="723613"/>
            <a:ext cx="10082308" cy="6218903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A Serial Schedule in DBMS is a type of transaction                                     schedule in which transactions are executed one                                             after another, without any overlap between their                    operations.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A Serial Schedule is a schedule where transactions                                 are executed sequentially, one after another,                                                 ensuring data consistency but offering less                                                       concurrency.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0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Advantages</a:t>
            </a:r>
            <a:r>
              <a:rPr lang="en-US" sz="3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Simple and easy to implement.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Guaranteed correctness (no concurrency problems).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0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Disadvantages</a:t>
            </a:r>
            <a:r>
              <a:rPr lang="en-US" sz="3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Slow execution due to waiting.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Poor resource utilization and low system throughput.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D1C8DF-7826-352E-71E1-039C8FBC6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3227" y="723613"/>
            <a:ext cx="3471664" cy="3799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8508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124BA-4444-DC6D-D5C9-9F543B424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11" y="-158180"/>
            <a:ext cx="9905955" cy="973394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2. </a:t>
            </a: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Concurrent Schedule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D97E4A-04E7-FC51-3E04-7551EFAE7C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2015" y="598255"/>
            <a:ext cx="10747198" cy="6189406"/>
          </a:xfrm>
        </p:spPr>
        <p:txBody>
          <a:bodyPr>
            <a:normAutofit fontScale="62500" lnSpcReduction="20000"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3200" b="1" dirty="0">
                <a:latin typeface="Century Schoolbook" panose="02040604050505020304" pitchFamily="18" charset="0"/>
              </a:rPr>
              <a:t>A Concurrent Schedule, also known as a Non-Serial                                                                                                       Schedule, is a type of schedule in which operations                                                  of two or more transactions are interleaved -                                                                     meaning they execute simultaneously or overlap in                                                                time.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3200" b="1" dirty="0">
                <a:latin typeface="Century Schoolbook" panose="02040604050505020304" pitchFamily="18" charset="0"/>
              </a:rPr>
              <a:t>In such a schedule, the DBMS ensures that the final                                                result of concurrent execution is the same as some                                                                        serial schedule, thus maintaining data consistency.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40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Advantages</a:t>
            </a:r>
            <a:r>
              <a:rPr lang="en-US" sz="4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b="1" dirty="0">
                <a:latin typeface="Century Schoolbook" panose="02040604050505020304" pitchFamily="18" charset="0"/>
              </a:rPr>
              <a:t>Increases throughput (more transactions executed in less time).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b="1" dirty="0">
                <a:latin typeface="Century Schoolbook" panose="02040604050505020304" pitchFamily="18" charset="0"/>
              </a:rPr>
              <a:t>Reduces waiting time for users.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b="1" dirty="0">
                <a:latin typeface="Century Schoolbook" panose="02040604050505020304" pitchFamily="18" charset="0"/>
              </a:rPr>
              <a:t>Efficient use of CPU and I/O resources.</a:t>
            </a:r>
            <a:endParaRPr lang="en-US" sz="2400" b="1" dirty="0">
              <a:latin typeface="Century Schoolbook" panose="020406040505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40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Disadvantages</a:t>
            </a:r>
            <a:r>
              <a:rPr lang="en-US" sz="4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b="1" dirty="0">
                <a:latin typeface="Century Schoolbook" panose="02040604050505020304" pitchFamily="18" charset="0"/>
              </a:rPr>
              <a:t>May lead to data inconsistency if not properly managed.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b="1" dirty="0">
                <a:latin typeface="Century Schoolbook" panose="02040604050505020304" pitchFamily="18" charset="0"/>
              </a:rPr>
              <a:t>Needs Concurrency Control (like locking or timestamp ordering).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D5F0B6-F7D7-8A8A-87A7-5985DB13E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8489" y="668594"/>
            <a:ext cx="4088756" cy="3129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9317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EAE3F-388E-DBC1-3386-8C36A6D36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1937" y="-80387"/>
            <a:ext cx="9905955" cy="793820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3. </a:t>
            </a:r>
            <a:r>
              <a:rPr lang="en-US" sz="4400" u="sng" dirty="0" err="1">
                <a:solidFill>
                  <a:srgbClr val="FFFF00"/>
                </a:solidFill>
                <a:latin typeface="Algerian" panose="04020705040A02060702" pitchFamily="82" charset="0"/>
              </a:rPr>
              <a:t>Cascadeless</a:t>
            </a: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 schedule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 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4A1F5A-0707-FC83-D79B-86768D55D1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9432" y="641419"/>
            <a:ext cx="10590963" cy="6216582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A </a:t>
            </a:r>
            <a:r>
              <a:rPr lang="en-US" sz="2000" b="1" dirty="0" err="1">
                <a:latin typeface="Century Schoolbook" panose="02040604050505020304" pitchFamily="18" charset="0"/>
              </a:rPr>
              <a:t>Cascadeless</a:t>
            </a:r>
            <a:r>
              <a:rPr lang="en-US" sz="2000" b="1" dirty="0">
                <a:latin typeface="Century Schoolbook" panose="02040604050505020304" pitchFamily="18" charset="0"/>
              </a:rPr>
              <a:t> Schedule in DBMS is a type of                                                             transaction schedule in which no transaction is allowed to read data written by another uncommitted transaction.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In other words, a transaction can read or access data                                                               only after the transaction that last modified the data                                                          has committed.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This prevents the cascading rollback problem, where                                                                                 the failure of one transaction causes multiple other                                                               transactions to roll back.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6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Advantages</a:t>
            </a:r>
            <a:r>
              <a:rPr lang="en-US" sz="26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No cascading rollback occurs.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Ensures safe and consistent execution of transactions.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Easier error recovery.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6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Disadvantages</a:t>
            </a:r>
            <a:r>
              <a:rPr lang="en-US" sz="26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Slightly reduces concurrency, as some transactions must wait for others to commit.</a:t>
            </a:r>
          </a:p>
          <a:p>
            <a:endParaRPr lang="en-IN" sz="2000" b="1" dirty="0">
              <a:latin typeface="Century Schoolbook" panose="020406040505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83BEE4-7F30-7B3E-1D73-5A111E8520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0782" y="713433"/>
            <a:ext cx="3652591" cy="3812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2315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4571E-7927-45C6-BF06-BBF61B09E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11" y="-78658"/>
            <a:ext cx="9905955" cy="806245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5.4] </a:t>
            </a: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lock-based protocol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D40D5C-C8FE-EBD4-914D-70F81FF853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06245" y="560439"/>
            <a:ext cx="10776155" cy="5437239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A Lock-Based Protocol defines the rules for acquiring and releasing locks to ensure that transactions execute safely and maintain a serializable schedule (a schedule equivalent to some serial execution).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Types of Lock-Based Protocols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1] </a:t>
            </a: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Simple Lock Protocol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A transaction must acquire a lock on a data item before reading or writing it.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The lock must be released after the operation is completed.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Does not always guarantee serializability.</a:t>
            </a:r>
          </a:p>
          <a:p>
            <a:endParaRPr lang="en-IN" sz="28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76582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B8A1A-ED2F-8142-C9AE-D306FD7E6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940" y="-422787"/>
            <a:ext cx="9905955" cy="422787"/>
          </a:xfrm>
        </p:spPr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AE1CFE-A314-413D-2824-1AA209CC8B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4664" y="167149"/>
            <a:ext cx="9904459" cy="6858000"/>
          </a:xfrm>
        </p:spPr>
        <p:txBody>
          <a:bodyPr>
            <a:normAutofit fontScale="85000" lnSpcReduction="20000"/>
          </a:bodyPr>
          <a:lstStyle/>
          <a:p>
            <a:r>
              <a:rPr lang="en-US" sz="3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2] </a:t>
            </a:r>
            <a:r>
              <a:rPr lang="en-US" sz="30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Two-Phase Locking Protocol (2PL)</a:t>
            </a:r>
            <a:r>
              <a:rPr lang="en-US" sz="3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dirty="0">
                <a:latin typeface="Century Schoolbook" panose="02040604050505020304" pitchFamily="18" charset="0"/>
              </a:rPr>
              <a:t>The most widely used lock-based protocol.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dirty="0">
                <a:latin typeface="Century Schoolbook" panose="02040604050505020304" pitchFamily="18" charset="0"/>
              </a:rPr>
              <a:t>Each transaction has two phases :</a:t>
            </a:r>
          </a:p>
          <a:p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a) </a:t>
            </a: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Growing Phase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b="1" dirty="0">
                <a:latin typeface="Century Schoolbook" panose="02040604050505020304" pitchFamily="18" charset="0"/>
              </a:rPr>
              <a:t>The transaction may acquire locks but cannot release any.</a:t>
            </a:r>
            <a:endParaRPr lang="en-US" sz="1900" b="1" dirty="0">
              <a:latin typeface="Century Schoolbook" panose="02040604050505020304" pitchFamily="18" charset="0"/>
            </a:endParaRPr>
          </a:p>
          <a:p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b) </a:t>
            </a: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Shrinking Phase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b="1" dirty="0">
                <a:latin typeface="Century Schoolbook" panose="02040604050505020304" pitchFamily="18" charset="0"/>
              </a:rPr>
              <a:t>The transaction may release locks but cannot acquire new ones.</a:t>
            </a:r>
          </a:p>
          <a:p>
            <a:endParaRPr lang="en-US" sz="2400" b="1" dirty="0">
              <a:solidFill>
                <a:srgbClr val="FFFF00"/>
              </a:solidFill>
              <a:latin typeface="Century Schoolbook" panose="02040604050505020304" pitchFamily="18" charset="0"/>
            </a:endParaRPr>
          </a:p>
          <a:p>
            <a:r>
              <a:rPr lang="en-US" sz="3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3] </a:t>
            </a:r>
            <a:r>
              <a:rPr lang="en-US" sz="30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Strict Two-Phase Locking (Strict 2PL)</a:t>
            </a:r>
            <a:r>
              <a:rPr lang="en-US" sz="3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endParaRPr lang="en-US" sz="3000" dirty="0">
              <a:solidFill>
                <a:srgbClr val="FFFF00"/>
              </a:solidFill>
              <a:latin typeface="Century Schoolbook" panose="020406040505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800" b="1" dirty="0">
                <a:latin typeface="Century Schoolbook" panose="02040604050505020304" pitchFamily="18" charset="0"/>
              </a:rPr>
              <a:t>All locks are held until the transaction commits or aborts.</a:t>
            </a:r>
            <a:br>
              <a:rPr lang="en-US" sz="2800" dirty="0">
                <a:latin typeface="Century Schoolbook" panose="02040604050505020304" pitchFamily="18" charset="0"/>
              </a:rPr>
            </a:br>
            <a:endParaRPr lang="en-US" sz="2800" dirty="0">
              <a:latin typeface="Century Schoolbook" panose="02040604050505020304" pitchFamily="18" charset="0"/>
            </a:endParaRPr>
          </a:p>
          <a:p>
            <a:r>
              <a:rPr lang="en-US" sz="3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4] </a:t>
            </a:r>
            <a:r>
              <a:rPr lang="en-US" sz="30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Rigorous Two-Phase Locking</a:t>
            </a:r>
            <a:r>
              <a:rPr lang="en-US" sz="3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endParaRPr lang="en-US" sz="3000" dirty="0">
              <a:solidFill>
                <a:srgbClr val="FFFF00"/>
              </a:solidFill>
              <a:latin typeface="Century Schoolbook" panose="020406040505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800" b="1" dirty="0">
                <a:latin typeface="Century Schoolbook" panose="02040604050505020304" pitchFamily="18" charset="0"/>
              </a:rPr>
              <a:t>Both shared and exclusive locks are held until the transaction commits.</a:t>
            </a:r>
            <a:br>
              <a:rPr lang="en-US" sz="2000" dirty="0">
                <a:latin typeface="Century Schoolbook" panose="02040604050505020304" pitchFamily="18" charset="0"/>
              </a:rPr>
            </a:br>
            <a:endParaRPr lang="en-IN" sz="2000" dirty="0">
              <a:latin typeface="Century Schoolbook" panose="02040604050505020304" pitchFamily="18" charset="0"/>
            </a:endParaRP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75023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EF750-DC25-D7D1-8DB8-90727BA4F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3466" y="-88490"/>
            <a:ext cx="9905955" cy="835742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What is lock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?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3B6300-891E-7441-3B1E-60D65A9C4C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30710" y="235974"/>
            <a:ext cx="10229792" cy="4483509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A Lock is a variable associated with each data item that indicates the transactional access permission on that data.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Locks help ensure that only authorized transactions can read or write a particular data item at a given time.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latin typeface="Century Schoolbook" panose="02040604050505020304" pitchFamily="18" charset="0"/>
              </a:rPr>
              <a:t> </a:t>
            </a: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Types of Locks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1. Shared Lock (S-Lock).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2. Exclusive Lock (X-Lock).</a:t>
            </a:r>
          </a:p>
        </p:txBody>
      </p:sp>
    </p:spTree>
    <p:extLst>
      <p:ext uri="{BB962C8B-B14F-4D97-AF65-F5344CB8AC3E}">
        <p14:creationId xmlns:p14="http://schemas.microsoft.com/office/powerpoint/2010/main" val="36645602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3EE47-FC27-7217-299C-84B97AAC6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9779" y="0"/>
            <a:ext cx="9905955" cy="757084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1. </a:t>
            </a: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Shared lock (s-lock)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55E536-49F6-2D87-149C-9CE4F9730B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5603" y="481781"/>
            <a:ext cx="10706462" cy="5456903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A shared lock allows a transaction to read a data item.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Multiple transactions can hold shared locks on the same item simultaneously, as long as none wants to write it.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No transaction can modify the data until all shared locks are released.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Used for reading data safely.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endParaRPr lang="en-US" sz="2800" b="1" dirty="0">
              <a:solidFill>
                <a:srgbClr val="FFFF00"/>
              </a:solidFill>
              <a:latin typeface="Century Schoolbook" panose="020406040505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If Transaction T1 has a shared lock on data item A,</a:t>
            </a:r>
            <a:br>
              <a:rPr lang="en-US" sz="2400" b="1" dirty="0">
                <a:latin typeface="Century Schoolbook" panose="02040604050505020304" pitchFamily="18" charset="0"/>
              </a:rPr>
            </a:br>
            <a:r>
              <a:rPr lang="en-US" sz="2400" b="1" dirty="0">
                <a:latin typeface="Century Schoolbook" panose="02040604050505020304" pitchFamily="18" charset="0"/>
              </a:rPr>
              <a:t>→ T2 can also acquire a shared lock on A (for reading).</a:t>
            </a:r>
            <a:br>
              <a:rPr lang="en-US" sz="2400" b="1" dirty="0">
                <a:latin typeface="Century Schoolbook" panose="02040604050505020304" pitchFamily="18" charset="0"/>
              </a:rPr>
            </a:br>
            <a:r>
              <a:rPr lang="en-US" sz="2400" b="1" dirty="0">
                <a:latin typeface="Century Schoolbook" panose="02040604050505020304" pitchFamily="18" charset="0"/>
              </a:rPr>
              <a:t>→ But no transaction can write A until all S-locks are released.</a:t>
            </a:r>
          </a:p>
        </p:txBody>
      </p:sp>
    </p:spTree>
    <p:extLst>
      <p:ext uri="{BB962C8B-B14F-4D97-AF65-F5344CB8AC3E}">
        <p14:creationId xmlns:p14="http://schemas.microsoft.com/office/powerpoint/2010/main" val="1087055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64213-90E6-8D26-B0A8-B8D9157E2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11" y="0"/>
            <a:ext cx="9905955" cy="796413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2. </a:t>
            </a: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Exclusive lock (x-lock)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F000A1-74B2-9D67-0558-A57E40D10C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6107" y="658762"/>
            <a:ext cx="10411494" cy="522093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An exclusive lock allows a transaction to both read and write a data item.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When a transaction holds an exclusive lock, no other transaction can read or write that data item.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Used for updating or modifying data.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</a:t>
            </a: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endParaRPr lang="en-US" sz="2400" b="1" dirty="0">
              <a:solidFill>
                <a:srgbClr val="FFFF00"/>
              </a:solidFill>
              <a:latin typeface="Century Schoolbook" panose="020406040505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If Transaction T1 has an X-lock on data item A,</a:t>
            </a:r>
            <a:br>
              <a:rPr lang="en-US" sz="2400" b="1" dirty="0">
                <a:latin typeface="Century Schoolbook" panose="02040604050505020304" pitchFamily="18" charset="0"/>
              </a:rPr>
            </a:br>
            <a:r>
              <a:rPr lang="en-US" sz="2400" b="1" dirty="0">
                <a:latin typeface="Century Schoolbook" panose="02040604050505020304" pitchFamily="18" charset="0"/>
              </a:rPr>
              <a:t>→ No other transaction can acquire S-lock or X-lock on A until T1 releases it.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34285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D4A29-A727-8D06-CE20-AF6DBB8FA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1256" y="0"/>
            <a:ext cx="9905955" cy="806245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Granting of locks</a:t>
            </a:r>
            <a:r>
              <a:rPr lang="en-IN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AD2D22-6BF3-621F-1E4C-BF7602F4C9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6610" y="806245"/>
            <a:ext cx="10726126" cy="6125498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5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What is Granting of Locks?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600" b="1" dirty="0">
                <a:latin typeface="Century Schoolbook" panose="02040604050505020304" pitchFamily="18" charset="0"/>
              </a:rPr>
              <a:t>Granting of locks means allowing a transaction to acquire control over a data item by providing a lock - either Shared (S) or Exclusive (X) - depending on the operation (read or write).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600" b="1" dirty="0">
                <a:latin typeface="Century Schoolbook" panose="02040604050505020304" pitchFamily="18" charset="0"/>
              </a:rPr>
              <a:t>The Lock Manager checks whether the requested lock is compatible with existing locks on that data item before granting it.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</a:t>
            </a:r>
            <a:r>
              <a:rPr lang="en-US" sz="30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3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Let data item X be shared by transaction T1.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T1: Requests a Shared (S) lock on X → Granted ✅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T2: Requests another Shared (S) lock on X → Granted ✅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T3: Requests an Exclusive (X) lock on X → Denied ❌ (must wait until T1 and T2 release their locks)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87840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55363-72BF-D573-E10C-5CC8B1D6A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8605" y="-68826"/>
            <a:ext cx="9905955" cy="796413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Lock granting process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F9FAEA-6B7F-A09B-CF27-94B23E119B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30821" y="727587"/>
            <a:ext cx="10461522" cy="6218903"/>
          </a:xfrm>
        </p:spPr>
        <p:txBody>
          <a:bodyPr>
            <a:normAutofit fontScale="92500"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</a:t>
            </a: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Lock Granting Process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When a transaction T requests a lock on data item A, the process follows these steps 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Check the Lock Table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See if any other transaction currently holds a lock on A.</a:t>
            </a:r>
            <a:endParaRPr lang="en-US" sz="1800" b="1" dirty="0">
              <a:latin typeface="Century Schoolbook" panose="020406040505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Check Compatibility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Use the compatibility matrix to determine if the new lock can be granted.</a:t>
            </a:r>
            <a:endParaRPr lang="en-US" sz="1800" b="1" dirty="0">
              <a:latin typeface="Century Schoolbook" panose="020406040505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Grant or Delay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If compatible → Grant the lock immediately.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If not compatible → Put the transaction in the waiting queue until the lock is released.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Update the Lock Table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Record that transaction T now holds a lock on data item A.</a:t>
            </a:r>
          </a:p>
          <a:p>
            <a:endParaRPr lang="en-IN" sz="20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19115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54ADE-787C-E507-F303-175B4EDAD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0114" y="-533398"/>
            <a:ext cx="9905955" cy="457202"/>
          </a:xfrm>
        </p:spPr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5160EF-9822-276F-BB45-7F10D21A33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20114" y="1"/>
            <a:ext cx="10195137" cy="5319252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Advantages of Controlled Lock Granting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Ensures serializability of transactions.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Prevents inconsistent reads or writes.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Maintains isolation between concurrent transactions.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Disadvantages Lock Granting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May lead to waiting (transactions get delayed).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Possibility of deadlocks (if two transactions wait for each other’s locks).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01480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497BD-C78A-D6D5-C30B-89D28BA9C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11" y="0"/>
            <a:ext cx="9905955" cy="845574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Lock-based protocol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893E4B-FCE0-4F15-C92C-F3513ACD67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1410" y="481780"/>
            <a:ext cx="10014156" cy="3844413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A Lock-Based Protocol is a concurrency control mechanism that uses locks to manage the order in which transactions access data items.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It ensures that the database remains consistent and serializable (i.e., the result of concurrent transactions is the same as some serial execution).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93677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1935</TotalTime>
  <Words>1913</Words>
  <Application>Microsoft Office PowerPoint</Application>
  <PresentationFormat>Widescreen</PresentationFormat>
  <Paragraphs>164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Algerian</vt:lpstr>
      <vt:lpstr>Arial</vt:lpstr>
      <vt:lpstr>Century Schoolbook</vt:lpstr>
      <vt:lpstr>Tw Cen MT</vt:lpstr>
      <vt:lpstr>Wingdings</vt:lpstr>
      <vt:lpstr>Circuit</vt:lpstr>
      <vt:lpstr>05. Transaction Processing</vt:lpstr>
      <vt:lpstr>5.1] transaction concepts : -</vt:lpstr>
      <vt:lpstr>Transaction Properties (ACID Properties) : -</vt:lpstr>
      <vt:lpstr>PowerPoint Presentation</vt:lpstr>
      <vt:lpstr>PowerPoint Presentation</vt:lpstr>
      <vt:lpstr>PowerPoint Presentation</vt:lpstr>
      <vt:lpstr>Transaction States in DBMS : -</vt:lpstr>
      <vt:lpstr>PowerPoint Presentation</vt:lpstr>
      <vt:lpstr>5.2] Concurrent Execution of Transactions : -</vt:lpstr>
      <vt:lpstr>5.3] schedule : -</vt:lpstr>
      <vt:lpstr>1. Serial schedule : -</vt:lpstr>
      <vt:lpstr>2. Concurrent Schedule : -</vt:lpstr>
      <vt:lpstr>3. Cascadeless schedule : - </vt:lpstr>
      <vt:lpstr>5.4] lock-based protocol : -</vt:lpstr>
      <vt:lpstr>PowerPoint Presentation</vt:lpstr>
      <vt:lpstr>What is lock ?</vt:lpstr>
      <vt:lpstr>1. Shared lock (s-lock) : -</vt:lpstr>
      <vt:lpstr>2. Exclusive lock (x-lock) : -</vt:lpstr>
      <vt:lpstr>Granting of locks : -</vt:lpstr>
      <vt:lpstr>Lock granting process : -</vt:lpstr>
      <vt:lpstr>PowerPoint Presentation</vt:lpstr>
      <vt:lpstr>Lock-based protocol : -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Darpan Shedge</dc:creator>
  <cp:lastModifiedBy>Darpan Shedge</cp:lastModifiedBy>
  <cp:revision>2</cp:revision>
  <dcterms:created xsi:type="dcterms:W3CDTF">2025-10-20T08:08:12Z</dcterms:created>
  <dcterms:modified xsi:type="dcterms:W3CDTF">2025-11-03T06:26:03Z</dcterms:modified>
</cp:coreProperties>
</file>