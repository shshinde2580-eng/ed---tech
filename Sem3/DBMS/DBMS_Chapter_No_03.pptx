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0" r:id="rId15"/>
    <p:sldId id="272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98BFF1-CC73-41EB-A3DF-9A7EF1E1AAE7}" v="27" dt="2025-10-22T13:54:41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10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21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52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15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3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45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32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85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1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13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20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32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420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429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006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803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64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715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8035-DE31-1922-9471-1C8EC7553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69" y="1830285"/>
            <a:ext cx="10168092" cy="2387600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solidFill>
                  <a:srgbClr val="FFFF00"/>
                </a:solidFill>
                <a:latin typeface="Algerian" panose="04020705040A02060702" pitchFamily="82" charset="0"/>
              </a:rPr>
              <a:t>03. Database Design Using E-R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11EC8-4367-A19E-D0D7-6057F9691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8475" y="4907756"/>
            <a:ext cx="8791575" cy="165576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853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C3B9-FEB2-F483-7E13-053AA8782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114" y="0"/>
            <a:ext cx="9905955" cy="658761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3.1] </a:t>
            </a: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 modeling using the e-r model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8174E-5060-37DD-EF67-BE59A6E0E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5931" y="432621"/>
            <a:ext cx="10441858" cy="418854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Data Modeling is the process of designing the structure of a database logically before its physical implementation.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most commonly used data modeling technique is the Entity - Relationship (E–R) Model, introduced by Peter Chen in 1976.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E–R Model helps in representing the real-world entities, their attributes, and the relationships among them.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85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E433-D37B-8894-0DC7-6B7B2B46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42240"/>
            <a:ext cx="9905955" cy="101600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Advantages of the 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eer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model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68E1F-476D-4FA3-9527-C8C00C2FA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599440"/>
            <a:ext cx="10525760" cy="32613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Century Schoolbook" panose="02040604050505020304" pitchFamily="18" charset="0"/>
              </a:rPr>
              <a:t>Provides more accurate data representation for complex systems.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Century Schoolbook" panose="02040604050505020304" pitchFamily="18" charset="0"/>
              </a:rPr>
              <a:t>Supports inheritance and reusability of attributes.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Century Schoolbook" panose="02040604050505020304" pitchFamily="18" charset="0"/>
              </a:rPr>
              <a:t>Helps in object-oriented database design.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Century Schoolbook" panose="02040604050505020304" pitchFamily="18" charset="0"/>
              </a:rPr>
              <a:t>Allows hierarchical organization of data.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39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02F0-35D1-05F2-E9CC-0F495F4F3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08154"/>
            <a:ext cx="9905955" cy="87507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Entity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B9AA-40ED-F003-D191-57BB526DD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3897" y="334299"/>
            <a:ext cx="10658168" cy="425736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Entity is a real-world object or concept that can be easily identified and about which data is to be stored in a database.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Each entity has a set of attributes that describe its properties.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Student, Teacher, Car, Book, Employee, Department Entities are represented as rectangles in an E–R diagram.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728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C1E0-62E0-435A-A0BB-E268ABCD9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88491"/>
            <a:ext cx="9905955" cy="77674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Entity sets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9451F-21D8-2DEC-36FA-48E031D4C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3395" y="452285"/>
            <a:ext cx="10294374" cy="51619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Entity Set is a collection of similar entities that share the same attributes.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All students in a college form a </a:t>
            </a:r>
            <a:r>
              <a:rPr lang="en-US" sz="2400" b="1" i="1" dirty="0">
                <a:latin typeface="Century Schoolbook" panose="02040604050505020304" pitchFamily="18" charset="0"/>
              </a:rPr>
              <a:t>Student</a:t>
            </a:r>
            <a:r>
              <a:rPr lang="en-US" sz="2400" b="1" dirty="0">
                <a:latin typeface="Century Schoolbook" panose="02040604050505020304" pitchFamily="18" charset="0"/>
              </a:rPr>
              <a:t> entity set, with attributes like Roll_No, Name, and Class.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latin typeface="Century Schoolbook" panose="02040604050505020304" pitchFamily="18" charset="0"/>
              </a:rPr>
              <a:t>Entity sets are of two types</a:t>
            </a:r>
            <a:r>
              <a:rPr lang="en-US" sz="2400" b="1" dirty="0"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(a) Strong Entity Set.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(b) Weak Entity Set.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7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4F1A-7C27-68CF-C8A9-A9EB07CF4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462117"/>
            <a:ext cx="9905955" cy="37362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2B4E5-ED50-5E2A-3B71-65866F417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4932" y="-196645"/>
            <a:ext cx="10696629" cy="677934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(a)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Strong Entity Set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entity set that has a primary key (a unique identifier).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can exist independently of other entities.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✅ Example: </a:t>
            </a:r>
            <a:r>
              <a:rPr lang="en-US" sz="2400" b="1" i="1" dirty="0">
                <a:latin typeface="Century Schoolbook" panose="02040604050505020304" pitchFamily="18" charset="0"/>
              </a:rPr>
              <a:t>Student</a:t>
            </a:r>
            <a:r>
              <a:rPr lang="en-US" sz="2400" b="1" dirty="0">
                <a:latin typeface="Century Schoolbook" panose="02040604050505020304" pitchFamily="18" charset="0"/>
              </a:rPr>
              <a:t>, </a:t>
            </a:r>
            <a:r>
              <a:rPr lang="en-US" sz="2400" b="1" i="1" dirty="0">
                <a:latin typeface="Century Schoolbook" panose="02040604050505020304" pitchFamily="18" charset="0"/>
              </a:rPr>
              <a:t>Employee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(Each student can be uniquely identified by Roll_No.)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(b)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Weak Entity Set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entity set that does not have a sufficient primary key.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depends on a strong entity for its existence.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identified using a partial key and a foreign key from the related strong entity.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✅ Example: </a:t>
            </a:r>
            <a:r>
              <a:rPr lang="en-US" sz="2400" b="1" i="1" dirty="0">
                <a:latin typeface="Century Schoolbook" panose="02040604050505020304" pitchFamily="18" charset="0"/>
              </a:rPr>
              <a:t>Dependent</a:t>
            </a:r>
            <a:r>
              <a:rPr lang="en-US" sz="2400" b="1" dirty="0">
                <a:latin typeface="Century Schoolbook" panose="02040604050505020304" pitchFamily="18" charset="0"/>
              </a:rPr>
              <a:t> (depends on </a:t>
            </a:r>
            <a:r>
              <a:rPr lang="en-US" sz="2400" b="1" i="1" dirty="0">
                <a:latin typeface="Century Schoolbook" panose="02040604050505020304" pitchFamily="18" charset="0"/>
              </a:rPr>
              <a:t>Employee</a:t>
            </a:r>
            <a:r>
              <a:rPr lang="en-US" sz="2400" b="1" dirty="0">
                <a:latin typeface="Century Schoolbook" panose="02040604050505020304" pitchFamily="18" charset="0"/>
              </a:rPr>
              <a:t>)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(</a:t>
            </a:r>
            <a:r>
              <a:rPr lang="en-US" sz="2400" b="1" dirty="0" err="1">
                <a:latin typeface="Century Schoolbook" panose="02040604050505020304" pitchFamily="18" charset="0"/>
              </a:rPr>
              <a:t>Dependent_Name</a:t>
            </a:r>
            <a:r>
              <a:rPr lang="en-US" sz="2400" b="1" dirty="0">
                <a:latin typeface="Century Schoolbook" panose="02040604050505020304" pitchFamily="18" charset="0"/>
              </a:rPr>
              <a:t> + </a:t>
            </a:r>
            <a:r>
              <a:rPr lang="en-US" sz="2400" b="1" dirty="0" err="1">
                <a:latin typeface="Century Schoolbook" panose="02040604050505020304" pitchFamily="18" charset="0"/>
              </a:rPr>
              <a:t>Emp_ID</a:t>
            </a:r>
            <a:r>
              <a:rPr lang="en-US" sz="2400" b="1" dirty="0">
                <a:latin typeface="Century Schoolbook" panose="02040604050505020304" pitchFamily="18" charset="0"/>
              </a:rPr>
              <a:t> uniquely identify a dependent.)</a:t>
            </a:r>
          </a:p>
        </p:txBody>
      </p:sp>
    </p:spTree>
    <p:extLst>
      <p:ext uri="{BB962C8B-B14F-4D97-AF65-F5344CB8AC3E}">
        <p14:creationId xmlns:p14="http://schemas.microsoft.com/office/powerpoint/2010/main" val="156048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BB1EC-CC93-9530-8A54-156FFADC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17987"/>
            <a:ext cx="9905955" cy="84557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Relationship sets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AAB46-3B07-7A94-FF34-A4E45C4D3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0757" y="521110"/>
            <a:ext cx="10470486" cy="497512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Relationship Set is a collection of relationships between two or more entity sets.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latin typeface="Century Schoolbook" panose="02040604050505020304" pitchFamily="18" charset="0"/>
              </a:rPr>
              <a:t>Student</a:t>
            </a:r>
            <a:r>
              <a:rPr lang="en-US" sz="2400" b="1" dirty="0">
                <a:latin typeface="Century Schoolbook" panose="02040604050505020304" pitchFamily="18" charset="0"/>
              </a:rPr>
              <a:t> "enrolls in" </a:t>
            </a:r>
            <a:r>
              <a:rPr lang="en-US" sz="2400" b="1" i="1" dirty="0">
                <a:latin typeface="Century Schoolbook" panose="02040604050505020304" pitchFamily="18" charset="0"/>
              </a:rPr>
              <a:t>Course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latin typeface="Century Schoolbook" panose="02040604050505020304" pitchFamily="18" charset="0"/>
              </a:rPr>
              <a:t>Employee</a:t>
            </a:r>
            <a:r>
              <a:rPr lang="en-US" sz="2400" b="1" dirty="0">
                <a:latin typeface="Century Schoolbook" panose="02040604050505020304" pitchFamily="18" charset="0"/>
              </a:rPr>
              <a:t> "works for" </a:t>
            </a:r>
            <a:r>
              <a:rPr lang="en-US" sz="2400" b="1" i="1" dirty="0">
                <a:latin typeface="Century Schoolbook" panose="02040604050505020304" pitchFamily="18" charset="0"/>
              </a:rPr>
              <a:t>Department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relationship set may also have attributes describing 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Relationships are represented by diamonds in an E–R diagram.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129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192E-F221-88CA-CF59-957A97B5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70889"/>
            <a:ext cx="9905955" cy="78658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Attributes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C6CBA-8D03-B5B4-A2C8-9F11E5D6F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169" y="526421"/>
            <a:ext cx="10401662" cy="390792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Attribute is a property or characteristic of an entity or relationship.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Attributes store information about entities.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For entity </a:t>
            </a:r>
            <a:r>
              <a:rPr lang="en-US" sz="2400" b="1" i="1" dirty="0">
                <a:latin typeface="Century Schoolbook" panose="02040604050505020304" pitchFamily="18" charset="0"/>
              </a:rPr>
              <a:t>Student</a:t>
            </a:r>
            <a:r>
              <a:rPr lang="en-US" sz="2400" b="1" dirty="0">
                <a:latin typeface="Century Schoolbook" panose="02040604050505020304" pitchFamily="18" charset="0"/>
              </a:rPr>
              <a:t>, attributes may include: Roll_No, Name, Age, Address.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67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5907-A665-08CA-C944-501BEC33A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276" y="-78658"/>
            <a:ext cx="9905955" cy="82591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attribute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E7EB7A-54A8-1DD0-7A3A-D9A34BD9C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322500"/>
              </p:ext>
            </p:extLst>
          </p:nvPr>
        </p:nvGraphicFramePr>
        <p:xfrm>
          <a:off x="1101213" y="698089"/>
          <a:ext cx="10196052" cy="5348750"/>
        </p:xfrm>
        <a:graphic>
          <a:graphicData uri="http://schemas.openxmlformats.org/drawingml/2006/table">
            <a:tbl>
              <a:tblPr/>
              <a:tblGrid>
                <a:gridCol w="3398684">
                  <a:extLst>
                    <a:ext uri="{9D8B030D-6E8A-4147-A177-3AD203B41FA5}">
                      <a16:colId xmlns:a16="http://schemas.microsoft.com/office/drawing/2014/main" val="1827673030"/>
                    </a:ext>
                  </a:extLst>
                </a:gridCol>
                <a:gridCol w="3398684">
                  <a:extLst>
                    <a:ext uri="{9D8B030D-6E8A-4147-A177-3AD203B41FA5}">
                      <a16:colId xmlns:a16="http://schemas.microsoft.com/office/drawing/2014/main" val="1794296913"/>
                    </a:ext>
                  </a:extLst>
                </a:gridCol>
                <a:gridCol w="3398684">
                  <a:extLst>
                    <a:ext uri="{9D8B030D-6E8A-4147-A177-3AD203B41FA5}">
                      <a16:colId xmlns:a16="http://schemas.microsoft.com/office/drawing/2014/main" val="3502181593"/>
                    </a:ext>
                  </a:extLst>
                </a:gridCol>
              </a:tblGrid>
              <a:tr h="713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112799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Simple Attribute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Cannot be divided further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Name, 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69373"/>
                  </a:ext>
                </a:extLst>
              </a:tr>
              <a:tr h="1248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Composite Attribute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be divided into smaller parts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Full_Name → (First_Name, Last_Name)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48962"/>
                  </a:ext>
                </a:extLst>
              </a:tr>
              <a:tr h="1248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Derived Attribute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be derived from other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 (from Date_of_Birth)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573147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Multi-valued Attribute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have multiple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Phone_Number, Skills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267029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Attribute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Uniquely identifies an 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Roll_No, </a:t>
                      </a:r>
                      <a:r>
                        <a:rPr lang="en-IN" dirty="0" err="1"/>
                        <a:t>Emp_ID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421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62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399D-60E3-CBCE-06F0-8618C4D7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240" y="-101600"/>
            <a:ext cx="9905955" cy="92456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Mapping cardinalities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8A907-2C4A-F54D-34CC-F6E8B5684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050" y="314959"/>
            <a:ext cx="10583230" cy="163576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Mapping Cardinality defines the number of entities that can participate in a relationship.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7503BB-9D4C-8BC4-C370-A82A3E98B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519387"/>
              </p:ext>
            </p:extLst>
          </p:nvPr>
        </p:nvGraphicFramePr>
        <p:xfrm>
          <a:off x="928050" y="1676400"/>
          <a:ext cx="10420668" cy="4450080"/>
        </p:xfrm>
        <a:graphic>
          <a:graphicData uri="http://schemas.openxmlformats.org/drawingml/2006/table">
            <a:tbl>
              <a:tblPr/>
              <a:tblGrid>
                <a:gridCol w="3473556">
                  <a:extLst>
                    <a:ext uri="{9D8B030D-6E8A-4147-A177-3AD203B41FA5}">
                      <a16:colId xmlns:a16="http://schemas.microsoft.com/office/drawing/2014/main" val="4189289558"/>
                    </a:ext>
                  </a:extLst>
                </a:gridCol>
                <a:gridCol w="3473556">
                  <a:extLst>
                    <a:ext uri="{9D8B030D-6E8A-4147-A177-3AD203B41FA5}">
                      <a16:colId xmlns:a16="http://schemas.microsoft.com/office/drawing/2014/main" val="2762401483"/>
                    </a:ext>
                  </a:extLst>
                </a:gridCol>
                <a:gridCol w="3473556">
                  <a:extLst>
                    <a:ext uri="{9D8B030D-6E8A-4147-A177-3AD203B41FA5}">
                      <a16:colId xmlns:a16="http://schemas.microsoft.com/office/drawing/2014/main" val="233057343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694551"/>
                  </a:ext>
                </a:extLst>
              </a:tr>
              <a:tr h="973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One-to-One (1:1)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entity of A is related to one entity of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 ↔ Passport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609438"/>
                  </a:ext>
                </a:extLst>
              </a:tr>
              <a:tr h="973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One-to-Many (1:N)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entity of A can relate to many of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 ↔ Employees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294657"/>
                  </a:ext>
                </a:extLst>
              </a:tr>
              <a:tr h="973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Many-to-One (N:1)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Many entities of A relate to one of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Students ↔ College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274365"/>
                  </a:ext>
                </a:extLst>
              </a:tr>
              <a:tr h="973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Many-to-Many (M:N)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Many entities of A relate to many of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Students ↔ Courses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139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454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27B7-9E26-9EE9-D838-E5D41C3F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32080"/>
            <a:ext cx="9905955" cy="86360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Shortcomings of the e-r model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B9D47-6899-AAB1-77AE-C0BF6C729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6770" y="558800"/>
            <a:ext cx="10776270" cy="62992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Although the E–R Model is widely used, it has some limitations : -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No representation for complex data types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It cannot represent advanced data like multimedia, video, or spatial data.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Lack of standardization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Different designers may draw ER diagrams in slightly different ways.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Poor representation of constraints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It cannot easily represent complex business rules or constraints.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Limited to conceptual design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ER models show the structure but not the operations or processes on data.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Not suitable for dynamic systems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Difficult to represent changes that occur over time in data relationships.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693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DC3A-D1BB-6C91-F19B-466CCF95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170" y="0"/>
            <a:ext cx="11792270" cy="62992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3.2] </a:t>
            </a:r>
            <a:r>
              <a:rPr lang="en-US" sz="3200" u="sng" dirty="0">
                <a:solidFill>
                  <a:srgbClr val="FFFF00"/>
                </a:solidFill>
                <a:latin typeface="Algerian" panose="04020705040A02060702" pitchFamily="82" charset="0"/>
              </a:rPr>
              <a:t>enhanced entity-relationship (</a:t>
            </a:r>
            <a:r>
              <a:rPr lang="en-US" sz="32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eer</a:t>
            </a:r>
            <a:r>
              <a:rPr lang="en-US" sz="3200" u="sng" dirty="0">
                <a:solidFill>
                  <a:srgbClr val="FFFF00"/>
                </a:solidFill>
                <a:latin typeface="Algerian" panose="04020705040A02060702" pitchFamily="82" charset="0"/>
              </a:rPr>
              <a:t>) model</a:t>
            </a: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2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86838-2A12-EC88-C3B4-6391CDEAC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9170" y="477520"/>
            <a:ext cx="10522270" cy="531367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Enhanced Entity–Relationship (EER) Model is an extension of the basic ER model that includes additional concepts to represent more complex relationships among entities.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used when simple ER modeling is not sufficient to represent real-world situations accurately.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EER introduces advanced features like Superclass, Subclass, Specialization, and Generalization.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EER diagrams are often used for object-oriented database design and real-world hierarchical modeling.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653204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BC0E-80E7-546C-595E-F6168F722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844" y="-71120"/>
            <a:ext cx="9905955" cy="82296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Subclass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2481C-0DEA-0D9D-251B-F543B3B2D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3280" y="660401"/>
            <a:ext cx="10779760" cy="483615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Subclass is a lower-level entity that inherits attributes and relationships from its superclass but also has additional unique attributes.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✅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From superclass Employee, we can create subclasses like:</a:t>
            </a:r>
          </a:p>
          <a:p>
            <a:pPr lvl="1"/>
            <a:r>
              <a:rPr lang="en-US" sz="2000" b="1" dirty="0">
                <a:latin typeface="Century Schoolbook" panose="02040604050505020304" pitchFamily="18" charset="0"/>
              </a:rPr>
              <a:t>Manager (extra attribute : </a:t>
            </a:r>
            <a:r>
              <a:rPr lang="en-US" sz="2000" b="1" dirty="0" err="1">
                <a:latin typeface="Century Schoolbook" panose="02040604050505020304" pitchFamily="18" charset="0"/>
              </a:rPr>
              <a:t>Department_Name</a:t>
            </a:r>
            <a:r>
              <a:rPr lang="en-US" sz="2000" b="1" dirty="0">
                <a:latin typeface="Century Schoolbook" panose="02040604050505020304" pitchFamily="18" charset="0"/>
              </a:rPr>
              <a:t>)</a:t>
            </a:r>
          </a:p>
          <a:p>
            <a:pPr lvl="1"/>
            <a:r>
              <a:rPr lang="en-US" sz="2000" b="1" dirty="0">
                <a:latin typeface="Century Schoolbook" panose="02040604050505020304" pitchFamily="18" charset="0"/>
              </a:rPr>
              <a:t>Technician (extra attribute : </a:t>
            </a:r>
            <a:r>
              <a:rPr lang="en-US" sz="2000" b="1" dirty="0" err="1">
                <a:latin typeface="Century Schoolbook" panose="02040604050505020304" pitchFamily="18" charset="0"/>
              </a:rPr>
              <a:t>Skill_Type</a:t>
            </a:r>
            <a:r>
              <a:rPr lang="en-US" sz="2000" b="1" dirty="0">
                <a:latin typeface="Century Schoolbook" panose="020406040505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Here, subclasses have all the attributes of Employee plus their own specific ones.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45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0862-1605-F949-2A56-7A31A84C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376" y="0"/>
            <a:ext cx="9905955" cy="7620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Superclass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4458B-1C46-4FAD-4301-541C9EC95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6770" y="680721"/>
            <a:ext cx="10522270" cy="600455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Superclass is a higher-level entity that contains common attributes and relationships shared by two or more subclasses.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represents general information about a group of entities.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✅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Consider an entity Employee with attributes: </a:t>
            </a:r>
            <a:r>
              <a:rPr lang="en-US" sz="2400" b="1" dirty="0" err="1">
                <a:latin typeface="Century Schoolbook" panose="02040604050505020304" pitchFamily="18" charset="0"/>
              </a:rPr>
              <a:t>Emp_ID</a:t>
            </a:r>
            <a:r>
              <a:rPr lang="en-US" sz="2400" b="1" dirty="0">
                <a:latin typeface="Century Schoolbook" panose="02040604050505020304" pitchFamily="18" charset="0"/>
              </a:rPr>
              <a:t>, Name, Address.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This can act as a Superclass for other specific entities like Manager and Technician.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Thus,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Employee → Superclass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Manager, Technician → Subclasses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463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3B2F-3157-0615-FD1D-95DF559E0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0"/>
            <a:ext cx="9905955" cy="78232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Specialization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1DDB0-9B48-315E-0A81-9A37F01A5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7090" y="609601"/>
            <a:ext cx="11009950" cy="616712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Specialization is the process of dividing a single entity (Superclass) into two or more sub-entities (Subclasses) based on specific characteristics.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top-down approach — starting from a general entity and creating specialized versions of it.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✅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entity Employee can be specialized into: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Century Schoolbook" panose="02040604050505020304" pitchFamily="18" charset="0"/>
              </a:rPr>
              <a:t>Manager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Century Schoolbook" panose="02040604050505020304" pitchFamily="18" charset="0"/>
              </a:rPr>
              <a:t>Technician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Century Schoolbook" panose="02040604050505020304" pitchFamily="18" charset="0"/>
              </a:rPr>
              <a:t>Clerk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Each subclass represents a specific role or category of Employee.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990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3C19-2F1A-BE11-E254-F4DF35D2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328" y="-81280"/>
            <a:ext cx="10105664" cy="84328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Generalization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CA088-E99F-4290-1FCF-34F1242E1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3600" y="614680"/>
            <a:ext cx="10739120" cy="56286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Generalization is the reverse of specialization.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the process of combining two or more entities (Subclasses) with common attributes into a higher-level entity (Superclass).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bottom-up approach — starting from specific entities and forming a general one.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✅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Entities Car, Bike, and Truck can be generalized into a single Superclass called Vehicle.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All three entities share common attributes like </a:t>
            </a:r>
            <a:r>
              <a:rPr lang="en-US" sz="2400" b="1" dirty="0" err="1">
                <a:latin typeface="Century Schoolbook" panose="02040604050505020304" pitchFamily="18" charset="0"/>
              </a:rPr>
              <a:t>Vehicle_ID</a:t>
            </a:r>
            <a:r>
              <a:rPr lang="en-US" sz="2400" b="1" dirty="0">
                <a:latin typeface="Century Schoolbook" panose="02040604050505020304" pitchFamily="18" charset="0"/>
              </a:rPr>
              <a:t>, Model, and </a:t>
            </a:r>
            <a:r>
              <a:rPr lang="en-US" sz="2400" b="1" dirty="0" err="1">
                <a:latin typeface="Century Schoolbook" panose="02040604050505020304" pitchFamily="18" charset="0"/>
              </a:rPr>
              <a:t>Registration_No</a:t>
            </a:r>
            <a:r>
              <a:rPr lang="en-US" sz="2400" b="1" dirty="0">
                <a:latin typeface="Century Schoolbook" panose="02040604050505020304" pitchFamily="18" charset="0"/>
              </a:rPr>
              <a:t>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17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1ADC-F48A-CE81-82C3-848EBE80A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896" y="-71120"/>
            <a:ext cx="9905955" cy="7620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3.3]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case studies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37CAB-88C4-18AD-09BB-D9BD6536E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7410" y="589281"/>
            <a:ext cx="10694990" cy="5913119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case study in DBMS demonstrates how databases are designed and implemented for real-world applications.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organization or system—like a bank, library, educational institute, organization, hotel, or hospital—requires a database to efficiently store, manage, and retrieve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Below are examples of database design case studies for different domains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Bank.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Library.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Education.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Organization.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Hotel management.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Hospital management. </a:t>
            </a:r>
            <a:endParaRPr lang="en-IN" sz="2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995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D52F-1FE0-EB40-31CB-AA2FDBC7E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71120"/>
            <a:ext cx="9905955" cy="8128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Bank management system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7D6EA-FE7E-23FD-DB66-56AF80C71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5731" y="883920"/>
            <a:ext cx="10620535" cy="5892800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A Bank Management System is a database application designed to manage and store all information related to bank operations such as customer details, accounts, transactions, loans, and branches.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The system helps in maintaining data consistency, accuracy, and security while allowing quick access to customer and account details.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Functionalities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Account Management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600" b="1" dirty="0">
                <a:latin typeface="Century Schoolbook" panose="02040604050505020304" pitchFamily="18" charset="0"/>
              </a:rPr>
              <a:t>Opening, closing, and updating account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Transaction Handling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600" b="1" dirty="0">
                <a:latin typeface="Century Schoolbook" panose="02040604050505020304" pitchFamily="18" charset="0"/>
              </a:rPr>
              <a:t>Managing deposits, withdrawals, and transfers.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Loan Processing :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600" b="1" dirty="0">
                <a:latin typeface="Century Schoolbook" panose="02040604050505020304" pitchFamily="18" charset="0"/>
              </a:rPr>
              <a:t>Managing loan applications, approvals, and payments.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Report Generation :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600" b="1" dirty="0">
                <a:latin typeface="Century Schoolbook" panose="02040604050505020304" pitchFamily="18" charset="0"/>
              </a:rPr>
              <a:t>Generating balance sheets, transaction reports, and account statements.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Security Control :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600" b="1" dirty="0">
                <a:latin typeface="Century Schoolbook" panose="02040604050505020304" pitchFamily="18" charset="0"/>
              </a:rPr>
              <a:t>Ensuring authorized access to data and maintaining data confidentiality.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52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C901-4A21-A156-D262-10A84DEF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11760"/>
            <a:ext cx="9905955" cy="95504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Entities &amp; attributes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45ACA-AC08-0F1D-FE1F-1942F2960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22" y="467360"/>
            <a:ext cx="10378418" cy="6207760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Customer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Attributes : </a:t>
            </a:r>
            <a:r>
              <a:rPr lang="en-US" sz="2300" b="1" dirty="0" err="1">
                <a:latin typeface="Century Schoolbook" panose="02040604050505020304" pitchFamily="18" charset="0"/>
              </a:rPr>
              <a:t>Customer_ID</a:t>
            </a:r>
            <a:r>
              <a:rPr lang="en-US" sz="2300" b="1" dirty="0">
                <a:latin typeface="Century Schoolbook" panose="02040604050505020304" pitchFamily="18" charset="0"/>
              </a:rPr>
              <a:t>, Name, Address, </a:t>
            </a:r>
            <a:r>
              <a:rPr lang="en-US" sz="2300" b="1" dirty="0" err="1">
                <a:latin typeface="Century Schoolbook" panose="02040604050505020304" pitchFamily="18" charset="0"/>
              </a:rPr>
              <a:t>Phone_No</a:t>
            </a:r>
            <a:r>
              <a:rPr lang="en-US" sz="2300" b="1" dirty="0">
                <a:latin typeface="Century Schoolbook" panose="02040604050505020304" pitchFamily="18" charset="0"/>
              </a:rPr>
              <a:t>, Email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Description : Represents a person who holds one or more bank accounts.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Account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Attributes : </a:t>
            </a:r>
            <a:r>
              <a:rPr lang="en-US" sz="2300" b="1" dirty="0" err="1">
                <a:latin typeface="Century Schoolbook" panose="02040604050505020304" pitchFamily="18" charset="0"/>
              </a:rPr>
              <a:t>Account_No</a:t>
            </a:r>
            <a:r>
              <a:rPr lang="en-US" sz="2300" b="1" dirty="0">
                <a:latin typeface="Century Schoolbook" panose="02040604050505020304" pitchFamily="18" charset="0"/>
              </a:rPr>
              <a:t>, </a:t>
            </a:r>
            <a:r>
              <a:rPr lang="en-US" sz="2300" b="1" dirty="0" err="1">
                <a:latin typeface="Century Schoolbook" panose="02040604050505020304" pitchFamily="18" charset="0"/>
              </a:rPr>
              <a:t>Account_Type</a:t>
            </a:r>
            <a:r>
              <a:rPr lang="en-US" sz="2300" b="1" dirty="0">
                <a:latin typeface="Century Schoolbook" panose="02040604050505020304" pitchFamily="18" charset="0"/>
              </a:rPr>
              <a:t> (Savings/Current), Balance, </a:t>
            </a:r>
            <a:r>
              <a:rPr lang="en-US" sz="2300" b="1" dirty="0" err="1">
                <a:latin typeface="Century Schoolbook" panose="02040604050505020304" pitchFamily="18" charset="0"/>
              </a:rPr>
              <a:t>Opening_Date</a:t>
            </a:r>
            <a:r>
              <a:rPr lang="en-US" sz="2300" b="1" dirty="0">
                <a:latin typeface="Century Schoolbook" panose="02040604050505020304" pitchFamily="18" charset="0"/>
              </a:rPr>
              <a:t>, </a:t>
            </a:r>
            <a:r>
              <a:rPr lang="en-US" sz="2300" b="1" dirty="0" err="1">
                <a:latin typeface="Century Schoolbook" panose="02040604050505020304" pitchFamily="18" charset="0"/>
              </a:rPr>
              <a:t>Customer_ID</a:t>
            </a:r>
            <a:endParaRPr lang="en-US" sz="2300" b="1" dirty="0"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Description : Stores account details linked to a customer.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Transaction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Attributes : </a:t>
            </a:r>
            <a:r>
              <a:rPr lang="en-US" sz="2300" b="1" dirty="0" err="1">
                <a:latin typeface="Century Schoolbook" panose="02040604050505020304" pitchFamily="18" charset="0"/>
              </a:rPr>
              <a:t>Transaction_ID</a:t>
            </a:r>
            <a:r>
              <a:rPr lang="en-US" sz="2300" b="1" dirty="0">
                <a:latin typeface="Century Schoolbook" panose="02040604050505020304" pitchFamily="18" charset="0"/>
              </a:rPr>
              <a:t>, </a:t>
            </a:r>
            <a:r>
              <a:rPr lang="en-US" sz="2300" b="1" dirty="0" err="1">
                <a:latin typeface="Century Schoolbook" panose="02040604050505020304" pitchFamily="18" charset="0"/>
              </a:rPr>
              <a:t>Account_No</a:t>
            </a:r>
            <a:r>
              <a:rPr lang="en-US" sz="2300" b="1" dirty="0">
                <a:latin typeface="Century Schoolbook" panose="02040604050505020304" pitchFamily="18" charset="0"/>
              </a:rPr>
              <a:t>, Type (Deposit/Withdraw/Transfer), Amount, Date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Description : Represents any financial operation performed on an account.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Branch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Attributes : </a:t>
            </a:r>
            <a:r>
              <a:rPr lang="en-US" sz="2300" b="1" dirty="0" err="1">
                <a:latin typeface="Century Schoolbook" panose="02040604050505020304" pitchFamily="18" charset="0"/>
              </a:rPr>
              <a:t>Branch_ID</a:t>
            </a:r>
            <a:r>
              <a:rPr lang="en-US" sz="2300" b="1" dirty="0">
                <a:latin typeface="Century Schoolbook" panose="02040604050505020304" pitchFamily="18" charset="0"/>
              </a:rPr>
              <a:t>, </a:t>
            </a:r>
            <a:r>
              <a:rPr lang="en-US" sz="2300" b="1" dirty="0" err="1">
                <a:latin typeface="Century Schoolbook" panose="02040604050505020304" pitchFamily="18" charset="0"/>
              </a:rPr>
              <a:t>Branch_Name</a:t>
            </a:r>
            <a:r>
              <a:rPr lang="en-US" sz="2300" b="1" dirty="0">
                <a:latin typeface="Century Schoolbook" panose="02040604050505020304" pitchFamily="18" charset="0"/>
              </a:rPr>
              <a:t>, Location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Description : Represents the different branches of the bank.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Loan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Attributes : </a:t>
            </a:r>
            <a:r>
              <a:rPr lang="en-US" sz="2300" b="1" dirty="0" err="1">
                <a:latin typeface="Century Schoolbook" panose="02040604050505020304" pitchFamily="18" charset="0"/>
              </a:rPr>
              <a:t>Loan_ID</a:t>
            </a:r>
            <a:r>
              <a:rPr lang="en-US" sz="2300" b="1" dirty="0">
                <a:latin typeface="Century Schoolbook" panose="02040604050505020304" pitchFamily="18" charset="0"/>
              </a:rPr>
              <a:t>, </a:t>
            </a:r>
            <a:r>
              <a:rPr lang="en-US" sz="2300" b="1" dirty="0" err="1">
                <a:latin typeface="Century Schoolbook" panose="02040604050505020304" pitchFamily="18" charset="0"/>
              </a:rPr>
              <a:t>Customer_ID</a:t>
            </a:r>
            <a:r>
              <a:rPr lang="en-US" sz="2300" b="1" dirty="0">
                <a:latin typeface="Century Schoolbook" panose="02040604050505020304" pitchFamily="18" charset="0"/>
              </a:rPr>
              <a:t>, </a:t>
            </a:r>
            <a:r>
              <a:rPr lang="en-US" sz="2300" b="1" dirty="0" err="1">
                <a:latin typeface="Century Schoolbook" panose="02040604050505020304" pitchFamily="18" charset="0"/>
              </a:rPr>
              <a:t>Loan_Type</a:t>
            </a:r>
            <a:r>
              <a:rPr lang="en-US" sz="2300" b="1" dirty="0">
                <a:latin typeface="Century Schoolbook" panose="02040604050505020304" pitchFamily="18" charset="0"/>
              </a:rPr>
              <a:t>, Amount, </a:t>
            </a:r>
            <a:r>
              <a:rPr lang="en-US" sz="2300" b="1" dirty="0" err="1">
                <a:latin typeface="Century Schoolbook" panose="02040604050505020304" pitchFamily="18" charset="0"/>
              </a:rPr>
              <a:t>Interest_Rate</a:t>
            </a:r>
            <a:r>
              <a:rPr lang="en-US" sz="2300" b="1" dirty="0">
                <a:latin typeface="Century Schoolbook" panose="02040604050505020304" pitchFamily="18" charset="0"/>
              </a:rPr>
              <a:t>, Duration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300" b="1" dirty="0">
                <a:latin typeface="Century Schoolbook" panose="02040604050505020304" pitchFamily="18" charset="0"/>
              </a:rPr>
              <a:t>Description : Contains loan-related information for customers</a:t>
            </a:r>
            <a:r>
              <a:rPr lang="en-US" sz="2600" b="1" dirty="0">
                <a:latin typeface="Century Schoolbook" panose="02040604050505020304" pitchFamily="18" charset="0"/>
              </a:rPr>
              <a:t>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462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73FC-D572-CE76-2183-59B03127F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21920"/>
            <a:ext cx="9905955" cy="97536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Libraey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management system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13725-4370-D165-E6D1-FF894AB5D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7410" y="558801"/>
            <a:ext cx="10735630" cy="6217920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100" b="1" dirty="0">
                <a:latin typeface="Century Schoolbook" panose="02040604050505020304" pitchFamily="18" charset="0"/>
              </a:rPr>
              <a:t>A Library Management System (LMS) is a database application designed to manage the catalog of a library. It helps in maintaining records of books, members, issue/return transactions, and library staff efficiently.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100" b="1" dirty="0">
                <a:latin typeface="Century Schoolbook" panose="02040604050505020304" pitchFamily="18" charset="0"/>
              </a:rPr>
              <a:t>The system ensures that book lending and management operations are performed accurately, reducing manual work and improving data organization.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Functionalities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Book Management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800" b="1" dirty="0">
                <a:latin typeface="Century Schoolbook" panose="02040604050505020304" pitchFamily="18" charset="0"/>
              </a:rPr>
              <a:t> </a:t>
            </a:r>
            <a:r>
              <a:rPr lang="en-US" sz="2600" b="1" dirty="0">
                <a:latin typeface="Century Schoolbook" panose="02040604050505020304" pitchFamily="18" charset="0"/>
              </a:rPr>
              <a:t>Adding, updating, deleting, and searching for books.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Member Management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600" b="1" dirty="0">
                <a:latin typeface="Century Schoolbook" panose="02040604050505020304" pitchFamily="18" charset="0"/>
              </a:rPr>
              <a:t>Registering new members and updating member records.</a:t>
            </a:r>
            <a:endParaRPr lang="en-US" sz="29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Issue/Return Process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600" b="1" dirty="0">
                <a:latin typeface="Century Schoolbook" panose="02040604050505020304" pitchFamily="18" charset="0"/>
              </a:rPr>
              <a:t>Managing book issue and return, and calculating fines for late returns.</a:t>
            </a:r>
            <a:endParaRPr lang="en-US" sz="29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Search Facility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600" b="1" dirty="0">
                <a:latin typeface="Century Schoolbook" panose="02040604050505020304" pitchFamily="18" charset="0"/>
              </a:rPr>
              <a:t>Searching by book title, author, or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Report Generation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600" b="1" dirty="0">
                <a:latin typeface="Century Schoolbook" panose="02040604050505020304" pitchFamily="18" charset="0"/>
              </a:rPr>
              <a:t>Generating reports for issued books, returned books, and pending fines.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25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DF74-CDCD-1A71-D362-C7A66CEB6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0"/>
            <a:ext cx="9905955" cy="8128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Entities &amp; attributes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1116E-8B07-1B2F-640B-ED0803391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0290" y="812800"/>
            <a:ext cx="10725470" cy="615696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Book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lvl="1"/>
            <a:r>
              <a:rPr lang="en-US" sz="1800" b="1" dirty="0">
                <a:latin typeface="Century Schoolbook" panose="02040604050505020304" pitchFamily="18" charset="0"/>
              </a:rPr>
              <a:t>Attributes: </a:t>
            </a:r>
            <a:r>
              <a:rPr lang="en-US" sz="1800" b="1" dirty="0" err="1">
                <a:latin typeface="Century Schoolbook" panose="02040604050505020304" pitchFamily="18" charset="0"/>
              </a:rPr>
              <a:t>Book_ID</a:t>
            </a:r>
            <a:r>
              <a:rPr lang="en-US" sz="1800" b="1" dirty="0">
                <a:latin typeface="Century Schoolbook" panose="02040604050505020304" pitchFamily="18" charset="0"/>
              </a:rPr>
              <a:t>, Title, Author, Publisher, ISBN, Category, Status</a:t>
            </a:r>
          </a:p>
          <a:p>
            <a:pPr lvl="1"/>
            <a:r>
              <a:rPr lang="en-US" sz="1800" b="1" dirty="0">
                <a:latin typeface="Century Schoolbook" panose="02040604050505020304" pitchFamily="18" charset="0"/>
              </a:rPr>
              <a:t>Description: Represents each book in the library with its unique identification.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Member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lvl="1"/>
            <a:r>
              <a:rPr lang="en-US" sz="1800" b="1" dirty="0">
                <a:latin typeface="Century Schoolbook" panose="02040604050505020304" pitchFamily="18" charset="0"/>
              </a:rPr>
              <a:t>Attributes: </a:t>
            </a:r>
            <a:r>
              <a:rPr lang="en-US" sz="1800" b="1" dirty="0" err="1">
                <a:latin typeface="Century Schoolbook" panose="02040604050505020304" pitchFamily="18" charset="0"/>
              </a:rPr>
              <a:t>Member_ID</a:t>
            </a:r>
            <a:r>
              <a:rPr lang="en-US" sz="1800" b="1" dirty="0">
                <a:latin typeface="Century Schoolbook" panose="02040604050505020304" pitchFamily="18" charset="0"/>
              </a:rPr>
              <a:t>, Name, Address, </a:t>
            </a:r>
            <a:r>
              <a:rPr lang="en-US" sz="1800" b="1" dirty="0" err="1">
                <a:latin typeface="Century Schoolbook" panose="02040604050505020304" pitchFamily="18" charset="0"/>
              </a:rPr>
              <a:t>Contact_No</a:t>
            </a:r>
            <a:r>
              <a:rPr lang="en-US" sz="1800" b="1" dirty="0">
                <a:latin typeface="Century Schoolbook" panose="02040604050505020304" pitchFamily="18" charset="0"/>
              </a:rPr>
              <a:t>, Email, </a:t>
            </a:r>
            <a:r>
              <a:rPr lang="en-US" sz="1800" b="1" dirty="0" err="1">
                <a:latin typeface="Century Schoolbook" panose="02040604050505020304" pitchFamily="18" charset="0"/>
              </a:rPr>
              <a:t>Membership_Date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lvl="1"/>
            <a:r>
              <a:rPr lang="en-US" sz="1800" b="1" dirty="0">
                <a:latin typeface="Century Schoolbook" panose="02040604050505020304" pitchFamily="18" charset="0"/>
              </a:rPr>
              <a:t>Description: Represents a person who has registered to borrow books.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Librarian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lvl="1"/>
            <a:r>
              <a:rPr lang="en-US" sz="1800" b="1" dirty="0">
                <a:latin typeface="Century Schoolbook" panose="02040604050505020304" pitchFamily="18" charset="0"/>
              </a:rPr>
              <a:t>Attributes: </a:t>
            </a:r>
            <a:r>
              <a:rPr lang="en-US" sz="1800" b="1" dirty="0" err="1">
                <a:latin typeface="Century Schoolbook" panose="02040604050505020304" pitchFamily="18" charset="0"/>
              </a:rPr>
              <a:t>Librarian_ID</a:t>
            </a:r>
            <a:r>
              <a:rPr lang="en-US" sz="1800" b="1" dirty="0">
                <a:latin typeface="Century Schoolbook" panose="02040604050505020304" pitchFamily="18" charset="0"/>
              </a:rPr>
              <a:t>, Name, Contact, </a:t>
            </a:r>
            <a:r>
              <a:rPr lang="en-US" sz="1800" b="1" dirty="0" err="1">
                <a:latin typeface="Century Schoolbook" panose="02040604050505020304" pitchFamily="18" charset="0"/>
              </a:rPr>
              <a:t>Shift_Timing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lvl="1"/>
            <a:r>
              <a:rPr lang="en-US" sz="1800" b="1" dirty="0">
                <a:latin typeface="Century Schoolbook" panose="02040604050505020304" pitchFamily="18" charset="0"/>
              </a:rPr>
              <a:t>Description: Represents library staff responsible for managing the library.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Issue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lvl="1"/>
            <a:r>
              <a:rPr lang="en-US" sz="1800" b="1" dirty="0">
                <a:latin typeface="Century Schoolbook" panose="02040604050505020304" pitchFamily="18" charset="0"/>
              </a:rPr>
              <a:t>Attributes: </a:t>
            </a:r>
            <a:r>
              <a:rPr lang="en-US" sz="1800" b="1" dirty="0" err="1">
                <a:latin typeface="Century Schoolbook" panose="02040604050505020304" pitchFamily="18" charset="0"/>
              </a:rPr>
              <a:t>Issue_ID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Book_ID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Member_ID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Issue_Date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Due_Date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Return_Date</a:t>
            </a:r>
            <a:r>
              <a:rPr lang="en-US" sz="1800" b="1" dirty="0">
                <a:latin typeface="Century Schoolbook" panose="02040604050505020304" pitchFamily="18" charset="0"/>
              </a:rPr>
              <a:t>, Fine</a:t>
            </a:r>
          </a:p>
          <a:p>
            <a:pPr lvl="1"/>
            <a:r>
              <a:rPr lang="en-US" sz="1800" b="1" dirty="0">
                <a:latin typeface="Century Schoolbook" panose="02040604050505020304" pitchFamily="18" charset="0"/>
              </a:rPr>
              <a:t>Description: Represents the details of a book issued to a member.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Publisher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lvl="1"/>
            <a:r>
              <a:rPr lang="en-US" sz="1900" b="1" dirty="0">
                <a:latin typeface="Century Schoolbook" panose="02040604050505020304" pitchFamily="18" charset="0"/>
              </a:rPr>
              <a:t>Attributes: </a:t>
            </a:r>
            <a:r>
              <a:rPr lang="en-US" sz="1900" b="1" dirty="0" err="1">
                <a:latin typeface="Century Schoolbook" panose="02040604050505020304" pitchFamily="18" charset="0"/>
              </a:rPr>
              <a:t>Publisher_ID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Publisher_Name</a:t>
            </a:r>
            <a:r>
              <a:rPr lang="en-US" sz="1900" b="1" dirty="0">
                <a:latin typeface="Century Schoolbook" panose="02040604050505020304" pitchFamily="18" charset="0"/>
              </a:rPr>
              <a:t>, Address, </a:t>
            </a:r>
            <a:r>
              <a:rPr lang="en-US" sz="1900" b="1" dirty="0" err="1">
                <a:latin typeface="Century Schoolbook" panose="02040604050505020304" pitchFamily="18" charset="0"/>
              </a:rPr>
              <a:t>Contact_No</a:t>
            </a:r>
            <a:endParaRPr lang="en-US" sz="1900" b="1" dirty="0">
              <a:latin typeface="Century Schoolbook" panose="02040604050505020304" pitchFamily="18" charset="0"/>
            </a:endParaRPr>
          </a:p>
          <a:p>
            <a:pPr lvl="1"/>
            <a:r>
              <a:rPr lang="en-US" sz="1900" b="1" dirty="0">
                <a:latin typeface="Century Schoolbook" panose="02040604050505020304" pitchFamily="18" charset="0"/>
              </a:rPr>
              <a:t>Description: Represents the publisher of various books.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279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AC9B-0D4A-0A3C-9D94-80C1B0164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76" y="-142240"/>
            <a:ext cx="10522224" cy="90424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Education management system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7DBB6-6AFD-012E-FE56-51302EFF7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7730" y="619760"/>
            <a:ext cx="10674670" cy="61569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An Education Management System (EMS) is a database-based application that helps educational institutions manage their students, faculty, courses, examinations, and results efficiently.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It reduces paperwork and provides a centralized system for storing, updating, and retrieving academic information.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Functionalities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Student Management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2000" b="1" dirty="0">
                <a:latin typeface="Century Schoolbook" panose="02040604050505020304" pitchFamily="18" charset="0"/>
              </a:rPr>
              <a:t> </a:t>
            </a:r>
            <a:r>
              <a:rPr lang="en-US" b="1" dirty="0">
                <a:latin typeface="Century Schoolbook" panose="02040604050505020304" pitchFamily="18" charset="0"/>
              </a:rPr>
              <a:t>Admission, profile maintenance, and performance tracking.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Course Management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b="1" dirty="0">
                <a:latin typeface="Century Schoolbook" panose="02040604050505020304" pitchFamily="18" charset="0"/>
              </a:rPr>
              <a:t>Adding, updating, and assigning courses to departments.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Faculty Management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b="1" dirty="0">
                <a:latin typeface="Century Schoolbook" panose="02040604050505020304" pitchFamily="18" charset="0"/>
              </a:rPr>
              <a:t>Managing staff profiles and teaching assignments.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Examination Management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b="1" dirty="0">
                <a:latin typeface="Century Schoolbook" panose="02040604050505020304" pitchFamily="18" charset="0"/>
              </a:rPr>
              <a:t>Scheduling exams, storing marks, and generating results.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Attendance and Grade Reports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2000" b="1" dirty="0">
                <a:latin typeface="Century Schoolbook" panose="02040604050505020304" pitchFamily="18" charset="0"/>
              </a:rPr>
              <a:t> </a:t>
            </a:r>
            <a:r>
              <a:rPr lang="en-US" b="1" dirty="0">
                <a:latin typeface="Century Schoolbook" panose="02040604050505020304" pitchFamily="18" charset="0"/>
              </a:rPr>
              <a:t>Tracking student attendance and academic performance.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737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0B06-C723-C845-C7CA-4B9653AA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567" y="-91440"/>
            <a:ext cx="9905955" cy="89408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Entities &amp; attribute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3ACAD-8E38-F0DA-6596-35675286B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566" y="721360"/>
            <a:ext cx="10264913" cy="6228080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Student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Attributes : </a:t>
            </a:r>
            <a:r>
              <a:rPr lang="en-US" sz="1900" b="1" dirty="0" err="1">
                <a:latin typeface="Century Schoolbook" panose="02040604050505020304" pitchFamily="18" charset="0"/>
              </a:rPr>
              <a:t>Student_ID</a:t>
            </a:r>
            <a:r>
              <a:rPr lang="en-US" sz="1900" b="1" dirty="0">
                <a:latin typeface="Century Schoolbook" panose="02040604050505020304" pitchFamily="18" charset="0"/>
              </a:rPr>
              <a:t>, Name, Roll_No, Class, Department, </a:t>
            </a:r>
            <a:r>
              <a:rPr lang="en-US" sz="1900" b="1" dirty="0" err="1">
                <a:latin typeface="Century Schoolbook" panose="02040604050505020304" pitchFamily="18" charset="0"/>
              </a:rPr>
              <a:t>Contact_No</a:t>
            </a:r>
            <a:r>
              <a:rPr lang="en-US" sz="1900" b="1" dirty="0">
                <a:latin typeface="Century Schoolbook" panose="02040604050505020304" pitchFamily="18" charset="0"/>
              </a:rPr>
              <a:t>, Email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Description : Represents each student enrolled in the institution.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Faculty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Attributes : </a:t>
            </a:r>
            <a:r>
              <a:rPr lang="en-US" sz="1900" b="1" dirty="0" err="1">
                <a:latin typeface="Century Schoolbook" panose="02040604050505020304" pitchFamily="18" charset="0"/>
              </a:rPr>
              <a:t>Faculty_ID</a:t>
            </a:r>
            <a:r>
              <a:rPr lang="en-US" sz="1900" b="1" dirty="0">
                <a:latin typeface="Century Schoolbook" panose="02040604050505020304" pitchFamily="18" charset="0"/>
              </a:rPr>
              <a:t>, Name, Department, Qualification, </a:t>
            </a:r>
            <a:r>
              <a:rPr lang="en-US" sz="1900" b="1" dirty="0" err="1">
                <a:latin typeface="Century Schoolbook" panose="02040604050505020304" pitchFamily="18" charset="0"/>
              </a:rPr>
              <a:t>Contact_No</a:t>
            </a:r>
            <a:endParaRPr lang="en-US" sz="19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Description : Represents teaching or academic staff members.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Course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Attributes : </a:t>
            </a:r>
            <a:r>
              <a:rPr lang="en-US" sz="1900" b="1" dirty="0" err="1">
                <a:latin typeface="Century Schoolbook" panose="02040604050505020304" pitchFamily="18" charset="0"/>
              </a:rPr>
              <a:t>Course_ID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Course_Name</a:t>
            </a:r>
            <a:r>
              <a:rPr lang="en-US" sz="1900" b="1" dirty="0">
                <a:latin typeface="Century Schoolbook" panose="02040604050505020304" pitchFamily="18" charset="0"/>
              </a:rPr>
              <a:t>, Credits, Department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Description : Represents a subject or module taught in the institution.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Department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Attributes : </a:t>
            </a:r>
            <a:r>
              <a:rPr lang="en-US" sz="1900" b="1" dirty="0" err="1">
                <a:latin typeface="Century Schoolbook" panose="02040604050505020304" pitchFamily="18" charset="0"/>
              </a:rPr>
              <a:t>Dept_ID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Dept_Name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HOD_Name</a:t>
            </a:r>
            <a:endParaRPr lang="en-US" sz="19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Description : Represents a specific academic department (e.g., IT, Mechanical, Civil).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Enrollment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Attributes : </a:t>
            </a:r>
            <a:r>
              <a:rPr lang="en-US" sz="1900" b="1" dirty="0" err="1">
                <a:latin typeface="Century Schoolbook" panose="02040604050505020304" pitchFamily="18" charset="0"/>
              </a:rPr>
              <a:t>Enroll_ID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Student_ID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Course_ID</a:t>
            </a:r>
            <a:r>
              <a:rPr lang="en-US" sz="1900" b="1" dirty="0">
                <a:latin typeface="Century Schoolbook" panose="02040604050505020304" pitchFamily="18" charset="0"/>
              </a:rPr>
              <a:t>, Semester, Grade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Description : Stores information about which student is enrolled in which course.</a:t>
            </a:r>
            <a:endParaRPr lang="en-US" sz="17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Attributes : </a:t>
            </a:r>
            <a:r>
              <a:rPr lang="en-US" sz="1900" b="1" dirty="0" err="1">
                <a:latin typeface="Century Schoolbook" panose="02040604050505020304" pitchFamily="18" charset="0"/>
              </a:rPr>
              <a:t>Exam_ID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Course_ID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Exam_Date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Total_Marks</a:t>
            </a:r>
            <a:endParaRPr lang="en-US" sz="1900" b="1" dirty="0">
              <a:latin typeface="Century Schoolbook" panose="020406040505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Description : Represents examination details for different courses.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58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37EF-4F14-5667-8BEC-2087E80D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616" y="-121920"/>
            <a:ext cx="10948944" cy="86360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Organization management system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E0682-52B6-6E7E-D49B-696D6170C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1616" y="1066800"/>
            <a:ext cx="10451104" cy="5791200"/>
          </a:xfrm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Organization Management System (OMS) is a database application designed to manage an organization’s employees, departments, projects, and payroll efficiently.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helps in maintaining structured data about all business operations, ensuring smooth workflow, coordination, and performance tracking across different departments.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Functionalities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Employee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1900" b="1" dirty="0">
                <a:latin typeface="Century Schoolbook" panose="02040604050505020304" pitchFamily="18" charset="0"/>
              </a:rPr>
              <a:t>Add, update, and view employee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Department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1900" b="1" dirty="0">
                <a:latin typeface="Century Schoolbook" panose="02040604050505020304" pitchFamily="18" charset="0"/>
              </a:rPr>
              <a:t>Manage departments and their assigned managers.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Project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1900" b="1" dirty="0">
                <a:latin typeface="Century Schoolbook" panose="02040604050505020304" pitchFamily="18" charset="0"/>
              </a:rPr>
              <a:t>Track project details, budgets, and deadlines.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Payroll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200" b="1" dirty="0">
                <a:latin typeface="Century Schoolbook" panose="02040604050505020304" pitchFamily="18" charset="0"/>
              </a:rPr>
              <a:t>Calculate and manage employee salaries.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Reports and Analysis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1900" b="1" dirty="0">
                <a:latin typeface="Century Schoolbook" panose="02040604050505020304" pitchFamily="18" charset="0"/>
              </a:rPr>
              <a:t>Generate performance, attendance, and payroll reports.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626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9C9C-F905-63C3-D064-6DC831AC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567" y="-81280"/>
            <a:ext cx="9905955" cy="79248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Entities &amp; attributes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9E18A-D65D-E514-2376-230EB45E4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4476" y="711200"/>
            <a:ext cx="10339522" cy="62382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Employee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Attributes : </a:t>
            </a:r>
            <a:r>
              <a:rPr lang="en-US" sz="1600" b="1" dirty="0" err="1">
                <a:latin typeface="Century Schoolbook" panose="02040604050505020304" pitchFamily="18" charset="0"/>
              </a:rPr>
              <a:t>Emp_ID</a:t>
            </a:r>
            <a:r>
              <a:rPr lang="en-US" sz="1600" b="1" dirty="0">
                <a:latin typeface="Century Schoolbook" panose="02040604050505020304" pitchFamily="18" charset="0"/>
              </a:rPr>
              <a:t>, Name, Address, </a:t>
            </a:r>
            <a:r>
              <a:rPr lang="en-US" sz="1600" b="1" dirty="0" err="1">
                <a:latin typeface="Century Schoolbook" panose="02040604050505020304" pitchFamily="18" charset="0"/>
              </a:rPr>
              <a:t>Contact_No</a:t>
            </a:r>
            <a:r>
              <a:rPr lang="en-US" sz="1600" b="1" dirty="0">
                <a:latin typeface="Century Schoolbook" panose="02040604050505020304" pitchFamily="18" charset="0"/>
              </a:rPr>
              <a:t>, Designation, Salary, </a:t>
            </a:r>
            <a:r>
              <a:rPr lang="en-US" sz="1600" b="1" dirty="0" err="1">
                <a:latin typeface="Century Schoolbook" panose="02040604050505020304" pitchFamily="18" charset="0"/>
              </a:rPr>
              <a:t>Dept_ID</a:t>
            </a:r>
            <a:endParaRPr lang="en-US" sz="16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Description : Represents an employee working in the organization.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Department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Attributes : </a:t>
            </a:r>
            <a:r>
              <a:rPr lang="en-US" sz="1600" b="1" dirty="0" err="1">
                <a:latin typeface="Century Schoolbook" panose="02040604050505020304" pitchFamily="18" charset="0"/>
              </a:rPr>
              <a:t>Dept_ID</a:t>
            </a:r>
            <a:r>
              <a:rPr lang="en-US" sz="1600" b="1" dirty="0">
                <a:latin typeface="Century Schoolbook" panose="02040604050505020304" pitchFamily="18" charset="0"/>
              </a:rPr>
              <a:t>, </a:t>
            </a:r>
            <a:r>
              <a:rPr lang="en-US" sz="1600" b="1" dirty="0" err="1">
                <a:latin typeface="Century Schoolbook" panose="02040604050505020304" pitchFamily="18" charset="0"/>
              </a:rPr>
              <a:t>Dept_Name</a:t>
            </a:r>
            <a:r>
              <a:rPr lang="en-US" sz="1600" b="1" dirty="0">
                <a:latin typeface="Century Schoolbook" panose="02040604050505020304" pitchFamily="18" charset="0"/>
              </a:rPr>
              <a:t>, Location, </a:t>
            </a:r>
            <a:r>
              <a:rPr lang="en-US" sz="1600" b="1" dirty="0" err="1">
                <a:latin typeface="Century Schoolbook" panose="02040604050505020304" pitchFamily="18" charset="0"/>
              </a:rPr>
              <a:t>Manager_ID</a:t>
            </a:r>
            <a:endParaRPr lang="en-US" sz="16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Description : Represents a functional unit within the organization.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Project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Attributes : </a:t>
            </a:r>
            <a:r>
              <a:rPr lang="en-US" sz="1600" b="1" dirty="0" err="1">
                <a:latin typeface="Century Schoolbook" panose="02040604050505020304" pitchFamily="18" charset="0"/>
              </a:rPr>
              <a:t>Project_ID</a:t>
            </a:r>
            <a:r>
              <a:rPr lang="en-US" sz="1600" b="1" dirty="0">
                <a:latin typeface="Century Schoolbook" panose="02040604050505020304" pitchFamily="18" charset="0"/>
              </a:rPr>
              <a:t>, </a:t>
            </a:r>
            <a:r>
              <a:rPr lang="en-US" sz="1600" b="1" dirty="0" err="1">
                <a:latin typeface="Century Schoolbook" panose="02040604050505020304" pitchFamily="18" charset="0"/>
              </a:rPr>
              <a:t>Project_Name</a:t>
            </a:r>
            <a:r>
              <a:rPr lang="en-US" sz="1600" b="1" dirty="0">
                <a:latin typeface="Century Schoolbook" panose="02040604050505020304" pitchFamily="18" charset="0"/>
              </a:rPr>
              <a:t>, Budget, </a:t>
            </a:r>
            <a:r>
              <a:rPr lang="en-US" sz="1600" b="1" dirty="0" err="1">
                <a:latin typeface="Century Schoolbook" panose="02040604050505020304" pitchFamily="18" charset="0"/>
              </a:rPr>
              <a:t>Start_Date</a:t>
            </a:r>
            <a:r>
              <a:rPr lang="en-US" sz="1600" b="1" dirty="0">
                <a:latin typeface="Century Schoolbook" panose="02040604050505020304" pitchFamily="18" charset="0"/>
              </a:rPr>
              <a:t>, </a:t>
            </a:r>
            <a:r>
              <a:rPr lang="en-US" sz="1600" b="1" dirty="0" err="1">
                <a:latin typeface="Century Schoolbook" panose="02040604050505020304" pitchFamily="18" charset="0"/>
              </a:rPr>
              <a:t>End_Date</a:t>
            </a:r>
            <a:r>
              <a:rPr lang="en-US" sz="1600" b="1" dirty="0">
                <a:latin typeface="Century Schoolbook" panose="02040604050505020304" pitchFamily="18" charset="0"/>
              </a:rPr>
              <a:t>, </a:t>
            </a:r>
            <a:r>
              <a:rPr lang="en-US" sz="1600" b="1" dirty="0" err="1">
                <a:latin typeface="Century Schoolbook" panose="02040604050505020304" pitchFamily="18" charset="0"/>
              </a:rPr>
              <a:t>Dept_ID</a:t>
            </a:r>
            <a:endParaRPr lang="en-US" sz="16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Description : Represents the projects handled by departments.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Assignment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Attributes : </a:t>
            </a:r>
            <a:r>
              <a:rPr lang="en-US" sz="1600" b="1" dirty="0" err="1">
                <a:latin typeface="Century Schoolbook" panose="02040604050505020304" pitchFamily="18" charset="0"/>
              </a:rPr>
              <a:t>Assign_ID</a:t>
            </a:r>
            <a:r>
              <a:rPr lang="en-US" sz="1600" b="1" dirty="0">
                <a:latin typeface="Century Schoolbook" panose="02040604050505020304" pitchFamily="18" charset="0"/>
              </a:rPr>
              <a:t>, </a:t>
            </a:r>
            <a:r>
              <a:rPr lang="en-US" sz="1600" b="1" dirty="0" err="1">
                <a:latin typeface="Century Schoolbook" panose="02040604050505020304" pitchFamily="18" charset="0"/>
              </a:rPr>
              <a:t>Emp_ID</a:t>
            </a:r>
            <a:r>
              <a:rPr lang="en-US" sz="1600" b="1" dirty="0">
                <a:latin typeface="Century Schoolbook" panose="02040604050505020304" pitchFamily="18" charset="0"/>
              </a:rPr>
              <a:t>, </a:t>
            </a:r>
            <a:r>
              <a:rPr lang="en-US" sz="1600" b="1" dirty="0" err="1">
                <a:latin typeface="Century Schoolbook" panose="02040604050505020304" pitchFamily="18" charset="0"/>
              </a:rPr>
              <a:t>Project_ID</a:t>
            </a:r>
            <a:r>
              <a:rPr lang="en-US" sz="1600" b="1" dirty="0">
                <a:latin typeface="Century Schoolbook" panose="02040604050505020304" pitchFamily="18" charset="0"/>
              </a:rPr>
              <a:t>, Role, Duration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Description : Represents the assignment of employees to projects.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Manager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Attributes : </a:t>
            </a:r>
            <a:r>
              <a:rPr lang="en-US" sz="1600" b="1" dirty="0" err="1">
                <a:latin typeface="Century Schoolbook" panose="02040604050505020304" pitchFamily="18" charset="0"/>
              </a:rPr>
              <a:t>Manager_ID</a:t>
            </a:r>
            <a:r>
              <a:rPr lang="en-US" sz="1600" b="1" dirty="0">
                <a:latin typeface="Century Schoolbook" panose="02040604050505020304" pitchFamily="18" charset="0"/>
              </a:rPr>
              <a:t>, Name, Department, </a:t>
            </a:r>
            <a:r>
              <a:rPr lang="en-US" sz="1600" b="1" dirty="0" err="1">
                <a:latin typeface="Century Schoolbook" panose="02040604050505020304" pitchFamily="18" charset="0"/>
              </a:rPr>
              <a:t>Contact_No</a:t>
            </a:r>
            <a:endParaRPr lang="en-US" sz="16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entury Schoolbook" panose="02040604050505020304" pitchFamily="18" charset="0"/>
              </a:rPr>
              <a:t>Description : Represents managers responsible for departments or projects.</a:t>
            </a:r>
          </a:p>
          <a:p>
            <a:endParaRPr lang="en-IN" sz="20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474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4E39-75DC-4C42-F717-F3587CA2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647" y="-101600"/>
            <a:ext cx="9905955" cy="80264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Hotel management system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45D81-C3FD-ADA3-EDF5-3F4C9937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8530" y="701040"/>
            <a:ext cx="10491790" cy="632968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A Hotel Management System (HMS) is a database-based application designed to manage various hotel operations such as room booking, guest information, billing, and staff management.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It helps automate hotel activities, ensuring efficient service, accurate record-keeping, and smooth coordination between different hotel departments.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Functionalities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Room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2000" b="1" dirty="0">
                <a:latin typeface="Century Schoolbook" panose="02040604050505020304" pitchFamily="18" charset="0"/>
              </a:rPr>
              <a:t> </a:t>
            </a:r>
            <a:r>
              <a:rPr lang="en-US" sz="1900" b="1" dirty="0">
                <a:latin typeface="Century Schoolbook" panose="02040604050505020304" pitchFamily="18" charset="0"/>
              </a:rPr>
              <a:t>Track room availability, type, and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Guest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2000" b="1" dirty="0">
                <a:latin typeface="Century Schoolbook" panose="02040604050505020304" pitchFamily="18" charset="0"/>
              </a:rPr>
              <a:t> </a:t>
            </a:r>
            <a:r>
              <a:rPr lang="en-US" sz="1900" b="1" dirty="0">
                <a:latin typeface="Century Schoolbook" panose="02040604050505020304" pitchFamily="18" charset="0"/>
              </a:rPr>
              <a:t>Register guests and maintain personal and booking details.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Booking System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sz="2000" b="1" dirty="0">
                <a:latin typeface="Century Schoolbook" panose="02040604050505020304" pitchFamily="18" charset="0"/>
              </a:rPr>
              <a:t> </a:t>
            </a:r>
            <a:r>
              <a:rPr lang="en-US" sz="1900" b="1" dirty="0">
                <a:latin typeface="Century Schoolbook" panose="02040604050505020304" pitchFamily="18" charset="0"/>
              </a:rPr>
              <a:t>Manage check-ins, check-outs, and cancellations.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Billing System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1900" b="1" dirty="0">
                <a:latin typeface="Century Schoolbook" panose="02040604050505020304" pitchFamily="18" charset="0"/>
              </a:rPr>
              <a:t>Generate bills automatically based on stay duration and services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Staff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1900" b="1" dirty="0">
                <a:latin typeface="Century Schoolbook" panose="02040604050505020304" pitchFamily="18" charset="0"/>
              </a:rPr>
              <a:t>Maintain staff details and assign duties.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Reports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1900" b="1" dirty="0">
                <a:latin typeface="Century Schoolbook" panose="02040604050505020304" pitchFamily="18" charset="0"/>
              </a:rPr>
              <a:t>Generate reports such as daily occupancy, revenue, and customer records.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188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77A6-7D5A-C003-43B7-8D9D86CD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896" y="-91440"/>
            <a:ext cx="9905955" cy="8636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Entities &amp; attributes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9E466-FC57-D243-B4CF-FDFA24416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5360" y="680720"/>
            <a:ext cx="11216640" cy="62484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Guest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Attributes : </a:t>
            </a:r>
            <a:r>
              <a:rPr lang="en-US" sz="1800" b="1" dirty="0" err="1">
                <a:latin typeface="Century Schoolbook" panose="02040604050505020304" pitchFamily="18" charset="0"/>
              </a:rPr>
              <a:t>Guest_ID</a:t>
            </a:r>
            <a:r>
              <a:rPr lang="en-US" sz="1800" b="1" dirty="0">
                <a:latin typeface="Century Schoolbook" panose="02040604050505020304" pitchFamily="18" charset="0"/>
              </a:rPr>
              <a:t>, Name, Address, </a:t>
            </a:r>
            <a:r>
              <a:rPr lang="en-US" sz="1800" b="1" dirty="0" err="1">
                <a:latin typeface="Century Schoolbook" panose="02040604050505020304" pitchFamily="18" charset="0"/>
              </a:rPr>
              <a:t>Phone_No</a:t>
            </a:r>
            <a:r>
              <a:rPr lang="en-US" sz="1800" b="1" dirty="0">
                <a:latin typeface="Century Schoolbook" panose="02040604050505020304" pitchFamily="18" charset="0"/>
              </a:rPr>
              <a:t>, Email, ID_Proof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Description : Represents a customer staying or booking a room in the hotel.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Room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Attributes : </a:t>
            </a:r>
            <a:r>
              <a:rPr lang="en-US" sz="1800" b="1" dirty="0" err="1">
                <a:latin typeface="Century Schoolbook" panose="02040604050505020304" pitchFamily="18" charset="0"/>
              </a:rPr>
              <a:t>Room_No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Room_Type</a:t>
            </a:r>
            <a:r>
              <a:rPr lang="en-US" sz="1800" b="1" dirty="0">
                <a:latin typeface="Century Schoolbook" panose="02040604050505020304" pitchFamily="18" charset="0"/>
              </a:rPr>
              <a:t> (Single/Double/Deluxe), Status (Available/Booked), </a:t>
            </a:r>
            <a:r>
              <a:rPr lang="en-US" sz="1800" b="1" dirty="0" err="1">
                <a:latin typeface="Century Schoolbook" panose="02040604050505020304" pitchFamily="18" charset="0"/>
              </a:rPr>
              <a:t>Rate_Per_Day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Description : Represents rooms available in the hotel with their details.</a:t>
            </a:r>
            <a:endParaRPr lang="en-US" sz="16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Booking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Attributes : </a:t>
            </a:r>
            <a:r>
              <a:rPr lang="en-US" sz="1800" b="1" dirty="0" err="1">
                <a:latin typeface="Century Schoolbook" panose="02040604050505020304" pitchFamily="18" charset="0"/>
              </a:rPr>
              <a:t>Booking_ID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Guest_ID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Room_No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CheckIn_Date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CheckOut_Date</a:t>
            </a:r>
            <a:r>
              <a:rPr lang="en-US" sz="1800" b="1" dirty="0">
                <a:latin typeface="Century Schoolbook" panose="02040604050505020304" pitchFamily="18" charset="0"/>
              </a:rPr>
              <a:t>, </a:t>
            </a:r>
            <a:r>
              <a:rPr lang="en-US" sz="1800" b="1" dirty="0" err="1">
                <a:latin typeface="Century Schoolbook" panose="02040604050505020304" pitchFamily="18" charset="0"/>
              </a:rPr>
              <a:t>No_of_Days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Description : Stores details about room bookings made by guests.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Payment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Attributes : </a:t>
            </a:r>
            <a:r>
              <a:rPr lang="en-US" sz="1900" b="1" dirty="0" err="1">
                <a:latin typeface="Century Schoolbook" panose="02040604050505020304" pitchFamily="18" charset="0"/>
              </a:rPr>
              <a:t>Payment_ID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Booking_ID</a:t>
            </a:r>
            <a:r>
              <a:rPr lang="en-US" sz="1900" b="1" dirty="0">
                <a:latin typeface="Century Schoolbook" panose="02040604050505020304" pitchFamily="18" charset="0"/>
              </a:rPr>
              <a:t>, Amount, </a:t>
            </a:r>
            <a:r>
              <a:rPr lang="en-US" sz="1900" b="1" dirty="0" err="1">
                <a:latin typeface="Century Schoolbook" panose="02040604050505020304" pitchFamily="18" charset="0"/>
              </a:rPr>
              <a:t>Mode_of_Payment</a:t>
            </a:r>
            <a:r>
              <a:rPr lang="en-US" sz="1900" b="1" dirty="0">
                <a:latin typeface="Century Schoolbook" panose="02040604050505020304" pitchFamily="18" charset="0"/>
              </a:rPr>
              <a:t>, </a:t>
            </a:r>
            <a:r>
              <a:rPr lang="en-US" sz="1900" b="1" dirty="0" err="1">
                <a:latin typeface="Century Schoolbook" panose="02040604050505020304" pitchFamily="18" charset="0"/>
              </a:rPr>
              <a:t>Payment_Date</a:t>
            </a:r>
            <a:endParaRPr lang="en-US" sz="1900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Description : Represents payment details made by the guest.</a:t>
            </a:r>
            <a:endParaRPr lang="en-US" sz="17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Staff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Attributes : </a:t>
            </a:r>
            <a:r>
              <a:rPr lang="en-US" sz="1900" b="1" dirty="0" err="1">
                <a:latin typeface="Century Schoolbook" panose="02040604050505020304" pitchFamily="18" charset="0"/>
              </a:rPr>
              <a:t>Staff_ID</a:t>
            </a:r>
            <a:r>
              <a:rPr lang="en-US" sz="1900" b="1" dirty="0">
                <a:latin typeface="Century Schoolbook" panose="02040604050505020304" pitchFamily="18" charset="0"/>
              </a:rPr>
              <a:t>, Name, Position, </a:t>
            </a:r>
            <a:r>
              <a:rPr lang="en-US" sz="1900" b="1" dirty="0" err="1">
                <a:latin typeface="Century Schoolbook" panose="02040604050505020304" pitchFamily="18" charset="0"/>
              </a:rPr>
              <a:t>Contact_No</a:t>
            </a:r>
            <a:r>
              <a:rPr lang="en-US" sz="1900" b="1" dirty="0">
                <a:latin typeface="Century Schoolbook" panose="02040604050505020304" pitchFamily="18" charset="0"/>
              </a:rPr>
              <a:t>, Salary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Description : Represents hotel employees like receptionists, cleaners, and managers.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534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9CB53-032F-33A3-BEE6-2E552FEB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586" y="-111760"/>
            <a:ext cx="10224094" cy="9144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Hospital management system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077E4-F05A-3581-BDB2-5B5D38B4D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298" y="802640"/>
            <a:ext cx="10735630" cy="6167120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Hospital Management System (HMS) is a database application designed to efficiently manage the day-to-day operations of a hospital.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handles all aspects such as patient registration, doctor appointments, diagnosis, treatment, billing, and staff management.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system ensures quick access to patient records, improves data accuracy, and provides better coordination among hospital departments.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Functionalities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Patient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Register patients, update records, and assign rooms or doctors.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Doctor Management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Maintain doctor profiles, schedules, and specializations.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Appointment Scheduling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Book, reschedule, or cancel patient appointments.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Treatment Tracking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Record diagnoses, prescriptions, and progress reports.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Billing and Payments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Automatically calculate bills for consultations, room charges, and treatments.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Reports</a:t>
            </a:r>
            <a:r>
              <a:rPr lang="en-US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Generate daily, weekly, or monthly reports of patients, revenue, and staff performance.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520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43A1-03A8-7FF0-B739-9CB89972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684" y="0"/>
            <a:ext cx="9905955" cy="70104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Entities &amp; attributes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14918-7182-1E57-89DE-5EDDCE9EE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5520" y="701040"/>
            <a:ext cx="10678160" cy="6268721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Patient</a:t>
            </a:r>
            <a:r>
              <a:rPr lang="en-US" sz="17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Attributes : </a:t>
            </a:r>
            <a:r>
              <a:rPr lang="en-US" b="1" dirty="0" err="1">
                <a:latin typeface="Century Schoolbook" panose="02040604050505020304" pitchFamily="18" charset="0"/>
              </a:rPr>
              <a:t>Patient_ID</a:t>
            </a:r>
            <a:r>
              <a:rPr lang="en-US" b="1" dirty="0">
                <a:latin typeface="Century Schoolbook" panose="02040604050505020304" pitchFamily="18" charset="0"/>
              </a:rPr>
              <a:t>, Name, Age, Gender, Address, </a:t>
            </a:r>
            <a:r>
              <a:rPr lang="en-US" b="1" dirty="0" err="1">
                <a:latin typeface="Century Schoolbook" panose="02040604050505020304" pitchFamily="18" charset="0"/>
              </a:rPr>
              <a:t>Contact_No</a:t>
            </a:r>
            <a:r>
              <a:rPr lang="en-US" b="1" dirty="0">
                <a:latin typeface="Century Schoolbook" panose="02040604050505020304" pitchFamily="18" charset="0"/>
              </a:rPr>
              <a:t>, Disease, </a:t>
            </a:r>
            <a:r>
              <a:rPr lang="en-US" b="1" dirty="0" err="1">
                <a:latin typeface="Century Schoolbook" panose="02040604050505020304" pitchFamily="18" charset="0"/>
              </a:rPr>
              <a:t>Admit_Date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Description : Represents a person receiving treatment in the hospital.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Doctor</a:t>
            </a:r>
            <a:r>
              <a:rPr lang="en-US" sz="17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Attributes : </a:t>
            </a:r>
            <a:r>
              <a:rPr lang="en-US" b="1" dirty="0" err="1">
                <a:latin typeface="Century Schoolbook" panose="02040604050505020304" pitchFamily="18" charset="0"/>
              </a:rPr>
              <a:t>Doctor_ID</a:t>
            </a:r>
            <a:r>
              <a:rPr lang="en-US" b="1" dirty="0">
                <a:latin typeface="Century Schoolbook" panose="02040604050505020304" pitchFamily="18" charset="0"/>
              </a:rPr>
              <a:t>, Name, Specialization, </a:t>
            </a:r>
            <a:r>
              <a:rPr lang="en-US" b="1" dirty="0" err="1">
                <a:latin typeface="Century Schoolbook" panose="02040604050505020304" pitchFamily="18" charset="0"/>
              </a:rPr>
              <a:t>Contact_No</a:t>
            </a:r>
            <a:r>
              <a:rPr lang="en-US" b="1" dirty="0">
                <a:latin typeface="Century Schoolbook" panose="02040604050505020304" pitchFamily="18" charset="0"/>
              </a:rPr>
              <a:t>, Department, Experience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Description : Represents doctors providing medical services.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Appointment</a:t>
            </a:r>
            <a:r>
              <a:rPr lang="en-US" sz="17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Attributes : </a:t>
            </a:r>
            <a:r>
              <a:rPr lang="en-US" b="1" dirty="0" err="1">
                <a:latin typeface="Century Schoolbook" panose="02040604050505020304" pitchFamily="18" charset="0"/>
              </a:rPr>
              <a:t>Appointment_ID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Patient_ID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Doctor_ID</a:t>
            </a:r>
            <a:r>
              <a:rPr lang="en-US" b="1" dirty="0">
                <a:latin typeface="Century Schoolbook" panose="02040604050505020304" pitchFamily="18" charset="0"/>
              </a:rPr>
              <a:t>, Date, Time,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Description : Stores information about scheduled consultations between patients and doctors.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Treatment</a:t>
            </a:r>
            <a:r>
              <a:rPr lang="en-US" sz="17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Attributes : </a:t>
            </a:r>
            <a:r>
              <a:rPr lang="en-US" b="1" dirty="0" err="1">
                <a:latin typeface="Century Schoolbook" panose="02040604050505020304" pitchFamily="18" charset="0"/>
              </a:rPr>
              <a:t>Treatment_ID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Patient_ID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Doctor_ID</a:t>
            </a:r>
            <a:r>
              <a:rPr lang="en-US" b="1" dirty="0">
                <a:latin typeface="Century Schoolbook" panose="02040604050505020304" pitchFamily="18" charset="0"/>
              </a:rPr>
              <a:t>, Diagnosis, Prescription, </a:t>
            </a:r>
            <a:r>
              <a:rPr lang="en-US" b="1" dirty="0" err="1">
                <a:latin typeface="Century Schoolbook" panose="02040604050505020304" pitchFamily="18" charset="0"/>
              </a:rPr>
              <a:t>Treatment_Date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Description : Represents the treatment details for each patient.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Room</a:t>
            </a:r>
            <a:r>
              <a:rPr lang="en-US" sz="17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Attributes : </a:t>
            </a:r>
            <a:r>
              <a:rPr lang="en-US" b="1" dirty="0" err="1">
                <a:latin typeface="Century Schoolbook" panose="02040604050505020304" pitchFamily="18" charset="0"/>
              </a:rPr>
              <a:t>Room_No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Room_Type</a:t>
            </a:r>
            <a:r>
              <a:rPr lang="en-US" b="1" dirty="0">
                <a:latin typeface="Century Schoolbook" panose="02040604050505020304" pitchFamily="18" charset="0"/>
              </a:rPr>
              <a:t>, Status, </a:t>
            </a:r>
            <a:r>
              <a:rPr lang="en-US" b="1" dirty="0" err="1">
                <a:latin typeface="Century Schoolbook" panose="02040604050505020304" pitchFamily="18" charset="0"/>
              </a:rPr>
              <a:t>Charges_Per_Day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Description : Represents hospital rooms assigned to admitted patients.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Bill</a:t>
            </a:r>
            <a:r>
              <a:rPr lang="en-US" sz="17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Attributes : </a:t>
            </a:r>
            <a:r>
              <a:rPr lang="en-US" b="1" dirty="0" err="1">
                <a:latin typeface="Century Schoolbook" panose="02040604050505020304" pitchFamily="18" charset="0"/>
              </a:rPr>
              <a:t>Bill_No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Patient_ID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Total_Amount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Payment_Mode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Bill_Date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Description : Contains details about hospital charges and payments made by patients.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7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Staff</a:t>
            </a:r>
            <a:r>
              <a:rPr lang="en-US" sz="17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Attributes : </a:t>
            </a:r>
            <a:r>
              <a:rPr lang="en-US" b="1" dirty="0" err="1">
                <a:latin typeface="Century Schoolbook" panose="02040604050505020304" pitchFamily="18" charset="0"/>
              </a:rPr>
              <a:t>Staff_ID</a:t>
            </a:r>
            <a:r>
              <a:rPr lang="en-US" b="1" dirty="0">
                <a:latin typeface="Century Schoolbook" panose="02040604050505020304" pitchFamily="18" charset="0"/>
              </a:rPr>
              <a:t>, Name, Position, Salary, </a:t>
            </a:r>
            <a:r>
              <a:rPr lang="en-US" b="1" dirty="0" err="1">
                <a:latin typeface="Century Schoolbook" panose="02040604050505020304" pitchFamily="18" charset="0"/>
              </a:rPr>
              <a:t>Contact_No</a:t>
            </a:r>
            <a:endParaRPr lang="en-US" b="1" dirty="0">
              <a:latin typeface="Century Schoolbook" panose="020406040505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Description : Represents nurses, receptionists, and other non-medical employees.</a:t>
            </a:r>
          </a:p>
          <a:p>
            <a:endParaRPr lang="en-IN" sz="16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7941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1300</TotalTime>
  <Words>3138</Words>
  <Application>Microsoft Office PowerPoint</Application>
  <PresentationFormat>Widescreen</PresentationFormat>
  <Paragraphs>297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Algerian</vt:lpstr>
      <vt:lpstr>Arial</vt:lpstr>
      <vt:lpstr>Century Schoolbook</vt:lpstr>
      <vt:lpstr>Tw Cen MT</vt:lpstr>
      <vt:lpstr>Wingdings</vt:lpstr>
      <vt:lpstr>Circuit</vt:lpstr>
      <vt:lpstr>03. Database Design Using E-R Model</vt:lpstr>
      <vt:lpstr>3.1] data modeling using the e-r model : -</vt:lpstr>
      <vt:lpstr>Advantages of the eer model : -</vt:lpstr>
      <vt:lpstr>Entity : -</vt:lpstr>
      <vt:lpstr>Entity sets : -</vt:lpstr>
      <vt:lpstr>PowerPoint Presentation</vt:lpstr>
      <vt:lpstr>Relationship sets : -</vt:lpstr>
      <vt:lpstr>Attributes : -</vt:lpstr>
      <vt:lpstr>Types of attribute : -</vt:lpstr>
      <vt:lpstr>Mapping cardinalities : -</vt:lpstr>
      <vt:lpstr>Shortcomings of the e-r model : -</vt:lpstr>
      <vt:lpstr>3.2] enhanced entity-relationship (eer) model : -</vt:lpstr>
      <vt:lpstr>Subclass : -</vt:lpstr>
      <vt:lpstr>Superclass : -</vt:lpstr>
      <vt:lpstr>Specialization : -</vt:lpstr>
      <vt:lpstr>Generalization : -</vt:lpstr>
      <vt:lpstr>3.3] case studies : -</vt:lpstr>
      <vt:lpstr>Bank management system : -</vt:lpstr>
      <vt:lpstr>Entities &amp; attributes : -</vt:lpstr>
      <vt:lpstr>Libraey management system : -</vt:lpstr>
      <vt:lpstr>Entities &amp; attributes : -</vt:lpstr>
      <vt:lpstr>Education management system : -</vt:lpstr>
      <vt:lpstr>Entities &amp; attribute : -</vt:lpstr>
      <vt:lpstr>Organization management system : -</vt:lpstr>
      <vt:lpstr>Entities &amp; attributes : -</vt:lpstr>
      <vt:lpstr>Hotel management system : -</vt:lpstr>
      <vt:lpstr>Entities &amp; attributes : -</vt:lpstr>
      <vt:lpstr>Hospital management system : -</vt:lpstr>
      <vt:lpstr>Entities &amp; attributes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2025-10-21T16:25:42Z</dcterms:created>
  <dcterms:modified xsi:type="dcterms:W3CDTF">2025-11-03T06:27:26Z</dcterms:modified>
</cp:coreProperties>
</file>