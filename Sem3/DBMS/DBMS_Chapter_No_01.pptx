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2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5" r:id="rId20"/>
    <p:sldId id="278" r:id="rId21"/>
    <p:sldId id="276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DA4CB-83EC-4D09-A246-F13F18A2A99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D6157-9837-436C-AD3C-73977A973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33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D6157-9837-436C-AD3C-73977A973AB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378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7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64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84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18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7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12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56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48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605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52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80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7962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677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717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568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966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9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152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537C-BBEC-EF9C-CF6D-A5EB96F72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784634" cy="3272656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rgbClr val="FFFF00"/>
                </a:solidFill>
                <a:latin typeface="Algerian" panose="04020705040A02060702" pitchFamily="82" charset="0"/>
              </a:rPr>
              <a:t>01. Database system concept</a:t>
            </a:r>
            <a:endParaRPr lang="en-IN" sz="8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F2DEC-FCEE-EFF6-7D73-AF3EEB94F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0888" y="6086168"/>
            <a:ext cx="8791575" cy="47735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11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0CF3-19BF-F6CF-7B54-6A822DA73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114" y="-176980"/>
            <a:ext cx="9905955" cy="114054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1.1] </a:t>
            </a:r>
            <a:r>
              <a:rPr lang="en-IN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 to Database</a:t>
            </a:r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65540-7BDF-A48C-655C-38A45C239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7848" y="698089"/>
            <a:ext cx="10608138" cy="5619137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Data refers to raw facts and figures that have no particular meaning until processed.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can be in the form of numbers, text, images, audio, or video.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Names : “Riya”, “Amit”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Numbers : 25, 90, 75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DATABASE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Database is a collection of related data that is organized so that it can be easily accessed, managed, and updated.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stores data in a structured format using tables (rows and columns).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Example: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E34019-B796-94F2-D741-370DC8C69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21232"/>
              </p:ext>
            </p:extLst>
          </p:nvPr>
        </p:nvGraphicFramePr>
        <p:xfrm>
          <a:off x="2315496" y="5611271"/>
          <a:ext cx="3170903" cy="1097280"/>
        </p:xfrm>
        <a:graphic>
          <a:graphicData uri="http://schemas.openxmlformats.org/drawingml/2006/table">
            <a:tbl>
              <a:tblPr/>
              <a:tblGrid>
                <a:gridCol w="1194619">
                  <a:extLst>
                    <a:ext uri="{9D8B030D-6E8A-4147-A177-3AD203B41FA5}">
                      <a16:colId xmlns:a16="http://schemas.microsoft.com/office/drawing/2014/main" val="928890879"/>
                    </a:ext>
                  </a:extLst>
                </a:gridCol>
                <a:gridCol w="934065">
                  <a:extLst>
                    <a:ext uri="{9D8B030D-6E8A-4147-A177-3AD203B41FA5}">
                      <a16:colId xmlns:a16="http://schemas.microsoft.com/office/drawing/2014/main" val="2922008881"/>
                    </a:ext>
                  </a:extLst>
                </a:gridCol>
                <a:gridCol w="1042219">
                  <a:extLst>
                    <a:ext uri="{9D8B030D-6E8A-4147-A177-3AD203B41FA5}">
                      <a16:colId xmlns:a16="http://schemas.microsoft.com/office/drawing/2014/main" val="2052019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Roll_No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209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entury Schoolbook" panose="02040604050505020304" pitchFamily="18" charset="0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483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entury Schoolbook" panose="02040604050505020304" pitchFamily="18" charset="0"/>
                        </a:rPr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entury Schoolbook" panose="02040604050505020304" pitchFamily="18" charset="0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481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28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2684-2000-A7E5-45E3-5D911E93E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48" y="108155"/>
            <a:ext cx="10823534" cy="83574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IN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Database Management System (DBMS)</a:t>
            </a:r>
            <a:r>
              <a:rPr lang="en-IN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IN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endParaRPr lang="en-IN" sz="32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CE726-B78D-CD99-1D28-4C210ED5D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274" y="511277"/>
            <a:ext cx="10706461" cy="634672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entury Schoolbook" panose="02040604050505020304" pitchFamily="18" charset="0"/>
              </a:rPr>
              <a:t>A Database Management System (DBMS) is a software used to store, manage, and manipulate databases.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entury Schoolbook" panose="02040604050505020304" pitchFamily="18" charset="0"/>
              </a:rPr>
              <a:t>It provides a systematic and efficient way to create, retrieve, update, and manage data.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 of DBMS software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Oracle, MySQL, Microsoft Access, PostgreSQL, SQL Server.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Functions of a DBMS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Data Storage Management – Stores data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Data Retrieval – Fetches required information quickly.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Data Manipulation – Allows adding, deleting, and updating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Data Security – Protects data from unauthorized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Backup &amp; Recovery – Restores data in case of failure.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2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A6558-6A01-2C87-4800-88BA1D88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68826"/>
            <a:ext cx="9905955" cy="97339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Advantages of </a:t>
            </a:r>
            <a:r>
              <a:rPr lang="en-US" sz="48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dbms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6CE63-36DD-FEC4-F1A1-3022AC203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5771" y="835742"/>
            <a:ext cx="10686796" cy="610091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Database Management System (DBMS) offers many benefits over traditional file-based systems.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provides efficient data management, security, and consistency, making it essential for modern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Data Redundancy is Reduced.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Data Consistency.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Data Sharing.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Data Security.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6. Backup and Recovery.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5. Data Integrity.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7. Data Independence.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8. Easy Data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9. Multi-user Environment.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10. Improved Decision Making.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75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1950-E3D3-D634-DD13-330501B9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115" y="-157316"/>
            <a:ext cx="9905955" cy="1066802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Applications of </a:t>
            </a:r>
            <a:r>
              <a:rPr lang="en-US" sz="48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dbms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47445-B578-95D9-4A73-0FF226620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84" y="801326"/>
            <a:ext cx="10814616" cy="6145163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Banking and Finance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Used for managing customer accounts, transactions, and loans.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Education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Used in schools, colleges, and universities to maintain student and staff data.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Airline and Railway Reservation Systems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DBMS handles seat reservations, ticket booking, and scheduling.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E-commerce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Manages customer information, product catalogs, orders, and payments.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5.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Healthcare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Stores and manages patient records, appointments, and medical histories.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6.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Government and Public Sector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b="1" dirty="0">
                <a:latin typeface="Century Schoolbook" panose="02040604050505020304" pitchFamily="18" charset="0"/>
              </a:rPr>
              <a:t> Used for managing citizen data, tax records, vehicle registration, and census data.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7.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Telecommunications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Maintains customer call records, billing information, and service plans.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8.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Library Management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Used in libraries to store book details, member information, and issue/return records.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9.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Human Resource Management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Used in organizations to manage employee information, payroll, attendance, and performance records.</a:t>
            </a: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10.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Social Media Platforms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Store and manage user profiles, posts, likes, messages, and comments.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91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B2995-67A5-E737-6977-4A5881705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37651"/>
            <a:ext cx="9905955" cy="106680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1.2]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abstraction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7ABBB-4FCF-62B5-3F83-89DF46262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5268" y="737419"/>
            <a:ext cx="10509816" cy="56633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Data Abstraction refers to hiding the complex details of how data is stored and maintained, and showing only the essential information to the user.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helps simplify the database system by dividing it into different levels.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Data abstraction = “Show only what is necessary, hide the rest.”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For a student database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Physical level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Actual bytes and files storing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Logical level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Tables like Student (</a:t>
            </a:r>
            <a:r>
              <a:rPr lang="en-US" sz="2000" b="1" dirty="0" err="1">
                <a:latin typeface="Century Schoolbook" panose="02040604050505020304" pitchFamily="18" charset="0"/>
              </a:rPr>
              <a:t>RollNo</a:t>
            </a:r>
            <a:r>
              <a:rPr lang="en-US" sz="2000" b="1" dirty="0">
                <a:latin typeface="Century Schoolbook" panose="02040604050505020304" pitchFamily="18" charset="0"/>
              </a:rPr>
              <a:t>, Name, Marks).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View level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A user sees only Name and Marks.</a:t>
            </a:r>
          </a:p>
          <a:p>
            <a:endParaRPr lang="en-US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44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19F1-F00A-D58D-83D5-1BDC37EE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28246"/>
            <a:ext cx="9905955" cy="106680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dictionary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929B4-D1E9-91B6-6256-9141B89C7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5771" y="938556"/>
            <a:ext cx="10657300" cy="395256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Data Dictionary is a repository (or catalog) that stores metadata, i.e., </a:t>
            </a:r>
            <a:r>
              <a:rPr lang="en-US" sz="2000" b="1" i="1" dirty="0">
                <a:latin typeface="Century Schoolbook" panose="02040604050505020304" pitchFamily="18" charset="0"/>
              </a:rPr>
              <a:t>data about data</a:t>
            </a:r>
            <a:r>
              <a:rPr lang="en-US" sz="2000" b="1" dirty="0">
                <a:latin typeface="Century Schoolbook" panose="020406040505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contains information about the structure, organization, and constraints of the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Data dictionary = “A database about the database.”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For a Student table :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1A7AB2-1A30-907B-6A72-C95402F1C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956606"/>
              </p:ext>
            </p:extLst>
          </p:nvPr>
        </p:nvGraphicFramePr>
        <p:xfrm>
          <a:off x="1143021" y="4685005"/>
          <a:ext cx="10163208" cy="2055729"/>
        </p:xfrm>
        <a:graphic>
          <a:graphicData uri="http://schemas.openxmlformats.org/drawingml/2006/table">
            <a:tbl>
              <a:tblPr/>
              <a:tblGrid>
                <a:gridCol w="2540802">
                  <a:extLst>
                    <a:ext uri="{9D8B030D-6E8A-4147-A177-3AD203B41FA5}">
                      <a16:colId xmlns:a16="http://schemas.microsoft.com/office/drawing/2014/main" val="1360245609"/>
                    </a:ext>
                  </a:extLst>
                </a:gridCol>
                <a:gridCol w="2540802">
                  <a:extLst>
                    <a:ext uri="{9D8B030D-6E8A-4147-A177-3AD203B41FA5}">
                      <a16:colId xmlns:a16="http://schemas.microsoft.com/office/drawing/2014/main" val="4048783427"/>
                    </a:ext>
                  </a:extLst>
                </a:gridCol>
                <a:gridCol w="1169233">
                  <a:extLst>
                    <a:ext uri="{9D8B030D-6E8A-4147-A177-3AD203B41FA5}">
                      <a16:colId xmlns:a16="http://schemas.microsoft.com/office/drawing/2014/main" val="1256346374"/>
                    </a:ext>
                  </a:extLst>
                </a:gridCol>
                <a:gridCol w="3912371">
                  <a:extLst>
                    <a:ext uri="{9D8B030D-6E8A-4147-A177-3AD203B41FA5}">
                      <a16:colId xmlns:a16="http://schemas.microsoft.com/office/drawing/2014/main" val="3661253113"/>
                    </a:ext>
                  </a:extLst>
                </a:gridCol>
              </a:tblGrid>
              <a:tr h="512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Field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3164"/>
                  </a:ext>
                </a:extLst>
              </a:tr>
              <a:tr h="512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RollNo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Unique student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09466"/>
                  </a:ext>
                </a:extLst>
              </a:tr>
              <a:tr h="512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Student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858378"/>
                  </a:ext>
                </a:extLst>
              </a:tr>
              <a:tr h="512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Total 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62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72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DD41-7144-0548-B6A8-A7CAC904C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50678"/>
            <a:ext cx="9905955" cy="106680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Instance &amp; schema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D78AA-A495-3980-54AF-ACA95CE6A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3590" y="785723"/>
            <a:ext cx="10657300" cy="335279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Both Instance and Schema describe the structure and state of the database but in different ways.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Schema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Student (Roll_No, Name, Marks)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2C46C1-5E40-2CDC-F2B8-E11229F60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026381"/>
              </p:ext>
            </p:extLst>
          </p:nvPr>
        </p:nvGraphicFramePr>
        <p:xfrm>
          <a:off x="1142977" y="3877717"/>
          <a:ext cx="9906000" cy="2867213"/>
        </p:xfrm>
        <a:graphic>
          <a:graphicData uri="http://schemas.openxmlformats.org/drawingml/2006/table">
            <a:tbl>
              <a:tblPr/>
              <a:tblGrid>
                <a:gridCol w="1649384">
                  <a:extLst>
                    <a:ext uri="{9D8B030D-6E8A-4147-A177-3AD203B41FA5}">
                      <a16:colId xmlns:a16="http://schemas.microsoft.com/office/drawing/2014/main" val="1363791644"/>
                    </a:ext>
                  </a:extLst>
                </a:gridCol>
                <a:gridCol w="3303616">
                  <a:extLst>
                    <a:ext uri="{9D8B030D-6E8A-4147-A177-3AD203B41FA5}">
                      <a16:colId xmlns:a16="http://schemas.microsoft.com/office/drawing/2014/main" val="3027041643"/>
                    </a:ext>
                  </a:extLst>
                </a:gridCol>
                <a:gridCol w="1563352">
                  <a:extLst>
                    <a:ext uri="{9D8B030D-6E8A-4147-A177-3AD203B41FA5}">
                      <a16:colId xmlns:a16="http://schemas.microsoft.com/office/drawing/2014/main" val="1194587666"/>
                    </a:ext>
                  </a:extLst>
                </a:gridCol>
                <a:gridCol w="3389648">
                  <a:extLst>
                    <a:ext uri="{9D8B030D-6E8A-4147-A177-3AD203B41FA5}">
                      <a16:colId xmlns:a16="http://schemas.microsoft.com/office/drawing/2014/main" val="1725106285"/>
                    </a:ext>
                  </a:extLst>
                </a:gridCol>
              </a:tblGrid>
              <a:tr h="477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Nature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53201"/>
                  </a:ext>
                </a:extLst>
              </a:tr>
              <a:tr h="1194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Logical structure or design of the database.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A blueprint showing tables, columns, and data types.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814770"/>
                  </a:ext>
                </a:extLst>
              </a:tr>
              <a:tr h="1194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Instance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The actual data stored in the database at a given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The current rows in the Student table.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959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781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7570-62FD-0032-3798-ABA8675C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47484"/>
            <a:ext cx="9905955" cy="106680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1.3]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independency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74EFA-ACC9-A97E-9616-B0110C89C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7595" y="491614"/>
            <a:ext cx="10377321" cy="47686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Data Independence is the capacity to modify the schema at one level of the database system without requiring changes at the next higher level.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helps in achieving data abstraction — hiding details of how data is stored or managed internally.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Data Independence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There are two types of data independence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Logical Data Independency.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Physical Data Independency.</a:t>
            </a:r>
            <a:endParaRPr lang="en-IN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99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3F4B-6C7A-34DE-57F3-396FA07B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852" y="-147484"/>
            <a:ext cx="10252131" cy="106680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Logical data independency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C7D24-D373-094E-003D-A3875A578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5" y="707924"/>
            <a:ext cx="10598306" cy="527992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means the ability to change the logical structure of the database (like adding or removing fields or tables) without changing user views or application programs.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Modify </a:t>
            </a:r>
            <a:r>
              <a:rPr lang="en-US" sz="2000" b="1" i="1" dirty="0">
                <a:latin typeface="Century Schoolbook" panose="02040604050505020304" pitchFamily="18" charset="0"/>
              </a:rPr>
              <a:t>what data is stored</a:t>
            </a:r>
            <a:r>
              <a:rPr lang="en-US" sz="2000" b="1" dirty="0">
                <a:latin typeface="Century Schoolbook" panose="02040604050505020304" pitchFamily="18" charset="0"/>
              </a:rPr>
              <a:t> (structure) without changing </a:t>
            </a:r>
            <a:r>
              <a:rPr lang="en-US" sz="2000" b="1" i="1" dirty="0">
                <a:latin typeface="Century Schoolbook" panose="02040604050505020304" pitchFamily="18" charset="0"/>
              </a:rPr>
              <a:t>how users access it.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a new column Address is added to the Student table —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users who only access Name and </a:t>
            </a:r>
            <a:r>
              <a:rPr lang="en-US" sz="2000" b="1" dirty="0" err="1">
                <a:latin typeface="Century Schoolbook" panose="02040604050505020304" pitchFamily="18" charset="0"/>
              </a:rPr>
              <a:t>RollNo</a:t>
            </a:r>
            <a:r>
              <a:rPr lang="en-US" sz="2000" b="1" dirty="0">
                <a:latin typeface="Century Schoolbook" panose="02040604050505020304" pitchFamily="18" charset="0"/>
              </a:rPr>
              <a:t> need not change their queries.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SELECT Name, Roll_No FROM Student;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Century Schoolbook" panose="02040604050505020304" pitchFamily="18" charset="0"/>
              </a:rPr>
              <a:t>Still works even after adding a new column.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32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AB88-9F1F-D621-A0B8-03CF9A00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525" y="-147484"/>
            <a:ext cx="11048978" cy="1056968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Physical data independency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6ACCC-256A-9DE1-385C-AADAF30CF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399" y="757083"/>
            <a:ext cx="10540181" cy="514227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means the ability to change the physical storage or organization of data without affecting the logical schema or application programs.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Modify </a:t>
            </a:r>
            <a:r>
              <a:rPr lang="en-US" sz="2000" b="1" i="1" dirty="0">
                <a:latin typeface="Century Schoolbook" panose="02040604050505020304" pitchFamily="18" charset="0"/>
              </a:rPr>
              <a:t>how data is stored</a:t>
            </a:r>
            <a:r>
              <a:rPr lang="en-US" sz="2000" b="1" dirty="0">
                <a:latin typeface="Century Schoolbook" panose="02040604050505020304" pitchFamily="18" charset="0"/>
              </a:rPr>
              <a:t> without changing </a:t>
            </a:r>
            <a:r>
              <a:rPr lang="en-US" sz="2000" b="1" i="1" dirty="0">
                <a:latin typeface="Century Schoolbook" panose="02040604050505020304" pitchFamily="18" charset="0"/>
              </a:rPr>
              <a:t>what data is stored.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a database administrator changes how data is stored on disk (e.g., from a file to an indexed structure), the logical structure of the database (tables, fields) and user queries remain unchanged.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SELECT * FROM Student;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Century Schoolbook" panose="02040604050505020304" pitchFamily="18" charset="0"/>
              </a:rPr>
              <a:t>Works the same way even if storage method changes.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590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C13F-44B1-19FE-3245-81F348264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83" y="0"/>
            <a:ext cx="9905955" cy="89473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1.4]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Components of a DBMS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98AAB-4596-1FD1-7EA3-2D60125B0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3897" y="894735"/>
            <a:ext cx="10599174" cy="5968180"/>
          </a:xfrm>
        </p:spPr>
        <p:txBody>
          <a:bodyPr>
            <a:normAutofit fontScale="92500"/>
          </a:bodyPr>
          <a:lstStyle/>
          <a:p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IN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Database Engine (Storage Manager)</a:t>
            </a:r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It is the core of DBMS. It stores, retrieves, and updates data in the database. It interacts with files on the disk.</a:t>
            </a:r>
          </a:p>
          <a:p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IN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Query Processor</a:t>
            </a:r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b="1" dirty="0">
                <a:latin typeface="Century Schoolbook" panose="02040604050505020304" pitchFamily="18" charset="0"/>
              </a:rPr>
              <a:t>It interprets and executes SQL commands given by the user. Converts high-level queries into low-level instructions.</a:t>
            </a:r>
          </a:p>
          <a:p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IN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Database Manager (Transaction Manager)</a:t>
            </a:r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IN" b="1" dirty="0">
                <a:latin typeface="Century Schoolbook" panose="02040604050505020304" pitchFamily="18" charset="0"/>
              </a:rPr>
              <a:t>Controls transactions, maintains data consistency, and ensures ACID properties (Atomicity, Consistency, Isolation, Durability).</a:t>
            </a: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Metadata / Data Dictionary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IN" b="1" dirty="0">
                <a:latin typeface="Century Schoolbook" panose="02040604050505020304" pitchFamily="18" charset="0"/>
              </a:rPr>
              <a:t> </a:t>
            </a:r>
            <a:r>
              <a:rPr lang="en-US" b="1" dirty="0">
                <a:latin typeface="Century Schoolbook" panose="02040604050505020304" pitchFamily="18" charset="0"/>
              </a:rPr>
              <a:t>Stores data about data — such as table names, field types, constraints, and user permissions.</a:t>
            </a:r>
          </a:p>
          <a:p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5. </a:t>
            </a:r>
            <a:r>
              <a:rPr lang="en-IN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Concurrency Control Manager</a:t>
            </a:r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Manages simultaneous access to the database by multiple users to prevent conflicts.</a:t>
            </a:r>
            <a:endParaRPr lang="en-IN" b="1" dirty="0">
              <a:latin typeface="Century Schoolbook" panose="02040604050505020304" pitchFamily="18" charset="0"/>
            </a:endParaRPr>
          </a:p>
          <a:p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6. </a:t>
            </a:r>
            <a:r>
              <a:rPr lang="en-IN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Recovery Manager</a:t>
            </a:r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Ensures data recovery in case of failure or system crash.</a:t>
            </a:r>
            <a:endParaRPr lang="en-IN" b="1" dirty="0">
              <a:latin typeface="Century Schoolbook" panose="02040604050505020304" pitchFamily="18" charset="0"/>
            </a:endParaRPr>
          </a:p>
          <a:p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7. </a:t>
            </a:r>
            <a:r>
              <a:rPr lang="en-US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Authorization and Security Manager</a:t>
            </a:r>
            <a:r>
              <a:rPr lang="en-US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Controls user access and ensures data security by providing authentication (usernames and passwords).</a:t>
            </a:r>
          </a:p>
          <a:p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8. </a:t>
            </a:r>
            <a:r>
              <a:rPr lang="en-IN" sz="1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User Interface</a:t>
            </a:r>
            <a:r>
              <a:rPr lang="en-IN" sz="1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b="1" dirty="0">
                <a:latin typeface="Century Schoolbook" panose="02040604050505020304" pitchFamily="18" charset="0"/>
              </a:rPr>
              <a:t>Allows interaction between the user and the database through commands or GUI (Graphical User Interface).</a:t>
            </a:r>
            <a:endParaRPr lang="en-IN" b="1" dirty="0">
              <a:latin typeface="Century Schoolbook" panose="02040604050505020304" pitchFamily="18" charset="0"/>
            </a:endParaRP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943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CFE9D-082B-057A-6782-1D36DA91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196648"/>
            <a:ext cx="11286564" cy="870154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Overall Structure of a DBMS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b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</a:b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74FB6-E653-8423-689B-636FDD7EA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2446" y="609602"/>
            <a:ext cx="10387108" cy="11700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structure of DBMS can be divided into three levels (as per data abstraction):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99D5A6-92CD-D85D-E3C5-BF42352D3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559896"/>
              </p:ext>
            </p:extLst>
          </p:nvPr>
        </p:nvGraphicFramePr>
        <p:xfrm>
          <a:off x="1071716" y="1479755"/>
          <a:ext cx="9847878" cy="4272114"/>
        </p:xfrm>
        <a:graphic>
          <a:graphicData uri="http://schemas.openxmlformats.org/drawingml/2006/table">
            <a:tbl>
              <a:tblPr/>
              <a:tblGrid>
                <a:gridCol w="4354947">
                  <a:extLst>
                    <a:ext uri="{9D8B030D-6E8A-4147-A177-3AD203B41FA5}">
                      <a16:colId xmlns:a16="http://schemas.microsoft.com/office/drawing/2014/main" val="1923461335"/>
                    </a:ext>
                  </a:extLst>
                </a:gridCol>
                <a:gridCol w="5492931">
                  <a:extLst>
                    <a:ext uri="{9D8B030D-6E8A-4147-A177-3AD203B41FA5}">
                      <a16:colId xmlns:a16="http://schemas.microsoft.com/office/drawing/2014/main" val="4097715689"/>
                    </a:ext>
                  </a:extLst>
                </a:gridCol>
              </a:tblGrid>
              <a:tr h="68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981728"/>
                  </a:ext>
                </a:extLst>
              </a:tr>
              <a:tr h="1196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1. External Level (View Level)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Describes how users view the data. Each user may have a different view.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94924"/>
                  </a:ext>
                </a:extLst>
              </a:tr>
              <a:tr h="1196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2. Conceptual Level (Logical Level)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Describes what data is stored and the relationships among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613793"/>
                  </a:ext>
                </a:extLst>
              </a:tr>
              <a:tr h="1196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3. Internal Level (Physical Level)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entury Schoolbook" panose="02040604050505020304" pitchFamily="18" charset="0"/>
                        </a:rPr>
                        <a:t>Describes how data is physically stored in storage devices.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713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251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0736-547C-B65C-5A92-39A2C860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69" y="-126870"/>
            <a:ext cx="9905955" cy="1680366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Database Users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b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</a:b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ACA8E-1975-496A-9252-46E7EEDB1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0488" y="644486"/>
            <a:ext cx="9904459" cy="84018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There are different types of users who interact with the DBMS :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endParaRPr lang="en-IN" sz="20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05CAAF-EDCA-81E8-2F50-BCC2F269E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954615"/>
              </p:ext>
            </p:extLst>
          </p:nvPr>
        </p:nvGraphicFramePr>
        <p:xfrm>
          <a:off x="1014386" y="1064577"/>
          <a:ext cx="9906000" cy="5536848"/>
        </p:xfrm>
        <a:graphic>
          <a:graphicData uri="http://schemas.openxmlformats.org/drawingml/2006/table">
            <a:tbl>
              <a:tblPr/>
              <a:tblGrid>
                <a:gridCol w="3125785">
                  <a:extLst>
                    <a:ext uri="{9D8B030D-6E8A-4147-A177-3AD203B41FA5}">
                      <a16:colId xmlns:a16="http://schemas.microsoft.com/office/drawing/2014/main" val="3586897753"/>
                    </a:ext>
                  </a:extLst>
                </a:gridCol>
                <a:gridCol w="3478215">
                  <a:extLst>
                    <a:ext uri="{9D8B030D-6E8A-4147-A177-3AD203B41FA5}">
                      <a16:colId xmlns:a16="http://schemas.microsoft.com/office/drawing/2014/main" val="28090417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864147457"/>
                    </a:ext>
                  </a:extLst>
                </a:gridCol>
              </a:tblGrid>
              <a:tr h="555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Type of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839151"/>
                  </a:ext>
                </a:extLst>
              </a:tr>
              <a:tr h="1559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1. Database Administrator (DBA)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Responsible for managing the entire DBMS. Controls access, security, and performance.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Admin of a college database.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77694"/>
                  </a:ext>
                </a:extLst>
              </a:tr>
              <a:tr h="138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2. Database Designers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Design the structure of the database, tables, and relationships.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System analysts.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847186"/>
                  </a:ext>
                </a:extLst>
              </a:tr>
              <a:tr h="971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3. Application Programmers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Write programs that interact with the database.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Developers using C, Java, Python,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347295"/>
                  </a:ext>
                </a:extLst>
              </a:tr>
              <a:tr h="971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4. End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Access the database through applications.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Students checking results online.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907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81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BA1D-44F5-C98B-8967-610CFFAA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256" y="-78657"/>
            <a:ext cx="10511312" cy="75708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4. </a:t>
            </a:r>
            <a:r>
              <a:rPr lang="en-US" sz="3200" u="sng" dirty="0">
                <a:solidFill>
                  <a:srgbClr val="FFFF00"/>
                </a:solidFill>
                <a:latin typeface="Algerian" panose="04020705040A02060702" pitchFamily="82" charset="0"/>
              </a:rPr>
              <a:t>Functions of Database Administrator (DBA)</a:t>
            </a: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2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71EE2-E1E5-8829-D09C-B91A7114B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2287" y="422788"/>
            <a:ext cx="10427425" cy="6268064"/>
          </a:xfrm>
        </p:spPr>
        <p:txBody>
          <a:bodyPr>
            <a:normAutofit lnSpcReduction="10000"/>
          </a:bodyPr>
          <a:lstStyle/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Database Design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sz="2000" b="1" dirty="0">
                <a:latin typeface="Century Schoolbook" panose="02040604050505020304" pitchFamily="18" charset="0"/>
              </a:rPr>
              <a:t>Defines the structure, tables, and relationships in the database.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Security Management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Controls user access rights and ensures data security.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Backup and Recovery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Creates backup copies and restores data in case of loss or failure.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Performance Monitoring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Monitors system performance and optimizes query execution.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5.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 Integrity Management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Ensures accuracy and consistency of data using constraints.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6.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Database Maintenance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Updates, upgrades, and maintains the DBMS software and data files.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7.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User Management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Adds, removes, or modifies user accounts and their privileges.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8. </a:t>
            </a:r>
            <a:r>
              <a:rPr lang="en-IN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Storage Management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IN" sz="2000" b="1" dirty="0"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Allocates and manages storage space efficiently.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183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E131-478C-C5EA-0E28-7211D285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67148"/>
            <a:ext cx="9905955" cy="106680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1.5]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modeling in </a:t>
            </a:r>
            <a:r>
              <a:rPr lang="en-US" sz="48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dbms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01A33-864E-F44A-D2A1-55D51C06D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2723" y="737420"/>
            <a:ext cx="10638503" cy="462116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Data Modeling is the process of organizing and structuring data to represent how it will be stored, accessed, and related in a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defines the relationships between data elements and provides a blueprint for designing a database.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Century Schoolbook" panose="02040604050505020304" pitchFamily="18" charset="0"/>
              </a:rPr>
              <a:t>There are three main data models used in DBMS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Hierarchical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Network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Relational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976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9136-B969-FECC-E0E7-46E5A2AE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114" y="0"/>
            <a:ext cx="9905955" cy="855406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Hierarchical data model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165AF-9337-6A48-F715-00FAC8F04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1427" y="388374"/>
            <a:ext cx="10549145" cy="368218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the hierarchical model, data is organized in a tree-like structure.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record (called a node) has one parent and many children — forming a parent - child relationship.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Data is represented using a one - to - many (1:N) relationship.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FBB10-35D7-D322-9C8A-4B86FE9A1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566" y="3429000"/>
            <a:ext cx="6784259" cy="329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FB14-EA19-47DF-8493-7C43AFD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262" y="-285135"/>
            <a:ext cx="9905955" cy="28513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9279A-2854-2901-25FA-F11F847B9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770" y="73741"/>
            <a:ext cx="9904459" cy="562896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Advantages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Simple and easy to understand.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Fast data access due to a clear hierarchy.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Data integrity is maintained through parent-child links</a:t>
            </a:r>
            <a:r>
              <a:rPr lang="en-US" sz="2000" b="1" dirty="0">
                <a:latin typeface="Century Schoolbook" panose="02040604050505020304" pitchFamily="18" charset="0"/>
              </a:rPr>
              <a:t>.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Disadvantages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Difficult to modify 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Complex when relationships are many-to-many (M:N).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Searching for child records from different branches is hard.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380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BB75-AF81-2C5E-4C7B-BC8F59CF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86813"/>
            <a:ext cx="9905955" cy="114054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Network data model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D63E8-FEBB-46E3-F431-B5D687067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2936" y="852692"/>
            <a:ext cx="10898625" cy="297205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Network Model represents data as records (nodes) connected by links (pointers).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Unlike the hierarchical model, a record can have multiple parent and child records, allowing many-to-many (M:N) relationships.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Data is represented using a graph structure with interconnected nodes.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40811-DD57-500F-D456-38D714396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42" y="3510116"/>
            <a:ext cx="7659330" cy="317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79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F024-D01B-6F53-FB56-357475D8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74" y="-324465"/>
            <a:ext cx="9905955" cy="32446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F232A-1F4D-5F04-D9EA-452E09FCF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41274" y="0"/>
            <a:ext cx="9904459" cy="544707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Advantages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Handles complex relationships easily (many-to-many).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Faster data access through direct links.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More flexible than hierarchical model.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Disadvantages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Structure is complex to design and maintain.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Requires knowledge of pointers and paths.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Not suitable for ad-hoc queries.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461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B253-9F0E-500D-6B0E-65434C68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10" y="-90948"/>
            <a:ext cx="9905955" cy="100043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Relational data model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8E07A-49C1-45AE-AFB6-6898472F8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1524" y="909485"/>
            <a:ext cx="10726125" cy="247649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the Relational Model, data is organized into tables (relations) consisting of rows (tuples) and columns (attributes).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table represents an entity, and relationships are defined using keys (primary, foreign).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based on E.F. Codd’s relational theory.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8CB3D-16CD-797C-42E3-AB2F2CDE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33" y="3185652"/>
            <a:ext cx="6850390" cy="356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97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C4A4-0AB1-EA63-5E64-A2AB687C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580103"/>
            <a:ext cx="9905955" cy="58010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9C269-7B6F-14A7-27A2-46F59F13F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22" y="1"/>
            <a:ext cx="10370552" cy="548639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Advantages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Easy to understand and use (uses SQL).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High flexibility and scalability.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Strong data integrity through keys and constraints.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Supports data independence and ad-hoc queries.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Disadvantages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Slower for very large and complex databases.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Requires more storage and processing time.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8005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144</TotalTime>
  <Words>2047</Words>
  <Application>Microsoft Office PowerPoint</Application>
  <PresentationFormat>Widescreen</PresentationFormat>
  <Paragraphs>221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Algerian</vt:lpstr>
      <vt:lpstr>Arial</vt:lpstr>
      <vt:lpstr>Calibri</vt:lpstr>
      <vt:lpstr>Century Schoolbook</vt:lpstr>
      <vt:lpstr>Tw Cen MT</vt:lpstr>
      <vt:lpstr>Wingdings</vt:lpstr>
      <vt:lpstr>Circuit</vt:lpstr>
      <vt:lpstr>01. Database system concept</vt:lpstr>
      <vt:lpstr>1.1] introduction to Database : -</vt:lpstr>
      <vt:lpstr>3. Database Management System (DBMS) : - </vt:lpstr>
      <vt:lpstr>Advantages of dbms : -</vt:lpstr>
      <vt:lpstr>Applications of dbms : -</vt:lpstr>
      <vt:lpstr>1.2] data abstraction : -</vt:lpstr>
      <vt:lpstr>Data dictionary : -</vt:lpstr>
      <vt:lpstr>Instance &amp; schema : -</vt:lpstr>
      <vt:lpstr>1.3] data independency : -</vt:lpstr>
      <vt:lpstr>1. Logical data independency : -</vt:lpstr>
      <vt:lpstr>2. Physical data independency : -</vt:lpstr>
      <vt:lpstr>1.4] Components of a DBMS : -</vt:lpstr>
      <vt:lpstr>2. Overall Structure of a DBMS : - </vt:lpstr>
      <vt:lpstr>3. Database Users : - </vt:lpstr>
      <vt:lpstr>4. Functions of Database Administrator (DBA) : -</vt:lpstr>
      <vt:lpstr>1.5] data modeling in dbms : -</vt:lpstr>
      <vt:lpstr>1. Hierarchical data model : -</vt:lpstr>
      <vt:lpstr>PowerPoint Presentation</vt:lpstr>
      <vt:lpstr>2. Network data model : -</vt:lpstr>
      <vt:lpstr>PowerPoint Presentation</vt:lpstr>
      <vt:lpstr>3. Relational data model : 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2025-11-03T15:07:31Z</dcterms:created>
  <dcterms:modified xsi:type="dcterms:W3CDTF">2025-11-03T17:33:13Z</dcterms:modified>
</cp:coreProperties>
</file>