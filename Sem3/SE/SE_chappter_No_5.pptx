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77"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5A74003-F213-4C83-A670-4E2B1F746E48}"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0FEA5A-9F66-4BAD-80F2-424A9006570E}" type="slidenum">
              <a:rPr lang="en-IN" smtClean="0"/>
              <a:t>‹#›</a:t>
            </a:fld>
            <a:endParaRPr lang="en-IN"/>
          </a:p>
        </p:txBody>
      </p:sp>
    </p:spTree>
    <p:extLst>
      <p:ext uri="{BB962C8B-B14F-4D97-AF65-F5344CB8AC3E}">
        <p14:creationId xmlns:p14="http://schemas.microsoft.com/office/powerpoint/2010/main" val="1025616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A74003-F213-4C83-A670-4E2B1F746E48}"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0FEA5A-9F66-4BAD-80F2-424A9006570E}" type="slidenum">
              <a:rPr lang="en-IN" smtClean="0"/>
              <a:t>‹#›</a:t>
            </a:fld>
            <a:endParaRPr lang="en-IN"/>
          </a:p>
        </p:txBody>
      </p:sp>
    </p:spTree>
    <p:extLst>
      <p:ext uri="{BB962C8B-B14F-4D97-AF65-F5344CB8AC3E}">
        <p14:creationId xmlns:p14="http://schemas.microsoft.com/office/powerpoint/2010/main" val="871193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A74003-F213-4C83-A670-4E2B1F746E48}"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0FEA5A-9F66-4BAD-80F2-424A9006570E}" type="slidenum">
              <a:rPr lang="en-IN" smtClean="0"/>
              <a:t>‹#›</a:t>
            </a:fld>
            <a:endParaRPr lang="en-IN"/>
          </a:p>
        </p:txBody>
      </p:sp>
    </p:spTree>
    <p:extLst>
      <p:ext uri="{BB962C8B-B14F-4D97-AF65-F5344CB8AC3E}">
        <p14:creationId xmlns:p14="http://schemas.microsoft.com/office/powerpoint/2010/main" val="5733116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5A74003-F213-4C83-A670-4E2B1F746E48}" type="datetimeFigureOut">
              <a:rPr lang="en-IN" smtClean="0"/>
              <a:t>09-10-2025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0FEA5A-9F66-4BAD-80F2-424A9006570E}" type="slidenum">
              <a:rPr lang="en-IN" smtClean="0"/>
              <a:t>‹#›</a:t>
            </a:fld>
            <a:endParaRPr lang="en-IN"/>
          </a:p>
        </p:txBody>
      </p:sp>
    </p:spTree>
    <p:extLst>
      <p:ext uri="{BB962C8B-B14F-4D97-AF65-F5344CB8AC3E}">
        <p14:creationId xmlns:p14="http://schemas.microsoft.com/office/powerpoint/2010/main" val="920370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5A74003-F213-4C83-A670-4E2B1F746E48}" type="datetimeFigureOut">
              <a:rPr lang="en-IN" smtClean="0"/>
              <a:t>09-10-2025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90FEA5A-9F66-4BAD-80F2-424A9006570E}" type="slidenum">
              <a:rPr lang="en-IN" smtClean="0"/>
              <a:t>‹#›</a:t>
            </a:fld>
            <a:endParaRPr lang="en-IN"/>
          </a:p>
        </p:txBody>
      </p:sp>
    </p:spTree>
    <p:extLst>
      <p:ext uri="{BB962C8B-B14F-4D97-AF65-F5344CB8AC3E}">
        <p14:creationId xmlns:p14="http://schemas.microsoft.com/office/powerpoint/2010/main" val="325623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5A74003-F213-4C83-A670-4E2B1F746E48}" type="datetimeFigureOut">
              <a:rPr lang="en-IN" smtClean="0"/>
              <a:t>09-10-2025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90FEA5A-9F66-4BAD-80F2-424A9006570E}" type="slidenum">
              <a:rPr lang="en-IN" smtClean="0"/>
              <a:t>‹#›</a:t>
            </a:fld>
            <a:endParaRPr lang="en-IN"/>
          </a:p>
        </p:txBody>
      </p:sp>
    </p:spTree>
    <p:extLst>
      <p:ext uri="{BB962C8B-B14F-4D97-AF65-F5344CB8AC3E}">
        <p14:creationId xmlns:p14="http://schemas.microsoft.com/office/powerpoint/2010/main" val="1585573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A74003-F213-4C83-A670-4E2B1F746E48}" type="datetimeFigureOut">
              <a:rPr lang="en-IN" smtClean="0"/>
              <a:t>09-10-2025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90FEA5A-9F66-4BAD-80F2-424A9006570E}" type="slidenum">
              <a:rPr lang="en-IN" smtClean="0"/>
              <a:t>‹#›</a:t>
            </a:fld>
            <a:endParaRPr lang="en-IN"/>
          </a:p>
        </p:txBody>
      </p:sp>
    </p:spTree>
    <p:extLst>
      <p:ext uri="{BB962C8B-B14F-4D97-AF65-F5344CB8AC3E}">
        <p14:creationId xmlns:p14="http://schemas.microsoft.com/office/powerpoint/2010/main" val="118412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5A74003-F213-4C83-A670-4E2B1F746E48}" type="datetimeFigureOut">
              <a:rPr lang="en-IN" smtClean="0"/>
              <a:t>09-10-2025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0FEA5A-9F66-4BAD-80F2-424A9006570E}" type="slidenum">
              <a:rPr lang="en-IN" smtClean="0"/>
              <a:t>‹#›</a:t>
            </a:fld>
            <a:endParaRPr lang="en-IN"/>
          </a:p>
        </p:txBody>
      </p:sp>
    </p:spTree>
    <p:extLst>
      <p:ext uri="{BB962C8B-B14F-4D97-AF65-F5344CB8AC3E}">
        <p14:creationId xmlns:p14="http://schemas.microsoft.com/office/powerpoint/2010/main" val="917448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5A74003-F213-4C83-A670-4E2B1F746E48}" type="datetimeFigureOut">
              <a:rPr lang="en-IN" smtClean="0"/>
              <a:t>09-10-2025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0FEA5A-9F66-4BAD-80F2-424A9006570E}" type="slidenum">
              <a:rPr lang="en-IN" smtClean="0"/>
              <a:t>‹#›</a:t>
            </a:fld>
            <a:endParaRPr lang="en-IN"/>
          </a:p>
        </p:txBody>
      </p:sp>
    </p:spTree>
    <p:extLst>
      <p:ext uri="{BB962C8B-B14F-4D97-AF65-F5344CB8AC3E}">
        <p14:creationId xmlns:p14="http://schemas.microsoft.com/office/powerpoint/2010/main" val="6389964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A74003-F213-4C83-A670-4E2B1F746E48}"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0FEA5A-9F66-4BAD-80F2-424A9006570E}" type="slidenum">
              <a:rPr lang="en-IN" smtClean="0"/>
              <a:t>‹#›</a:t>
            </a:fld>
            <a:endParaRPr lang="en-IN"/>
          </a:p>
        </p:txBody>
      </p:sp>
    </p:spTree>
    <p:extLst>
      <p:ext uri="{BB962C8B-B14F-4D97-AF65-F5344CB8AC3E}">
        <p14:creationId xmlns:p14="http://schemas.microsoft.com/office/powerpoint/2010/main" val="37976745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A74003-F213-4C83-A670-4E2B1F746E48}"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0FEA5A-9F66-4BAD-80F2-424A9006570E}"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4046536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A74003-F213-4C83-A670-4E2B1F746E48}"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0FEA5A-9F66-4BAD-80F2-424A9006570E}" type="slidenum">
              <a:rPr lang="en-IN" smtClean="0"/>
              <a:t>‹#›</a:t>
            </a:fld>
            <a:endParaRPr lang="en-IN"/>
          </a:p>
        </p:txBody>
      </p:sp>
    </p:spTree>
    <p:extLst>
      <p:ext uri="{BB962C8B-B14F-4D97-AF65-F5344CB8AC3E}">
        <p14:creationId xmlns:p14="http://schemas.microsoft.com/office/powerpoint/2010/main" val="16622382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A74003-F213-4C83-A670-4E2B1F746E48}"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0FEA5A-9F66-4BAD-80F2-424A9006570E}"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8804841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A74003-F213-4C83-A670-4E2B1F746E48}"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0FEA5A-9F66-4BAD-80F2-424A9006570E}" type="slidenum">
              <a:rPr lang="en-IN" smtClean="0"/>
              <a:t>‹#›</a:t>
            </a:fld>
            <a:endParaRPr lang="en-IN"/>
          </a:p>
        </p:txBody>
      </p:sp>
    </p:spTree>
    <p:extLst>
      <p:ext uri="{BB962C8B-B14F-4D97-AF65-F5344CB8AC3E}">
        <p14:creationId xmlns:p14="http://schemas.microsoft.com/office/powerpoint/2010/main" val="10724995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A74003-F213-4C83-A670-4E2B1F746E48}"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0FEA5A-9F66-4BAD-80F2-424A9006570E}" type="slidenum">
              <a:rPr lang="en-IN" smtClean="0"/>
              <a:t>‹#›</a:t>
            </a:fld>
            <a:endParaRPr lang="en-IN"/>
          </a:p>
        </p:txBody>
      </p:sp>
    </p:spTree>
    <p:extLst>
      <p:ext uri="{BB962C8B-B14F-4D97-AF65-F5344CB8AC3E}">
        <p14:creationId xmlns:p14="http://schemas.microsoft.com/office/powerpoint/2010/main" val="13558080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A74003-F213-4C83-A670-4E2B1F746E48}" type="datetimeFigureOut">
              <a:rPr lang="en-IN" smtClean="0"/>
              <a:t>09-10-2025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0FEA5A-9F66-4BAD-80F2-424A9006570E}" type="slidenum">
              <a:rPr lang="en-IN" smtClean="0"/>
              <a:t>‹#›</a:t>
            </a:fld>
            <a:endParaRPr lang="en-IN"/>
          </a:p>
        </p:txBody>
      </p:sp>
    </p:spTree>
    <p:extLst>
      <p:ext uri="{BB962C8B-B14F-4D97-AF65-F5344CB8AC3E}">
        <p14:creationId xmlns:p14="http://schemas.microsoft.com/office/powerpoint/2010/main" val="2931857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5A74003-F213-4C83-A670-4E2B1F746E48}" type="datetimeFigureOut">
              <a:rPr lang="en-IN" smtClean="0"/>
              <a:t>09-10-2025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90FEA5A-9F66-4BAD-80F2-424A9006570E}" type="slidenum">
              <a:rPr lang="en-IN" smtClean="0"/>
              <a:t>‹#›</a:t>
            </a:fld>
            <a:endParaRPr lang="en-IN"/>
          </a:p>
        </p:txBody>
      </p:sp>
    </p:spTree>
    <p:extLst>
      <p:ext uri="{BB962C8B-B14F-4D97-AF65-F5344CB8AC3E}">
        <p14:creationId xmlns:p14="http://schemas.microsoft.com/office/powerpoint/2010/main" val="6751382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15D57-277E-01A7-8412-F0940CF51D7C}"/>
              </a:ext>
            </a:extLst>
          </p:cNvPr>
          <p:cNvSpPr>
            <a:spLocks noGrp="1"/>
          </p:cNvSpPr>
          <p:nvPr>
            <p:ph type="ctrTitle"/>
          </p:nvPr>
        </p:nvSpPr>
        <p:spPr>
          <a:xfrm>
            <a:off x="964095" y="2205751"/>
            <a:ext cx="8419238" cy="1646302"/>
          </a:xfrm>
        </p:spPr>
        <p:txBody>
          <a:bodyPr/>
          <a:lstStyle/>
          <a:p>
            <a:pPr algn="ctr"/>
            <a:r>
              <a:rPr lang="en-IN" dirty="0"/>
              <a:t>Software Modelling and Design </a:t>
            </a:r>
          </a:p>
        </p:txBody>
      </p:sp>
    </p:spTree>
    <p:extLst>
      <p:ext uri="{BB962C8B-B14F-4D97-AF65-F5344CB8AC3E}">
        <p14:creationId xmlns:p14="http://schemas.microsoft.com/office/powerpoint/2010/main" val="23714419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552A290-AE5B-B1B7-6852-913C203DCEEE}"/>
              </a:ext>
            </a:extLst>
          </p:cNvPr>
          <p:cNvSpPr txBox="1"/>
          <p:nvPr/>
        </p:nvSpPr>
        <p:spPr>
          <a:xfrm>
            <a:off x="884583" y="143974"/>
            <a:ext cx="8408504" cy="6186309"/>
          </a:xfrm>
          <a:prstGeom prst="rect">
            <a:avLst/>
          </a:prstGeom>
          <a:noFill/>
        </p:spPr>
        <p:txBody>
          <a:bodyPr wrap="square">
            <a:spAutoFit/>
          </a:bodyPr>
          <a:lstStyle/>
          <a:p>
            <a:r>
              <a:rPr lang="en-IN" b="1" dirty="0"/>
              <a:t>5.1 Translating Requirement Model into Design Model: Data Modelling</a:t>
            </a:r>
          </a:p>
          <a:p>
            <a:endParaRPr lang="en-IN" dirty="0"/>
          </a:p>
          <a:p>
            <a:r>
              <a:rPr lang="en-US" b="1" dirty="0"/>
              <a:t>Translating Requirement Model into Design Model: Data Modelling</a:t>
            </a:r>
            <a:br>
              <a:rPr lang="en-US" b="1" dirty="0"/>
            </a:br>
            <a:endParaRPr lang="en-US" b="1" dirty="0"/>
          </a:p>
          <a:p>
            <a:pPr marL="285750" indent="-285750">
              <a:buFont typeface="Wingdings" panose="05000000000000000000" pitchFamily="2" charset="2"/>
              <a:buChar char="§"/>
            </a:pPr>
            <a:r>
              <a:rPr lang="en-US" b="1" dirty="0"/>
              <a:t>Overview</a:t>
            </a:r>
          </a:p>
          <a:p>
            <a:r>
              <a:rPr lang="en-US" dirty="0"/>
              <a:t>Translating the requirement model into a design model is a critical step in software development, where the abstract requirements are transformed into detailed technical specifications for implementation. One of the essential aspects of this transformation is Data Modelling.</a:t>
            </a:r>
          </a:p>
          <a:p>
            <a:endParaRPr lang="en-US" dirty="0"/>
          </a:p>
          <a:p>
            <a:pPr marL="285750" indent="-285750">
              <a:buFont typeface="Wingdings" panose="05000000000000000000" pitchFamily="2" charset="2"/>
              <a:buChar char="Ø"/>
            </a:pPr>
            <a:r>
              <a:rPr lang="en-US" b="1" dirty="0"/>
              <a:t>What is Data Modelling?</a:t>
            </a:r>
          </a:p>
          <a:p>
            <a:r>
              <a:rPr lang="en-US" dirty="0"/>
              <a:t>Data modelling is the process of creating a visual representation of the data structures, relationships, and constraints based on the requirements. It defines how data is organized, stored, and accessed in the system.</a:t>
            </a:r>
          </a:p>
          <a:p>
            <a:endParaRPr lang="en-IN" dirty="0"/>
          </a:p>
          <a:p>
            <a:r>
              <a:rPr lang="en-US" b="1" dirty="0"/>
              <a:t>Steps in Translating to Data Model</a:t>
            </a:r>
          </a:p>
          <a:p>
            <a:pPr lvl="1"/>
            <a:endParaRPr lang="en-US" dirty="0"/>
          </a:p>
          <a:p>
            <a:pPr lvl="1"/>
            <a:r>
              <a:rPr lang="en-US" b="1" dirty="0"/>
              <a:t>1.Analyze Requirement Model:</a:t>
            </a:r>
          </a:p>
          <a:p>
            <a:pPr marL="1200150" lvl="2" indent="-285750">
              <a:buFont typeface="Arial" panose="020B0604020202020204" pitchFamily="34" charset="0"/>
              <a:buChar char="•"/>
            </a:pPr>
            <a:r>
              <a:rPr lang="en-US" dirty="0"/>
              <a:t>Examine the requirement artifacts like use cases, user stories, and requirement </a:t>
            </a:r>
          </a:p>
          <a:p>
            <a:pPr marL="1200150" lvl="2" indent="-285750">
              <a:buFont typeface="Arial" panose="020B0604020202020204" pitchFamily="34" charset="0"/>
              <a:buChar char="•"/>
            </a:pPr>
            <a:r>
              <a:rPr lang="en-US" dirty="0"/>
              <a:t>specifications to extract relevant data elements and their interactions.</a:t>
            </a:r>
          </a:p>
        </p:txBody>
      </p:sp>
    </p:spTree>
    <p:extLst>
      <p:ext uri="{BB962C8B-B14F-4D97-AF65-F5344CB8AC3E}">
        <p14:creationId xmlns:p14="http://schemas.microsoft.com/office/powerpoint/2010/main" val="2167745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BD8DD-BEFD-4DFC-E87D-8968060F26D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E603101-5A3E-2FC0-FD02-9725A301EBFA}"/>
              </a:ext>
            </a:extLst>
          </p:cNvPr>
          <p:cNvSpPr txBox="1"/>
          <p:nvPr/>
        </p:nvSpPr>
        <p:spPr>
          <a:xfrm>
            <a:off x="765313" y="166232"/>
            <a:ext cx="8835887" cy="5078313"/>
          </a:xfrm>
          <a:prstGeom prst="rect">
            <a:avLst/>
          </a:prstGeom>
          <a:noFill/>
        </p:spPr>
        <p:txBody>
          <a:bodyPr wrap="square">
            <a:spAutoFit/>
          </a:bodyPr>
          <a:lstStyle/>
          <a:p>
            <a:pPr algn="l"/>
            <a:r>
              <a:rPr lang="en-US" b="1" i="0" dirty="0">
                <a:effectLst/>
                <a:latin typeface="fkGroteskNeue"/>
              </a:rPr>
              <a:t>2.Identify Entities and Attributes:</a:t>
            </a:r>
          </a:p>
          <a:p>
            <a:pPr marL="742950" lvl="1" indent="-285750" algn="l">
              <a:buFont typeface="+mj-lt"/>
              <a:buAutoNum type="arabicPeriod"/>
            </a:pPr>
            <a:r>
              <a:rPr lang="en-US" b="0" i="0" dirty="0">
                <a:effectLst/>
                <a:latin typeface="fkGroteskNeue"/>
              </a:rPr>
              <a:t>Determine the real-world objects or concepts (entities) involved in the domain.</a:t>
            </a:r>
          </a:p>
          <a:p>
            <a:pPr marL="742950" lvl="1" indent="-285750" algn="l">
              <a:buFont typeface="+mj-lt"/>
              <a:buAutoNum type="arabicPeriod"/>
            </a:pPr>
            <a:r>
              <a:rPr lang="en-US" b="0" i="0" dirty="0">
                <a:effectLst/>
                <a:latin typeface="fkGroteskNeue"/>
              </a:rPr>
              <a:t>Define the properties (attributes) of these entities from requirement descriptions.</a:t>
            </a:r>
          </a:p>
          <a:p>
            <a:pPr lvl="1" algn="l"/>
            <a:endParaRPr lang="en-US" b="0" i="0" dirty="0">
              <a:effectLst/>
              <a:latin typeface="fkGroteskNeue"/>
            </a:endParaRPr>
          </a:p>
          <a:p>
            <a:pPr algn="l"/>
            <a:r>
              <a:rPr lang="en-US" b="1" dirty="0">
                <a:latin typeface="fkGroteskNeue"/>
              </a:rPr>
              <a:t>3.</a:t>
            </a:r>
            <a:r>
              <a:rPr lang="en-US" b="1" i="0" dirty="0">
                <a:effectLst/>
                <a:latin typeface="fkGroteskNeue"/>
              </a:rPr>
              <a:t>Define Relationships:</a:t>
            </a:r>
          </a:p>
          <a:p>
            <a:pPr marL="742950" lvl="1" indent="-285750" algn="l">
              <a:buFont typeface="+mj-lt"/>
              <a:buAutoNum type="arabicPeriod"/>
            </a:pPr>
            <a:r>
              <a:rPr lang="en-US" b="0" i="0" dirty="0">
                <a:effectLst/>
                <a:latin typeface="fkGroteskNeue"/>
              </a:rPr>
              <a:t>Establish associations between entities (one-to-one, one-to-many, many-to-many).</a:t>
            </a:r>
          </a:p>
          <a:p>
            <a:pPr marL="742950" lvl="1" indent="-285750" algn="l">
              <a:buFont typeface="+mj-lt"/>
              <a:buAutoNum type="arabicPeriod"/>
            </a:pPr>
            <a:r>
              <a:rPr lang="en-US" b="0" i="0" dirty="0">
                <a:effectLst/>
                <a:latin typeface="fkGroteskNeue"/>
              </a:rPr>
              <a:t>Specify cardinalities and participation constraints.</a:t>
            </a:r>
          </a:p>
          <a:p>
            <a:pPr lvl="1" algn="l"/>
            <a:endParaRPr lang="en-US" b="0" i="0" dirty="0">
              <a:effectLst/>
              <a:latin typeface="fkGroteskNeue"/>
            </a:endParaRPr>
          </a:p>
          <a:p>
            <a:pPr algn="l"/>
            <a:r>
              <a:rPr lang="en-US" b="1" dirty="0">
                <a:latin typeface="fkGroteskNeue"/>
              </a:rPr>
              <a:t>4.</a:t>
            </a:r>
            <a:r>
              <a:rPr lang="en-US" b="1" i="0" dirty="0">
                <a:effectLst/>
                <a:latin typeface="fkGroteskNeue"/>
              </a:rPr>
              <a:t>Create Entity-Relationship Diagrams (ERD):</a:t>
            </a:r>
          </a:p>
          <a:p>
            <a:pPr marL="742950" lvl="1" indent="-285750" algn="l">
              <a:buFont typeface="+mj-lt"/>
              <a:buAutoNum type="arabicPeriod"/>
            </a:pPr>
            <a:r>
              <a:rPr lang="en-US" b="0" i="0" dirty="0">
                <a:effectLst/>
                <a:latin typeface="fkGroteskNeue"/>
              </a:rPr>
              <a:t>Depict entities, attributes, keys (primary and foreign), and relationships graphically.</a:t>
            </a:r>
          </a:p>
          <a:p>
            <a:pPr marL="742950" lvl="1" indent="-285750" algn="l">
              <a:buFont typeface="+mj-lt"/>
              <a:buAutoNum type="arabicPeriod"/>
            </a:pPr>
            <a:r>
              <a:rPr lang="en-US" b="0" i="0" dirty="0">
                <a:effectLst/>
                <a:latin typeface="fkGroteskNeue"/>
              </a:rPr>
              <a:t>Use ER diagrams to communicate design ideas clearly.</a:t>
            </a:r>
          </a:p>
          <a:p>
            <a:pPr lvl="1" algn="l"/>
            <a:endParaRPr lang="en-US" b="0" i="0" dirty="0">
              <a:effectLst/>
              <a:latin typeface="fkGroteskNeue"/>
            </a:endParaRPr>
          </a:p>
          <a:p>
            <a:pPr algn="l"/>
            <a:r>
              <a:rPr lang="en-US" b="1" i="0" dirty="0">
                <a:effectLst/>
                <a:latin typeface="fkGroteskNeue"/>
              </a:rPr>
              <a:t>5.Normalize Data Structures:</a:t>
            </a:r>
          </a:p>
          <a:p>
            <a:pPr marL="742950" lvl="1" indent="-285750" algn="l">
              <a:buFont typeface="+mj-lt"/>
              <a:buAutoNum type="arabicPeriod"/>
            </a:pPr>
            <a:r>
              <a:rPr lang="en-US" b="0" i="0" dirty="0">
                <a:effectLst/>
                <a:latin typeface="fkGroteskNeue"/>
              </a:rPr>
              <a:t>Apply normalization rules to remove redundancy and ensure data integrity.</a:t>
            </a:r>
          </a:p>
          <a:p>
            <a:pPr lvl="1" algn="l"/>
            <a:endParaRPr lang="en-US" b="0" i="0" dirty="0">
              <a:effectLst/>
              <a:latin typeface="fkGroteskNeue"/>
            </a:endParaRPr>
          </a:p>
          <a:p>
            <a:pPr algn="l"/>
            <a:r>
              <a:rPr lang="en-US" b="1" i="0" dirty="0">
                <a:effectLst/>
                <a:latin typeface="fkGroteskNeue"/>
              </a:rPr>
              <a:t>6.Translate ER Model to Database Schema:</a:t>
            </a:r>
          </a:p>
          <a:p>
            <a:pPr marL="742950" lvl="1" indent="-285750" algn="l">
              <a:buFont typeface="+mj-lt"/>
              <a:buAutoNum type="arabicPeriod"/>
            </a:pPr>
            <a:r>
              <a:rPr lang="en-US" b="0" i="0" dirty="0">
                <a:effectLst/>
                <a:latin typeface="fkGroteskNeue"/>
              </a:rPr>
              <a:t>Convert entities and relationships into tables and keys for relational databases.</a:t>
            </a:r>
          </a:p>
          <a:p>
            <a:pPr marL="742950" lvl="1" indent="-285750" algn="l">
              <a:buFont typeface="+mj-lt"/>
              <a:buAutoNum type="arabicPeriod"/>
            </a:pPr>
            <a:r>
              <a:rPr lang="en-US" b="0" i="0" dirty="0">
                <a:effectLst/>
                <a:latin typeface="fkGroteskNeue"/>
              </a:rPr>
              <a:t>Include constraints and indexes necessary for efficient data access.</a:t>
            </a:r>
          </a:p>
        </p:txBody>
      </p:sp>
    </p:spTree>
    <p:extLst>
      <p:ext uri="{BB962C8B-B14F-4D97-AF65-F5344CB8AC3E}">
        <p14:creationId xmlns:p14="http://schemas.microsoft.com/office/powerpoint/2010/main" val="8556547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88B57-ABE4-DB83-5F0A-53B84C23D26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9AFCF33-C938-86A2-DEF3-6ACF0D5AE581}"/>
              </a:ext>
            </a:extLst>
          </p:cNvPr>
          <p:cNvSpPr txBox="1"/>
          <p:nvPr/>
        </p:nvSpPr>
        <p:spPr>
          <a:xfrm>
            <a:off x="854765" y="149809"/>
            <a:ext cx="8468139" cy="2031325"/>
          </a:xfrm>
          <a:prstGeom prst="rect">
            <a:avLst/>
          </a:prstGeom>
          <a:noFill/>
        </p:spPr>
        <p:txBody>
          <a:bodyPr wrap="square">
            <a:spAutoFit/>
          </a:bodyPr>
          <a:lstStyle/>
          <a:p>
            <a:pPr marL="285750" indent="-285750" algn="l">
              <a:buFont typeface="Wingdings" panose="05000000000000000000" pitchFamily="2" charset="2"/>
              <a:buChar char="Ø"/>
            </a:pPr>
            <a:r>
              <a:rPr lang="en-US" b="1" i="0" dirty="0">
                <a:effectLst/>
                <a:latin typeface="fkGrotesk"/>
              </a:rPr>
              <a:t>Importance of Data Modelling in Design.</a:t>
            </a:r>
          </a:p>
          <a:p>
            <a:pPr algn="l">
              <a:buNone/>
            </a:pPr>
            <a:endParaRPr lang="en-US" b="0" i="0" dirty="0">
              <a:effectLst/>
              <a:latin typeface="fkGrotesk"/>
            </a:endParaRPr>
          </a:p>
          <a:p>
            <a:pPr algn="l">
              <a:buFont typeface="Arial" panose="020B0604020202020204" pitchFamily="34" charset="0"/>
              <a:buChar char="•"/>
            </a:pPr>
            <a:r>
              <a:rPr lang="en-US" b="0" i="0" dirty="0">
                <a:effectLst/>
                <a:latin typeface="fkGroteskNeue"/>
              </a:rPr>
              <a:t>Ensures a concrete, structured representation of data aligned with requirements.</a:t>
            </a:r>
          </a:p>
          <a:p>
            <a:pPr algn="l">
              <a:buFont typeface="Arial" panose="020B0604020202020204" pitchFamily="34" charset="0"/>
              <a:buChar char="•"/>
            </a:pPr>
            <a:r>
              <a:rPr lang="en-US" b="0" i="0" dirty="0">
                <a:effectLst/>
                <a:latin typeface="fkGroteskNeue"/>
              </a:rPr>
              <a:t>Facilitates communication between analysts, designers, developers, and clients.</a:t>
            </a:r>
          </a:p>
          <a:p>
            <a:pPr algn="l">
              <a:buFont typeface="Arial" panose="020B0604020202020204" pitchFamily="34" charset="0"/>
              <a:buChar char="•"/>
            </a:pPr>
            <a:r>
              <a:rPr lang="en-US" b="0" i="0" dirty="0">
                <a:effectLst/>
                <a:latin typeface="fkGroteskNeue"/>
              </a:rPr>
              <a:t>Supports the creation of efficient, scalable, and maintainable databases.</a:t>
            </a:r>
          </a:p>
          <a:p>
            <a:pPr algn="l">
              <a:buFont typeface="Arial" panose="020B0604020202020204" pitchFamily="34" charset="0"/>
              <a:buChar char="•"/>
            </a:pPr>
            <a:r>
              <a:rPr lang="en-US" b="0" i="0" dirty="0">
                <a:effectLst/>
                <a:latin typeface="fkGroteskNeue"/>
              </a:rPr>
              <a:t>Helps identify missing or inconsistent requirements early in design.</a:t>
            </a:r>
          </a:p>
          <a:p>
            <a:pPr algn="l">
              <a:buFont typeface="Arial" panose="020B0604020202020204" pitchFamily="34" charset="0"/>
              <a:buChar char="•"/>
            </a:pPr>
            <a:r>
              <a:rPr lang="en-US" b="0" i="0" dirty="0">
                <a:effectLst/>
                <a:latin typeface="fkGroteskNeue"/>
              </a:rPr>
              <a:t>Acts as a blueprint guiding the implementation and testing phases.</a:t>
            </a:r>
          </a:p>
        </p:txBody>
      </p:sp>
      <p:sp>
        <p:nvSpPr>
          <p:cNvPr id="5" name="TextBox 4">
            <a:extLst>
              <a:ext uri="{FF2B5EF4-FFF2-40B4-BE49-F238E27FC236}">
                <a16:creationId xmlns:a16="http://schemas.microsoft.com/office/drawing/2014/main" id="{63C89A0C-3DEA-76F8-535C-18B628F473E0}"/>
              </a:ext>
            </a:extLst>
          </p:cNvPr>
          <p:cNvSpPr txBox="1"/>
          <p:nvPr/>
        </p:nvSpPr>
        <p:spPr>
          <a:xfrm>
            <a:off x="705679" y="2300116"/>
            <a:ext cx="8468139" cy="2308324"/>
          </a:xfrm>
          <a:prstGeom prst="rect">
            <a:avLst/>
          </a:prstGeom>
          <a:noFill/>
        </p:spPr>
        <p:txBody>
          <a:bodyPr wrap="square">
            <a:spAutoFit/>
          </a:bodyPr>
          <a:lstStyle/>
          <a:p>
            <a:r>
              <a:rPr lang="en-IN" b="1" dirty="0"/>
              <a:t>5.2 Analysis Modelling: Elements of Analysis model</a:t>
            </a:r>
          </a:p>
          <a:p>
            <a:endParaRPr lang="en-IN" b="1" dirty="0"/>
          </a:p>
          <a:p>
            <a:pPr marL="285750" indent="-285750">
              <a:buFont typeface="Wingdings" panose="05000000000000000000" pitchFamily="2" charset="2"/>
              <a:buChar char="Ø"/>
            </a:pPr>
            <a:r>
              <a:rPr lang="en-US" b="1" dirty="0"/>
              <a:t>Elements of Analysis Model</a:t>
            </a:r>
          </a:p>
          <a:p>
            <a:endParaRPr lang="en-US" dirty="0"/>
          </a:p>
          <a:p>
            <a:r>
              <a:rPr lang="en-US" dirty="0"/>
              <a:t>The analysis model is a detailed technical representation of the system's requirements and acts as a bridge between the requirement model and the design model. Its elements help model the system’s data, functional, and behavioral aspects.</a:t>
            </a:r>
          </a:p>
        </p:txBody>
      </p:sp>
    </p:spTree>
    <p:extLst>
      <p:ext uri="{BB962C8B-B14F-4D97-AF65-F5344CB8AC3E}">
        <p14:creationId xmlns:p14="http://schemas.microsoft.com/office/powerpoint/2010/main" val="11916765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34F45-728F-F2B7-54B2-F9AF6BD3480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2022222-3276-F050-9B82-0B81EB641B2C}"/>
              </a:ext>
            </a:extLst>
          </p:cNvPr>
          <p:cNvSpPr txBox="1"/>
          <p:nvPr/>
        </p:nvSpPr>
        <p:spPr>
          <a:xfrm>
            <a:off x="914399" y="0"/>
            <a:ext cx="8607288" cy="7017306"/>
          </a:xfrm>
          <a:prstGeom prst="rect">
            <a:avLst/>
          </a:prstGeom>
          <a:noFill/>
        </p:spPr>
        <p:txBody>
          <a:bodyPr wrap="square">
            <a:spAutoFit/>
          </a:bodyPr>
          <a:lstStyle/>
          <a:p>
            <a:pPr algn="l">
              <a:buNone/>
            </a:pPr>
            <a:r>
              <a:rPr lang="en-US" b="1" i="0" dirty="0">
                <a:effectLst/>
                <a:latin typeface="fkGrotesk"/>
              </a:rPr>
              <a:t>Key Elements of Analysis Model</a:t>
            </a:r>
          </a:p>
          <a:p>
            <a:pPr algn="l">
              <a:buNone/>
            </a:pPr>
            <a:endParaRPr lang="en-US" b="0" i="0" dirty="0">
              <a:effectLst/>
              <a:latin typeface="fkGrotesk"/>
            </a:endParaRPr>
          </a:p>
          <a:p>
            <a:pPr algn="l">
              <a:buFont typeface="+mj-lt"/>
              <a:buAutoNum type="arabicPeriod"/>
            </a:pPr>
            <a:r>
              <a:rPr lang="en-US" b="1" i="0" dirty="0">
                <a:effectLst/>
                <a:latin typeface="fkGroteskNeue"/>
              </a:rPr>
              <a:t>Data Dictionary</a:t>
            </a:r>
          </a:p>
          <a:p>
            <a:pPr marL="742950" lvl="1" indent="-285750" algn="l">
              <a:buFont typeface="+mj-lt"/>
              <a:buAutoNum type="arabicPeriod"/>
            </a:pPr>
            <a:r>
              <a:rPr lang="en-US" b="0" i="0" dirty="0">
                <a:effectLst/>
                <a:latin typeface="fkGroteskNeue"/>
              </a:rPr>
              <a:t>Repository describing all data objects used or produced by the software.</a:t>
            </a:r>
          </a:p>
          <a:p>
            <a:pPr marL="742950" lvl="1" indent="-285750" algn="l">
              <a:buFont typeface="+mj-lt"/>
              <a:buAutoNum type="arabicPeriod"/>
            </a:pPr>
            <a:r>
              <a:rPr lang="en-US" b="0" i="0" dirty="0">
                <a:effectLst/>
                <a:latin typeface="fkGroteskNeue"/>
              </a:rPr>
              <a:t>Acts as a centralized store of data element definitions to ensure consistency.</a:t>
            </a:r>
          </a:p>
          <a:p>
            <a:pPr algn="l">
              <a:buFont typeface="+mj-lt"/>
              <a:buAutoNum type="arabicPeriod"/>
            </a:pPr>
            <a:r>
              <a:rPr lang="en-US" b="1" i="0" dirty="0">
                <a:effectLst/>
                <a:latin typeface="fkGroteskNeue"/>
              </a:rPr>
              <a:t>Entity-Relationship Diagram (ERD)</a:t>
            </a:r>
          </a:p>
          <a:p>
            <a:pPr marL="742950" lvl="1" indent="-285750" algn="l">
              <a:buFont typeface="+mj-lt"/>
              <a:buAutoNum type="arabicPeriod"/>
            </a:pPr>
            <a:r>
              <a:rPr lang="en-US" b="0" i="0" dirty="0">
                <a:effectLst/>
                <a:latin typeface="fkGroteskNeue"/>
              </a:rPr>
              <a:t>Represents entities (data objects), their attributes, and relationships.</a:t>
            </a:r>
          </a:p>
          <a:p>
            <a:pPr marL="742950" lvl="1" indent="-285750" algn="l">
              <a:buFont typeface="+mj-lt"/>
              <a:buAutoNum type="arabicPeriod"/>
            </a:pPr>
            <a:r>
              <a:rPr lang="en-US" b="0" i="0" dirty="0">
                <a:effectLst/>
                <a:latin typeface="fkGroteskNeue"/>
              </a:rPr>
              <a:t>Used for data modeling activities and forms the basis for database design.</a:t>
            </a:r>
          </a:p>
          <a:p>
            <a:pPr algn="l">
              <a:buFont typeface="+mj-lt"/>
              <a:buAutoNum type="arabicPeriod"/>
            </a:pPr>
            <a:r>
              <a:rPr lang="en-US" b="1" i="0" dirty="0">
                <a:effectLst/>
                <a:latin typeface="fkGroteskNeue"/>
              </a:rPr>
              <a:t>Data Flow Diagram (DFD)</a:t>
            </a:r>
          </a:p>
          <a:p>
            <a:pPr marL="742950" lvl="1" indent="-285750" algn="l">
              <a:buFont typeface="+mj-lt"/>
              <a:buAutoNum type="arabicPeriod"/>
            </a:pPr>
            <a:r>
              <a:rPr lang="en-US" b="0" i="0" dirty="0">
                <a:effectLst/>
                <a:latin typeface="fkGroteskNeue"/>
              </a:rPr>
              <a:t>Shows how data flows through the system and how it is transformed by processes.</a:t>
            </a:r>
          </a:p>
          <a:p>
            <a:pPr marL="742950" lvl="1" indent="-285750" algn="l">
              <a:buFont typeface="+mj-lt"/>
              <a:buAutoNum type="arabicPeriod"/>
            </a:pPr>
            <a:r>
              <a:rPr lang="en-US" b="0" i="0" dirty="0">
                <a:effectLst/>
                <a:latin typeface="fkGroteskNeue"/>
              </a:rPr>
              <a:t>Helps in functional modeling by depicting inputs, processing, and outputs.</a:t>
            </a:r>
          </a:p>
          <a:p>
            <a:pPr algn="l">
              <a:buFont typeface="+mj-lt"/>
              <a:buAutoNum type="arabicPeriod"/>
            </a:pPr>
            <a:r>
              <a:rPr lang="en-US" b="1" i="0" dirty="0">
                <a:effectLst/>
                <a:latin typeface="fkGroteskNeue"/>
              </a:rPr>
              <a:t>State Transition Diagram (STD)</a:t>
            </a:r>
          </a:p>
          <a:p>
            <a:pPr marL="742950" lvl="1" indent="-285750" algn="l">
              <a:buFont typeface="+mj-lt"/>
              <a:buAutoNum type="arabicPeriod"/>
            </a:pPr>
            <a:r>
              <a:rPr lang="en-US" b="0" i="0" dirty="0">
                <a:effectLst/>
                <a:latin typeface="fkGroteskNeue"/>
              </a:rPr>
              <a:t>Illustrates the various states of the system and transitions triggered by external events.</a:t>
            </a:r>
          </a:p>
          <a:p>
            <a:pPr marL="742950" lvl="1" indent="-285750" algn="l">
              <a:buFont typeface="+mj-lt"/>
              <a:buAutoNum type="arabicPeriod"/>
            </a:pPr>
            <a:r>
              <a:rPr lang="en-US" b="0" i="0" dirty="0">
                <a:effectLst/>
                <a:latin typeface="fkGroteskNeue"/>
              </a:rPr>
              <a:t>Describes system behavior over time in response to events.</a:t>
            </a:r>
          </a:p>
          <a:p>
            <a:pPr algn="l">
              <a:buFont typeface="+mj-lt"/>
              <a:buAutoNum type="arabicPeriod"/>
            </a:pPr>
            <a:r>
              <a:rPr lang="en-US" b="1" i="0" dirty="0">
                <a:effectLst/>
                <a:latin typeface="fkGroteskNeue"/>
              </a:rPr>
              <a:t>Process Specification (PSPEC)</a:t>
            </a:r>
          </a:p>
          <a:p>
            <a:pPr marL="742950" lvl="1" indent="-285750" algn="l">
              <a:buFont typeface="+mj-lt"/>
              <a:buAutoNum type="arabicPeriod"/>
            </a:pPr>
            <a:r>
              <a:rPr lang="en-US" b="0" i="0" dirty="0">
                <a:effectLst/>
                <a:latin typeface="fkGroteskNeue"/>
              </a:rPr>
              <a:t>Details the function of each process shown in the DFD.</a:t>
            </a:r>
          </a:p>
          <a:p>
            <a:pPr marL="742950" lvl="1" indent="-285750" algn="l">
              <a:buFont typeface="+mj-lt"/>
              <a:buAutoNum type="arabicPeriod"/>
            </a:pPr>
            <a:r>
              <a:rPr lang="en-US" b="0" i="0" dirty="0">
                <a:effectLst/>
                <a:latin typeface="fkGroteskNeue"/>
              </a:rPr>
              <a:t>Describes inputs, processing logic or algorithms, and outputs.</a:t>
            </a:r>
          </a:p>
          <a:p>
            <a:pPr marL="742950" lvl="1" indent="-285750" algn="l">
              <a:buFont typeface="+mj-lt"/>
              <a:buAutoNum type="arabicPeriod"/>
            </a:pPr>
            <a:r>
              <a:rPr lang="en-US" b="0" i="0" dirty="0">
                <a:effectLst/>
                <a:latin typeface="fkGroteskNeue"/>
              </a:rPr>
              <a:t>Includes constraints and performance considerations.</a:t>
            </a:r>
          </a:p>
          <a:p>
            <a:pPr algn="l">
              <a:buFont typeface="+mj-lt"/>
              <a:buAutoNum type="arabicPeriod"/>
            </a:pPr>
            <a:r>
              <a:rPr lang="en-US" b="1" i="0" dirty="0">
                <a:effectLst/>
                <a:latin typeface="fkGroteskNeue"/>
              </a:rPr>
              <a:t>Control Specification (CSPEC)</a:t>
            </a:r>
          </a:p>
          <a:p>
            <a:pPr marL="742950" lvl="1" indent="-285750" algn="l">
              <a:buFont typeface="+mj-lt"/>
              <a:buAutoNum type="arabicPeriod"/>
            </a:pPr>
            <a:r>
              <a:rPr lang="en-US" b="0" i="0" dirty="0">
                <a:effectLst/>
                <a:latin typeface="fkGroteskNeue"/>
              </a:rPr>
              <a:t>Provides additional information about control aspects of the system.</a:t>
            </a:r>
          </a:p>
          <a:p>
            <a:pPr marL="742950" lvl="1" indent="-285750" algn="l">
              <a:buFont typeface="+mj-lt"/>
              <a:buAutoNum type="arabicPeriod"/>
            </a:pPr>
            <a:r>
              <a:rPr lang="en-US" b="0" i="0" dirty="0">
                <a:effectLst/>
                <a:latin typeface="fkGroteskNeue"/>
              </a:rPr>
              <a:t>Indicates how system events govern process execution and flow of control.</a:t>
            </a:r>
          </a:p>
          <a:p>
            <a:pPr algn="l">
              <a:buFont typeface="+mj-lt"/>
              <a:buAutoNum type="arabicPeriod"/>
            </a:pPr>
            <a:r>
              <a:rPr lang="en-US" b="1" i="0" dirty="0">
                <a:effectLst/>
                <a:latin typeface="fkGroteskNeue"/>
              </a:rPr>
              <a:t>Data Object Description</a:t>
            </a:r>
          </a:p>
          <a:p>
            <a:pPr marL="742950" lvl="1" indent="-285750" algn="l">
              <a:buFont typeface="+mj-lt"/>
              <a:buAutoNum type="arabicPeriod"/>
            </a:pPr>
            <a:r>
              <a:rPr lang="en-US" b="0" i="0" dirty="0">
                <a:effectLst/>
                <a:latin typeface="fkGroteskNeue"/>
              </a:rPr>
              <a:t>Completes the understanding of each data object by detailing its attributes, associations, and constraints.</a:t>
            </a:r>
          </a:p>
        </p:txBody>
      </p:sp>
    </p:spTree>
    <p:extLst>
      <p:ext uri="{BB962C8B-B14F-4D97-AF65-F5344CB8AC3E}">
        <p14:creationId xmlns:p14="http://schemas.microsoft.com/office/powerpoint/2010/main" val="41339271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A0C71-8C9B-5573-EF36-8096AC6326D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84757E3-A31E-6C37-AF29-13FDC75C0A7D}"/>
              </a:ext>
            </a:extLst>
          </p:cNvPr>
          <p:cNvSpPr txBox="1"/>
          <p:nvPr/>
        </p:nvSpPr>
        <p:spPr>
          <a:xfrm>
            <a:off x="904462" y="222838"/>
            <a:ext cx="8567530" cy="369332"/>
          </a:xfrm>
          <a:prstGeom prst="rect">
            <a:avLst/>
          </a:prstGeom>
          <a:noFill/>
        </p:spPr>
        <p:txBody>
          <a:bodyPr wrap="square">
            <a:spAutoFit/>
          </a:bodyPr>
          <a:lstStyle/>
          <a:p>
            <a:pPr algn="l">
              <a:buNone/>
            </a:pPr>
            <a:r>
              <a:rPr lang="en-IN" b="1" i="0" dirty="0">
                <a:effectLst/>
                <a:latin typeface="fkGrotesk"/>
              </a:rPr>
              <a:t>Summary</a:t>
            </a:r>
          </a:p>
        </p:txBody>
      </p:sp>
      <p:graphicFrame>
        <p:nvGraphicFramePr>
          <p:cNvPr id="4" name="Table 3">
            <a:extLst>
              <a:ext uri="{FF2B5EF4-FFF2-40B4-BE49-F238E27FC236}">
                <a16:creationId xmlns:a16="http://schemas.microsoft.com/office/drawing/2014/main" id="{EF99C346-AEB3-3D12-87C2-C82DE8614A12}"/>
              </a:ext>
            </a:extLst>
          </p:cNvPr>
          <p:cNvGraphicFramePr>
            <a:graphicFrameLocks noGrp="1"/>
          </p:cNvGraphicFramePr>
          <p:nvPr>
            <p:extLst>
              <p:ext uri="{D42A27DB-BD31-4B8C-83A1-F6EECF244321}">
                <p14:modId xmlns:p14="http://schemas.microsoft.com/office/powerpoint/2010/main" val="4089124325"/>
              </p:ext>
            </p:extLst>
          </p:nvPr>
        </p:nvGraphicFramePr>
        <p:xfrm>
          <a:off x="904462" y="726512"/>
          <a:ext cx="7734540" cy="3896446"/>
        </p:xfrm>
        <a:graphic>
          <a:graphicData uri="http://schemas.openxmlformats.org/drawingml/2006/table">
            <a:tbl>
              <a:tblPr>
                <a:tableStyleId>{5940675A-B579-460E-94D1-54222C63F5DA}</a:tableStyleId>
              </a:tblPr>
              <a:tblGrid>
                <a:gridCol w="2792896">
                  <a:extLst>
                    <a:ext uri="{9D8B030D-6E8A-4147-A177-3AD203B41FA5}">
                      <a16:colId xmlns:a16="http://schemas.microsoft.com/office/drawing/2014/main" val="1295790635"/>
                    </a:ext>
                  </a:extLst>
                </a:gridCol>
                <a:gridCol w="4941644">
                  <a:extLst>
                    <a:ext uri="{9D8B030D-6E8A-4147-A177-3AD203B41FA5}">
                      <a16:colId xmlns:a16="http://schemas.microsoft.com/office/drawing/2014/main" val="943681658"/>
                    </a:ext>
                  </a:extLst>
                </a:gridCol>
              </a:tblGrid>
              <a:tr h="319359">
                <a:tc>
                  <a:txBody>
                    <a:bodyPr/>
                    <a:lstStyle/>
                    <a:p>
                      <a:pPr algn="l">
                        <a:buNone/>
                      </a:pPr>
                      <a:r>
                        <a:rPr lang="en-IN" sz="1500" b="1">
                          <a:effectLst/>
                        </a:rPr>
                        <a:t>Element</a:t>
                      </a:r>
                    </a:p>
                  </a:txBody>
                  <a:tcPr marL="49132" marR="49132" marT="49132" marB="49132" anchor="ctr"/>
                </a:tc>
                <a:tc>
                  <a:txBody>
                    <a:bodyPr/>
                    <a:lstStyle/>
                    <a:p>
                      <a:pPr algn="l">
                        <a:buNone/>
                      </a:pPr>
                      <a:r>
                        <a:rPr lang="en-IN" sz="1500" b="1">
                          <a:effectLst/>
                        </a:rPr>
                        <a:t>Purpose</a:t>
                      </a:r>
                    </a:p>
                  </a:txBody>
                  <a:tcPr marL="49132" marR="49132" marT="49132" marB="49132" anchor="ctr"/>
                </a:tc>
                <a:extLst>
                  <a:ext uri="{0D108BD9-81ED-4DB2-BD59-A6C34878D82A}">
                    <a16:rowId xmlns:a16="http://schemas.microsoft.com/office/drawing/2014/main" val="484344859"/>
                  </a:ext>
                </a:extLst>
              </a:tr>
              <a:tr h="540453">
                <a:tc>
                  <a:txBody>
                    <a:bodyPr/>
                    <a:lstStyle/>
                    <a:p>
                      <a:pPr algn="l">
                        <a:buNone/>
                      </a:pPr>
                      <a:r>
                        <a:rPr lang="en-IN" sz="1500">
                          <a:effectLst/>
                        </a:rPr>
                        <a:t>Data Dictionary</a:t>
                      </a:r>
                    </a:p>
                  </a:txBody>
                  <a:tcPr marL="49132" marR="49132" marT="49132" marB="49132" anchor="ctr"/>
                </a:tc>
                <a:tc>
                  <a:txBody>
                    <a:bodyPr/>
                    <a:lstStyle/>
                    <a:p>
                      <a:pPr algn="l">
                        <a:buNone/>
                      </a:pPr>
                      <a:r>
                        <a:rPr lang="en-US" sz="1500">
                          <a:effectLst/>
                        </a:rPr>
                        <a:t>Defines all data elements for consistency</a:t>
                      </a:r>
                    </a:p>
                  </a:txBody>
                  <a:tcPr marL="49132" marR="49132" marT="49132" marB="49132" anchor="ctr"/>
                </a:tc>
                <a:extLst>
                  <a:ext uri="{0D108BD9-81ED-4DB2-BD59-A6C34878D82A}">
                    <a16:rowId xmlns:a16="http://schemas.microsoft.com/office/drawing/2014/main" val="1254165981"/>
                  </a:ext>
                </a:extLst>
              </a:tr>
              <a:tr h="540453">
                <a:tc>
                  <a:txBody>
                    <a:bodyPr/>
                    <a:lstStyle/>
                    <a:p>
                      <a:pPr algn="l">
                        <a:buNone/>
                      </a:pPr>
                      <a:r>
                        <a:rPr lang="en-IN" sz="1500">
                          <a:effectLst/>
                        </a:rPr>
                        <a:t>Entity-Relationship Diagram</a:t>
                      </a:r>
                    </a:p>
                  </a:txBody>
                  <a:tcPr marL="49132" marR="49132" marT="49132" marB="49132" anchor="ctr"/>
                </a:tc>
                <a:tc>
                  <a:txBody>
                    <a:bodyPr/>
                    <a:lstStyle/>
                    <a:p>
                      <a:pPr algn="l">
                        <a:buNone/>
                      </a:pPr>
                      <a:r>
                        <a:rPr lang="en-US" sz="1500">
                          <a:effectLst/>
                        </a:rPr>
                        <a:t>Models data entities and their relationships</a:t>
                      </a:r>
                    </a:p>
                  </a:txBody>
                  <a:tcPr marL="49132" marR="49132" marT="49132" marB="49132" anchor="ctr"/>
                </a:tc>
                <a:extLst>
                  <a:ext uri="{0D108BD9-81ED-4DB2-BD59-A6C34878D82A}">
                    <a16:rowId xmlns:a16="http://schemas.microsoft.com/office/drawing/2014/main" val="2550704261"/>
                  </a:ext>
                </a:extLst>
              </a:tr>
              <a:tr h="540453">
                <a:tc>
                  <a:txBody>
                    <a:bodyPr/>
                    <a:lstStyle/>
                    <a:p>
                      <a:pPr algn="l">
                        <a:buNone/>
                      </a:pPr>
                      <a:r>
                        <a:rPr lang="en-IN" sz="1500" dirty="0">
                          <a:effectLst/>
                        </a:rPr>
                        <a:t>Data Flow Diagram</a:t>
                      </a:r>
                    </a:p>
                  </a:txBody>
                  <a:tcPr marL="49132" marR="49132" marT="49132" marB="49132" anchor="ctr"/>
                </a:tc>
                <a:tc>
                  <a:txBody>
                    <a:bodyPr/>
                    <a:lstStyle/>
                    <a:p>
                      <a:pPr algn="l">
                        <a:buNone/>
                      </a:pPr>
                      <a:r>
                        <a:rPr lang="en-IN" sz="1500">
                          <a:effectLst/>
                        </a:rPr>
                        <a:t>Represents functional data transformations</a:t>
                      </a:r>
                    </a:p>
                  </a:txBody>
                  <a:tcPr marL="49132" marR="49132" marT="49132" marB="49132" anchor="ctr"/>
                </a:tc>
                <a:extLst>
                  <a:ext uri="{0D108BD9-81ED-4DB2-BD59-A6C34878D82A}">
                    <a16:rowId xmlns:a16="http://schemas.microsoft.com/office/drawing/2014/main" val="1250364931"/>
                  </a:ext>
                </a:extLst>
              </a:tr>
              <a:tr h="540453">
                <a:tc>
                  <a:txBody>
                    <a:bodyPr/>
                    <a:lstStyle/>
                    <a:p>
                      <a:pPr algn="l">
                        <a:buNone/>
                      </a:pPr>
                      <a:r>
                        <a:rPr lang="en-IN" sz="1500">
                          <a:effectLst/>
                        </a:rPr>
                        <a:t>State Transition Diagram</a:t>
                      </a:r>
                    </a:p>
                  </a:txBody>
                  <a:tcPr marL="49132" marR="49132" marT="49132" marB="49132" anchor="ctr"/>
                </a:tc>
                <a:tc>
                  <a:txBody>
                    <a:bodyPr/>
                    <a:lstStyle/>
                    <a:p>
                      <a:pPr algn="l">
                        <a:buNone/>
                      </a:pPr>
                      <a:r>
                        <a:rPr lang="en-IN" sz="1500" dirty="0">
                          <a:effectLst/>
                        </a:rPr>
                        <a:t>Models system states and event-driven behavior</a:t>
                      </a:r>
                    </a:p>
                  </a:txBody>
                  <a:tcPr marL="49132" marR="49132" marT="49132" marB="49132" anchor="ctr"/>
                </a:tc>
                <a:extLst>
                  <a:ext uri="{0D108BD9-81ED-4DB2-BD59-A6C34878D82A}">
                    <a16:rowId xmlns:a16="http://schemas.microsoft.com/office/drawing/2014/main" val="479570220"/>
                  </a:ext>
                </a:extLst>
              </a:tr>
              <a:tr h="319359">
                <a:tc>
                  <a:txBody>
                    <a:bodyPr/>
                    <a:lstStyle/>
                    <a:p>
                      <a:pPr algn="l">
                        <a:buNone/>
                      </a:pPr>
                      <a:r>
                        <a:rPr lang="en-IN" sz="1500">
                          <a:effectLst/>
                        </a:rPr>
                        <a:t>Process Specification</a:t>
                      </a:r>
                    </a:p>
                  </a:txBody>
                  <a:tcPr marL="49132" marR="49132" marT="49132" marB="49132" anchor="ctr"/>
                </a:tc>
                <a:tc>
                  <a:txBody>
                    <a:bodyPr/>
                    <a:lstStyle/>
                    <a:p>
                      <a:pPr algn="l">
                        <a:buNone/>
                      </a:pPr>
                      <a:r>
                        <a:rPr lang="en-US" sz="1500">
                          <a:effectLst/>
                        </a:rPr>
                        <a:t>Details individual processes and logic</a:t>
                      </a:r>
                    </a:p>
                  </a:txBody>
                  <a:tcPr marL="49132" marR="49132" marT="49132" marB="49132" anchor="ctr"/>
                </a:tc>
                <a:extLst>
                  <a:ext uri="{0D108BD9-81ED-4DB2-BD59-A6C34878D82A}">
                    <a16:rowId xmlns:a16="http://schemas.microsoft.com/office/drawing/2014/main" val="969101884"/>
                  </a:ext>
                </a:extLst>
              </a:tr>
              <a:tr h="540453">
                <a:tc>
                  <a:txBody>
                    <a:bodyPr/>
                    <a:lstStyle/>
                    <a:p>
                      <a:pPr algn="l">
                        <a:buNone/>
                      </a:pPr>
                      <a:r>
                        <a:rPr lang="en-IN" sz="1500">
                          <a:effectLst/>
                        </a:rPr>
                        <a:t>Control Specification</a:t>
                      </a:r>
                    </a:p>
                  </a:txBody>
                  <a:tcPr marL="49132" marR="49132" marT="49132" marB="49132" anchor="ctr"/>
                </a:tc>
                <a:tc>
                  <a:txBody>
                    <a:bodyPr/>
                    <a:lstStyle/>
                    <a:p>
                      <a:pPr algn="l">
                        <a:buNone/>
                      </a:pPr>
                      <a:r>
                        <a:rPr lang="en-US" sz="1500">
                          <a:effectLst/>
                        </a:rPr>
                        <a:t>Describes control flow and event handling</a:t>
                      </a:r>
                    </a:p>
                  </a:txBody>
                  <a:tcPr marL="49132" marR="49132" marT="49132" marB="49132" anchor="ctr"/>
                </a:tc>
                <a:extLst>
                  <a:ext uri="{0D108BD9-81ED-4DB2-BD59-A6C34878D82A}">
                    <a16:rowId xmlns:a16="http://schemas.microsoft.com/office/drawing/2014/main" val="3788674523"/>
                  </a:ext>
                </a:extLst>
              </a:tr>
              <a:tr h="540453">
                <a:tc>
                  <a:txBody>
                    <a:bodyPr/>
                    <a:lstStyle/>
                    <a:p>
                      <a:pPr algn="l">
                        <a:buNone/>
                      </a:pPr>
                      <a:r>
                        <a:rPr lang="en-IN" sz="1500">
                          <a:effectLst/>
                        </a:rPr>
                        <a:t>Data Object Description</a:t>
                      </a:r>
                    </a:p>
                  </a:txBody>
                  <a:tcPr marL="49132" marR="49132" marT="49132" marB="49132" anchor="ctr"/>
                </a:tc>
                <a:tc>
                  <a:txBody>
                    <a:bodyPr/>
                    <a:lstStyle/>
                    <a:p>
                      <a:pPr algn="l">
                        <a:buNone/>
                      </a:pPr>
                      <a:r>
                        <a:rPr lang="en-US" sz="1500" dirty="0">
                          <a:effectLst/>
                        </a:rPr>
                        <a:t>Provides detailed data element information</a:t>
                      </a:r>
                    </a:p>
                  </a:txBody>
                  <a:tcPr marL="49132" marR="49132" marT="49132" marB="49132" anchor="ctr"/>
                </a:tc>
                <a:extLst>
                  <a:ext uri="{0D108BD9-81ED-4DB2-BD59-A6C34878D82A}">
                    <a16:rowId xmlns:a16="http://schemas.microsoft.com/office/drawing/2014/main" val="1754859710"/>
                  </a:ext>
                </a:extLst>
              </a:tr>
            </a:tbl>
          </a:graphicData>
        </a:graphic>
      </p:graphicFrame>
    </p:spTree>
    <p:extLst>
      <p:ext uri="{BB962C8B-B14F-4D97-AF65-F5344CB8AC3E}">
        <p14:creationId xmlns:p14="http://schemas.microsoft.com/office/powerpoint/2010/main" val="31420982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23253-D506-AA80-71A9-69F9A614861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9F86A0D-BFFA-B472-72CC-33B77FADA446}"/>
              </a:ext>
            </a:extLst>
          </p:cNvPr>
          <p:cNvSpPr txBox="1"/>
          <p:nvPr/>
        </p:nvSpPr>
        <p:spPr>
          <a:xfrm>
            <a:off x="864705" y="0"/>
            <a:ext cx="8656982" cy="7017306"/>
          </a:xfrm>
          <a:prstGeom prst="rect">
            <a:avLst/>
          </a:prstGeom>
          <a:noFill/>
        </p:spPr>
        <p:txBody>
          <a:bodyPr wrap="square">
            <a:spAutoFit/>
          </a:bodyPr>
          <a:lstStyle/>
          <a:p>
            <a:r>
              <a:rPr lang="en-US" b="1" dirty="0"/>
              <a:t>5.3 Design Modelling: Fundamental Design Concept (Abstraction, Information hiding, Structure, Modularity, Concurrency, Verification, Aesthetics)</a:t>
            </a:r>
          </a:p>
          <a:p>
            <a:endParaRPr lang="en-US" b="1" dirty="0"/>
          </a:p>
          <a:p>
            <a:r>
              <a:rPr lang="en-IN" dirty="0"/>
              <a:t>Design Modelling: Fundamental Design Concepts</a:t>
            </a:r>
          </a:p>
          <a:p>
            <a:endParaRPr lang="en-IN" dirty="0"/>
          </a:p>
          <a:p>
            <a:r>
              <a:rPr lang="en-IN" dirty="0"/>
              <a:t>Software design involves transforming analysis models into a suitable abstraction that guides software construction. Several fundamental design concepts ensure the design is effective, maintainable, and adaptable.</a:t>
            </a:r>
          </a:p>
          <a:p>
            <a:endParaRPr lang="en-IN" b="1" dirty="0"/>
          </a:p>
          <a:p>
            <a:r>
              <a:rPr lang="en-US" b="1" dirty="0"/>
              <a:t>Key Fundamental Design Concepts</a:t>
            </a:r>
          </a:p>
          <a:p>
            <a:endParaRPr lang="en-US" dirty="0"/>
          </a:p>
          <a:p>
            <a:r>
              <a:rPr lang="en-US" b="1" dirty="0"/>
              <a:t>1. Abstraction</a:t>
            </a:r>
          </a:p>
          <a:p>
            <a:pPr marL="285750" indent="-285750">
              <a:buFont typeface="Arial" panose="020B0604020202020204" pitchFamily="34" charset="0"/>
              <a:buChar char="•"/>
            </a:pPr>
            <a:r>
              <a:rPr lang="en-US" dirty="0"/>
              <a:t>Simplifies complex reality by focusing on essential characteristics while ignoring irrelevant details.</a:t>
            </a:r>
          </a:p>
          <a:p>
            <a:pPr marL="285750" indent="-285750">
              <a:buFont typeface="Arial" panose="020B0604020202020204" pitchFamily="34" charset="0"/>
              <a:buChar char="•"/>
            </a:pPr>
            <a:r>
              <a:rPr lang="en-US" dirty="0"/>
              <a:t>Helps manage complexity by reducing information to relevant aspects for a particular purpose.</a:t>
            </a:r>
          </a:p>
          <a:p>
            <a:pPr marL="285750" indent="-285750">
              <a:buFont typeface="Arial" panose="020B0604020202020204" pitchFamily="34" charset="0"/>
              <a:buChar char="•"/>
            </a:pPr>
            <a:r>
              <a:rPr lang="en-US" dirty="0"/>
              <a:t>Enables working with high-level concepts without delving into implementation specifics.</a:t>
            </a:r>
          </a:p>
          <a:p>
            <a:endParaRPr lang="en-US" dirty="0"/>
          </a:p>
          <a:p>
            <a:r>
              <a:rPr lang="en-US" b="1" dirty="0"/>
              <a:t>2. Information Hiding</a:t>
            </a:r>
          </a:p>
          <a:p>
            <a:pPr marL="285750" indent="-285750">
              <a:buFont typeface="Arial" panose="020B0604020202020204" pitchFamily="34" charset="0"/>
              <a:buChar char="•"/>
            </a:pPr>
            <a:r>
              <a:rPr lang="en-US" dirty="0"/>
              <a:t>Conceals internal module details and exposes only necessary interfaces.</a:t>
            </a:r>
          </a:p>
          <a:p>
            <a:pPr marL="285750" indent="-285750">
              <a:buFont typeface="Arial" panose="020B0604020202020204" pitchFamily="34" charset="0"/>
              <a:buChar char="•"/>
            </a:pPr>
            <a:r>
              <a:rPr lang="en-US" dirty="0"/>
              <a:t>Protects modules from unintended interference and reduces system complexity.</a:t>
            </a:r>
          </a:p>
          <a:p>
            <a:pPr marL="285750" indent="-285750">
              <a:buFont typeface="Arial" panose="020B0604020202020204" pitchFamily="34" charset="0"/>
              <a:buChar char="•"/>
            </a:pPr>
            <a:r>
              <a:rPr lang="en-US" dirty="0"/>
              <a:t>Enhances modularity and maintainability by minimizing inter-module dependencies.</a:t>
            </a:r>
          </a:p>
        </p:txBody>
      </p:sp>
    </p:spTree>
    <p:extLst>
      <p:ext uri="{BB962C8B-B14F-4D97-AF65-F5344CB8AC3E}">
        <p14:creationId xmlns:p14="http://schemas.microsoft.com/office/powerpoint/2010/main" val="2697373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B22F4-8D19-A5A5-02ED-353A7034CBB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F928811-D712-2F53-48C3-6C667C2A5E87}"/>
              </a:ext>
            </a:extLst>
          </p:cNvPr>
          <p:cNvSpPr txBox="1"/>
          <p:nvPr/>
        </p:nvSpPr>
        <p:spPr>
          <a:xfrm>
            <a:off x="834887" y="196049"/>
            <a:ext cx="8547652" cy="6463308"/>
          </a:xfrm>
          <a:prstGeom prst="rect">
            <a:avLst/>
          </a:prstGeom>
          <a:noFill/>
        </p:spPr>
        <p:txBody>
          <a:bodyPr wrap="square">
            <a:spAutoFit/>
          </a:bodyPr>
          <a:lstStyle/>
          <a:p>
            <a:pPr algn="l">
              <a:buNone/>
            </a:pPr>
            <a:r>
              <a:rPr lang="en-US" b="1" i="0" dirty="0">
                <a:effectLst/>
                <a:latin typeface="fkGrotesk"/>
              </a:rPr>
              <a:t>3</a:t>
            </a:r>
            <a:r>
              <a:rPr lang="en-US" b="0" i="0" dirty="0">
                <a:effectLst/>
                <a:latin typeface="fkGrotesk"/>
              </a:rPr>
              <a:t>. </a:t>
            </a:r>
            <a:r>
              <a:rPr lang="en-US" b="1" i="0" dirty="0">
                <a:effectLst/>
                <a:latin typeface="fkGrotesk"/>
              </a:rPr>
              <a:t>Structure</a:t>
            </a:r>
          </a:p>
          <a:p>
            <a:pPr algn="l">
              <a:buFont typeface="Arial" panose="020B0604020202020204" pitchFamily="34" charset="0"/>
              <a:buChar char="•"/>
            </a:pPr>
            <a:r>
              <a:rPr lang="en-US" b="0" i="0" dirty="0">
                <a:effectLst/>
                <a:latin typeface="fkGroteskNeue"/>
              </a:rPr>
              <a:t>Refers to the organization of software elements to form a coherent whole.</a:t>
            </a:r>
          </a:p>
          <a:p>
            <a:pPr algn="l">
              <a:buFont typeface="Arial" panose="020B0604020202020204" pitchFamily="34" charset="0"/>
              <a:buChar char="•"/>
            </a:pPr>
            <a:r>
              <a:rPr lang="en-US" b="0" i="0" dirty="0">
                <a:effectLst/>
                <a:latin typeface="fkGroteskNeue"/>
              </a:rPr>
              <a:t>Defines relationships among modules, data structures, and components.</a:t>
            </a:r>
          </a:p>
          <a:p>
            <a:pPr algn="l">
              <a:buFont typeface="Arial" panose="020B0604020202020204" pitchFamily="34" charset="0"/>
              <a:buChar char="•"/>
            </a:pPr>
            <a:r>
              <a:rPr lang="en-US" b="0" i="0" dirty="0">
                <a:effectLst/>
                <a:latin typeface="fkGroteskNeue"/>
              </a:rPr>
              <a:t>Structured software is easier to understand, update, and verify.</a:t>
            </a:r>
          </a:p>
          <a:p>
            <a:pPr algn="l"/>
            <a:endParaRPr lang="en-US" b="0" i="0" dirty="0">
              <a:effectLst/>
              <a:latin typeface="fkGroteskNeue"/>
            </a:endParaRPr>
          </a:p>
          <a:p>
            <a:pPr algn="l">
              <a:buNone/>
            </a:pPr>
            <a:r>
              <a:rPr lang="en-US" b="1" i="0" dirty="0">
                <a:effectLst/>
                <a:latin typeface="fkGrotesk"/>
              </a:rPr>
              <a:t>4. Modularity</a:t>
            </a:r>
          </a:p>
          <a:p>
            <a:pPr algn="l">
              <a:buFont typeface="Arial" panose="020B0604020202020204" pitchFamily="34" charset="0"/>
              <a:buChar char="•"/>
            </a:pPr>
            <a:r>
              <a:rPr lang="en-US" b="0" i="0" dirty="0">
                <a:effectLst/>
                <a:latin typeface="fkGroteskNeue"/>
              </a:rPr>
              <a:t>Divides the system into discrete components or modules, each with a well-defined functionality.</a:t>
            </a:r>
          </a:p>
          <a:p>
            <a:pPr algn="l">
              <a:buFont typeface="Arial" panose="020B0604020202020204" pitchFamily="34" charset="0"/>
              <a:buChar char="•"/>
            </a:pPr>
            <a:r>
              <a:rPr lang="en-US" b="0" i="0" dirty="0">
                <a:effectLst/>
                <a:latin typeface="fkGroteskNeue"/>
              </a:rPr>
              <a:t>Facilitates independent development, testing, and maintenance.</a:t>
            </a:r>
          </a:p>
          <a:p>
            <a:pPr algn="l">
              <a:buFont typeface="Arial" panose="020B0604020202020204" pitchFamily="34" charset="0"/>
              <a:buChar char="•"/>
            </a:pPr>
            <a:r>
              <a:rPr lang="en-US" b="0" i="0" dirty="0">
                <a:effectLst/>
                <a:latin typeface="fkGroteskNeue"/>
              </a:rPr>
              <a:t>Promotes reuse and scalability by encapsulating specific behaviors.</a:t>
            </a:r>
          </a:p>
          <a:p>
            <a:pPr algn="l"/>
            <a:endParaRPr lang="en-US" b="0" i="0" dirty="0">
              <a:effectLst/>
              <a:latin typeface="fkGroteskNeue"/>
            </a:endParaRPr>
          </a:p>
          <a:p>
            <a:pPr algn="l">
              <a:buNone/>
            </a:pPr>
            <a:r>
              <a:rPr lang="en-US" b="1" i="0" dirty="0">
                <a:effectLst/>
                <a:latin typeface="fkGrotesk"/>
              </a:rPr>
              <a:t>5. Concurrency</a:t>
            </a:r>
          </a:p>
          <a:p>
            <a:pPr algn="l">
              <a:buFont typeface="Arial" panose="020B0604020202020204" pitchFamily="34" charset="0"/>
              <a:buChar char="•"/>
            </a:pPr>
            <a:r>
              <a:rPr lang="en-US" b="0" i="0" dirty="0">
                <a:effectLst/>
                <a:latin typeface="fkGroteskNeue"/>
              </a:rPr>
              <a:t>Deals with designing software to perform multiple tasks simultaneously.</a:t>
            </a:r>
          </a:p>
          <a:p>
            <a:pPr algn="l">
              <a:buFont typeface="Arial" panose="020B0604020202020204" pitchFamily="34" charset="0"/>
              <a:buChar char="•"/>
            </a:pPr>
            <a:r>
              <a:rPr lang="en-US" b="0" i="0" dirty="0">
                <a:effectLst/>
                <a:latin typeface="fkGroteskNeue"/>
              </a:rPr>
              <a:t>Requires handling synchronization, communication, and mutual exclusion among concurrent processes.</a:t>
            </a:r>
          </a:p>
          <a:p>
            <a:pPr algn="l">
              <a:buFont typeface="Arial" panose="020B0604020202020204" pitchFamily="34" charset="0"/>
              <a:buChar char="•"/>
            </a:pPr>
            <a:r>
              <a:rPr lang="en-US" b="0" i="0" dirty="0">
                <a:effectLst/>
                <a:latin typeface="fkGroteskNeue"/>
              </a:rPr>
              <a:t>Essential for systems requiring parallel processing and responsive user interactions.</a:t>
            </a:r>
          </a:p>
          <a:p>
            <a:pPr algn="l"/>
            <a:endParaRPr lang="en-US" b="0" i="0" dirty="0">
              <a:effectLst/>
              <a:latin typeface="fkGroteskNeue"/>
            </a:endParaRPr>
          </a:p>
          <a:p>
            <a:r>
              <a:rPr lang="en-US" b="1" dirty="0"/>
              <a:t>6. Verification</a:t>
            </a:r>
          </a:p>
          <a:p>
            <a:pPr marL="285750" indent="-285750">
              <a:buFont typeface="Arial" panose="020B0604020202020204" pitchFamily="34" charset="0"/>
              <a:buChar char="•"/>
            </a:pPr>
            <a:r>
              <a:rPr lang="en-US" dirty="0"/>
              <a:t>Ensures the design satisfies requirements and is free from logical errors.</a:t>
            </a:r>
          </a:p>
          <a:p>
            <a:pPr marL="285750" indent="-285750">
              <a:buFont typeface="Arial" panose="020B0604020202020204" pitchFamily="34" charset="0"/>
              <a:buChar char="•"/>
            </a:pPr>
            <a:r>
              <a:rPr lang="en-US" dirty="0"/>
              <a:t>Involves reviews, inspections, and formal analyses to detect faults early.</a:t>
            </a:r>
          </a:p>
          <a:p>
            <a:pPr marL="285750" indent="-285750">
              <a:buFont typeface="Arial" panose="020B0604020202020204" pitchFamily="34" charset="0"/>
              <a:buChar char="•"/>
            </a:pPr>
            <a:r>
              <a:rPr lang="en-US" dirty="0"/>
              <a:t>Helps maintain correctness and reliability of the system before implementation.</a:t>
            </a:r>
          </a:p>
          <a:p>
            <a:pPr algn="l"/>
            <a:endParaRPr lang="en-US" b="0" i="0" dirty="0">
              <a:effectLst/>
              <a:latin typeface="fkGroteskNeue"/>
            </a:endParaRPr>
          </a:p>
        </p:txBody>
      </p:sp>
    </p:spTree>
    <p:extLst>
      <p:ext uri="{BB962C8B-B14F-4D97-AF65-F5344CB8AC3E}">
        <p14:creationId xmlns:p14="http://schemas.microsoft.com/office/powerpoint/2010/main" val="7386210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C9E9C-C849-15FF-1C1F-18D6B894AC0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2C23943-8D3B-A726-E079-1A02DC01AFD9}"/>
              </a:ext>
            </a:extLst>
          </p:cNvPr>
          <p:cNvSpPr txBox="1"/>
          <p:nvPr/>
        </p:nvSpPr>
        <p:spPr>
          <a:xfrm>
            <a:off x="785191" y="128635"/>
            <a:ext cx="8537713" cy="2585323"/>
          </a:xfrm>
          <a:prstGeom prst="rect">
            <a:avLst/>
          </a:prstGeom>
          <a:noFill/>
        </p:spPr>
        <p:txBody>
          <a:bodyPr wrap="square">
            <a:spAutoFit/>
          </a:bodyPr>
          <a:lstStyle/>
          <a:p>
            <a:r>
              <a:rPr lang="en-US" b="1" dirty="0"/>
              <a:t>7. Aesthetics</a:t>
            </a:r>
          </a:p>
          <a:p>
            <a:pPr marL="285750" indent="-285750">
              <a:buFont typeface="Arial" panose="020B0604020202020204" pitchFamily="34" charset="0"/>
              <a:buChar char="•"/>
            </a:pPr>
            <a:r>
              <a:rPr lang="en-US" dirty="0"/>
              <a:t>Concerns the clarity, simplicity, and elegance of the design.</a:t>
            </a:r>
          </a:p>
          <a:p>
            <a:pPr marL="285750" indent="-285750">
              <a:buFont typeface="Arial" panose="020B0604020202020204" pitchFamily="34" charset="0"/>
              <a:buChar char="•"/>
            </a:pPr>
            <a:r>
              <a:rPr lang="en-US" dirty="0"/>
              <a:t>Well-designed systems are intuitive and easy to understand, leading to better maintenance and fewer errors.</a:t>
            </a:r>
          </a:p>
          <a:p>
            <a:pPr marL="285750" indent="-285750">
              <a:buFont typeface="Arial" panose="020B0604020202020204" pitchFamily="34" charset="0"/>
              <a:buChar char="•"/>
            </a:pPr>
            <a:r>
              <a:rPr lang="en-US" dirty="0"/>
              <a:t>Good aesthetics in design improve communication among developers and stakeholders and contribute to overall software quality.</a:t>
            </a:r>
          </a:p>
          <a:p>
            <a:pPr marL="285750" indent="-285750">
              <a:buFont typeface="Arial" panose="020B0604020202020204" pitchFamily="34" charset="0"/>
              <a:buChar char="•"/>
            </a:pPr>
            <a:endParaRPr lang="en-US" dirty="0"/>
          </a:p>
          <a:p>
            <a:r>
              <a:rPr lang="en-IN" b="1" dirty="0"/>
              <a:t>Summary</a:t>
            </a:r>
          </a:p>
          <a:p>
            <a:endParaRPr lang="en-US" dirty="0"/>
          </a:p>
        </p:txBody>
      </p:sp>
      <p:graphicFrame>
        <p:nvGraphicFramePr>
          <p:cNvPr id="4" name="Table 3">
            <a:extLst>
              <a:ext uri="{FF2B5EF4-FFF2-40B4-BE49-F238E27FC236}">
                <a16:creationId xmlns:a16="http://schemas.microsoft.com/office/drawing/2014/main" id="{7F027497-0C88-01BF-44C0-3666A6482430}"/>
              </a:ext>
            </a:extLst>
          </p:cNvPr>
          <p:cNvGraphicFramePr>
            <a:graphicFrameLocks noGrp="1"/>
          </p:cNvGraphicFramePr>
          <p:nvPr>
            <p:extLst>
              <p:ext uri="{D42A27DB-BD31-4B8C-83A1-F6EECF244321}">
                <p14:modId xmlns:p14="http://schemas.microsoft.com/office/powerpoint/2010/main" val="1480906232"/>
              </p:ext>
            </p:extLst>
          </p:nvPr>
        </p:nvGraphicFramePr>
        <p:xfrm>
          <a:off x="914399" y="2465590"/>
          <a:ext cx="7716810" cy="3885617"/>
        </p:xfrm>
        <a:graphic>
          <a:graphicData uri="http://schemas.openxmlformats.org/drawingml/2006/table">
            <a:tbl>
              <a:tblPr>
                <a:tableStyleId>{5940675A-B579-460E-94D1-54222C63F5DA}</a:tableStyleId>
              </a:tblPr>
              <a:tblGrid>
                <a:gridCol w="2017644">
                  <a:extLst>
                    <a:ext uri="{9D8B030D-6E8A-4147-A177-3AD203B41FA5}">
                      <a16:colId xmlns:a16="http://schemas.microsoft.com/office/drawing/2014/main" val="416971736"/>
                    </a:ext>
                  </a:extLst>
                </a:gridCol>
                <a:gridCol w="5699166">
                  <a:extLst>
                    <a:ext uri="{9D8B030D-6E8A-4147-A177-3AD203B41FA5}">
                      <a16:colId xmlns:a16="http://schemas.microsoft.com/office/drawing/2014/main" val="1068377174"/>
                    </a:ext>
                  </a:extLst>
                </a:gridCol>
              </a:tblGrid>
              <a:tr h="302148">
                <a:tc>
                  <a:txBody>
                    <a:bodyPr/>
                    <a:lstStyle/>
                    <a:p>
                      <a:pPr algn="ctr">
                        <a:buNone/>
                      </a:pPr>
                      <a:r>
                        <a:rPr lang="en-IN" sz="1400" b="1">
                          <a:effectLst/>
                        </a:rPr>
                        <a:t>Concept</a:t>
                      </a:r>
                    </a:p>
                  </a:txBody>
                  <a:tcPr marL="46484" marR="46484" marT="46484" marB="46484" anchor="ctr"/>
                </a:tc>
                <a:tc>
                  <a:txBody>
                    <a:bodyPr/>
                    <a:lstStyle/>
                    <a:p>
                      <a:pPr algn="ctr">
                        <a:buNone/>
                      </a:pPr>
                      <a:r>
                        <a:rPr lang="en-IN" sz="1400" b="1" dirty="0">
                          <a:effectLst/>
                        </a:rPr>
                        <a:t>Meaning</a:t>
                      </a:r>
                    </a:p>
                  </a:txBody>
                  <a:tcPr marL="46484" marR="46484" marT="46484" marB="46484" anchor="ctr"/>
                </a:tc>
                <a:extLst>
                  <a:ext uri="{0D108BD9-81ED-4DB2-BD59-A6C34878D82A}">
                    <a16:rowId xmlns:a16="http://schemas.microsoft.com/office/drawing/2014/main" val="2609565040"/>
                  </a:ext>
                </a:extLst>
              </a:tr>
              <a:tr h="511327">
                <a:tc>
                  <a:txBody>
                    <a:bodyPr/>
                    <a:lstStyle/>
                    <a:p>
                      <a:pPr algn="l">
                        <a:buNone/>
                      </a:pPr>
                      <a:r>
                        <a:rPr lang="en-IN" sz="1400">
                          <a:effectLst/>
                        </a:rPr>
                        <a:t>Abstraction</a:t>
                      </a:r>
                    </a:p>
                  </a:txBody>
                  <a:tcPr marL="46484" marR="46484" marT="46484" marB="46484" anchor="ctr"/>
                </a:tc>
                <a:tc>
                  <a:txBody>
                    <a:bodyPr/>
                    <a:lstStyle/>
                    <a:p>
                      <a:pPr algn="l">
                        <a:buNone/>
                      </a:pPr>
                      <a:r>
                        <a:rPr lang="en-US" sz="1400">
                          <a:effectLst/>
                        </a:rPr>
                        <a:t>Focus on essential features, hide irrelevant details</a:t>
                      </a:r>
                    </a:p>
                  </a:txBody>
                  <a:tcPr marL="46484" marR="46484" marT="46484" marB="46484" anchor="ctr"/>
                </a:tc>
                <a:extLst>
                  <a:ext uri="{0D108BD9-81ED-4DB2-BD59-A6C34878D82A}">
                    <a16:rowId xmlns:a16="http://schemas.microsoft.com/office/drawing/2014/main" val="1708499480"/>
                  </a:ext>
                </a:extLst>
              </a:tr>
              <a:tr h="511327">
                <a:tc>
                  <a:txBody>
                    <a:bodyPr/>
                    <a:lstStyle/>
                    <a:p>
                      <a:pPr algn="l">
                        <a:buNone/>
                      </a:pPr>
                      <a:r>
                        <a:rPr lang="en-IN" sz="1400">
                          <a:effectLst/>
                        </a:rPr>
                        <a:t>Information Hiding</a:t>
                      </a:r>
                    </a:p>
                  </a:txBody>
                  <a:tcPr marL="46484" marR="46484" marT="46484" marB="46484" anchor="ctr"/>
                </a:tc>
                <a:tc>
                  <a:txBody>
                    <a:bodyPr/>
                    <a:lstStyle/>
                    <a:p>
                      <a:pPr algn="l">
                        <a:buNone/>
                      </a:pPr>
                      <a:r>
                        <a:rPr lang="en-US" sz="1400">
                          <a:effectLst/>
                        </a:rPr>
                        <a:t>Hide module internals, show only necessary interfaces</a:t>
                      </a:r>
                    </a:p>
                  </a:txBody>
                  <a:tcPr marL="46484" marR="46484" marT="46484" marB="46484" anchor="ctr"/>
                </a:tc>
                <a:extLst>
                  <a:ext uri="{0D108BD9-81ED-4DB2-BD59-A6C34878D82A}">
                    <a16:rowId xmlns:a16="http://schemas.microsoft.com/office/drawing/2014/main" val="769577539"/>
                  </a:ext>
                </a:extLst>
              </a:tr>
              <a:tr h="511327">
                <a:tc>
                  <a:txBody>
                    <a:bodyPr/>
                    <a:lstStyle/>
                    <a:p>
                      <a:pPr algn="l">
                        <a:buNone/>
                      </a:pPr>
                      <a:r>
                        <a:rPr lang="en-IN" sz="1400" dirty="0">
                          <a:effectLst/>
                        </a:rPr>
                        <a:t>Structure</a:t>
                      </a:r>
                    </a:p>
                  </a:txBody>
                  <a:tcPr marL="46484" marR="46484" marT="46484" marB="46484" anchor="ctr"/>
                </a:tc>
                <a:tc>
                  <a:txBody>
                    <a:bodyPr/>
                    <a:lstStyle/>
                    <a:p>
                      <a:pPr algn="l">
                        <a:buNone/>
                      </a:pPr>
                      <a:r>
                        <a:rPr lang="en-US" sz="1400">
                          <a:effectLst/>
                        </a:rPr>
                        <a:t>Organize components and their relationships</a:t>
                      </a:r>
                    </a:p>
                  </a:txBody>
                  <a:tcPr marL="46484" marR="46484" marT="46484" marB="46484" anchor="ctr"/>
                </a:tc>
                <a:extLst>
                  <a:ext uri="{0D108BD9-81ED-4DB2-BD59-A6C34878D82A}">
                    <a16:rowId xmlns:a16="http://schemas.microsoft.com/office/drawing/2014/main" val="2298474515"/>
                  </a:ext>
                </a:extLst>
              </a:tr>
              <a:tr h="511327">
                <a:tc>
                  <a:txBody>
                    <a:bodyPr/>
                    <a:lstStyle/>
                    <a:p>
                      <a:pPr algn="l">
                        <a:buNone/>
                      </a:pPr>
                      <a:r>
                        <a:rPr lang="en-IN" sz="1400">
                          <a:effectLst/>
                        </a:rPr>
                        <a:t>Modularity</a:t>
                      </a:r>
                    </a:p>
                  </a:txBody>
                  <a:tcPr marL="46484" marR="46484" marT="46484" marB="46484" anchor="ctr"/>
                </a:tc>
                <a:tc>
                  <a:txBody>
                    <a:bodyPr/>
                    <a:lstStyle/>
                    <a:p>
                      <a:pPr algn="l">
                        <a:buNone/>
                      </a:pPr>
                      <a:r>
                        <a:rPr lang="en-US" sz="1400">
                          <a:effectLst/>
                        </a:rPr>
                        <a:t>Decompose system into manageable, independent modules</a:t>
                      </a:r>
                    </a:p>
                  </a:txBody>
                  <a:tcPr marL="46484" marR="46484" marT="46484" marB="46484" anchor="ctr"/>
                </a:tc>
                <a:extLst>
                  <a:ext uri="{0D108BD9-81ED-4DB2-BD59-A6C34878D82A}">
                    <a16:rowId xmlns:a16="http://schemas.microsoft.com/office/drawing/2014/main" val="3074908108"/>
                  </a:ext>
                </a:extLst>
              </a:tr>
              <a:tr h="511327">
                <a:tc>
                  <a:txBody>
                    <a:bodyPr/>
                    <a:lstStyle/>
                    <a:p>
                      <a:pPr algn="l">
                        <a:buNone/>
                      </a:pPr>
                      <a:r>
                        <a:rPr lang="en-IN" sz="1400">
                          <a:effectLst/>
                        </a:rPr>
                        <a:t>Concurrency</a:t>
                      </a:r>
                    </a:p>
                  </a:txBody>
                  <a:tcPr marL="46484" marR="46484" marT="46484" marB="46484" anchor="ctr"/>
                </a:tc>
                <a:tc>
                  <a:txBody>
                    <a:bodyPr/>
                    <a:lstStyle/>
                    <a:p>
                      <a:pPr algn="l">
                        <a:buNone/>
                      </a:pPr>
                      <a:r>
                        <a:rPr lang="en-US" sz="1400">
                          <a:effectLst/>
                        </a:rPr>
                        <a:t>Design for parallelism and synchronized execution</a:t>
                      </a:r>
                    </a:p>
                  </a:txBody>
                  <a:tcPr marL="46484" marR="46484" marT="46484" marB="46484" anchor="ctr"/>
                </a:tc>
                <a:extLst>
                  <a:ext uri="{0D108BD9-81ED-4DB2-BD59-A6C34878D82A}">
                    <a16:rowId xmlns:a16="http://schemas.microsoft.com/office/drawing/2014/main" val="1964785980"/>
                  </a:ext>
                </a:extLst>
              </a:tr>
              <a:tr h="511327">
                <a:tc>
                  <a:txBody>
                    <a:bodyPr/>
                    <a:lstStyle/>
                    <a:p>
                      <a:pPr algn="l">
                        <a:buNone/>
                      </a:pPr>
                      <a:r>
                        <a:rPr lang="en-IN" sz="1400">
                          <a:effectLst/>
                        </a:rPr>
                        <a:t>Verification</a:t>
                      </a:r>
                    </a:p>
                  </a:txBody>
                  <a:tcPr marL="46484" marR="46484" marT="46484" marB="46484" anchor="ctr"/>
                </a:tc>
                <a:tc>
                  <a:txBody>
                    <a:bodyPr/>
                    <a:lstStyle/>
                    <a:p>
                      <a:pPr algn="l">
                        <a:buNone/>
                      </a:pPr>
                      <a:r>
                        <a:rPr lang="en-US" sz="1400">
                          <a:effectLst/>
                        </a:rPr>
                        <a:t>Check design correctness and compliance with requirements</a:t>
                      </a:r>
                    </a:p>
                  </a:txBody>
                  <a:tcPr marL="46484" marR="46484" marT="46484" marB="46484" anchor="ctr"/>
                </a:tc>
                <a:extLst>
                  <a:ext uri="{0D108BD9-81ED-4DB2-BD59-A6C34878D82A}">
                    <a16:rowId xmlns:a16="http://schemas.microsoft.com/office/drawing/2014/main" val="649817003"/>
                  </a:ext>
                </a:extLst>
              </a:tr>
              <a:tr h="511327">
                <a:tc>
                  <a:txBody>
                    <a:bodyPr/>
                    <a:lstStyle/>
                    <a:p>
                      <a:pPr algn="l">
                        <a:buNone/>
                      </a:pPr>
                      <a:r>
                        <a:rPr lang="en-IN" sz="1400">
                          <a:effectLst/>
                        </a:rPr>
                        <a:t>Aesthetics</a:t>
                      </a:r>
                    </a:p>
                  </a:txBody>
                  <a:tcPr marL="46484" marR="46484" marT="46484" marB="46484" anchor="ctr"/>
                </a:tc>
                <a:tc>
                  <a:txBody>
                    <a:bodyPr/>
                    <a:lstStyle/>
                    <a:p>
                      <a:pPr algn="l">
                        <a:buNone/>
                      </a:pPr>
                      <a:r>
                        <a:rPr lang="en-US" sz="1400" dirty="0">
                          <a:effectLst/>
                        </a:rPr>
                        <a:t>Simple, clear, and elegant design for understandability</a:t>
                      </a:r>
                    </a:p>
                  </a:txBody>
                  <a:tcPr marL="46484" marR="46484" marT="46484" marB="46484" anchor="ctr"/>
                </a:tc>
                <a:extLst>
                  <a:ext uri="{0D108BD9-81ED-4DB2-BD59-A6C34878D82A}">
                    <a16:rowId xmlns:a16="http://schemas.microsoft.com/office/drawing/2014/main" val="1052777934"/>
                  </a:ext>
                </a:extLst>
              </a:tr>
            </a:tbl>
          </a:graphicData>
        </a:graphic>
      </p:graphicFrame>
    </p:spTree>
    <p:extLst>
      <p:ext uri="{BB962C8B-B14F-4D97-AF65-F5344CB8AC3E}">
        <p14:creationId xmlns:p14="http://schemas.microsoft.com/office/powerpoint/2010/main" val="16819067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E63E3-DA3C-19C5-A143-B2F83179072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693F432-6DFF-41D7-6039-A3BC34101BCE}"/>
              </a:ext>
            </a:extLst>
          </p:cNvPr>
          <p:cNvSpPr txBox="1"/>
          <p:nvPr/>
        </p:nvSpPr>
        <p:spPr>
          <a:xfrm>
            <a:off x="874645" y="203609"/>
            <a:ext cx="8696740" cy="6186309"/>
          </a:xfrm>
          <a:prstGeom prst="rect">
            <a:avLst/>
          </a:prstGeom>
          <a:noFill/>
        </p:spPr>
        <p:txBody>
          <a:bodyPr wrap="square">
            <a:spAutoFit/>
          </a:bodyPr>
          <a:lstStyle/>
          <a:p>
            <a:r>
              <a:rPr lang="en-US" b="1" dirty="0"/>
              <a:t>5.4 Design Notations: Data Flow Diagram (DFD), Structured Flowcharts and Decision Tables </a:t>
            </a:r>
          </a:p>
          <a:p>
            <a:endParaRPr lang="en-US" dirty="0"/>
          </a:p>
          <a:p>
            <a:r>
              <a:rPr lang="en-US" dirty="0"/>
              <a:t>Design Notations: Data Flow Diagram (DFD), Structured Flowcharts, and Decision Tables</a:t>
            </a:r>
          </a:p>
          <a:p>
            <a:endParaRPr lang="en-US" dirty="0"/>
          </a:p>
          <a:p>
            <a:r>
              <a:rPr lang="en-US" b="1" dirty="0"/>
              <a:t>1. Data Flow Diagram (DFD)</a:t>
            </a:r>
          </a:p>
          <a:p>
            <a:pPr marL="285750" indent="-285750">
              <a:buFont typeface="Arial" panose="020B0604020202020204" pitchFamily="34" charset="0"/>
              <a:buChar char="•"/>
            </a:pPr>
            <a:r>
              <a:rPr lang="en-US" dirty="0"/>
              <a:t>Definition: A graphical tool to represent the flow of data within a system or process.</a:t>
            </a:r>
          </a:p>
          <a:p>
            <a:pPr marL="285750" indent="-285750">
              <a:buFont typeface="Arial" panose="020B0604020202020204" pitchFamily="34" charset="0"/>
              <a:buChar char="•"/>
            </a:pPr>
            <a:r>
              <a:rPr lang="en-US" dirty="0"/>
              <a:t>Purpose: Visualizes how data moves from input to processing and output stages, helping analyze system functions and data dependencies.</a:t>
            </a:r>
          </a:p>
          <a:p>
            <a:endParaRPr lang="en-US" dirty="0"/>
          </a:p>
          <a:p>
            <a:pPr marL="285750" indent="-285750">
              <a:buFont typeface="Arial" panose="020B0604020202020204" pitchFamily="34" charset="0"/>
              <a:buChar char="•"/>
            </a:pPr>
            <a:r>
              <a:rPr lang="en-US" b="1" dirty="0"/>
              <a:t>Components</a:t>
            </a:r>
            <a:r>
              <a:rPr lang="en-US" dirty="0"/>
              <a:t>:</a:t>
            </a:r>
          </a:p>
          <a:p>
            <a:pPr marL="742950" lvl="1" indent="-285750">
              <a:buFont typeface="Arial" panose="020B0604020202020204" pitchFamily="34" charset="0"/>
              <a:buChar char="•"/>
            </a:pPr>
            <a:r>
              <a:rPr lang="en-US" dirty="0"/>
              <a:t>Process: Transforms input data into output (symbol: circle or rounded rectangle).</a:t>
            </a:r>
          </a:p>
          <a:p>
            <a:pPr marL="742950" lvl="1" indent="-285750">
              <a:buFont typeface="Arial" panose="020B0604020202020204" pitchFamily="34" charset="0"/>
              <a:buChar char="•"/>
            </a:pPr>
            <a:r>
              <a:rPr lang="en-US" dirty="0"/>
              <a:t>Data Flow: Arrows showing movement of data between processes, data stores, or external entities.</a:t>
            </a:r>
          </a:p>
          <a:p>
            <a:pPr marL="742950" lvl="1" indent="-285750">
              <a:buFont typeface="Arial" panose="020B0604020202020204" pitchFamily="34" charset="0"/>
              <a:buChar char="•"/>
            </a:pPr>
            <a:r>
              <a:rPr lang="en-US" dirty="0"/>
              <a:t>Data Store: Storage locations for data (symbol: parallel lines or open rectangle).</a:t>
            </a:r>
          </a:p>
          <a:p>
            <a:pPr marL="742950" lvl="1" indent="-285750">
              <a:buFont typeface="Arial" panose="020B0604020202020204" pitchFamily="34" charset="0"/>
              <a:buChar char="•"/>
            </a:pPr>
            <a:r>
              <a:rPr lang="en-US" dirty="0"/>
              <a:t>External Entity: Sources or destinations outside the system (symbol: rectangle).</a:t>
            </a:r>
          </a:p>
          <a:p>
            <a:endParaRPr lang="en-IN" dirty="0"/>
          </a:p>
        </p:txBody>
      </p:sp>
    </p:spTree>
    <p:extLst>
      <p:ext uri="{BB962C8B-B14F-4D97-AF65-F5344CB8AC3E}">
        <p14:creationId xmlns:p14="http://schemas.microsoft.com/office/powerpoint/2010/main" val="136512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30B01-715D-B4BA-187D-1761E6775EF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E1314B7-C159-6E2A-C3BB-76108C283787}"/>
              </a:ext>
            </a:extLst>
          </p:cNvPr>
          <p:cNvSpPr txBox="1"/>
          <p:nvPr/>
        </p:nvSpPr>
        <p:spPr>
          <a:xfrm>
            <a:off x="785191" y="186973"/>
            <a:ext cx="8547652" cy="1754326"/>
          </a:xfrm>
          <a:prstGeom prst="rect">
            <a:avLst/>
          </a:prstGeom>
          <a:noFill/>
        </p:spPr>
        <p:txBody>
          <a:bodyPr wrap="square">
            <a:spAutoFit/>
          </a:bodyPr>
          <a:lstStyle/>
          <a:p>
            <a:pPr algn="l">
              <a:buFont typeface="Arial" panose="020B0604020202020204" pitchFamily="34" charset="0"/>
              <a:buChar char="•"/>
            </a:pPr>
            <a:r>
              <a:rPr lang="en-US" b="1" i="0" dirty="0">
                <a:effectLst/>
                <a:latin typeface="fkGroteskNeue"/>
              </a:rPr>
              <a:t>Levels</a:t>
            </a:r>
            <a:r>
              <a:rPr lang="en-US" b="0" i="0" dirty="0">
                <a:effectLst/>
                <a:latin typeface="fkGroteskNeue"/>
              </a:rPr>
              <a:t>:</a:t>
            </a:r>
          </a:p>
          <a:p>
            <a:pPr marL="742950" lvl="1" indent="-285750" algn="l">
              <a:buFont typeface="Arial" panose="020B0604020202020204" pitchFamily="34" charset="0"/>
              <a:buChar char="•"/>
            </a:pPr>
            <a:r>
              <a:rPr lang="en-US" b="0" i="0" dirty="0">
                <a:effectLst/>
                <a:latin typeface="fkGroteskNeue"/>
              </a:rPr>
              <a:t>Context Diagram (Level 0): Overview of entire system with external interactions.</a:t>
            </a:r>
          </a:p>
          <a:p>
            <a:pPr marL="742950" lvl="1" indent="-285750" algn="l">
              <a:buFont typeface="Arial" panose="020B0604020202020204" pitchFamily="34" charset="0"/>
              <a:buChar char="•"/>
            </a:pPr>
            <a:r>
              <a:rPr lang="en-US" b="0" i="0" dirty="0">
                <a:effectLst/>
                <a:latin typeface="fkGroteskNeue"/>
              </a:rPr>
              <a:t>Level 1 &amp; 2 DFDs: Breakdown of processes to increasing detail.</a:t>
            </a:r>
          </a:p>
          <a:p>
            <a:pPr lvl="1" algn="l"/>
            <a:endParaRPr lang="en-US" b="0" i="0" dirty="0">
              <a:effectLst/>
              <a:latin typeface="fkGroteskNeue"/>
            </a:endParaRPr>
          </a:p>
          <a:p>
            <a:pPr algn="l">
              <a:buFont typeface="Arial" panose="020B0604020202020204" pitchFamily="34" charset="0"/>
              <a:buChar char="•"/>
            </a:pPr>
            <a:r>
              <a:rPr lang="en-US" b="1" i="0" dirty="0">
                <a:effectLst/>
                <a:latin typeface="fkGroteskNeue"/>
              </a:rPr>
              <a:t>Benefits</a:t>
            </a:r>
            <a:r>
              <a:rPr lang="en-US" b="0" i="0" dirty="0">
                <a:effectLst/>
                <a:latin typeface="fkGroteskNeue"/>
              </a:rPr>
              <a:t>: Provides clear visual representation, aids communication with stakeholders, abstracts technical details.</a:t>
            </a:r>
          </a:p>
        </p:txBody>
      </p:sp>
      <p:sp>
        <p:nvSpPr>
          <p:cNvPr id="5" name="TextBox 4">
            <a:extLst>
              <a:ext uri="{FF2B5EF4-FFF2-40B4-BE49-F238E27FC236}">
                <a16:creationId xmlns:a16="http://schemas.microsoft.com/office/drawing/2014/main" id="{E9FFA5BF-CE52-5643-B4DF-078CD9064C8F}"/>
              </a:ext>
            </a:extLst>
          </p:cNvPr>
          <p:cNvSpPr txBox="1"/>
          <p:nvPr/>
        </p:nvSpPr>
        <p:spPr>
          <a:xfrm>
            <a:off x="685800" y="2060067"/>
            <a:ext cx="8368748" cy="3416320"/>
          </a:xfrm>
          <a:prstGeom prst="rect">
            <a:avLst/>
          </a:prstGeom>
          <a:noFill/>
        </p:spPr>
        <p:txBody>
          <a:bodyPr wrap="square">
            <a:spAutoFit/>
          </a:bodyPr>
          <a:lstStyle/>
          <a:p>
            <a:pPr algn="l">
              <a:buNone/>
            </a:pPr>
            <a:r>
              <a:rPr lang="en-US" b="1" i="0" dirty="0">
                <a:effectLst/>
                <a:latin typeface="fkGrotesk"/>
              </a:rPr>
              <a:t>2. Structured Flowcharts</a:t>
            </a:r>
          </a:p>
          <a:p>
            <a:pPr algn="l">
              <a:buNone/>
            </a:pPr>
            <a:endParaRPr lang="en-US" b="0" i="0" dirty="0">
              <a:effectLst/>
              <a:latin typeface="fkGrotesk"/>
            </a:endParaRPr>
          </a:p>
          <a:p>
            <a:pPr algn="l">
              <a:buFont typeface="Arial" panose="020B0604020202020204" pitchFamily="34" charset="0"/>
              <a:buChar char="•"/>
            </a:pPr>
            <a:r>
              <a:rPr lang="en-US" b="1" i="0" dirty="0">
                <a:effectLst/>
                <a:latin typeface="fkGroteskNeue"/>
              </a:rPr>
              <a:t>Definition</a:t>
            </a:r>
            <a:r>
              <a:rPr lang="en-US" b="0" i="0" dirty="0">
                <a:effectLst/>
                <a:latin typeface="fkGroteskNeue"/>
              </a:rPr>
              <a:t>: Flowchart depicting the sequence of operations in a system or process.</a:t>
            </a:r>
          </a:p>
          <a:p>
            <a:pPr algn="l">
              <a:buFont typeface="Arial" panose="020B0604020202020204" pitchFamily="34" charset="0"/>
              <a:buChar char="•"/>
            </a:pPr>
            <a:r>
              <a:rPr lang="en-US" b="1" i="0" dirty="0">
                <a:effectLst/>
                <a:latin typeface="fkGroteskNeue"/>
              </a:rPr>
              <a:t>Purpose</a:t>
            </a:r>
            <a:r>
              <a:rPr lang="en-US" b="0" i="0" dirty="0">
                <a:effectLst/>
                <a:latin typeface="fkGroteskNeue"/>
              </a:rPr>
              <a:t>: Describes the logic flow, control flow, and data processing steps visually.</a:t>
            </a:r>
          </a:p>
          <a:p>
            <a:pPr algn="l">
              <a:buFont typeface="Arial" panose="020B0604020202020204" pitchFamily="34" charset="0"/>
              <a:buChar char="•"/>
            </a:pPr>
            <a:r>
              <a:rPr lang="en-US" b="1" i="0" dirty="0">
                <a:effectLst/>
                <a:latin typeface="fkGroteskNeue"/>
              </a:rPr>
              <a:t>Symbols</a:t>
            </a:r>
            <a:r>
              <a:rPr lang="en-US" b="0" i="0" dirty="0">
                <a:effectLst/>
                <a:latin typeface="fkGroteskNeue"/>
              </a:rPr>
              <a:t>:</a:t>
            </a:r>
          </a:p>
          <a:p>
            <a:pPr marL="742950" lvl="1" indent="-285750" algn="l">
              <a:buFont typeface="Arial" panose="020B0604020202020204" pitchFamily="34" charset="0"/>
              <a:buChar char="•"/>
            </a:pPr>
            <a:r>
              <a:rPr lang="en-US" b="0" i="0" dirty="0">
                <a:effectLst/>
                <a:latin typeface="fkGroteskNeue"/>
              </a:rPr>
              <a:t>Terminator: Start/end points (oval).</a:t>
            </a:r>
          </a:p>
          <a:p>
            <a:pPr marL="742950" lvl="1" indent="-285750" algn="l">
              <a:buFont typeface="Arial" panose="020B0604020202020204" pitchFamily="34" charset="0"/>
              <a:buChar char="•"/>
            </a:pPr>
            <a:r>
              <a:rPr lang="en-US" b="0" i="0" dirty="0">
                <a:effectLst/>
                <a:latin typeface="fkGroteskNeue"/>
              </a:rPr>
              <a:t>Process: Operation or task (rectangle).</a:t>
            </a:r>
          </a:p>
          <a:p>
            <a:pPr marL="742950" lvl="1" indent="-285750" algn="l">
              <a:buFont typeface="Arial" panose="020B0604020202020204" pitchFamily="34" charset="0"/>
              <a:buChar char="•"/>
            </a:pPr>
            <a:r>
              <a:rPr lang="en-US" b="0" i="0" dirty="0">
                <a:effectLst/>
                <a:latin typeface="fkGroteskNeue"/>
              </a:rPr>
              <a:t>Decision: A branching based on conditions (diamond).</a:t>
            </a:r>
          </a:p>
          <a:p>
            <a:pPr marL="742950" lvl="1" indent="-285750" algn="l">
              <a:buFont typeface="Arial" panose="020B0604020202020204" pitchFamily="34" charset="0"/>
              <a:buChar char="•"/>
            </a:pPr>
            <a:r>
              <a:rPr lang="en-US" b="0" i="0" dirty="0">
                <a:effectLst/>
                <a:latin typeface="fkGroteskNeue"/>
              </a:rPr>
              <a:t>Flowline: Arrows showing direction.</a:t>
            </a:r>
          </a:p>
          <a:p>
            <a:pPr algn="l">
              <a:buFont typeface="Arial" panose="020B0604020202020204" pitchFamily="34" charset="0"/>
              <a:buChar char="•"/>
            </a:pPr>
            <a:r>
              <a:rPr lang="en-US" b="1" i="0" dirty="0">
                <a:effectLst/>
                <a:latin typeface="fkGroteskNeue"/>
              </a:rPr>
              <a:t>Use</a:t>
            </a:r>
            <a:r>
              <a:rPr lang="en-US" b="0" i="0" dirty="0">
                <a:effectLst/>
                <a:latin typeface="fkGroteskNeue"/>
              </a:rPr>
              <a:t> </a:t>
            </a:r>
            <a:r>
              <a:rPr lang="en-US" b="1" i="0" dirty="0">
                <a:effectLst/>
                <a:latin typeface="fkGroteskNeue"/>
              </a:rPr>
              <a:t>Cases</a:t>
            </a:r>
            <a:r>
              <a:rPr lang="en-US" b="0" i="0" dirty="0">
                <a:effectLst/>
                <a:latin typeface="fkGroteskNeue"/>
              </a:rPr>
              <a:t>: Represent algorithms, control flows, business processes, and program logic.</a:t>
            </a:r>
          </a:p>
          <a:p>
            <a:pPr algn="l">
              <a:buFont typeface="Arial" panose="020B0604020202020204" pitchFamily="34" charset="0"/>
              <a:buChar char="•"/>
            </a:pPr>
            <a:r>
              <a:rPr lang="en-US" b="1" i="0" dirty="0">
                <a:effectLst/>
                <a:latin typeface="fkGroteskNeue"/>
              </a:rPr>
              <a:t>Benefits</a:t>
            </a:r>
            <a:r>
              <a:rPr lang="en-US" b="0" i="0" dirty="0">
                <a:effectLst/>
                <a:latin typeface="fkGroteskNeue"/>
              </a:rPr>
              <a:t>: Easy to understand by technical and non-technical users; supports detailed design and debugging.</a:t>
            </a:r>
          </a:p>
        </p:txBody>
      </p:sp>
    </p:spTree>
    <p:extLst>
      <p:ext uri="{BB962C8B-B14F-4D97-AF65-F5344CB8AC3E}">
        <p14:creationId xmlns:p14="http://schemas.microsoft.com/office/powerpoint/2010/main" val="36569657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6F5A6-5819-6D8D-D197-AF59EAB96F1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11AF447-88BE-32C5-74BE-28C280986C5D}"/>
              </a:ext>
            </a:extLst>
          </p:cNvPr>
          <p:cNvSpPr txBox="1"/>
          <p:nvPr/>
        </p:nvSpPr>
        <p:spPr>
          <a:xfrm>
            <a:off x="824946" y="0"/>
            <a:ext cx="8398565" cy="3970318"/>
          </a:xfrm>
          <a:prstGeom prst="rect">
            <a:avLst/>
          </a:prstGeom>
          <a:noFill/>
        </p:spPr>
        <p:txBody>
          <a:bodyPr wrap="square">
            <a:spAutoFit/>
          </a:bodyPr>
          <a:lstStyle/>
          <a:p>
            <a:pPr algn="l">
              <a:buNone/>
            </a:pPr>
            <a:r>
              <a:rPr lang="en-US" b="1" i="0" dirty="0">
                <a:effectLst/>
                <a:latin typeface="fkGrotesk"/>
              </a:rPr>
              <a:t>3. Decision Tables</a:t>
            </a:r>
          </a:p>
          <a:p>
            <a:pPr algn="l">
              <a:buNone/>
            </a:pPr>
            <a:endParaRPr lang="en-US" b="0" i="0" dirty="0">
              <a:effectLst/>
              <a:latin typeface="fkGrotesk"/>
            </a:endParaRPr>
          </a:p>
          <a:p>
            <a:pPr algn="l">
              <a:buFont typeface="Arial" panose="020B0604020202020204" pitchFamily="34" charset="0"/>
              <a:buChar char="•"/>
            </a:pPr>
            <a:r>
              <a:rPr lang="en-US" b="1" i="0" dirty="0">
                <a:effectLst/>
                <a:latin typeface="fkGroteskNeue"/>
              </a:rPr>
              <a:t>Definition</a:t>
            </a:r>
            <a:r>
              <a:rPr lang="en-US" b="0" i="0" dirty="0">
                <a:effectLst/>
                <a:latin typeface="fkGroteskNeue"/>
              </a:rPr>
              <a:t>: Tabular representation of logical conditions and corresponding actions.</a:t>
            </a:r>
          </a:p>
          <a:p>
            <a:pPr algn="l">
              <a:buFont typeface="Arial" panose="020B0604020202020204" pitchFamily="34" charset="0"/>
              <a:buChar char="•"/>
            </a:pPr>
            <a:r>
              <a:rPr lang="en-US" b="1" i="0" dirty="0">
                <a:effectLst/>
                <a:latin typeface="fkGroteskNeue"/>
              </a:rPr>
              <a:t>Purpose</a:t>
            </a:r>
            <a:r>
              <a:rPr lang="en-US" b="0" i="0" dirty="0">
                <a:effectLst/>
                <a:latin typeface="fkGroteskNeue"/>
              </a:rPr>
              <a:t>: Used where complex decision-making involves multiple conditions and combinations.</a:t>
            </a:r>
          </a:p>
          <a:p>
            <a:pPr algn="l">
              <a:buFont typeface="Arial" panose="020B0604020202020204" pitchFamily="34" charset="0"/>
              <a:buChar char="•"/>
            </a:pPr>
            <a:r>
              <a:rPr lang="en-US" b="1" i="0" dirty="0">
                <a:effectLst/>
                <a:latin typeface="fkGroteskNeue"/>
              </a:rPr>
              <a:t>Structure</a:t>
            </a:r>
            <a:r>
              <a:rPr lang="en-US" b="0" i="0" dirty="0">
                <a:effectLst/>
                <a:latin typeface="fkGroteskNeue"/>
              </a:rPr>
              <a:t>:</a:t>
            </a:r>
          </a:p>
          <a:p>
            <a:pPr marL="742950" lvl="1" indent="-285750" algn="l">
              <a:buFont typeface="Arial" panose="020B0604020202020204" pitchFamily="34" charset="0"/>
              <a:buChar char="•"/>
            </a:pPr>
            <a:r>
              <a:rPr lang="en-US" b="0" i="0" dirty="0">
                <a:effectLst/>
                <a:latin typeface="fkGroteskNeue"/>
              </a:rPr>
              <a:t>Condition Stub: Lists all relevant conditions.</a:t>
            </a:r>
          </a:p>
          <a:p>
            <a:pPr marL="742950" lvl="1" indent="-285750" algn="l">
              <a:buFont typeface="Arial" panose="020B0604020202020204" pitchFamily="34" charset="0"/>
              <a:buChar char="•"/>
            </a:pPr>
            <a:r>
              <a:rPr lang="en-US" b="0" i="0" dirty="0">
                <a:effectLst/>
                <a:latin typeface="fkGroteskNeue"/>
              </a:rPr>
              <a:t>Action Stub: Lists possible actions.</a:t>
            </a:r>
          </a:p>
          <a:p>
            <a:pPr marL="742950" lvl="1" indent="-285750" algn="l">
              <a:buFont typeface="Arial" panose="020B0604020202020204" pitchFamily="34" charset="0"/>
              <a:buChar char="•"/>
            </a:pPr>
            <a:r>
              <a:rPr lang="en-US" b="0" i="0" dirty="0">
                <a:effectLst/>
                <a:latin typeface="fkGroteskNeue"/>
              </a:rPr>
              <a:t>Rules: Columns defining conditions' true/false states and resulting actions.</a:t>
            </a:r>
          </a:p>
          <a:p>
            <a:pPr algn="l">
              <a:buFont typeface="Arial" panose="020B0604020202020204" pitchFamily="34" charset="0"/>
              <a:buChar char="•"/>
            </a:pPr>
            <a:r>
              <a:rPr lang="en-US" b="1" i="0" dirty="0">
                <a:effectLst/>
                <a:latin typeface="fkGroteskNeue"/>
              </a:rPr>
              <a:t>Advantages</a:t>
            </a:r>
            <a:r>
              <a:rPr lang="en-US" b="0" i="0" dirty="0">
                <a:effectLst/>
                <a:latin typeface="fkGroteskNeue"/>
              </a:rPr>
              <a:t>: Provides compact, unambiguous documentation of complex decision logic; helps detect missing or conflicting conditions.</a:t>
            </a:r>
          </a:p>
          <a:p>
            <a:pPr algn="l">
              <a:buFont typeface="Arial" panose="020B0604020202020204" pitchFamily="34" charset="0"/>
              <a:buChar char="•"/>
            </a:pPr>
            <a:r>
              <a:rPr lang="en-US" b="1" i="0" dirty="0">
                <a:effectLst/>
                <a:latin typeface="fkGroteskNeue"/>
              </a:rPr>
              <a:t>Applications</a:t>
            </a:r>
            <a:r>
              <a:rPr lang="en-US" b="0" i="0" dirty="0">
                <a:effectLst/>
                <a:latin typeface="fkGroteskNeue"/>
              </a:rPr>
              <a:t>: Business rules, control statements, validation rules in software.</a:t>
            </a:r>
          </a:p>
          <a:p>
            <a:pPr algn="l">
              <a:buFont typeface="Arial" panose="020B0604020202020204" pitchFamily="34" charset="0"/>
              <a:buChar char="•"/>
            </a:pPr>
            <a:endParaRPr lang="en-US" dirty="0">
              <a:latin typeface="fkGroteskNeue"/>
            </a:endParaRPr>
          </a:p>
          <a:p>
            <a:r>
              <a:rPr lang="en-IN" dirty="0"/>
              <a:t>Summary</a:t>
            </a:r>
          </a:p>
        </p:txBody>
      </p:sp>
    </p:spTree>
    <p:extLst>
      <p:ext uri="{BB962C8B-B14F-4D97-AF65-F5344CB8AC3E}">
        <p14:creationId xmlns:p14="http://schemas.microsoft.com/office/powerpoint/2010/main" val="12602539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0E814-CA49-76A8-AAB0-0420E60BD9CF}"/>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1CCCBF6-B7E0-688D-A3A6-CF368EE29475}"/>
              </a:ext>
            </a:extLst>
          </p:cNvPr>
          <p:cNvGraphicFramePr>
            <a:graphicFrameLocks noGrp="1"/>
          </p:cNvGraphicFramePr>
          <p:nvPr>
            <p:extLst>
              <p:ext uri="{D42A27DB-BD31-4B8C-83A1-F6EECF244321}">
                <p14:modId xmlns:p14="http://schemas.microsoft.com/office/powerpoint/2010/main" val="390739679"/>
              </p:ext>
            </p:extLst>
          </p:nvPr>
        </p:nvGraphicFramePr>
        <p:xfrm>
          <a:off x="1013790" y="198120"/>
          <a:ext cx="8596312" cy="3230880"/>
        </p:xfrm>
        <a:graphic>
          <a:graphicData uri="http://schemas.openxmlformats.org/drawingml/2006/table">
            <a:tbl>
              <a:tblPr>
                <a:tableStyleId>{5940675A-B579-460E-94D1-54222C63F5DA}</a:tableStyleId>
              </a:tblPr>
              <a:tblGrid>
                <a:gridCol w="2149078">
                  <a:extLst>
                    <a:ext uri="{9D8B030D-6E8A-4147-A177-3AD203B41FA5}">
                      <a16:colId xmlns:a16="http://schemas.microsoft.com/office/drawing/2014/main" val="3370866421"/>
                    </a:ext>
                  </a:extLst>
                </a:gridCol>
                <a:gridCol w="2149078">
                  <a:extLst>
                    <a:ext uri="{9D8B030D-6E8A-4147-A177-3AD203B41FA5}">
                      <a16:colId xmlns:a16="http://schemas.microsoft.com/office/drawing/2014/main" val="2725276043"/>
                    </a:ext>
                  </a:extLst>
                </a:gridCol>
                <a:gridCol w="2149078">
                  <a:extLst>
                    <a:ext uri="{9D8B030D-6E8A-4147-A177-3AD203B41FA5}">
                      <a16:colId xmlns:a16="http://schemas.microsoft.com/office/drawing/2014/main" val="1330374745"/>
                    </a:ext>
                  </a:extLst>
                </a:gridCol>
                <a:gridCol w="2149078">
                  <a:extLst>
                    <a:ext uri="{9D8B030D-6E8A-4147-A177-3AD203B41FA5}">
                      <a16:colId xmlns:a16="http://schemas.microsoft.com/office/drawing/2014/main" val="3955063276"/>
                    </a:ext>
                  </a:extLst>
                </a:gridCol>
              </a:tblGrid>
              <a:tr h="0">
                <a:tc>
                  <a:txBody>
                    <a:bodyPr/>
                    <a:lstStyle/>
                    <a:p>
                      <a:pPr algn="l">
                        <a:buNone/>
                      </a:pPr>
                      <a:r>
                        <a:rPr lang="en-IN" b="1">
                          <a:effectLst/>
                        </a:rPr>
                        <a:t>Notation</a:t>
                      </a:r>
                    </a:p>
                  </a:txBody>
                  <a:tcPr marL="60960" marR="60960" marT="60960" marB="60960" anchor="ctr"/>
                </a:tc>
                <a:tc>
                  <a:txBody>
                    <a:bodyPr/>
                    <a:lstStyle/>
                    <a:p>
                      <a:pPr algn="l">
                        <a:buNone/>
                      </a:pPr>
                      <a:r>
                        <a:rPr lang="en-IN" b="1">
                          <a:effectLst/>
                        </a:rPr>
                        <a:t>Purpose</a:t>
                      </a:r>
                    </a:p>
                  </a:txBody>
                  <a:tcPr marL="60960" marR="60960" marT="60960" marB="60960" anchor="ctr"/>
                </a:tc>
                <a:tc>
                  <a:txBody>
                    <a:bodyPr/>
                    <a:lstStyle/>
                    <a:p>
                      <a:pPr algn="l">
                        <a:buNone/>
                      </a:pPr>
                      <a:r>
                        <a:rPr lang="en-IN" b="1">
                          <a:effectLst/>
                        </a:rPr>
                        <a:t>Key Features</a:t>
                      </a:r>
                    </a:p>
                  </a:txBody>
                  <a:tcPr marL="60960" marR="60960" marT="60960" marB="60960" anchor="ctr"/>
                </a:tc>
                <a:tc>
                  <a:txBody>
                    <a:bodyPr/>
                    <a:lstStyle/>
                    <a:p>
                      <a:pPr algn="l">
                        <a:buNone/>
                      </a:pPr>
                      <a:r>
                        <a:rPr lang="en-IN" b="1">
                          <a:effectLst/>
                        </a:rPr>
                        <a:t>Benefits</a:t>
                      </a:r>
                    </a:p>
                  </a:txBody>
                  <a:tcPr marL="60960" marR="60960" marT="60960" marB="60960" anchor="ctr"/>
                </a:tc>
                <a:extLst>
                  <a:ext uri="{0D108BD9-81ED-4DB2-BD59-A6C34878D82A}">
                    <a16:rowId xmlns:a16="http://schemas.microsoft.com/office/drawing/2014/main" val="2586529988"/>
                  </a:ext>
                </a:extLst>
              </a:tr>
              <a:tr h="0">
                <a:tc>
                  <a:txBody>
                    <a:bodyPr/>
                    <a:lstStyle/>
                    <a:p>
                      <a:pPr algn="l">
                        <a:buNone/>
                      </a:pPr>
                      <a:r>
                        <a:rPr lang="en-IN">
                          <a:effectLst/>
                        </a:rPr>
                        <a:t>Data Flow Diagram</a:t>
                      </a:r>
                    </a:p>
                  </a:txBody>
                  <a:tcPr marL="60960" marR="60960" marT="60960" marB="60960" anchor="ctr"/>
                </a:tc>
                <a:tc>
                  <a:txBody>
                    <a:bodyPr/>
                    <a:lstStyle/>
                    <a:p>
                      <a:pPr algn="l">
                        <a:buNone/>
                      </a:pPr>
                      <a:r>
                        <a:rPr lang="en-IN" dirty="0">
                          <a:effectLst/>
                        </a:rPr>
                        <a:t>Visualizes data movement</a:t>
                      </a:r>
                    </a:p>
                  </a:txBody>
                  <a:tcPr marL="60960" marR="60960" marT="60960" marB="60960" anchor="ctr"/>
                </a:tc>
                <a:tc>
                  <a:txBody>
                    <a:bodyPr/>
                    <a:lstStyle/>
                    <a:p>
                      <a:pPr algn="l">
                        <a:buNone/>
                      </a:pPr>
                      <a:r>
                        <a:rPr lang="pt-BR">
                          <a:effectLst/>
                        </a:rPr>
                        <a:t>Processes, data flows, data stores, external entities</a:t>
                      </a:r>
                    </a:p>
                  </a:txBody>
                  <a:tcPr marL="60960" marR="60960" marT="60960" marB="60960" anchor="ctr"/>
                </a:tc>
                <a:tc>
                  <a:txBody>
                    <a:bodyPr/>
                    <a:lstStyle/>
                    <a:p>
                      <a:pPr algn="l">
                        <a:buNone/>
                      </a:pPr>
                      <a:r>
                        <a:rPr lang="en-US">
                          <a:effectLst/>
                        </a:rPr>
                        <a:t>Easy to analyze system processes and interactions</a:t>
                      </a:r>
                    </a:p>
                  </a:txBody>
                  <a:tcPr marL="60960" marR="60960" marT="60960" marB="60960" anchor="ctr"/>
                </a:tc>
                <a:extLst>
                  <a:ext uri="{0D108BD9-81ED-4DB2-BD59-A6C34878D82A}">
                    <a16:rowId xmlns:a16="http://schemas.microsoft.com/office/drawing/2014/main" val="1839678882"/>
                  </a:ext>
                </a:extLst>
              </a:tr>
              <a:tr h="0">
                <a:tc>
                  <a:txBody>
                    <a:bodyPr/>
                    <a:lstStyle/>
                    <a:p>
                      <a:pPr algn="l">
                        <a:buNone/>
                      </a:pPr>
                      <a:r>
                        <a:rPr lang="en-IN">
                          <a:effectLst/>
                        </a:rPr>
                        <a:t>Structured Flowchart</a:t>
                      </a:r>
                    </a:p>
                  </a:txBody>
                  <a:tcPr marL="60960" marR="60960" marT="60960" marB="60960" anchor="ctr"/>
                </a:tc>
                <a:tc>
                  <a:txBody>
                    <a:bodyPr/>
                    <a:lstStyle/>
                    <a:p>
                      <a:pPr algn="l">
                        <a:buNone/>
                      </a:pPr>
                      <a:r>
                        <a:rPr lang="en-US">
                          <a:effectLst/>
                        </a:rPr>
                        <a:t>Maps control and process flow</a:t>
                      </a:r>
                    </a:p>
                  </a:txBody>
                  <a:tcPr marL="60960" marR="60960" marT="60960" marB="60960" anchor="ctr"/>
                </a:tc>
                <a:tc>
                  <a:txBody>
                    <a:bodyPr/>
                    <a:lstStyle/>
                    <a:p>
                      <a:pPr algn="l">
                        <a:buNone/>
                      </a:pPr>
                      <a:r>
                        <a:rPr lang="en-IN">
                          <a:effectLst/>
                        </a:rPr>
                        <a:t>Process steps, decisions, sequence</a:t>
                      </a:r>
                    </a:p>
                  </a:txBody>
                  <a:tcPr marL="60960" marR="60960" marT="60960" marB="60960" anchor="ctr"/>
                </a:tc>
                <a:tc>
                  <a:txBody>
                    <a:bodyPr/>
                    <a:lstStyle/>
                    <a:p>
                      <a:pPr algn="l">
                        <a:buNone/>
                      </a:pPr>
                      <a:r>
                        <a:rPr lang="en-US">
                          <a:effectLst/>
                        </a:rPr>
                        <a:t>Understand algorithm and logic flow</a:t>
                      </a:r>
                    </a:p>
                  </a:txBody>
                  <a:tcPr marL="60960" marR="60960" marT="60960" marB="60960" anchor="ctr"/>
                </a:tc>
                <a:extLst>
                  <a:ext uri="{0D108BD9-81ED-4DB2-BD59-A6C34878D82A}">
                    <a16:rowId xmlns:a16="http://schemas.microsoft.com/office/drawing/2014/main" val="2889331124"/>
                  </a:ext>
                </a:extLst>
              </a:tr>
              <a:tr h="0">
                <a:tc>
                  <a:txBody>
                    <a:bodyPr/>
                    <a:lstStyle/>
                    <a:p>
                      <a:pPr algn="l">
                        <a:buNone/>
                      </a:pPr>
                      <a:r>
                        <a:rPr lang="en-IN">
                          <a:effectLst/>
                        </a:rPr>
                        <a:t>Decision Table</a:t>
                      </a:r>
                    </a:p>
                  </a:txBody>
                  <a:tcPr marL="60960" marR="60960" marT="60960" marB="60960" anchor="ctr"/>
                </a:tc>
                <a:tc>
                  <a:txBody>
                    <a:bodyPr/>
                    <a:lstStyle/>
                    <a:p>
                      <a:pPr algn="l">
                        <a:buNone/>
                      </a:pPr>
                      <a:r>
                        <a:rPr lang="en-IN">
                          <a:effectLst/>
                        </a:rPr>
                        <a:t>Specifies complex decision logic</a:t>
                      </a:r>
                    </a:p>
                  </a:txBody>
                  <a:tcPr marL="60960" marR="60960" marT="60960" marB="60960" anchor="ctr"/>
                </a:tc>
                <a:tc>
                  <a:txBody>
                    <a:bodyPr/>
                    <a:lstStyle/>
                    <a:p>
                      <a:pPr algn="l">
                        <a:buNone/>
                      </a:pPr>
                      <a:r>
                        <a:rPr lang="en-US" dirty="0">
                          <a:effectLst/>
                        </a:rPr>
                        <a:t>Conditions and actions in tabular form</a:t>
                      </a:r>
                    </a:p>
                  </a:txBody>
                  <a:tcPr marL="60960" marR="60960" marT="60960" marB="60960" anchor="ctr"/>
                </a:tc>
                <a:tc>
                  <a:txBody>
                    <a:bodyPr/>
                    <a:lstStyle/>
                    <a:p>
                      <a:pPr algn="l">
                        <a:buNone/>
                      </a:pPr>
                      <a:r>
                        <a:rPr lang="en-IN" dirty="0">
                          <a:effectLst/>
                        </a:rPr>
                        <a:t>Clear, concise decision representation</a:t>
                      </a:r>
                    </a:p>
                  </a:txBody>
                  <a:tcPr marL="60960" marR="60960" marT="60960" marB="60960" anchor="ctr"/>
                </a:tc>
                <a:extLst>
                  <a:ext uri="{0D108BD9-81ED-4DB2-BD59-A6C34878D82A}">
                    <a16:rowId xmlns:a16="http://schemas.microsoft.com/office/drawing/2014/main" val="1349849726"/>
                  </a:ext>
                </a:extLst>
              </a:tr>
            </a:tbl>
          </a:graphicData>
        </a:graphic>
      </p:graphicFrame>
      <p:sp>
        <p:nvSpPr>
          <p:cNvPr id="3" name="TextBox 2">
            <a:extLst>
              <a:ext uri="{FF2B5EF4-FFF2-40B4-BE49-F238E27FC236}">
                <a16:creationId xmlns:a16="http://schemas.microsoft.com/office/drawing/2014/main" id="{91700066-AC36-6FF4-C3BE-6E5D7CDFE26F}"/>
              </a:ext>
            </a:extLst>
          </p:cNvPr>
          <p:cNvSpPr txBox="1"/>
          <p:nvPr/>
        </p:nvSpPr>
        <p:spPr>
          <a:xfrm>
            <a:off x="904461" y="3586155"/>
            <a:ext cx="8348869" cy="923330"/>
          </a:xfrm>
          <a:prstGeom prst="rect">
            <a:avLst/>
          </a:prstGeom>
          <a:noFill/>
        </p:spPr>
        <p:txBody>
          <a:bodyPr wrap="square">
            <a:spAutoFit/>
          </a:bodyPr>
          <a:lstStyle/>
          <a:p>
            <a:pPr algn="l">
              <a:buNone/>
            </a:pPr>
            <a:r>
              <a:rPr lang="en-IN" b="0" i="0" dirty="0">
                <a:effectLst/>
                <a:latin typeface="fkGroteskNeue"/>
              </a:rPr>
              <a:t>These design notations support describing system behavior, data movement, and decision rules visually, aiding effective communication and accurate system design.### Design Notations: Data Flow Diagram (DFD), Structured Flowcharts, and Decision Tables</a:t>
            </a:r>
          </a:p>
        </p:txBody>
      </p:sp>
    </p:spTree>
    <p:extLst>
      <p:ext uri="{BB962C8B-B14F-4D97-AF65-F5344CB8AC3E}">
        <p14:creationId xmlns:p14="http://schemas.microsoft.com/office/powerpoint/2010/main" val="23387902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58A15-D8BD-CD73-D281-80B56B6E779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7B2E8AC-1211-C874-D6F8-4A70719F8632}"/>
              </a:ext>
            </a:extLst>
          </p:cNvPr>
          <p:cNvSpPr txBox="1"/>
          <p:nvPr/>
        </p:nvSpPr>
        <p:spPr>
          <a:xfrm>
            <a:off x="854765" y="0"/>
            <a:ext cx="8686800" cy="6186309"/>
          </a:xfrm>
          <a:prstGeom prst="rect">
            <a:avLst/>
          </a:prstGeom>
          <a:noFill/>
        </p:spPr>
        <p:txBody>
          <a:bodyPr wrap="square">
            <a:spAutoFit/>
          </a:bodyPr>
          <a:lstStyle/>
          <a:p>
            <a:pPr marL="285750" indent="-285750" algn="l">
              <a:buFont typeface="Wingdings" panose="05000000000000000000" pitchFamily="2" charset="2"/>
              <a:buChar char="Ø"/>
            </a:pPr>
            <a:r>
              <a:rPr lang="en-US" b="1" i="0" dirty="0">
                <a:effectLst/>
                <a:latin typeface="fkGrotesk"/>
              </a:rPr>
              <a:t>Data Flow Diagram (DFD)</a:t>
            </a:r>
          </a:p>
          <a:p>
            <a:pPr algn="l">
              <a:buFont typeface="Arial" panose="020B0604020202020204" pitchFamily="34" charset="0"/>
              <a:buChar char="•"/>
            </a:pPr>
            <a:r>
              <a:rPr lang="en-US" b="0" i="0" dirty="0">
                <a:effectLst/>
                <a:latin typeface="fkGroteskNeue"/>
              </a:rPr>
              <a:t>Graphical representation of data flow within a system.</a:t>
            </a:r>
          </a:p>
          <a:p>
            <a:pPr algn="l">
              <a:buFont typeface="Arial" panose="020B0604020202020204" pitchFamily="34" charset="0"/>
              <a:buChar char="•"/>
            </a:pPr>
            <a:r>
              <a:rPr lang="en-US" b="0" i="0" dirty="0">
                <a:effectLst/>
                <a:latin typeface="fkGroteskNeue"/>
              </a:rPr>
              <a:t>Shows how data moves between processes, data stores, and external entities.</a:t>
            </a:r>
          </a:p>
          <a:p>
            <a:pPr algn="l">
              <a:buFont typeface="Arial" panose="020B0604020202020204" pitchFamily="34" charset="0"/>
              <a:buChar char="•"/>
            </a:pPr>
            <a:r>
              <a:rPr lang="en-US" b="0" i="0" dirty="0">
                <a:effectLst/>
                <a:latin typeface="fkGroteskNeue"/>
              </a:rPr>
              <a:t>Key elements: Processes (circles), Data Flows (arrows), Data Stores (parallel lines), External Entities (rectangles).</a:t>
            </a:r>
          </a:p>
          <a:p>
            <a:pPr algn="l">
              <a:buFont typeface="Arial" panose="020B0604020202020204" pitchFamily="34" charset="0"/>
              <a:buChar char="•"/>
            </a:pPr>
            <a:r>
              <a:rPr lang="en-US" b="0" i="0" dirty="0">
                <a:effectLst/>
                <a:latin typeface="fkGroteskNeue"/>
              </a:rPr>
              <a:t>Used at various levels: Context diagram (high-level), Level 0, Level 1 (decomposed detailed views).</a:t>
            </a:r>
          </a:p>
          <a:p>
            <a:pPr algn="l">
              <a:buFont typeface="Arial" panose="020B0604020202020204" pitchFamily="34" charset="0"/>
              <a:buChar char="•"/>
            </a:pPr>
            <a:r>
              <a:rPr lang="en-US" b="0" i="0" dirty="0">
                <a:effectLst/>
                <a:latin typeface="fkGroteskNeue"/>
              </a:rPr>
              <a:t>Helps in understanding system functionality and interactions.</a:t>
            </a:r>
          </a:p>
          <a:p>
            <a:pPr algn="l">
              <a:buFont typeface="Arial" panose="020B0604020202020204" pitchFamily="34" charset="0"/>
              <a:buChar char="•"/>
            </a:pPr>
            <a:endParaRPr lang="en-US" dirty="0">
              <a:latin typeface="fkGroteskNeue"/>
            </a:endParaRPr>
          </a:p>
          <a:p>
            <a:pPr marL="285750" indent="-285750">
              <a:buFont typeface="Wingdings" panose="05000000000000000000" pitchFamily="2" charset="2"/>
              <a:buChar char="Ø"/>
            </a:pPr>
            <a:r>
              <a:rPr lang="en-US" b="1" dirty="0">
                <a:latin typeface="fkGroteskNeue"/>
              </a:rPr>
              <a:t>Structured Flowcharts</a:t>
            </a:r>
          </a:p>
          <a:p>
            <a:pPr marL="285750" indent="-285750">
              <a:buFont typeface="Arial" panose="020B0604020202020204" pitchFamily="34" charset="0"/>
              <a:buChar char="•"/>
            </a:pPr>
            <a:r>
              <a:rPr lang="en-US" dirty="0">
                <a:latin typeface="fkGroteskNeue"/>
              </a:rPr>
              <a:t>Illustrate the sequence or flow of control or data in the system.</a:t>
            </a:r>
          </a:p>
          <a:p>
            <a:pPr marL="285750" indent="-285750">
              <a:buFont typeface="Arial" panose="020B0604020202020204" pitchFamily="34" charset="0"/>
              <a:buChar char="•"/>
            </a:pPr>
            <a:r>
              <a:rPr lang="en-US" dirty="0">
                <a:latin typeface="fkGroteskNeue"/>
              </a:rPr>
              <a:t>Use symbols like rectangles for processes, diamonds for decision points, and arrows for flow direction.</a:t>
            </a:r>
          </a:p>
          <a:p>
            <a:pPr marL="285750" indent="-285750">
              <a:buFont typeface="Arial" panose="020B0604020202020204" pitchFamily="34" charset="0"/>
              <a:buChar char="•"/>
            </a:pPr>
            <a:r>
              <a:rPr lang="en-US" dirty="0">
                <a:latin typeface="fkGroteskNeue"/>
              </a:rPr>
              <a:t>Represent operational steps and decision making.</a:t>
            </a:r>
          </a:p>
          <a:p>
            <a:pPr marL="285750" indent="-285750">
              <a:buFont typeface="Arial" panose="020B0604020202020204" pitchFamily="34" charset="0"/>
              <a:buChar char="•"/>
            </a:pPr>
            <a:r>
              <a:rPr lang="en-US" dirty="0">
                <a:latin typeface="fkGroteskNeue"/>
              </a:rPr>
              <a:t>Useful for algorithm representation and program logic visualization.</a:t>
            </a:r>
          </a:p>
          <a:p>
            <a:endParaRPr lang="en-US" dirty="0">
              <a:latin typeface="fkGroteskNeue"/>
            </a:endParaRPr>
          </a:p>
          <a:p>
            <a:pPr marL="285750" indent="-285750">
              <a:buFont typeface="Wingdings" panose="05000000000000000000" pitchFamily="2" charset="2"/>
              <a:buChar char="Ø"/>
            </a:pPr>
            <a:r>
              <a:rPr lang="en-US" b="1" dirty="0">
                <a:latin typeface="fkGroteskNeue"/>
              </a:rPr>
              <a:t>Decision Tables</a:t>
            </a:r>
          </a:p>
          <a:p>
            <a:pPr marL="285750" indent="-285750">
              <a:buFont typeface="Arial" panose="020B0604020202020204" pitchFamily="34" charset="0"/>
              <a:buChar char="•"/>
            </a:pPr>
            <a:r>
              <a:rPr lang="en-US" dirty="0">
                <a:latin typeface="fkGroteskNeue"/>
              </a:rPr>
              <a:t>Tabular form representing complex logical conditions and corresponding actions.</a:t>
            </a:r>
          </a:p>
          <a:p>
            <a:pPr marL="285750" indent="-285750">
              <a:buFont typeface="Arial" panose="020B0604020202020204" pitchFamily="34" charset="0"/>
              <a:buChar char="•"/>
            </a:pPr>
            <a:r>
              <a:rPr lang="en-US" dirty="0">
                <a:latin typeface="fkGroteskNeue"/>
              </a:rPr>
              <a:t>Rows represent conditions; columns represent combination rules leading to actions.</a:t>
            </a:r>
          </a:p>
          <a:p>
            <a:pPr marL="285750" indent="-285750">
              <a:buFont typeface="Arial" panose="020B0604020202020204" pitchFamily="34" charset="0"/>
              <a:buChar char="•"/>
            </a:pPr>
            <a:r>
              <a:rPr lang="en-US" dirty="0">
                <a:latin typeface="fkGroteskNeue"/>
              </a:rPr>
              <a:t>Useful for specifying and analyzing business rules and decision logic.</a:t>
            </a:r>
          </a:p>
          <a:p>
            <a:pPr marL="285750" indent="-285750">
              <a:buFont typeface="Arial" panose="020B0604020202020204" pitchFamily="34" charset="0"/>
              <a:buChar char="•"/>
            </a:pPr>
            <a:r>
              <a:rPr lang="en-US" dirty="0">
                <a:latin typeface="fkGroteskNeue"/>
              </a:rPr>
              <a:t>Helps uncover incomplete or conflicting requirements</a:t>
            </a:r>
          </a:p>
          <a:p>
            <a:pPr algn="l"/>
            <a:endParaRPr lang="en-US" b="0" i="0" dirty="0">
              <a:effectLst/>
              <a:latin typeface="fkGroteskNeue"/>
            </a:endParaRPr>
          </a:p>
        </p:txBody>
      </p:sp>
    </p:spTree>
    <p:extLst>
      <p:ext uri="{BB962C8B-B14F-4D97-AF65-F5344CB8AC3E}">
        <p14:creationId xmlns:p14="http://schemas.microsoft.com/office/powerpoint/2010/main" val="27044203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C1B3A-244A-80AC-C5E5-6A354EC66B3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6725865-C080-2FEA-F144-F27214FF04FF}"/>
              </a:ext>
            </a:extLst>
          </p:cNvPr>
          <p:cNvSpPr txBox="1"/>
          <p:nvPr/>
        </p:nvSpPr>
        <p:spPr>
          <a:xfrm>
            <a:off x="934278" y="144622"/>
            <a:ext cx="8328991" cy="5355312"/>
          </a:xfrm>
          <a:prstGeom prst="rect">
            <a:avLst/>
          </a:prstGeom>
          <a:noFill/>
        </p:spPr>
        <p:txBody>
          <a:bodyPr wrap="square">
            <a:spAutoFit/>
          </a:bodyPr>
          <a:lstStyle/>
          <a:p>
            <a:r>
              <a:rPr lang="en-US" b="1" dirty="0"/>
              <a:t>5.5 Testing- Meaning and purpose, Testing methods - Black-box and White-box, Level of Testing Unit Testing, Integration Testing, User Acceptance Testing</a:t>
            </a:r>
          </a:p>
          <a:p>
            <a:endParaRPr lang="en-US" dirty="0"/>
          </a:p>
          <a:p>
            <a:pPr marL="285750" indent="-285750">
              <a:buFont typeface="Wingdings" panose="05000000000000000000" pitchFamily="2" charset="2"/>
              <a:buChar char="Ø"/>
            </a:pPr>
            <a:r>
              <a:rPr lang="en-US" b="1" dirty="0"/>
              <a:t>Software Testing: Meaning and Purpose</a:t>
            </a:r>
          </a:p>
          <a:p>
            <a:endParaRPr lang="en-US" b="1" dirty="0"/>
          </a:p>
          <a:p>
            <a:r>
              <a:rPr lang="en-US" b="1" dirty="0"/>
              <a:t>Meaning</a:t>
            </a:r>
            <a:r>
              <a:rPr lang="en-US" dirty="0"/>
              <a:t>:</a:t>
            </a:r>
            <a:br>
              <a:rPr lang="en-US" dirty="0"/>
            </a:br>
            <a:r>
              <a:rPr lang="en-US" dirty="0"/>
              <a:t>Software testing is the process of evaluating a software application to verify that it meets specified requirements and to identify defects or bugs. It ensures that the software behaves as expected, is reliable, and satisfies user needs.</a:t>
            </a:r>
          </a:p>
          <a:p>
            <a:endParaRPr lang="en-US" dirty="0"/>
          </a:p>
          <a:p>
            <a:pPr marL="285750" indent="-285750">
              <a:buFont typeface="Wingdings" panose="05000000000000000000" pitchFamily="2" charset="2"/>
              <a:buChar char="Ø"/>
            </a:pPr>
            <a:r>
              <a:rPr lang="en-US" b="1" dirty="0"/>
              <a:t>Purpose:</a:t>
            </a:r>
          </a:p>
          <a:p>
            <a:pPr marL="285750" indent="-285750">
              <a:buFont typeface="Arial" panose="020B0604020202020204" pitchFamily="34" charset="0"/>
              <a:buChar char="•"/>
            </a:pPr>
            <a:r>
              <a:rPr lang="en-US" dirty="0"/>
              <a:t>To detect errors and defects early.</a:t>
            </a:r>
          </a:p>
          <a:p>
            <a:pPr marL="285750" indent="-285750">
              <a:buFont typeface="Arial" panose="020B0604020202020204" pitchFamily="34" charset="0"/>
              <a:buChar char="•"/>
            </a:pPr>
            <a:r>
              <a:rPr lang="en-US" dirty="0"/>
              <a:t>To verify that the software meets functional and non-functional requirements.</a:t>
            </a:r>
          </a:p>
          <a:p>
            <a:pPr marL="285750" indent="-285750">
              <a:buFont typeface="Arial" panose="020B0604020202020204" pitchFamily="34" charset="0"/>
              <a:buChar char="•"/>
            </a:pPr>
            <a:r>
              <a:rPr lang="en-US" dirty="0"/>
              <a:t>To ensure software quality and reliability.</a:t>
            </a:r>
          </a:p>
          <a:p>
            <a:pPr marL="285750" indent="-285750">
              <a:buFont typeface="Arial" panose="020B0604020202020204" pitchFamily="34" charset="0"/>
              <a:buChar char="•"/>
            </a:pPr>
            <a:r>
              <a:rPr lang="en-US" dirty="0"/>
              <a:t>To reduce maintenance costs and improve customer satisfaction.</a:t>
            </a:r>
          </a:p>
          <a:p>
            <a:endParaRPr lang="en-US" dirty="0"/>
          </a:p>
          <a:p>
            <a:endParaRPr lang="en-IN" dirty="0"/>
          </a:p>
        </p:txBody>
      </p:sp>
    </p:spTree>
    <p:extLst>
      <p:ext uri="{BB962C8B-B14F-4D97-AF65-F5344CB8AC3E}">
        <p14:creationId xmlns:p14="http://schemas.microsoft.com/office/powerpoint/2010/main" val="27323406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840A5-910E-9DB8-FA82-BD90A60F94D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42D67FF-8F3D-195F-CCB9-923F5B520862}"/>
              </a:ext>
            </a:extLst>
          </p:cNvPr>
          <p:cNvSpPr txBox="1"/>
          <p:nvPr/>
        </p:nvSpPr>
        <p:spPr>
          <a:xfrm>
            <a:off x="1083365" y="0"/>
            <a:ext cx="8448261" cy="3693319"/>
          </a:xfrm>
          <a:prstGeom prst="rect">
            <a:avLst/>
          </a:prstGeom>
          <a:noFill/>
        </p:spPr>
        <p:txBody>
          <a:bodyPr wrap="square">
            <a:spAutoFit/>
          </a:bodyPr>
          <a:lstStyle/>
          <a:p>
            <a:pPr marL="285750" indent="-285750" algn="l">
              <a:buFont typeface="Wingdings" panose="05000000000000000000" pitchFamily="2" charset="2"/>
              <a:buChar char="q"/>
            </a:pPr>
            <a:r>
              <a:rPr lang="en-US" b="1" i="0" dirty="0">
                <a:effectLst/>
                <a:latin typeface="fkGrotesk"/>
              </a:rPr>
              <a:t>Testing Methods</a:t>
            </a:r>
          </a:p>
          <a:p>
            <a:pPr algn="l"/>
            <a:endParaRPr lang="en-US" b="1" i="0" dirty="0">
              <a:effectLst/>
              <a:latin typeface="fkGrotesk"/>
            </a:endParaRPr>
          </a:p>
          <a:p>
            <a:pPr algn="l">
              <a:buNone/>
            </a:pPr>
            <a:r>
              <a:rPr lang="en-US" b="1" i="0" dirty="0">
                <a:effectLst/>
                <a:latin typeface="fkGroteskNeue"/>
              </a:rPr>
              <a:t>1. Black-Box Testing (Functional Testing)</a:t>
            </a:r>
          </a:p>
          <a:p>
            <a:pPr algn="l">
              <a:buFont typeface="Arial" panose="020B0604020202020204" pitchFamily="34" charset="0"/>
              <a:buChar char="•"/>
            </a:pPr>
            <a:r>
              <a:rPr lang="en-US" b="0" i="0" dirty="0">
                <a:effectLst/>
                <a:latin typeface="fkGroteskNeue"/>
              </a:rPr>
              <a:t>Tests software functionality without knowledge of internal code or structure.</a:t>
            </a:r>
          </a:p>
          <a:p>
            <a:pPr algn="l">
              <a:buFont typeface="Arial" panose="020B0604020202020204" pitchFamily="34" charset="0"/>
              <a:buChar char="•"/>
            </a:pPr>
            <a:r>
              <a:rPr lang="en-US" b="0" i="0" dirty="0">
                <a:effectLst/>
                <a:latin typeface="fkGroteskNeue"/>
              </a:rPr>
              <a:t>Focuses on inputs and expected outputs.</a:t>
            </a:r>
          </a:p>
          <a:p>
            <a:pPr algn="l">
              <a:buFont typeface="Arial" panose="020B0604020202020204" pitchFamily="34" charset="0"/>
              <a:buChar char="•"/>
            </a:pPr>
            <a:r>
              <a:rPr lang="en-US" b="0" i="0" dirty="0">
                <a:effectLst/>
                <a:latin typeface="fkGroteskNeue"/>
              </a:rPr>
              <a:t>Common techniques: equivalence partitioning, boundary value analysis.</a:t>
            </a:r>
          </a:p>
          <a:p>
            <a:pPr algn="l">
              <a:buFont typeface="Arial" panose="020B0604020202020204" pitchFamily="34" charset="0"/>
              <a:buChar char="•"/>
            </a:pPr>
            <a:r>
              <a:rPr lang="en-US" b="0" i="0" dirty="0">
                <a:effectLst/>
                <a:latin typeface="fkGroteskNeue"/>
              </a:rPr>
              <a:t>Validates if software behaves as expected from a user perspective.</a:t>
            </a:r>
          </a:p>
          <a:p>
            <a:pPr algn="l"/>
            <a:endParaRPr lang="en-US" b="0" i="0" dirty="0">
              <a:effectLst/>
              <a:latin typeface="fkGroteskNeue"/>
            </a:endParaRPr>
          </a:p>
          <a:p>
            <a:pPr algn="l">
              <a:buNone/>
            </a:pPr>
            <a:r>
              <a:rPr lang="en-US" b="1" i="0" dirty="0">
                <a:effectLst/>
                <a:latin typeface="fkGroteskNeue"/>
              </a:rPr>
              <a:t>2. White-Box Testing (Structural Testing)</a:t>
            </a:r>
          </a:p>
          <a:p>
            <a:pPr algn="l">
              <a:buFont typeface="Arial" panose="020B0604020202020204" pitchFamily="34" charset="0"/>
              <a:buChar char="•"/>
            </a:pPr>
            <a:r>
              <a:rPr lang="en-US" b="0" i="0" dirty="0">
                <a:effectLst/>
                <a:latin typeface="fkGroteskNeue"/>
              </a:rPr>
              <a:t>Tests internal structures or workings of an application.</a:t>
            </a:r>
          </a:p>
          <a:p>
            <a:pPr algn="l">
              <a:buFont typeface="Arial" panose="020B0604020202020204" pitchFamily="34" charset="0"/>
              <a:buChar char="•"/>
            </a:pPr>
            <a:r>
              <a:rPr lang="en-US" b="0" i="0" dirty="0">
                <a:effectLst/>
                <a:latin typeface="fkGroteskNeue"/>
              </a:rPr>
              <a:t>Requires knowledge of code and logic.</a:t>
            </a:r>
          </a:p>
          <a:p>
            <a:pPr algn="l">
              <a:buFont typeface="Arial" panose="020B0604020202020204" pitchFamily="34" charset="0"/>
              <a:buChar char="•"/>
            </a:pPr>
            <a:r>
              <a:rPr lang="en-US" b="0" i="0" dirty="0">
                <a:effectLst/>
                <a:latin typeface="fkGroteskNeue"/>
              </a:rPr>
              <a:t>Includes code coverage, path testing, and branch testing.</a:t>
            </a:r>
          </a:p>
          <a:p>
            <a:pPr algn="l">
              <a:buFont typeface="Arial" panose="020B0604020202020204" pitchFamily="34" charset="0"/>
              <a:buChar char="•"/>
            </a:pPr>
            <a:r>
              <a:rPr lang="en-US" b="0" i="0" dirty="0">
                <a:effectLst/>
                <a:latin typeface="fkGroteskNeue"/>
              </a:rPr>
              <a:t>Ensures all code paths are executed and tested.</a:t>
            </a:r>
          </a:p>
        </p:txBody>
      </p:sp>
      <p:sp>
        <p:nvSpPr>
          <p:cNvPr id="7" name="TextBox 6">
            <a:extLst>
              <a:ext uri="{FF2B5EF4-FFF2-40B4-BE49-F238E27FC236}">
                <a16:creationId xmlns:a16="http://schemas.microsoft.com/office/drawing/2014/main" id="{F1A2502D-8CC2-F07E-3FE6-5FBCEBC91186}"/>
              </a:ext>
            </a:extLst>
          </p:cNvPr>
          <p:cNvSpPr txBox="1"/>
          <p:nvPr/>
        </p:nvSpPr>
        <p:spPr>
          <a:xfrm>
            <a:off x="506896" y="3816700"/>
            <a:ext cx="8786191" cy="2308324"/>
          </a:xfrm>
          <a:prstGeom prst="rect">
            <a:avLst/>
          </a:prstGeom>
          <a:noFill/>
        </p:spPr>
        <p:txBody>
          <a:bodyPr wrap="square">
            <a:spAutoFit/>
          </a:bodyPr>
          <a:lstStyle/>
          <a:p>
            <a:pPr algn="l">
              <a:buNone/>
            </a:pPr>
            <a:r>
              <a:rPr lang="en-US" b="1" i="0" dirty="0">
                <a:effectLst/>
                <a:latin typeface="fkGrotesk"/>
              </a:rPr>
              <a:t>Levels of Testing</a:t>
            </a:r>
          </a:p>
          <a:p>
            <a:pPr algn="l">
              <a:buNone/>
            </a:pPr>
            <a:endParaRPr lang="en-US" b="0" i="0" dirty="0">
              <a:effectLst/>
              <a:latin typeface="fkGrotesk"/>
            </a:endParaRPr>
          </a:p>
          <a:p>
            <a:pPr algn="l">
              <a:buNone/>
            </a:pPr>
            <a:r>
              <a:rPr lang="en-US" b="1" i="0" dirty="0">
                <a:effectLst/>
                <a:latin typeface="fkGroteskNeue"/>
              </a:rPr>
              <a:t>1. Unit Testing</a:t>
            </a:r>
          </a:p>
          <a:p>
            <a:pPr algn="l">
              <a:buFont typeface="Arial" panose="020B0604020202020204" pitchFamily="34" charset="0"/>
              <a:buChar char="•"/>
            </a:pPr>
            <a:r>
              <a:rPr lang="en-US" b="0" i="0" dirty="0">
                <a:effectLst/>
                <a:latin typeface="fkGroteskNeue"/>
              </a:rPr>
              <a:t>Testing individual components or modules in isolation.</a:t>
            </a:r>
          </a:p>
          <a:p>
            <a:pPr algn="l">
              <a:buFont typeface="Arial" panose="020B0604020202020204" pitchFamily="34" charset="0"/>
              <a:buChar char="•"/>
            </a:pPr>
            <a:r>
              <a:rPr lang="en-US" b="0" i="0" dirty="0">
                <a:effectLst/>
                <a:latin typeface="fkGroteskNeue"/>
              </a:rPr>
              <a:t>Performed by developers during coding.</a:t>
            </a:r>
          </a:p>
          <a:p>
            <a:pPr algn="l">
              <a:buFont typeface="Arial" panose="020B0604020202020204" pitchFamily="34" charset="0"/>
              <a:buChar char="•"/>
            </a:pPr>
            <a:r>
              <a:rPr lang="en-US" b="0" i="0" dirty="0">
                <a:effectLst/>
                <a:latin typeface="fkGroteskNeue"/>
              </a:rPr>
              <a:t>Catches errors at the earliest stage.</a:t>
            </a:r>
          </a:p>
          <a:p>
            <a:pPr algn="l">
              <a:buFont typeface="Arial" panose="020B0604020202020204" pitchFamily="34" charset="0"/>
              <a:buChar char="•"/>
            </a:pPr>
            <a:r>
              <a:rPr lang="en-US" b="0" i="0" dirty="0">
                <a:effectLst/>
                <a:latin typeface="fkGroteskNeue"/>
              </a:rPr>
              <a:t>Tools: JUnit, </a:t>
            </a:r>
            <a:r>
              <a:rPr lang="en-US" b="0" i="0" dirty="0" err="1">
                <a:effectLst/>
                <a:latin typeface="fkGroteskNeue"/>
              </a:rPr>
              <a:t>NUnit</a:t>
            </a:r>
            <a:r>
              <a:rPr lang="en-US" b="0" i="0" dirty="0">
                <a:effectLst/>
                <a:latin typeface="fkGroteskNeue"/>
              </a:rPr>
              <a:t>.</a:t>
            </a:r>
          </a:p>
          <a:p>
            <a:pPr algn="l">
              <a:buNone/>
            </a:pPr>
            <a:endParaRPr lang="en-US" b="0" i="0" dirty="0">
              <a:effectLst/>
              <a:latin typeface="fkGroteskNeue"/>
            </a:endParaRPr>
          </a:p>
        </p:txBody>
      </p:sp>
    </p:spTree>
    <p:extLst>
      <p:ext uri="{BB962C8B-B14F-4D97-AF65-F5344CB8AC3E}">
        <p14:creationId xmlns:p14="http://schemas.microsoft.com/office/powerpoint/2010/main" val="35263715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22493-39B8-578D-1569-707ECD13E0D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E14C8B8-5AA5-5261-68FA-E043B170B536}"/>
              </a:ext>
            </a:extLst>
          </p:cNvPr>
          <p:cNvSpPr txBox="1"/>
          <p:nvPr/>
        </p:nvSpPr>
        <p:spPr>
          <a:xfrm>
            <a:off x="795130" y="254602"/>
            <a:ext cx="8507896" cy="3416320"/>
          </a:xfrm>
          <a:prstGeom prst="rect">
            <a:avLst/>
          </a:prstGeom>
          <a:noFill/>
        </p:spPr>
        <p:txBody>
          <a:bodyPr wrap="square">
            <a:spAutoFit/>
          </a:bodyPr>
          <a:lstStyle/>
          <a:p>
            <a:pPr algn="l">
              <a:buNone/>
            </a:pPr>
            <a:r>
              <a:rPr lang="en-US" b="1" i="0" dirty="0">
                <a:effectLst/>
                <a:latin typeface="fkGroteskNeue"/>
              </a:rPr>
              <a:t>2. Integration Testing</a:t>
            </a:r>
          </a:p>
          <a:p>
            <a:pPr algn="l">
              <a:buFont typeface="Arial" panose="020B0604020202020204" pitchFamily="34" charset="0"/>
              <a:buChar char="•"/>
            </a:pPr>
            <a:r>
              <a:rPr lang="en-US" b="0" i="0" dirty="0">
                <a:effectLst/>
                <a:latin typeface="fkGroteskNeue"/>
              </a:rPr>
              <a:t>Tests interactions between integrated modules.</a:t>
            </a:r>
          </a:p>
          <a:p>
            <a:pPr algn="l">
              <a:buFont typeface="Arial" panose="020B0604020202020204" pitchFamily="34" charset="0"/>
              <a:buChar char="•"/>
            </a:pPr>
            <a:r>
              <a:rPr lang="en-US" b="0" i="0" dirty="0">
                <a:effectLst/>
                <a:latin typeface="fkGroteskNeue"/>
              </a:rPr>
              <a:t>Ensures combined components function together as intended.</a:t>
            </a:r>
          </a:p>
          <a:p>
            <a:pPr algn="l">
              <a:buFont typeface="Arial" panose="020B0604020202020204" pitchFamily="34" charset="0"/>
              <a:buChar char="•"/>
            </a:pPr>
            <a:r>
              <a:rPr lang="en-US" b="0" i="0" dirty="0">
                <a:effectLst/>
                <a:latin typeface="fkGroteskNeue"/>
              </a:rPr>
              <a:t>Detects interface and communication </a:t>
            </a:r>
          </a:p>
          <a:p>
            <a:pPr algn="l">
              <a:buFont typeface="Arial" panose="020B0604020202020204" pitchFamily="34" charset="0"/>
              <a:buChar char="•"/>
            </a:pPr>
            <a:endParaRPr lang="en-US" dirty="0">
              <a:latin typeface="fkGroteskNeue"/>
            </a:endParaRPr>
          </a:p>
          <a:p>
            <a:r>
              <a:rPr lang="en-US" b="1" dirty="0">
                <a:latin typeface="fkGroteskNeue"/>
              </a:rPr>
              <a:t>3. User Acceptance Testing (UAT)</a:t>
            </a:r>
          </a:p>
          <a:p>
            <a:pPr marL="285750" indent="-285750">
              <a:buFont typeface="Arial" panose="020B0604020202020204" pitchFamily="34" charset="0"/>
              <a:buChar char="•"/>
            </a:pPr>
            <a:r>
              <a:rPr lang="en-US" dirty="0">
                <a:latin typeface="fkGroteskNeue"/>
              </a:rPr>
              <a:t>Conducted by end-users or clients.</a:t>
            </a:r>
          </a:p>
          <a:p>
            <a:pPr marL="285750" indent="-285750">
              <a:buFont typeface="Arial" panose="020B0604020202020204" pitchFamily="34" charset="0"/>
              <a:buChar char="•"/>
            </a:pPr>
            <a:r>
              <a:rPr lang="en-US" dirty="0">
                <a:latin typeface="fkGroteskNeue"/>
              </a:rPr>
              <a:t>Validates the software against business requirements.</a:t>
            </a:r>
          </a:p>
          <a:p>
            <a:pPr marL="285750" indent="-285750">
              <a:buFont typeface="Arial" panose="020B0604020202020204" pitchFamily="34" charset="0"/>
              <a:buChar char="•"/>
            </a:pPr>
            <a:r>
              <a:rPr lang="en-US" dirty="0">
                <a:latin typeface="fkGroteskNeue"/>
              </a:rPr>
              <a:t>Determines whether the software is ready for deployment.</a:t>
            </a:r>
          </a:p>
          <a:p>
            <a:pPr marL="285750" indent="-285750">
              <a:buFont typeface="Arial" panose="020B0604020202020204" pitchFamily="34" charset="0"/>
              <a:buChar char="•"/>
            </a:pPr>
            <a:r>
              <a:rPr lang="en-US" dirty="0">
                <a:latin typeface="fkGroteskNeue"/>
              </a:rPr>
              <a:t>Ensures user satisfaction and acceptance.</a:t>
            </a:r>
          </a:p>
          <a:p>
            <a:pPr algn="l"/>
            <a:endParaRPr lang="en-IN" dirty="0"/>
          </a:p>
          <a:p>
            <a:r>
              <a:rPr lang="en-IN" dirty="0"/>
              <a:t>Summary Table</a:t>
            </a:r>
          </a:p>
        </p:txBody>
      </p:sp>
    </p:spTree>
    <p:extLst>
      <p:ext uri="{BB962C8B-B14F-4D97-AF65-F5344CB8AC3E}">
        <p14:creationId xmlns:p14="http://schemas.microsoft.com/office/powerpoint/2010/main" val="4408334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D872B-126A-E0AE-644C-C89AEC64F1B1}"/>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1ED81DB-0BC1-89F9-8043-0B697F7527A8}"/>
              </a:ext>
            </a:extLst>
          </p:cNvPr>
          <p:cNvGraphicFramePr>
            <a:graphicFrameLocks noGrp="1"/>
          </p:cNvGraphicFramePr>
          <p:nvPr>
            <p:extLst>
              <p:ext uri="{D42A27DB-BD31-4B8C-83A1-F6EECF244321}">
                <p14:modId xmlns:p14="http://schemas.microsoft.com/office/powerpoint/2010/main" val="1027028249"/>
              </p:ext>
            </p:extLst>
          </p:nvPr>
        </p:nvGraphicFramePr>
        <p:xfrm>
          <a:off x="924339" y="172762"/>
          <a:ext cx="8426192" cy="3881437"/>
        </p:xfrm>
        <a:graphic>
          <a:graphicData uri="http://schemas.openxmlformats.org/drawingml/2006/table">
            <a:tbl>
              <a:tblPr>
                <a:tableStyleId>{5940675A-B579-460E-94D1-54222C63F5DA}</a:tableStyleId>
              </a:tblPr>
              <a:tblGrid>
                <a:gridCol w="1818861">
                  <a:extLst>
                    <a:ext uri="{9D8B030D-6E8A-4147-A177-3AD203B41FA5}">
                      <a16:colId xmlns:a16="http://schemas.microsoft.com/office/drawing/2014/main" val="2178930966"/>
                    </a:ext>
                  </a:extLst>
                </a:gridCol>
                <a:gridCol w="2246243">
                  <a:extLst>
                    <a:ext uri="{9D8B030D-6E8A-4147-A177-3AD203B41FA5}">
                      <a16:colId xmlns:a16="http://schemas.microsoft.com/office/drawing/2014/main" val="1390529368"/>
                    </a:ext>
                  </a:extLst>
                </a:gridCol>
                <a:gridCol w="1779105">
                  <a:extLst>
                    <a:ext uri="{9D8B030D-6E8A-4147-A177-3AD203B41FA5}">
                      <a16:colId xmlns:a16="http://schemas.microsoft.com/office/drawing/2014/main" val="859065793"/>
                    </a:ext>
                  </a:extLst>
                </a:gridCol>
                <a:gridCol w="2581983">
                  <a:extLst>
                    <a:ext uri="{9D8B030D-6E8A-4147-A177-3AD203B41FA5}">
                      <a16:colId xmlns:a16="http://schemas.microsoft.com/office/drawing/2014/main" val="1993128517"/>
                    </a:ext>
                  </a:extLst>
                </a:gridCol>
              </a:tblGrid>
              <a:tr h="336391">
                <a:tc>
                  <a:txBody>
                    <a:bodyPr/>
                    <a:lstStyle/>
                    <a:p>
                      <a:pPr algn="ctr">
                        <a:buNone/>
                      </a:pPr>
                      <a:r>
                        <a:rPr lang="en-IN" sz="1500" b="1">
                          <a:effectLst/>
                        </a:rPr>
                        <a:t>Testing Aspect</a:t>
                      </a:r>
                    </a:p>
                  </a:txBody>
                  <a:tcPr marL="51752" marR="51752" marT="51752" marB="51752" anchor="ctr"/>
                </a:tc>
                <a:tc>
                  <a:txBody>
                    <a:bodyPr/>
                    <a:lstStyle/>
                    <a:p>
                      <a:pPr algn="ctr">
                        <a:buNone/>
                      </a:pPr>
                      <a:r>
                        <a:rPr lang="en-IN" sz="1500" b="1">
                          <a:effectLst/>
                        </a:rPr>
                        <a:t>Description</a:t>
                      </a:r>
                    </a:p>
                  </a:txBody>
                  <a:tcPr marL="51752" marR="51752" marT="51752" marB="51752" anchor="ctr"/>
                </a:tc>
                <a:tc>
                  <a:txBody>
                    <a:bodyPr/>
                    <a:lstStyle/>
                    <a:p>
                      <a:pPr algn="ctr">
                        <a:buNone/>
                      </a:pPr>
                      <a:r>
                        <a:rPr lang="en-IN" sz="1500" b="1">
                          <a:effectLst/>
                        </a:rPr>
                        <a:t>Performed By</a:t>
                      </a:r>
                    </a:p>
                  </a:txBody>
                  <a:tcPr marL="51752" marR="51752" marT="51752" marB="51752" anchor="ctr"/>
                </a:tc>
                <a:tc>
                  <a:txBody>
                    <a:bodyPr/>
                    <a:lstStyle/>
                    <a:p>
                      <a:pPr algn="ctr">
                        <a:buNone/>
                      </a:pPr>
                      <a:r>
                        <a:rPr lang="en-IN" sz="1500" b="1" dirty="0">
                          <a:effectLst/>
                        </a:rPr>
                        <a:t>Objective</a:t>
                      </a:r>
                    </a:p>
                  </a:txBody>
                  <a:tcPr marL="51752" marR="51752" marT="51752" marB="51752" anchor="ctr"/>
                </a:tc>
                <a:extLst>
                  <a:ext uri="{0D108BD9-81ED-4DB2-BD59-A6C34878D82A}">
                    <a16:rowId xmlns:a16="http://schemas.microsoft.com/office/drawing/2014/main" val="593153090"/>
                  </a:ext>
                </a:extLst>
              </a:tr>
              <a:tr h="802164">
                <a:tc>
                  <a:txBody>
                    <a:bodyPr/>
                    <a:lstStyle/>
                    <a:p>
                      <a:pPr algn="l">
                        <a:buNone/>
                      </a:pPr>
                      <a:r>
                        <a:rPr lang="en-IN" sz="1500">
                          <a:effectLst/>
                        </a:rPr>
                        <a:t>Black-box Testing</a:t>
                      </a:r>
                    </a:p>
                  </a:txBody>
                  <a:tcPr marL="51752" marR="51752" marT="51752" marB="51752" anchor="ctr"/>
                </a:tc>
                <a:tc>
                  <a:txBody>
                    <a:bodyPr/>
                    <a:lstStyle/>
                    <a:p>
                      <a:pPr algn="l">
                        <a:buNone/>
                      </a:pPr>
                      <a:r>
                        <a:rPr lang="en-IN" sz="1500">
                          <a:effectLst/>
                        </a:rPr>
                        <a:t>Tests software functionality</a:t>
                      </a:r>
                    </a:p>
                  </a:txBody>
                  <a:tcPr marL="51752" marR="51752" marT="51752" marB="51752" anchor="ctr"/>
                </a:tc>
                <a:tc>
                  <a:txBody>
                    <a:bodyPr/>
                    <a:lstStyle/>
                    <a:p>
                      <a:pPr algn="l">
                        <a:buNone/>
                      </a:pPr>
                      <a:r>
                        <a:rPr lang="en-IN" sz="1500">
                          <a:effectLst/>
                        </a:rPr>
                        <a:t>Testers</a:t>
                      </a:r>
                    </a:p>
                  </a:txBody>
                  <a:tcPr marL="51752" marR="51752" marT="51752" marB="51752" anchor="ctr"/>
                </a:tc>
                <a:tc>
                  <a:txBody>
                    <a:bodyPr/>
                    <a:lstStyle/>
                    <a:p>
                      <a:pPr algn="l">
                        <a:buNone/>
                      </a:pPr>
                      <a:r>
                        <a:rPr lang="en-IN" sz="1500">
                          <a:effectLst/>
                        </a:rPr>
                        <a:t>Verify outputs against requirements</a:t>
                      </a:r>
                    </a:p>
                  </a:txBody>
                  <a:tcPr marL="51752" marR="51752" marT="51752" marB="51752" anchor="ctr"/>
                </a:tc>
                <a:extLst>
                  <a:ext uri="{0D108BD9-81ED-4DB2-BD59-A6C34878D82A}">
                    <a16:rowId xmlns:a16="http://schemas.microsoft.com/office/drawing/2014/main" val="3806912801"/>
                  </a:ext>
                </a:extLst>
              </a:tr>
              <a:tr h="802164">
                <a:tc>
                  <a:txBody>
                    <a:bodyPr/>
                    <a:lstStyle/>
                    <a:p>
                      <a:pPr algn="l">
                        <a:buNone/>
                      </a:pPr>
                      <a:r>
                        <a:rPr lang="en-IN" sz="1500">
                          <a:effectLst/>
                        </a:rPr>
                        <a:t>White-box Testing</a:t>
                      </a:r>
                    </a:p>
                  </a:txBody>
                  <a:tcPr marL="51752" marR="51752" marT="51752" marB="51752" anchor="ctr"/>
                </a:tc>
                <a:tc>
                  <a:txBody>
                    <a:bodyPr/>
                    <a:lstStyle/>
                    <a:p>
                      <a:pPr algn="l">
                        <a:buNone/>
                      </a:pPr>
                      <a:r>
                        <a:rPr lang="en-IN" sz="1500">
                          <a:effectLst/>
                        </a:rPr>
                        <a:t>Tests internal code structure</a:t>
                      </a:r>
                    </a:p>
                  </a:txBody>
                  <a:tcPr marL="51752" marR="51752" marT="51752" marB="51752" anchor="ctr"/>
                </a:tc>
                <a:tc>
                  <a:txBody>
                    <a:bodyPr/>
                    <a:lstStyle/>
                    <a:p>
                      <a:pPr algn="l">
                        <a:buNone/>
                      </a:pPr>
                      <a:r>
                        <a:rPr lang="en-IN" sz="1500" dirty="0">
                          <a:effectLst/>
                        </a:rPr>
                        <a:t>Developers</a:t>
                      </a:r>
                    </a:p>
                  </a:txBody>
                  <a:tcPr marL="51752" marR="51752" marT="51752" marB="51752" anchor="ctr"/>
                </a:tc>
                <a:tc>
                  <a:txBody>
                    <a:bodyPr/>
                    <a:lstStyle/>
                    <a:p>
                      <a:pPr algn="l">
                        <a:buNone/>
                      </a:pPr>
                      <a:r>
                        <a:rPr lang="en-US" sz="1500">
                          <a:effectLst/>
                        </a:rPr>
                        <a:t>Ensure code coverage and correctness</a:t>
                      </a:r>
                    </a:p>
                  </a:txBody>
                  <a:tcPr marL="51752" marR="51752" marT="51752" marB="51752" anchor="ctr"/>
                </a:tc>
                <a:extLst>
                  <a:ext uri="{0D108BD9-81ED-4DB2-BD59-A6C34878D82A}">
                    <a16:rowId xmlns:a16="http://schemas.microsoft.com/office/drawing/2014/main" val="579737692"/>
                  </a:ext>
                </a:extLst>
              </a:tr>
              <a:tr h="802164">
                <a:tc>
                  <a:txBody>
                    <a:bodyPr/>
                    <a:lstStyle/>
                    <a:p>
                      <a:pPr algn="l">
                        <a:buNone/>
                      </a:pPr>
                      <a:r>
                        <a:rPr lang="en-IN" sz="1500">
                          <a:effectLst/>
                        </a:rPr>
                        <a:t>Unit Testing</a:t>
                      </a:r>
                    </a:p>
                  </a:txBody>
                  <a:tcPr marL="51752" marR="51752" marT="51752" marB="51752" anchor="ctr"/>
                </a:tc>
                <a:tc>
                  <a:txBody>
                    <a:bodyPr/>
                    <a:lstStyle/>
                    <a:p>
                      <a:pPr algn="l">
                        <a:buNone/>
                      </a:pPr>
                      <a:r>
                        <a:rPr lang="en-IN" sz="1500">
                          <a:effectLst/>
                        </a:rPr>
                        <a:t>Tests individual modules</a:t>
                      </a:r>
                    </a:p>
                  </a:txBody>
                  <a:tcPr marL="51752" marR="51752" marT="51752" marB="51752" anchor="ctr"/>
                </a:tc>
                <a:tc>
                  <a:txBody>
                    <a:bodyPr/>
                    <a:lstStyle/>
                    <a:p>
                      <a:pPr algn="l">
                        <a:buNone/>
                      </a:pPr>
                      <a:r>
                        <a:rPr lang="en-IN" sz="1500">
                          <a:effectLst/>
                        </a:rPr>
                        <a:t>Developers</a:t>
                      </a:r>
                    </a:p>
                  </a:txBody>
                  <a:tcPr marL="51752" marR="51752" marT="51752" marB="51752" anchor="ctr"/>
                </a:tc>
                <a:tc>
                  <a:txBody>
                    <a:bodyPr/>
                    <a:lstStyle/>
                    <a:p>
                      <a:pPr algn="l">
                        <a:buNone/>
                      </a:pPr>
                      <a:r>
                        <a:rPr lang="en-US" sz="1500">
                          <a:effectLst/>
                        </a:rPr>
                        <a:t>Detect early defects in components</a:t>
                      </a:r>
                    </a:p>
                  </a:txBody>
                  <a:tcPr marL="51752" marR="51752" marT="51752" marB="51752" anchor="ctr"/>
                </a:tc>
                <a:extLst>
                  <a:ext uri="{0D108BD9-81ED-4DB2-BD59-A6C34878D82A}">
                    <a16:rowId xmlns:a16="http://schemas.microsoft.com/office/drawing/2014/main" val="4271367147"/>
                  </a:ext>
                </a:extLst>
              </a:tr>
              <a:tr h="569277">
                <a:tc>
                  <a:txBody>
                    <a:bodyPr/>
                    <a:lstStyle/>
                    <a:p>
                      <a:pPr algn="l">
                        <a:buNone/>
                      </a:pPr>
                      <a:r>
                        <a:rPr lang="en-IN" sz="1500">
                          <a:effectLst/>
                        </a:rPr>
                        <a:t>Integration Testing</a:t>
                      </a:r>
                    </a:p>
                  </a:txBody>
                  <a:tcPr marL="51752" marR="51752" marT="51752" marB="51752" anchor="ctr"/>
                </a:tc>
                <a:tc>
                  <a:txBody>
                    <a:bodyPr/>
                    <a:lstStyle/>
                    <a:p>
                      <a:pPr algn="l">
                        <a:buNone/>
                      </a:pPr>
                      <a:r>
                        <a:rPr lang="en-IN" sz="1500">
                          <a:effectLst/>
                        </a:rPr>
                        <a:t>Tests combined modules</a:t>
                      </a:r>
                    </a:p>
                  </a:txBody>
                  <a:tcPr marL="51752" marR="51752" marT="51752" marB="51752" anchor="ctr"/>
                </a:tc>
                <a:tc>
                  <a:txBody>
                    <a:bodyPr/>
                    <a:lstStyle/>
                    <a:p>
                      <a:pPr algn="l">
                        <a:buNone/>
                      </a:pPr>
                      <a:r>
                        <a:rPr lang="en-IN" sz="1500">
                          <a:effectLst/>
                        </a:rPr>
                        <a:t>Testers/Developers</a:t>
                      </a:r>
                    </a:p>
                  </a:txBody>
                  <a:tcPr marL="51752" marR="51752" marT="51752" marB="51752" anchor="ctr"/>
                </a:tc>
                <a:tc>
                  <a:txBody>
                    <a:bodyPr/>
                    <a:lstStyle/>
                    <a:p>
                      <a:pPr algn="l">
                        <a:buNone/>
                      </a:pPr>
                      <a:r>
                        <a:rPr lang="en-US" sz="1500">
                          <a:effectLst/>
                        </a:rPr>
                        <a:t>Validate interfaces and data flow</a:t>
                      </a:r>
                    </a:p>
                  </a:txBody>
                  <a:tcPr marL="51752" marR="51752" marT="51752" marB="51752" anchor="ctr"/>
                </a:tc>
                <a:extLst>
                  <a:ext uri="{0D108BD9-81ED-4DB2-BD59-A6C34878D82A}">
                    <a16:rowId xmlns:a16="http://schemas.microsoft.com/office/drawing/2014/main" val="3220551575"/>
                  </a:ext>
                </a:extLst>
              </a:tr>
              <a:tr h="569277">
                <a:tc>
                  <a:txBody>
                    <a:bodyPr/>
                    <a:lstStyle/>
                    <a:p>
                      <a:pPr algn="l">
                        <a:buNone/>
                      </a:pPr>
                      <a:r>
                        <a:rPr lang="en-IN" sz="1500">
                          <a:effectLst/>
                        </a:rPr>
                        <a:t>User Acceptance Testing</a:t>
                      </a:r>
                    </a:p>
                  </a:txBody>
                  <a:tcPr marL="51752" marR="51752" marT="51752" marB="51752" anchor="ctr"/>
                </a:tc>
                <a:tc>
                  <a:txBody>
                    <a:bodyPr/>
                    <a:lstStyle/>
                    <a:p>
                      <a:pPr algn="l">
                        <a:buNone/>
                      </a:pPr>
                      <a:r>
                        <a:rPr lang="en-US" sz="1500">
                          <a:effectLst/>
                        </a:rPr>
                        <a:t>Validates system meets user needs</a:t>
                      </a:r>
                    </a:p>
                  </a:txBody>
                  <a:tcPr marL="51752" marR="51752" marT="51752" marB="51752" anchor="ctr"/>
                </a:tc>
                <a:tc>
                  <a:txBody>
                    <a:bodyPr/>
                    <a:lstStyle/>
                    <a:p>
                      <a:pPr algn="l">
                        <a:buNone/>
                      </a:pPr>
                      <a:r>
                        <a:rPr lang="en-IN" sz="1500">
                          <a:effectLst/>
                        </a:rPr>
                        <a:t>End-users/Clients</a:t>
                      </a:r>
                    </a:p>
                  </a:txBody>
                  <a:tcPr marL="51752" marR="51752" marT="51752" marB="51752" anchor="ctr"/>
                </a:tc>
                <a:tc>
                  <a:txBody>
                    <a:bodyPr/>
                    <a:lstStyle/>
                    <a:p>
                      <a:pPr algn="l">
                        <a:buNone/>
                      </a:pPr>
                      <a:r>
                        <a:rPr lang="en-IN" sz="1500" dirty="0">
                          <a:effectLst/>
                        </a:rPr>
                        <a:t>Final acceptance before release</a:t>
                      </a:r>
                    </a:p>
                  </a:txBody>
                  <a:tcPr marL="51752" marR="51752" marT="51752" marB="51752" anchor="ctr"/>
                </a:tc>
                <a:extLst>
                  <a:ext uri="{0D108BD9-81ED-4DB2-BD59-A6C34878D82A}">
                    <a16:rowId xmlns:a16="http://schemas.microsoft.com/office/drawing/2014/main" val="2668634659"/>
                  </a:ext>
                </a:extLst>
              </a:tr>
            </a:tbl>
          </a:graphicData>
        </a:graphic>
      </p:graphicFrame>
      <p:sp>
        <p:nvSpPr>
          <p:cNvPr id="3" name="TextBox 2">
            <a:extLst>
              <a:ext uri="{FF2B5EF4-FFF2-40B4-BE49-F238E27FC236}">
                <a16:creationId xmlns:a16="http://schemas.microsoft.com/office/drawing/2014/main" id="{7D2566A0-CBA3-674D-B169-793C9A13658A}"/>
              </a:ext>
            </a:extLst>
          </p:cNvPr>
          <p:cNvSpPr txBox="1"/>
          <p:nvPr/>
        </p:nvSpPr>
        <p:spPr>
          <a:xfrm>
            <a:off x="924338" y="4160679"/>
            <a:ext cx="8426191" cy="923330"/>
          </a:xfrm>
          <a:prstGeom prst="rect">
            <a:avLst/>
          </a:prstGeom>
          <a:noFill/>
        </p:spPr>
        <p:txBody>
          <a:bodyPr wrap="square">
            <a:spAutoFit/>
          </a:bodyPr>
          <a:lstStyle/>
          <a:p>
            <a:r>
              <a:rPr lang="en-US" b="0" i="0" dirty="0">
                <a:effectLst/>
                <a:latin typeface="fkGroteskNeue"/>
              </a:rPr>
              <a:t>Software testing is vital for delivering high-quality, bug-free software that meets user expectations, reduces risk, and facilitates smooth operations.### Translating Requirement Model into Design Model: Data Modelling</a:t>
            </a:r>
            <a:endParaRPr lang="en-IN" dirty="0"/>
          </a:p>
        </p:txBody>
      </p:sp>
    </p:spTree>
    <p:extLst>
      <p:ext uri="{BB962C8B-B14F-4D97-AF65-F5344CB8AC3E}">
        <p14:creationId xmlns:p14="http://schemas.microsoft.com/office/powerpoint/2010/main" val="40800486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5F62A-47C9-DCBD-1B27-B7F049E4E73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9B24EC4-86DF-DCC9-FE9C-61AF6FA60DBA}"/>
              </a:ext>
            </a:extLst>
          </p:cNvPr>
          <p:cNvSpPr txBox="1"/>
          <p:nvPr/>
        </p:nvSpPr>
        <p:spPr>
          <a:xfrm>
            <a:off x="795131" y="159026"/>
            <a:ext cx="8448261" cy="2862322"/>
          </a:xfrm>
          <a:prstGeom prst="rect">
            <a:avLst/>
          </a:prstGeom>
          <a:noFill/>
        </p:spPr>
        <p:txBody>
          <a:bodyPr wrap="square">
            <a:spAutoFit/>
          </a:bodyPr>
          <a:lstStyle/>
          <a:p>
            <a:pPr marL="285750" indent="-285750" algn="l">
              <a:buFont typeface="Arial" panose="020B0604020202020204" pitchFamily="34" charset="0"/>
              <a:buChar char="•"/>
            </a:pPr>
            <a:r>
              <a:rPr lang="en-US" b="1" i="0" dirty="0">
                <a:effectLst/>
                <a:latin typeface="fkGrotesk"/>
              </a:rPr>
              <a:t>Overview</a:t>
            </a:r>
          </a:p>
          <a:p>
            <a:pPr algn="l">
              <a:buNone/>
            </a:pPr>
            <a:r>
              <a:rPr lang="en-US" b="0" i="0" dirty="0">
                <a:effectLst/>
                <a:latin typeface="fkGroteskNeue"/>
              </a:rPr>
              <a:t>Translating the requirement model into a design model is a critical step in software development, where the abstract requirements are transformed into detailed technical specifications for implementation. One of the essential aspects of this transformation is Data Modelling.</a:t>
            </a:r>
          </a:p>
          <a:p>
            <a:pPr>
              <a:buNone/>
            </a:pPr>
            <a:endParaRPr lang="en-US" dirty="0"/>
          </a:p>
          <a:p>
            <a:pPr marL="285750" indent="-285750" algn="l">
              <a:buFont typeface="Wingdings" panose="05000000000000000000" pitchFamily="2" charset="2"/>
              <a:buChar char="Ø"/>
            </a:pPr>
            <a:r>
              <a:rPr lang="en-US" b="1" i="0" dirty="0">
                <a:effectLst/>
                <a:latin typeface="fkGrotesk"/>
              </a:rPr>
              <a:t>What is Data Modelling?</a:t>
            </a:r>
          </a:p>
          <a:p>
            <a:pPr algn="l">
              <a:buNone/>
            </a:pPr>
            <a:r>
              <a:rPr lang="en-US" b="0" i="0" dirty="0">
                <a:effectLst/>
                <a:latin typeface="fkGroteskNeue"/>
              </a:rPr>
              <a:t>Data modelling is the process of creating a visual representation of the data structures, relationships, and constraints based on the requirements. It defines how data is organized, stored, and accessed in the system.</a:t>
            </a:r>
          </a:p>
        </p:txBody>
      </p:sp>
      <p:sp>
        <p:nvSpPr>
          <p:cNvPr id="5" name="TextBox 4">
            <a:extLst>
              <a:ext uri="{FF2B5EF4-FFF2-40B4-BE49-F238E27FC236}">
                <a16:creationId xmlns:a16="http://schemas.microsoft.com/office/drawing/2014/main" id="{64673D84-F4AB-4FD9-724D-0510C675D0B2}"/>
              </a:ext>
            </a:extLst>
          </p:cNvPr>
          <p:cNvSpPr txBox="1"/>
          <p:nvPr/>
        </p:nvSpPr>
        <p:spPr>
          <a:xfrm>
            <a:off x="626166" y="3021348"/>
            <a:ext cx="8617226" cy="2585323"/>
          </a:xfrm>
          <a:prstGeom prst="rect">
            <a:avLst/>
          </a:prstGeom>
          <a:noFill/>
        </p:spPr>
        <p:txBody>
          <a:bodyPr wrap="square">
            <a:spAutoFit/>
          </a:bodyPr>
          <a:lstStyle/>
          <a:p>
            <a:pPr marL="285750" indent="-285750" algn="l">
              <a:buFont typeface="Wingdings" panose="05000000000000000000" pitchFamily="2" charset="2"/>
              <a:buChar char="q"/>
            </a:pPr>
            <a:r>
              <a:rPr lang="en-US" b="1" i="0" dirty="0">
                <a:effectLst/>
                <a:latin typeface="fkGrotesk"/>
              </a:rPr>
              <a:t>Steps in Translating to Data Model</a:t>
            </a:r>
          </a:p>
          <a:p>
            <a:pPr algn="l">
              <a:buNone/>
            </a:pPr>
            <a:endParaRPr lang="en-US" b="0" i="0" dirty="0">
              <a:effectLst/>
              <a:latin typeface="fkGrotesk"/>
            </a:endParaRPr>
          </a:p>
          <a:p>
            <a:pPr algn="l">
              <a:buFont typeface="+mj-lt"/>
              <a:buAutoNum type="arabicPeriod"/>
            </a:pPr>
            <a:r>
              <a:rPr lang="en-US" b="1" i="0" dirty="0">
                <a:effectLst/>
                <a:latin typeface="fkGroteskNeue"/>
              </a:rPr>
              <a:t>Analyze Requirement Model:</a:t>
            </a:r>
          </a:p>
          <a:p>
            <a:pPr marL="742950" lvl="1" indent="-285750" algn="l">
              <a:buFont typeface="+mj-lt"/>
              <a:buAutoNum type="arabicPeriod"/>
            </a:pPr>
            <a:r>
              <a:rPr lang="en-US" b="0" i="0" dirty="0">
                <a:effectLst/>
                <a:latin typeface="fkGroteskNeue"/>
              </a:rPr>
              <a:t>Examine the requirement artifacts like use cases, user stories, and requirement specifications to extract relevant data elements and their interactions.</a:t>
            </a:r>
            <a:endParaRPr lang="en-US" dirty="0">
              <a:latin typeface="fkGroteskNeue"/>
            </a:endParaRPr>
          </a:p>
          <a:p>
            <a:pPr lvl="1" algn="l"/>
            <a:endParaRPr lang="en-US" b="0" i="0" dirty="0">
              <a:effectLst/>
              <a:latin typeface="fkGroteskNeue"/>
            </a:endParaRPr>
          </a:p>
          <a:p>
            <a:pPr algn="l">
              <a:buFont typeface="+mj-lt"/>
              <a:buAutoNum type="arabicPeriod"/>
            </a:pPr>
            <a:r>
              <a:rPr lang="en-US" b="1" i="0" dirty="0">
                <a:effectLst/>
                <a:latin typeface="fkGroteskNeue"/>
              </a:rPr>
              <a:t>Identify Entities and Attributes:</a:t>
            </a:r>
          </a:p>
          <a:p>
            <a:pPr marL="742950" lvl="1" indent="-285750" algn="l">
              <a:buFont typeface="+mj-lt"/>
              <a:buAutoNum type="arabicPeriod"/>
            </a:pPr>
            <a:r>
              <a:rPr lang="en-US" b="0" i="0" dirty="0">
                <a:effectLst/>
                <a:latin typeface="fkGroteskNeue"/>
              </a:rPr>
              <a:t>Determine the real-world objects or concepts (entities) involved in the domain.</a:t>
            </a:r>
          </a:p>
          <a:p>
            <a:pPr marL="742950" lvl="1" indent="-285750" algn="l">
              <a:buFont typeface="+mj-lt"/>
              <a:buAutoNum type="arabicPeriod"/>
            </a:pPr>
            <a:r>
              <a:rPr lang="en-US" b="0" i="0" dirty="0">
                <a:effectLst/>
                <a:latin typeface="fkGroteskNeue"/>
              </a:rPr>
              <a:t>Define the properties (attributes) of these entities from requirement description</a:t>
            </a:r>
          </a:p>
        </p:txBody>
      </p:sp>
    </p:spTree>
    <p:extLst>
      <p:ext uri="{BB962C8B-B14F-4D97-AF65-F5344CB8AC3E}">
        <p14:creationId xmlns:p14="http://schemas.microsoft.com/office/powerpoint/2010/main" val="4255679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26E63-55AD-ACC1-513A-04CF1A9E91C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10C5D4F-0F48-81A9-DF16-37D9E9929C3F}"/>
              </a:ext>
            </a:extLst>
          </p:cNvPr>
          <p:cNvSpPr txBox="1"/>
          <p:nvPr/>
        </p:nvSpPr>
        <p:spPr>
          <a:xfrm>
            <a:off x="864704" y="174227"/>
            <a:ext cx="8338930" cy="4524315"/>
          </a:xfrm>
          <a:prstGeom prst="rect">
            <a:avLst/>
          </a:prstGeom>
          <a:noFill/>
        </p:spPr>
        <p:txBody>
          <a:bodyPr wrap="square">
            <a:spAutoFit/>
          </a:bodyPr>
          <a:lstStyle/>
          <a:p>
            <a:pPr algn="l"/>
            <a:r>
              <a:rPr lang="en-US" b="1" i="0" dirty="0">
                <a:effectLst/>
                <a:latin typeface="fkGroteskNeue"/>
              </a:rPr>
              <a:t>3.Define Relationships:</a:t>
            </a:r>
          </a:p>
          <a:p>
            <a:pPr marL="742950" lvl="1" indent="-285750" algn="l">
              <a:buFont typeface="+mj-lt"/>
              <a:buAutoNum type="arabicPeriod"/>
            </a:pPr>
            <a:r>
              <a:rPr lang="en-US" b="0" i="0" dirty="0">
                <a:effectLst/>
                <a:latin typeface="fkGroteskNeue"/>
              </a:rPr>
              <a:t>Establish associations between entities (one-to-one, one-to-many, many-to-many).</a:t>
            </a:r>
          </a:p>
          <a:p>
            <a:pPr marL="742950" lvl="1" indent="-285750" algn="l">
              <a:buFont typeface="+mj-lt"/>
              <a:buAutoNum type="arabicPeriod"/>
            </a:pPr>
            <a:r>
              <a:rPr lang="en-US" b="0" i="0" dirty="0">
                <a:effectLst/>
                <a:latin typeface="fkGroteskNeue"/>
              </a:rPr>
              <a:t>Specify cardinalities and participation constraints.</a:t>
            </a:r>
          </a:p>
          <a:p>
            <a:pPr lvl="1" algn="l"/>
            <a:endParaRPr lang="en-US" b="0" i="0" dirty="0">
              <a:effectLst/>
              <a:latin typeface="fkGroteskNeue"/>
            </a:endParaRPr>
          </a:p>
          <a:p>
            <a:pPr algn="l"/>
            <a:r>
              <a:rPr lang="en-US" b="1" i="0" dirty="0">
                <a:effectLst/>
                <a:latin typeface="fkGroteskNeue"/>
              </a:rPr>
              <a:t>4.Create Entity-Relationship Diagrams (ERD):</a:t>
            </a:r>
          </a:p>
          <a:p>
            <a:pPr marL="742950" lvl="1" indent="-285750" algn="l">
              <a:buFont typeface="+mj-lt"/>
              <a:buAutoNum type="arabicPeriod"/>
            </a:pPr>
            <a:r>
              <a:rPr lang="en-US" b="0" i="0" dirty="0">
                <a:effectLst/>
                <a:latin typeface="fkGroteskNeue"/>
              </a:rPr>
              <a:t>Depict entities, attributes, keys (primary and foreign), and relationships graphically.</a:t>
            </a:r>
          </a:p>
          <a:p>
            <a:pPr marL="742950" lvl="1" indent="-285750" algn="l">
              <a:buFont typeface="+mj-lt"/>
              <a:buAutoNum type="arabicPeriod"/>
            </a:pPr>
            <a:r>
              <a:rPr lang="en-US" b="0" i="0" dirty="0">
                <a:effectLst/>
                <a:latin typeface="fkGroteskNeue"/>
              </a:rPr>
              <a:t>Use ER diagrams to communicate design ideas clearly.</a:t>
            </a:r>
          </a:p>
          <a:p>
            <a:pPr lvl="1" algn="l"/>
            <a:endParaRPr lang="en-US" b="0" i="0" dirty="0">
              <a:effectLst/>
              <a:latin typeface="fkGroteskNeue"/>
            </a:endParaRPr>
          </a:p>
          <a:p>
            <a:pPr algn="l"/>
            <a:r>
              <a:rPr lang="en-US" b="1" i="0" dirty="0">
                <a:effectLst/>
                <a:latin typeface="fkGroteskNeue"/>
              </a:rPr>
              <a:t>5.Normalize Data Structures:</a:t>
            </a:r>
          </a:p>
          <a:p>
            <a:pPr marL="742950" lvl="1" indent="-285750" algn="l">
              <a:buFont typeface="+mj-lt"/>
              <a:buAutoNum type="arabicPeriod"/>
            </a:pPr>
            <a:r>
              <a:rPr lang="en-US" b="0" i="0" dirty="0">
                <a:effectLst/>
                <a:latin typeface="fkGroteskNeue"/>
              </a:rPr>
              <a:t>Apply normalization rules to remove redundancy and ensure data integrity.</a:t>
            </a:r>
          </a:p>
          <a:p>
            <a:pPr lvl="1" algn="l"/>
            <a:endParaRPr lang="en-US" b="0" i="0" dirty="0">
              <a:effectLst/>
              <a:latin typeface="fkGroteskNeue"/>
            </a:endParaRPr>
          </a:p>
          <a:p>
            <a:pPr algn="l"/>
            <a:r>
              <a:rPr lang="en-US" b="1" i="0" dirty="0">
                <a:effectLst/>
                <a:latin typeface="fkGroteskNeue"/>
              </a:rPr>
              <a:t>6.Translate ER Model to Database Schema:</a:t>
            </a:r>
          </a:p>
          <a:p>
            <a:pPr marL="742950" lvl="1" indent="-285750" algn="l">
              <a:buFont typeface="+mj-lt"/>
              <a:buAutoNum type="arabicPeriod"/>
            </a:pPr>
            <a:r>
              <a:rPr lang="en-US" b="0" i="0" dirty="0">
                <a:effectLst/>
                <a:latin typeface="fkGroteskNeue"/>
              </a:rPr>
              <a:t>Convert entities and relationships into tables and keys for relational databases.</a:t>
            </a:r>
          </a:p>
          <a:p>
            <a:pPr marL="742950" lvl="1" indent="-285750" algn="l">
              <a:buFont typeface="+mj-lt"/>
              <a:buAutoNum type="arabicPeriod"/>
            </a:pPr>
            <a:r>
              <a:rPr lang="en-US" b="0" i="0" dirty="0">
                <a:effectLst/>
                <a:latin typeface="fkGroteskNeue"/>
              </a:rPr>
              <a:t>Include constraints and indexes necessary for efficient data access.</a:t>
            </a:r>
          </a:p>
        </p:txBody>
      </p:sp>
    </p:spTree>
    <p:extLst>
      <p:ext uri="{BB962C8B-B14F-4D97-AF65-F5344CB8AC3E}">
        <p14:creationId xmlns:p14="http://schemas.microsoft.com/office/powerpoint/2010/main" val="16757208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C018E-E99C-398B-3A5A-2CF0FAF76DA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6A49330-DC1E-DF80-1E1A-BED4F1486B9C}"/>
              </a:ext>
            </a:extLst>
          </p:cNvPr>
          <p:cNvSpPr txBox="1"/>
          <p:nvPr/>
        </p:nvSpPr>
        <p:spPr>
          <a:xfrm>
            <a:off x="944218" y="129931"/>
            <a:ext cx="8527774" cy="3693319"/>
          </a:xfrm>
          <a:prstGeom prst="rect">
            <a:avLst/>
          </a:prstGeom>
          <a:noFill/>
        </p:spPr>
        <p:txBody>
          <a:bodyPr wrap="square">
            <a:spAutoFit/>
          </a:bodyPr>
          <a:lstStyle/>
          <a:p>
            <a:pPr marL="285750" indent="-285750" algn="l">
              <a:buFont typeface="Wingdings" panose="05000000000000000000" pitchFamily="2" charset="2"/>
              <a:buChar char="Ø"/>
            </a:pPr>
            <a:r>
              <a:rPr lang="en-US" b="1" i="0" dirty="0">
                <a:effectLst/>
                <a:latin typeface="fkGrotesk"/>
              </a:rPr>
              <a:t>Importance of Data Modelling in Design</a:t>
            </a:r>
          </a:p>
          <a:p>
            <a:pPr algn="l">
              <a:buFont typeface="Arial" panose="020B0604020202020204" pitchFamily="34" charset="0"/>
              <a:buChar char="•"/>
            </a:pPr>
            <a:r>
              <a:rPr lang="en-US" b="0" i="0" dirty="0">
                <a:effectLst/>
                <a:latin typeface="fkGroteskNeue"/>
              </a:rPr>
              <a:t>Ensures a concrete, structured representation of data aligned with requirements.</a:t>
            </a:r>
          </a:p>
          <a:p>
            <a:pPr algn="l">
              <a:buFont typeface="Arial" panose="020B0604020202020204" pitchFamily="34" charset="0"/>
              <a:buChar char="•"/>
            </a:pPr>
            <a:r>
              <a:rPr lang="en-US" b="0" i="0" dirty="0">
                <a:effectLst/>
                <a:latin typeface="fkGroteskNeue"/>
              </a:rPr>
              <a:t>Facilitates communication between analysts, designers, developers, and clients.</a:t>
            </a:r>
          </a:p>
          <a:p>
            <a:pPr algn="l">
              <a:buFont typeface="Arial" panose="020B0604020202020204" pitchFamily="34" charset="0"/>
              <a:buChar char="•"/>
            </a:pPr>
            <a:r>
              <a:rPr lang="en-US" b="0" i="0" dirty="0">
                <a:effectLst/>
                <a:latin typeface="fkGroteskNeue"/>
              </a:rPr>
              <a:t>Supports the creation of efficient, scalable, and maintainable databases.</a:t>
            </a:r>
          </a:p>
          <a:p>
            <a:pPr algn="l">
              <a:buFont typeface="Arial" panose="020B0604020202020204" pitchFamily="34" charset="0"/>
              <a:buChar char="•"/>
            </a:pPr>
            <a:r>
              <a:rPr lang="en-US" b="0" i="0" dirty="0">
                <a:effectLst/>
                <a:latin typeface="fkGroteskNeue"/>
              </a:rPr>
              <a:t>Helps identify missing or inconsistent requirements early in design.</a:t>
            </a:r>
          </a:p>
          <a:p>
            <a:pPr algn="l">
              <a:buFont typeface="Arial" panose="020B0604020202020204" pitchFamily="34" charset="0"/>
              <a:buChar char="•"/>
            </a:pPr>
            <a:r>
              <a:rPr lang="en-US" b="0" i="0" dirty="0">
                <a:effectLst/>
                <a:latin typeface="fkGroteskNeue"/>
              </a:rPr>
              <a:t>Acts as a blueprint guiding the implementation and testing phases.</a:t>
            </a:r>
          </a:p>
          <a:p>
            <a:pPr algn="l">
              <a:buFont typeface="Arial" panose="020B0604020202020204" pitchFamily="34" charset="0"/>
              <a:buChar char="•"/>
            </a:pPr>
            <a:endParaRPr lang="en-US" dirty="0">
              <a:latin typeface="fkGroteskNeue"/>
            </a:endParaRPr>
          </a:p>
          <a:p>
            <a:r>
              <a:rPr lang="en-US" b="1" dirty="0">
                <a:latin typeface="fkGroteskNeue"/>
              </a:rPr>
              <a:t>Summary</a:t>
            </a:r>
            <a:endParaRPr lang="en-US" dirty="0">
              <a:latin typeface="fkGroteskNeue"/>
            </a:endParaRPr>
          </a:p>
          <a:p>
            <a:r>
              <a:rPr lang="en-US" dirty="0">
                <a:latin typeface="fkGroteskNeue"/>
              </a:rPr>
              <a:t>Data modelling translates the abstract requirement model into a precise, technical design that describes data organization and relationships. This step is vital for developing robust data management systems and aligning development efforts with business needs. It primarily uses tools like Entity-Relationship Diagrams and normalization principles to produce database schemas ready for implementation.### Elements of Analysis Model</a:t>
            </a:r>
          </a:p>
        </p:txBody>
      </p:sp>
      <p:sp>
        <p:nvSpPr>
          <p:cNvPr id="5" name="TextBox 4">
            <a:extLst>
              <a:ext uri="{FF2B5EF4-FFF2-40B4-BE49-F238E27FC236}">
                <a16:creationId xmlns:a16="http://schemas.microsoft.com/office/drawing/2014/main" id="{D42F0E7B-8FC9-94BC-F97E-0227D56253B3}"/>
              </a:ext>
            </a:extLst>
          </p:cNvPr>
          <p:cNvSpPr txBox="1"/>
          <p:nvPr/>
        </p:nvSpPr>
        <p:spPr>
          <a:xfrm>
            <a:off x="775252" y="3995678"/>
            <a:ext cx="8527774" cy="2585323"/>
          </a:xfrm>
          <a:prstGeom prst="rect">
            <a:avLst/>
          </a:prstGeom>
          <a:noFill/>
        </p:spPr>
        <p:txBody>
          <a:bodyPr wrap="square">
            <a:spAutoFit/>
          </a:bodyPr>
          <a:lstStyle/>
          <a:p>
            <a:pPr algn="l">
              <a:buNone/>
            </a:pPr>
            <a:r>
              <a:rPr lang="en-US" b="0" i="0" dirty="0">
                <a:effectLst/>
                <a:latin typeface="fkGroteskNeue"/>
              </a:rPr>
              <a:t>The analysis model bridges between requirements and design, representing system aspects needed for designing. Its key elements include:</a:t>
            </a:r>
          </a:p>
          <a:p>
            <a:pPr algn="l">
              <a:buNone/>
            </a:pPr>
            <a:endParaRPr lang="en-US" b="0" i="0" dirty="0">
              <a:effectLst/>
              <a:latin typeface="fkGroteskNeue"/>
            </a:endParaRPr>
          </a:p>
          <a:p>
            <a:pPr algn="l">
              <a:buFont typeface="Arial" panose="020B0604020202020204" pitchFamily="34" charset="0"/>
              <a:buChar char="•"/>
            </a:pPr>
            <a:r>
              <a:rPr lang="en-US" b="0" i="0" dirty="0">
                <a:effectLst/>
                <a:latin typeface="fkGroteskNeue"/>
              </a:rPr>
              <a:t>Data Dictionary: A repository defining all data elements and objects consistently.</a:t>
            </a:r>
          </a:p>
          <a:p>
            <a:pPr algn="l">
              <a:buFont typeface="Arial" panose="020B0604020202020204" pitchFamily="34" charset="0"/>
              <a:buChar char="•"/>
            </a:pPr>
            <a:r>
              <a:rPr lang="en-US" b="0" i="0" dirty="0">
                <a:effectLst/>
                <a:latin typeface="fkGroteskNeue"/>
              </a:rPr>
              <a:t>Entity-Relationship Diagrams (ERD): Show entities, attributes, and relationships in the system.</a:t>
            </a:r>
          </a:p>
          <a:p>
            <a:pPr marL="285750" indent="-285750">
              <a:buFont typeface="Arial" panose="020B0604020202020204" pitchFamily="34" charset="0"/>
              <a:buChar char="•"/>
            </a:pPr>
            <a:r>
              <a:rPr lang="en-US" dirty="0">
                <a:latin typeface="fkGroteskNeue"/>
              </a:rPr>
              <a:t>Data Flow Diagrams (DFD): Illustrate how data flows and transforms within the system.</a:t>
            </a:r>
          </a:p>
          <a:p>
            <a:pPr marL="285750" indent="-285750">
              <a:buFont typeface="Arial" panose="020B0604020202020204" pitchFamily="34" charset="0"/>
              <a:buChar char="•"/>
            </a:pPr>
            <a:r>
              <a:rPr lang="en-US" dirty="0">
                <a:latin typeface="fkGroteskNeue"/>
              </a:rPr>
              <a:t>State Transition Diagrams (STD): Represent system states and how events trigger transitions</a:t>
            </a:r>
          </a:p>
        </p:txBody>
      </p:sp>
    </p:spTree>
    <p:extLst>
      <p:ext uri="{BB962C8B-B14F-4D97-AF65-F5344CB8AC3E}">
        <p14:creationId xmlns:p14="http://schemas.microsoft.com/office/powerpoint/2010/main" val="12891668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687DF-CEDF-7906-1AFE-7E9298AF16A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33FEE18-CED0-0914-0B13-9FDDB53282C7}"/>
              </a:ext>
            </a:extLst>
          </p:cNvPr>
          <p:cNvSpPr txBox="1"/>
          <p:nvPr/>
        </p:nvSpPr>
        <p:spPr>
          <a:xfrm>
            <a:off x="805070" y="88878"/>
            <a:ext cx="8716617" cy="1754326"/>
          </a:xfrm>
          <a:prstGeom prst="rect">
            <a:avLst/>
          </a:prstGeom>
          <a:noFill/>
        </p:spPr>
        <p:txBody>
          <a:bodyPr wrap="square">
            <a:spAutoFit/>
          </a:bodyPr>
          <a:lstStyle/>
          <a:p>
            <a:pPr algn="l">
              <a:buFont typeface="Arial" panose="020B0604020202020204" pitchFamily="34" charset="0"/>
              <a:buChar char="•"/>
            </a:pPr>
            <a:r>
              <a:rPr lang="en-US" b="0" i="0" dirty="0">
                <a:effectLst/>
                <a:latin typeface="fkGroteskNeue"/>
              </a:rPr>
              <a:t>Process Specifications (PSPEC): Detail functionality and behavior of processes from DFD.</a:t>
            </a:r>
          </a:p>
          <a:p>
            <a:pPr algn="l">
              <a:buFont typeface="Arial" panose="020B0604020202020204" pitchFamily="34" charset="0"/>
              <a:buChar char="•"/>
            </a:pPr>
            <a:r>
              <a:rPr lang="en-US" b="0" i="0" dirty="0">
                <a:effectLst/>
                <a:latin typeface="fkGroteskNeue"/>
              </a:rPr>
              <a:t>Control Specifications (CSPEC): Describe control aspects and event handling.</a:t>
            </a:r>
          </a:p>
          <a:p>
            <a:pPr algn="l">
              <a:buFont typeface="Arial" panose="020B0604020202020204" pitchFamily="34" charset="0"/>
              <a:buChar char="•"/>
            </a:pPr>
            <a:r>
              <a:rPr lang="en-US" b="0" i="0" dirty="0">
                <a:effectLst/>
                <a:latin typeface="fkGroteskNeue"/>
              </a:rPr>
              <a:t>Data Object Descriptions: Define detailed properties and constraints of data objects.</a:t>
            </a:r>
          </a:p>
          <a:p>
            <a:pPr algn="l"/>
            <a:endParaRPr lang="en-US" b="0" i="0" dirty="0">
              <a:effectLst/>
              <a:latin typeface="fkGroteskNeue"/>
            </a:endParaRPr>
          </a:p>
          <a:p>
            <a:pPr algn="l">
              <a:buNone/>
            </a:pPr>
            <a:r>
              <a:rPr lang="en-US" b="0" i="0" dirty="0">
                <a:effectLst/>
                <a:latin typeface="fkGroteskNeue"/>
              </a:rPr>
              <a:t>Together, these elements provide a comprehensive understanding of data, functions, behaviors, and constraints, guiding the system's design phase.</a:t>
            </a:r>
          </a:p>
        </p:txBody>
      </p:sp>
      <p:sp>
        <p:nvSpPr>
          <p:cNvPr id="7" name="TextBox 6">
            <a:extLst>
              <a:ext uri="{FF2B5EF4-FFF2-40B4-BE49-F238E27FC236}">
                <a16:creationId xmlns:a16="http://schemas.microsoft.com/office/drawing/2014/main" id="{0372B53C-9478-1E61-CE9E-D0F155B848DC}"/>
              </a:ext>
            </a:extLst>
          </p:cNvPr>
          <p:cNvSpPr txBox="1"/>
          <p:nvPr/>
        </p:nvSpPr>
        <p:spPr>
          <a:xfrm>
            <a:off x="805070" y="1843204"/>
            <a:ext cx="8597348" cy="5078313"/>
          </a:xfrm>
          <a:prstGeom prst="rect">
            <a:avLst/>
          </a:prstGeom>
          <a:noFill/>
        </p:spPr>
        <p:txBody>
          <a:bodyPr wrap="square">
            <a:spAutoFit/>
          </a:bodyPr>
          <a:lstStyle/>
          <a:p>
            <a:r>
              <a:rPr lang="en-US" b="1" dirty="0">
                <a:latin typeface="fkGroteskNeue"/>
              </a:rPr>
              <a:t>5.6 Test Documentation- Test Case Template, Test plan, Introduction to defect report, Test Summary Report</a:t>
            </a:r>
          </a:p>
          <a:p>
            <a:endParaRPr lang="en-US" dirty="0">
              <a:latin typeface="fkGroteskNeue"/>
            </a:endParaRPr>
          </a:p>
          <a:p>
            <a:r>
              <a:rPr lang="en-US" b="1" dirty="0">
                <a:latin typeface="fkGroteskNeue"/>
              </a:rPr>
              <a:t>Test Documentation in Software Testing</a:t>
            </a:r>
          </a:p>
          <a:p>
            <a:endParaRPr lang="en-US" dirty="0">
              <a:latin typeface="fkGroteskNeue"/>
            </a:endParaRPr>
          </a:p>
          <a:p>
            <a:r>
              <a:rPr lang="en-US" b="1" dirty="0">
                <a:latin typeface="fkGroteskNeue"/>
              </a:rPr>
              <a:t>1. Test Case Template</a:t>
            </a:r>
          </a:p>
          <a:p>
            <a:r>
              <a:rPr lang="en-US" dirty="0">
                <a:latin typeface="fkGroteskNeue"/>
              </a:rPr>
              <a:t>A test case is a documented set of conditions, inputs, expected results, and execution steps that verify a particular feature or aspect of the software.</a:t>
            </a:r>
          </a:p>
          <a:p>
            <a:r>
              <a:rPr lang="en-US" b="1" dirty="0">
                <a:latin typeface="fkGroteskNeue"/>
              </a:rPr>
              <a:t>Common Components:</a:t>
            </a:r>
          </a:p>
          <a:p>
            <a:pPr marL="285750" indent="-285750">
              <a:buFont typeface="Arial" panose="020B0604020202020204" pitchFamily="34" charset="0"/>
              <a:buChar char="•"/>
            </a:pPr>
            <a:r>
              <a:rPr lang="en-US" dirty="0">
                <a:latin typeface="fkGroteskNeue"/>
              </a:rPr>
              <a:t>Test Case ID</a:t>
            </a:r>
          </a:p>
          <a:p>
            <a:pPr marL="285750" indent="-285750">
              <a:buFont typeface="Arial" panose="020B0604020202020204" pitchFamily="34" charset="0"/>
              <a:buChar char="•"/>
            </a:pPr>
            <a:r>
              <a:rPr lang="en-US" dirty="0">
                <a:latin typeface="fkGroteskNeue"/>
              </a:rPr>
              <a:t>Test Case Description</a:t>
            </a:r>
          </a:p>
          <a:p>
            <a:pPr marL="285750" indent="-285750">
              <a:buFont typeface="Arial" panose="020B0604020202020204" pitchFamily="34" charset="0"/>
              <a:buChar char="•"/>
            </a:pPr>
            <a:r>
              <a:rPr lang="en-US" dirty="0">
                <a:latin typeface="fkGroteskNeue"/>
              </a:rPr>
              <a:t>Preconditions (what must be true before testing)</a:t>
            </a:r>
          </a:p>
          <a:p>
            <a:pPr marL="285750" indent="-285750">
              <a:buFont typeface="Arial" panose="020B0604020202020204" pitchFamily="34" charset="0"/>
              <a:buChar char="•"/>
            </a:pPr>
            <a:r>
              <a:rPr lang="en-US" dirty="0">
                <a:latin typeface="fkGroteskNeue"/>
              </a:rPr>
              <a:t>Test Steps (detailed actions to perform)</a:t>
            </a:r>
          </a:p>
          <a:p>
            <a:pPr marL="285750" indent="-285750">
              <a:buFont typeface="Arial" panose="020B0604020202020204" pitchFamily="34" charset="0"/>
              <a:buChar char="•"/>
            </a:pPr>
            <a:r>
              <a:rPr lang="en-US" dirty="0">
                <a:latin typeface="fkGroteskNeue"/>
              </a:rPr>
              <a:t>Test Data (inputs used during testing)</a:t>
            </a:r>
          </a:p>
          <a:p>
            <a:pPr marL="285750" indent="-285750">
              <a:buFont typeface="Arial" panose="020B0604020202020204" pitchFamily="34" charset="0"/>
              <a:buChar char="•"/>
            </a:pPr>
            <a:r>
              <a:rPr lang="en-US" dirty="0">
                <a:latin typeface="fkGroteskNeue"/>
              </a:rPr>
              <a:t>Expected Results</a:t>
            </a:r>
          </a:p>
          <a:p>
            <a:pPr marL="285750" indent="-285750">
              <a:buFont typeface="Arial" panose="020B0604020202020204" pitchFamily="34" charset="0"/>
              <a:buChar char="•"/>
            </a:pPr>
            <a:r>
              <a:rPr lang="en-US" dirty="0">
                <a:latin typeface="fkGroteskNeue"/>
              </a:rPr>
              <a:t>Actual Results (recorded after test execution)</a:t>
            </a:r>
          </a:p>
          <a:p>
            <a:pPr marL="285750" indent="-285750">
              <a:buFont typeface="Arial" panose="020B0604020202020204" pitchFamily="34" charset="0"/>
              <a:buChar char="•"/>
            </a:pPr>
            <a:r>
              <a:rPr lang="en-US" dirty="0">
                <a:latin typeface="fkGroteskNeue"/>
              </a:rPr>
              <a:t>Pass/Fail Status</a:t>
            </a:r>
          </a:p>
          <a:p>
            <a:pPr marL="285750" indent="-285750">
              <a:buFont typeface="Arial" panose="020B0604020202020204" pitchFamily="34" charset="0"/>
              <a:buChar char="•"/>
            </a:pPr>
            <a:r>
              <a:rPr lang="en-US" dirty="0">
                <a:latin typeface="fkGroteskNeue"/>
              </a:rPr>
              <a:t>Notes or Comments</a:t>
            </a:r>
          </a:p>
        </p:txBody>
      </p:sp>
    </p:spTree>
    <p:extLst>
      <p:ext uri="{BB962C8B-B14F-4D97-AF65-F5344CB8AC3E}">
        <p14:creationId xmlns:p14="http://schemas.microsoft.com/office/powerpoint/2010/main" val="31246830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0EEA7-D7F3-40E4-757E-96D8B14AFC4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B0615B8-09E4-5072-45B8-E9E72575AB65}"/>
              </a:ext>
            </a:extLst>
          </p:cNvPr>
          <p:cNvSpPr txBox="1"/>
          <p:nvPr/>
        </p:nvSpPr>
        <p:spPr>
          <a:xfrm>
            <a:off x="894521" y="84126"/>
            <a:ext cx="8358809" cy="4524315"/>
          </a:xfrm>
          <a:prstGeom prst="rect">
            <a:avLst/>
          </a:prstGeom>
          <a:noFill/>
        </p:spPr>
        <p:txBody>
          <a:bodyPr wrap="square">
            <a:spAutoFit/>
          </a:bodyPr>
          <a:lstStyle/>
          <a:p>
            <a:pPr algn="l">
              <a:buNone/>
            </a:pPr>
            <a:r>
              <a:rPr lang="en-US" b="1" i="0" dirty="0">
                <a:effectLst/>
                <a:latin typeface="fkGrotesk"/>
              </a:rPr>
              <a:t>2. Test Plan</a:t>
            </a:r>
          </a:p>
          <a:p>
            <a:pPr algn="l">
              <a:buNone/>
            </a:pPr>
            <a:r>
              <a:rPr lang="en-US" b="0" i="0" dirty="0">
                <a:effectLst/>
                <a:latin typeface="fkGroteskNeue"/>
              </a:rPr>
              <a:t>A test plan is a comprehensive document outlining the scope, approach, resources, schedule, and activities of testing for a project.</a:t>
            </a:r>
          </a:p>
          <a:p>
            <a:pPr algn="l">
              <a:buNone/>
            </a:pPr>
            <a:r>
              <a:rPr lang="en-US" b="1" i="0" dirty="0">
                <a:effectLst/>
                <a:latin typeface="fkGroteskNeue"/>
              </a:rPr>
              <a:t>Typical Sections:</a:t>
            </a:r>
          </a:p>
          <a:p>
            <a:pPr algn="l">
              <a:buFont typeface="Arial" panose="020B0604020202020204" pitchFamily="34" charset="0"/>
              <a:buChar char="•"/>
            </a:pPr>
            <a:r>
              <a:rPr lang="en-US" b="0" i="0" dirty="0">
                <a:effectLst/>
                <a:latin typeface="fkGroteskNeue"/>
              </a:rPr>
              <a:t>Introduction and Objectives</a:t>
            </a:r>
          </a:p>
          <a:p>
            <a:pPr algn="l">
              <a:buFont typeface="Arial" panose="020B0604020202020204" pitchFamily="34" charset="0"/>
              <a:buChar char="•"/>
            </a:pPr>
            <a:r>
              <a:rPr lang="en-US" b="0" i="0" dirty="0">
                <a:effectLst/>
                <a:latin typeface="fkGroteskNeue"/>
              </a:rPr>
              <a:t>Scope of Testing</a:t>
            </a:r>
          </a:p>
          <a:p>
            <a:pPr algn="l">
              <a:buFont typeface="Arial" panose="020B0604020202020204" pitchFamily="34" charset="0"/>
              <a:buChar char="•"/>
            </a:pPr>
            <a:r>
              <a:rPr lang="en-US" b="0" i="0" dirty="0">
                <a:effectLst/>
                <a:latin typeface="fkGroteskNeue"/>
              </a:rPr>
              <a:t>Test Strategy and Methodologies</a:t>
            </a:r>
          </a:p>
          <a:p>
            <a:pPr algn="l">
              <a:buFont typeface="Arial" panose="020B0604020202020204" pitchFamily="34" charset="0"/>
              <a:buChar char="•"/>
            </a:pPr>
            <a:r>
              <a:rPr lang="en-US" b="0" i="0" dirty="0">
                <a:effectLst/>
                <a:latin typeface="fkGroteskNeue"/>
              </a:rPr>
              <a:t>Test Items (modules/features to test)</a:t>
            </a:r>
          </a:p>
          <a:p>
            <a:pPr algn="l">
              <a:buFont typeface="Arial" panose="020B0604020202020204" pitchFamily="34" charset="0"/>
              <a:buChar char="•"/>
            </a:pPr>
            <a:r>
              <a:rPr lang="en-US" b="0" i="0" dirty="0">
                <a:effectLst/>
                <a:latin typeface="fkGroteskNeue"/>
              </a:rPr>
              <a:t>Responsibilities</a:t>
            </a:r>
          </a:p>
          <a:p>
            <a:pPr algn="l">
              <a:buFont typeface="Arial" panose="020B0604020202020204" pitchFamily="34" charset="0"/>
              <a:buChar char="•"/>
            </a:pPr>
            <a:r>
              <a:rPr lang="en-US" b="0" i="0" dirty="0">
                <a:effectLst/>
                <a:latin typeface="fkGroteskNeue"/>
              </a:rPr>
              <a:t>Environment Setup Requirements</a:t>
            </a:r>
          </a:p>
          <a:p>
            <a:pPr algn="l">
              <a:buFont typeface="Arial" panose="020B0604020202020204" pitchFamily="34" charset="0"/>
              <a:buChar char="•"/>
            </a:pPr>
            <a:r>
              <a:rPr lang="en-US" b="0" i="0" dirty="0">
                <a:effectLst/>
                <a:latin typeface="fkGroteskNeue"/>
              </a:rPr>
              <a:t>Testing Schedule and Milestones</a:t>
            </a:r>
          </a:p>
          <a:p>
            <a:pPr algn="l">
              <a:buFont typeface="Arial" panose="020B0604020202020204" pitchFamily="34" charset="0"/>
              <a:buChar char="•"/>
            </a:pPr>
            <a:r>
              <a:rPr lang="en-US" b="0" i="0" dirty="0">
                <a:effectLst/>
                <a:latin typeface="fkGroteskNeue"/>
              </a:rPr>
              <a:t>Entry and Exit Criteria</a:t>
            </a:r>
          </a:p>
          <a:p>
            <a:pPr algn="l">
              <a:buFont typeface="Arial" panose="020B0604020202020204" pitchFamily="34" charset="0"/>
              <a:buChar char="•"/>
            </a:pPr>
            <a:r>
              <a:rPr lang="en-US" b="0" i="0" dirty="0">
                <a:effectLst/>
                <a:latin typeface="fkGroteskNeue"/>
              </a:rPr>
              <a:t>Risk Analysis and Contingencies</a:t>
            </a:r>
          </a:p>
          <a:p>
            <a:pPr algn="l">
              <a:buFont typeface="Arial" panose="020B0604020202020204" pitchFamily="34" charset="0"/>
              <a:buChar char="•"/>
            </a:pPr>
            <a:r>
              <a:rPr lang="en-US" b="0" i="0" dirty="0">
                <a:effectLst/>
                <a:latin typeface="fkGroteskNeue"/>
              </a:rPr>
              <a:t>Deliverables and Reporting</a:t>
            </a:r>
          </a:p>
          <a:p>
            <a:pPr algn="l">
              <a:buNone/>
            </a:pPr>
            <a:r>
              <a:rPr lang="en-US" b="0" i="0" dirty="0">
                <a:effectLst/>
                <a:latin typeface="fkGroteskNeue"/>
              </a:rPr>
              <a:t>The test plan communicates how testing will be conducted and helps manage resources and expectations effectively.</a:t>
            </a:r>
          </a:p>
        </p:txBody>
      </p:sp>
    </p:spTree>
    <p:extLst>
      <p:ext uri="{BB962C8B-B14F-4D97-AF65-F5344CB8AC3E}">
        <p14:creationId xmlns:p14="http://schemas.microsoft.com/office/powerpoint/2010/main" val="10283921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A56FB-38C5-5217-DA2C-1B33A5E96A9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92E3259-E726-C13E-4475-14B7A33B2EF3}"/>
              </a:ext>
            </a:extLst>
          </p:cNvPr>
          <p:cNvSpPr txBox="1"/>
          <p:nvPr/>
        </p:nvSpPr>
        <p:spPr>
          <a:xfrm>
            <a:off x="815010" y="150457"/>
            <a:ext cx="8428382" cy="3139321"/>
          </a:xfrm>
          <a:prstGeom prst="rect">
            <a:avLst/>
          </a:prstGeom>
          <a:noFill/>
        </p:spPr>
        <p:txBody>
          <a:bodyPr wrap="square">
            <a:spAutoFit/>
          </a:bodyPr>
          <a:lstStyle/>
          <a:p>
            <a:pPr algn="l">
              <a:buNone/>
            </a:pPr>
            <a:r>
              <a:rPr lang="en-US" b="1" i="0" dirty="0">
                <a:effectLst/>
                <a:latin typeface="fkGrotesk"/>
              </a:rPr>
              <a:t>3. Defect Report (Bug Report)</a:t>
            </a:r>
          </a:p>
          <a:p>
            <a:pPr algn="l">
              <a:buNone/>
            </a:pPr>
            <a:r>
              <a:rPr lang="en-US" b="0" i="0" dirty="0">
                <a:effectLst/>
                <a:latin typeface="fkGroteskNeue"/>
              </a:rPr>
              <a:t>A defect report documents bugs found during testing.</a:t>
            </a:r>
          </a:p>
          <a:p>
            <a:pPr algn="l">
              <a:buNone/>
            </a:pPr>
            <a:r>
              <a:rPr lang="en-US" b="1" i="0" dirty="0">
                <a:effectLst/>
                <a:latin typeface="fkGroteskNeue"/>
              </a:rPr>
              <a:t>Key Elements:</a:t>
            </a:r>
          </a:p>
          <a:p>
            <a:pPr algn="l">
              <a:buFont typeface="Arial" panose="020B0604020202020204" pitchFamily="34" charset="0"/>
              <a:buChar char="•"/>
            </a:pPr>
            <a:r>
              <a:rPr lang="en-US" b="0" i="0" dirty="0">
                <a:effectLst/>
                <a:latin typeface="fkGroteskNeue"/>
              </a:rPr>
              <a:t>Defect ID</a:t>
            </a:r>
          </a:p>
          <a:p>
            <a:pPr algn="l">
              <a:buFont typeface="Arial" panose="020B0604020202020204" pitchFamily="34" charset="0"/>
              <a:buChar char="•"/>
            </a:pPr>
            <a:r>
              <a:rPr lang="en-US" b="0" i="0" dirty="0">
                <a:effectLst/>
                <a:latin typeface="fkGroteskNeue"/>
              </a:rPr>
              <a:t>Description of the defect</a:t>
            </a:r>
          </a:p>
          <a:p>
            <a:pPr algn="l">
              <a:buFont typeface="Arial" panose="020B0604020202020204" pitchFamily="34" charset="0"/>
              <a:buChar char="•"/>
            </a:pPr>
            <a:r>
              <a:rPr lang="en-US" b="0" i="0" dirty="0">
                <a:effectLst/>
                <a:latin typeface="fkGroteskNeue"/>
              </a:rPr>
              <a:t>Steps to reproduce</a:t>
            </a:r>
          </a:p>
          <a:p>
            <a:pPr algn="l">
              <a:buFont typeface="Arial" panose="020B0604020202020204" pitchFamily="34" charset="0"/>
              <a:buChar char="•"/>
            </a:pPr>
            <a:r>
              <a:rPr lang="en-US" b="0" i="0" dirty="0">
                <a:effectLst/>
                <a:latin typeface="fkGroteskNeue"/>
              </a:rPr>
              <a:t>Expected vs. Actual results</a:t>
            </a:r>
          </a:p>
          <a:p>
            <a:pPr algn="l">
              <a:buFont typeface="Arial" panose="020B0604020202020204" pitchFamily="34" charset="0"/>
              <a:buChar char="•"/>
            </a:pPr>
            <a:r>
              <a:rPr lang="en-US" b="0" i="0" dirty="0">
                <a:effectLst/>
                <a:latin typeface="fkGroteskNeue"/>
              </a:rPr>
              <a:t>Severity and Priority</a:t>
            </a:r>
          </a:p>
          <a:p>
            <a:pPr algn="l">
              <a:buFont typeface="Arial" panose="020B0604020202020204" pitchFamily="34" charset="0"/>
              <a:buChar char="•"/>
            </a:pPr>
            <a:r>
              <a:rPr lang="en-US" b="0" i="0" dirty="0">
                <a:effectLst/>
                <a:latin typeface="fkGroteskNeue"/>
              </a:rPr>
              <a:t>Status (Open, Assigned, Fixed, Closed)</a:t>
            </a:r>
          </a:p>
          <a:p>
            <a:pPr algn="l">
              <a:buFont typeface="Arial" panose="020B0604020202020204" pitchFamily="34" charset="0"/>
              <a:buChar char="•"/>
            </a:pPr>
            <a:r>
              <a:rPr lang="en-US" b="0" i="0" dirty="0">
                <a:effectLst/>
                <a:latin typeface="fkGroteskNeue"/>
              </a:rPr>
              <a:t>Attached files/screenshots for evidence</a:t>
            </a:r>
          </a:p>
          <a:p>
            <a:pPr algn="l">
              <a:buNone/>
            </a:pPr>
            <a:r>
              <a:rPr lang="en-US" b="0" i="0" dirty="0">
                <a:effectLst/>
                <a:latin typeface="fkGroteskNeue"/>
              </a:rPr>
              <a:t>Defect reports facilitate tracking, prioritization, and resolution of issues</a:t>
            </a:r>
          </a:p>
        </p:txBody>
      </p:sp>
      <p:sp>
        <p:nvSpPr>
          <p:cNvPr id="5" name="TextBox 4">
            <a:extLst>
              <a:ext uri="{FF2B5EF4-FFF2-40B4-BE49-F238E27FC236}">
                <a16:creationId xmlns:a16="http://schemas.microsoft.com/office/drawing/2014/main" id="{D5CD9785-0FA6-2120-C72C-81C2B203FEA0}"/>
              </a:ext>
            </a:extLst>
          </p:cNvPr>
          <p:cNvSpPr txBox="1"/>
          <p:nvPr/>
        </p:nvSpPr>
        <p:spPr>
          <a:xfrm>
            <a:off x="815010" y="3429000"/>
            <a:ext cx="8706677" cy="2585323"/>
          </a:xfrm>
          <a:prstGeom prst="rect">
            <a:avLst/>
          </a:prstGeom>
          <a:noFill/>
        </p:spPr>
        <p:txBody>
          <a:bodyPr wrap="square">
            <a:spAutoFit/>
          </a:bodyPr>
          <a:lstStyle/>
          <a:p>
            <a:pPr algn="l">
              <a:buNone/>
            </a:pPr>
            <a:r>
              <a:rPr lang="en-US" b="1" i="0" dirty="0">
                <a:effectLst/>
                <a:latin typeface="fkGrotesk"/>
              </a:rPr>
              <a:t>4. Test Summary Report</a:t>
            </a:r>
          </a:p>
          <a:p>
            <a:pPr algn="l">
              <a:buNone/>
            </a:pPr>
            <a:r>
              <a:rPr lang="en-US" b="0" i="0" dirty="0">
                <a:effectLst/>
                <a:latin typeface="fkGroteskNeue"/>
              </a:rPr>
              <a:t>Summarizes the testing activities and outcomes at the end of a testing phase or project.</a:t>
            </a:r>
          </a:p>
          <a:p>
            <a:pPr algn="l">
              <a:buNone/>
            </a:pPr>
            <a:r>
              <a:rPr lang="en-US" b="1" i="0" dirty="0">
                <a:effectLst/>
                <a:latin typeface="fkGroteskNeue"/>
              </a:rPr>
              <a:t>Contents</a:t>
            </a:r>
            <a:r>
              <a:rPr lang="en-US" b="0" i="0" dirty="0">
                <a:effectLst/>
                <a:latin typeface="fkGroteskNeue"/>
              </a:rPr>
              <a:t>:</a:t>
            </a:r>
          </a:p>
          <a:p>
            <a:pPr algn="l">
              <a:buFont typeface="Arial" panose="020B0604020202020204" pitchFamily="34" charset="0"/>
              <a:buChar char="•"/>
            </a:pPr>
            <a:r>
              <a:rPr lang="en-US" b="0" i="0" dirty="0">
                <a:effectLst/>
                <a:latin typeface="fkGroteskNeue"/>
              </a:rPr>
              <a:t>Overview of testing performed</a:t>
            </a:r>
          </a:p>
          <a:p>
            <a:pPr algn="l">
              <a:buFont typeface="Arial" panose="020B0604020202020204" pitchFamily="34" charset="0"/>
              <a:buChar char="•"/>
            </a:pPr>
            <a:r>
              <a:rPr lang="en-US" b="0" i="0" dirty="0">
                <a:effectLst/>
                <a:latin typeface="fkGroteskNeue"/>
              </a:rPr>
              <a:t>Number of test cases executed, passed, and failed</a:t>
            </a:r>
          </a:p>
          <a:p>
            <a:pPr algn="l">
              <a:buFont typeface="Arial" panose="020B0604020202020204" pitchFamily="34" charset="0"/>
              <a:buChar char="•"/>
            </a:pPr>
            <a:r>
              <a:rPr lang="en-US" b="0" i="0" dirty="0">
                <a:effectLst/>
                <a:latin typeface="fkGroteskNeue"/>
              </a:rPr>
              <a:t>Defects found and status</a:t>
            </a:r>
          </a:p>
          <a:p>
            <a:pPr algn="l">
              <a:buFont typeface="Arial" panose="020B0604020202020204" pitchFamily="34" charset="0"/>
              <a:buChar char="•"/>
            </a:pPr>
            <a:r>
              <a:rPr lang="en-US" b="0" i="0" dirty="0">
                <a:effectLst/>
                <a:latin typeface="fkGroteskNeue"/>
              </a:rPr>
              <a:t>Quality assessment and risk analysis</a:t>
            </a:r>
          </a:p>
          <a:p>
            <a:pPr algn="l">
              <a:buFont typeface="Arial" panose="020B0604020202020204" pitchFamily="34" charset="0"/>
              <a:buChar char="•"/>
            </a:pPr>
            <a:r>
              <a:rPr lang="en-US" b="0" i="0" dirty="0">
                <a:effectLst/>
                <a:latin typeface="fkGroteskNeue"/>
              </a:rPr>
              <a:t>Recommendations and conclusions</a:t>
            </a:r>
          </a:p>
          <a:p>
            <a:pPr algn="l">
              <a:buNone/>
            </a:pPr>
            <a:r>
              <a:rPr lang="en-US" b="0" i="0" dirty="0">
                <a:effectLst/>
                <a:latin typeface="fkGroteskNeue"/>
              </a:rPr>
              <a:t>Helps stakeholders understand software quality and release readiness.</a:t>
            </a:r>
          </a:p>
        </p:txBody>
      </p:sp>
    </p:spTree>
    <p:extLst>
      <p:ext uri="{BB962C8B-B14F-4D97-AF65-F5344CB8AC3E}">
        <p14:creationId xmlns:p14="http://schemas.microsoft.com/office/powerpoint/2010/main" val="13243232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81975-6492-25A2-45D7-1D1527F79A4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C080A2C-4FB1-C9FC-0EB5-1F55904983E7}"/>
              </a:ext>
            </a:extLst>
          </p:cNvPr>
          <p:cNvSpPr txBox="1"/>
          <p:nvPr/>
        </p:nvSpPr>
        <p:spPr>
          <a:xfrm>
            <a:off x="954156" y="194317"/>
            <a:ext cx="8358809" cy="369332"/>
          </a:xfrm>
          <a:prstGeom prst="rect">
            <a:avLst/>
          </a:prstGeom>
          <a:noFill/>
        </p:spPr>
        <p:txBody>
          <a:bodyPr wrap="square">
            <a:spAutoFit/>
          </a:bodyPr>
          <a:lstStyle/>
          <a:p>
            <a:pPr algn="l">
              <a:buNone/>
            </a:pPr>
            <a:r>
              <a:rPr lang="en-IN" b="1" i="0" dirty="0">
                <a:effectLst/>
                <a:latin typeface="fkGrotesk"/>
              </a:rPr>
              <a:t>Summary Table</a:t>
            </a:r>
          </a:p>
        </p:txBody>
      </p:sp>
      <p:graphicFrame>
        <p:nvGraphicFramePr>
          <p:cNvPr id="4" name="Table 3">
            <a:extLst>
              <a:ext uri="{FF2B5EF4-FFF2-40B4-BE49-F238E27FC236}">
                <a16:creationId xmlns:a16="http://schemas.microsoft.com/office/drawing/2014/main" id="{2C566CBA-E2A6-94FD-82BF-27C7F14D1E11}"/>
              </a:ext>
            </a:extLst>
          </p:cNvPr>
          <p:cNvGraphicFramePr>
            <a:graphicFrameLocks noGrp="1"/>
          </p:cNvGraphicFramePr>
          <p:nvPr>
            <p:extLst>
              <p:ext uri="{D42A27DB-BD31-4B8C-83A1-F6EECF244321}">
                <p14:modId xmlns:p14="http://schemas.microsoft.com/office/powerpoint/2010/main" val="4167734997"/>
              </p:ext>
            </p:extLst>
          </p:nvPr>
        </p:nvGraphicFramePr>
        <p:xfrm>
          <a:off x="835404" y="755132"/>
          <a:ext cx="8596311" cy="3352800"/>
        </p:xfrm>
        <a:graphic>
          <a:graphicData uri="http://schemas.openxmlformats.org/drawingml/2006/table">
            <a:tbl>
              <a:tblPr>
                <a:tableStyleId>{5940675A-B579-460E-94D1-54222C63F5DA}</a:tableStyleId>
              </a:tblPr>
              <a:tblGrid>
                <a:gridCol w="2424631">
                  <a:extLst>
                    <a:ext uri="{9D8B030D-6E8A-4147-A177-3AD203B41FA5}">
                      <a16:colId xmlns:a16="http://schemas.microsoft.com/office/drawing/2014/main" val="3969829656"/>
                    </a:ext>
                  </a:extLst>
                </a:gridCol>
                <a:gridCol w="3160643">
                  <a:extLst>
                    <a:ext uri="{9D8B030D-6E8A-4147-A177-3AD203B41FA5}">
                      <a16:colId xmlns:a16="http://schemas.microsoft.com/office/drawing/2014/main" val="1132095994"/>
                    </a:ext>
                  </a:extLst>
                </a:gridCol>
                <a:gridCol w="3011037">
                  <a:extLst>
                    <a:ext uri="{9D8B030D-6E8A-4147-A177-3AD203B41FA5}">
                      <a16:colId xmlns:a16="http://schemas.microsoft.com/office/drawing/2014/main" val="2167442252"/>
                    </a:ext>
                  </a:extLst>
                </a:gridCol>
              </a:tblGrid>
              <a:tr h="0">
                <a:tc>
                  <a:txBody>
                    <a:bodyPr/>
                    <a:lstStyle/>
                    <a:p>
                      <a:pPr algn="ctr">
                        <a:buNone/>
                      </a:pPr>
                      <a:r>
                        <a:rPr lang="en-IN" b="1" dirty="0">
                          <a:effectLst/>
                        </a:rPr>
                        <a:t>Document</a:t>
                      </a:r>
                    </a:p>
                  </a:txBody>
                  <a:tcPr marL="60960" marR="60960" marT="60960" marB="60960" anchor="ctr"/>
                </a:tc>
                <a:tc>
                  <a:txBody>
                    <a:bodyPr/>
                    <a:lstStyle/>
                    <a:p>
                      <a:pPr algn="ctr">
                        <a:buNone/>
                      </a:pPr>
                      <a:r>
                        <a:rPr lang="en-IN" b="1">
                          <a:effectLst/>
                        </a:rPr>
                        <a:t>Purpose</a:t>
                      </a:r>
                    </a:p>
                  </a:txBody>
                  <a:tcPr marL="60960" marR="60960" marT="60960" marB="60960" anchor="ctr"/>
                </a:tc>
                <a:tc>
                  <a:txBody>
                    <a:bodyPr/>
                    <a:lstStyle/>
                    <a:p>
                      <a:pPr algn="ctr">
                        <a:buNone/>
                      </a:pPr>
                      <a:r>
                        <a:rPr lang="en-IN" b="1" dirty="0">
                          <a:effectLst/>
                        </a:rPr>
                        <a:t>Key Contents</a:t>
                      </a:r>
                    </a:p>
                  </a:txBody>
                  <a:tcPr marL="60960" marR="60960" marT="60960" marB="60960" anchor="ctr"/>
                </a:tc>
                <a:extLst>
                  <a:ext uri="{0D108BD9-81ED-4DB2-BD59-A6C34878D82A}">
                    <a16:rowId xmlns:a16="http://schemas.microsoft.com/office/drawing/2014/main" val="1932333585"/>
                  </a:ext>
                </a:extLst>
              </a:tr>
              <a:tr h="0">
                <a:tc>
                  <a:txBody>
                    <a:bodyPr/>
                    <a:lstStyle/>
                    <a:p>
                      <a:pPr algn="l">
                        <a:buNone/>
                      </a:pPr>
                      <a:r>
                        <a:rPr lang="en-IN">
                          <a:effectLst/>
                        </a:rPr>
                        <a:t>Test Case</a:t>
                      </a:r>
                    </a:p>
                  </a:txBody>
                  <a:tcPr marL="60960" marR="60960" marT="60960" marB="60960" anchor="ctr"/>
                </a:tc>
                <a:tc>
                  <a:txBody>
                    <a:bodyPr/>
                    <a:lstStyle/>
                    <a:p>
                      <a:pPr algn="l">
                        <a:buNone/>
                      </a:pPr>
                      <a:r>
                        <a:rPr lang="en-US" dirty="0">
                          <a:effectLst/>
                        </a:rPr>
                        <a:t>Describe test conditions and expected outcomes</a:t>
                      </a:r>
                    </a:p>
                  </a:txBody>
                  <a:tcPr marL="60960" marR="60960" marT="60960" marB="60960" anchor="ctr"/>
                </a:tc>
                <a:tc>
                  <a:txBody>
                    <a:bodyPr/>
                    <a:lstStyle/>
                    <a:p>
                      <a:pPr algn="l">
                        <a:buNone/>
                      </a:pPr>
                      <a:r>
                        <a:rPr lang="en-US">
                          <a:effectLst/>
                        </a:rPr>
                        <a:t>ID, steps, data, expected/actual results, status</a:t>
                      </a:r>
                    </a:p>
                  </a:txBody>
                  <a:tcPr marL="60960" marR="60960" marT="60960" marB="60960" anchor="ctr"/>
                </a:tc>
                <a:extLst>
                  <a:ext uri="{0D108BD9-81ED-4DB2-BD59-A6C34878D82A}">
                    <a16:rowId xmlns:a16="http://schemas.microsoft.com/office/drawing/2014/main" val="609455295"/>
                  </a:ext>
                </a:extLst>
              </a:tr>
              <a:tr h="0">
                <a:tc>
                  <a:txBody>
                    <a:bodyPr/>
                    <a:lstStyle/>
                    <a:p>
                      <a:pPr algn="l">
                        <a:buNone/>
                      </a:pPr>
                      <a:r>
                        <a:rPr lang="en-IN">
                          <a:effectLst/>
                        </a:rPr>
                        <a:t>Test Plan</a:t>
                      </a:r>
                    </a:p>
                  </a:txBody>
                  <a:tcPr marL="60960" marR="60960" marT="60960" marB="60960" anchor="ctr"/>
                </a:tc>
                <a:tc>
                  <a:txBody>
                    <a:bodyPr/>
                    <a:lstStyle/>
                    <a:p>
                      <a:pPr algn="l">
                        <a:buNone/>
                      </a:pPr>
                      <a:r>
                        <a:rPr lang="en-US">
                          <a:effectLst/>
                        </a:rPr>
                        <a:t>Plan and coordinate testing process</a:t>
                      </a:r>
                    </a:p>
                  </a:txBody>
                  <a:tcPr marL="60960" marR="60960" marT="60960" marB="60960" anchor="ctr"/>
                </a:tc>
                <a:tc>
                  <a:txBody>
                    <a:bodyPr/>
                    <a:lstStyle/>
                    <a:p>
                      <a:pPr algn="l">
                        <a:buNone/>
                      </a:pPr>
                      <a:r>
                        <a:rPr lang="en-US">
                          <a:effectLst/>
                        </a:rPr>
                        <a:t>Scope, strategy, schedule, resources, risk</a:t>
                      </a:r>
                    </a:p>
                  </a:txBody>
                  <a:tcPr marL="60960" marR="60960" marT="60960" marB="60960" anchor="ctr"/>
                </a:tc>
                <a:extLst>
                  <a:ext uri="{0D108BD9-81ED-4DB2-BD59-A6C34878D82A}">
                    <a16:rowId xmlns:a16="http://schemas.microsoft.com/office/drawing/2014/main" val="2216471723"/>
                  </a:ext>
                </a:extLst>
              </a:tr>
              <a:tr h="0">
                <a:tc>
                  <a:txBody>
                    <a:bodyPr/>
                    <a:lstStyle/>
                    <a:p>
                      <a:pPr algn="l">
                        <a:buNone/>
                      </a:pPr>
                      <a:r>
                        <a:rPr lang="en-IN">
                          <a:effectLst/>
                        </a:rPr>
                        <a:t>Defect Report</a:t>
                      </a:r>
                    </a:p>
                  </a:txBody>
                  <a:tcPr marL="60960" marR="60960" marT="60960" marB="60960" anchor="ctr"/>
                </a:tc>
                <a:tc>
                  <a:txBody>
                    <a:bodyPr/>
                    <a:lstStyle/>
                    <a:p>
                      <a:pPr algn="l">
                        <a:buNone/>
                      </a:pPr>
                      <a:r>
                        <a:rPr lang="en-US">
                          <a:effectLst/>
                        </a:rPr>
                        <a:t>Record and track software defects</a:t>
                      </a:r>
                    </a:p>
                  </a:txBody>
                  <a:tcPr marL="60960" marR="60960" marT="60960" marB="60960" anchor="ctr"/>
                </a:tc>
                <a:tc>
                  <a:txBody>
                    <a:bodyPr/>
                    <a:lstStyle/>
                    <a:p>
                      <a:pPr algn="l">
                        <a:buNone/>
                      </a:pPr>
                      <a:r>
                        <a:rPr lang="en-US">
                          <a:effectLst/>
                        </a:rPr>
                        <a:t>Description, steps, severity, priority, status</a:t>
                      </a:r>
                    </a:p>
                  </a:txBody>
                  <a:tcPr marL="60960" marR="60960" marT="60960" marB="60960" anchor="ctr"/>
                </a:tc>
                <a:extLst>
                  <a:ext uri="{0D108BD9-81ED-4DB2-BD59-A6C34878D82A}">
                    <a16:rowId xmlns:a16="http://schemas.microsoft.com/office/drawing/2014/main" val="3198920960"/>
                  </a:ext>
                </a:extLst>
              </a:tr>
              <a:tr h="0">
                <a:tc>
                  <a:txBody>
                    <a:bodyPr/>
                    <a:lstStyle/>
                    <a:p>
                      <a:pPr algn="l">
                        <a:buNone/>
                      </a:pPr>
                      <a:r>
                        <a:rPr lang="en-IN">
                          <a:effectLst/>
                        </a:rPr>
                        <a:t>Test Summary Report</a:t>
                      </a:r>
                    </a:p>
                  </a:txBody>
                  <a:tcPr marL="60960" marR="60960" marT="60960" marB="60960" anchor="ctr"/>
                </a:tc>
                <a:tc>
                  <a:txBody>
                    <a:bodyPr/>
                    <a:lstStyle/>
                    <a:p>
                      <a:pPr algn="l">
                        <a:buNone/>
                      </a:pPr>
                      <a:r>
                        <a:rPr lang="en-US">
                          <a:effectLst/>
                        </a:rPr>
                        <a:t>Provide overall testing results and evaluation</a:t>
                      </a:r>
                    </a:p>
                  </a:txBody>
                  <a:tcPr marL="60960" marR="60960" marT="60960" marB="60960" anchor="ctr"/>
                </a:tc>
                <a:tc>
                  <a:txBody>
                    <a:bodyPr/>
                    <a:lstStyle/>
                    <a:p>
                      <a:pPr algn="l">
                        <a:buNone/>
                      </a:pPr>
                      <a:r>
                        <a:rPr lang="en-US" dirty="0">
                          <a:effectLst/>
                        </a:rPr>
                        <a:t>Test summary, defect status, quality assessment</a:t>
                      </a:r>
                    </a:p>
                  </a:txBody>
                  <a:tcPr marL="60960" marR="60960" marT="60960" marB="60960" anchor="ctr"/>
                </a:tc>
                <a:extLst>
                  <a:ext uri="{0D108BD9-81ED-4DB2-BD59-A6C34878D82A}">
                    <a16:rowId xmlns:a16="http://schemas.microsoft.com/office/drawing/2014/main" val="448830895"/>
                  </a:ext>
                </a:extLst>
              </a:tr>
            </a:tbl>
          </a:graphicData>
        </a:graphic>
      </p:graphicFrame>
    </p:spTree>
    <p:extLst>
      <p:ext uri="{BB962C8B-B14F-4D97-AF65-F5344CB8AC3E}">
        <p14:creationId xmlns:p14="http://schemas.microsoft.com/office/powerpoint/2010/main" val="111446355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77</TotalTime>
  <Words>3019</Words>
  <Application>Microsoft Office PowerPoint</Application>
  <PresentationFormat>Widescreen</PresentationFormat>
  <Paragraphs>400</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fkGrotesk</vt:lpstr>
      <vt:lpstr>fkGroteskNeue</vt:lpstr>
      <vt:lpstr>Trebuchet MS</vt:lpstr>
      <vt:lpstr>Wingdings</vt:lpstr>
      <vt:lpstr>Wingdings 3</vt:lpstr>
      <vt:lpstr>Facet</vt:lpstr>
      <vt:lpstr>Software Modelling and Design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shshinde2580@gmail.com</dc:creator>
  <cp:lastModifiedBy>shshinde2580@gmail.com</cp:lastModifiedBy>
  <cp:revision>1</cp:revision>
  <dcterms:created xsi:type="dcterms:W3CDTF">2025-10-09T15:01:43Z</dcterms:created>
  <dcterms:modified xsi:type="dcterms:W3CDTF">2025-10-09T16:19:16Z</dcterms:modified>
</cp:coreProperties>
</file>