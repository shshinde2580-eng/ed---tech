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C84E9D-548B-4C25-A301-3D3479022DB3}" v="36" dt="2025-10-09T08:38:57.711"/>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delSld modSld">
      <pc:chgData name="shshinde2580@gmail.com" userId="86fdf0c531315612" providerId="LiveId" clId="{80EF1F59-5901-4077-BC9B-DA299863282D}" dt="2025-10-09T08:40:47.708" v="1991" actId="113"/>
      <pc:docMkLst>
        <pc:docMk/>
      </pc:docMkLst>
      <pc:sldChg chg="addSp modSp mod">
        <pc:chgData name="shshinde2580@gmail.com" userId="86fdf0c531315612" providerId="LiveId" clId="{80EF1F59-5901-4077-BC9B-DA299863282D}" dt="2025-10-09T07:51:00.500" v="33" actId="12"/>
        <pc:sldMkLst>
          <pc:docMk/>
          <pc:sldMk cId="4047864078" sldId="257"/>
        </pc:sldMkLst>
        <pc:spChg chg="add mod">
          <ac:chgData name="shshinde2580@gmail.com" userId="86fdf0c531315612" providerId="LiveId" clId="{80EF1F59-5901-4077-BC9B-DA299863282D}" dt="2025-10-09T07:51:00.500" v="33" actId="12"/>
          <ac:spMkLst>
            <pc:docMk/>
            <pc:sldMk cId="4047864078" sldId="257"/>
            <ac:spMk id="6" creationId="{F3A42644-4D48-3933-F925-A1B14A55B380}"/>
          </ac:spMkLst>
        </pc:spChg>
      </pc:sldChg>
      <pc:sldChg chg="addSp modSp mod">
        <pc:chgData name="shshinde2580@gmail.com" userId="86fdf0c531315612" providerId="LiveId" clId="{80EF1F59-5901-4077-BC9B-DA299863282D}" dt="2025-10-09T07:51:47.939" v="43" actId="12"/>
        <pc:sldMkLst>
          <pc:docMk/>
          <pc:sldMk cId="2459627004" sldId="258"/>
        </pc:sldMkLst>
        <pc:spChg chg="add mod">
          <ac:chgData name="shshinde2580@gmail.com" userId="86fdf0c531315612" providerId="LiveId" clId="{80EF1F59-5901-4077-BC9B-DA299863282D}" dt="2025-10-09T07:51:47.939" v="43" actId="12"/>
          <ac:spMkLst>
            <pc:docMk/>
            <pc:sldMk cId="2459627004" sldId="258"/>
            <ac:spMk id="3" creationId="{EAF11DC8-161C-25C3-D940-976764785DDA}"/>
          </ac:spMkLst>
        </pc:spChg>
      </pc:sldChg>
      <pc:sldChg chg="addSp modSp mod">
        <pc:chgData name="shshinde2580@gmail.com" userId="86fdf0c531315612" providerId="LiveId" clId="{80EF1F59-5901-4077-BC9B-DA299863282D}" dt="2025-10-09T07:53:19.350" v="58" actId="14100"/>
        <pc:sldMkLst>
          <pc:docMk/>
          <pc:sldMk cId="3999022803" sldId="259"/>
        </pc:sldMkLst>
        <pc:spChg chg="add mod">
          <ac:chgData name="shshinde2580@gmail.com" userId="86fdf0c531315612" providerId="LiveId" clId="{80EF1F59-5901-4077-BC9B-DA299863282D}" dt="2025-10-09T07:52:54.419" v="55" actId="113"/>
          <ac:spMkLst>
            <pc:docMk/>
            <pc:sldMk cId="3999022803" sldId="259"/>
            <ac:spMk id="3" creationId="{2CF0985B-83A0-FA93-FCAE-B7349FD54284}"/>
          </ac:spMkLst>
        </pc:spChg>
        <pc:spChg chg="add mod">
          <ac:chgData name="shshinde2580@gmail.com" userId="86fdf0c531315612" providerId="LiveId" clId="{80EF1F59-5901-4077-BC9B-DA299863282D}" dt="2025-10-09T07:53:19.350" v="58" actId="14100"/>
          <ac:spMkLst>
            <pc:docMk/>
            <pc:sldMk cId="3999022803" sldId="259"/>
            <ac:spMk id="6" creationId="{FE1C1248-8EE2-411A-AB0A-B342D174CED7}"/>
          </ac:spMkLst>
        </pc:spChg>
        <pc:graphicFrameChg chg="add mod modGraphic">
          <ac:chgData name="shshinde2580@gmail.com" userId="86fdf0c531315612" providerId="LiveId" clId="{80EF1F59-5901-4077-BC9B-DA299863282D}" dt="2025-10-09T07:52:37.648" v="54" actId="14734"/>
          <ac:graphicFrameMkLst>
            <pc:docMk/>
            <pc:sldMk cId="3999022803" sldId="259"/>
            <ac:graphicFrameMk id="4" creationId="{9B5465DA-23D3-97F4-D365-5AB02B574FCF}"/>
          </ac:graphicFrameMkLst>
        </pc:graphicFrameChg>
      </pc:sldChg>
      <pc:sldChg chg="addSp modSp mod">
        <pc:chgData name="shshinde2580@gmail.com" userId="86fdf0c531315612" providerId="LiveId" clId="{80EF1F59-5901-4077-BC9B-DA299863282D}" dt="2025-10-09T07:57:16.791" v="136" actId="20577"/>
        <pc:sldMkLst>
          <pc:docMk/>
          <pc:sldMk cId="4163642890" sldId="260"/>
        </pc:sldMkLst>
        <pc:spChg chg="add mod">
          <ac:chgData name="shshinde2580@gmail.com" userId="86fdf0c531315612" providerId="LiveId" clId="{80EF1F59-5901-4077-BC9B-DA299863282D}" dt="2025-10-09T07:57:16.791" v="136" actId="20577"/>
          <ac:spMkLst>
            <pc:docMk/>
            <pc:sldMk cId="4163642890" sldId="260"/>
            <ac:spMk id="3" creationId="{96BD87BC-25F3-1B99-EE63-DC61E0526C75}"/>
          </ac:spMkLst>
        </pc:spChg>
      </pc:sldChg>
      <pc:sldChg chg="addSp modSp mod">
        <pc:chgData name="shshinde2580@gmail.com" userId="86fdf0c531315612" providerId="LiveId" clId="{80EF1F59-5901-4077-BC9B-DA299863282D}" dt="2025-10-09T07:57:34.540" v="141" actId="113"/>
        <pc:sldMkLst>
          <pc:docMk/>
          <pc:sldMk cId="156400530" sldId="261"/>
        </pc:sldMkLst>
        <pc:spChg chg="add mod">
          <ac:chgData name="shshinde2580@gmail.com" userId="86fdf0c531315612" providerId="LiveId" clId="{80EF1F59-5901-4077-BC9B-DA299863282D}" dt="2025-10-09T07:57:34.540" v="141" actId="113"/>
          <ac:spMkLst>
            <pc:docMk/>
            <pc:sldMk cId="156400530" sldId="261"/>
            <ac:spMk id="3" creationId="{3CEC790C-9814-04BE-ED14-DDB7A03EF820}"/>
          </ac:spMkLst>
        </pc:spChg>
      </pc:sldChg>
      <pc:sldChg chg="addSp modSp mod">
        <pc:chgData name="shshinde2580@gmail.com" userId="86fdf0c531315612" providerId="LiveId" clId="{80EF1F59-5901-4077-BC9B-DA299863282D}" dt="2025-10-09T08:00:50.729" v="169" actId="14100"/>
        <pc:sldMkLst>
          <pc:docMk/>
          <pc:sldMk cId="999067050" sldId="262"/>
        </pc:sldMkLst>
        <pc:spChg chg="add mod">
          <ac:chgData name="shshinde2580@gmail.com" userId="86fdf0c531315612" providerId="LiveId" clId="{80EF1F59-5901-4077-BC9B-DA299863282D}" dt="2025-10-09T08:00:46.695" v="168" actId="20577"/>
          <ac:spMkLst>
            <pc:docMk/>
            <pc:sldMk cId="999067050" sldId="262"/>
            <ac:spMk id="3" creationId="{D556FC13-1BD7-8B59-46FE-30450160FE66}"/>
          </ac:spMkLst>
        </pc:spChg>
        <pc:picChg chg="add mod">
          <ac:chgData name="shshinde2580@gmail.com" userId="86fdf0c531315612" providerId="LiveId" clId="{80EF1F59-5901-4077-BC9B-DA299863282D}" dt="2025-10-09T08:00:50.729" v="169" actId="14100"/>
          <ac:picMkLst>
            <pc:docMk/>
            <pc:sldMk cId="999067050" sldId="262"/>
            <ac:picMk id="3074" creationId="{7A101724-926D-22A9-17FD-4AC582861505}"/>
          </ac:picMkLst>
        </pc:picChg>
      </pc:sldChg>
      <pc:sldChg chg="addSp delSp modSp mod">
        <pc:chgData name="shshinde2580@gmail.com" userId="86fdf0c531315612" providerId="LiveId" clId="{80EF1F59-5901-4077-BC9B-DA299863282D}" dt="2025-10-09T08:04:11.534" v="193" actId="12"/>
        <pc:sldMkLst>
          <pc:docMk/>
          <pc:sldMk cId="1105037216" sldId="263"/>
        </pc:sldMkLst>
        <pc:spChg chg="add mod">
          <ac:chgData name="shshinde2580@gmail.com" userId="86fdf0c531315612" providerId="LiveId" clId="{80EF1F59-5901-4077-BC9B-DA299863282D}" dt="2025-10-09T08:01:48.728" v="172" actId="1076"/>
          <ac:spMkLst>
            <pc:docMk/>
            <pc:sldMk cId="1105037216" sldId="263"/>
            <ac:spMk id="3" creationId="{2483CA46-FC17-DE32-96D2-3C506ED3100F}"/>
          </ac:spMkLst>
        </pc:spChg>
        <pc:spChg chg="add mod">
          <ac:chgData name="shshinde2580@gmail.com" userId="86fdf0c531315612" providerId="LiveId" clId="{80EF1F59-5901-4077-BC9B-DA299863282D}" dt="2025-10-09T08:03:29.887" v="183" actId="113"/>
          <ac:spMkLst>
            <pc:docMk/>
            <pc:sldMk cId="1105037216" sldId="263"/>
            <ac:spMk id="5" creationId="{0F7AE8B5-C4A7-18D1-1B06-345DB65DF96B}"/>
          </ac:spMkLst>
        </pc:spChg>
        <pc:spChg chg="add mod">
          <ac:chgData name="shshinde2580@gmail.com" userId="86fdf0c531315612" providerId="LiveId" clId="{80EF1F59-5901-4077-BC9B-DA299863282D}" dt="2025-10-09T08:04:11.534" v="193" actId="12"/>
          <ac:spMkLst>
            <pc:docMk/>
            <pc:sldMk cId="1105037216" sldId="263"/>
            <ac:spMk id="7" creationId="{D07A6F99-A59A-91ED-F46F-B9B6D50B5ABD}"/>
          </ac:spMkLst>
        </pc:spChg>
        <pc:picChg chg="add del mod">
          <ac:chgData name="shshinde2580@gmail.com" userId="86fdf0c531315612" providerId="LiveId" clId="{80EF1F59-5901-4077-BC9B-DA299863282D}" dt="2025-10-09T08:00:33.955" v="164" actId="21"/>
          <ac:picMkLst>
            <pc:docMk/>
            <pc:sldMk cId="1105037216" sldId="263"/>
            <ac:picMk id="2050" creationId="{4E954100-4A7C-3904-4DF4-D56A0A20ABC3}"/>
          </ac:picMkLst>
        </pc:picChg>
      </pc:sldChg>
      <pc:sldChg chg="addSp modSp mod">
        <pc:chgData name="shshinde2580@gmail.com" userId="86fdf0c531315612" providerId="LiveId" clId="{80EF1F59-5901-4077-BC9B-DA299863282D}" dt="2025-10-09T08:07:10.246" v="866" actId="113"/>
        <pc:sldMkLst>
          <pc:docMk/>
          <pc:sldMk cId="891606270" sldId="264"/>
        </pc:sldMkLst>
        <pc:spChg chg="add mod">
          <ac:chgData name="shshinde2580@gmail.com" userId="86fdf0c531315612" providerId="LiveId" clId="{80EF1F59-5901-4077-BC9B-DA299863282D}" dt="2025-10-09T08:07:10.246" v="866" actId="113"/>
          <ac:spMkLst>
            <pc:docMk/>
            <pc:sldMk cId="891606270" sldId="264"/>
            <ac:spMk id="3" creationId="{2E36F728-F588-6CF7-387F-1090FB2047EC}"/>
          </ac:spMkLst>
        </pc:spChg>
        <pc:picChg chg="add mod">
          <ac:chgData name="shshinde2580@gmail.com" userId="86fdf0c531315612" providerId="LiveId" clId="{80EF1F59-5901-4077-BC9B-DA299863282D}" dt="2025-10-09T08:05:24.661" v="199" actId="14100"/>
          <ac:picMkLst>
            <pc:docMk/>
            <pc:sldMk cId="891606270" sldId="264"/>
            <ac:picMk id="4098" creationId="{30E7DB99-83C4-FA81-6B56-7DCFD1A367E5}"/>
          </ac:picMkLst>
        </pc:picChg>
      </pc:sldChg>
      <pc:sldChg chg="addSp modSp mod">
        <pc:chgData name="shshinde2580@gmail.com" userId="86fdf0c531315612" providerId="LiveId" clId="{80EF1F59-5901-4077-BC9B-DA299863282D}" dt="2025-10-09T08:09:46.397" v="1335" actId="113"/>
        <pc:sldMkLst>
          <pc:docMk/>
          <pc:sldMk cId="3895439959" sldId="265"/>
        </pc:sldMkLst>
        <pc:spChg chg="add mod">
          <ac:chgData name="shshinde2580@gmail.com" userId="86fdf0c531315612" providerId="LiveId" clId="{80EF1F59-5901-4077-BC9B-DA299863282D}" dt="2025-10-09T08:09:46.397" v="1335" actId="113"/>
          <ac:spMkLst>
            <pc:docMk/>
            <pc:sldMk cId="3895439959" sldId="265"/>
            <ac:spMk id="3" creationId="{729121AC-1B0D-94A9-7478-CE2C7248456D}"/>
          </ac:spMkLst>
        </pc:spChg>
      </pc:sldChg>
      <pc:sldChg chg="addSp modSp mod">
        <pc:chgData name="shshinde2580@gmail.com" userId="86fdf0c531315612" providerId="LiveId" clId="{80EF1F59-5901-4077-BC9B-DA299863282D}" dt="2025-10-09T08:11:19.627" v="1353" actId="113"/>
        <pc:sldMkLst>
          <pc:docMk/>
          <pc:sldMk cId="3937566724" sldId="266"/>
        </pc:sldMkLst>
        <pc:spChg chg="add mod">
          <ac:chgData name="shshinde2580@gmail.com" userId="86fdf0c531315612" providerId="LiveId" clId="{80EF1F59-5901-4077-BC9B-DA299863282D}" dt="2025-10-09T08:11:19.627" v="1353" actId="113"/>
          <ac:spMkLst>
            <pc:docMk/>
            <pc:sldMk cId="3937566724" sldId="266"/>
            <ac:spMk id="3" creationId="{0AFAFA53-03B4-DC89-188D-B53ECA736E81}"/>
          </ac:spMkLst>
        </pc:spChg>
      </pc:sldChg>
      <pc:sldChg chg="addSp modSp mod">
        <pc:chgData name="shshinde2580@gmail.com" userId="86fdf0c531315612" providerId="LiveId" clId="{80EF1F59-5901-4077-BC9B-DA299863282D}" dt="2025-10-09T08:13:34.710" v="1391" actId="113"/>
        <pc:sldMkLst>
          <pc:docMk/>
          <pc:sldMk cId="3412071732" sldId="267"/>
        </pc:sldMkLst>
        <pc:spChg chg="add mod">
          <ac:chgData name="shshinde2580@gmail.com" userId="86fdf0c531315612" providerId="LiveId" clId="{80EF1F59-5901-4077-BC9B-DA299863282D}" dt="2025-10-09T08:13:34.710" v="1391" actId="113"/>
          <ac:spMkLst>
            <pc:docMk/>
            <pc:sldMk cId="3412071732" sldId="267"/>
            <ac:spMk id="3" creationId="{A46CA92D-6D37-2347-DF25-14AE4C0F8B2F}"/>
          </ac:spMkLst>
        </pc:spChg>
      </pc:sldChg>
      <pc:sldChg chg="addSp modSp mod">
        <pc:chgData name="shshinde2580@gmail.com" userId="86fdf0c531315612" providerId="LiveId" clId="{80EF1F59-5901-4077-BC9B-DA299863282D}" dt="2025-10-09T08:15:23.892" v="1410" actId="1076"/>
        <pc:sldMkLst>
          <pc:docMk/>
          <pc:sldMk cId="4264596708" sldId="268"/>
        </pc:sldMkLst>
        <pc:spChg chg="add mod">
          <ac:chgData name="shshinde2580@gmail.com" userId="86fdf0c531315612" providerId="LiveId" clId="{80EF1F59-5901-4077-BC9B-DA299863282D}" dt="2025-10-09T08:15:23.892" v="1410" actId="1076"/>
          <ac:spMkLst>
            <pc:docMk/>
            <pc:sldMk cId="4264596708" sldId="268"/>
            <ac:spMk id="3" creationId="{F66DF34C-743D-FE93-5127-8812948307FC}"/>
          </ac:spMkLst>
        </pc:spChg>
      </pc:sldChg>
      <pc:sldChg chg="addSp modSp mod">
        <pc:chgData name="shshinde2580@gmail.com" userId="86fdf0c531315612" providerId="LiveId" clId="{80EF1F59-5901-4077-BC9B-DA299863282D}" dt="2025-10-09T08:17:13.040" v="1645" actId="12"/>
        <pc:sldMkLst>
          <pc:docMk/>
          <pc:sldMk cId="1729805181" sldId="269"/>
        </pc:sldMkLst>
        <pc:spChg chg="add mod">
          <ac:chgData name="shshinde2580@gmail.com" userId="86fdf0c531315612" providerId="LiveId" clId="{80EF1F59-5901-4077-BC9B-DA299863282D}" dt="2025-10-09T08:17:13.040" v="1645" actId="12"/>
          <ac:spMkLst>
            <pc:docMk/>
            <pc:sldMk cId="1729805181" sldId="269"/>
            <ac:spMk id="3" creationId="{9F3C5998-3EFE-4B04-4855-E91A3C0271F9}"/>
          </ac:spMkLst>
        </pc:spChg>
      </pc:sldChg>
      <pc:sldChg chg="addSp modSp mod">
        <pc:chgData name="shshinde2580@gmail.com" userId="86fdf0c531315612" providerId="LiveId" clId="{80EF1F59-5901-4077-BC9B-DA299863282D}" dt="2025-10-09T08:20:24.122" v="1913" actId="113"/>
        <pc:sldMkLst>
          <pc:docMk/>
          <pc:sldMk cId="600229323" sldId="270"/>
        </pc:sldMkLst>
        <pc:spChg chg="add mod">
          <ac:chgData name="shshinde2580@gmail.com" userId="86fdf0c531315612" providerId="LiveId" clId="{80EF1F59-5901-4077-BC9B-DA299863282D}" dt="2025-10-09T08:20:24.122" v="1913" actId="113"/>
          <ac:spMkLst>
            <pc:docMk/>
            <pc:sldMk cId="600229323" sldId="270"/>
            <ac:spMk id="3" creationId="{552C0609-54B9-F544-681C-B45E8E3FB318}"/>
          </ac:spMkLst>
        </pc:spChg>
        <pc:spChg chg="add">
          <ac:chgData name="shshinde2580@gmail.com" userId="86fdf0c531315612" providerId="LiveId" clId="{80EF1F59-5901-4077-BC9B-DA299863282D}" dt="2025-10-09T08:20:16.252" v="1910" actId="22"/>
          <ac:spMkLst>
            <pc:docMk/>
            <pc:sldMk cId="600229323" sldId="270"/>
            <ac:spMk id="5" creationId="{5A347AF4-F938-BDC9-7F2F-B6DD968EF38C}"/>
          </ac:spMkLst>
        </pc:spChg>
      </pc:sldChg>
      <pc:sldChg chg="addSp modSp mod">
        <pc:chgData name="shshinde2580@gmail.com" userId="86fdf0c531315612" providerId="LiveId" clId="{80EF1F59-5901-4077-BC9B-DA299863282D}" dt="2025-10-09T08:21:21.201" v="1926" actId="12"/>
        <pc:sldMkLst>
          <pc:docMk/>
          <pc:sldMk cId="2189178631" sldId="271"/>
        </pc:sldMkLst>
        <pc:spChg chg="add mod">
          <ac:chgData name="shshinde2580@gmail.com" userId="86fdf0c531315612" providerId="LiveId" clId="{80EF1F59-5901-4077-BC9B-DA299863282D}" dt="2025-10-09T08:21:21.201" v="1926" actId="12"/>
          <ac:spMkLst>
            <pc:docMk/>
            <pc:sldMk cId="2189178631" sldId="271"/>
            <ac:spMk id="3" creationId="{1AFA4F14-A6BD-ACBA-EE96-F96FDE70ED76}"/>
          </ac:spMkLst>
        </pc:spChg>
      </pc:sldChg>
      <pc:sldChg chg="addSp modSp mod">
        <pc:chgData name="shshinde2580@gmail.com" userId="86fdf0c531315612" providerId="LiveId" clId="{80EF1F59-5901-4077-BC9B-DA299863282D}" dt="2025-10-09T08:40:47.708" v="1991" actId="113"/>
        <pc:sldMkLst>
          <pc:docMk/>
          <pc:sldMk cId="1090872881" sldId="272"/>
        </pc:sldMkLst>
        <pc:spChg chg="add mod">
          <ac:chgData name="shshinde2580@gmail.com" userId="86fdf0c531315612" providerId="LiveId" clId="{80EF1F59-5901-4077-BC9B-DA299863282D}" dt="2025-10-09T08:40:47.708" v="1991" actId="113"/>
          <ac:spMkLst>
            <pc:docMk/>
            <pc:sldMk cId="1090872881" sldId="272"/>
            <ac:spMk id="3" creationId="{9A1D27B6-2EB9-40B8-D8BD-3C6C3A7C043E}"/>
          </ac:spMkLst>
        </pc:spChg>
      </pc:sldChg>
      <pc:sldChg chg="addSp modSp mod">
        <pc:chgData name="shshinde2580@gmail.com" userId="86fdf0c531315612" providerId="LiveId" clId="{80EF1F59-5901-4077-BC9B-DA299863282D}" dt="2025-10-09T08:38:12.200" v="1965" actId="20577"/>
        <pc:sldMkLst>
          <pc:docMk/>
          <pc:sldMk cId="110664590" sldId="273"/>
        </pc:sldMkLst>
        <pc:spChg chg="add mod">
          <ac:chgData name="shshinde2580@gmail.com" userId="86fdf0c531315612" providerId="LiveId" clId="{80EF1F59-5901-4077-BC9B-DA299863282D}" dt="2025-10-09T08:38:12.200" v="1965" actId="20577"/>
          <ac:spMkLst>
            <pc:docMk/>
            <pc:sldMk cId="110664590" sldId="273"/>
            <ac:spMk id="3" creationId="{9B581BBF-6601-A232-D702-8BAFFEF8C3F8}"/>
          </ac:spMkLst>
        </pc:spChg>
      </pc:sldChg>
      <pc:sldChg chg="addSp modSp mod">
        <pc:chgData name="shshinde2580@gmail.com" userId="86fdf0c531315612" providerId="LiveId" clId="{80EF1F59-5901-4077-BC9B-DA299863282D}" dt="2025-10-09T08:39:48.226" v="1989" actId="12"/>
        <pc:sldMkLst>
          <pc:docMk/>
          <pc:sldMk cId="1806544140" sldId="274"/>
        </pc:sldMkLst>
        <pc:spChg chg="add mod">
          <ac:chgData name="shshinde2580@gmail.com" userId="86fdf0c531315612" providerId="LiveId" clId="{80EF1F59-5901-4077-BC9B-DA299863282D}" dt="2025-10-09T08:39:48.226" v="1989" actId="12"/>
          <ac:spMkLst>
            <pc:docMk/>
            <pc:sldMk cId="1806544140" sldId="274"/>
            <ac:spMk id="3" creationId="{1A343BC5-3441-0C57-C01B-37726F680727}"/>
          </ac:spMkLst>
        </pc:spChg>
        <pc:graphicFrameChg chg="add mod modGraphic">
          <ac:chgData name="shshinde2580@gmail.com" userId="86fdf0c531315612" providerId="LiveId" clId="{80EF1F59-5901-4077-BC9B-DA299863282D}" dt="2025-10-09T08:39:28.831" v="1985" actId="122"/>
          <ac:graphicFrameMkLst>
            <pc:docMk/>
            <pc:sldMk cId="1806544140" sldId="274"/>
            <ac:graphicFrameMk id="4" creationId="{C4375E6E-123C-87C5-3BA7-7F92DA1E7C9D}"/>
          </ac:graphicFrameMkLst>
        </pc:graphicFrameChg>
      </pc:sldChg>
      <pc:sldChg chg="del">
        <pc:chgData name="shshinde2580@gmail.com" userId="86fdf0c531315612" providerId="LiveId" clId="{80EF1F59-5901-4077-BC9B-DA299863282D}" dt="2025-10-09T08:40:37.392" v="1990" actId="2696"/>
        <pc:sldMkLst>
          <pc:docMk/>
          <pc:sldMk cId="2372243746" sldId="27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2787914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171751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83665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F2B1D2-0A59-4EC6-825A-0AB63B89C707}"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2384092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F2B1D2-0A59-4EC6-825A-0AB63B89C707}"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346629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F2B1D2-0A59-4EC6-825A-0AB63B89C707}"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373377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2B1D2-0A59-4EC6-825A-0AB63B89C707}"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3039087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F2B1D2-0A59-4EC6-825A-0AB63B89C707}"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801434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F2B1D2-0A59-4EC6-825A-0AB63B89C707}"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216881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53580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8787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2873835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23068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4147336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3489950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2B1D2-0A59-4EC6-825A-0AB63B89C707}"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EADB6F-0957-497D-8571-FD5735BD273A}" type="slidenum">
              <a:rPr lang="en-IN" smtClean="0"/>
              <a:t>‹#›</a:t>
            </a:fld>
            <a:endParaRPr lang="en-IN"/>
          </a:p>
        </p:txBody>
      </p:sp>
    </p:spTree>
    <p:extLst>
      <p:ext uri="{BB962C8B-B14F-4D97-AF65-F5344CB8AC3E}">
        <p14:creationId xmlns:p14="http://schemas.microsoft.com/office/powerpoint/2010/main" val="566072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9F2B1D2-0A59-4EC6-825A-0AB63B89C707}" type="datetimeFigureOut">
              <a:rPr lang="en-IN" smtClean="0"/>
              <a:t>09-10-2025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EEADB6F-0957-497D-8571-FD5735BD273A}" type="slidenum">
              <a:rPr lang="en-IN" smtClean="0"/>
              <a:t>‹#›</a:t>
            </a:fld>
            <a:endParaRPr lang="en-IN"/>
          </a:p>
        </p:txBody>
      </p:sp>
    </p:spTree>
    <p:extLst>
      <p:ext uri="{BB962C8B-B14F-4D97-AF65-F5344CB8AC3E}">
        <p14:creationId xmlns:p14="http://schemas.microsoft.com/office/powerpoint/2010/main" val="889091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E9A04-AE42-CFBF-4413-FF49DA126BD3}"/>
              </a:ext>
            </a:extLst>
          </p:cNvPr>
          <p:cNvSpPr>
            <a:spLocks noGrp="1"/>
          </p:cNvSpPr>
          <p:nvPr>
            <p:ph type="ctrTitle"/>
          </p:nvPr>
        </p:nvSpPr>
        <p:spPr>
          <a:xfrm>
            <a:off x="566529" y="1782698"/>
            <a:ext cx="9293087" cy="1646302"/>
          </a:xfrm>
        </p:spPr>
        <p:txBody>
          <a:bodyPr/>
          <a:lstStyle/>
          <a:p>
            <a:pPr algn="ctr"/>
            <a:r>
              <a:rPr lang="en-IN" dirty="0"/>
              <a:t>Process Models </a:t>
            </a:r>
          </a:p>
        </p:txBody>
      </p:sp>
    </p:spTree>
    <p:extLst>
      <p:ext uri="{BB962C8B-B14F-4D97-AF65-F5344CB8AC3E}">
        <p14:creationId xmlns:p14="http://schemas.microsoft.com/office/powerpoint/2010/main" val="16216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3A42644-4D48-3933-F925-A1B14A55B380}"/>
              </a:ext>
            </a:extLst>
          </p:cNvPr>
          <p:cNvSpPr txBox="1"/>
          <p:nvPr/>
        </p:nvSpPr>
        <p:spPr>
          <a:xfrm>
            <a:off x="795130" y="83691"/>
            <a:ext cx="8299175" cy="6186309"/>
          </a:xfrm>
          <a:prstGeom prst="rect">
            <a:avLst/>
          </a:prstGeom>
          <a:noFill/>
        </p:spPr>
        <p:txBody>
          <a:bodyPr wrap="square">
            <a:spAutoFit/>
          </a:bodyPr>
          <a:lstStyle/>
          <a:p>
            <a:r>
              <a:rPr lang="en-US" b="1" dirty="0"/>
              <a:t>2.1 Personal and Team Process Models (PSP and TSP)</a:t>
            </a:r>
          </a:p>
          <a:p>
            <a:endParaRPr lang="en-US" dirty="0"/>
          </a:p>
          <a:p>
            <a:pPr marL="285750" indent="-285750">
              <a:buFont typeface="Wingdings" panose="05000000000000000000" pitchFamily="2" charset="2"/>
              <a:buChar char="Ø"/>
            </a:pPr>
            <a:r>
              <a:rPr lang="en-US" b="1" dirty="0"/>
              <a:t>Personal Software Process (PSP)</a:t>
            </a:r>
          </a:p>
          <a:p>
            <a:endParaRPr lang="en-US" dirty="0"/>
          </a:p>
          <a:p>
            <a:r>
              <a:rPr lang="en-US" dirty="0"/>
              <a:t>The Personal Software Process (PSP) is a structured methodology designed to help individual software engineers improve their personal work processes through disciplined practices and measurement of their performance.</a:t>
            </a:r>
          </a:p>
          <a:p>
            <a:endParaRPr lang="en-US" dirty="0"/>
          </a:p>
          <a:p>
            <a:pPr marL="285750" indent="-285750">
              <a:buFont typeface="Wingdings" panose="05000000000000000000" pitchFamily="2" charset="2"/>
              <a:buChar char="Ø"/>
            </a:pPr>
            <a:r>
              <a:rPr lang="en-US" b="1" dirty="0"/>
              <a:t>Objectives and Benefits of PSP:</a:t>
            </a:r>
          </a:p>
          <a:p>
            <a:endParaRPr lang="en-US" dirty="0"/>
          </a:p>
          <a:p>
            <a:pPr marL="285750" indent="-285750">
              <a:buFont typeface="Arial" panose="020B0604020202020204" pitchFamily="34" charset="0"/>
              <a:buChar char="•"/>
            </a:pPr>
            <a:r>
              <a:rPr lang="en-US" dirty="0"/>
              <a:t>Improve estimating and planning skills.</a:t>
            </a:r>
          </a:p>
          <a:p>
            <a:pPr marL="285750" indent="-285750">
              <a:buFont typeface="Arial" panose="020B0604020202020204" pitchFamily="34" charset="0"/>
              <a:buChar char="•"/>
            </a:pPr>
            <a:r>
              <a:rPr lang="en-US" dirty="0"/>
              <a:t>Enable engineers to make realistic commitments.</a:t>
            </a:r>
          </a:p>
          <a:p>
            <a:pPr marL="285750" indent="-285750">
              <a:buFont typeface="Arial" panose="020B0604020202020204" pitchFamily="34" charset="0"/>
              <a:buChar char="•"/>
            </a:pPr>
            <a:r>
              <a:rPr lang="en-US" dirty="0"/>
              <a:t>Manage personal project quality.</a:t>
            </a:r>
          </a:p>
          <a:p>
            <a:pPr marL="285750" indent="-285750">
              <a:buFont typeface="Arial" panose="020B0604020202020204" pitchFamily="34" charset="0"/>
              <a:buChar char="•"/>
            </a:pPr>
            <a:r>
              <a:rPr lang="en-US" dirty="0"/>
              <a:t>Reduce defects and improve reliability of work.</a:t>
            </a:r>
          </a:p>
          <a:p>
            <a:pPr marL="285750" indent="-285750">
              <a:buFont typeface="Arial" panose="020B0604020202020204" pitchFamily="34" charset="0"/>
              <a:buChar char="•"/>
            </a:pPr>
            <a:r>
              <a:rPr lang="en-US" dirty="0"/>
              <a:t>Track and analyze time spent on activities, defects, and size of work to understand performance and guide improvements.</a:t>
            </a:r>
          </a:p>
          <a:p>
            <a:pPr marL="285750" indent="-285750">
              <a:buFont typeface="Arial" panose="020B0604020202020204" pitchFamily="34" charset="0"/>
              <a:buChar char="•"/>
            </a:pPr>
            <a:r>
              <a:rPr lang="en-US" dirty="0"/>
              <a:t>Promote self-assessment and continuous personal process improvement.</a:t>
            </a:r>
          </a:p>
          <a:p>
            <a:pPr marL="285750" indent="-285750">
              <a:buFont typeface="Arial" panose="020B0604020202020204" pitchFamily="34" charset="0"/>
              <a:buChar char="•"/>
            </a:pPr>
            <a:r>
              <a:rPr lang="en-US" dirty="0"/>
              <a:t>PSP involves activities such as planning, high-level design, design review,</a:t>
            </a:r>
          </a:p>
          <a:p>
            <a:endParaRPr lang="en-US" dirty="0"/>
          </a:p>
          <a:p>
            <a:r>
              <a:rPr lang="en-US" dirty="0"/>
              <a:t> development (coding and testing), and postmortem analysis to evaluate and refine personal work </a:t>
            </a:r>
            <a:r>
              <a:rPr lang="en-IN" dirty="0"/>
              <a:t>practices</a:t>
            </a:r>
            <a:endParaRPr lang="en-US" dirty="0"/>
          </a:p>
          <a:p>
            <a:endParaRPr lang="en-IN" dirty="0"/>
          </a:p>
        </p:txBody>
      </p:sp>
    </p:spTree>
    <p:extLst>
      <p:ext uri="{BB962C8B-B14F-4D97-AF65-F5344CB8AC3E}">
        <p14:creationId xmlns:p14="http://schemas.microsoft.com/office/powerpoint/2010/main" val="4047864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7FB9E-ED74-2928-8A0D-3AE60539A0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F11DC8-161C-25C3-D940-976764785DDA}"/>
              </a:ext>
            </a:extLst>
          </p:cNvPr>
          <p:cNvSpPr txBox="1"/>
          <p:nvPr/>
        </p:nvSpPr>
        <p:spPr>
          <a:xfrm>
            <a:off x="805070" y="133821"/>
            <a:ext cx="8428382" cy="4247317"/>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Team Software Process (TSP)</a:t>
            </a:r>
          </a:p>
          <a:p>
            <a:pPr algn="l">
              <a:buNone/>
            </a:pPr>
            <a:endParaRPr lang="en-US" b="0" i="0" dirty="0">
              <a:effectLst/>
              <a:latin typeface="fkGrotesk"/>
            </a:endParaRPr>
          </a:p>
          <a:p>
            <a:pPr algn="l">
              <a:buNone/>
            </a:pPr>
            <a:r>
              <a:rPr lang="en-US" b="0" i="0" dirty="0">
                <a:effectLst/>
                <a:latin typeface="fkGroteskNeue"/>
              </a:rPr>
              <a:t>The Team Software Process (TSP) extends PSP concepts to the team level, focusing on team productivity, collaboration, and disciplined process management to deliver high-quality software effectively. TSP provides a framework for managing team roles, tasks, metrics, and quality.</a:t>
            </a:r>
          </a:p>
          <a:p>
            <a:pPr algn="l">
              <a:buNone/>
            </a:pPr>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
              </a:rPr>
              <a:t>Key Features and Benefits of TSP:</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Emphasizes team collaboration and communication.</a:t>
            </a:r>
          </a:p>
          <a:p>
            <a:pPr algn="l">
              <a:buFont typeface="Arial" panose="020B0604020202020204" pitchFamily="34" charset="0"/>
              <a:buChar char="•"/>
            </a:pPr>
            <a:r>
              <a:rPr lang="en-US" b="0" i="0" dirty="0">
                <a:effectLst/>
                <a:latin typeface="fkGroteskNeue"/>
              </a:rPr>
              <a:t>Uses structured process management similar to PSP but scaled to team dynamics.</a:t>
            </a:r>
          </a:p>
          <a:p>
            <a:pPr algn="l">
              <a:buFont typeface="Arial" panose="020B0604020202020204" pitchFamily="34" charset="0"/>
              <a:buChar char="•"/>
            </a:pPr>
            <a:r>
              <a:rPr lang="en-US" b="0" i="0" dirty="0">
                <a:effectLst/>
                <a:latin typeface="fkGroteskNeue"/>
              </a:rPr>
              <a:t>Metrics-driven approach to measure progress, quality, and productivity.</a:t>
            </a:r>
          </a:p>
          <a:p>
            <a:pPr algn="l">
              <a:buFont typeface="Arial" panose="020B0604020202020204" pitchFamily="34" charset="0"/>
              <a:buChar char="•"/>
            </a:pPr>
            <a:r>
              <a:rPr lang="en-US" b="0" i="0" dirty="0">
                <a:effectLst/>
                <a:latin typeface="fkGroteskNeue"/>
              </a:rPr>
              <a:t>Supports iterative and incremental development steps.</a:t>
            </a:r>
          </a:p>
          <a:p>
            <a:pPr algn="l">
              <a:buFont typeface="Arial" panose="020B0604020202020204" pitchFamily="34" charset="0"/>
              <a:buChar char="•"/>
            </a:pPr>
            <a:r>
              <a:rPr lang="en-US" b="0" i="0" dirty="0">
                <a:effectLst/>
                <a:latin typeface="fkGroteskNeue"/>
              </a:rPr>
              <a:t>Encourages continuous improvement with feedback from peers and stakeholders.</a:t>
            </a:r>
          </a:p>
          <a:p>
            <a:pPr algn="l">
              <a:buFont typeface="Arial" panose="020B0604020202020204" pitchFamily="34" charset="0"/>
              <a:buChar char="•"/>
            </a:pPr>
            <a:r>
              <a:rPr lang="en-US" b="0" i="0" dirty="0">
                <a:effectLst/>
                <a:latin typeface="fkGroteskNeue"/>
              </a:rPr>
              <a:t>Helps teams achieve predictable, high-quality software delivery.</a:t>
            </a:r>
          </a:p>
        </p:txBody>
      </p:sp>
    </p:spTree>
    <p:extLst>
      <p:ext uri="{BB962C8B-B14F-4D97-AF65-F5344CB8AC3E}">
        <p14:creationId xmlns:p14="http://schemas.microsoft.com/office/powerpoint/2010/main" val="2459627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07D98-9780-D282-9817-156D53B67B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F0985B-83A0-FA93-FCAE-B7349FD54284}"/>
              </a:ext>
            </a:extLst>
          </p:cNvPr>
          <p:cNvSpPr txBox="1"/>
          <p:nvPr/>
        </p:nvSpPr>
        <p:spPr>
          <a:xfrm>
            <a:off x="884583" y="124744"/>
            <a:ext cx="8378687" cy="369332"/>
          </a:xfrm>
          <a:prstGeom prst="rect">
            <a:avLst/>
          </a:prstGeom>
          <a:noFill/>
        </p:spPr>
        <p:txBody>
          <a:bodyPr wrap="square">
            <a:spAutoFit/>
          </a:bodyPr>
          <a:lstStyle/>
          <a:p>
            <a:pPr algn="l">
              <a:buNone/>
            </a:pPr>
            <a:r>
              <a:rPr lang="en-IN" b="1" i="0" dirty="0">
                <a:effectLst/>
                <a:latin typeface="fkGrotesk"/>
              </a:rPr>
              <a:t>Comparison Summary</a:t>
            </a:r>
          </a:p>
        </p:txBody>
      </p:sp>
      <p:graphicFrame>
        <p:nvGraphicFramePr>
          <p:cNvPr id="4" name="Table 3">
            <a:extLst>
              <a:ext uri="{FF2B5EF4-FFF2-40B4-BE49-F238E27FC236}">
                <a16:creationId xmlns:a16="http://schemas.microsoft.com/office/drawing/2014/main" id="{9B5465DA-23D3-97F4-D365-5AB02B574FCF}"/>
              </a:ext>
            </a:extLst>
          </p:cNvPr>
          <p:cNvGraphicFramePr>
            <a:graphicFrameLocks noGrp="1"/>
          </p:cNvGraphicFramePr>
          <p:nvPr>
            <p:extLst>
              <p:ext uri="{D42A27DB-BD31-4B8C-83A1-F6EECF244321}">
                <p14:modId xmlns:p14="http://schemas.microsoft.com/office/powerpoint/2010/main" val="1769125905"/>
              </p:ext>
            </p:extLst>
          </p:nvPr>
        </p:nvGraphicFramePr>
        <p:xfrm>
          <a:off x="884583" y="645417"/>
          <a:ext cx="8378685" cy="3913592"/>
        </p:xfrm>
        <a:graphic>
          <a:graphicData uri="http://schemas.openxmlformats.org/drawingml/2006/table">
            <a:tbl>
              <a:tblPr>
                <a:tableStyleId>{5940675A-B579-460E-94D1-54222C63F5DA}</a:tableStyleId>
              </a:tblPr>
              <a:tblGrid>
                <a:gridCol w="2156791">
                  <a:extLst>
                    <a:ext uri="{9D8B030D-6E8A-4147-A177-3AD203B41FA5}">
                      <a16:colId xmlns:a16="http://schemas.microsoft.com/office/drawing/2014/main" val="2707992480"/>
                    </a:ext>
                  </a:extLst>
                </a:gridCol>
                <a:gridCol w="3428999">
                  <a:extLst>
                    <a:ext uri="{9D8B030D-6E8A-4147-A177-3AD203B41FA5}">
                      <a16:colId xmlns:a16="http://schemas.microsoft.com/office/drawing/2014/main" val="1370482844"/>
                    </a:ext>
                  </a:extLst>
                </a:gridCol>
                <a:gridCol w="2792895">
                  <a:extLst>
                    <a:ext uri="{9D8B030D-6E8A-4147-A177-3AD203B41FA5}">
                      <a16:colId xmlns:a16="http://schemas.microsoft.com/office/drawing/2014/main" val="519778582"/>
                    </a:ext>
                  </a:extLst>
                </a:gridCol>
              </a:tblGrid>
              <a:tr h="347991">
                <a:tc>
                  <a:txBody>
                    <a:bodyPr/>
                    <a:lstStyle/>
                    <a:p>
                      <a:pPr algn="l">
                        <a:buNone/>
                      </a:pPr>
                      <a:r>
                        <a:rPr lang="en-IN" sz="1600" b="1">
                          <a:effectLst/>
                        </a:rPr>
                        <a:t>Aspect</a:t>
                      </a:r>
                    </a:p>
                  </a:txBody>
                  <a:tcPr marL="53537" marR="53537" marT="53537" marB="53537" anchor="ctr"/>
                </a:tc>
                <a:tc>
                  <a:txBody>
                    <a:bodyPr/>
                    <a:lstStyle/>
                    <a:p>
                      <a:pPr algn="l">
                        <a:buNone/>
                      </a:pPr>
                      <a:r>
                        <a:rPr lang="en-IN" sz="1600" b="1">
                          <a:effectLst/>
                        </a:rPr>
                        <a:t>PSP</a:t>
                      </a:r>
                    </a:p>
                  </a:txBody>
                  <a:tcPr marL="53537" marR="53537" marT="53537" marB="53537" anchor="ctr"/>
                </a:tc>
                <a:tc>
                  <a:txBody>
                    <a:bodyPr/>
                    <a:lstStyle/>
                    <a:p>
                      <a:pPr algn="l">
                        <a:buNone/>
                      </a:pPr>
                      <a:r>
                        <a:rPr lang="en-IN" sz="1600" b="1">
                          <a:effectLst/>
                        </a:rPr>
                        <a:t>TSP</a:t>
                      </a:r>
                    </a:p>
                  </a:txBody>
                  <a:tcPr marL="53537" marR="53537" marT="53537" marB="53537" anchor="ctr"/>
                </a:tc>
                <a:extLst>
                  <a:ext uri="{0D108BD9-81ED-4DB2-BD59-A6C34878D82A}">
                    <a16:rowId xmlns:a16="http://schemas.microsoft.com/office/drawing/2014/main" val="2749291238"/>
                  </a:ext>
                </a:extLst>
              </a:tr>
              <a:tr h="588908">
                <a:tc>
                  <a:txBody>
                    <a:bodyPr/>
                    <a:lstStyle/>
                    <a:p>
                      <a:pPr algn="l">
                        <a:buNone/>
                      </a:pPr>
                      <a:r>
                        <a:rPr lang="en-IN" sz="1600" dirty="0">
                          <a:effectLst/>
                        </a:rPr>
                        <a:t>Focus</a:t>
                      </a:r>
                    </a:p>
                  </a:txBody>
                  <a:tcPr marL="53537" marR="53537" marT="53537" marB="53537" anchor="ctr"/>
                </a:tc>
                <a:tc>
                  <a:txBody>
                    <a:bodyPr/>
                    <a:lstStyle/>
                    <a:p>
                      <a:pPr algn="l">
                        <a:buNone/>
                      </a:pPr>
                      <a:r>
                        <a:rPr lang="en-IN" sz="1600" dirty="0">
                          <a:effectLst/>
                        </a:rPr>
                        <a:t>Individual software engineer</a:t>
                      </a:r>
                    </a:p>
                  </a:txBody>
                  <a:tcPr marL="53537" marR="53537" marT="53537" marB="53537" anchor="ctr"/>
                </a:tc>
                <a:tc>
                  <a:txBody>
                    <a:bodyPr/>
                    <a:lstStyle/>
                    <a:p>
                      <a:pPr algn="l">
                        <a:buNone/>
                      </a:pPr>
                      <a:r>
                        <a:rPr lang="en-IN" sz="1600">
                          <a:effectLst/>
                        </a:rPr>
                        <a:t>Team of software engineers</a:t>
                      </a:r>
                    </a:p>
                  </a:txBody>
                  <a:tcPr marL="53537" marR="53537" marT="53537" marB="53537" anchor="ctr"/>
                </a:tc>
                <a:extLst>
                  <a:ext uri="{0D108BD9-81ED-4DB2-BD59-A6C34878D82A}">
                    <a16:rowId xmlns:a16="http://schemas.microsoft.com/office/drawing/2014/main" val="2934927673"/>
                  </a:ext>
                </a:extLst>
              </a:tr>
              <a:tr h="588908">
                <a:tc>
                  <a:txBody>
                    <a:bodyPr/>
                    <a:lstStyle/>
                    <a:p>
                      <a:pPr algn="l">
                        <a:buNone/>
                      </a:pPr>
                      <a:r>
                        <a:rPr lang="en-IN" sz="1600">
                          <a:effectLst/>
                        </a:rPr>
                        <a:t>Goal</a:t>
                      </a:r>
                    </a:p>
                  </a:txBody>
                  <a:tcPr marL="53537" marR="53537" marT="53537" marB="53537" anchor="ctr"/>
                </a:tc>
                <a:tc>
                  <a:txBody>
                    <a:bodyPr/>
                    <a:lstStyle/>
                    <a:p>
                      <a:pPr algn="l">
                        <a:buNone/>
                      </a:pPr>
                      <a:r>
                        <a:rPr lang="en-US" sz="1600">
                          <a:effectLst/>
                        </a:rPr>
                        <a:t>Improve individual skills and quality</a:t>
                      </a:r>
                    </a:p>
                  </a:txBody>
                  <a:tcPr marL="53537" marR="53537" marT="53537" marB="53537" anchor="ctr"/>
                </a:tc>
                <a:tc>
                  <a:txBody>
                    <a:bodyPr/>
                    <a:lstStyle/>
                    <a:p>
                      <a:pPr algn="l">
                        <a:buNone/>
                      </a:pPr>
                      <a:r>
                        <a:rPr lang="en-US" sz="1600">
                          <a:effectLst/>
                        </a:rPr>
                        <a:t>Improve team productivity and product quality</a:t>
                      </a:r>
                    </a:p>
                  </a:txBody>
                  <a:tcPr marL="53537" marR="53537" marT="53537" marB="53537" anchor="ctr"/>
                </a:tc>
                <a:extLst>
                  <a:ext uri="{0D108BD9-81ED-4DB2-BD59-A6C34878D82A}">
                    <a16:rowId xmlns:a16="http://schemas.microsoft.com/office/drawing/2014/main" val="2901456160"/>
                  </a:ext>
                </a:extLst>
              </a:tr>
              <a:tr h="588908">
                <a:tc>
                  <a:txBody>
                    <a:bodyPr/>
                    <a:lstStyle/>
                    <a:p>
                      <a:pPr algn="l">
                        <a:buNone/>
                      </a:pPr>
                      <a:r>
                        <a:rPr lang="en-IN" sz="1600">
                          <a:effectLst/>
                        </a:rPr>
                        <a:t>Process Approach</a:t>
                      </a:r>
                    </a:p>
                  </a:txBody>
                  <a:tcPr marL="53537" marR="53537" marT="53537" marB="53537" anchor="ctr"/>
                </a:tc>
                <a:tc>
                  <a:txBody>
                    <a:bodyPr/>
                    <a:lstStyle/>
                    <a:p>
                      <a:pPr algn="l">
                        <a:buNone/>
                      </a:pPr>
                      <a:r>
                        <a:rPr lang="en-IN" sz="1600">
                          <a:effectLst/>
                        </a:rPr>
                        <a:t>Bottom-up, disciplined, metrics-based</a:t>
                      </a:r>
                    </a:p>
                  </a:txBody>
                  <a:tcPr marL="53537" marR="53537" marT="53537" marB="53537" anchor="ctr"/>
                </a:tc>
                <a:tc>
                  <a:txBody>
                    <a:bodyPr/>
                    <a:lstStyle/>
                    <a:p>
                      <a:pPr algn="l">
                        <a:buNone/>
                      </a:pPr>
                      <a:r>
                        <a:rPr lang="en-IN" sz="1600">
                          <a:effectLst/>
                        </a:rPr>
                        <a:t>Top-down, process-driven, team management</a:t>
                      </a:r>
                    </a:p>
                  </a:txBody>
                  <a:tcPr marL="53537" marR="53537" marT="53537" marB="53537" anchor="ctr"/>
                </a:tc>
                <a:extLst>
                  <a:ext uri="{0D108BD9-81ED-4DB2-BD59-A6C34878D82A}">
                    <a16:rowId xmlns:a16="http://schemas.microsoft.com/office/drawing/2014/main" val="4116447750"/>
                  </a:ext>
                </a:extLst>
              </a:tr>
              <a:tr h="588908">
                <a:tc>
                  <a:txBody>
                    <a:bodyPr/>
                    <a:lstStyle/>
                    <a:p>
                      <a:pPr algn="l">
                        <a:buNone/>
                      </a:pPr>
                      <a:r>
                        <a:rPr lang="en-IN" sz="1600">
                          <a:effectLst/>
                        </a:rPr>
                        <a:t>Scope</a:t>
                      </a:r>
                    </a:p>
                  </a:txBody>
                  <a:tcPr marL="53537" marR="53537" marT="53537" marB="53537" anchor="ctr"/>
                </a:tc>
                <a:tc>
                  <a:txBody>
                    <a:bodyPr/>
                    <a:lstStyle/>
                    <a:p>
                      <a:pPr algn="l">
                        <a:buNone/>
                      </a:pPr>
                      <a:r>
                        <a:rPr lang="en-US" sz="1600">
                          <a:effectLst/>
                        </a:rPr>
                        <a:t>Personal planning, coding, defect tracking</a:t>
                      </a:r>
                    </a:p>
                  </a:txBody>
                  <a:tcPr marL="53537" marR="53537" marT="53537" marB="53537" anchor="ctr"/>
                </a:tc>
                <a:tc>
                  <a:txBody>
                    <a:bodyPr/>
                    <a:lstStyle/>
                    <a:p>
                      <a:pPr algn="l">
                        <a:buNone/>
                      </a:pPr>
                      <a:r>
                        <a:rPr lang="en-US" sz="1600">
                          <a:effectLst/>
                        </a:rPr>
                        <a:t>Team roles, project tracking, quality control</a:t>
                      </a:r>
                    </a:p>
                  </a:txBody>
                  <a:tcPr marL="53537" marR="53537" marT="53537" marB="53537" anchor="ctr"/>
                </a:tc>
                <a:extLst>
                  <a:ext uri="{0D108BD9-81ED-4DB2-BD59-A6C34878D82A}">
                    <a16:rowId xmlns:a16="http://schemas.microsoft.com/office/drawing/2014/main" val="1535631734"/>
                  </a:ext>
                </a:extLst>
              </a:tr>
              <a:tr h="588908">
                <a:tc>
                  <a:txBody>
                    <a:bodyPr/>
                    <a:lstStyle/>
                    <a:p>
                      <a:pPr algn="l">
                        <a:buNone/>
                      </a:pPr>
                      <a:r>
                        <a:rPr lang="en-IN" sz="1600">
                          <a:effectLst/>
                        </a:rPr>
                        <a:t>Benefits</a:t>
                      </a:r>
                    </a:p>
                  </a:txBody>
                  <a:tcPr marL="53537" marR="53537" marT="53537" marB="53537" anchor="ctr"/>
                </a:tc>
                <a:tc>
                  <a:txBody>
                    <a:bodyPr/>
                    <a:lstStyle/>
                    <a:p>
                      <a:pPr algn="l">
                        <a:buNone/>
                      </a:pPr>
                      <a:r>
                        <a:rPr lang="en-IN" sz="1600">
                          <a:effectLst/>
                        </a:rPr>
                        <a:t>Enhanced estimation, reduced defects</a:t>
                      </a:r>
                    </a:p>
                  </a:txBody>
                  <a:tcPr marL="53537" marR="53537" marT="53537" marB="53537" anchor="ctr"/>
                </a:tc>
                <a:tc>
                  <a:txBody>
                    <a:bodyPr/>
                    <a:lstStyle/>
                    <a:p>
                      <a:pPr algn="l">
                        <a:buNone/>
                      </a:pPr>
                      <a:r>
                        <a:rPr lang="en-US" sz="1600" dirty="0">
                          <a:effectLst/>
                        </a:rPr>
                        <a:t>Better collaboration, higher team productivity</a:t>
                      </a:r>
                    </a:p>
                  </a:txBody>
                  <a:tcPr marL="53537" marR="53537" marT="53537" marB="53537" anchor="ctr"/>
                </a:tc>
                <a:extLst>
                  <a:ext uri="{0D108BD9-81ED-4DB2-BD59-A6C34878D82A}">
                    <a16:rowId xmlns:a16="http://schemas.microsoft.com/office/drawing/2014/main" val="2068901263"/>
                  </a:ext>
                </a:extLst>
              </a:tr>
              <a:tr h="588908">
                <a:tc>
                  <a:txBody>
                    <a:bodyPr/>
                    <a:lstStyle/>
                    <a:p>
                      <a:pPr algn="l">
                        <a:buNone/>
                      </a:pPr>
                      <a:r>
                        <a:rPr lang="en-IN" sz="1600">
                          <a:effectLst/>
                        </a:rPr>
                        <a:t>Complexity</a:t>
                      </a:r>
                    </a:p>
                  </a:txBody>
                  <a:tcPr marL="53537" marR="53537" marT="53537" marB="53537" anchor="ctr"/>
                </a:tc>
                <a:tc>
                  <a:txBody>
                    <a:bodyPr/>
                    <a:lstStyle/>
                    <a:p>
                      <a:pPr algn="l">
                        <a:buNone/>
                      </a:pPr>
                      <a:r>
                        <a:rPr lang="en-IN" sz="1600">
                          <a:effectLst/>
                        </a:rPr>
                        <a:t>Intellectually challenging for individuals</a:t>
                      </a:r>
                    </a:p>
                  </a:txBody>
                  <a:tcPr marL="53537" marR="53537" marT="53537" marB="53537" anchor="ctr"/>
                </a:tc>
                <a:tc>
                  <a:txBody>
                    <a:bodyPr/>
                    <a:lstStyle/>
                    <a:p>
                      <a:pPr algn="l">
                        <a:buNone/>
                      </a:pPr>
                      <a:r>
                        <a:rPr lang="en-US" sz="1600" dirty="0">
                          <a:effectLst/>
                        </a:rPr>
                        <a:t>Requires discipline at team level</a:t>
                      </a:r>
                    </a:p>
                  </a:txBody>
                  <a:tcPr marL="53537" marR="53537" marT="53537" marB="53537" anchor="ctr"/>
                </a:tc>
                <a:extLst>
                  <a:ext uri="{0D108BD9-81ED-4DB2-BD59-A6C34878D82A}">
                    <a16:rowId xmlns:a16="http://schemas.microsoft.com/office/drawing/2014/main" val="2858991966"/>
                  </a:ext>
                </a:extLst>
              </a:tr>
            </a:tbl>
          </a:graphicData>
        </a:graphic>
      </p:graphicFrame>
      <p:sp>
        <p:nvSpPr>
          <p:cNvPr id="6" name="TextBox 5">
            <a:extLst>
              <a:ext uri="{FF2B5EF4-FFF2-40B4-BE49-F238E27FC236}">
                <a16:creationId xmlns:a16="http://schemas.microsoft.com/office/drawing/2014/main" id="{FE1C1248-8EE2-411A-AB0A-B342D174CED7}"/>
              </a:ext>
            </a:extLst>
          </p:cNvPr>
          <p:cNvSpPr txBox="1"/>
          <p:nvPr/>
        </p:nvSpPr>
        <p:spPr>
          <a:xfrm>
            <a:off x="805070" y="4836540"/>
            <a:ext cx="8458198" cy="923330"/>
          </a:xfrm>
          <a:prstGeom prst="rect">
            <a:avLst/>
          </a:prstGeom>
          <a:noFill/>
        </p:spPr>
        <p:txBody>
          <a:bodyPr wrap="square">
            <a:spAutoFit/>
          </a:bodyPr>
          <a:lstStyle/>
          <a:p>
            <a:r>
              <a:rPr lang="en-US" b="0" i="0" dirty="0">
                <a:effectLst/>
                <a:latin typeface="fkGroteskNeue"/>
              </a:rPr>
              <a:t>Both PSP and TSP aim to improve software quality and productivity but operate at different levels—the individual and the team—to ensure better-managed, predictable software development processes</a:t>
            </a:r>
            <a:endParaRPr lang="en-IN" dirty="0"/>
          </a:p>
        </p:txBody>
      </p:sp>
    </p:spTree>
    <p:extLst>
      <p:ext uri="{BB962C8B-B14F-4D97-AF65-F5344CB8AC3E}">
        <p14:creationId xmlns:p14="http://schemas.microsoft.com/office/powerpoint/2010/main" val="3999022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121DD-A8B2-FE87-0B2E-ADD1A01998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BD87BC-25F3-1B99-EE63-DC61E0526C75}"/>
              </a:ext>
            </a:extLst>
          </p:cNvPr>
          <p:cNvSpPr txBox="1"/>
          <p:nvPr/>
        </p:nvSpPr>
        <p:spPr>
          <a:xfrm>
            <a:off x="1003852" y="153264"/>
            <a:ext cx="7991061" cy="5355312"/>
          </a:xfrm>
          <a:prstGeom prst="rect">
            <a:avLst/>
          </a:prstGeom>
          <a:noFill/>
        </p:spPr>
        <p:txBody>
          <a:bodyPr wrap="square">
            <a:spAutoFit/>
          </a:bodyPr>
          <a:lstStyle/>
          <a:p>
            <a:r>
              <a:rPr lang="en-IN" b="1" dirty="0"/>
              <a:t>2.2 Waterfall Model</a:t>
            </a:r>
          </a:p>
          <a:p>
            <a:endParaRPr lang="en-IN" dirty="0"/>
          </a:p>
          <a:p>
            <a:pPr marL="285750" indent="-285750">
              <a:buFont typeface="Wingdings" panose="05000000000000000000" pitchFamily="2" charset="2"/>
              <a:buChar char="Ø"/>
            </a:pPr>
            <a:r>
              <a:rPr lang="en-US" b="1" dirty="0"/>
              <a:t>Waterfall Model in Software Development</a:t>
            </a:r>
          </a:p>
          <a:p>
            <a:endParaRPr lang="en-US" dirty="0"/>
          </a:p>
          <a:p>
            <a:r>
              <a:rPr lang="en-US" dirty="0"/>
              <a:t>The Waterfall Model is a traditional, linear, and sequential software development methodology introduced by Winston W. Royce in 1970. It emphasizes a structured flow where each phase must be completed before the next one begins, resembling a waterfall cascading downwards.</a:t>
            </a:r>
          </a:p>
          <a:p>
            <a:endParaRPr lang="en-IN" dirty="0"/>
          </a:p>
          <a:p>
            <a:endParaRPr lang="en-IN" dirty="0"/>
          </a:p>
          <a:p>
            <a:pPr marL="285750" indent="-285750">
              <a:buFont typeface="Wingdings" panose="05000000000000000000" pitchFamily="2" charset="2"/>
              <a:buChar char="q"/>
            </a:pPr>
            <a:r>
              <a:rPr lang="en-US" b="1" dirty="0"/>
              <a:t>Phases of the Waterfall Model</a:t>
            </a:r>
          </a:p>
          <a:p>
            <a:endParaRPr lang="en-US" dirty="0"/>
          </a:p>
          <a:p>
            <a:r>
              <a:rPr lang="en-US" b="1" dirty="0"/>
              <a:t>1] Requirements Analysis and Specification</a:t>
            </a:r>
            <a:endParaRPr lang="en-US" dirty="0"/>
          </a:p>
          <a:p>
            <a:pPr marL="800100" lvl="1" indent="-342900">
              <a:buAutoNum type="arabicPeriod"/>
            </a:pPr>
            <a:r>
              <a:rPr lang="en-US" dirty="0"/>
              <a:t>All software requirements are gathered from the customer and analyzed for completeness and consistency.</a:t>
            </a:r>
          </a:p>
          <a:p>
            <a:pPr lvl="1"/>
            <a:r>
              <a:rPr lang="en-US" dirty="0"/>
              <a:t>2. Documented in a Software Requirement Specification (SRS) which serves as a contract between developers and clients</a:t>
            </a:r>
          </a:p>
          <a:p>
            <a:endParaRPr lang="en-IN" dirty="0"/>
          </a:p>
        </p:txBody>
      </p:sp>
    </p:spTree>
    <p:extLst>
      <p:ext uri="{BB962C8B-B14F-4D97-AF65-F5344CB8AC3E}">
        <p14:creationId xmlns:p14="http://schemas.microsoft.com/office/powerpoint/2010/main" val="416364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935E0-B6FB-FB83-4270-46B737E936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EC790C-9814-04BE-ED14-DDB7A03EF820}"/>
              </a:ext>
            </a:extLst>
          </p:cNvPr>
          <p:cNvSpPr txBox="1"/>
          <p:nvPr/>
        </p:nvSpPr>
        <p:spPr>
          <a:xfrm>
            <a:off x="904461" y="197346"/>
            <a:ext cx="8249478" cy="6740307"/>
          </a:xfrm>
          <a:prstGeom prst="rect">
            <a:avLst/>
          </a:prstGeom>
          <a:noFill/>
        </p:spPr>
        <p:txBody>
          <a:bodyPr wrap="square">
            <a:spAutoFit/>
          </a:bodyPr>
          <a:lstStyle/>
          <a:p>
            <a:pPr algn="l"/>
            <a:r>
              <a:rPr lang="en-US" b="1" i="0" dirty="0">
                <a:effectLst/>
                <a:latin typeface="fkGroteskNeue"/>
              </a:rPr>
              <a:t>2] System Design</a:t>
            </a:r>
          </a:p>
          <a:p>
            <a:pPr marL="742950" lvl="1" indent="-285750" algn="l">
              <a:buFont typeface="+mj-lt"/>
              <a:buAutoNum type="arabicPeriod"/>
            </a:pPr>
            <a:r>
              <a:rPr lang="en-US" b="0" i="0" dirty="0">
                <a:effectLst/>
                <a:latin typeface="fkGroteskNeue"/>
              </a:rPr>
              <a:t>The system architecture and overall design is created based on the requirements.</a:t>
            </a:r>
          </a:p>
          <a:p>
            <a:pPr marL="742950" lvl="1" indent="-285750" algn="l">
              <a:buFont typeface="+mj-lt"/>
              <a:buAutoNum type="arabicPeriod"/>
            </a:pPr>
            <a:r>
              <a:rPr lang="en-US" b="0" i="0" dirty="0">
                <a:effectLst/>
                <a:latin typeface="fkGroteskNeue"/>
              </a:rPr>
              <a:t>This phase includes High-Level Design (HLD), outlining components and their interactions, and Low-Level Design (LLD), detailing modules and algorithms.</a:t>
            </a:r>
          </a:p>
          <a:p>
            <a:pPr lvl="1" algn="l"/>
            <a:endParaRPr lang="en-US" b="0" i="0" dirty="0">
              <a:effectLst/>
              <a:latin typeface="fkGroteskNeue"/>
            </a:endParaRPr>
          </a:p>
          <a:p>
            <a:pPr algn="l"/>
            <a:r>
              <a:rPr lang="en-US" b="1" i="0" dirty="0">
                <a:effectLst/>
                <a:latin typeface="fkGroteskNeue"/>
              </a:rPr>
              <a:t>3] Implementation (Coding)</a:t>
            </a:r>
          </a:p>
          <a:p>
            <a:pPr marL="742950" lvl="1" indent="-285750" algn="l">
              <a:buFont typeface="+mj-lt"/>
              <a:buAutoNum type="arabicPeriod"/>
            </a:pPr>
            <a:r>
              <a:rPr lang="en-US" b="0" i="0" dirty="0">
                <a:effectLst/>
                <a:latin typeface="fkGroteskNeue"/>
              </a:rPr>
              <a:t>Developers write source code according to the design specifications.</a:t>
            </a:r>
          </a:p>
          <a:p>
            <a:pPr marL="742950" lvl="1" indent="-285750" algn="l">
              <a:buFont typeface="+mj-lt"/>
              <a:buAutoNum type="arabicPeriod"/>
            </a:pPr>
            <a:r>
              <a:rPr lang="en-US" b="0" i="0" dirty="0">
                <a:effectLst/>
                <a:latin typeface="fkGroteskNeue"/>
              </a:rPr>
              <a:t>The system is developed as smaller units or modules which are individually tested (unit testing).</a:t>
            </a:r>
          </a:p>
          <a:p>
            <a:pPr lvl="1" algn="l"/>
            <a:endParaRPr lang="en-US" b="0" i="0" dirty="0">
              <a:effectLst/>
              <a:latin typeface="fkGroteskNeue"/>
            </a:endParaRPr>
          </a:p>
          <a:p>
            <a:pPr algn="l"/>
            <a:r>
              <a:rPr lang="en-US" b="1" i="0" dirty="0">
                <a:effectLst/>
                <a:latin typeface="fkGroteskNeue"/>
              </a:rPr>
              <a:t>4] Integration and Testing</a:t>
            </a:r>
          </a:p>
          <a:p>
            <a:pPr marL="742950" lvl="1" indent="-285750" algn="l">
              <a:buFont typeface="+mj-lt"/>
              <a:buAutoNum type="arabicPeriod"/>
            </a:pPr>
            <a:r>
              <a:rPr lang="en-US" b="0" i="0" dirty="0">
                <a:effectLst/>
                <a:latin typeface="fkGroteskNeue"/>
              </a:rPr>
              <a:t>All individual units are integrated and tested collectively as a complete system (system testing).</a:t>
            </a:r>
          </a:p>
          <a:p>
            <a:pPr marL="742950" lvl="1" indent="-285750" algn="l">
              <a:buFont typeface="+mj-lt"/>
              <a:buAutoNum type="arabicPeriod"/>
            </a:pPr>
            <a:r>
              <a:rPr lang="en-US" b="0" i="0" dirty="0">
                <a:effectLst/>
                <a:latin typeface="fkGroteskNeue"/>
              </a:rPr>
              <a:t>Defects found during testing are fixed, often requiring revisiting the implementation phase.</a:t>
            </a:r>
          </a:p>
          <a:p>
            <a:pPr lvl="1" algn="l"/>
            <a:endParaRPr lang="en-US" b="0" i="0" dirty="0">
              <a:effectLst/>
              <a:latin typeface="fkGroteskNeue"/>
            </a:endParaRPr>
          </a:p>
          <a:p>
            <a:pPr algn="l"/>
            <a:r>
              <a:rPr lang="en-US" b="1" dirty="0">
                <a:latin typeface="fkGroteskNeue"/>
              </a:rPr>
              <a:t>5] </a:t>
            </a:r>
            <a:r>
              <a:rPr lang="en-US" b="1" i="0" dirty="0">
                <a:effectLst/>
                <a:latin typeface="fkGroteskNeue"/>
              </a:rPr>
              <a:t>Deployment</a:t>
            </a:r>
          </a:p>
          <a:p>
            <a:pPr marL="742950" lvl="1" indent="-285750" algn="l">
              <a:buFont typeface="+mj-lt"/>
              <a:buAutoNum type="arabicPeriod"/>
            </a:pPr>
            <a:r>
              <a:rPr lang="en-US" b="0" i="0" dirty="0">
                <a:effectLst/>
                <a:latin typeface="fkGroteskNeue"/>
              </a:rPr>
              <a:t>The completed software product is delivered to the customer and deployed in the production environment.</a:t>
            </a:r>
          </a:p>
          <a:p>
            <a:pPr lvl="1" algn="l"/>
            <a:endParaRPr lang="en-US" b="0" i="0" dirty="0">
              <a:effectLst/>
              <a:latin typeface="fkGroteskNeue"/>
            </a:endParaRPr>
          </a:p>
          <a:p>
            <a:pPr algn="l"/>
            <a:r>
              <a:rPr lang="en-US" b="1" i="0" dirty="0">
                <a:effectLst/>
                <a:latin typeface="fkGroteskNeue"/>
              </a:rPr>
              <a:t>6] Maintenance</a:t>
            </a:r>
          </a:p>
          <a:p>
            <a:pPr marL="742950" lvl="1" indent="-285750" algn="l">
              <a:buFont typeface="+mj-lt"/>
              <a:buAutoNum type="arabicPeriod"/>
            </a:pPr>
            <a:r>
              <a:rPr lang="en-US" b="0" i="0" dirty="0">
                <a:effectLst/>
                <a:latin typeface="fkGroteskNeue"/>
              </a:rPr>
              <a:t>Post-deployment, issues arising in the operational environment are fixed, and updates or enhancements are released as needed.</a:t>
            </a:r>
          </a:p>
        </p:txBody>
      </p:sp>
    </p:spTree>
    <p:extLst>
      <p:ext uri="{BB962C8B-B14F-4D97-AF65-F5344CB8AC3E}">
        <p14:creationId xmlns:p14="http://schemas.microsoft.com/office/powerpoint/2010/main" val="156400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854B-A901-A10B-3A82-399B3C726C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56FC13-1BD7-8B59-46FE-30450160FE66}"/>
              </a:ext>
            </a:extLst>
          </p:cNvPr>
          <p:cNvSpPr txBox="1"/>
          <p:nvPr/>
        </p:nvSpPr>
        <p:spPr>
          <a:xfrm>
            <a:off x="815008" y="90174"/>
            <a:ext cx="8478078" cy="2862322"/>
          </a:xfrm>
          <a:prstGeom prst="rect">
            <a:avLst/>
          </a:prstGeom>
          <a:noFill/>
        </p:spPr>
        <p:txBody>
          <a:bodyPr wrap="square">
            <a:spAutoFit/>
          </a:bodyPr>
          <a:lstStyle/>
          <a:p>
            <a:pPr algn="l">
              <a:buNone/>
            </a:pPr>
            <a:r>
              <a:rPr lang="en-US" b="1" i="0" dirty="0">
                <a:effectLst/>
                <a:latin typeface="fkGrotesk"/>
              </a:rPr>
              <a:t>Characteristics of the Waterfall Model</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Sequential Flow: Progression is downward through distinct phases without overlap.</a:t>
            </a:r>
          </a:p>
          <a:p>
            <a:pPr algn="l">
              <a:buFont typeface="Arial" panose="020B0604020202020204" pitchFamily="34" charset="0"/>
              <a:buChar char="•"/>
            </a:pPr>
            <a:r>
              <a:rPr lang="en-US" b="0" i="0" dirty="0">
                <a:effectLst/>
                <a:latin typeface="fkGroteskNeue"/>
              </a:rPr>
              <a:t>Phase Completion: Each phase has specific deliverables and must be signed off before the next phase begins.</a:t>
            </a:r>
          </a:p>
          <a:p>
            <a:pPr algn="l">
              <a:buFont typeface="Arial" panose="020B0604020202020204" pitchFamily="34" charset="0"/>
              <a:buChar char="•"/>
            </a:pPr>
            <a:r>
              <a:rPr lang="en-US" b="0" i="0" dirty="0">
                <a:effectLst/>
                <a:latin typeface="fkGroteskNeue"/>
              </a:rPr>
              <a:t>Documentation-Centric: Heavy emphasis on documentation such as SRS, design documents, and test plans.</a:t>
            </a:r>
          </a:p>
          <a:p>
            <a:pPr algn="l">
              <a:buFont typeface="Arial" panose="020B0604020202020204" pitchFamily="34" charset="0"/>
              <a:buChar char="•"/>
            </a:pPr>
            <a:r>
              <a:rPr lang="en-US" b="0" i="0" dirty="0">
                <a:effectLst/>
                <a:latin typeface="fkGroteskNeue"/>
              </a:rPr>
              <a:t>Limited Customer Interaction: Requirements are gathered upfront, with minimal changes allowed during development.</a:t>
            </a:r>
          </a:p>
          <a:p>
            <a:pPr algn="l">
              <a:buFont typeface="Arial" panose="020B0604020202020204" pitchFamily="34" charset="0"/>
              <a:buChar char="•"/>
            </a:pPr>
            <a:r>
              <a:rPr lang="en-US" b="0" i="0" dirty="0">
                <a:effectLst/>
                <a:latin typeface="fkGroteskNeue"/>
              </a:rPr>
              <a:t>Suitable for: Projects with well-understood requirements and low expected changes.</a:t>
            </a:r>
          </a:p>
        </p:txBody>
      </p:sp>
      <p:pic>
        <p:nvPicPr>
          <p:cNvPr id="3074" name="Picture 2" descr="Waterfall Model - Software Engineering - GeeksforGeeks">
            <a:extLst>
              <a:ext uri="{FF2B5EF4-FFF2-40B4-BE49-F238E27FC236}">
                <a16:creationId xmlns:a16="http://schemas.microsoft.com/office/drawing/2014/main" id="{7A101724-926D-22A9-17FD-4AC582861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383" y="3170584"/>
            <a:ext cx="8706677" cy="339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067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94C1E-FA16-2985-93AD-CEDEB5D6EB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83CA46-FC17-DE32-96D2-3C506ED3100F}"/>
              </a:ext>
            </a:extLst>
          </p:cNvPr>
          <p:cNvSpPr txBox="1"/>
          <p:nvPr/>
        </p:nvSpPr>
        <p:spPr>
          <a:xfrm>
            <a:off x="815009" y="185675"/>
            <a:ext cx="8627165" cy="923330"/>
          </a:xfrm>
          <a:prstGeom prst="rect">
            <a:avLst/>
          </a:prstGeom>
          <a:noFill/>
        </p:spPr>
        <p:txBody>
          <a:bodyPr wrap="square">
            <a:spAutoFit/>
          </a:bodyPr>
          <a:lstStyle/>
          <a:p>
            <a:r>
              <a:rPr lang="en-US" b="0" i="0" dirty="0">
                <a:effectLst/>
                <a:latin typeface="fkGroteskNeue"/>
              </a:rPr>
              <a:t>The Waterfall Model remains fundamental in software engineering, especially for projects requiring strict documentation and structured progress, though its inflexibility often leads to newer iterative models like Agile being preferred for dynamic requirements.</a:t>
            </a:r>
            <a:endParaRPr lang="en-IN" dirty="0"/>
          </a:p>
        </p:txBody>
      </p:sp>
      <p:sp>
        <p:nvSpPr>
          <p:cNvPr id="5" name="TextBox 4">
            <a:extLst>
              <a:ext uri="{FF2B5EF4-FFF2-40B4-BE49-F238E27FC236}">
                <a16:creationId xmlns:a16="http://schemas.microsoft.com/office/drawing/2014/main" id="{0F7AE8B5-C4A7-18D1-1B06-345DB65DF96B}"/>
              </a:ext>
            </a:extLst>
          </p:cNvPr>
          <p:cNvSpPr txBox="1"/>
          <p:nvPr/>
        </p:nvSpPr>
        <p:spPr>
          <a:xfrm>
            <a:off x="815009" y="1216751"/>
            <a:ext cx="8627165" cy="369332"/>
          </a:xfrm>
          <a:prstGeom prst="rect">
            <a:avLst/>
          </a:prstGeom>
          <a:noFill/>
        </p:spPr>
        <p:txBody>
          <a:bodyPr wrap="square">
            <a:spAutoFit/>
          </a:bodyPr>
          <a:lstStyle/>
          <a:p>
            <a:r>
              <a:rPr lang="en-IN" b="1" dirty="0"/>
              <a:t>2.3 V Model</a:t>
            </a:r>
          </a:p>
        </p:txBody>
      </p:sp>
      <p:sp>
        <p:nvSpPr>
          <p:cNvPr id="7" name="TextBox 6">
            <a:extLst>
              <a:ext uri="{FF2B5EF4-FFF2-40B4-BE49-F238E27FC236}">
                <a16:creationId xmlns:a16="http://schemas.microsoft.com/office/drawing/2014/main" id="{D07A6F99-A59A-91ED-F46F-B9B6D50B5ABD}"/>
              </a:ext>
            </a:extLst>
          </p:cNvPr>
          <p:cNvSpPr txBox="1"/>
          <p:nvPr/>
        </p:nvSpPr>
        <p:spPr>
          <a:xfrm>
            <a:off x="646044" y="1785228"/>
            <a:ext cx="8627165" cy="4801314"/>
          </a:xfrm>
          <a:prstGeom prst="rect">
            <a:avLst/>
          </a:prstGeom>
          <a:noFill/>
        </p:spPr>
        <p:txBody>
          <a:bodyPr wrap="square">
            <a:spAutoFit/>
          </a:bodyPr>
          <a:lstStyle/>
          <a:p>
            <a:pPr marL="285750" indent="-285750" algn="l">
              <a:buFont typeface="Wingdings" panose="05000000000000000000" pitchFamily="2" charset="2"/>
              <a:buChar char="§"/>
            </a:pPr>
            <a:r>
              <a:rPr lang="en-US" b="1" i="0" dirty="0">
                <a:effectLst/>
                <a:latin typeface="fkGrotesk"/>
              </a:rPr>
              <a:t>V Model in Software Development</a:t>
            </a:r>
          </a:p>
          <a:p>
            <a:pPr algn="l">
              <a:buNone/>
            </a:pPr>
            <a:endParaRPr lang="en-US" b="0" i="0" dirty="0">
              <a:effectLst/>
              <a:latin typeface="fkGrotesk"/>
            </a:endParaRPr>
          </a:p>
          <a:p>
            <a:pPr algn="l">
              <a:buNone/>
            </a:pPr>
            <a:r>
              <a:rPr lang="en-US" b="0" i="0" dirty="0">
                <a:effectLst/>
                <a:latin typeface="fkGroteskNeue"/>
              </a:rPr>
              <a:t>The V Model, also called the Verification and Validation Model, is an extension of the Waterfall model that emphasizes a corresponding testing phase for each development stage</a:t>
            </a:r>
          </a:p>
          <a:p>
            <a:pPr algn="l">
              <a:buNone/>
            </a:pPr>
            <a:endParaRPr lang="en-US" dirty="0">
              <a:latin typeface="fkGroteskNeue"/>
            </a:endParaRPr>
          </a:p>
          <a:p>
            <a:pPr marL="285750" indent="-285750">
              <a:buFont typeface="Wingdings" panose="05000000000000000000" pitchFamily="2" charset="2"/>
              <a:buChar char="§"/>
            </a:pPr>
            <a:r>
              <a:rPr lang="en-US" b="1" dirty="0"/>
              <a:t>Structure of the V Model</a:t>
            </a:r>
          </a:p>
          <a:p>
            <a:endParaRPr lang="en-US" dirty="0"/>
          </a:p>
          <a:p>
            <a:r>
              <a:rPr lang="en-US" dirty="0"/>
              <a:t>The V model visualizes the development process as a "V" shape with two main sides:</a:t>
            </a:r>
          </a:p>
          <a:p>
            <a:endParaRPr lang="en-US" dirty="0"/>
          </a:p>
          <a:p>
            <a:pPr marL="285750" indent="-285750">
              <a:buFont typeface="Arial" panose="020B0604020202020204" pitchFamily="34" charset="0"/>
              <a:buChar char="•"/>
            </a:pPr>
            <a:r>
              <a:rPr lang="en-US" dirty="0"/>
              <a:t>Left Side (Verification Phases): These phases correspond to requirements gathering, design, and coding, focusing on definition and planning.</a:t>
            </a:r>
          </a:p>
          <a:p>
            <a:pPr marL="285750" indent="-285750">
              <a:buFont typeface="Arial" panose="020B0604020202020204" pitchFamily="34" charset="0"/>
              <a:buChar char="•"/>
            </a:pPr>
            <a:r>
              <a:rPr lang="en-US" dirty="0"/>
              <a:t>Right Side (Validation Phases): Corresponding to the left side phases, these involve different levels of testing designed to validate the work done in the verification phases.</a:t>
            </a:r>
          </a:p>
          <a:p>
            <a:pPr algn="l">
              <a:buNone/>
            </a:pPr>
            <a:endParaRPr lang="en-US" b="0" i="0" dirty="0">
              <a:effectLst/>
              <a:latin typeface="fkGroteskNeue"/>
            </a:endParaRPr>
          </a:p>
        </p:txBody>
      </p:sp>
    </p:spTree>
    <p:extLst>
      <p:ext uri="{BB962C8B-B14F-4D97-AF65-F5344CB8AC3E}">
        <p14:creationId xmlns:p14="http://schemas.microsoft.com/office/powerpoint/2010/main" val="1105037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DEDB1-0754-42F8-B5D6-6DEEB3453108}"/>
            </a:ext>
          </a:extLst>
        </p:cNvPr>
        <p:cNvGrpSpPr/>
        <p:nvPr/>
      </p:nvGrpSpPr>
      <p:grpSpPr>
        <a:xfrm>
          <a:off x="0" y="0"/>
          <a:ext cx="0" cy="0"/>
          <a:chOff x="0" y="0"/>
          <a:chExt cx="0" cy="0"/>
        </a:xfrm>
      </p:grpSpPr>
      <p:pic>
        <p:nvPicPr>
          <p:cNvPr id="4098" name="Picture 2" descr="What Is the V-Model? (Definition, Examples) | Built In">
            <a:extLst>
              <a:ext uri="{FF2B5EF4-FFF2-40B4-BE49-F238E27FC236}">
                <a16:creationId xmlns:a16="http://schemas.microsoft.com/office/drawing/2014/main" id="{30E7DB99-83C4-FA81-6B56-7DCFD1A36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096" y="0"/>
            <a:ext cx="8060634" cy="28227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E36F728-F588-6CF7-387F-1090FB2047EC}"/>
              </a:ext>
            </a:extLst>
          </p:cNvPr>
          <p:cNvSpPr txBox="1"/>
          <p:nvPr/>
        </p:nvSpPr>
        <p:spPr>
          <a:xfrm>
            <a:off x="740465" y="2924558"/>
            <a:ext cx="8507896" cy="3970318"/>
          </a:xfrm>
          <a:prstGeom prst="rect">
            <a:avLst/>
          </a:prstGeom>
          <a:noFill/>
        </p:spPr>
        <p:txBody>
          <a:bodyPr wrap="square">
            <a:spAutoFit/>
          </a:bodyPr>
          <a:lstStyle/>
          <a:p>
            <a:pPr algn="l">
              <a:buNone/>
            </a:pPr>
            <a:r>
              <a:rPr lang="en-US" b="1" i="0" dirty="0">
                <a:effectLst/>
                <a:latin typeface="fkGrotesk"/>
              </a:rPr>
              <a:t>Phases of the V Model</a:t>
            </a:r>
          </a:p>
          <a:p>
            <a:pPr algn="l">
              <a:buNone/>
            </a:pPr>
            <a:endParaRPr lang="en-US" b="0" i="0" dirty="0">
              <a:effectLst/>
              <a:latin typeface="fkGrotesk"/>
            </a:endParaRPr>
          </a:p>
          <a:p>
            <a:pPr algn="l">
              <a:buFont typeface="+mj-lt"/>
              <a:buAutoNum type="arabicPeriod"/>
            </a:pPr>
            <a:r>
              <a:rPr lang="en-US" b="1" i="0" dirty="0">
                <a:effectLst/>
                <a:latin typeface="fkGroteskNeue"/>
              </a:rPr>
              <a:t>Business Requirement Analysis (Verification)</a:t>
            </a:r>
          </a:p>
          <a:p>
            <a:pPr marL="742950" lvl="1" indent="-285750" algn="l">
              <a:buFont typeface="+mj-lt"/>
              <a:buAutoNum type="arabicPeriod"/>
            </a:pPr>
            <a:r>
              <a:rPr lang="en-US" b="0" i="0" dirty="0">
                <a:effectLst/>
                <a:latin typeface="fkGroteskNeue"/>
              </a:rPr>
              <a:t>Understand customer/business requirements.</a:t>
            </a:r>
          </a:p>
          <a:p>
            <a:pPr marL="742950" lvl="1" indent="-285750" algn="l">
              <a:buFont typeface="+mj-lt"/>
              <a:buAutoNum type="arabicPeriod"/>
            </a:pPr>
            <a:r>
              <a:rPr lang="en-US" b="0" i="0" dirty="0">
                <a:effectLst/>
                <a:latin typeface="fkGroteskNeue"/>
              </a:rPr>
              <a:t>Plan acceptance tests based on these requirements.</a:t>
            </a:r>
          </a:p>
          <a:p>
            <a:pPr lvl="1" algn="l"/>
            <a:endParaRPr lang="en-US" b="0" i="0" dirty="0">
              <a:effectLst/>
              <a:latin typeface="fkGroteskNeue"/>
            </a:endParaRPr>
          </a:p>
          <a:p>
            <a:pPr algn="l">
              <a:buFont typeface="+mj-lt"/>
              <a:buAutoNum type="arabicPeriod"/>
            </a:pPr>
            <a:r>
              <a:rPr lang="en-US" b="1" i="0" dirty="0">
                <a:effectLst/>
                <a:latin typeface="fkGroteskNeue"/>
              </a:rPr>
              <a:t>System Design (Verification)</a:t>
            </a:r>
          </a:p>
          <a:p>
            <a:pPr marL="742950" lvl="1" indent="-285750" algn="l">
              <a:buFont typeface="+mj-lt"/>
              <a:buAutoNum type="arabicPeriod"/>
            </a:pPr>
            <a:r>
              <a:rPr lang="en-US" b="0" i="0" dirty="0">
                <a:effectLst/>
                <a:latin typeface="fkGroteskNeue"/>
              </a:rPr>
              <a:t>Define the overall system architecture.</a:t>
            </a:r>
          </a:p>
          <a:p>
            <a:pPr marL="742950" lvl="1" indent="-285750" algn="l">
              <a:buFont typeface="+mj-lt"/>
              <a:buAutoNum type="arabicPeriod"/>
            </a:pPr>
            <a:r>
              <a:rPr lang="en-US" b="0" i="0" dirty="0">
                <a:effectLst/>
                <a:latin typeface="fkGroteskNeue"/>
              </a:rPr>
              <a:t>Develop system test plans.</a:t>
            </a:r>
          </a:p>
          <a:p>
            <a:pPr lvl="1" algn="l"/>
            <a:endParaRPr lang="en-US" b="0" i="0" dirty="0">
              <a:effectLst/>
              <a:latin typeface="fkGroteskNeue"/>
            </a:endParaRPr>
          </a:p>
          <a:p>
            <a:pPr algn="l">
              <a:buFont typeface="+mj-lt"/>
              <a:buAutoNum type="arabicPeriod"/>
            </a:pPr>
            <a:r>
              <a:rPr lang="en-US" b="1" i="0" dirty="0">
                <a:effectLst/>
                <a:latin typeface="fkGroteskNeue"/>
              </a:rPr>
              <a:t>Architectural Design (Verification)</a:t>
            </a:r>
          </a:p>
          <a:p>
            <a:pPr marL="742950" lvl="1" indent="-285750" algn="l">
              <a:buFont typeface="+mj-lt"/>
              <a:buAutoNum type="arabicPeriod"/>
            </a:pPr>
            <a:r>
              <a:rPr lang="en-US" b="0" i="0" dirty="0">
                <a:effectLst/>
                <a:latin typeface="fkGroteskNeue"/>
              </a:rPr>
              <a:t>Design the system's component structure or modules (High-Level Design).</a:t>
            </a:r>
          </a:p>
          <a:p>
            <a:pPr marL="742950" lvl="1" indent="-285750" algn="l">
              <a:buFont typeface="+mj-lt"/>
              <a:buAutoNum type="arabicPeriod"/>
            </a:pPr>
            <a:r>
              <a:rPr lang="en-US" b="0" i="0" dirty="0">
                <a:effectLst/>
                <a:latin typeface="fkGroteskNeue"/>
              </a:rPr>
              <a:t>Plan integration testing based on module interactions.</a:t>
            </a:r>
          </a:p>
          <a:p>
            <a:pPr algn="l"/>
            <a:endParaRPr lang="en-US" b="0" i="0" dirty="0">
              <a:effectLst/>
              <a:latin typeface="fkGroteskNeue"/>
            </a:endParaRPr>
          </a:p>
        </p:txBody>
      </p:sp>
    </p:spTree>
    <p:extLst>
      <p:ext uri="{BB962C8B-B14F-4D97-AF65-F5344CB8AC3E}">
        <p14:creationId xmlns:p14="http://schemas.microsoft.com/office/powerpoint/2010/main" val="891606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93E3-7867-2617-A401-7D6EEC7E9F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9121AC-1B0D-94A9-7478-CE2C7248456D}"/>
              </a:ext>
            </a:extLst>
          </p:cNvPr>
          <p:cNvSpPr txBox="1"/>
          <p:nvPr/>
        </p:nvSpPr>
        <p:spPr>
          <a:xfrm>
            <a:off x="864704" y="270811"/>
            <a:ext cx="8587409" cy="5355312"/>
          </a:xfrm>
          <a:prstGeom prst="rect">
            <a:avLst/>
          </a:prstGeom>
          <a:noFill/>
        </p:spPr>
        <p:txBody>
          <a:bodyPr wrap="square">
            <a:spAutoFit/>
          </a:bodyPr>
          <a:lstStyle/>
          <a:p>
            <a:pPr algn="l"/>
            <a:r>
              <a:rPr lang="en-US" b="1" i="0" dirty="0">
                <a:effectLst/>
                <a:latin typeface="fkGroteskNeue"/>
              </a:rPr>
              <a:t>4.Module Design (Verification)</a:t>
            </a:r>
          </a:p>
          <a:p>
            <a:pPr marL="742950" lvl="1" indent="-285750" algn="l">
              <a:buFont typeface="+mj-lt"/>
              <a:buAutoNum type="arabicPeriod"/>
            </a:pPr>
            <a:r>
              <a:rPr lang="en-US" b="0" i="0" dirty="0">
                <a:effectLst/>
                <a:latin typeface="fkGroteskNeue"/>
              </a:rPr>
              <a:t>Create detailed module-level design (Low-Level Design).</a:t>
            </a:r>
          </a:p>
          <a:p>
            <a:pPr marL="742950" lvl="1" indent="-285750" algn="l">
              <a:buFont typeface="+mj-lt"/>
              <a:buAutoNum type="arabicPeriod"/>
            </a:pPr>
            <a:r>
              <a:rPr lang="en-US" b="0" i="0" dirty="0">
                <a:effectLst/>
                <a:latin typeface="fkGroteskNeue"/>
              </a:rPr>
              <a:t>Plan unit testing for individual components.</a:t>
            </a:r>
          </a:p>
          <a:p>
            <a:pPr lvl="1" algn="l"/>
            <a:endParaRPr lang="en-US" b="0" i="0" dirty="0">
              <a:effectLst/>
              <a:latin typeface="fkGroteskNeue"/>
            </a:endParaRPr>
          </a:p>
          <a:p>
            <a:pPr algn="l"/>
            <a:r>
              <a:rPr lang="en-US" b="1" i="0" dirty="0">
                <a:effectLst/>
                <a:latin typeface="fkGroteskNeue"/>
              </a:rPr>
              <a:t>5.Implementation (Coding)</a:t>
            </a:r>
          </a:p>
          <a:p>
            <a:pPr marL="742950" lvl="1" indent="-285750" algn="l">
              <a:buFont typeface="+mj-lt"/>
              <a:buAutoNum type="arabicPeriod"/>
            </a:pPr>
            <a:r>
              <a:rPr lang="en-US" b="0" i="0" dirty="0">
                <a:effectLst/>
                <a:latin typeface="fkGroteskNeue"/>
              </a:rPr>
              <a:t>Write code modules based on the detailed design.</a:t>
            </a:r>
          </a:p>
          <a:p>
            <a:pPr lvl="1" algn="l"/>
            <a:endParaRPr lang="en-US" b="0" i="0" dirty="0">
              <a:effectLst/>
              <a:latin typeface="fkGroteskNeue"/>
            </a:endParaRPr>
          </a:p>
          <a:p>
            <a:pPr algn="l"/>
            <a:r>
              <a:rPr lang="en-US" b="1" i="0" dirty="0">
                <a:effectLst/>
                <a:latin typeface="fkGroteskNeue"/>
              </a:rPr>
              <a:t>6.Unit Testing (Validation)</a:t>
            </a:r>
          </a:p>
          <a:p>
            <a:pPr marL="742950" lvl="1" indent="-285750" algn="l">
              <a:buFont typeface="+mj-lt"/>
              <a:buAutoNum type="arabicPeriod"/>
            </a:pPr>
            <a:r>
              <a:rPr lang="en-US" b="0" i="0" dirty="0">
                <a:effectLst/>
                <a:latin typeface="fkGroteskNeue"/>
              </a:rPr>
              <a:t>Test individual modules for correctness, corresponding to module design.</a:t>
            </a:r>
          </a:p>
          <a:p>
            <a:pPr lvl="1" algn="l"/>
            <a:endParaRPr lang="en-US" b="0" i="0" dirty="0">
              <a:effectLst/>
              <a:latin typeface="fkGroteskNeue"/>
            </a:endParaRPr>
          </a:p>
          <a:p>
            <a:pPr algn="l"/>
            <a:r>
              <a:rPr lang="en-US" b="1" i="0" dirty="0">
                <a:effectLst/>
                <a:latin typeface="fkGroteskNeue"/>
              </a:rPr>
              <a:t>7.Integration Testing (Validation)</a:t>
            </a:r>
          </a:p>
          <a:p>
            <a:pPr marL="742950" lvl="1" indent="-285750" algn="l">
              <a:buFont typeface="+mj-lt"/>
              <a:buAutoNum type="arabicPeriod"/>
            </a:pPr>
            <a:r>
              <a:rPr lang="en-US" b="0" i="0" dirty="0">
                <a:effectLst/>
                <a:latin typeface="fkGroteskNeue"/>
              </a:rPr>
              <a:t>Test module interactions and data flow, corresponding to architectural design.</a:t>
            </a:r>
          </a:p>
          <a:p>
            <a:pPr lvl="1" algn="l"/>
            <a:endParaRPr lang="en-US" b="0" i="0" dirty="0">
              <a:effectLst/>
              <a:latin typeface="fkGroteskNeue"/>
            </a:endParaRPr>
          </a:p>
          <a:p>
            <a:pPr algn="l"/>
            <a:r>
              <a:rPr lang="en-US" b="1" i="0" dirty="0">
                <a:effectLst/>
                <a:latin typeface="fkGroteskNeue"/>
              </a:rPr>
              <a:t>8.System Testing (Validation)</a:t>
            </a:r>
          </a:p>
          <a:p>
            <a:pPr marL="742950" lvl="1" indent="-285750" algn="l">
              <a:buFont typeface="+mj-lt"/>
              <a:buAutoNum type="arabicPeriod"/>
            </a:pPr>
            <a:r>
              <a:rPr lang="en-US" b="0" i="0" dirty="0">
                <a:effectLst/>
                <a:latin typeface="fkGroteskNeue"/>
              </a:rPr>
              <a:t>Test the entire system against the system design specifications.</a:t>
            </a:r>
          </a:p>
          <a:p>
            <a:pPr lvl="1" algn="l"/>
            <a:endParaRPr lang="en-US" b="0" i="0" dirty="0">
              <a:effectLst/>
              <a:latin typeface="fkGroteskNeue"/>
            </a:endParaRPr>
          </a:p>
          <a:p>
            <a:pPr algn="l"/>
            <a:r>
              <a:rPr lang="en-US" b="1" i="0" dirty="0">
                <a:effectLst/>
                <a:latin typeface="fkGroteskNeue"/>
              </a:rPr>
              <a:t>9.Acceptance Testing (Validation)</a:t>
            </a:r>
          </a:p>
          <a:p>
            <a:pPr marL="742950" lvl="1" indent="-285750" algn="l">
              <a:buFont typeface="+mj-lt"/>
              <a:buAutoNum type="arabicPeriod"/>
            </a:pPr>
            <a:r>
              <a:rPr lang="en-US" b="0" i="0" dirty="0">
                <a:effectLst/>
                <a:latin typeface="fkGroteskNeue"/>
              </a:rPr>
              <a:t>Verify the software against the business requirements to ensure it meets customer expectations.</a:t>
            </a:r>
          </a:p>
        </p:txBody>
      </p:sp>
    </p:spTree>
    <p:extLst>
      <p:ext uri="{BB962C8B-B14F-4D97-AF65-F5344CB8AC3E}">
        <p14:creationId xmlns:p14="http://schemas.microsoft.com/office/powerpoint/2010/main" val="3895439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F2458-D068-B22C-92AB-E307B2B70A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FAFA53-03B4-DC89-188D-B53ECA736E81}"/>
              </a:ext>
            </a:extLst>
          </p:cNvPr>
          <p:cNvSpPr txBox="1"/>
          <p:nvPr/>
        </p:nvSpPr>
        <p:spPr>
          <a:xfrm>
            <a:off x="824947" y="119343"/>
            <a:ext cx="8438322" cy="5632311"/>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Features and Benefits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Early Test Planning: Testing activities are planned alongside development, improving defect detection early.</a:t>
            </a:r>
          </a:p>
          <a:p>
            <a:pPr algn="l">
              <a:buFont typeface="Arial" panose="020B0604020202020204" pitchFamily="34" charset="0"/>
              <a:buChar char="•"/>
            </a:pPr>
            <a:r>
              <a:rPr lang="en-US" b="0" i="0" dirty="0">
                <a:effectLst/>
                <a:latin typeface="fkGroteskNeue"/>
              </a:rPr>
              <a:t>Clear Traceability: Each development phase has a corresponding testing phase, ensuring requirements are verified and validated methodically.</a:t>
            </a:r>
          </a:p>
          <a:p>
            <a:pPr algn="l">
              <a:buFont typeface="Arial" panose="020B0604020202020204" pitchFamily="34" charset="0"/>
              <a:buChar char="•"/>
            </a:pPr>
            <a:r>
              <a:rPr lang="en-US" b="0" i="0" dirty="0">
                <a:effectLst/>
                <a:latin typeface="fkGroteskNeue"/>
              </a:rPr>
              <a:t>Structured and Disciplined: Best suited for projects with well-defined and stable requirements.</a:t>
            </a:r>
          </a:p>
          <a:p>
            <a:pPr algn="l">
              <a:buFont typeface="Arial" panose="020B0604020202020204" pitchFamily="34" charset="0"/>
              <a:buChar char="•"/>
            </a:pPr>
            <a:r>
              <a:rPr lang="en-US" b="0" i="0" dirty="0">
                <a:effectLst/>
                <a:latin typeface="fkGroteskNeue"/>
              </a:rPr>
              <a:t>Reduces Errors: Defects are caught early, reducing expensive fixes later in development.</a:t>
            </a:r>
          </a:p>
          <a:p>
            <a:pPr algn="l">
              <a:buFont typeface="Arial" panose="020B0604020202020204" pitchFamily="34" charset="0"/>
              <a:buChar char="•"/>
            </a:pPr>
            <a:endParaRPr lang="en-US" dirty="0">
              <a:latin typeface="fkGroteskNeue"/>
            </a:endParaRPr>
          </a:p>
          <a:p>
            <a:r>
              <a:rPr lang="en-IN" b="1" dirty="0"/>
              <a:t>2.4 Incremental Process Model</a:t>
            </a:r>
          </a:p>
          <a:p>
            <a:endParaRPr lang="en-IN" b="0" i="0" dirty="0">
              <a:effectLst/>
              <a:latin typeface="fkGroteskNeue"/>
            </a:endParaRPr>
          </a:p>
          <a:p>
            <a:pPr marL="285750" indent="-285750">
              <a:buFont typeface="Wingdings" panose="05000000000000000000" pitchFamily="2" charset="2"/>
              <a:buChar char="Ø"/>
            </a:pPr>
            <a:r>
              <a:rPr lang="en-US" b="1" dirty="0"/>
              <a:t>Incremental Process Model in Software Development</a:t>
            </a:r>
          </a:p>
          <a:p>
            <a:endParaRPr lang="en-US" dirty="0"/>
          </a:p>
          <a:p>
            <a:r>
              <a:rPr lang="en-US" dirty="0"/>
              <a:t>The Incremental Process Model is a software development approach where the project is divided into smaller, manageable parts called increments. Each increment represents a functional portion of the overall system, developed through individual cycles of requirement analysis, design, implementation, and testing</a:t>
            </a:r>
          </a:p>
          <a:p>
            <a:endParaRPr lang="en-US" b="0" i="0" dirty="0">
              <a:effectLst/>
              <a:latin typeface="fkGroteskNeue"/>
            </a:endParaRPr>
          </a:p>
        </p:txBody>
      </p:sp>
    </p:spTree>
    <p:extLst>
      <p:ext uri="{BB962C8B-B14F-4D97-AF65-F5344CB8AC3E}">
        <p14:creationId xmlns:p14="http://schemas.microsoft.com/office/powerpoint/2010/main" val="3937566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B3F7-DF85-51D6-BB7A-D8D0BC4873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6CA92D-6D37-2347-DF25-14AE4C0F8B2F}"/>
              </a:ext>
            </a:extLst>
          </p:cNvPr>
          <p:cNvSpPr txBox="1"/>
          <p:nvPr/>
        </p:nvSpPr>
        <p:spPr>
          <a:xfrm>
            <a:off x="874644" y="131876"/>
            <a:ext cx="8398565" cy="6740307"/>
          </a:xfrm>
          <a:prstGeom prst="rect">
            <a:avLst/>
          </a:prstGeom>
          <a:noFill/>
        </p:spPr>
        <p:txBody>
          <a:bodyPr wrap="square">
            <a:spAutoFit/>
          </a:bodyPr>
          <a:lstStyle/>
          <a:p>
            <a:pPr marL="285750" indent="-285750" algn="l">
              <a:buFont typeface="Wingdings" panose="05000000000000000000" pitchFamily="2" charset="2"/>
              <a:buChar char="v"/>
            </a:pPr>
            <a:r>
              <a:rPr lang="en-US" b="1" i="0" dirty="0">
                <a:effectLst/>
                <a:latin typeface="fkGrotesk"/>
              </a:rPr>
              <a:t>Key Characteristics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Partial System Delivery: The software is developed and delivered in increments, with each providing additional features.</a:t>
            </a:r>
          </a:p>
          <a:p>
            <a:pPr algn="l">
              <a:buFont typeface="Arial" panose="020B0604020202020204" pitchFamily="34" charset="0"/>
              <a:buChar char="•"/>
            </a:pPr>
            <a:r>
              <a:rPr lang="en-US" b="0" i="0" dirty="0">
                <a:effectLst/>
                <a:latin typeface="fkGroteskNeue"/>
              </a:rPr>
              <a:t>Early Availability: Core functionality becomes available early, allowing users to begin using and testing it.</a:t>
            </a:r>
          </a:p>
          <a:p>
            <a:pPr algn="l">
              <a:buFont typeface="Arial" panose="020B0604020202020204" pitchFamily="34" charset="0"/>
              <a:buChar char="•"/>
            </a:pPr>
            <a:r>
              <a:rPr lang="en-US" b="0" i="0" dirty="0">
                <a:effectLst/>
                <a:latin typeface="fkGroteskNeue"/>
              </a:rPr>
              <a:t>Customer Feedback: Feedback from users after each increment is incorporated into future increments to improve the system.</a:t>
            </a:r>
          </a:p>
          <a:p>
            <a:pPr algn="l">
              <a:buFont typeface="Arial" panose="020B0604020202020204" pitchFamily="34" charset="0"/>
              <a:buChar char="•"/>
            </a:pPr>
            <a:r>
              <a:rPr lang="en-US" b="0" i="0" dirty="0">
                <a:effectLst/>
                <a:latin typeface="fkGroteskNeue"/>
              </a:rPr>
              <a:t>Flexibility: The model easily accommodates changes and evolving requirements over development.</a:t>
            </a:r>
          </a:p>
          <a:p>
            <a:pPr algn="l">
              <a:buFont typeface="Arial" panose="020B0604020202020204" pitchFamily="34" charset="0"/>
              <a:buChar char="•"/>
            </a:pPr>
            <a:r>
              <a:rPr lang="en-US" b="0" i="0" dirty="0">
                <a:effectLst/>
                <a:latin typeface="fkGroteskNeue"/>
              </a:rPr>
              <a:t>Combination of Linear and Iterative: Each increment follows a structured phase but the overall development is iterative and adaptive.</a:t>
            </a:r>
          </a:p>
          <a:p>
            <a:pPr algn="l"/>
            <a:endParaRPr lang="en-US" dirty="0">
              <a:latin typeface="fkGroteskNeue"/>
            </a:endParaRPr>
          </a:p>
          <a:p>
            <a:pPr marL="285750" indent="-285750">
              <a:buFont typeface="Wingdings" panose="05000000000000000000" pitchFamily="2" charset="2"/>
              <a:buChar char="Ø"/>
            </a:pPr>
            <a:r>
              <a:rPr lang="en-US" b="1" dirty="0"/>
              <a:t>Phases of the Incremental Model</a:t>
            </a:r>
          </a:p>
          <a:p>
            <a:endParaRPr lang="en-US" dirty="0"/>
          </a:p>
          <a:p>
            <a:r>
              <a:rPr lang="en-US" b="1" dirty="0"/>
              <a:t>1.Requirement Gathering and Analysis</a:t>
            </a:r>
            <a:r>
              <a:rPr lang="en-US" dirty="0"/>
              <a:t>: High-level requirements are collected initially and refined for each increment.</a:t>
            </a:r>
          </a:p>
          <a:p>
            <a:r>
              <a:rPr lang="en-US" b="1" dirty="0"/>
              <a:t>2.Design: </a:t>
            </a:r>
            <a:r>
              <a:rPr lang="en-US" dirty="0"/>
              <a:t>The architecture and detailed design are developed incrementally.</a:t>
            </a:r>
          </a:p>
          <a:p>
            <a:r>
              <a:rPr lang="en-US" dirty="0"/>
              <a:t>Implementation: Code for the increment's features is developed.</a:t>
            </a:r>
          </a:p>
          <a:p>
            <a:r>
              <a:rPr lang="en-US" b="1" dirty="0"/>
              <a:t>3.Testing: </a:t>
            </a:r>
            <a:r>
              <a:rPr lang="en-US" dirty="0"/>
              <a:t>Each increment is thoroughly tested before integration.</a:t>
            </a:r>
          </a:p>
          <a:p>
            <a:r>
              <a:rPr lang="en-US" b="1" dirty="0"/>
              <a:t>4.Integration: </a:t>
            </a:r>
            <a:r>
              <a:rPr lang="en-US" dirty="0"/>
              <a:t>Increments are integrated progressively to build the complete system.</a:t>
            </a:r>
          </a:p>
          <a:p>
            <a:r>
              <a:rPr lang="en-US" b="1" dirty="0"/>
              <a:t>5.Evaluation and Feedback: </a:t>
            </a:r>
            <a:r>
              <a:rPr lang="en-US" dirty="0"/>
              <a:t>Stakeholders review each increment, providing feedback for subsequent increments</a:t>
            </a:r>
          </a:p>
        </p:txBody>
      </p:sp>
    </p:spTree>
    <p:extLst>
      <p:ext uri="{BB962C8B-B14F-4D97-AF65-F5344CB8AC3E}">
        <p14:creationId xmlns:p14="http://schemas.microsoft.com/office/powerpoint/2010/main" val="3412071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20500-1470-EE64-51A9-B74A37EE43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6DF34C-743D-FE93-5127-8812948307FC}"/>
              </a:ext>
            </a:extLst>
          </p:cNvPr>
          <p:cNvSpPr txBox="1"/>
          <p:nvPr/>
        </p:nvSpPr>
        <p:spPr>
          <a:xfrm>
            <a:off x="765314" y="248552"/>
            <a:ext cx="8557591" cy="618630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When to Use the Incremental Model</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Projects where requirements are partially known or expected to evolve.</a:t>
            </a:r>
          </a:p>
          <a:p>
            <a:pPr algn="l">
              <a:buFont typeface="Arial" panose="020B0604020202020204" pitchFamily="34" charset="0"/>
              <a:buChar char="•"/>
            </a:pPr>
            <a:r>
              <a:rPr lang="en-US" b="0" i="0" dirty="0">
                <a:effectLst/>
                <a:latin typeface="fkGroteskNeue"/>
              </a:rPr>
              <a:t>Large and complex systems that benefit from staged delivery.</a:t>
            </a:r>
          </a:p>
          <a:p>
            <a:pPr algn="l">
              <a:buFont typeface="Arial" panose="020B0604020202020204" pitchFamily="34" charset="0"/>
              <a:buChar char="•"/>
            </a:pPr>
            <a:r>
              <a:rPr lang="en-US" b="0" i="0" dirty="0">
                <a:effectLst/>
                <a:latin typeface="fkGroteskNeue"/>
              </a:rPr>
              <a:t>Environments where early software deployment transforms into competitive advantage.</a:t>
            </a:r>
          </a:p>
          <a:p>
            <a:pPr algn="l">
              <a:buFont typeface="Arial" panose="020B0604020202020204" pitchFamily="34" charset="0"/>
              <a:buChar char="•"/>
            </a:pPr>
            <a:r>
              <a:rPr lang="en-US" b="0" i="0" dirty="0">
                <a:effectLst/>
                <a:latin typeface="fkGroteskNeue"/>
              </a:rPr>
              <a:t>Situations where budget constraints demand releasing a working product in phases.</a:t>
            </a:r>
          </a:p>
          <a:p>
            <a:pPr algn="l">
              <a:buFont typeface="Arial" panose="020B0604020202020204" pitchFamily="34" charset="0"/>
              <a:buChar char="•"/>
            </a:pPr>
            <a:r>
              <a:rPr lang="en-US" b="0" i="0" dirty="0">
                <a:effectLst/>
                <a:latin typeface="fkGroteskNeue"/>
              </a:rPr>
              <a:t>Projects needing close customer collaboration to refine the product continuously.</a:t>
            </a:r>
          </a:p>
          <a:p>
            <a:pPr algn="l">
              <a:buFont typeface="Arial" panose="020B0604020202020204" pitchFamily="34" charset="0"/>
              <a:buChar char="•"/>
            </a:pPr>
            <a:endParaRPr lang="en-US" dirty="0">
              <a:latin typeface="fkGroteskNeue"/>
            </a:endParaRPr>
          </a:p>
          <a:p>
            <a:r>
              <a:rPr lang="en-US" dirty="0"/>
              <a:t>The Incremental Model balances predictability with flexibility by delivering working software early and iteratively, enabling risk reduction and easier management of evolving </a:t>
            </a:r>
            <a:r>
              <a:rPr lang="en-US" dirty="0" err="1"/>
              <a:t>requirements.Software</a:t>
            </a:r>
            <a:r>
              <a:rPr lang="en-US" dirty="0"/>
              <a:t> is a collection of instructions, data, or programs that operate computers and perform specific tasks. It enables hardware to function according to user requirements through programs and associated documentation. Software is intangible, consisting of executable code and related resources that allow computers and devices to perform various functions, such as operating systems, applications, and utilities.</a:t>
            </a:r>
          </a:p>
          <a:p>
            <a:endParaRPr lang="en-US" b="0" i="0" dirty="0">
              <a:effectLst/>
              <a:latin typeface="fkGroteskNeue"/>
            </a:endParaRPr>
          </a:p>
          <a:p>
            <a:pPr marL="285750" indent="-285750">
              <a:buFont typeface="Wingdings" panose="05000000000000000000" pitchFamily="2" charset="2"/>
              <a:buChar char="Ø"/>
            </a:pPr>
            <a:r>
              <a:rPr lang="en-US" b="1" dirty="0"/>
              <a:t>Key Points About Software</a:t>
            </a:r>
          </a:p>
          <a:p>
            <a:endParaRPr lang="en-US" dirty="0"/>
          </a:p>
          <a:p>
            <a:r>
              <a:rPr lang="en-US" dirty="0"/>
              <a:t>Software directs hardware operations without being a physical component.</a:t>
            </a:r>
          </a:p>
          <a:p>
            <a:r>
              <a:rPr lang="en-US" dirty="0"/>
              <a:t>It includes executable programs, libraries, and user manuals.</a:t>
            </a:r>
          </a:p>
          <a:p>
            <a:r>
              <a:rPr lang="en-US" dirty="0"/>
              <a:t>Examples encompass operating systems, word processors, browsers, and games.</a:t>
            </a:r>
          </a:p>
        </p:txBody>
      </p:sp>
    </p:spTree>
    <p:extLst>
      <p:ext uri="{BB962C8B-B14F-4D97-AF65-F5344CB8AC3E}">
        <p14:creationId xmlns:p14="http://schemas.microsoft.com/office/powerpoint/2010/main" val="4264596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4A8B-17AA-A840-A267-9AF1443BA7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C5998-3EFE-4B04-4855-E91A3C0271F9}"/>
              </a:ext>
            </a:extLst>
          </p:cNvPr>
          <p:cNvSpPr txBox="1"/>
          <p:nvPr/>
        </p:nvSpPr>
        <p:spPr>
          <a:xfrm>
            <a:off x="884583" y="147216"/>
            <a:ext cx="8319052" cy="6740307"/>
          </a:xfrm>
          <a:prstGeom prst="rect">
            <a:avLst/>
          </a:prstGeom>
          <a:noFill/>
        </p:spPr>
        <p:txBody>
          <a:bodyPr wrap="square">
            <a:spAutoFit/>
          </a:bodyPr>
          <a:lstStyle/>
          <a:p>
            <a:pPr algn="l">
              <a:buNone/>
            </a:pPr>
            <a:r>
              <a:rPr lang="en-IN" b="1" i="0" dirty="0">
                <a:effectLst/>
                <a:latin typeface="fkGrotesk"/>
              </a:rPr>
              <a:t>Types of Software</a:t>
            </a:r>
          </a:p>
          <a:p>
            <a:pPr algn="l">
              <a:buNone/>
            </a:pPr>
            <a:endParaRPr lang="en-IN" b="0" i="0" dirty="0">
              <a:effectLst/>
              <a:latin typeface="fkGrotesk"/>
            </a:endParaRPr>
          </a:p>
          <a:p>
            <a:pPr algn="l">
              <a:buFont typeface="Arial" panose="020B0604020202020204" pitchFamily="34" charset="0"/>
              <a:buChar char="•"/>
            </a:pPr>
            <a:r>
              <a:rPr lang="en-IN" b="0" i="0" dirty="0">
                <a:effectLst/>
                <a:latin typeface="fkGroteskNeue"/>
              </a:rPr>
              <a:t>System Software: Manages hardware and provides a platform for running application software.</a:t>
            </a:r>
          </a:p>
          <a:p>
            <a:pPr algn="l">
              <a:buFont typeface="Arial" panose="020B0604020202020204" pitchFamily="34" charset="0"/>
              <a:buChar char="•"/>
            </a:pPr>
            <a:r>
              <a:rPr lang="en-IN" b="0" i="0" dirty="0">
                <a:effectLst/>
                <a:latin typeface="fkGroteskNeue"/>
              </a:rPr>
              <a:t>Application Software: Designed for end-user tasks like word processing or gaming.</a:t>
            </a:r>
          </a:p>
          <a:p>
            <a:pPr algn="l">
              <a:buFont typeface="Arial" panose="020B0604020202020204" pitchFamily="34" charset="0"/>
              <a:buChar char="•"/>
            </a:pPr>
            <a:r>
              <a:rPr lang="en-IN" b="0" i="0" dirty="0">
                <a:effectLst/>
                <a:latin typeface="fkGroteskNeue"/>
              </a:rPr>
              <a:t>Programming Software: Tools aiding software development like compilers and debuggers.</a:t>
            </a:r>
          </a:p>
          <a:p>
            <a:pPr algn="l">
              <a:buFont typeface="Arial" panose="020B0604020202020204" pitchFamily="34" charset="0"/>
              <a:buChar char="•"/>
            </a:pPr>
            <a:endParaRPr lang="en-IN" dirty="0">
              <a:latin typeface="fkGroteskNeue"/>
            </a:endParaRPr>
          </a:p>
          <a:p>
            <a:r>
              <a:rPr lang="en-IN" b="1" dirty="0"/>
              <a:t>2.5 Evolutionary Process Model: Prototyping</a:t>
            </a:r>
          </a:p>
          <a:p>
            <a:endParaRPr lang="en-IN" i="0" dirty="0">
              <a:effectLst/>
              <a:latin typeface="fkGroteskNeue"/>
            </a:endParaRPr>
          </a:p>
          <a:p>
            <a:r>
              <a:rPr lang="en-US" b="1" dirty="0"/>
              <a:t>Evolutionary Process Model: Prototyping</a:t>
            </a:r>
          </a:p>
          <a:p>
            <a:endParaRPr lang="en-US" dirty="0"/>
          </a:p>
          <a:p>
            <a:r>
              <a:rPr lang="en-US" dirty="0"/>
              <a:t>The Prototyping Model is an evolutionary software development approach in which an early, incomplete version of the software—called a prototype—is created to help understand requirements and refine functionality through user feedback.</a:t>
            </a:r>
          </a:p>
          <a:p>
            <a:endParaRPr lang="en-US" dirty="0"/>
          </a:p>
          <a:p>
            <a:pPr marL="285750" indent="-285750">
              <a:buFont typeface="Wingdings" panose="05000000000000000000" pitchFamily="2" charset="2"/>
              <a:buChar char="Ø"/>
            </a:pPr>
            <a:r>
              <a:rPr lang="en-US" b="1" dirty="0"/>
              <a:t>What is Prototyping Model?</a:t>
            </a:r>
          </a:p>
          <a:p>
            <a:endParaRPr lang="en-US" dirty="0"/>
          </a:p>
          <a:p>
            <a:pPr marL="285750" indent="-285750">
              <a:buFont typeface="Arial" panose="020B0604020202020204" pitchFamily="34" charset="0"/>
              <a:buChar char="•"/>
            </a:pPr>
            <a:r>
              <a:rPr lang="en-US" dirty="0"/>
              <a:t>A prototype is a preliminary working version of the software with limited functionality.</a:t>
            </a:r>
          </a:p>
          <a:p>
            <a:pPr marL="285750" indent="-285750">
              <a:buFont typeface="Arial" panose="020B0604020202020204" pitchFamily="34" charset="0"/>
              <a:buChar char="•"/>
            </a:pPr>
            <a:r>
              <a:rPr lang="en-US" dirty="0"/>
              <a:t>The prototype is developed quickly based on initial requirements and shown to users for evaluation.</a:t>
            </a:r>
          </a:p>
          <a:p>
            <a:endParaRPr lang="en-US" dirty="0"/>
          </a:p>
        </p:txBody>
      </p:sp>
    </p:spTree>
    <p:extLst>
      <p:ext uri="{BB962C8B-B14F-4D97-AF65-F5344CB8AC3E}">
        <p14:creationId xmlns:p14="http://schemas.microsoft.com/office/powerpoint/2010/main" val="1729805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5A449-84ED-A1C7-A0AA-E411D7B4B4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2C0609-54B9-F544-681C-B45E8E3FB318}"/>
              </a:ext>
            </a:extLst>
          </p:cNvPr>
          <p:cNvSpPr txBox="1"/>
          <p:nvPr/>
        </p:nvSpPr>
        <p:spPr>
          <a:xfrm>
            <a:off x="874644" y="129282"/>
            <a:ext cx="8458200" cy="6740307"/>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fkGroteskNeue"/>
              </a:rPr>
              <a:t>User feedback is gathered and used to refine and enhance the prototype iteratively.</a:t>
            </a:r>
          </a:p>
          <a:p>
            <a:pPr marL="285750" indent="-285750" algn="l">
              <a:buFont typeface="Arial" panose="020B0604020202020204" pitchFamily="34" charset="0"/>
              <a:buChar char="•"/>
            </a:pPr>
            <a:r>
              <a:rPr lang="en-US" b="0" i="0" dirty="0">
                <a:effectLst/>
                <a:latin typeface="fkGroteskNeue"/>
              </a:rPr>
              <a:t>This cycle continues until the prototype meets user expectations and can form the basis for the final system development.</a:t>
            </a:r>
          </a:p>
          <a:p>
            <a:pPr marL="285750" indent="-285750"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t>Phases of the Prototyping Model</a:t>
            </a:r>
          </a:p>
          <a:p>
            <a:endParaRPr lang="en-US" dirty="0"/>
          </a:p>
          <a:p>
            <a:r>
              <a:rPr lang="en-US" b="1" dirty="0"/>
              <a:t>1.Requirements Gathering and Analysis</a:t>
            </a:r>
            <a:r>
              <a:rPr lang="en-US" dirty="0"/>
              <a:t>: Initial requirements are collected through discussions with users to understand high-level system objectives.</a:t>
            </a:r>
          </a:p>
          <a:p>
            <a:endParaRPr lang="en-US" dirty="0"/>
          </a:p>
          <a:p>
            <a:r>
              <a:rPr lang="en-US" b="1" dirty="0"/>
              <a:t>2.Quick Design</a:t>
            </a:r>
            <a:r>
              <a:rPr lang="en-US" dirty="0"/>
              <a:t>: A rapid design focusing on the user interface and functional aspects visible to users is created to build the prototype.</a:t>
            </a:r>
          </a:p>
          <a:p>
            <a:endParaRPr lang="en-US" dirty="0"/>
          </a:p>
          <a:p>
            <a:r>
              <a:rPr lang="en-US" b="1" dirty="0"/>
              <a:t>3.Building the Prototype: </a:t>
            </a:r>
            <a:r>
              <a:rPr lang="en-US" dirty="0"/>
              <a:t>The actual prototype is developed that implements basic features.</a:t>
            </a:r>
          </a:p>
          <a:p>
            <a:endParaRPr lang="en-US" dirty="0"/>
          </a:p>
          <a:p>
            <a:r>
              <a:rPr lang="en-US" b="1" dirty="0"/>
              <a:t>4.User Evaluation: </a:t>
            </a:r>
            <a:r>
              <a:rPr lang="en-US" dirty="0"/>
              <a:t>The prototype is demonstrated to users to gather feedback about strengths, weaknesses, and missing features.</a:t>
            </a:r>
          </a:p>
          <a:p>
            <a:endParaRPr lang="en-US" dirty="0"/>
          </a:p>
          <a:p>
            <a:r>
              <a:rPr lang="en-US" b="1" dirty="0"/>
              <a:t>5.Refining the Prototype: </a:t>
            </a:r>
            <a:r>
              <a:rPr lang="en-US" dirty="0"/>
              <a:t>The prototype is refined based on feedback with changes made to improve or extend functionality.</a:t>
            </a:r>
          </a:p>
          <a:p>
            <a:endParaRPr lang="en-US" dirty="0"/>
          </a:p>
          <a:p>
            <a:r>
              <a:rPr lang="en-US" b="1" dirty="0"/>
              <a:t>6.Final System Development and Maintenance: </a:t>
            </a:r>
            <a:r>
              <a:rPr lang="en-US" dirty="0"/>
              <a:t>Once the prototype is approved, the final version of the system is built using the refined prototype as a reference. Maintenance follows thereafter.</a:t>
            </a:r>
          </a:p>
        </p:txBody>
      </p:sp>
      <p:sp>
        <p:nvSpPr>
          <p:cNvPr id="5" name="TextBox 4">
            <a:extLst>
              <a:ext uri="{FF2B5EF4-FFF2-40B4-BE49-F238E27FC236}">
                <a16:creationId xmlns:a16="http://schemas.microsoft.com/office/drawing/2014/main" id="{5A347AF4-F938-BDC9-7F2F-B6DD968EF38C}"/>
              </a:ext>
            </a:extLst>
          </p:cNvPr>
          <p:cNvSpPr txBox="1"/>
          <p:nvPr/>
        </p:nvSpPr>
        <p:spPr>
          <a:xfrm>
            <a:off x="3051313" y="3075368"/>
            <a:ext cx="6102626" cy="369332"/>
          </a:xfrm>
          <a:prstGeom prst="rect">
            <a:avLst/>
          </a:prstGeom>
          <a:noFill/>
        </p:spPr>
        <p:txBody>
          <a:bodyPr wrap="square">
            <a:spAutoFit/>
          </a:bodyPr>
          <a:lstStyle/>
          <a:p>
            <a:r>
              <a:rPr lang="en-US" b="1" dirty="0"/>
              <a:t>.</a:t>
            </a:r>
            <a:endParaRPr lang="en-IN" dirty="0"/>
          </a:p>
        </p:txBody>
      </p:sp>
    </p:spTree>
    <p:extLst>
      <p:ext uri="{BB962C8B-B14F-4D97-AF65-F5344CB8AC3E}">
        <p14:creationId xmlns:p14="http://schemas.microsoft.com/office/powerpoint/2010/main" val="600229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480E-376D-ED14-9706-809909AE1B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FA4F14-A6BD-ACBA-EE96-F96FDE70ED76}"/>
              </a:ext>
            </a:extLst>
          </p:cNvPr>
          <p:cNvSpPr txBox="1"/>
          <p:nvPr/>
        </p:nvSpPr>
        <p:spPr>
          <a:xfrm>
            <a:off x="993914" y="120640"/>
            <a:ext cx="8348869" cy="3416320"/>
          </a:xfrm>
          <a:prstGeom prst="rect">
            <a:avLst/>
          </a:prstGeom>
          <a:noFill/>
        </p:spPr>
        <p:txBody>
          <a:bodyPr wrap="square">
            <a:spAutoFit/>
          </a:bodyPr>
          <a:lstStyle/>
          <a:p>
            <a:pPr marL="285750" indent="-285750" algn="l">
              <a:buFont typeface="Wingdings" panose="05000000000000000000" pitchFamily="2" charset="2"/>
              <a:buChar char="v"/>
            </a:pPr>
            <a:r>
              <a:rPr lang="en-US" b="1" i="0" dirty="0">
                <a:effectLst/>
                <a:latin typeface="fkGrotesk"/>
              </a:rPr>
              <a:t>Advantages of Prototyping Model</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Early detection and correction of errors.</a:t>
            </a:r>
          </a:p>
          <a:p>
            <a:pPr algn="l">
              <a:buFont typeface="Arial" panose="020B0604020202020204" pitchFamily="34" charset="0"/>
              <a:buChar char="•"/>
            </a:pPr>
            <a:r>
              <a:rPr lang="en-US" b="0" i="0" dirty="0">
                <a:effectLst/>
                <a:latin typeface="fkGroteskNeue"/>
              </a:rPr>
              <a:t>Better understanding of user requirements through active involvement.</a:t>
            </a:r>
          </a:p>
          <a:p>
            <a:pPr algn="l">
              <a:buFont typeface="Arial" panose="020B0604020202020204" pitchFamily="34" charset="0"/>
              <a:buChar char="•"/>
            </a:pPr>
            <a:r>
              <a:rPr lang="en-US" b="0" i="0" dirty="0">
                <a:effectLst/>
                <a:latin typeface="fkGroteskNeue"/>
              </a:rPr>
              <a:t>Quick user feedback leads to better design decisions.</a:t>
            </a:r>
          </a:p>
          <a:p>
            <a:pPr algn="l">
              <a:buFont typeface="Arial" panose="020B0604020202020204" pitchFamily="34" charset="0"/>
              <a:buChar char="•"/>
            </a:pPr>
            <a:r>
              <a:rPr lang="en-US" b="0" i="0" dirty="0">
                <a:effectLst/>
                <a:latin typeface="fkGroteskNeue"/>
              </a:rPr>
              <a:t>Identification of missing or misunderstood functionality early.</a:t>
            </a:r>
          </a:p>
          <a:p>
            <a:pPr>
              <a:buNone/>
            </a:pPr>
            <a:endParaRPr lang="en-US" dirty="0"/>
          </a:p>
          <a:p>
            <a:pPr marL="285750" indent="-285750" algn="l">
              <a:buFont typeface="Wingdings" panose="05000000000000000000" pitchFamily="2" charset="2"/>
              <a:buChar char="v"/>
            </a:pPr>
            <a:r>
              <a:rPr lang="en-US" b="1" i="0" dirty="0">
                <a:effectLst/>
                <a:latin typeface="fkGrotesk"/>
              </a:rPr>
              <a:t>Disadvantages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Can take more time due to iterative refinements.</a:t>
            </a:r>
          </a:p>
          <a:p>
            <a:pPr algn="l">
              <a:buFont typeface="Arial" panose="020B0604020202020204" pitchFamily="34" charset="0"/>
              <a:buChar char="•"/>
            </a:pPr>
            <a:r>
              <a:rPr lang="en-US" b="0" i="0" dirty="0">
                <a:effectLst/>
                <a:latin typeface="fkGroteskNeue"/>
              </a:rPr>
              <a:t>May require more resources.</a:t>
            </a:r>
          </a:p>
          <a:p>
            <a:pPr algn="l">
              <a:buFont typeface="Arial" panose="020B0604020202020204" pitchFamily="34" charset="0"/>
              <a:buChar char="•"/>
            </a:pPr>
            <a:r>
              <a:rPr lang="en-US" b="0" i="0" dirty="0">
                <a:effectLst/>
                <a:latin typeface="fkGroteskNeue"/>
              </a:rPr>
              <a:t>High user involvement may distract developers or shift focus.</a:t>
            </a:r>
          </a:p>
        </p:txBody>
      </p:sp>
    </p:spTree>
    <p:extLst>
      <p:ext uri="{BB962C8B-B14F-4D97-AF65-F5344CB8AC3E}">
        <p14:creationId xmlns:p14="http://schemas.microsoft.com/office/powerpoint/2010/main" val="2189178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5CA1C-35C2-F290-B52B-C13DA86744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1D27B6-2EB9-40B8-D8BD-3C6C3A7C043E}"/>
              </a:ext>
            </a:extLst>
          </p:cNvPr>
          <p:cNvSpPr txBox="1"/>
          <p:nvPr/>
        </p:nvSpPr>
        <p:spPr>
          <a:xfrm>
            <a:off x="993913" y="83691"/>
            <a:ext cx="8557591" cy="6186309"/>
          </a:xfrm>
          <a:prstGeom prst="rect">
            <a:avLst/>
          </a:prstGeom>
          <a:noFill/>
        </p:spPr>
        <p:txBody>
          <a:bodyPr wrap="square">
            <a:spAutoFit/>
          </a:bodyPr>
          <a:lstStyle/>
          <a:p>
            <a:r>
              <a:rPr lang="en-US" b="1" dirty="0"/>
              <a:t>2.6 Selection criteria for software process model.</a:t>
            </a:r>
          </a:p>
          <a:p>
            <a:endParaRPr lang="en-US" dirty="0"/>
          </a:p>
          <a:p>
            <a:pPr marL="285750" indent="-285750">
              <a:buFont typeface="Wingdings" panose="05000000000000000000" pitchFamily="2" charset="2"/>
              <a:buChar char="Ø"/>
            </a:pPr>
            <a:r>
              <a:rPr lang="en-US" b="1" dirty="0"/>
              <a:t>Selection Criteria for Software Process Model</a:t>
            </a:r>
          </a:p>
          <a:p>
            <a:endParaRPr lang="en-US" dirty="0"/>
          </a:p>
          <a:p>
            <a:r>
              <a:rPr lang="en-US" dirty="0"/>
              <a:t>Choosing the right software process model is crucial for the success of a development project. The selection depends on various factors related to project characteristics, team, customer involvement, and risk. Below are key criteria typically used to select the most suitable software process model:</a:t>
            </a:r>
          </a:p>
          <a:p>
            <a:endParaRPr lang="en-US" dirty="0"/>
          </a:p>
          <a:p>
            <a:pPr marL="342900" indent="-342900">
              <a:buAutoNum type="arabicPeriod"/>
            </a:pPr>
            <a:r>
              <a:rPr lang="en-US" b="1" dirty="0"/>
              <a:t>Requirements Characteristics</a:t>
            </a:r>
          </a:p>
          <a:p>
            <a:endParaRPr lang="en-US" dirty="0"/>
          </a:p>
          <a:p>
            <a:pPr marL="285750" indent="-285750">
              <a:buFont typeface="Arial" panose="020B0604020202020204" pitchFamily="34" charset="0"/>
              <a:buChar char="•"/>
            </a:pPr>
            <a:r>
              <a:rPr lang="en-US" dirty="0"/>
              <a:t>Stability of Requirements: If requirements are stable and well-understood at the beginning, linear models (like Waterfall) are preferred. For evolving or unclear requirements, iterative or evolutionary models suit better.</a:t>
            </a:r>
          </a:p>
          <a:p>
            <a:pPr marL="285750" indent="-285750">
              <a:buFont typeface="Arial" panose="020B0604020202020204" pitchFamily="34" charset="0"/>
              <a:buChar char="•"/>
            </a:pPr>
            <a:r>
              <a:rPr lang="en-US" dirty="0"/>
              <a:t>Complexity and Size of Requirements: Complex systems with numerous requirements may demand incremental or agile approaches for better manageability.</a:t>
            </a:r>
          </a:p>
          <a:p>
            <a:pPr marL="285750" indent="-285750">
              <a:buFont typeface="Arial" panose="020B0604020202020204" pitchFamily="34" charset="0"/>
              <a:buChar char="•"/>
            </a:pPr>
            <a:r>
              <a:rPr lang="en-US" dirty="0"/>
              <a:t>Visibility of Requirements: If user needs can be defined early with clarity, traditional models work well. Otherwise, prototyping or incremental models help discover requirements gradually.</a:t>
            </a:r>
          </a:p>
          <a:p>
            <a:endParaRPr lang="en-US" dirty="0"/>
          </a:p>
          <a:p>
            <a:r>
              <a:rPr lang="en-US" dirty="0"/>
              <a:t> </a:t>
            </a:r>
            <a:endParaRPr lang="en-IN" dirty="0"/>
          </a:p>
        </p:txBody>
      </p:sp>
    </p:spTree>
    <p:extLst>
      <p:ext uri="{BB962C8B-B14F-4D97-AF65-F5344CB8AC3E}">
        <p14:creationId xmlns:p14="http://schemas.microsoft.com/office/powerpoint/2010/main" val="1090872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8575-1E26-108C-13BE-3B84367095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581BBF-6601-A232-D702-8BAFFEF8C3F8}"/>
              </a:ext>
            </a:extLst>
          </p:cNvPr>
          <p:cNvSpPr txBox="1"/>
          <p:nvPr/>
        </p:nvSpPr>
        <p:spPr>
          <a:xfrm>
            <a:off x="904461" y="87367"/>
            <a:ext cx="8309113" cy="6463308"/>
          </a:xfrm>
          <a:prstGeom prst="rect">
            <a:avLst/>
          </a:prstGeom>
          <a:noFill/>
        </p:spPr>
        <p:txBody>
          <a:bodyPr wrap="square">
            <a:spAutoFit/>
          </a:bodyPr>
          <a:lstStyle/>
          <a:p>
            <a:pPr algn="l">
              <a:buNone/>
            </a:pPr>
            <a:r>
              <a:rPr lang="en-US" b="1" i="0" dirty="0">
                <a:effectLst/>
                <a:latin typeface="fkGrotesk"/>
              </a:rPr>
              <a:t>2. Development Team Factors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Team Size and Experience: Large teams may need structured, formal models like Waterfall or V-Model, while smaller, experienced teams can adopt agile or iterative models.</a:t>
            </a:r>
          </a:p>
          <a:p>
            <a:pPr algn="l">
              <a:buFont typeface="Arial" panose="020B0604020202020204" pitchFamily="34" charset="0"/>
              <a:buChar char="•"/>
            </a:pPr>
            <a:r>
              <a:rPr lang="en-US" b="0" i="0" dirty="0">
                <a:effectLst/>
                <a:latin typeface="fkGroteskNeue"/>
              </a:rPr>
              <a:t>Domain and Technical Knowledge: Familiarity with technology and domain impacts model choice, favoring flexible models for less experienced teams.</a:t>
            </a:r>
          </a:p>
          <a:p>
            <a:pPr algn="l"/>
            <a:endParaRPr lang="en-US" b="0" i="0" dirty="0">
              <a:effectLst/>
              <a:latin typeface="fkGroteskNeue"/>
            </a:endParaRPr>
          </a:p>
          <a:p>
            <a:pPr algn="l">
              <a:buNone/>
            </a:pPr>
            <a:r>
              <a:rPr lang="en-US" b="1" i="0" dirty="0">
                <a:effectLst/>
                <a:latin typeface="fkGrotesk"/>
              </a:rPr>
              <a:t>3. User Involvement and Expertise</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Level of User Involvement: High involvement recommends iterative, incremental, or agile models to incorporate continuous feedback.</a:t>
            </a:r>
          </a:p>
          <a:p>
            <a:pPr algn="l">
              <a:buFont typeface="Arial" panose="020B0604020202020204" pitchFamily="34" charset="0"/>
              <a:buChar char="•"/>
            </a:pPr>
            <a:r>
              <a:rPr lang="en-US" b="0" i="0" dirty="0">
                <a:effectLst/>
                <a:latin typeface="fkGroteskNeue"/>
              </a:rPr>
              <a:t>User Experience: Novice users may require prototypes to clarify needs; experienced users can partake more in formal approaches.</a:t>
            </a:r>
          </a:p>
          <a:p>
            <a:pPr algn="l"/>
            <a:endParaRPr lang="en-US" b="0" i="0" dirty="0">
              <a:effectLst/>
              <a:latin typeface="fkGroteskNeue"/>
            </a:endParaRPr>
          </a:p>
          <a:p>
            <a:pPr algn="l">
              <a:buNone/>
            </a:pPr>
            <a:r>
              <a:rPr lang="en-US" b="1" i="0" dirty="0">
                <a:effectLst/>
                <a:latin typeface="fkGrotesk"/>
              </a:rPr>
              <a:t>4. Project Type and Risk</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Project Size and Complexity: Large, complex projects may benefit from incremental or spiral models to mitigate risks throughout development.</a:t>
            </a:r>
          </a:p>
          <a:p>
            <a:pPr algn="l">
              <a:buFont typeface="Arial" panose="020B0604020202020204" pitchFamily="34" charset="0"/>
              <a:buChar char="•"/>
            </a:pPr>
            <a:r>
              <a:rPr lang="en-US" b="0" i="0" dirty="0">
                <a:effectLst/>
                <a:latin typeface="fkGroteskNeue"/>
              </a:rPr>
              <a:t>Schedule Constraints: Tight schedules might prefer incremental or agile deployment to deliver features early.</a:t>
            </a:r>
          </a:p>
          <a:p>
            <a:pPr algn="l">
              <a:buFont typeface="Arial" panose="020B0604020202020204" pitchFamily="34" charset="0"/>
              <a:buChar char="•"/>
            </a:pPr>
            <a:r>
              <a:rPr lang="en-US" b="0" i="0" dirty="0">
                <a:effectLst/>
                <a:latin typeface="fkGroteskNeue"/>
              </a:rPr>
              <a:t>Budget Constraints: Limited budget can influence models that optimize effort and rework, such as incremental or prototyping</a:t>
            </a:r>
          </a:p>
        </p:txBody>
      </p:sp>
    </p:spTree>
    <p:extLst>
      <p:ext uri="{BB962C8B-B14F-4D97-AF65-F5344CB8AC3E}">
        <p14:creationId xmlns:p14="http://schemas.microsoft.com/office/powerpoint/2010/main" val="11066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1F43-D918-B896-D257-6AC248128E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343BC5-3441-0C57-C01B-37726F680727}"/>
              </a:ext>
            </a:extLst>
          </p:cNvPr>
          <p:cNvSpPr txBox="1"/>
          <p:nvPr/>
        </p:nvSpPr>
        <p:spPr>
          <a:xfrm>
            <a:off x="844826" y="168391"/>
            <a:ext cx="8627165" cy="2862322"/>
          </a:xfrm>
          <a:prstGeom prst="rect">
            <a:avLst/>
          </a:prstGeom>
          <a:noFill/>
        </p:spPr>
        <p:txBody>
          <a:bodyPr wrap="square">
            <a:spAutoFit/>
          </a:bodyPr>
          <a:lstStyle/>
          <a:p>
            <a:pPr algn="l">
              <a:buNone/>
            </a:pPr>
            <a:r>
              <a:rPr lang="en-US" b="1" i="0" dirty="0">
                <a:effectLst/>
                <a:latin typeface="fkGrotesk"/>
              </a:rPr>
              <a:t> 5. Other Considerations</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Technology Availability: New or emerging technology projects may require evolutionary or iterative processes.</a:t>
            </a:r>
          </a:p>
          <a:p>
            <a:pPr algn="l">
              <a:buFont typeface="Arial" panose="020B0604020202020204" pitchFamily="34" charset="0"/>
              <a:buChar char="•"/>
            </a:pPr>
            <a:r>
              <a:rPr lang="en-US" b="0" i="0" dirty="0">
                <a:effectLst/>
                <a:latin typeface="fkGroteskNeue"/>
              </a:rPr>
              <a:t>Criticality and Quality Requirements: High-criticality projects (e.g., medical, aerospace) need rigorous models like V-Model or Spiral for systematic verification and validation.</a:t>
            </a:r>
          </a:p>
          <a:p>
            <a:pPr algn="l">
              <a:buFont typeface="Arial" panose="020B0604020202020204" pitchFamily="34" charset="0"/>
              <a:buChar char="•"/>
            </a:pPr>
            <a:r>
              <a:rPr lang="en-US" b="0" i="0" dirty="0">
                <a:effectLst/>
                <a:latin typeface="fkGroteskNeue"/>
              </a:rPr>
              <a:t>Flexibility Needs: When flexibility in design and evolution is essential, iterative models are favored over rigid sequential models</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t>Summary Table of Selection Parameters</a:t>
            </a:r>
          </a:p>
        </p:txBody>
      </p:sp>
      <p:graphicFrame>
        <p:nvGraphicFramePr>
          <p:cNvPr id="4" name="Table 3">
            <a:extLst>
              <a:ext uri="{FF2B5EF4-FFF2-40B4-BE49-F238E27FC236}">
                <a16:creationId xmlns:a16="http://schemas.microsoft.com/office/drawing/2014/main" id="{C4375E6E-123C-87C5-3BA7-7F92DA1E7C9D}"/>
              </a:ext>
            </a:extLst>
          </p:cNvPr>
          <p:cNvGraphicFramePr>
            <a:graphicFrameLocks noGrp="1"/>
          </p:cNvGraphicFramePr>
          <p:nvPr>
            <p:extLst>
              <p:ext uri="{D42A27DB-BD31-4B8C-83A1-F6EECF244321}">
                <p14:modId xmlns:p14="http://schemas.microsoft.com/office/powerpoint/2010/main" val="3140469322"/>
              </p:ext>
            </p:extLst>
          </p:nvPr>
        </p:nvGraphicFramePr>
        <p:xfrm>
          <a:off x="844826" y="3231963"/>
          <a:ext cx="7641189" cy="3169920"/>
        </p:xfrm>
        <a:graphic>
          <a:graphicData uri="http://schemas.openxmlformats.org/drawingml/2006/table">
            <a:tbl>
              <a:tblPr>
                <a:tableStyleId>{5940675A-B579-460E-94D1-54222C63F5DA}</a:tableStyleId>
              </a:tblPr>
              <a:tblGrid>
                <a:gridCol w="3595963">
                  <a:extLst>
                    <a:ext uri="{9D8B030D-6E8A-4147-A177-3AD203B41FA5}">
                      <a16:colId xmlns:a16="http://schemas.microsoft.com/office/drawing/2014/main" val="2224354107"/>
                    </a:ext>
                  </a:extLst>
                </a:gridCol>
                <a:gridCol w="4045226">
                  <a:extLst>
                    <a:ext uri="{9D8B030D-6E8A-4147-A177-3AD203B41FA5}">
                      <a16:colId xmlns:a16="http://schemas.microsoft.com/office/drawing/2014/main" val="103469572"/>
                    </a:ext>
                  </a:extLst>
                </a:gridCol>
              </a:tblGrid>
              <a:tr h="0">
                <a:tc>
                  <a:txBody>
                    <a:bodyPr/>
                    <a:lstStyle/>
                    <a:p>
                      <a:pPr algn="ctr">
                        <a:buNone/>
                      </a:pPr>
                      <a:r>
                        <a:rPr lang="en-IN" b="1">
                          <a:effectLst/>
                        </a:rPr>
                        <a:t>Criterion</a:t>
                      </a:r>
                    </a:p>
                  </a:txBody>
                  <a:tcPr marL="60960" marR="60960" marT="60960" marB="60960" anchor="ctr"/>
                </a:tc>
                <a:tc>
                  <a:txBody>
                    <a:bodyPr/>
                    <a:lstStyle/>
                    <a:p>
                      <a:pPr algn="ctr">
                        <a:buNone/>
                      </a:pPr>
                      <a:r>
                        <a:rPr lang="en-IN" b="1" dirty="0">
                          <a:effectLst/>
                        </a:rPr>
                        <a:t>Suitable Models</a:t>
                      </a:r>
                    </a:p>
                  </a:txBody>
                  <a:tcPr marL="60960" marR="60960" marT="60960" marB="60960" anchor="ctr"/>
                </a:tc>
                <a:extLst>
                  <a:ext uri="{0D108BD9-81ED-4DB2-BD59-A6C34878D82A}">
                    <a16:rowId xmlns:a16="http://schemas.microsoft.com/office/drawing/2014/main" val="3975023901"/>
                  </a:ext>
                </a:extLst>
              </a:tr>
              <a:tr h="0">
                <a:tc>
                  <a:txBody>
                    <a:bodyPr/>
                    <a:lstStyle/>
                    <a:p>
                      <a:pPr algn="l">
                        <a:buNone/>
                      </a:pPr>
                      <a:r>
                        <a:rPr lang="en-IN">
                          <a:effectLst/>
                        </a:rPr>
                        <a:t>Stable, clear requirements</a:t>
                      </a:r>
                    </a:p>
                  </a:txBody>
                  <a:tcPr marL="60960" marR="60960" marT="60960" marB="60960" anchor="ctr"/>
                </a:tc>
                <a:tc>
                  <a:txBody>
                    <a:bodyPr/>
                    <a:lstStyle/>
                    <a:p>
                      <a:pPr algn="l">
                        <a:buNone/>
                      </a:pPr>
                      <a:r>
                        <a:rPr lang="en-IN">
                          <a:effectLst/>
                        </a:rPr>
                        <a:t>Waterfall, V-Model</a:t>
                      </a:r>
                    </a:p>
                  </a:txBody>
                  <a:tcPr marL="60960" marR="60960" marT="60960" marB="60960" anchor="ctr"/>
                </a:tc>
                <a:extLst>
                  <a:ext uri="{0D108BD9-81ED-4DB2-BD59-A6C34878D82A}">
                    <a16:rowId xmlns:a16="http://schemas.microsoft.com/office/drawing/2014/main" val="458890568"/>
                  </a:ext>
                </a:extLst>
              </a:tr>
              <a:tr h="0">
                <a:tc>
                  <a:txBody>
                    <a:bodyPr/>
                    <a:lstStyle/>
                    <a:p>
                      <a:pPr algn="l">
                        <a:buNone/>
                      </a:pPr>
                      <a:r>
                        <a:rPr lang="en-IN">
                          <a:effectLst/>
                        </a:rPr>
                        <a:t>Evolving/unclear requirements</a:t>
                      </a:r>
                    </a:p>
                  </a:txBody>
                  <a:tcPr marL="60960" marR="60960" marT="60960" marB="60960" anchor="ctr"/>
                </a:tc>
                <a:tc>
                  <a:txBody>
                    <a:bodyPr/>
                    <a:lstStyle/>
                    <a:p>
                      <a:pPr algn="l">
                        <a:buNone/>
                      </a:pPr>
                      <a:r>
                        <a:rPr lang="en-IN">
                          <a:effectLst/>
                        </a:rPr>
                        <a:t>Incremental, Prototyping, Agile</a:t>
                      </a:r>
                    </a:p>
                  </a:txBody>
                  <a:tcPr marL="60960" marR="60960" marT="60960" marB="60960" anchor="ctr"/>
                </a:tc>
                <a:extLst>
                  <a:ext uri="{0D108BD9-81ED-4DB2-BD59-A6C34878D82A}">
                    <a16:rowId xmlns:a16="http://schemas.microsoft.com/office/drawing/2014/main" val="4043317880"/>
                  </a:ext>
                </a:extLst>
              </a:tr>
              <a:tr h="0">
                <a:tc>
                  <a:txBody>
                    <a:bodyPr/>
                    <a:lstStyle/>
                    <a:p>
                      <a:pPr algn="l">
                        <a:buNone/>
                      </a:pPr>
                      <a:r>
                        <a:rPr lang="en-IN">
                          <a:effectLst/>
                        </a:rPr>
                        <a:t>Large &amp; Complex projects</a:t>
                      </a:r>
                    </a:p>
                  </a:txBody>
                  <a:tcPr marL="60960" marR="60960" marT="60960" marB="60960" anchor="ctr"/>
                </a:tc>
                <a:tc>
                  <a:txBody>
                    <a:bodyPr/>
                    <a:lstStyle/>
                    <a:p>
                      <a:pPr algn="l">
                        <a:buNone/>
                      </a:pPr>
                      <a:r>
                        <a:rPr lang="en-IN">
                          <a:effectLst/>
                        </a:rPr>
                        <a:t>Spiral, Incremental, Agile</a:t>
                      </a:r>
                    </a:p>
                  </a:txBody>
                  <a:tcPr marL="60960" marR="60960" marT="60960" marB="60960" anchor="ctr"/>
                </a:tc>
                <a:extLst>
                  <a:ext uri="{0D108BD9-81ED-4DB2-BD59-A6C34878D82A}">
                    <a16:rowId xmlns:a16="http://schemas.microsoft.com/office/drawing/2014/main" val="2777310517"/>
                  </a:ext>
                </a:extLst>
              </a:tr>
              <a:tr h="0">
                <a:tc>
                  <a:txBody>
                    <a:bodyPr/>
                    <a:lstStyle/>
                    <a:p>
                      <a:pPr algn="l">
                        <a:buNone/>
                      </a:pPr>
                      <a:r>
                        <a:rPr lang="en-IN">
                          <a:effectLst/>
                        </a:rPr>
                        <a:t>High user involvement</a:t>
                      </a:r>
                    </a:p>
                  </a:txBody>
                  <a:tcPr marL="60960" marR="60960" marT="60960" marB="60960" anchor="ctr"/>
                </a:tc>
                <a:tc>
                  <a:txBody>
                    <a:bodyPr/>
                    <a:lstStyle/>
                    <a:p>
                      <a:pPr algn="l">
                        <a:buNone/>
                      </a:pPr>
                      <a:r>
                        <a:rPr lang="en-IN">
                          <a:effectLst/>
                        </a:rPr>
                        <a:t>Agile, Incremental, Prototyping</a:t>
                      </a:r>
                    </a:p>
                  </a:txBody>
                  <a:tcPr marL="60960" marR="60960" marT="60960" marB="60960" anchor="ctr"/>
                </a:tc>
                <a:extLst>
                  <a:ext uri="{0D108BD9-81ED-4DB2-BD59-A6C34878D82A}">
                    <a16:rowId xmlns:a16="http://schemas.microsoft.com/office/drawing/2014/main" val="1907041821"/>
                  </a:ext>
                </a:extLst>
              </a:tr>
              <a:tr h="0">
                <a:tc>
                  <a:txBody>
                    <a:bodyPr/>
                    <a:lstStyle/>
                    <a:p>
                      <a:pPr algn="l">
                        <a:buNone/>
                      </a:pPr>
                      <a:r>
                        <a:rPr lang="en-IN">
                          <a:effectLst/>
                        </a:rPr>
                        <a:t>Small, skilled teams</a:t>
                      </a:r>
                    </a:p>
                  </a:txBody>
                  <a:tcPr marL="60960" marR="60960" marT="60960" marB="60960" anchor="ctr"/>
                </a:tc>
                <a:tc>
                  <a:txBody>
                    <a:bodyPr/>
                    <a:lstStyle/>
                    <a:p>
                      <a:pPr algn="l">
                        <a:buNone/>
                      </a:pPr>
                      <a:r>
                        <a:rPr lang="en-IN">
                          <a:effectLst/>
                        </a:rPr>
                        <a:t>Agile, Iterative</a:t>
                      </a:r>
                    </a:p>
                  </a:txBody>
                  <a:tcPr marL="60960" marR="60960" marT="60960" marB="60960" anchor="ctr"/>
                </a:tc>
                <a:extLst>
                  <a:ext uri="{0D108BD9-81ED-4DB2-BD59-A6C34878D82A}">
                    <a16:rowId xmlns:a16="http://schemas.microsoft.com/office/drawing/2014/main" val="1509224106"/>
                  </a:ext>
                </a:extLst>
              </a:tr>
              <a:tr h="0">
                <a:tc>
                  <a:txBody>
                    <a:bodyPr/>
                    <a:lstStyle/>
                    <a:p>
                      <a:pPr algn="l">
                        <a:buNone/>
                      </a:pPr>
                      <a:r>
                        <a:rPr lang="en-IN">
                          <a:effectLst/>
                        </a:rPr>
                        <a:t>High criticality &amp; quality</a:t>
                      </a:r>
                    </a:p>
                  </a:txBody>
                  <a:tcPr marL="60960" marR="60960" marT="60960" marB="60960" anchor="ctr"/>
                </a:tc>
                <a:tc>
                  <a:txBody>
                    <a:bodyPr/>
                    <a:lstStyle/>
                    <a:p>
                      <a:pPr algn="l">
                        <a:buNone/>
                      </a:pPr>
                      <a:r>
                        <a:rPr lang="en-IN">
                          <a:effectLst/>
                        </a:rPr>
                        <a:t>V-Model, Spiral</a:t>
                      </a:r>
                    </a:p>
                  </a:txBody>
                  <a:tcPr marL="60960" marR="60960" marT="60960" marB="60960" anchor="ctr"/>
                </a:tc>
                <a:extLst>
                  <a:ext uri="{0D108BD9-81ED-4DB2-BD59-A6C34878D82A}">
                    <a16:rowId xmlns:a16="http://schemas.microsoft.com/office/drawing/2014/main" val="2350628605"/>
                  </a:ext>
                </a:extLst>
              </a:tr>
              <a:tr h="0">
                <a:tc>
                  <a:txBody>
                    <a:bodyPr/>
                    <a:lstStyle/>
                    <a:p>
                      <a:pPr algn="l">
                        <a:buNone/>
                      </a:pPr>
                      <a:r>
                        <a:rPr lang="en-IN" dirty="0">
                          <a:effectLst/>
                        </a:rPr>
                        <a:t>Tight schedule</a:t>
                      </a:r>
                    </a:p>
                  </a:txBody>
                  <a:tcPr marL="60960" marR="60960" marT="60960" marB="60960" anchor="ctr"/>
                </a:tc>
                <a:tc>
                  <a:txBody>
                    <a:bodyPr/>
                    <a:lstStyle/>
                    <a:p>
                      <a:pPr algn="l">
                        <a:buNone/>
                      </a:pPr>
                      <a:r>
                        <a:rPr lang="en-IN" dirty="0">
                          <a:effectLst/>
                        </a:rPr>
                        <a:t>Incremental, Agile</a:t>
                      </a:r>
                    </a:p>
                  </a:txBody>
                  <a:tcPr marL="60960" marR="60960" marT="60960" marB="60960" anchor="ctr"/>
                </a:tc>
                <a:extLst>
                  <a:ext uri="{0D108BD9-81ED-4DB2-BD59-A6C34878D82A}">
                    <a16:rowId xmlns:a16="http://schemas.microsoft.com/office/drawing/2014/main" val="739488668"/>
                  </a:ext>
                </a:extLst>
              </a:tr>
            </a:tbl>
          </a:graphicData>
        </a:graphic>
      </p:graphicFrame>
    </p:spTree>
    <p:extLst>
      <p:ext uri="{BB962C8B-B14F-4D97-AF65-F5344CB8AC3E}">
        <p14:creationId xmlns:p14="http://schemas.microsoft.com/office/powerpoint/2010/main" val="18065441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54</TotalTime>
  <Words>2337</Words>
  <Application>Microsoft Office PowerPoint</Application>
  <PresentationFormat>Widescreen</PresentationFormat>
  <Paragraphs>271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fkGrotesk</vt:lpstr>
      <vt:lpstr>fkGroteskNeue</vt:lpstr>
      <vt:lpstr>Trebuchet MS</vt:lpstr>
      <vt:lpstr>Wingdings</vt:lpstr>
      <vt:lpstr>Wingdings 3</vt:lpstr>
      <vt:lpstr>Facet</vt:lpstr>
      <vt:lpstr>Process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2025-10-09T07:46:09Z</dcterms:created>
  <dcterms:modified xsi:type="dcterms:W3CDTF">2025-10-09T13:47:51Z</dcterms:modified>
</cp:coreProperties>
</file>