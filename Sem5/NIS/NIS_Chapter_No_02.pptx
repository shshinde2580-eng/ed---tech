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notesMasterIdLst>
    <p:notesMasterId r:id="rId32"/>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4A36D6-89AE-49F9-B595-5D1AD7A233C1}" type="datetimeFigureOut">
              <a:rPr lang="en-IN" smtClean="0"/>
              <a:t>01-11-2025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F728E8-3B9F-4455-956E-3C488B692835}" type="slidenum">
              <a:rPr lang="en-IN" smtClean="0"/>
              <a:t>‹#›</a:t>
            </a:fld>
            <a:endParaRPr lang="en-IN"/>
          </a:p>
        </p:txBody>
      </p:sp>
    </p:spTree>
    <p:extLst>
      <p:ext uri="{BB962C8B-B14F-4D97-AF65-F5344CB8AC3E}">
        <p14:creationId xmlns:p14="http://schemas.microsoft.com/office/powerpoint/2010/main" val="901271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F728E8-3B9F-4455-956E-3C488B692835}" type="slidenum">
              <a:rPr lang="en-IN" smtClean="0"/>
              <a:t>23</a:t>
            </a:fld>
            <a:endParaRPr lang="en-IN"/>
          </a:p>
        </p:txBody>
      </p:sp>
    </p:spTree>
    <p:extLst>
      <p:ext uri="{BB962C8B-B14F-4D97-AF65-F5344CB8AC3E}">
        <p14:creationId xmlns:p14="http://schemas.microsoft.com/office/powerpoint/2010/main" val="1043154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3509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9874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7896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3218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7497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750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776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07533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5273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411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13414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83348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60225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4969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642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9359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734397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0498-FF18-5019-CF1E-DF2BC69C43D1}"/>
              </a:ext>
            </a:extLst>
          </p:cNvPr>
          <p:cNvSpPr>
            <a:spLocks noGrp="1"/>
          </p:cNvSpPr>
          <p:nvPr>
            <p:ph type="ctrTitle"/>
          </p:nvPr>
        </p:nvSpPr>
        <p:spPr>
          <a:xfrm>
            <a:off x="442451" y="1533832"/>
            <a:ext cx="9468465" cy="3490451"/>
          </a:xfrm>
        </p:spPr>
        <p:txBody>
          <a:bodyPr/>
          <a:lstStyle/>
          <a:p>
            <a:pPr algn="ctr"/>
            <a:r>
              <a:rPr lang="en-US" sz="6600" dirty="0">
                <a:latin typeface="Algerian" panose="04020705040A02060702" pitchFamily="82" charset="0"/>
              </a:rPr>
              <a:t>02. User authentication &amp; access control</a:t>
            </a:r>
            <a:endParaRPr lang="en-IN" sz="6600" dirty="0">
              <a:latin typeface="Algerian" panose="04020705040A02060702" pitchFamily="82" charset="0"/>
            </a:endParaRPr>
          </a:p>
        </p:txBody>
      </p:sp>
      <p:sp>
        <p:nvSpPr>
          <p:cNvPr id="3" name="Subtitle 2">
            <a:extLst>
              <a:ext uri="{FF2B5EF4-FFF2-40B4-BE49-F238E27FC236}">
                <a16:creationId xmlns:a16="http://schemas.microsoft.com/office/drawing/2014/main" id="{5AF3C01A-71E8-46B2-137C-4B384FA9B373}"/>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672176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0661-3EFA-FA5C-6ABA-AE85DF7DF96F}"/>
              </a:ext>
            </a:extLst>
          </p:cNvPr>
          <p:cNvSpPr>
            <a:spLocks noGrp="1"/>
          </p:cNvSpPr>
          <p:nvPr>
            <p:ph type="title"/>
          </p:nvPr>
        </p:nvSpPr>
        <p:spPr>
          <a:xfrm>
            <a:off x="0" y="0"/>
            <a:ext cx="10127226" cy="639097"/>
          </a:xfrm>
        </p:spPr>
        <p:txBody>
          <a:bodyPr>
            <a:normAutofit fontScale="90000"/>
          </a:bodyPr>
          <a:lstStyle/>
          <a:p>
            <a:pPr marL="571500" indent="-571500">
              <a:buFont typeface="Wingdings" panose="05000000000000000000" pitchFamily="2" charset="2"/>
              <a:buChar char="v"/>
            </a:pPr>
            <a:r>
              <a:rPr lang="en-US" u="sng" dirty="0">
                <a:latin typeface="Algerian" panose="04020705040A02060702" pitchFamily="82" charset="0"/>
              </a:rPr>
              <a:t>Identification &amp; authentication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3194F31-9F49-4E64-ED5B-C594C83177B0}"/>
              </a:ext>
            </a:extLst>
          </p:cNvPr>
          <p:cNvSpPr>
            <a:spLocks noGrp="1"/>
          </p:cNvSpPr>
          <p:nvPr>
            <p:ph type="body" idx="1"/>
          </p:nvPr>
        </p:nvSpPr>
        <p:spPr>
          <a:xfrm>
            <a:off x="127819" y="432619"/>
            <a:ext cx="9871587" cy="4159045"/>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Identification means Finding out who someone is and Authentication is a mechanism of verifying that identification.</a:t>
            </a:r>
          </a:p>
          <a:p>
            <a:pPr marL="342900" indent="-342900">
              <a:buFont typeface="Wingdings" panose="05000000000000000000" pitchFamily="2" charset="2"/>
              <a:buChar char="Ø"/>
            </a:pPr>
            <a:r>
              <a:rPr lang="en-US" sz="2400" b="1" dirty="0">
                <a:latin typeface="Century Schoolbook" panose="02040604050505020304" pitchFamily="18" charset="0"/>
              </a:rPr>
              <a:t>Put another way, identification is claiming an identity; authentication is proving it.</a:t>
            </a:r>
          </a:p>
          <a:p>
            <a:pPr marL="342900" indent="-342900">
              <a:buFont typeface="Wingdings" panose="05000000000000000000" pitchFamily="2" charset="2"/>
              <a:buChar char="Ø"/>
            </a:pPr>
            <a:r>
              <a:rPr lang="en-US" sz="2400" b="1" dirty="0">
                <a:latin typeface="Century Schoolbook" panose="02040604050505020304" pitchFamily="18" charset="0"/>
              </a:rPr>
              <a:t>Identification : “Who are you?” n individual used to recognized an individual user.</a:t>
            </a:r>
          </a:p>
          <a:p>
            <a:pPr marL="342900" indent="-342900">
              <a:buFont typeface="Wingdings" panose="05000000000000000000" pitchFamily="2" charset="2"/>
              <a:buChar char="Ø"/>
            </a:pPr>
            <a:r>
              <a:rPr lang="en-US" sz="2400" b="1" dirty="0">
                <a:latin typeface="Century Schoolbook" panose="02040604050505020304" pitchFamily="18" charset="0"/>
              </a:rPr>
              <a:t>Authentication : “Who are you and how can you prove it?” The process of determining identity of a user or entity.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623057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505E-5314-4E70-2F61-D4395F8F6734}"/>
              </a:ext>
            </a:extLst>
          </p:cNvPr>
          <p:cNvSpPr>
            <a:spLocks noGrp="1"/>
          </p:cNvSpPr>
          <p:nvPr>
            <p:ph type="title"/>
          </p:nvPr>
        </p:nvSpPr>
        <p:spPr>
          <a:xfrm>
            <a:off x="28406" y="25400"/>
            <a:ext cx="8596668" cy="643194"/>
          </a:xfrm>
        </p:spPr>
        <p:txBody>
          <a:bodyPr>
            <a:normAutofit fontScale="90000"/>
          </a:bodyPr>
          <a:lstStyle/>
          <a:p>
            <a:pPr marL="571500" indent="-571500">
              <a:buFont typeface="Wingdings" panose="05000000000000000000" pitchFamily="2" charset="2"/>
              <a:buChar char="v"/>
            </a:pPr>
            <a:r>
              <a:rPr lang="en-US" u="sng" dirty="0">
                <a:latin typeface="Algerian" panose="04020705040A02060702" pitchFamily="82" charset="0"/>
              </a:rPr>
              <a:t>User names &amp; </a:t>
            </a:r>
            <a:r>
              <a:rPr lang="en-US" u="sng" dirty="0" err="1">
                <a:latin typeface="Algerian" panose="04020705040A02060702" pitchFamily="82" charset="0"/>
              </a:rPr>
              <a:t>passwards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D0DC86F9-9749-2212-0676-04030ABB7B31}"/>
              </a:ext>
            </a:extLst>
          </p:cNvPr>
          <p:cNvSpPr>
            <a:spLocks noGrp="1"/>
          </p:cNvSpPr>
          <p:nvPr>
            <p:ph type="body" idx="1"/>
          </p:nvPr>
        </p:nvSpPr>
        <p:spPr>
          <a:xfrm>
            <a:off x="0" y="442452"/>
            <a:ext cx="9753600" cy="6189406"/>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Username is a name that uniquely identifies someone on a computer system.</a:t>
            </a:r>
          </a:p>
          <a:p>
            <a:pPr marL="342900" indent="-342900">
              <a:buFont typeface="Wingdings" panose="05000000000000000000" pitchFamily="2" charset="2"/>
              <a:buChar char="Ø"/>
            </a:pPr>
            <a:r>
              <a:rPr lang="en-US" sz="2400" b="1" dirty="0">
                <a:latin typeface="Century Schoolbook" panose="02040604050505020304" pitchFamily="18" charset="0"/>
              </a:rPr>
              <a:t>A computer may be setup with multiple accounts, with different usernames for each account.</a:t>
            </a:r>
          </a:p>
          <a:p>
            <a:pPr marL="342900" indent="-342900">
              <a:buFont typeface="Wingdings" panose="05000000000000000000" pitchFamily="2" charset="2"/>
              <a:buChar char="Ø"/>
            </a:pPr>
            <a:r>
              <a:rPr lang="en-US" sz="2400" b="1" dirty="0">
                <a:latin typeface="Century Schoolbook" panose="02040604050505020304" pitchFamily="18" charset="0"/>
              </a:rPr>
              <a:t>A username is almost always paired with a password. A Password is a string of characters used to verify the identify of a user during the authentication process.</a:t>
            </a:r>
          </a:p>
          <a:p>
            <a:pPr marL="342900" indent="-342900">
              <a:buFont typeface="Wingdings" panose="05000000000000000000" pitchFamily="2" charset="2"/>
              <a:buChar char="Ø"/>
            </a:pPr>
            <a:r>
              <a:rPr lang="en-US" sz="2400" b="1" dirty="0">
                <a:latin typeface="Century Schoolbook" panose="02040604050505020304" pitchFamily="18" charset="0"/>
              </a:rPr>
              <a:t>This username/password combination is referred to as a login, and is often required for users to log in to computer system.</a:t>
            </a:r>
          </a:p>
          <a:p>
            <a:pPr marL="342900" indent="-342900">
              <a:buFont typeface="Wingdings" panose="05000000000000000000" pitchFamily="2" charset="2"/>
              <a:buChar char="Ø"/>
            </a:pPr>
            <a:r>
              <a:rPr lang="en-US" sz="2400" b="1" dirty="0">
                <a:latin typeface="Century Schoolbook" panose="02040604050505020304" pitchFamily="18" charset="0"/>
              </a:rPr>
              <a:t>Passwords are typically used in conjuncture with a username; they are designed to be known only to the user.</a:t>
            </a:r>
          </a:p>
          <a:p>
            <a:pPr marL="342900" indent="-342900">
              <a:buFont typeface="Wingdings" panose="05000000000000000000" pitchFamily="2" charset="2"/>
              <a:buChar char="Ø"/>
            </a:pPr>
            <a:r>
              <a:rPr lang="en-US" sz="2400" b="1" dirty="0">
                <a:latin typeface="Century Schoolbook" panose="02040604050505020304" pitchFamily="18" charset="0"/>
              </a:rPr>
              <a:t>The use of strong password is thus essential in order to protect the security and identity.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794096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C4C41-2398-E03D-B87F-B33159E36FF1}"/>
              </a:ext>
            </a:extLst>
          </p:cNvPr>
          <p:cNvSpPr>
            <a:spLocks noGrp="1"/>
          </p:cNvSpPr>
          <p:nvPr>
            <p:ph type="title"/>
          </p:nvPr>
        </p:nvSpPr>
        <p:spPr>
          <a:xfrm>
            <a:off x="0" y="25400"/>
            <a:ext cx="8596668" cy="712019"/>
          </a:xfrm>
        </p:spPr>
        <p:txBody>
          <a:bodyPr>
            <a:normAutofit fontScale="90000"/>
          </a:bodyPr>
          <a:lstStyle/>
          <a:p>
            <a:pPr marL="571500" indent="-571500">
              <a:buFont typeface="Wingdings" panose="05000000000000000000" pitchFamily="2" charset="2"/>
              <a:buChar char="v"/>
            </a:pPr>
            <a:r>
              <a:rPr lang="en-US" u="sng" dirty="0">
                <a:latin typeface="Algerian" panose="04020705040A02060702" pitchFamily="82" charset="0"/>
              </a:rPr>
              <a:t>Guessing a </a:t>
            </a:r>
            <a:r>
              <a:rPr lang="en-US" u="sng" dirty="0" err="1">
                <a:latin typeface="Algerian" panose="04020705040A02060702" pitchFamily="82" charset="0"/>
              </a:rPr>
              <a:t>passward</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91EA01C-DF94-B899-942E-AA45207D893E}"/>
              </a:ext>
            </a:extLst>
          </p:cNvPr>
          <p:cNvSpPr>
            <a:spLocks noGrp="1"/>
          </p:cNvSpPr>
          <p:nvPr>
            <p:ph type="body" idx="1"/>
          </p:nvPr>
        </p:nvSpPr>
        <p:spPr>
          <a:xfrm>
            <a:off x="0" y="580104"/>
            <a:ext cx="9901085" cy="5240594"/>
          </a:xfrm>
        </p:spPr>
        <p:txBody>
          <a:bodyPr>
            <a:noAutofit/>
          </a:bodyPr>
          <a:lstStyle/>
          <a:p>
            <a:pPr marL="342900" indent="-342900">
              <a:buFont typeface="Wingdings" panose="05000000000000000000" pitchFamily="2" charset="2"/>
              <a:buChar char="Ø"/>
            </a:pPr>
            <a:r>
              <a:rPr lang="en-US" sz="2000" b="1" dirty="0">
                <a:latin typeface="Century Schoolbook" panose="02040604050505020304" pitchFamily="18" charset="0"/>
              </a:rPr>
              <a:t>Password guessing is the process of attempting to gain access to a system through the systematic guessing of passwords in an attempt to gain a login to a target system.</a:t>
            </a:r>
          </a:p>
          <a:p>
            <a:pPr marL="342900" indent="-342900">
              <a:buFont typeface="Wingdings" panose="05000000000000000000" pitchFamily="2" charset="2"/>
              <a:buChar char="Ø"/>
            </a:pPr>
            <a:r>
              <a:rPr lang="en-US" sz="2000" b="1" dirty="0">
                <a:latin typeface="Century Schoolbook" panose="02040604050505020304" pitchFamily="18" charset="0"/>
              </a:rPr>
              <a:t>Password cracking is the process of recovering passwords. from data that have been stored in or transmitted by a computer system.</a:t>
            </a:r>
          </a:p>
          <a:p>
            <a:pPr marL="342900" indent="-342900">
              <a:buFont typeface="Wingdings" panose="05000000000000000000" pitchFamily="2" charset="2"/>
              <a:buChar char="Ø"/>
            </a:pPr>
            <a:r>
              <a:rPr lang="en-US" sz="2000" b="1" dirty="0">
                <a:latin typeface="Century Schoolbook" panose="02040604050505020304" pitchFamily="18" charset="0"/>
              </a:rPr>
              <a:t>Cracking a password may seem like a next to impossible task, but we should surprised how easy it can be. There are dozens of password cracking programs in the market.</a:t>
            </a:r>
          </a:p>
          <a:p>
            <a:pPr marL="342900" indent="-342900">
              <a:buFont typeface="Wingdings" panose="05000000000000000000" pitchFamily="2" charset="2"/>
              <a:buChar char="Ø"/>
            </a:pPr>
            <a:r>
              <a:rPr lang="en-US" sz="2000" b="1" dirty="0">
                <a:latin typeface="Century Schoolbook" panose="02040604050505020304" pitchFamily="18" charset="0"/>
              </a:rPr>
              <a:t>A directory attack is the guessing of a password by repeated trial and error.</a:t>
            </a:r>
          </a:p>
          <a:p>
            <a:pPr marL="342900" indent="-342900">
              <a:buFont typeface="Wingdings" panose="05000000000000000000" pitchFamily="2" charset="2"/>
              <a:buChar char="Ø"/>
            </a:pPr>
            <a:r>
              <a:rPr lang="en-US" sz="2000" b="1" dirty="0">
                <a:latin typeface="Century Schoolbook" panose="02040604050505020304" pitchFamily="18" charset="0"/>
              </a:rPr>
              <a:t>In a brute-force attack, the attacker simply attempts to guess. the password by logically trying every possible combination.</a:t>
            </a:r>
          </a:p>
          <a:p>
            <a:pPr marL="342900" indent="-342900">
              <a:buFont typeface="Wingdings" panose="05000000000000000000" pitchFamily="2" charset="2"/>
              <a:buChar char="Ø"/>
            </a:pPr>
            <a:r>
              <a:rPr lang="en-US" sz="2000" b="1" dirty="0">
                <a:latin typeface="Century Schoolbook" panose="02040604050505020304" pitchFamily="18" charset="0"/>
              </a:rPr>
              <a:t>The hybrid attack combines the directory &amp; brute-force attack.</a:t>
            </a:r>
          </a:p>
          <a:p>
            <a:pPr marL="342900" indent="-342900">
              <a:buFont typeface="Wingdings" panose="05000000000000000000" pitchFamily="2" charset="2"/>
              <a:buChar char="Ø"/>
            </a:pPr>
            <a:r>
              <a:rPr lang="en-US" sz="2000" b="1" dirty="0">
                <a:latin typeface="Century Schoolbook" panose="02040604050505020304" pitchFamily="18" charset="0"/>
              </a:rPr>
              <a:t>It is able to crack passwords much faster.</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2067486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D8E24-3C1E-BA41-B661-41A78D2A1515}"/>
              </a:ext>
            </a:extLst>
          </p:cNvPr>
          <p:cNvSpPr>
            <a:spLocks noGrp="1"/>
          </p:cNvSpPr>
          <p:nvPr>
            <p:ph type="title"/>
          </p:nvPr>
        </p:nvSpPr>
        <p:spPr>
          <a:xfrm>
            <a:off x="0" y="-45000"/>
            <a:ext cx="8596668" cy="699599"/>
          </a:xfrm>
        </p:spPr>
        <p:txBody>
          <a:bodyPr>
            <a:noAutofit/>
          </a:bodyPr>
          <a:lstStyle/>
          <a:p>
            <a:pPr marL="571500" indent="-571500">
              <a:buFont typeface="Wingdings" panose="05000000000000000000" pitchFamily="2" charset="2"/>
              <a:buChar char="v"/>
            </a:pPr>
            <a:r>
              <a:rPr lang="en-US" u="sng" dirty="0" err="1">
                <a:latin typeface="Algerian" panose="04020705040A02060702" pitchFamily="82" charset="0"/>
              </a:rPr>
              <a:t>Passward</a:t>
            </a:r>
            <a:r>
              <a:rPr lang="en-US" u="sng" dirty="0">
                <a:latin typeface="Algerian" panose="04020705040A02060702" pitchFamily="82" charset="0"/>
              </a:rPr>
              <a:t> attack</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0228FF21-5315-76FF-7D5F-343E1A7620F2}"/>
              </a:ext>
            </a:extLst>
          </p:cNvPr>
          <p:cNvSpPr>
            <a:spLocks noGrp="1"/>
          </p:cNvSpPr>
          <p:nvPr>
            <p:ph type="body" idx="1"/>
          </p:nvPr>
        </p:nvSpPr>
        <p:spPr>
          <a:xfrm>
            <a:off x="0" y="654600"/>
            <a:ext cx="9274003" cy="5638046"/>
          </a:xfrm>
        </p:spPr>
        <p:txBody>
          <a:bodyPr/>
          <a:lstStyle/>
          <a:p>
            <a:pPr marL="571500" indent="-571500">
              <a:buFont typeface="Wingdings" panose="05000000000000000000" pitchFamily="2" charset="2"/>
              <a:buChar char="Ø"/>
            </a:pPr>
            <a:r>
              <a:rPr lang="en-US" sz="4000" b="1" u="sng" dirty="0">
                <a:solidFill>
                  <a:schemeClr val="accent1">
                    <a:lumMod val="75000"/>
                  </a:schemeClr>
                </a:solidFill>
                <a:latin typeface="Century Schoolbook" panose="02040604050505020304" pitchFamily="18" charset="0"/>
              </a:rPr>
              <a:t>PIGGY BACKING</a:t>
            </a:r>
            <a:r>
              <a:rPr lang="en-US" sz="4000" b="1" dirty="0">
                <a:solidFill>
                  <a:schemeClr val="accent1">
                    <a:lumMod val="75000"/>
                  </a:schemeClr>
                </a:solidFill>
                <a:latin typeface="Century Schoolbook" panose="02040604050505020304" pitchFamily="18" charset="0"/>
              </a:rPr>
              <a:t> : -</a:t>
            </a:r>
          </a:p>
          <a:p>
            <a:r>
              <a:rPr lang="en-US" sz="2000" b="1" dirty="0" err="1">
                <a:latin typeface="Century Schoolbook" panose="02040604050505020304" pitchFamily="18" charset="0"/>
              </a:rPr>
              <a:t>i</a:t>
            </a:r>
            <a:r>
              <a:rPr lang="en-US" sz="2000" b="1" dirty="0">
                <a:latin typeface="Century Schoolbook" panose="02040604050505020304" pitchFamily="18" charset="0"/>
              </a:rPr>
              <a:t>) Piggybacking is actually when someone tags                                                     along with another person who is authorized to                                                gain entry into a restricted area, or pass                                                             something.</a:t>
            </a:r>
          </a:p>
          <a:p>
            <a:r>
              <a:rPr lang="en-US" sz="2000" b="1" dirty="0">
                <a:latin typeface="Century Schoolbook" panose="02040604050505020304" pitchFamily="18" charset="0"/>
              </a:rPr>
              <a:t>ii) An attacker may back a communication channel                                                             to a computer. It gains access to a system via                                                    intervals of inactivity in another user's legitimate                                        connection.</a:t>
            </a:r>
          </a:p>
          <a:p>
            <a:r>
              <a:rPr lang="en-US" sz="2000" b="1" dirty="0">
                <a:latin typeface="Century Schoolbook" panose="02040604050505020304" pitchFamily="18" charset="0"/>
              </a:rPr>
              <a:t>ii) This can happen in several ways, including                                               piggybacking on public wireless networks and                                    piggybacking into a password- protected system.</a:t>
            </a:r>
          </a:p>
          <a:p>
            <a:r>
              <a:rPr lang="en-US" sz="2000" b="1" dirty="0">
                <a:latin typeface="Century Schoolbook" panose="02040604050505020304" pitchFamily="18" charset="0"/>
              </a:rPr>
              <a:t>iv) The attack is also </a:t>
            </a:r>
            <a:r>
              <a:rPr lang="en-US" sz="2000" b="1" dirty="0" err="1">
                <a:latin typeface="Century Schoolbook" panose="02040604050505020304" pitchFamily="18" charset="0"/>
              </a:rPr>
              <a:t>reffered</a:t>
            </a:r>
            <a:r>
              <a:rPr lang="en-US" sz="2000" b="1" dirty="0">
                <a:latin typeface="Century Schoolbook" panose="02040604050505020304" pitchFamily="18" charset="0"/>
              </a:rPr>
              <a:t> as a between the line attack, the attacker will exploit network connection weaknesses and force entry into a system using a registered users connection. </a:t>
            </a:r>
          </a:p>
        </p:txBody>
      </p:sp>
      <p:pic>
        <p:nvPicPr>
          <p:cNvPr id="5" name="Picture 4">
            <a:extLst>
              <a:ext uri="{FF2B5EF4-FFF2-40B4-BE49-F238E27FC236}">
                <a16:creationId xmlns:a16="http://schemas.microsoft.com/office/drawing/2014/main" id="{2F8743C9-8C6E-F0F6-EFAB-0517B3564F17}"/>
              </a:ext>
            </a:extLst>
          </p:cNvPr>
          <p:cNvPicPr>
            <a:picLocks noChangeAspect="1"/>
          </p:cNvPicPr>
          <p:nvPr/>
        </p:nvPicPr>
        <p:blipFill>
          <a:blip r:embed="rId2"/>
          <a:stretch>
            <a:fillRect/>
          </a:stretch>
        </p:blipFill>
        <p:spPr>
          <a:xfrm>
            <a:off x="6961239" y="1275540"/>
            <a:ext cx="5118500" cy="3581432"/>
          </a:xfrm>
          <a:prstGeom prst="rect">
            <a:avLst/>
          </a:prstGeom>
        </p:spPr>
      </p:pic>
    </p:spTree>
    <p:extLst>
      <p:ext uri="{BB962C8B-B14F-4D97-AF65-F5344CB8AC3E}">
        <p14:creationId xmlns:p14="http://schemas.microsoft.com/office/powerpoint/2010/main" val="3773343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C8AE-D478-DF3A-F019-E182358BCA71}"/>
              </a:ext>
            </a:extLst>
          </p:cNvPr>
          <p:cNvSpPr>
            <a:spLocks noGrp="1"/>
          </p:cNvSpPr>
          <p:nvPr>
            <p:ph type="title"/>
          </p:nvPr>
        </p:nvSpPr>
        <p:spPr>
          <a:xfrm>
            <a:off x="0" y="25400"/>
            <a:ext cx="8596668" cy="682523"/>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Shoulder surfing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5E6DAF2-1A4A-8598-747D-A4A87293E910}"/>
              </a:ext>
            </a:extLst>
          </p:cNvPr>
          <p:cNvSpPr>
            <a:spLocks noGrp="1"/>
          </p:cNvSpPr>
          <p:nvPr>
            <p:ph type="body" idx="1"/>
          </p:nvPr>
        </p:nvSpPr>
        <p:spPr>
          <a:xfrm>
            <a:off x="0" y="594852"/>
            <a:ext cx="9429135" cy="5668295"/>
          </a:xfrm>
        </p:spPr>
        <p:txBody>
          <a:bodyPr>
            <a:normAutofit/>
          </a:bodyPr>
          <a:lstStyle/>
          <a:p>
            <a:pPr marL="342900" indent="-342900">
              <a:buFont typeface="Wingdings" panose="05000000000000000000" pitchFamily="2" charset="2"/>
              <a:buChar char="Ø"/>
            </a:pPr>
            <a:r>
              <a:rPr lang="en-US" sz="2000" b="1" dirty="0">
                <a:latin typeface="Century Schoolbook" panose="02040604050505020304" pitchFamily="18" charset="0"/>
              </a:rPr>
              <a:t>Shoulder surfing is a type of social engineering technique                           to obtain information such as Personal Identification                             Numbers (PINs), passwords and other confidential data by                                     looking over the victim's shoulder.</a:t>
            </a:r>
          </a:p>
          <a:p>
            <a:pPr marL="342900" indent="-342900">
              <a:buFont typeface="Wingdings" panose="05000000000000000000" pitchFamily="2" charset="2"/>
              <a:buChar char="Ø"/>
            </a:pPr>
            <a:r>
              <a:rPr lang="en-US" sz="2000" b="1" dirty="0">
                <a:latin typeface="Century Schoolbook" panose="02040604050505020304" pitchFamily="18" charset="0"/>
              </a:rPr>
              <a:t>One way of stealing the password is standing behind an                              individual and notes the password while he she is typing                                 if it (shoulder surfing).</a:t>
            </a:r>
          </a:p>
          <a:p>
            <a:pPr marL="342900" indent="-342900">
              <a:buFont typeface="Wingdings" panose="05000000000000000000" pitchFamily="2" charset="2"/>
              <a:buChar char="Ø"/>
            </a:pPr>
            <a:r>
              <a:rPr lang="en-US" sz="2000" b="1" dirty="0">
                <a:latin typeface="Century Schoolbook" panose="02040604050505020304" pitchFamily="18" charset="0"/>
              </a:rPr>
              <a:t>Shoulder surfing is easily done in crowded places.</a:t>
            </a:r>
          </a:p>
          <a:p>
            <a:pPr marL="342900" indent="-342900">
              <a:buFont typeface="Wingdings" panose="05000000000000000000" pitchFamily="2" charset="2"/>
              <a:buChar char="Ø"/>
            </a:pPr>
            <a:r>
              <a:rPr lang="en-US" sz="2000" b="1" dirty="0">
                <a:latin typeface="Century Schoolbook" panose="02040604050505020304" pitchFamily="18" charset="0"/>
              </a:rPr>
              <a:t>There are two types of shoulder-surfing attack :</a:t>
            </a:r>
          </a:p>
          <a:p>
            <a:r>
              <a:rPr lang="en-US" sz="2400" b="1" dirty="0">
                <a:solidFill>
                  <a:schemeClr val="accent1">
                    <a:lumMod val="75000"/>
                  </a:schemeClr>
                </a:solidFill>
                <a:latin typeface="Century Schoolbook" panose="02040604050505020304" pitchFamily="18" charset="0"/>
              </a:rPr>
              <a:t>1. </a:t>
            </a:r>
            <a:r>
              <a:rPr lang="en-US" sz="2400" b="1" u="sng" dirty="0">
                <a:solidFill>
                  <a:schemeClr val="accent1">
                    <a:lumMod val="75000"/>
                  </a:schemeClr>
                </a:solidFill>
                <a:latin typeface="Century Schoolbook" panose="02040604050505020304" pitchFamily="18" charset="0"/>
              </a:rPr>
              <a:t>Direct observation Attacks</a:t>
            </a:r>
            <a:r>
              <a:rPr lang="en-US" sz="2400" b="1" dirty="0">
                <a:solidFill>
                  <a:schemeClr val="accent1">
                    <a:lumMod val="75000"/>
                  </a:schemeClr>
                </a:solidFill>
                <a:latin typeface="Century Schoolbook" panose="02040604050505020304" pitchFamily="18" charset="0"/>
              </a:rPr>
              <a:t> : - </a:t>
            </a:r>
            <a:r>
              <a:rPr lang="en-US" sz="2000" b="1" dirty="0">
                <a:latin typeface="Century Schoolbook" panose="02040604050505020304" pitchFamily="18" charset="0"/>
              </a:rPr>
              <a:t>Information is                                obtained by a person who is directly monitoring the                         authentication sequence. </a:t>
            </a:r>
          </a:p>
          <a:p>
            <a:r>
              <a:rPr lang="en-US" sz="2400" b="1" dirty="0">
                <a:solidFill>
                  <a:schemeClr val="accent1">
                    <a:lumMod val="75000"/>
                  </a:schemeClr>
                </a:solidFill>
                <a:latin typeface="Century Schoolbook" panose="02040604050505020304" pitchFamily="18" charset="0"/>
              </a:rPr>
              <a:t>2. </a:t>
            </a:r>
            <a:r>
              <a:rPr lang="en-US" sz="2400" b="1" u="sng" dirty="0">
                <a:solidFill>
                  <a:schemeClr val="accent1">
                    <a:lumMod val="75000"/>
                  </a:schemeClr>
                </a:solidFill>
                <a:latin typeface="Century Schoolbook" panose="02040604050505020304" pitchFamily="18" charset="0"/>
              </a:rPr>
              <a:t>Recording Attacks</a:t>
            </a:r>
            <a:r>
              <a:rPr lang="en-US" sz="2400" b="1" dirty="0">
                <a:solidFill>
                  <a:schemeClr val="accent1">
                    <a:lumMod val="75000"/>
                  </a:schemeClr>
                </a:solidFill>
                <a:latin typeface="Century Schoolbook" panose="02040604050505020304" pitchFamily="18" charset="0"/>
              </a:rPr>
              <a:t> : - </a:t>
            </a:r>
            <a:r>
              <a:rPr lang="en-US" sz="2000" b="1" dirty="0">
                <a:latin typeface="Century Schoolbook" panose="02040604050505020304" pitchFamily="18" charset="0"/>
              </a:rPr>
              <a:t>Information is obtained by                              recording Woman the authentication sequence for later analysis to open device.</a:t>
            </a:r>
          </a:p>
        </p:txBody>
      </p:sp>
      <p:pic>
        <p:nvPicPr>
          <p:cNvPr id="5" name="Picture 4">
            <a:extLst>
              <a:ext uri="{FF2B5EF4-FFF2-40B4-BE49-F238E27FC236}">
                <a16:creationId xmlns:a16="http://schemas.microsoft.com/office/drawing/2014/main" id="{6C58CEE5-8D04-75C6-87A3-510782E4652E}"/>
              </a:ext>
            </a:extLst>
          </p:cNvPr>
          <p:cNvPicPr>
            <a:picLocks noChangeAspect="1"/>
          </p:cNvPicPr>
          <p:nvPr/>
        </p:nvPicPr>
        <p:blipFill>
          <a:blip r:embed="rId2"/>
          <a:stretch>
            <a:fillRect/>
          </a:stretch>
        </p:blipFill>
        <p:spPr>
          <a:xfrm>
            <a:off x="8229601" y="707923"/>
            <a:ext cx="3824880" cy="4645548"/>
          </a:xfrm>
          <a:prstGeom prst="rect">
            <a:avLst/>
          </a:prstGeom>
        </p:spPr>
      </p:pic>
    </p:spTree>
    <p:extLst>
      <p:ext uri="{BB962C8B-B14F-4D97-AF65-F5344CB8AC3E}">
        <p14:creationId xmlns:p14="http://schemas.microsoft.com/office/powerpoint/2010/main" val="1805029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68B3-71A8-36D0-DC26-9D355B42F168}"/>
              </a:ext>
            </a:extLst>
          </p:cNvPr>
          <p:cNvSpPr>
            <a:spLocks noGrp="1"/>
          </p:cNvSpPr>
          <p:nvPr>
            <p:ph type="title"/>
          </p:nvPr>
        </p:nvSpPr>
        <p:spPr>
          <a:xfrm>
            <a:off x="0" y="52111"/>
            <a:ext cx="8596668" cy="685308"/>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Dumpster diving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4A76014B-8E7F-FD86-2426-B38AAC25C85E}"/>
              </a:ext>
            </a:extLst>
          </p:cNvPr>
          <p:cNvSpPr>
            <a:spLocks noGrp="1"/>
          </p:cNvSpPr>
          <p:nvPr>
            <p:ph type="body" idx="1"/>
          </p:nvPr>
        </p:nvSpPr>
        <p:spPr>
          <a:xfrm>
            <a:off x="0" y="552573"/>
            <a:ext cx="9274003" cy="6120581"/>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Dumpster diving refers to the act of                                 literally climbing inside a trash                                              dumpster and searching for information                                 that could be a benefit to the hacker                                            when he or she attacks the network.</a:t>
            </a:r>
          </a:p>
          <a:p>
            <a:pPr marL="342900" indent="-342900">
              <a:buFont typeface="Wingdings" panose="05000000000000000000" pitchFamily="2" charset="2"/>
              <a:buChar char="Ø"/>
            </a:pPr>
            <a:r>
              <a:rPr lang="en-US" sz="2400" b="1" dirty="0">
                <a:latin typeface="Century Schoolbook" panose="02040604050505020304" pitchFamily="18" charset="0"/>
              </a:rPr>
              <a:t>The trash may be in a public dumpster                                 or in a restricted area requiring                                              unauthorized entry. There is a famous                                    saying," one man's treasure." That means                                          what one person might be of high                                           value to the other.</a:t>
            </a:r>
          </a:p>
          <a:p>
            <a:pPr marL="342900" indent="-342900">
              <a:buFont typeface="Wingdings" panose="05000000000000000000" pitchFamily="2" charset="2"/>
              <a:buChar char="Ø"/>
            </a:pPr>
            <a:r>
              <a:rPr lang="en-US" sz="2400" b="1" dirty="0">
                <a:latin typeface="Century Schoolbook" panose="02040604050505020304" pitchFamily="18" charset="0"/>
              </a:rPr>
              <a:t>It is used more often in the context of                                      any method (especially physical method) by which a hacker might look for information about a computer network.</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7B21635A-DC26-3629-224D-FC5740E0C1CA}"/>
              </a:ext>
            </a:extLst>
          </p:cNvPr>
          <p:cNvPicPr>
            <a:picLocks noChangeAspect="1"/>
          </p:cNvPicPr>
          <p:nvPr/>
        </p:nvPicPr>
        <p:blipFill>
          <a:blip r:embed="rId2"/>
          <a:stretch>
            <a:fillRect/>
          </a:stretch>
        </p:blipFill>
        <p:spPr>
          <a:xfrm>
            <a:off x="6921910" y="708127"/>
            <a:ext cx="5154765" cy="4561963"/>
          </a:xfrm>
          <a:prstGeom prst="rect">
            <a:avLst/>
          </a:prstGeom>
        </p:spPr>
      </p:pic>
    </p:spTree>
    <p:extLst>
      <p:ext uri="{BB962C8B-B14F-4D97-AF65-F5344CB8AC3E}">
        <p14:creationId xmlns:p14="http://schemas.microsoft.com/office/powerpoint/2010/main" val="3106831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89F4C-D2A5-2864-953A-A10FBE407D54}"/>
              </a:ext>
            </a:extLst>
          </p:cNvPr>
          <p:cNvSpPr>
            <a:spLocks noGrp="1"/>
          </p:cNvSpPr>
          <p:nvPr>
            <p:ph type="title"/>
          </p:nvPr>
        </p:nvSpPr>
        <p:spPr>
          <a:xfrm>
            <a:off x="18574" y="-72922"/>
            <a:ext cx="8596668" cy="702187"/>
          </a:xfrm>
        </p:spPr>
        <p:txBody>
          <a:bodyPr>
            <a:noAutofit/>
          </a:bodyPr>
          <a:lstStyle/>
          <a:p>
            <a:r>
              <a:rPr lang="en-US" dirty="0">
                <a:latin typeface="Algerian" panose="04020705040A02060702" pitchFamily="82" charset="0"/>
              </a:rPr>
              <a:t>2.2 </a:t>
            </a:r>
            <a:r>
              <a:rPr lang="en-US" u="sng" dirty="0">
                <a:latin typeface="Algerian" panose="04020705040A02060702" pitchFamily="82" charset="0"/>
              </a:rPr>
              <a:t>biometrics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77A45343-DA70-03B1-7E2A-C400350823DB}"/>
              </a:ext>
            </a:extLst>
          </p:cNvPr>
          <p:cNvSpPr>
            <a:spLocks noGrp="1"/>
          </p:cNvSpPr>
          <p:nvPr>
            <p:ph type="body" idx="1"/>
          </p:nvPr>
        </p:nvSpPr>
        <p:spPr>
          <a:xfrm>
            <a:off x="0" y="442452"/>
            <a:ext cx="9763432" cy="6504039"/>
          </a:xfrm>
        </p:spPr>
        <p:txBody>
          <a:bodyPr>
            <a:normAutofit lnSpcReduction="10000"/>
          </a:bodyPr>
          <a:lstStyle/>
          <a:p>
            <a:pPr marL="457200" indent="-457200">
              <a:buFont typeface="Wingdings" panose="05000000000000000000" pitchFamily="2" charset="2"/>
              <a:buChar char="v"/>
            </a:pPr>
            <a:r>
              <a:rPr lang="en-US" altLang="ja-JP" sz="3600" b="1" u="sng" dirty="0">
                <a:solidFill>
                  <a:schemeClr val="accent1">
                    <a:lumMod val="75000"/>
                  </a:schemeClr>
                </a:solidFill>
                <a:latin typeface="Century Schoolbook" panose="02040604050505020304" pitchFamily="18" charset="0"/>
              </a:rPr>
              <a:t>Fingerprint identification number</a:t>
            </a:r>
            <a:r>
              <a:rPr lang="en-US" altLang="ja-JP" sz="3600" b="1" dirty="0">
                <a:solidFill>
                  <a:schemeClr val="accent1">
                    <a:lumMod val="75000"/>
                  </a:schemeClr>
                </a:solidFill>
                <a:latin typeface="Century Schoolbook" panose="02040604050505020304" pitchFamily="18" charset="0"/>
              </a:rPr>
              <a:t> : -</a:t>
            </a:r>
            <a:endParaRPr lang="ja-JP" altLang="en-US" sz="3600" b="1" dirty="0">
              <a:solidFill>
                <a:schemeClr val="accent1">
                  <a:lumMod val="75000"/>
                </a:schemeClr>
              </a:solidFill>
              <a:latin typeface="Century Schoolbook" panose="02040604050505020304" pitchFamily="18" charset="0"/>
            </a:endParaRPr>
          </a:p>
          <a:p>
            <a:r>
              <a:rPr lang="en-IN" b="1" dirty="0" err="1">
                <a:latin typeface="Century Schoolbook" panose="02040604050505020304" pitchFamily="18" charset="0"/>
              </a:rPr>
              <a:t>i</a:t>
            </a:r>
            <a:r>
              <a:rPr lang="en-IN" b="1" dirty="0">
                <a:latin typeface="Century Schoolbook" panose="02040604050505020304" pitchFamily="18" charset="0"/>
              </a:rPr>
              <a:t>) Fingerprint recognition system is the most known                                                         and used biometrics solution to authenticate on                                                                 biometric system because of the ten available sources                                                                   and ease of </a:t>
            </a:r>
            <a:r>
              <a:rPr lang="en-IN" b="1" dirty="0" err="1">
                <a:latin typeface="Century Schoolbook" panose="02040604050505020304" pitchFamily="18" charset="0"/>
              </a:rPr>
              <a:t>acquistion</a:t>
            </a:r>
            <a:r>
              <a:rPr lang="en-IN" b="1" dirty="0">
                <a:latin typeface="Century Schoolbook" panose="02040604050505020304" pitchFamily="18" charset="0"/>
              </a:rPr>
              <a:t>.</a:t>
            </a:r>
          </a:p>
          <a:p>
            <a:r>
              <a:rPr lang="en-IN" b="1" dirty="0">
                <a:latin typeface="Century Schoolbook" panose="02040604050505020304" pitchFamily="18" charset="0"/>
              </a:rPr>
              <a:t>ii) Every person has a unique fingerprint which is                                                                 composed of ridges, grooves, and direction of the                                                               lines. The uniqueness of Siling fingerprint is                                                                      determined by these features as well as minutiae                                                               features such as bifurcation and spots.</a:t>
            </a:r>
          </a:p>
          <a:p>
            <a:r>
              <a:rPr lang="en-IN" b="1" dirty="0">
                <a:latin typeface="Century Schoolbook" panose="02040604050505020304" pitchFamily="18" charset="0"/>
              </a:rPr>
              <a:t>iii) Fingerprint matching techniques are of three                                                            types : -</a:t>
            </a:r>
          </a:p>
          <a:p>
            <a:r>
              <a:rPr lang="en-IN" sz="2000" b="1" dirty="0">
                <a:solidFill>
                  <a:schemeClr val="accent1">
                    <a:lumMod val="75000"/>
                  </a:schemeClr>
                </a:solidFill>
                <a:latin typeface="Century Schoolbook" panose="02040604050505020304" pitchFamily="18" charset="0"/>
              </a:rPr>
              <a:t>1. </a:t>
            </a:r>
            <a:r>
              <a:rPr lang="en-IN" sz="2000" b="1" u="sng" dirty="0">
                <a:solidFill>
                  <a:schemeClr val="accent1">
                    <a:lumMod val="75000"/>
                  </a:schemeClr>
                </a:solidFill>
                <a:latin typeface="Century Schoolbook" panose="02040604050505020304" pitchFamily="18" charset="0"/>
              </a:rPr>
              <a:t>Minutiae Based Techniques</a:t>
            </a:r>
            <a:r>
              <a:rPr lang="en-IN" sz="2000" b="1" dirty="0">
                <a:solidFill>
                  <a:schemeClr val="accent1">
                    <a:lumMod val="75000"/>
                  </a:schemeClr>
                </a:solidFill>
                <a:latin typeface="Century Schoolbook" panose="02040604050505020304" pitchFamily="18" charset="0"/>
              </a:rPr>
              <a:t> : -</a:t>
            </a:r>
            <a:r>
              <a:rPr lang="en-IN" b="1" dirty="0">
                <a:latin typeface="Century Schoolbook" panose="02040604050505020304" pitchFamily="18" charset="0"/>
              </a:rPr>
              <a:t> In these minutiae                                                    points are Found and then mapped to their relative position on finger. </a:t>
            </a:r>
          </a:p>
          <a:p>
            <a:r>
              <a:rPr lang="en-IN" sz="2000" b="1" dirty="0">
                <a:solidFill>
                  <a:schemeClr val="accent1">
                    <a:lumMod val="75000"/>
                  </a:schemeClr>
                </a:solidFill>
                <a:latin typeface="Century Schoolbook" panose="02040604050505020304" pitchFamily="18" charset="0"/>
              </a:rPr>
              <a:t>2. </a:t>
            </a:r>
            <a:r>
              <a:rPr lang="en-IN" sz="2000" b="1" u="sng" dirty="0">
                <a:solidFill>
                  <a:schemeClr val="accent1">
                    <a:lumMod val="75000"/>
                  </a:schemeClr>
                </a:solidFill>
                <a:latin typeface="Century Schoolbook" panose="02040604050505020304" pitchFamily="18" charset="0"/>
              </a:rPr>
              <a:t>Correlation Based Method</a:t>
            </a:r>
            <a:r>
              <a:rPr lang="en-IN" sz="2000" b="1" dirty="0">
                <a:solidFill>
                  <a:schemeClr val="accent1">
                    <a:lumMod val="75000"/>
                  </a:schemeClr>
                </a:solidFill>
                <a:latin typeface="Century Schoolbook" panose="02040604050505020304" pitchFamily="18" charset="0"/>
              </a:rPr>
              <a:t> : - </a:t>
            </a:r>
            <a:r>
              <a:rPr lang="en-IN" b="1" dirty="0">
                <a:latin typeface="Century Schoolbook" panose="02040604050505020304" pitchFamily="18" charset="0"/>
              </a:rPr>
              <a:t>It uses richer </a:t>
            </a:r>
            <a:r>
              <a:rPr lang="en-IN" b="1" dirty="0" err="1">
                <a:latin typeface="Century Schoolbook" panose="02040604050505020304" pitchFamily="18" charset="0"/>
              </a:rPr>
              <a:t>gray</a:t>
            </a:r>
            <a:r>
              <a:rPr lang="en-IN" b="1" dirty="0">
                <a:latin typeface="Century Schoolbook" panose="02040604050505020304" pitchFamily="18" charset="0"/>
              </a:rPr>
              <a:t> scale information. It overcomes problems of minutiae-based method, by being able to work with bad quality data.</a:t>
            </a:r>
          </a:p>
          <a:p>
            <a:r>
              <a:rPr lang="en-IN" sz="2000" b="1" dirty="0">
                <a:solidFill>
                  <a:schemeClr val="accent1">
                    <a:lumMod val="75000"/>
                  </a:schemeClr>
                </a:solidFill>
                <a:latin typeface="Century Schoolbook" panose="02040604050505020304" pitchFamily="18" charset="0"/>
              </a:rPr>
              <a:t>3. </a:t>
            </a:r>
            <a:r>
              <a:rPr lang="en-IN" sz="2000" b="1" u="sng" dirty="0">
                <a:solidFill>
                  <a:schemeClr val="accent1">
                    <a:lumMod val="75000"/>
                  </a:schemeClr>
                </a:solidFill>
                <a:latin typeface="Century Schoolbook" panose="02040604050505020304" pitchFamily="18" charset="0"/>
              </a:rPr>
              <a:t>Pattern Based (Image Based) Matching</a:t>
            </a:r>
            <a:r>
              <a:rPr lang="en-IN" sz="2000" b="1" dirty="0">
                <a:solidFill>
                  <a:schemeClr val="accent1">
                    <a:lumMod val="75000"/>
                  </a:schemeClr>
                </a:solidFill>
                <a:latin typeface="Century Schoolbook" panose="02040604050505020304" pitchFamily="18" charset="0"/>
              </a:rPr>
              <a:t> : -</a:t>
            </a:r>
            <a:r>
              <a:rPr lang="en-IN" b="1" dirty="0">
                <a:latin typeface="Century Schoolbook" panose="02040604050505020304" pitchFamily="18" charset="0"/>
              </a:rPr>
              <a:t> It compare the basic Fingerprint patterns (arch, whorl, and loop) between a stored template and a candidate fingerprint. Hob </a:t>
            </a:r>
            <a:r>
              <a:rPr lang="en-IN" b="1" dirty="0" err="1">
                <a:latin typeface="Century Schoolbook" panose="02040604050505020304" pitchFamily="18" charset="0"/>
              </a:rPr>
              <a:t>jobrod</a:t>
            </a:r>
            <a:endParaRPr lang="en-IN" b="1" dirty="0">
              <a:latin typeface="Century Schoolbook" panose="02040604050505020304" pitchFamily="18" charset="0"/>
            </a:endParaRPr>
          </a:p>
        </p:txBody>
      </p:sp>
      <p:pic>
        <p:nvPicPr>
          <p:cNvPr id="5" name="Picture 4">
            <a:extLst>
              <a:ext uri="{FF2B5EF4-FFF2-40B4-BE49-F238E27FC236}">
                <a16:creationId xmlns:a16="http://schemas.microsoft.com/office/drawing/2014/main" id="{37CF31DF-0925-65B6-39C0-F587E3807EA7}"/>
              </a:ext>
            </a:extLst>
          </p:cNvPr>
          <p:cNvPicPr>
            <a:picLocks noChangeAspect="1"/>
          </p:cNvPicPr>
          <p:nvPr/>
        </p:nvPicPr>
        <p:blipFill>
          <a:blip r:embed="rId2"/>
          <a:stretch>
            <a:fillRect/>
          </a:stretch>
        </p:blipFill>
        <p:spPr>
          <a:xfrm>
            <a:off x="6528619" y="1233129"/>
            <a:ext cx="5584723" cy="3329039"/>
          </a:xfrm>
          <a:prstGeom prst="rect">
            <a:avLst/>
          </a:prstGeom>
        </p:spPr>
      </p:pic>
    </p:spTree>
    <p:extLst>
      <p:ext uri="{BB962C8B-B14F-4D97-AF65-F5344CB8AC3E}">
        <p14:creationId xmlns:p14="http://schemas.microsoft.com/office/powerpoint/2010/main" val="283958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83B1-24E9-5C63-8E31-78A237C4F961}"/>
              </a:ext>
            </a:extLst>
          </p:cNvPr>
          <p:cNvSpPr>
            <a:spLocks noGrp="1"/>
          </p:cNvSpPr>
          <p:nvPr>
            <p:ph type="title"/>
          </p:nvPr>
        </p:nvSpPr>
        <p:spPr>
          <a:xfrm flipV="1">
            <a:off x="8741" y="-88489"/>
            <a:ext cx="8596668" cy="8849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E28E4D15-76BC-94AE-01BD-E04BE748D78A}"/>
              </a:ext>
            </a:extLst>
          </p:cNvPr>
          <p:cNvSpPr>
            <a:spLocks noGrp="1"/>
          </p:cNvSpPr>
          <p:nvPr>
            <p:ph type="body" idx="1"/>
          </p:nvPr>
        </p:nvSpPr>
        <p:spPr>
          <a:xfrm>
            <a:off x="78657" y="-216310"/>
            <a:ext cx="9655277" cy="6858000"/>
          </a:xfrm>
        </p:spPr>
        <p:txBody>
          <a:bodyPr>
            <a:normAutofit/>
          </a:bodyPr>
          <a:lstStyle/>
          <a:p>
            <a:pPr marL="285750" indent="-285750">
              <a:buFont typeface="Wingdings" panose="05000000000000000000" pitchFamily="2" charset="2"/>
              <a:buChar char="v"/>
            </a:pPr>
            <a:r>
              <a:rPr lang="en-US" sz="2400" u="sng" dirty="0">
                <a:solidFill>
                  <a:schemeClr val="accent1">
                    <a:lumMod val="75000"/>
                  </a:schemeClr>
                </a:solidFill>
                <a:latin typeface="Algerian" panose="04020705040A02060702" pitchFamily="82" charset="0"/>
              </a:rPr>
              <a:t>Merits of fingerprint Recognition system</a:t>
            </a:r>
            <a:r>
              <a:rPr lang="en-US" sz="2400" dirty="0">
                <a:solidFill>
                  <a:schemeClr val="accent1">
                    <a:lumMod val="75000"/>
                  </a:schemeClr>
                </a:solidFill>
                <a:latin typeface="Algerian" panose="04020705040A02060702" pitchFamily="82" charset="0"/>
              </a:rPr>
              <a:t> : -</a:t>
            </a:r>
          </a:p>
          <a:p>
            <a:r>
              <a:rPr lang="en-US" b="1" dirty="0">
                <a:latin typeface="Century Schoolbook" panose="02040604050505020304" pitchFamily="18" charset="0"/>
              </a:rPr>
              <a:t>1. It is the most contemporary &amp; economical method. </a:t>
            </a:r>
          </a:p>
          <a:p>
            <a:r>
              <a:rPr lang="en-US" b="1" dirty="0">
                <a:latin typeface="Century Schoolbook" panose="02040604050505020304" pitchFamily="18" charset="0"/>
              </a:rPr>
              <a:t>2. It is highly reliable and secure.</a:t>
            </a:r>
          </a:p>
          <a:p>
            <a:r>
              <a:rPr lang="en-US" b="1" dirty="0">
                <a:latin typeface="Century Schoolbook" panose="02040604050505020304" pitchFamily="18" charset="0"/>
              </a:rPr>
              <a:t>3. It works on a small template size, which speeds up the verifying process.</a:t>
            </a:r>
          </a:p>
          <a:p>
            <a:r>
              <a:rPr lang="en-US" b="1" dirty="0">
                <a:latin typeface="Century Schoolbook" panose="02040604050505020304" pitchFamily="18" charset="0"/>
              </a:rPr>
              <a:t>4. It consumes less memory space.</a:t>
            </a:r>
          </a:p>
          <a:p>
            <a:pPr marL="285750" indent="-285750">
              <a:buFont typeface="Wingdings" panose="05000000000000000000" pitchFamily="2" charset="2"/>
              <a:buChar char="v"/>
            </a:pPr>
            <a:r>
              <a:rPr lang="en-US" sz="2400" u="sng" dirty="0">
                <a:solidFill>
                  <a:schemeClr val="accent1">
                    <a:lumMod val="75000"/>
                  </a:schemeClr>
                </a:solidFill>
                <a:latin typeface="Algerian" panose="04020705040A02060702" pitchFamily="82" charset="0"/>
              </a:rPr>
              <a:t>De-Merits of </a:t>
            </a:r>
            <a:r>
              <a:rPr lang="en-US" sz="2400" u="sng" dirty="0" err="1">
                <a:solidFill>
                  <a:schemeClr val="accent1">
                    <a:lumMod val="75000"/>
                  </a:schemeClr>
                </a:solidFill>
                <a:latin typeface="Algerian" panose="04020705040A02060702" pitchFamily="82" charset="0"/>
              </a:rPr>
              <a:t>FingerPrint</a:t>
            </a:r>
            <a:r>
              <a:rPr lang="en-US" sz="2400" u="sng" dirty="0">
                <a:solidFill>
                  <a:schemeClr val="accent1">
                    <a:lumMod val="75000"/>
                  </a:schemeClr>
                </a:solidFill>
                <a:latin typeface="Algerian" panose="04020705040A02060702" pitchFamily="82" charset="0"/>
              </a:rPr>
              <a:t> Recognition System</a:t>
            </a:r>
            <a:r>
              <a:rPr lang="en-US" sz="2400" dirty="0">
                <a:solidFill>
                  <a:schemeClr val="accent1">
                    <a:lumMod val="75000"/>
                  </a:schemeClr>
                </a:solidFill>
                <a:latin typeface="Algerian" panose="04020705040A02060702" pitchFamily="82" charset="0"/>
              </a:rPr>
              <a:t> : -</a:t>
            </a:r>
          </a:p>
          <a:p>
            <a:r>
              <a:rPr lang="en-US" b="1" dirty="0">
                <a:latin typeface="Century Schoolbook" panose="02040604050505020304" pitchFamily="18" charset="0"/>
              </a:rPr>
              <a:t>1. Scars, cuts or absence of Finger can hinder the recognition process.</a:t>
            </a:r>
          </a:p>
          <a:p>
            <a:r>
              <a:rPr lang="en-US" b="1" dirty="0">
                <a:latin typeface="Century Schoolbook" panose="02040604050505020304" pitchFamily="18" charset="0"/>
              </a:rPr>
              <a:t>2. The system can be fooled by using artificial finger of wax. </a:t>
            </a:r>
          </a:p>
          <a:p>
            <a:r>
              <a:rPr lang="en-US" b="1" dirty="0">
                <a:latin typeface="Century Schoolbook" panose="02040604050505020304" pitchFamily="18" charset="0"/>
              </a:rPr>
              <a:t>3. It involves physical contact with the system.</a:t>
            </a:r>
          </a:p>
          <a:p>
            <a:r>
              <a:rPr lang="en-US" b="1" dirty="0">
                <a:latin typeface="Century Schoolbook" panose="02040604050505020304" pitchFamily="18" charset="0"/>
              </a:rPr>
              <a:t>4. They leave the pattern of finger behind at the time of me entering sample.</a:t>
            </a:r>
          </a:p>
          <a:p>
            <a:pPr marL="285750" indent="-285750">
              <a:buFont typeface="Wingdings" panose="05000000000000000000" pitchFamily="2" charset="2"/>
              <a:buChar char="v"/>
            </a:pPr>
            <a:r>
              <a:rPr lang="en-US" sz="2400" u="sng" dirty="0">
                <a:solidFill>
                  <a:schemeClr val="accent1">
                    <a:lumMod val="75000"/>
                  </a:schemeClr>
                </a:solidFill>
                <a:latin typeface="Algerian" panose="04020705040A02060702" pitchFamily="82" charset="0"/>
              </a:rPr>
              <a:t>Applications of Finger Paint Recognition system</a:t>
            </a:r>
            <a:r>
              <a:rPr lang="en-US" sz="2400" dirty="0">
                <a:solidFill>
                  <a:schemeClr val="accent1">
                    <a:lumMod val="75000"/>
                  </a:schemeClr>
                </a:solidFill>
                <a:latin typeface="Algerian" panose="04020705040A02060702" pitchFamily="82" charset="0"/>
              </a:rPr>
              <a:t> : -</a:t>
            </a:r>
            <a:r>
              <a:rPr lang="en-US" sz="2400" dirty="0">
                <a:latin typeface="Algerian" panose="04020705040A02060702" pitchFamily="82" charset="0"/>
              </a:rPr>
              <a:t> </a:t>
            </a:r>
          </a:p>
          <a:p>
            <a:r>
              <a:rPr lang="en-US" b="1" dirty="0">
                <a:latin typeface="Century Schoolbook" panose="02040604050505020304" pitchFamily="18" charset="0"/>
              </a:rPr>
              <a:t>1. Verification of driver-license authenticity.</a:t>
            </a:r>
          </a:p>
          <a:p>
            <a:r>
              <a:rPr lang="en-US" b="1" dirty="0">
                <a:latin typeface="Century Schoolbook" panose="02040604050505020304" pitchFamily="18" charset="0"/>
              </a:rPr>
              <a:t>2. Checking validity of driving license.</a:t>
            </a:r>
          </a:p>
          <a:p>
            <a:r>
              <a:rPr lang="en-US" b="1" dirty="0">
                <a:latin typeface="Century Schoolbook" panose="02040604050505020304" pitchFamily="18" charset="0"/>
              </a:rPr>
              <a:t>3. Borden Control/ Visa issuance. </a:t>
            </a:r>
          </a:p>
          <a:p>
            <a:r>
              <a:rPr lang="en-US" b="1" dirty="0">
                <a:latin typeface="Century Schoolbook" panose="02040604050505020304" pitchFamily="18" charset="0"/>
              </a:rPr>
              <a:t>4. Access control in organizations.</a:t>
            </a:r>
            <a:endParaRPr lang="en-IN" b="1" dirty="0">
              <a:latin typeface="Century Schoolbook" panose="02040604050505020304" pitchFamily="18" charset="0"/>
            </a:endParaRPr>
          </a:p>
        </p:txBody>
      </p:sp>
    </p:spTree>
    <p:extLst>
      <p:ext uri="{BB962C8B-B14F-4D97-AF65-F5344CB8AC3E}">
        <p14:creationId xmlns:p14="http://schemas.microsoft.com/office/powerpoint/2010/main" val="857354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2238E-4B0C-1334-6CE1-8D1071D8F041}"/>
              </a:ext>
            </a:extLst>
          </p:cNvPr>
          <p:cNvSpPr>
            <a:spLocks noGrp="1"/>
          </p:cNvSpPr>
          <p:nvPr>
            <p:ph type="title"/>
          </p:nvPr>
        </p:nvSpPr>
        <p:spPr>
          <a:xfrm>
            <a:off x="0" y="-131916"/>
            <a:ext cx="12065272" cy="791238"/>
          </a:xfrm>
        </p:spPr>
        <p:txBody>
          <a:bodyPr>
            <a:normAutofit/>
          </a:bodyPr>
          <a:lstStyle/>
          <a:p>
            <a:pPr marL="571500" indent="-571500">
              <a:buFont typeface="Wingdings" panose="05000000000000000000" pitchFamily="2" charset="2"/>
              <a:buChar char="v"/>
            </a:pPr>
            <a:r>
              <a:rPr lang="en-US" sz="3600" u="sng" dirty="0">
                <a:latin typeface="Algerian" panose="04020705040A02060702" pitchFamily="82" charset="0"/>
              </a:rPr>
              <a:t>Handprint/hand geometry </a:t>
            </a:r>
            <a:r>
              <a:rPr lang="en-US" sz="3600" u="sng" dirty="0" err="1">
                <a:latin typeface="Algerian" panose="04020705040A02060702" pitchFamily="82" charset="0"/>
              </a:rPr>
              <a:t>recognization</a:t>
            </a:r>
            <a:r>
              <a:rPr lang="en-US" sz="3600" dirty="0">
                <a:latin typeface="Algerian" panose="04020705040A02060702" pitchFamily="82" charset="0"/>
              </a:rPr>
              <a:t> : -</a:t>
            </a:r>
            <a:endParaRPr lang="en-IN" sz="3600" dirty="0">
              <a:latin typeface="Algerian" panose="04020705040A02060702" pitchFamily="82" charset="0"/>
            </a:endParaRPr>
          </a:p>
        </p:txBody>
      </p:sp>
      <p:sp>
        <p:nvSpPr>
          <p:cNvPr id="3" name="Text Placeholder 2">
            <a:extLst>
              <a:ext uri="{FF2B5EF4-FFF2-40B4-BE49-F238E27FC236}">
                <a16:creationId xmlns:a16="http://schemas.microsoft.com/office/drawing/2014/main" id="{9F20DA14-BD47-F2A3-1971-FFFBC41E800F}"/>
              </a:ext>
            </a:extLst>
          </p:cNvPr>
          <p:cNvSpPr>
            <a:spLocks noGrp="1"/>
          </p:cNvSpPr>
          <p:nvPr>
            <p:ph type="body" idx="1"/>
          </p:nvPr>
        </p:nvSpPr>
        <p:spPr>
          <a:xfrm>
            <a:off x="126728" y="462116"/>
            <a:ext cx="9518717" cy="4306529"/>
          </a:xfrm>
        </p:spPr>
        <p:txBody>
          <a:bodyPr>
            <a:normAutofit/>
          </a:bodyPr>
          <a:lstStyle/>
          <a:p>
            <a:r>
              <a:rPr lang="en-US" sz="2400" b="1" dirty="0" err="1">
                <a:latin typeface="Century Schoolbook" panose="02040604050505020304" pitchFamily="18" charset="0"/>
              </a:rPr>
              <a:t>i</a:t>
            </a:r>
            <a:r>
              <a:rPr lang="en-US" sz="2400" b="1" dirty="0">
                <a:latin typeface="Century Schoolbook" panose="02040604050505020304" pitchFamily="18" charset="0"/>
              </a:rPr>
              <a:t>) It includes measuring length and width of palm, surface area, length and position of fingers, and overall bone structure of the hand.</a:t>
            </a:r>
          </a:p>
          <a:p>
            <a:r>
              <a:rPr lang="en-US" sz="2400" b="1" dirty="0">
                <a:latin typeface="Century Schoolbook" panose="02040604050505020304" pitchFamily="18" charset="0"/>
              </a:rPr>
              <a:t>ii) A person's hand is unique and can be used to identify person from others.</a:t>
            </a:r>
          </a:p>
          <a:p>
            <a:r>
              <a:rPr lang="en-US" sz="2400" b="1" dirty="0">
                <a:latin typeface="Century Schoolbook" panose="02040604050505020304" pitchFamily="18" charset="0"/>
              </a:rPr>
              <a:t>iii) There are </a:t>
            </a:r>
            <a:r>
              <a:rPr lang="en-US" sz="2400" b="1" dirty="0" err="1">
                <a:latin typeface="Century Schoolbook" panose="02040604050505020304" pitchFamily="18" charset="0"/>
              </a:rPr>
              <a:t>hoo</a:t>
            </a:r>
            <a:r>
              <a:rPr lang="en-US" sz="2400" b="1" dirty="0">
                <a:latin typeface="Century Schoolbook" panose="02040604050505020304" pitchFamily="18" charset="0"/>
              </a:rPr>
              <a:t> Hand Geometry systems : </a:t>
            </a:r>
          </a:p>
          <a:p>
            <a:r>
              <a:rPr lang="en-US" sz="2400" b="1" dirty="0">
                <a:solidFill>
                  <a:schemeClr val="accent1">
                    <a:lumMod val="75000"/>
                  </a:schemeClr>
                </a:solidFill>
                <a:latin typeface="Century Schoolbook" panose="02040604050505020304" pitchFamily="18" charset="0"/>
              </a:rPr>
              <a:t>1. </a:t>
            </a:r>
            <a:r>
              <a:rPr lang="en-US" sz="2400" b="1" u="sng" dirty="0">
                <a:solidFill>
                  <a:schemeClr val="accent1">
                    <a:lumMod val="75000"/>
                  </a:schemeClr>
                </a:solidFill>
                <a:latin typeface="Century Schoolbook" panose="02040604050505020304" pitchFamily="18" charset="0"/>
              </a:rPr>
              <a:t>Contact Based</a:t>
            </a:r>
            <a:r>
              <a:rPr lang="en-US" sz="2400" b="1" dirty="0">
                <a:solidFill>
                  <a:schemeClr val="accent1">
                    <a:lumMod val="75000"/>
                  </a:schemeClr>
                </a:solidFill>
                <a:latin typeface="Century Schoolbook" panose="02040604050505020304" pitchFamily="18" charset="0"/>
              </a:rPr>
              <a:t> : - </a:t>
            </a:r>
            <a:r>
              <a:rPr lang="en-US" sz="2400" b="1" dirty="0">
                <a:latin typeface="Century Schoolbook" panose="02040604050505020304" pitchFamily="18" charset="0"/>
              </a:rPr>
              <a:t>a hand is placed on a scanner's surface. This placement is positioned by five pins.</a:t>
            </a:r>
          </a:p>
          <a:p>
            <a:r>
              <a:rPr lang="en-US" sz="2400" b="1" dirty="0">
                <a:solidFill>
                  <a:schemeClr val="accent1">
                    <a:lumMod val="75000"/>
                  </a:schemeClr>
                </a:solidFill>
                <a:latin typeface="Century Schoolbook" panose="02040604050505020304" pitchFamily="18" charset="0"/>
              </a:rPr>
              <a:t>2. </a:t>
            </a:r>
            <a:r>
              <a:rPr lang="en-US" sz="2400" b="1" u="sng" dirty="0">
                <a:solidFill>
                  <a:schemeClr val="accent1">
                    <a:lumMod val="75000"/>
                  </a:schemeClr>
                </a:solidFill>
                <a:latin typeface="Century Schoolbook" panose="02040604050505020304" pitchFamily="18" charset="0"/>
              </a:rPr>
              <a:t>Contact Less</a:t>
            </a:r>
            <a:r>
              <a:rPr lang="en-US" sz="2400" b="1" dirty="0">
                <a:solidFill>
                  <a:schemeClr val="accent1">
                    <a:lumMod val="75000"/>
                  </a:schemeClr>
                </a:solidFill>
                <a:latin typeface="Century Schoolbook" panose="02040604050505020304" pitchFamily="18" charset="0"/>
              </a:rPr>
              <a:t> : -</a:t>
            </a:r>
            <a:r>
              <a:rPr lang="en-US" sz="2400" b="1" dirty="0">
                <a:latin typeface="Century Schoolbook" panose="02040604050505020304" pitchFamily="18" charset="0"/>
              </a:rPr>
              <a:t> In this approach neither pins nor platform are required for hand image acquisition.</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062037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AAC19-FCF8-B072-C78B-EBE05DACDDC7}"/>
              </a:ext>
            </a:extLst>
          </p:cNvPr>
          <p:cNvSpPr>
            <a:spLocks noGrp="1"/>
          </p:cNvSpPr>
          <p:nvPr>
            <p:ph type="title"/>
          </p:nvPr>
        </p:nvSpPr>
        <p:spPr>
          <a:xfrm flipV="1">
            <a:off x="18574" y="-157316"/>
            <a:ext cx="8596668" cy="182716"/>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AD70CCAB-49B6-D13C-1BF3-ADC265BC07C7}"/>
              </a:ext>
            </a:extLst>
          </p:cNvPr>
          <p:cNvSpPr>
            <a:spLocks noGrp="1"/>
          </p:cNvSpPr>
          <p:nvPr>
            <p:ph type="body" idx="1"/>
          </p:nvPr>
        </p:nvSpPr>
        <p:spPr>
          <a:xfrm>
            <a:off x="18574" y="0"/>
            <a:ext cx="10433115" cy="6066503"/>
          </a:xfrm>
        </p:spPr>
        <p:txBody>
          <a:bodyPr>
            <a:normAutofit/>
          </a:bodyPr>
          <a:lstStyle/>
          <a:p>
            <a:pPr marL="342900" indent="-342900">
              <a:buFont typeface="Wingdings" panose="05000000000000000000" pitchFamily="2" charset="2"/>
              <a:buChar char="v"/>
            </a:pPr>
            <a:r>
              <a:rPr lang="en-US" sz="2800" u="sng" dirty="0">
                <a:solidFill>
                  <a:schemeClr val="accent1">
                    <a:lumMod val="75000"/>
                  </a:schemeClr>
                </a:solidFill>
                <a:latin typeface="Algerian" panose="04020705040A02060702" pitchFamily="82" charset="0"/>
              </a:rPr>
              <a:t>Merits of Hand Geometry Recognition system</a:t>
            </a:r>
            <a:r>
              <a:rPr lang="en-US" sz="2800" dirty="0">
                <a:solidFill>
                  <a:schemeClr val="accent1">
                    <a:lumMod val="75000"/>
                  </a:schemeClr>
                </a:solidFill>
                <a:latin typeface="Algerian" panose="04020705040A02060702" pitchFamily="82" charset="0"/>
              </a:rPr>
              <a:t> : -</a:t>
            </a:r>
            <a:r>
              <a:rPr lang="en-US" sz="2800" dirty="0">
                <a:latin typeface="Algerian" panose="04020705040A02060702" pitchFamily="82" charset="0"/>
              </a:rPr>
              <a:t> </a:t>
            </a:r>
          </a:p>
          <a:p>
            <a:r>
              <a:rPr lang="en-US" sz="2400" b="1" dirty="0">
                <a:latin typeface="Century Schoolbook" panose="02040604050505020304" pitchFamily="18" charset="0"/>
              </a:rPr>
              <a:t>1. It is sturdy and user friendly.</a:t>
            </a:r>
          </a:p>
          <a:p>
            <a:r>
              <a:rPr lang="en-US" sz="2400" b="1" dirty="0">
                <a:latin typeface="Century Schoolbook" panose="02040604050505020304" pitchFamily="18" charset="0"/>
              </a:rPr>
              <a:t>2. The changes in skin moisture or texture do not affect the result.</a:t>
            </a:r>
          </a:p>
          <a:p>
            <a:pPr marL="342900" indent="-342900">
              <a:buFont typeface="Wingdings" panose="05000000000000000000" pitchFamily="2" charset="2"/>
              <a:buChar char="v"/>
            </a:pPr>
            <a:r>
              <a:rPr lang="en-US" sz="2800" u="sng" dirty="0">
                <a:solidFill>
                  <a:schemeClr val="accent1">
                    <a:lumMod val="75000"/>
                  </a:schemeClr>
                </a:solidFill>
                <a:latin typeface="Algerian" panose="04020705040A02060702" pitchFamily="82" charset="0"/>
              </a:rPr>
              <a:t>De-Merits of Hand Geometry Recognition system</a:t>
            </a:r>
            <a:r>
              <a:rPr lang="en-US" sz="2800" dirty="0">
                <a:solidFill>
                  <a:schemeClr val="accent1">
                    <a:lumMod val="75000"/>
                  </a:schemeClr>
                </a:solidFill>
                <a:latin typeface="Algerian" panose="04020705040A02060702" pitchFamily="82" charset="0"/>
              </a:rPr>
              <a:t> : - </a:t>
            </a:r>
          </a:p>
          <a:p>
            <a:r>
              <a:rPr lang="en-US" sz="2400" b="1" dirty="0">
                <a:latin typeface="Century Schoolbook" panose="02040604050505020304" pitchFamily="18" charset="0"/>
              </a:rPr>
              <a:t>1. Since the hand geometry is not unique, it is not.</a:t>
            </a:r>
          </a:p>
          <a:p>
            <a:r>
              <a:rPr lang="en-US" sz="2400" b="1" dirty="0">
                <a:latin typeface="Century Schoolbook" panose="02040604050505020304" pitchFamily="18" charset="0"/>
              </a:rPr>
              <a:t>2. It is effective in case of adults &amp; not for growing children.</a:t>
            </a:r>
          </a:p>
          <a:p>
            <a:r>
              <a:rPr lang="en-US" sz="2400" b="1" dirty="0">
                <a:latin typeface="Century Schoolbook" panose="02040604050505020304" pitchFamily="18" charset="0"/>
              </a:rPr>
              <a:t>3. If candidates hand is with jewelry, plaster, or arthritis, it is likely to introduce a problem.</a:t>
            </a:r>
          </a:p>
          <a:p>
            <a:pPr marL="342900" indent="-342900">
              <a:buFont typeface="Wingdings" panose="05000000000000000000" pitchFamily="2" charset="2"/>
              <a:buChar char="v"/>
            </a:pPr>
            <a:r>
              <a:rPr lang="en-US" sz="2800" u="sng" dirty="0">
                <a:solidFill>
                  <a:schemeClr val="accent1">
                    <a:lumMod val="75000"/>
                  </a:schemeClr>
                </a:solidFill>
                <a:latin typeface="Algerian" panose="04020705040A02060702" pitchFamily="82" charset="0"/>
              </a:rPr>
              <a:t>Applications of Hand Geometry Recognition System</a:t>
            </a:r>
            <a:r>
              <a:rPr lang="en-US" sz="2800" dirty="0">
                <a:solidFill>
                  <a:schemeClr val="accent1">
                    <a:lumMod val="75000"/>
                  </a:schemeClr>
                </a:solidFill>
                <a:latin typeface="Algerian" panose="04020705040A02060702" pitchFamily="82" charset="0"/>
              </a:rPr>
              <a:t> : </a:t>
            </a:r>
          </a:p>
          <a:p>
            <a:r>
              <a:rPr lang="en-US" sz="2400" b="1" dirty="0">
                <a:latin typeface="Century Schoolbook" panose="02040604050505020304" pitchFamily="18" charset="0"/>
              </a:rPr>
              <a:t>1. Nuclear power plants and Military.</a:t>
            </a:r>
          </a:p>
          <a:p>
            <a:r>
              <a:rPr lang="en-US" sz="2400" b="1" dirty="0">
                <a:latin typeface="Century Schoolbook" panose="02040604050505020304" pitchFamily="18" charset="0"/>
              </a:rPr>
              <a:t>2. Access Control.</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61974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48C6A-949E-1B07-DEE8-2D4FF71A0084}"/>
              </a:ext>
            </a:extLst>
          </p:cNvPr>
          <p:cNvSpPr>
            <a:spLocks noGrp="1"/>
          </p:cNvSpPr>
          <p:nvPr>
            <p:ph type="title"/>
          </p:nvPr>
        </p:nvSpPr>
        <p:spPr>
          <a:xfrm>
            <a:off x="0" y="0"/>
            <a:ext cx="8596668" cy="747252"/>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Retinal scanning system</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DA61DB4D-4CA4-4734-68D2-C4C9F2DB4F20}"/>
              </a:ext>
            </a:extLst>
          </p:cNvPr>
          <p:cNvSpPr>
            <a:spLocks noGrp="1"/>
          </p:cNvSpPr>
          <p:nvPr>
            <p:ph type="body" idx="1"/>
          </p:nvPr>
        </p:nvSpPr>
        <p:spPr>
          <a:xfrm>
            <a:off x="0" y="587477"/>
            <a:ext cx="9399639" cy="5683045"/>
          </a:xfrm>
        </p:spPr>
        <p:txBody>
          <a:bodyPr>
            <a:noAutofit/>
          </a:bodyPr>
          <a:lstStyle/>
          <a:p>
            <a:r>
              <a:rPr lang="en-US" sz="2400" b="1" dirty="0">
                <a:latin typeface="Century Schoolbook" panose="02040604050505020304" pitchFamily="18" charset="0"/>
              </a:rPr>
              <a:t>i) Retina is the lining layer at the back of the eyeball that covers 65% of the eyeball's inner surface. It contains photosensitive cells.</a:t>
            </a:r>
          </a:p>
          <a:p>
            <a:r>
              <a:rPr lang="en-US" sz="2400" b="1" dirty="0">
                <a:latin typeface="Century Schoolbook" panose="02040604050505020304" pitchFamily="18" charset="0"/>
              </a:rPr>
              <a:t>ii) Each person's retina is unique due to the complex network of blood vessels that supply blood.</a:t>
            </a:r>
          </a:p>
          <a:p>
            <a:r>
              <a:rPr lang="en-US" sz="2400" b="1" dirty="0">
                <a:latin typeface="Century Schoolbook" panose="02040604050505020304" pitchFamily="18" charset="0"/>
              </a:rPr>
              <a:t>iii) It is a reliable biometric as the retina pattern remains  unchanged throughout the person's life, barring the patterns of persons having diabetes, glaucoma or some degenerative disorders.</a:t>
            </a:r>
          </a:p>
          <a:p>
            <a:r>
              <a:rPr lang="en-US" sz="2400" b="1" dirty="0">
                <a:latin typeface="Century Schoolbook" panose="02040604050505020304" pitchFamily="18" charset="0"/>
              </a:rPr>
              <a:t>iv) A low-intensity infrared light beam is casted into a person's eye for 10 to 15 seconds; this light is absorbed by the blood. Vessels forming a pattern of blood vessels during the scan. This pattern is then digitized &amp; stored in the database.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81235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120B3-D542-8492-CE70-24285D4D81CE}"/>
              </a:ext>
            </a:extLst>
          </p:cNvPr>
          <p:cNvSpPr>
            <a:spLocks noGrp="1"/>
          </p:cNvSpPr>
          <p:nvPr>
            <p:ph type="title"/>
          </p:nvPr>
        </p:nvSpPr>
        <p:spPr>
          <a:xfrm>
            <a:off x="677335" y="-147484"/>
            <a:ext cx="8596668" cy="147484"/>
          </a:xfrm>
        </p:spPr>
        <p:txBody>
          <a:bodyPr>
            <a:normAutofit fontScale="90000"/>
          </a:bodyPr>
          <a:lstStyle/>
          <a:p>
            <a:endParaRPr lang="en-IN"/>
          </a:p>
        </p:txBody>
      </p:sp>
      <p:sp>
        <p:nvSpPr>
          <p:cNvPr id="3" name="Text Placeholder 2">
            <a:extLst>
              <a:ext uri="{FF2B5EF4-FFF2-40B4-BE49-F238E27FC236}">
                <a16:creationId xmlns:a16="http://schemas.microsoft.com/office/drawing/2014/main" id="{F5592A68-B98B-71EA-F6E2-88BDC582A5B7}"/>
              </a:ext>
            </a:extLst>
          </p:cNvPr>
          <p:cNvSpPr>
            <a:spLocks noGrp="1"/>
          </p:cNvSpPr>
          <p:nvPr>
            <p:ph type="body" idx="1"/>
          </p:nvPr>
        </p:nvSpPr>
        <p:spPr>
          <a:xfrm>
            <a:off x="0" y="0"/>
            <a:ext cx="9891252" cy="6449961"/>
          </a:xfrm>
        </p:spPr>
        <p:txBody>
          <a:bodyPr>
            <a:noAutofit/>
          </a:bodyPr>
          <a:lstStyle/>
          <a:p>
            <a:pPr marL="342900" indent="-3429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Merits of Retinal Scanning System</a:t>
            </a:r>
            <a:r>
              <a:rPr lang="en-US" sz="32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It cannot be forged.</a:t>
            </a:r>
          </a:p>
          <a:p>
            <a:r>
              <a:rPr lang="en-US" sz="2000" b="1" dirty="0">
                <a:latin typeface="Century Schoolbook" panose="02040604050505020304" pitchFamily="18" charset="0"/>
              </a:rPr>
              <a:t>2. It is highly reliable as the error rate is 1 out of crore samples (which is almost 01).</a:t>
            </a:r>
          </a:p>
          <a:p>
            <a:pPr marL="342900" indent="-3429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De-Merits of Retinal scanning system</a:t>
            </a:r>
            <a:r>
              <a:rPr lang="en-US" sz="32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It is not very user friendly as the user needs to maintain. steadiness that can cause discomfort.</a:t>
            </a:r>
          </a:p>
          <a:p>
            <a:r>
              <a:rPr lang="en-US" sz="2000" b="1" dirty="0">
                <a:latin typeface="Century Schoolbook" panose="02040604050505020304" pitchFamily="18" charset="0"/>
              </a:rPr>
              <a:t>2. It tends to reveal some poor health conditions such hypertension or diabetes, which causes privacy issues.</a:t>
            </a:r>
          </a:p>
          <a:p>
            <a:r>
              <a:rPr lang="en-US" sz="2000" b="1" dirty="0">
                <a:latin typeface="Century Schoolbook" panose="02040604050505020304" pitchFamily="18" charset="0"/>
              </a:rPr>
              <a:t>3. Accuracy of the results is prone to diseases such as cataracts, glaucoma, diabetes, etc..</a:t>
            </a:r>
          </a:p>
          <a:p>
            <a:pPr marL="342900" indent="-3429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Applications of Retinal Scanning system</a:t>
            </a:r>
            <a:r>
              <a:rPr lang="en-US" sz="32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It is practiced by some government bodies such as CID, FBI. </a:t>
            </a:r>
            <a:endParaRPr lang="en-US" sz="3200" dirty="0">
              <a:solidFill>
                <a:schemeClr val="accent1">
                  <a:lumMod val="75000"/>
                </a:schemeClr>
              </a:solidFill>
              <a:latin typeface="Algerian" panose="04020705040A02060702" pitchFamily="82" charset="0"/>
            </a:endParaRPr>
          </a:p>
          <a:p>
            <a:r>
              <a:rPr lang="en-US" sz="2000" b="1" dirty="0">
                <a:latin typeface="Century Schoolbook" panose="02040604050505020304" pitchFamily="18" charset="0"/>
              </a:rPr>
              <a:t>2. Apart from security applications, it is also used for various do diagnostics.</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2443698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CA8DB-1436-F3E3-D201-36B607399985}"/>
              </a:ext>
            </a:extLst>
          </p:cNvPr>
          <p:cNvSpPr>
            <a:spLocks noGrp="1"/>
          </p:cNvSpPr>
          <p:nvPr>
            <p:ph type="title"/>
          </p:nvPr>
        </p:nvSpPr>
        <p:spPr>
          <a:xfrm>
            <a:off x="0" y="0"/>
            <a:ext cx="8596668" cy="816638"/>
          </a:xfrm>
        </p:spPr>
        <p:txBody>
          <a:bodyPr/>
          <a:lstStyle/>
          <a:p>
            <a:pPr marL="571500" indent="-571500">
              <a:buFont typeface="Wingdings" panose="05000000000000000000" pitchFamily="2" charset="2"/>
              <a:buChar char="v"/>
            </a:pPr>
            <a:r>
              <a:rPr lang="en-US" u="sng" dirty="0">
                <a:latin typeface="Algerian" panose="04020705040A02060702" pitchFamily="82" charset="0"/>
              </a:rPr>
              <a:t>Voice pattern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DEA84A58-AD49-2075-6248-3A79DCAC0C2C}"/>
              </a:ext>
            </a:extLst>
          </p:cNvPr>
          <p:cNvSpPr>
            <a:spLocks noGrp="1"/>
          </p:cNvSpPr>
          <p:nvPr>
            <p:ph type="body" idx="1"/>
          </p:nvPr>
        </p:nvSpPr>
        <p:spPr>
          <a:xfrm>
            <a:off x="0" y="580102"/>
            <a:ext cx="9930581" cy="5383161"/>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Voice pattern analysis of the pitch,                                           tone, cadence and Frequency of a                                                            person's voice.                                                  </a:t>
            </a:r>
          </a:p>
          <a:p>
            <a:pPr marL="342900" indent="-342900">
              <a:buFont typeface="Wingdings" panose="05000000000000000000" pitchFamily="2" charset="2"/>
              <a:buChar char="Ø"/>
            </a:pPr>
            <a:r>
              <a:rPr lang="en-US" sz="2400" b="1" dirty="0">
                <a:latin typeface="Century Schoolbook" panose="02040604050505020304" pitchFamily="18" charset="0"/>
              </a:rPr>
              <a:t>Biometric technology reduces each                                                           spoken word to segments. Each                                                    segment several tones that can be                                                    captured in a digital format.</a:t>
            </a:r>
          </a:p>
          <a:p>
            <a:pPr marL="342900" indent="-342900">
              <a:buFont typeface="Wingdings" panose="05000000000000000000" pitchFamily="2" charset="2"/>
              <a:buChar char="Ø"/>
            </a:pPr>
            <a:r>
              <a:rPr lang="en-US" sz="2400" b="1" dirty="0">
                <a:latin typeface="Century Schoolbook" panose="02040604050505020304" pitchFamily="18" charset="0"/>
              </a:rPr>
              <a:t>The tones collectively identify the                                              speaker’s unique voice. print. voice                                               prints are stored in databases in a manner similar to the storing of fingerprints or other biometric data.</a:t>
            </a:r>
          </a:p>
          <a:p>
            <a:pPr marL="342900" indent="-342900">
              <a:buFont typeface="Wingdings" panose="05000000000000000000" pitchFamily="2" charset="2"/>
              <a:buChar char="Ø"/>
            </a:pPr>
            <a:r>
              <a:rPr lang="en-US" sz="2400" b="1" dirty="0">
                <a:latin typeface="Century Schoolbook" panose="02040604050505020304" pitchFamily="18" charset="0"/>
              </a:rPr>
              <a:t>A person's speech is subject to change depending on health and emotional state.</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AE4B7FA2-18BA-644C-E1DB-E4935B2C6442}"/>
              </a:ext>
            </a:extLst>
          </p:cNvPr>
          <p:cNvPicPr>
            <a:picLocks noChangeAspect="1"/>
          </p:cNvPicPr>
          <p:nvPr/>
        </p:nvPicPr>
        <p:blipFill>
          <a:blip r:embed="rId2"/>
          <a:stretch>
            <a:fillRect/>
          </a:stretch>
        </p:blipFill>
        <p:spPr>
          <a:xfrm>
            <a:off x="6253316" y="698650"/>
            <a:ext cx="5849218" cy="3470227"/>
          </a:xfrm>
          <a:prstGeom prst="rect">
            <a:avLst/>
          </a:prstGeom>
        </p:spPr>
      </p:pic>
    </p:spTree>
    <p:extLst>
      <p:ext uri="{BB962C8B-B14F-4D97-AF65-F5344CB8AC3E}">
        <p14:creationId xmlns:p14="http://schemas.microsoft.com/office/powerpoint/2010/main" val="4121461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5B547-4C2E-0007-77A5-BBE6AC9D192B}"/>
              </a:ext>
            </a:extLst>
          </p:cNvPr>
          <p:cNvSpPr>
            <a:spLocks noGrp="1"/>
          </p:cNvSpPr>
          <p:nvPr>
            <p:ph type="title"/>
          </p:nvPr>
        </p:nvSpPr>
        <p:spPr>
          <a:xfrm>
            <a:off x="8741" y="-157316"/>
            <a:ext cx="8596668" cy="68826"/>
          </a:xfrm>
        </p:spPr>
        <p:txBody>
          <a:bodyPr>
            <a:normAutofit fontScale="90000"/>
          </a:bodyPr>
          <a:lstStyle/>
          <a:p>
            <a:endParaRPr lang="en-IN"/>
          </a:p>
        </p:txBody>
      </p:sp>
      <p:sp>
        <p:nvSpPr>
          <p:cNvPr id="3" name="Text Placeholder 2">
            <a:extLst>
              <a:ext uri="{FF2B5EF4-FFF2-40B4-BE49-F238E27FC236}">
                <a16:creationId xmlns:a16="http://schemas.microsoft.com/office/drawing/2014/main" id="{3CE9C219-EBAF-6742-975D-B1AF2AB2C942}"/>
              </a:ext>
            </a:extLst>
          </p:cNvPr>
          <p:cNvSpPr>
            <a:spLocks noGrp="1"/>
          </p:cNvSpPr>
          <p:nvPr>
            <p:ph type="body" idx="1"/>
          </p:nvPr>
        </p:nvSpPr>
        <p:spPr>
          <a:xfrm>
            <a:off x="8741" y="34413"/>
            <a:ext cx="10108653" cy="6823587"/>
          </a:xfrm>
        </p:spPr>
        <p:txBody>
          <a:bodyPr>
            <a:normAutofit/>
          </a:bodyPr>
          <a:lstStyle/>
          <a:p>
            <a:pPr marL="285750" indent="-285750">
              <a:buFont typeface="Wingdings" panose="05000000000000000000" pitchFamily="2" charset="2"/>
              <a:buChar char="v"/>
            </a:pPr>
            <a:r>
              <a:rPr lang="en-US" sz="3600" dirty="0">
                <a:solidFill>
                  <a:schemeClr val="accent1">
                    <a:lumMod val="75000"/>
                  </a:schemeClr>
                </a:solidFill>
                <a:latin typeface="Algerian" panose="04020705040A02060702" pitchFamily="82" charset="0"/>
              </a:rPr>
              <a:t> </a:t>
            </a:r>
            <a:r>
              <a:rPr lang="en-US" sz="3600" u="sng" dirty="0">
                <a:solidFill>
                  <a:schemeClr val="accent1">
                    <a:lumMod val="75000"/>
                  </a:schemeClr>
                </a:solidFill>
                <a:latin typeface="Algerian" panose="04020705040A02060702" pitchFamily="82" charset="0"/>
              </a:rPr>
              <a:t>Merits of Voice Recognition system</a:t>
            </a:r>
            <a:r>
              <a:rPr lang="en-US" sz="36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It is non-invasive and user friendly.</a:t>
            </a:r>
          </a:p>
          <a:p>
            <a:r>
              <a:rPr lang="en-US" sz="2000" b="1" dirty="0">
                <a:latin typeface="Century Schoolbook" panose="02040604050505020304" pitchFamily="18" charset="0"/>
              </a:rPr>
              <a:t>2. Difficult to replicate or forge.</a:t>
            </a:r>
          </a:p>
          <a:p>
            <a:r>
              <a:rPr lang="en-US" sz="2000" b="1" dirty="0">
                <a:latin typeface="Century Schoolbook" panose="02040604050505020304" pitchFamily="18" charset="0"/>
              </a:rPr>
              <a:t>3. Enhances accessibility for individuals with physical disabilities</a:t>
            </a:r>
          </a:p>
          <a:p>
            <a:pPr marL="342900" indent="-342900">
              <a:buFont typeface="Wingdings" panose="05000000000000000000" pitchFamily="2" charset="2"/>
              <a:buChar char="v"/>
            </a:pPr>
            <a:r>
              <a:rPr lang="en-US" sz="3600" dirty="0">
                <a:solidFill>
                  <a:schemeClr val="accent1">
                    <a:lumMod val="75000"/>
                  </a:schemeClr>
                </a:solidFill>
                <a:latin typeface="Algerian" panose="04020705040A02060702" pitchFamily="82" charset="0"/>
              </a:rPr>
              <a:t> </a:t>
            </a:r>
            <a:r>
              <a:rPr lang="en-US" sz="3600" u="sng" dirty="0">
                <a:solidFill>
                  <a:schemeClr val="accent1">
                    <a:lumMod val="75000"/>
                  </a:schemeClr>
                </a:solidFill>
                <a:latin typeface="Algerian" panose="04020705040A02060702" pitchFamily="82" charset="0"/>
              </a:rPr>
              <a:t>Demerits of voice Recognition system </a:t>
            </a:r>
            <a:r>
              <a:rPr lang="en-US" sz="3600" dirty="0">
                <a:solidFill>
                  <a:schemeClr val="accent1">
                    <a:lumMod val="75000"/>
                  </a:schemeClr>
                </a:solidFill>
                <a:latin typeface="Algerian" panose="04020705040A02060702" pitchFamily="82" charset="0"/>
              </a:rPr>
              <a:t>: -</a:t>
            </a:r>
          </a:p>
          <a:p>
            <a:r>
              <a:rPr lang="en-US" sz="2000" b="1" dirty="0">
                <a:latin typeface="Century Schoolbook" panose="02040604050505020304" pitchFamily="18" charset="0"/>
              </a:rPr>
              <a:t>1. Sensitive to background noise and voice changes. </a:t>
            </a:r>
          </a:p>
          <a:p>
            <a:r>
              <a:rPr lang="en-US" sz="2000" b="1" dirty="0">
                <a:latin typeface="Century Schoolbook" panose="02040604050505020304" pitchFamily="18" charset="0"/>
              </a:rPr>
              <a:t>2. vulnerable to recording-based attacks.</a:t>
            </a:r>
          </a:p>
          <a:p>
            <a:r>
              <a:rPr lang="en-US" sz="2000" b="1" dirty="0">
                <a:latin typeface="Century Schoolbook" panose="02040604050505020304" pitchFamily="18" charset="0"/>
              </a:rPr>
              <a:t>3. Accuracy may degrade with illness like cold, sore throat.</a:t>
            </a:r>
          </a:p>
          <a:p>
            <a:pPr marL="457200" indent="-4572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Applications of Voice Recognition system</a:t>
            </a:r>
            <a:r>
              <a:rPr lang="en-US" sz="32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For unlocking smartphones and tablets.</a:t>
            </a:r>
          </a:p>
          <a:p>
            <a:r>
              <a:rPr lang="en-US" sz="2000" b="1" dirty="0">
                <a:latin typeface="Century Schoolbook" panose="02040604050505020304" pitchFamily="18" charset="0"/>
              </a:rPr>
              <a:t>2. Call center authentication to verify customer's identities without PINS or passwords.</a:t>
            </a:r>
          </a:p>
          <a:p>
            <a:r>
              <a:rPr lang="en-US" sz="2000" b="1" dirty="0">
                <a:latin typeface="Century Schoolbook" panose="02040604050505020304" pitchFamily="18" charset="0"/>
              </a:rPr>
              <a:t>3. Banking and Financial services.</a:t>
            </a:r>
          </a:p>
          <a:p>
            <a:r>
              <a:rPr lang="en-US" sz="2000" b="1" dirty="0">
                <a:latin typeface="Century Schoolbook" panose="02040604050505020304" pitchFamily="18" charset="0"/>
              </a:rPr>
              <a:t>4. Access control systems in secure facilities or workplaces.</a:t>
            </a:r>
          </a:p>
          <a:p>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2440835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12BA4-DF5A-01E3-57AE-99D1FD184A6C}"/>
              </a:ext>
            </a:extLst>
          </p:cNvPr>
          <p:cNvSpPr>
            <a:spLocks noGrp="1"/>
          </p:cNvSpPr>
          <p:nvPr>
            <p:ph type="title"/>
          </p:nvPr>
        </p:nvSpPr>
        <p:spPr>
          <a:xfrm>
            <a:off x="0" y="0"/>
            <a:ext cx="9469555" cy="707923"/>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Signature &amp; writing </a:t>
            </a:r>
            <a:r>
              <a:rPr lang="en-US" u="sng" dirty="0" err="1">
                <a:latin typeface="Algerian" panose="04020705040A02060702" pitchFamily="82" charset="0"/>
              </a:rPr>
              <a:t>pttern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589ADDB-0155-9083-37EC-1B04A3C69456}"/>
              </a:ext>
            </a:extLst>
          </p:cNvPr>
          <p:cNvSpPr>
            <a:spLocks noGrp="1"/>
          </p:cNvSpPr>
          <p:nvPr>
            <p:ph type="body" idx="1"/>
          </p:nvPr>
        </p:nvSpPr>
        <p:spPr>
          <a:xfrm>
            <a:off x="1" y="707923"/>
            <a:ext cx="9212826" cy="4021392"/>
          </a:xfrm>
        </p:spPr>
        <p:txBody>
          <a:bodyPr>
            <a:noAutofit/>
          </a:bodyPr>
          <a:lstStyle/>
          <a:p>
            <a:endParaRPr lang="en-US" sz="2400" b="1" dirty="0">
              <a:latin typeface="Century Schoolbook" panose="02040604050505020304" pitchFamily="18" charset="0"/>
            </a:endParaRPr>
          </a:p>
          <a:p>
            <a:pPr marL="342900" indent="-342900">
              <a:buFont typeface="Wingdings" panose="05000000000000000000" pitchFamily="2" charset="2"/>
              <a:buChar char="Ø"/>
            </a:pPr>
            <a:r>
              <a:rPr lang="en-US" sz="2400" b="1" dirty="0">
                <a:latin typeface="Century Schoolbook" panose="02040604050505020304" pitchFamily="18" charset="0"/>
              </a:rPr>
              <a:t>Signature and writing patterns biometrics are forms of behavioral biometrics that analyze an individual's unique handwriting and signature characteristics to verify their identity.</a:t>
            </a:r>
          </a:p>
          <a:p>
            <a:pPr marL="342900" indent="-342900">
              <a:buFont typeface="Wingdings" panose="05000000000000000000" pitchFamily="2" charset="2"/>
              <a:buChar char="Ø"/>
            </a:pPr>
            <a:r>
              <a:rPr lang="en-US" sz="2400" b="1" dirty="0">
                <a:latin typeface="Century Schoolbook" panose="02040604050505020304" pitchFamily="18" charset="0"/>
              </a:rPr>
              <a:t>It focus on how a person writes, rather than what they write, making them distinct from traditional text analysis.</a:t>
            </a:r>
          </a:p>
          <a:p>
            <a:pPr marL="342900" indent="-342900">
              <a:buFont typeface="Wingdings" panose="05000000000000000000" pitchFamily="2" charset="2"/>
              <a:buChar char="Ø"/>
            </a:pPr>
            <a:r>
              <a:rPr lang="en-US" sz="2400" b="1" dirty="0">
                <a:latin typeface="Century Schoolbook" panose="02040604050505020304" pitchFamily="18" charset="0"/>
              </a:rPr>
              <a:t>It takes into account factors such as: Speed, Pressure, stroke order, Pen tilt, Timing.</a:t>
            </a:r>
          </a:p>
          <a:p>
            <a:pPr marL="342900" indent="-342900">
              <a:buFont typeface="Wingdings" panose="05000000000000000000" pitchFamily="2" charset="2"/>
              <a:buChar char="Ø"/>
            </a:pPr>
            <a:r>
              <a:rPr lang="en-US" sz="2400" b="1" dirty="0">
                <a:latin typeface="Century Schoolbook" panose="02040604050505020304" pitchFamily="18" charset="0"/>
              </a:rPr>
              <a:t>Dynamic Signature verification (DSV) is often integrated with. other biometric methods.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119995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870A-4545-77D1-A355-9E00FFE6D869}"/>
              </a:ext>
            </a:extLst>
          </p:cNvPr>
          <p:cNvSpPr>
            <a:spLocks noGrp="1"/>
          </p:cNvSpPr>
          <p:nvPr>
            <p:ph type="title"/>
          </p:nvPr>
        </p:nvSpPr>
        <p:spPr>
          <a:xfrm>
            <a:off x="0" y="206477"/>
            <a:ext cx="9743768" cy="2487561"/>
          </a:xfrm>
        </p:spPr>
        <p:txBody>
          <a:bodyPr>
            <a:noAutofit/>
          </a:bodyPr>
          <a:lstStyle/>
          <a:p>
            <a:pPr marL="342900" indent="-342900">
              <a:buFont typeface="Wingdings" panose="05000000000000000000" pitchFamily="2" charset="2"/>
              <a:buChar char="v"/>
            </a:pPr>
            <a:r>
              <a:rPr lang="en-US" sz="2400" u="sng" dirty="0">
                <a:latin typeface="Algerian" panose="04020705040A02060702" pitchFamily="82" charset="0"/>
              </a:rPr>
              <a:t>Merits of signature &amp; writing Pattern + Applications</a:t>
            </a:r>
            <a:r>
              <a:rPr lang="en-US" sz="2400" dirty="0">
                <a:latin typeface="Algerian" panose="04020705040A02060702" pitchFamily="82" charset="0"/>
              </a:rPr>
              <a:t> : -</a:t>
            </a:r>
            <a:br>
              <a:rPr lang="en-US" sz="2400" dirty="0">
                <a:latin typeface="Algerian" panose="04020705040A02060702" pitchFamily="82" charset="0"/>
              </a:rPr>
            </a:br>
            <a:r>
              <a:rPr lang="en-US" sz="2400" b="1" dirty="0">
                <a:solidFill>
                  <a:schemeClr val="tx1"/>
                </a:solidFill>
                <a:latin typeface="Century Schoolbook" panose="02040604050505020304" pitchFamily="18" charset="0"/>
              </a:rPr>
              <a:t>1. Used in banking and legal documents with user familiarity. </a:t>
            </a:r>
            <a:br>
              <a:rPr lang="en-US" sz="2400" b="1" dirty="0">
                <a:solidFill>
                  <a:schemeClr val="tx1"/>
                </a:solidFill>
                <a:latin typeface="Century Schoolbook" panose="02040604050505020304" pitchFamily="18" charset="0"/>
              </a:rPr>
            </a:br>
            <a:r>
              <a:rPr lang="en-US" sz="2400" b="1" dirty="0">
                <a:solidFill>
                  <a:schemeClr val="tx1"/>
                </a:solidFill>
                <a:latin typeface="Century Schoolbook" panose="02040604050505020304" pitchFamily="18" charset="0"/>
              </a:rPr>
              <a:t>2. Electronic signature systems.</a:t>
            </a:r>
            <a:br>
              <a:rPr lang="en-US" sz="2400" b="1" dirty="0">
                <a:solidFill>
                  <a:schemeClr val="tx1"/>
                </a:solidFill>
                <a:latin typeface="Century Schoolbook" panose="02040604050505020304" pitchFamily="18" charset="0"/>
              </a:rPr>
            </a:br>
            <a:r>
              <a:rPr lang="en-US" sz="2400" b="1" dirty="0">
                <a:solidFill>
                  <a:schemeClr val="tx1"/>
                </a:solidFill>
                <a:latin typeface="Century Schoolbook" panose="02040604050505020304" pitchFamily="18" charset="0"/>
              </a:rPr>
              <a:t>3. </a:t>
            </a:r>
            <a:r>
              <a:rPr lang="en-US" sz="2400" b="1" dirty="0" err="1">
                <a:solidFill>
                  <a:schemeClr val="tx1"/>
                </a:solidFill>
                <a:latin typeface="Century Schoolbook" panose="02040604050505020304" pitchFamily="18" charset="0"/>
              </a:rPr>
              <a:t>Writting</a:t>
            </a:r>
            <a:r>
              <a:rPr lang="en-US" sz="2400" b="1" dirty="0">
                <a:solidFill>
                  <a:schemeClr val="tx1"/>
                </a:solidFill>
                <a:latin typeface="Century Schoolbook" panose="02040604050505020304" pitchFamily="18" charset="0"/>
              </a:rPr>
              <a:t> pattern can be used in forensic document examination fraud detection, etc.</a:t>
            </a:r>
            <a:br>
              <a:rPr lang="en-US" sz="2400" b="1" dirty="0">
                <a:solidFill>
                  <a:schemeClr val="tx1"/>
                </a:solidFill>
                <a:latin typeface="Century Schoolbook" panose="02040604050505020304" pitchFamily="18" charset="0"/>
              </a:rPr>
            </a:br>
            <a:br>
              <a:rPr lang="en-US" sz="2000" b="1" dirty="0">
                <a:latin typeface="Century Schoolbook" panose="02040604050505020304" pitchFamily="18" charset="0"/>
              </a:rPr>
            </a:br>
            <a:endParaRPr lang="en-IN" sz="2000" dirty="0"/>
          </a:p>
        </p:txBody>
      </p:sp>
      <p:sp>
        <p:nvSpPr>
          <p:cNvPr id="3" name="Text Placeholder 2">
            <a:extLst>
              <a:ext uri="{FF2B5EF4-FFF2-40B4-BE49-F238E27FC236}">
                <a16:creationId xmlns:a16="http://schemas.microsoft.com/office/drawing/2014/main" id="{AAD741F4-3563-94E1-13D8-0E09245C8632}"/>
              </a:ext>
            </a:extLst>
          </p:cNvPr>
          <p:cNvSpPr>
            <a:spLocks noGrp="1"/>
          </p:cNvSpPr>
          <p:nvPr>
            <p:ph type="body" idx="1"/>
          </p:nvPr>
        </p:nvSpPr>
        <p:spPr>
          <a:xfrm>
            <a:off x="0" y="1641987"/>
            <a:ext cx="9891252" cy="2998839"/>
          </a:xfrm>
        </p:spPr>
        <p:txBody>
          <a:bodyPr>
            <a:normAutofit/>
          </a:bodyPr>
          <a:lstStyle/>
          <a:p>
            <a:endParaRPr lang="en-US" dirty="0"/>
          </a:p>
          <a:p>
            <a:pPr marL="285750" indent="-285750">
              <a:buFont typeface="Wingdings" panose="05000000000000000000" pitchFamily="2" charset="2"/>
              <a:buChar char="v"/>
            </a:pPr>
            <a:r>
              <a:rPr lang="en-US" sz="2800" u="sng" dirty="0">
                <a:solidFill>
                  <a:schemeClr val="accent1">
                    <a:lumMod val="75000"/>
                  </a:schemeClr>
                </a:solidFill>
                <a:latin typeface="Algerian" panose="04020705040A02060702" pitchFamily="82" charset="0"/>
              </a:rPr>
              <a:t>Demerits of Signature &amp; writing Pattern</a:t>
            </a:r>
            <a:r>
              <a:rPr lang="en-US" sz="2800" dirty="0">
                <a:solidFill>
                  <a:schemeClr val="accent1">
                    <a:lumMod val="75000"/>
                  </a:schemeClr>
                </a:solidFill>
                <a:latin typeface="Algerian" panose="04020705040A02060702" pitchFamily="82" charset="0"/>
              </a:rPr>
              <a:t> : -</a:t>
            </a:r>
          </a:p>
          <a:p>
            <a:r>
              <a:rPr lang="en-US" sz="2400" b="1" dirty="0">
                <a:latin typeface="Century Schoolbook" panose="02040604050505020304" pitchFamily="18" charset="0"/>
              </a:rPr>
              <a:t>1. Handwriting and signature can vary depending on mood,      health or even writing surface which decrease reliability.</a:t>
            </a:r>
          </a:p>
          <a:p>
            <a:r>
              <a:rPr lang="en-US" sz="2400" b="1" dirty="0">
                <a:latin typeface="Century Schoolbook" panose="02040604050505020304" pitchFamily="18" charset="0"/>
              </a:rPr>
              <a:t>2. Though difficult to replicate, Skilled Forgers could still pose a threat.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57229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7295F-1A62-AAF3-00B3-F7B065E3C4BA}"/>
              </a:ext>
            </a:extLst>
          </p:cNvPr>
          <p:cNvSpPr>
            <a:spLocks noGrp="1"/>
          </p:cNvSpPr>
          <p:nvPr>
            <p:ph type="title"/>
          </p:nvPr>
        </p:nvSpPr>
        <p:spPr>
          <a:xfrm>
            <a:off x="0" y="-34229"/>
            <a:ext cx="8596668" cy="791238"/>
          </a:xfrm>
        </p:spPr>
        <p:txBody>
          <a:bodyPr/>
          <a:lstStyle/>
          <a:p>
            <a:pPr marL="571500" indent="-571500">
              <a:buFont typeface="Wingdings" panose="05000000000000000000" pitchFamily="2" charset="2"/>
              <a:buChar char="v"/>
            </a:pPr>
            <a:r>
              <a:rPr lang="en-US" u="sng" dirty="0">
                <a:latin typeface="Algerian" panose="04020705040A02060702" pitchFamily="82" charset="0"/>
              </a:rPr>
              <a:t>Keystrokes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F29DBC8-9494-DB90-A002-A4EA00A5425C}"/>
              </a:ext>
            </a:extLst>
          </p:cNvPr>
          <p:cNvSpPr>
            <a:spLocks noGrp="1"/>
          </p:cNvSpPr>
          <p:nvPr>
            <p:ph type="body" idx="1"/>
          </p:nvPr>
        </p:nvSpPr>
        <p:spPr>
          <a:xfrm>
            <a:off x="0" y="438048"/>
            <a:ext cx="9665110" cy="5199077"/>
          </a:xfrm>
        </p:spPr>
        <p:txBody>
          <a:bodyPr>
            <a:normAutofit lnSpcReduction="10000"/>
          </a:bodyPr>
          <a:lstStyle/>
          <a:p>
            <a:pPr marL="342900" indent="-342900">
              <a:buFont typeface="Wingdings" panose="05000000000000000000" pitchFamily="2" charset="2"/>
              <a:buChar char="Ø"/>
            </a:pPr>
            <a:r>
              <a:rPr lang="en-US" sz="2400" b="1" dirty="0">
                <a:latin typeface="Century Schoolbook" panose="02040604050505020304" pitchFamily="18" charset="0"/>
              </a:rPr>
              <a:t>A keystroke biometric system                                                 identifies individuals based on                                                                     their unique typing patterns.</a:t>
            </a:r>
          </a:p>
          <a:p>
            <a:pPr marL="342900" indent="-342900">
              <a:buFont typeface="Wingdings" panose="05000000000000000000" pitchFamily="2" charset="2"/>
              <a:buChar char="Ø"/>
            </a:pPr>
            <a:r>
              <a:rPr lang="en-US" sz="2400" b="1" dirty="0">
                <a:latin typeface="Century Schoolbook" panose="02040604050505020304" pitchFamily="18" charset="0"/>
              </a:rPr>
              <a:t>Every person has </a:t>
            </a:r>
            <a:r>
              <a:rPr lang="en-US" sz="2400" b="1" dirty="0" err="1">
                <a:latin typeface="Century Schoolbook" panose="02040604050505020304" pitchFamily="18" charset="0"/>
              </a:rPr>
              <a:t>distint</a:t>
            </a:r>
            <a:r>
              <a:rPr lang="en-US" sz="2400" b="1" dirty="0">
                <a:latin typeface="Century Schoolbook" panose="02040604050505020304" pitchFamily="18" charset="0"/>
              </a:rPr>
              <a:t> ways                                                                   of typing, such as how long they                                                           press keys (dwell time) and the                                                          intervals between key presses                                                            (Flight time).</a:t>
            </a:r>
          </a:p>
          <a:p>
            <a:pPr marL="342900" indent="-342900">
              <a:buFont typeface="Wingdings" panose="05000000000000000000" pitchFamily="2" charset="2"/>
              <a:buChar char="Ø"/>
            </a:pPr>
            <a:r>
              <a:rPr lang="en-US" sz="2400" b="1" dirty="0">
                <a:latin typeface="Century Schoolbook" panose="02040604050505020304" pitchFamily="18" charset="0"/>
              </a:rPr>
              <a:t>These characteristics can be                                                      recorded, analyzed, and used as                                                            a biometric identifier.</a:t>
            </a:r>
          </a:p>
          <a:p>
            <a:pPr marL="342900" indent="-342900">
              <a:buFont typeface="Wingdings" panose="05000000000000000000" pitchFamily="2" charset="2"/>
              <a:buChar char="Ø"/>
            </a:pPr>
            <a:r>
              <a:rPr lang="en-US" sz="2400" b="1" dirty="0">
                <a:latin typeface="Century Schoolbook" panose="02040604050505020304" pitchFamily="18" charset="0"/>
              </a:rPr>
              <a:t>It is often used in multi-factor authentication systems to provide an additional layer of security. </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5E532D86-6DCB-2295-3D7F-43F7FFB7EBCE}"/>
              </a:ext>
            </a:extLst>
          </p:cNvPr>
          <p:cNvPicPr>
            <a:picLocks noChangeAspect="1"/>
          </p:cNvPicPr>
          <p:nvPr/>
        </p:nvPicPr>
        <p:blipFill>
          <a:blip r:embed="rId2"/>
          <a:stretch>
            <a:fillRect/>
          </a:stretch>
        </p:blipFill>
        <p:spPr>
          <a:xfrm>
            <a:off x="5742039" y="669156"/>
            <a:ext cx="6359095" cy="3706200"/>
          </a:xfrm>
          <a:prstGeom prst="rect">
            <a:avLst/>
          </a:prstGeom>
        </p:spPr>
      </p:pic>
    </p:spTree>
    <p:extLst>
      <p:ext uri="{BB962C8B-B14F-4D97-AF65-F5344CB8AC3E}">
        <p14:creationId xmlns:p14="http://schemas.microsoft.com/office/powerpoint/2010/main" val="4126864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6181D-2CD0-829E-C8D6-BF9B0A9305B7}"/>
              </a:ext>
            </a:extLst>
          </p:cNvPr>
          <p:cNvSpPr>
            <a:spLocks noGrp="1"/>
          </p:cNvSpPr>
          <p:nvPr>
            <p:ph type="title"/>
          </p:nvPr>
        </p:nvSpPr>
        <p:spPr>
          <a:xfrm>
            <a:off x="677335" y="-636396"/>
            <a:ext cx="8596668" cy="636396"/>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FD530B47-4D7A-441E-1A6B-164F83D98A8B}"/>
              </a:ext>
            </a:extLst>
          </p:cNvPr>
          <p:cNvSpPr>
            <a:spLocks noGrp="1"/>
          </p:cNvSpPr>
          <p:nvPr>
            <p:ph type="body" idx="1"/>
          </p:nvPr>
        </p:nvSpPr>
        <p:spPr>
          <a:xfrm>
            <a:off x="70338" y="0"/>
            <a:ext cx="11113477" cy="5717512"/>
          </a:xfrm>
        </p:spPr>
        <p:txBody>
          <a:bodyPr>
            <a:normAutofit/>
          </a:bodyPr>
          <a:lstStyle/>
          <a:p>
            <a:pPr marL="285750" indent="-285750">
              <a:buFont typeface="Wingdings" panose="05000000000000000000" pitchFamily="2" charset="2"/>
              <a:buChar char="v"/>
            </a:pPr>
            <a:r>
              <a:rPr lang="en-US" sz="2800" dirty="0">
                <a:solidFill>
                  <a:schemeClr val="accent1">
                    <a:lumMod val="75000"/>
                  </a:schemeClr>
                </a:solidFill>
                <a:latin typeface="Algerian" panose="04020705040A02060702" pitchFamily="82" charset="0"/>
              </a:rPr>
              <a:t> </a:t>
            </a:r>
            <a:r>
              <a:rPr lang="en-US" sz="3200" u="sng" dirty="0">
                <a:solidFill>
                  <a:schemeClr val="accent1">
                    <a:lumMod val="75000"/>
                  </a:schemeClr>
                </a:solidFill>
                <a:latin typeface="Algerian" panose="04020705040A02060702" pitchFamily="82" charset="0"/>
              </a:rPr>
              <a:t>Merits of keystroke</a:t>
            </a:r>
            <a:r>
              <a:rPr lang="en-US" sz="32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Ongoing verification without interrupting the user.</a:t>
            </a:r>
          </a:p>
          <a:p>
            <a:r>
              <a:rPr lang="en-US" sz="2000" b="1" dirty="0">
                <a:latin typeface="Century Schoolbook" panose="02040604050505020304" pitchFamily="18" charset="0"/>
              </a:rPr>
              <a:t>2. It works passively.</a:t>
            </a:r>
          </a:p>
          <a:p>
            <a:r>
              <a:rPr lang="en-US" sz="2000" b="1" dirty="0">
                <a:latin typeface="Century Schoolbook" panose="02040604050505020304" pitchFamily="18" charset="0"/>
              </a:rPr>
              <a:t>3. Low-cost as it requires no specialized hardware.</a:t>
            </a:r>
            <a:endParaRPr lang="en-US" dirty="0"/>
          </a:p>
          <a:p>
            <a:pPr marL="457200" indent="-4572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De-Merits of Keystroke</a:t>
            </a:r>
            <a:r>
              <a:rPr lang="en-US" sz="32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Factors like fatigue, stress, or injury can affect a user's typing style.</a:t>
            </a:r>
          </a:p>
          <a:p>
            <a:r>
              <a:rPr lang="en-US" sz="2000" b="1" dirty="0">
                <a:latin typeface="Century Schoolbook" panose="02040604050505020304" pitchFamily="18" charset="0"/>
              </a:rPr>
              <a:t>2. Not Accuracy as other </a:t>
            </a:r>
            <a:r>
              <a:rPr lang="en-US" sz="2000" b="1" dirty="0" err="1">
                <a:latin typeface="Century Schoolbook" panose="02040604050505020304" pitchFamily="18" charset="0"/>
              </a:rPr>
              <a:t>biomeltic</a:t>
            </a:r>
            <a:r>
              <a:rPr lang="en-US" sz="2000" b="1" dirty="0">
                <a:latin typeface="Century Schoolbook" panose="02040604050505020304" pitchFamily="18" charset="0"/>
              </a:rPr>
              <a:t> methods like fingerprint or facial recognition.</a:t>
            </a:r>
            <a:endParaRPr lang="en-US" dirty="0"/>
          </a:p>
          <a:p>
            <a:pPr marL="457200" indent="-4572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Applications of Keystroke</a:t>
            </a:r>
            <a:r>
              <a:rPr lang="en-US" sz="3200" dirty="0">
                <a:solidFill>
                  <a:schemeClr val="accent1">
                    <a:lumMod val="75000"/>
                  </a:schemeClr>
                </a:solidFill>
                <a:latin typeface="Algerian" panose="04020705040A02060702" pitchFamily="82" charset="0"/>
              </a:rPr>
              <a:t> : -</a:t>
            </a:r>
            <a:endParaRPr lang="en-US" sz="3200" u="sng" dirty="0">
              <a:solidFill>
                <a:schemeClr val="accent1">
                  <a:lumMod val="75000"/>
                </a:schemeClr>
              </a:solidFill>
              <a:latin typeface="Algerian" panose="04020705040A02060702" pitchFamily="82" charset="0"/>
            </a:endParaRPr>
          </a:p>
          <a:p>
            <a:r>
              <a:rPr lang="en-US" sz="2000" b="1" dirty="0">
                <a:latin typeface="Century Schoolbook" panose="02040604050505020304" pitchFamily="18" charset="0"/>
              </a:rPr>
              <a:t>1. Enhancing the security of password-based authentication.</a:t>
            </a:r>
          </a:p>
          <a:p>
            <a:r>
              <a:rPr lang="en-US" sz="2000" b="1" dirty="0">
                <a:latin typeface="Century Schoolbook" panose="02040604050505020304" pitchFamily="18" charset="0"/>
              </a:rPr>
              <a:t>2. Identifying potential fraud.</a:t>
            </a:r>
          </a:p>
          <a:p>
            <a:r>
              <a:rPr lang="en-US" sz="2000" b="1" dirty="0">
                <a:latin typeface="Century Schoolbook" panose="02040604050505020304" pitchFamily="18" charset="0"/>
              </a:rPr>
              <a:t>3. Monitoring for ongoing verification throughout a session.</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1407040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D88D2-35B4-2C8D-0BE0-76F8B1C9C9F1}"/>
              </a:ext>
            </a:extLst>
          </p:cNvPr>
          <p:cNvSpPr>
            <a:spLocks noGrp="1"/>
          </p:cNvSpPr>
          <p:nvPr>
            <p:ph type="title"/>
          </p:nvPr>
        </p:nvSpPr>
        <p:spPr>
          <a:xfrm>
            <a:off x="0" y="25400"/>
            <a:ext cx="8596668" cy="791238"/>
          </a:xfrm>
        </p:spPr>
        <p:txBody>
          <a:bodyPr/>
          <a:lstStyle/>
          <a:p>
            <a:pPr marL="571500" indent="-571500">
              <a:buFont typeface="Wingdings" panose="05000000000000000000" pitchFamily="2" charset="2"/>
              <a:buChar char="v"/>
            </a:pPr>
            <a:r>
              <a:rPr lang="en-US" u="sng" dirty="0">
                <a:latin typeface="Algerian" panose="04020705040A02060702" pitchFamily="82" charset="0"/>
              </a:rPr>
              <a:t>Facial recognition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34FC47C-5EC4-3CA1-7044-24C803DB0C25}"/>
              </a:ext>
            </a:extLst>
          </p:cNvPr>
          <p:cNvSpPr>
            <a:spLocks noGrp="1"/>
          </p:cNvSpPr>
          <p:nvPr>
            <p:ph type="body" idx="1"/>
          </p:nvPr>
        </p:nvSpPr>
        <p:spPr>
          <a:xfrm>
            <a:off x="80387" y="713433"/>
            <a:ext cx="9485644" cy="5327929"/>
          </a:xfrm>
        </p:spPr>
        <p:txBody>
          <a:bodyPr>
            <a:normAutofit/>
          </a:bodyPr>
          <a:lstStyle/>
          <a:p>
            <a:pPr marL="285750" indent="-285750">
              <a:buFont typeface="Wingdings" panose="05000000000000000000" pitchFamily="2" charset="2"/>
              <a:buChar char="Ø"/>
            </a:pPr>
            <a:r>
              <a:rPr lang="en-US" sz="2400" b="1" dirty="0">
                <a:latin typeface="Century Schoolbook" panose="02040604050505020304" pitchFamily="18" charset="0"/>
              </a:rPr>
              <a:t>Facial recognition is based on                                                determining shape and size of                                                  jaw, chin, shape and location of                                                 eyes, eyebrows, nose, lips, and                                          cheekbones.</a:t>
            </a:r>
          </a:p>
          <a:p>
            <a:pPr marL="285750" indent="-285750">
              <a:buFont typeface="Wingdings" panose="05000000000000000000" pitchFamily="2" charset="2"/>
              <a:buChar char="Ø"/>
            </a:pPr>
            <a:r>
              <a:rPr lang="en-US" sz="2400" b="1" dirty="0">
                <a:latin typeface="Century Schoolbook" panose="02040604050505020304" pitchFamily="18" charset="0"/>
              </a:rPr>
              <a:t>2D facial scanners start reading                                                    face geometry &amp; recording on                                                             the grid.</a:t>
            </a:r>
          </a:p>
          <a:p>
            <a:pPr marL="285750" indent="-285750">
              <a:buFont typeface="Wingdings" panose="05000000000000000000" pitchFamily="2" charset="2"/>
              <a:buChar char="Ø"/>
            </a:pPr>
            <a:r>
              <a:rPr lang="en-US" sz="2400" b="1" dirty="0">
                <a:latin typeface="Century Schoolbook" panose="02040604050505020304" pitchFamily="18" charset="0"/>
              </a:rPr>
              <a:t>The facial geometry is                                                         transferred to the database in                                                    terms of points. </a:t>
            </a:r>
          </a:p>
          <a:p>
            <a:pPr marL="285750" indent="-285750">
              <a:buFont typeface="Wingdings" panose="05000000000000000000" pitchFamily="2" charset="2"/>
              <a:buChar char="Ø"/>
            </a:pPr>
            <a:r>
              <a:rPr lang="en-US" sz="2400" b="1" dirty="0">
                <a:latin typeface="Century Schoolbook" panose="02040604050505020304" pitchFamily="18" charset="0"/>
              </a:rPr>
              <a:t>The comparison algorithms perform face matching and come up with the results.</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EC32BA87-36FD-0678-24BE-105A9D877E35}"/>
              </a:ext>
            </a:extLst>
          </p:cNvPr>
          <p:cNvPicPr>
            <a:picLocks noChangeAspect="1"/>
          </p:cNvPicPr>
          <p:nvPr/>
        </p:nvPicPr>
        <p:blipFill>
          <a:blip r:embed="rId2"/>
          <a:stretch>
            <a:fillRect/>
          </a:stretch>
        </p:blipFill>
        <p:spPr>
          <a:xfrm>
            <a:off x="5596932" y="886977"/>
            <a:ext cx="6514681" cy="3711191"/>
          </a:xfrm>
          <a:prstGeom prst="rect">
            <a:avLst/>
          </a:prstGeom>
        </p:spPr>
      </p:pic>
    </p:spTree>
    <p:extLst>
      <p:ext uri="{BB962C8B-B14F-4D97-AF65-F5344CB8AC3E}">
        <p14:creationId xmlns:p14="http://schemas.microsoft.com/office/powerpoint/2010/main" val="4120744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91B2B-6B9F-542B-7DF6-0C35139F3B9D}"/>
              </a:ext>
            </a:extLst>
          </p:cNvPr>
          <p:cNvSpPr>
            <a:spLocks noGrp="1"/>
          </p:cNvSpPr>
          <p:nvPr>
            <p:ph type="title"/>
          </p:nvPr>
        </p:nvSpPr>
        <p:spPr>
          <a:xfrm>
            <a:off x="677335" y="-207038"/>
            <a:ext cx="8596668" cy="207038"/>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BF3C6DD3-A28F-36C6-1A44-6FC7F4992C94}"/>
              </a:ext>
            </a:extLst>
          </p:cNvPr>
          <p:cNvSpPr>
            <a:spLocks noGrp="1"/>
          </p:cNvSpPr>
          <p:nvPr>
            <p:ph type="body" idx="1"/>
          </p:nvPr>
        </p:nvSpPr>
        <p:spPr>
          <a:xfrm>
            <a:off x="0" y="0"/>
            <a:ext cx="10166555" cy="6322142"/>
          </a:xfrm>
        </p:spPr>
        <p:txBody>
          <a:bodyPr>
            <a:normAutofit/>
          </a:bodyPr>
          <a:lstStyle/>
          <a:p>
            <a:pPr marL="285750" indent="-285750">
              <a:buFont typeface="Wingdings" panose="05000000000000000000" pitchFamily="2" charset="2"/>
              <a:buChar char="v"/>
            </a:pPr>
            <a:r>
              <a:rPr lang="en-US" sz="3200" dirty="0">
                <a:solidFill>
                  <a:schemeClr val="accent1">
                    <a:lumMod val="75000"/>
                  </a:schemeClr>
                </a:solidFill>
                <a:latin typeface="Algerian" panose="04020705040A02060702" pitchFamily="82" charset="0"/>
              </a:rPr>
              <a:t> </a:t>
            </a:r>
            <a:r>
              <a:rPr lang="en-US" sz="3200" u="sng" dirty="0">
                <a:solidFill>
                  <a:schemeClr val="accent1">
                    <a:lumMod val="75000"/>
                  </a:schemeClr>
                </a:solidFill>
                <a:latin typeface="Algerian" panose="04020705040A02060702" pitchFamily="82" charset="0"/>
              </a:rPr>
              <a:t>Merits of facial Recognition system</a:t>
            </a:r>
            <a:r>
              <a:rPr lang="en-US" sz="3200" dirty="0">
                <a:solidFill>
                  <a:schemeClr val="accent1">
                    <a:lumMod val="75000"/>
                  </a:schemeClr>
                </a:solidFill>
                <a:latin typeface="Algerian" panose="04020705040A02060702" pitchFamily="82" charset="0"/>
              </a:rPr>
              <a:t> : -</a:t>
            </a:r>
          </a:p>
          <a:p>
            <a:r>
              <a:rPr lang="en-US" sz="2400" b="1" dirty="0">
                <a:latin typeface="Century Schoolbook" panose="02040604050505020304" pitchFamily="18" charset="0"/>
              </a:rPr>
              <a:t>1. It offers easy storage of templates in database. </a:t>
            </a:r>
          </a:p>
          <a:p>
            <a:r>
              <a:rPr lang="en-US" sz="2400" b="1" dirty="0">
                <a:latin typeface="Century Schoolbook" panose="02040604050505020304" pitchFamily="18" charset="0"/>
              </a:rPr>
              <a:t>2. It reduces the statistic complexities to recognize face image. </a:t>
            </a:r>
          </a:p>
          <a:p>
            <a:r>
              <a:rPr lang="en-US" sz="2400" b="1" dirty="0">
                <a:latin typeface="Century Schoolbook" panose="02040604050505020304" pitchFamily="18" charset="0"/>
              </a:rPr>
              <a:t>3. It involves no physical contact with the system.</a:t>
            </a:r>
          </a:p>
          <a:p>
            <a:pPr marL="285750" indent="-285750">
              <a:buFont typeface="Wingdings" panose="05000000000000000000" pitchFamily="2" charset="2"/>
              <a:buChar char="v"/>
            </a:pPr>
            <a:r>
              <a:rPr lang="en-US" sz="3200" dirty="0">
                <a:solidFill>
                  <a:schemeClr val="accent1">
                    <a:lumMod val="75000"/>
                  </a:schemeClr>
                </a:solidFill>
                <a:latin typeface="Algerian" panose="04020705040A02060702" pitchFamily="82" charset="0"/>
              </a:rPr>
              <a:t> </a:t>
            </a:r>
            <a:r>
              <a:rPr lang="en-US" sz="3200" u="sng" dirty="0">
                <a:solidFill>
                  <a:schemeClr val="accent1">
                    <a:lumMod val="75000"/>
                  </a:schemeClr>
                </a:solidFill>
                <a:latin typeface="Algerian" panose="04020705040A02060702" pitchFamily="82" charset="0"/>
              </a:rPr>
              <a:t>Demerits of Facial Recognition system</a:t>
            </a:r>
            <a:r>
              <a:rPr lang="en-US" sz="3200" dirty="0">
                <a:solidFill>
                  <a:schemeClr val="accent1">
                    <a:lumMod val="75000"/>
                  </a:schemeClr>
                </a:solidFill>
                <a:latin typeface="Algerian" panose="04020705040A02060702" pitchFamily="82" charset="0"/>
              </a:rPr>
              <a:t> : - </a:t>
            </a:r>
          </a:p>
          <a:p>
            <a:r>
              <a:rPr lang="en-US" sz="2400" b="1" dirty="0">
                <a:latin typeface="Century Schoolbook" panose="02040604050505020304" pitchFamily="18" charset="0"/>
              </a:rPr>
              <a:t>1. facial traits change over time.</a:t>
            </a:r>
          </a:p>
          <a:p>
            <a:r>
              <a:rPr lang="en-US" sz="2400" b="1" dirty="0">
                <a:latin typeface="Century Schoolbook" panose="02040604050505020304" pitchFamily="18" charset="0"/>
              </a:rPr>
              <a:t>2. Uniqueness is not guaranteed (in case of twins). </a:t>
            </a:r>
          </a:p>
          <a:p>
            <a:r>
              <a:rPr lang="en-US" sz="2400" b="1" dirty="0">
                <a:latin typeface="Century Schoolbook" panose="02040604050505020304" pitchFamily="18" charset="0"/>
              </a:rPr>
              <a:t>3. Requires adequate lighting to get correct input.</a:t>
            </a:r>
          </a:p>
          <a:p>
            <a:pPr marL="285750" indent="-285750">
              <a:buFont typeface="Wingdings" panose="05000000000000000000" pitchFamily="2" charset="2"/>
              <a:buChar char="v"/>
            </a:pPr>
            <a:r>
              <a:rPr lang="en-US" sz="3200" dirty="0">
                <a:solidFill>
                  <a:schemeClr val="accent1">
                    <a:lumMod val="75000"/>
                  </a:schemeClr>
                </a:solidFill>
                <a:latin typeface="Algerian" panose="04020705040A02060702" pitchFamily="82" charset="0"/>
              </a:rPr>
              <a:t> </a:t>
            </a:r>
            <a:r>
              <a:rPr lang="en-US" sz="3200" u="sng" dirty="0">
                <a:solidFill>
                  <a:schemeClr val="accent1">
                    <a:lumMod val="75000"/>
                  </a:schemeClr>
                </a:solidFill>
                <a:latin typeface="Algerian" panose="04020705040A02060702" pitchFamily="82" charset="0"/>
              </a:rPr>
              <a:t>Applications of facial Recognition system</a:t>
            </a:r>
            <a:r>
              <a:rPr lang="en-US" sz="3200" dirty="0">
                <a:solidFill>
                  <a:schemeClr val="accent1">
                    <a:lumMod val="75000"/>
                  </a:schemeClr>
                </a:solidFill>
                <a:latin typeface="Algerian" panose="04020705040A02060702" pitchFamily="82" charset="0"/>
              </a:rPr>
              <a:t> : -</a:t>
            </a:r>
          </a:p>
          <a:p>
            <a:r>
              <a:rPr lang="en-US" sz="2400" b="1" dirty="0">
                <a:latin typeface="Century Schoolbook" panose="02040604050505020304" pitchFamily="18" charset="0"/>
              </a:rPr>
              <a:t>1. Verification for access control.</a:t>
            </a:r>
          </a:p>
          <a:p>
            <a:r>
              <a:rPr lang="en-US" sz="2400" b="1" dirty="0">
                <a:latin typeface="Century Schoolbook" panose="02040604050505020304" pitchFamily="18" charset="0"/>
              </a:rPr>
              <a:t>2. Criminal Identification.</a:t>
            </a:r>
          </a:p>
          <a:p>
            <a:r>
              <a:rPr lang="en-US" sz="2400" b="1" dirty="0">
                <a:latin typeface="Century Schoolbook" panose="02040604050505020304" pitchFamily="18" charset="0"/>
              </a:rPr>
              <a:t>3. Surveillance.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646726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AFB27-A95D-EE9A-32A3-B2FA45E0DD6B}"/>
              </a:ext>
            </a:extLst>
          </p:cNvPr>
          <p:cNvSpPr>
            <a:spLocks noGrp="1"/>
          </p:cNvSpPr>
          <p:nvPr>
            <p:ph type="title"/>
          </p:nvPr>
        </p:nvSpPr>
        <p:spPr>
          <a:xfrm>
            <a:off x="0" y="0"/>
            <a:ext cx="8596668" cy="757084"/>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Iris recognition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A3E9AF4-B285-84FC-95D6-CD4E34B7B8BC}"/>
              </a:ext>
            </a:extLst>
          </p:cNvPr>
          <p:cNvSpPr>
            <a:spLocks noGrp="1"/>
          </p:cNvSpPr>
          <p:nvPr>
            <p:ph type="body" idx="1"/>
          </p:nvPr>
        </p:nvSpPr>
        <p:spPr>
          <a:xfrm>
            <a:off x="0" y="378542"/>
            <a:ext cx="10009239" cy="5510981"/>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This recognition works on the basis                                                            of iris pattern in human eye. The iris                                                                   is the pigmented elastic tissue which                                                            controls the diameter of pupil.</a:t>
            </a:r>
          </a:p>
          <a:p>
            <a:pPr marL="342900" indent="-342900">
              <a:buFont typeface="Wingdings" panose="05000000000000000000" pitchFamily="2" charset="2"/>
              <a:buChar char="Ø"/>
            </a:pPr>
            <a:r>
              <a:rPr lang="en-US" sz="2400" b="1" dirty="0">
                <a:latin typeface="Century Schoolbook" panose="02040604050505020304" pitchFamily="18" charset="0"/>
              </a:rPr>
              <a:t>In adult humans, the texture of iris is                                           stable throughout their lives.</a:t>
            </a:r>
          </a:p>
          <a:p>
            <a:pPr marL="342900" indent="-342900">
              <a:buFont typeface="Wingdings" panose="05000000000000000000" pitchFamily="2" charset="2"/>
              <a:buChar char="Ø"/>
            </a:pPr>
            <a:r>
              <a:rPr lang="en-US" sz="2400" b="1" dirty="0">
                <a:latin typeface="Century Schoolbook" panose="02040604050505020304" pitchFamily="18" charset="0"/>
              </a:rPr>
              <a:t>The iris patterns of left and right eyes                                                    are different. The iris patterns and                                           colors change from person to person.</a:t>
            </a:r>
          </a:p>
          <a:p>
            <a:r>
              <a:rPr lang="en-US" sz="2400" b="1" dirty="0">
                <a:latin typeface="Century Schoolbook" panose="02040604050505020304" pitchFamily="18" charset="0"/>
              </a:rPr>
              <a:t>iv) It involves taking the picture of iris with a capable camera, storing it, and comparing the                                                            same with the candidate eyes using mathematical algorithms.</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E50BFB69-643C-19EE-FE2A-8CB78BFB4480}"/>
              </a:ext>
            </a:extLst>
          </p:cNvPr>
          <p:cNvPicPr>
            <a:picLocks noChangeAspect="1"/>
          </p:cNvPicPr>
          <p:nvPr/>
        </p:nvPicPr>
        <p:blipFill>
          <a:blip r:embed="rId2"/>
          <a:stretch>
            <a:fillRect/>
          </a:stretch>
        </p:blipFill>
        <p:spPr>
          <a:xfrm>
            <a:off x="6484841" y="681085"/>
            <a:ext cx="5578323" cy="3403601"/>
          </a:xfrm>
          <a:prstGeom prst="rect">
            <a:avLst/>
          </a:prstGeom>
        </p:spPr>
      </p:pic>
    </p:spTree>
    <p:extLst>
      <p:ext uri="{BB962C8B-B14F-4D97-AF65-F5344CB8AC3E}">
        <p14:creationId xmlns:p14="http://schemas.microsoft.com/office/powerpoint/2010/main" val="971397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CA206-CC14-A54E-6FED-B602AFB4D1D0}"/>
              </a:ext>
            </a:extLst>
          </p:cNvPr>
          <p:cNvSpPr>
            <a:spLocks noGrp="1"/>
          </p:cNvSpPr>
          <p:nvPr>
            <p:ph type="title"/>
          </p:nvPr>
        </p:nvSpPr>
        <p:spPr>
          <a:xfrm flipV="1">
            <a:off x="755993" y="-167148"/>
            <a:ext cx="8596668" cy="167148"/>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D8C10034-B858-C031-70F4-DF36FC73EEAF}"/>
              </a:ext>
            </a:extLst>
          </p:cNvPr>
          <p:cNvSpPr>
            <a:spLocks noGrp="1"/>
          </p:cNvSpPr>
          <p:nvPr>
            <p:ph type="body" idx="1"/>
          </p:nvPr>
        </p:nvSpPr>
        <p:spPr>
          <a:xfrm>
            <a:off x="78658" y="-245807"/>
            <a:ext cx="9979742" cy="6858001"/>
          </a:xfrm>
        </p:spPr>
        <p:txBody>
          <a:bodyPr>
            <a:normAutofit/>
          </a:bodyPr>
          <a:lstStyle/>
          <a:p>
            <a:pPr marL="285750" indent="-285750">
              <a:buFont typeface="Wingdings" panose="05000000000000000000" pitchFamily="2" charset="2"/>
              <a:buChar char="v"/>
            </a:pPr>
            <a:r>
              <a:rPr lang="en-US" sz="3800" u="sng" dirty="0">
                <a:solidFill>
                  <a:schemeClr val="accent1">
                    <a:lumMod val="75000"/>
                  </a:schemeClr>
                </a:solidFill>
                <a:latin typeface="Algerian" panose="04020705040A02060702" pitchFamily="82" charset="0"/>
              </a:rPr>
              <a:t>Merits of Iris Recognition</a:t>
            </a:r>
            <a:r>
              <a:rPr lang="en-US" sz="38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It is highly accurate as the chance of matching two </a:t>
            </a:r>
            <a:r>
              <a:rPr lang="en-US" sz="2000" b="1" dirty="0" err="1">
                <a:latin typeface="Century Schoolbook" panose="02040604050505020304" pitchFamily="18" charset="0"/>
              </a:rPr>
              <a:t>iries</a:t>
            </a:r>
            <a:r>
              <a:rPr lang="en-US" sz="2000" b="1" dirty="0">
                <a:latin typeface="Century Schoolbook" panose="02040604050505020304" pitchFamily="18" charset="0"/>
              </a:rPr>
              <a:t>.</a:t>
            </a:r>
          </a:p>
          <a:p>
            <a:r>
              <a:rPr lang="en-US" sz="2000" b="1" dirty="0">
                <a:latin typeface="Century Schoolbook" panose="02040604050505020304" pitchFamily="18" charset="0"/>
              </a:rPr>
              <a:t>2. It is highly scalable.</a:t>
            </a:r>
          </a:p>
          <a:p>
            <a:r>
              <a:rPr lang="en-US" sz="2000" b="1" dirty="0">
                <a:latin typeface="Century Schoolbook" panose="02040604050505020304" pitchFamily="18" charset="0"/>
              </a:rPr>
              <a:t>3. The candidate need not remove glasses or contact lenses. </a:t>
            </a:r>
          </a:p>
          <a:p>
            <a:r>
              <a:rPr lang="en-US" sz="2000" b="1" dirty="0">
                <a:latin typeface="Century Schoolbook" panose="02040604050505020304" pitchFamily="18" charset="0"/>
              </a:rPr>
              <a:t>4. No physical contact with the system.</a:t>
            </a:r>
          </a:p>
          <a:p>
            <a:r>
              <a:rPr lang="en-US" sz="2000" b="1" dirty="0">
                <a:latin typeface="Century Schoolbook" panose="02040604050505020304" pitchFamily="18" charset="0"/>
              </a:rPr>
              <a:t>5. Instant verification (2 to 5 seconds) because of small template size.</a:t>
            </a:r>
          </a:p>
          <a:p>
            <a:pPr marL="285750" indent="-285750">
              <a:buFont typeface="Wingdings" panose="05000000000000000000" pitchFamily="2" charset="2"/>
              <a:buChar char="v"/>
            </a:pPr>
            <a:r>
              <a:rPr lang="en-US" sz="3300" dirty="0">
                <a:solidFill>
                  <a:schemeClr val="accent1">
                    <a:lumMod val="75000"/>
                  </a:schemeClr>
                </a:solidFill>
                <a:latin typeface="Algerian" panose="04020705040A02060702" pitchFamily="82" charset="0"/>
              </a:rPr>
              <a:t> </a:t>
            </a:r>
            <a:r>
              <a:rPr lang="en-US" sz="3300" u="sng" dirty="0">
                <a:solidFill>
                  <a:schemeClr val="accent1">
                    <a:lumMod val="75000"/>
                  </a:schemeClr>
                </a:solidFill>
                <a:latin typeface="Algerian" panose="04020705040A02060702" pitchFamily="82" charset="0"/>
              </a:rPr>
              <a:t>De-Merits of Iris Recognition</a:t>
            </a:r>
            <a:r>
              <a:rPr lang="en-US" sz="3300" dirty="0">
                <a:solidFill>
                  <a:schemeClr val="accent1">
                    <a:lumMod val="75000"/>
                  </a:schemeClr>
                </a:solidFill>
                <a:latin typeface="Algerian" panose="04020705040A02060702" pitchFamily="82" charset="0"/>
              </a:rPr>
              <a:t> : -</a:t>
            </a:r>
          </a:p>
          <a:p>
            <a:r>
              <a:rPr lang="en-US" sz="2000" b="1" dirty="0">
                <a:latin typeface="Century Schoolbook" panose="02040604050505020304" pitchFamily="18" charset="0"/>
              </a:rPr>
              <a:t>1. Iris scanners are expensive.</a:t>
            </a:r>
          </a:p>
          <a:p>
            <a:r>
              <a:rPr lang="en-US" sz="2000" b="1" dirty="0">
                <a:latin typeface="Century Schoolbook" panose="02040604050505020304" pitchFamily="18" charset="0"/>
              </a:rPr>
              <a:t>2. High quality images can fool the scanner. </a:t>
            </a:r>
          </a:p>
          <a:p>
            <a:r>
              <a:rPr lang="en-US" sz="2000" b="1" dirty="0">
                <a:latin typeface="Century Schoolbook" panose="02040604050505020304" pitchFamily="18" charset="0"/>
              </a:rPr>
              <a:t>3. A person is required to keep head very still for accurate scanning.</a:t>
            </a:r>
          </a:p>
          <a:p>
            <a:pPr marL="285750" indent="-285750">
              <a:buFont typeface="Wingdings" panose="05000000000000000000" pitchFamily="2" charset="2"/>
              <a:buChar char="v"/>
            </a:pPr>
            <a:r>
              <a:rPr lang="en-US" sz="3200" dirty="0">
                <a:solidFill>
                  <a:schemeClr val="accent1">
                    <a:lumMod val="75000"/>
                  </a:schemeClr>
                </a:solidFill>
                <a:latin typeface="Algerian" panose="04020705040A02060702" pitchFamily="82" charset="0"/>
              </a:rPr>
              <a:t> </a:t>
            </a:r>
            <a:r>
              <a:rPr lang="en-US" sz="3200" u="sng" dirty="0">
                <a:solidFill>
                  <a:schemeClr val="accent1">
                    <a:lumMod val="75000"/>
                  </a:schemeClr>
                </a:solidFill>
                <a:latin typeface="Algerian" panose="04020705040A02060702" pitchFamily="82" charset="0"/>
              </a:rPr>
              <a:t>Applications of Iris Recognition</a:t>
            </a:r>
            <a:r>
              <a:rPr lang="en-US" sz="3200" dirty="0">
                <a:solidFill>
                  <a:schemeClr val="accent1">
                    <a:lumMod val="75000"/>
                  </a:schemeClr>
                </a:solidFill>
                <a:latin typeface="Algerian" panose="04020705040A02060702" pitchFamily="82" charset="0"/>
              </a:rPr>
              <a:t> : - </a:t>
            </a:r>
          </a:p>
          <a:p>
            <a:r>
              <a:rPr lang="en-US" sz="2000" b="1" dirty="0">
                <a:latin typeface="Century Schoolbook" panose="02040604050505020304" pitchFamily="18" charset="0"/>
              </a:rPr>
              <a:t>1. National Security and Identity card such as Adhaar card. </a:t>
            </a:r>
          </a:p>
          <a:p>
            <a:r>
              <a:rPr lang="en-US" sz="2000" b="1" dirty="0">
                <a:latin typeface="Century Schoolbook" panose="02040604050505020304" pitchFamily="18" charset="0"/>
              </a:rPr>
              <a:t>2. Google uses iris recognition for accessing their data centers.</a:t>
            </a:r>
          </a:p>
        </p:txBody>
      </p:sp>
    </p:spTree>
    <p:extLst>
      <p:ext uri="{BB962C8B-B14F-4D97-AF65-F5344CB8AC3E}">
        <p14:creationId xmlns:p14="http://schemas.microsoft.com/office/powerpoint/2010/main" val="1740636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5A3C-1594-D6E9-1DEE-B9913EBABEC4}"/>
              </a:ext>
            </a:extLst>
          </p:cNvPr>
          <p:cNvSpPr>
            <a:spLocks noGrp="1"/>
          </p:cNvSpPr>
          <p:nvPr>
            <p:ph type="title"/>
          </p:nvPr>
        </p:nvSpPr>
        <p:spPr>
          <a:xfrm>
            <a:off x="0" y="25400"/>
            <a:ext cx="8596668" cy="791238"/>
          </a:xfrm>
        </p:spPr>
        <p:txBody>
          <a:bodyPr/>
          <a:lstStyle/>
          <a:p>
            <a:r>
              <a:rPr lang="en-US" dirty="0">
                <a:latin typeface="Algerian" panose="04020705040A02060702" pitchFamily="82" charset="0"/>
              </a:rPr>
              <a:t>2.3 </a:t>
            </a:r>
            <a:r>
              <a:rPr lang="en-US" u="sng" dirty="0">
                <a:latin typeface="Algerian" panose="04020705040A02060702" pitchFamily="82" charset="0"/>
              </a:rPr>
              <a:t>Access control</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D69947E5-5ABF-57B2-CCDA-D9425C591BDA}"/>
              </a:ext>
            </a:extLst>
          </p:cNvPr>
          <p:cNvSpPr>
            <a:spLocks noGrp="1"/>
          </p:cNvSpPr>
          <p:nvPr>
            <p:ph type="body" idx="1"/>
          </p:nvPr>
        </p:nvSpPr>
        <p:spPr>
          <a:xfrm>
            <a:off x="0" y="816638"/>
            <a:ext cx="9694606" cy="3755922"/>
          </a:xfrm>
        </p:spPr>
        <p:txBody>
          <a:bodyPr>
            <a:noAutofit/>
          </a:bodyPr>
          <a:lstStyle/>
          <a:p>
            <a:endParaRPr lang="en-US" sz="2400" b="1" dirty="0">
              <a:latin typeface="Century Schoolbook" panose="02040604050505020304" pitchFamily="18" charset="0"/>
            </a:endParaRPr>
          </a:p>
          <a:p>
            <a:r>
              <a:rPr lang="en-US" sz="2400" b="1" dirty="0" err="1">
                <a:latin typeface="Century Schoolbook" panose="02040604050505020304" pitchFamily="18" charset="0"/>
              </a:rPr>
              <a:t>i</a:t>
            </a:r>
            <a:r>
              <a:rPr lang="en-US" sz="2400" b="1" dirty="0">
                <a:latin typeface="Century Schoolbook" panose="02040604050505020304" pitchFamily="18" charset="0"/>
              </a:rPr>
              <a:t>) Access control is an important tool of security to protect data and other resources.</a:t>
            </a:r>
          </a:p>
          <a:p>
            <a:r>
              <a:rPr lang="en-US" sz="2400" b="1" dirty="0">
                <a:latin typeface="Century Schoolbook" panose="02040604050505020304" pitchFamily="18" charset="0"/>
              </a:rPr>
              <a:t>ii) The access control mechanism refers to prevention of unauthorized use of a resource.</a:t>
            </a:r>
          </a:p>
          <a:p>
            <a:r>
              <a:rPr lang="en-US" sz="2400" b="1" dirty="0">
                <a:latin typeface="Century Schoolbook" panose="02040604050505020304" pitchFamily="18" charset="0"/>
              </a:rPr>
              <a:t>iii) Access Control List (ACL) is a set of rules that define security policy. These ACLS contain one or more Access Control Entries CACEs), which are the actual rule definition themselves.</a:t>
            </a:r>
          </a:p>
          <a:p>
            <a:r>
              <a:rPr lang="en-US" sz="2400" b="1" dirty="0">
                <a:latin typeface="Century Schoolbook" panose="02040604050505020304" pitchFamily="18" charset="0"/>
              </a:rPr>
              <a:t>iv) These rules can restrict access by specific user, time of day, IP address, function, or specific system from which a for access attempt is being made.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425571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E9577-A274-88B3-B0D9-039F24D3FA9A}"/>
              </a:ext>
            </a:extLst>
          </p:cNvPr>
          <p:cNvSpPr>
            <a:spLocks noGrp="1"/>
          </p:cNvSpPr>
          <p:nvPr>
            <p:ph type="title"/>
          </p:nvPr>
        </p:nvSpPr>
        <p:spPr>
          <a:xfrm>
            <a:off x="28405" y="25400"/>
            <a:ext cx="9774355" cy="791238"/>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Authentication mechanism</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DC89FAA-9B95-6819-5C09-165FE7E1E72C}"/>
              </a:ext>
            </a:extLst>
          </p:cNvPr>
          <p:cNvSpPr>
            <a:spLocks noGrp="1"/>
          </p:cNvSpPr>
          <p:nvPr>
            <p:ph type="body" idx="1"/>
          </p:nvPr>
        </p:nvSpPr>
        <p:spPr>
          <a:xfrm>
            <a:off x="147484" y="491613"/>
            <a:ext cx="9478298" cy="3972232"/>
          </a:xfrm>
        </p:spPr>
        <p:txBody>
          <a:bodyPr>
            <a:normAutofit lnSpcReduction="10000"/>
          </a:bodyPr>
          <a:lstStyle/>
          <a:p>
            <a:endParaRPr lang="en-US" dirty="0"/>
          </a:p>
          <a:p>
            <a:r>
              <a:rPr lang="en-US" sz="2800" b="1" dirty="0">
                <a:solidFill>
                  <a:schemeClr val="accent1">
                    <a:lumMod val="75000"/>
                  </a:schemeClr>
                </a:solidFill>
                <a:latin typeface="Century Schoolbook" panose="02040604050505020304" pitchFamily="18" charset="0"/>
              </a:rPr>
              <a:t>In Authentication -</a:t>
            </a:r>
          </a:p>
          <a:p>
            <a:r>
              <a:rPr lang="en-US" sz="2400" b="1" dirty="0">
                <a:latin typeface="Century Schoolbook" panose="02040604050505020304" pitchFamily="18" charset="0"/>
              </a:rPr>
              <a:t>1. A Brute force attack is an automated process of trial and error used to guess a person's username, password, credit- card number of cryptographic key.</a:t>
            </a:r>
          </a:p>
          <a:p>
            <a:r>
              <a:rPr lang="en-US" sz="2400" b="1" dirty="0">
                <a:latin typeface="Century Schoolbook" panose="02040604050505020304" pitchFamily="18" charset="0"/>
              </a:rPr>
              <a:t>2. Insufficient Authentication occurs when a website permits an attacker to access sensitive content or functionality without shaving to properly authenticate.</a:t>
            </a:r>
          </a:p>
          <a:p>
            <a:r>
              <a:rPr lang="en-US" sz="2400" b="1" dirty="0">
                <a:latin typeface="Century Schoolbook" panose="02040604050505020304" pitchFamily="18" charset="0"/>
              </a:rPr>
              <a:t>3. Weak password recovery validation is when an attacker to </a:t>
            </a:r>
            <a:r>
              <a:rPr lang="en-US" sz="2400" b="1" dirty="0" err="1">
                <a:latin typeface="Century Schoolbook" panose="02040604050505020304" pitchFamily="18" charset="0"/>
              </a:rPr>
              <a:t>illegaly</a:t>
            </a:r>
            <a:r>
              <a:rPr lang="en-US" sz="2400" b="1" dirty="0">
                <a:latin typeface="Century Schoolbook" panose="02040604050505020304" pitchFamily="18" charset="0"/>
              </a:rPr>
              <a:t> obtain, change user's password.</a:t>
            </a:r>
          </a:p>
        </p:txBody>
      </p:sp>
    </p:spTree>
    <p:extLst>
      <p:ext uri="{BB962C8B-B14F-4D97-AF65-F5344CB8AC3E}">
        <p14:creationId xmlns:p14="http://schemas.microsoft.com/office/powerpoint/2010/main" val="1913503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98FE8-B02A-692A-3AF8-1BE06F1BF76F}"/>
              </a:ext>
            </a:extLst>
          </p:cNvPr>
          <p:cNvSpPr>
            <a:spLocks noGrp="1"/>
          </p:cNvSpPr>
          <p:nvPr>
            <p:ph type="title"/>
          </p:nvPr>
        </p:nvSpPr>
        <p:spPr>
          <a:xfrm>
            <a:off x="0" y="25400"/>
            <a:ext cx="9576619" cy="791238"/>
          </a:xfrm>
        </p:spPr>
        <p:txBody>
          <a:bodyPr/>
          <a:lstStyle/>
          <a:p>
            <a:pPr marL="571500" indent="-571500">
              <a:buFont typeface="Wingdings" panose="05000000000000000000" pitchFamily="2" charset="2"/>
              <a:buChar char="v"/>
            </a:pPr>
            <a:r>
              <a:rPr lang="en-US" u="sng" dirty="0">
                <a:latin typeface="Algerian" panose="04020705040A02060702" pitchFamily="82" charset="0"/>
              </a:rPr>
              <a:t>Principle of access control</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C6D935D-FC5A-1238-0399-64CFC8B98747}"/>
              </a:ext>
            </a:extLst>
          </p:cNvPr>
          <p:cNvSpPr>
            <a:spLocks noGrp="1"/>
          </p:cNvSpPr>
          <p:nvPr>
            <p:ph type="body" idx="1"/>
          </p:nvPr>
        </p:nvSpPr>
        <p:spPr>
          <a:xfrm>
            <a:off x="0" y="560438"/>
            <a:ext cx="9842090" cy="6169742"/>
          </a:xfrm>
        </p:spPr>
        <p:txBody>
          <a:bodyPr>
            <a:normAutofit/>
          </a:bodyPr>
          <a:lstStyle/>
          <a:p>
            <a:r>
              <a:rPr lang="en-US" sz="3200" dirty="0">
                <a:solidFill>
                  <a:schemeClr val="accent1">
                    <a:lumMod val="75000"/>
                  </a:schemeClr>
                </a:solidFill>
                <a:latin typeface="Algerian" panose="04020705040A02060702" pitchFamily="82" charset="0"/>
              </a:rPr>
              <a:t>1. </a:t>
            </a:r>
            <a:r>
              <a:rPr lang="en-US" sz="3200" u="sng" dirty="0">
                <a:solidFill>
                  <a:schemeClr val="accent1">
                    <a:lumMod val="75000"/>
                  </a:schemeClr>
                </a:solidFill>
                <a:latin typeface="Algerian" panose="04020705040A02060702" pitchFamily="82" charset="0"/>
              </a:rPr>
              <a:t>Authentication</a:t>
            </a:r>
            <a:r>
              <a:rPr lang="en-US" sz="3200" dirty="0">
                <a:solidFill>
                  <a:schemeClr val="accent1">
                    <a:lumMod val="75000"/>
                  </a:schemeClr>
                </a:solidFill>
                <a:latin typeface="Algerian" panose="04020705040A02060702" pitchFamily="82" charset="0"/>
              </a:rPr>
              <a:t> : -</a:t>
            </a:r>
            <a:r>
              <a:rPr lang="en-US" dirty="0"/>
              <a:t> </a:t>
            </a:r>
            <a:r>
              <a:rPr lang="en-US" sz="2400" b="1" dirty="0">
                <a:latin typeface="Century Schoolbook" panose="02040604050505020304" pitchFamily="18" charset="0"/>
              </a:rPr>
              <a:t>The act of proving an assertion, such as the Identity of a person or computer user. It might involve. validating personal identity documents, verifying the </a:t>
            </a:r>
            <a:r>
              <a:rPr lang="en-US" sz="2400" b="1" dirty="0" err="1">
                <a:latin typeface="Century Schoolbook" panose="02040604050505020304" pitchFamily="18" charset="0"/>
              </a:rPr>
              <a:t>authencity</a:t>
            </a:r>
            <a:r>
              <a:rPr lang="en-US" sz="2400" b="1" dirty="0">
                <a:latin typeface="Century Schoolbook" panose="02040604050505020304" pitchFamily="18" charset="0"/>
              </a:rPr>
              <a:t> of a website with a digital certificate, or slow checking login credentials against stored details.</a:t>
            </a:r>
          </a:p>
          <a:p>
            <a:r>
              <a:rPr lang="en-US" sz="3200" dirty="0">
                <a:solidFill>
                  <a:schemeClr val="accent1">
                    <a:lumMod val="75000"/>
                  </a:schemeClr>
                </a:solidFill>
                <a:latin typeface="Algerian" panose="04020705040A02060702" pitchFamily="82" charset="0"/>
              </a:rPr>
              <a:t>2. </a:t>
            </a:r>
            <a:r>
              <a:rPr lang="en-US" sz="3200" u="sng" dirty="0">
                <a:solidFill>
                  <a:schemeClr val="accent1">
                    <a:lumMod val="75000"/>
                  </a:schemeClr>
                </a:solidFill>
                <a:latin typeface="Algerian" panose="04020705040A02060702" pitchFamily="82" charset="0"/>
              </a:rPr>
              <a:t>Authorization</a:t>
            </a:r>
            <a:r>
              <a:rPr lang="en-US" sz="3200" dirty="0">
                <a:solidFill>
                  <a:schemeClr val="accent1">
                    <a:lumMod val="75000"/>
                  </a:schemeClr>
                </a:solidFill>
                <a:latin typeface="Algerian" panose="04020705040A02060702" pitchFamily="82" charset="0"/>
              </a:rPr>
              <a:t> : -</a:t>
            </a:r>
            <a:r>
              <a:rPr lang="en-US" dirty="0"/>
              <a:t> </a:t>
            </a:r>
            <a:r>
              <a:rPr lang="en-US" sz="2400" b="1" dirty="0">
                <a:latin typeface="Century Schoolbook" panose="02040604050505020304" pitchFamily="18" charset="0"/>
              </a:rPr>
              <a:t>The function of Specifying access rights or privileges to resources. for example, human resources staff are normally authorized to access employee record and this policy is usually Formalized as access control rules in a computer system.</a:t>
            </a:r>
            <a:endParaRPr lang="en-US" sz="2400" dirty="0"/>
          </a:p>
          <a:p>
            <a:r>
              <a:rPr lang="en-US" sz="3200" dirty="0">
                <a:solidFill>
                  <a:schemeClr val="accent1">
                    <a:lumMod val="75000"/>
                  </a:schemeClr>
                </a:solidFill>
                <a:latin typeface="Algerian" panose="04020705040A02060702" pitchFamily="82" charset="0"/>
              </a:rPr>
              <a:t>3. </a:t>
            </a:r>
            <a:r>
              <a:rPr lang="en-US" sz="3200" u="sng" dirty="0">
                <a:solidFill>
                  <a:schemeClr val="accent1">
                    <a:lumMod val="75000"/>
                  </a:schemeClr>
                </a:solidFill>
                <a:latin typeface="Algerian" panose="04020705040A02060702" pitchFamily="82" charset="0"/>
              </a:rPr>
              <a:t>Audit</a:t>
            </a:r>
            <a:r>
              <a:rPr lang="en-US" sz="3200" dirty="0">
                <a:solidFill>
                  <a:schemeClr val="accent1">
                    <a:lumMod val="75000"/>
                  </a:schemeClr>
                </a:solidFill>
                <a:latin typeface="Algerian" panose="04020705040A02060702" pitchFamily="82" charset="0"/>
              </a:rPr>
              <a:t> : - </a:t>
            </a:r>
            <a:r>
              <a:rPr lang="en-US" sz="2400" b="1" dirty="0">
                <a:latin typeface="Century Schoolbook" panose="02040604050505020304" pitchFamily="18" charset="0"/>
              </a:rPr>
              <a:t>Frequently used as part of access control to enforce the principle of least </a:t>
            </a:r>
            <a:r>
              <a:rPr lang="en-US" sz="2400" b="1" dirty="0" err="1">
                <a:latin typeface="Century Schoolbook" panose="02040604050505020304" pitchFamily="18" charset="0"/>
              </a:rPr>
              <a:t>privelege</a:t>
            </a:r>
            <a:r>
              <a:rPr lang="en-US" sz="2400" b="1" dirty="0">
                <a:latin typeface="Century Schoolbook" panose="02040604050505020304" pitchFamily="18" charset="0"/>
              </a:rPr>
              <a:t>. Over time, users can end up with access they no longer need, </a:t>
            </a:r>
            <a:r>
              <a:rPr lang="en-US" sz="2400" b="1" dirty="0" err="1">
                <a:latin typeface="Century Schoolbook" panose="02040604050505020304" pitchFamily="18" charset="0"/>
              </a:rPr>
              <a:t>eg.</a:t>
            </a:r>
            <a:r>
              <a:rPr lang="en-US" sz="2400" b="1" dirty="0">
                <a:latin typeface="Century Schoolbook" panose="02040604050505020304" pitchFamily="18" charset="0"/>
              </a:rPr>
              <a:t> when they change roles. Regular audits minimize this risk.</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727107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8D6F0-4B95-7F45-0E4C-C349A7AF152B}"/>
              </a:ext>
            </a:extLst>
          </p:cNvPr>
          <p:cNvSpPr>
            <a:spLocks noGrp="1"/>
          </p:cNvSpPr>
          <p:nvPr>
            <p:ph type="title"/>
          </p:nvPr>
        </p:nvSpPr>
        <p:spPr>
          <a:xfrm>
            <a:off x="0" y="0"/>
            <a:ext cx="8596668" cy="727587"/>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Policies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FC8A3DC-59C7-F20D-E0AA-1536053D52EE}"/>
              </a:ext>
            </a:extLst>
          </p:cNvPr>
          <p:cNvSpPr>
            <a:spLocks noGrp="1"/>
          </p:cNvSpPr>
          <p:nvPr>
            <p:ph type="body" idx="1"/>
          </p:nvPr>
        </p:nvSpPr>
        <p:spPr>
          <a:xfrm>
            <a:off x="0" y="550607"/>
            <a:ext cx="10127226" cy="2664542"/>
          </a:xfrm>
        </p:spPr>
        <p:txBody>
          <a:bodyPr>
            <a:normAutofit/>
          </a:bodyPr>
          <a:lstStyle/>
          <a:p>
            <a:r>
              <a:rPr lang="en-US" sz="2800" b="1" dirty="0">
                <a:latin typeface="Century Schoolbook" panose="02040604050505020304" pitchFamily="18" charset="0"/>
              </a:rPr>
              <a:t>There are three types of access control system are : -</a:t>
            </a:r>
          </a:p>
          <a:p>
            <a:r>
              <a:rPr lang="en-US" sz="3200" b="1" dirty="0">
                <a:latin typeface="Century Schoolbook" panose="02040604050505020304" pitchFamily="18" charset="0"/>
              </a:rPr>
              <a:t>1. Discretionary Access Control (DAC).</a:t>
            </a:r>
          </a:p>
          <a:p>
            <a:r>
              <a:rPr lang="en-US" sz="3200" b="1" dirty="0">
                <a:latin typeface="Century Schoolbook" panose="02040604050505020304" pitchFamily="18" charset="0"/>
              </a:rPr>
              <a:t>2. Mandatory Access Control (MAC).</a:t>
            </a:r>
          </a:p>
          <a:p>
            <a:r>
              <a:rPr lang="en-US" sz="3200" b="1" dirty="0">
                <a:latin typeface="Century Schoolbook" panose="02040604050505020304" pitchFamily="18" charset="0"/>
              </a:rPr>
              <a:t>3. Role-Based Access Control (RAC).</a:t>
            </a:r>
          </a:p>
        </p:txBody>
      </p:sp>
    </p:spTree>
    <p:extLst>
      <p:ext uri="{BB962C8B-B14F-4D97-AF65-F5344CB8AC3E}">
        <p14:creationId xmlns:p14="http://schemas.microsoft.com/office/powerpoint/2010/main" val="4190952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B9C7-2548-92EC-F1B5-4B813423F16E}"/>
              </a:ext>
            </a:extLst>
          </p:cNvPr>
          <p:cNvSpPr>
            <a:spLocks noGrp="1"/>
          </p:cNvSpPr>
          <p:nvPr>
            <p:ph type="title"/>
          </p:nvPr>
        </p:nvSpPr>
        <p:spPr>
          <a:xfrm>
            <a:off x="38238" y="0"/>
            <a:ext cx="10551104" cy="816638"/>
          </a:xfrm>
        </p:spPr>
        <p:txBody>
          <a:bodyPr>
            <a:normAutofit fontScale="90000"/>
          </a:bodyPr>
          <a:lstStyle/>
          <a:p>
            <a:r>
              <a:rPr lang="en-US" sz="4000" dirty="0">
                <a:latin typeface="Algerian" panose="04020705040A02060702" pitchFamily="82" charset="0"/>
              </a:rPr>
              <a:t>1. </a:t>
            </a:r>
            <a:r>
              <a:rPr lang="en-US" sz="4000" u="sng" dirty="0" err="1">
                <a:latin typeface="Algerian" panose="04020705040A02060702" pitchFamily="82" charset="0"/>
              </a:rPr>
              <a:t>Discreationary</a:t>
            </a:r>
            <a:r>
              <a:rPr lang="en-US" sz="4000" u="sng" dirty="0">
                <a:latin typeface="Algerian" panose="04020705040A02060702" pitchFamily="82" charset="0"/>
              </a:rPr>
              <a:t> access control (DAC)</a:t>
            </a:r>
            <a:r>
              <a:rPr lang="en-US" sz="4000" dirty="0">
                <a:latin typeface="Algerian" panose="04020705040A02060702" pitchFamily="82" charset="0"/>
              </a:rPr>
              <a:t> : -</a:t>
            </a:r>
            <a:endParaRPr lang="en-IN" sz="4000" dirty="0">
              <a:latin typeface="Algerian" panose="04020705040A02060702" pitchFamily="82" charset="0"/>
            </a:endParaRPr>
          </a:p>
        </p:txBody>
      </p:sp>
      <p:sp>
        <p:nvSpPr>
          <p:cNvPr id="3" name="Text Placeholder 2">
            <a:extLst>
              <a:ext uri="{FF2B5EF4-FFF2-40B4-BE49-F238E27FC236}">
                <a16:creationId xmlns:a16="http://schemas.microsoft.com/office/drawing/2014/main" id="{CEDA960D-521F-F7CA-4128-32F7070DBB35}"/>
              </a:ext>
            </a:extLst>
          </p:cNvPr>
          <p:cNvSpPr>
            <a:spLocks noGrp="1"/>
          </p:cNvSpPr>
          <p:nvPr>
            <p:ph type="body" idx="1"/>
          </p:nvPr>
        </p:nvSpPr>
        <p:spPr>
          <a:xfrm>
            <a:off x="0" y="530942"/>
            <a:ext cx="9920748" cy="4837471"/>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When user set an access control mechanism to allow or deny access to an object (system resource), such a mechanism is a Discretionary Access Control (DAC).</a:t>
            </a:r>
          </a:p>
          <a:p>
            <a:pPr marL="342900" indent="-342900">
              <a:buFont typeface="Wingdings" panose="05000000000000000000" pitchFamily="2" charset="2"/>
              <a:buChar char="Ø"/>
            </a:pPr>
            <a:r>
              <a:rPr lang="en-US" sz="2400" b="1" dirty="0">
                <a:latin typeface="Century Schoolbook" panose="02040604050505020304" pitchFamily="18" charset="0"/>
              </a:rPr>
              <a:t>The Discretionary Access Control is also called as an Identity- Based Access Control (IBAC).</a:t>
            </a:r>
          </a:p>
          <a:p>
            <a:pPr marL="342900" indent="-342900">
              <a:buFont typeface="Wingdings" panose="05000000000000000000" pitchFamily="2" charset="2"/>
              <a:buChar char="Ø"/>
            </a:pPr>
            <a:r>
              <a:rPr lang="en-US" sz="2400" b="1" dirty="0">
                <a:latin typeface="Century Schoolbook" panose="02040604050505020304" pitchFamily="18" charset="0"/>
              </a:rPr>
              <a:t>The DAC policies include the file permissions model implemented by nearly all operating systems. </a:t>
            </a:r>
          </a:p>
          <a:p>
            <a:pPr marL="342900" indent="-342900">
              <a:buFont typeface="Wingdings" panose="05000000000000000000" pitchFamily="2" charset="2"/>
              <a:buChar char="Ø"/>
            </a:pPr>
            <a:r>
              <a:rPr lang="en-US" sz="2400" b="1" dirty="0">
                <a:latin typeface="Century Schoolbook" panose="02040604050505020304" pitchFamily="18" charset="0"/>
              </a:rPr>
              <a:t>Discretionary Access Control List (DCL) determines which Users and groups can access the object (system resource) for operations. It consists of a list of Access Control Entries (ACEs).</a:t>
            </a:r>
          </a:p>
        </p:txBody>
      </p:sp>
    </p:spTree>
    <p:extLst>
      <p:ext uri="{BB962C8B-B14F-4D97-AF65-F5344CB8AC3E}">
        <p14:creationId xmlns:p14="http://schemas.microsoft.com/office/powerpoint/2010/main" val="3021780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614EF-0486-B7EB-6246-5A517E22A99B}"/>
              </a:ext>
            </a:extLst>
          </p:cNvPr>
          <p:cNvSpPr>
            <a:spLocks noGrp="1"/>
          </p:cNvSpPr>
          <p:nvPr>
            <p:ph type="title"/>
          </p:nvPr>
        </p:nvSpPr>
        <p:spPr>
          <a:xfrm>
            <a:off x="0" y="-72923"/>
            <a:ext cx="10500852" cy="692355"/>
          </a:xfrm>
        </p:spPr>
        <p:txBody>
          <a:bodyPr>
            <a:normAutofit/>
          </a:bodyPr>
          <a:lstStyle/>
          <a:p>
            <a:r>
              <a:rPr lang="en-US" sz="3600" dirty="0">
                <a:latin typeface="Algerian" panose="04020705040A02060702" pitchFamily="82" charset="0"/>
              </a:rPr>
              <a:t>2. </a:t>
            </a:r>
            <a:r>
              <a:rPr lang="en-US" sz="3600" u="sng" dirty="0">
                <a:latin typeface="Algerian" panose="04020705040A02060702" pitchFamily="82" charset="0"/>
              </a:rPr>
              <a:t>Mandatory access control (Mac)</a:t>
            </a:r>
            <a:r>
              <a:rPr lang="en-US" sz="3600" dirty="0">
                <a:latin typeface="Algerian" panose="04020705040A02060702" pitchFamily="82" charset="0"/>
              </a:rPr>
              <a:t> : -</a:t>
            </a:r>
            <a:endParaRPr lang="en-IN" sz="3600" dirty="0">
              <a:latin typeface="Algerian" panose="04020705040A02060702" pitchFamily="82" charset="0"/>
            </a:endParaRPr>
          </a:p>
        </p:txBody>
      </p:sp>
      <p:sp>
        <p:nvSpPr>
          <p:cNvPr id="3" name="Text Placeholder 2">
            <a:extLst>
              <a:ext uri="{FF2B5EF4-FFF2-40B4-BE49-F238E27FC236}">
                <a16:creationId xmlns:a16="http://schemas.microsoft.com/office/drawing/2014/main" id="{F408C0AD-AFB5-DB71-11C7-0FD53C797B53}"/>
              </a:ext>
            </a:extLst>
          </p:cNvPr>
          <p:cNvSpPr>
            <a:spLocks noGrp="1"/>
          </p:cNvSpPr>
          <p:nvPr>
            <p:ph type="body" idx="1"/>
          </p:nvPr>
        </p:nvSpPr>
        <p:spPr>
          <a:xfrm>
            <a:off x="0" y="-72923"/>
            <a:ext cx="9733935" cy="5923935"/>
          </a:xfrm>
        </p:spPr>
        <p:txBody>
          <a:bodyPr>
            <a:normAutofit lnSpcReduction="10000"/>
          </a:bodyPr>
          <a:lstStyle/>
          <a:p>
            <a:endParaRPr lang="en-US" sz="2400" b="1" dirty="0">
              <a:latin typeface="Century Schoolbook" panose="02040604050505020304" pitchFamily="18" charset="0"/>
            </a:endParaRPr>
          </a:p>
          <a:p>
            <a:pPr marL="342900" indent="-342900">
              <a:buFont typeface="Wingdings" panose="05000000000000000000" pitchFamily="2" charset="2"/>
              <a:buChar char="Ø"/>
            </a:pPr>
            <a:r>
              <a:rPr lang="en-US" sz="2400" b="1" dirty="0">
                <a:latin typeface="Century Schoolbook" panose="02040604050505020304" pitchFamily="18" charset="0"/>
              </a:rPr>
              <a:t>When a system mechanism controls access to an object and an individual user cannot alter that access, then such control is called as Mandatory Access Control (MAC).</a:t>
            </a:r>
          </a:p>
          <a:p>
            <a:pPr marL="342900" indent="-342900">
              <a:buFont typeface="Wingdings" panose="05000000000000000000" pitchFamily="2" charset="2"/>
              <a:buChar char="Ø"/>
            </a:pPr>
            <a:r>
              <a:rPr lang="en-US" sz="2400" b="1" dirty="0">
                <a:latin typeface="Century Schoolbook" panose="02040604050505020304" pitchFamily="18" charset="0"/>
              </a:rPr>
              <a:t>Mandatory Access Control (MAC) is also called as Rule-based access b control.</a:t>
            </a:r>
          </a:p>
          <a:p>
            <a:pPr marL="342900" indent="-342900">
              <a:buFont typeface="Wingdings" panose="05000000000000000000" pitchFamily="2" charset="2"/>
              <a:buChar char="Ø"/>
            </a:pPr>
            <a:r>
              <a:rPr lang="en-US" sz="2400" b="1" dirty="0">
                <a:latin typeface="Century Schoolbook" panose="02040604050505020304" pitchFamily="18" charset="0"/>
              </a:rPr>
              <a:t>MAC is a more restrictive scheme that does not allow users to define permissions on files, regardless of ownership. Instead, security decisions are made by a central policy administrator.</a:t>
            </a:r>
          </a:p>
          <a:p>
            <a:pPr marL="342900" indent="-342900">
              <a:buFont typeface="Wingdings" panose="05000000000000000000" pitchFamily="2" charset="2"/>
              <a:buChar char="Ø"/>
            </a:pPr>
            <a:r>
              <a:rPr lang="en-US" sz="2400" b="1" dirty="0">
                <a:latin typeface="Century Schoolbook" panose="02040604050505020304" pitchFamily="18" charset="0"/>
              </a:rPr>
              <a:t>Each security rule consists of a subject, which represents the party attempting to gain access, an object, referring to the resource being accessed, and a series of permissions that define the extent to which that resource can be accessed.</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172485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BC253-37DD-CE37-7C54-B0761B9960EE}"/>
              </a:ext>
            </a:extLst>
          </p:cNvPr>
          <p:cNvSpPr>
            <a:spLocks noGrp="1"/>
          </p:cNvSpPr>
          <p:nvPr>
            <p:ph type="title"/>
          </p:nvPr>
        </p:nvSpPr>
        <p:spPr>
          <a:xfrm>
            <a:off x="0" y="-88491"/>
            <a:ext cx="9596284" cy="747252"/>
          </a:xfrm>
        </p:spPr>
        <p:txBody>
          <a:bodyPr>
            <a:normAutofit/>
          </a:bodyPr>
          <a:lstStyle/>
          <a:p>
            <a:r>
              <a:rPr lang="en-US" sz="3600" dirty="0">
                <a:latin typeface="Algerian" panose="04020705040A02060702" pitchFamily="82" charset="0"/>
              </a:rPr>
              <a:t>3. </a:t>
            </a:r>
            <a:r>
              <a:rPr lang="en-US" sz="3600" u="sng" dirty="0">
                <a:latin typeface="Algerian" panose="04020705040A02060702" pitchFamily="82" charset="0"/>
              </a:rPr>
              <a:t>role-based access control (RBAC)</a:t>
            </a:r>
            <a:r>
              <a:rPr lang="en-US" sz="3600" dirty="0">
                <a:latin typeface="Algerian" panose="04020705040A02060702" pitchFamily="82" charset="0"/>
              </a:rPr>
              <a:t> : -</a:t>
            </a:r>
            <a:endParaRPr lang="en-IN" sz="3600" dirty="0">
              <a:latin typeface="Algerian" panose="04020705040A02060702" pitchFamily="82" charset="0"/>
            </a:endParaRPr>
          </a:p>
        </p:txBody>
      </p:sp>
      <p:sp>
        <p:nvSpPr>
          <p:cNvPr id="3" name="Text Placeholder 2">
            <a:extLst>
              <a:ext uri="{FF2B5EF4-FFF2-40B4-BE49-F238E27FC236}">
                <a16:creationId xmlns:a16="http://schemas.microsoft.com/office/drawing/2014/main" id="{C1F88B72-2FD0-EA2E-A750-1E93CF6F5BE9}"/>
              </a:ext>
            </a:extLst>
          </p:cNvPr>
          <p:cNvSpPr>
            <a:spLocks noGrp="1"/>
          </p:cNvSpPr>
          <p:nvPr>
            <p:ph type="body" idx="1"/>
          </p:nvPr>
        </p:nvSpPr>
        <p:spPr>
          <a:xfrm>
            <a:off x="0" y="353961"/>
            <a:ext cx="9763432" cy="5043949"/>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Role-Based Access Control (RBAC) is a method of regulating access to computer resources based on the roles of individual users within an enterprise.</a:t>
            </a:r>
          </a:p>
          <a:p>
            <a:pPr marL="342900" indent="-342900">
              <a:buFont typeface="Wingdings" panose="05000000000000000000" pitchFamily="2" charset="2"/>
              <a:buChar char="Ø"/>
            </a:pPr>
            <a:r>
              <a:rPr lang="en-US" sz="2400" b="1" dirty="0">
                <a:latin typeface="Century Schoolbook" panose="02040604050505020304" pitchFamily="18" charset="0"/>
              </a:rPr>
              <a:t>In RBAC, the rights and permissions are assigned to roles instead of individual users.</a:t>
            </a:r>
          </a:p>
          <a:p>
            <a:pPr marL="342900" indent="-342900">
              <a:buFont typeface="Wingdings" panose="05000000000000000000" pitchFamily="2" charset="2"/>
              <a:buChar char="Ø"/>
            </a:pPr>
            <a:r>
              <a:rPr lang="en-US" sz="2400" b="1" dirty="0">
                <a:latin typeface="Century Schoolbook" panose="02040604050505020304" pitchFamily="18" charset="0"/>
              </a:rPr>
              <a:t>RBAC is also called as Non-Discretionary Access control (NDAC).</a:t>
            </a:r>
          </a:p>
          <a:p>
            <a:pPr marL="342900" indent="-342900">
              <a:buFont typeface="Wingdings" panose="05000000000000000000" pitchFamily="2" charset="2"/>
              <a:buChar char="Ø"/>
            </a:pPr>
            <a:r>
              <a:rPr lang="en-US" sz="2400" b="1" dirty="0">
                <a:latin typeface="Century Schoolbook" panose="02040604050505020304" pitchFamily="18" charset="0"/>
              </a:rPr>
              <a:t>The RBAC framework provides administrators with the capability to regulate who can perform what actions, when, from where, in what order, and in some cases under what relational circumstances.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5089723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1504</TotalTime>
  <Words>3208</Words>
  <Application>Microsoft Office PowerPoint</Application>
  <PresentationFormat>Widescreen</PresentationFormat>
  <Paragraphs>210</Paragraphs>
  <Slides>30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Algerian</vt:lpstr>
      <vt:lpstr>Arial</vt:lpstr>
      <vt:lpstr>Calibri</vt:lpstr>
      <vt:lpstr>Century Schoolbook</vt:lpstr>
      <vt:lpstr>Trebuchet MS</vt:lpstr>
      <vt:lpstr>Wingdings</vt:lpstr>
      <vt:lpstr>Wingdings 3</vt:lpstr>
      <vt:lpstr>Facet</vt:lpstr>
      <vt:lpstr>02. User authentication &amp; access control</vt:lpstr>
      <vt:lpstr>Identification &amp; authentication : -</vt:lpstr>
      <vt:lpstr>User names &amp; passwards : -</vt:lpstr>
      <vt:lpstr>Guessing a passward : -</vt:lpstr>
      <vt:lpstr>Passward attack : -</vt:lpstr>
      <vt:lpstr>Shoulder surfing : -</vt:lpstr>
      <vt:lpstr>Dumpster diving : -</vt:lpstr>
      <vt:lpstr>2.2 biometrics : -</vt:lpstr>
      <vt:lpstr>PowerPoint Presentation</vt:lpstr>
      <vt:lpstr>Handprint/hand geometry recognization : -</vt:lpstr>
      <vt:lpstr>PowerPoint Presentation</vt:lpstr>
      <vt:lpstr>Retinal scanning system : -</vt:lpstr>
      <vt:lpstr>PowerPoint Presentation</vt:lpstr>
      <vt:lpstr>Voice pattern : -</vt:lpstr>
      <vt:lpstr>PowerPoint Presentation</vt:lpstr>
      <vt:lpstr>Signature &amp; writing pttern : -</vt:lpstr>
      <vt:lpstr>Merits of signature &amp; writing Pattern + Applications : - 1. Used in banking and legal documents with user familiarity.  2. Electronic signature systems. 3. Writting pattern can be used in forensic document examination fraud detection, etc.  </vt:lpstr>
      <vt:lpstr>Keystrokes : -</vt:lpstr>
      <vt:lpstr>PowerPoint Presentation</vt:lpstr>
      <vt:lpstr>Facial recognition : -</vt:lpstr>
      <vt:lpstr>PowerPoint Presentation</vt:lpstr>
      <vt:lpstr>Iris recognition : -</vt:lpstr>
      <vt:lpstr>PowerPoint Presentation</vt:lpstr>
      <vt:lpstr>2.3 Access control : -</vt:lpstr>
      <vt:lpstr>Authentication mechanism : -</vt:lpstr>
      <vt:lpstr>Principle of access control : -</vt:lpstr>
      <vt:lpstr>Policies : -</vt:lpstr>
      <vt:lpstr>1. Discreationary access control (DAC) : -</vt:lpstr>
      <vt:lpstr>2. Mandatory access control (Mac) : -</vt:lpstr>
      <vt:lpstr>3. role-based access control (RBAC)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1</cp:revision>
  <dcterms:created xsi:type="dcterms:W3CDTF">2025-10-07T16:51:20Z</dcterms:created>
  <dcterms:modified xsi:type="dcterms:W3CDTF">2025-10-31T19:40:06Z</dcterms:modified>
</cp:coreProperties>
</file>