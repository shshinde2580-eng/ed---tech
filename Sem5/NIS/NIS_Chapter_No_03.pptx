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90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06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6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4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50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7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3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5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59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3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7838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850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9315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0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17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54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240C0-C9E9-4943-96A6-09ECA27A24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60FF528-1CB3-492B-A523-F2BE887D15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1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4532-E810-9745-9CB0-1BD0666AA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94" y="3226477"/>
            <a:ext cx="8969204" cy="824356"/>
          </a:xfrm>
        </p:spPr>
        <p:txBody>
          <a:bodyPr/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03. </a:t>
            </a:r>
            <a:r>
              <a:rPr lang="en-US" sz="7200" u="sng" dirty="0">
                <a:latin typeface="Algerian" panose="04020705040A02060702" pitchFamily="82" charset="0"/>
              </a:rPr>
              <a:t>Cryptography </a:t>
            </a:r>
            <a:endParaRPr lang="en-IN" sz="7200" u="sng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5730D-27A5-6B96-5F99-6167734BC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4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DC0C-B99D-0F58-9BB6-A89BA121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1916"/>
            <a:ext cx="10795820" cy="79123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3.1] </a:t>
            </a:r>
            <a:r>
              <a:rPr lang="en-US" sz="4000" u="sng" dirty="0">
                <a:latin typeface="Algerian" panose="04020705040A02060702" pitchFamily="82" charset="0"/>
              </a:rPr>
              <a:t>introduction of cryptography</a:t>
            </a:r>
            <a:r>
              <a:rPr lang="en-US" sz="4000" dirty="0">
                <a:latin typeface="Algerian" panose="04020705040A02060702" pitchFamily="82" charset="0"/>
              </a:rPr>
              <a:t> : -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F0573-7F38-D41B-4A0A-5AEDF3452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26" y="659322"/>
            <a:ext cx="10127227" cy="581414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Cryptography is the science of securing information by converting it into an unreadable format, so that only authorized users can understand it.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ensures confidentiality, integrity, authentication, and non-repudiation of data.</a:t>
            </a:r>
            <a:endParaRPr lang="en-IN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Types of Cryptography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Symmetric Key Cryptography.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 : DES, AES.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Asymmetric Key Cryptography.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 : RSA.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Hash Functions.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 : SHA, MD5.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1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10E3-7B77-31F7-AB24-A24B02BD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819" y="-560438"/>
            <a:ext cx="8596668" cy="48178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4C7AF-9F23-7D3C-29FD-013B616D3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226141"/>
            <a:ext cx="9724104" cy="625331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Plain Text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i) Plain Text refers to the original, unencrypted message or data that is readable and understandable.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ii) It is the data to be protected during transmission.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40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Cipher Text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i) Cipher text is the result of applying a encryption algorithm to the plain text, transforming it into an unreadable and secure format.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ii) The Cipher text is not guarded, it flows on public channel.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iii) It can be intercepted by anyone who has access to the communication channel.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6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7509-9CE3-6438-91AE-3BB199A8A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4" y="-82755"/>
            <a:ext cx="9774355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Cryptography</a:t>
            </a:r>
            <a:r>
              <a:rPr lang="en-US" dirty="0">
                <a:latin typeface="Algerian" panose="04020705040A02060702" pitchFamily="82" charset="0"/>
              </a:rPr>
              <a:t> : - </a:t>
            </a:r>
            <a:r>
              <a:rPr lang="en-US" dirty="0">
                <a:latin typeface="Century Schoolbook" panose="02040604050505020304" pitchFamily="18" charset="0"/>
              </a:rPr>
              <a:t>PT    CT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890D2-9845-21B5-85A5-9FF5A2403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04" y="452284"/>
            <a:ext cx="9774355" cy="386981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Cryptography is the science and art of securing communication by converting Plain text into cipher text through the use of algorithms and keys.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Century Schoolbook" panose="02040604050505020304" pitchFamily="18" charset="0"/>
              </a:rPr>
              <a:t>Characteristics of cryptography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The type of operations used for transforming plaintext to cipher text.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The number of keys used.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The way in which the plaintext is processed.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A95654-2204-B70C-BCC2-C35A3E8126A5}"/>
              </a:ext>
            </a:extLst>
          </p:cNvPr>
          <p:cNvCxnSpPr/>
          <p:nvPr/>
        </p:nvCxnSpPr>
        <p:spPr>
          <a:xfrm>
            <a:off x="6489290" y="452284"/>
            <a:ext cx="412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75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1E50-65D8-85D2-BC9F-63B1988B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1" y="7114"/>
            <a:ext cx="8596668" cy="671312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Cryptanalysis</a:t>
            </a:r>
            <a:r>
              <a:rPr lang="en-US" dirty="0">
                <a:latin typeface="Algerian" panose="04020705040A02060702" pitchFamily="82" charset="0"/>
              </a:rPr>
              <a:t> : - </a:t>
            </a:r>
            <a:r>
              <a:rPr lang="en-US" dirty="0">
                <a:latin typeface="Century Schoolbook" panose="02040604050505020304" pitchFamily="18" charset="0"/>
              </a:rPr>
              <a:t>CT    PT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2EA26-5ED3-F12E-6DBE-E1E473E9E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1" y="577386"/>
            <a:ext cx="9794020" cy="601514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Cryptanalysis is also known as Codebreaking.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process of trying to break any cipher text message to obtain the original plain text message.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person attempting a cryptanalysis is called as a cryptanalyst.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goal of a cryptanalyst is to find some weakness or insecurity in the cryptographic scheme to prevent obtaining plaintext without keys.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Century Schoolbook" panose="02040604050505020304" pitchFamily="18" charset="0"/>
              </a:rPr>
              <a:t>Types of attacks within cryptanalysis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Ciphertext-only attack.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Known-plaintext attack.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Chosen-plaintext attack.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4. Chosen-ciphertext attack.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5. Chosen-text attack.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1DE616-3A66-D415-5087-9D9C9B1850F9}"/>
              </a:ext>
            </a:extLst>
          </p:cNvPr>
          <p:cNvCxnSpPr/>
          <p:nvPr/>
        </p:nvCxnSpPr>
        <p:spPr>
          <a:xfrm>
            <a:off x="6617110" y="412955"/>
            <a:ext cx="403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22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8D23-FDC8-4222-A038-19594ADF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2"/>
            <a:ext cx="8596668" cy="8166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Cryptology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371FF-5C18-B219-391D-2959C36B1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52284"/>
            <a:ext cx="9507794" cy="380508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Cryptology is the art and science that deals with both cryptography and cryptanalysis.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involves the study of secure communication techniques.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Today we need cryptology because of the everyday use of computers and the Internet.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important for businesses to be able to protect the information in their computers. 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26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2621-A2D4-AB10-7D0E-83D831EB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8166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Encryption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ED2DF-7874-601B-441A-E0B3D6EF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61000"/>
            <a:ext cx="9714272" cy="480741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Encryption is the process of converting plain text into cipher text using a specific algorithm and an encryption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mathematical process that produces a cipher-text for any given plaintext.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goal is to protect the </a:t>
            </a:r>
            <a:r>
              <a:rPr lang="en-US" sz="2400" b="1" dirty="0" err="1">
                <a:latin typeface="Century Schoolbook" panose="02040604050505020304" pitchFamily="18" charset="0"/>
              </a:rPr>
              <a:t>confedentiality</a:t>
            </a:r>
            <a:r>
              <a:rPr lang="en-US" sz="2400" b="1" dirty="0">
                <a:latin typeface="Century Schoolbook" panose="02040604050505020304" pitchFamily="18" charset="0"/>
              </a:rPr>
              <a:t> and integrity of information.</a:t>
            </a:r>
            <a:endParaRPr lang="en-US" sz="2400" b="1" dirty="0">
              <a:latin typeface="Bodoni MT" panose="020706030806060202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Encryption key : It is a value that is known to the sender. The sender inputs the encryption key into the encryption algorithm along with the plaintext in order to compute the cipher-text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39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FCCF-E6FF-7A30-218B-C5472FF2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8155"/>
            <a:ext cx="9370142" cy="8166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Decryption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99A6-AC66-A9ED-A208-4F231D269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02005"/>
            <a:ext cx="9802762" cy="397167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Decryption is the reverse process of Encryption.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involves converting cipher text back into plain text using a decryption algorithm and the corresponding decryption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mathematical process that produces a plaintext for any given cipher-text.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Decryption Key : It is a value that is known to the receiver. The decryption key is related to the encryption. key, but is not always identical to it.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A75E-429F-DD1D-EFF3-2345425A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710219" cy="66859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3.2] </a:t>
            </a:r>
            <a:r>
              <a:rPr lang="en-US" sz="3600" u="sng" dirty="0">
                <a:latin typeface="Algerian" panose="04020705040A02060702" pitchFamily="82" charset="0"/>
              </a:rPr>
              <a:t>substitution &amp; transposition techniques</a:t>
            </a:r>
            <a:r>
              <a:rPr lang="en-US" sz="3600" dirty="0">
                <a:latin typeface="Algerian" panose="04020705040A02060702" pitchFamily="82" charset="0"/>
              </a:rPr>
              <a:t> : -  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CB1CA-EA20-8601-A40F-6088289F7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68594"/>
            <a:ext cx="10078066" cy="296934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1. </a:t>
            </a:r>
            <a:r>
              <a:rPr lang="en-US" sz="3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Substitution Techniques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Substitution cipher changes characters in the plaintext to produce to ciphertext.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substitution technique is one in which the letters of plaintext are replaced by other letters or by numbers or symbols.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0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2B7E-AD2F-44AE-5146-D9257ABC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1" y="0"/>
            <a:ext cx="8596668" cy="698090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1] </a:t>
            </a:r>
            <a:r>
              <a:rPr lang="en-US" u="sng" dirty="0">
                <a:latin typeface="Algerian" panose="04020705040A02060702" pitchFamily="82" charset="0"/>
              </a:rPr>
              <a:t>Caesar cipher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BBBEB-B865-A59B-EFEF-951282A22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1" y="609600"/>
            <a:ext cx="9489221" cy="538807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Caesar Cipher is a simple substitution cipher where each alphabet in a message is replaced by an alphabet THREE places down the line.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named after Julius Caesar, who is historically known to have used this </a:t>
            </a:r>
            <a:r>
              <a:rPr lang="en-US" sz="2400" b="1" dirty="0" err="1">
                <a:latin typeface="Century Schoolbook" panose="02040604050505020304" pitchFamily="18" charset="0"/>
              </a:rPr>
              <a:t>encurruption</a:t>
            </a:r>
            <a:r>
              <a:rPr lang="en-US" sz="2400" b="1" dirty="0">
                <a:latin typeface="Century Schoolbook" panose="02040604050505020304" pitchFamily="18" charset="0"/>
              </a:rPr>
              <a:t> algorithm.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Caesar cipher is suspectable to a statistical "ciphertext only" attack.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Demerits of Caesar cipher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The encryption and decryption algorithms are known.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There are only 25 keys to try.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The language of the plaintext is known and easily recognizable.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218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4AB3-BE20-2FD4-54A0-E0B12CA2E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3"/>
            <a:ext cx="8596668" cy="8166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2] </a:t>
            </a:r>
            <a:r>
              <a:rPr lang="en-US" u="sng" dirty="0">
                <a:latin typeface="Algerian" panose="04020705040A02060702" pitchFamily="82" charset="0"/>
              </a:rPr>
              <a:t>monoalphabetic cipher</a:t>
            </a:r>
            <a:r>
              <a:rPr lang="en-US" dirty="0">
                <a:latin typeface="Algerian" panose="04020705040A02060702" pitchFamily="82" charset="0"/>
              </a:rPr>
              <a:t> : -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75733-D1A4-5892-578F-D870D8C9E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44128"/>
            <a:ext cx="9615948" cy="394273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Monoalphabetic Cipher is the modified version of </a:t>
            </a:r>
            <a:r>
              <a:rPr lang="en-US" sz="2400" b="1" dirty="0" err="1">
                <a:latin typeface="Century Schoolbook" panose="02040604050505020304" pitchFamily="18" charset="0"/>
              </a:rPr>
              <a:t>caesar</a:t>
            </a:r>
            <a:r>
              <a:rPr lang="en-US" sz="2400" b="1" dirty="0">
                <a:latin typeface="Century Schoolbook" panose="02040604050505020304" pitchFamily="18" charset="0"/>
              </a:rPr>
              <a:t> cipher.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Rather than substituting according to regular pattern, any letter can be substituted for any other letter, as long as each letter has a unique substitute left and vice versa.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shift value changes for each letter based on a pre- defined Key. The key might specify different shift values for different letters.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37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8F9B-E402-4877-2781-18353625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3"/>
            <a:ext cx="9448800" cy="268420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2. </a:t>
            </a:r>
            <a:r>
              <a:rPr lang="en-US" sz="4000" u="sng" dirty="0">
                <a:latin typeface="Algerian" panose="04020705040A02060702" pitchFamily="82" charset="0"/>
              </a:rPr>
              <a:t>Transposition</a:t>
            </a:r>
            <a:r>
              <a:rPr lang="en-US" sz="3600" u="sng" dirty="0">
                <a:latin typeface="Algerian" panose="04020705040A02060702" pitchFamily="82" charset="0"/>
              </a:rPr>
              <a:t> </a:t>
            </a:r>
            <a:r>
              <a:rPr lang="en-US" sz="4000" u="sng" dirty="0">
                <a:latin typeface="Algerian" panose="04020705040A02060702" pitchFamily="82" charset="0"/>
              </a:rPr>
              <a:t>techniques</a:t>
            </a:r>
            <a:r>
              <a:rPr lang="en-US" sz="4000" dirty="0">
                <a:latin typeface="Algerian" panose="04020705040A02060702" pitchFamily="82" charset="0"/>
              </a:rPr>
              <a:t> : -</a:t>
            </a:r>
            <a:br>
              <a:rPr lang="en-US" sz="4000" dirty="0">
                <a:latin typeface="Algerian" panose="04020705040A02060702" pitchFamily="82" charset="0"/>
              </a:rPr>
            </a:b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 transposition cipher rearranges the characters in the plaintext to form the cipher text.</a:t>
            </a: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The letters are not changed.</a:t>
            </a:r>
            <a:b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</a:b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B8FC-45BE-DAE6-B72E-01CA8A9B8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3780"/>
            <a:ext cx="9783097" cy="473423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IN" sz="40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Simple Columnar</a:t>
            </a: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In this transposition technique, the plain text is written horizontally, and then read vertically to create the cipher text.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The order of reading is determined by a key, which specifies the columns to be read in a certain order.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The key is typically a word or a sequence of numbers.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entury Schoolbook" panose="02040604050505020304" pitchFamily="18" charset="0"/>
              </a:rPr>
              <a:t>The number of letters in the key determines the no. of columns in the transposition quid.</a:t>
            </a:r>
          </a:p>
        </p:txBody>
      </p:sp>
    </p:spTree>
    <p:extLst>
      <p:ext uri="{BB962C8B-B14F-4D97-AF65-F5344CB8AC3E}">
        <p14:creationId xmlns:p14="http://schemas.microsoft.com/office/powerpoint/2010/main" val="421435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2E36-76E1-6912-63A0-8DB24EF6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3"/>
            <a:ext cx="8596668" cy="898832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Steganography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F7B00-126E-96BD-F6FE-33EA34678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07220"/>
            <a:ext cx="9684775" cy="53348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Steganography is derived from the Greek that originally means: </a:t>
            </a:r>
            <a:r>
              <a:rPr lang="en-US" sz="2400" b="1" dirty="0" err="1">
                <a:latin typeface="Century Schoolbook" panose="02040604050505020304" pitchFamily="18" charset="0"/>
              </a:rPr>
              <a:t>steganos</a:t>
            </a:r>
            <a:r>
              <a:rPr lang="en-US" sz="2400" b="1" dirty="0">
                <a:latin typeface="Century Schoolbook" panose="02040604050505020304" pitchFamily="18" charset="0"/>
              </a:rPr>
              <a:t> = secret-</a:t>
            </a:r>
            <a:r>
              <a:rPr lang="en-US" sz="2400" b="1" dirty="0" err="1">
                <a:latin typeface="Century Schoolbook" panose="02040604050505020304" pitchFamily="18" charset="0"/>
              </a:rPr>
              <a:t>graphy</a:t>
            </a:r>
            <a:r>
              <a:rPr lang="en-US" sz="2400" b="1" dirty="0">
                <a:latin typeface="Century Schoolbook" panose="02040604050505020304" pitchFamily="18" charset="0"/>
              </a:rPr>
              <a:t> = writing i.e. "to hide in plain sight”.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defined as the art and science of communicating in such a way that the presence of a message cannot be detected.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other major use of steganography is for copyright marketing, which can be further divided into watermarking and fingerprinting.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Steganography provides a means of secret communication which cannot be removed without significantly altering the data in which it is embedded.</a:t>
            </a:r>
          </a:p>
        </p:txBody>
      </p:sp>
    </p:spTree>
    <p:extLst>
      <p:ext uri="{BB962C8B-B14F-4D97-AF65-F5344CB8AC3E}">
        <p14:creationId xmlns:p14="http://schemas.microsoft.com/office/powerpoint/2010/main" val="3732359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2801-ED37-40E0-5D41-8FED6C17B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420"/>
            <a:ext cx="8596668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Procedure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u="sng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35A65-B8D1-BE01-ECE2-75FA4BA1C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19992"/>
            <a:ext cx="10294374" cy="60413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Choose the Cover Medium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  <a:endParaRPr lang="en-US" sz="2400" b="1" u="sng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- Select the medium (image, audio, video, text) in which the secret message will be hidden.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The most common medium is an image (</a:t>
            </a:r>
            <a:r>
              <a:rPr lang="en-US" sz="2000" b="1" dirty="0" err="1">
                <a:latin typeface="Century Schoolbook" panose="02040604050505020304" pitchFamily="18" charset="0"/>
              </a:rPr>
              <a:t>eg.</a:t>
            </a:r>
            <a:r>
              <a:rPr lang="en-US" sz="2000" b="1" dirty="0">
                <a:latin typeface="Century Schoolbook" panose="02040604050505020304" pitchFamily="18" charset="0"/>
              </a:rPr>
              <a:t> PNG, JPEG)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Prepare the Secret Data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The data that needs to be hidden. could be plain text, an image, or any other kind of data.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IF desired, the data can also be encrypted beforehand to enhance security.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3.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Encoding Process (Hiding the Data)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Schoolbook" panose="02040604050505020304" pitchFamily="18" charset="0"/>
              </a:rPr>
              <a:t>C</a:t>
            </a:r>
            <a:r>
              <a:rPr lang="en-US" sz="2000" b="1" dirty="0">
                <a:latin typeface="Century Schoolbook" panose="02040604050505020304" pitchFamily="18" charset="0"/>
              </a:rPr>
              <a:t>hoose a method for embedding the secret data into the cover medium. Some common techniques include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Least significant Bit (LSB) Substitution.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Frequency Domain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Spread Spectrum.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Masking and Filtering.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55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6E2E-43EB-453E-095D-5CF50FC2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4968"/>
            <a:ext cx="9803853" cy="15731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89602-944E-B26E-F119-61F5F5623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137652"/>
            <a:ext cx="10000499" cy="6558116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4. </a:t>
            </a:r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Generate the </a:t>
            </a:r>
            <a:r>
              <a:rPr lang="en-IN" sz="2800" b="1" u="sng" dirty="0" err="1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stego</a:t>
            </a:r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–Medium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</a:p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- </a:t>
            </a:r>
            <a:r>
              <a:rPr lang="en-IN" sz="2400" b="1" dirty="0">
                <a:latin typeface="Century Schoolbook" panose="02040604050505020304" pitchFamily="18" charset="0"/>
              </a:rPr>
              <a:t>After embedding, the modified file is called the </a:t>
            </a:r>
            <a:r>
              <a:rPr lang="en-IN" sz="2400" b="1" dirty="0" err="1">
                <a:latin typeface="Century Schoolbook" panose="02040604050505020304" pitchFamily="18" charset="0"/>
              </a:rPr>
              <a:t>stego</a:t>
            </a:r>
            <a:r>
              <a:rPr lang="en-IN" sz="2400" b="1" dirty="0">
                <a:latin typeface="Century Schoolbook" panose="02040604050505020304" pitchFamily="18" charset="0"/>
              </a:rPr>
              <a:t>-medium (</a:t>
            </a:r>
            <a:r>
              <a:rPr lang="en-IN" sz="2400" b="1" dirty="0" err="1">
                <a:latin typeface="Century Schoolbook" panose="02040604050505020304" pitchFamily="18" charset="0"/>
              </a:rPr>
              <a:t>stego</a:t>
            </a:r>
            <a:r>
              <a:rPr lang="en-IN" sz="2400" b="1" dirty="0">
                <a:latin typeface="Century Schoolbook" panose="02040604050505020304" pitchFamily="18" charset="0"/>
              </a:rPr>
              <a:t>-image, </a:t>
            </a:r>
            <a:r>
              <a:rPr lang="en-IN" sz="2400" b="1" dirty="0" err="1">
                <a:latin typeface="Century Schoolbook" panose="02040604050505020304" pitchFamily="18" charset="0"/>
              </a:rPr>
              <a:t>stego</a:t>
            </a:r>
            <a:r>
              <a:rPr lang="en-IN" sz="2400" b="1" dirty="0">
                <a:latin typeface="Century Schoolbook" panose="02040604050505020304" pitchFamily="18" charset="0"/>
              </a:rPr>
              <a:t>-audio). 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- This file should appear visually the same as the original, concealing the fact that any data is hidden within it.</a:t>
            </a:r>
          </a:p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5. </a:t>
            </a:r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Transmission or Storage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</a:p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- </a:t>
            </a:r>
            <a:r>
              <a:rPr lang="en-IN" sz="2400" b="1" dirty="0">
                <a:latin typeface="Century Schoolbook" panose="02040604050505020304" pitchFamily="18" charset="0"/>
              </a:rPr>
              <a:t>The </a:t>
            </a:r>
            <a:r>
              <a:rPr lang="en-IN" sz="2400" b="1" dirty="0" err="1">
                <a:latin typeface="Century Schoolbook" panose="02040604050505020304" pitchFamily="18" charset="0"/>
              </a:rPr>
              <a:t>stego</a:t>
            </a:r>
            <a:r>
              <a:rPr lang="en-IN" sz="2400" b="1" dirty="0">
                <a:latin typeface="Century Schoolbook" panose="02040604050505020304" pitchFamily="18" charset="0"/>
              </a:rPr>
              <a:t>-medium can now be transmitted over a communication channel (email, social media </a:t>
            </a:r>
            <a:r>
              <a:rPr lang="en-IN" sz="2400" b="1" dirty="0" err="1">
                <a:latin typeface="Century Schoolbook" panose="02040604050505020304" pitchFamily="18" charset="0"/>
              </a:rPr>
              <a:t>ete</a:t>
            </a:r>
            <a:r>
              <a:rPr lang="en-IN" sz="2400" b="1" dirty="0">
                <a:latin typeface="Century Schoolbook" panose="02040604050505020304" pitchFamily="18" charset="0"/>
              </a:rPr>
              <a:t>) or stored for later retrieval.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- It should appear as a regular file.</a:t>
            </a:r>
          </a:p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6. </a:t>
            </a:r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Decoding (Extraction of Hidden Data)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- The recipient needs to know the steganographic technique used to hide the data.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- Using the reverse process of the embedding technique, extract the secret data from the </a:t>
            </a:r>
            <a:r>
              <a:rPr lang="en-IN" sz="2400" b="1" dirty="0" err="1">
                <a:latin typeface="Century Schoolbook" panose="02040604050505020304" pitchFamily="18" charset="0"/>
              </a:rPr>
              <a:t>stego</a:t>
            </a:r>
            <a:r>
              <a:rPr lang="en-IN" sz="2400" b="1" dirty="0">
                <a:latin typeface="Century Schoolbook" panose="02040604050505020304" pitchFamily="18" charset="0"/>
              </a:rPr>
              <a:t>-medium.</a:t>
            </a:r>
          </a:p>
        </p:txBody>
      </p:sp>
    </p:spTree>
    <p:extLst>
      <p:ext uri="{BB962C8B-B14F-4D97-AF65-F5344CB8AC3E}">
        <p14:creationId xmlns:p14="http://schemas.microsoft.com/office/powerpoint/2010/main" val="4216349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2639-8681-1D6C-E826-143D75B7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580103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u="sng" dirty="0">
                <a:latin typeface="Algerian" panose="04020705040A02060702" pitchFamily="82" charset="0"/>
              </a:rPr>
              <a:t>Difference between steganography &amp; cryptography</a:t>
            </a:r>
            <a:r>
              <a:rPr lang="en-US" sz="2800" dirty="0">
                <a:latin typeface="Algerian" panose="04020705040A02060702" pitchFamily="82" charset="0"/>
              </a:rPr>
              <a:t> : -</a:t>
            </a:r>
            <a:endParaRPr lang="en-IN" sz="28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96974-AFA7-887A-1BB5-095E5900D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13C78-1EA2-2238-EB50-63A378944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17" y="580103"/>
            <a:ext cx="9348103" cy="620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61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8648-6CC3-773E-51F6-98D50AD3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8827"/>
            <a:ext cx="11121375" cy="698651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3.4] </a:t>
            </a:r>
            <a:r>
              <a:rPr lang="en-US" sz="3600" u="sng" dirty="0">
                <a:latin typeface="Algerian" panose="04020705040A02060702" pitchFamily="82" charset="0"/>
              </a:rPr>
              <a:t>symmetric &amp; asymmetric </a:t>
            </a:r>
            <a:r>
              <a:rPr lang="en-US" sz="3600" u="sng" dirty="0" err="1">
                <a:latin typeface="Algerian" panose="04020705040A02060702" pitchFamily="82" charset="0"/>
              </a:rPr>
              <a:t>cryptographt</a:t>
            </a:r>
            <a:r>
              <a:rPr lang="en-US" sz="3600" dirty="0">
                <a:latin typeface="Algerian" panose="04020705040A02060702" pitchFamily="82" charset="0"/>
              </a:rPr>
              <a:t> : -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D41F2-98E2-8D16-B64B-AD08BF25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245091"/>
            <a:ext cx="10176387" cy="6548286"/>
          </a:xfrm>
        </p:spPr>
        <p:txBody>
          <a:bodyPr>
            <a:normAutofit/>
          </a:bodyPr>
          <a:lstStyle/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514350" indent="-514350">
              <a:buAutoNum type="arabicPeriod"/>
            </a:pP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Symmetric Cryptography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encryption process where same                                                     keys are used for encrypting and                                                             decrypting the information is known                                                          as symmetric-key Encryption.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study of symmetric crypto-systems                                                             is </a:t>
            </a:r>
            <a:r>
              <a:rPr lang="en-US" sz="2400" b="1" dirty="0" err="1">
                <a:latin typeface="Century Schoolbook" panose="02040604050505020304" pitchFamily="18" charset="0"/>
              </a:rPr>
              <a:t>refferred</a:t>
            </a:r>
            <a:r>
              <a:rPr lang="en-US" sz="2400" b="1" dirty="0">
                <a:latin typeface="Century Schoolbook" panose="02040604050505020304" pitchFamily="18" charset="0"/>
              </a:rPr>
              <a:t> to as symmetric                                                        cryptography.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Some well-known examples of                                                          symmetric key encryption. methods are                                                           - Digital Encryption standard (DES), Triple-DES, IDEA, and BLOWFISH.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key is shared.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12CA3-EABD-5D07-E897-1119ADCE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103" y="1200969"/>
            <a:ext cx="5442139" cy="326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94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FC90-91FC-D53C-A71D-7861221A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" y="-78658"/>
            <a:ext cx="10728085" cy="69809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2. </a:t>
            </a:r>
            <a:r>
              <a:rPr lang="en-US" sz="3600" u="sng" dirty="0">
                <a:latin typeface="Algerian" panose="04020705040A02060702" pitchFamily="82" charset="0"/>
              </a:rPr>
              <a:t>Des </a:t>
            </a:r>
            <a:r>
              <a:rPr lang="en-US" sz="3600" u="sng" dirty="0">
                <a:latin typeface="Century Schoolbook" panose="02040604050505020304" pitchFamily="18" charset="0"/>
              </a:rPr>
              <a:t>(data encryption standard) </a:t>
            </a:r>
            <a:r>
              <a:rPr lang="en-US" sz="3600" u="sng" dirty="0">
                <a:latin typeface="Algerian" panose="04020705040A02060702" pitchFamily="82" charset="0"/>
              </a:rPr>
              <a:t>algorithm</a:t>
            </a:r>
            <a:r>
              <a:rPr lang="en-US" sz="3600" dirty="0">
                <a:latin typeface="Algerian" panose="04020705040A02060702" pitchFamily="82" charset="0"/>
              </a:rPr>
              <a:t> : -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AC11E-5778-E980-6CC0-5A221D48D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0" y="270387"/>
            <a:ext cx="10069325" cy="615499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DES is a symmetric key block cipher                                                      which encrypts data in 64-bit block.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key size is 56-bit.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encryption process is made of two                                     permutations i.e. P-boxes, which is called                                                initial and final permutation.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DES uses both transposition and                                                  substitution. It's input, output and key                                                  are each 64-bits long.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cipher consists of 16 rounds or                                                                iterations Each rounds uses a </a:t>
            </a:r>
            <a:r>
              <a:rPr lang="en-US" sz="2400" b="1" dirty="0" err="1">
                <a:latin typeface="Century Schoolbook" panose="02040604050505020304" pitchFamily="18" charset="0"/>
              </a:rPr>
              <a:t>seperate</a:t>
            </a:r>
            <a:r>
              <a:rPr lang="en-US" sz="2400" b="1" dirty="0">
                <a:latin typeface="Century Schoolbook" panose="02040604050505020304" pitchFamily="18" charset="0"/>
              </a:rPr>
              <a:t> key of 48-bits.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Mainly used in Electronic code Block (ECB), Cipher Block Chaining mode (CBC), CFB (Cipher Feed Back).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1545A-6194-4921-CD1F-16BC581A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407" y="619432"/>
            <a:ext cx="4953429" cy="36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60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3464-C9F9-E395-2FB5-E266CA17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" y="32774"/>
            <a:ext cx="10029435" cy="665316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Asymmetric cryptography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9599-5955-FF75-FB88-807756E66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73" y="479881"/>
            <a:ext cx="10122954" cy="552416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asymmetric-key cipher uses two                                                        keys : one private (to encrypt data)                                                         and one public (to decrypt data).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also known as Public key                                                           cryptography.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Users get the key from an                                                                  certificate Authority.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Both sender and Receiver has to                                                       share their public keys for                                                                  encryption and has to use their Private Key for Decryption.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Private key is not shared and kept hidden.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These keys are generated together.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18392-6576-2E9E-ECC7-895781FB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770826"/>
            <a:ext cx="5893202" cy="352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84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5653-FC87-09A1-54D5-63288C280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7" y="-93518"/>
            <a:ext cx="10035692" cy="8166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Digital signature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6D913-8DA1-A9BF-6071-838DFE2ED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52621"/>
            <a:ext cx="9538855" cy="545332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digital signature is an authentication mechanism that enables the creator of a message to attach a code that acts as a signature.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sender uses their private key to generate a digital signature.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Typically, a hash function is applied to the message create a message digest, which is then encrypted with the sender's private key to produce the digital signature.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receiver uses the sender's public key to verify the a signature.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Private key</a:t>
            </a:r>
            <a:r>
              <a:rPr lang="en-US" sz="2400" b="1" dirty="0">
                <a:latin typeface="Century Schoolbook" panose="02040604050505020304" pitchFamily="18" charset="0"/>
              </a:rPr>
              <a:t> - Used for making digital signature.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Public key</a:t>
            </a:r>
            <a:r>
              <a:rPr lang="en-US" sz="2400" b="1" dirty="0">
                <a:latin typeface="Century Schoolbook" panose="02040604050505020304" pitchFamily="18" charset="0"/>
              </a:rPr>
              <a:t> - used to verify the digital signature.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20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A912-4121-A3A6-29D1-4C3F10F4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099" y="-263237"/>
            <a:ext cx="8596668" cy="26323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7438A-F966-3329-BFE4-E788F884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1"/>
            <a:ext cx="10037618" cy="578773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 agree.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efcc61clc03db8d8ea85695445co73c8140ed755.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This is a digital signature.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Digital signature are numbers.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They are document content dependent.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Easy for the signed to sign a message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Easy for anyone to verify a message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Hard for anyone to forge a digital signature.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Provides Authenticity, Integrity and Non-repudiation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02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71E8-D68B-5ABF-F6A2-BCF03898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79382" cy="81663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Difference between</a:t>
            </a:r>
            <a:r>
              <a:rPr lang="en-US" dirty="0">
                <a:latin typeface="Algerian" panose="04020705040A02060702" pitchFamily="82" charset="0"/>
              </a:rPr>
              <a:t> : -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1E099-A812-84A2-B09B-3AFB67A6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66CFB-F362-1A71-A44D-E4A4EC2DE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5" y="737755"/>
            <a:ext cx="9362208" cy="590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793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2923</TotalTime>
  <Words>1708</Words>
  <Application>Microsoft Office PowerPoint</Application>
  <PresentationFormat>Widescreen</PresentationFormat>
  <Paragraphs>141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Algerian</vt:lpstr>
      <vt:lpstr>Arial</vt:lpstr>
      <vt:lpstr>Bodoni MT</vt:lpstr>
      <vt:lpstr>Century Schoolbook</vt:lpstr>
      <vt:lpstr>Trebuchet MS</vt:lpstr>
      <vt:lpstr>Wingdings</vt:lpstr>
      <vt:lpstr>Wingdings 3</vt:lpstr>
      <vt:lpstr>Facet</vt:lpstr>
      <vt:lpstr>03. Cryptography </vt:lpstr>
      <vt:lpstr>3.1] introduction of cryptography : -</vt:lpstr>
      <vt:lpstr>PowerPoint Presentation</vt:lpstr>
      <vt:lpstr>Cryptography : - PT    CT</vt:lpstr>
      <vt:lpstr>Cryptanalysis : - CT    PT</vt:lpstr>
      <vt:lpstr>Cryptology : -</vt:lpstr>
      <vt:lpstr>Encryption : -</vt:lpstr>
      <vt:lpstr>Decryption : -</vt:lpstr>
      <vt:lpstr>3.2] substitution &amp; transposition techniques : -  </vt:lpstr>
      <vt:lpstr>1] Caesar cipher : -</vt:lpstr>
      <vt:lpstr>2] monoalphabetic cipher : - </vt:lpstr>
      <vt:lpstr>2. Transposition techniques : - A transposition cipher rearranges the characters in the plaintext to form the cipher text. The letters are not changed. </vt:lpstr>
      <vt:lpstr>Steganography : -</vt:lpstr>
      <vt:lpstr>Procedure : -</vt:lpstr>
      <vt:lpstr>PowerPoint Presentation</vt:lpstr>
      <vt:lpstr>Difference between steganography &amp; cryptography : -</vt:lpstr>
      <vt:lpstr>3.4] symmetric &amp; asymmetric cryptographt : -</vt:lpstr>
      <vt:lpstr>2. Des (data encryption standard) algorithm : -</vt:lpstr>
      <vt:lpstr>Asymmetric cryptography : -</vt:lpstr>
      <vt:lpstr>Digital signature : -</vt:lpstr>
      <vt:lpstr>PowerPoint Presentation</vt:lpstr>
      <vt:lpstr>Difference between : 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4</cp:revision>
  <dcterms:created xsi:type="dcterms:W3CDTF">2025-10-13T16:59:49Z</dcterms:created>
  <dcterms:modified xsi:type="dcterms:W3CDTF">2025-10-31T19:41:33Z</dcterms:modified>
</cp:coreProperties>
</file>