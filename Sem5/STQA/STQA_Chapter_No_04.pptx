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110"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11/11/2025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0F1AA-CE4A-7B83-0C8B-9D88813F0EB9}"/>
              </a:ext>
            </a:extLst>
          </p:cNvPr>
          <p:cNvSpPr>
            <a:spLocks noGrp="1"/>
          </p:cNvSpPr>
          <p:nvPr>
            <p:ph type="ctrTitle"/>
          </p:nvPr>
        </p:nvSpPr>
        <p:spPr>
          <a:xfrm>
            <a:off x="0" y="1354667"/>
            <a:ext cx="12015019" cy="2421464"/>
          </a:xfrm>
        </p:spPr>
        <p:txBody>
          <a:bodyPr>
            <a:normAutofit/>
          </a:bodyPr>
          <a:lstStyle/>
          <a:p>
            <a:pPr algn="ctr"/>
            <a:r>
              <a:rPr lang="en-US" sz="6600" dirty="0">
                <a:solidFill>
                  <a:srgbClr val="FFFF00"/>
                </a:solidFill>
                <a:latin typeface="Algerian" panose="04020705040A02060702" pitchFamily="82" charset="0"/>
              </a:rPr>
              <a:t>04. Test management</a:t>
            </a:r>
            <a:endParaRPr lang="en-IN" sz="6600" dirty="0">
              <a:solidFill>
                <a:srgbClr val="FFFF00"/>
              </a:solidFill>
              <a:latin typeface="Algerian" panose="04020705040A02060702" pitchFamily="82" charset="0"/>
            </a:endParaRPr>
          </a:p>
        </p:txBody>
      </p:sp>
      <p:sp>
        <p:nvSpPr>
          <p:cNvPr id="3" name="Subtitle 2">
            <a:extLst>
              <a:ext uri="{FF2B5EF4-FFF2-40B4-BE49-F238E27FC236}">
                <a16:creationId xmlns:a16="http://schemas.microsoft.com/office/drawing/2014/main" id="{7AAC65D9-1AED-FBC3-2AB3-9656054F1B8C}"/>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9168714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449A7-4C75-1D34-E1FD-91F8CEB1C123}"/>
              </a:ext>
            </a:extLst>
          </p:cNvPr>
          <p:cNvSpPr>
            <a:spLocks noGrp="1"/>
          </p:cNvSpPr>
          <p:nvPr>
            <p:ph type="title"/>
          </p:nvPr>
        </p:nvSpPr>
        <p:spPr>
          <a:xfrm>
            <a:off x="125362" y="88493"/>
            <a:ext cx="10131427" cy="816076"/>
          </a:xfrm>
        </p:spPr>
        <p:txBody>
          <a:bodyPr>
            <a:normAutofit/>
          </a:bodyPr>
          <a:lstStyle/>
          <a:p>
            <a:pPr marL="457200" indent="-457200">
              <a:buFont typeface="Wingdings" panose="05000000000000000000" pitchFamily="2" charset="2"/>
              <a:buChar char="v"/>
            </a:pPr>
            <a:r>
              <a:rPr lang="en-US" sz="4400" dirty="0">
                <a:solidFill>
                  <a:srgbClr val="FFFF00"/>
                </a:solidFill>
                <a:latin typeface="Algerian" panose="04020705040A02060702" pitchFamily="82" charset="0"/>
              </a:rPr>
              <a:t> </a:t>
            </a:r>
            <a:r>
              <a:rPr lang="en-US" sz="4400" u="sng" dirty="0">
                <a:solidFill>
                  <a:srgbClr val="FFFF00"/>
                </a:solidFill>
                <a:latin typeface="Algerian" panose="04020705040A02060702" pitchFamily="82" charset="0"/>
              </a:rPr>
              <a:t>Test planning</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79C48609-54A7-72BF-6208-077E34BD7847}"/>
              </a:ext>
            </a:extLst>
          </p:cNvPr>
          <p:cNvSpPr>
            <a:spLocks noGrp="1"/>
          </p:cNvSpPr>
          <p:nvPr>
            <p:ph type="body" idx="1"/>
          </p:nvPr>
        </p:nvSpPr>
        <p:spPr>
          <a:xfrm>
            <a:off x="0" y="408038"/>
            <a:ext cx="12192000" cy="6361469"/>
          </a:xfrm>
        </p:spPr>
        <p:txBody>
          <a:bodyPr>
            <a:noAutofit/>
          </a:bodyPr>
          <a:lstStyle/>
          <a:p>
            <a:pPr marL="457200" indent="-457200">
              <a:buFont typeface="Wingdings" panose="05000000000000000000" pitchFamily="2" charset="2"/>
              <a:buChar char="Ø"/>
            </a:pPr>
            <a:r>
              <a:rPr lang="en-US" sz="2400" b="1" dirty="0">
                <a:latin typeface="Century Schoolbook" panose="02040604050505020304" pitchFamily="18" charset="0"/>
              </a:rPr>
              <a:t>A test plan is a detailed document that describes the test strategy, objectives, schedule, estimation, deliverables and resources required to perform testing for a software product.</a:t>
            </a:r>
          </a:p>
          <a:p>
            <a:pPr marL="457200" indent="-457200">
              <a:buFont typeface="Wingdings" panose="05000000000000000000" pitchFamily="2" charset="2"/>
              <a:buChar char="Ø"/>
            </a:pPr>
            <a:r>
              <a:rPr lang="en-US" sz="2400" b="1" dirty="0">
                <a:latin typeface="Century Schoolbook" panose="02040604050505020304" pitchFamily="18" charset="0"/>
              </a:rPr>
              <a:t>The test plan serves as a blueprint to conduct software testing activities as a defined process, which is minutely monitored and controlled by the test manager.</a:t>
            </a:r>
          </a:p>
          <a:p>
            <a:pPr marL="457200" indent="-457200">
              <a:buFont typeface="Wingdings" panose="05000000000000000000" pitchFamily="2" charset="2"/>
              <a:buChar char="Ø"/>
            </a:pPr>
            <a:r>
              <a:rPr lang="en-US" sz="2400" b="1" dirty="0">
                <a:latin typeface="Century Schoolbook" panose="02040604050505020304" pitchFamily="18" charset="0"/>
              </a:rPr>
              <a:t>Types of Test Plans : -</a:t>
            </a:r>
          </a:p>
          <a:p>
            <a:pPr marL="457200" indent="-457200">
              <a:buAutoNum type="arabicPeriod"/>
            </a:pPr>
            <a:r>
              <a:rPr lang="en-US" sz="2400" b="1" dirty="0">
                <a:solidFill>
                  <a:srgbClr val="FFFF00"/>
                </a:solidFill>
                <a:latin typeface="Century Schoolbook" panose="02040604050505020304" pitchFamily="18" charset="0"/>
              </a:rPr>
              <a:t>Master Test Plan : -</a:t>
            </a:r>
            <a:r>
              <a:rPr lang="en-US" sz="2400" b="1" dirty="0">
                <a:latin typeface="Century Schoolbook" panose="02040604050505020304" pitchFamily="18" charset="0"/>
              </a:rPr>
              <a:t> High-level </a:t>
            </a:r>
            <a:r>
              <a:rPr lang="en-US" sz="2400" b="1" dirty="0" err="1">
                <a:latin typeface="Century Schoolbook" panose="02040604050505020304" pitchFamily="18" charset="0"/>
              </a:rPr>
              <a:t>dowments</a:t>
            </a:r>
            <a:r>
              <a:rPr lang="en-US" sz="2400" b="1" dirty="0">
                <a:latin typeface="Century Schoolbook" panose="02040604050505020304" pitchFamily="18" charset="0"/>
              </a:rPr>
              <a:t> covering the overall testing approach for a project.</a:t>
            </a:r>
          </a:p>
          <a:p>
            <a:r>
              <a:rPr lang="en-US" sz="2400" b="1" dirty="0">
                <a:latin typeface="Century Schoolbook" panose="02040604050505020304" pitchFamily="18" charset="0"/>
              </a:rPr>
              <a:t>2. </a:t>
            </a:r>
            <a:r>
              <a:rPr lang="en-US" sz="2400" b="1" dirty="0">
                <a:solidFill>
                  <a:srgbClr val="FFFF00"/>
                </a:solidFill>
                <a:latin typeface="Century Schoolbook" panose="02040604050505020304" pitchFamily="18" charset="0"/>
              </a:rPr>
              <a:t>Testing Level Specific Test Plan : - </a:t>
            </a:r>
            <a:r>
              <a:rPr lang="en-US" sz="2400" b="1" dirty="0">
                <a:latin typeface="Century Schoolbook" panose="02040604050505020304" pitchFamily="18" charset="0"/>
              </a:rPr>
              <a:t>Approach for testing at specific level, such as unit, integration, system or acceptance testing.</a:t>
            </a:r>
          </a:p>
          <a:p>
            <a:r>
              <a:rPr lang="en-US" sz="2400" b="1" dirty="0">
                <a:latin typeface="Century Schoolbook" panose="02040604050505020304" pitchFamily="18" charset="0"/>
              </a:rPr>
              <a:t>3. </a:t>
            </a:r>
            <a:r>
              <a:rPr lang="en-US" sz="2400" b="1" dirty="0">
                <a:solidFill>
                  <a:srgbClr val="FFFF00"/>
                </a:solidFill>
                <a:latin typeface="Century Schoolbook" panose="02040604050505020304" pitchFamily="18" charset="0"/>
              </a:rPr>
              <a:t>Testing Type specific Test Plan : - </a:t>
            </a:r>
            <a:r>
              <a:rPr lang="en-US" sz="2400" b="1" dirty="0">
                <a:latin typeface="Century Schoolbook" panose="02040604050505020304" pitchFamily="18" charset="0"/>
              </a:rPr>
              <a:t>for major testing like performance and security.</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773821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71051-D950-3E16-ED08-3ABFBE3D867B}"/>
              </a:ext>
            </a:extLst>
          </p:cNvPr>
          <p:cNvSpPr>
            <a:spLocks noGrp="1"/>
          </p:cNvSpPr>
          <p:nvPr>
            <p:ph type="title"/>
          </p:nvPr>
        </p:nvSpPr>
        <p:spPr>
          <a:xfrm>
            <a:off x="105698" y="98324"/>
            <a:ext cx="11948650" cy="796411"/>
          </a:xfrm>
        </p:spPr>
        <p:txBody>
          <a:bodyPr>
            <a:noAutofit/>
          </a:bodyPr>
          <a:lstStyle/>
          <a:p>
            <a:pPr marL="457200" indent="-457200">
              <a:buFont typeface="Wingdings" panose="05000000000000000000" pitchFamily="2" charset="2"/>
              <a:buChar char="v"/>
            </a:pPr>
            <a:r>
              <a:rPr lang="en-US" sz="4800" dirty="0">
                <a:solidFill>
                  <a:srgbClr val="FFFF00"/>
                </a:solidFill>
              </a:rPr>
              <a:t> </a:t>
            </a:r>
            <a:r>
              <a:rPr lang="en-US" sz="4800" u="sng" dirty="0" err="1">
                <a:solidFill>
                  <a:srgbClr val="FFFF00"/>
                </a:solidFill>
                <a:latin typeface="Algerian" panose="04020705040A02060702" pitchFamily="82" charset="0"/>
              </a:rPr>
              <a:t>stlc</a:t>
            </a:r>
            <a:r>
              <a:rPr lang="en-US" sz="4800" u="sng" dirty="0">
                <a:solidFill>
                  <a:srgbClr val="FFFF00"/>
                </a:solidFill>
                <a:latin typeface="Algerian" panose="04020705040A02060702" pitchFamily="82" charset="0"/>
              </a:rPr>
              <a:t> preparing &amp; test plan</a:t>
            </a:r>
            <a:r>
              <a:rPr lang="en-US" sz="4800" dirty="0">
                <a:solidFill>
                  <a:srgbClr val="FFFF00"/>
                </a:solidFill>
                <a:latin typeface="Algerian" panose="04020705040A02060702" pitchFamily="82" charset="0"/>
              </a:rPr>
              <a:t> : -</a:t>
            </a:r>
            <a:endParaRPr lang="en-IN" sz="4800" dirty="0">
              <a:solidFill>
                <a:srgbClr val="FFFF00"/>
              </a:solidFill>
            </a:endParaRPr>
          </a:p>
        </p:txBody>
      </p:sp>
      <p:sp>
        <p:nvSpPr>
          <p:cNvPr id="3" name="Text Placeholder 2">
            <a:extLst>
              <a:ext uri="{FF2B5EF4-FFF2-40B4-BE49-F238E27FC236}">
                <a16:creationId xmlns:a16="http://schemas.microsoft.com/office/drawing/2014/main" id="{880BF70C-9A11-177A-5FE2-F32FAFE2DBE6}"/>
              </a:ext>
            </a:extLst>
          </p:cNvPr>
          <p:cNvSpPr>
            <a:spLocks noGrp="1"/>
          </p:cNvSpPr>
          <p:nvPr>
            <p:ph type="body" idx="1"/>
          </p:nvPr>
        </p:nvSpPr>
        <p:spPr>
          <a:xfrm>
            <a:off x="137652" y="496529"/>
            <a:ext cx="11948650" cy="2733368"/>
          </a:xfrm>
        </p:spPr>
        <p:txBody>
          <a:bodyPr>
            <a:normAutofit/>
          </a:bodyPr>
          <a:lstStyle/>
          <a:p>
            <a:pPr marL="457200" indent="-457200">
              <a:buFont typeface="Wingdings" panose="05000000000000000000" pitchFamily="2" charset="2"/>
              <a:buChar char="Ø"/>
            </a:pPr>
            <a:r>
              <a:rPr lang="en-US" sz="2400" b="1" dirty="0">
                <a:latin typeface="Century Schoolbook" panose="02040604050505020304" pitchFamily="18" charset="0"/>
              </a:rPr>
              <a:t>Preparing the test plans refers to the process of organizing and outlining the steps, objectives and scope necessary to execute testing effectively.</a:t>
            </a:r>
          </a:p>
          <a:p>
            <a:pPr marL="457200" indent="-457200">
              <a:buFont typeface="Wingdings" panose="05000000000000000000" pitchFamily="2" charset="2"/>
              <a:buChar char="Ø"/>
            </a:pPr>
            <a:r>
              <a:rPr lang="en-US" sz="2400" b="1" dirty="0">
                <a:latin typeface="Century Schoolbook" panose="02040604050505020304" pitchFamily="18" charset="0"/>
              </a:rPr>
              <a:t>It is a critical phase in testing that lays and ground work for the actual testing process</a:t>
            </a:r>
            <a:r>
              <a:rPr lang="en-US" sz="2800" b="1" dirty="0">
                <a:latin typeface="Century Schoolbook" panose="02040604050505020304" pitchFamily="18" charset="0"/>
              </a:rPr>
              <a:t>. </a:t>
            </a:r>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1965619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F68A4-1D95-01BD-E416-9228320DDE4D}"/>
              </a:ext>
            </a:extLst>
          </p:cNvPr>
          <p:cNvSpPr>
            <a:spLocks noGrp="1"/>
          </p:cNvSpPr>
          <p:nvPr>
            <p:ph type="title"/>
          </p:nvPr>
        </p:nvSpPr>
        <p:spPr>
          <a:xfrm>
            <a:off x="0" y="0"/>
            <a:ext cx="10131427" cy="757083"/>
          </a:xfrm>
        </p:spPr>
        <p:txBody>
          <a:bodyPr>
            <a:normAutofit fontScale="90000"/>
          </a:bodyPr>
          <a:lstStyle/>
          <a:p>
            <a:r>
              <a:rPr lang="en-US" sz="4900" dirty="0">
                <a:solidFill>
                  <a:srgbClr val="FFFF00"/>
                </a:solidFill>
                <a:latin typeface="Algerian" panose="04020705040A02060702" pitchFamily="82" charset="0"/>
              </a:rPr>
              <a:t> -</a:t>
            </a:r>
            <a:endParaRPr lang="en-IN" sz="49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62862542-AC0C-754A-0F45-BDFC2A980634}"/>
              </a:ext>
            </a:extLst>
          </p:cNvPr>
          <p:cNvSpPr>
            <a:spLocks noGrp="1"/>
          </p:cNvSpPr>
          <p:nvPr>
            <p:ph type="body" idx="1"/>
          </p:nvPr>
        </p:nvSpPr>
        <p:spPr>
          <a:xfrm>
            <a:off x="115530" y="5855108"/>
            <a:ext cx="11928986" cy="668593"/>
          </a:xfrm>
        </p:spPr>
        <p:txBody>
          <a:bodyPr>
            <a:noAutofit/>
          </a:bodyPr>
          <a:lstStyle/>
          <a:p>
            <a:pPr algn="ctr"/>
            <a:r>
              <a:rPr lang="en-US" sz="4000" dirty="0">
                <a:solidFill>
                  <a:srgbClr val="FFFF00"/>
                </a:solidFill>
                <a:latin typeface="Algerian" panose="04020705040A02060702" pitchFamily="82" charset="0"/>
              </a:rPr>
              <a:t>Figure : test plan template</a:t>
            </a:r>
            <a:endParaRPr lang="en-IN" sz="4000" dirty="0">
              <a:solidFill>
                <a:srgbClr val="FFFF00"/>
              </a:solidFill>
              <a:latin typeface="Algerian" panose="04020705040A02060702" pitchFamily="82" charset="0"/>
            </a:endParaRPr>
          </a:p>
        </p:txBody>
      </p:sp>
      <p:sp>
        <p:nvSpPr>
          <p:cNvPr id="4" name="Rectangle 3">
            <a:extLst>
              <a:ext uri="{FF2B5EF4-FFF2-40B4-BE49-F238E27FC236}">
                <a16:creationId xmlns:a16="http://schemas.microsoft.com/office/drawing/2014/main" id="{216F0CAA-B850-566B-1345-BAD35130C0A6}"/>
              </a:ext>
            </a:extLst>
          </p:cNvPr>
          <p:cNvSpPr/>
          <p:nvPr/>
        </p:nvSpPr>
        <p:spPr>
          <a:xfrm>
            <a:off x="131507" y="334299"/>
            <a:ext cx="11928986" cy="542740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Century Schoolbook" panose="02040604050505020304" pitchFamily="18" charset="0"/>
              </a:rPr>
              <a:t>Test Plan ID: Unique Identifier for Test Plan.</a:t>
            </a:r>
          </a:p>
          <a:p>
            <a:r>
              <a:rPr lang="en-US" b="1" dirty="0">
                <a:latin typeface="Century Schoolbook" panose="02040604050505020304" pitchFamily="18" charset="0"/>
              </a:rPr>
              <a:t>Test Plan Name: Title or name of the Test Plan.</a:t>
            </a:r>
          </a:p>
          <a:p>
            <a:r>
              <a:rPr lang="en-US" b="1" dirty="0">
                <a:latin typeface="Century Schoolbook" panose="02040604050505020304" pitchFamily="18" charset="0"/>
              </a:rPr>
              <a:t>Version: Version number of the Test Plan.</a:t>
            </a:r>
          </a:p>
          <a:p>
            <a:r>
              <a:rPr lang="en-US" b="1" dirty="0">
                <a:latin typeface="Century Schoolbook" panose="02040604050505020304" pitchFamily="18" charset="0"/>
              </a:rPr>
              <a:t>Date: Date when the test plan was created or updated</a:t>
            </a:r>
          </a:p>
          <a:p>
            <a:r>
              <a:rPr lang="en-US" b="1" dirty="0">
                <a:latin typeface="Century Schoolbook" panose="02040604050505020304" pitchFamily="18" charset="0"/>
              </a:rPr>
              <a:t>Author: Name of the person who created the test plan.</a:t>
            </a:r>
          </a:p>
          <a:p>
            <a:r>
              <a:rPr lang="en-US" b="1" dirty="0">
                <a:latin typeface="Century Schoolbook" panose="02040604050505020304" pitchFamily="18" charset="0"/>
              </a:rPr>
              <a:t>Objective: Goals and </a:t>
            </a:r>
            <a:r>
              <a:rPr lang="en-US" b="1" dirty="0" err="1">
                <a:latin typeface="Century Schoolbook" panose="02040604050505020304" pitchFamily="18" charset="0"/>
              </a:rPr>
              <a:t>objectivies</a:t>
            </a:r>
            <a:r>
              <a:rPr lang="en-US" b="1" dirty="0">
                <a:latin typeface="Century Schoolbook" panose="02040604050505020304" pitchFamily="18" charset="0"/>
              </a:rPr>
              <a:t> of the testing process.</a:t>
            </a:r>
          </a:p>
          <a:p>
            <a:r>
              <a:rPr lang="en-US" b="1" dirty="0">
                <a:latin typeface="Century Schoolbook" panose="02040604050505020304" pitchFamily="18" charset="0"/>
              </a:rPr>
              <a:t>Scope: Description of the features, functionalities or areas to be tested.</a:t>
            </a:r>
          </a:p>
          <a:p>
            <a:r>
              <a:rPr lang="en-US" b="1" dirty="0">
                <a:latin typeface="Century Schoolbook" panose="02040604050505020304" pitchFamily="18" charset="0"/>
              </a:rPr>
              <a:t>Test strategy: Overall approach to testing, </a:t>
            </a:r>
            <a:r>
              <a:rPr lang="en-US" b="1" dirty="0" err="1">
                <a:latin typeface="Century Schoolbook" panose="02040604050505020304" pitchFamily="18" charset="0"/>
              </a:rPr>
              <a:t>induding</a:t>
            </a:r>
            <a:r>
              <a:rPr lang="en-US" b="1" dirty="0">
                <a:latin typeface="Century Schoolbook" panose="02040604050505020304" pitchFamily="18" charset="0"/>
              </a:rPr>
              <a:t> types of tests and technique used.</a:t>
            </a:r>
          </a:p>
          <a:p>
            <a:r>
              <a:rPr lang="en-US" b="1" dirty="0">
                <a:latin typeface="Century Schoolbook" panose="02040604050505020304" pitchFamily="18" charset="0"/>
              </a:rPr>
              <a:t>Test criteria: Criteria for passing or failing the tests.</a:t>
            </a:r>
          </a:p>
          <a:p>
            <a:r>
              <a:rPr lang="en-US" b="1" dirty="0">
                <a:latin typeface="Century Schoolbook" panose="02040604050505020304" pitchFamily="18" charset="0"/>
              </a:rPr>
              <a:t>Test Deliverables: Documents and </a:t>
            </a:r>
            <a:r>
              <a:rPr lang="en-US" b="1" dirty="0" err="1">
                <a:latin typeface="Century Schoolbook" panose="02040604050505020304" pitchFamily="18" charset="0"/>
              </a:rPr>
              <a:t>artifads</a:t>
            </a:r>
            <a:r>
              <a:rPr lang="en-US" b="1" dirty="0">
                <a:latin typeface="Century Schoolbook" panose="02040604050505020304" pitchFamily="18" charset="0"/>
              </a:rPr>
              <a:t> that will be produced, such as test cases, test scripts and test reports.</a:t>
            </a:r>
          </a:p>
          <a:p>
            <a:r>
              <a:rPr lang="en-US" b="1" dirty="0">
                <a:latin typeface="Century Schoolbook" panose="02040604050505020304" pitchFamily="18" charset="0"/>
              </a:rPr>
              <a:t>Testing Schedule: Timeline for testing activities, include start and end elates.</a:t>
            </a:r>
          </a:p>
          <a:p>
            <a:r>
              <a:rPr lang="en-US" b="1" dirty="0">
                <a:latin typeface="Century Schoolbook" panose="02040604050505020304" pitchFamily="18" charset="0"/>
              </a:rPr>
              <a:t>Resource Requirements: Resource needed for testing, </a:t>
            </a:r>
            <a:r>
              <a:rPr lang="en-US" b="1" dirty="0" err="1">
                <a:latin typeface="Century Schoolbook" panose="02040604050505020304" pitchFamily="18" charset="0"/>
              </a:rPr>
              <a:t>induding</a:t>
            </a:r>
            <a:r>
              <a:rPr lang="en-US" b="1" dirty="0">
                <a:latin typeface="Century Schoolbook" panose="02040604050505020304" pitchFamily="18" charset="0"/>
              </a:rPr>
              <a:t> hardware, software and personnel.</a:t>
            </a:r>
          </a:p>
          <a:p>
            <a:r>
              <a:rPr lang="en-US" b="1" dirty="0">
                <a:latin typeface="Century Schoolbook" panose="02040604050505020304" pitchFamily="18" charset="0"/>
              </a:rPr>
              <a:t>Risk Analysis: Potential risks and their mitigation strategies related to the testing process.</a:t>
            </a:r>
          </a:p>
          <a:p>
            <a:r>
              <a:rPr lang="en-US" b="1" dirty="0">
                <a:latin typeface="Century Schoolbook" panose="02040604050505020304" pitchFamily="18" charset="0"/>
              </a:rPr>
              <a:t>Assumptions: Assumptions made during the creation of test plan.</a:t>
            </a:r>
          </a:p>
          <a:p>
            <a:r>
              <a:rPr lang="en-US" b="1" dirty="0">
                <a:latin typeface="Century Schoolbook" panose="02040604050505020304" pitchFamily="18" charset="0"/>
              </a:rPr>
              <a:t>Dependencies: </a:t>
            </a:r>
            <a:r>
              <a:rPr lang="en-US" b="1" dirty="0" err="1">
                <a:latin typeface="Century Schoolbook" panose="02040604050505020304" pitchFamily="18" charset="0"/>
              </a:rPr>
              <a:t>Dependensies</a:t>
            </a:r>
            <a:r>
              <a:rPr lang="en-US" b="1" dirty="0">
                <a:latin typeface="Century Schoolbook" panose="02040604050505020304" pitchFamily="18" charset="0"/>
              </a:rPr>
              <a:t> that could impact the testing process, such as external systems or components.</a:t>
            </a:r>
          </a:p>
          <a:p>
            <a:r>
              <a:rPr lang="en-US" b="1" dirty="0">
                <a:latin typeface="Century Schoolbook" panose="02040604050505020304" pitchFamily="18" charset="0"/>
              </a:rPr>
              <a:t>Approval: sign-off or approval section for stakeholders to validate the test plan.</a:t>
            </a:r>
            <a:endParaRPr lang="en-IN" b="1" dirty="0">
              <a:latin typeface="Century Schoolbook" panose="02040604050505020304" pitchFamily="18" charset="0"/>
            </a:endParaRPr>
          </a:p>
        </p:txBody>
      </p:sp>
    </p:spTree>
    <p:extLst>
      <p:ext uri="{BB962C8B-B14F-4D97-AF65-F5344CB8AC3E}">
        <p14:creationId xmlns:p14="http://schemas.microsoft.com/office/powerpoint/2010/main" val="6280338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053D6-4DD9-3123-2BCE-40249F5D31B4}"/>
              </a:ext>
            </a:extLst>
          </p:cNvPr>
          <p:cNvSpPr>
            <a:spLocks noGrp="1"/>
          </p:cNvSpPr>
          <p:nvPr>
            <p:ph type="title"/>
          </p:nvPr>
        </p:nvSpPr>
        <p:spPr>
          <a:xfrm>
            <a:off x="0" y="-22123"/>
            <a:ext cx="10131427" cy="816076"/>
          </a:xfrm>
        </p:spPr>
        <p:txBody>
          <a:bodyPr>
            <a:normAutofit/>
          </a:bodyPr>
          <a:lstStyle/>
          <a:p>
            <a:pPr marL="457200" indent="-457200">
              <a:buFont typeface="Wingdings" panose="05000000000000000000" pitchFamily="2" charset="2"/>
              <a:buChar char="v"/>
            </a:pPr>
            <a:r>
              <a:rPr lang="en-US" sz="4400" dirty="0">
                <a:solidFill>
                  <a:srgbClr val="FFFF00"/>
                </a:solidFill>
                <a:latin typeface="Algerian" panose="04020705040A02060702" pitchFamily="82" charset="0"/>
              </a:rPr>
              <a:t> </a:t>
            </a:r>
            <a:r>
              <a:rPr lang="en-US" sz="4400" u="sng" dirty="0">
                <a:solidFill>
                  <a:srgbClr val="FFFF00"/>
                </a:solidFill>
                <a:latin typeface="Algerian" panose="04020705040A02060702" pitchFamily="82" charset="0"/>
              </a:rPr>
              <a:t>Scope management</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02D17109-B392-969F-BE8D-012EC47248A1}"/>
              </a:ext>
            </a:extLst>
          </p:cNvPr>
          <p:cNvSpPr>
            <a:spLocks noGrp="1"/>
          </p:cNvSpPr>
          <p:nvPr>
            <p:ph type="body" idx="1"/>
          </p:nvPr>
        </p:nvSpPr>
        <p:spPr>
          <a:xfrm>
            <a:off x="120580" y="489153"/>
            <a:ext cx="12071420" cy="6064047"/>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The boundaries of what will and will not be tested comer under scope Management.</a:t>
            </a:r>
          </a:p>
          <a:p>
            <a:pPr marL="342900" indent="-342900">
              <a:buFont typeface="Wingdings" panose="05000000000000000000" pitchFamily="2" charset="2"/>
              <a:buChar char="Ø"/>
            </a:pPr>
            <a:r>
              <a:rPr lang="en-US" sz="2400" b="1" dirty="0">
                <a:latin typeface="Century Schoolbook" panose="02040604050505020304" pitchFamily="18" charset="0"/>
              </a:rPr>
              <a:t>Scope Management in test planning ensures that the testing effort is focused, well defined, and aligned with project objectives.</a:t>
            </a:r>
          </a:p>
          <a:p>
            <a:pPr marL="342900" indent="-342900">
              <a:buFont typeface="Wingdings" panose="05000000000000000000" pitchFamily="2" charset="2"/>
              <a:buChar char="Ø"/>
            </a:pPr>
            <a:r>
              <a:rPr lang="en-US" sz="2400" b="1" dirty="0">
                <a:latin typeface="Century Schoolbook" panose="02040604050505020304" pitchFamily="18" charset="0"/>
              </a:rPr>
              <a:t>Scope Includes : -</a:t>
            </a:r>
          </a:p>
          <a:p>
            <a:r>
              <a:rPr lang="en-US" sz="2400" b="1" dirty="0">
                <a:solidFill>
                  <a:srgbClr val="FFFF00"/>
                </a:solidFill>
                <a:latin typeface="Century Schoolbook" panose="02040604050505020304" pitchFamily="18" charset="0"/>
              </a:rPr>
              <a:t>1. </a:t>
            </a:r>
            <a:r>
              <a:rPr lang="en-US" sz="2400" b="1" u="sng" dirty="0">
                <a:solidFill>
                  <a:srgbClr val="FFFF00"/>
                </a:solidFill>
                <a:latin typeface="Century Schoolbook" panose="02040604050505020304" pitchFamily="18" charset="0"/>
              </a:rPr>
              <a:t>Objectives &amp; Requirement</a:t>
            </a:r>
            <a:r>
              <a:rPr lang="en-US" sz="2400" b="1" dirty="0">
                <a:solidFill>
                  <a:srgbClr val="FFFF00"/>
                </a:solidFill>
                <a:latin typeface="Century Schoolbook" panose="02040604050505020304" pitchFamily="18" charset="0"/>
              </a:rPr>
              <a:t> : -</a:t>
            </a:r>
            <a:r>
              <a:rPr lang="en-US" sz="2400" b="1" dirty="0">
                <a:latin typeface="Century Schoolbook" panose="02040604050505020304" pitchFamily="18" charset="0"/>
              </a:rPr>
              <a:t> clearly defined goals and specific stakeholder requirements for the project.</a:t>
            </a:r>
          </a:p>
          <a:p>
            <a:r>
              <a:rPr lang="en-US" sz="2400" b="1" dirty="0">
                <a:solidFill>
                  <a:srgbClr val="FFFF00"/>
                </a:solidFill>
                <a:latin typeface="Century Schoolbook" panose="02040604050505020304" pitchFamily="18" charset="0"/>
              </a:rPr>
              <a:t>2. </a:t>
            </a:r>
            <a:r>
              <a:rPr lang="en-US" sz="2400" b="1" u="sng" dirty="0">
                <a:solidFill>
                  <a:srgbClr val="FFFF00"/>
                </a:solidFill>
                <a:latin typeface="Century Schoolbook" panose="02040604050505020304" pitchFamily="18" charset="0"/>
              </a:rPr>
              <a:t>Constraints &amp; Limitations</a:t>
            </a:r>
            <a:r>
              <a:rPr lang="en-US" sz="2400" b="1" dirty="0">
                <a:solidFill>
                  <a:srgbClr val="FFFF00"/>
                </a:solidFill>
                <a:latin typeface="Century Schoolbook" panose="02040604050505020304" pitchFamily="18" charset="0"/>
              </a:rPr>
              <a:t> : - </a:t>
            </a:r>
            <a:r>
              <a:rPr lang="en-US" sz="2400" b="1" dirty="0">
                <a:latin typeface="Century Schoolbook" panose="02040604050505020304" pitchFamily="18" charset="0"/>
              </a:rPr>
              <a:t>Boundaries like time, budget &amp; available resources that restrict: the scope.</a:t>
            </a:r>
          </a:p>
          <a:p>
            <a:r>
              <a:rPr lang="en-US" sz="2400" b="1" dirty="0">
                <a:solidFill>
                  <a:srgbClr val="FFFF00"/>
                </a:solidFill>
                <a:latin typeface="Century Schoolbook" panose="02040604050505020304" pitchFamily="18" charset="0"/>
              </a:rPr>
              <a:t>3. </a:t>
            </a:r>
            <a:r>
              <a:rPr lang="en-US" sz="2400" b="1" u="sng" dirty="0">
                <a:solidFill>
                  <a:srgbClr val="FFFF00"/>
                </a:solidFill>
                <a:latin typeface="Century Schoolbook" panose="02040604050505020304" pitchFamily="18" charset="0"/>
              </a:rPr>
              <a:t>Assumptions</a:t>
            </a:r>
            <a:r>
              <a:rPr lang="en-US" sz="2400" b="1" dirty="0">
                <a:solidFill>
                  <a:srgbClr val="FFFF00"/>
                </a:solidFill>
                <a:latin typeface="Century Schoolbook" panose="02040604050505020304" pitchFamily="18" charset="0"/>
              </a:rPr>
              <a:t> : -</a:t>
            </a:r>
            <a:r>
              <a:rPr lang="en-US" sz="2400" b="1" dirty="0">
                <a:latin typeface="Century Schoolbook" panose="02040604050505020304" pitchFamily="18" charset="0"/>
              </a:rPr>
              <a:t> Expectations used for planning purposes (</a:t>
            </a:r>
            <a:r>
              <a:rPr lang="en-US" sz="2400" b="1" dirty="0" err="1">
                <a:latin typeface="Century Schoolbook" panose="02040604050505020304" pitchFamily="18" charset="0"/>
              </a:rPr>
              <a:t>eg.</a:t>
            </a:r>
            <a:r>
              <a:rPr lang="en-US" sz="2400" b="1" dirty="0">
                <a:latin typeface="Century Schoolbook" panose="02040604050505020304" pitchFamily="18" charset="0"/>
              </a:rPr>
              <a:t> resource availability, technology reliability.</a:t>
            </a:r>
          </a:p>
          <a:p>
            <a:r>
              <a:rPr lang="en-US" sz="2400" b="1" dirty="0">
                <a:solidFill>
                  <a:srgbClr val="FFFF00"/>
                </a:solidFill>
                <a:latin typeface="Century Schoolbook" panose="02040604050505020304" pitchFamily="18" charset="0"/>
              </a:rPr>
              <a:t>4. </a:t>
            </a:r>
            <a:r>
              <a:rPr lang="en-US" sz="2400" b="1" u="sng" dirty="0">
                <a:solidFill>
                  <a:srgbClr val="FFFF00"/>
                </a:solidFill>
                <a:latin typeface="Century Schoolbook" panose="02040604050505020304" pitchFamily="18" charset="0"/>
              </a:rPr>
              <a:t>Risk Involved</a:t>
            </a:r>
            <a:r>
              <a:rPr lang="en-US" sz="2400" b="1" dirty="0">
                <a:solidFill>
                  <a:srgbClr val="FFFF00"/>
                </a:solidFill>
                <a:latin typeface="Century Schoolbook" panose="02040604050505020304" pitchFamily="18" charset="0"/>
              </a:rPr>
              <a:t> : - </a:t>
            </a:r>
            <a:r>
              <a:rPr lang="en-US" sz="2400" b="1" dirty="0">
                <a:latin typeface="Century Schoolbook" panose="02040604050505020304" pitchFamily="18" charset="0"/>
              </a:rPr>
              <a:t>Identification of risks, their potential impact and the action plan to mitigate them.</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9596743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82F50-2AA5-ED99-5F4D-A170FD56E6B8}"/>
              </a:ext>
            </a:extLst>
          </p:cNvPr>
          <p:cNvSpPr>
            <a:spLocks noGrp="1"/>
          </p:cNvSpPr>
          <p:nvPr>
            <p:ph type="title"/>
          </p:nvPr>
        </p:nvSpPr>
        <p:spPr>
          <a:xfrm>
            <a:off x="0" y="9832"/>
            <a:ext cx="10131427" cy="816077"/>
          </a:xfrm>
        </p:spPr>
        <p:txBody>
          <a:bodyPr>
            <a:normAutofit/>
          </a:bodyPr>
          <a:lstStyle/>
          <a:p>
            <a:pPr marL="457200" indent="-457200">
              <a:buFont typeface="Wingdings" panose="05000000000000000000" pitchFamily="2" charset="2"/>
              <a:buChar char="v"/>
            </a:pPr>
            <a:r>
              <a:rPr lang="en-US" sz="4400" dirty="0">
                <a:solidFill>
                  <a:srgbClr val="FFFF00"/>
                </a:solidFill>
                <a:latin typeface="Algerian" panose="04020705040A02060702" pitchFamily="82" charset="0"/>
              </a:rPr>
              <a:t> </a:t>
            </a:r>
            <a:r>
              <a:rPr lang="en-US" sz="4400" u="sng" dirty="0">
                <a:solidFill>
                  <a:srgbClr val="FFFF00"/>
                </a:solidFill>
                <a:latin typeface="Algerian" panose="04020705040A02060702" pitchFamily="82" charset="0"/>
              </a:rPr>
              <a:t>deciding test approach</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C9D92473-6BB7-BEC2-EC7F-22BA72332FAD}"/>
              </a:ext>
            </a:extLst>
          </p:cNvPr>
          <p:cNvSpPr>
            <a:spLocks noGrp="1"/>
          </p:cNvSpPr>
          <p:nvPr>
            <p:ph type="body" idx="1"/>
          </p:nvPr>
        </p:nvSpPr>
        <p:spPr>
          <a:xfrm>
            <a:off x="0" y="417870"/>
            <a:ext cx="12192000" cy="6287730"/>
          </a:xfrm>
        </p:spPr>
        <p:txBody>
          <a:bodyPr>
            <a:noAutofit/>
          </a:bodyPr>
          <a:lstStyle/>
          <a:p>
            <a:r>
              <a:rPr lang="en-US" b="1" dirty="0">
                <a:latin typeface="Century Schoolbook" panose="02040604050505020304" pitchFamily="18" charset="0"/>
              </a:rPr>
              <a:t>The test approach defines the overall strategy for planning, </a:t>
            </a:r>
            <a:r>
              <a:rPr lang="en-US" b="1" dirty="0" err="1">
                <a:latin typeface="Century Schoolbook" panose="02040604050505020304" pitchFamily="18" charset="0"/>
              </a:rPr>
              <a:t>desigining</a:t>
            </a:r>
            <a:r>
              <a:rPr lang="en-US" b="1" dirty="0">
                <a:latin typeface="Century Schoolbook" panose="02040604050505020304" pitchFamily="18" charset="0"/>
              </a:rPr>
              <a:t> and executing tests.</a:t>
            </a:r>
          </a:p>
          <a:p>
            <a:r>
              <a:rPr lang="en-US" b="1" dirty="0">
                <a:solidFill>
                  <a:srgbClr val="FFFF00"/>
                </a:solidFill>
                <a:latin typeface="Century Schoolbook" panose="02040604050505020304" pitchFamily="18" charset="0"/>
              </a:rPr>
              <a:t>1. Analytical Approach : -</a:t>
            </a:r>
          </a:p>
          <a:p>
            <a:r>
              <a:rPr lang="en-US" b="1" dirty="0">
                <a:latin typeface="Century Schoolbook" panose="02040604050505020304" pitchFamily="18" charset="0"/>
              </a:rPr>
              <a:t>a) Risk-Based strategy : - Tests are planned, prioritized, and executed based on identified risks.</a:t>
            </a:r>
          </a:p>
          <a:p>
            <a:r>
              <a:rPr lang="en-US" b="1" dirty="0">
                <a:latin typeface="Century Schoolbook" panose="02040604050505020304" pitchFamily="18" charset="0"/>
              </a:rPr>
              <a:t>b) Analytical-Based Strategy : - Requirements analysis is used to plan, estimate, and design tests.</a:t>
            </a:r>
          </a:p>
          <a:p>
            <a:r>
              <a:rPr lang="en-US" b="1" dirty="0">
                <a:solidFill>
                  <a:srgbClr val="FFFF00"/>
                </a:solidFill>
                <a:latin typeface="Century Schoolbook" panose="02040604050505020304" pitchFamily="18" charset="0"/>
              </a:rPr>
              <a:t>2. Model-Based Approach : - </a:t>
            </a:r>
            <a:r>
              <a:rPr lang="en-US" b="1" dirty="0">
                <a:latin typeface="Century Schoolbook" panose="02040604050505020304" pitchFamily="18" charset="0"/>
              </a:rPr>
              <a:t>Model (formal or Informal) are created during the design phase. The system under test is compared against these models to validate functionality.</a:t>
            </a:r>
          </a:p>
          <a:p>
            <a:r>
              <a:rPr lang="en-US" b="1" dirty="0">
                <a:solidFill>
                  <a:srgbClr val="FFFF00"/>
                </a:solidFill>
                <a:latin typeface="Century Schoolbook" panose="02040604050505020304" pitchFamily="18" charset="0"/>
              </a:rPr>
              <a:t>3. Methodical Approach : - </a:t>
            </a:r>
            <a:r>
              <a:rPr lang="en-US" b="1" dirty="0">
                <a:latin typeface="Century Schoolbook" panose="02040604050505020304" pitchFamily="18" charset="0"/>
              </a:rPr>
              <a:t>A pre-planned structured strategy is followed, such as adhering to standards like 150 9126.</a:t>
            </a:r>
          </a:p>
          <a:p>
            <a:r>
              <a:rPr lang="en-US" b="1" dirty="0">
                <a:solidFill>
                  <a:srgbClr val="FFFF00"/>
                </a:solidFill>
                <a:latin typeface="Century Schoolbook" panose="02040604050505020304" pitchFamily="18" charset="0"/>
              </a:rPr>
              <a:t>4. Process or standard compliant Approach : - </a:t>
            </a:r>
            <a:r>
              <a:rPr lang="en-US" b="1" dirty="0">
                <a:latin typeface="Century Schoolbook" panose="02040604050505020304" pitchFamily="18" charset="0"/>
              </a:rPr>
              <a:t>Utilizes external standards or frame works to guide testing efforts </a:t>
            </a:r>
            <a:r>
              <a:rPr lang="en-US" b="1" dirty="0" err="1">
                <a:latin typeface="Century Schoolbook" panose="02040604050505020304" pitchFamily="18" charset="0"/>
              </a:rPr>
              <a:t>Ce.g</a:t>
            </a:r>
            <a:r>
              <a:rPr lang="en-US" b="1" dirty="0">
                <a:latin typeface="Century Schoolbook" panose="02040604050505020304" pitchFamily="18" charset="0"/>
              </a:rPr>
              <a:t>. compliance testing).</a:t>
            </a:r>
          </a:p>
          <a:p>
            <a:r>
              <a:rPr lang="en-US" b="1" dirty="0">
                <a:solidFill>
                  <a:srgbClr val="FFFF00"/>
                </a:solidFill>
                <a:latin typeface="Century Schoolbook" panose="02040604050505020304" pitchFamily="18" charset="0"/>
              </a:rPr>
              <a:t>5. Regression-Averse Approach : - </a:t>
            </a:r>
            <a:r>
              <a:rPr lang="en-US" b="1" dirty="0">
                <a:latin typeface="Century Schoolbook" panose="02040604050505020304" pitchFamily="18" charset="0"/>
              </a:rPr>
              <a:t>Focuses on Reusing existing automated tests to ensure no new defects are introduced in previously working function.</a:t>
            </a:r>
          </a:p>
        </p:txBody>
      </p:sp>
    </p:spTree>
    <p:extLst>
      <p:ext uri="{BB962C8B-B14F-4D97-AF65-F5344CB8AC3E}">
        <p14:creationId xmlns:p14="http://schemas.microsoft.com/office/powerpoint/2010/main" val="4279856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34D34-6CF1-906E-B50A-9B6386D94F2F}"/>
              </a:ext>
            </a:extLst>
          </p:cNvPr>
          <p:cNvSpPr>
            <a:spLocks noGrp="1"/>
          </p:cNvSpPr>
          <p:nvPr>
            <p:ph type="title"/>
          </p:nvPr>
        </p:nvSpPr>
        <p:spPr>
          <a:xfrm>
            <a:off x="36871" y="0"/>
            <a:ext cx="10131427" cy="884903"/>
          </a:xfrm>
        </p:spPr>
        <p:txBody>
          <a:bodyPr>
            <a:normAutofit/>
          </a:bodyPr>
          <a:lstStyle/>
          <a:p>
            <a:pPr marL="457200" indent="-457200">
              <a:buFont typeface="Wingdings" panose="05000000000000000000" pitchFamily="2" charset="2"/>
              <a:buChar char="v"/>
            </a:pPr>
            <a:r>
              <a:rPr lang="en-US" sz="4000" dirty="0">
                <a:solidFill>
                  <a:srgbClr val="FFFF00"/>
                </a:solidFill>
                <a:latin typeface="Algerian" panose="04020705040A02060702" pitchFamily="82" charset="0"/>
              </a:rPr>
              <a:t> </a:t>
            </a:r>
            <a:r>
              <a:rPr lang="en-US" sz="4000" u="sng" dirty="0">
                <a:solidFill>
                  <a:srgbClr val="FFFF00"/>
                </a:solidFill>
                <a:latin typeface="Algerian" panose="04020705040A02060702" pitchFamily="82" charset="0"/>
              </a:rPr>
              <a:t>setting–up criteria for testing</a:t>
            </a:r>
            <a:r>
              <a:rPr lang="en-US" sz="4000" dirty="0">
                <a:solidFill>
                  <a:srgbClr val="FFFF00"/>
                </a:solidFill>
                <a:latin typeface="Algerian" panose="04020705040A02060702" pitchFamily="82" charset="0"/>
              </a:rPr>
              <a:t> :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0F367ED4-C840-C444-F478-F66B0BE93AC6}"/>
              </a:ext>
            </a:extLst>
          </p:cNvPr>
          <p:cNvSpPr>
            <a:spLocks noGrp="1"/>
          </p:cNvSpPr>
          <p:nvPr>
            <p:ph type="body" idx="1"/>
          </p:nvPr>
        </p:nvSpPr>
        <p:spPr>
          <a:xfrm>
            <a:off x="36871" y="587475"/>
            <a:ext cx="12118258" cy="5877233"/>
          </a:xfrm>
        </p:spPr>
        <p:txBody>
          <a:bodyPr>
            <a:normAutofit lnSpcReduction="10000"/>
          </a:bodyPr>
          <a:lstStyle/>
          <a:p>
            <a:pPr marL="342900" indent="-342900">
              <a:buFont typeface="Wingdings" panose="05000000000000000000" pitchFamily="2" charset="2"/>
              <a:buChar char="Ø"/>
            </a:pPr>
            <a:r>
              <a:rPr lang="en-US" b="1" dirty="0">
                <a:latin typeface="Century Schoolbook" panose="02040604050505020304" pitchFamily="18" charset="0"/>
              </a:rPr>
              <a:t>Test Criteria is a standard or rule on which a test procedure or test judgement con be based.</a:t>
            </a:r>
          </a:p>
          <a:p>
            <a:pPr marL="342900" indent="-342900">
              <a:buFont typeface="Wingdings" panose="05000000000000000000" pitchFamily="2" charset="2"/>
              <a:buChar char="Ø"/>
            </a:pPr>
            <a:r>
              <a:rPr lang="en-US" b="1" dirty="0">
                <a:latin typeface="Century Schoolbook" panose="02040604050505020304" pitchFamily="18" charset="0"/>
              </a:rPr>
              <a:t>Types of Test </a:t>
            </a:r>
            <a:r>
              <a:rPr lang="en-US" b="1" dirty="0" err="1">
                <a:latin typeface="Century Schoolbook" panose="02040604050505020304" pitchFamily="18" charset="0"/>
              </a:rPr>
              <a:t>Criterias</a:t>
            </a:r>
            <a:r>
              <a:rPr lang="en-US" b="1" dirty="0">
                <a:latin typeface="Century Schoolbook" panose="02040604050505020304" pitchFamily="18" charset="0"/>
              </a:rPr>
              <a:t>-</a:t>
            </a:r>
          </a:p>
          <a:p>
            <a:r>
              <a:rPr lang="en-US" b="1" dirty="0">
                <a:solidFill>
                  <a:srgbClr val="FFFF00"/>
                </a:solidFill>
                <a:latin typeface="Century Schoolbook" panose="02040604050505020304" pitchFamily="18" charset="0"/>
              </a:rPr>
              <a:t>1. Pass and Fail Criteria : -</a:t>
            </a:r>
          </a:p>
          <a:p>
            <a:r>
              <a:rPr lang="en-US" b="1" dirty="0">
                <a:latin typeface="Century Schoolbook" panose="02040604050505020304" pitchFamily="18" charset="0"/>
              </a:rPr>
              <a:t>- Specifies conditions under which a test is considered passed or failed.</a:t>
            </a:r>
          </a:p>
          <a:p>
            <a:r>
              <a:rPr lang="en-US" b="1" dirty="0">
                <a:latin typeface="Century Schoolbook" panose="02040604050505020304" pitchFamily="18" charset="0"/>
              </a:rPr>
              <a:t>- These criteria are essential for evaluating the correctness and functionality of the system under test.</a:t>
            </a:r>
          </a:p>
          <a:p>
            <a:r>
              <a:rPr lang="en-US" b="1" dirty="0">
                <a:solidFill>
                  <a:srgbClr val="FFFF00"/>
                </a:solidFill>
                <a:latin typeface="Century Schoolbook" panose="02040604050505020304" pitchFamily="18" charset="0"/>
              </a:rPr>
              <a:t>2. Suspend Criteria : -</a:t>
            </a:r>
          </a:p>
          <a:p>
            <a:r>
              <a:rPr lang="en-US" b="1" dirty="0">
                <a:latin typeface="Century Schoolbook" panose="02040604050505020304" pitchFamily="18" charset="0"/>
              </a:rPr>
              <a:t>- Identifies conditions under which testing should be temporarily halted.</a:t>
            </a:r>
          </a:p>
          <a:p>
            <a:r>
              <a:rPr lang="en-US" b="1" dirty="0">
                <a:latin typeface="Century Schoolbook" panose="02040604050505020304" pitchFamily="18" charset="0"/>
              </a:rPr>
              <a:t>- For example, severe defects, unavailability of critical resources, or instability of the test environment.</a:t>
            </a:r>
          </a:p>
          <a:p>
            <a:r>
              <a:rPr lang="en-US" b="1" dirty="0">
                <a:solidFill>
                  <a:srgbClr val="FFFF00"/>
                </a:solidFill>
                <a:latin typeface="Century Schoolbook" panose="02040604050505020304" pitchFamily="18" charset="0"/>
              </a:rPr>
              <a:t>3. Resume criteria : -</a:t>
            </a:r>
          </a:p>
          <a:p>
            <a:r>
              <a:rPr lang="en-US" b="1" dirty="0">
                <a:latin typeface="Century Schoolbook" panose="02040604050505020304" pitchFamily="18" charset="0"/>
              </a:rPr>
              <a:t>- Defines conditions for resuming testing after it was suspended.</a:t>
            </a:r>
          </a:p>
          <a:p>
            <a:r>
              <a:rPr lang="en-US" b="1" dirty="0">
                <a:latin typeface="Century Schoolbook" panose="02040604050505020304" pitchFamily="18" charset="0"/>
              </a:rPr>
              <a:t>- This may include resolving blocking issues, stabilizing the test environment, or completing prerequisite tasks.</a:t>
            </a:r>
            <a:endParaRPr lang="en-IN" b="1" dirty="0">
              <a:latin typeface="Century Schoolbook" panose="02040604050505020304" pitchFamily="18" charset="0"/>
            </a:endParaRPr>
          </a:p>
        </p:txBody>
      </p:sp>
    </p:spTree>
    <p:extLst>
      <p:ext uri="{BB962C8B-B14F-4D97-AF65-F5344CB8AC3E}">
        <p14:creationId xmlns:p14="http://schemas.microsoft.com/office/powerpoint/2010/main" val="42066768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DD334-CB3B-D8A4-BC3C-36881D7809AB}"/>
              </a:ext>
            </a:extLst>
          </p:cNvPr>
          <p:cNvSpPr>
            <a:spLocks noGrp="1"/>
          </p:cNvSpPr>
          <p:nvPr>
            <p:ph type="title"/>
          </p:nvPr>
        </p:nvSpPr>
        <p:spPr>
          <a:xfrm>
            <a:off x="135194" y="108157"/>
            <a:ext cx="10131427" cy="796412"/>
          </a:xfrm>
        </p:spPr>
        <p:txBody>
          <a:bodyPr>
            <a:normAutofit/>
          </a:bodyPr>
          <a:lstStyle/>
          <a:p>
            <a:pPr marL="457200" indent="-457200">
              <a:buFont typeface="Wingdings" panose="05000000000000000000" pitchFamily="2" charset="2"/>
              <a:buChar char="v"/>
            </a:pPr>
            <a:r>
              <a:rPr lang="en-US" sz="4400" dirty="0">
                <a:solidFill>
                  <a:srgbClr val="FFFF00"/>
                </a:solidFill>
              </a:rPr>
              <a:t> </a:t>
            </a:r>
            <a:r>
              <a:rPr lang="en-US" sz="4400" u="sng" dirty="0">
                <a:solidFill>
                  <a:srgbClr val="FFFF00"/>
                </a:solidFill>
                <a:latin typeface="Algerian" panose="04020705040A02060702" pitchFamily="82" charset="0"/>
              </a:rPr>
              <a:t>identifying responsibilities</a:t>
            </a:r>
            <a:r>
              <a:rPr lang="en-US" sz="4400" dirty="0">
                <a:solidFill>
                  <a:srgbClr val="FFFF00"/>
                </a:solidFill>
                <a:latin typeface="Algerian" panose="04020705040A02060702" pitchFamily="82" charset="0"/>
              </a:rPr>
              <a:t> : -</a:t>
            </a:r>
            <a:endParaRPr lang="en-IN" sz="4400" dirty="0">
              <a:solidFill>
                <a:srgbClr val="FFFF00"/>
              </a:solidFill>
            </a:endParaRPr>
          </a:p>
        </p:txBody>
      </p:sp>
      <p:sp>
        <p:nvSpPr>
          <p:cNvPr id="3" name="Text Placeholder 2">
            <a:extLst>
              <a:ext uri="{FF2B5EF4-FFF2-40B4-BE49-F238E27FC236}">
                <a16:creationId xmlns:a16="http://schemas.microsoft.com/office/drawing/2014/main" id="{674E2331-D122-86DD-3395-E7B5A52CC330}"/>
              </a:ext>
            </a:extLst>
          </p:cNvPr>
          <p:cNvSpPr>
            <a:spLocks noGrp="1"/>
          </p:cNvSpPr>
          <p:nvPr>
            <p:ph type="body" idx="1"/>
          </p:nvPr>
        </p:nvSpPr>
        <p:spPr>
          <a:xfrm>
            <a:off x="0" y="294969"/>
            <a:ext cx="12192000" cy="5953431"/>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The testing environment requires a collaborative effort where roles and responsibilities are clearly defined to ensure the process is efficient and comprehensive.</a:t>
            </a:r>
          </a:p>
          <a:p>
            <a:r>
              <a:rPr lang="en-US" sz="2400" b="1" dirty="0">
                <a:solidFill>
                  <a:srgbClr val="FFFF00"/>
                </a:solidFill>
                <a:latin typeface="Century Schoolbook" panose="02040604050505020304" pitchFamily="18" charset="0"/>
              </a:rPr>
              <a:t>1. Specify the number of testing staff and their roles : – </a:t>
            </a:r>
            <a:r>
              <a:rPr lang="en-US" sz="2400" b="1" dirty="0">
                <a:latin typeface="Century Schoolbook" panose="02040604050505020304" pitchFamily="18" charset="0"/>
              </a:rPr>
              <a:t>Define how many individuals are needed and what specific roles they will play, such as test leads, testers, or test coordinators.</a:t>
            </a:r>
          </a:p>
          <a:p>
            <a:r>
              <a:rPr lang="en-US" sz="2400" b="1" dirty="0">
                <a:solidFill>
                  <a:srgbClr val="FFFF00"/>
                </a:solidFill>
                <a:latin typeface="Century Schoolbook" panose="02040604050505020304" pitchFamily="18" charset="0"/>
              </a:rPr>
              <a:t>2. Identify people responsible for acceptance testing : -</a:t>
            </a:r>
            <a:r>
              <a:rPr lang="en-US" sz="2400" b="1" dirty="0">
                <a:latin typeface="Century Schoolbook" panose="02040604050505020304" pitchFamily="18" charset="0"/>
              </a:rPr>
              <a:t> Determine who will oversee and execute the acceptance testing phase to ensure product meet requirements.</a:t>
            </a:r>
          </a:p>
          <a:p>
            <a:r>
              <a:rPr lang="en-US" sz="2400" b="1" dirty="0">
                <a:solidFill>
                  <a:srgbClr val="FFFF00"/>
                </a:solidFill>
                <a:latin typeface="Century Schoolbook" panose="02040604050505020304" pitchFamily="18" charset="0"/>
              </a:rPr>
              <a:t>3. Identify the test team for the test environment : – </a:t>
            </a:r>
            <a:r>
              <a:rPr lang="en-US" sz="2400" b="1" dirty="0" err="1">
                <a:latin typeface="Century Schoolbook" panose="02040604050505020304" pitchFamily="18" charset="0"/>
              </a:rPr>
              <a:t>Indude</a:t>
            </a:r>
            <a:r>
              <a:rPr lang="en-US" sz="2400" b="1" dirty="0">
                <a:latin typeface="Century Schoolbook" panose="02040604050505020304" pitchFamily="18" charset="0"/>
              </a:rPr>
              <a:t> roles such as developers, testers, operational staff, and testing service providers who will be involved in setting-up, maintaining and using the test environment.</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19516623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DF6A5-E11B-2A26-31F9-B88133448D91}"/>
              </a:ext>
            </a:extLst>
          </p:cNvPr>
          <p:cNvSpPr>
            <a:spLocks noGrp="1"/>
          </p:cNvSpPr>
          <p:nvPr>
            <p:ph type="title"/>
          </p:nvPr>
        </p:nvSpPr>
        <p:spPr>
          <a:xfrm>
            <a:off x="27039" y="1"/>
            <a:ext cx="10131427" cy="855406"/>
          </a:xfrm>
        </p:spPr>
        <p:txBody>
          <a:bodyPr>
            <a:normAutofit/>
          </a:bodyPr>
          <a:lstStyle/>
          <a:p>
            <a:pPr marL="571500" indent="-571500">
              <a:buFont typeface="Wingdings" panose="05000000000000000000" pitchFamily="2" charset="2"/>
              <a:buChar char="v"/>
            </a:pPr>
            <a:r>
              <a:rPr lang="en-US" sz="4400" dirty="0">
                <a:solidFill>
                  <a:srgbClr val="FFFF00"/>
                </a:solidFill>
                <a:latin typeface="Algerian" panose="04020705040A02060702" pitchFamily="82" charset="0"/>
              </a:rPr>
              <a:t> </a:t>
            </a:r>
            <a:r>
              <a:rPr lang="en-US" sz="4400" u="sng" dirty="0">
                <a:solidFill>
                  <a:srgbClr val="FFFF00"/>
                </a:solidFill>
                <a:latin typeface="Algerian" panose="04020705040A02060702" pitchFamily="82" charset="0"/>
              </a:rPr>
              <a:t>staffing needs</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848E3893-8CAB-478E-6AE2-C6E35A4D03F3}"/>
              </a:ext>
            </a:extLst>
          </p:cNvPr>
          <p:cNvSpPr>
            <a:spLocks noGrp="1"/>
          </p:cNvSpPr>
          <p:nvPr>
            <p:ph type="body" idx="1"/>
          </p:nvPr>
        </p:nvSpPr>
        <p:spPr>
          <a:xfrm>
            <a:off x="27039" y="616974"/>
            <a:ext cx="12076470" cy="6037006"/>
          </a:xfrm>
        </p:spPr>
        <p:txBody>
          <a:bodyPr>
            <a:normAutofit fontScale="55000" lnSpcReduction="20000"/>
          </a:bodyPr>
          <a:lstStyle/>
          <a:p>
            <a:r>
              <a:rPr lang="en-US" sz="3600" b="1" dirty="0">
                <a:solidFill>
                  <a:srgbClr val="FFFF00"/>
                </a:solidFill>
                <a:latin typeface="Century Schoolbook" panose="02040604050505020304" pitchFamily="18" charset="0"/>
              </a:rPr>
              <a:t>1. Test Manager/Lead : -</a:t>
            </a:r>
          </a:p>
          <a:p>
            <a:r>
              <a:rPr lang="en-US" sz="3600" b="1" dirty="0">
                <a:latin typeface="Century Schoolbook" panose="02040604050505020304" pitchFamily="18" charset="0"/>
              </a:rPr>
              <a:t>- Skills : strong project management, communication, leader- ship, and problem-solving skills.</a:t>
            </a:r>
          </a:p>
          <a:p>
            <a:r>
              <a:rPr lang="en-US" sz="3600" b="1" dirty="0">
                <a:solidFill>
                  <a:srgbClr val="FFFF00"/>
                </a:solidFill>
                <a:latin typeface="Century Schoolbook" panose="02040604050505020304" pitchFamily="18" charset="0"/>
              </a:rPr>
              <a:t>2. Test Analysts/Engineers : -</a:t>
            </a:r>
          </a:p>
          <a:p>
            <a:r>
              <a:rPr lang="en-US" sz="3600" b="1" dirty="0">
                <a:latin typeface="Century Schoolbook" panose="02040604050505020304" pitchFamily="18" charset="0"/>
              </a:rPr>
              <a:t>- Skills : knowledge of testing methodologies (Functional, regression, performance), testing tools (JIRA, Test Rail), and software under test..</a:t>
            </a:r>
          </a:p>
          <a:p>
            <a:r>
              <a:rPr lang="en-US" sz="3600" b="1" dirty="0">
                <a:solidFill>
                  <a:srgbClr val="FFFF00"/>
                </a:solidFill>
                <a:latin typeface="Century Schoolbook" panose="02040604050505020304" pitchFamily="18" charset="0"/>
              </a:rPr>
              <a:t>3. Performance Test Engineers : -</a:t>
            </a:r>
          </a:p>
          <a:p>
            <a:r>
              <a:rPr lang="en-US" sz="3600" b="1" dirty="0">
                <a:latin typeface="Century Schoolbook" panose="02040604050505020304" pitchFamily="18" charset="0"/>
              </a:rPr>
              <a:t>- Skills : familiarity with Performance Testing tools (JMeter, LoadRunner), system architecture &amp; performance metrics.</a:t>
            </a:r>
          </a:p>
          <a:p>
            <a:r>
              <a:rPr lang="en-US" sz="3600" b="1" dirty="0">
                <a:solidFill>
                  <a:srgbClr val="FFFF00"/>
                </a:solidFill>
                <a:latin typeface="Century Schoolbook" panose="02040604050505020304" pitchFamily="18" charset="0"/>
              </a:rPr>
              <a:t>4. Security Testers : -</a:t>
            </a:r>
          </a:p>
          <a:p>
            <a:r>
              <a:rPr lang="en-US" sz="3600" b="1" dirty="0">
                <a:latin typeface="Century Schoolbook" panose="02040604050505020304" pitchFamily="18" charset="0"/>
              </a:rPr>
              <a:t>- Skills : knowledge of security testing tools (ZAP, Burp Suite), security protocols and potential threats.</a:t>
            </a:r>
          </a:p>
          <a:p>
            <a:r>
              <a:rPr lang="en-US" sz="3600" b="1" dirty="0">
                <a:solidFill>
                  <a:srgbClr val="FFFF00"/>
                </a:solidFill>
                <a:latin typeface="Century Schoolbook" panose="02040604050505020304" pitchFamily="18" charset="0"/>
              </a:rPr>
              <a:t>5. Environment/ Infrastructure Support : -</a:t>
            </a:r>
          </a:p>
          <a:p>
            <a:r>
              <a:rPr lang="en-US" sz="3600" b="1" dirty="0">
                <a:latin typeface="Century Schoolbook" panose="02040604050505020304" pitchFamily="18" charset="0"/>
              </a:rPr>
              <a:t>- Skills : Knowledge of system configuration, cloud environments, and environment setup tools.</a:t>
            </a:r>
          </a:p>
          <a:p>
            <a:r>
              <a:rPr lang="en-US" sz="3600" b="1" dirty="0">
                <a:solidFill>
                  <a:srgbClr val="FFFF00"/>
                </a:solidFill>
                <a:latin typeface="Century Schoolbook" panose="02040604050505020304" pitchFamily="18" charset="0"/>
              </a:rPr>
              <a:t>6. Subject Matter Experts (SMEs) : -</a:t>
            </a:r>
          </a:p>
          <a:p>
            <a:r>
              <a:rPr lang="en-US" sz="3600" b="1" dirty="0">
                <a:latin typeface="Century Schoolbook" panose="02040604050505020304" pitchFamily="18" charset="0"/>
              </a:rPr>
              <a:t>- Skills : In-depth knowledge of the application or domain being tested.</a:t>
            </a:r>
            <a:endParaRPr lang="en-IN" sz="3600" b="1" dirty="0">
              <a:latin typeface="Century Schoolbook" panose="02040604050505020304" pitchFamily="18" charset="0"/>
            </a:endParaRPr>
          </a:p>
        </p:txBody>
      </p:sp>
    </p:spTree>
    <p:extLst>
      <p:ext uri="{BB962C8B-B14F-4D97-AF65-F5344CB8AC3E}">
        <p14:creationId xmlns:p14="http://schemas.microsoft.com/office/powerpoint/2010/main" val="3842680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AE656-32E2-CF1D-6C8F-D661CD98B165}"/>
              </a:ext>
            </a:extLst>
          </p:cNvPr>
          <p:cNvSpPr>
            <a:spLocks noGrp="1"/>
          </p:cNvSpPr>
          <p:nvPr>
            <p:ph type="title"/>
          </p:nvPr>
        </p:nvSpPr>
        <p:spPr>
          <a:xfrm>
            <a:off x="0" y="1"/>
            <a:ext cx="10131427" cy="757084"/>
          </a:xfrm>
        </p:spPr>
        <p:txBody>
          <a:bodyPr>
            <a:noAutofit/>
          </a:bodyPr>
          <a:lstStyle/>
          <a:p>
            <a:pPr marL="457200" indent="-457200">
              <a:buFont typeface="Wingdings" panose="05000000000000000000" pitchFamily="2" charset="2"/>
              <a:buChar char="v"/>
            </a:pPr>
            <a:r>
              <a:rPr lang="en-US" sz="4400" dirty="0">
                <a:solidFill>
                  <a:srgbClr val="FFFF00"/>
                </a:solidFill>
              </a:rPr>
              <a:t> </a:t>
            </a:r>
            <a:r>
              <a:rPr lang="en-US" sz="4400" u="sng" dirty="0">
                <a:solidFill>
                  <a:srgbClr val="FFFF00"/>
                </a:solidFill>
                <a:latin typeface="Algerian" panose="04020705040A02060702" pitchFamily="82" charset="0"/>
              </a:rPr>
              <a:t>training needs</a:t>
            </a:r>
            <a:r>
              <a:rPr lang="en-US" sz="4400" dirty="0">
                <a:solidFill>
                  <a:srgbClr val="FFFF00"/>
                </a:solidFill>
                <a:latin typeface="Algerian" panose="04020705040A02060702" pitchFamily="82" charset="0"/>
              </a:rPr>
              <a:t> : -</a:t>
            </a:r>
            <a:endParaRPr lang="en-IN" sz="4400" dirty="0">
              <a:solidFill>
                <a:srgbClr val="FFFF00"/>
              </a:solidFill>
            </a:endParaRPr>
          </a:p>
        </p:txBody>
      </p:sp>
      <p:sp>
        <p:nvSpPr>
          <p:cNvPr id="3" name="Text Placeholder 2">
            <a:extLst>
              <a:ext uri="{FF2B5EF4-FFF2-40B4-BE49-F238E27FC236}">
                <a16:creationId xmlns:a16="http://schemas.microsoft.com/office/drawing/2014/main" id="{62B60EE5-ADCE-7A77-8DD7-6AEE55E20CB8}"/>
              </a:ext>
            </a:extLst>
          </p:cNvPr>
          <p:cNvSpPr>
            <a:spLocks noGrp="1"/>
          </p:cNvSpPr>
          <p:nvPr>
            <p:ph type="body" idx="1"/>
          </p:nvPr>
        </p:nvSpPr>
        <p:spPr>
          <a:xfrm>
            <a:off x="0" y="646470"/>
            <a:ext cx="12192000" cy="6014883"/>
          </a:xfrm>
        </p:spPr>
        <p:txBody>
          <a:bodyPr>
            <a:noAutofit/>
          </a:bodyPr>
          <a:lstStyle/>
          <a:p>
            <a:r>
              <a:rPr lang="en-US" sz="1600" b="1" dirty="0">
                <a:solidFill>
                  <a:srgbClr val="FFFF00"/>
                </a:solidFill>
                <a:latin typeface="Century Schoolbook" panose="02040604050505020304" pitchFamily="18" charset="0"/>
              </a:rPr>
              <a:t>1. Testing Tools and Technologies : -</a:t>
            </a:r>
          </a:p>
          <a:p>
            <a:r>
              <a:rPr lang="en-US" sz="1600" b="1" dirty="0">
                <a:latin typeface="Century Schoolbook" panose="02040604050505020304" pitchFamily="18" charset="0"/>
              </a:rPr>
              <a:t>- Training : Provide hands-on workshops or courses on specific tools like JIRA, Test Rail, Selenium, JMeter, etc.</a:t>
            </a:r>
          </a:p>
          <a:p>
            <a:r>
              <a:rPr lang="en-US" sz="1600" b="1" dirty="0">
                <a:solidFill>
                  <a:srgbClr val="FFFF00"/>
                </a:solidFill>
                <a:latin typeface="Century Schoolbook" panose="02040604050505020304" pitchFamily="18" charset="0"/>
              </a:rPr>
              <a:t>2. Test Methodologies and Best Practices : -</a:t>
            </a:r>
          </a:p>
          <a:p>
            <a:r>
              <a:rPr lang="en-US" sz="1600" b="1" dirty="0">
                <a:latin typeface="Century Schoolbook" panose="02040604050505020304" pitchFamily="18" charset="0"/>
              </a:rPr>
              <a:t>- Training : Conduct Training sessions on testing methods.</a:t>
            </a:r>
          </a:p>
          <a:p>
            <a:r>
              <a:rPr lang="en-US" sz="1600" b="1" dirty="0">
                <a:latin typeface="Century Schoolbook" panose="02040604050505020304" pitchFamily="18" charset="0"/>
              </a:rPr>
              <a:t>(Agile, Waterfall, v-Model) and best practices for test case design, defect management and risk-based testing.</a:t>
            </a:r>
          </a:p>
          <a:p>
            <a:r>
              <a:rPr lang="en-US" sz="1600" b="1" dirty="0">
                <a:solidFill>
                  <a:srgbClr val="FFFF00"/>
                </a:solidFill>
                <a:latin typeface="Century Schoolbook" panose="02040604050505020304" pitchFamily="18" charset="0"/>
              </a:rPr>
              <a:t>3. Automation Training : -</a:t>
            </a:r>
          </a:p>
          <a:p>
            <a:r>
              <a:rPr lang="en-US" sz="1600" b="1" dirty="0">
                <a:latin typeface="Century Schoolbook" panose="02040604050505020304" pitchFamily="18" charset="0"/>
              </a:rPr>
              <a:t>- Training : Provide training in programming languages, automation tools and integration of automated tests into the CI/CD pipeline.</a:t>
            </a:r>
          </a:p>
          <a:p>
            <a:r>
              <a:rPr lang="en-US" sz="1600" b="1" dirty="0">
                <a:solidFill>
                  <a:srgbClr val="FFFF00"/>
                </a:solidFill>
                <a:latin typeface="Century Schoolbook" panose="02040604050505020304" pitchFamily="18" charset="0"/>
              </a:rPr>
              <a:t>4. Performance and security Testing : -</a:t>
            </a:r>
          </a:p>
          <a:p>
            <a:r>
              <a:rPr lang="en-US" sz="1600" b="1" dirty="0">
                <a:latin typeface="Century Schoolbook" panose="02040604050505020304" pitchFamily="18" charset="0"/>
              </a:rPr>
              <a:t>- Training : offer specialized courses on load testing, stress testing, and vulnerability scanning tools and techniques.</a:t>
            </a:r>
          </a:p>
          <a:p>
            <a:r>
              <a:rPr lang="en-US" sz="1600" b="1" dirty="0">
                <a:solidFill>
                  <a:srgbClr val="FFFF00"/>
                </a:solidFill>
                <a:latin typeface="Century Schoolbook" panose="02040604050505020304" pitchFamily="18" charset="0"/>
              </a:rPr>
              <a:t>5. Domain-specific Knowledge : -</a:t>
            </a:r>
          </a:p>
          <a:p>
            <a:r>
              <a:rPr lang="en-US" sz="1600" b="1" dirty="0">
                <a:latin typeface="Century Schoolbook" panose="02040604050505020304" pitchFamily="18" charset="0"/>
              </a:rPr>
              <a:t>- Training : Arrange for sessions with SMEs to provide insights into the application's functionality and business requirements.</a:t>
            </a:r>
          </a:p>
          <a:p>
            <a:r>
              <a:rPr lang="en-US" sz="1600" b="1" dirty="0">
                <a:solidFill>
                  <a:srgbClr val="FFFF00"/>
                </a:solidFill>
                <a:latin typeface="Century Schoolbook" panose="02040604050505020304" pitchFamily="18" charset="0"/>
              </a:rPr>
              <a:t>6. Defect Management and Reporting : -</a:t>
            </a:r>
          </a:p>
          <a:p>
            <a:r>
              <a:rPr lang="en-US" sz="1600" b="1" dirty="0">
                <a:latin typeface="Century Schoolbook" panose="02040604050505020304" pitchFamily="18" charset="0"/>
              </a:rPr>
              <a:t>- Training : Hold workshops on defect management tools and ensure consistency in reporting defect </a:t>
            </a:r>
            <a:r>
              <a:rPr lang="en-US" sz="1600" b="1" dirty="0" err="1">
                <a:latin typeface="Century Schoolbook" panose="02040604050505020304" pitchFamily="18" charset="0"/>
              </a:rPr>
              <a:t>sevirity</a:t>
            </a:r>
            <a:r>
              <a:rPr lang="en-US" sz="1600" b="1" dirty="0">
                <a:latin typeface="Century Schoolbook" panose="02040604050505020304" pitchFamily="18" charset="0"/>
              </a:rPr>
              <a:t> and impact.</a:t>
            </a:r>
            <a:endParaRPr lang="en-IN" sz="1600" b="1" dirty="0">
              <a:latin typeface="Century Schoolbook" panose="02040604050505020304" pitchFamily="18" charset="0"/>
            </a:endParaRPr>
          </a:p>
        </p:txBody>
      </p:sp>
    </p:spTree>
    <p:extLst>
      <p:ext uri="{BB962C8B-B14F-4D97-AF65-F5344CB8AC3E}">
        <p14:creationId xmlns:p14="http://schemas.microsoft.com/office/powerpoint/2010/main" val="1312067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96223-8511-F64B-0D22-C012F1AE3F4D}"/>
              </a:ext>
            </a:extLst>
          </p:cNvPr>
          <p:cNvSpPr>
            <a:spLocks noGrp="1"/>
          </p:cNvSpPr>
          <p:nvPr>
            <p:ph type="title"/>
          </p:nvPr>
        </p:nvSpPr>
        <p:spPr>
          <a:xfrm>
            <a:off x="95865" y="98324"/>
            <a:ext cx="10131427" cy="717753"/>
          </a:xfrm>
        </p:spPr>
        <p:txBody>
          <a:bodyPr>
            <a:normAutofit/>
          </a:bodyPr>
          <a:lstStyle/>
          <a:p>
            <a:pPr marL="571500" indent="-571500">
              <a:buFont typeface="Wingdings" panose="05000000000000000000" pitchFamily="2" charset="2"/>
              <a:buChar char="v"/>
            </a:pPr>
            <a:r>
              <a:rPr lang="en-US" sz="4000" u="sng" dirty="0">
                <a:solidFill>
                  <a:srgbClr val="FFFF00"/>
                </a:solidFill>
                <a:latin typeface="Algerian" panose="04020705040A02060702" pitchFamily="82" charset="0"/>
              </a:rPr>
              <a:t>Resource </a:t>
            </a:r>
            <a:r>
              <a:rPr lang="en-US" sz="4000" u="sng" dirty="0" err="1">
                <a:solidFill>
                  <a:srgbClr val="FFFF00"/>
                </a:solidFill>
                <a:latin typeface="Algerian" panose="04020705040A02060702" pitchFamily="82" charset="0"/>
              </a:rPr>
              <a:t>requiremeents</a:t>
            </a:r>
            <a:r>
              <a:rPr lang="en-US" sz="4000" dirty="0">
                <a:solidFill>
                  <a:srgbClr val="FFFF00"/>
                </a:solidFill>
                <a:latin typeface="Algerian" panose="04020705040A02060702" pitchFamily="82" charset="0"/>
              </a:rPr>
              <a:t> :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B029ED48-AC84-A57C-EEC1-20B62A2FA355}"/>
              </a:ext>
            </a:extLst>
          </p:cNvPr>
          <p:cNvSpPr>
            <a:spLocks noGrp="1"/>
          </p:cNvSpPr>
          <p:nvPr>
            <p:ph type="body" idx="1"/>
          </p:nvPr>
        </p:nvSpPr>
        <p:spPr>
          <a:xfrm>
            <a:off x="184355" y="-88384"/>
            <a:ext cx="12007645" cy="5943599"/>
          </a:xfrm>
        </p:spPr>
        <p:txBody>
          <a:bodyPr>
            <a:noAutofit/>
          </a:bodyPr>
          <a:lstStyle/>
          <a:p>
            <a:pPr marL="457200" indent="-457200">
              <a:buFont typeface="Wingdings" panose="05000000000000000000" pitchFamily="2" charset="2"/>
              <a:buChar char="Ø"/>
            </a:pPr>
            <a:r>
              <a:rPr lang="en-US" sz="2400" b="1" dirty="0">
                <a:latin typeface="Century Schoolbook" panose="02040604050505020304" pitchFamily="18" charset="0"/>
              </a:rPr>
              <a:t>Test Manager has the responsibility to estimate the resources.</a:t>
            </a:r>
          </a:p>
          <a:p>
            <a:pPr marL="457200" indent="-457200">
              <a:buFont typeface="Wingdings" panose="05000000000000000000" pitchFamily="2" charset="2"/>
              <a:buChar char="Ø"/>
            </a:pPr>
            <a:r>
              <a:rPr lang="en-US" sz="2400" b="1" dirty="0">
                <a:latin typeface="Century Schoolbook" panose="02040604050505020304" pitchFamily="18" charset="0"/>
              </a:rPr>
              <a:t>All the team should come and decide along with the Test Manager.</a:t>
            </a:r>
          </a:p>
          <a:p>
            <a:pPr marL="457200" indent="-457200">
              <a:buFont typeface="Wingdings" panose="05000000000000000000" pitchFamily="2" charset="2"/>
              <a:buChar char="Ø"/>
            </a:pPr>
            <a:r>
              <a:rPr lang="en-US" sz="2400" b="1" dirty="0">
                <a:latin typeface="Century Schoolbook" panose="02040604050505020304" pitchFamily="18" charset="0"/>
              </a:rPr>
              <a:t>If resources are underestimated it will directly affect the product.</a:t>
            </a:r>
          </a:p>
          <a:p>
            <a:pPr marL="457200" indent="-457200">
              <a:buFont typeface="Wingdings" panose="05000000000000000000" pitchFamily="2" charset="2"/>
              <a:buChar char="Ø"/>
            </a:pPr>
            <a:r>
              <a:rPr lang="en-US" sz="2400" b="1" dirty="0">
                <a:latin typeface="Century Schoolbook" panose="02040604050505020304" pitchFamily="18" charset="0"/>
              </a:rPr>
              <a:t>Some of Resources Required : -</a:t>
            </a:r>
          </a:p>
          <a:p>
            <a:r>
              <a:rPr lang="en-US" sz="2400" b="1" dirty="0">
                <a:latin typeface="Century Schoolbook" panose="02040604050505020304" pitchFamily="18" charset="0"/>
              </a:rPr>
              <a:t>1. Machine requirements like RAM, Processor, Hard disk.</a:t>
            </a:r>
          </a:p>
          <a:p>
            <a:r>
              <a:rPr lang="en-US" sz="2400" b="1" dirty="0">
                <a:latin typeface="Century Schoolbook" panose="02040604050505020304" pitchFamily="18" charset="0"/>
              </a:rPr>
              <a:t>2. Supporting S/W, OS.</a:t>
            </a:r>
          </a:p>
          <a:p>
            <a:r>
              <a:rPr lang="en-US" sz="2400" b="1" dirty="0">
                <a:latin typeface="Century Schoolbook" panose="02040604050505020304" pitchFamily="18" charset="0"/>
              </a:rPr>
              <a:t>3. No. of </a:t>
            </a:r>
            <a:r>
              <a:rPr lang="en-US" sz="2400" b="1" dirty="0" err="1">
                <a:latin typeface="Century Schoolbook" panose="02040604050505020304" pitchFamily="18" charset="0"/>
              </a:rPr>
              <a:t>licence</a:t>
            </a:r>
            <a:r>
              <a:rPr lang="en-US" sz="2400" b="1" dirty="0">
                <a:latin typeface="Century Schoolbook" panose="02040604050505020304" pitchFamily="18" charset="0"/>
              </a:rPr>
              <a:t> Copies.</a:t>
            </a:r>
          </a:p>
          <a:p>
            <a:r>
              <a:rPr lang="en-US" sz="2400" b="1" dirty="0">
                <a:latin typeface="Century Schoolbook" panose="02040604050505020304" pitchFamily="18" charset="0"/>
              </a:rPr>
              <a:t>4. Supporting tools like configuration management tools, test generators, compilers, </a:t>
            </a:r>
            <a:r>
              <a:rPr lang="en-US" sz="2400" b="1" dirty="0" err="1">
                <a:latin typeface="Century Schoolbook" panose="02040604050505020304" pitchFamily="18" charset="0"/>
              </a:rPr>
              <a:t>etc</a:t>
            </a:r>
            <a:r>
              <a:rPr lang="en-US" sz="2400" b="1" dirty="0">
                <a:latin typeface="Century Schoolbook" panose="02040604050505020304" pitchFamily="18" charset="0"/>
              </a:rPr>
              <a:t>…</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1065269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B9A38-4B5B-61A2-B019-7DEC5A24936A}"/>
              </a:ext>
            </a:extLst>
          </p:cNvPr>
          <p:cNvSpPr>
            <a:spLocks noGrp="1"/>
          </p:cNvSpPr>
          <p:nvPr>
            <p:ph type="title"/>
          </p:nvPr>
        </p:nvSpPr>
        <p:spPr>
          <a:xfrm>
            <a:off x="95865" y="78659"/>
            <a:ext cx="10131427" cy="825909"/>
          </a:xfrm>
        </p:spPr>
        <p:txBody>
          <a:bodyPr>
            <a:normAutofit/>
          </a:bodyPr>
          <a:lstStyle/>
          <a:p>
            <a:pPr marL="571500" indent="-571500">
              <a:buFont typeface="Wingdings" panose="05000000000000000000" pitchFamily="2" charset="2"/>
              <a:buChar char="v"/>
            </a:pPr>
            <a:r>
              <a:rPr lang="en-US" sz="4400" u="sng" dirty="0">
                <a:solidFill>
                  <a:srgbClr val="FFFF00"/>
                </a:solidFill>
                <a:latin typeface="Algerian" panose="04020705040A02060702" pitchFamily="82" charset="0"/>
              </a:rPr>
              <a:t>Test deliverable</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2B36EA7B-8DED-1715-9D9E-893D38B5D7DF}"/>
              </a:ext>
            </a:extLst>
          </p:cNvPr>
          <p:cNvSpPr>
            <a:spLocks noGrp="1"/>
          </p:cNvSpPr>
          <p:nvPr>
            <p:ph type="body" idx="1"/>
          </p:nvPr>
        </p:nvSpPr>
        <p:spPr>
          <a:xfrm>
            <a:off x="95865" y="1020738"/>
            <a:ext cx="12192000" cy="1573161"/>
          </a:xfrm>
        </p:spPr>
        <p:txBody>
          <a:bodyPr>
            <a:noAutofit/>
          </a:bodyPr>
          <a:lstStyle/>
          <a:p>
            <a:pPr marL="342900" indent="-342900">
              <a:buFont typeface="Wingdings" panose="05000000000000000000" pitchFamily="2" charset="2"/>
              <a:buChar char="Ø"/>
            </a:pPr>
            <a:r>
              <a:rPr lang="en-US" sz="2400" b="1" dirty="0">
                <a:latin typeface="Century Schoolbook" panose="02040604050505020304" pitchFamily="18" charset="0"/>
              </a:rPr>
              <a:t>Test deliverable is the test of all the documents, tools and other components that has to be developed &amp; maintained in support of the testing efforts.</a:t>
            </a:r>
          </a:p>
          <a:p>
            <a:pPr marL="342900" indent="-342900">
              <a:buFont typeface="Wingdings" panose="05000000000000000000" pitchFamily="2" charset="2"/>
              <a:buChar char="Ø"/>
            </a:pPr>
            <a:r>
              <a:rPr lang="en-US" sz="2400" b="1" dirty="0">
                <a:latin typeface="Century Schoolbook" panose="02040604050505020304" pitchFamily="18" charset="0"/>
              </a:rPr>
              <a:t>There are different test deliverable at every phase of the software development lifecycle.  </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BD0220B1-7695-EEB8-E329-F1848FD55D51}"/>
              </a:ext>
            </a:extLst>
          </p:cNvPr>
          <p:cNvPicPr>
            <a:picLocks noChangeAspect="1"/>
          </p:cNvPicPr>
          <p:nvPr/>
        </p:nvPicPr>
        <p:blipFill>
          <a:blip r:embed="rId2"/>
          <a:stretch>
            <a:fillRect/>
          </a:stretch>
        </p:blipFill>
        <p:spPr>
          <a:xfrm>
            <a:off x="1912257" y="2953891"/>
            <a:ext cx="8367485" cy="3564192"/>
          </a:xfrm>
          <a:prstGeom prst="rect">
            <a:avLst/>
          </a:prstGeom>
        </p:spPr>
      </p:pic>
    </p:spTree>
    <p:extLst>
      <p:ext uri="{BB962C8B-B14F-4D97-AF65-F5344CB8AC3E}">
        <p14:creationId xmlns:p14="http://schemas.microsoft.com/office/powerpoint/2010/main" val="41670587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E5B28-CBD6-0707-174E-A26CD840CAAE}"/>
              </a:ext>
            </a:extLst>
          </p:cNvPr>
          <p:cNvSpPr>
            <a:spLocks noGrp="1"/>
          </p:cNvSpPr>
          <p:nvPr>
            <p:ph type="title"/>
          </p:nvPr>
        </p:nvSpPr>
        <p:spPr>
          <a:xfrm>
            <a:off x="1" y="1"/>
            <a:ext cx="10187962" cy="825910"/>
          </a:xfrm>
        </p:spPr>
        <p:txBody>
          <a:bodyPr>
            <a:normAutofit/>
          </a:bodyPr>
          <a:lstStyle/>
          <a:p>
            <a:pPr marL="457200" indent="-457200">
              <a:buFont typeface="Wingdings" panose="05000000000000000000" pitchFamily="2" charset="2"/>
              <a:buChar char="v"/>
            </a:pPr>
            <a:r>
              <a:rPr lang="en-US" sz="4400" dirty="0">
                <a:solidFill>
                  <a:srgbClr val="FFFF00"/>
                </a:solidFill>
                <a:latin typeface="Algerian" panose="04020705040A02060702" pitchFamily="82" charset="0"/>
              </a:rPr>
              <a:t> </a:t>
            </a:r>
            <a:r>
              <a:rPr lang="en-US" sz="4400" u="sng" dirty="0">
                <a:solidFill>
                  <a:srgbClr val="FFFF00"/>
                </a:solidFill>
                <a:latin typeface="Algerian" panose="04020705040A02060702" pitchFamily="82" charset="0"/>
              </a:rPr>
              <a:t>Testing task</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27069A86-CBCE-E08B-7B2E-978F7B15B409}"/>
              </a:ext>
            </a:extLst>
          </p:cNvPr>
          <p:cNvSpPr>
            <a:spLocks noGrp="1"/>
          </p:cNvSpPr>
          <p:nvPr>
            <p:ph type="body" idx="1"/>
          </p:nvPr>
        </p:nvSpPr>
        <p:spPr>
          <a:xfrm>
            <a:off x="120580" y="0"/>
            <a:ext cx="11746524" cy="4748980"/>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Testing Tasks uses 'Work Break Down' structure i.e. First various tasks are identified and identify the dependency then among them.</a:t>
            </a:r>
          </a:p>
          <a:p>
            <a:pPr marL="342900" indent="-342900">
              <a:buFont typeface="Wingdings" panose="05000000000000000000" pitchFamily="2" charset="2"/>
              <a:buChar char="Ø"/>
            </a:pPr>
            <a:r>
              <a:rPr lang="en-US" sz="2400" b="1" dirty="0">
                <a:latin typeface="Century Schoolbook" panose="02040604050505020304" pitchFamily="18" charset="0"/>
              </a:rPr>
              <a:t>Following things should be done : -</a:t>
            </a:r>
          </a:p>
          <a:p>
            <a:r>
              <a:rPr lang="en-US" sz="2400" b="1" dirty="0">
                <a:latin typeface="Century Schoolbook" panose="02040604050505020304" pitchFamily="18" charset="0"/>
              </a:rPr>
              <a:t>- Identify skills for testing.</a:t>
            </a:r>
          </a:p>
          <a:p>
            <a:r>
              <a:rPr lang="en-US" sz="2400" b="1" dirty="0">
                <a:latin typeface="Century Schoolbook" panose="02040604050505020304" pitchFamily="18" charset="0"/>
              </a:rPr>
              <a:t>- Determine size estimation for testing - Loc (Line of code) or FP (function Points).</a:t>
            </a:r>
          </a:p>
          <a:p>
            <a:r>
              <a:rPr lang="en-US" sz="2400" b="1" dirty="0">
                <a:latin typeface="Century Schoolbook" panose="02040604050505020304" pitchFamily="18" charset="0"/>
              </a:rPr>
              <a:t>- Determine effort estimation for people - Days/months/years.</a:t>
            </a:r>
          </a:p>
        </p:txBody>
      </p:sp>
    </p:spTree>
    <p:extLst>
      <p:ext uri="{BB962C8B-B14F-4D97-AF65-F5344CB8AC3E}">
        <p14:creationId xmlns:p14="http://schemas.microsoft.com/office/powerpoint/2010/main" val="2518832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A94A52-0884-9301-1246-1AA60FAB4F00}"/>
              </a:ext>
            </a:extLst>
          </p:cNvPr>
          <p:cNvSpPr>
            <a:spLocks noGrp="1"/>
          </p:cNvSpPr>
          <p:nvPr>
            <p:ph type="title"/>
          </p:nvPr>
        </p:nvSpPr>
        <p:spPr>
          <a:xfrm>
            <a:off x="0" y="0"/>
            <a:ext cx="10131427" cy="757083"/>
          </a:xfrm>
        </p:spPr>
        <p:txBody>
          <a:bodyPr>
            <a:normAutofit fontScale="90000"/>
          </a:bodyPr>
          <a:lstStyle/>
          <a:p>
            <a:pPr marL="457200" indent="-457200">
              <a:buFont typeface="Wingdings" panose="05000000000000000000" pitchFamily="2" charset="2"/>
              <a:buChar char="v"/>
            </a:pPr>
            <a:r>
              <a:rPr lang="en-US" sz="4400" dirty="0">
                <a:solidFill>
                  <a:srgbClr val="FFFF00"/>
                </a:solidFill>
                <a:latin typeface="Algerian" panose="04020705040A02060702" pitchFamily="82" charset="0"/>
              </a:rPr>
              <a:t> </a:t>
            </a:r>
            <a:r>
              <a:rPr lang="en-US" sz="4400" u="sng" dirty="0">
                <a:solidFill>
                  <a:srgbClr val="FFFF00"/>
                </a:solidFill>
                <a:latin typeface="Algerian" panose="04020705040A02060702" pitchFamily="82" charset="0"/>
              </a:rPr>
              <a:t>Test management</a:t>
            </a:r>
            <a:r>
              <a:rPr lang="en-US" sz="4400" dirty="0">
                <a:solidFill>
                  <a:srgbClr val="FFFF00"/>
                </a:solidFill>
                <a:latin typeface="Algerian" panose="04020705040A02060702" pitchFamily="82" charset="0"/>
              </a:rPr>
              <a:t> : -</a:t>
            </a:r>
            <a:endParaRPr lang="en-IN" sz="4400" u="sng"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151D9899-EFAD-B2D3-3211-949B8B9AAEAA}"/>
              </a:ext>
            </a:extLst>
          </p:cNvPr>
          <p:cNvSpPr>
            <a:spLocks noGrp="1"/>
          </p:cNvSpPr>
          <p:nvPr>
            <p:ph type="body" idx="1"/>
          </p:nvPr>
        </p:nvSpPr>
        <p:spPr>
          <a:xfrm>
            <a:off x="90435" y="-283084"/>
            <a:ext cx="12191999" cy="5997678"/>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Test Management involves managing all aspects of the testing process, including tools, standards, </a:t>
            </a:r>
            <a:r>
              <a:rPr lang="en-US" sz="2400" b="1" dirty="0" err="1">
                <a:latin typeface="Century Schoolbook" panose="02040604050505020304" pitchFamily="18" charset="0"/>
              </a:rPr>
              <a:t>an'd</a:t>
            </a:r>
            <a:r>
              <a:rPr lang="en-US" sz="2400" b="1" dirty="0">
                <a:latin typeface="Century Schoolbook" panose="02040604050505020304" pitchFamily="18" charset="0"/>
              </a:rPr>
              <a:t>: people..</a:t>
            </a:r>
          </a:p>
          <a:p>
            <a:pPr marL="342900" indent="-342900">
              <a:buFont typeface="Wingdings" panose="05000000000000000000" pitchFamily="2" charset="2"/>
              <a:buChar char="Ø"/>
            </a:pPr>
            <a:r>
              <a:rPr lang="en-US" sz="2400" b="1" dirty="0">
                <a:latin typeface="Century Schoolbook" panose="02040604050505020304" pitchFamily="18" charset="0"/>
              </a:rPr>
              <a:t>It allows different teams to plan, develop, execute and access all testing activities : </a:t>
            </a:r>
          </a:p>
          <a:p>
            <a:r>
              <a:rPr lang="en-US" sz="2400" b="1" dirty="0">
                <a:latin typeface="Century Schoolbook" panose="02040604050505020304" pitchFamily="18" charset="0"/>
              </a:rPr>
              <a:t>1) Standards : -</a:t>
            </a:r>
          </a:p>
          <a:p>
            <a:r>
              <a:rPr lang="en-US" sz="2400" b="1" dirty="0">
                <a:latin typeface="Century Schoolbook" panose="02040604050505020304" pitchFamily="18" charset="0"/>
              </a:rPr>
              <a:t>   a) Internal standards.</a:t>
            </a:r>
          </a:p>
          <a:p>
            <a:r>
              <a:rPr lang="en-US" sz="2400" b="1" dirty="0">
                <a:latin typeface="Century Schoolbook" panose="02040604050505020304" pitchFamily="18" charset="0"/>
              </a:rPr>
              <a:t>   b) External standards ( customer, National, International ).</a:t>
            </a:r>
          </a:p>
          <a:p>
            <a:r>
              <a:rPr lang="en-US" sz="2400" b="1" dirty="0">
                <a:latin typeface="Century Schoolbook" panose="02040604050505020304" pitchFamily="18" charset="0"/>
              </a:rPr>
              <a:t>2) Test Infrastructure Management.</a:t>
            </a:r>
          </a:p>
          <a:p>
            <a:r>
              <a:rPr lang="en-US" sz="2400" b="1" dirty="0">
                <a:latin typeface="Century Schoolbook" panose="02040604050505020304" pitchFamily="18" charset="0"/>
              </a:rPr>
              <a:t>3) Test People/Team Management.</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821730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70A0A-8836-8DD6-39D4-6BB548CB105A}"/>
              </a:ext>
            </a:extLst>
          </p:cNvPr>
          <p:cNvSpPr>
            <a:spLocks noGrp="1"/>
          </p:cNvSpPr>
          <p:nvPr>
            <p:ph type="title"/>
          </p:nvPr>
        </p:nvSpPr>
        <p:spPr>
          <a:xfrm>
            <a:off x="0" y="-98322"/>
            <a:ext cx="10227293" cy="737418"/>
          </a:xfrm>
        </p:spPr>
        <p:txBody>
          <a:bodyPr>
            <a:noAutofit/>
          </a:bodyPr>
          <a:lstStyle/>
          <a:p>
            <a:pPr marL="457200" indent="-457200">
              <a:buFont typeface="Wingdings" panose="05000000000000000000" pitchFamily="2" charset="2"/>
              <a:buChar char="v"/>
            </a:pPr>
            <a:r>
              <a:rPr lang="en-US" sz="4400" dirty="0">
                <a:solidFill>
                  <a:srgbClr val="FFFF00"/>
                </a:solidFill>
                <a:latin typeface="Algerian" panose="04020705040A02060702" pitchFamily="82" charset="0"/>
              </a:rPr>
              <a:t> </a:t>
            </a:r>
            <a:r>
              <a:rPr lang="en-US" sz="4000" u="sng" dirty="0">
                <a:solidFill>
                  <a:srgbClr val="FFFF00"/>
                </a:solidFill>
                <a:latin typeface="Algerian" panose="04020705040A02060702" pitchFamily="82" charset="0"/>
              </a:rPr>
              <a:t>choice of standards</a:t>
            </a:r>
            <a:r>
              <a:rPr lang="en-US" sz="4000" dirty="0">
                <a:solidFill>
                  <a:srgbClr val="FFFF00"/>
                </a:solidFill>
                <a:latin typeface="Algerian" panose="04020705040A02060702" pitchFamily="82" charset="0"/>
              </a:rPr>
              <a:t> :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B29A46C3-14B4-7BD3-B03D-A88505D33DA6}"/>
              </a:ext>
            </a:extLst>
          </p:cNvPr>
          <p:cNvSpPr>
            <a:spLocks noGrp="1"/>
          </p:cNvSpPr>
          <p:nvPr>
            <p:ph type="body" idx="1"/>
          </p:nvPr>
        </p:nvSpPr>
        <p:spPr>
          <a:xfrm>
            <a:off x="1" y="471949"/>
            <a:ext cx="12191999" cy="6258232"/>
          </a:xfrm>
        </p:spPr>
        <p:txBody>
          <a:bodyPr>
            <a:normAutofit fontScale="85000" lnSpcReduction="20000"/>
          </a:bodyPr>
          <a:lstStyle/>
          <a:p>
            <a:r>
              <a:rPr lang="en-US" b="1" dirty="0">
                <a:solidFill>
                  <a:srgbClr val="FFFF00"/>
                </a:solidFill>
                <a:latin typeface="Century Schoolbook" panose="02040604050505020304" pitchFamily="18" charset="0"/>
              </a:rPr>
              <a:t>a) </a:t>
            </a:r>
            <a:r>
              <a:rPr lang="en-US" b="1" u="sng" dirty="0">
                <a:solidFill>
                  <a:srgbClr val="FFFF00"/>
                </a:solidFill>
                <a:latin typeface="Century Schoolbook" panose="02040604050505020304" pitchFamily="18" charset="0"/>
              </a:rPr>
              <a:t>Internal standards : -</a:t>
            </a:r>
          </a:p>
          <a:p>
            <a:r>
              <a:rPr lang="en-US" b="1" dirty="0">
                <a:latin typeface="Century Schoolbook" panose="02040604050505020304" pitchFamily="18" charset="0"/>
              </a:rPr>
              <a:t>- Developed by software development organization.</a:t>
            </a:r>
          </a:p>
          <a:p>
            <a:r>
              <a:rPr lang="en-US" b="1" dirty="0">
                <a:latin typeface="Century Schoolbook" panose="02040604050505020304" pitchFamily="18" charset="0"/>
              </a:rPr>
              <a:t>- Used for internal purposes.</a:t>
            </a:r>
          </a:p>
          <a:p>
            <a:r>
              <a:rPr lang="en-US" b="1" dirty="0">
                <a:latin typeface="Century Schoolbook" panose="02040604050505020304" pitchFamily="18" charset="0"/>
              </a:rPr>
              <a:t>- It may derived from national or international standard.</a:t>
            </a:r>
          </a:p>
          <a:p>
            <a:r>
              <a:rPr lang="en-US" b="1" dirty="0">
                <a:solidFill>
                  <a:srgbClr val="FFFF00"/>
                </a:solidFill>
                <a:latin typeface="Century Schoolbook" panose="02040604050505020304" pitchFamily="18" charset="0"/>
              </a:rPr>
              <a:t>b) </a:t>
            </a:r>
            <a:r>
              <a:rPr lang="en-US" b="1" u="sng" dirty="0">
                <a:solidFill>
                  <a:srgbClr val="FFFF00"/>
                </a:solidFill>
                <a:latin typeface="Century Schoolbook" panose="02040604050505020304" pitchFamily="18" charset="0"/>
              </a:rPr>
              <a:t>External standards : -</a:t>
            </a:r>
          </a:p>
          <a:p>
            <a:r>
              <a:rPr lang="en-US" b="1" dirty="0">
                <a:latin typeface="Century Schoolbook" panose="02040604050505020304" pitchFamily="18" charset="0"/>
              </a:rPr>
              <a:t>- Made by other entity than the organization.</a:t>
            </a:r>
          </a:p>
          <a:p>
            <a:r>
              <a:rPr lang="en-US" b="1" dirty="0">
                <a:latin typeface="Century Schoolbook" panose="02040604050505020304" pitchFamily="18" charset="0"/>
              </a:rPr>
              <a:t>- These are Heated as legal requirements for product.</a:t>
            </a:r>
          </a:p>
          <a:p>
            <a:r>
              <a:rPr lang="en-US" b="1" dirty="0">
                <a:latin typeface="Century Schoolbook" panose="02040604050505020304" pitchFamily="18" charset="0"/>
              </a:rPr>
              <a:t>- Types of external standards :</a:t>
            </a:r>
          </a:p>
          <a:p>
            <a:r>
              <a:rPr lang="en-US" b="1" dirty="0">
                <a:solidFill>
                  <a:srgbClr val="FFFF00"/>
                </a:solidFill>
                <a:latin typeface="Century Schoolbook" panose="02040604050505020304" pitchFamily="18" charset="0"/>
              </a:rPr>
              <a:t>  (1) </a:t>
            </a:r>
            <a:r>
              <a:rPr lang="en-US" b="1" u="sng" dirty="0">
                <a:solidFill>
                  <a:srgbClr val="FFFF00"/>
                </a:solidFill>
                <a:latin typeface="Century Schoolbook" panose="02040604050505020304" pitchFamily="18" charset="0"/>
              </a:rPr>
              <a:t>Customer Standards : -</a:t>
            </a:r>
          </a:p>
          <a:p>
            <a:r>
              <a:rPr lang="en-US" b="1" dirty="0">
                <a:latin typeface="Century Schoolbook" panose="02040604050505020304" pitchFamily="18" charset="0"/>
              </a:rPr>
              <a:t>   - Defined by Customers to suppliers.</a:t>
            </a:r>
          </a:p>
          <a:p>
            <a:r>
              <a:rPr lang="en-US" b="1" dirty="0">
                <a:solidFill>
                  <a:srgbClr val="FFFF00"/>
                </a:solidFill>
                <a:latin typeface="Century Schoolbook" panose="02040604050505020304" pitchFamily="18" charset="0"/>
              </a:rPr>
              <a:t>  (2) </a:t>
            </a:r>
            <a:r>
              <a:rPr lang="en-US" b="1" u="sng" dirty="0">
                <a:solidFill>
                  <a:srgbClr val="FFFF00"/>
                </a:solidFill>
                <a:latin typeface="Century Schoolbook" panose="02040604050505020304" pitchFamily="18" charset="0"/>
              </a:rPr>
              <a:t>National standards : -</a:t>
            </a:r>
          </a:p>
          <a:p>
            <a:r>
              <a:rPr lang="en-US" b="1" dirty="0">
                <a:latin typeface="Century Schoolbook" panose="02040604050505020304" pitchFamily="18" charset="0"/>
              </a:rPr>
              <a:t>   - Defined by regulatory authorities.</a:t>
            </a:r>
          </a:p>
          <a:p>
            <a:r>
              <a:rPr lang="en-US" b="1" dirty="0">
                <a:latin typeface="Century Schoolbook" panose="02040604050505020304" pitchFamily="18" charset="0"/>
              </a:rPr>
              <a:t>   - Applicable to a producer &amp; consumers.</a:t>
            </a:r>
          </a:p>
          <a:p>
            <a:r>
              <a:rPr lang="en-US" b="1" dirty="0">
                <a:latin typeface="Century Schoolbook" panose="02040604050505020304" pitchFamily="18" charset="0"/>
              </a:rPr>
              <a:t>   - Violating standards leads to legal actions.</a:t>
            </a:r>
          </a:p>
          <a:p>
            <a:r>
              <a:rPr lang="en-US" b="1" dirty="0">
                <a:solidFill>
                  <a:srgbClr val="FFFF00"/>
                </a:solidFill>
                <a:latin typeface="Century Schoolbook" panose="02040604050505020304" pitchFamily="18" charset="0"/>
              </a:rPr>
              <a:t>  (3) </a:t>
            </a:r>
            <a:r>
              <a:rPr lang="en-US" b="1" u="sng" dirty="0">
                <a:solidFill>
                  <a:srgbClr val="FFFF00"/>
                </a:solidFill>
                <a:latin typeface="Century Schoolbook" panose="02040604050505020304" pitchFamily="18" charset="0"/>
              </a:rPr>
              <a:t>International standards : -</a:t>
            </a:r>
          </a:p>
          <a:p>
            <a:r>
              <a:rPr lang="en-US" b="1" dirty="0">
                <a:latin typeface="Century Schoolbook" panose="02040604050505020304" pitchFamily="18" charset="0"/>
              </a:rPr>
              <a:t>   - Defined Globally.</a:t>
            </a:r>
          </a:p>
          <a:p>
            <a:r>
              <a:rPr lang="en-US" b="1" dirty="0">
                <a:latin typeface="Century Schoolbook" panose="02040604050505020304" pitchFamily="18" charset="0"/>
              </a:rPr>
              <a:t>   - Applicable to all producer &amp; consumers TOM.</a:t>
            </a:r>
          </a:p>
          <a:p>
            <a:r>
              <a:rPr lang="en-US" b="1" dirty="0">
                <a:latin typeface="Century Schoolbook" panose="02040604050505020304" pitchFamily="18" charset="0"/>
              </a:rPr>
              <a:t>   - </a:t>
            </a:r>
            <a:r>
              <a:rPr lang="en-US" b="1" dirty="0" err="1">
                <a:latin typeface="Century Schoolbook" panose="02040604050505020304" pitchFamily="18" charset="0"/>
              </a:rPr>
              <a:t>Eg.</a:t>
            </a:r>
            <a:r>
              <a:rPr lang="en-US" b="1" dirty="0">
                <a:latin typeface="Century Schoolbook" panose="02040604050505020304" pitchFamily="18" charset="0"/>
              </a:rPr>
              <a:t> ISO 29119, IEEE 829 Standards.</a:t>
            </a:r>
            <a:endParaRPr lang="en-IN" b="1" dirty="0">
              <a:latin typeface="Century Schoolbook" panose="02040604050505020304" pitchFamily="18" charset="0"/>
            </a:endParaRPr>
          </a:p>
        </p:txBody>
      </p:sp>
    </p:spTree>
    <p:extLst>
      <p:ext uri="{BB962C8B-B14F-4D97-AF65-F5344CB8AC3E}">
        <p14:creationId xmlns:p14="http://schemas.microsoft.com/office/powerpoint/2010/main" val="23667247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A5BD0-C461-86B5-321B-79F76D9FE9AC}"/>
              </a:ext>
            </a:extLst>
          </p:cNvPr>
          <p:cNvSpPr>
            <a:spLocks noGrp="1"/>
          </p:cNvSpPr>
          <p:nvPr>
            <p:ph type="title"/>
          </p:nvPr>
        </p:nvSpPr>
        <p:spPr>
          <a:xfrm>
            <a:off x="0" y="0"/>
            <a:ext cx="12437806" cy="737418"/>
          </a:xfrm>
        </p:spPr>
        <p:txBody>
          <a:bodyPr>
            <a:normAutofit fontScale="90000"/>
          </a:bodyPr>
          <a:lstStyle/>
          <a:p>
            <a:pPr marL="457200" indent="-457200">
              <a:buFont typeface="Wingdings" panose="05000000000000000000" pitchFamily="2" charset="2"/>
              <a:buChar char="v"/>
            </a:pPr>
            <a:r>
              <a:rPr lang="en-US" sz="4400" dirty="0">
                <a:solidFill>
                  <a:srgbClr val="FFFF00"/>
                </a:solidFill>
                <a:latin typeface="Algerian" panose="04020705040A02060702" pitchFamily="82" charset="0"/>
              </a:rPr>
              <a:t> </a:t>
            </a:r>
            <a:r>
              <a:rPr lang="en-US" sz="5300" u="sng" dirty="0">
                <a:solidFill>
                  <a:srgbClr val="FFFF00"/>
                </a:solidFill>
                <a:latin typeface="Algerian" panose="04020705040A02060702" pitchFamily="82" charset="0"/>
              </a:rPr>
              <a:t>test infrastructure management</a:t>
            </a:r>
            <a:r>
              <a:rPr lang="en-US" sz="5300" dirty="0">
                <a:solidFill>
                  <a:srgbClr val="FFFF00"/>
                </a:solidFill>
                <a:latin typeface="Algerian" panose="04020705040A02060702" pitchFamily="82" charset="0"/>
              </a:rPr>
              <a:t> : -</a:t>
            </a:r>
            <a:endParaRPr lang="en-IN" sz="53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DC0AE85F-9016-0C4C-A5A8-0379AD1EF040}"/>
              </a:ext>
            </a:extLst>
          </p:cNvPr>
          <p:cNvSpPr>
            <a:spLocks noGrp="1"/>
          </p:cNvSpPr>
          <p:nvPr>
            <p:ph type="body" idx="1"/>
          </p:nvPr>
        </p:nvSpPr>
        <p:spPr>
          <a:xfrm>
            <a:off x="0" y="717756"/>
            <a:ext cx="11965858" cy="5422488"/>
          </a:xfrm>
        </p:spPr>
        <p:txBody>
          <a:bodyPr>
            <a:normAutofit/>
          </a:bodyPr>
          <a:lstStyle/>
          <a:p>
            <a:pPr marL="342900" indent="-342900">
              <a:buFont typeface="Wingdings" panose="05000000000000000000" pitchFamily="2" charset="2"/>
              <a:buChar char="Ø"/>
            </a:pPr>
            <a:r>
              <a:rPr lang="en-US" b="1" dirty="0">
                <a:latin typeface="Century Schoolbook" panose="02040604050505020304" pitchFamily="18" charset="0"/>
              </a:rPr>
              <a:t>Test Infrastructure Management refers to the processes, tools and resources involved in setting up, maintaining, and managing the environments required for testing.</a:t>
            </a:r>
          </a:p>
          <a:p>
            <a:pPr marL="342900" indent="-342900">
              <a:buFont typeface="Wingdings" panose="05000000000000000000" pitchFamily="2" charset="2"/>
              <a:buChar char="Ø"/>
            </a:pPr>
            <a:r>
              <a:rPr lang="en-US" b="1" dirty="0">
                <a:latin typeface="Century Schoolbook" panose="02040604050505020304" pitchFamily="18" charset="0"/>
              </a:rPr>
              <a:t>More stability, continuity and reliability is provided to automation testing by providing stronger infrastructure.</a:t>
            </a:r>
          </a:p>
          <a:p>
            <a:pPr marL="342900" indent="-342900">
              <a:buFont typeface="Wingdings" panose="05000000000000000000" pitchFamily="2" charset="2"/>
              <a:buChar char="Ø"/>
            </a:pPr>
            <a:r>
              <a:rPr lang="en-US" b="1" dirty="0">
                <a:latin typeface="Century Schoolbook" panose="02040604050505020304" pitchFamily="18" charset="0"/>
              </a:rPr>
              <a:t>It is used for supporting automated &amp; manual testing.</a:t>
            </a:r>
          </a:p>
          <a:p>
            <a:pPr marL="342900" indent="-342900">
              <a:buFont typeface="Wingdings" panose="05000000000000000000" pitchFamily="2" charset="2"/>
              <a:buChar char="Ø"/>
            </a:pPr>
            <a:r>
              <a:rPr lang="en-US" b="1" dirty="0">
                <a:latin typeface="Century Schoolbook" panose="02040604050505020304" pitchFamily="18" charset="0"/>
              </a:rPr>
              <a:t>Testing In </a:t>
            </a:r>
            <a:r>
              <a:rPr lang="en-US" b="1" dirty="0" err="1">
                <a:latin typeface="Century Schoolbook" panose="02040604050505020304" pitchFamily="18" charset="0"/>
              </a:rPr>
              <a:t>Frastructure</a:t>
            </a:r>
            <a:r>
              <a:rPr lang="en-US" b="1" dirty="0">
                <a:latin typeface="Century Schoolbook" panose="02040604050505020304" pitchFamily="18" charset="0"/>
              </a:rPr>
              <a:t> </a:t>
            </a:r>
            <a:r>
              <a:rPr lang="en-US" b="1" dirty="0" err="1">
                <a:latin typeface="Century Schoolbook" panose="02040604050505020304" pitchFamily="18" charset="0"/>
              </a:rPr>
              <a:t>indudes</a:t>
            </a:r>
            <a:r>
              <a:rPr lang="en-US" b="1" dirty="0">
                <a:latin typeface="Century Schoolbook" panose="02040604050505020304" pitchFamily="18" charset="0"/>
              </a:rPr>
              <a:t> : - </a:t>
            </a:r>
          </a:p>
          <a:p>
            <a:r>
              <a:rPr lang="en-US" b="1" dirty="0">
                <a:latin typeface="Century Schoolbook" panose="02040604050505020304" pitchFamily="18" charset="0"/>
              </a:rPr>
              <a:t>    1. Test plan document.</a:t>
            </a:r>
          </a:p>
          <a:p>
            <a:r>
              <a:rPr lang="en-US" b="1" dirty="0">
                <a:latin typeface="Century Schoolbook" panose="02040604050505020304" pitchFamily="18" charset="0"/>
              </a:rPr>
              <a:t>    2. Test Cases ( Planned and Designed ).</a:t>
            </a:r>
          </a:p>
          <a:p>
            <a:r>
              <a:rPr lang="en-US" b="1" dirty="0">
                <a:latin typeface="Century Schoolbook" panose="02040604050505020304" pitchFamily="18" charset="0"/>
              </a:rPr>
              <a:t>    3. Test Environment ( Backend &amp; Frontend ).</a:t>
            </a:r>
          </a:p>
          <a:p>
            <a:r>
              <a:rPr lang="en-US" b="1" dirty="0">
                <a:latin typeface="Century Schoolbook" panose="02040604050505020304" pitchFamily="18" charset="0"/>
              </a:rPr>
              <a:t>    4. Defect Tracking Database.</a:t>
            </a:r>
          </a:p>
          <a:p>
            <a:r>
              <a:rPr lang="en-US" b="1" dirty="0">
                <a:latin typeface="Century Schoolbook" panose="02040604050505020304" pitchFamily="18" charset="0"/>
              </a:rPr>
              <a:t>    5. Version control system.</a:t>
            </a:r>
          </a:p>
          <a:p>
            <a:r>
              <a:rPr lang="en-US" b="1" dirty="0">
                <a:latin typeface="Century Schoolbook" panose="02040604050505020304" pitchFamily="18" charset="0"/>
              </a:rPr>
              <a:t>    6. Requirement tracing tools.</a:t>
            </a:r>
          </a:p>
          <a:p>
            <a:r>
              <a:rPr lang="en-US" b="1" dirty="0">
                <a:latin typeface="Century Schoolbook" panose="02040604050505020304" pitchFamily="18" charset="0"/>
              </a:rPr>
              <a:t>    7. Test Labs.</a:t>
            </a:r>
            <a:endParaRPr lang="en-IN" b="1" dirty="0">
              <a:latin typeface="Century Schoolbook" panose="02040604050505020304" pitchFamily="18" charset="0"/>
            </a:endParaRPr>
          </a:p>
        </p:txBody>
      </p:sp>
    </p:spTree>
    <p:extLst>
      <p:ext uri="{BB962C8B-B14F-4D97-AF65-F5344CB8AC3E}">
        <p14:creationId xmlns:p14="http://schemas.microsoft.com/office/powerpoint/2010/main" val="574257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3A6FF-2007-F0A2-67DE-FC2A02CBB07E}"/>
              </a:ext>
            </a:extLst>
          </p:cNvPr>
          <p:cNvSpPr>
            <a:spLocks noGrp="1"/>
          </p:cNvSpPr>
          <p:nvPr>
            <p:ph type="title"/>
          </p:nvPr>
        </p:nvSpPr>
        <p:spPr>
          <a:xfrm>
            <a:off x="0" y="0"/>
            <a:ext cx="10131427" cy="609599"/>
          </a:xfrm>
        </p:spPr>
        <p:txBody>
          <a:bodyPr>
            <a:normAutofit fontScale="90000"/>
          </a:bodyPr>
          <a:lstStyle/>
          <a:p>
            <a:pPr marL="457200" indent="-457200">
              <a:buFont typeface="Wingdings" panose="05000000000000000000" pitchFamily="2" charset="2"/>
              <a:buChar char="v"/>
            </a:pPr>
            <a:r>
              <a:rPr lang="en-US" sz="4400" dirty="0">
                <a:solidFill>
                  <a:srgbClr val="FFFF00"/>
                </a:solidFill>
                <a:latin typeface="Algerian" panose="04020705040A02060702" pitchFamily="82" charset="0"/>
              </a:rPr>
              <a:t> </a:t>
            </a:r>
            <a:r>
              <a:rPr lang="en-US" sz="4900" u="sng" dirty="0">
                <a:solidFill>
                  <a:srgbClr val="FFFF00"/>
                </a:solidFill>
                <a:latin typeface="Algerian" panose="04020705040A02060702" pitchFamily="82" charset="0"/>
              </a:rPr>
              <a:t>Test process management</a:t>
            </a:r>
            <a:r>
              <a:rPr lang="en-US" sz="4900" dirty="0">
                <a:solidFill>
                  <a:srgbClr val="FFFF00"/>
                </a:solidFill>
                <a:latin typeface="Algerian" panose="04020705040A02060702" pitchFamily="82" charset="0"/>
              </a:rPr>
              <a:t> : -</a:t>
            </a:r>
            <a:endParaRPr lang="en-IN" sz="49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B4C98C0B-466A-AA00-8E88-3D21F903ED12}"/>
              </a:ext>
            </a:extLst>
          </p:cNvPr>
          <p:cNvSpPr>
            <a:spLocks noGrp="1"/>
          </p:cNvSpPr>
          <p:nvPr>
            <p:ph type="body" idx="1"/>
          </p:nvPr>
        </p:nvSpPr>
        <p:spPr>
          <a:xfrm>
            <a:off x="0" y="609599"/>
            <a:ext cx="12192000" cy="6248401"/>
          </a:xfrm>
        </p:spPr>
        <p:txBody>
          <a:bodyPr>
            <a:normAutofit lnSpcReduction="10000"/>
          </a:bodyPr>
          <a:lstStyle/>
          <a:p>
            <a:pPr marL="342900" indent="-342900">
              <a:buFont typeface="Wingdings" panose="05000000000000000000" pitchFamily="2" charset="2"/>
              <a:buChar char="Ø"/>
            </a:pPr>
            <a:r>
              <a:rPr lang="en-US" b="1" dirty="0">
                <a:latin typeface="Century Schoolbook" panose="02040604050505020304" pitchFamily="18" charset="0"/>
              </a:rPr>
              <a:t>Test team is formed with people with various skill and experience level.</a:t>
            </a:r>
          </a:p>
          <a:p>
            <a:pPr marL="342900" indent="-342900">
              <a:buFont typeface="Wingdings" panose="05000000000000000000" pitchFamily="2" charset="2"/>
              <a:buChar char="Ø"/>
            </a:pPr>
            <a:r>
              <a:rPr lang="en-US" b="1" dirty="0">
                <a:latin typeface="Century Schoolbook" panose="02040604050505020304" pitchFamily="18" charset="0"/>
              </a:rPr>
              <a:t>Thus, to maximize quality their skills need to manage along with the people which can be done by test leader.</a:t>
            </a:r>
          </a:p>
          <a:p>
            <a:pPr marL="342900" indent="-342900">
              <a:buFont typeface="Wingdings" panose="05000000000000000000" pitchFamily="2" charset="2"/>
              <a:buChar char="Ø"/>
            </a:pPr>
            <a:r>
              <a:rPr lang="en-US" b="1" dirty="0">
                <a:latin typeface="Century Schoolbook" panose="02040604050505020304" pitchFamily="18" charset="0"/>
              </a:rPr>
              <a:t>It means managing the team of people involved in the software testing process.</a:t>
            </a:r>
          </a:p>
          <a:p>
            <a:pPr marL="342900" indent="-342900">
              <a:buFont typeface="Wingdings" panose="05000000000000000000" pitchFamily="2" charset="2"/>
              <a:buChar char="Ø"/>
            </a:pPr>
            <a:r>
              <a:rPr lang="en-US" b="1" dirty="0">
                <a:latin typeface="Century Schoolbook" panose="02040604050505020304" pitchFamily="18" charset="0"/>
              </a:rPr>
              <a:t>Test managers or leads must plan, organize, and control testing staff to ensure the testing activities are completed efficiently.</a:t>
            </a:r>
          </a:p>
          <a:p>
            <a:pPr marL="342900" indent="-342900">
              <a:buFont typeface="Wingdings" panose="05000000000000000000" pitchFamily="2" charset="2"/>
              <a:buChar char="Ø"/>
            </a:pPr>
            <a:r>
              <a:rPr lang="en-US" b="1" dirty="0">
                <a:latin typeface="Century Schoolbook" panose="02040604050505020304" pitchFamily="18" charset="0"/>
              </a:rPr>
              <a:t>Test People Management is the process of organizing, leading, and coordinating testing team members by assigning roles, responsibilities, and tasks, while motivating them and resolving conflicts to achieve effective and efficient testing outcomes.</a:t>
            </a:r>
          </a:p>
          <a:p>
            <a:pPr marL="342900" indent="-342900">
              <a:buFont typeface="Wingdings" panose="05000000000000000000" pitchFamily="2" charset="2"/>
              <a:buChar char="Ø"/>
            </a:pPr>
            <a:r>
              <a:rPr lang="en-US" b="1" dirty="0">
                <a:latin typeface="Century Schoolbook" panose="02040604050505020304" pitchFamily="18" charset="0"/>
              </a:rPr>
              <a:t>It covers : -</a:t>
            </a:r>
          </a:p>
          <a:p>
            <a:r>
              <a:rPr lang="en-US" b="1" dirty="0">
                <a:latin typeface="Century Schoolbook" panose="02040604050505020304" pitchFamily="18" charset="0"/>
              </a:rPr>
              <a:t>- Resource allocation ( who will test what ).</a:t>
            </a:r>
          </a:p>
          <a:p>
            <a:r>
              <a:rPr lang="en-US" b="1" dirty="0">
                <a:latin typeface="Century Schoolbook" panose="02040604050505020304" pitchFamily="18" charset="0"/>
              </a:rPr>
              <a:t>- Skill management ( training testers in required tools/techniques ).</a:t>
            </a:r>
          </a:p>
          <a:p>
            <a:r>
              <a:rPr lang="en-US" b="1" dirty="0">
                <a:latin typeface="Century Schoolbook" panose="02040604050505020304" pitchFamily="18" charset="0"/>
              </a:rPr>
              <a:t>- Motivation &amp; communication ( keeping testers engaged and informed ).</a:t>
            </a:r>
          </a:p>
          <a:p>
            <a:r>
              <a:rPr lang="en-US" b="1" dirty="0">
                <a:latin typeface="Century Schoolbook" panose="02040604050505020304" pitchFamily="18" charset="0"/>
              </a:rPr>
              <a:t>- Conflict management ( resolving misunderstandings between developers / testers or within the test team ).</a:t>
            </a:r>
          </a:p>
          <a:p>
            <a:r>
              <a:rPr lang="en-US" b="1" dirty="0">
                <a:latin typeface="Century Schoolbook" panose="02040604050505020304" pitchFamily="18" charset="0"/>
              </a:rPr>
              <a:t>- Performance evaluation ( checking tester effectiveness ).</a:t>
            </a:r>
          </a:p>
          <a:p>
            <a:endParaRPr lang="en-IN" dirty="0"/>
          </a:p>
        </p:txBody>
      </p:sp>
    </p:spTree>
    <p:extLst>
      <p:ext uri="{BB962C8B-B14F-4D97-AF65-F5344CB8AC3E}">
        <p14:creationId xmlns:p14="http://schemas.microsoft.com/office/powerpoint/2010/main" val="32983226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2F1B6-EF2D-451D-4259-7DEB6D7778DC}"/>
              </a:ext>
            </a:extLst>
          </p:cNvPr>
          <p:cNvSpPr>
            <a:spLocks noGrp="1"/>
          </p:cNvSpPr>
          <p:nvPr>
            <p:ph type="title"/>
          </p:nvPr>
        </p:nvSpPr>
        <p:spPr>
          <a:xfrm>
            <a:off x="17207" y="1"/>
            <a:ext cx="12174793" cy="678426"/>
          </a:xfrm>
        </p:spPr>
        <p:txBody>
          <a:bodyPr>
            <a:noAutofit/>
          </a:bodyPr>
          <a:lstStyle/>
          <a:p>
            <a:pPr marL="457200" indent="-457200">
              <a:buFont typeface="Wingdings" panose="05000000000000000000" pitchFamily="2" charset="2"/>
              <a:buChar char="v"/>
            </a:pPr>
            <a:r>
              <a:rPr lang="en-US" sz="4400" dirty="0">
                <a:solidFill>
                  <a:srgbClr val="FFFF00"/>
                </a:solidFill>
                <a:latin typeface="Algerian" panose="04020705040A02060702" pitchFamily="82" charset="0"/>
              </a:rPr>
              <a:t> </a:t>
            </a:r>
            <a:r>
              <a:rPr lang="en-US" sz="4400" u="sng" dirty="0">
                <a:solidFill>
                  <a:srgbClr val="FFFF00"/>
                </a:solidFill>
                <a:latin typeface="Algerian" panose="04020705040A02060702" pitchFamily="82" charset="0"/>
              </a:rPr>
              <a:t>integration with product release</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FCB1EE5F-7407-4809-7F86-F3920A4BADD6}"/>
              </a:ext>
            </a:extLst>
          </p:cNvPr>
          <p:cNvSpPr>
            <a:spLocks noGrp="1"/>
          </p:cNvSpPr>
          <p:nvPr>
            <p:ph type="body" idx="1"/>
          </p:nvPr>
        </p:nvSpPr>
        <p:spPr>
          <a:xfrm>
            <a:off x="148780" y="-82817"/>
            <a:ext cx="11577646" cy="6100916"/>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Integration with Product Release ensures the testing activities are synchronized with the development and release </a:t>
            </a:r>
            <a:r>
              <a:rPr lang="en-US" sz="2400" b="1" dirty="0" err="1">
                <a:latin typeface="Century Schoolbook" panose="02040604050505020304" pitchFamily="18" charset="0"/>
              </a:rPr>
              <a:t>cydes</a:t>
            </a:r>
            <a:r>
              <a:rPr lang="en-US" sz="2400" b="1" dirty="0">
                <a:latin typeface="Century Schoolbook" panose="02040604050505020304" pitchFamily="18" charset="0"/>
              </a:rPr>
              <a:t> to ensure product quality.</a:t>
            </a:r>
          </a:p>
          <a:p>
            <a:pPr marL="342900" indent="-342900">
              <a:buFont typeface="Wingdings" panose="05000000000000000000" pitchFamily="2" charset="2"/>
              <a:buChar char="Ø"/>
            </a:pPr>
            <a:r>
              <a:rPr lang="en-US" sz="2400" b="1" dirty="0">
                <a:latin typeface="Century Schoolbook" panose="02040604050505020304" pitchFamily="18" charset="0"/>
              </a:rPr>
              <a:t>Key elements include : -</a:t>
            </a:r>
          </a:p>
          <a:p>
            <a:r>
              <a:rPr lang="en-US" sz="2400" b="1" dirty="0">
                <a:latin typeface="Century Schoolbook" panose="02040604050505020304" pitchFamily="18" charset="0"/>
              </a:rPr>
              <a:t>1. Alignment Testing with Release cycles.</a:t>
            </a:r>
          </a:p>
          <a:p>
            <a:r>
              <a:rPr lang="en-US" sz="2400" b="1" dirty="0">
                <a:latin typeface="Century Schoolbook" panose="02040604050505020304" pitchFamily="18" charset="0"/>
              </a:rPr>
              <a:t>2. CI/CD Integration.</a:t>
            </a:r>
          </a:p>
          <a:p>
            <a:r>
              <a:rPr lang="en-US" sz="2400" b="1" dirty="0">
                <a:latin typeface="Century Schoolbook" panose="02040604050505020304" pitchFamily="18" charset="0"/>
              </a:rPr>
              <a:t>3. Test Case Versioning.</a:t>
            </a:r>
          </a:p>
          <a:p>
            <a:r>
              <a:rPr lang="en-US" sz="2400" b="1" dirty="0">
                <a:latin typeface="Century Schoolbook" panose="02040604050505020304" pitchFamily="18" charset="0"/>
              </a:rPr>
              <a:t>4. Defect Management.</a:t>
            </a:r>
          </a:p>
          <a:p>
            <a:r>
              <a:rPr lang="en-US" sz="2400" b="1" dirty="0">
                <a:latin typeface="Century Schoolbook" panose="02040604050505020304" pitchFamily="18" charset="0"/>
              </a:rPr>
              <a:t>5. User Acceptance Testing ( UAT ).</a:t>
            </a:r>
          </a:p>
          <a:p>
            <a:r>
              <a:rPr lang="en-US" sz="2400" b="1" dirty="0">
                <a:latin typeface="Century Schoolbook" panose="02040604050505020304" pitchFamily="18" charset="0"/>
              </a:rPr>
              <a:t>6. Post-Release Testing.</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3548707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82347-D406-CC2D-0F3F-DFBDBC3F99C9}"/>
              </a:ext>
            </a:extLst>
          </p:cNvPr>
          <p:cNvSpPr>
            <a:spLocks noGrp="1"/>
          </p:cNvSpPr>
          <p:nvPr>
            <p:ph type="title"/>
          </p:nvPr>
        </p:nvSpPr>
        <p:spPr>
          <a:xfrm>
            <a:off x="0" y="1"/>
            <a:ext cx="10131427" cy="747252"/>
          </a:xfrm>
        </p:spPr>
        <p:txBody>
          <a:bodyPr>
            <a:noAutofit/>
          </a:bodyPr>
          <a:lstStyle/>
          <a:p>
            <a:pPr marL="571500" indent="-571500">
              <a:buFont typeface="Wingdings" panose="05000000000000000000" pitchFamily="2" charset="2"/>
              <a:buChar char="v"/>
            </a:pPr>
            <a:r>
              <a:rPr lang="en-US" sz="4400" dirty="0">
                <a:solidFill>
                  <a:srgbClr val="FFFF00"/>
                </a:solidFill>
                <a:latin typeface="Algerian" panose="04020705040A02060702" pitchFamily="82" charset="0"/>
              </a:rPr>
              <a:t> </a:t>
            </a:r>
            <a:r>
              <a:rPr lang="en-US" sz="4400" u="sng" dirty="0">
                <a:solidFill>
                  <a:srgbClr val="FFFF00"/>
                </a:solidFill>
                <a:latin typeface="Algerian" panose="04020705040A02060702" pitchFamily="82" charset="0"/>
              </a:rPr>
              <a:t>test process</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7A5BE7D0-7022-7B50-108D-9FF74719CB5C}"/>
              </a:ext>
            </a:extLst>
          </p:cNvPr>
          <p:cNvSpPr>
            <a:spLocks noGrp="1"/>
          </p:cNvSpPr>
          <p:nvPr>
            <p:ph type="body" idx="1"/>
          </p:nvPr>
        </p:nvSpPr>
        <p:spPr>
          <a:xfrm>
            <a:off x="0" y="108155"/>
            <a:ext cx="12192000" cy="6110748"/>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A test process is the structured set of activities carried out to ensure the quality of a software product by finding defects, verifying functionality, and validating that the system meets requirements.</a:t>
            </a:r>
          </a:p>
          <a:p>
            <a:pPr marL="342900" indent="-342900">
              <a:buFont typeface="Wingdings" panose="05000000000000000000" pitchFamily="2" charset="2"/>
              <a:buChar char="Ø"/>
            </a:pPr>
            <a:r>
              <a:rPr lang="en-US" sz="2400" b="1" dirty="0">
                <a:latin typeface="Century Schoolbook" panose="02040604050505020304" pitchFamily="18" charset="0"/>
              </a:rPr>
              <a:t>The test process is a systematic approach that ensures software quality by planning, designing, executing, and closing testing activities in an organized way.</a:t>
            </a:r>
          </a:p>
          <a:p>
            <a:pPr marL="342900" indent="-342900">
              <a:buFont typeface="Wingdings" panose="05000000000000000000" pitchFamily="2" charset="2"/>
              <a:buChar char="Ø"/>
            </a:pPr>
            <a:r>
              <a:rPr lang="en-US" sz="2400" b="1" dirty="0">
                <a:latin typeface="Century Schoolbook" panose="02040604050505020304" pitchFamily="18" charset="0"/>
              </a:rPr>
              <a:t>The Test Process outlines the step-by-step execution of testing activities.</a:t>
            </a:r>
          </a:p>
          <a:p>
            <a:pPr marL="342900" indent="-342900">
              <a:buFont typeface="Wingdings" panose="05000000000000000000" pitchFamily="2" charset="2"/>
              <a:buChar char="Ø"/>
            </a:pPr>
            <a:r>
              <a:rPr lang="en-US" sz="2400" b="1" dirty="0">
                <a:latin typeface="Century Schoolbook" panose="02040604050505020304" pitchFamily="18" charset="0"/>
              </a:rPr>
              <a:t>It includes Following activities : -</a:t>
            </a:r>
          </a:p>
          <a:p>
            <a:r>
              <a:rPr lang="en-US" sz="2400" b="1" dirty="0">
                <a:latin typeface="Century Schoolbook" panose="02040604050505020304" pitchFamily="18" charset="0"/>
              </a:rPr>
              <a:t>1) Base Lining a Test Plan.</a:t>
            </a:r>
          </a:p>
          <a:p>
            <a:r>
              <a:rPr lang="en-US" sz="2400" b="1" dirty="0">
                <a:latin typeface="Century Schoolbook" panose="02040604050505020304" pitchFamily="18" charset="0"/>
              </a:rPr>
              <a:t>2) Test case specification.</a:t>
            </a:r>
          </a:p>
          <a:p>
            <a:r>
              <a:rPr lang="en-US" sz="2400" b="1" dirty="0">
                <a:latin typeface="Century Schoolbook" panose="02040604050505020304" pitchFamily="18" charset="0"/>
              </a:rPr>
              <a:t>3) Update of Traceability Matrix.</a:t>
            </a:r>
          </a:p>
        </p:txBody>
      </p:sp>
    </p:spTree>
    <p:extLst>
      <p:ext uri="{BB962C8B-B14F-4D97-AF65-F5344CB8AC3E}">
        <p14:creationId xmlns:p14="http://schemas.microsoft.com/office/powerpoint/2010/main" val="1770080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8D332-44E8-7C8E-BC54-9AEC743C2375}"/>
              </a:ext>
            </a:extLst>
          </p:cNvPr>
          <p:cNvSpPr>
            <a:spLocks noGrp="1"/>
          </p:cNvSpPr>
          <p:nvPr>
            <p:ph type="title"/>
          </p:nvPr>
        </p:nvSpPr>
        <p:spPr>
          <a:xfrm>
            <a:off x="0" y="29498"/>
            <a:ext cx="10131427" cy="698089"/>
          </a:xfrm>
        </p:spPr>
        <p:txBody>
          <a:bodyPr>
            <a:noAutofit/>
          </a:bodyPr>
          <a:lstStyle/>
          <a:p>
            <a:r>
              <a:rPr lang="en-US" sz="4400" dirty="0">
                <a:solidFill>
                  <a:srgbClr val="FFFF00"/>
                </a:solidFill>
                <a:latin typeface="Algerian" panose="04020705040A02060702" pitchFamily="82" charset="0"/>
              </a:rPr>
              <a:t>1. </a:t>
            </a:r>
            <a:r>
              <a:rPr lang="en-US" sz="4400" u="sng" dirty="0">
                <a:solidFill>
                  <a:srgbClr val="FFFF00"/>
                </a:solidFill>
                <a:latin typeface="Algerian" panose="04020705040A02060702" pitchFamily="82" charset="0"/>
              </a:rPr>
              <a:t>base lining a test plan</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33FA01CE-2F3E-A3F8-383C-FA93C5D6ACC1}"/>
              </a:ext>
            </a:extLst>
          </p:cNvPr>
          <p:cNvSpPr>
            <a:spLocks noGrp="1"/>
          </p:cNvSpPr>
          <p:nvPr>
            <p:ph type="body" idx="1"/>
          </p:nvPr>
        </p:nvSpPr>
        <p:spPr>
          <a:xfrm>
            <a:off x="80387" y="-154021"/>
            <a:ext cx="12192000" cy="6100915"/>
          </a:xfrm>
        </p:spPr>
        <p:txBody>
          <a:bodyPr>
            <a:normAutofit/>
          </a:bodyPr>
          <a:lstStyle/>
          <a:p>
            <a:pPr marL="457200" indent="-457200">
              <a:buFont typeface="Wingdings" panose="05000000000000000000" pitchFamily="2" charset="2"/>
              <a:buChar char="Ø"/>
            </a:pPr>
            <a:r>
              <a:rPr lang="en-US" sz="2400" b="1" dirty="0">
                <a:latin typeface="Century Schoolbook" panose="02040604050505020304" pitchFamily="18" charset="0"/>
              </a:rPr>
              <a:t>It is one type of Non-Functional testing.</a:t>
            </a:r>
          </a:p>
          <a:p>
            <a:pPr marL="457200" indent="-457200">
              <a:buFont typeface="Wingdings" panose="05000000000000000000" pitchFamily="2" charset="2"/>
              <a:buChar char="Ø"/>
            </a:pPr>
            <a:r>
              <a:rPr lang="en-US" sz="2400" b="1" dirty="0">
                <a:latin typeface="Century Schoolbook" panose="02040604050505020304" pitchFamily="18" charset="0"/>
              </a:rPr>
              <a:t>It </a:t>
            </a:r>
            <a:r>
              <a:rPr lang="en-US" sz="2400" b="1" dirty="0" err="1">
                <a:latin typeface="Century Schoolbook" panose="02040604050505020304" pitchFamily="18" charset="0"/>
              </a:rPr>
              <a:t>referes</a:t>
            </a:r>
            <a:r>
              <a:rPr lang="en-US" sz="2400" b="1" dirty="0">
                <a:latin typeface="Century Schoolbook" panose="02040604050505020304" pitchFamily="18" charset="0"/>
              </a:rPr>
              <a:t> to the validation of documents and specifications on which test cases would be designed.</a:t>
            </a:r>
          </a:p>
          <a:p>
            <a:pPr marL="457200" indent="-457200">
              <a:buFont typeface="Wingdings" panose="05000000000000000000" pitchFamily="2" charset="2"/>
              <a:buChar char="Ø"/>
            </a:pPr>
            <a:r>
              <a:rPr lang="en-US" sz="2400" b="1" dirty="0">
                <a:latin typeface="Century Schoolbook" panose="02040604050505020304" pitchFamily="18" charset="0"/>
              </a:rPr>
              <a:t>Generally, a baseline is defined as a line that forms the base for any measurement, comparison or calculations.</a:t>
            </a:r>
          </a:p>
          <a:p>
            <a:pPr marL="457200" indent="-457200">
              <a:buFont typeface="Wingdings" panose="05000000000000000000" pitchFamily="2" charset="2"/>
              <a:buChar char="Ø"/>
            </a:pPr>
            <a:r>
              <a:rPr lang="en-US" sz="2400" b="1" dirty="0">
                <a:latin typeface="Century Schoolbook" panose="02040604050505020304" pitchFamily="18" charset="0"/>
              </a:rPr>
              <a:t>It is developed by competent people and given to higher authorities for approval.</a:t>
            </a:r>
          </a:p>
          <a:p>
            <a:pPr marL="457200" indent="-457200">
              <a:buFont typeface="Wingdings" panose="05000000000000000000" pitchFamily="2" charset="2"/>
              <a:buChar char="Ø"/>
            </a:pPr>
            <a:r>
              <a:rPr lang="en-US" sz="2400" b="1" dirty="0">
                <a:latin typeface="Century Schoolbook" panose="02040604050505020304" pitchFamily="18" charset="0"/>
              </a:rPr>
              <a:t>If accepted, then followed for further all activities; If any changes are needed, then it is made to test plan and again approval.</a:t>
            </a:r>
          </a:p>
          <a:p>
            <a:pPr marL="457200" indent="-457200">
              <a:buFont typeface="Wingdings" panose="05000000000000000000" pitchFamily="2" charset="2"/>
              <a:buChar char="Ø"/>
            </a:pPr>
            <a:r>
              <a:rPr lang="en-US" sz="2400" b="1" dirty="0">
                <a:latin typeface="Century Schoolbook" panose="02040604050505020304" pitchFamily="18" charset="0"/>
              </a:rPr>
              <a:t>Majority of the issues are solved through baseline testing.</a:t>
            </a:r>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25744489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24855-5554-2672-972F-5F1EDD803375}"/>
              </a:ext>
            </a:extLst>
          </p:cNvPr>
          <p:cNvSpPr>
            <a:spLocks noGrp="1"/>
          </p:cNvSpPr>
          <p:nvPr>
            <p:ph type="title"/>
          </p:nvPr>
        </p:nvSpPr>
        <p:spPr>
          <a:xfrm>
            <a:off x="36871" y="1"/>
            <a:ext cx="10131427" cy="747252"/>
          </a:xfrm>
        </p:spPr>
        <p:txBody>
          <a:bodyPr>
            <a:normAutofit/>
          </a:bodyPr>
          <a:lstStyle/>
          <a:p>
            <a:r>
              <a:rPr lang="en-US" sz="4000" dirty="0">
                <a:solidFill>
                  <a:srgbClr val="FFFF00"/>
                </a:solidFill>
                <a:latin typeface="Algerian" panose="04020705040A02060702" pitchFamily="82" charset="0"/>
              </a:rPr>
              <a:t>2. </a:t>
            </a:r>
            <a:r>
              <a:rPr lang="en-US" sz="4000" u="sng" dirty="0">
                <a:solidFill>
                  <a:srgbClr val="FFFF00"/>
                </a:solidFill>
                <a:latin typeface="Algerian" panose="04020705040A02060702" pitchFamily="82" charset="0"/>
              </a:rPr>
              <a:t>Test case specification</a:t>
            </a:r>
            <a:r>
              <a:rPr lang="en-US" sz="4000" dirty="0">
                <a:solidFill>
                  <a:srgbClr val="FFFF00"/>
                </a:solidFill>
                <a:latin typeface="Algerian" panose="04020705040A02060702" pitchFamily="82" charset="0"/>
              </a:rPr>
              <a:t> :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2224563B-49FF-217C-DFA2-5603138ABF0A}"/>
              </a:ext>
            </a:extLst>
          </p:cNvPr>
          <p:cNvSpPr>
            <a:spLocks noGrp="1"/>
          </p:cNvSpPr>
          <p:nvPr>
            <p:ph type="body" idx="1"/>
          </p:nvPr>
        </p:nvSpPr>
        <p:spPr>
          <a:xfrm>
            <a:off x="162232" y="-750033"/>
            <a:ext cx="11867536" cy="6005050"/>
          </a:xfrm>
        </p:spPr>
        <p:txBody>
          <a:bodyPr>
            <a:normAutofit/>
          </a:bodyPr>
          <a:lstStyle/>
          <a:p>
            <a:pPr marL="457200" indent="-457200">
              <a:buFont typeface="Wingdings" panose="05000000000000000000" pitchFamily="2" charset="2"/>
              <a:buChar char="Ø"/>
            </a:pPr>
            <a:r>
              <a:rPr lang="en-US" sz="2400" b="1" dirty="0">
                <a:latin typeface="Century Schoolbook" panose="02040604050505020304" pitchFamily="18" charset="0"/>
              </a:rPr>
              <a:t>Test Case specification is a detailed document that defines how a specific </a:t>
            </a:r>
            <a:r>
              <a:rPr lang="en-US" sz="2400" b="1" dirty="0" err="1">
                <a:latin typeface="Century Schoolbook" panose="02040604050505020304" pitchFamily="18" charset="0"/>
              </a:rPr>
              <a:t>fundionality</a:t>
            </a:r>
            <a:r>
              <a:rPr lang="en-US" sz="2400" b="1" dirty="0">
                <a:latin typeface="Century Schoolbook" panose="02040604050505020304" pitchFamily="18" charset="0"/>
              </a:rPr>
              <a:t> of a system should be tested.</a:t>
            </a:r>
          </a:p>
          <a:p>
            <a:pPr marL="457200" indent="-457200">
              <a:buFont typeface="Wingdings" panose="05000000000000000000" pitchFamily="2" charset="2"/>
              <a:buChar char="Ø"/>
            </a:pPr>
            <a:r>
              <a:rPr lang="en-US" sz="2400" b="1" dirty="0">
                <a:latin typeface="Century Schoolbook" panose="02040604050505020304" pitchFamily="18" charset="0"/>
              </a:rPr>
              <a:t>Test Case specification has to be done separately for each unit.</a:t>
            </a:r>
          </a:p>
          <a:p>
            <a:pPr marL="457200" indent="-457200">
              <a:buFont typeface="Wingdings" panose="05000000000000000000" pitchFamily="2" charset="2"/>
              <a:buChar char="Ø"/>
            </a:pPr>
            <a:r>
              <a:rPr lang="en-US" sz="2400" b="1" dirty="0">
                <a:latin typeface="Century Schoolbook" panose="02040604050505020304" pitchFamily="18" charset="0"/>
              </a:rPr>
              <a:t>Based on the approach specified in the test plan, first determine the feature to be tested for each unit.</a:t>
            </a:r>
          </a:p>
          <a:p>
            <a:pPr marL="457200" indent="-457200">
              <a:buFont typeface="Wingdings" panose="05000000000000000000" pitchFamily="2" charset="2"/>
              <a:buChar char="Ø"/>
            </a:pPr>
            <a:r>
              <a:rPr lang="en-US" sz="2400" b="1" dirty="0">
                <a:latin typeface="Century Schoolbook" panose="02040604050505020304" pitchFamily="18" charset="0"/>
              </a:rPr>
              <a:t>Success of product is depending quality of test cases through which it was passed.</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0644808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B166C-9F15-71C6-CAD7-B0359B5E7AFA}"/>
              </a:ext>
            </a:extLst>
          </p:cNvPr>
          <p:cNvSpPr>
            <a:spLocks noGrp="1"/>
          </p:cNvSpPr>
          <p:nvPr>
            <p:ph type="title"/>
          </p:nvPr>
        </p:nvSpPr>
        <p:spPr>
          <a:xfrm>
            <a:off x="17206" y="1"/>
            <a:ext cx="12174794" cy="698090"/>
          </a:xfrm>
        </p:spPr>
        <p:txBody>
          <a:bodyPr>
            <a:noAutofit/>
          </a:bodyPr>
          <a:lstStyle/>
          <a:p>
            <a:r>
              <a:rPr lang="en-US" sz="4400" dirty="0">
                <a:solidFill>
                  <a:srgbClr val="FFFF00"/>
                </a:solidFill>
                <a:latin typeface="Algerian" panose="04020705040A02060702" pitchFamily="82" charset="0"/>
              </a:rPr>
              <a:t>3. </a:t>
            </a:r>
            <a:r>
              <a:rPr lang="en-US" sz="4400" u="sng" dirty="0">
                <a:solidFill>
                  <a:srgbClr val="FFFF00"/>
                </a:solidFill>
                <a:latin typeface="Algerian" panose="04020705040A02060702" pitchFamily="82" charset="0"/>
              </a:rPr>
              <a:t>Update of traceability matrix</a:t>
            </a:r>
            <a:r>
              <a:rPr lang="en-US" sz="4400" dirty="0">
                <a:solidFill>
                  <a:srgbClr val="FFFF00"/>
                </a:solidFill>
                <a:latin typeface="Algerian" panose="04020705040A02060702" pitchFamily="82" charset="0"/>
              </a:rPr>
              <a:t> :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5DAD7410-CE87-3B85-3099-8F58B6D09662}"/>
              </a:ext>
            </a:extLst>
          </p:cNvPr>
          <p:cNvSpPr>
            <a:spLocks noGrp="1"/>
          </p:cNvSpPr>
          <p:nvPr>
            <p:ph type="body" idx="1"/>
          </p:nvPr>
        </p:nvSpPr>
        <p:spPr>
          <a:xfrm>
            <a:off x="115528" y="-151699"/>
            <a:ext cx="11978149" cy="5142271"/>
          </a:xfrm>
        </p:spPr>
        <p:txBody>
          <a:bodyPr>
            <a:normAutofit/>
          </a:bodyPr>
          <a:lstStyle/>
          <a:p>
            <a:pPr marL="457200" indent="-457200">
              <a:buFont typeface="Wingdings" panose="05000000000000000000" pitchFamily="2" charset="2"/>
              <a:buChar char="Ø"/>
            </a:pPr>
            <a:r>
              <a:rPr lang="en-US" sz="2400" b="1" dirty="0">
                <a:latin typeface="Century Schoolbook" panose="02040604050505020304" pitchFamily="18" charset="0"/>
              </a:rPr>
              <a:t>Traceability Matrix act as a tool that validate whether every requirement is tested or not.</a:t>
            </a:r>
          </a:p>
          <a:p>
            <a:pPr marL="457200" indent="-457200">
              <a:buFont typeface="Wingdings" panose="05000000000000000000" pitchFamily="2" charset="2"/>
              <a:buChar char="Ø"/>
            </a:pPr>
            <a:r>
              <a:rPr lang="en-US" sz="2400" b="1" dirty="0">
                <a:latin typeface="Century Schoolbook" panose="02040604050505020304" pitchFamily="18" charset="0"/>
              </a:rPr>
              <a:t>Every test case should be associated with requirement and every requirement has one or more associated test cases.</a:t>
            </a:r>
          </a:p>
          <a:p>
            <a:pPr marL="457200" indent="-457200">
              <a:buFont typeface="Wingdings" panose="05000000000000000000" pitchFamily="2" charset="2"/>
              <a:buChar char="Ø"/>
            </a:pPr>
            <a:r>
              <a:rPr lang="en-US" sz="2400" b="1" dirty="0">
                <a:latin typeface="Century Schoolbook" panose="02040604050505020304" pitchFamily="18" charset="0"/>
              </a:rPr>
              <a:t>RTM (Requirement Traceability Mattix) is created in requirement gathering phase by putting unique id to each one.</a:t>
            </a:r>
          </a:p>
          <a:p>
            <a:pPr marL="457200" indent="-457200">
              <a:buFont typeface="Wingdings" panose="05000000000000000000" pitchFamily="2" charset="2"/>
              <a:buChar char="Ø"/>
            </a:pPr>
            <a:r>
              <a:rPr lang="en-US" sz="2400" b="1" dirty="0">
                <a:latin typeface="Century Schoolbook" panose="02040604050505020304" pitchFamily="18" charset="0"/>
              </a:rPr>
              <a:t>When a test case is </a:t>
            </a:r>
            <a:r>
              <a:rPr lang="en-US" sz="2400" b="1" dirty="0" err="1">
                <a:latin typeface="Century Schoolbook" panose="02040604050505020304" pitchFamily="18" charset="0"/>
              </a:rPr>
              <a:t>Finised</a:t>
            </a:r>
            <a:r>
              <a:rPr lang="en-US" sz="2400" b="1" dirty="0">
                <a:latin typeface="Century Schoolbook" panose="02040604050505020304" pitchFamily="18" charset="0"/>
              </a:rPr>
              <a:t>, </a:t>
            </a:r>
            <a:r>
              <a:rPr lang="en-US" sz="2400" b="1" dirty="0" err="1">
                <a:latin typeface="Century Schoolbook" panose="02040604050505020304" pitchFamily="18" charset="0"/>
              </a:rPr>
              <a:t>corressponding</a:t>
            </a:r>
            <a:r>
              <a:rPr lang="en-US" sz="2400" b="1" dirty="0">
                <a:latin typeface="Century Schoolbook" panose="02040604050505020304" pitchFamily="18" charset="0"/>
              </a:rPr>
              <a:t> requirement which is being tested is updated with test specification identifier.</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4563648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E7D78-CE46-124F-E25E-B5B3269F7315}"/>
              </a:ext>
            </a:extLst>
          </p:cNvPr>
          <p:cNvSpPr>
            <a:spLocks noGrp="1"/>
          </p:cNvSpPr>
          <p:nvPr>
            <p:ph type="title"/>
          </p:nvPr>
        </p:nvSpPr>
        <p:spPr>
          <a:xfrm>
            <a:off x="0" y="-98323"/>
            <a:ext cx="10131427" cy="816077"/>
          </a:xfrm>
        </p:spPr>
        <p:txBody>
          <a:bodyPr>
            <a:normAutofit/>
          </a:bodyPr>
          <a:lstStyle/>
          <a:p>
            <a:pPr marL="571500" indent="-571500">
              <a:buFont typeface="Wingdings" panose="05000000000000000000" pitchFamily="2" charset="2"/>
              <a:buChar char="v"/>
            </a:pPr>
            <a:r>
              <a:rPr lang="en-US" sz="4400" dirty="0">
                <a:solidFill>
                  <a:srgbClr val="FFFF00"/>
                </a:solidFill>
                <a:latin typeface="Algerian" panose="04020705040A02060702" pitchFamily="82" charset="0"/>
              </a:rPr>
              <a:t> </a:t>
            </a:r>
            <a:r>
              <a:rPr lang="en-US" sz="4400" u="sng" dirty="0">
                <a:solidFill>
                  <a:srgbClr val="FFFF00"/>
                </a:solidFill>
                <a:latin typeface="Algerian" panose="04020705040A02060702" pitchFamily="82" charset="0"/>
              </a:rPr>
              <a:t>test reporting</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CA3C6D11-277E-55B5-3AE3-05F5ED5CF2A4}"/>
              </a:ext>
            </a:extLst>
          </p:cNvPr>
          <p:cNvSpPr>
            <a:spLocks noGrp="1"/>
          </p:cNvSpPr>
          <p:nvPr>
            <p:ph type="body" idx="1"/>
          </p:nvPr>
        </p:nvSpPr>
        <p:spPr>
          <a:xfrm>
            <a:off x="68826" y="599767"/>
            <a:ext cx="12123174" cy="6041923"/>
          </a:xfrm>
        </p:spPr>
        <p:txBody>
          <a:bodyPr>
            <a:normAutofit fontScale="92500" lnSpcReduction="10000"/>
          </a:bodyPr>
          <a:lstStyle/>
          <a:p>
            <a:pPr marL="342900" indent="-342900">
              <a:buFont typeface="Wingdings" panose="05000000000000000000" pitchFamily="2" charset="2"/>
              <a:buChar char="Ø"/>
            </a:pPr>
            <a:r>
              <a:rPr lang="en-US" b="1" dirty="0">
                <a:latin typeface="Century Schoolbook" panose="02040604050505020304" pitchFamily="18" charset="0"/>
              </a:rPr>
              <a:t>Test Reporting documents the results of testing, providing insights for decision-making.</a:t>
            </a:r>
          </a:p>
          <a:p>
            <a:pPr marL="342900" indent="-342900">
              <a:buFont typeface="Wingdings" panose="05000000000000000000" pitchFamily="2" charset="2"/>
              <a:buChar char="Ø"/>
            </a:pPr>
            <a:r>
              <a:rPr lang="en-US" b="1" dirty="0">
                <a:latin typeface="Century Schoolbook" panose="02040604050505020304" pitchFamily="18" charset="0"/>
              </a:rPr>
              <a:t>What does a test report contain?</a:t>
            </a:r>
          </a:p>
          <a:p>
            <a:r>
              <a:rPr lang="en-US" b="1" dirty="0">
                <a:solidFill>
                  <a:srgbClr val="FFFF00"/>
                </a:solidFill>
                <a:latin typeface="Century Schoolbook" panose="02040604050505020304" pitchFamily="18" charset="0"/>
              </a:rPr>
              <a:t>1. </a:t>
            </a:r>
            <a:r>
              <a:rPr lang="en-US" b="1" u="sng" dirty="0">
                <a:solidFill>
                  <a:srgbClr val="FFFF00"/>
                </a:solidFill>
                <a:latin typeface="Century Schoolbook" panose="02040604050505020304" pitchFamily="18" charset="0"/>
              </a:rPr>
              <a:t>Project Information</a:t>
            </a:r>
            <a:r>
              <a:rPr lang="en-US" b="1" dirty="0">
                <a:solidFill>
                  <a:srgbClr val="FFFF00"/>
                </a:solidFill>
                <a:latin typeface="Century Schoolbook" panose="02040604050505020304" pitchFamily="18" charset="0"/>
              </a:rPr>
              <a:t> : - </a:t>
            </a:r>
          </a:p>
          <a:p>
            <a:r>
              <a:rPr lang="en-US" b="1" dirty="0">
                <a:latin typeface="Century Schoolbook" panose="02040604050505020304" pitchFamily="18" charset="0"/>
              </a:rPr>
              <a:t>- Project Name.</a:t>
            </a:r>
          </a:p>
          <a:p>
            <a:r>
              <a:rPr lang="en-US" b="1" dirty="0">
                <a:latin typeface="Century Schoolbook" panose="02040604050505020304" pitchFamily="18" charset="0"/>
              </a:rPr>
              <a:t>- Description ( versions, </a:t>
            </a:r>
            <a:r>
              <a:rPr lang="en-US" b="1" dirty="0" err="1">
                <a:latin typeface="Century Schoolbook" panose="02040604050505020304" pitchFamily="18" charset="0"/>
              </a:rPr>
              <a:t>etc</a:t>
            </a:r>
            <a:r>
              <a:rPr lang="en-US" b="1" dirty="0">
                <a:latin typeface="Century Schoolbook" panose="02040604050505020304" pitchFamily="18" charset="0"/>
              </a:rPr>
              <a:t> ).</a:t>
            </a:r>
          </a:p>
          <a:p>
            <a:r>
              <a:rPr lang="en-US" b="1" dirty="0">
                <a:solidFill>
                  <a:srgbClr val="FFFF00"/>
                </a:solidFill>
                <a:latin typeface="Century Schoolbook" panose="02040604050505020304" pitchFamily="18" charset="0"/>
              </a:rPr>
              <a:t>2. </a:t>
            </a:r>
            <a:r>
              <a:rPr lang="en-US" b="1" u="sng" dirty="0">
                <a:solidFill>
                  <a:srgbClr val="FFFF00"/>
                </a:solidFill>
                <a:latin typeface="Century Schoolbook" panose="02040604050505020304" pitchFamily="18" charset="0"/>
              </a:rPr>
              <a:t>Test </a:t>
            </a:r>
            <a:r>
              <a:rPr lang="en-US" b="1" u="sng" dirty="0" err="1">
                <a:solidFill>
                  <a:srgbClr val="FFFF00"/>
                </a:solidFill>
                <a:latin typeface="Century Schoolbook" panose="02040604050505020304" pitchFamily="18" charset="0"/>
              </a:rPr>
              <a:t>objedive</a:t>
            </a:r>
            <a:r>
              <a:rPr lang="en-US" b="1" dirty="0">
                <a:solidFill>
                  <a:srgbClr val="FFFF00"/>
                </a:solidFill>
                <a:latin typeface="Century Schoolbook" panose="02040604050505020304" pitchFamily="18" charset="0"/>
              </a:rPr>
              <a:t> : -</a:t>
            </a:r>
          </a:p>
          <a:p>
            <a:r>
              <a:rPr lang="en-US" b="1" dirty="0">
                <a:latin typeface="Century Schoolbook" panose="02040604050505020304" pitchFamily="18" charset="0"/>
              </a:rPr>
              <a:t>- Test Type ( unit, Performance, </a:t>
            </a:r>
            <a:r>
              <a:rPr lang="en-US" b="1" dirty="0" err="1">
                <a:latin typeface="Century Schoolbook" panose="02040604050505020304" pitchFamily="18" charset="0"/>
              </a:rPr>
              <a:t>etc</a:t>
            </a:r>
            <a:r>
              <a:rPr lang="en-US" b="1" dirty="0">
                <a:latin typeface="Century Schoolbook" panose="02040604050505020304" pitchFamily="18" charset="0"/>
              </a:rPr>
              <a:t> ).</a:t>
            </a:r>
          </a:p>
          <a:p>
            <a:r>
              <a:rPr lang="en-US" b="1" dirty="0">
                <a:latin typeface="Century Schoolbook" panose="02040604050505020304" pitchFamily="18" charset="0"/>
              </a:rPr>
              <a:t>- Purpose.</a:t>
            </a:r>
          </a:p>
          <a:p>
            <a:r>
              <a:rPr lang="en-US" b="1" dirty="0">
                <a:solidFill>
                  <a:srgbClr val="FFFF00"/>
                </a:solidFill>
                <a:latin typeface="Century Schoolbook" panose="02040604050505020304" pitchFamily="18" charset="0"/>
              </a:rPr>
              <a:t>3. </a:t>
            </a:r>
            <a:r>
              <a:rPr lang="en-US" b="1" u="sng" dirty="0">
                <a:solidFill>
                  <a:srgbClr val="FFFF00"/>
                </a:solidFill>
                <a:latin typeface="Century Schoolbook" panose="02040604050505020304" pitchFamily="18" charset="0"/>
              </a:rPr>
              <a:t>Test Summary</a:t>
            </a:r>
            <a:r>
              <a:rPr lang="en-US" b="1" dirty="0">
                <a:solidFill>
                  <a:srgbClr val="FFFF00"/>
                </a:solidFill>
                <a:latin typeface="Century Schoolbook" panose="02040604050505020304" pitchFamily="18" charset="0"/>
              </a:rPr>
              <a:t> : -</a:t>
            </a:r>
          </a:p>
          <a:p>
            <a:r>
              <a:rPr lang="en-US" b="1" dirty="0">
                <a:latin typeface="Century Schoolbook" panose="02040604050505020304" pitchFamily="18" charset="0"/>
              </a:rPr>
              <a:t>- Test Passed ( Pass Percentage ).</a:t>
            </a:r>
          </a:p>
          <a:p>
            <a:r>
              <a:rPr lang="en-US" b="1" dirty="0">
                <a:latin typeface="Century Schoolbook" panose="02040604050505020304" pitchFamily="18" charset="0"/>
              </a:rPr>
              <a:t>- Test Failed ( Fail Percentage ).</a:t>
            </a:r>
          </a:p>
          <a:p>
            <a:r>
              <a:rPr lang="en-US" b="1" dirty="0">
                <a:latin typeface="Century Schoolbook" panose="02040604050505020304" pitchFamily="18" charset="0"/>
              </a:rPr>
              <a:t>- Test Blocked.</a:t>
            </a:r>
          </a:p>
          <a:p>
            <a:r>
              <a:rPr lang="en-US" b="1" dirty="0">
                <a:solidFill>
                  <a:srgbClr val="FFFF00"/>
                </a:solidFill>
                <a:latin typeface="Century Schoolbook" panose="02040604050505020304" pitchFamily="18" charset="0"/>
              </a:rPr>
              <a:t>4. </a:t>
            </a:r>
            <a:r>
              <a:rPr lang="en-US" b="1" u="sng" dirty="0">
                <a:solidFill>
                  <a:srgbClr val="FFFF00"/>
                </a:solidFill>
                <a:latin typeface="Century Schoolbook" panose="02040604050505020304" pitchFamily="18" charset="0"/>
              </a:rPr>
              <a:t>Defect</a:t>
            </a:r>
            <a:r>
              <a:rPr lang="en-US" b="1" dirty="0">
                <a:solidFill>
                  <a:srgbClr val="FFFF00"/>
                </a:solidFill>
                <a:latin typeface="Century Schoolbook" panose="02040604050505020304" pitchFamily="18" charset="0"/>
              </a:rPr>
              <a:t> : -</a:t>
            </a:r>
          </a:p>
          <a:p>
            <a:r>
              <a:rPr lang="en-US" b="1" dirty="0">
                <a:latin typeface="Century Schoolbook" panose="02040604050505020304" pitchFamily="18" charset="0"/>
              </a:rPr>
              <a:t>- Description.</a:t>
            </a:r>
          </a:p>
          <a:p>
            <a:r>
              <a:rPr lang="en-US" b="1" dirty="0">
                <a:latin typeface="Century Schoolbook" panose="02040604050505020304" pitchFamily="18" charset="0"/>
              </a:rPr>
              <a:t>- Priority status ( open, closed, responding ).</a:t>
            </a:r>
            <a:endParaRPr lang="en-IN" b="1" dirty="0">
              <a:latin typeface="Century Schoolbook" panose="02040604050505020304" pitchFamily="18" charset="0"/>
            </a:endParaRPr>
          </a:p>
        </p:txBody>
      </p:sp>
    </p:spTree>
    <p:extLst>
      <p:ext uri="{BB962C8B-B14F-4D97-AF65-F5344CB8AC3E}">
        <p14:creationId xmlns:p14="http://schemas.microsoft.com/office/powerpoint/2010/main" val="39034978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2AEDB-9E35-4E28-9766-AAFAD846122A}"/>
              </a:ext>
            </a:extLst>
          </p:cNvPr>
          <p:cNvSpPr>
            <a:spLocks noGrp="1"/>
          </p:cNvSpPr>
          <p:nvPr>
            <p:ph type="title"/>
          </p:nvPr>
        </p:nvSpPr>
        <p:spPr>
          <a:xfrm>
            <a:off x="0" y="0"/>
            <a:ext cx="12103510" cy="737418"/>
          </a:xfrm>
        </p:spPr>
        <p:txBody>
          <a:bodyPr>
            <a:noAutofit/>
          </a:bodyPr>
          <a:lstStyle/>
          <a:p>
            <a:pPr marL="571500" indent="-571500">
              <a:buFont typeface="Wingdings" panose="05000000000000000000" pitchFamily="2" charset="2"/>
              <a:buChar char="v"/>
            </a:pPr>
            <a:r>
              <a:rPr lang="en-US" sz="4400" dirty="0">
                <a:solidFill>
                  <a:srgbClr val="FFFF00"/>
                </a:solidFill>
                <a:latin typeface="Algerian" panose="04020705040A02060702" pitchFamily="82" charset="0"/>
              </a:rPr>
              <a:t> </a:t>
            </a:r>
            <a:r>
              <a:rPr lang="en-US" sz="4400" u="sng" dirty="0">
                <a:solidFill>
                  <a:srgbClr val="FFFF00"/>
                </a:solidFill>
                <a:latin typeface="Algerian" panose="04020705040A02060702" pitchFamily="82" charset="0"/>
              </a:rPr>
              <a:t>recommending product release</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57FD5E39-D120-A10D-0E8A-56B95967A1B6}"/>
              </a:ext>
            </a:extLst>
          </p:cNvPr>
          <p:cNvSpPr>
            <a:spLocks noGrp="1"/>
          </p:cNvSpPr>
          <p:nvPr>
            <p:ph type="body" idx="1"/>
          </p:nvPr>
        </p:nvSpPr>
        <p:spPr>
          <a:xfrm>
            <a:off x="142568" y="281715"/>
            <a:ext cx="11818374" cy="4547419"/>
          </a:xfrm>
        </p:spPr>
        <p:txBody>
          <a:bodyPr>
            <a:normAutofit/>
          </a:bodyPr>
          <a:lstStyle/>
          <a:p>
            <a:pPr marL="457200" indent="-457200">
              <a:buFont typeface="Wingdings" panose="05000000000000000000" pitchFamily="2" charset="2"/>
              <a:buChar char="Ø"/>
            </a:pPr>
            <a:r>
              <a:rPr lang="en-US" sz="2400" b="1" dirty="0">
                <a:latin typeface="Century Schoolbook" panose="02040604050505020304" pitchFamily="18" charset="0"/>
              </a:rPr>
              <a:t>Based on the test summary report, an organization can take a decision on whether to release a product or not.</a:t>
            </a:r>
          </a:p>
          <a:p>
            <a:pPr marL="457200" indent="-457200">
              <a:buFont typeface="Wingdings" panose="05000000000000000000" pitchFamily="2" charset="2"/>
              <a:buChar char="Ø"/>
            </a:pPr>
            <a:r>
              <a:rPr lang="en-US" sz="2400" b="1" dirty="0">
                <a:latin typeface="Century Schoolbook" panose="02040604050505020304" pitchFamily="18" charset="0"/>
              </a:rPr>
              <a:t>Ideally, an organization would like to release a product with zero </a:t>
            </a:r>
            <a:r>
              <a:rPr lang="en-US" sz="2400" b="1" dirty="0" err="1">
                <a:latin typeface="Century Schoolbook" panose="02040604050505020304" pitchFamily="18" charset="0"/>
              </a:rPr>
              <a:t>defeds</a:t>
            </a:r>
            <a:r>
              <a:rPr lang="en-US" sz="2400" b="1" dirty="0">
                <a:latin typeface="Century Schoolbook" panose="02040604050505020304" pitchFamily="18" charset="0"/>
              </a:rPr>
              <a:t>.</a:t>
            </a:r>
          </a:p>
          <a:p>
            <a:pPr marL="457200" indent="-457200">
              <a:buFont typeface="Wingdings" panose="05000000000000000000" pitchFamily="2" charset="2"/>
              <a:buChar char="Ø"/>
            </a:pPr>
            <a:r>
              <a:rPr lang="en-US" sz="2400" b="1" dirty="0">
                <a:latin typeface="Century Schoolbook" panose="02040604050505020304" pitchFamily="18" charset="0"/>
              </a:rPr>
              <a:t>However, market pressures may cause the product to be released with the senior management is convinced that there is no major risk of customer dissatisfaction.</a:t>
            </a:r>
          </a:p>
          <a:p>
            <a:pPr marL="457200" indent="-457200">
              <a:buFont typeface="Wingdings" panose="05000000000000000000" pitchFamily="2" charset="2"/>
              <a:buChar char="Ø"/>
            </a:pPr>
            <a:r>
              <a:rPr lang="en-US" sz="2400" b="1" dirty="0">
                <a:latin typeface="Century Schoolbook" panose="02040604050505020304" pitchFamily="18" charset="0"/>
              </a:rPr>
              <a:t>Such decisions should be taken after consultation with the customer support team.</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19046546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E5AC2-761D-4C9F-E48A-D4F28FFB2C62}"/>
              </a:ext>
            </a:extLst>
          </p:cNvPr>
          <p:cNvSpPr>
            <a:spLocks noGrp="1"/>
          </p:cNvSpPr>
          <p:nvPr>
            <p:ph type="title"/>
          </p:nvPr>
        </p:nvSpPr>
        <p:spPr>
          <a:xfrm>
            <a:off x="0" y="0"/>
            <a:ext cx="12192000" cy="816077"/>
          </a:xfrm>
        </p:spPr>
        <p:txBody>
          <a:bodyPr>
            <a:normAutofit/>
          </a:bodyPr>
          <a:lstStyle/>
          <a:p>
            <a:pPr marL="457200" indent="-457200">
              <a:buFont typeface="Wingdings" panose="05000000000000000000" pitchFamily="2" charset="2"/>
              <a:buChar char="v"/>
            </a:pPr>
            <a:r>
              <a:rPr lang="en-IN" sz="4400" dirty="0">
                <a:solidFill>
                  <a:srgbClr val="FFFF00"/>
                </a:solidFill>
                <a:latin typeface="Algerian" panose="04020705040A02060702" pitchFamily="82" charset="0"/>
              </a:rPr>
              <a:t> </a:t>
            </a:r>
            <a:r>
              <a:rPr lang="en-IN" sz="4400" u="sng" dirty="0">
                <a:solidFill>
                  <a:srgbClr val="FFFF00"/>
                </a:solidFill>
                <a:latin typeface="Algerian" panose="04020705040A02060702" pitchFamily="82" charset="0"/>
              </a:rPr>
              <a:t>Example of Product Release Matrix</a:t>
            </a:r>
            <a:r>
              <a:rPr lang="en-IN" sz="4400" dirty="0">
                <a:solidFill>
                  <a:srgbClr val="FFFF00"/>
                </a:solidFill>
                <a:latin typeface="Algerian" panose="04020705040A02060702" pitchFamily="82" charset="0"/>
              </a:rPr>
              <a:t> : -</a:t>
            </a:r>
          </a:p>
        </p:txBody>
      </p:sp>
      <p:sp>
        <p:nvSpPr>
          <p:cNvPr id="3" name="Text Placeholder 2">
            <a:extLst>
              <a:ext uri="{FF2B5EF4-FFF2-40B4-BE49-F238E27FC236}">
                <a16:creationId xmlns:a16="http://schemas.microsoft.com/office/drawing/2014/main" id="{77DCDBA0-AA9B-E595-C7A6-75BDAF302D91}"/>
              </a:ext>
            </a:extLst>
          </p:cNvPr>
          <p:cNvSpPr>
            <a:spLocks noGrp="1"/>
          </p:cNvSpPr>
          <p:nvPr>
            <p:ph type="body" idx="1"/>
          </p:nvPr>
        </p:nvSpPr>
        <p:spPr/>
        <p:txBody>
          <a:bodyPr/>
          <a:lstStyle/>
          <a:p>
            <a:endParaRPr lang="en-IN" dirty="0"/>
          </a:p>
        </p:txBody>
      </p:sp>
      <p:pic>
        <p:nvPicPr>
          <p:cNvPr id="7" name="Picture 6">
            <a:extLst>
              <a:ext uri="{FF2B5EF4-FFF2-40B4-BE49-F238E27FC236}">
                <a16:creationId xmlns:a16="http://schemas.microsoft.com/office/drawing/2014/main" id="{C80FB3BA-889E-F1C6-B452-286D8845011B}"/>
              </a:ext>
            </a:extLst>
          </p:cNvPr>
          <p:cNvPicPr>
            <a:picLocks noChangeAspect="1"/>
          </p:cNvPicPr>
          <p:nvPr/>
        </p:nvPicPr>
        <p:blipFill>
          <a:blip r:embed="rId2"/>
          <a:stretch>
            <a:fillRect/>
          </a:stretch>
        </p:blipFill>
        <p:spPr>
          <a:xfrm>
            <a:off x="412955" y="816077"/>
            <a:ext cx="11346426" cy="5919020"/>
          </a:xfrm>
          <a:prstGeom prst="rect">
            <a:avLst/>
          </a:prstGeom>
        </p:spPr>
      </p:pic>
    </p:spTree>
    <p:extLst>
      <p:ext uri="{BB962C8B-B14F-4D97-AF65-F5344CB8AC3E}">
        <p14:creationId xmlns:p14="http://schemas.microsoft.com/office/powerpoint/2010/main" val="39017546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EC80C-A824-74F5-FCAC-31249C6D88AA}"/>
              </a:ext>
            </a:extLst>
          </p:cNvPr>
          <p:cNvSpPr>
            <a:spLocks noGrp="1"/>
          </p:cNvSpPr>
          <p:nvPr>
            <p:ph type="title"/>
          </p:nvPr>
        </p:nvSpPr>
        <p:spPr>
          <a:xfrm>
            <a:off x="0" y="0"/>
            <a:ext cx="11680723" cy="806244"/>
          </a:xfrm>
        </p:spPr>
        <p:txBody>
          <a:bodyPr>
            <a:noAutofit/>
          </a:bodyPr>
          <a:lstStyle/>
          <a:p>
            <a:pPr marL="571500" indent="-571500">
              <a:buFont typeface="Wingdings" panose="05000000000000000000" pitchFamily="2" charset="2"/>
              <a:buChar char="v"/>
            </a:pPr>
            <a:r>
              <a:rPr lang="en-US" sz="4400" u="sng" dirty="0">
                <a:solidFill>
                  <a:srgbClr val="FFFF00"/>
                </a:solidFill>
                <a:latin typeface="Algerian" panose="04020705040A02060702" pitchFamily="82" charset="0"/>
              </a:rPr>
              <a:t>collecting &amp; analyzing metrics</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1CA41C7E-7BD0-C403-4877-82FF99464084}"/>
              </a:ext>
            </a:extLst>
          </p:cNvPr>
          <p:cNvSpPr>
            <a:spLocks noGrp="1"/>
          </p:cNvSpPr>
          <p:nvPr>
            <p:ph type="body" idx="1"/>
          </p:nvPr>
        </p:nvSpPr>
        <p:spPr>
          <a:xfrm>
            <a:off x="95864" y="688257"/>
            <a:ext cx="11680724" cy="5142272"/>
          </a:xfrm>
        </p:spPr>
        <p:txBody>
          <a:bodyPr>
            <a:noAutofit/>
          </a:bodyPr>
          <a:lstStyle/>
          <a:p>
            <a:pPr marL="342900" indent="-342900">
              <a:buFont typeface="Wingdings" panose="05000000000000000000" pitchFamily="2" charset="2"/>
              <a:buChar char="Ø"/>
            </a:pPr>
            <a:r>
              <a:rPr lang="en-US" sz="2400" b="1" dirty="0">
                <a:latin typeface="Century Schoolbook" panose="02040604050505020304" pitchFamily="18" charset="0"/>
              </a:rPr>
              <a:t>The basic measurements from running the test are then converted to meaningful </a:t>
            </a:r>
            <a:r>
              <a:rPr lang="en-US" sz="2400" b="1" dirty="0" err="1">
                <a:latin typeface="Century Schoolbook" panose="02040604050505020304" pitchFamily="18" charset="0"/>
              </a:rPr>
              <a:t>mettics</a:t>
            </a:r>
            <a:r>
              <a:rPr lang="en-US" sz="2400" b="1" dirty="0">
                <a:latin typeface="Century Schoolbook" panose="02040604050505020304" pitchFamily="18" charset="0"/>
              </a:rPr>
              <a:t> by the use of appropriate transformation formulae : -</a:t>
            </a:r>
          </a:p>
          <a:p>
            <a:pPr marL="342900" indent="-342900">
              <a:buFont typeface="Wingdings" panose="05000000000000000000" pitchFamily="2" charset="2"/>
              <a:buChar char="Ø"/>
            </a:pPr>
            <a:r>
              <a:rPr lang="en-US" b="1" dirty="0">
                <a:solidFill>
                  <a:srgbClr val="FFFF00"/>
                </a:solidFill>
                <a:latin typeface="Century Schoolbook" panose="02040604050505020304" pitchFamily="18" charset="0"/>
              </a:rPr>
              <a:t>Test cases Executed Ratio</a:t>
            </a:r>
            <a:r>
              <a:rPr lang="en-US" b="1" dirty="0">
                <a:latin typeface="Century Schoolbook" panose="02040604050505020304" pitchFamily="18" charset="0"/>
              </a:rPr>
              <a:t> = ( No. of test cases executed / Total no. of test cases written ) * 100</a:t>
            </a:r>
          </a:p>
          <a:p>
            <a:pPr marL="342900" indent="-342900">
              <a:buFont typeface="Wingdings" panose="05000000000000000000" pitchFamily="2" charset="2"/>
              <a:buChar char="Ø"/>
            </a:pPr>
            <a:r>
              <a:rPr lang="en-US" b="1" dirty="0">
                <a:solidFill>
                  <a:srgbClr val="FFFF00"/>
                </a:solidFill>
                <a:latin typeface="Century Schoolbook" panose="02040604050505020304" pitchFamily="18" charset="0"/>
              </a:rPr>
              <a:t>Passed Test cases Ratio </a:t>
            </a:r>
            <a:r>
              <a:rPr lang="en-US" b="1" dirty="0">
                <a:latin typeface="Century Schoolbook" panose="02040604050505020304" pitchFamily="18" charset="0"/>
              </a:rPr>
              <a:t>= ( No. of Passed Tests / Total No. of tests executed ) * 100</a:t>
            </a:r>
          </a:p>
          <a:p>
            <a:pPr marL="342900" indent="-342900">
              <a:buFont typeface="Wingdings" panose="05000000000000000000" pitchFamily="2" charset="2"/>
              <a:buChar char="Ø"/>
            </a:pPr>
            <a:r>
              <a:rPr lang="en-US" b="1" dirty="0">
                <a:solidFill>
                  <a:srgbClr val="FFFF00"/>
                </a:solidFill>
                <a:latin typeface="Century Schoolbook" panose="02040604050505020304" pitchFamily="18" charset="0"/>
              </a:rPr>
              <a:t>Failed Test cases Ratio</a:t>
            </a:r>
            <a:r>
              <a:rPr lang="en-US" b="1" dirty="0">
                <a:latin typeface="Century Schoolbook" panose="02040604050505020304" pitchFamily="18" charset="0"/>
              </a:rPr>
              <a:t> = ( No. of Failed Tests / Total No. of Tests executed ) * 100</a:t>
            </a:r>
          </a:p>
          <a:p>
            <a:pPr marL="342900" indent="-342900">
              <a:buFont typeface="Wingdings" panose="05000000000000000000" pitchFamily="2" charset="2"/>
              <a:buChar char="Ø"/>
            </a:pPr>
            <a:r>
              <a:rPr lang="en-US" b="1" dirty="0">
                <a:solidFill>
                  <a:srgbClr val="FFFF00"/>
                </a:solidFill>
                <a:latin typeface="Century Schoolbook" panose="02040604050505020304" pitchFamily="18" charset="0"/>
              </a:rPr>
              <a:t>Productivity</a:t>
            </a:r>
            <a:r>
              <a:rPr lang="en-US" b="1" dirty="0">
                <a:latin typeface="Century Schoolbook" panose="02040604050505020304" pitchFamily="18" charset="0"/>
              </a:rPr>
              <a:t> = ( No. of test cases executed / Time spent in test execution )</a:t>
            </a:r>
          </a:p>
          <a:p>
            <a:pPr marL="342900" indent="-342900">
              <a:buFont typeface="Wingdings" panose="05000000000000000000" pitchFamily="2" charset="2"/>
              <a:buChar char="Ø"/>
            </a:pPr>
            <a:r>
              <a:rPr lang="en-US" b="1" dirty="0">
                <a:solidFill>
                  <a:srgbClr val="FFFF00"/>
                </a:solidFill>
                <a:latin typeface="Century Schoolbook" panose="02040604050505020304" pitchFamily="18" charset="0"/>
              </a:rPr>
              <a:t>Defect Rejection Ratio</a:t>
            </a:r>
            <a:r>
              <a:rPr lang="en-US" b="1" dirty="0">
                <a:latin typeface="Century Schoolbook" panose="02040604050505020304" pitchFamily="18" charset="0"/>
              </a:rPr>
              <a:t> = ( No. of defects </a:t>
            </a:r>
            <a:r>
              <a:rPr lang="en-US" b="1" dirty="0" err="1">
                <a:latin typeface="Century Schoolbook" panose="02040604050505020304" pitchFamily="18" charset="0"/>
              </a:rPr>
              <a:t>rejeced</a:t>
            </a:r>
            <a:r>
              <a:rPr lang="en-US" b="1" dirty="0">
                <a:latin typeface="Century Schoolbook" panose="02040604050505020304" pitchFamily="18" charset="0"/>
              </a:rPr>
              <a:t> / Total no. of defects raised ) * 100</a:t>
            </a:r>
          </a:p>
          <a:p>
            <a:pPr marL="342900" indent="-342900">
              <a:buFont typeface="Wingdings" panose="05000000000000000000" pitchFamily="2" charset="2"/>
              <a:buChar char="Ø"/>
            </a:pPr>
            <a:r>
              <a:rPr lang="en-US" b="1" dirty="0">
                <a:solidFill>
                  <a:srgbClr val="FFFF00"/>
                </a:solidFill>
                <a:latin typeface="Century Schoolbook" panose="02040604050505020304" pitchFamily="18" charset="0"/>
              </a:rPr>
              <a:t>Defect Fix Rejection Ratio </a:t>
            </a:r>
            <a:r>
              <a:rPr lang="en-US" b="1" dirty="0">
                <a:latin typeface="Century Schoolbook" panose="02040604050505020304" pitchFamily="18" charset="0"/>
              </a:rPr>
              <a:t>= ( No. of defect fixes rejected / No. of defects Fixed ) * 100</a:t>
            </a:r>
          </a:p>
          <a:p>
            <a:pPr marL="342900" indent="-342900">
              <a:buFont typeface="Wingdings" panose="05000000000000000000" pitchFamily="2" charset="2"/>
              <a:buChar char="Ø"/>
            </a:pPr>
            <a:r>
              <a:rPr lang="en-US" b="1" dirty="0">
                <a:solidFill>
                  <a:srgbClr val="FFFF00"/>
                </a:solidFill>
                <a:latin typeface="Century Schoolbook" panose="02040604050505020304" pitchFamily="18" charset="0"/>
              </a:rPr>
              <a:t>Test design efficiency </a:t>
            </a:r>
            <a:r>
              <a:rPr lang="en-US" b="1" dirty="0">
                <a:latin typeface="Century Schoolbook" panose="02040604050505020304" pitchFamily="18" charset="0"/>
              </a:rPr>
              <a:t>= No. of test designed / Total Time</a:t>
            </a:r>
          </a:p>
          <a:p>
            <a:pPr marL="342900" indent="-342900">
              <a:buFont typeface="Wingdings" panose="05000000000000000000" pitchFamily="2" charset="2"/>
              <a:buChar char="Ø"/>
            </a:pPr>
            <a:r>
              <a:rPr lang="en-US" b="1" dirty="0">
                <a:solidFill>
                  <a:srgbClr val="FFFF00"/>
                </a:solidFill>
                <a:latin typeface="Century Schoolbook" panose="02040604050505020304" pitchFamily="18" charset="0"/>
              </a:rPr>
              <a:t>Test review efficiency</a:t>
            </a:r>
            <a:r>
              <a:rPr lang="en-US" b="1" dirty="0">
                <a:latin typeface="Century Schoolbook" panose="02040604050505020304" pitchFamily="18" charset="0"/>
              </a:rPr>
              <a:t> = No. of test reviewed / Total Time</a:t>
            </a:r>
            <a:endParaRPr lang="en-IN" b="1" dirty="0">
              <a:latin typeface="Century Schoolbook" panose="02040604050505020304" pitchFamily="18" charset="0"/>
            </a:endParaRPr>
          </a:p>
        </p:txBody>
      </p:sp>
    </p:spTree>
    <p:extLst>
      <p:ext uri="{BB962C8B-B14F-4D97-AF65-F5344CB8AC3E}">
        <p14:creationId xmlns:p14="http://schemas.microsoft.com/office/powerpoint/2010/main" val="24150208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815C1-C046-0B97-EB63-A298708514C8}"/>
              </a:ext>
            </a:extLst>
          </p:cNvPr>
          <p:cNvSpPr>
            <a:spLocks noGrp="1"/>
          </p:cNvSpPr>
          <p:nvPr>
            <p:ph type="title"/>
          </p:nvPr>
        </p:nvSpPr>
        <p:spPr>
          <a:xfrm>
            <a:off x="0" y="0"/>
            <a:ext cx="12192000" cy="806245"/>
          </a:xfrm>
        </p:spPr>
        <p:txBody>
          <a:bodyPr>
            <a:normAutofit/>
          </a:bodyPr>
          <a:lstStyle/>
          <a:p>
            <a:pPr marL="571500" indent="-571500">
              <a:buFont typeface="Wingdings" panose="05000000000000000000" pitchFamily="2" charset="2"/>
              <a:buChar char="v"/>
            </a:pPr>
            <a:r>
              <a:rPr lang="en-US" sz="4400" dirty="0">
                <a:solidFill>
                  <a:srgbClr val="FFFF00"/>
                </a:solidFill>
                <a:latin typeface="Algerian" panose="04020705040A02060702" pitchFamily="82" charset="0"/>
              </a:rPr>
              <a:t> </a:t>
            </a:r>
            <a:r>
              <a:rPr lang="en-US" sz="4400" u="sng" dirty="0">
                <a:solidFill>
                  <a:srgbClr val="FFFF00"/>
                </a:solidFill>
                <a:latin typeface="Algerian" panose="04020705040A02060702" pitchFamily="82" charset="0"/>
              </a:rPr>
              <a:t>preparing test summary report</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635B2518-552C-8F54-30C9-F307400BBA04}"/>
              </a:ext>
            </a:extLst>
          </p:cNvPr>
          <p:cNvSpPr>
            <a:spLocks noGrp="1"/>
          </p:cNvSpPr>
          <p:nvPr>
            <p:ph type="body" idx="1"/>
          </p:nvPr>
        </p:nvSpPr>
        <p:spPr>
          <a:xfrm>
            <a:off x="137010" y="0"/>
            <a:ext cx="11710220" cy="4852218"/>
          </a:xfrm>
        </p:spPr>
        <p:txBody>
          <a:bodyPr>
            <a:normAutofit/>
          </a:bodyPr>
          <a:lstStyle/>
          <a:p>
            <a:pPr marL="457200" indent="-457200">
              <a:buFont typeface="Wingdings" panose="05000000000000000000" pitchFamily="2" charset="2"/>
              <a:buChar char="Ø"/>
            </a:pPr>
            <a:r>
              <a:rPr lang="en-US" sz="2400" b="1" dirty="0">
                <a:latin typeface="Century Schoolbook" panose="02040604050505020304" pitchFamily="18" charset="0"/>
              </a:rPr>
              <a:t>Test Summary report is a document which contains summary of test activities and final test results.</a:t>
            </a:r>
          </a:p>
          <a:p>
            <a:pPr marL="457200" indent="-457200">
              <a:buFont typeface="Wingdings" panose="05000000000000000000" pitchFamily="2" charset="2"/>
              <a:buChar char="Ø"/>
            </a:pPr>
            <a:r>
              <a:rPr lang="en-US" sz="2400" b="1" dirty="0">
                <a:latin typeface="Century Schoolbook" panose="02040604050505020304" pitchFamily="18" charset="0"/>
              </a:rPr>
              <a:t>After the testing </a:t>
            </a:r>
            <a:r>
              <a:rPr lang="en-US" sz="2400" b="1" dirty="0" err="1">
                <a:latin typeface="Century Schoolbook" panose="02040604050505020304" pitchFamily="18" charset="0"/>
              </a:rPr>
              <a:t>ayde</a:t>
            </a:r>
            <a:r>
              <a:rPr lang="en-US" sz="2400" b="1" dirty="0">
                <a:latin typeface="Century Schoolbook" panose="02040604050505020304" pitchFamily="18" charset="0"/>
              </a:rPr>
              <a:t> is complete, it is important to communicate the test results to the stakeholders.</a:t>
            </a:r>
          </a:p>
          <a:p>
            <a:pPr marL="457200" indent="-457200">
              <a:buFont typeface="Wingdings" panose="05000000000000000000" pitchFamily="2" charset="2"/>
              <a:buChar char="Ø"/>
            </a:pPr>
            <a:r>
              <a:rPr lang="en-US" sz="2400" b="1" dirty="0">
                <a:latin typeface="Century Schoolbook" panose="02040604050505020304" pitchFamily="18" charset="0"/>
              </a:rPr>
              <a:t>Test summary report will be different for different kind of testing.</a:t>
            </a:r>
          </a:p>
          <a:p>
            <a:pPr marL="457200" indent="-457200">
              <a:buFont typeface="Wingdings" panose="05000000000000000000" pitchFamily="2" charset="2"/>
              <a:buChar char="Ø"/>
            </a:pPr>
            <a:r>
              <a:rPr lang="en-US" sz="2400" b="1" dirty="0">
                <a:latin typeface="Century Schoolbook" panose="02040604050505020304" pitchFamily="18" charset="0"/>
              </a:rPr>
              <a:t>In addition to test coverage and unresolved defects test summary reports should also contain test strategy, test objectives and overall result of test effort.</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4414741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AE57C-ED71-0B61-B66D-4356496220F5}"/>
              </a:ext>
            </a:extLst>
          </p:cNvPr>
          <p:cNvSpPr>
            <a:spLocks noGrp="1"/>
          </p:cNvSpPr>
          <p:nvPr>
            <p:ph type="title"/>
          </p:nvPr>
        </p:nvSpPr>
        <p:spPr>
          <a:xfrm>
            <a:off x="0" y="1"/>
            <a:ext cx="12192000" cy="835742"/>
          </a:xfrm>
        </p:spPr>
        <p:txBody>
          <a:bodyPr>
            <a:normAutofit/>
          </a:bodyPr>
          <a:lstStyle/>
          <a:p>
            <a:pPr marL="571500" indent="-571500">
              <a:buFont typeface="Wingdings" panose="05000000000000000000" pitchFamily="2" charset="2"/>
              <a:buChar char="v"/>
            </a:pPr>
            <a:r>
              <a:rPr lang="en-US" sz="4400" dirty="0">
                <a:solidFill>
                  <a:srgbClr val="FFFF00"/>
                </a:solidFill>
                <a:latin typeface="Algerian" panose="04020705040A02060702" pitchFamily="82" charset="0"/>
              </a:rPr>
              <a:t> </a:t>
            </a:r>
            <a:r>
              <a:rPr lang="en-US" sz="4400" u="sng" dirty="0">
                <a:solidFill>
                  <a:srgbClr val="FFFF00"/>
                </a:solidFill>
                <a:latin typeface="Algerian" panose="04020705040A02060702" pitchFamily="82" charset="0"/>
              </a:rPr>
              <a:t>contents of a test summary report</a:t>
            </a:r>
            <a:r>
              <a:rPr lang="en-US" sz="4400" dirty="0">
                <a:solidFill>
                  <a:srgbClr val="FFFF00"/>
                </a:solidFill>
                <a:latin typeface="Algerian" panose="04020705040A02060702" pitchFamily="82" charset="0"/>
              </a:rPr>
              <a:t> : -</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60F82439-58DB-9531-9D3C-FD168A1BB1F6}"/>
              </a:ext>
            </a:extLst>
          </p:cNvPr>
          <p:cNvSpPr>
            <a:spLocks noGrp="1"/>
          </p:cNvSpPr>
          <p:nvPr>
            <p:ph type="body" idx="1"/>
          </p:nvPr>
        </p:nvSpPr>
        <p:spPr>
          <a:xfrm>
            <a:off x="294968" y="734961"/>
            <a:ext cx="11897032" cy="5926394"/>
          </a:xfrm>
        </p:spPr>
        <p:txBody>
          <a:bodyPr>
            <a:normAutofit/>
          </a:bodyPr>
          <a:lstStyle/>
          <a:p>
            <a:r>
              <a:rPr lang="en-US" sz="2400" b="1" dirty="0">
                <a:latin typeface="Century Schoolbook" panose="02040604050505020304" pitchFamily="18" charset="0"/>
              </a:rPr>
              <a:t>1. Purpose of the Document.</a:t>
            </a:r>
          </a:p>
          <a:p>
            <a:r>
              <a:rPr lang="en-US" sz="2400" b="1" dirty="0">
                <a:latin typeface="Century Schoolbook" panose="02040604050505020304" pitchFamily="18" charset="0"/>
              </a:rPr>
              <a:t>2. Application overview.</a:t>
            </a:r>
          </a:p>
          <a:p>
            <a:r>
              <a:rPr lang="en-US" sz="2400" b="1" dirty="0">
                <a:latin typeface="Century Schoolbook" panose="02040604050505020304" pitchFamily="18" charset="0"/>
              </a:rPr>
              <a:t>3. Testing scope.</a:t>
            </a:r>
          </a:p>
          <a:p>
            <a:r>
              <a:rPr lang="en-US" sz="2400" b="1" dirty="0">
                <a:latin typeface="Century Schoolbook" panose="02040604050505020304" pitchFamily="18" charset="0"/>
              </a:rPr>
              <a:t>4. Metrics.</a:t>
            </a:r>
          </a:p>
          <a:p>
            <a:r>
              <a:rPr lang="en-US" sz="2400" b="1" dirty="0">
                <a:latin typeface="Century Schoolbook" panose="02040604050505020304" pitchFamily="18" charset="0"/>
              </a:rPr>
              <a:t>5. Types of Testing Performed.</a:t>
            </a:r>
          </a:p>
          <a:p>
            <a:r>
              <a:rPr lang="en-US" sz="2400" b="1" dirty="0">
                <a:latin typeface="Century Schoolbook" panose="02040604050505020304" pitchFamily="18" charset="0"/>
              </a:rPr>
              <a:t>6. Test Environment &amp; Tools.</a:t>
            </a:r>
          </a:p>
          <a:p>
            <a:r>
              <a:rPr lang="en-US" sz="2400" b="1" dirty="0">
                <a:latin typeface="Century Schoolbook" panose="02040604050505020304" pitchFamily="18" charset="0"/>
              </a:rPr>
              <a:t>7. Lessons Learned.</a:t>
            </a:r>
          </a:p>
          <a:p>
            <a:r>
              <a:rPr lang="en-US" sz="2400" b="1" dirty="0">
                <a:latin typeface="Century Schoolbook" panose="02040604050505020304" pitchFamily="18" charset="0"/>
              </a:rPr>
              <a:t>8. Recommendations.</a:t>
            </a:r>
          </a:p>
          <a:p>
            <a:r>
              <a:rPr lang="en-US" sz="2400" b="1" dirty="0">
                <a:latin typeface="Century Schoolbook" panose="02040604050505020304" pitchFamily="18" charset="0"/>
              </a:rPr>
              <a:t>9. Best Practices.</a:t>
            </a:r>
          </a:p>
          <a:p>
            <a:r>
              <a:rPr lang="en-US" sz="2400" b="1" dirty="0">
                <a:latin typeface="Century Schoolbook" panose="02040604050505020304" pitchFamily="18" charset="0"/>
              </a:rPr>
              <a:t>10. Exit Criteria.</a:t>
            </a:r>
          </a:p>
          <a:p>
            <a:r>
              <a:rPr lang="en-US" sz="2400" b="1" dirty="0">
                <a:latin typeface="Century Schoolbook" panose="02040604050505020304" pitchFamily="18" charset="0"/>
              </a:rPr>
              <a:t>11. Conclusion/sign OFF.</a:t>
            </a:r>
          </a:p>
          <a:p>
            <a:r>
              <a:rPr lang="en-US" sz="2400" b="1" dirty="0">
                <a:latin typeface="Century Schoolbook" panose="02040604050505020304" pitchFamily="18" charset="0"/>
              </a:rPr>
              <a:t>12. Definitions, Acronyms and Abbreviations.</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01669771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61DDDE80-2DFA-4F2A-B66F-72059846BDAA}"/>
    </a:ext>
  </a:extLst>
</a:theme>
</file>

<file path=docProps/app.xml><?xml version="1.0" encoding="utf-8"?>
<Properties xmlns="http://schemas.openxmlformats.org/officeDocument/2006/extended-properties" xmlns:vt="http://schemas.openxmlformats.org/officeDocument/2006/docPropsVTypes">
  <Template>Celestial</Template>
  <TotalTime>3096</TotalTime>
  <Words>3017</Words>
  <Application>Microsoft Office PowerPoint</Application>
  <PresentationFormat>Widescreen</PresentationFormat>
  <Paragraphs>243</Paragraphs>
  <Slides>28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Algerian</vt:lpstr>
      <vt:lpstr>Arial</vt:lpstr>
      <vt:lpstr>Calibri</vt:lpstr>
      <vt:lpstr>Calibri Light</vt:lpstr>
      <vt:lpstr>Century Schoolbook</vt:lpstr>
      <vt:lpstr>Wingdings</vt:lpstr>
      <vt:lpstr>Celestial</vt:lpstr>
      <vt:lpstr>04. Test management</vt:lpstr>
      <vt:lpstr> Test planning : -</vt:lpstr>
      <vt:lpstr> stlc preparing &amp; test plan : -</vt:lpstr>
      <vt:lpstr> -</vt:lpstr>
      <vt:lpstr> Scope management : -</vt:lpstr>
      <vt:lpstr> deciding test approach : -</vt:lpstr>
      <vt:lpstr> setting–up criteria for testing : -</vt:lpstr>
      <vt:lpstr> identifying responsibilities : -</vt:lpstr>
      <vt:lpstr> staffing needs : -</vt:lpstr>
      <vt:lpstr> training needs : -</vt:lpstr>
      <vt:lpstr>Resource requiremeents : -</vt:lpstr>
      <vt:lpstr>Test deliverable : -</vt:lpstr>
      <vt:lpstr> Testing task : -</vt:lpstr>
      <vt:lpstr> Test management : -</vt:lpstr>
      <vt:lpstr> choice of standards : -</vt:lpstr>
      <vt:lpstr> test infrastructure management : -</vt:lpstr>
      <vt:lpstr> Test process management : -</vt:lpstr>
      <vt:lpstr> integration with product release : -</vt:lpstr>
      <vt:lpstr> test process : -</vt:lpstr>
      <vt:lpstr>1. base lining a test plan : -</vt:lpstr>
      <vt:lpstr>2. Test case specification : -</vt:lpstr>
      <vt:lpstr>3. Update of traceability matrix : - </vt:lpstr>
      <vt:lpstr> test reporting : -</vt:lpstr>
      <vt:lpstr> recommending product release : -</vt:lpstr>
      <vt:lpstr> Example of Product Release Matrix : -</vt:lpstr>
      <vt:lpstr>collecting &amp; analyzing metrics : -</vt:lpstr>
      <vt:lpstr> preparing test summary report : -</vt:lpstr>
      <vt:lpstr> contents of a test summary report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Darpan Shedge</dc:creator>
  <cp:lastModifiedBy>shshinde2580@gmail.com</cp:lastModifiedBy>
  <cp:revision>2</cp:revision>
  <dcterms:created xsi:type="dcterms:W3CDTF">2025-09-27T10:22:42Z</dcterms:created>
  <dcterms:modified xsi:type="dcterms:W3CDTF">2025-11-11T09:26:26Z</dcterms:modified>
</cp:coreProperties>
</file>