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5" r:id="rId17"/>
    <p:sldId id="276" r:id="rId18"/>
    <p:sldId id="277"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4" d="100"/>
          <a:sy n="74" d="100"/>
        </p:scale>
        <p:origin x="1042"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11/3/2025</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1390C-AA3B-A297-0F7F-B1BC3533EAA5}"/>
              </a:ext>
            </a:extLst>
          </p:cNvPr>
          <p:cNvSpPr>
            <a:spLocks noGrp="1"/>
          </p:cNvSpPr>
          <p:nvPr>
            <p:ph type="ctrTitle"/>
          </p:nvPr>
        </p:nvSpPr>
        <p:spPr/>
        <p:txBody>
          <a:bodyPr>
            <a:normAutofit fontScale="90000"/>
          </a:bodyPr>
          <a:lstStyle/>
          <a:p>
            <a:r>
              <a:rPr lang="en-US" dirty="0"/>
              <a:t>Bhumika </a:t>
            </a:r>
            <a:r>
              <a:rPr lang="en-US" dirty="0" err="1"/>
              <a:t>sunil</a:t>
            </a:r>
            <a:r>
              <a:rPr lang="en-US" dirty="0"/>
              <a:t> </a:t>
            </a:r>
            <a:r>
              <a:rPr lang="en-US" dirty="0" err="1"/>
              <a:t>shedhe</a:t>
            </a: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endParaRPr lang="en-IN" dirty="0"/>
          </a:p>
        </p:txBody>
      </p:sp>
      <p:sp>
        <p:nvSpPr>
          <p:cNvPr id="3" name="Subtitle 2">
            <a:extLst>
              <a:ext uri="{FF2B5EF4-FFF2-40B4-BE49-F238E27FC236}">
                <a16:creationId xmlns:a16="http://schemas.microsoft.com/office/drawing/2014/main" id="{38ECB061-1EFB-73B9-6946-3EF311ED1784}"/>
              </a:ext>
            </a:extLst>
          </p:cNvPr>
          <p:cNvSpPr>
            <a:spLocks noGrp="1"/>
          </p:cNvSpPr>
          <p:nvPr>
            <p:ph type="subTitle" idx="1"/>
          </p:nvPr>
        </p:nvSpPr>
        <p:spPr>
          <a:xfrm>
            <a:off x="1031875" y="1964267"/>
            <a:ext cx="9935753" cy="1405467"/>
          </a:xfrm>
        </p:spPr>
        <p:txBody>
          <a:bodyPr>
            <a:noAutofit/>
          </a:bodyPr>
          <a:lstStyle/>
          <a:p>
            <a:pPr algn="ctr"/>
            <a:r>
              <a:rPr lang="en-US" sz="8000" dirty="0">
                <a:solidFill>
                  <a:srgbClr val="FFFF00"/>
                </a:solidFill>
                <a:latin typeface="Algerian" panose="04020705040A02060702" pitchFamily="82" charset="0"/>
              </a:rPr>
              <a:t>01. BASICS OF SOFTWARE TESTING</a:t>
            </a:r>
            <a:endParaRPr lang="en-IN" sz="8000" dirty="0">
              <a:solidFill>
                <a:srgbClr val="FFFF00"/>
              </a:solidFill>
              <a:latin typeface="Algerian" panose="04020705040A02060702" pitchFamily="82" charset="0"/>
            </a:endParaRPr>
          </a:p>
        </p:txBody>
      </p:sp>
    </p:spTree>
    <p:extLst>
      <p:ext uri="{BB962C8B-B14F-4D97-AF65-F5344CB8AC3E}">
        <p14:creationId xmlns:p14="http://schemas.microsoft.com/office/powerpoint/2010/main" val="722251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6AD9C-912B-C2EB-AFBA-D20E2DCF8D37}"/>
              </a:ext>
            </a:extLst>
          </p:cNvPr>
          <p:cNvSpPr>
            <a:spLocks noGrp="1"/>
          </p:cNvSpPr>
          <p:nvPr>
            <p:ph type="title"/>
          </p:nvPr>
        </p:nvSpPr>
        <p:spPr>
          <a:xfrm>
            <a:off x="68826" y="-212373"/>
            <a:ext cx="10643608" cy="1053297"/>
          </a:xfrm>
        </p:spPr>
        <p:txBody>
          <a:bodyPr>
            <a:normAutofit/>
          </a:bodyPr>
          <a:lstStyle/>
          <a:p>
            <a:pPr marL="571500" indent="-571500">
              <a:buFont typeface="Wingdings" panose="05000000000000000000" pitchFamily="2" charset="2"/>
              <a:buChar char="v"/>
            </a:pPr>
            <a:r>
              <a:rPr lang="en-US" sz="4400" u="sng" dirty="0">
                <a:solidFill>
                  <a:srgbClr val="FFFF00"/>
                </a:solidFill>
                <a:latin typeface="Algerian" panose="04020705040A02060702" pitchFamily="82" charset="0"/>
              </a:rPr>
              <a:t>Software Testing</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0A6057D8-DD72-F36F-F6A5-5BA6DD449B4C}"/>
              </a:ext>
            </a:extLst>
          </p:cNvPr>
          <p:cNvSpPr>
            <a:spLocks noGrp="1"/>
          </p:cNvSpPr>
          <p:nvPr>
            <p:ph type="body" idx="1"/>
          </p:nvPr>
        </p:nvSpPr>
        <p:spPr>
          <a:xfrm>
            <a:off x="68826" y="1042220"/>
            <a:ext cx="11925782" cy="3670854"/>
          </a:xfrm>
        </p:spPr>
        <p:txBody>
          <a:bodyPr>
            <a:noAutofit/>
          </a:bodyPr>
          <a:lstStyle/>
          <a:p>
            <a:pPr marL="514350" indent="-514350">
              <a:buAutoNum type="arabicPeriod"/>
            </a:pPr>
            <a:r>
              <a:rPr lang="en-US" sz="2400" b="1" u="sng" dirty="0">
                <a:solidFill>
                  <a:srgbClr val="FFFF00"/>
                </a:solidFill>
                <a:latin typeface="Century Schoolbook" panose="02040604050505020304" pitchFamily="18" charset="0"/>
                <a:ea typeface="Calibri" panose="020F0502020204030204" pitchFamily="34" charset="0"/>
                <a:cs typeface="Calibri" panose="020F0502020204030204" pitchFamily="34" charset="0"/>
              </a:rPr>
              <a:t>Software Testing Definition </a:t>
            </a:r>
            <a:r>
              <a:rPr lang="en-US" sz="2400" b="1" dirty="0">
                <a:solidFill>
                  <a:srgbClr val="FFFF00"/>
                </a:solidFill>
                <a:latin typeface="Century Schoolbook" panose="02040604050505020304" pitchFamily="18" charset="0"/>
                <a:ea typeface="Calibri" panose="020F0502020204030204" pitchFamily="34" charset="0"/>
                <a:cs typeface="Calibri" panose="020F0502020204030204" pitchFamily="34" charset="0"/>
              </a:rPr>
              <a:t>:</a:t>
            </a:r>
            <a:r>
              <a:rPr lang="en-US" sz="2400" b="1" dirty="0">
                <a:latin typeface="Century Schoolbook" panose="02040604050505020304" pitchFamily="18" charset="0"/>
                <a:ea typeface="Calibri" panose="020F0502020204030204" pitchFamily="34" charset="0"/>
                <a:cs typeface="Calibri" panose="020F0502020204030204" pitchFamily="34" charset="0"/>
              </a:rPr>
              <a:t> Software testing is a method used to verify if the actual software product meets the expected requirements and to ensure it is defect - free.</a:t>
            </a:r>
          </a:p>
          <a:p>
            <a:r>
              <a:rPr lang="en-US" sz="2400" b="1" dirty="0">
                <a:latin typeface="Century Schoolbook" panose="02040604050505020304" pitchFamily="18" charset="0"/>
                <a:ea typeface="Calibri" panose="020F0502020204030204" pitchFamily="34" charset="0"/>
                <a:cs typeface="Calibri" panose="020F0502020204030204" pitchFamily="34" charset="0"/>
              </a:rPr>
              <a:t>2.  </a:t>
            </a:r>
            <a:r>
              <a:rPr lang="en-US" sz="2400" b="1" u="sng" dirty="0">
                <a:solidFill>
                  <a:srgbClr val="FFFF00"/>
                </a:solidFill>
                <a:latin typeface="Century Schoolbook" panose="02040604050505020304" pitchFamily="18" charset="0"/>
                <a:ea typeface="Calibri" panose="020F0502020204030204" pitchFamily="34" charset="0"/>
                <a:cs typeface="Calibri" panose="020F0502020204030204" pitchFamily="34" charset="0"/>
              </a:rPr>
              <a:t>Goal of Software Testin</a:t>
            </a:r>
            <a:r>
              <a:rPr lang="en-US" sz="2400" b="1" dirty="0">
                <a:solidFill>
                  <a:srgbClr val="FFFF00"/>
                </a:solidFill>
                <a:latin typeface="Century Schoolbook" panose="02040604050505020304" pitchFamily="18" charset="0"/>
                <a:ea typeface="Calibri" panose="020F0502020204030204" pitchFamily="34" charset="0"/>
                <a:cs typeface="Calibri" panose="020F0502020204030204" pitchFamily="34" charset="0"/>
              </a:rPr>
              <a:t>g : </a:t>
            </a:r>
            <a:r>
              <a:rPr lang="en-US" sz="2400" b="1" dirty="0">
                <a:latin typeface="Century Schoolbook" panose="02040604050505020304" pitchFamily="18" charset="0"/>
                <a:ea typeface="Calibri" panose="020F0502020204030204" pitchFamily="34" charset="0"/>
                <a:cs typeface="Calibri" panose="020F0502020204030204" pitchFamily="34" charset="0"/>
              </a:rPr>
              <a:t>The primary goal is to identify errors, gaps, or   missing requirements when compared to the actual requirements.</a:t>
            </a:r>
          </a:p>
          <a:p>
            <a:pPr marL="514350" indent="-514350">
              <a:buAutoNum type="arabicPeriod"/>
            </a:pPr>
            <a:r>
              <a:rPr lang="en-US" sz="2400" b="1" u="sng" dirty="0">
                <a:solidFill>
                  <a:srgbClr val="FFFF00"/>
                </a:solidFill>
                <a:latin typeface="Century Schoolbook" panose="02040604050505020304" pitchFamily="18" charset="0"/>
                <a:ea typeface="Calibri" panose="020F0502020204030204" pitchFamily="34" charset="0"/>
                <a:cs typeface="Calibri" panose="020F0502020204030204" pitchFamily="34" charset="0"/>
              </a:rPr>
              <a:t>Role of a Software Tester </a:t>
            </a:r>
            <a:r>
              <a:rPr lang="en-US" sz="2400" b="1" dirty="0">
                <a:solidFill>
                  <a:srgbClr val="FFFF00"/>
                </a:solidFill>
                <a:latin typeface="Century Schoolbook" panose="02040604050505020304" pitchFamily="18" charset="0"/>
                <a:ea typeface="Calibri" panose="020F0502020204030204" pitchFamily="34" charset="0"/>
                <a:cs typeface="Calibri" panose="020F0502020204030204" pitchFamily="34" charset="0"/>
              </a:rPr>
              <a:t>:</a:t>
            </a:r>
            <a:r>
              <a:rPr lang="en-US" sz="2400" b="1" dirty="0">
                <a:latin typeface="Century Schoolbook" panose="02040604050505020304" pitchFamily="18" charset="0"/>
                <a:ea typeface="Calibri" panose="020F0502020204030204" pitchFamily="34" charset="0"/>
                <a:cs typeface="Calibri" panose="020F0502020204030204" pitchFamily="34" charset="0"/>
              </a:rPr>
              <a:t> A software tester is responsible for finding bugs as early as possible and ensuring they are fixed.</a:t>
            </a:r>
          </a:p>
          <a:p>
            <a:pPr marL="514350" indent="-514350">
              <a:buAutoNum type="arabicPeriod"/>
            </a:pPr>
            <a:r>
              <a:rPr lang="en-US" sz="2400" b="1" u="sng" dirty="0">
                <a:solidFill>
                  <a:srgbClr val="FFFF00"/>
                </a:solidFill>
                <a:latin typeface="Century Schoolbook" panose="02040604050505020304" pitchFamily="18" charset="0"/>
                <a:ea typeface="Calibri" panose="020F0502020204030204" pitchFamily="34" charset="0"/>
                <a:cs typeface="Calibri" panose="020F0502020204030204" pitchFamily="34" charset="0"/>
              </a:rPr>
              <a:t>Methods of Testing </a:t>
            </a:r>
            <a:r>
              <a:rPr lang="en-US" sz="2400" b="1" dirty="0">
                <a:solidFill>
                  <a:srgbClr val="FFFF00"/>
                </a:solidFill>
                <a:latin typeface="Century Schoolbook" panose="02040604050505020304" pitchFamily="18" charset="0"/>
                <a:ea typeface="Calibri" panose="020F0502020204030204" pitchFamily="34" charset="0"/>
                <a:cs typeface="Calibri" panose="020F0502020204030204" pitchFamily="34" charset="0"/>
              </a:rPr>
              <a:t>: -</a:t>
            </a:r>
          </a:p>
          <a:p>
            <a:pPr marL="457200" indent="-457200">
              <a:buFont typeface="Arial" panose="020B0604020202020204" pitchFamily="34" charset="0"/>
              <a:buChar char="•"/>
            </a:pPr>
            <a:r>
              <a:rPr lang="en-US" sz="2400" b="1" dirty="0">
                <a:latin typeface="Century Schoolbook" panose="02040604050505020304" pitchFamily="18" charset="0"/>
                <a:ea typeface="Calibri" panose="020F0502020204030204" pitchFamily="34" charset="0"/>
                <a:cs typeface="Calibri" panose="020F0502020204030204" pitchFamily="34" charset="0"/>
              </a:rPr>
              <a:t>Manual Testing :</a:t>
            </a:r>
          </a:p>
          <a:p>
            <a:pPr marL="457200" indent="-457200">
              <a:buFont typeface="Arial" panose="020B0604020202020204" pitchFamily="34" charset="0"/>
              <a:buChar char="•"/>
            </a:pPr>
            <a:r>
              <a:rPr lang="en-US" sz="2400" b="1" dirty="0">
                <a:latin typeface="Century Schoolbook" panose="02040604050505020304" pitchFamily="18" charset="0"/>
                <a:ea typeface="Calibri" panose="020F0502020204030204" pitchFamily="34" charset="0"/>
                <a:cs typeface="Calibri" panose="020F0502020204030204" pitchFamily="34" charset="0"/>
              </a:rPr>
              <a:t>Automated Testing :</a:t>
            </a:r>
            <a:endParaRPr lang="en-IN" sz="2400" b="1" dirty="0">
              <a:latin typeface="Century Schoolbook" panose="02040604050505020304" pitchFamily="18"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1AF6A07-845B-0688-BBE9-ABEB8A907BD2}"/>
              </a:ext>
            </a:extLst>
          </p:cNvPr>
          <p:cNvSpPr txBox="1"/>
          <p:nvPr/>
        </p:nvSpPr>
        <p:spPr>
          <a:xfrm>
            <a:off x="2812648" y="3865447"/>
            <a:ext cx="6264796" cy="646331"/>
          </a:xfrm>
          <a:prstGeom prst="rect">
            <a:avLst/>
          </a:prstGeom>
          <a:noFill/>
        </p:spPr>
        <p:txBody>
          <a:bodyPr wrap="square">
            <a:spAutoFit/>
          </a:bodyPr>
          <a:lstStyle/>
          <a:p>
            <a:br>
              <a:rPr lang="en-US" dirty="0">
                <a:latin typeface="Bodoni MT Black" panose="02070A03080606020203" pitchFamily="18" charset="0"/>
              </a:rPr>
            </a:br>
            <a:endParaRPr lang="en-IN" dirty="0"/>
          </a:p>
        </p:txBody>
      </p:sp>
    </p:spTree>
    <p:extLst>
      <p:ext uri="{BB962C8B-B14F-4D97-AF65-F5344CB8AC3E}">
        <p14:creationId xmlns:p14="http://schemas.microsoft.com/office/powerpoint/2010/main" val="36761705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B09C8-D7FC-E830-2EC8-8627C6F19E93}"/>
              </a:ext>
            </a:extLst>
          </p:cNvPr>
          <p:cNvSpPr>
            <a:spLocks noGrp="1"/>
          </p:cNvSpPr>
          <p:nvPr>
            <p:ph type="title"/>
          </p:nvPr>
        </p:nvSpPr>
        <p:spPr>
          <a:xfrm>
            <a:off x="92598" y="81023"/>
            <a:ext cx="10131427" cy="902825"/>
          </a:xfrm>
        </p:spPr>
        <p:txBody>
          <a:bodyPr>
            <a:normAutofit/>
          </a:bodyPr>
          <a:lstStyle/>
          <a:p>
            <a:pPr marL="457200" indent="-457200">
              <a:buFont typeface="Wingdings" panose="05000000000000000000" pitchFamily="2" charset="2"/>
              <a:buChar char="v"/>
            </a:pPr>
            <a:r>
              <a:rPr lang="en-US" sz="3600" dirty="0">
                <a:latin typeface="Algerian" panose="04020705040A02060702" pitchFamily="82" charset="0"/>
              </a:rPr>
              <a:t> </a:t>
            </a:r>
            <a:r>
              <a:rPr lang="en-US" sz="3600" dirty="0">
                <a:solidFill>
                  <a:srgbClr val="FFFF00"/>
                </a:solidFill>
                <a:latin typeface="Algerian" panose="04020705040A02060702" pitchFamily="82" charset="0"/>
              </a:rPr>
              <a:t>What is quality ?</a:t>
            </a:r>
            <a:endParaRPr lang="en-IN" sz="36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EDF7EC86-52F0-8E68-3CFC-A34C939A1388}"/>
              </a:ext>
            </a:extLst>
          </p:cNvPr>
          <p:cNvSpPr>
            <a:spLocks noGrp="1"/>
          </p:cNvSpPr>
          <p:nvPr>
            <p:ph type="body" idx="1"/>
          </p:nvPr>
        </p:nvSpPr>
        <p:spPr>
          <a:xfrm>
            <a:off x="92598" y="810228"/>
            <a:ext cx="12192000" cy="5677382"/>
          </a:xfrm>
        </p:spPr>
        <p:txBody>
          <a:bodyPr>
            <a:normAutofit lnSpcReduction="10000"/>
          </a:bodyPr>
          <a:lstStyle/>
          <a:p>
            <a:r>
              <a:rPr lang="en-US" sz="2800" b="1" dirty="0">
                <a:latin typeface="Century Schoolbook" panose="02040604050505020304" pitchFamily="18" charset="0"/>
              </a:rPr>
              <a:t>1. Quality can be understood in several ways, all revolving around meeting needs and expectations.</a:t>
            </a:r>
          </a:p>
          <a:p>
            <a:r>
              <a:rPr lang="en-US" sz="2800" b="1" dirty="0">
                <a:latin typeface="Century Schoolbook" panose="02040604050505020304" pitchFamily="18" charset="0"/>
              </a:rPr>
              <a:t>2. </a:t>
            </a:r>
            <a:r>
              <a:rPr lang="en-US" sz="2800" b="1" u="sng" dirty="0">
                <a:solidFill>
                  <a:srgbClr val="FFFF00"/>
                </a:solidFill>
                <a:latin typeface="Century Schoolbook" panose="02040604050505020304" pitchFamily="18" charset="0"/>
              </a:rPr>
              <a:t>Meeting Customer Needs</a:t>
            </a:r>
            <a:r>
              <a:rPr lang="en-US" sz="2800" b="1" dirty="0">
                <a:solidFill>
                  <a:srgbClr val="FFFF00"/>
                </a:solidFill>
                <a:latin typeface="Century Schoolbook" panose="02040604050505020304" pitchFamily="18" charset="0"/>
              </a:rPr>
              <a:t> :</a:t>
            </a:r>
            <a:r>
              <a:rPr lang="en-US" sz="2800" b="1" dirty="0">
                <a:latin typeface="Century Schoolbook" panose="02040604050505020304" pitchFamily="18" charset="0"/>
              </a:rPr>
              <a:t> Quality is fundamentally about satisfying the needs and expectations of customers, considering aspects like functionality, design, reliability, durability, and price of a product or service.</a:t>
            </a:r>
          </a:p>
          <a:p>
            <a:r>
              <a:rPr lang="en-US" sz="2800" b="1" dirty="0">
                <a:latin typeface="Century Schoolbook" panose="02040604050505020304" pitchFamily="18" charset="0"/>
              </a:rPr>
              <a:t>3. </a:t>
            </a:r>
            <a:r>
              <a:rPr lang="en-US" sz="2800" b="1" u="sng" dirty="0">
                <a:solidFill>
                  <a:srgbClr val="FFFF00"/>
                </a:solidFill>
                <a:latin typeface="Century Schoolbook" panose="02040604050505020304" pitchFamily="18" charset="0"/>
              </a:rPr>
              <a:t>Client Satisfaction </a:t>
            </a:r>
            <a:r>
              <a:rPr lang="en-US" sz="2800" b="1" dirty="0">
                <a:solidFill>
                  <a:srgbClr val="FFFF00"/>
                </a:solidFill>
                <a:latin typeface="Century Schoolbook" panose="02040604050505020304" pitchFamily="18" charset="0"/>
              </a:rPr>
              <a:t>: </a:t>
            </a:r>
            <a:r>
              <a:rPr lang="en-US" sz="2800" b="1" dirty="0">
                <a:latin typeface="Century Schoolbook" panose="02040604050505020304" pitchFamily="18" charset="0"/>
              </a:rPr>
              <a:t>It is the ability of a product or service to fulfill the needs and expectations of the client.</a:t>
            </a:r>
          </a:p>
          <a:p>
            <a:r>
              <a:rPr lang="en-US" sz="2800" b="1" dirty="0">
                <a:latin typeface="Century Schoolbook" panose="02040604050505020304" pitchFamily="18" charset="0"/>
              </a:rPr>
              <a:t>4. </a:t>
            </a:r>
            <a:r>
              <a:rPr lang="en-US" sz="2800" b="1" u="sng" dirty="0">
                <a:solidFill>
                  <a:srgbClr val="FFFF00"/>
                </a:solidFill>
                <a:latin typeface="Century Schoolbook" panose="02040604050505020304" pitchFamily="18" charset="0"/>
              </a:rPr>
              <a:t>Degree of Excellence</a:t>
            </a:r>
            <a:r>
              <a:rPr lang="en-US" sz="2800" b="1" dirty="0">
                <a:solidFill>
                  <a:srgbClr val="FFFF00"/>
                </a:solidFill>
                <a:latin typeface="Century Schoolbook" panose="02040604050505020304" pitchFamily="18" charset="0"/>
              </a:rPr>
              <a:t> :</a:t>
            </a:r>
            <a:r>
              <a:rPr lang="en-US" sz="2800" b="1" dirty="0">
                <a:latin typeface="Century Schoolbook" panose="02040604050505020304" pitchFamily="18" charset="0"/>
              </a:rPr>
              <a:t> Quality can be concisely defined as "a degree of excellence.“</a:t>
            </a:r>
          </a:p>
          <a:p>
            <a:r>
              <a:rPr lang="en-US" sz="2800" b="1" dirty="0">
                <a:latin typeface="Century Schoolbook" panose="02040604050505020304" pitchFamily="18" charset="0"/>
              </a:rPr>
              <a:t>5. </a:t>
            </a:r>
            <a:r>
              <a:rPr lang="en-US" sz="2800" b="1" u="sng" dirty="0">
                <a:solidFill>
                  <a:srgbClr val="FFFF00"/>
                </a:solidFill>
                <a:latin typeface="Century Schoolbook" panose="02040604050505020304" pitchFamily="18" charset="0"/>
              </a:rPr>
              <a:t>Conformance to Requirements </a:t>
            </a:r>
            <a:r>
              <a:rPr lang="en-US" sz="2800" b="1" dirty="0">
                <a:solidFill>
                  <a:srgbClr val="FFFF00"/>
                </a:solidFill>
                <a:latin typeface="Century Schoolbook" panose="02040604050505020304" pitchFamily="18" charset="0"/>
              </a:rPr>
              <a:t>:</a:t>
            </a:r>
            <a:r>
              <a:rPr lang="en-US" sz="2800" b="1" dirty="0">
                <a:latin typeface="Century Schoolbook" panose="02040604050505020304" pitchFamily="18" charset="0"/>
              </a:rPr>
              <a:t> In the context of software, high-quality software typically conforms to the user's requirements.</a:t>
            </a:r>
            <a:endParaRPr lang="en-IN" sz="2800" b="1" dirty="0">
              <a:latin typeface="Century Schoolbook" panose="02040604050505020304" pitchFamily="18" charset="0"/>
            </a:endParaRPr>
          </a:p>
        </p:txBody>
      </p:sp>
    </p:spTree>
    <p:extLst>
      <p:ext uri="{BB962C8B-B14F-4D97-AF65-F5344CB8AC3E}">
        <p14:creationId xmlns:p14="http://schemas.microsoft.com/office/powerpoint/2010/main" val="2073748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76B49-D7F4-E9E4-A0E3-F90807188503}"/>
              </a:ext>
            </a:extLst>
          </p:cNvPr>
          <p:cNvSpPr>
            <a:spLocks noGrp="1"/>
          </p:cNvSpPr>
          <p:nvPr>
            <p:ph type="title"/>
          </p:nvPr>
        </p:nvSpPr>
        <p:spPr>
          <a:xfrm>
            <a:off x="141791" y="135040"/>
            <a:ext cx="10131427" cy="825660"/>
          </a:xfrm>
        </p:spPr>
        <p:txBody>
          <a:bodyPr>
            <a:normAutofit/>
          </a:bodyPr>
          <a:lstStyle/>
          <a:p>
            <a:pPr marL="457200" indent="-457200">
              <a:buFont typeface="Wingdings" panose="05000000000000000000" pitchFamily="2" charset="2"/>
              <a:buChar char="v"/>
            </a:pPr>
            <a:r>
              <a:rPr lang="en-US" sz="4400" u="sng" dirty="0">
                <a:solidFill>
                  <a:srgbClr val="FFFF00"/>
                </a:solidFill>
                <a:latin typeface="Algerian" panose="04020705040A02060702" pitchFamily="82" charset="0"/>
              </a:rPr>
              <a:t>Software quality </a:t>
            </a:r>
            <a:r>
              <a:rPr lang="en-US" sz="4400" dirty="0">
                <a:solidFill>
                  <a:srgbClr val="FFFF00"/>
                </a:solidFill>
                <a:latin typeface="Algerian" panose="04020705040A02060702" pitchFamily="82" charset="0"/>
              </a:rPr>
              <a:t>:-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21604A8E-E631-0BB3-EDFD-EEC57D822688}"/>
              </a:ext>
            </a:extLst>
          </p:cNvPr>
          <p:cNvSpPr>
            <a:spLocks noGrp="1"/>
          </p:cNvSpPr>
          <p:nvPr>
            <p:ph type="body" idx="1"/>
          </p:nvPr>
        </p:nvSpPr>
        <p:spPr>
          <a:xfrm>
            <a:off x="141790" y="694481"/>
            <a:ext cx="11908419" cy="5735256"/>
          </a:xfrm>
        </p:spPr>
        <p:txBody>
          <a:bodyPr>
            <a:normAutofit/>
          </a:bodyPr>
          <a:lstStyle/>
          <a:p>
            <a:r>
              <a:rPr lang="en-US" sz="2800" b="1" dirty="0">
                <a:latin typeface="Century Schoolbook" panose="02040604050505020304" pitchFamily="18" charset="0"/>
              </a:rPr>
              <a:t>1. Software quality measures how well software is designed and how well it conforms to that design.</a:t>
            </a:r>
          </a:p>
          <a:p>
            <a:r>
              <a:rPr lang="en-US" sz="2800" b="1" dirty="0">
                <a:latin typeface="Century Schoolbook" panose="02040604050505020304" pitchFamily="18" charset="0"/>
              </a:rPr>
              <a:t>2. It also encompasses various non-functional aspects crucial for a reliable and efficient system.</a:t>
            </a:r>
          </a:p>
          <a:p>
            <a:pPr marL="457200" indent="-457200">
              <a:buFont typeface="Wingdings" panose="05000000000000000000" pitchFamily="2" charset="2"/>
              <a:buChar char="Ø"/>
            </a:pPr>
            <a:r>
              <a:rPr lang="en-US" sz="2800" b="1" u="sng" dirty="0">
                <a:solidFill>
                  <a:srgbClr val="FFFF00"/>
                </a:solidFill>
                <a:latin typeface="Century Schoolbook" panose="02040604050505020304" pitchFamily="18" charset="0"/>
              </a:rPr>
              <a:t>Definition</a:t>
            </a:r>
            <a:r>
              <a:rPr lang="en-US" sz="2800" b="1" dirty="0">
                <a:solidFill>
                  <a:srgbClr val="FFFF00"/>
                </a:solidFill>
                <a:latin typeface="Century Schoolbook" panose="02040604050505020304" pitchFamily="18" charset="0"/>
              </a:rPr>
              <a:t> </a:t>
            </a:r>
            <a:r>
              <a:rPr lang="en-US" sz="2600" b="1" dirty="0">
                <a:solidFill>
                  <a:srgbClr val="FFFF00"/>
                </a:solidFill>
                <a:latin typeface="Century Schoolbook" panose="02040604050505020304" pitchFamily="18" charset="0"/>
              </a:rPr>
              <a:t>: </a:t>
            </a:r>
            <a:r>
              <a:rPr lang="en-US" sz="2600" b="1" dirty="0">
                <a:latin typeface="Century Schoolbook" panose="02040604050505020304" pitchFamily="18" charset="0"/>
              </a:rPr>
              <a:t>Software quality is assessed by two main factors : </a:t>
            </a:r>
          </a:p>
          <a:p>
            <a:pPr marL="342900" indent="-342900">
              <a:buFont typeface="Wingdings" panose="05000000000000000000" pitchFamily="2" charset="2"/>
              <a:buChar char="§"/>
            </a:pPr>
            <a:r>
              <a:rPr lang="en-US" sz="2800" b="1" u="sng" dirty="0">
                <a:solidFill>
                  <a:srgbClr val="FFFF00"/>
                </a:solidFill>
                <a:latin typeface="Century Schoolbook" panose="02040604050505020304" pitchFamily="18" charset="0"/>
              </a:rPr>
              <a:t>Quality of Design</a:t>
            </a:r>
            <a:r>
              <a:rPr lang="en-US" sz="2800" b="1" dirty="0">
                <a:solidFill>
                  <a:srgbClr val="FFFF00"/>
                </a:solidFill>
                <a:latin typeface="Century Schoolbook" panose="02040604050505020304" pitchFamily="18" charset="0"/>
              </a:rPr>
              <a:t> : </a:t>
            </a:r>
            <a:r>
              <a:rPr lang="en-US" sz="2800" b="1" dirty="0">
                <a:latin typeface="Century Schoolbook" panose="02040604050505020304" pitchFamily="18" charset="0"/>
              </a:rPr>
              <a:t>This refers to how well the software is initially conceptualized and structured to meet its intended purpose.</a:t>
            </a:r>
          </a:p>
          <a:p>
            <a:pPr marL="342900" indent="-342900">
              <a:buFont typeface="Wingdings" panose="05000000000000000000" pitchFamily="2" charset="2"/>
              <a:buChar char="§"/>
            </a:pPr>
            <a:r>
              <a:rPr lang="en-US" sz="2800" b="1" u="sng" dirty="0">
                <a:solidFill>
                  <a:srgbClr val="FFFF00"/>
                </a:solidFill>
                <a:latin typeface="Century Schoolbook" panose="02040604050505020304" pitchFamily="18" charset="0"/>
              </a:rPr>
              <a:t>Quality of Conformance </a:t>
            </a:r>
            <a:r>
              <a:rPr lang="en-US" sz="2800" b="1" dirty="0">
                <a:solidFill>
                  <a:srgbClr val="FFFF00"/>
                </a:solidFill>
                <a:latin typeface="Century Schoolbook" panose="02040604050505020304" pitchFamily="18" charset="0"/>
              </a:rPr>
              <a:t>: </a:t>
            </a:r>
            <a:r>
              <a:rPr lang="en-US" sz="2800" b="1" dirty="0">
                <a:latin typeface="Century Schoolbook" panose="02040604050505020304" pitchFamily="18" charset="0"/>
              </a:rPr>
              <a:t>This measures how accurately the developed software adheres to the established design specifications.</a:t>
            </a:r>
            <a:endParaRPr lang="en-IN" sz="2800" b="1" dirty="0">
              <a:latin typeface="Century Schoolbook" panose="02040604050505020304" pitchFamily="18" charset="0"/>
            </a:endParaRPr>
          </a:p>
        </p:txBody>
      </p:sp>
    </p:spTree>
    <p:extLst>
      <p:ext uri="{BB962C8B-B14F-4D97-AF65-F5344CB8AC3E}">
        <p14:creationId xmlns:p14="http://schemas.microsoft.com/office/powerpoint/2010/main" val="4248027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F4825-2B50-232E-F5C8-8EA3F6FF9499}"/>
              </a:ext>
            </a:extLst>
          </p:cNvPr>
          <p:cNvSpPr>
            <a:spLocks noGrp="1"/>
          </p:cNvSpPr>
          <p:nvPr>
            <p:ph type="title"/>
          </p:nvPr>
        </p:nvSpPr>
        <p:spPr>
          <a:xfrm>
            <a:off x="280687" y="304801"/>
            <a:ext cx="10131427" cy="761999"/>
          </a:xfrm>
        </p:spPr>
        <p:txBody>
          <a:bodyPr>
            <a:normAutofit fontScale="90000"/>
          </a:bodyPr>
          <a:lstStyle/>
          <a:p>
            <a:pPr marL="571500" indent="-571500">
              <a:buFont typeface="Wingdings" panose="05000000000000000000" pitchFamily="2" charset="2"/>
              <a:buChar char="v"/>
            </a:pPr>
            <a:r>
              <a:rPr lang="en-US" sz="4400" u="sng" dirty="0">
                <a:solidFill>
                  <a:srgbClr val="FFFF00"/>
                </a:solidFill>
                <a:latin typeface="Algerian" panose="04020705040A02060702" pitchFamily="82" charset="0"/>
              </a:rPr>
              <a:t>role of testing</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AE040CE4-04A1-9682-7526-510131257030}"/>
              </a:ext>
            </a:extLst>
          </p:cNvPr>
          <p:cNvSpPr>
            <a:spLocks noGrp="1"/>
          </p:cNvSpPr>
          <p:nvPr>
            <p:ph type="body" idx="1"/>
          </p:nvPr>
        </p:nvSpPr>
        <p:spPr>
          <a:xfrm>
            <a:off x="200145" y="1806187"/>
            <a:ext cx="11791709" cy="2494343"/>
          </a:xfrm>
        </p:spPr>
        <p:txBody>
          <a:bodyPr>
            <a:normAutofit fontScale="25000" lnSpcReduction="20000"/>
          </a:bodyPr>
          <a:lstStyle/>
          <a:p>
            <a:pPr marL="457200" indent="-457200">
              <a:buFont typeface="Wingdings" panose="05000000000000000000" pitchFamily="2" charset="2"/>
              <a:buChar char="Ø"/>
            </a:pPr>
            <a:endParaRPr lang="en-US" sz="2800" dirty="0">
              <a:latin typeface="Bodoni MT Black" panose="02070A03080606020203" pitchFamily="18" charset="0"/>
            </a:endParaRPr>
          </a:p>
          <a:p>
            <a:pPr marL="457200" indent="-457200">
              <a:buFont typeface="Wingdings" panose="05000000000000000000" pitchFamily="2" charset="2"/>
              <a:buChar char="Ø"/>
            </a:pPr>
            <a:endParaRPr lang="en-US" sz="2800" dirty="0">
              <a:latin typeface="Bodoni MT Black" panose="02070A03080606020203" pitchFamily="18" charset="0"/>
            </a:endParaRPr>
          </a:p>
          <a:p>
            <a:pPr marL="457200" indent="-457200">
              <a:buFont typeface="Wingdings" panose="05000000000000000000" pitchFamily="2" charset="2"/>
              <a:buChar char="Ø"/>
            </a:pPr>
            <a:r>
              <a:rPr lang="en-US" sz="11200" b="1" u="sng" dirty="0">
                <a:solidFill>
                  <a:srgbClr val="FFFF00"/>
                </a:solidFill>
                <a:latin typeface="Century Schoolbook" panose="02040604050505020304" pitchFamily="18" charset="0"/>
              </a:rPr>
              <a:t>COST EFFECTIVE </a:t>
            </a:r>
            <a:r>
              <a:rPr lang="en-US" sz="11200" b="1" dirty="0">
                <a:solidFill>
                  <a:srgbClr val="FFFF00"/>
                </a:solidFill>
                <a:latin typeface="Century Schoolbook" panose="02040604050505020304" pitchFamily="18" charset="0"/>
              </a:rPr>
              <a:t>: </a:t>
            </a:r>
            <a:r>
              <a:rPr lang="en-US" sz="11200" b="1" dirty="0">
                <a:latin typeface="Century Schoolbook" panose="02040604050505020304" pitchFamily="18" charset="0"/>
              </a:rPr>
              <a:t>Testing ant IT project on-time helps you to save your money for long term. In case, if the bug </a:t>
            </a:r>
            <a:r>
              <a:rPr lang="en-US" sz="11200" b="1" dirty="0" err="1">
                <a:latin typeface="Century Schoolbook" panose="02040604050505020304" pitchFamily="18" charset="0"/>
              </a:rPr>
              <a:t>cought</a:t>
            </a:r>
            <a:r>
              <a:rPr lang="en-US" sz="11200" b="1" dirty="0">
                <a:latin typeface="Century Schoolbook" panose="02040604050505020304" pitchFamily="18" charset="0"/>
              </a:rPr>
              <a:t> in the earlier stage of testing, it cost less to fix.</a:t>
            </a:r>
          </a:p>
          <a:p>
            <a:pPr marL="457200" indent="-457200">
              <a:buFont typeface="Wingdings" panose="05000000000000000000" pitchFamily="2" charset="2"/>
              <a:buChar char="Ø"/>
            </a:pPr>
            <a:r>
              <a:rPr lang="en-US" sz="11200" b="1" u="sng" dirty="0">
                <a:solidFill>
                  <a:srgbClr val="FFFF00"/>
                </a:solidFill>
                <a:latin typeface="Century Schoolbook" panose="02040604050505020304" pitchFamily="18" charset="0"/>
              </a:rPr>
              <a:t>SECURITY</a:t>
            </a:r>
            <a:r>
              <a:rPr lang="en-US" sz="11200" b="1" dirty="0">
                <a:solidFill>
                  <a:srgbClr val="FFFF00"/>
                </a:solidFill>
                <a:latin typeface="Century Schoolbook" panose="02040604050505020304" pitchFamily="18" charset="0"/>
              </a:rPr>
              <a:t> :</a:t>
            </a:r>
            <a:r>
              <a:rPr lang="en-US" sz="11200" b="1" dirty="0">
                <a:latin typeface="Century Schoolbook" panose="02040604050505020304" pitchFamily="18" charset="0"/>
              </a:rPr>
              <a:t> It is the most </a:t>
            </a:r>
            <a:r>
              <a:rPr lang="en-US" sz="11200" b="1" dirty="0" err="1">
                <a:latin typeface="Century Schoolbook" panose="02040604050505020304" pitchFamily="18" charset="0"/>
              </a:rPr>
              <a:t>vuherable</a:t>
            </a:r>
            <a:r>
              <a:rPr lang="en-US" sz="11200" b="1" dirty="0">
                <a:latin typeface="Century Schoolbook" panose="02040604050505020304" pitchFamily="18" charset="0"/>
              </a:rPr>
              <a:t> and sensitive benefit of software testing. It helps in removing risks and problems earlier.</a:t>
            </a:r>
          </a:p>
          <a:p>
            <a:pPr marL="457200" indent="-457200">
              <a:buFont typeface="Wingdings" panose="05000000000000000000" pitchFamily="2" charset="2"/>
              <a:buChar char="Ø"/>
            </a:pPr>
            <a:r>
              <a:rPr lang="en-US" sz="11200" b="1" u="sng" dirty="0">
                <a:solidFill>
                  <a:srgbClr val="FFFF00"/>
                </a:solidFill>
                <a:latin typeface="Century Schoolbook" panose="02040604050505020304" pitchFamily="18" charset="0"/>
              </a:rPr>
              <a:t>PRODUCT QUALITY</a:t>
            </a:r>
            <a:r>
              <a:rPr lang="en-US" sz="11200" b="1" dirty="0">
                <a:solidFill>
                  <a:srgbClr val="FFFF00"/>
                </a:solidFill>
                <a:latin typeface="Century Schoolbook" panose="02040604050505020304" pitchFamily="18" charset="0"/>
              </a:rPr>
              <a:t> :</a:t>
            </a:r>
            <a:r>
              <a:rPr lang="en-US" sz="11200" b="1" dirty="0">
                <a:latin typeface="Century Schoolbook" panose="02040604050505020304" pitchFamily="18" charset="0"/>
              </a:rPr>
              <a:t> Testing ensures a quality product is delivered to customers.</a:t>
            </a:r>
          </a:p>
          <a:p>
            <a:pPr marL="457200" indent="-457200">
              <a:buFont typeface="Wingdings" panose="05000000000000000000" pitchFamily="2" charset="2"/>
              <a:buChar char="Ø"/>
            </a:pPr>
            <a:r>
              <a:rPr lang="en-US" sz="11200" b="1" u="sng" dirty="0">
                <a:solidFill>
                  <a:srgbClr val="FFFF00"/>
                </a:solidFill>
                <a:latin typeface="Century Schoolbook" panose="02040604050505020304" pitchFamily="18" charset="0"/>
              </a:rPr>
              <a:t>CUSTOMER SATISFACTION</a:t>
            </a:r>
            <a:r>
              <a:rPr lang="en-US" sz="11200" b="1" dirty="0">
                <a:solidFill>
                  <a:srgbClr val="FFFF00"/>
                </a:solidFill>
                <a:latin typeface="Century Schoolbook" panose="02040604050505020304" pitchFamily="18" charset="0"/>
              </a:rPr>
              <a:t> :</a:t>
            </a:r>
            <a:r>
              <a:rPr lang="en-US" sz="11200" b="1" dirty="0">
                <a:latin typeface="Century Schoolbook" panose="02040604050505020304" pitchFamily="18" charset="0"/>
              </a:rPr>
              <a:t> The main aim of any product is to give satisfaction to their customers. UI/UX testing ensures the best user experience.</a:t>
            </a:r>
          </a:p>
        </p:txBody>
      </p:sp>
    </p:spTree>
    <p:extLst>
      <p:ext uri="{BB962C8B-B14F-4D97-AF65-F5344CB8AC3E}">
        <p14:creationId xmlns:p14="http://schemas.microsoft.com/office/powerpoint/2010/main" val="4146909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6226C-B8B8-83D5-39A7-284A38D1EE7E}"/>
              </a:ext>
            </a:extLst>
          </p:cNvPr>
          <p:cNvSpPr>
            <a:spLocks noGrp="1"/>
          </p:cNvSpPr>
          <p:nvPr>
            <p:ph type="title"/>
          </p:nvPr>
        </p:nvSpPr>
        <p:spPr>
          <a:xfrm>
            <a:off x="508821" y="137652"/>
            <a:ext cx="10131427" cy="521111"/>
          </a:xfrm>
        </p:spPr>
        <p:txBody>
          <a:bodyPr>
            <a:normAutofit fontScale="90000"/>
          </a:bodyPr>
          <a:lstStyle/>
          <a:p>
            <a:pPr marL="457200" indent="-457200">
              <a:buFont typeface="Wingdings" panose="05000000000000000000" pitchFamily="2" charset="2"/>
              <a:buChar char="v"/>
            </a:pPr>
            <a:r>
              <a:rPr lang="en-US" u="sng" dirty="0">
                <a:solidFill>
                  <a:srgbClr val="FFFF00"/>
                </a:solidFill>
                <a:latin typeface="Algerian" panose="04020705040A02060702" pitchFamily="82" charset="0"/>
              </a:rPr>
              <a:t>terminologies in software testing : </a:t>
            </a:r>
            <a:r>
              <a:rPr lang="en-US" b="1" u="sng" dirty="0">
                <a:solidFill>
                  <a:srgbClr val="FFFF00"/>
                </a:solidFill>
                <a:latin typeface="Algerian" panose="04020705040A02060702" pitchFamily="82" charset="0"/>
              </a:rPr>
              <a:t>-</a:t>
            </a:r>
            <a:endParaRPr lang="en-IN" b="1" u="sng"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C0075B85-A748-60C9-5106-DD7AEE9D8BEF}"/>
              </a:ext>
            </a:extLst>
          </p:cNvPr>
          <p:cNvSpPr>
            <a:spLocks noGrp="1"/>
          </p:cNvSpPr>
          <p:nvPr>
            <p:ph type="body" idx="1"/>
          </p:nvPr>
        </p:nvSpPr>
        <p:spPr>
          <a:xfrm>
            <a:off x="117987" y="946847"/>
            <a:ext cx="11956026" cy="5230761"/>
          </a:xfrm>
        </p:spPr>
        <p:txBody>
          <a:bodyPr>
            <a:noAutofit/>
          </a:bodyPr>
          <a:lstStyle/>
          <a:p>
            <a:pPr marL="342900" indent="-342900">
              <a:buFont typeface="Wingdings" panose="05000000000000000000" pitchFamily="2" charset="2"/>
              <a:buChar char="Ø"/>
            </a:pPr>
            <a:r>
              <a:rPr lang="en-US" b="1" u="sng" dirty="0">
                <a:solidFill>
                  <a:srgbClr val="FFFF00"/>
                </a:solidFill>
                <a:latin typeface="Century Schoolbook" panose="02040604050505020304" pitchFamily="18" charset="0"/>
              </a:rPr>
              <a:t>DEFECT</a:t>
            </a:r>
            <a:r>
              <a:rPr lang="en-US" b="1" dirty="0">
                <a:latin typeface="Century Schoolbook" panose="02040604050505020304" pitchFamily="18" charset="0"/>
              </a:rPr>
              <a:t> : A defect is the difference between the expected and actual results, representing a deviation from customer requirements. Defects are typically found after the application is in production and are identified by testers and resolved during the development phase of the SDLC (Software Development Life Cycle).</a:t>
            </a:r>
          </a:p>
          <a:p>
            <a:pPr marL="342900" indent="-342900">
              <a:buFont typeface="Wingdings" panose="05000000000000000000" pitchFamily="2" charset="2"/>
              <a:buChar char="Ø"/>
            </a:pPr>
            <a:r>
              <a:rPr lang="en-US" b="1" u="sng" dirty="0">
                <a:solidFill>
                  <a:srgbClr val="FFFF00"/>
                </a:solidFill>
                <a:latin typeface="Century Schoolbook" panose="02040604050505020304" pitchFamily="18" charset="0"/>
              </a:rPr>
              <a:t>FAILURE</a:t>
            </a:r>
            <a:r>
              <a:rPr lang="en-US" b="1" dirty="0">
                <a:latin typeface="Century Schoolbook" panose="02040604050505020304" pitchFamily="18" charset="0"/>
              </a:rPr>
              <a:t> : Failure is the accumulation of multiple defects that ultimately lead to a software failure and a loss of information. Failures are detected by end-users when they encounter a specific issue in the software.</a:t>
            </a:r>
          </a:p>
          <a:p>
            <a:pPr marL="342900" indent="-342900">
              <a:buFont typeface="Wingdings" panose="05000000000000000000" pitchFamily="2" charset="2"/>
              <a:buChar char="Ø"/>
            </a:pPr>
            <a:r>
              <a:rPr lang="en-US" b="1" u="sng" dirty="0">
                <a:solidFill>
                  <a:srgbClr val="FFFF00"/>
                </a:solidFill>
                <a:latin typeface="Century Schoolbook" panose="02040604050505020304" pitchFamily="18" charset="0"/>
              </a:rPr>
              <a:t>ERROR</a:t>
            </a:r>
            <a:r>
              <a:rPr lang="en-US" b="1" dirty="0">
                <a:latin typeface="Century Schoolbook" panose="02040604050505020304" pitchFamily="18" charset="0"/>
              </a:rPr>
              <a:t> : An error is a mistake made in the code that prevents the code from executing or compiling. Errors can be syntactic, UI-related, calculation-related, or even hardware-related.</a:t>
            </a:r>
          </a:p>
          <a:p>
            <a:pPr marL="342900" indent="-342900">
              <a:buFont typeface="Wingdings" panose="05000000000000000000" pitchFamily="2" charset="2"/>
              <a:buChar char="Ø"/>
            </a:pPr>
            <a:r>
              <a:rPr lang="en-US" b="1" u="sng" dirty="0">
                <a:solidFill>
                  <a:srgbClr val="FFFF00"/>
                </a:solidFill>
                <a:latin typeface="Century Schoolbook" panose="02040604050505020304" pitchFamily="18" charset="0"/>
              </a:rPr>
              <a:t>FAULT</a:t>
            </a:r>
            <a:r>
              <a:rPr lang="en-US" b="1" dirty="0">
                <a:latin typeface="Century Schoolbook" panose="02040604050505020304" pitchFamily="18" charset="0"/>
              </a:rPr>
              <a:t> : A fault is a state that causes the software to fail in accomplishing its essential function. It is an anomaly in the software that may lead to incorrect behavior. Faults can be functional, logical, or security-related.</a:t>
            </a:r>
          </a:p>
          <a:p>
            <a:pPr marL="342900" indent="-342900">
              <a:buFont typeface="Wingdings" panose="05000000000000000000" pitchFamily="2" charset="2"/>
              <a:buChar char="Ø"/>
            </a:pPr>
            <a:r>
              <a:rPr lang="en-US" b="1" u="sng" dirty="0">
                <a:solidFill>
                  <a:srgbClr val="FFFF00"/>
                </a:solidFill>
                <a:latin typeface="Century Schoolbook" panose="02040604050505020304" pitchFamily="18" charset="0"/>
              </a:rPr>
              <a:t>BUG</a:t>
            </a:r>
            <a:r>
              <a:rPr lang="en-US" b="1" dirty="0">
                <a:latin typeface="Century Schoolbook" panose="02040604050505020304" pitchFamily="18" charset="0"/>
              </a:rPr>
              <a:t> : A bug is an informal name for a defect. While a defect is an imperfection in the software, a bug is a manifestation of that defect when the code is written incorrectly (e.g., missing code, wrong code, or extra code). The most common type of bug is a mistake</a:t>
            </a:r>
            <a:r>
              <a:rPr lang="en-US" dirty="0">
                <a:latin typeface="Century Schoolbook" panose="02040604050505020304" pitchFamily="18" charset="0"/>
              </a:rPr>
              <a:t>.</a:t>
            </a:r>
            <a:endParaRPr lang="en-IN" dirty="0">
              <a:latin typeface="Century Schoolbook" panose="02040604050505020304" pitchFamily="18" charset="0"/>
            </a:endParaRPr>
          </a:p>
        </p:txBody>
      </p:sp>
    </p:spTree>
    <p:extLst>
      <p:ext uri="{BB962C8B-B14F-4D97-AF65-F5344CB8AC3E}">
        <p14:creationId xmlns:p14="http://schemas.microsoft.com/office/powerpoint/2010/main" val="2204108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5740E-BB5E-CC78-9C52-20FDE1BA5FD1}"/>
              </a:ext>
            </a:extLst>
          </p:cNvPr>
          <p:cNvSpPr>
            <a:spLocks noGrp="1"/>
          </p:cNvSpPr>
          <p:nvPr>
            <p:ph type="title"/>
          </p:nvPr>
        </p:nvSpPr>
        <p:spPr>
          <a:xfrm>
            <a:off x="121920" y="203200"/>
            <a:ext cx="10131427" cy="594359"/>
          </a:xfrm>
        </p:spPr>
        <p:txBody>
          <a:bodyPr>
            <a:noAutofit/>
          </a:bodyPr>
          <a:lstStyle/>
          <a:p>
            <a:pPr marL="571500" indent="-571500">
              <a:buFont typeface="Wingdings" panose="05000000000000000000" pitchFamily="2" charset="2"/>
              <a:buChar char="v"/>
            </a:pPr>
            <a:r>
              <a:rPr lang="en-US" sz="4000" u="sng" dirty="0">
                <a:solidFill>
                  <a:srgbClr val="FFFF00"/>
                </a:solidFill>
                <a:latin typeface="Algerian" panose="04020705040A02060702" pitchFamily="82" charset="0"/>
              </a:rPr>
              <a:t>OBJECTIVES OF TESTING : -</a:t>
            </a:r>
            <a:endParaRPr lang="en-IN" sz="4000" dirty="0">
              <a:latin typeface="Algerian" panose="04020705040A02060702" pitchFamily="82" charset="0"/>
            </a:endParaRPr>
          </a:p>
        </p:txBody>
      </p:sp>
      <p:sp>
        <p:nvSpPr>
          <p:cNvPr id="3" name="Text Placeholder 2">
            <a:extLst>
              <a:ext uri="{FF2B5EF4-FFF2-40B4-BE49-F238E27FC236}">
                <a16:creationId xmlns:a16="http://schemas.microsoft.com/office/drawing/2014/main" id="{C32A51A3-4452-B487-3060-0D71FADF6DD1}"/>
              </a:ext>
            </a:extLst>
          </p:cNvPr>
          <p:cNvSpPr>
            <a:spLocks noGrp="1"/>
          </p:cNvSpPr>
          <p:nvPr>
            <p:ph type="body" idx="1"/>
          </p:nvPr>
        </p:nvSpPr>
        <p:spPr>
          <a:xfrm>
            <a:off x="142240" y="721360"/>
            <a:ext cx="11927840" cy="5679440"/>
          </a:xfrm>
        </p:spPr>
        <p:txBody>
          <a:bodyPr>
            <a:normAutofit/>
          </a:bodyPr>
          <a:lstStyle/>
          <a:p>
            <a:r>
              <a:rPr lang="en-US" sz="2400" b="1" dirty="0">
                <a:latin typeface="Century Schoolbook" panose="02040604050505020304" pitchFamily="18" charset="0"/>
              </a:rPr>
              <a:t>1. Executing a program with the intent of finding an error.</a:t>
            </a:r>
          </a:p>
          <a:p>
            <a:r>
              <a:rPr lang="en-US" sz="2400" b="1" dirty="0">
                <a:latin typeface="Century Schoolbook" panose="02040604050505020304" pitchFamily="18" charset="0"/>
              </a:rPr>
              <a:t>2. To prevent the founded error.</a:t>
            </a:r>
          </a:p>
          <a:p>
            <a:r>
              <a:rPr lang="en-US" sz="2400" b="1" dirty="0">
                <a:latin typeface="Century Schoolbook" panose="02040604050505020304" pitchFamily="18" charset="0"/>
              </a:rPr>
              <a:t>3. To check if the system meets the requirements of the users.</a:t>
            </a:r>
          </a:p>
          <a:p>
            <a:r>
              <a:rPr lang="en-US" sz="2400" b="1" dirty="0">
                <a:latin typeface="Century Schoolbook" panose="02040604050505020304" pitchFamily="18" charset="0"/>
              </a:rPr>
              <a:t>4. To check if the system does what it is expected to do.</a:t>
            </a:r>
          </a:p>
          <a:p>
            <a:r>
              <a:rPr lang="en-US" sz="2400" b="1" dirty="0">
                <a:latin typeface="Century Schoolbook" panose="02040604050505020304" pitchFamily="18" charset="0"/>
              </a:rPr>
              <a:t>5. Ensures quality of the product.</a:t>
            </a:r>
          </a:p>
          <a:p>
            <a:r>
              <a:rPr lang="en-US" sz="2400" b="1" dirty="0">
                <a:latin typeface="Century Schoolbook" panose="02040604050505020304" pitchFamily="18" charset="0"/>
              </a:rPr>
              <a:t>6. To evaluate software </a:t>
            </a:r>
            <a:r>
              <a:rPr lang="en-US" sz="2400" b="1" dirty="0" err="1">
                <a:latin typeface="Century Schoolbook" panose="02040604050505020304" pitchFamily="18" charset="0"/>
              </a:rPr>
              <a:t>perfoemance</a:t>
            </a:r>
            <a:r>
              <a:rPr lang="en-US" sz="2400" b="1" dirty="0">
                <a:latin typeface="Century Schoolbook" panose="02040604050505020304" pitchFamily="18" charset="0"/>
              </a:rPr>
              <a:t>, usability &amp; reliability.</a:t>
            </a:r>
          </a:p>
          <a:p>
            <a:r>
              <a:rPr lang="en-US" sz="2400" b="1" dirty="0">
                <a:latin typeface="Century Schoolbook" panose="02040604050505020304" pitchFamily="18" charset="0"/>
              </a:rPr>
              <a:t>7. Finding an yet undiscovered error.</a:t>
            </a:r>
          </a:p>
          <a:p>
            <a:r>
              <a:rPr lang="en-US" sz="2400" b="1" dirty="0">
                <a:latin typeface="Century Schoolbook" panose="02040604050505020304" pitchFamily="18" charset="0"/>
              </a:rPr>
              <a:t>8. Ensuring that it satisfies business and system requirement specifications.</a:t>
            </a:r>
          </a:p>
          <a:p>
            <a:r>
              <a:rPr lang="en-US" sz="2400" b="1" dirty="0">
                <a:latin typeface="Century Schoolbook" panose="02040604050505020304" pitchFamily="18" charset="0"/>
              </a:rPr>
              <a:t>9. Gaining customers confidence in software correctness. </a:t>
            </a:r>
          </a:p>
          <a:p>
            <a:r>
              <a:rPr lang="en-US" sz="2400" b="1" dirty="0">
                <a:latin typeface="Century Schoolbook" panose="02040604050505020304" pitchFamily="18" charset="0"/>
              </a:rPr>
              <a:t>10. To Check if system is “Fit for purpose.”</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23886955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1EF14-AD92-9158-3453-B7695072761C}"/>
              </a:ext>
            </a:extLst>
          </p:cNvPr>
          <p:cNvSpPr>
            <a:spLocks noGrp="1"/>
          </p:cNvSpPr>
          <p:nvPr>
            <p:ph type="title"/>
          </p:nvPr>
        </p:nvSpPr>
        <p:spPr>
          <a:xfrm>
            <a:off x="223521" y="233681"/>
            <a:ext cx="10471788" cy="711200"/>
          </a:xfrm>
        </p:spPr>
        <p:txBody>
          <a:bodyPr/>
          <a:lstStyle/>
          <a:p>
            <a:pPr marL="457200" indent="-457200">
              <a:buFont typeface="Wingdings" panose="05000000000000000000" pitchFamily="2" charset="2"/>
              <a:buChar char="v"/>
            </a:pPr>
            <a:r>
              <a:rPr lang="en-US" dirty="0">
                <a:solidFill>
                  <a:srgbClr val="FFFF00"/>
                </a:solidFill>
              </a:rPr>
              <a:t> </a:t>
            </a:r>
            <a:r>
              <a:rPr lang="en-US" sz="4000" u="sng" dirty="0">
                <a:solidFill>
                  <a:srgbClr val="FFFF00"/>
                </a:solidFill>
                <a:latin typeface="Algerian" panose="04020705040A02060702" pitchFamily="82" charset="0"/>
              </a:rPr>
              <a:t>Test cases : </a:t>
            </a:r>
            <a:r>
              <a:rPr lang="en-US" sz="4000" b="1" u="sng" dirty="0">
                <a:solidFill>
                  <a:srgbClr val="FFFF00"/>
                </a:solidFill>
                <a:latin typeface="Algerian" panose="04020705040A02060702" pitchFamily="82" charset="0"/>
              </a:rPr>
              <a:t>-</a:t>
            </a:r>
            <a:endParaRPr lang="en-IN" sz="4000" b="1" u="sng"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6AFA0412-8EF4-0E47-5E61-826D0E023134}"/>
              </a:ext>
            </a:extLst>
          </p:cNvPr>
          <p:cNvSpPr>
            <a:spLocks noGrp="1"/>
          </p:cNvSpPr>
          <p:nvPr>
            <p:ph type="body" idx="1"/>
          </p:nvPr>
        </p:nvSpPr>
        <p:spPr>
          <a:xfrm>
            <a:off x="66041" y="457200"/>
            <a:ext cx="12059918" cy="5943600"/>
          </a:xfrm>
        </p:spPr>
        <p:txBody>
          <a:bodyPr>
            <a:normAutofit/>
          </a:bodyPr>
          <a:lstStyle/>
          <a:p>
            <a:r>
              <a:rPr lang="en-US" sz="2400" b="1" dirty="0">
                <a:latin typeface="Century Schoolbook" panose="02040604050505020304" pitchFamily="18" charset="0"/>
              </a:rPr>
              <a:t>A Test Case is a fundamental concept in software testing, defined by the following characteristics :</a:t>
            </a:r>
          </a:p>
          <a:p>
            <a:pPr marL="342900" indent="-342900">
              <a:buFont typeface="Wingdings" panose="05000000000000000000" pitchFamily="2" charset="2"/>
              <a:buChar char="Ø"/>
            </a:pPr>
            <a:r>
              <a:rPr lang="en-US" sz="2400" b="1" u="sng" dirty="0">
                <a:solidFill>
                  <a:srgbClr val="FFFF00"/>
                </a:solidFill>
                <a:latin typeface="Century Schoolbook" panose="02040604050505020304" pitchFamily="18" charset="0"/>
              </a:rPr>
              <a:t>Definition</a:t>
            </a:r>
            <a:r>
              <a:rPr lang="en-US" sz="2400" b="1" dirty="0">
                <a:latin typeface="Century Schoolbook" panose="02040604050505020304" pitchFamily="18" charset="0"/>
              </a:rPr>
              <a:t> </a:t>
            </a:r>
            <a:r>
              <a:rPr lang="en-US" sz="2400" b="1" dirty="0">
                <a:solidFill>
                  <a:srgbClr val="FFFF00"/>
                </a:solidFill>
                <a:latin typeface="Century Schoolbook" panose="02040604050505020304" pitchFamily="18" charset="0"/>
              </a:rPr>
              <a:t>: </a:t>
            </a:r>
            <a:r>
              <a:rPr lang="en-US" sz="2400" b="1" dirty="0">
                <a:latin typeface="Century Schoolbook" panose="02040604050505020304" pitchFamily="18" charset="0"/>
              </a:rPr>
              <a:t>A Test Case is a structured set of actions designed to verify a specific feature or functionality of a software application.</a:t>
            </a:r>
          </a:p>
          <a:p>
            <a:pPr marL="342900" indent="-342900">
              <a:buFont typeface="Wingdings" panose="05000000000000000000" pitchFamily="2" charset="2"/>
              <a:buChar char="Ø"/>
            </a:pPr>
            <a:r>
              <a:rPr lang="en-US" sz="2400" b="1" u="sng" dirty="0">
                <a:solidFill>
                  <a:srgbClr val="FFFF00"/>
                </a:solidFill>
                <a:latin typeface="Century Schoolbook" panose="02040604050505020304" pitchFamily="18" charset="0"/>
              </a:rPr>
              <a:t>Components </a:t>
            </a:r>
            <a:r>
              <a:rPr lang="en-US" sz="2400" b="1" dirty="0">
                <a:solidFill>
                  <a:srgbClr val="FFFF00"/>
                </a:solidFill>
                <a:latin typeface="Century Schoolbook" panose="02040604050505020304" pitchFamily="18" charset="0"/>
              </a:rPr>
              <a:t>:</a:t>
            </a:r>
            <a:r>
              <a:rPr lang="en-US" sz="2400" b="1" dirty="0">
                <a:latin typeface="Century Schoolbook" panose="02040604050505020304" pitchFamily="18" charset="0"/>
              </a:rPr>
              <a:t> It typically includes essential elements such as test steps, test data, preconditions, expected results, and actual results, all developed for a specific test scenario to ensure requirement verification.</a:t>
            </a:r>
          </a:p>
          <a:p>
            <a:pPr marL="342900" indent="-342900">
              <a:buFont typeface="Wingdings" panose="05000000000000000000" pitchFamily="2" charset="2"/>
              <a:buChar char="Ø"/>
            </a:pPr>
            <a:r>
              <a:rPr lang="en-US" sz="2400" b="1" u="sng" dirty="0">
                <a:solidFill>
                  <a:srgbClr val="FFFF00"/>
                </a:solidFill>
                <a:latin typeface="Century Schoolbook" panose="02040604050505020304" pitchFamily="18" charset="0"/>
              </a:rPr>
              <a:t>Documentation</a:t>
            </a:r>
            <a:r>
              <a:rPr lang="en-US" sz="2400" b="1" dirty="0">
                <a:solidFill>
                  <a:srgbClr val="FFFF00"/>
                </a:solidFill>
                <a:latin typeface="Century Schoolbook" panose="02040604050505020304" pitchFamily="18" charset="0"/>
              </a:rPr>
              <a:t> :</a:t>
            </a:r>
            <a:r>
              <a:rPr lang="en-US" sz="2400" b="1" dirty="0">
                <a:latin typeface="Century Schoolbook" panose="02040604050505020304" pitchFamily="18" charset="0"/>
              </a:rPr>
              <a:t> A Test Case serves as a detailed document outlining all possible inputs and the navigation steps required to execute the test.</a:t>
            </a:r>
          </a:p>
          <a:p>
            <a:pPr marL="342900" indent="-342900">
              <a:buFont typeface="Wingdings" panose="05000000000000000000" pitchFamily="2" charset="2"/>
              <a:buChar char="Ø"/>
            </a:pPr>
            <a:r>
              <a:rPr lang="en-US" sz="2400" b="1" u="sng" dirty="0">
                <a:solidFill>
                  <a:srgbClr val="FFFF00"/>
                </a:solidFill>
                <a:latin typeface="Century Schoolbook" panose="02040604050505020304" pitchFamily="18" charset="0"/>
              </a:rPr>
              <a:t>Defect Reporting</a:t>
            </a:r>
            <a:r>
              <a:rPr lang="en-US" sz="2400" b="1" dirty="0">
                <a:solidFill>
                  <a:srgbClr val="FFFF00"/>
                </a:solidFill>
                <a:latin typeface="Century Schoolbook" panose="02040604050505020304" pitchFamily="18" charset="0"/>
              </a:rPr>
              <a:t> : </a:t>
            </a:r>
            <a:r>
              <a:rPr lang="en-US" sz="2400" b="1" dirty="0">
                <a:latin typeface="Century Schoolbook" panose="02040604050505020304" pitchFamily="18" charset="0"/>
              </a:rPr>
              <a:t>It plays a crucial role in defect reporting by enabling testers to link identified defects directly to their corresponding Test Case IDs, facilitating efficient tracking and resolution.</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37841419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59835-F1F4-5E3D-6628-D94F2DDEAB73}"/>
              </a:ext>
            </a:extLst>
          </p:cNvPr>
          <p:cNvSpPr>
            <a:spLocks noGrp="1"/>
          </p:cNvSpPr>
          <p:nvPr>
            <p:ph type="title"/>
          </p:nvPr>
        </p:nvSpPr>
        <p:spPr>
          <a:xfrm>
            <a:off x="187961" y="182881"/>
            <a:ext cx="10131427" cy="780981"/>
          </a:xfrm>
        </p:spPr>
        <p:txBody>
          <a:bodyPr>
            <a:normAutofit/>
          </a:bodyPr>
          <a:lstStyle/>
          <a:p>
            <a:pPr marL="457200" indent="-457200">
              <a:buFont typeface="Wingdings" panose="05000000000000000000" pitchFamily="2" charset="2"/>
              <a:buChar char="v"/>
            </a:pPr>
            <a:r>
              <a:rPr lang="en-US" sz="4400" u="sng" dirty="0">
                <a:solidFill>
                  <a:srgbClr val="FFFF00"/>
                </a:solidFill>
              </a:rPr>
              <a:t> </a:t>
            </a:r>
            <a:r>
              <a:rPr lang="en-US" sz="4400" u="sng" dirty="0">
                <a:solidFill>
                  <a:srgbClr val="FFFF00"/>
                </a:solidFill>
                <a:latin typeface="Algerian" panose="04020705040A02060702" pitchFamily="82" charset="0"/>
              </a:rPr>
              <a:t>entry and exit criteria : -</a:t>
            </a:r>
            <a:endParaRPr lang="en-IN" sz="4400" u="sng"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128B87F2-0091-7EFF-FB3E-20A87B2ACF9D}"/>
              </a:ext>
            </a:extLst>
          </p:cNvPr>
          <p:cNvSpPr>
            <a:spLocks noGrp="1"/>
          </p:cNvSpPr>
          <p:nvPr>
            <p:ph type="body" idx="1"/>
          </p:nvPr>
        </p:nvSpPr>
        <p:spPr>
          <a:xfrm>
            <a:off x="187960" y="999421"/>
            <a:ext cx="11892280" cy="5675697"/>
          </a:xfrm>
        </p:spPr>
        <p:txBody>
          <a:bodyPr>
            <a:normAutofit/>
          </a:bodyPr>
          <a:lstStyle/>
          <a:p>
            <a:pPr marL="342900" indent="-342900">
              <a:buFont typeface="Wingdings" panose="05000000000000000000" pitchFamily="2" charset="2"/>
              <a:buChar char="Ø"/>
            </a:pPr>
            <a:r>
              <a:rPr lang="en-US" sz="3200" dirty="0">
                <a:solidFill>
                  <a:srgbClr val="FFFF00"/>
                </a:solidFill>
                <a:latin typeface="Bodoni MT Black" panose="02070A03080606020203" pitchFamily="18" charset="0"/>
              </a:rPr>
              <a:t> </a:t>
            </a:r>
            <a:r>
              <a:rPr lang="en-US" sz="3600" b="1" dirty="0">
                <a:solidFill>
                  <a:srgbClr val="FFFF00"/>
                </a:solidFill>
                <a:latin typeface="Century Schoolbook" panose="02040604050505020304" pitchFamily="18" charset="0"/>
              </a:rPr>
              <a:t>When to start testing ? ( Entry criteria )</a:t>
            </a:r>
          </a:p>
          <a:p>
            <a:pPr marL="571500" indent="-571500">
              <a:buFont typeface="+mj-lt"/>
              <a:buAutoNum type="romanLcPeriod"/>
            </a:pPr>
            <a:r>
              <a:rPr lang="en-US" sz="2800" b="1" dirty="0">
                <a:latin typeface="Century Schoolbook" panose="02040604050505020304" pitchFamily="18" charset="0"/>
              </a:rPr>
              <a:t>An early start to testing reduces the cost &amp; time to rework &amp; produce error-free software that is delivered to the client.</a:t>
            </a:r>
          </a:p>
          <a:p>
            <a:pPr marL="571500" indent="-571500">
              <a:buFont typeface="+mj-lt"/>
              <a:buAutoNum type="romanLcPeriod"/>
            </a:pPr>
            <a:r>
              <a:rPr lang="en-US" sz="2800" b="1" dirty="0">
                <a:latin typeface="Century Schoolbook" panose="02040604050505020304" pitchFamily="18" charset="0"/>
              </a:rPr>
              <a:t>Testing can be started from the requirement gathering phase &amp; continued till the deployment of the software.</a:t>
            </a:r>
          </a:p>
          <a:p>
            <a:pPr marL="571500" indent="-571500">
              <a:buFont typeface="+mj-lt"/>
              <a:buAutoNum type="romanLcPeriod"/>
            </a:pPr>
            <a:r>
              <a:rPr lang="en-US" sz="2800" b="1" dirty="0">
                <a:latin typeface="Century Schoolbook" panose="02040604050505020304" pitchFamily="18" charset="0"/>
              </a:rPr>
              <a:t>During the requirement gathering phase, the analysis &amp; verification of requirements are also considered as testing.</a:t>
            </a:r>
          </a:p>
          <a:p>
            <a:pPr marL="571500" indent="-571500">
              <a:buFont typeface="+mj-lt"/>
              <a:buAutoNum type="romanLcPeriod"/>
            </a:pPr>
            <a:r>
              <a:rPr lang="en-US" sz="2800" b="1" dirty="0">
                <a:latin typeface="Century Schoolbook" panose="02040604050505020304" pitchFamily="18" charset="0"/>
              </a:rPr>
              <a:t>Reviewing the design in the design phase with the intent to improve design is also testing.</a:t>
            </a:r>
          </a:p>
          <a:p>
            <a:pPr marL="571500" indent="-571500">
              <a:buFont typeface="+mj-lt"/>
              <a:buAutoNum type="romanLcPeriod"/>
            </a:pPr>
            <a:r>
              <a:rPr lang="en-US" sz="2800" b="1" dirty="0">
                <a:latin typeface="Century Schoolbook" panose="02040604050505020304" pitchFamily="18" charset="0"/>
              </a:rPr>
              <a:t>Testing performed by a developer on completion of the code is also categorized as testing.</a:t>
            </a:r>
          </a:p>
        </p:txBody>
      </p:sp>
    </p:spTree>
    <p:extLst>
      <p:ext uri="{BB962C8B-B14F-4D97-AF65-F5344CB8AC3E}">
        <p14:creationId xmlns:p14="http://schemas.microsoft.com/office/powerpoint/2010/main" val="739794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E65D9-FDE9-8788-BF04-59758A38E7E5}"/>
              </a:ext>
            </a:extLst>
          </p:cNvPr>
          <p:cNvSpPr>
            <a:spLocks noGrp="1"/>
          </p:cNvSpPr>
          <p:nvPr>
            <p:ph type="title"/>
          </p:nvPr>
        </p:nvSpPr>
        <p:spPr>
          <a:xfrm>
            <a:off x="685801" y="609602"/>
            <a:ext cx="10131427" cy="2168490"/>
          </a:xfrm>
        </p:spPr>
        <p:txBody>
          <a:bodyPr/>
          <a:lstStyle/>
          <a:p>
            <a:endParaRPr lang="en-IN" dirty="0"/>
          </a:p>
        </p:txBody>
      </p:sp>
      <p:sp>
        <p:nvSpPr>
          <p:cNvPr id="3" name="Text Placeholder 2">
            <a:extLst>
              <a:ext uri="{FF2B5EF4-FFF2-40B4-BE49-F238E27FC236}">
                <a16:creationId xmlns:a16="http://schemas.microsoft.com/office/drawing/2014/main" id="{BE6A4840-7B59-FB27-6E9B-DC286AED571D}"/>
              </a:ext>
            </a:extLst>
          </p:cNvPr>
          <p:cNvSpPr>
            <a:spLocks noGrp="1"/>
          </p:cNvSpPr>
          <p:nvPr>
            <p:ph type="body" idx="1"/>
          </p:nvPr>
        </p:nvSpPr>
        <p:spPr>
          <a:xfrm>
            <a:off x="213360" y="2206060"/>
            <a:ext cx="11907520" cy="5048179"/>
          </a:xfrm>
        </p:spPr>
        <p:txBody>
          <a:bodyPr>
            <a:normAutofit/>
          </a:bodyPr>
          <a:lstStyle/>
          <a:p>
            <a:pPr marL="342900" indent="-342900">
              <a:buFont typeface="Wingdings" panose="05000000000000000000" pitchFamily="2" charset="2"/>
              <a:buChar char="Ø"/>
            </a:pPr>
            <a:r>
              <a:rPr lang="en-US" sz="3600" b="1" dirty="0">
                <a:solidFill>
                  <a:srgbClr val="FFFF00"/>
                </a:solidFill>
                <a:latin typeface="Bodoni MT Black" panose="02070A03080606020203" pitchFamily="18" charset="0"/>
              </a:rPr>
              <a:t> </a:t>
            </a:r>
            <a:r>
              <a:rPr lang="en-US" sz="3600" b="1" dirty="0">
                <a:solidFill>
                  <a:srgbClr val="FFFF00"/>
                </a:solidFill>
                <a:latin typeface="Century Schoolbook" panose="02040604050505020304" pitchFamily="18" charset="0"/>
              </a:rPr>
              <a:t>when to stop testing ? ( exit criteria )</a:t>
            </a:r>
          </a:p>
          <a:p>
            <a:pPr marL="857250" indent="-857250">
              <a:buFont typeface="+mj-lt"/>
              <a:buAutoNum type="romanLcPeriod"/>
            </a:pPr>
            <a:r>
              <a:rPr lang="en-US" sz="2800" b="1" dirty="0">
                <a:latin typeface="Century Schoolbook" panose="02040604050505020304" pitchFamily="18" charset="0"/>
              </a:rPr>
              <a:t>Testing Deadline.</a:t>
            </a:r>
          </a:p>
          <a:p>
            <a:pPr marL="857250" indent="-857250">
              <a:buFont typeface="+mj-lt"/>
              <a:buAutoNum type="romanLcPeriod"/>
            </a:pPr>
            <a:r>
              <a:rPr lang="en-US" sz="2800" b="1" dirty="0">
                <a:latin typeface="Century Schoolbook" panose="02040604050505020304" pitchFamily="18" charset="0"/>
              </a:rPr>
              <a:t>Completion of test case execution.</a:t>
            </a:r>
          </a:p>
          <a:p>
            <a:pPr marL="857250" indent="-857250">
              <a:buFont typeface="+mj-lt"/>
              <a:buAutoNum type="romanLcPeriod"/>
            </a:pPr>
            <a:r>
              <a:rPr lang="en-US" sz="2800" b="1" dirty="0">
                <a:latin typeface="Century Schoolbook" panose="02040604050505020304" pitchFamily="18" charset="0"/>
              </a:rPr>
              <a:t>Completion of functional &amp; code coverage to certain point.</a:t>
            </a:r>
          </a:p>
          <a:p>
            <a:pPr marL="857250" indent="-857250">
              <a:buFont typeface="+mj-lt"/>
              <a:buAutoNum type="romanLcPeriod"/>
            </a:pPr>
            <a:r>
              <a:rPr lang="en-US" sz="2800" b="1" dirty="0">
                <a:latin typeface="Century Schoolbook" panose="02040604050505020304" pitchFamily="18" charset="0"/>
              </a:rPr>
              <a:t>Bug rate falls below a certain level &amp; no high-priority bugs are identified.</a:t>
            </a:r>
          </a:p>
          <a:p>
            <a:pPr marL="857250" indent="-857250">
              <a:buFont typeface="+mj-lt"/>
              <a:buAutoNum type="romanLcPeriod"/>
            </a:pPr>
            <a:r>
              <a:rPr lang="en-US" sz="2800" b="1" dirty="0">
                <a:latin typeface="Century Schoolbook" panose="02040604050505020304" pitchFamily="18" charset="0"/>
              </a:rPr>
              <a:t>Management Decision.</a:t>
            </a:r>
            <a:endParaRPr lang="en-IN" sz="36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E1D5DC19-9785-12CF-45B0-28FACBC14377}"/>
              </a:ext>
            </a:extLst>
          </p:cNvPr>
          <p:cNvPicPr>
            <a:picLocks noChangeAspect="1"/>
          </p:cNvPicPr>
          <p:nvPr/>
        </p:nvPicPr>
        <p:blipFill>
          <a:blip r:embed="rId2"/>
          <a:stretch>
            <a:fillRect/>
          </a:stretch>
        </p:blipFill>
        <p:spPr>
          <a:xfrm>
            <a:off x="2458516" y="257072"/>
            <a:ext cx="7502162" cy="2521019"/>
          </a:xfrm>
          <a:prstGeom prst="rect">
            <a:avLst/>
          </a:prstGeom>
        </p:spPr>
      </p:pic>
    </p:spTree>
    <p:extLst>
      <p:ext uri="{BB962C8B-B14F-4D97-AF65-F5344CB8AC3E}">
        <p14:creationId xmlns:p14="http://schemas.microsoft.com/office/powerpoint/2010/main" val="19516631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A8821-149B-9FF3-D50E-98651920B988}"/>
              </a:ext>
            </a:extLst>
          </p:cNvPr>
          <p:cNvSpPr>
            <a:spLocks noGrp="1"/>
          </p:cNvSpPr>
          <p:nvPr>
            <p:ph type="title"/>
          </p:nvPr>
        </p:nvSpPr>
        <p:spPr>
          <a:xfrm>
            <a:off x="0" y="-88489"/>
            <a:ext cx="10131427" cy="899651"/>
          </a:xfrm>
        </p:spPr>
        <p:txBody>
          <a:bodyPr>
            <a:normAutofit fontScale="90000"/>
          </a:bodyPr>
          <a:lstStyle/>
          <a:p>
            <a:pPr marL="457200" indent="-457200">
              <a:buFont typeface="Wingdings" panose="05000000000000000000" pitchFamily="2" charset="2"/>
              <a:buChar char="v"/>
            </a:pPr>
            <a:r>
              <a:rPr lang="en-US" sz="4800" u="sng" dirty="0">
                <a:solidFill>
                  <a:srgbClr val="FFFF00"/>
                </a:solidFill>
                <a:latin typeface="Algerian" panose="04020705040A02060702" pitchFamily="82" charset="0"/>
              </a:rPr>
              <a:t>Skills for software tester</a:t>
            </a:r>
            <a:r>
              <a:rPr lang="en-US" sz="4800" dirty="0">
                <a:solidFill>
                  <a:srgbClr val="FFFF00"/>
                </a:solidFill>
                <a:latin typeface="Algerian" panose="04020705040A02060702" pitchFamily="82" charset="0"/>
              </a:rPr>
              <a:t> : -</a:t>
            </a:r>
            <a:endParaRPr lang="en-IN" sz="48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A016003E-7097-5848-C4E0-1F6BF95E2713}"/>
              </a:ext>
            </a:extLst>
          </p:cNvPr>
          <p:cNvSpPr>
            <a:spLocks noGrp="1"/>
          </p:cNvSpPr>
          <p:nvPr>
            <p:ph type="body" idx="1"/>
          </p:nvPr>
        </p:nvSpPr>
        <p:spPr>
          <a:xfrm>
            <a:off x="105697" y="564126"/>
            <a:ext cx="11783960" cy="5729747"/>
          </a:xfrm>
        </p:spPr>
        <p:txBody>
          <a:bodyPr>
            <a:normAutofit/>
          </a:bodyPr>
          <a:lstStyle/>
          <a:p>
            <a:pPr marL="514350" indent="-514350">
              <a:buAutoNum type="arabicPeriod"/>
            </a:pPr>
            <a:r>
              <a:rPr lang="en-US" sz="2800" b="1" dirty="0">
                <a:latin typeface="Century Schoolbook" panose="02040604050505020304" pitchFamily="18" charset="0"/>
              </a:rPr>
              <a:t>Programming &amp; Scripting Knowledge.</a:t>
            </a:r>
          </a:p>
          <a:p>
            <a:r>
              <a:rPr lang="en-US" sz="2800" b="1" dirty="0">
                <a:latin typeface="Century Schoolbook" panose="02040604050505020304" pitchFamily="18" charset="0"/>
              </a:rPr>
              <a:t>2. Understanding of database  &amp; SQL.</a:t>
            </a:r>
          </a:p>
          <a:p>
            <a:r>
              <a:rPr lang="en-US" sz="2800" b="1" dirty="0">
                <a:latin typeface="Century Schoolbook" panose="02040604050505020304" pitchFamily="18" charset="0"/>
              </a:rPr>
              <a:t>3. Communication Skills.</a:t>
            </a:r>
          </a:p>
          <a:p>
            <a:r>
              <a:rPr lang="en-US" sz="2800" b="1" dirty="0">
                <a:latin typeface="Century Schoolbook" panose="02040604050505020304" pitchFamily="18" charset="0"/>
              </a:rPr>
              <a:t>4. Problem Solving Skills.</a:t>
            </a:r>
          </a:p>
          <a:p>
            <a:r>
              <a:rPr lang="en-US" sz="2800" b="1" dirty="0">
                <a:latin typeface="Century Schoolbook" panose="02040604050505020304" pitchFamily="18" charset="0"/>
              </a:rPr>
              <a:t>5. Understanding of business &amp; Domain Knowledge.</a:t>
            </a:r>
          </a:p>
          <a:p>
            <a:r>
              <a:rPr lang="en-US" sz="2800" b="1" dirty="0">
                <a:latin typeface="Century Schoolbook" panose="02040604050505020304" pitchFamily="18" charset="0"/>
              </a:rPr>
              <a:t>6. Collaboration &amp; Team Work.</a:t>
            </a:r>
          </a:p>
          <a:p>
            <a:r>
              <a:rPr lang="en-US" sz="2800" b="1" dirty="0">
                <a:latin typeface="Century Schoolbook" panose="02040604050505020304" pitchFamily="18" charset="0"/>
              </a:rPr>
              <a:t>7. Attention to Details.</a:t>
            </a:r>
          </a:p>
          <a:p>
            <a:r>
              <a:rPr lang="en-US" sz="2800" b="1" dirty="0">
                <a:latin typeface="Century Schoolbook" panose="02040604050505020304" pitchFamily="18" charset="0"/>
              </a:rPr>
              <a:t>8. Analytical Thinking.</a:t>
            </a:r>
          </a:p>
          <a:p>
            <a:r>
              <a:rPr lang="en-US" sz="2800" b="1" dirty="0">
                <a:latin typeface="Century Schoolbook" panose="02040604050505020304" pitchFamily="18" charset="0"/>
              </a:rPr>
              <a:t>9. Knowledge of testing tools.</a:t>
            </a:r>
          </a:p>
          <a:p>
            <a:r>
              <a:rPr lang="en-US" sz="2800" b="1" dirty="0">
                <a:latin typeface="Century Schoolbook" panose="02040604050505020304" pitchFamily="18" charset="0"/>
              </a:rPr>
              <a:t>10. Explores &amp; Creative.</a:t>
            </a:r>
            <a:endParaRPr lang="en-IN" sz="2800" b="1" dirty="0">
              <a:latin typeface="Century Schoolbook" panose="02040604050505020304" pitchFamily="18" charset="0"/>
            </a:endParaRPr>
          </a:p>
        </p:txBody>
      </p:sp>
    </p:spTree>
    <p:extLst>
      <p:ext uri="{BB962C8B-B14F-4D97-AF65-F5344CB8AC3E}">
        <p14:creationId xmlns:p14="http://schemas.microsoft.com/office/powerpoint/2010/main" val="23850585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9FF76-D8E7-F2A0-5788-29539FC45288}"/>
              </a:ext>
            </a:extLst>
          </p:cNvPr>
          <p:cNvSpPr>
            <a:spLocks noGrp="1"/>
          </p:cNvSpPr>
          <p:nvPr>
            <p:ph type="title"/>
          </p:nvPr>
        </p:nvSpPr>
        <p:spPr>
          <a:xfrm>
            <a:off x="685800" y="299884"/>
            <a:ext cx="10131427" cy="806244"/>
          </a:xfrm>
        </p:spPr>
        <p:txBody>
          <a:bodyPr/>
          <a:lstStyle/>
          <a:p>
            <a:pPr marL="457200" indent="-457200">
              <a:buFont typeface="Wingdings" panose="05000000000000000000" pitchFamily="2" charset="2"/>
              <a:buChar char="v"/>
            </a:pPr>
            <a:r>
              <a:rPr lang="en-US" dirty="0">
                <a:solidFill>
                  <a:srgbClr val="FFFF00"/>
                </a:solidFill>
                <a:latin typeface="Algerian" panose="04020705040A02060702" pitchFamily="82" charset="0"/>
              </a:rPr>
              <a:t> </a:t>
            </a:r>
            <a:r>
              <a:rPr lang="en-US" sz="4000" u="sng" dirty="0">
                <a:solidFill>
                  <a:srgbClr val="FFFF00"/>
                </a:solidFill>
                <a:latin typeface="Algerian" panose="04020705040A02060702" pitchFamily="82" charset="0"/>
              </a:rPr>
              <a:t>software testing life cycle</a:t>
            </a:r>
            <a:r>
              <a:rPr lang="en-US" sz="4000" dirty="0">
                <a:solidFill>
                  <a:srgbClr val="FFFF00"/>
                </a:solidFill>
                <a:latin typeface="Algerian" panose="04020705040A02060702" pitchFamily="82" charset="0"/>
              </a:rPr>
              <a:t> : -</a:t>
            </a:r>
            <a:endParaRPr lang="en-IN" sz="40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49F92C38-6DBC-CADF-B057-3CAEC3E9E8E0}"/>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7EC75426-C8FE-2E59-094D-1B4CB6C675BB}"/>
              </a:ext>
            </a:extLst>
          </p:cNvPr>
          <p:cNvPicPr>
            <a:picLocks noChangeAspect="1"/>
          </p:cNvPicPr>
          <p:nvPr/>
        </p:nvPicPr>
        <p:blipFill>
          <a:blip r:embed="rId2"/>
          <a:stretch>
            <a:fillRect/>
          </a:stretch>
        </p:blipFill>
        <p:spPr>
          <a:xfrm>
            <a:off x="1160206" y="1337187"/>
            <a:ext cx="9832259" cy="5220929"/>
          </a:xfrm>
          <a:prstGeom prst="rect">
            <a:avLst/>
          </a:prstGeom>
        </p:spPr>
      </p:pic>
    </p:spTree>
    <p:extLst>
      <p:ext uri="{BB962C8B-B14F-4D97-AF65-F5344CB8AC3E}">
        <p14:creationId xmlns:p14="http://schemas.microsoft.com/office/powerpoint/2010/main" val="2947218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D2AFB-9765-8DE0-D53F-8DB7C8E3C08B}"/>
              </a:ext>
            </a:extLst>
          </p:cNvPr>
          <p:cNvSpPr>
            <a:spLocks noGrp="1"/>
          </p:cNvSpPr>
          <p:nvPr>
            <p:ph type="title"/>
          </p:nvPr>
        </p:nvSpPr>
        <p:spPr>
          <a:xfrm>
            <a:off x="147484" y="-865238"/>
            <a:ext cx="11661058" cy="6312310"/>
          </a:xfrm>
        </p:spPr>
        <p:txBody>
          <a:bodyPr>
            <a:normAutofit/>
          </a:bodyPr>
          <a:lstStyle/>
          <a:p>
            <a:r>
              <a:rPr lang="en-US" sz="2800" dirty="0">
                <a:solidFill>
                  <a:srgbClr val="FFFF00"/>
                </a:solidFill>
                <a:latin typeface="Algerian" panose="04020705040A02060702" pitchFamily="82" charset="0"/>
              </a:rPr>
              <a:t>1. </a:t>
            </a:r>
            <a:r>
              <a:rPr lang="en-US" sz="2800" u="sng" dirty="0">
                <a:solidFill>
                  <a:srgbClr val="FFFF00"/>
                </a:solidFill>
                <a:latin typeface="Algerian" panose="04020705040A02060702" pitchFamily="82" charset="0"/>
              </a:rPr>
              <a:t>Requirement analysis</a:t>
            </a:r>
            <a:r>
              <a:rPr lang="en-US" sz="2800" dirty="0">
                <a:solidFill>
                  <a:srgbClr val="FFFF00"/>
                </a:solidFill>
                <a:latin typeface="Algerian" panose="04020705040A02060702" pitchFamily="82" charset="0"/>
              </a:rPr>
              <a:t> : - </a:t>
            </a:r>
            <a:r>
              <a:rPr lang="en-US" sz="2400" b="1" dirty="0">
                <a:latin typeface="Century Schoolbook" panose="02040604050505020304" pitchFamily="18" charset="0"/>
              </a:rPr>
              <a:t>When the system requirement document is ready &amp; shared with the stake holders, the testing team starts </a:t>
            </a:r>
            <a:r>
              <a:rPr lang="en-US" sz="2400" b="1" dirty="0" err="1">
                <a:latin typeface="Century Schoolbook" panose="02040604050505020304" pitchFamily="18" charset="0"/>
              </a:rPr>
              <a:t>hight</a:t>
            </a:r>
            <a:r>
              <a:rPr lang="en-US" sz="2400" b="1" dirty="0">
                <a:latin typeface="Century Schoolbook" panose="02040604050505020304" pitchFamily="18" charset="0"/>
              </a:rPr>
              <a:t> level analysis concerning the AUT (Application Under Test. )</a:t>
            </a:r>
            <a:br>
              <a:rPr lang="en-US" sz="2400" dirty="0">
                <a:solidFill>
                  <a:srgbClr val="FFFF00"/>
                </a:solidFill>
                <a:latin typeface="Algerian" panose="04020705040A02060702" pitchFamily="82" charset="0"/>
              </a:rPr>
            </a:br>
            <a:r>
              <a:rPr lang="en-US" sz="2800" dirty="0">
                <a:solidFill>
                  <a:srgbClr val="FFFF00"/>
                </a:solidFill>
                <a:latin typeface="Algerian" panose="04020705040A02060702" pitchFamily="82" charset="0"/>
              </a:rPr>
              <a:t>2. </a:t>
            </a:r>
            <a:r>
              <a:rPr lang="en-US" sz="2800" u="sng" dirty="0">
                <a:solidFill>
                  <a:srgbClr val="FFFF00"/>
                </a:solidFill>
                <a:latin typeface="Algerian" panose="04020705040A02060702" pitchFamily="82" charset="0"/>
              </a:rPr>
              <a:t>Test planning </a:t>
            </a:r>
            <a:r>
              <a:rPr lang="en-US" sz="2800" dirty="0">
                <a:solidFill>
                  <a:srgbClr val="FFFF00"/>
                </a:solidFill>
                <a:latin typeface="Algerian" panose="04020705040A02060702" pitchFamily="82" charset="0"/>
              </a:rPr>
              <a:t>: - </a:t>
            </a:r>
            <a:r>
              <a:rPr lang="en-US" sz="2400" b="1" dirty="0">
                <a:latin typeface="Century Schoolbook" panose="02040604050505020304" pitchFamily="18" charset="0"/>
              </a:rPr>
              <a:t>Test team plans the strategy &amp; approach.</a:t>
            </a:r>
            <a:br>
              <a:rPr lang="en-US" sz="2400" b="1" dirty="0">
                <a:solidFill>
                  <a:srgbClr val="FFFF00"/>
                </a:solidFill>
                <a:latin typeface="Century Schoolbook" panose="02040604050505020304" pitchFamily="18" charset="0"/>
              </a:rPr>
            </a:br>
            <a:r>
              <a:rPr lang="en-US" sz="2800" dirty="0">
                <a:solidFill>
                  <a:srgbClr val="FFFF00"/>
                </a:solidFill>
                <a:latin typeface="Algerian" panose="04020705040A02060702" pitchFamily="82" charset="0"/>
              </a:rPr>
              <a:t>3. </a:t>
            </a:r>
            <a:r>
              <a:rPr lang="en-US" sz="2800" u="sng" dirty="0">
                <a:solidFill>
                  <a:srgbClr val="FFFF00"/>
                </a:solidFill>
                <a:latin typeface="Algerian" panose="04020705040A02060702" pitchFamily="82" charset="0"/>
              </a:rPr>
              <a:t>Test case designing </a:t>
            </a:r>
            <a:r>
              <a:rPr lang="en-US" sz="2800" dirty="0">
                <a:solidFill>
                  <a:srgbClr val="FFFF00"/>
                </a:solidFill>
                <a:latin typeface="Algerian" panose="04020705040A02060702" pitchFamily="82" charset="0"/>
              </a:rPr>
              <a:t>: - </a:t>
            </a:r>
            <a:r>
              <a:rPr lang="en-US" sz="2400" b="1" dirty="0">
                <a:latin typeface="Century Schoolbook" panose="02040604050505020304" pitchFamily="18" charset="0"/>
              </a:rPr>
              <a:t>Develop the test cases based on scope &amp; criteria.</a:t>
            </a:r>
            <a:br>
              <a:rPr lang="en-US" sz="2800" dirty="0">
                <a:solidFill>
                  <a:srgbClr val="FFFF00"/>
                </a:solidFill>
                <a:latin typeface="Algerian" panose="04020705040A02060702" pitchFamily="82" charset="0"/>
              </a:rPr>
            </a:br>
            <a:r>
              <a:rPr lang="en-US" sz="2800" dirty="0">
                <a:solidFill>
                  <a:srgbClr val="FFFF00"/>
                </a:solidFill>
                <a:latin typeface="Algerian" panose="04020705040A02060702" pitchFamily="82" charset="0"/>
              </a:rPr>
              <a:t>4. </a:t>
            </a:r>
            <a:r>
              <a:rPr lang="en-US" sz="2800" u="sng" dirty="0">
                <a:solidFill>
                  <a:srgbClr val="FFFF00"/>
                </a:solidFill>
                <a:latin typeface="Algerian" panose="04020705040A02060702" pitchFamily="82" charset="0"/>
              </a:rPr>
              <a:t>Test environment setup </a:t>
            </a:r>
            <a:r>
              <a:rPr lang="en-US" sz="2800" dirty="0">
                <a:solidFill>
                  <a:srgbClr val="FFFF00"/>
                </a:solidFill>
                <a:latin typeface="Algerian" panose="04020705040A02060702" pitchFamily="82" charset="0"/>
              </a:rPr>
              <a:t>: - </a:t>
            </a:r>
            <a:r>
              <a:rPr lang="en-US" sz="2400" b="1" dirty="0">
                <a:latin typeface="Century Schoolbook" panose="02040604050505020304" pitchFamily="18" charset="0"/>
              </a:rPr>
              <a:t>When integrated environment is ready to validate the product.</a:t>
            </a:r>
            <a:br>
              <a:rPr lang="en-US" sz="2400" dirty="0">
                <a:solidFill>
                  <a:srgbClr val="FFFF00"/>
                </a:solidFill>
                <a:latin typeface="Algerian" panose="04020705040A02060702" pitchFamily="82" charset="0"/>
              </a:rPr>
            </a:br>
            <a:r>
              <a:rPr lang="en-US" sz="2800" dirty="0">
                <a:solidFill>
                  <a:srgbClr val="FFFF00"/>
                </a:solidFill>
                <a:latin typeface="Algerian" panose="04020705040A02060702" pitchFamily="82" charset="0"/>
              </a:rPr>
              <a:t>5. </a:t>
            </a:r>
            <a:r>
              <a:rPr lang="en-US" sz="2800" u="sng" dirty="0">
                <a:solidFill>
                  <a:srgbClr val="FFFF00"/>
                </a:solidFill>
                <a:latin typeface="Algerian" panose="04020705040A02060702" pitchFamily="82" charset="0"/>
              </a:rPr>
              <a:t>test execution </a:t>
            </a:r>
            <a:r>
              <a:rPr lang="en-US" sz="2800" dirty="0">
                <a:solidFill>
                  <a:srgbClr val="FFFF00"/>
                </a:solidFill>
                <a:latin typeface="Algerian" panose="04020705040A02060702" pitchFamily="82" charset="0"/>
              </a:rPr>
              <a:t>: - </a:t>
            </a:r>
            <a:r>
              <a:rPr lang="en-US" sz="2400" b="1" dirty="0">
                <a:latin typeface="Century Schoolbook" panose="02040604050505020304" pitchFamily="18" charset="0"/>
              </a:rPr>
              <a:t>Real-time validation of product &amp; finding bugs.</a:t>
            </a:r>
            <a:br>
              <a:rPr lang="en-US" sz="2800" dirty="0">
                <a:solidFill>
                  <a:srgbClr val="FFFF00"/>
                </a:solidFill>
                <a:latin typeface="Cooper Black" panose="0208090404030B020404" pitchFamily="18" charset="0"/>
              </a:rPr>
            </a:br>
            <a:r>
              <a:rPr lang="en-US" sz="2800" dirty="0">
                <a:solidFill>
                  <a:srgbClr val="FFFF00"/>
                </a:solidFill>
                <a:latin typeface="Algerian" panose="04020705040A02060702" pitchFamily="82" charset="0"/>
              </a:rPr>
              <a:t>6. </a:t>
            </a:r>
            <a:r>
              <a:rPr lang="en-US" sz="2800" u="sng" dirty="0">
                <a:solidFill>
                  <a:srgbClr val="FFFF00"/>
                </a:solidFill>
                <a:latin typeface="Algerian" panose="04020705040A02060702" pitchFamily="82" charset="0"/>
              </a:rPr>
              <a:t>test closure </a:t>
            </a:r>
            <a:r>
              <a:rPr lang="en-US" sz="2800" dirty="0">
                <a:solidFill>
                  <a:srgbClr val="FFFF00"/>
                </a:solidFill>
                <a:latin typeface="Algerian" panose="04020705040A02060702" pitchFamily="82" charset="0"/>
              </a:rPr>
              <a:t>: - </a:t>
            </a:r>
            <a:r>
              <a:rPr lang="en-US" sz="2400" b="1" dirty="0">
                <a:latin typeface="Century Schoolbook" panose="02040604050505020304" pitchFamily="18" charset="0"/>
              </a:rPr>
              <a:t>Once testing is completed, matrix, reports, results are documented.</a:t>
            </a:r>
            <a:endParaRPr lang="en-IN" sz="2800" b="1" dirty="0">
              <a:solidFill>
                <a:srgbClr val="FFFF00"/>
              </a:solidFill>
              <a:latin typeface="Century Schoolbook" panose="02040604050505020304" pitchFamily="18" charset="0"/>
            </a:endParaRPr>
          </a:p>
        </p:txBody>
      </p:sp>
      <p:sp>
        <p:nvSpPr>
          <p:cNvPr id="3" name="Text Placeholder 2">
            <a:extLst>
              <a:ext uri="{FF2B5EF4-FFF2-40B4-BE49-F238E27FC236}">
                <a16:creationId xmlns:a16="http://schemas.microsoft.com/office/drawing/2014/main" id="{4E39A838-437C-AB8F-F26D-2F30F03AA273}"/>
              </a:ext>
            </a:extLst>
          </p:cNvPr>
          <p:cNvSpPr>
            <a:spLocks noGrp="1"/>
          </p:cNvSpPr>
          <p:nvPr>
            <p:ph type="body" idx="1"/>
          </p:nvPr>
        </p:nvSpPr>
        <p:spPr>
          <a:xfrm>
            <a:off x="587477" y="7231625"/>
            <a:ext cx="10131428" cy="417871"/>
          </a:xfrm>
        </p:spPr>
        <p:txBody>
          <a:bodyPr/>
          <a:lstStyle/>
          <a:p>
            <a:endParaRPr lang="en-IN" dirty="0"/>
          </a:p>
        </p:txBody>
      </p:sp>
    </p:spTree>
    <p:extLst>
      <p:ext uri="{BB962C8B-B14F-4D97-AF65-F5344CB8AC3E}">
        <p14:creationId xmlns:p14="http://schemas.microsoft.com/office/powerpoint/2010/main" val="2528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A9283-2382-1969-495F-34D7EB8153C6}"/>
              </a:ext>
            </a:extLst>
          </p:cNvPr>
          <p:cNvSpPr>
            <a:spLocks noGrp="1"/>
          </p:cNvSpPr>
          <p:nvPr>
            <p:ph type="title"/>
          </p:nvPr>
        </p:nvSpPr>
        <p:spPr>
          <a:xfrm>
            <a:off x="0" y="0"/>
            <a:ext cx="10131427" cy="899652"/>
          </a:xfrm>
        </p:spPr>
        <p:txBody>
          <a:bodyPr>
            <a:normAutofit/>
          </a:bodyPr>
          <a:lstStyle/>
          <a:p>
            <a:pPr marL="457200" indent="-457200">
              <a:buFont typeface="Wingdings" panose="05000000000000000000" pitchFamily="2" charset="2"/>
              <a:buChar char="v"/>
            </a:pPr>
            <a:r>
              <a:rPr lang="en-US" sz="4400" dirty="0">
                <a:solidFill>
                  <a:srgbClr val="FFFF00"/>
                </a:solidFill>
                <a:latin typeface="Algerian" panose="04020705040A02060702" pitchFamily="82" charset="0"/>
              </a:rPr>
              <a:t> </a:t>
            </a:r>
            <a:r>
              <a:rPr lang="en-US" sz="4400" u="sng" dirty="0">
                <a:solidFill>
                  <a:srgbClr val="FFFF00"/>
                </a:solidFill>
                <a:latin typeface="Algerian" panose="04020705040A02060702" pitchFamily="82" charset="0"/>
              </a:rPr>
              <a:t>Quality assurance</a:t>
            </a:r>
            <a:r>
              <a:rPr lang="en-US" sz="4400" dirty="0">
                <a:solidFill>
                  <a:srgbClr val="FFFF00"/>
                </a:solidFill>
                <a:latin typeface="Algerian" panose="04020705040A02060702" pitchFamily="82" charset="0"/>
              </a:rPr>
              <a:t> :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8CB8D4CE-A15B-8BAB-D654-FD5343291F22}"/>
              </a:ext>
            </a:extLst>
          </p:cNvPr>
          <p:cNvSpPr>
            <a:spLocks noGrp="1"/>
          </p:cNvSpPr>
          <p:nvPr>
            <p:ph type="body" idx="1"/>
          </p:nvPr>
        </p:nvSpPr>
        <p:spPr>
          <a:xfrm>
            <a:off x="132080" y="245479"/>
            <a:ext cx="11927840" cy="4847303"/>
          </a:xfrm>
        </p:spPr>
        <p:txBody>
          <a:bodyPr>
            <a:normAutofit/>
          </a:bodyPr>
          <a:lstStyle/>
          <a:p>
            <a:r>
              <a:rPr lang="en-US" sz="2400" b="1" dirty="0">
                <a:latin typeface="Century Schoolbook" panose="02040604050505020304" pitchFamily="18" charset="0"/>
                <a:ea typeface="Cambria Math" panose="02040503050406030204" pitchFamily="18" charset="0"/>
              </a:rPr>
              <a:t>ⅰ) Quality Assurance is also known as QA Testing. It is defined as an activity to ensure that an organization is providing the best product to the customers.</a:t>
            </a:r>
          </a:p>
          <a:p>
            <a:r>
              <a:rPr lang="en-US" sz="2400" b="1" dirty="0">
                <a:latin typeface="Century Schoolbook" panose="02040604050505020304" pitchFamily="18" charset="0"/>
                <a:ea typeface="Cambria Math" panose="02040503050406030204" pitchFamily="18" charset="0"/>
              </a:rPr>
              <a:t>ii) Quality Assurance focuses on process standard, project audit, and procedures for development. </a:t>
            </a:r>
          </a:p>
          <a:p>
            <a:r>
              <a:rPr lang="en-US" sz="2400" b="1" dirty="0">
                <a:latin typeface="Century Schoolbook" panose="02040604050505020304" pitchFamily="18" charset="0"/>
                <a:ea typeface="Cambria Math" panose="02040503050406030204" pitchFamily="18" charset="0"/>
              </a:rPr>
              <a:t>iii) QA is also known as a set of activities designed to evaluate the process to produce a product. </a:t>
            </a:r>
          </a:p>
          <a:p>
            <a:r>
              <a:rPr lang="en-US" sz="2400" b="1" dirty="0">
                <a:latin typeface="Century Schoolbook" panose="02040604050505020304" pitchFamily="18" charset="0"/>
                <a:ea typeface="Cambria Math" panose="02040503050406030204" pitchFamily="18" charset="0"/>
              </a:rPr>
              <a:t>iv) It yields high quality product offerings that build trust and loyalty with customers.</a:t>
            </a:r>
            <a:endParaRPr lang="en-IN" sz="2400" b="1" dirty="0">
              <a:latin typeface="Century Schoolbook" panose="02040604050505020304" pitchFamily="18" charset="0"/>
              <a:ea typeface="Cambria Math" panose="02040503050406030204" pitchFamily="18" charset="0"/>
            </a:endParaRPr>
          </a:p>
        </p:txBody>
      </p:sp>
    </p:spTree>
    <p:extLst>
      <p:ext uri="{BB962C8B-B14F-4D97-AF65-F5344CB8AC3E}">
        <p14:creationId xmlns:p14="http://schemas.microsoft.com/office/powerpoint/2010/main" val="6532830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1448F-051D-EA72-56E5-572C6940AC34}"/>
              </a:ext>
            </a:extLst>
          </p:cNvPr>
          <p:cNvSpPr>
            <a:spLocks noGrp="1"/>
          </p:cNvSpPr>
          <p:nvPr>
            <p:ph type="title"/>
          </p:nvPr>
        </p:nvSpPr>
        <p:spPr>
          <a:xfrm>
            <a:off x="309881" y="304801"/>
            <a:ext cx="10131427" cy="680719"/>
          </a:xfrm>
        </p:spPr>
        <p:txBody>
          <a:bodyPr>
            <a:normAutofit fontScale="90000"/>
          </a:bodyPr>
          <a:lstStyle/>
          <a:p>
            <a:pPr marL="457200" indent="-457200">
              <a:buFont typeface="Wingdings" panose="05000000000000000000" pitchFamily="2" charset="2"/>
              <a:buChar char="v"/>
            </a:pPr>
            <a:r>
              <a:rPr lang="en-US" dirty="0"/>
              <a:t> </a:t>
            </a:r>
            <a:r>
              <a:rPr lang="en-US" sz="4400" u="sng" dirty="0">
                <a:solidFill>
                  <a:srgbClr val="FFFF00"/>
                </a:solidFill>
                <a:latin typeface="Algerian" panose="04020705040A02060702" pitchFamily="82" charset="0"/>
              </a:rPr>
              <a:t>Quality control </a:t>
            </a:r>
            <a:r>
              <a:rPr lang="en-US" sz="4400" dirty="0">
                <a:solidFill>
                  <a:srgbClr val="FFFF00"/>
                </a:solidFill>
                <a:latin typeface="Algerian" panose="04020705040A02060702" pitchFamily="82" charset="0"/>
              </a:rPr>
              <a:t>:-</a:t>
            </a:r>
            <a:endParaRPr lang="en-IN" sz="4400" dirty="0"/>
          </a:p>
        </p:txBody>
      </p:sp>
      <p:sp>
        <p:nvSpPr>
          <p:cNvPr id="3" name="Text Placeholder 2">
            <a:extLst>
              <a:ext uri="{FF2B5EF4-FFF2-40B4-BE49-F238E27FC236}">
                <a16:creationId xmlns:a16="http://schemas.microsoft.com/office/drawing/2014/main" id="{5D55223C-A606-9EDC-304C-172D803218CD}"/>
              </a:ext>
            </a:extLst>
          </p:cNvPr>
          <p:cNvSpPr>
            <a:spLocks noGrp="1"/>
          </p:cNvSpPr>
          <p:nvPr>
            <p:ph type="body" idx="1"/>
          </p:nvPr>
        </p:nvSpPr>
        <p:spPr>
          <a:xfrm>
            <a:off x="309880" y="-264159"/>
            <a:ext cx="11567160" cy="6817358"/>
          </a:xfrm>
        </p:spPr>
        <p:txBody>
          <a:bodyPr>
            <a:normAutofit/>
          </a:bodyPr>
          <a:lstStyle/>
          <a:p>
            <a:pPr marL="571500" indent="-571500">
              <a:buFont typeface="+mj-lt"/>
              <a:buAutoNum type="romanLcPeriod"/>
            </a:pPr>
            <a:r>
              <a:rPr lang="en-US" sz="2800" b="1" dirty="0">
                <a:latin typeface="Century Schoolbook" panose="02040604050505020304" pitchFamily="18" charset="0"/>
              </a:rPr>
              <a:t>Quality control also known as a QC is a sequence of tasks to ensure the quality of software by identifying defects &amp; correction of defects in the developed software.</a:t>
            </a:r>
          </a:p>
          <a:p>
            <a:pPr marL="571500" indent="-571500">
              <a:buFont typeface="+mj-lt"/>
              <a:buAutoNum type="romanLcPeriod"/>
            </a:pPr>
            <a:r>
              <a:rPr lang="en-US" sz="2800" b="1" dirty="0">
                <a:latin typeface="Century Schoolbook" panose="02040604050505020304" pitchFamily="18" charset="0"/>
              </a:rPr>
              <a:t>The main purpose of this process is to correct all types of defects before releasing the software .</a:t>
            </a:r>
          </a:p>
          <a:p>
            <a:pPr marL="571500" indent="-571500">
              <a:buFont typeface="+mj-lt"/>
              <a:buAutoNum type="romanLcPeriod"/>
            </a:pPr>
            <a:r>
              <a:rPr lang="en-US" sz="2800" b="1" dirty="0">
                <a:latin typeface="Century Schoolbook" panose="02040604050505020304" pitchFamily="18" charset="0"/>
              </a:rPr>
              <a:t>It is done by eliminating sources of problems through the corrective tools.</a:t>
            </a:r>
          </a:p>
          <a:p>
            <a:pPr marL="571500" indent="-571500">
              <a:buFont typeface="+mj-lt"/>
              <a:buAutoNum type="romanLcPeriod"/>
            </a:pPr>
            <a:r>
              <a:rPr lang="en-US" sz="2800" b="1" dirty="0">
                <a:latin typeface="Century Schoolbook" panose="02040604050505020304" pitchFamily="18" charset="0"/>
              </a:rPr>
              <a:t>The responsibility of quality control is of specific team which is known as the testing team.</a:t>
            </a:r>
            <a:endParaRPr lang="en-IN" sz="2800" b="1" dirty="0">
              <a:latin typeface="Century Schoolbook" panose="02040604050505020304" pitchFamily="18" charset="0"/>
            </a:endParaRPr>
          </a:p>
        </p:txBody>
      </p:sp>
    </p:spTree>
    <p:extLst>
      <p:ext uri="{BB962C8B-B14F-4D97-AF65-F5344CB8AC3E}">
        <p14:creationId xmlns:p14="http://schemas.microsoft.com/office/powerpoint/2010/main" val="41821654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D1D55-020E-9F57-CF55-089CE5E02AB5}"/>
              </a:ext>
            </a:extLst>
          </p:cNvPr>
          <p:cNvSpPr>
            <a:spLocks noGrp="1"/>
          </p:cNvSpPr>
          <p:nvPr>
            <p:ph type="title"/>
          </p:nvPr>
        </p:nvSpPr>
        <p:spPr>
          <a:xfrm>
            <a:off x="111760" y="251703"/>
            <a:ext cx="11968480" cy="886218"/>
          </a:xfrm>
        </p:spPr>
        <p:txBody>
          <a:bodyPr>
            <a:normAutofit fontScale="90000"/>
          </a:bodyPr>
          <a:lstStyle/>
          <a:p>
            <a:pPr marL="457200" indent="-457200">
              <a:buFont typeface="Wingdings" panose="05000000000000000000" pitchFamily="2" charset="2"/>
              <a:buChar char="v"/>
            </a:pPr>
            <a:r>
              <a:rPr lang="en-US" dirty="0">
                <a:solidFill>
                  <a:srgbClr val="FFFF00"/>
                </a:solidFill>
                <a:latin typeface="Algerian" panose="04020705040A02060702" pitchFamily="82" charset="0"/>
              </a:rPr>
              <a:t>Difference Between Quality assurance &amp; quality control</a:t>
            </a:r>
            <a:r>
              <a:rPr lang="en-US" dirty="0"/>
              <a:t> </a:t>
            </a:r>
            <a:endParaRPr lang="en-IN" dirty="0"/>
          </a:p>
        </p:txBody>
      </p:sp>
      <p:sp>
        <p:nvSpPr>
          <p:cNvPr id="3" name="Text Placeholder 2">
            <a:extLst>
              <a:ext uri="{FF2B5EF4-FFF2-40B4-BE49-F238E27FC236}">
                <a16:creationId xmlns:a16="http://schemas.microsoft.com/office/drawing/2014/main" id="{99B70413-1632-28A7-1FB0-CA46D203603D}"/>
              </a:ext>
            </a:extLst>
          </p:cNvPr>
          <p:cNvSpPr>
            <a:spLocks noGrp="1"/>
          </p:cNvSpPr>
          <p:nvPr>
            <p:ph type="body" idx="1"/>
          </p:nvPr>
        </p:nvSpPr>
        <p:spPr>
          <a:xfrm>
            <a:off x="685800" y="5405120"/>
            <a:ext cx="10131428" cy="386080"/>
          </a:xfrm>
        </p:spPr>
        <p:txBody>
          <a:bodyPr>
            <a:normAutofit lnSpcReduction="10000"/>
          </a:bodyPr>
          <a:lstStyle/>
          <a:p>
            <a:endParaRPr lang="en-IN" dirty="0"/>
          </a:p>
        </p:txBody>
      </p:sp>
      <p:pic>
        <p:nvPicPr>
          <p:cNvPr id="5" name="Picture 4">
            <a:extLst>
              <a:ext uri="{FF2B5EF4-FFF2-40B4-BE49-F238E27FC236}">
                <a16:creationId xmlns:a16="http://schemas.microsoft.com/office/drawing/2014/main" id="{E5F74955-EB4D-FCAC-4C21-355E53F683F1}"/>
              </a:ext>
            </a:extLst>
          </p:cNvPr>
          <p:cNvPicPr>
            <a:picLocks noChangeAspect="1"/>
          </p:cNvPicPr>
          <p:nvPr/>
        </p:nvPicPr>
        <p:blipFill>
          <a:blip r:embed="rId2"/>
          <a:stretch>
            <a:fillRect/>
          </a:stretch>
        </p:blipFill>
        <p:spPr>
          <a:xfrm>
            <a:off x="568960" y="1066800"/>
            <a:ext cx="11054080" cy="5445760"/>
          </a:xfrm>
          <a:prstGeom prst="rect">
            <a:avLst/>
          </a:prstGeom>
        </p:spPr>
      </p:pic>
    </p:spTree>
    <p:extLst>
      <p:ext uri="{BB962C8B-B14F-4D97-AF65-F5344CB8AC3E}">
        <p14:creationId xmlns:p14="http://schemas.microsoft.com/office/powerpoint/2010/main" val="1346616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41862-AD1D-21AE-2AC3-3DDD22A25626}"/>
              </a:ext>
            </a:extLst>
          </p:cNvPr>
          <p:cNvSpPr>
            <a:spLocks noGrp="1"/>
          </p:cNvSpPr>
          <p:nvPr>
            <p:ph type="title"/>
          </p:nvPr>
        </p:nvSpPr>
        <p:spPr>
          <a:xfrm>
            <a:off x="685801" y="1"/>
            <a:ext cx="10131427" cy="904239"/>
          </a:xfrm>
        </p:spPr>
        <p:txBody>
          <a:bodyPr/>
          <a:lstStyle/>
          <a:p>
            <a:pPr marL="457200" indent="-457200">
              <a:buFont typeface="Wingdings" panose="05000000000000000000" pitchFamily="2" charset="2"/>
              <a:buChar char="v"/>
            </a:pPr>
            <a:r>
              <a:rPr lang="en-US" sz="4400" u="sng" dirty="0">
                <a:solidFill>
                  <a:srgbClr val="FFFF00"/>
                </a:solidFill>
                <a:latin typeface="Algerian" panose="04020705040A02060702" pitchFamily="82" charset="0"/>
              </a:rPr>
              <a:t>verification</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356F1524-10D2-DD9C-03A2-8F1CDE2C70AC}"/>
              </a:ext>
            </a:extLst>
          </p:cNvPr>
          <p:cNvSpPr>
            <a:spLocks noGrp="1"/>
          </p:cNvSpPr>
          <p:nvPr>
            <p:ph type="body" idx="1"/>
          </p:nvPr>
        </p:nvSpPr>
        <p:spPr>
          <a:xfrm>
            <a:off x="149778" y="0"/>
            <a:ext cx="12120880" cy="5354320"/>
          </a:xfrm>
        </p:spPr>
        <p:txBody>
          <a:bodyPr>
            <a:normAutofit/>
          </a:bodyPr>
          <a:lstStyle/>
          <a:p>
            <a:pPr marL="514350" indent="-514350">
              <a:buFont typeface="+mj-lt"/>
              <a:buAutoNum type="romanLcPeriod"/>
            </a:pPr>
            <a:r>
              <a:rPr lang="en-US" sz="2800" b="1" dirty="0">
                <a:latin typeface="Century Schoolbook" panose="02040604050505020304" pitchFamily="18" charset="0"/>
              </a:rPr>
              <a:t>Verification is the process of confirming something. Here, confirming that the software meets its specifications.</a:t>
            </a:r>
          </a:p>
          <a:p>
            <a:pPr marL="514350" indent="-514350">
              <a:buFont typeface="+mj-lt"/>
              <a:buAutoNum type="romanLcPeriod"/>
            </a:pPr>
            <a:r>
              <a:rPr lang="en-US" sz="2800" b="1" dirty="0">
                <a:latin typeface="Century Schoolbook" panose="02040604050505020304" pitchFamily="18" charset="0"/>
              </a:rPr>
              <a:t>The verification process involves activities like reviews, walk-throughs &amp; inspection.</a:t>
            </a:r>
          </a:p>
          <a:p>
            <a:pPr marL="514350" indent="-514350">
              <a:buFont typeface="+mj-lt"/>
              <a:buAutoNum type="romanLcPeriod"/>
            </a:pPr>
            <a:r>
              <a:rPr lang="en-IN" sz="2800" b="1" dirty="0">
                <a:latin typeface="Century Schoolbook" panose="02040604050505020304" pitchFamily="18" charset="0"/>
              </a:rPr>
              <a:t>It ensures that the product is built according to the requirements &amp; design specifications.</a:t>
            </a:r>
          </a:p>
          <a:p>
            <a:pPr marL="514350" indent="-514350">
              <a:buFont typeface="+mj-lt"/>
              <a:buAutoNum type="romanLcPeriod"/>
            </a:pPr>
            <a:r>
              <a:rPr lang="en-IN" sz="2800" b="1" dirty="0">
                <a:latin typeface="Century Schoolbook" panose="02040604050505020304" pitchFamily="18" charset="0"/>
              </a:rPr>
              <a:t>It is also known as static testing, where we are ensuring that “ we are developing the right product or not. ”</a:t>
            </a:r>
            <a:endParaRPr lang="en-US" sz="2800" b="1" dirty="0">
              <a:latin typeface="Century Schoolbook" panose="02040604050505020304" pitchFamily="18" charset="0"/>
            </a:endParaRPr>
          </a:p>
        </p:txBody>
      </p:sp>
    </p:spTree>
    <p:extLst>
      <p:ext uri="{BB962C8B-B14F-4D97-AF65-F5344CB8AC3E}">
        <p14:creationId xmlns:p14="http://schemas.microsoft.com/office/powerpoint/2010/main" val="11847713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FA3D7-21B9-5773-1033-F0D33F17203F}"/>
              </a:ext>
            </a:extLst>
          </p:cNvPr>
          <p:cNvSpPr>
            <a:spLocks noGrp="1"/>
          </p:cNvSpPr>
          <p:nvPr>
            <p:ph type="title"/>
          </p:nvPr>
        </p:nvSpPr>
        <p:spPr>
          <a:xfrm>
            <a:off x="233680" y="172721"/>
            <a:ext cx="11744959" cy="731519"/>
          </a:xfrm>
        </p:spPr>
        <p:txBody>
          <a:bodyPr/>
          <a:lstStyle/>
          <a:p>
            <a:pPr marL="457200" indent="-457200">
              <a:buFont typeface="Wingdings" panose="05000000000000000000" pitchFamily="2" charset="2"/>
              <a:buChar char="v"/>
            </a:pPr>
            <a:r>
              <a:rPr lang="en-US" dirty="0">
                <a:latin typeface="Algerian" panose="04020705040A02060702" pitchFamily="82" charset="0"/>
              </a:rPr>
              <a:t> </a:t>
            </a:r>
            <a:r>
              <a:rPr lang="en-US" u="sng" dirty="0">
                <a:solidFill>
                  <a:srgbClr val="FFFF00"/>
                </a:solidFill>
                <a:latin typeface="Algerian" panose="04020705040A02060702" pitchFamily="82" charset="0"/>
              </a:rPr>
              <a:t>validation </a:t>
            </a:r>
            <a:r>
              <a:rPr lang="en-US" dirty="0">
                <a:solidFill>
                  <a:srgbClr val="FFFF00"/>
                </a:solidFill>
                <a:latin typeface="Algerian" panose="04020705040A02060702" pitchFamily="82" charset="0"/>
              </a:rPr>
              <a:t>: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6BA5269B-4089-8896-5A91-3D63E598344F}"/>
              </a:ext>
            </a:extLst>
          </p:cNvPr>
          <p:cNvSpPr>
            <a:spLocks noGrp="1"/>
          </p:cNvSpPr>
          <p:nvPr>
            <p:ph type="body" idx="1"/>
          </p:nvPr>
        </p:nvSpPr>
        <p:spPr>
          <a:xfrm>
            <a:off x="86359" y="0"/>
            <a:ext cx="12039600" cy="5577840"/>
          </a:xfrm>
        </p:spPr>
        <p:txBody>
          <a:bodyPr>
            <a:normAutofit/>
          </a:bodyPr>
          <a:lstStyle/>
          <a:p>
            <a:pPr marL="514350" indent="-514350">
              <a:buFont typeface="+mj-lt"/>
              <a:buAutoNum type="romanLcPeriod"/>
            </a:pPr>
            <a:r>
              <a:rPr lang="en-US" sz="2800" b="1" dirty="0">
                <a:latin typeface="Century Schoolbook" panose="02040604050505020304" pitchFamily="18" charset="0"/>
                <a:ea typeface="Cambria Math" panose="02040503050406030204" pitchFamily="18" charset="0"/>
              </a:rPr>
              <a:t>Validation is the process of confirming that the software meets the user’s requirements.</a:t>
            </a:r>
          </a:p>
          <a:p>
            <a:pPr marL="514350" indent="-514350">
              <a:buFont typeface="+mj-lt"/>
              <a:buAutoNum type="romanLcPeriod"/>
            </a:pPr>
            <a:r>
              <a:rPr lang="en-US" sz="2800" b="1" dirty="0">
                <a:latin typeface="Century Schoolbook" panose="02040604050505020304" pitchFamily="18" charset="0"/>
                <a:ea typeface="Cambria Math" panose="02040503050406030204" pitchFamily="18" charset="0"/>
              </a:rPr>
              <a:t>Validation testing ensures that the product actually meets the client’s needs.</a:t>
            </a:r>
          </a:p>
          <a:p>
            <a:pPr marL="514350" indent="-514350">
              <a:buFont typeface="+mj-lt"/>
              <a:buAutoNum type="romanLcPeriod"/>
            </a:pPr>
            <a:r>
              <a:rPr lang="en-US" sz="2800" b="1" dirty="0">
                <a:latin typeface="Century Schoolbook" panose="02040604050505020304" pitchFamily="18" charset="0"/>
                <a:ea typeface="Cambria Math" panose="02040503050406030204" pitchFamily="18" charset="0"/>
              </a:rPr>
              <a:t>It is a testing where tester perform functional &amp; non - functional testing.</a:t>
            </a:r>
          </a:p>
          <a:p>
            <a:pPr marL="514350" indent="-514350">
              <a:buFont typeface="+mj-lt"/>
              <a:buAutoNum type="romanLcPeriod"/>
            </a:pPr>
            <a:r>
              <a:rPr lang="en-US" sz="2800" b="1" dirty="0">
                <a:latin typeface="Century Schoolbook" panose="02040604050505020304" pitchFamily="18" charset="0"/>
                <a:ea typeface="Cambria Math" panose="02040503050406030204" pitchFamily="18" charset="0"/>
              </a:rPr>
              <a:t>Validation testing is also known as dynamic testing, where we are ensuring that “ we have developed the product right.”</a:t>
            </a:r>
          </a:p>
        </p:txBody>
      </p:sp>
    </p:spTree>
    <p:extLst>
      <p:ext uri="{BB962C8B-B14F-4D97-AF65-F5344CB8AC3E}">
        <p14:creationId xmlns:p14="http://schemas.microsoft.com/office/powerpoint/2010/main" val="311663734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3F296A"/>
      </a:dk2>
      <a:lt2>
        <a:srgbClr val="EBEBEB"/>
      </a:lt2>
      <a:accent1>
        <a:srgbClr val="E84574"/>
      </a:accent1>
      <a:accent2>
        <a:srgbClr val="798FF2"/>
      </a:accent2>
      <a:accent3>
        <a:srgbClr val="95C369"/>
      </a:accent3>
      <a:accent4>
        <a:srgbClr val="EE875A"/>
      </a:accent4>
      <a:accent5>
        <a:srgbClr val="C363E8"/>
      </a:accent5>
      <a:accent6>
        <a:srgbClr val="6AADC8"/>
      </a:accent6>
      <a:hlink>
        <a:srgbClr val="FE80C7"/>
      </a:hlink>
      <a:folHlink>
        <a:srgbClr val="FBA3EC"/>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61DDDE80-2DFA-4F2A-B66F-72059846BDAA}"/>
    </a:ext>
  </a:extLst>
</a:theme>
</file>

<file path=docProps/app.xml><?xml version="1.0" encoding="utf-8"?>
<Properties xmlns="http://schemas.openxmlformats.org/officeDocument/2006/extended-properties" xmlns:vt="http://schemas.openxmlformats.org/officeDocument/2006/docPropsVTypes">
  <Template>Celestial</Template>
  <TotalTime>529</TotalTime>
  <Words>1666</Words>
  <Application>Microsoft Office PowerPoint</Application>
  <PresentationFormat>Widescreen</PresentationFormat>
  <Paragraphs>99</Paragraphs>
  <Slides>18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Algerian</vt:lpstr>
      <vt:lpstr>Arial</vt:lpstr>
      <vt:lpstr>Bodoni MT Black</vt:lpstr>
      <vt:lpstr>Calibri</vt:lpstr>
      <vt:lpstr>Calibri Light</vt:lpstr>
      <vt:lpstr>Century Schoolbook</vt:lpstr>
      <vt:lpstr>Cooper Black</vt:lpstr>
      <vt:lpstr>Wingdings</vt:lpstr>
      <vt:lpstr>Celestial</vt:lpstr>
      <vt:lpstr>Bhumika sunil shedhe                                                                                       </vt:lpstr>
      <vt:lpstr>Software Testing : -</vt:lpstr>
      <vt:lpstr> What is quality ?</vt:lpstr>
      <vt:lpstr>Software quality :- </vt:lpstr>
      <vt:lpstr>role of testing : -</vt:lpstr>
      <vt:lpstr>terminologies in software testing : -</vt:lpstr>
      <vt:lpstr>OBJECTIVES OF TESTING : -</vt:lpstr>
      <vt:lpstr> Test cases : -</vt:lpstr>
      <vt:lpstr> entry and exit criteria : -</vt:lpstr>
      <vt:lpstr>PowerPoint Presentation</vt:lpstr>
      <vt:lpstr>Skills for software tester : -</vt:lpstr>
      <vt:lpstr> software testing life cycle : -</vt:lpstr>
      <vt:lpstr>1. Requirement analysis : - When the system requirement document is ready &amp; shared with the stake holders, the testing team starts hight level analysis concerning the AUT (Application Under Test. ) 2. Test planning : - Test team plans the strategy &amp; approach. 3. Test case designing : - Develop the test cases based on scope &amp; criteria. 4. Test environment setup : - When integrated environment is ready to validate the product. 5. test execution : - Real-time validation of product &amp; finding bugs. 6. test closure : - Once testing is completed, matrix, reports, results are documented.</vt:lpstr>
      <vt:lpstr> Quality assurance : - </vt:lpstr>
      <vt:lpstr> Quality control :-</vt:lpstr>
      <vt:lpstr>Difference Between Quality assurance &amp; quality control </vt:lpstr>
      <vt:lpstr>verification : -</vt:lpstr>
      <vt:lpstr> validation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Darpan Shedge</dc:creator>
  <cp:lastModifiedBy>Darpan Shedge</cp:lastModifiedBy>
  <cp:revision>3</cp:revision>
  <dcterms:created xsi:type="dcterms:W3CDTF">2025-09-20T08:36:52Z</dcterms:created>
  <dcterms:modified xsi:type="dcterms:W3CDTF">2025-11-03T06:08:52Z</dcterms:modified>
</cp:coreProperties>
</file>