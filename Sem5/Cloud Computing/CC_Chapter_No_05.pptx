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77490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63662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21396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95337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79162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82162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35950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14061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11/1/2025</a:t>
            </a:fld>
            <a:endParaRPr lang="en-US" dirty="0"/>
          </a:p>
        </p:txBody>
      </p:sp>
    </p:spTree>
    <p:extLst>
      <p:ext uri="{BB962C8B-B14F-4D97-AF65-F5344CB8AC3E}">
        <p14:creationId xmlns:p14="http://schemas.microsoft.com/office/powerpoint/2010/main" val="803991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21706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663182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997304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651442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75289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045095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12031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3686816"/>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2F0F2-27D7-DABD-19AF-1F7457E37D77}"/>
              </a:ext>
            </a:extLst>
          </p:cNvPr>
          <p:cNvSpPr>
            <a:spLocks noGrp="1"/>
          </p:cNvSpPr>
          <p:nvPr>
            <p:ph type="ctrTitle"/>
          </p:nvPr>
        </p:nvSpPr>
        <p:spPr>
          <a:xfrm>
            <a:off x="501445" y="3041470"/>
            <a:ext cx="9047861" cy="1646302"/>
          </a:xfrm>
        </p:spPr>
        <p:txBody>
          <a:bodyPr/>
          <a:lstStyle/>
          <a:p>
            <a:pPr algn="ctr"/>
            <a:r>
              <a:rPr lang="en-US" sz="7200" dirty="0">
                <a:solidFill>
                  <a:srgbClr val="0070C0"/>
                </a:solidFill>
                <a:latin typeface="Algerian" panose="04020705040A02060702" pitchFamily="82" charset="0"/>
              </a:rPr>
              <a:t>05. Security in cloud computing </a:t>
            </a:r>
            <a:endParaRPr lang="en-IN" sz="7200" dirty="0">
              <a:solidFill>
                <a:srgbClr val="0070C0"/>
              </a:solidFill>
              <a:latin typeface="Algerian" panose="04020705040A02060702" pitchFamily="82" charset="0"/>
            </a:endParaRPr>
          </a:p>
        </p:txBody>
      </p:sp>
      <p:sp>
        <p:nvSpPr>
          <p:cNvPr id="3" name="Subtitle 2">
            <a:extLst>
              <a:ext uri="{FF2B5EF4-FFF2-40B4-BE49-F238E27FC236}">
                <a16:creationId xmlns:a16="http://schemas.microsoft.com/office/drawing/2014/main" id="{E8548C25-F521-9C62-2D16-4DA8BAB87115}"/>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3785103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F0DDA-03B4-620B-2973-BCBA3ED45D1C}"/>
              </a:ext>
            </a:extLst>
          </p:cNvPr>
          <p:cNvSpPr>
            <a:spLocks noGrp="1"/>
          </p:cNvSpPr>
          <p:nvPr>
            <p:ph type="title"/>
          </p:nvPr>
        </p:nvSpPr>
        <p:spPr>
          <a:xfrm>
            <a:off x="0" y="-98322"/>
            <a:ext cx="9645445" cy="845574"/>
          </a:xfrm>
        </p:spPr>
        <p:txBody>
          <a:bodyPr>
            <a:normAutofit fontScale="90000"/>
          </a:bodyPr>
          <a:lstStyle/>
          <a:p>
            <a:r>
              <a:rPr lang="en-US" sz="4000" dirty="0">
                <a:solidFill>
                  <a:srgbClr val="0070C0"/>
                </a:solidFill>
                <a:latin typeface="Algerian" panose="04020705040A02060702" pitchFamily="82" charset="0"/>
              </a:rPr>
              <a:t>5.1] </a:t>
            </a:r>
            <a:r>
              <a:rPr lang="en-US" sz="4000" u="sng" dirty="0">
                <a:solidFill>
                  <a:srgbClr val="0070C0"/>
                </a:solidFill>
                <a:latin typeface="Algerian" panose="04020705040A02060702" pitchFamily="82" charset="0"/>
              </a:rPr>
              <a:t>cloud security </a:t>
            </a:r>
            <a:r>
              <a:rPr lang="en-US" sz="4000" u="sng" dirty="0" err="1">
                <a:solidFill>
                  <a:srgbClr val="0070C0"/>
                </a:solidFill>
                <a:latin typeface="Algerian" panose="04020705040A02060702" pitchFamily="82" charset="0"/>
              </a:rPr>
              <a:t>dundamentals</a:t>
            </a:r>
            <a:r>
              <a:rPr lang="en-US" sz="4000" dirty="0">
                <a:solidFill>
                  <a:srgbClr val="0070C0"/>
                </a:solidFill>
                <a:latin typeface="Algerian" panose="04020705040A02060702" pitchFamily="82" charset="0"/>
              </a:rPr>
              <a:t> : -</a:t>
            </a:r>
            <a:endParaRPr lang="en-IN" sz="4000"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1108B65F-248C-9575-E81C-563BEE06B636}"/>
              </a:ext>
            </a:extLst>
          </p:cNvPr>
          <p:cNvSpPr>
            <a:spLocks noGrp="1"/>
          </p:cNvSpPr>
          <p:nvPr>
            <p:ph type="body" idx="1"/>
          </p:nvPr>
        </p:nvSpPr>
        <p:spPr>
          <a:xfrm>
            <a:off x="0" y="658761"/>
            <a:ext cx="10009239" cy="4277033"/>
          </a:xfrm>
        </p:spPr>
        <p:txBody>
          <a:bodyPr>
            <a:normAutofit lnSpcReduction="10000"/>
          </a:bodyPr>
          <a:lstStyle/>
          <a:p>
            <a:pPr marL="571500" indent="-571500">
              <a:buClr>
                <a:schemeClr val="accent2"/>
              </a:buClr>
              <a:buFont typeface="Wingdings" panose="05000000000000000000" pitchFamily="2" charset="2"/>
              <a:buChar char="v"/>
            </a:pPr>
            <a:r>
              <a:rPr lang="en-US" sz="4000" b="1" u="sng" dirty="0">
                <a:solidFill>
                  <a:srgbClr val="0070C0"/>
                </a:solidFill>
                <a:latin typeface="Century Schoolbook" panose="02040604050505020304" pitchFamily="18" charset="0"/>
              </a:rPr>
              <a:t>Cloud Security</a:t>
            </a:r>
            <a:r>
              <a:rPr lang="en-US" sz="4000" b="1" dirty="0">
                <a:solidFill>
                  <a:srgbClr val="0070C0"/>
                </a:solidFill>
                <a:latin typeface="Century Schoolbook" panose="02040604050505020304" pitchFamily="18" charset="0"/>
              </a:rPr>
              <a:t> : -</a:t>
            </a:r>
          </a:p>
          <a:p>
            <a:r>
              <a:rPr lang="en-US" sz="2800" b="1" dirty="0" err="1">
                <a:latin typeface="Century Schoolbook" panose="02040604050505020304" pitchFamily="18" charset="0"/>
              </a:rPr>
              <a:t>i</a:t>
            </a:r>
            <a:r>
              <a:rPr lang="en-US" sz="2800" b="1" dirty="0">
                <a:latin typeface="Century Schoolbook" panose="02040604050505020304" pitchFamily="18" charset="0"/>
              </a:rPr>
              <a:t>) cloud computing security consist of a set of policies, controls, procedures and technologies that work together to protect cloud based systems, data and infrastructure.</a:t>
            </a:r>
          </a:p>
          <a:p>
            <a:r>
              <a:rPr lang="en-US" sz="2800" b="1" dirty="0">
                <a:latin typeface="Century Schoolbook" panose="02040604050505020304" pitchFamily="18" charset="0"/>
              </a:rPr>
              <a:t>ii) It is a set of control-based safeguards and technology </a:t>
            </a:r>
            <a:r>
              <a:rPr lang="en-US" sz="2800" b="1" dirty="0" err="1">
                <a:latin typeface="Century Schoolbook" panose="02040604050505020304" pitchFamily="18" charset="0"/>
              </a:rPr>
              <a:t>protec</a:t>
            </a:r>
            <a:r>
              <a:rPr lang="en-US" sz="2800" b="1" dirty="0">
                <a:latin typeface="Century Schoolbook" panose="02040604050505020304" pitchFamily="18" charset="0"/>
              </a:rPr>
              <a:t>- </a:t>
            </a:r>
            <a:r>
              <a:rPr lang="en-US" sz="2800" b="1" dirty="0" err="1">
                <a:latin typeface="Century Schoolbook" panose="02040604050505020304" pitchFamily="18" charset="0"/>
              </a:rPr>
              <a:t>tion</a:t>
            </a:r>
            <a:r>
              <a:rPr lang="en-US" sz="2800" b="1" dirty="0">
                <a:latin typeface="Century Schoolbook" panose="02040604050505020304" pitchFamily="18" charset="0"/>
              </a:rPr>
              <a:t> designed to protect resources stored online from leakage, theft, or data loss.</a:t>
            </a:r>
            <a:endParaRPr lang="en-IN" sz="2800" b="1" dirty="0">
              <a:latin typeface="Century Schoolbook" panose="02040604050505020304" pitchFamily="18" charset="0"/>
            </a:endParaRPr>
          </a:p>
        </p:txBody>
      </p:sp>
    </p:spTree>
    <p:extLst>
      <p:ext uri="{BB962C8B-B14F-4D97-AF65-F5344CB8AC3E}">
        <p14:creationId xmlns:p14="http://schemas.microsoft.com/office/powerpoint/2010/main" val="309932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93932-F573-C109-A963-33D89EEBF3A2}"/>
              </a:ext>
            </a:extLst>
          </p:cNvPr>
          <p:cNvSpPr>
            <a:spLocks noGrp="1"/>
          </p:cNvSpPr>
          <p:nvPr>
            <p:ph type="title"/>
          </p:nvPr>
        </p:nvSpPr>
        <p:spPr>
          <a:xfrm>
            <a:off x="0" y="-82755"/>
            <a:ext cx="9390898" cy="643194"/>
          </a:xfrm>
        </p:spPr>
        <p:txBody>
          <a:bodyPr>
            <a:normAutofit/>
          </a:bodyPr>
          <a:lstStyle/>
          <a:p>
            <a:pPr marL="571500" indent="-571500">
              <a:buClr>
                <a:srgbClr val="0070C0"/>
              </a:buClr>
              <a:buFont typeface="Wingdings" panose="05000000000000000000" pitchFamily="2" charset="2"/>
              <a:buChar char="v"/>
            </a:pPr>
            <a:r>
              <a:rPr lang="en-US" sz="3600" u="sng" dirty="0">
                <a:solidFill>
                  <a:srgbClr val="0070C0"/>
                </a:solidFill>
                <a:latin typeface="Algerian" panose="04020705040A02060702" pitchFamily="82" charset="0"/>
              </a:rPr>
              <a:t>Fundamentals of cloud storage</a:t>
            </a:r>
            <a:r>
              <a:rPr lang="en-US" sz="3600" dirty="0">
                <a:solidFill>
                  <a:srgbClr val="0070C0"/>
                </a:solidFill>
                <a:latin typeface="Algerian" panose="04020705040A02060702" pitchFamily="82" charset="0"/>
              </a:rPr>
              <a:t> : -</a:t>
            </a:r>
            <a:endParaRPr lang="en-IN" sz="3600"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1D88E8BD-8128-E60D-854A-FCC1B7370ADB}"/>
              </a:ext>
            </a:extLst>
          </p:cNvPr>
          <p:cNvSpPr>
            <a:spLocks noGrp="1"/>
          </p:cNvSpPr>
          <p:nvPr>
            <p:ph type="body" idx="1"/>
          </p:nvPr>
        </p:nvSpPr>
        <p:spPr>
          <a:xfrm>
            <a:off x="117987" y="238842"/>
            <a:ext cx="9655278" cy="6297561"/>
          </a:xfrm>
        </p:spPr>
        <p:txBody>
          <a:bodyPr>
            <a:normAutofit/>
          </a:bodyPr>
          <a:lstStyle/>
          <a:p>
            <a:r>
              <a:rPr lang="en-US" sz="2000" b="1" dirty="0">
                <a:solidFill>
                  <a:srgbClr val="0070C0"/>
                </a:solidFill>
                <a:latin typeface="Century Schoolbook" panose="02040604050505020304" pitchFamily="18" charset="0"/>
              </a:rPr>
              <a:t>1. </a:t>
            </a:r>
            <a:r>
              <a:rPr lang="en-US" sz="2000" b="1" u="sng" dirty="0">
                <a:solidFill>
                  <a:srgbClr val="0070C0"/>
                </a:solidFill>
                <a:latin typeface="Century Schoolbook" panose="02040604050505020304" pitchFamily="18" charset="0"/>
              </a:rPr>
              <a:t>Understand what you're responsible for</a:t>
            </a:r>
            <a:r>
              <a:rPr lang="en-US" b="1" dirty="0">
                <a:solidFill>
                  <a:srgbClr val="0070C0"/>
                </a:solidFill>
                <a:latin typeface="Century Schoolbook" panose="02040604050505020304" pitchFamily="18" charset="0"/>
              </a:rPr>
              <a:t> : -</a:t>
            </a:r>
            <a:r>
              <a:rPr lang="en-US" b="1" dirty="0">
                <a:latin typeface="Century Schoolbook" panose="02040604050505020304" pitchFamily="18" charset="0"/>
              </a:rPr>
              <a:t> To ensure security, close customers need to double check with their Taas providers to understand who's in charge of each security control.</a:t>
            </a:r>
          </a:p>
          <a:p>
            <a:r>
              <a:rPr lang="en-US" sz="2000" b="1" dirty="0">
                <a:solidFill>
                  <a:srgbClr val="0070C0"/>
                </a:solidFill>
                <a:latin typeface="Century Schoolbook" panose="02040604050505020304" pitchFamily="18" charset="0"/>
              </a:rPr>
              <a:t>2. </a:t>
            </a:r>
            <a:r>
              <a:rPr lang="en-US" sz="2000" b="1" u="sng" dirty="0">
                <a:solidFill>
                  <a:srgbClr val="0070C0"/>
                </a:solidFill>
                <a:latin typeface="Century Schoolbook" panose="02040604050505020304" pitchFamily="18" charset="0"/>
              </a:rPr>
              <a:t>Control User Access</a:t>
            </a:r>
            <a:r>
              <a:rPr lang="en-US" sz="2000" b="1" dirty="0">
                <a:solidFill>
                  <a:srgbClr val="0070C0"/>
                </a:solidFill>
                <a:latin typeface="Century Schoolbook" panose="02040604050505020304" pitchFamily="18" charset="0"/>
              </a:rPr>
              <a:t> : -</a:t>
            </a:r>
            <a:r>
              <a:rPr lang="en-US" b="1" dirty="0">
                <a:solidFill>
                  <a:srgbClr val="0070C0"/>
                </a:solidFill>
                <a:latin typeface="Century Schoolbook" panose="02040604050505020304" pitchFamily="18" charset="0"/>
              </a:rPr>
              <a:t> </a:t>
            </a:r>
            <a:r>
              <a:rPr lang="en-US" b="1" dirty="0">
                <a:latin typeface="Century Schoolbook" panose="02040604050505020304" pitchFamily="18" charset="0"/>
              </a:rPr>
              <a:t>Identity and access control policies should grant the minimum set of privileges needed and only grant other permissions as needed.</a:t>
            </a:r>
          </a:p>
          <a:p>
            <a:r>
              <a:rPr lang="en-US" sz="2000" b="1" dirty="0">
                <a:solidFill>
                  <a:srgbClr val="0070C0"/>
                </a:solidFill>
                <a:latin typeface="Century Schoolbook" panose="02040604050505020304" pitchFamily="18" charset="0"/>
              </a:rPr>
              <a:t>3. </a:t>
            </a:r>
            <a:r>
              <a:rPr lang="en-US" sz="2000" b="1" u="sng" dirty="0">
                <a:solidFill>
                  <a:srgbClr val="0070C0"/>
                </a:solidFill>
                <a:latin typeface="Century Schoolbook" panose="02040604050505020304" pitchFamily="18" charset="0"/>
              </a:rPr>
              <a:t>Data Protection</a:t>
            </a:r>
            <a:r>
              <a:rPr lang="en-US" sz="2000" b="1" dirty="0">
                <a:solidFill>
                  <a:srgbClr val="0070C0"/>
                </a:solidFill>
                <a:latin typeface="Century Schoolbook" panose="02040604050505020304" pitchFamily="18" charset="0"/>
              </a:rPr>
              <a:t> : - </a:t>
            </a:r>
            <a:r>
              <a:rPr lang="en-US" b="1" dirty="0">
                <a:latin typeface="Century Schoolbook" panose="02040604050505020304" pitchFamily="18" charset="0"/>
              </a:rPr>
              <a:t>Methods include virtual private networks, encryption, or masking. Data stored on cloud infrastructure should never be unencrypted.</a:t>
            </a:r>
          </a:p>
          <a:p>
            <a:r>
              <a:rPr lang="en-US" sz="2000" b="1" dirty="0">
                <a:solidFill>
                  <a:srgbClr val="0070C0"/>
                </a:solidFill>
                <a:latin typeface="Century Schoolbook" panose="02040604050505020304" pitchFamily="18" charset="0"/>
              </a:rPr>
              <a:t>4. </a:t>
            </a:r>
            <a:r>
              <a:rPr lang="en-US" sz="2000" b="1" u="sng" dirty="0">
                <a:solidFill>
                  <a:srgbClr val="0070C0"/>
                </a:solidFill>
                <a:latin typeface="Century Schoolbook" panose="02040604050505020304" pitchFamily="18" charset="0"/>
              </a:rPr>
              <a:t>Secure Credentials</a:t>
            </a:r>
            <a:r>
              <a:rPr lang="en-US" sz="2000" b="1" dirty="0">
                <a:solidFill>
                  <a:srgbClr val="0070C0"/>
                </a:solidFill>
                <a:latin typeface="Century Schoolbook" panose="02040604050505020304" pitchFamily="18" charset="0"/>
              </a:rPr>
              <a:t> : - </a:t>
            </a:r>
            <a:r>
              <a:rPr lang="en-US" b="1" dirty="0">
                <a:latin typeface="Century Schoolbook" panose="02040604050505020304" pitchFamily="18" charset="0"/>
              </a:rPr>
              <a:t>By maintaining strict access control, we can keep critical documents from malicious insiders or backers. with stolen credentials.</a:t>
            </a:r>
          </a:p>
          <a:p>
            <a:r>
              <a:rPr lang="en-US" sz="2000" b="1" dirty="0">
                <a:solidFill>
                  <a:srgbClr val="0070C0"/>
                </a:solidFill>
                <a:latin typeface="Century Schoolbook" panose="02040604050505020304" pitchFamily="18" charset="0"/>
              </a:rPr>
              <a:t>5. </a:t>
            </a:r>
            <a:r>
              <a:rPr lang="en-US" sz="2000" b="1" u="sng" dirty="0">
                <a:solidFill>
                  <a:srgbClr val="0070C0"/>
                </a:solidFill>
                <a:latin typeface="Century Schoolbook" panose="02040604050505020304" pitchFamily="18" charset="0"/>
              </a:rPr>
              <a:t>Implement MFA</a:t>
            </a:r>
            <a:r>
              <a:rPr lang="en-US" sz="2000" b="1" dirty="0">
                <a:solidFill>
                  <a:srgbClr val="0070C0"/>
                </a:solidFill>
                <a:latin typeface="Century Schoolbook" panose="02040604050505020304" pitchFamily="18" charset="0"/>
              </a:rPr>
              <a:t> : - </a:t>
            </a:r>
            <a:r>
              <a:rPr lang="en-US" b="1" dirty="0">
                <a:latin typeface="Century Schoolbook" panose="02040604050505020304" pitchFamily="18" charset="0"/>
              </a:rPr>
              <a:t>Organizations can significantly improve their security posture and protect sensitive data and applications.</a:t>
            </a:r>
          </a:p>
          <a:p>
            <a:r>
              <a:rPr lang="en-US" sz="2000" b="1" dirty="0">
                <a:solidFill>
                  <a:srgbClr val="0070C0"/>
                </a:solidFill>
                <a:latin typeface="Century Schoolbook" panose="02040604050505020304" pitchFamily="18" charset="0"/>
              </a:rPr>
              <a:t>6. </a:t>
            </a:r>
            <a:r>
              <a:rPr lang="en-US" sz="2000" b="1" u="sng" dirty="0">
                <a:solidFill>
                  <a:srgbClr val="0070C0"/>
                </a:solidFill>
                <a:latin typeface="Century Schoolbook" panose="02040604050505020304" pitchFamily="18" charset="0"/>
              </a:rPr>
              <a:t>Increase Visibility</a:t>
            </a:r>
            <a:r>
              <a:rPr lang="en-US" sz="2000" b="1" dirty="0">
                <a:solidFill>
                  <a:srgbClr val="0070C0"/>
                </a:solidFill>
                <a:latin typeface="Century Schoolbook" panose="02040604050505020304" pitchFamily="18" charset="0"/>
              </a:rPr>
              <a:t> : -</a:t>
            </a:r>
            <a:r>
              <a:rPr lang="en-US" b="1" dirty="0">
                <a:solidFill>
                  <a:srgbClr val="0070C0"/>
                </a:solidFill>
                <a:latin typeface="Century Schoolbook" panose="02040604050505020304" pitchFamily="18" charset="0"/>
              </a:rPr>
              <a:t> </a:t>
            </a:r>
            <a:r>
              <a:rPr lang="en-US" b="1" dirty="0">
                <a:latin typeface="Century Schoolbook" panose="02040604050505020304" pitchFamily="18" charset="0"/>
              </a:rPr>
              <a:t>To see issues like unauthorized access attempts, turn on security logging and monitoring once your cloud has been setup.</a:t>
            </a:r>
          </a:p>
          <a:p>
            <a:r>
              <a:rPr lang="en-US" sz="2000" b="1" dirty="0">
                <a:solidFill>
                  <a:srgbClr val="0070C0"/>
                </a:solidFill>
                <a:latin typeface="Century Schoolbook" panose="02040604050505020304" pitchFamily="18" charset="0"/>
              </a:rPr>
              <a:t>7. </a:t>
            </a:r>
            <a:r>
              <a:rPr lang="en-US" sz="2000" b="1" u="sng" dirty="0">
                <a:solidFill>
                  <a:srgbClr val="0070C0"/>
                </a:solidFill>
                <a:latin typeface="Century Schoolbook" panose="02040604050505020304" pitchFamily="18" charset="0"/>
              </a:rPr>
              <a:t>Adopt a shift-left approach</a:t>
            </a:r>
            <a:r>
              <a:rPr lang="en-US" sz="2000" b="1" dirty="0">
                <a:solidFill>
                  <a:srgbClr val="0070C0"/>
                </a:solidFill>
                <a:latin typeface="Century Schoolbook" panose="02040604050505020304" pitchFamily="18" charset="0"/>
              </a:rPr>
              <a:t> : </a:t>
            </a:r>
            <a:r>
              <a:rPr lang="en-US" b="1" dirty="0">
                <a:solidFill>
                  <a:srgbClr val="0070C0"/>
                </a:solidFill>
                <a:latin typeface="Century Schoolbook" panose="02040604050505020304" pitchFamily="18" charset="0"/>
              </a:rPr>
              <a:t>- </a:t>
            </a:r>
            <a:r>
              <a:rPr lang="en-US" b="1" dirty="0">
                <a:latin typeface="Century Schoolbook" panose="02040604050505020304" pitchFamily="18" charset="0"/>
              </a:rPr>
              <a:t>With a shift-left approach, security considerations are incorporated early into the development process rather than at the final stage.</a:t>
            </a:r>
            <a:endParaRPr lang="en-IN" b="1" dirty="0">
              <a:latin typeface="Century Schoolbook" panose="02040604050505020304" pitchFamily="18" charset="0"/>
            </a:endParaRPr>
          </a:p>
        </p:txBody>
      </p:sp>
    </p:spTree>
    <p:extLst>
      <p:ext uri="{BB962C8B-B14F-4D97-AF65-F5344CB8AC3E}">
        <p14:creationId xmlns:p14="http://schemas.microsoft.com/office/powerpoint/2010/main" val="1384335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2C03B-CDF8-53E5-27E7-D04A82515C8C}"/>
              </a:ext>
            </a:extLst>
          </p:cNvPr>
          <p:cNvSpPr>
            <a:spLocks noGrp="1"/>
          </p:cNvSpPr>
          <p:nvPr>
            <p:ph type="title"/>
          </p:nvPr>
        </p:nvSpPr>
        <p:spPr>
          <a:xfrm>
            <a:off x="0" y="10393"/>
            <a:ext cx="8596668" cy="806245"/>
          </a:xfrm>
        </p:spPr>
        <p:txBody>
          <a:bodyPr/>
          <a:lstStyle/>
          <a:p>
            <a:r>
              <a:rPr lang="en-US" dirty="0">
                <a:solidFill>
                  <a:srgbClr val="0070C0"/>
                </a:solidFill>
                <a:latin typeface="Algerian" panose="04020705040A02060702" pitchFamily="82" charset="0"/>
              </a:rPr>
              <a:t>5.2] </a:t>
            </a:r>
            <a:r>
              <a:rPr lang="en-US" u="sng" dirty="0">
                <a:solidFill>
                  <a:srgbClr val="0070C0"/>
                </a:solidFill>
                <a:latin typeface="Algerian" panose="04020705040A02060702" pitchFamily="82" charset="0"/>
              </a:rPr>
              <a:t>cloud risk</a:t>
            </a:r>
            <a:r>
              <a:rPr lang="en-US" dirty="0">
                <a:solidFill>
                  <a:srgbClr val="0070C0"/>
                </a:solidFill>
                <a:latin typeface="Algerian" panose="04020705040A02060702" pitchFamily="82" charset="0"/>
              </a:rPr>
              <a:t> : -</a:t>
            </a:r>
            <a:endParaRPr lang="en-IN"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02E8C6E7-8F85-369F-DD10-284F02F53E51}"/>
              </a:ext>
            </a:extLst>
          </p:cNvPr>
          <p:cNvSpPr>
            <a:spLocks noGrp="1"/>
          </p:cNvSpPr>
          <p:nvPr>
            <p:ph type="body" idx="1"/>
          </p:nvPr>
        </p:nvSpPr>
        <p:spPr>
          <a:xfrm>
            <a:off x="0" y="747252"/>
            <a:ext cx="9635613" cy="2477729"/>
          </a:xfrm>
        </p:spPr>
        <p:txBody>
          <a:bodyPr>
            <a:normAutofit/>
          </a:bodyPr>
          <a:lstStyle/>
          <a:p>
            <a:r>
              <a:rPr lang="en-US" sz="2800" b="1" dirty="0" err="1">
                <a:latin typeface="Century Schoolbook" panose="02040604050505020304" pitchFamily="18" charset="0"/>
              </a:rPr>
              <a:t>i</a:t>
            </a:r>
            <a:r>
              <a:rPr lang="en-US" sz="2800" b="1" dirty="0">
                <a:latin typeface="Century Schoolbook" panose="02040604050505020304" pitchFamily="18" charset="0"/>
              </a:rPr>
              <a:t>) Cloud Risk is the possibility of loss or harm arising from performing an activity.</a:t>
            </a:r>
          </a:p>
          <a:p>
            <a:r>
              <a:rPr lang="en-US" sz="2800" b="1" dirty="0">
                <a:latin typeface="Century Schoolbook" panose="02040604050505020304" pitchFamily="18" charset="0"/>
              </a:rPr>
              <a:t>ii) Cloud Risks is typically measured according to its threat level and the no. of possible or known vulnerabilities.</a:t>
            </a:r>
            <a:endParaRPr lang="en-IN" sz="2800" b="1" dirty="0">
              <a:latin typeface="Century Schoolbook" panose="02040604050505020304" pitchFamily="18" charset="0"/>
            </a:endParaRPr>
          </a:p>
        </p:txBody>
      </p:sp>
    </p:spTree>
    <p:extLst>
      <p:ext uri="{BB962C8B-B14F-4D97-AF65-F5344CB8AC3E}">
        <p14:creationId xmlns:p14="http://schemas.microsoft.com/office/powerpoint/2010/main" val="1076519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D7EE-85D5-9F4E-CC88-E5DAA8504F6D}"/>
              </a:ext>
            </a:extLst>
          </p:cNvPr>
          <p:cNvSpPr>
            <a:spLocks noGrp="1"/>
          </p:cNvSpPr>
          <p:nvPr>
            <p:ph type="title"/>
          </p:nvPr>
        </p:nvSpPr>
        <p:spPr>
          <a:xfrm>
            <a:off x="0" y="-141748"/>
            <a:ext cx="9468465" cy="1272458"/>
          </a:xfrm>
        </p:spPr>
        <p:txBody>
          <a:bodyPr>
            <a:normAutofit/>
          </a:bodyPr>
          <a:lstStyle/>
          <a:p>
            <a:pPr marL="571500" indent="-571500">
              <a:buFont typeface="Wingdings" panose="05000000000000000000" pitchFamily="2" charset="2"/>
              <a:buChar char="v"/>
            </a:pPr>
            <a:r>
              <a:rPr lang="en-US" sz="2800" u="sng" dirty="0">
                <a:solidFill>
                  <a:srgbClr val="0070C0"/>
                </a:solidFill>
                <a:latin typeface="Algerian" panose="04020705040A02060702" pitchFamily="82" charset="0"/>
              </a:rPr>
              <a:t>The most important classes of cloud specific risk are</a:t>
            </a:r>
            <a:r>
              <a:rPr lang="en-US" sz="2800" dirty="0">
                <a:solidFill>
                  <a:srgbClr val="0070C0"/>
                </a:solidFill>
                <a:latin typeface="Algerian" panose="04020705040A02060702" pitchFamily="82" charset="0"/>
              </a:rPr>
              <a:t> : -</a:t>
            </a:r>
            <a:endParaRPr lang="en-IN" sz="2800"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4C2D8CCA-CF78-AB5B-B929-D89478D3E2DD}"/>
              </a:ext>
            </a:extLst>
          </p:cNvPr>
          <p:cNvSpPr>
            <a:spLocks noGrp="1"/>
          </p:cNvSpPr>
          <p:nvPr>
            <p:ph type="body" idx="1"/>
          </p:nvPr>
        </p:nvSpPr>
        <p:spPr>
          <a:xfrm>
            <a:off x="0" y="816078"/>
            <a:ext cx="9842090" cy="5953432"/>
          </a:xfrm>
        </p:spPr>
        <p:txBody>
          <a:bodyPr>
            <a:normAutofit/>
          </a:bodyPr>
          <a:lstStyle/>
          <a:p>
            <a:r>
              <a:rPr lang="en-US" b="1" dirty="0">
                <a:latin typeface="Century Schoolbook" panose="02040604050505020304" pitchFamily="18" charset="0"/>
              </a:rPr>
              <a:t>1. </a:t>
            </a:r>
            <a:r>
              <a:rPr lang="en-US" sz="2000" b="1" u="sng" dirty="0">
                <a:solidFill>
                  <a:srgbClr val="0070C0"/>
                </a:solidFill>
                <a:latin typeface="Century Schoolbook" panose="02040604050505020304" pitchFamily="18" charset="0"/>
              </a:rPr>
              <a:t>Loss of Governance</a:t>
            </a:r>
            <a:r>
              <a:rPr lang="en-US" sz="2000" b="1" dirty="0">
                <a:latin typeface="Century Schoolbook" panose="02040604050505020304" pitchFamily="18" charset="0"/>
              </a:rPr>
              <a:t> </a:t>
            </a:r>
            <a:r>
              <a:rPr lang="en-US" b="1" dirty="0">
                <a:latin typeface="Century Schoolbook" panose="02040604050505020304" pitchFamily="18" charset="0"/>
              </a:rPr>
              <a:t>: - In using cloud infrastructure, the client necessarily cedes control to the cloud Provider (CP) on a number of issues which may affect security.</a:t>
            </a:r>
          </a:p>
          <a:p>
            <a:r>
              <a:rPr lang="en-US" sz="2000" b="1" dirty="0">
                <a:latin typeface="Century Schoolbook" panose="02040604050505020304" pitchFamily="18" charset="0"/>
              </a:rPr>
              <a:t>2. </a:t>
            </a:r>
            <a:r>
              <a:rPr lang="en-US" sz="2000" b="1" u="sng" dirty="0">
                <a:solidFill>
                  <a:srgbClr val="0070C0"/>
                </a:solidFill>
                <a:latin typeface="Century Schoolbook" panose="02040604050505020304" pitchFamily="18" charset="0"/>
              </a:rPr>
              <a:t>Lock-in </a:t>
            </a:r>
            <a:r>
              <a:rPr lang="en-US" b="1" u="sng" dirty="0">
                <a:solidFill>
                  <a:srgbClr val="0070C0"/>
                </a:solidFill>
                <a:latin typeface="Century Schoolbook" panose="02040604050505020304" pitchFamily="18" charset="0"/>
              </a:rPr>
              <a:t>: </a:t>
            </a:r>
            <a:r>
              <a:rPr lang="en-US" b="1" dirty="0">
                <a:latin typeface="Century Schoolbook" panose="02040604050505020304" pitchFamily="18" charset="0"/>
              </a:rPr>
              <a:t>- There is currently little on offer in the way of tools, procedures or standard data formats or service interfaces that could guarantee data, application and service portability. This can make it difficult for the customer to migrate from one provider to another.</a:t>
            </a:r>
          </a:p>
          <a:p>
            <a:r>
              <a:rPr lang="en-US" sz="2000" b="1" dirty="0">
                <a:latin typeface="Century Schoolbook" panose="02040604050505020304" pitchFamily="18" charset="0"/>
              </a:rPr>
              <a:t>3. </a:t>
            </a:r>
            <a:r>
              <a:rPr lang="en-US" sz="2000" b="1" u="sng" dirty="0">
                <a:solidFill>
                  <a:srgbClr val="0070C0"/>
                </a:solidFill>
                <a:latin typeface="Century Schoolbook" panose="02040604050505020304" pitchFamily="18" charset="0"/>
              </a:rPr>
              <a:t>Isolation failure</a:t>
            </a:r>
            <a:r>
              <a:rPr lang="en-US" sz="2000" b="1" dirty="0">
                <a:solidFill>
                  <a:srgbClr val="0070C0"/>
                </a:solidFill>
                <a:latin typeface="Century Schoolbook" panose="02040604050505020304" pitchFamily="18" charset="0"/>
              </a:rPr>
              <a:t> </a:t>
            </a:r>
            <a:r>
              <a:rPr lang="en-US" b="1" dirty="0">
                <a:solidFill>
                  <a:srgbClr val="0070C0"/>
                </a:solidFill>
                <a:latin typeface="Century Schoolbook" panose="02040604050505020304" pitchFamily="18" charset="0"/>
              </a:rPr>
              <a:t>: </a:t>
            </a:r>
            <a:r>
              <a:rPr lang="en-US" b="1" dirty="0">
                <a:latin typeface="Century Schoolbook" panose="02040604050505020304" pitchFamily="18" charset="0"/>
              </a:rPr>
              <a:t>- This risk category covers the failure of mechanisms separating storage, memory, routing and even reputation between different tenants (guest hopping attacks). </a:t>
            </a:r>
          </a:p>
          <a:p>
            <a:r>
              <a:rPr lang="en-US" sz="2000" b="1" dirty="0">
                <a:latin typeface="Century Schoolbook" panose="02040604050505020304" pitchFamily="18" charset="0"/>
              </a:rPr>
              <a:t>4. </a:t>
            </a:r>
            <a:r>
              <a:rPr lang="en-US" sz="2000" b="1" u="sng" dirty="0">
                <a:solidFill>
                  <a:srgbClr val="0070C0"/>
                </a:solidFill>
                <a:latin typeface="Century Schoolbook" panose="02040604050505020304" pitchFamily="18" charset="0"/>
              </a:rPr>
              <a:t>Compliance Risks</a:t>
            </a:r>
            <a:r>
              <a:rPr lang="en-US" b="1" dirty="0">
                <a:latin typeface="Century Schoolbook" panose="02040604050505020304" pitchFamily="18" charset="0"/>
              </a:rPr>
              <a:t> : - Investment in achieving certification. (</a:t>
            </a:r>
            <a:r>
              <a:rPr lang="en-US" b="1" dirty="0" err="1">
                <a:latin typeface="Century Schoolbook" panose="02040604050505020304" pitchFamily="18" charset="0"/>
              </a:rPr>
              <a:t>eg.</a:t>
            </a:r>
            <a:r>
              <a:rPr lang="en-US" b="1" dirty="0">
                <a:latin typeface="Century Schoolbook" panose="02040604050505020304" pitchFamily="18" charset="0"/>
              </a:rPr>
              <a:t> industry standard) may be put at risk by migration to the cloud.</a:t>
            </a:r>
          </a:p>
          <a:p>
            <a:r>
              <a:rPr lang="en-US" sz="2000" b="1" dirty="0">
                <a:latin typeface="Century Schoolbook" panose="02040604050505020304" pitchFamily="18" charset="0"/>
              </a:rPr>
              <a:t>5. </a:t>
            </a:r>
            <a:r>
              <a:rPr lang="en-US" sz="2000" b="1" u="sng" dirty="0">
                <a:solidFill>
                  <a:srgbClr val="0070C0"/>
                </a:solidFill>
                <a:latin typeface="Century Schoolbook" panose="02040604050505020304" pitchFamily="18" charset="0"/>
              </a:rPr>
              <a:t>Data Protection</a:t>
            </a:r>
            <a:r>
              <a:rPr lang="en-US" sz="2000" b="1" dirty="0">
                <a:latin typeface="Century Schoolbook" panose="02040604050505020304" pitchFamily="18" charset="0"/>
              </a:rPr>
              <a:t> : </a:t>
            </a:r>
            <a:r>
              <a:rPr lang="en-US" b="1" dirty="0">
                <a:latin typeface="Century Schoolbook" panose="02040604050505020304" pitchFamily="18" charset="0"/>
              </a:rPr>
              <a:t>- cloud computing poses several data protection risks for cloud customers and providers. It may be difficult for the cloud customers to effectively check the data handling practices of the cloud provider.</a:t>
            </a:r>
          </a:p>
          <a:p>
            <a:r>
              <a:rPr lang="en-US" sz="2000" b="1" dirty="0">
                <a:latin typeface="Century Schoolbook" panose="02040604050505020304" pitchFamily="18" charset="0"/>
              </a:rPr>
              <a:t>6. </a:t>
            </a:r>
            <a:r>
              <a:rPr lang="en-US" sz="2000" b="1" u="sng" dirty="0">
                <a:solidFill>
                  <a:srgbClr val="0070C0"/>
                </a:solidFill>
                <a:latin typeface="Century Schoolbook" panose="02040604050505020304" pitchFamily="18" charset="0"/>
              </a:rPr>
              <a:t>Malicious Insider</a:t>
            </a:r>
            <a:r>
              <a:rPr lang="en-US" sz="2000" b="1" dirty="0">
                <a:latin typeface="Century Schoolbook" panose="02040604050505020304" pitchFamily="18" charset="0"/>
              </a:rPr>
              <a:t> : </a:t>
            </a:r>
            <a:r>
              <a:rPr lang="en-US" b="1" dirty="0">
                <a:latin typeface="Century Schoolbook" panose="02040604050505020304" pitchFamily="18" charset="0"/>
              </a:rPr>
              <a:t>- While usually less likely, the damage which may be caused by malicious insiders is often far greater cloud architectures necessitate certain roles which are extremely high-risk.</a:t>
            </a:r>
            <a:endParaRPr lang="en-IN" b="1" dirty="0">
              <a:latin typeface="Century Schoolbook" panose="02040604050505020304" pitchFamily="18" charset="0"/>
            </a:endParaRPr>
          </a:p>
        </p:txBody>
      </p:sp>
    </p:spTree>
    <p:extLst>
      <p:ext uri="{BB962C8B-B14F-4D97-AF65-F5344CB8AC3E}">
        <p14:creationId xmlns:p14="http://schemas.microsoft.com/office/powerpoint/2010/main" val="3395448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2C60D-11BC-CFED-3E28-8F97F2EE3038}"/>
              </a:ext>
            </a:extLst>
          </p:cNvPr>
          <p:cNvSpPr>
            <a:spLocks noGrp="1"/>
          </p:cNvSpPr>
          <p:nvPr>
            <p:ph type="title"/>
          </p:nvPr>
        </p:nvSpPr>
        <p:spPr>
          <a:xfrm>
            <a:off x="0" y="0"/>
            <a:ext cx="9832258" cy="672690"/>
          </a:xfrm>
        </p:spPr>
        <p:txBody>
          <a:bodyPr>
            <a:normAutofit/>
          </a:bodyPr>
          <a:lstStyle/>
          <a:p>
            <a:pPr marL="571500" indent="-571500">
              <a:buFont typeface="Wingdings" panose="05000000000000000000" pitchFamily="2" charset="2"/>
              <a:buChar char="v"/>
            </a:pPr>
            <a:r>
              <a:rPr lang="en-US" sz="3200" u="sng" dirty="0">
                <a:solidFill>
                  <a:srgbClr val="0070C0"/>
                </a:solidFill>
                <a:latin typeface="Algerian" panose="04020705040A02060702" pitchFamily="82" charset="0"/>
              </a:rPr>
              <a:t>How to manage cloud security risks</a:t>
            </a:r>
            <a:r>
              <a:rPr lang="en-US" sz="3200" dirty="0">
                <a:solidFill>
                  <a:srgbClr val="0070C0"/>
                </a:solidFill>
                <a:latin typeface="Algerian" panose="04020705040A02060702" pitchFamily="82" charset="0"/>
              </a:rPr>
              <a:t> : -</a:t>
            </a:r>
            <a:endParaRPr lang="en-IN" sz="3200"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0376A8E2-B19A-5A43-4BE8-3A1C68E7B8B3}"/>
              </a:ext>
            </a:extLst>
          </p:cNvPr>
          <p:cNvSpPr>
            <a:spLocks noGrp="1"/>
          </p:cNvSpPr>
          <p:nvPr>
            <p:ph type="body" idx="1"/>
          </p:nvPr>
        </p:nvSpPr>
        <p:spPr>
          <a:xfrm>
            <a:off x="98322" y="672690"/>
            <a:ext cx="9409472" cy="2876755"/>
          </a:xfrm>
        </p:spPr>
        <p:txBody>
          <a:bodyPr>
            <a:normAutofit lnSpcReduction="10000"/>
          </a:bodyPr>
          <a:lstStyle/>
          <a:p>
            <a:r>
              <a:rPr lang="en-US" sz="2800" b="1" dirty="0">
                <a:latin typeface="Century Schoolbook" panose="02040604050505020304" pitchFamily="18" charset="0"/>
              </a:rPr>
              <a:t>1. Perform regular risk assessments to find new risks.</a:t>
            </a:r>
          </a:p>
          <a:p>
            <a:r>
              <a:rPr lang="en-US" sz="2800" b="1" dirty="0">
                <a:latin typeface="Century Schoolbook" panose="02040604050505020304" pitchFamily="18" charset="0"/>
              </a:rPr>
              <a:t>2 Prioritize and implement security controls to mitigate the risks. you've identified.</a:t>
            </a:r>
          </a:p>
          <a:p>
            <a:r>
              <a:rPr lang="en-US" sz="2800" b="1" dirty="0">
                <a:latin typeface="Century Schoolbook" panose="02040604050505020304" pitchFamily="18" charset="0"/>
              </a:rPr>
              <a:t>3. Document and revisit any risk you choose to accept.</a:t>
            </a:r>
            <a:endParaRPr lang="en-IN" sz="2800" b="1" dirty="0">
              <a:latin typeface="Century Schoolbook" panose="02040604050505020304" pitchFamily="18" charset="0"/>
            </a:endParaRPr>
          </a:p>
        </p:txBody>
      </p:sp>
    </p:spTree>
    <p:extLst>
      <p:ext uri="{BB962C8B-B14F-4D97-AF65-F5344CB8AC3E}">
        <p14:creationId xmlns:p14="http://schemas.microsoft.com/office/powerpoint/2010/main" val="4092655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C54DB-3573-EF63-86C7-2B1B87494344}"/>
              </a:ext>
            </a:extLst>
          </p:cNvPr>
          <p:cNvSpPr>
            <a:spLocks noGrp="1"/>
          </p:cNvSpPr>
          <p:nvPr>
            <p:ph type="title"/>
          </p:nvPr>
        </p:nvSpPr>
        <p:spPr>
          <a:xfrm>
            <a:off x="0" y="-98322"/>
            <a:ext cx="8596668" cy="816638"/>
          </a:xfrm>
        </p:spPr>
        <p:txBody>
          <a:bodyPr/>
          <a:lstStyle/>
          <a:p>
            <a:r>
              <a:rPr lang="en-US" dirty="0">
                <a:solidFill>
                  <a:srgbClr val="0070C0"/>
                </a:solidFill>
                <a:latin typeface="Algerian" panose="04020705040A02060702" pitchFamily="82" charset="0"/>
              </a:rPr>
              <a:t>5.3 </a:t>
            </a:r>
            <a:r>
              <a:rPr lang="en-US" u="sng" dirty="0">
                <a:solidFill>
                  <a:srgbClr val="0070C0"/>
                </a:solidFill>
                <a:latin typeface="Algerian" panose="04020705040A02060702" pitchFamily="82" charset="0"/>
              </a:rPr>
              <a:t>cloud risk division</a:t>
            </a:r>
            <a:r>
              <a:rPr lang="en-US" dirty="0">
                <a:solidFill>
                  <a:srgbClr val="0070C0"/>
                </a:solidFill>
                <a:latin typeface="Algerian" panose="04020705040A02060702" pitchFamily="82" charset="0"/>
              </a:rPr>
              <a:t> : -</a:t>
            </a:r>
            <a:endParaRPr lang="en-IN"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76D09305-B86D-8FA7-6DD2-9D1974A13076}"/>
              </a:ext>
            </a:extLst>
          </p:cNvPr>
          <p:cNvSpPr>
            <a:spLocks noGrp="1"/>
          </p:cNvSpPr>
          <p:nvPr>
            <p:ph type="body" idx="1"/>
          </p:nvPr>
        </p:nvSpPr>
        <p:spPr>
          <a:xfrm>
            <a:off x="127819" y="541335"/>
            <a:ext cx="9576619" cy="4571439"/>
          </a:xfrm>
        </p:spPr>
        <p:txBody>
          <a:bodyPr>
            <a:normAutofit/>
          </a:bodyPr>
          <a:lstStyle/>
          <a:p>
            <a:r>
              <a:rPr lang="en-US" sz="2800" b="1" dirty="0">
                <a:latin typeface="Century Schoolbook" panose="02040604050505020304" pitchFamily="18" charset="0"/>
              </a:rPr>
              <a:t>The risks identified in the assessment are classified into three categories namely Policy and organizational, Technical and legal.</a:t>
            </a:r>
            <a:endParaRPr lang="en-US" sz="2400" b="1" dirty="0">
              <a:latin typeface="Century Schoolbook" panose="02040604050505020304" pitchFamily="18" charset="0"/>
            </a:endParaRPr>
          </a:p>
          <a:p>
            <a:r>
              <a:rPr lang="en-US" sz="3200" b="1" dirty="0">
                <a:solidFill>
                  <a:srgbClr val="0070C0"/>
                </a:solidFill>
                <a:latin typeface="Century Schoolbook" panose="02040604050505020304" pitchFamily="18" charset="0"/>
              </a:rPr>
              <a:t>1. </a:t>
            </a:r>
            <a:r>
              <a:rPr lang="en-US" sz="3200" b="1" u="sng" dirty="0">
                <a:solidFill>
                  <a:srgbClr val="0070C0"/>
                </a:solidFill>
                <a:latin typeface="Century Schoolbook" panose="02040604050505020304" pitchFamily="18" charset="0"/>
              </a:rPr>
              <a:t>Policy and organizational Risks</a:t>
            </a:r>
            <a:r>
              <a:rPr lang="en-US" sz="3200" b="1" dirty="0">
                <a:solidFill>
                  <a:srgbClr val="0070C0"/>
                </a:solidFill>
                <a:latin typeface="Century Schoolbook" panose="02040604050505020304" pitchFamily="18" charset="0"/>
              </a:rPr>
              <a:t> : -</a:t>
            </a:r>
          </a:p>
          <a:p>
            <a:r>
              <a:rPr lang="en-US" sz="2400" b="1" dirty="0" err="1">
                <a:latin typeface="Century Schoolbook" panose="02040604050505020304" pitchFamily="18" charset="0"/>
              </a:rPr>
              <a:t>i</a:t>
            </a:r>
            <a:r>
              <a:rPr lang="en-US" sz="2400" b="1" dirty="0">
                <a:latin typeface="Century Schoolbook" panose="02040604050505020304" pitchFamily="18" charset="0"/>
              </a:rPr>
              <a:t>) These are business related IT risks that organizations may face when considering cloud computing service providers.</a:t>
            </a:r>
          </a:p>
          <a:p>
            <a:r>
              <a:rPr lang="en-US" sz="2400" b="1" dirty="0">
                <a:latin typeface="Century Schoolbook" panose="02040604050505020304" pitchFamily="18" charset="0"/>
              </a:rPr>
              <a:t>ii) Such risks include lock-in, loss of governance, compliance. challenges, loss of business reputation, and cloud service termination or failure.</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245251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B864-9BC5-F459-9C23-D95436EC4459}"/>
              </a:ext>
            </a:extLst>
          </p:cNvPr>
          <p:cNvSpPr>
            <a:spLocks noGrp="1"/>
          </p:cNvSpPr>
          <p:nvPr>
            <p:ph type="title"/>
          </p:nvPr>
        </p:nvSpPr>
        <p:spPr>
          <a:xfrm>
            <a:off x="0" y="0"/>
            <a:ext cx="9674942" cy="3156155"/>
          </a:xfrm>
        </p:spPr>
        <p:txBody>
          <a:bodyPr>
            <a:noAutofit/>
          </a:bodyPr>
          <a:lstStyle/>
          <a:p>
            <a:r>
              <a:rPr lang="en-US" sz="3600" dirty="0">
                <a:solidFill>
                  <a:srgbClr val="0070C0"/>
                </a:solidFill>
                <a:latin typeface="Algerian" panose="04020705040A02060702" pitchFamily="82" charset="0"/>
              </a:rPr>
              <a:t>2. </a:t>
            </a:r>
            <a:r>
              <a:rPr lang="en-US" sz="3600" u="sng" dirty="0">
                <a:solidFill>
                  <a:srgbClr val="0070C0"/>
                </a:solidFill>
                <a:latin typeface="Algerian" panose="04020705040A02060702" pitchFamily="82" charset="0"/>
              </a:rPr>
              <a:t>Technical Risks</a:t>
            </a:r>
            <a:r>
              <a:rPr lang="en-US" sz="3600" dirty="0">
                <a:solidFill>
                  <a:srgbClr val="0070C0"/>
                </a:solidFill>
                <a:latin typeface="Algerian" panose="04020705040A02060702" pitchFamily="82" charset="0"/>
              </a:rPr>
              <a:t> : -</a:t>
            </a:r>
            <a:br>
              <a:rPr lang="en-US" sz="3600" dirty="0">
                <a:solidFill>
                  <a:srgbClr val="0070C0"/>
                </a:solidFill>
                <a:latin typeface="Algerian" panose="04020705040A02060702" pitchFamily="82" charset="0"/>
              </a:rPr>
            </a:br>
            <a:r>
              <a:rPr lang="en-US" sz="2400" b="1" dirty="0" err="1">
                <a:solidFill>
                  <a:schemeClr val="tx1">
                    <a:lumMod val="95000"/>
                    <a:lumOff val="5000"/>
                  </a:schemeClr>
                </a:solidFill>
                <a:latin typeface="Century Schoolbook" panose="02040604050505020304" pitchFamily="18" charset="0"/>
              </a:rPr>
              <a:t>i</a:t>
            </a:r>
            <a:r>
              <a:rPr lang="en-US" sz="2400" b="1" dirty="0">
                <a:solidFill>
                  <a:schemeClr val="tx1">
                    <a:lumMod val="95000"/>
                    <a:lumOff val="5000"/>
                  </a:schemeClr>
                </a:solidFill>
                <a:latin typeface="Century Schoolbook" panose="02040604050505020304" pitchFamily="18" charset="0"/>
              </a:rPr>
              <a:t>) organizations that deploy cloud solutions also face Techni</a:t>
            </a:r>
            <a:br>
              <a:rPr lang="en-US" sz="2400" b="1" dirty="0">
                <a:solidFill>
                  <a:schemeClr val="tx1">
                    <a:lumMod val="95000"/>
                    <a:lumOff val="5000"/>
                  </a:schemeClr>
                </a:solidFill>
                <a:latin typeface="Century Schoolbook" panose="02040604050505020304" pitchFamily="18" charset="0"/>
              </a:rPr>
            </a:br>
            <a:r>
              <a:rPr lang="en-US" sz="2400" b="1" dirty="0" err="1">
                <a:solidFill>
                  <a:schemeClr val="tx1">
                    <a:lumMod val="95000"/>
                    <a:lumOff val="5000"/>
                  </a:schemeClr>
                </a:solidFill>
                <a:latin typeface="Century Schoolbook" panose="02040604050505020304" pitchFamily="18" charset="0"/>
              </a:rPr>
              <a:t>cal</a:t>
            </a:r>
            <a:r>
              <a:rPr lang="en-US" sz="2400" b="1" dirty="0">
                <a:solidFill>
                  <a:schemeClr val="tx1">
                    <a:lumMod val="95000"/>
                    <a:lumOff val="5000"/>
                  </a:schemeClr>
                </a:solidFill>
                <a:latin typeface="Century Schoolbook" panose="02040604050505020304" pitchFamily="18" charset="0"/>
              </a:rPr>
              <a:t> risks such as resource exhaustion, which can occur when not managing cloud resources effectively.</a:t>
            </a:r>
            <a:br>
              <a:rPr lang="en-US" sz="2400" b="1" dirty="0">
                <a:solidFill>
                  <a:schemeClr val="tx1">
                    <a:lumMod val="95000"/>
                    <a:lumOff val="5000"/>
                  </a:schemeClr>
                </a:solidFill>
                <a:latin typeface="Century Schoolbook" panose="02040604050505020304" pitchFamily="18" charset="0"/>
              </a:rPr>
            </a:br>
            <a:r>
              <a:rPr lang="en-US" sz="2400" b="1" dirty="0">
                <a:solidFill>
                  <a:schemeClr val="tx1">
                    <a:lumMod val="95000"/>
                    <a:lumOff val="5000"/>
                  </a:schemeClr>
                </a:solidFill>
                <a:latin typeface="Century Schoolbook" panose="02040604050505020304" pitchFamily="18" charset="0"/>
              </a:rPr>
              <a:t>ii) Resource exhaustion can cause degradation of services in some cases, a failure to provide service at all.</a:t>
            </a:r>
            <a:br>
              <a:rPr lang="en-US" sz="2400" b="1" dirty="0">
                <a:solidFill>
                  <a:schemeClr val="tx1">
                    <a:lumMod val="95000"/>
                    <a:lumOff val="5000"/>
                  </a:schemeClr>
                </a:solidFill>
                <a:latin typeface="Century Schoolbook" panose="02040604050505020304" pitchFamily="18" charset="0"/>
              </a:rPr>
            </a:br>
            <a:endParaRPr lang="en-IN" sz="2400" b="1" dirty="0">
              <a:solidFill>
                <a:schemeClr val="tx1">
                  <a:lumMod val="95000"/>
                  <a:lumOff val="5000"/>
                </a:schemeClr>
              </a:solidFill>
              <a:latin typeface="Century Schoolbook" panose="02040604050505020304" pitchFamily="18" charset="0"/>
            </a:endParaRPr>
          </a:p>
        </p:txBody>
      </p:sp>
      <p:sp>
        <p:nvSpPr>
          <p:cNvPr id="3" name="Text Placeholder 2">
            <a:extLst>
              <a:ext uri="{FF2B5EF4-FFF2-40B4-BE49-F238E27FC236}">
                <a16:creationId xmlns:a16="http://schemas.microsoft.com/office/drawing/2014/main" id="{0FEC0D79-E1DD-221A-E9BA-C59DA0181416}"/>
              </a:ext>
            </a:extLst>
          </p:cNvPr>
          <p:cNvSpPr>
            <a:spLocks noGrp="1"/>
          </p:cNvSpPr>
          <p:nvPr>
            <p:ph type="body" idx="1"/>
          </p:nvPr>
        </p:nvSpPr>
        <p:spPr>
          <a:xfrm>
            <a:off x="0" y="2757388"/>
            <a:ext cx="9674942" cy="3972793"/>
          </a:xfrm>
        </p:spPr>
        <p:txBody>
          <a:bodyPr>
            <a:normAutofit/>
          </a:bodyPr>
          <a:lstStyle/>
          <a:p>
            <a:r>
              <a:rPr lang="en-US" sz="3600" dirty="0">
                <a:solidFill>
                  <a:srgbClr val="0070C0"/>
                </a:solidFill>
                <a:latin typeface="Algerian" panose="04020705040A02060702" pitchFamily="82" charset="0"/>
              </a:rPr>
              <a:t>3. </a:t>
            </a:r>
            <a:r>
              <a:rPr lang="en-US" sz="3600" u="sng" dirty="0">
                <a:solidFill>
                  <a:srgbClr val="0070C0"/>
                </a:solidFill>
                <a:latin typeface="Algerian" panose="04020705040A02060702" pitchFamily="82" charset="0"/>
              </a:rPr>
              <a:t>Legal Risks</a:t>
            </a:r>
            <a:r>
              <a:rPr lang="en-US" sz="3600" dirty="0">
                <a:solidFill>
                  <a:srgbClr val="0070C0"/>
                </a:solidFill>
                <a:latin typeface="Algerian" panose="04020705040A02060702" pitchFamily="82" charset="0"/>
              </a:rPr>
              <a:t> : -</a:t>
            </a:r>
            <a:br>
              <a:rPr lang="en-US" sz="3600" dirty="0">
                <a:solidFill>
                  <a:srgbClr val="0070C0"/>
                </a:solidFill>
                <a:latin typeface="Algerian" panose="04020705040A02060702" pitchFamily="82" charset="0"/>
              </a:rPr>
            </a:br>
            <a:r>
              <a:rPr lang="en-US" sz="2400" b="1" dirty="0" err="1">
                <a:solidFill>
                  <a:schemeClr val="tx1">
                    <a:lumMod val="95000"/>
                    <a:lumOff val="5000"/>
                  </a:schemeClr>
                </a:solidFill>
                <a:latin typeface="Century Schoolbook" panose="02040604050505020304" pitchFamily="18" charset="0"/>
              </a:rPr>
              <a:t>i</a:t>
            </a:r>
            <a:r>
              <a:rPr lang="en-US" sz="2400" b="1" dirty="0">
                <a:solidFill>
                  <a:schemeClr val="tx1">
                    <a:lumMod val="95000"/>
                    <a:lumOff val="5000"/>
                  </a:schemeClr>
                </a:solidFill>
                <a:latin typeface="Century Schoolbook" panose="02040604050505020304" pitchFamily="18" charset="0"/>
              </a:rPr>
              <a:t>) organizations must consider the legal risks of the cloud. </a:t>
            </a:r>
          </a:p>
          <a:p>
            <a:r>
              <a:rPr lang="en-US" sz="2400" b="1" dirty="0">
                <a:solidFill>
                  <a:schemeClr val="tx1">
                    <a:lumMod val="95000"/>
                    <a:lumOff val="5000"/>
                  </a:schemeClr>
                </a:solidFill>
                <a:latin typeface="Century Schoolbook" panose="02040604050505020304" pitchFamily="18" charset="0"/>
              </a:rPr>
              <a:t>ii) These risk can include non-compliance with laws and regulations, legal disputes, or violations of intellectual property sights. </a:t>
            </a:r>
          </a:p>
          <a:p>
            <a:r>
              <a:rPr lang="en-US" sz="2400" b="1" dirty="0">
                <a:solidFill>
                  <a:schemeClr val="tx1">
                    <a:lumMod val="95000"/>
                    <a:lumOff val="5000"/>
                  </a:schemeClr>
                </a:solidFill>
                <a:latin typeface="Century Schoolbook" panose="02040604050505020304" pitchFamily="18" charset="0"/>
              </a:rPr>
              <a:t>iii) It is crucial for organizations to have a strong understanding of legal landscape &amp; ensure that they are in compliance with applicable laws and regulations to mitigate legal risks.</a:t>
            </a:r>
            <a:endParaRPr lang="en-IN" sz="2400" b="1" dirty="0">
              <a:solidFill>
                <a:schemeClr val="tx1">
                  <a:lumMod val="95000"/>
                  <a:lumOff val="5000"/>
                </a:schemeClr>
              </a:solidFill>
              <a:latin typeface="Century Schoolbook" panose="02040604050505020304" pitchFamily="18" charset="0"/>
            </a:endParaRPr>
          </a:p>
        </p:txBody>
      </p:sp>
    </p:spTree>
    <p:extLst>
      <p:ext uri="{BB962C8B-B14F-4D97-AF65-F5344CB8AC3E}">
        <p14:creationId xmlns:p14="http://schemas.microsoft.com/office/powerpoint/2010/main" val="3874996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9BE3A-AA67-629E-A101-33D8A26802C7}"/>
              </a:ext>
            </a:extLst>
          </p:cNvPr>
          <p:cNvSpPr>
            <a:spLocks noGrp="1"/>
          </p:cNvSpPr>
          <p:nvPr>
            <p:ph type="title"/>
          </p:nvPr>
        </p:nvSpPr>
        <p:spPr>
          <a:xfrm>
            <a:off x="-1" y="25400"/>
            <a:ext cx="10146890" cy="2245852"/>
          </a:xfrm>
        </p:spPr>
        <p:txBody>
          <a:bodyPr>
            <a:normAutofit fontScale="90000"/>
          </a:bodyPr>
          <a:lstStyle/>
          <a:p>
            <a:r>
              <a:rPr lang="en-IN" sz="3200" dirty="0">
                <a:solidFill>
                  <a:srgbClr val="0070C0"/>
                </a:solidFill>
                <a:latin typeface="Algerian" panose="04020705040A02060702" pitchFamily="82" charset="0"/>
              </a:rPr>
              <a:t>5.4] </a:t>
            </a:r>
            <a:r>
              <a:rPr lang="en-IN" sz="3200" u="sng" dirty="0">
                <a:solidFill>
                  <a:srgbClr val="0070C0"/>
                </a:solidFill>
                <a:latin typeface="Algerian" panose="04020705040A02060702" pitchFamily="82" charset="0"/>
              </a:rPr>
              <a:t>Technologies for Data Security</a:t>
            </a:r>
            <a:r>
              <a:rPr lang="en-IN" sz="3200" dirty="0">
                <a:solidFill>
                  <a:srgbClr val="0070C0"/>
                </a:solidFill>
                <a:latin typeface="Algerian" panose="04020705040A02060702" pitchFamily="82" charset="0"/>
              </a:rPr>
              <a:t> : -</a:t>
            </a:r>
            <a:br>
              <a:rPr lang="en-IN" sz="3200" dirty="0">
                <a:solidFill>
                  <a:srgbClr val="0070C0"/>
                </a:solidFill>
                <a:latin typeface="Algerian" panose="04020705040A02060702" pitchFamily="82" charset="0"/>
              </a:rPr>
            </a:br>
            <a:r>
              <a:rPr lang="en-IN" sz="2400" b="1" dirty="0">
                <a:solidFill>
                  <a:schemeClr val="tx1">
                    <a:lumMod val="95000"/>
                    <a:lumOff val="5000"/>
                  </a:schemeClr>
                </a:solidFill>
                <a:latin typeface="Century Schoolbook" panose="02040604050505020304" pitchFamily="18" charset="0"/>
              </a:rPr>
              <a:t>Technologies for Data security and privacy in cloud computing are : </a:t>
            </a:r>
            <a:br>
              <a:rPr lang="en-IN" sz="2400" b="1" dirty="0">
                <a:solidFill>
                  <a:schemeClr val="tx1">
                    <a:lumMod val="95000"/>
                    <a:lumOff val="5000"/>
                  </a:schemeClr>
                </a:solidFill>
                <a:latin typeface="Century Schoolbook" panose="02040604050505020304" pitchFamily="18" charset="0"/>
              </a:rPr>
            </a:br>
            <a:r>
              <a:rPr lang="en-IN" sz="2400" b="1" dirty="0">
                <a:solidFill>
                  <a:schemeClr val="tx1">
                    <a:lumMod val="95000"/>
                    <a:lumOff val="5000"/>
                  </a:schemeClr>
                </a:solidFill>
                <a:latin typeface="Century Schoolbook" panose="02040604050505020304" pitchFamily="18" charset="0"/>
              </a:rPr>
              <a:t>- Data Integrity in untrustworthy storage.</a:t>
            </a:r>
            <a:br>
              <a:rPr lang="en-IN" sz="2400" b="1" dirty="0">
                <a:solidFill>
                  <a:schemeClr val="tx1">
                    <a:lumMod val="95000"/>
                    <a:lumOff val="5000"/>
                  </a:schemeClr>
                </a:solidFill>
                <a:latin typeface="Century Schoolbook" panose="02040604050505020304" pitchFamily="18" charset="0"/>
              </a:rPr>
            </a:br>
            <a:r>
              <a:rPr lang="en-IN" sz="2400" b="1" dirty="0">
                <a:solidFill>
                  <a:schemeClr val="tx1">
                    <a:lumMod val="95000"/>
                    <a:lumOff val="5000"/>
                  </a:schemeClr>
                </a:solidFill>
                <a:latin typeface="Century Schoolbook" panose="02040604050505020304" pitchFamily="18" charset="0"/>
              </a:rPr>
              <a:t>- Database Outsourcing and Query Integrity Assurance.</a:t>
            </a:r>
            <a:br>
              <a:rPr lang="en-IN" sz="2400" b="1" dirty="0">
                <a:solidFill>
                  <a:schemeClr val="tx1">
                    <a:lumMod val="95000"/>
                    <a:lumOff val="5000"/>
                  </a:schemeClr>
                </a:solidFill>
                <a:latin typeface="Century Schoolbook" panose="02040604050505020304" pitchFamily="18" charset="0"/>
              </a:rPr>
            </a:br>
            <a:r>
              <a:rPr lang="en-IN" sz="2400" b="1" dirty="0">
                <a:solidFill>
                  <a:schemeClr val="tx1">
                    <a:lumMod val="95000"/>
                    <a:lumOff val="5000"/>
                  </a:schemeClr>
                </a:solidFill>
                <a:latin typeface="Century Schoolbook" panose="02040604050505020304" pitchFamily="18" charset="0"/>
              </a:rPr>
              <a:t>- Web Application Based security.</a:t>
            </a:r>
            <a:br>
              <a:rPr lang="en-IN" sz="2400" b="1" dirty="0">
                <a:solidFill>
                  <a:schemeClr val="tx1">
                    <a:lumMod val="95000"/>
                    <a:lumOff val="5000"/>
                  </a:schemeClr>
                </a:solidFill>
                <a:latin typeface="Century Schoolbook" panose="02040604050505020304" pitchFamily="18" charset="0"/>
              </a:rPr>
            </a:br>
            <a:r>
              <a:rPr lang="en-IN" sz="2400" b="1" dirty="0">
                <a:solidFill>
                  <a:schemeClr val="tx1">
                    <a:lumMod val="95000"/>
                    <a:lumOff val="5000"/>
                  </a:schemeClr>
                </a:solidFill>
                <a:latin typeface="Century Schoolbook" panose="02040604050505020304" pitchFamily="18" charset="0"/>
              </a:rPr>
              <a:t>- Multimedia Data security.</a:t>
            </a:r>
          </a:p>
        </p:txBody>
      </p:sp>
      <p:sp>
        <p:nvSpPr>
          <p:cNvPr id="3" name="Text Placeholder 2">
            <a:extLst>
              <a:ext uri="{FF2B5EF4-FFF2-40B4-BE49-F238E27FC236}">
                <a16:creationId xmlns:a16="http://schemas.microsoft.com/office/drawing/2014/main" id="{3372959D-0297-274D-6213-82F216726965}"/>
              </a:ext>
            </a:extLst>
          </p:cNvPr>
          <p:cNvSpPr>
            <a:spLocks noGrp="1"/>
          </p:cNvSpPr>
          <p:nvPr>
            <p:ph type="body" idx="1"/>
          </p:nvPr>
        </p:nvSpPr>
        <p:spPr>
          <a:xfrm>
            <a:off x="0" y="2271253"/>
            <a:ext cx="10146890" cy="4586748"/>
          </a:xfrm>
        </p:spPr>
        <p:txBody>
          <a:bodyPr>
            <a:normAutofit lnSpcReduction="10000"/>
          </a:bodyPr>
          <a:lstStyle/>
          <a:p>
            <a:pPr marL="285750" indent="-285750">
              <a:buClr>
                <a:srgbClr val="0070C0"/>
              </a:buClr>
              <a:buFont typeface="Wingdings" panose="05000000000000000000" pitchFamily="2" charset="2"/>
              <a:buChar char="Ø"/>
            </a:pPr>
            <a:r>
              <a:rPr lang="en-US" sz="2800" u="sng" dirty="0">
                <a:solidFill>
                  <a:srgbClr val="0070C0"/>
                </a:solidFill>
                <a:latin typeface="Algerian" panose="04020705040A02060702" pitchFamily="82" charset="0"/>
              </a:rPr>
              <a:t>Data Integrity in untrustworthy storage</a:t>
            </a:r>
            <a:r>
              <a:rPr lang="en-US" sz="2800" dirty="0">
                <a:solidFill>
                  <a:srgbClr val="0070C0"/>
                </a:solidFill>
                <a:latin typeface="Algerian" panose="04020705040A02060702" pitchFamily="82" charset="0"/>
              </a:rPr>
              <a:t> : -</a:t>
            </a:r>
          </a:p>
          <a:p>
            <a:r>
              <a:rPr lang="en-US" b="1" dirty="0" err="1">
                <a:latin typeface="Century Schoolbook" panose="02040604050505020304" pitchFamily="18" charset="0"/>
              </a:rPr>
              <a:t>i</a:t>
            </a:r>
            <a:r>
              <a:rPr lang="en-US" b="1" dirty="0">
                <a:latin typeface="Century Schoolbook" panose="02040604050505020304" pitchFamily="18" charset="0"/>
              </a:rPr>
              <a:t>) one of the main challenges that prevent end users from with adopting cloud storage services is the fear of losing data or data corruption.</a:t>
            </a:r>
          </a:p>
          <a:p>
            <a:r>
              <a:rPr lang="en-US" b="1" dirty="0">
                <a:latin typeface="Century Schoolbook" panose="02040604050505020304" pitchFamily="18" charset="0"/>
              </a:rPr>
              <a:t>ii) It is critical to relieve the users fear by providing technologies that enable users to check the integrity of their data.</a:t>
            </a:r>
          </a:p>
          <a:p>
            <a:r>
              <a:rPr lang="en-US" b="1" dirty="0">
                <a:latin typeface="Century Schoolbook" panose="02040604050505020304" pitchFamily="18" charset="0"/>
              </a:rPr>
              <a:t>iii) It presents two approaches that allow users to defect whether the data has been touched by unauthorized people :</a:t>
            </a:r>
          </a:p>
          <a:p>
            <a:r>
              <a:rPr lang="en-US" b="1" dirty="0">
                <a:solidFill>
                  <a:srgbClr val="0070C0"/>
                </a:solidFill>
                <a:latin typeface="Century Schoolbook" panose="02040604050505020304" pitchFamily="18" charset="0"/>
              </a:rPr>
              <a:t>1. </a:t>
            </a:r>
            <a:r>
              <a:rPr lang="en-US" b="1" u="sng" dirty="0">
                <a:solidFill>
                  <a:srgbClr val="0070C0"/>
                </a:solidFill>
                <a:latin typeface="Century Schoolbook" panose="02040604050505020304" pitchFamily="18" charset="0"/>
              </a:rPr>
              <a:t>A PDP-Based Integrity checking Protocol</a:t>
            </a:r>
            <a:r>
              <a:rPr lang="en-US" b="1" dirty="0">
                <a:solidFill>
                  <a:srgbClr val="0070C0"/>
                </a:solidFill>
                <a:latin typeface="Century Schoolbook" panose="02040604050505020304" pitchFamily="18" charset="0"/>
              </a:rPr>
              <a:t> </a:t>
            </a:r>
            <a:r>
              <a:rPr lang="en-US" b="1" dirty="0">
                <a:latin typeface="Century Schoolbook" panose="02040604050505020304" pitchFamily="18" charset="0"/>
              </a:rPr>
              <a:t>: - Protocol based on the Provable Data Procession (PDP) technology, allows users to obtain a proof from the storage service providers. Such a proof will be used as evidence that their data have been stored there.</a:t>
            </a:r>
          </a:p>
          <a:p>
            <a:r>
              <a:rPr lang="en-US" b="1" dirty="0">
                <a:solidFill>
                  <a:srgbClr val="0070C0"/>
                </a:solidFill>
                <a:latin typeface="Century Schoolbook" panose="02040604050505020304" pitchFamily="18" charset="0"/>
              </a:rPr>
              <a:t>2. </a:t>
            </a:r>
            <a:r>
              <a:rPr lang="en-US" b="1" u="sng" dirty="0">
                <a:solidFill>
                  <a:srgbClr val="0070C0"/>
                </a:solidFill>
                <a:latin typeface="Century Schoolbook" panose="02040604050505020304" pitchFamily="18" charset="0"/>
              </a:rPr>
              <a:t>An Enhanced Data Possession checking Protocol</a:t>
            </a:r>
            <a:r>
              <a:rPr lang="en-US" b="1" dirty="0">
                <a:latin typeface="Century Schoolbook" panose="02040604050505020304" pitchFamily="18" charset="0"/>
              </a:rPr>
              <a:t> : - The above PDP-based protocol does not satisfy Requirement with 100% probability. An Enhanced protocol has been proposed based on the idea of the </a:t>
            </a:r>
            <a:r>
              <a:rPr lang="en-US" b="1" dirty="0" err="1">
                <a:latin typeface="Century Schoolbook" panose="02040604050505020304" pitchFamily="18" charset="0"/>
              </a:rPr>
              <a:t>DiffieHellman</a:t>
            </a:r>
            <a:r>
              <a:rPr lang="en-US" b="1" dirty="0">
                <a:latin typeface="Century Schoolbook" panose="02040604050505020304" pitchFamily="18" charset="0"/>
              </a:rPr>
              <a:t> scheme.</a:t>
            </a:r>
          </a:p>
        </p:txBody>
      </p:sp>
    </p:spTree>
    <p:extLst>
      <p:ext uri="{BB962C8B-B14F-4D97-AF65-F5344CB8AC3E}">
        <p14:creationId xmlns:p14="http://schemas.microsoft.com/office/powerpoint/2010/main" val="2016765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2D124-70B0-02DA-4ADC-D91431052D6B}"/>
              </a:ext>
            </a:extLst>
          </p:cNvPr>
          <p:cNvSpPr>
            <a:spLocks noGrp="1"/>
          </p:cNvSpPr>
          <p:nvPr>
            <p:ph type="title"/>
          </p:nvPr>
        </p:nvSpPr>
        <p:spPr>
          <a:xfrm>
            <a:off x="0" y="-88490"/>
            <a:ext cx="12192000" cy="698090"/>
          </a:xfrm>
        </p:spPr>
        <p:txBody>
          <a:bodyPr>
            <a:noAutofit/>
          </a:bodyPr>
          <a:lstStyle/>
          <a:p>
            <a:pPr marL="571500" indent="-571500">
              <a:buFont typeface="Wingdings" panose="05000000000000000000" pitchFamily="2" charset="2"/>
              <a:buChar char="Ø"/>
            </a:pPr>
            <a:r>
              <a:rPr lang="en-US" sz="2800" u="sng" dirty="0">
                <a:solidFill>
                  <a:srgbClr val="0070C0"/>
                </a:solidFill>
                <a:latin typeface="Algerian" panose="04020705040A02060702" pitchFamily="82" charset="0"/>
              </a:rPr>
              <a:t>Database outsourcing &amp; query integrity assurance </a:t>
            </a:r>
            <a:r>
              <a:rPr lang="en-US" sz="2800" dirty="0">
                <a:solidFill>
                  <a:srgbClr val="0070C0"/>
                </a:solidFill>
                <a:latin typeface="Algerian" panose="04020705040A02060702" pitchFamily="82" charset="0"/>
              </a:rPr>
              <a:t>: -</a:t>
            </a:r>
            <a:endParaRPr lang="en-IN" sz="2800"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D54AA79B-BCC8-99E8-1B50-D6BAE52749D9}"/>
              </a:ext>
            </a:extLst>
          </p:cNvPr>
          <p:cNvSpPr>
            <a:spLocks noGrp="1"/>
          </p:cNvSpPr>
          <p:nvPr>
            <p:ph type="body" idx="1"/>
          </p:nvPr>
        </p:nvSpPr>
        <p:spPr>
          <a:xfrm>
            <a:off x="0" y="491614"/>
            <a:ext cx="9655277" cy="4807974"/>
          </a:xfrm>
        </p:spPr>
        <p:txBody>
          <a:bodyPr>
            <a:noAutofit/>
          </a:bodyPr>
          <a:lstStyle/>
          <a:p>
            <a:r>
              <a:rPr lang="en-US" sz="2000" b="1" dirty="0">
                <a:latin typeface="Century Schoolbook" panose="02040604050505020304" pitchFamily="18" charset="0"/>
              </a:rPr>
              <a:t>i) Storing data into and fetching data from devices and machines behind a cloud are essentially a novel form of database outsourcing. It is an important component of cloud computing. </a:t>
            </a:r>
          </a:p>
          <a:p>
            <a:r>
              <a:rPr lang="en-US" sz="2000" b="1" dirty="0">
                <a:latin typeface="Century Schoolbook" panose="02040604050505020304" pitchFamily="18" charset="0"/>
              </a:rPr>
              <a:t>ii) This new outsourcing model has the benefits of reducing the costs for running Database Management systems (DBMS), independently and enabling enterprises to concentrate on their main business.</a:t>
            </a:r>
          </a:p>
          <a:p>
            <a:r>
              <a:rPr lang="en-US" sz="2000" b="1" dirty="0">
                <a:latin typeface="Century Schoolbook" panose="02040604050505020304" pitchFamily="18" charset="0"/>
              </a:rPr>
              <a:t>- Generally there are two security concerns in database outsourcing : </a:t>
            </a:r>
          </a:p>
          <a:p>
            <a:r>
              <a:rPr lang="en-US" sz="2400" b="1" dirty="0">
                <a:solidFill>
                  <a:srgbClr val="0070C0"/>
                </a:solidFill>
                <a:latin typeface="Century Schoolbook" panose="02040604050505020304" pitchFamily="18" charset="0"/>
              </a:rPr>
              <a:t>1. </a:t>
            </a:r>
            <a:r>
              <a:rPr lang="en-US" sz="2400" b="1" u="sng" dirty="0">
                <a:solidFill>
                  <a:srgbClr val="0070C0"/>
                </a:solidFill>
                <a:latin typeface="Century Schoolbook" panose="02040604050505020304" pitchFamily="18" charset="0"/>
              </a:rPr>
              <a:t>Data privacy protection</a:t>
            </a:r>
            <a:r>
              <a:rPr lang="en-US" sz="2000" b="1" dirty="0">
                <a:latin typeface="Century Schoolbook" panose="02040604050505020304" pitchFamily="18" charset="0"/>
              </a:rPr>
              <a:t> : - A method is execute SQL queries over encrypted databases. This strategy is to a process as much as query as possible by the service providers, without having to decrypt the data.</a:t>
            </a:r>
          </a:p>
          <a:p>
            <a:r>
              <a:rPr lang="en-US" sz="2400" b="1" dirty="0">
                <a:solidFill>
                  <a:srgbClr val="0070C0"/>
                </a:solidFill>
                <a:latin typeface="Century Schoolbook" panose="02040604050505020304" pitchFamily="18" charset="0"/>
              </a:rPr>
              <a:t>2. </a:t>
            </a:r>
            <a:r>
              <a:rPr lang="en-US" sz="2400" b="1" u="sng" dirty="0">
                <a:solidFill>
                  <a:srgbClr val="0070C0"/>
                </a:solidFill>
                <a:latin typeface="Century Schoolbook" panose="02040604050505020304" pitchFamily="18" charset="0"/>
              </a:rPr>
              <a:t>Query integrity assurance</a:t>
            </a:r>
            <a:r>
              <a:rPr lang="en-US" sz="2000" b="1" dirty="0">
                <a:latin typeface="Century Schoolbook" panose="02040604050505020304" pitchFamily="18" charset="0"/>
              </a:rPr>
              <a:t> : - Query integrity examines the trust worthiness of the hosting environment.</a:t>
            </a:r>
            <a:endParaRPr lang="en-IN" sz="2000" b="1" dirty="0">
              <a:latin typeface="Century Schoolbook" panose="02040604050505020304" pitchFamily="18" charset="0"/>
            </a:endParaRPr>
          </a:p>
        </p:txBody>
      </p:sp>
    </p:spTree>
    <p:extLst>
      <p:ext uri="{BB962C8B-B14F-4D97-AF65-F5344CB8AC3E}">
        <p14:creationId xmlns:p14="http://schemas.microsoft.com/office/powerpoint/2010/main" val="2645298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11E79-6F83-B305-C610-DE52CDF8EF00}"/>
              </a:ext>
            </a:extLst>
          </p:cNvPr>
          <p:cNvSpPr>
            <a:spLocks noGrp="1"/>
          </p:cNvSpPr>
          <p:nvPr>
            <p:ph type="title"/>
          </p:nvPr>
        </p:nvSpPr>
        <p:spPr>
          <a:xfrm>
            <a:off x="0" y="-112252"/>
            <a:ext cx="10609006" cy="791238"/>
          </a:xfrm>
        </p:spPr>
        <p:txBody>
          <a:bodyPr>
            <a:noAutofit/>
          </a:bodyPr>
          <a:lstStyle/>
          <a:p>
            <a:pPr marL="571500" indent="-571500">
              <a:buFont typeface="Wingdings" panose="05000000000000000000" pitchFamily="2" charset="2"/>
              <a:buChar char="Ø"/>
            </a:pPr>
            <a:r>
              <a:rPr lang="en-US" sz="4000" u="sng" dirty="0">
                <a:solidFill>
                  <a:srgbClr val="0070C0"/>
                </a:solidFill>
                <a:latin typeface="Algerian" panose="04020705040A02060702" pitchFamily="82" charset="0"/>
              </a:rPr>
              <a:t>Web application – based security</a:t>
            </a:r>
            <a:r>
              <a:rPr lang="en-US" sz="4000" dirty="0">
                <a:solidFill>
                  <a:srgbClr val="0070C0"/>
                </a:solidFill>
                <a:latin typeface="Algerian" panose="04020705040A02060702" pitchFamily="82" charset="0"/>
              </a:rPr>
              <a:t> : -</a:t>
            </a:r>
            <a:endParaRPr lang="en-IN" sz="4000"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D18AF99E-F908-FAC3-2588-9A86C588A97B}"/>
              </a:ext>
            </a:extLst>
          </p:cNvPr>
          <p:cNvSpPr>
            <a:spLocks noGrp="1"/>
          </p:cNvSpPr>
          <p:nvPr>
            <p:ph type="body" idx="1"/>
          </p:nvPr>
        </p:nvSpPr>
        <p:spPr>
          <a:xfrm>
            <a:off x="68826" y="553474"/>
            <a:ext cx="10019071" cy="4480642"/>
          </a:xfrm>
        </p:spPr>
        <p:txBody>
          <a:bodyPr>
            <a:noAutofit/>
          </a:bodyPr>
          <a:lstStyle/>
          <a:p>
            <a:r>
              <a:rPr lang="en-US" sz="2400" b="1" dirty="0" err="1">
                <a:latin typeface="Century Schoolbook" panose="02040604050505020304" pitchFamily="18" charset="0"/>
              </a:rPr>
              <a:t>i</a:t>
            </a:r>
            <a:r>
              <a:rPr lang="en-US" sz="2400" b="1" dirty="0">
                <a:latin typeface="Century Schoolbook" panose="02040604050505020304" pitchFamily="18" charset="0"/>
              </a:rPr>
              <a:t>) In Cloud Computing, web security plays a more important role than ever. The web site is the first gate that guards the vast cloud resources.</a:t>
            </a:r>
          </a:p>
          <a:p>
            <a:r>
              <a:rPr lang="en-US" sz="2400" b="1" dirty="0">
                <a:latin typeface="Century Schoolbook" panose="02040604050505020304" pitchFamily="18" charset="0"/>
              </a:rPr>
              <a:t>ii) web attack techniques are often referred as the class attack.</a:t>
            </a:r>
          </a:p>
          <a:p>
            <a:r>
              <a:rPr lang="en-US" sz="2400" b="1" dirty="0">
                <a:latin typeface="Century Schoolbook" panose="02040604050505020304" pitchFamily="18" charset="0"/>
              </a:rPr>
              <a:t>iii) When any web security vulnerability is identified, attacker will employ </a:t>
            </a:r>
            <a:r>
              <a:rPr lang="en-US" sz="2400" b="1" dirty="0" err="1">
                <a:latin typeface="Century Schoolbook" panose="02040604050505020304" pitchFamily="18" charset="0"/>
              </a:rPr>
              <a:t>thoes</a:t>
            </a:r>
            <a:r>
              <a:rPr lang="en-US" sz="2400" b="1" dirty="0">
                <a:latin typeface="Century Schoolbook" panose="02040604050505020304" pitchFamily="18" charset="0"/>
              </a:rPr>
              <a:t> techniques to take advantage of the vulnerability security.</a:t>
            </a:r>
          </a:p>
          <a:p>
            <a:r>
              <a:rPr lang="en-US" sz="2400" b="1" dirty="0">
                <a:latin typeface="Century Schoolbook" panose="02040604050505020304" pitchFamily="18" charset="0"/>
              </a:rPr>
              <a:t>iv) The types of attack can be categorized in Authentication, Authorization, client-side Attacks, command Execution, Information Disclosure, and Logical Attacks.</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802006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96AD9-1881-76A8-65DE-D394AD55282B}"/>
              </a:ext>
            </a:extLst>
          </p:cNvPr>
          <p:cNvSpPr>
            <a:spLocks noGrp="1"/>
          </p:cNvSpPr>
          <p:nvPr>
            <p:ph type="title"/>
          </p:nvPr>
        </p:nvSpPr>
        <p:spPr>
          <a:xfrm>
            <a:off x="0" y="0"/>
            <a:ext cx="8596668" cy="705723"/>
          </a:xfrm>
        </p:spPr>
        <p:txBody>
          <a:bodyPr>
            <a:normAutofit fontScale="90000"/>
          </a:bodyPr>
          <a:lstStyle/>
          <a:p>
            <a:pPr marL="571500" indent="-571500">
              <a:buFont typeface="Wingdings" panose="05000000000000000000" pitchFamily="2" charset="2"/>
              <a:buChar char="Ø"/>
            </a:pPr>
            <a:r>
              <a:rPr lang="en-US" u="sng" dirty="0">
                <a:solidFill>
                  <a:srgbClr val="0070C0"/>
                </a:solidFill>
                <a:latin typeface="Algerian" panose="04020705040A02060702" pitchFamily="82" charset="0"/>
              </a:rPr>
              <a:t>Multimedia data security</a:t>
            </a:r>
            <a:r>
              <a:rPr lang="en-US" dirty="0">
                <a:solidFill>
                  <a:srgbClr val="0070C0"/>
                </a:solidFill>
                <a:latin typeface="Algerian" panose="04020705040A02060702" pitchFamily="82" charset="0"/>
              </a:rPr>
              <a:t> : -</a:t>
            </a:r>
            <a:endParaRPr lang="en-IN"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7BF1FE26-A7C1-F4BF-69DE-33B735797460}"/>
              </a:ext>
            </a:extLst>
          </p:cNvPr>
          <p:cNvSpPr>
            <a:spLocks noGrp="1"/>
          </p:cNvSpPr>
          <p:nvPr>
            <p:ph type="body" idx="1"/>
          </p:nvPr>
        </p:nvSpPr>
        <p:spPr>
          <a:xfrm>
            <a:off x="0" y="705724"/>
            <a:ext cx="9763432" cy="4987154"/>
          </a:xfrm>
        </p:spPr>
        <p:txBody>
          <a:bodyPr>
            <a:normAutofit/>
          </a:bodyPr>
          <a:lstStyle/>
          <a:p>
            <a:r>
              <a:rPr lang="en-US" sz="2000" b="1" dirty="0" err="1">
                <a:latin typeface="Century Schoolbook" panose="02040604050505020304" pitchFamily="18" charset="0"/>
              </a:rPr>
              <a:t>i</a:t>
            </a:r>
            <a:r>
              <a:rPr lang="en-US" sz="2000" b="1" dirty="0">
                <a:latin typeface="Century Schoolbook" panose="02040604050505020304" pitchFamily="18" charset="0"/>
              </a:rPr>
              <a:t>) With the rapid developments of multimedia technologies, more and more multimedia contents are being stored and delivered over many kind of devices, databases, and networks. </a:t>
            </a:r>
          </a:p>
          <a:p>
            <a:r>
              <a:rPr lang="en-US" sz="2000" b="1" dirty="0">
                <a:latin typeface="Century Schoolbook" panose="02040604050505020304" pitchFamily="18" charset="0"/>
              </a:rPr>
              <a:t>ii) Multimedia Data security plays an important role in the data storage to protect multimedia data.</a:t>
            </a:r>
          </a:p>
          <a:p>
            <a:r>
              <a:rPr lang="en-US" sz="2000" b="1" dirty="0">
                <a:latin typeface="Century Schoolbook" panose="02040604050505020304" pitchFamily="18" charset="0"/>
              </a:rPr>
              <a:t>iii) Recently, how storage multimedia contents are delivered by both different providers and users has attracted much attentions and many applications.</a:t>
            </a:r>
          </a:p>
          <a:p>
            <a:r>
              <a:rPr lang="en-US" sz="2000" b="1" dirty="0">
                <a:latin typeface="Century Schoolbook" panose="02040604050505020304" pitchFamily="18" charset="0"/>
              </a:rPr>
              <a:t>iv) This section briefly goes through the most critical topics in this area.</a:t>
            </a:r>
          </a:p>
          <a:p>
            <a:r>
              <a:rPr lang="en-US" sz="2000" b="1" dirty="0">
                <a:latin typeface="Century Schoolbook" panose="02040604050505020304" pitchFamily="18" charset="0"/>
              </a:rPr>
              <a:t>- It includes the following -</a:t>
            </a:r>
          </a:p>
          <a:p>
            <a:r>
              <a:rPr lang="en-US" sz="2000" b="1" dirty="0">
                <a:latin typeface="Century Schoolbook" panose="02040604050505020304" pitchFamily="18" charset="0"/>
              </a:rPr>
              <a:t>(1) Protection from unauthorized Replication. </a:t>
            </a:r>
          </a:p>
          <a:p>
            <a:r>
              <a:rPr lang="en-US" sz="2000" b="1" dirty="0">
                <a:latin typeface="Century Schoolbook" panose="02040604050505020304" pitchFamily="18" charset="0"/>
              </a:rPr>
              <a:t>(2) Protection from unauthorized Replacement.</a:t>
            </a:r>
          </a:p>
          <a:p>
            <a:r>
              <a:rPr lang="en-US" sz="2000" b="1" dirty="0">
                <a:latin typeface="Century Schoolbook" panose="02040604050505020304" pitchFamily="18" charset="0"/>
              </a:rPr>
              <a:t>(3) Protection from Unauthorized Pre-Fetching.</a:t>
            </a:r>
            <a:endParaRPr lang="en-IN" sz="2000" b="1" dirty="0">
              <a:latin typeface="Century Schoolbook" panose="02040604050505020304" pitchFamily="18" charset="0"/>
            </a:endParaRPr>
          </a:p>
        </p:txBody>
      </p:sp>
    </p:spTree>
    <p:extLst>
      <p:ext uri="{BB962C8B-B14F-4D97-AF65-F5344CB8AC3E}">
        <p14:creationId xmlns:p14="http://schemas.microsoft.com/office/powerpoint/2010/main" val="4372796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5A221-8332-A498-5D87-AC9308673D22}"/>
              </a:ext>
            </a:extLst>
          </p:cNvPr>
          <p:cNvSpPr>
            <a:spLocks noGrp="1"/>
          </p:cNvSpPr>
          <p:nvPr>
            <p:ph type="title"/>
          </p:nvPr>
        </p:nvSpPr>
        <p:spPr>
          <a:xfrm>
            <a:off x="0" y="0"/>
            <a:ext cx="8596668" cy="648929"/>
          </a:xfrm>
        </p:spPr>
        <p:txBody>
          <a:bodyPr>
            <a:normAutofit fontScale="90000"/>
          </a:bodyPr>
          <a:lstStyle/>
          <a:p>
            <a:pPr marL="571500" indent="-571500">
              <a:buFont typeface="Wingdings" panose="05000000000000000000" pitchFamily="2" charset="2"/>
              <a:buChar char="v"/>
            </a:pPr>
            <a:r>
              <a:rPr lang="en-US" u="sng" dirty="0">
                <a:solidFill>
                  <a:srgbClr val="0070C0"/>
                </a:solidFill>
                <a:latin typeface="Algerian" panose="04020705040A02060702" pitchFamily="82" charset="0"/>
              </a:rPr>
              <a:t>Data security risk</a:t>
            </a:r>
            <a:r>
              <a:rPr lang="en-US" dirty="0">
                <a:solidFill>
                  <a:srgbClr val="0070C0"/>
                </a:solidFill>
                <a:latin typeface="Algerian" panose="04020705040A02060702" pitchFamily="82" charset="0"/>
              </a:rPr>
              <a:t> : -</a:t>
            </a:r>
            <a:endParaRPr lang="en-IN"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5D07CF1D-AD9F-E15C-0466-001F8DC8E729}"/>
              </a:ext>
            </a:extLst>
          </p:cNvPr>
          <p:cNvSpPr>
            <a:spLocks noGrp="1"/>
          </p:cNvSpPr>
          <p:nvPr>
            <p:ph type="body" idx="1"/>
          </p:nvPr>
        </p:nvSpPr>
        <p:spPr>
          <a:xfrm>
            <a:off x="78658" y="570271"/>
            <a:ext cx="9674943" cy="4650658"/>
          </a:xfrm>
        </p:spPr>
        <p:txBody>
          <a:bodyPr>
            <a:normAutofit/>
          </a:bodyPr>
          <a:lstStyle/>
          <a:p>
            <a:r>
              <a:rPr lang="en-US" sz="2400" b="1" dirty="0" err="1">
                <a:latin typeface="Century Schoolbook" panose="02040604050505020304" pitchFamily="18" charset="0"/>
              </a:rPr>
              <a:t>i</a:t>
            </a:r>
            <a:r>
              <a:rPr lang="en-US" sz="2400" b="1" dirty="0">
                <a:latin typeface="Century Schoolbook" panose="02040604050505020304" pitchFamily="18" charset="0"/>
              </a:rPr>
              <a:t>) Data are uploaded into a cloud and stored in a data center, for access by users from that data center or in a more fully cloud based model.</a:t>
            </a:r>
          </a:p>
          <a:p>
            <a:r>
              <a:rPr lang="en-US" sz="2400" b="1" dirty="0">
                <a:latin typeface="Century Schoolbook" panose="02040604050505020304" pitchFamily="18" charset="0"/>
              </a:rPr>
              <a:t>ii) The most obvious risk in this scenario is that associated with the storage of that data.</a:t>
            </a:r>
          </a:p>
          <a:p>
            <a:r>
              <a:rPr lang="en-US" sz="2400" b="1" dirty="0">
                <a:latin typeface="Century Schoolbook" panose="02040604050505020304" pitchFamily="18" charset="0"/>
              </a:rPr>
              <a:t>iii) A user uploading or creating cloud based data include those data that are stored and maintained by a third-party cloud provider like Google, Amazon, Microsoft, and so on.</a:t>
            </a:r>
          </a:p>
          <a:p>
            <a:r>
              <a:rPr lang="en-US" sz="2400" b="1" dirty="0">
                <a:latin typeface="Century Schoolbook" panose="02040604050505020304" pitchFamily="18" charset="0"/>
              </a:rPr>
              <a:t>iv) This action has several risks associated with it : -</a:t>
            </a:r>
          </a:p>
          <a:p>
            <a:r>
              <a:rPr lang="en-US" sz="2400" b="1" dirty="0">
                <a:latin typeface="Century Schoolbook" panose="02040604050505020304" pitchFamily="18" charset="0"/>
              </a:rPr>
              <a:t>v) Data Security Risks include loss of governance, isolation failure, insecure or incomplete data deletion.</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93609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A038C-8838-F8DB-A622-75D37C41A16E}"/>
              </a:ext>
            </a:extLst>
          </p:cNvPr>
          <p:cNvSpPr>
            <a:spLocks noGrp="1"/>
          </p:cNvSpPr>
          <p:nvPr>
            <p:ph type="title"/>
          </p:nvPr>
        </p:nvSpPr>
        <p:spPr>
          <a:xfrm>
            <a:off x="-1" y="0"/>
            <a:ext cx="10992465" cy="717755"/>
          </a:xfrm>
        </p:spPr>
        <p:txBody>
          <a:bodyPr>
            <a:normAutofit/>
          </a:bodyPr>
          <a:lstStyle/>
          <a:p>
            <a:pPr marL="571500" indent="-571500">
              <a:buFont typeface="Wingdings" panose="05000000000000000000" pitchFamily="2" charset="2"/>
              <a:buChar char="v"/>
            </a:pPr>
            <a:r>
              <a:rPr lang="en-US" sz="3600" u="sng" dirty="0">
                <a:solidFill>
                  <a:srgbClr val="0070C0"/>
                </a:solidFill>
                <a:latin typeface="Algerian" panose="04020705040A02060702" pitchFamily="82" charset="0"/>
              </a:rPr>
              <a:t>Digital identity &amp; access management</a:t>
            </a:r>
            <a:r>
              <a:rPr lang="en-US" sz="3600" dirty="0">
                <a:solidFill>
                  <a:srgbClr val="0070C0"/>
                </a:solidFill>
                <a:latin typeface="Algerian" panose="04020705040A02060702" pitchFamily="82" charset="0"/>
              </a:rPr>
              <a:t> : -</a:t>
            </a:r>
            <a:endParaRPr lang="en-IN" sz="3600"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4862B68A-3DDE-5BD1-0445-2385FA92EE35}"/>
              </a:ext>
            </a:extLst>
          </p:cNvPr>
          <p:cNvSpPr>
            <a:spLocks noGrp="1"/>
          </p:cNvSpPr>
          <p:nvPr>
            <p:ph type="body" idx="1"/>
          </p:nvPr>
        </p:nvSpPr>
        <p:spPr>
          <a:xfrm>
            <a:off x="0" y="542612"/>
            <a:ext cx="10138787" cy="5459984"/>
          </a:xfrm>
        </p:spPr>
        <p:txBody>
          <a:bodyPr>
            <a:normAutofit lnSpcReduction="10000"/>
          </a:bodyPr>
          <a:lstStyle/>
          <a:p>
            <a:r>
              <a:rPr lang="en-US" sz="2400" b="1" dirty="0" err="1">
                <a:latin typeface="Century Schoolbook" panose="02040604050505020304" pitchFamily="18" charset="0"/>
              </a:rPr>
              <a:t>i</a:t>
            </a:r>
            <a:r>
              <a:rPr lang="en-US" sz="2400" b="1" dirty="0">
                <a:latin typeface="Century Schoolbook" panose="02040604050505020304" pitchFamily="18" charset="0"/>
              </a:rPr>
              <a:t>) Digital Identity and Access                                                                                                 Management (DIAM) is a system that                                                                          helps organizations manage and control                                                         access to digital resources.</a:t>
            </a:r>
          </a:p>
          <a:p>
            <a:r>
              <a:rPr lang="en-US" sz="2400" b="1" dirty="0">
                <a:latin typeface="Century Schoolbook" panose="02040604050505020304" pitchFamily="18" charset="0"/>
              </a:rPr>
              <a:t>ii) It involves verifying the identity of                                                                users, granting appropriate access                                                                            </a:t>
            </a:r>
            <a:r>
              <a:rPr lang="en-US" sz="2400" b="1" dirty="0" err="1">
                <a:latin typeface="Century Schoolbook" panose="02040604050505020304" pitchFamily="18" charset="0"/>
              </a:rPr>
              <a:t>privelgs</a:t>
            </a:r>
            <a:r>
              <a:rPr lang="en-US" sz="2400" b="1" dirty="0">
                <a:latin typeface="Century Schoolbook" panose="02040604050505020304" pitchFamily="18" charset="0"/>
              </a:rPr>
              <a:t>, and monitoring user activities. </a:t>
            </a:r>
          </a:p>
          <a:p>
            <a:r>
              <a:rPr lang="en-US" sz="2400" b="1" dirty="0">
                <a:latin typeface="Century Schoolbook" panose="02040604050505020304" pitchFamily="18" charset="0"/>
              </a:rPr>
              <a:t>iii) Identity and Access Management                                                              (IAM) is a combination of put policies                                                                       and technologies that allows                                                                           organizations to identify users &amp;                                                                 provide the right form of access as and when required.</a:t>
            </a:r>
          </a:p>
          <a:p>
            <a:r>
              <a:rPr lang="en-US" sz="2400" b="1" dirty="0">
                <a:latin typeface="Century Schoolbook" panose="02040604050505020304" pitchFamily="18" charset="0"/>
              </a:rPr>
              <a:t>iv) The services and resources you want to access can be specified in IAM. It doesn't provide any replica or backup.</a:t>
            </a: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45106623-706F-AB1C-52CC-8700587B02A8}"/>
              </a:ext>
            </a:extLst>
          </p:cNvPr>
          <p:cNvPicPr>
            <a:picLocks noChangeAspect="1"/>
          </p:cNvPicPr>
          <p:nvPr/>
        </p:nvPicPr>
        <p:blipFill>
          <a:blip r:embed="rId2"/>
          <a:stretch>
            <a:fillRect/>
          </a:stretch>
        </p:blipFill>
        <p:spPr>
          <a:xfrm>
            <a:off x="6471137" y="717755"/>
            <a:ext cx="5593409" cy="3786933"/>
          </a:xfrm>
          <a:prstGeom prst="rect">
            <a:avLst/>
          </a:prstGeom>
        </p:spPr>
      </p:pic>
    </p:spTree>
    <p:extLst>
      <p:ext uri="{BB962C8B-B14F-4D97-AF65-F5344CB8AC3E}">
        <p14:creationId xmlns:p14="http://schemas.microsoft.com/office/powerpoint/2010/main" val="4208349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6064D-DB4C-589F-F7EC-CDA169B93189}"/>
              </a:ext>
            </a:extLst>
          </p:cNvPr>
          <p:cNvSpPr>
            <a:spLocks noGrp="1"/>
          </p:cNvSpPr>
          <p:nvPr>
            <p:ph type="title"/>
          </p:nvPr>
        </p:nvSpPr>
        <p:spPr>
          <a:xfrm>
            <a:off x="0" y="-85131"/>
            <a:ext cx="8596668" cy="791238"/>
          </a:xfrm>
        </p:spPr>
        <p:txBody>
          <a:bodyPr/>
          <a:lstStyle/>
          <a:p>
            <a:pPr marL="571500" indent="-571500">
              <a:buFont typeface="Wingdings" panose="05000000000000000000" pitchFamily="2" charset="2"/>
              <a:buChar char="v"/>
            </a:pPr>
            <a:r>
              <a:rPr lang="en-US" u="sng" dirty="0">
                <a:solidFill>
                  <a:srgbClr val="0070C0"/>
                </a:solidFill>
                <a:latin typeface="Algerian" panose="04020705040A02060702" pitchFamily="82" charset="0"/>
              </a:rPr>
              <a:t>Benefits of IAM</a:t>
            </a:r>
            <a:r>
              <a:rPr lang="en-US" dirty="0">
                <a:solidFill>
                  <a:srgbClr val="0070C0"/>
                </a:solidFill>
                <a:latin typeface="Algerian" panose="04020705040A02060702" pitchFamily="82" charset="0"/>
              </a:rPr>
              <a:t> : -</a:t>
            </a:r>
            <a:endParaRPr lang="en-IN"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00A8CD75-F5CC-FB98-F33F-D14804AAF4DC}"/>
              </a:ext>
            </a:extLst>
          </p:cNvPr>
          <p:cNvSpPr>
            <a:spLocks noGrp="1"/>
          </p:cNvSpPr>
          <p:nvPr>
            <p:ph type="body" idx="1"/>
          </p:nvPr>
        </p:nvSpPr>
        <p:spPr>
          <a:xfrm>
            <a:off x="80387" y="635768"/>
            <a:ext cx="9555982" cy="3725217"/>
          </a:xfrm>
        </p:spPr>
        <p:txBody>
          <a:bodyPr/>
          <a:lstStyle/>
          <a:p>
            <a:pPr marL="285750" indent="-285750">
              <a:buClr>
                <a:srgbClr val="0070C0"/>
              </a:buClr>
              <a:buFont typeface="Wingdings" panose="05000000000000000000" pitchFamily="2" charset="2"/>
              <a:buChar char="Ø"/>
            </a:pPr>
            <a:r>
              <a:rPr lang="en-US" sz="2800" b="1" dirty="0">
                <a:latin typeface="Century Schoolbook" panose="02040604050505020304" pitchFamily="18" charset="0"/>
              </a:rPr>
              <a:t> Save money.</a:t>
            </a:r>
          </a:p>
          <a:p>
            <a:pPr marL="285750" indent="-285750">
              <a:buClr>
                <a:srgbClr val="0070C0"/>
              </a:buClr>
              <a:buFont typeface="Wingdings" panose="05000000000000000000" pitchFamily="2" charset="2"/>
              <a:buChar char="Ø"/>
            </a:pPr>
            <a:r>
              <a:rPr lang="en-US" sz="2800" b="1" dirty="0">
                <a:latin typeface="Century Schoolbook" panose="02040604050505020304" pitchFamily="18" charset="0"/>
              </a:rPr>
              <a:t> Improve operational efficiency.</a:t>
            </a:r>
          </a:p>
          <a:p>
            <a:pPr marL="285750" indent="-285750">
              <a:buClr>
                <a:srgbClr val="0070C0"/>
              </a:buClr>
              <a:buFont typeface="Wingdings" panose="05000000000000000000" pitchFamily="2" charset="2"/>
              <a:buChar char="Ø"/>
            </a:pPr>
            <a:r>
              <a:rPr lang="en-US" sz="2800" b="1" dirty="0">
                <a:latin typeface="Century Schoolbook" panose="02040604050505020304" pitchFamily="18" charset="0"/>
              </a:rPr>
              <a:t> Reduce time to deliver application and services.</a:t>
            </a:r>
          </a:p>
          <a:p>
            <a:pPr marL="285750" indent="-285750">
              <a:buClr>
                <a:srgbClr val="0070C0"/>
              </a:buClr>
              <a:buFont typeface="Wingdings" panose="05000000000000000000" pitchFamily="2" charset="2"/>
              <a:buChar char="Ø"/>
            </a:pPr>
            <a:r>
              <a:rPr lang="en-US" sz="2800" b="1" dirty="0">
                <a:latin typeface="Century Schoolbook" panose="02040604050505020304" pitchFamily="18" charset="0"/>
              </a:rPr>
              <a:t> Enhance Security.</a:t>
            </a:r>
          </a:p>
          <a:p>
            <a:pPr marL="285750" indent="-285750">
              <a:buClr>
                <a:srgbClr val="0070C0"/>
              </a:buClr>
              <a:buFont typeface="Wingdings" panose="05000000000000000000" pitchFamily="2" charset="2"/>
              <a:buChar char="Ø"/>
            </a:pPr>
            <a:r>
              <a:rPr lang="en-US" sz="2800" b="1" dirty="0">
                <a:latin typeface="Century Schoolbook" panose="02040604050505020304" pitchFamily="18" charset="0"/>
              </a:rPr>
              <a:t> Enhance regulation compliance.</a:t>
            </a:r>
          </a:p>
          <a:p>
            <a:pPr marL="285750" indent="-285750">
              <a:buClr>
                <a:srgbClr val="0070C0"/>
              </a:buClr>
              <a:buFont typeface="Wingdings" panose="05000000000000000000" pitchFamily="2" charset="2"/>
              <a:buChar char="Ø"/>
            </a:pPr>
            <a:r>
              <a:rPr lang="en-US" sz="2800" b="1" dirty="0">
                <a:latin typeface="Century Schoolbook" panose="02040604050505020304" pitchFamily="18" charset="0"/>
              </a:rPr>
              <a:t> Give more power at audit.</a:t>
            </a:r>
          </a:p>
          <a:p>
            <a:pPr marL="285750" indent="-285750">
              <a:buClr>
                <a:srgbClr val="0070C0"/>
              </a:buClr>
              <a:buFont typeface="Wingdings" panose="05000000000000000000" pitchFamily="2" charset="2"/>
              <a:buChar char="Ø"/>
            </a:pPr>
            <a:endParaRPr lang="en-IN" dirty="0"/>
          </a:p>
        </p:txBody>
      </p:sp>
    </p:spTree>
    <p:extLst>
      <p:ext uri="{BB962C8B-B14F-4D97-AF65-F5344CB8AC3E}">
        <p14:creationId xmlns:p14="http://schemas.microsoft.com/office/powerpoint/2010/main" val="37866928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06058-4229-7BEB-4601-5EE289BD0357}"/>
              </a:ext>
            </a:extLst>
          </p:cNvPr>
          <p:cNvSpPr>
            <a:spLocks noGrp="1"/>
          </p:cNvSpPr>
          <p:nvPr>
            <p:ph type="title"/>
          </p:nvPr>
        </p:nvSpPr>
        <p:spPr>
          <a:xfrm>
            <a:off x="0" y="-70338"/>
            <a:ext cx="8596668" cy="753626"/>
          </a:xfrm>
        </p:spPr>
        <p:txBody>
          <a:bodyPr>
            <a:normAutofit fontScale="90000"/>
          </a:bodyPr>
          <a:lstStyle/>
          <a:p>
            <a:r>
              <a:rPr lang="en-US" dirty="0">
                <a:solidFill>
                  <a:srgbClr val="0070C0"/>
                </a:solidFill>
                <a:latin typeface="Algerian" panose="04020705040A02060702" pitchFamily="82" charset="0"/>
              </a:rPr>
              <a:t>5.6 </a:t>
            </a:r>
            <a:r>
              <a:rPr lang="en-US" u="sng" dirty="0">
                <a:solidFill>
                  <a:srgbClr val="0070C0"/>
                </a:solidFill>
                <a:latin typeface="Algerian" panose="04020705040A02060702" pitchFamily="82" charset="0"/>
              </a:rPr>
              <a:t>Content level security</a:t>
            </a:r>
            <a:r>
              <a:rPr lang="en-US" dirty="0">
                <a:solidFill>
                  <a:srgbClr val="0070C0"/>
                </a:solidFill>
                <a:latin typeface="Algerian" panose="04020705040A02060702" pitchFamily="82" charset="0"/>
              </a:rPr>
              <a:t> : -</a:t>
            </a:r>
            <a:endParaRPr lang="en-IN"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00CACC2F-D1E1-169F-1D75-584C2795BF4C}"/>
              </a:ext>
            </a:extLst>
          </p:cNvPr>
          <p:cNvSpPr>
            <a:spLocks noGrp="1"/>
          </p:cNvSpPr>
          <p:nvPr>
            <p:ph type="body" idx="1"/>
          </p:nvPr>
        </p:nvSpPr>
        <p:spPr>
          <a:xfrm>
            <a:off x="0" y="582804"/>
            <a:ext cx="9756949" cy="5104562"/>
          </a:xfrm>
        </p:spPr>
        <p:txBody>
          <a:bodyPr>
            <a:noAutofit/>
          </a:bodyPr>
          <a:lstStyle/>
          <a:p>
            <a:br>
              <a:rPr lang="en-US" sz="2400" b="1" dirty="0">
                <a:latin typeface="Century Schoolbook" panose="02040604050505020304" pitchFamily="18" charset="0"/>
              </a:rPr>
            </a:br>
            <a:r>
              <a:rPr lang="en-US" sz="2400" b="1" dirty="0">
                <a:latin typeface="Century Schoolbook" panose="02040604050505020304" pitchFamily="18" charset="0"/>
              </a:rPr>
              <a:t>1) Content Level Security refers to measures taken to protect the content that is stored, transmitted, or accessed within a system. </a:t>
            </a:r>
          </a:p>
          <a:p>
            <a:r>
              <a:rPr lang="en-US" sz="2400" b="1" dirty="0">
                <a:latin typeface="Century Schoolbook" panose="02040604050505020304" pitchFamily="18" charset="0"/>
              </a:rPr>
              <a:t>ii) It involves implementing various security controls to ensure the confidentiality, integrity, and availability of the content. </a:t>
            </a:r>
          </a:p>
          <a:p>
            <a:r>
              <a:rPr lang="en-US" sz="2400" b="1" dirty="0">
                <a:latin typeface="Century Schoolbook" panose="02040604050505020304" pitchFamily="18" charset="0"/>
              </a:rPr>
              <a:t>iii) This can include encryption, access controls, data loss prevention, and monitoring mechanisms.</a:t>
            </a:r>
          </a:p>
          <a:p>
            <a:r>
              <a:rPr lang="en-US" sz="2400" b="1" dirty="0">
                <a:latin typeface="Century Schoolbook" panose="02040604050505020304" pitchFamily="18" charset="0"/>
              </a:rPr>
              <a:t>iv) The content security levels, from most-permissive to </a:t>
            </a:r>
            <a:r>
              <a:rPr lang="en-US" sz="2400" b="1" dirty="0" err="1">
                <a:latin typeface="Century Schoolbook" panose="02040604050505020304" pitchFamily="18" charset="0"/>
              </a:rPr>
              <a:t>mostrestive</a:t>
            </a:r>
            <a:r>
              <a:rPr lang="en-US" sz="2400" b="1" dirty="0">
                <a:latin typeface="Century Schoolbook" panose="02040604050505020304" pitchFamily="18" charset="0"/>
              </a:rPr>
              <a:t> are :</a:t>
            </a:r>
            <a:br>
              <a:rPr lang="en-US" sz="2400" b="1" dirty="0">
                <a:latin typeface="Century Schoolbook" panose="02040604050505020304" pitchFamily="18" charset="0"/>
              </a:rPr>
            </a:br>
            <a:r>
              <a:rPr lang="en-US" sz="2400" b="1" dirty="0">
                <a:solidFill>
                  <a:srgbClr val="0070C0"/>
                </a:solidFill>
                <a:latin typeface="Century Schoolbook" panose="02040604050505020304" pitchFamily="18" charset="0"/>
              </a:rPr>
              <a:t>1. </a:t>
            </a:r>
            <a:r>
              <a:rPr lang="en-US" sz="2400" b="1" u="sng" dirty="0">
                <a:solidFill>
                  <a:srgbClr val="0070C0"/>
                </a:solidFill>
                <a:latin typeface="Century Schoolbook" panose="02040604050505020304" pitchFamily="18" charset="0"/>
              </a:rPr>
              <a:t>Read and Write</a:t>
            </a:r>
            <a:r>
              <a:rPr lang="en-US" sz="2400" b="1" dirty="0">
                <a:latin typeface="Century Schoolbook" panose="02040604050505020304" pitchFamily="18" charset="0"/>
              </a:rPr>
              <a:t> </a:t>
            </a:r>
            <a:r>
              <a:rPr lang="en-US" sz="2400" b="1" dirty="0">
                <a:solidFill>
                  <a:srgbClr val="0070C0"/>
                </a:solidFill>
                <a:latin typeface="Century Schoolbook" panose="02040604050505020304" pitchFamily="18" charset="0"/>
              </a:rPr>
              <a:t>-</a:t>
            </a:r>
            <a:r>
              <a:rPr lang="en-US" sz="2400" b="1" dirty="0">
                <a:latin typeface="Century Schoolbook" panose="02040604050505020304" pitchFamily="18" charset="0"/>
              </a:rPr>
              <a:t> Content is viewable and editable. </a:t>
            </a:r>
          </a:p>
          <a:p>
            <a:r>
              <a:rPr lang="en-US" sz="2400" b="1" dirty="0">
                <a:solidFill>
                  <a:srgbClr val="0070C0"/>
                </a:solidFill>
                <a:latin typeface="Century Schoolbook" panose="02040604050505020304" pitchFamily="18" charset="0"/>
              </a:rPr>
              <a:t>2. </a:t>
            </a:r>
            <a:r>
              <a:rPr lang="en-US" sz="2400" b="1" u="sng" dirty="0">
                <a:solidFill>
                  <a:srgbClr val="0070C0"/>
                </a:solidFill>
                <a:latin typeface="Century Schoolbook" panose="02040604050505020304" pitchFamily="18" charset="0"/>
              </a:rPr>
              <a:t>Read only</a:t>
            </a:r>
            <a:r>
              <a:rPr lang="en-US" sz="2400" b="1" dirty="0">
                <a:solidFill>
                  <a:srgbClr val="0070C0"/>
                </a:solidFill>
                <a:latin typeface="Century Schoolbook" panose="02040604050505020304" pitchFamily="18" charset="0"/>
              </a:rPr>
              <a:t> - </a:t>
            </a:r>
            <a:r>
              <a:rPr lang="en-US" sz="2400" b="1" dirty="0">
                <a:latin typeface="Century Schoolbook" panose="02040604050505020304" pitchFamily="18" charset="0"/>
              </a:rPr>
              <a:t>Content is viewable, but cannot be edited. </a:t>
            </a:r>
          </a:p>
          <a:p>
            <a:r>
              <a:rPr lang="en-US" sz="2400" b="1" dirty="0">
                <a:solidFill>
                  <a:srgbClr val="0070C0"/>
                </a:solidFill>
                <a:latin typeface="Century Schoolbook" panose="02040604050505020304" pitchFamily="18" charset="0"/>
              </a:rPr>
              <a:t>3. </a:t>
            </a:r>
            <a:r>
              <a:rPr lang="en-US" sz="2400" b="1" u="sng" dirty="0">
                <a:solidFill>
                  <a:srgbClr val="0070C0"/>
                </a:solidFill>
                <a:latin typeface="Century Schoolbook" panose="02040604050505020304" pitchFamily="18" charset="0"/>
              </a:rPr>
              <a:t>Invisible</a:t>
            </a:r>
            <a:r>
              <a:rPr lang="en-US" sz="2400" b="1" dirty="0">
                <a:solidFill>
                  <a:srgbClr val="0070C0"/>
                </a:solidFill>
                <a:latin typeface="Century Schoolbook" panose="02040604050505020304" pitchFamily="18" charset="0"/>
              </a:rPr>
              <a:t> - </a:t>
            </a:r>
            <a:r>
              <a:rPr lang="en-US" sz="2400" b="1" dirty="0">
                <a:latin typeface="Century Schoolbook" panose="02040604050505020304" pitchFamily="18" charset="0"/>
              </a:rPr>
              <a:t>Content is not visible.</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4284810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0E172-3E21-52C4-87CA-C39E04F31CF1}"/>
              </a:ext>
            </a:extLst>
          </p:cNvPr>
          <p:cNvSpPr>
            <a:spLocks noGrp="1"/>
          </p:cNvSpPr>
          <p:nvPr>
            <p:ph type="title"/>
          </p:nvPr>
        </p:nvSpPr>
        <p:spPr>
          <a:xfrm>
            <a:off x="0" y="25400"/>
            <a:ext cx="10058400" cy="3474884"/>
          </a:xfrm>
        </p:spPr>
        <p:txBody>
          <a:bodyPr>
            <a:normAutofit/>
          </a:bodyPr>
          <a:lstStyle/>
          <a:p>
            <a:pPr marL="571500" indent="-571500">
              <a:buFont typeface="Wingdings" panose="05000000000000000000" pitchFamily="2" charset="2"/>
              <a:buChar char="v"/>
            </a:pPr>
            <a:r>
              <a:rPr lang="en-US" sz="4000" u="sng" dirty="0">
                <a:solidFill>
                  <a:srgbClr val="0070C0"/>
                </a:solidFill>
                <a:latin typeface="Algerian" panose="04020705040A02060702" pitchFamily="82" charset="0"/>
              </a:rPr>
              <a:t>Need  for content level security</a:t>
            </a:r>
            <a:r>
              <a:rPr lang="en-US" sz="4000" dirty="0">
                <a:solidFill>
                  <a:srgbClr val="0070C0"/>
                </a:solidFill>
                <a:latin typeface="Algerian" panose="04020705040A02060702" pitchFamily="82" charset="0"/>
              </a:rPr>
              <a:t> : -</a:t>
            </a:r>
            <a:br>
              <a:rPr lang="en-US" sz="4000" dirty="0">
                <a:solidFill>
                  <a:srgbClr val="0070C0"/>
                </a:solidFill>
                <a:latin typeface="Algerian" panose="04020705040A02060702" pitchFamily="82" charset="0"/>
              </a:rPr>
            </a:br>
            <a:r>
              <a:rPr lang="en-US" sz="2800" b="1" dirty="0">
                <a:solidFill>
                  <a:srgbClr val="0070C0"/>
                </a:solidFill>
                <a:latin typeface="Century Schoolbook" panose="02040604050505020304" pitchFamily="18" charset="0"/>
              </a:rPr>
              <a:t>1. </a:t>
            </a:r>
            <a:r>
              <a:rPr lang="en-US" sz="2800" b="1" u="sng" dirty="0">
                <a:solidFill>
                  <a:srgbClr val="0070C0"/>
                </a:solidFill>
                <a:latin typeface="Century Schoolbook" panose="02040604050505020304" pitchFamily="18" charset="0"/>
              </a:rPr>
              <a:t>Completely Confidential Content</a:t>
            </a:r>
            <a:r>
              <a:rPr lang="en-US" sz="2800" b="1" dirty="0">
                <a:solidFill>
                  <a:srgbClr val="0070C0"/>
                </a:solidFill>
                <a:latin typeface="Century Schoolbook" panose="02040604050505020304" pitchFamily="18" charset="0"/>
              </a:rPr>
              <a:t> : - </a:t>
            </a:r>
            <a:r>
              <a:rPr lang="en-US" sz="2400" b="1" dirty="0">
                <a:solidFill>
                  <a:schemeClr val="tx1"/>
                </a:solidFill>
                <a:latin typeface="Century Schoolbook" panose="02040604050505020304" pitchFamily="18" charset="0"/>
              </a:rPr>
              <a:t>Content can be accessed only from some business units. Other units aren’t aware the content.</a:t>
            </a:r>
            <a:br>
              <a:rPr lang="en-US" sz="2400" b="1" dirty="0">
                <a:solidFill>
                  <a:schemeClr val="tx1"/>
                </a:solidFill>
                <a:latin typeface="Century Schoolbook" panose="02040604050505020304" pitchFamily="18" charset="0"/>
              </a:rPr>
            </a:br>
            <a:r>
              <a:rPr lang="en-US" sz="2800" b="1" dirty="0">
                <a:solidFill>
                  <a:srgbClr val="0070C0"/>
                </a:solidFill>
                <a:latin typeface="Century Schoolbook" panose="02040604050505020304" pitchFamily="18" charset="0"/>
              </a:rPr>
              <a:t>2. </a:t>
            </a:r>
            <a:r>
              <a:rPr lang="en-US" sz="2800" b="1" u="sng" dirty="0">
                <a:solidFill>
                  <a:srgbClr val="0070C0"/>
                </a:solidFill>
                <a:latin typeface="Century Schoolbook" panose="02040604050505020304" pitchFamily="18" charset="0"/>
              </a:rPr>
              <a:t>Safety Reuse</a:t>
            </a:r>
            <a:r>
              <a:rPr lang="en-US" sz="2800" b="1" dirty="0">
                <a:solidFill>
                  <a:srgbClr val="0070C0"/>
                </a:solidFill>
                <a:latin typeface="Century Schoolbook" panose="02040604050505020304" pitchFamily="18" charset="0"/>
              </a:rPr>
              <a:t> : - </a:t>
            </a:r>
            <a:r>
              <a:rPr lang="en-US" sz="2400" b="1" dirty="0">
                <a:solidFill>
                  <a:schemeClr val="tx1"/>
                </a:solidFill>
                <a:latin typeface="Century Schoolbook" panose="02040604050505020304" pitchFamily="18" charset="0"/>
              </a:rPr>
              <a:t>A business unit can share content to other business units but only in read-only mode.</a:t>
            </a:r>
            <a:br>
              <a:rPr lang="en-US" sz="4000" dirty="0">
                <a:solidFill>
                  <a:srgbClr val="0070C0"/>
                </a:solidFill>
                <a:latin typeface="Algerian" panose="04020705040A02060702" pitchFamily="82" charset="0"/>
              </a:rPr>
            </a:br>
            <a:endParaRPr lang="en-IN" sz="4000"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66ACF43B-957C-DA6E-2391-20119509C9DF}"/>
              </a:ext>
            </a:extLst>
          </p:cNvPr>
          <p:cNvSpPr>
            <a:spLocks noGrp="1"/>
          </p:cNvSpPr>
          <p:nvPr>
            <p:ph type="body" idx="1"/>
          </p:nvPr>
        </p:nvSpPr>
        <p:spPr>
          <a:xfrm>
            <a:off x="530942" y="2654710"/>
            <a:ext cx="5653550" cy="4177890"/>
          </a:xfrm>
        </p:spPr>
        <p:txBody>
          <a:bodyPr>
            <a:normAutofit/>
          </a:bodyPr>
          <a:lstStyle/>
          <a:p>
            <a:pPr marL="285750" indent="-285750">
              <a:buClr>
                <a:srgbClr val="0070C0"/>
              </a:buClr>
              <a:buFont typeface="Wingdings" panose="05000000000000000000" pitchFamily="2" charset="2"/>
              <a:buChar char="v"/>
            </a:pPr>
            <a:r>
              <a:rPr lang="en-US" sz="2800" u="sng" dirty="0">
                <a:solidFill>
                  <a:srgbClr val="0070C0"/>
                </a:solidFill>
                <a:latin typeface="Algerian" panose="04020705040A02060702" pitchFamily="82" charset="0"/>
              </a:rPr>
              <a:t>Advantages</a:t>
            </a:r>
            <a:r>
              <a:rPr lang="en-US" sz="2800" dirty="0">
                <a:solidFill>
                  <a:srgbClr val="0070C0"/>
                </a:solidFill>
                <a:latin typeface="Algerian" panose="04020705040A02060702" pitchFamily="82" charset="0"/>
              </a:rPr>
              <a:t> : -</a:t>
            </a:r>
          </a:p>
          <a:p>
            <a:pPr>
              <a:buClr>
                <a:srgbClr val="0070C0"/>
              </a:buClr>
            </a:pPr>
            <a:r>
              <a:rPr lang="en-US" sz="2000" b="1" dirty="0">
                <a:latin typeface="Century Schoolbook" panose="02040604050505020304" pitchFamily="18" charset="0"/>
              </a:rPr>
              <a:t>1. Granular Control.</a:t>
            </a:r>
          </a:p>
          <a:p>
            <a:pPr>
              <a:buClr>
                <a:srgbClr val="0070C0"/>
              </a:buClr>
            </a:pPr>
            <a:r>
              <a:rPr lang="en-US" sz="2000" b="1" dirty="0">
                <a:latin typeface="Century Schoolbook" panose="02040604050505020304" pitchFamily="18" charset="0"/>
              </a:rPr>
              <a:t>2. Increased </a:t>
            </a:r>
            <a:r>
              <a:rPr lang="en-US" sz="2000" b="1" dirty="0" err="1">
                <a:latin typeface="Century Schoolbook" panose="02040604050505020304" pitchFamily="18" charset="0"/>
              </a:rPr>
              <a:t>Secuity</a:t>
            </a:r>
            <a:r>
              <a:rPr lang="en-US" sz="2000" b="1" dirty="0">
                <a:latin typeface="Century Schoolbook" panose="02040604050505020304" pitchFamily="18" charset="0"/>
              </a:rPr>
              <a:t>.</a:t>
            </a:r>
          </a:p>
          <a:p>
            <a:pPr>
              <a:buClr>
                <a:srgbClr val="0070C0"/>
              </a:buClr>
            </a:pPr>
            <a:r>
              <a:rPr lang="en-US" sz="2000" b="1" dirty="0">
                <a:latin typeface="Century Schoolbook" panose="02040604050505020304" pitchFamily="18" charset="0"/>
              </a:rPr>
              <a:t>3. Easy to Implement.</a:t>
            </a:r>
          </a:p>
          <a:p>
            <a:pPr marL="285750" indent="-285750">
              <a:buClr>
                <a:srgbClr val="0070C0"/>
              </a:buClr>
              <a:buFont typeface="Wingdings" panose="05000000000000000000" pitchFamily="2" charset="2"/>
              <a:buChar char="v"/>
            </a:pPr>
            <a:r>
              <a:rPr lang="en-US" sz="2800" u="sng" dirty="0">
                <a:solidFill>
                  <a:srgbClr val="0070C0"/>
                </a:solidFill>
                <a:latin typeface="Algerian" panose="04020705040A02060702" pitchFamily="82" charset="0"/>
              </a:rPr>
              <a:t>Disadvantages</a:t>
            </a:r>
            <a:r>
              <a:rPr lang="en-US" sz="2800" dirty="0">
                <a:solidFill>
                  <a:srgbClr val="0070C0"/>
                </a:solidFill>
                <a:latin typeface="Algerian" panose="04020705040A02060702" pitchFamily="82" charset="0"/>
              </a:rPr>
              <a:t> : -</a:t>
            </a:r>
            <a:r>
              <a:rPr lang="en-US" dirty="0"/>
              <a:t> </a:t>
            </a:r>
          </a:p>
          <a:p>
            <a:pPr>
              <a:buClr>
                <a:srgbClr val="0070C0"/>
              </a:buClr>
            </a:pPr>
            <a:r>
              <a:rPr lang="en-US" sz="2000" b="1" dirty="0">
                <a:latin typeface="Century Schoolbook" panose="02040604050505020304" pitchFamily="18" charset="0"/>
              </a:rPr>
              <a:t>1. Performance overhead.</a:t>
            </a:r>
          </a:p>
          <a:p>
            <a:pPr>
              <a:buClr>
                <a:srgbClr val="0070C0"/>
              </a:buClr>
            </a:pPr>
            <a:r>
              <a:rPr lang="en-US" sz="2000" b="1" dirty="0">
                <a:latin typeface="Century Schoolbook" panose="02040604050505020304" pitchFamily="18" charset="0"/>
              </a:rPr>
              <a:t>2. Complexity.</a:t>
            </a:r>
          </a:p>
          <a:p>
            <a:pPr>
              <a:buClr>
                <a:srgbClr val="0070C0"/>
              </a:buClr>
            </a:pPr>
            <a:r>
              <a:rPr lang="en-US" sz="2000" b="1" dirty="0">
                <a:latin typeface="Century Schoolbook" panose="02040604050505020304" pitchFamily="18" charset="0"/>
              </a:rPr>
              <a:t>3. Risk of overcomplication.</a:t>
            </a:r>
            <a:br>
              <a:rPr lang="en-US" dirty="0"/>
            </a:br>
            <a:r>
              <a:rPr lang="en-US" dirty="0"/>
              <a:t>འ་</a:t>
            </a:r>
            <a:endParaRPr lang="en-IN" dirty="0"/>
          </a:p>
        </p:txBody>
      </p:sp>
    </p:spTree>
    <p:extLst>
      <p:ext uri="{BB962C8B-B14F-4D97-AF65-F5344CB8AC3E}">
        <p14:creationId xmlns:p14="http://schemas.microsoft.com/office/powerpoint/2010/main" val="136531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38E45-ACF5-760D-E67C-B4A41B6433A7}"/>
              </a:ext>
            </a:extLst>
          </p:cNvPr>
          <p:cNvSpPr>
            <a:spLocks noGrp="1"/>
          </p:cNvSpPr>
          <p:nvPr>
            <p:ph type="title"/>
          </p:nvPr>
        </p:nvSpPr>
        <p:spPr>
          <a:xfrm>
            <a:off x="0" y="-98322"/>
            <a:ext cx="10284542" cy="786581"/>
          </a:xfrm>
        </p:spPr>
        <p:txBody>
          <a:bodyPr>
            <a:normAutofit/>
          </a:bodyPr>
          <a:lstStyle/>
          <a:p>
            <a:r>
              <a:rPr lang="en-US" sz="4000" dirty="0">
                <a:solidFill>
                  <a:srgbClr val="0070C0"/>
                </a:solidFill>
                <a:latin typeface="Algerian" panose="04020705040A02060702" pitchFamily="82" charset="0"/>
              </a:rPr>
              <a:t>5.6 </a:t>
            </a:r>
            <a:r>
              <a:rPr lang="en-US" sz="4000" u="sng" dirty="0">
                <a:solidFill>
                  <a:srgbClr val="0070C0"/>
                </a:solidFill>
                <a:latin typeface="Algerian" panose="04020705040A02060702" pitchFamily="82" charset="0"/>
              </a:rPr>
              <a:t>security-as-a-cloud service</a:t>
            </a:r>
            <a:r>
              <a:rPr lang="en-US" sz="4000" dirty="0">
                <a:solidFill>
                  <a:srgbClr val="0070C0"/>
                </a:solidFill>
                <a:latin typeface="Algerian" panose="04020705040A02060702" pitchFamily="82" charset="0"/>
              </a:rPr>
              <a:t> : -</a:t>
            </a:r>
            <a:endParaRPr lang="en-IN" sz="4000"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5BA2C51A-3823-F366-8D72-2DF3F6F294F9}"/>
              </a:ext>
            </a:extLst>
          </p:cNvPr>
          <p:cNvSpPr>
            <a:spLocks noGrp="1"/>
          </p:cNvSpPr>
          <p:nvPr>
            <p:ph type="body" idx="1"/>
          </p:nvPr>
        </p:nvSpPr>
        <p:spPr>
          <a:xfrm>
            <a:off x="0" y="570272"/>
            <a:ext cx="9950245" cy="5928851"/>
          </a:xfrm>
        </p:spPr>
        <p:txBody>
          <a:bodyPr>
            <a:normAutofit fontScale="92500" lnSpcReduction="10000"/>
          </a:bodyPr>
          <a:lstStyle/>
          <a:p>
            <a:r>
              <a:rPr lang="en-US" sz="2800" b="1" dirty="0" err="1">
                <a:latin typeface="Century Schoolbook" panose="02040604050505020304" pitchFamily="18" charset="0"/>
              </a:rPr>
              <a:t>i</a:t>
            </a:r>
            <a:r>
              <a:rPr lang="en-US" sz="2800" b="1" dirty="0">
                <a:latin typeface="Century Schoolbook" panose="02040604050505020304" pitchFamily="18" charset="0"/>
              </a:rPr>
              <a:t>) Security-as- a-Service (</a:t>
            </a:r>
            <a:r>
              <a:rPr lang="en-US" sz="2800" b="1" dirty="0" err="1">
                <a:latin typeface="Century Schoolbook" panose="02040604050505020304" pitchFamily="18" charset="0"/>
              </a:rPr>
              <a:t>SECaas</a:t>
            </a:r>
            <a:r>
              <a:rPr lang="en-US" sz="2800" b="1" dirty="0">
                <a:latin typeface="Century Schoolbook" panose="02040604050505020304" pitchFamily="18" charset="0"/>
              </a:rPr>
              <a:t>) is a cloud-based method of outsourcing your cybersecurity.</a:t>
            </a:r>
          </a:p>
          <a:p>
            <a:r>
              <a:rPr lang="en-US" sz="2800" b="1" dirty="0">
                <a:latin typeface="Century Schoolbook" panose="02040604050505020304" pitchFamily="18" charset="0"/>
              </a:rPr>
              <a:t>ii) outsourced security, can cover data protection, database security, and general network security.</a:t>
            </a:r>
          </a:p>
          <a:p>
            <a:r>
              <a:rPr lang="en-US" sz="2800" b="1" dirty="0">
                <a:latin typeface="Century Schoolbook" panose="02040604050505020304" pitchFamily="18" charset="0"/>
              </a:rPr>
              <a:t>iii) All of these can help an organization, combat network threats, such as malware and botnets.</a:t>
            </a:r>
          </a:p>
          <a:p>
            <a:r>
              <a:rPr lang="en-US" sz="2800" b="1" dirty="0">
                <a:latin typeface="Century Schoolbook" panose="02040604050505020304" pitchFamily="18" charset="0"/>
              </a:rPr>
              <a:t>iv) security can be availed by the following alliances : -</a:t>
            </a:r>
          </a:p>
          <a:p>
            <a:r>
              <a:rPr lang="en-US" sz="2800" b="1" dirty="0">
                <a:latin typeface="Century Schoolbook" panose="02040604050505020304" pitchFamily="18" charset="0"/>
              </a:rPr>
              <a:t>- Encryption.</a:t>
            </a:r>
          </a:p>
          <a:p>
            <a:r>
              <a:rPr lang="en-US" sz="2800" b="1" dirty="0">
                <a:latin typeface="Century Schoolbook" panose="02040604050505020304" pitchFamily="18" charset="0"/>
              </a:rPr>
              <a:t>- Network security.</a:t>
            </a:r>
          </a:p>
          <a:p>
            <a:r>
              <a:rPr lang="en-US" sz="2800" b="1" dirty="0">
                <a:latin typeface="Century Schoolbook" panose="02040604050505020304" pitchFamily="18" charset="0"/>
              </a:rPr>
              <a:t>- Email security.</a:t>
            </a:r>
          </a:p>
          <a:p>
            <a:r>
              <a:rPr lang="en-US" sz="2800" b="1" dirty="0">
                <a:latin typeface="Century Schoolbook" panose="02040604050505020304" pitchFamily="18" charset="0"/>
              </a:rPr>
              <a:t>- Identification.</a:t>
            </a:r>
          </a:p>
          <a:p>
            <a:r>
              <a:rPr lang="en-US" sz="2800" b="1" dirty="0">
                <a:latin typeface="Century Schoolbook" panose="02040604050505020304" pitchFamily="18" charset="0"/>
              </a:rPr>
              <a:t>- Data loss prevention.</a:t>
            </a:r>
            <a:br>
              <a:rPr lang="en-US" sz="2800" b="1" dirty="0">
                <a:latin typeface="Century Schoolbook" panose="02040604050505020304" pitchFamily="18" charset="0"/>
              </a:rPr>
            </a:br>
            <a:endParaRPr lang="en-IN" sz="2800" b="1" dirty="0">
              <a:latin typeface="Century Schoolbook" panose="02040604050505020304" pitchFamily="18" charset="0"/>
            </a:endParaRPr>
          </a:p>
        </p:txBody>
      </p:sp>
    </p:spTree>
    <p:extLst>
      <p:ext uri="{BB962C8B-B14F-4D97-AF65-F5344CB8AC3E}">
        <p14:creationId xmlns:p14="http://schemas.microsoft.com/office/powerpoint/2010/main" val="2455030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C13C0-BA31-656F-56CF-D57152EFEC4C}"/>
              </a:ext>
            </a:extLst>
          </p:cNvPr>
          <p:cNvSpPr>
            <a:spLocks noGrp="1"/>
          </p:cNvSpPr>
          <p:nvPr>
            <p:ph type="title"/>
          </p:nvPr>
        </p:nvSpPr>
        <p:spPr>
          <a:xfrm>
            <a:off x="0" y="0"/>
            <a:ext cx="8596668" cy="741516"/>
          </a:xfrm>
        </p:spPr>
        <p:txBody>
          <a:bodyPr>
            <a:normAutofit fontScale="90000"/>
          </a:bodyPr>
          <a:lstStyle/>
          <a:p>
            <a:pPr marL="571500" indent="-571500">
              <a:buFont typeface="Wingdings" panose="05000000000000000000" pitchFamily="2" charset="2"/>
              <a:buChar char="v"/>
            </a:pPr>
            <a:r>
              <a:rPr lang="en-US" u="sng" dirty="0">
                <a:solidFill>
                  <a:srgbClr val="0070C0"/>
                </a:solidFill>
                <a:latin typeface="Algerian" panose="04020705040A02060702" pitchFamily="82" charset="0"/>
              </a:rPr>
              <a:t>Benefits of </a:t>
            </a:r>
            <a:r>
              <a:rPr lang="en-US" u="sng" dirty="0" err="1">
                <a:solidFill>
                  <a:srgbClr val="0070C0"/>
                </a:solidFill>
                <a:latin typeface="Algerian" panose="04020705040A02060702" pitchFamily="82" charset="0"/>
              </a:rPr>
              <a:t>secaas</a:t>
            </a:r>
            <a:r>
              <a:rPr lang="en-US" dirty="0">
                <a:solidFill>
                  <a:srgbClr val="0070C0"/>
                </a:solidFill>
                <a:latin typeface="Algerian" panose="04020705040A02060702" pitchFamily="82" charset="0"/>
              </a:rPr>
              <a:t> : -</a:t>
            </a:r>
            <a:endParaRPr lang="en-IN"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BDD9417D-02EF-027B-CE9C-CFDAE8745276}"/>
              </a:ext>
            </a:extLst>
          </p:cNvPr>
          <p:cNvSpPr>
            <a:spLocks noGrp="1"/>
          </p:cNvSpPr>
          <p:nvPr>
            <p:ph type="body" idx="1"/>
          </p:nvPr>
        </p:nvSpPr>
        <p:spPr>
          <a:xfrm>
            <a:off x="0" y="530943"/>
            <a:ext cx="10294374" cy="6238568"/>
          </a:xfrm>
        </p:spPr>
        <p:txBody>
          <a:bodyPr>
            <a:normAutofit lnSpcReduction="10000"/>
          </a:bodyPr>
          <a:lstStyle/>
          <a:p>
            <a:r>
              <a:rPr lang="en-US" sz="2400" b="1" dirty="0">
                <a:solidFill>
                  <a:srgbClr val="0070C0"/>
                </a:solidFill>
                <a:latin typeface="Century Schoolbook" panose="02040604050505020304" pitchFamily="18" charset="0"/>
              </a:rPr>
              <a:t>1. </a:t>
            </a:r>
            <a:r>
              <a:rPr lang="en-US" sz="2400" b="1" u="sng" dirty="0">
                <a:solidFill>
                  <a:srgbClr val="0070C0"/>
                </a:solidFill>
                <a:latin typeface="Century Schoolbook" panose="02040604050505020304" pitchFamily="18" charset="0"/>
              </a:rPr>
              <a:t>Cost Savings</a:t>
            </a:r>
            <a:r>
              <a:rPr lang="en-US" sz="2400" b="1" dirty="0">
                <a:solidFill>
                  <a:srgbClr val="0070C0"/>
                </a:solidFill>
                <a:latin typeface="Century Schoolbook" panose="02040604050505020304" pitchFamily="18" charset="0"/>
              </a:rPr>
              <a:t> : - </a:t>
            </a:r>
            <a:r>
              <a:rPr lang="en-US" sz="2000" b="1" dirty="0">
                <a:latin typeface="Century Schoolbook" panose="02040604050505020304" pitchFamily="18" charset="0"/>
              </a:rPr>
              <a:t>A cloud delivered service is often available in subscription tiers with several upgrade options so a business only pays for what they need; when they need. It also eliminates the need for expertise.</a:t>
            </a:r>
          </a:p>
          <a:p>
            <a:r>
              <a:rPr lang="en-US" sz="2400" b="1" dirty="0">
                <a:solidFill>
                  <a:srgbClr val="0070C0"/>
                </a:solidFill>
                <a:latin typeface="Century Schoolbook" panose="02040604050505020304" pitchFamily="18" charset="0"/>
              </a:rPr>
              <a:t>2. </a:t>
            </a:r>
            <a:r>
              <a:rPr lang="en-US" sz="2400" b="1" u="sng" dirty="0">
                <a:solidFill>
                  <a:srgbClr val="0070C0"/>
                </a:solidFill>
                <a:latin typeface="Century Schoolbook" panose="02040604050505020304" pitchFamily="18" charset="0"/>
              </a:rPr>
              <a:t>Access to security experts</a:t>
            </a:r>
            <a:r>
              <a:rPr lang="en-US" sz="2400" b="1" dirty="0">
                <a:solidFill>
                  <a:srgbClr val="0070C0"/>
                </a:solidFill>
                <a:latin typeface="Century Schoolbook" panose="02040604050505020304" pitchFamily="18" charset="0"/>
              </a:rPr>
              <a:t> : - </a:t>
            </a:r>
            <a:r>
              <a:rPr lang="en-US" sz="2000" b="1" dirty="0">
                <a:latin typeface="Century Schoolbook" panose="02040604050505020304" pitchFamily="18" charset="0"/>
              </a:rPr>
              <a:t>with </a:t>
            </a:r>
            <a:r>
              <a:rPr lang="en-US" sz="2000" b="1" dirty="0" err="1">
                <a:latin typeface="Century Schoolbook" panose="02040604050505020304" pitchFamily="18" charset="0"/>
              </a:rPr>
              <a:t>SECaaS</a:t>
            </a:r>
            <a:r>
              <a:rPr lang="en-US" sz="2000" b="1" dirty="0">
                <a:latin typeface="Century Schoolbook" panose="02040604050505020304" pitchFamily="18" charset="0"/>
              </a:rPr>
              <a:t>, you get experienced, knowledgeable security experts. Whereas, if you use Your in-house team, they may lack specific knowledge.</a:t>
            </a:r>
          </a:p>
          <a:p>
            <a:r>
              <a:rPr lang="en-US" sz="2400" b="1" dirty="0">
                <a:solidFill>
                  <a:srgbClr val="0070C0"/>
                </a:solidFill>
                <a:latin typeface="Century Schoolbook" panose="02040604050505020304" pitchFamily="18" charset="0"/>
              </a:rPr>
              <a:t>3. </a:t>
            </a:r>
            <a:r>
              <a:rPr lang="en-US" sz="2400" b="1" u="sng" dirty="0">
                <a:solidFill>
                  <a:srgbClr val="0070C0"/>
                </a:solidFill>
                <a:latin typeface="Century Schoolbook" panose="02040604050505020304" pitchFamily="18" charset="0"/>
              </a:rPr>
              <a:t>Latest security tools and updates</a:t>
            </a:r>
            <a:r>
              <a:rPr lang="en-US" sz="2400" b="1" dirty="0">
                <a:solidFill>
                  <a:srgbClr val="0070C0"/>
                </a:solidFill>
                <a:latin typeface="Century Schoolbook" panose="02040604050505020304" pitchFamily="18" charset="0"/>
              </a:rPr>
              <a:t> : - </a:t>
            </a:r>
            <a:r>
              <a:rPr lang="en-US" sz="2000" b="1" dirty="0">
                <a:latin typeface="Century Schoolbook" panose="02040604050505020304" pitchFamily="18" charset="0"/>
              </a:rPr>
              <a:t>with a subscription to a </a:t>
            </a:r>
            <a:r>
              <a:rPr lang="en-US" sz="2000" b="1" dirty="0" err="1">
                <a:latin typeface="Century Schoolbook" panose="02040604050505020304" pitchFamily="18" charset="0"/>
              </a:rPr>
              <a:t>SECaaS</a:t>
            </a:r>
            <a:r>
              <a:rPr lang="en-US" sz="2000" b="1" dirty="0">
                <a:latin typeface="Century Schoolbook" panose="02040604050505020304" pitchFamily="18" charset="0"/>
              </a:rPr>
              <a:t> provider, you do not have to worry about whether you has the most recent tools and updates because the provider constantly installs the most recent iterations of security software.</a:t>
            </a:r>
          </a:p>
          <a:p>
            <a:r>
              <a:rPr lang="en-US" sz="2400" b="1" dirty="0">
                <a:solidFill>
                  <a:srgbClr val="0070C0"/>
                </a:solidFill>
                <a:latin typeface="Century Schoolbook" panose="02040604050505020304" pitchFamily="18" charset="0"/>
              </a:rPr>
              <a:t>4. </a:t>
            </a:r>
            <a:r>
              <a:rPr lang="en-US" sz="2400" b="1" u="sng" dirty="0">
                <a:solidFill>
                  <a:srgbClr val="0070C0"/>
                </a:solidFill>
                <a:latin typeface="Century Schoolbook" panose="02040604050505020304" pitchFamily="18" charset="0"/>
              </a:rPr>
              <a:t>Faster Provisioning</a:t>
            </a:r>
            <a:r>
              <a:rPr lang="en-US" sz="2400" b="1" dirty="0">
                <a:solidFill>
                  <a:srgbClr val="0070C0"/>
                </a:solidFill>
                <a:latin typeface="Century Schoolbook" panose="02040604050505020304" pitchFamily="18" charset="0"/>
              </a:rPr>
              <a:t> : - </a:t>
            </a:r>
            <a:r>
              <a:rPr lang="en-US" sz="2000" b="1" dirty="0">
                <a:solidFill>
                  <a:srgbClr val="0070C0"/>
                </a:solidFill>
                <a:latin typeface="Century Schoolbook" panose="02040604050505020304" pitchFamily="18" charset="0"/>
              </a:rPr>
              <a:t>w</a:t>
            </a:r>
            <a:r>
              <a:rPr lang="en-US" sz="2000" b="1" dirty="0">
                <a:latin typeface="Century Schoolbook" panose="02040604050505020304" pitchFamily="18" charset="0"/>
              </a:rPr>
              <a:t>ith a </a:t>
            </a:r>
            <a:r>
              <a:rPr lang="en-US" sz="2000" b="1" dirty="0" err="1">
                <a:latin typeface="Century Schoolbook" panose="02040604050505020304" pitchFamily="18" charset="0"/>
              </a:rPr>
              <a:t>SECaaS</a:t>
            </a:r>
            <a:r>
              <a:rPr lang="en-US" sz="2000" b="1" dirty="0">
                <a:latin typeface="Century Schoolbook" panose="02040604050505020304" pitchFamily="18" charset="0"/>
              </a:rPr>
              <a:t> offering, you can scale up or down quickly, deploying security measures according your needs at will.</a:t>
            </a:r>
          </a:p>
          <a:p>
            <a:r>
              <a:rPr lang="en-US" sz="2400" b="1" dirty="0">
                <a:solidFill>
                  <a:srgbClr val="0070C0"/>
                </a:solidFill>
                <a:latin typeface="Century Schoolbook" panose="02040604050505020304" pitchFamily="18" charset="0"/>
              </a:rPr>
              <a:t>5. </a:t>
            </a:r>
            <a:r>
              <a:rPr lang="en-US" sz="2400" b="1" u="sng" dirty="0">
                <a:solidFill>
                  <a:srgbClr val="0070C0"/>
                </a:solidFill>
                <a:latin typeface="Century Schoolbook" panose="02040604050505020304" pitchFamily="18" charset="0"/>
              </a:rPr>
              <a:t>Simpler-in-house management</a:t>
            </a:r>
            <a:r>
              <a:rPr lang="en-US" sz="2400" b="1" dirty="0">
                <a:solidFill>
                  <a:srgbClr val="0070C0"/>
                </a:solidFill>
                <a:latin typeface="Century Schoolbook" panose="02040604050505020304" pitchFamily="18" charset="0"/>
              </a:rPr>
              <a:t> : - </a:t>
            </a:r>
            <a:r>
              <a:rPr lang="en-US" sz="2000" b="1" dirty="0">
                <a:solidFill>
                  <a:schemeClr val="tx1">
                    <a:lumMod val="95000"/>
                    <a:lumOff val="5000"/>
                  </a:schemeClr>
                </a:solidFill>
                <a:latin typeface="Century Schoolbook" panose="02040604050505020304" pitchFamily="18" charset="0"/>
              </a:rPr>
              <a:t>wi</a:t>
            </a:r>
            <a:r>
              <a:rPr lang="en-US" sz="2000" b="1" dirty="0">
                <a:latin typeface="Century Schoolbook" panose="02040604050505020304" pitchFamily="18" charset="0"/>
              </a:rPr>
              <a:t>th </a:t>
            </a:r>
            <a:r>
              <a:rPr lang="en-US" sz="2000" b="1" dirty="0" err="1">
                <a:latin typeface="Century Schoolbook" panose="02040604050505020304" pitchFamily="18" charset="0"/>
              </a:rPr>
              <a:t>SECaaS</a:t>
            </a:r>
            <a:r>
              <a:rPr lang="en-US" sz="2000" b="1" dirty="0">
                <a:latin typeface="Century Schoolbook" panose="02040604050505020304" pitchFamily="18" charset="0"/>
              </a:rPr>
              <a:t>, you can manage who has access to which areas of your network and which applications. This way, people can be limited to using only what they need to do their jobs.</a:t>
            </a:r>
          </a:p>
          <a:p>
            <a:r>
              <a:rPr lang="en-US" sz="2400" b="1" dirty="0">
                <a:solidFill>
                  <a:srgbClr val="0070C0"/>
                </a:solidFill>
                <a:latin typeface="Century Schoolbook" panose="02040604050505020304" pitchFamily="18" charset="0"/>
              </a:rPr>
              <a:t>6. </a:t>
            </a:r>
            <a:r>
              <a:rPr lang="en-US" sz="2400" b="1" u="sng" dirty="0">
                <a:solidFill>
                  <a:srgbClr val="0070C0"/>
                </a:solidFill>
                <a:latin typeface="Century Schoolbook" panose="02040604050505020304" pitchFamily="18" charset="0"/>
              </a:rPr>
              <a:t>Free up Resources</a:t>
            </a:r>
            <a:r>
              <a:rPr lang="en-US" sz="2400" b="1" dirty="0">
                <a:solidFill>
                  <a:srgbClr val="0070C0"/>
                </a:solidFill>
                <a:latin typeface="Century Schoolbook" panose="02040604050505020304" pitchFamily="18" charset="0"/>
              </a:rPr>
              <a:t> : - </a:t>
            </a:r>
            <a:r>
              <a:rPr lang="en-US" sz="2000" b="1" dirty="0">
                <a:latin typeface="Century Schoolbook" panose="02040604050505020304" pitchFamily="18" charset="0"/>
              </a:rPr>
              <a:t>The day-to-day management of cyber- security events and protective measures is taken off your hands, giving your tech professionals more time to help the organization grow.</a:t>
            </a:r>
            <a:endParaRPr lang="en-IN" sz="2000" b="1" dirty="0">
              <a:latin typeface="Century Schoolbook" panose="02040604050505020304" pitchFamily="18" charset="0"/>
            </a:endParaRPr>
          </a:p>
        </p:txBody>
      </p:sp>
    </p:spTree>
    <p:extLst>
      <p:ext uri="{BB962C8B-B14F-4D97-AF65-F5344CB8AC3E}">
        <p14:creationId xmlns:p14="http://schemas.microsoft.com/office/powerpoint/2010/main" val="41198781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B4FCA-CF58-AF01-29C5-34C922057C60}"/>
              </a:ext>
            </a:extLst>
          </p:cNvPr>
          <p:cNvSpPr>
            <a:spLocks noGrp="1"/>
          </p:cNvSpPr>
          <p:nvPr>
            <p:ph type="title"/>
          </p:nvPr>
        </p:nvSpPr>
        <p:spPr>
          <a:xfrm>
            <a:off x="0" y="-1"/>
            <a:ext cx="9851923" cy="4470401"/>
          </a:xfrm>
        </p:spPr>
        <p:txBody>
          <a:bodyPr>
            <a:noAutofit/>
          </a:bodyPr>
          <a:lstStyle/>
          <a:p>
            <a:pPr marL="285750" indent="-285750">
              <a:buFont typeface="Wingdings" panose="05000000000000000000" pitchFamily="2" charset="2"/>
              <a:buChar char="v"/>
            </a:pPr>
            <a:r>
              <a:rPr lang="en-US" sz="3200" dirty="0">
                <a:solidFill>
                  <a:srgbClr val="0070C0"/>
                </a:solidFill>
                <a:latin typeface="Algerian" panose="04020705040A02060702" pitchFamily="82" charset="0"/>
              </a:rPr>
              <a:t> </a:t>
            </a:r>
            <a:r>
              <a:rPr lang="en-US" sz="3200" u="sng" dirty="0">
                <a:solidFill>
                  <a:srgbClr val="0070C0"/>
                </a:solidFill>
                <a:latin typeface="Algerian" panose="04020705040A02060702" pitchFamily="82" charset="0"/>
              </a:rPr>
              <a:t>Examples of Security-as-a-Service</a:t>
            </a:r>
            <a:r>
              <a:rPr lang="en-US" sz="3200" dirty="0">
                <a:solidFill>
                  <a:srgbClr val="0070C0"/>
                </a:solidFill>
                <a:latin typeface="Algerian" panose="04020705040A02060702" pitchFamily="82" charset="0"/>
              </a:rPr>
              <a:t> : -</a:t>
            </a:r>
            <a:br>
              <a:rPr lang="en-US" sz="3200" dirty="0">
                <a:solidFill>
                  <a:srgbClr val="0070C0"/>
                </a:solidFill>
                <a:latin typeface="Algerian" panose="04020705040A02060702" pitchFamily="82" charset="0"/>
              </a:rPr>
            </a:br>
            <a:r>
              <a:rPr lang="en-US" sz="2400" b="1" dirty="0">
                <a:solidFill>
                  <a:srgbClr val="0070C0"/>
                </a:solidFill>
                <a:latin typeface="Century Schoolbook" panose="02040604050505020304" pitchFamily="18" charset="0"/>
              </a:rPr>
              <a:t>1. </a:t>
            </a:r>
            <a:r>
              <a:rPr lang="en-US" sz="2400" b="1" u="sng" dirty="0">
                <a:solidFill>
                  <a:srgbClr val="0070C0"/>
                </a:solidFill>
                <a:latin typeface="Century Schoolbook" panose="02040604050505020304" pitchFamily="18" charset="0"/>
              </a:rPr>
              <a:t>Data Loss Prevention</a:t>
            </a:r>
            <a:r>
              <a:rPr lang="en-US" sz="2400" b="1" dirty="0">
                <a:solidFill>
                  <a:srgbClr val="0070C0"/>
                </a:solidFill>
                <a:latin typeface="Century Schoolbook" panose="02040604050505020304" pitchFamily="18" charset="0"/>
              </a:rPr>
              <a:t> : - </a:t>
            </a:r>
            <a:r>
              <a:rPr lang="en-US" sz="2000" b="1" dirty="0">
                <a:solidFill>
                  <a:schemeClr val="tx1">
                    <a:lumMod val="95000"/>
                    <a:lumOff val="5000"/>
                  </a:schemeClr>
                </a:solidFill>
                <a:latin typeface="Century Schoolbook" panose="02040604050505020304" pitchFamily="18" charset="0"/>
              </a:rPr>
              <a:t>These include tools designed to monitor, protect, and ensure your data is secure. It includes data that is being stored and data that is in use.</a:t>
            </a:r>
            <a:br>
              <a:rPr lang="en-US" sz="2000" b="1" dirty="0">
                <a:solidFill>
                  <a:schemeClr val="tx1">
                    <a:lumMod val="95000"/>
                    <a:lumOff val="5000"/>
                  </a:schemeClr>
                </a:solidFill>
                <a:latin typeface="Century Schoolbook" panose="02040604050505020304" pitchFamily="18" charset="0"/>
              </a:rPr>
            </a:br>
            <a:r>
              <a:rPr lang="en-US" sz="2400" b="1" dirty="0">
                <a:solidFill>
                  <a:srgbClr val="0070C0"/>
                </a:solidFill>
                <a:latin typeface="Century Schoolbook" panose="02040604050505020304" pitchFamily="18" charset="0"/>
              </a:rPr>
              <a:t>2. </a:t>
            </a:r>
            <a:r>
              <a:rPr lang="en-US" sz="2400" b="1" u="sng" dirty="0">
                <a:solidFill>
                  <a:srgbClr val="0070C0"/>
                </a:solidFill>
                <a:latin typeface="Century Schoolbook" panose="02040604050505020304" pitchFamily="18" charset="0"/>
              </a:rPr>
              <a:t>Continuous Monitoring</a:t>
            </a:r>
            <a:r>
              <a:rPr lang="en-US" sz="2400" b="1" dirty="0">
                <a:solidFill>
                  <a:srgbClr val="0070C0"/>
                </a:solidFill>
                <a:latin typeface="Century Schoolbook" panose="02040604050505020304" pitchFamily="18" charset="0"/>
              </a:rPr>
              <a:t> : - </a:t>
            </a:r>
            <a:r>
              <a:rPr lang="en-US" sz="2000" b="1" dirty="0">
                <a:solidFill>
                  <a:schemeClr val="tx1">
                    <a:lumMod val="95000"/>
                    <a:lumOff val="5000"/>
                  </a:schemeClr>
                </a:solidFill>
                <a:latin typeface="Century Schoolbook" panose="02040604050505020304" pitchFamily="18" charset="0"/>
              </a:rPr>
              <a:t>with </a:t>
            </a:r>
            <a:r>
              <a:rPr lang="en-US" sz="2000" b="1" dirty="0" err="1">
                <a:solidFill>
                  <a:schemeClr val="tx1">
                    <a:lumMod val="95000"/>
                    <a:lumOff val="5000"/>
                  </a:schemeClr>
                </a:solidFill>
                <a:latin typeface="Century Schoolbook" panose="02040604050505020304" pitchFamily="18" charset="0"/>
              </a:rPr>
              <a:t>Secaas</a:t>
            </a:r>
            <a:r>
              <a:rPr lang="en-US" sz="2000" b="1" dirty="0">
                <a:solidFill>
                  <a:schemeClr val="tx1">
                    <a:lumMod val="95000"/>
                    <a:lumOff val="5000"/>
                  </a:schemeClr>
                </a:solidFill>
                <a:latin typeface="Century Schoolbook" panose="02040604050505020304" pitchFamily="18" charset="0"/>
              </a:rPr>
              <a:t>, you can continuously A monitor your network and the security tools that have been implemented. on one</a:t>
            </a:r>
            <a:br>
              <a:rPr lang="en-US" sz="2000" b="1" dirty="0">
                <a:solidFill>
                  <a:schemeClr val="tx1">
                    <a:lumMod val="95000"/>
                    <a:lumOff val="5000"/>
                  </a:schemeClr>
                </a:solidFill>
                <a:latin typeface="Century Schoolbook" panose="02040604050505020304" pitchFamily="18" charset="0"/>
              </a:rPr>
            </a:br>
            <a:r>
              <a:rPr lang="en-US" sz="2400" b="1" dirty="0">
                <a:solidFill>
                  <a:srgbClr val="0070C0"/>
                </a:solidFill>
                <a:latin typeface="Century Schoolbook" panose="02040604050505020304" pitchFamily="18" charset="0"/>
              </a:rPr>
              <a:t>3. </a:t>
            </a:r>
            <a:r>
              <a:rPr lang="en-US" sz="2400" b="1" u="sng" dirty="0">
                <a:solidFill>
                  <a:srgbClr val="0070C0"/>
                </a:solidFill>
                <a:latin typeface="Century Schoolbook" panose="02040604050505020304" pitchFamily="18" charset="0"/>
              </a:rPr>
              <a:t>Disaster Recovery</a:t>
            </a:r>
            <a:r>
              <a:rPr lang="en-US" sz="2400" b="1" dirty="0">
                <a:solidFill>
                  <a:srgbClr val="0070C0"/>
                </a:solidFill>
                <a:latin typeface="Century Schoolbook" panose="02040604050505020304" pitchFamily="18" charset="0"/>
              </a:rPr>
              <a:t> : - </a:t>
            </a:r>
            <a:r>
              <a:rPr lang="en-US" sz="2000" b="1" dirty="0">
                <a:solidFill>
                  <a:schemeClr val="tx1">
                    <a:lumMod val="95000"/>
                    <a:lumOff val="5000"/>
                  </a:schemeClr>
                </a:solidFill>
                <a:latin typeface="Century Schoolbook" panose="02040604050505020304" pitchFamily="18" charset="0"/>
              </a:rPr>
              <a:t>In the event of a disaster, </a:t>
            </a:r>
            <a:r>
              <a:rPr lang="en-US" sz="2000" b="1" dirty="0" err="1">
                <a:solidFill>
                  <a:schemeClr val="tx1">
                    <a:lumMod val="95000"/>
                    <a:lumOff val="5000"/>
                  </a:schemeClr>
                </a:solidFill>
                <a:latin typeface="Century Schoolbook" panose="02040604050505020304" pitchFamily="18" charset="0"/>
              </a:rPr>
              <a:t>SECaaS</a:t>
            </a:r>
            <a:r>
              <a:rPr lang="en-US" sz="2000" b="1" dirty="0">
                <a:solidFill>
                  <a:schemeClr val="tx1">
                    <a:lumMod val="95000"/>
                    <a:lumOff val="5000"/>
                  </a:schemeClr>
                </a:solidFill>
                <a:latin typeface="Century Schoolbook" panose="02040604050505020304" pitchFamily="18" charset="0"/>
              </a:rPr>
              <a:t> tools help you get back up and running as soon as possible.</a:t>
            </a:r>
            <a:br>
              <a:rPr lang="en-US" sz="2000" b="1" dirty="0">
                <a:solidFill>
                  <a:schemeClr val="tx1">
                    <a:lumMod val="95000"/>
                    <a:lumOff val="5000"/>
                  </a:schemeClr>
                </a:solidFill>
                <a:latin typeface="Century Schoolbook" panose="02040604050505020304" pitchFamily="18" charset="0"/>
              </a:rPr>
            </a:br>
            <a:r>
              <a:rPr lang="en-US" sz="2400" b="1" dirty="0">
                <a:solidFill>
                  <a:srgbClr val="0070C0"/>
                </a:solidFill>
                <a:latin typeface="Century Schoolbook" panose="02040604050505020304" pitchFamily="18" charset="0"/>
              </a:rPr>
              <a:t>4. </a:t>
            </a:r>
            <a:r>
              <a:rPr lang="en-US" sz="2400" b="1" u="sng" dirty="0">
                <a:solidFill>
                  <a:srgbClr val="0070C0"/>
                </a:solidFill>
                <a:latin typeface="Century Schoolbook" panose="02040604050505020304" pitchFamily="18" charset="0"/>
              </a:rPr>
              <a:t>Business Continuity</a:t>
            </a:r>
            <a:r>
              <a:rPr lang="en-US" sz="2400" b="1" dirty="0">
                <a:solidFill>
                  <a:srgbClr val="0070C0"/>
                </a:solidFill>
                <a:latin typeface="Century Schoolbook" panose="02040604050505020304" pitchFamily="18" charset="0"/>
              </a:rPr>
              <a:t> : - </a:t>
            </a:r>
            <a:r>
              <a:rPr lang="en-US" sz="2000" b="1" dirty="0">
                <a:solidFill>
                  <a:schemeClr val="tx1">
                    <a:lumMod val="95000"/>
                    <a:lumOff val="5000"/>
                  </a:schemeClr>
                </a:solidFill>
                <a:latin typeface="Century Schoolbook" panose="02040604050505020304" pitchFamily="18" charset="0"/>
              </a:rPr>
              <a:t>Business continuity tools keep business- critical systems running even when there is a disaster or other potential interruption.</a:t>
            </a:r>
            <a:br>
              <a:rPr lang="en-US" sz="2000" b="1" dirty="0">
                <a:solidFill>
                  <a:schemeClr val="tx1">
                    <a:lumMod val="95000"/>
                    <a:lumOff val="5000"/>
                  </a:schemeClr>
                </a:solidFill>
                <a:latin typeface="Century Schoolbook" panose="02040604050505020304" pitchFamily="18" charset="0"/>
              </a:rPr>
            </a:br>
            <a:endParaRPr lang="en-IN" sz="1800" dirty="0"/>
          </a:p>
        </p:txBody>
      </p:sp>
      <p:sp>
        <p:nvSpPr>
          <p:cNvPr id="3" name="Text Placeholder 2">
            <a:extLst>
              <a:ext uri="{FF2B5EF4-FFF2-40B4-BE49-F238E27FC236}">
                <a16:creationId xmlns:a16="http://schemas.microsoft.com/office/drawing/2014/main" id="{3408050F-CF7E-A4EA-1679-64A33BC76605}"/>
              </a:ext>
            </a:extLst>
          </p:cNvPr>
          <p:cNvSpPr>
            <a:spLocks noGrp="1"/>
          </p:cNvSpPr>
          <p:nvPr>
            <p:ph type="body" idx="1"/>
          </p:nvPr>
        </p:nvSpPr>
        <p:spPr>
          <a:xfrm>
            <a:off x="0" y="3775587"/>
            <a:ext cx="10019071" cy="2674375"/>
          </a:xfrm>
        </p:spPr>
        <p:txBody>
          <a:bodyPr>
            <a:normAutofit/>
          </a:bodyPr>
          <a:lstStyle/>
          <a:p>
            <a:endParaRPr lang="en-US" dirty="0"/>
          </a:p>
          <a:p>
            <a:pPr marL="457200" indent="-457200">
              <a:buClr>
                <a:srgbClr val="0070C0"/>
              </a:buClr>
              <a:buFont typeface="Wingdings" panose="05000000000000000000" pitchFamily="2" charset="2"/>
              <a:buChar char="v"/>
            </a:pPr>
            <a:r>
              <a:rPr lang="en-US" sz="2800" u="sng" dirty="0">
                <a:solidFill>
                  <a:srgbClr val="0070C0"/>
                </a:solidFill>
                <a:latin typeface="Algerian" panose="04020705040A02060702" pitchFamily="82" charset="0"/>
              </a:rPr>
              <a:t>Services Provided by </a:t>
            </a:r>
            <a:r>
              <a:rPr lang="en-US" sz="2800" u="sng" dirty="0" err="1">
                <a:solidFill>
                  <a:srgbClr val="0070C0"/>
                </a:solidFill>
                <a:latin typeface="Algerian" panose="04020705040A02060702" pitchFamily="82" charset="0"/>
              </a:rPr>
              <a:t>SECaaS</a:t>
            </a:r>
            <a:r>
              <a:rPr lang="en-US" sz="2800" dirty="0">
                <a:solidFill>
                  <a:srgbClr val="0070C0"/>
                </a:solidFill>
                <a:latin typeface="Algerian" panose="04020705040A02060702" pitchFamily="82" charset="0"/>
              </a:rPr>
              <a:t> : -</a:t>
            </a:r>
          </a:p>
          <a:p>
            <a:r>
              <a:rPr lang="en-US" sz="2000" b="1" dirty="0">
                <a:latin typeface="Century Schoolbook" panose="02040604050505020304" pitchFamily="18" charset="0"/>
              </a:rPr>
              <a:t>1. Email filtering.</a:t>
            </a:r>
          </a:p>
          <a:p>
            <a:r>
              <a:rPr lang="en-US" sz="2000" b="1" dirty="0">
                <a:latin typeface="Century Schoolbook" panose="02040604050505020304" pitchFamily="18" charset="0"/>
              </a:rPr>
              <a:t>2. Web Content filtering.</a:t>
            </a:r>
          </a:p>
          <a:p>
            <a:r>
              <a:rPr lang="en-US" sz="2000" b="1" dirty="0">
                <a:latin typeface="Century Schoolbook" panose="02040604050505020304" pitchFamily="18" charset="0"/>
              </a:rPr>
              <a:t>3. Vulnerability Management.</a:t>
            </a:r>
          </a:p>
          <a:p>
            <a:r>
              <a:rPr lang="en-US" sz="2000" b="1" dirty="0">
                <a:latin typeface="Century Schoolbook" panose="02040604050505020304" pitchFamily="18" charset="0"/>
              </a:rPr>
              <a:t>4. Identity-as-a-Service (</a:t>
            </a:r>
            <a:r>
              <a:rPr lang="en-US" sz="2000" b="1" dirty="0" err="1">
                <a:latin typeface="Century Schoolbook" panose="02040604050505020304" pitchFamily="18" charset="0"/>
              </a:rPr>
              <a:t>IDaaS</a:t>
            </a:r>
            <a:r>
              <a:rPr lang="en-US" sz="2000" b="1" dirty="0">
                <a:latin typeface="Century Schoolbook" panose="02040604050505020304" pitchFamily="18" charset="0"/>
              </a:rPr>
              <a:t>).</a:t>
            </a:r>
            <a:endParaRPr lang="en-IN" sz="2000" b="1" dirty="0">
              <a:latin typeface="Century Schoolbook" panose="02040604050505020304" pitchFamily="18" charset="0"/>
            </a:endParaRPr>
          </a:p>
        </p:txBody>
      </p:sp>
    </p:spTree>
    <p:extLst>
      <p:ext uri="{BB962C8B-B14F-4D97-AF65-F5344CB8AC3E}">
        <p14:creationId xmlns:p14="http://schemas.microsoft.com/office/powerpoint/2010/main" val="967656389"/>
      </p:ext>
    </p:extLst>
  </p:cSld>
  <p:clrMapOvr>
    <a:masterClrMapping/>
  </p:clrMapOvr>
</p:sld>
</file>

<file path=ppt/theme/theme1.xml><?xml version="1.0" encoding="utf-8"?>
<a:theme xmlns:a="http://schemas.openxmlformats.org/drawingml/2006/main" name="Face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3319</TotalTime>
  <Words>2347</Words>
  <Application>Microsoft Office PowerPoint</Application>
  <PresentationFormat>Widescreen</PresentationFormat>
  <Paragraphs>121</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Algerian</vt:lpstr>
      <vt:lpstr>Arial</vt:lpstr>
      <vt:lpstr>Century Schoolbook</vt:lpstr>
      <vt:lpstr>Trebuchet MS</vt:lpstr>
      <vt:lpstr>Wingdings</vt:lpstr>
      <vt:lpstr>Wingdings 3</vt:lpstr>
      <vt:lpstr>Facet</vt:lpstr>
      <vt:lpstr>05. Security in cloud computing </vt:lpstr>
      <vt:lpstr>5.1] cloud security dundamentals : -</vt:lpstr>
      <vt:lpstr>Fundamentals of cloud storage : -</vt:lpstr>
      <vt:lpstr>5.2] cloud risk : -</vt:lpstr>
      <vt:lpstr>The most important classes of cloud specific risk are : -</vt:lpstr>
      <vt:lpstr>How to manage cloud security risks : -</vt:lpstr>
      <vt:lpstr>5.3 cloud risk division : -</vt:lpstr>
      <vt:lpstr>2. Technical Risks : - i) organizations that deploy cloud solutions also face Techni cal risks such as resource exhaustion, which can occur when not managing cloud resources effectively. ii) Resource exhaustion can cause degradation of services in some cases, a failure to provide service at all. </vt:lpstr>
      <vt:lpstr>5.4] Technologies for Data Security : - Technologies for Data security and privacy in cloud computing are :  - Data Integrity in untrustworthy storage. - Database Outsourcing and Query Integrity Assurance. - Web Application Based security. - Multimedia Data security.</vt:lpstr>
      <vt:lpstr>Database outsourcing &amp; query integrity assurance : -</vt:lpstr>
      <vt:lpstr>Web application – based security : -</vt:lpstr>
      <vt:lpstr>Multimedia data security : -</vt:lpstr>
      <vt:lpstr>Data security risk : -</vt:lpstr>
      <vt:lpstr>Digital identity &amp; access management : -</vt:lpstr>
      <vt:lpstr>Benefits of IAM : -</vt:lpstr>
      <vt:lpstr>5.6 Content level security : -</vt:lpstr>
      <vt:lpstr>Need  for content level security : - 1. Completely Confidential Content : - Content can be accessed only from some business units. Other units aren’t aware the content. 2. Safety Reuse : - A business unit can share content to other business units but only in read-only mode. </vt:lpstr>
      <vt:lpstr>5.6 security-as-a-cloud service : -</vt:lpstr>
      <vt:lpstr>Benefits of secaas : -</vt:lpstr>
      <vt:lpstr> Examples of Security-as-a-Service : - 1. Data Loss Prevention : - These include tools designed to monitor, protect, and ensure your data is secure. It includes data that is being stored and data that is in use. 2. Continuous Monitoring : - with Secaas, you can continuously A monitor your network and the security tools that have been implemented. on one 3. Disaster Recovery : - In the event of a disaster, SECaaS tools help you get back up and running as soon as possible. 4. Business Continuity : - Business continuity tools keep business- critical systems running even when there is a disaster or other potential interruption.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Darpan Shedge</dc:creator>
  <cp:lastModifiedBy>Darpan Shedge</cp:lastModifiedBy>
  <cp:revision>2</cp:revision>
  <dcterms:created xsi:type="dcterms:W3CDTF">2025-10-05T08:54:35Z</dcterms:created>
  <dcterms:modified xsi:type="dcterms:W3CDTF">2025-10-31T19:28:55Z</dcterms:modified>
</cp:coreProperties>
</file>