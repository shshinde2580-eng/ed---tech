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2" r:id="rId17"/>
    <p:sldId id="271"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9106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3844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0005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9516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11129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6960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642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00678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Tree>
    <p:extLst>
      <p:ext uri="{BB962C8B-B14F-4D97-AF65-F5344CB8AC3E}">
        <p14:creationId xmlns:p14="http://schemas.microsoft.com/office/powerpoint/2010/main" val="4264157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1557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91264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8652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58137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3954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414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6530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820046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3BE4-9A94-A1E2-7AEC-1C85EA7B931B}"/>
              </a:ext>
            </a:extLst>
          </p:cNvPr>
          <p:cNvSpPr>
            <a:spLocks noGrp="1"/>
          </p:cNvSpPr>
          <p:nvPr>
            <p:ph type="ctrTitle"/>
          </p:nvPr>
        </p:nvSpPr>
        <p:spPr>
          <a:xfrm>
            <a:off x="712838" y="2831992"/>
            <a:ext cx="8890545" cy="1646302"/>
          </a:xfrm>
        </p:spPr>
        <p:txBody>
          <a:bodyPr/>
          <a:lstStyle/>
          <a:p>
            <a:pPr algn="ctr"/>
            <a:r>
              <a:rPr lang="en-US" sz="6000" dirty="0">
                <a:solidFill>
                  <a:srgbClr val="0070C0"/>
                </a:solidFill>
                <a:latin typeface="Algerian" panose="04020705040A02060702" pitchFamily="82" charset="0"/>
              </a:rPr>
              <a:t>06.Trends &amp; future in cloud computing </a:t>
            </a:r>
            <a:endParaRPr lang="en-IN" sz="6000" dirty="0">
              <a:solidFill>
                <a:srgbClr val="0070C0"/>
              </a:solidFill>
              <a:latin typeface="Algerian" panose="04020705040A02060702" pitchFamily="82" charset="0"/>
            </a:endParaRPr>
          </a:p>
        </p:txBody>
      </p:sp>
      <p:sp>
        <p:nvSpPr>
          <p:cNvPr id="3" name="Subtitle 2">
            <a:extLst>
              <a:ext uri="{FF2B5EF4-FFF2-40B4-BE49-F238E27FC236}">
                <a16:creationId xmlns:a16="http://schemas.microsoft.com/office/drawing/2014/main" id="{C7C7400B-18B5-8041-0984-1BC7C54729A5}"/>
              </a:ext>
            </a:extLst>
          </p:cNvPr>
          <p:cNvSpPr>
            <a:spLocks noGrp="1"/>
          </p:cNvSpPr>
          <p:nvPr>
            <p:ph type="subTitle" idx="1"/>
          </p:nvPr>
        </p:nvSpPr>
        <p:spPr>
          <a:xfrm>
            <a:off x="1274643" y="5161878"/>
            <a:ext cx="7766936" cy="1096899"/>
          </a:xfrm>
        </p:spPr>
        <p:txBody>
          <a:bodyPr/>
          <a:lstStyle/>
          <a:p>
            <a:endParaRPr lang="en-IN" dirty="0"/>
          </a:p>
        </p:txBody>
      </p:sp>
    </p:spTree>
    <p:extLst>
      <p:ext uri="{BB962C8B-B14F-4D97-AF65-F5344CB8AC3E}">
        <p14:creationId xmlns:p14="http://schemas.microsoft.com/office/powerpoint/2010/main" val="3603300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8338-57C9-A69D-2418-95DD8828A1A6}"/>
              </a:ext>
            </a:extLst>
          </p:cNvPr>
          <p:cNvSpPr>
            <a:spLocks noGrp="1"/>
          </p:cNvSpPr>
          <p:nvPr>
            <p:ph type="title"/>
          </p:nvPr>
        </p:nvSpPr>
        <p:spPr>
          <a:xfrm>
            <a:off x="0" y="-131916"/>
            <a:ext cx="12045607" cy="791238"/>
          </a:xfrm>
        </p:spPr>
        <p:txBody>
          <a:bodyPr>
            <a:normAutofit fontScale="90000"/>
          </a:bodyPr>
          <a:lstStyle/>
          <a:p>
            <a:pPr marL="571500" indent="-571500">
              <a:buFont typeface="Wingdings" panose="05000000000000000000" pitchFamily="2" charset="2"/>
              <a:buChar char="v"/>
            </a:pPr>
            <a:r>
              <a:rPr lang="en-US" sz="3600" u="sng" dirty="0">
                <a:solidFill>
                  <a:srgbClr val="0070C0"/>
                </a:solidFill>
                <a:latin typeface="Algerian" panose="04020705040A02060702" pitchFamily="82" charset="0"/>
              </a:rPr>
              <a:t>Cloud trends in supporting ubiquitous computing</a:t>
            </a:r>
            <a:r>
              <a:rPr lang="en-US" sz="3600" dirty="0">
                <a:solidFill>
                  <a:srgbClr val="0070C0"/>
                </a:solidFill>
                <a:latin typeface="Algerian" panose="04020705040A02060702" pitchFamily="82" charset="0"/>
              </a:rPr>
              <a:t> : </a:t>
            </a:r>
            <a:endParaRPr lang="en-IN" sz="36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407CA1C6-454C-1211-6327-D1F36059D64E}"/>
              </a:ext>
            </a:extLst>
          </p:cNvPr>
          <p:cNvSpPr>
            <a:spLocks noGrp="1"/>
          </p:cNvSpPr>
          <p:nvPr>
            <p:ph type="body" idx="1"/>
          </p:nvPr>
        </p:nvSpPr>
        <p:spPr>
          <a:xfrm>
            <a:off x="0" y="400666"/>
            <a:ext cx="11267768" cy="6292644"/>
          </a:xfrm>
        </p:spPr>
        <p:txBody>
          <a:bodyPr>
            <a:normAutofit fontScale="92500"/>
          </a:bodyPr>
          <a:lstStyle/>
          <a:p>
            <a:pPr marL="285750" indent="-285750">
              <a:buClr>
                <a:schemeClr val="tx1"/>
              </a:buClr>
              <a:buFont typeface="Wingdings" panose="05000000000000000000" pitchFamily="2" charset="2"/>
              <a:buChar char="Ø"/>
            </a:pPr>
            <a:r>
              <a:rPr lang="en-US" sz="2600" b="1" dirty="0">
                <a:latin typeface="Century Schoolbook" panose="02040604050505020304" pitchFamily="18" charset="0"/>
              </a:rPr>
              <a:t>Ubiquitous cloud computing refers to the use of Internet resources at any place and any time for any objectives.</a:t>
            </a:r>
          </a:p>
          <a:p>
            <a:pPr marL="285750" indent="-285750">
              <a:buClr>
                <a:schemeClr val="tx1"/>
              </a:buClr>
              <a:buFont typeface="Wingdings" panose="05000000000000000000" pitchFamily="2" charset="2"/>
              <a:buChar char="Ø"/>
            </a:pPr>
            <a:r>
              <a:rPr lang="en-US" sz="2600" b="1" dirty="0">
                <a:latin typeface="Century Schoolbook" panose="02040604050505020304" pitchFamily="18" charset="0"/>
              </a:rPr>
              <a:t>Cloud Computing plays a crucial role in supporting ubiquitous computing by providing the necessary infrastructure, scalability, and accessibility for a wide range of devices &amp; application..</a:t>
            </a:r>
          </a:p>
          <a:p>
            <a:pPr marL="285750" indent="-285750">
              <a:buClr>
                <a:schemeClr val="tx1"/>
              </a:buClr>
              <a:buFont typeface="Wingdings" panose="05000000000000000000" pitchFamily="2" charset="2"/>
              <a:buChar char="Ø"/>
            </a:pPr>
            <a:r>
              <a:rPr lang="en-US" sz="2600" b="1" dirty="0">
                <a:solidFill>
                  <a:srgbClr val="0070C0"/>
                </a:solidFill>
                <a:latin typeface="Century Schoolbook" panose="02040604050505020304" pitchFamily="18" charset="0"/>
              </a:rPr>
              <a:t>Here are some cloud trends that support ubiquitous computing : -</a:t>
            </a:r>
          </a:p>
          <a:p>
            <a:pPr>
              <a:buClr>
                <a:schemeClr val="tx1"/>
              </a:buClr>
            </a:pPr>
            <a:br>
              <a:rPr lang="en-US" sz="2000" b="1" dirty="0">
                <a:latin typeface="Century Schoolbook" panose="02040604050505020304" pitchFamily="18" charset="0"/>
              </a:rPr>
            </a:br>
            <a:r>
              <a:rPr lang="en-US" sz="2000" b="1" dirty="0">
                <a:solidFill>
                  <a:schemeClr val="tx1"/>
                </a:solidFill>
                <a:latin typeface="Century Schoolbook" panose="02040604050505020304" pitchFamily="18" charset="0"/>
              </a:rPr>
              <a:t>1.</a:t>
            </a:r>
            <a:r>
              <a:rPr lang="en-US" sz="2000" b="1" dirty="0">
                <a:solidFill>
                  <a:srgbClr val="0070C0"/>
                </a:solidFill>
                <a:latin typeface="Century Schoolbook" panose="02040604050505020304" pitchFamily="18" charset="0"/>
              </a:rPr>
              <a:t> </a:t>
            </a:r>
            <a:r>
              <a:rPr lang="en-US" sz="2000" b="1" u="sng" dirty="0">
                <a:solidFill>
                  <a:srgbClr val="0070C0"/>
                </a:solidFill>
                <a:latin typeface="Century Schoolbook" panose="02040604050505020304" pitchFamily="18" charset="0"/>
              </a:rPr>
              <a:t>Edge Computing</a:t>
            </a:r>
            <a:r>
              <a:rPr lang="en-US" sz="2000" b="1" dirty="0">
                <a:latin typeface="Century Schoolbook" panose="02040604050505020304" pitchFamily="18" charset="0"/>
              </a:rPr>
              <a:t> : - </a:t>
            </a:r>
            <a:r>
              <a:rPr lang="en-US" sz="2000" b="1" dirty="0">
                <a:solidFill>
                  <a:schemeClr val="tx1"/>
                </a:solidFill>
                <a:latin typeface="Century Schoolbook" panose="02040604050505020304" pitchFamily="18" charset="0"/>
              </a:rPr>
              <a:t>Edge computing extends cloud capabilities to the edge of the network, closer to where data is generated and consumed. This trend enables lower latency and faster processing for devices in remote locations, making it essential for ubiquitous computing scenarios. </a:t>
            </a:r>
          </a:p>
          <a:p>
            <a:pPr>
              <a:buClr>
                <a:schemeClr val="tx1"/>
              </a:buClr>
            </a:pPr>
            <a:r>
              <a:rPr lang="en-US" sz="2000" b="1" dirty="0">
                <a:latin typeface="Century Schoolbook" panose="02040604050505020304" pitchFamily="18" charset="0"/>
              </a:rPr>
              <a:t>2. </a:t>
            </a:r>
            <a:r>
              <a:rPr lang="en-US" sz="2000" b="1" u="sng" dirty="0">
                <a:solidFill>
                  <a:srgbClr val="0070C0"/>
                </a:solidFill>
                <a:latin typeface="Century Schoolbook" panose="02040604050505020304" pitchFamily="18" charset="0"/>
              </a:rPr>
              <a:t>5G Integration</a:t>
            </a:r>
            <a:r>
              <a:rPr lang="en-US" sz="2000" b="1" dirty="0">
                <a:latin typeface="Century Schoolbook" panose="02040604050505020304" pitchFamily="18" charset="0"/>
              </a:rPr>
              <a:t> : - </a:t>
            </a:r>
            <a:r>
              <a:rPr lang="en-US" sz="2000" b="1" dirty="0">
                <a:solidFill>
                  <a:schemeClr val="tx1"/>
                </a:solidFill>
                <a:latin typeface="Century Schoolbook" panose="02040604050505020304" pitchFamily="18" charset="0"/>
              </a:rPr>
              <a:t>The rollout of 5G networks facilitates faster data transfer and lower latency, making it easier for devices to connect to the cloud from virtually anywhere.</a:t>
            </a:r>
          </a:p>
          <a:p>
            <a:pPr>
              <a:buClr>
                <a:schemeClr val="tx1"/>
              </a:buClr>
            </a:pPr>
            <a:r>
              <a:rPr lang="en-US" sz="2000" b="1" dirty="0">
                <a:latin typeface="Century Schoolbook" panose="02040604050505020304" pitchFamily="18" charset="0"/>
              </a:rPr>
              <a:t>3. </a:t>
            </a:r>
            <a:r>
              <a:rPr lang="en-US" sz="2000" b="1" u="sng" dirty="0">
                <a:solidFill>
                  <a:srgbClr val="0070C0"/>
                </a:solidFill>
                <a:latin typeface="Century Schoolbook" panose="02040604050505020304" pitchFamily="18" charset="0"/>
              </a:rPr>
              <a:t>Serverless Computing</a:t>
            </a:r>
            <a:r>
              <a:rPr lang="en-US" sz="2000" b="1" dirty="0">
                <a:latin typeface="Century Schoolbook" panose="02040604050505020304" pitchFamily="18" charset="0"/>
              </a:rPr>
              <a:t> : - </a:t>
            </a:r>
            <a:r>
              <a:rPr lang="en-US" sz="2000" b="1" dirty="0">
                <a:solidFill>
                  <a:schemeClr val="tx1"/>
                </a:solidFill>
                <a:latin typeface="Century Schoolbook" panose="02040604050505020304" pitchFamily="18" charset="0"/>
              </a:rPr>
              <a:t>Serverless computing platforms, such as AWS Lambda and Azure Functions, simplify the deployment of applications by automatically managing server resources. This trend reduces the complexity of building and scaling applications for various devices.</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2431619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3ACB-24F7-C1B4-1871-0BB49C8F333E}"/>
              </a:ext>
            </a:extLst>
          </p:cNvPr>
          <p:cNvSpPr>
            <a:spLocks noGrp="1"/>
          </p:cNvSpPr>
          <p:nvPr>
            <p:ph type="title"/>
          </p:nvPr>
        </p:nvSpPr>
        <p:spPr>
          <a:xfrm>
            <a:off x="677335" y="-45719"/>
            <a:ext cx="8596668" cy="4571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3F844BAC-B991-F710-E303-FF4417FDE4D9}"/>
              </a:ext>
            </a:extLst>
          </p:cNvPr>
          <p:cNvSpPr>
            <a:spLocks noGrp="1"/>
          </p:cNvSpPr>
          <p:nvPr>
            <p:ph type="body" idx="1"/>
          </p:nvPr>
        </p:nvSpPr>
        <p:spPr>
          <a:xfrm>
            <a:off x="0" y="-45719"/>
            <a:ext cx="10441858" cy="6812281"/>
          </a:xfrm>
        </p:spPr>
        <p:txBody>
          <a:bodyPr>
            <a:normAutofit/>
          </a:bodyPr>
          <a:lstStyle/>
          <a:p>
            <a:r>
              <a:rPr lang="en-US" sz="2000" b="1" dirty="0">
                <a:solidFill>
                  <a:schemeClr val="tx1"/>
                </a:solidFill>
                <a:latin typeface="Century Schoolbook" panose="02040604050505020304" pitchFamily="18" charset="0"/>
              </a:rPr>
              <a:t>4. </a:t>
            </a:r>
            <a:r>
              <a:rPr lang="en-US" sz="2000" b="1" u="sng" dirty="0">
                <a:solidFill>
                  <a:srgbClr val="0070C0"/>
                </a:solidFill>
                <a:latin typeface="Century Schoolbook" panose="02040604050505020304" pitchFamily="18" charset="0"/>
              </a:rPr>
              <a:t>Multi-Cloud and Hybrid Cloud</a:t>
            </a:r>
            <a:r>
              <a:rPr lang="en-US" sz="2000" b="1" dirty="0">
                <a:solidFill>
                  <a:schemeClr val="tx1"/>
                </a:solidFill>
                <a:latin typeface="Century Schoolbook" panose="02040604050505020304" pitchFamily="18" charset="0"/>
              </a:rPr>
              <a:t> : - Organizations are. increasingly adopting multi-</a:t>
            </a:r>
            <a:r>
              <a:rPr lang="en-US" sz="2000" b="1" dirty="0" err="1">
                <a:solidFill>
                  <a:schemeClr val="tx1"/>
                </a:solidFill>
                <a:latin typeface="Century Schoolbook" panose="02040604050505020304" pitchFamily="18" charset="0"/>
              </a:rPr>
              <a:t>doud</a:t>
            </a:r>
            <a:r>
              <a:rPr lang="en-US" sz="2000" b="1" dirty="0">
                <a:solidFill>
                  <a:schemeClr val="tx1"/>
                </a:solidFill>
                <a:latin typeface="Century Schoolbook" panose="02040604050505020304" pitchFamily="18" charset="0"/>
              </a:rPr>
              <a:t> and hybrid cloud </a:t>
            </a:r>
            <a:r>
              <a:rPr lang="en-US" sz="2000" b="1" dirty="0" err="1">
                <a:solidFill>
                  <a:schemeClr val="tx1"/>
                </a:solidFill>
                <a:latin typeface="Century Schoolbook" panose="02040604050505020304" pitchFamily="18" charset="0"/>
              </a:rPr>
              <a:t>stategies</a:t>
            </a:r>
            <a:r>
              <a:rPr lang="en-US" sz="2000" b="1" dirty="0">
                <a:solidFill>
                  <a:schemeClr val="tx1"/>
                </a:solidFill>
                <a:latin typeface="Century Schoolbook" panose="02040604050505020304" pitchFamily="18" charset="0"/>
              </a:rPr>
              <a:t> to ensure redundancy, flexibility, and availability of their services across different regions and environments, supporting ubiquitous access.</a:t>
            </a:r>
          </a:p>
          <a:p>
            <a:r>
              <a:rPr lang="en-US" sz="2000" b="1" dirty="0">
                <a:solidFill>
                  <a:schemeClr val="tx1"/>
                </a:solidFill>
                <a:latin typeface="Century Schoolbook" panose="02040604050505020304" pitchFamily="18" charset="0"/>
              </a:rPr>
              <a:t>5. </a:t>
            </a:r>
            <a:r>
              <a:rPr lang="en-US" sz="2000" b="1" u="sng" dirty="0">
                <a:solidFill>
                  <a:srgbClr val="0070C0"/>
                </a:solidFill>
                <a:latin typeface="Century Schoolbook" panose="02040604050505020304" pitchFamily="18" charset="0"/>
              </a:rPr>
              <a:t>IOT Integration</a:t>
            </a:r>
            <a:r>
              <a:rPr lang="en-US" sz="2000" b="1" dirty="0">
                <a:solidFill>
                  <a:schemeClr val="tx1"/>
                </a:solidFill>
                <a:latin typeface="Century Schoolbook" panose="02040604050505020304" pitchFamily="18" charset="0"/>
              </a:rPr>
              <a:t> : - Cloud providers are offering spec IoT platforms that seamlessly integrate with cloud services, allowing for the management and analysis of data from a wide array of sensors and devices, enhancing the capabilities of ubiquitous computing. </a:t>
            </a:r>
          </a:p>
          <a:p>
            <a:r>
              <a:rPr lang="en-US" sz="2000" b="1" dirty="0">
                <a:solidFill>
                  <a:schemeClr val="tx1"/>
                </a:solidFill>
                <a:latin typeface="Century Schoolbook" panose="02040604050505020304" pitchFamily="18" charset="0"/>
              </a:rPr>
              <a:t>6. </a:t>
            </a:r>
            <a:r>
              <a:rPr lang="en-US" sz="2000" b="1" u="sng" dirty="0">
                <a:solidFill>
                  <a:srgbClr val="0070C0"/>
                </a:solidFill>
                <a:latin typeface="Century Schoolbook" panose="02040604050505020304" pitchFamily="18" charset="0"/>
              </a:rPr>
              <a:t>AI and Machine Learning at the Edge</a:t>
            </a:r>
            <a:r>
              <a:rPr lang="en-US" sz="2000" b="1" dirty="0">
                <a:solidFill>
                  <a:schemeClr val="tx1"/>
                </a:solidFill>
                <a:latin typeface="Century Schoolbook" panose="02040604050505020304" pitchFamily="18" charset="0"/>
              </a:rPr>
              <a:t> : - cloud-based machine learning and AI services are now being deployed at the edge, enabling devices to make real-time decisions without relying solely on cloud resources. This trend is crucial for ubiquitous computing </a:t>
            </a:r>
            <a:r>
              <a:rPr lang="en-US" sz="2000" b="1" dirty="0" err="1">
                <a:solidFill>
                  <a:schemeClr val="tx1"/>
                </a:solidFill>
                <a:latin typeface="Century Schoolbook" panose="02040604050505020304" pitchFamily="18" charset="0"/>
              </a:rPr>
              <a:t>scenarious</a:t>
            </a:r>
            <a:r>
              <a:rPr lang="en-US" sz="2000" b="1" dirty="0">
                <a:solidFill>
                  <a:schemeClr val="tx1"/>
                </a:solidFill>
                <a:latin typeface="Century Schoolbook" panose="02040604050505020304" pitchFamily="18" charset="0"/>
              </a:rPr>
              <a:t> requiring intelligent.</a:t>
            </a:r>
          </a:p>
          <a:p>
            <a:r>
              <a:rPr lang="en-US" sz="2000" b="1" dirty="0">
                <a:solidFill>
                  <a:schemeClr val="tx1"/>
                </a:solidFill>
                <a:latin typeface="Century Schoolbook" panose="02040604050505020304" pitchFamily="18" charset="0"/>
              </a:rPr>
              <a:t>7. </a:t>
            </a:r>
            <a:r>
              <a:rPr lang="en-US" sz="2000" b="1" u="sng" dirty="0">
                <a:solidFill>
                  <a:srgbClr val="0070C0"/>
                </a:solidFill>
                <a:latin typeface="Century Schoolbook" panose="02040604050505020304" pitchFamily="18" charset="0"/>
              </a:rPr>
              <a:t>Low-Code / No-Code Development</a:t>
            </a:r>
            <a:r>
              <a:rPr lang="en-US" sz="2000" b="1" dirty="0">
                <a:solidFill>
                  <a:schemeClr val="tx1"/>
                </a:solidFill>
                <a:latin typeface="Century Schoolbook" panose="02040604050505020304" pitchFamily="18" charset="0"/>
              </a:rPr>
              <a:t> : - low-code and No- Co de platforms simplify the development of applications, making it easier for a broader range of users to create. and deploy applications across various devices &amp; platforms.</a:t>
            </a:r>
          </a:p>
          <a:p>
            <a:r>
              <a:rPr lang="en-US" sz="2000" b="1" dirty="0">
                <a:solidFill>
                  <a:schemeClr val="tx1"/>
                </a:solidFill>
                <a:latin typeface="Century Schoolbook" panose="02040604050505020304" pitchFamily="18" charset="0"/>
              </a:rPr>
              <a:t>8. </a:t>
            </a:r>
            <a:r>
              <a:rPr lang="en-US" sz="2000" b="1" u="sng" dirty="0">
                <a:solidFill>
                  <a:srgbClr val="0070C0"/>
                </a:solidFill>
                <a:latin typeface="Century Schoolbook" panose="02040604050505020304" pitchFamily="18" charset="0"/>
              </a:rPr>
              <a:t>Quantum Computing Integration</a:t>
            </a:r>
            <a:r>
              <a:rPr lang="en-US" sz="2000" b="1" dirty="0">
                <a:solidFill>
                  <a:schemeClr val="tx1"/>
                </a:solidFill>
                <a:latin typeface="Century Schoolbook" panose="02040604050505020304" pitchFamily="18" charset="0"/>
              </a:rPr>
              <a:t> : - while still in its early stages, quantum computing has the potential to revolutionize </a:t>
            </a:r>
            <a:r>
              <a:rPr lang="en-US" sz="2000" b="1" dirty="0" err="1">
                <a:solidFill>
                  <a:schemeClr val="tx1"/>
                </a:solidFill>
                <a:latin typeface="Century Schoolbook" panose="02040604050505020304" pitchFamily="18" charset="0"/>
              </a:rPr>
              <a:t>Lubiquitous</a:t>
            </a:r>
            <a:r>
              <a:rPr lang="en-US" sz="2000" b="1" dirty="0">
                <a:solidFill>
                  <a:schemeClr val="tx1"/>
                </a:solidFill>
                <a:latin typeface="Century Schoolbook" panose="02040604050505020304" pitchFamily="18" charset="0"/>
              </a:rPr>
              <a:t> computing by solving complex problems more efficient.</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362558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85C3-16AE-B41E-3AFA-CD2A557E5E64}"/>
              </a:ext>
            </a:extLst>
          </p:cNvPr>
          <p:cNvSpPr>
            <a:spLocks noGrp="1"/>
          </p:cNvSpPr>
          <p:nvPr>
            <p:ph type="title"/>
          </p:nvPr>
        </p:nvSpPr>
        <p:spPr>
          <a:xfrm flipV="1">
            <a:off x="0" y="-68826"/>
            <a:ext cx="12192000" cy="68826"/>
          </a:xfrm>
        </p:spPr>
        <p:txBody>
          <a:bodyPr>
            <a:noAutofit/>
          </a:bodyPr>
          <a:lstStyle/>
          <a:p>
            <a:endParaRPr lang="en-IN" sz="4000"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BE8D71B1-9CF1-64AA-BE31-8676B92CE39F}"/>
              </a:ext>
            </a:extLst>
          </p:cNvPr>
          <p:cNvSpPr>
            <a:spLocks noGrp="1"/>
          </p:cNvSpPr>
          <p:nvPr>
            <p:ph type="body" idx="1"/>
          </p:nvPr>
        </p:nvSpPr>
        <p:spPr>
          <a:xfrm>
            <a:off x="0" y="0"/>
            <a:ext cx="10274710" cy="7034981"/>
          </a:xfrm>
        </p:spPr>
        <p:txBody>
          <a:bodyPr/>
          <a:lstStyle/>
          <a:p>
            <a:pPr marL="342900" indent="-342900">
              <a:buClr>
                <a:schemeClr val="tx1"/>
              </a:buClr>
              <a:buFont typeface="Wingdings" panose="05000000000000000000" pitchFamily="2" charset="2"/>
              <a:buChar char="Ø"/>
            </a:pPr>
            <a:r>
              <a:rPr lang="en-US" sz="2400" b="1" dirty="0">
                <a:solidFill>
                  <a:srgbClr val="0070C0"/>
                </a:solidFill>
                <a:latin typeface="Century Schoolbook" panose="02040604050505020304" pitchFamily="18" charset="0"/>
              </a:rPr>
              <a:t>Enabling Technologies with the Internet of Things (RFID) : -</a:t>
            </a:r>
          </a:p>
          <a:p>
            <a:r>
              <a:rPr lang="en-US" sz="2000" b="1" dirty="0">
                <a:solidFill>
                  <a:schemeClr val="tx1"/>
                </a:solidFill>
                <a:latin typeface="Century Schoolbook" panose="02040604050505020304" pitchFamily="18" charset="0"/>
              </a:rPr>
              <a:t>The Internet of Things (IoT) is a system of interrelated devices connected through the internet that can collect, exchange, and process data. To make IoT possible, several enabling technologies are used, such as sensors, wireless communication, cloud computing, RFID, and embedded systems. Among them, Radio Frequency Identification (RFID) plays a vital role as a key enabling technology.</a:t>
            </a:r>
          </a:p>
          <a:p>
            <a:pPr marL="342900" indent="-342900">
              <a:buClr>
                <a:schemeClr val="tx1"/>
              </a:buClr>
              <a:buFont typeface="Wingdings" panose="05000000000000000000" pitchFamily="2" charset="2"/>
              <a:buChar char="Ø"/>
            </a:pPr>
            <a:r>
              <a:rPr lang="en-US" sz="2400" b="1" dirty="0">
                <a:solidFill>
                  <a:srgbClr val="0070C0"/>
                </a:solidFill>
                <a:latin typeface="Century Schoolbook" panose="02040604050505020304" pitchFamily="18" charset="0"/>
              </a:rPr>
              <a:t>Radio Frequency Identification (RFID) : -</a:t>
            </a:r>
            <a:br>
              <a:rPr lang="en-US" sz="2400" b="1" dirty="0">
                <a:solidFill>
                  <a:srgbClr val="0070C0"/>
                </a:solidFill>
                <a:latin typeface="Century Schoolbook" panose="02040604050505020304" pitchFamily="18" charset="0"/>
              </a:rPr>
            </a:br>
            <a:r>
              <a:rPr lang="en-US" sz="2000" b="1" dirty="0">
                <a:solidFill>
                  <a:schemeClr val="tx1"/>
                </a:solidFill>
                <a:latin typeface="Century Schoolbook" panose="02040604050505020304" pitchFamily="18" charset="0"/>
              </a:rPr>
              <a:t>RFID is a wireless technology that uses radio waves to identify and track objects automatically. It consists of three main components : -</a:t>
            </a:r>
          </a:p>
          <a:p>
            <a:r>
              <a:rPr lang="en-US" sz="2400" b="1" dirty="0">
                <a:latin typeface="Century Schoolbook" panose="02040604050505020304" pitchFamily="18" charset="0"/>
              </a:rPr>
              <a:t>- </a:t>
            </a:r>
            <a:r>
              <a:rPr lang="en-US" sz="2400" b="1" u="sng" dirty="0">
                <a:solidFill>
                  <a:srgbClr val="0070C0"/>
                </a:solidFill>
                <a:latin typeface="Century Schoolbook" panose="02040604050505020304" pitchFamily="18" charset="0"/>
              </a:rPr>
              <a:t>RFID Tag (Transponder)</a:t>
            </a:r>
            <a:r>
              <a:rPr lang="en-US" sz="2400" b="1" dirty="0">
                <a:solidFill>
                  <a:srgbClr val="0070C0"/>
                </a:solidFill>
                <a:latin typeface="Century Schoolbook" panose="02040604050505020304" pitchFamily="18" charset="0"/>
              </a:rPr>
              <a:t> : -</a:t>
            </a:r>
            <a:r>
              <a:rPr lang="en-US" sz="2400" b="1" dirty="0">
                <a:latin typeface="Century Schoolbook" panose="02040604050505020304" pitchFamily="18" charset="0"/>
              </a:rPr>
              <a:t> </a:t>
            </a:r>
            <a:r>
              <a:rPr lang="en-US" sz="2000" b="1" dirty="0">
                <a:solidFill>
                  <a:schemeClr val="tx1"/>
                </a:solidFill>
                <a:latin typeface="Century Schoolbook" panose="02040604050505020304" pitchFamily="18" charset="0"/>
              </a:rPr>
              <a:t>A small device attached to an object containing a microchip and an antenna. It stores unique identification data.</a:t>
            </a:r>
          </a:p>
          <a:p>
            <a:r>
              <a:rPr lang="en-US" sz="2400" b="1" dirty="0">
                <a:latin typeface="Century Schoolbook" panose="02040604050505020304" pitchFamily="18" charset="0"/>
              </a:rPr>
              <a:t>- </a:t>
            </a:r>
            <a:r>
              <a:rPr lang="en-US" sz="2400" b="1" u="sng" dirty="0">
                <a:solidFill>
                  <a:srgbClr val="0070C0"/>
                </a:solidFill>
                <a:latin typeface="Century Schoolbook" panose="02040604050505020304" pitchFamily="18" charset="0"/>
              </a:rPr>
              <a:t>RFID Reader (Interrogator)</a:t>
            </a:r>
            <a:r>
              <a:rPr lang="en-US" sz="2400" b="1" dirty="0">
                <a:solidFill>
                  <a:srgbClr val="0070C0"/>
                </a:solidFill>
                <a:latin typeface="Century Schoolbook" panose="02040604050505020304" pitchFamily="18" charset="0"/>
              </a:rPr>
              <a:t> : - </a:t>
            </a:r>
            <a:r>
              <a:rPr lang="en-US" sz="2000" b="1" dirty="0">
                <a:solidFill>
                  <a:schemeClr val="tx1"/>
                </a:solidFill>
                <a:latin typeface="Century Schoolbook" panose="02040604050505020304" pitchFamily="18" charset="0"/>
              </a:rPr>
              <a:t>A device that emits radio signals to communicate with tags and collect data from them.</a:t>
            </a:r>
          </a:p>
          <a:p>
            <a:r>
              <a:rPr lang="en-US" sz="2400" b="1" dirty="0">
                <a:latin typeface="Century Schoolbook" panose="02040604050505020304" pitchFamily="18" charset="0"/>
              </a:rPr>
              <a:t>- </a:t>
            </a:r>
            <a:r>
              <a:rPr lang="en-US" sz="2400" b="1" u="sng" dirty="0">
                <a:solidFill>
                  <a:srgbClr val="0070C0"/>
                </a:solidFill>
                <a:latin typeface="Century Schoolbook" panose="02040604050505020304" pitchFamily="18" charset="0"/>
              </a:rPr>
              <a:t>Backend System / Database</a:t>
            </a:r>
            <a:r>
              <a:rPr lang="en-US" sz="2400" b="1" dirty="0">
                <a:solidFill>
                  <a:srgbClr val="0070C0"/>
                </a:solidFill>
                <a:latin typeface="Century Schoolbook" panose="02040604050505020304" pitchFamily="18" charset="0"/>
              </a:rPr>
              <a:t> </a:t>
            </a:r>
            <a:r>
              <a:rPr lang="en-US" b="1" dirty="0">
                <a:solidFill>
                  <a:srgbClr val="0070C0"/>
                </a:solidFill>
                <a:latin typeface="Century Schoolbook" panose="02040604050505020304" pitchFamily="18" charset="0"/>
              </a:rPr>
              <a:t>: -  </a:t>
            </a:r>
            <a:r>
              <a:rPr lang="en-US" sz="2000" b="1" dirty="0">
                <a:solidFill>
                  <a:schemeClr val="tx1"/>
                </a:solidFill>
                <a:latin typeface="Century Schoolbook" panose="02040604050505020304" pitchFamily="18" charset="0"/>
              </a:rPr>
              <a:t>Stores, processes, and manages the collected information for decision-making.</a:t>
            </a:r>
          </a:p>
          <a:p>
            <a:endParaRPr lang="en-IN" dirty="0"/>
          </a:p>
        </p:txBody>
      </p:sp>
    </p:spTree>
    <p:extLst>
      <p:ext uri="{BB962C8B-B14F-4D97-AF65-F5344CB8AC3E}">
        <p14:creationId xmlns:p14="http://schemas.microsoft.com/office/powerpoint/2010/main" val="868485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D4A7A-D7CB-ECD2-6B94-28C44A6F02B5}"/>
              </a:ext>
            </a:extLst>
          </p:cNvPr>
          <p:cNvSpPr>
            <a:spLocks noGrp="1"/>
          </p:cNvSpPr>
          <p:nvPr>
            <p:ph type="title"/>
          </p:nvPr>
        </p:nvSpPr>
        <p:spPr>
          <a:xfrm>
            <a:off x="677335" y="0"/>
            <a:ext cx="8596668" cy="4571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53DA3C11-0014-6A79-B0ED-AAB8F1369DE6}"/>
              </a:ext>
            </a:extLst>
          </p:cNvPr>
          <p:cNvSpPr>
            <a:spLocks noGrp="1"/>
          </p:cNvSpPr>
          <p:nvPr>
            <p:ph type="body" idx="1"/>
          </p:nvPr>
        </p:nvSpPr>
        <p:spPr>
          <a:xfrm>
            <a:off x="0" y="-186814"/>
            <a:ext cx="10589342" cy="6945015"/>
          </a:xfrm>
        </p:spPr>
        <p:txBody>
          <a:bodyPr>
            <a:normAutofit/>
          </a:bodyPr>
          <a:lstStyle/>
          <a:p>
            <a:pPr marL="285750" indent="-285750">
              <a:buClr>
                <a:schemeClr val="tx1"/>
              </a:buClr>
              <a:buFont typeface="Wingdings" panose="05000000000000000000" pitchFamily="2" charset="2"/>
              <a:buChar char="Ø"/>
            </a:pPr>
            <a:r>
              <a:rPr lang="en-US" sz="2400" b="1" dirty="0">
                <a:solidFill>
                  <a:srgbClr val="0070C0"/>
                </a:solidFill>
                <a:latin typeface="Century Schoolbook" panose="02040604050505020304" pitchFamily="18" charset="0"/>
              </a:rPr>
              <a:t>Innovative Applications with the Internet of Things (Smart Buildings and Smart Power Grid) : -</a:t>
            </a:r>
            <a:endParaRPr lang="en-US" sz="2400" dirty="0">
              <a:solidFill>
                <a:srgbClr val="0070C0"/>
              </a:solidFill>
              <a:latin typeface="Century Schoolbook" panose="02040604050505020304" pitchFamily="18" charset="0"/>
            </a:endParaRPr>
          </a:p>
          <a:p>
            <a:r>
              <a:rPr lang="en-US" sz="2000" b="1" dirty="0">
                <a:solidFill>
                  <a:schemeClr val="tx1"/>
                </a:solidFill>
                <a:latin typeface="Century Schoolbook" panose="02040604050505020304" pitchFamily="18" charset="0"/>
              </a:rPr>
              <a:t>The Internet of Things (IoT) has transformed various domains by enabling devices, sensors, and systems to communicate intelligently. IoT applications are not limited to traditional areas; they also extend to innovative solutions that improve comfort, energy efficiency, safety, and sustainability. Two significant examples are Smart Buildings and Smart Power Grids.</a:t>
            </a:r>
          </a:p>
          <a:p>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Smart Buildings</a:t>
            </a:r>
            <a:r>
              <a:rPr lang="en-US" sz="2400" b="1" dirty="0">
                <a:solidFill>
                  <a:srgbClr val="0070C0"/>
                </a:solidFill>
                <a:latin typeface="Century Schoolbook" panose="02040604050505020304" pitchFamily="18" charset="0"/>
              </a:rPr>
              <a:t> : -</a:t>
            </a:r>
            <a:br>
              <a:rPr lang="en-US" sz="2400" b="1" dirty="0">
                <a:solidFill>
                  <a:srgbClr val="0070C0"/>
                </a:solidFill>
                <a:latin typeface="Century Schoolbook" panose="02040604050505020304" pitchFamily="18" charset="0"/>
              </a:rPr>
            </a:br>
            <a:r>
              <a:rPr lang="en-US" sz="2000" b="1" dirty="0">
                <a:solidFill>
                  <a:schemeClr val="tx1"/>
                </a:solidFill>
                <a:latin typeface="Century Schoolbook" panose="02040604050505020304" pitchFamily="18" charset="0"/>
              </a:rPr>
              <a:t>Smart buildings use IoT-enabled devices and sensors to automate and manage building operations efficient.</a:t>
            </a:r>
          </a:p>
          <a:p>
            <a:r>
              <a:rPr lang="en-US" sz="2000" b="1" dirty="0">
                <a:solidFill>
                  <a:srgbClr val="0070C0"/>
                </a:solidFill>
                <a:latin typeface="Century Schoolbook" panose="02040604050505020304" pitchFamily="18" charset="0"/>
              </a:rPr>
              <a:t>Example :</a:t>
            </a:r>
            <a:r>
              <a:rPr lang="en-US" sz="2000" b="1" dirty="0">
                <a:latin typeface="Century Schoolbook" panose="02040604050505020304" pitchFamily="18" charset="0"/>
              </a:rPr>
              <a:t> </a:t>
            </a:r>
            <a:r>
              <a:rPr lang="en-US" sz="2000" b="1" dirty="0">
                <a:solidFill>
                  <a:schemeClr val="tx1"/>
                </a:solidFill>
                <a:latin typeface="Century Schoolbook" panose="02040604050505020304" pitchFamily="18" charset="0"/>
              </a:rPr>
              <a:t>Automatic adjustment of air conditioning and lighting based on occupancy and natural light.</a:t>
            </a: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Smart Power Grid</a:t>
            </a:r>
            <a:r>
              <a:rPr lang="en-US" sz="2400" b="1" dirty="0">
                <a:solidFill>
                  <a:srgbClr val="0070C0"/>
                </a:solidFill>
                <a:latin typeface="Century Schoolbook" panose="02040604050505020304" pitchFamily="18" charset="0"/>
              </a:rPr>
              <a:t> : -</a:t>
            </a:r>
            <a:br>
              <a:rPr lang="en-US" b="1" dirty="0">
                <a:solidFill>
                  <a:srgbClr val="0070C0"/>
                </a:solidFill>
                <a:latin typeface="Century Schoolbook" panose="02040604050505020304" pitchFamily="18" charset="0"/>
              </a:rPr>
            </a:br>
            <a:r>
              <a:rPr lang="en-US" sz="2000" b="1" dirty="0">
                <a:solidFill>
                  <a:schemeClr val="tx1"/>
                </a:solidFill>
                <a:latin typeface="Century Schoolbook" panose="02040604050505020304" pitchFamily="18" charset="0"/>
              </a:rPr>
              <a:t>The Smart Grid is an advanced power distribution system that integrates IoT technologies to monitor and manage electricity supply and demand in real time.</a:t>
            </a:r>
          </a:p>
          <a:p>
            <a:r>
              <a:rPr lang="en-US" sz="2000" b="1" dirty="0">
                <a:solidFill>
                  <a:srgbClr val="0070C0"/>
                </a:solidFill>
                <a:latin typeface="Century Schoolbook" panose="02040604050505020304" pitchFamily="18" charset="0"/>
              </a:rPr>
              <a:t>Example : </a:t>
            </a:r>
            <a:r>
              <a:rPr lang="en-US" sz="2000" b="1" dirty="0">
                <a:solidFill>
                  <a:schemeClr val="tx1"/>
                </a:solidFill>
                <a:latin typeface="Century Schoolbook" panose="02040604050505020304" pitchFamily="18" charset="0"/>
              </a:rPr>
              <a:t>Automatic rerouting of power during outages and demand-based energy pricing.</a:t>
            </a:r>
          </a:p>
        </p:txBody>
      </p:sp>
    </p:spTree>
    <p:extLst>
      <p:ext uri="{BB962C8B-B14F-4D97-AF65-F5344CB8AC3E}">
        <p14:creationId xmlns:p14="http://schemas.microsoft.com/office/powerpoint/2010/main" val="989989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07E2-BE98-9B09-4CF1-38E1DE8CD9B7}"/>
              </a:ext>
            </a:extLst>
          </p:cNvPr>
          <p:cNvSpPr>
            <a:spLocks noGrp="1"/>
          </p:cNvSpPr>
          <p:nvPr>
            <p:ph type="title"/>
          </p:nvPr>
        </p:nvSpPr>
        <p:spPr>
          <a:xfrm>
            <a:off x="8740" y="25400"/>
            <a:ext cx="11730975" cy="791238"/>
          </a:xfrm>
        </p:spPr>
        <p:txBody>
          <a:bodyPr>
            <a:normAutofit fontScale="90000"/>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Future of cloud-based smart devices</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573F4429-F0D6-2FBF-782F-77772D2F6900}"/>
              </a:ext>
            </a:extLst>
          </p:cNvPr>
          <p:cNvSpPr>
            <a:spLocks noGrp="1"/>
          </p:cNvSpPr>
          <p:nvPr>
            <p:ph type="body" idx="1"/>
          </p:nvPr>
        </p:nvSpPr>
        <p:spPr>
          <a:xfrm>
            <a:off x="137652" y="816638"/>
            <a:ext cx="9802761" cy="5053220"/>
          </a:xfrm>
        </p:spPr>
        <p:txBody>
          <a:bodyPr>
            <a:normAutofit/>
          </a:bodyPr>
          <a:lstStyle/>
          <a:p>
            <a:r>
              <a:rPr lang="en-US" sz="2800" b="1" dirty="0" err="1">
                <a:solidFill>
                  <a:schemeClr val="tx1"/>
                </a:solidFill>
                <a:latin typeface="Century Schoolbook" panose="02040604050505020304" pitchFamily="18" charset="0"/>
              </a:rPr>
              <a:t>i</a:t>
            </a:r>
            <a:r>
              <a:rPr lang="en-US" sz="2800" b="1" dirty="0">
                <a:solidFill>
                  <a:schemeClr val="tx1"/>
                </a:solidFill>
                <a:latin typeface="Century Schoolbook" panose="02040604050505020304" pitchFamily="18" charset="0"/>
              </a:rPr>
              <a:t>) first there was computer, then came smartphone and now there are many devices that people use as computing platforms.</a:t>
            </a:r>
          </a:p>
          <a:p>
            <a:r>
              <a:rPr lang="en-US" sz="2800" b="1" dirty="0">
                <a:solidFill>
                  <a:schemeClr val="tx1"/>
                </a:solidFill>
                <a:latin typeface="Century Schoolbook" panose="02040604050505020304" pitchFamily="18" charset="0"/>
              </a:rPr>
              <a:t>ii) Tablets, TVs, eBook readers are things of the past. Now there are Google Glass, </a:t>
            </a:r>
            <a:r>
              <a:rPr lang="en-US" sz="2800" b="1" dirty="0" err="1">
                <a:solidFill>
                  <a:schemeClr val="tx1"/>
                </a:solidFill>
                <a:latin typeface="Century Schoolbook" panose="02040604050505020304" pitchFamily="18" charset="0"/>
              </a:rPr>
              <a:t>samsung</a:t>
            </a:r>
            <a:r>
              <a:rPr lang="en-US" sz="2800" b="1" dirty="0">
                <a:solidFill>
                  <a:schemeClr val="tx1"/>
                </a:solidFill>
                <a:latin typeface="Century Schoolbook" panose="02040604050505020304" pitchFamily="18" charset="0"/>
              </a:rPr>
              <a:t> watch, smart TV and many more. </a:t>
            </a:r>
          </a:p>
          <a:p>
            <a:r>
              <a:rPr lang="en-US" sz="2800" b="1" dirty="0">
                <a:solidFill>
                  <a:schemeClr val="tx1"/>
                </a:solidFill>
                <a:latin typeface="Century Schoolbook" panose="02040604050505020304" pitchFamily="18" charset="0"/>
              </a:rPr>
              <a:t>iii) The list of devices with processor for computations that can be connected to Internet are increasing every day.</a:t>
            </a:r>
            <a:br>
              <a:rPr lang="en-US" sz="2800" b="1" dirty="0">
                <a:solidFill>
                  <a:schemeClr val="tx1"/>
                </a:solidFill>
                <a:latin typeface="Century Schoolbook" panose="02040604050505020304" pitchFamily="18" charset="0"/>
              </a:rPr>
            </a:br>
            <a:r>
              <a:rPr lang="en-US" sz="2800" b="1" dirty="0">
                <a:solidFill>
                  <a:schemeClr val="tx1"/>
                </a:solidFill>
                <a:latin typeface="Century Schoolbook" panose="02040604050505020304" pitchFamily="18" charset="0"/>
              </a:rPr>
              <a:t>iv) Businesses are opting to use smart devices to increase quality </a:t>
            </a:r>
            <a:r>
              <a:rPr lang="en-US" sz="2800" b="1" dirty="0" err="1">
                <a:solidFill>
                  <a:schemeClr val="tx1"/>
                </a:solidFill>
                <a:latin typeface="Century Schoolbook" panose="02040604050505020304" pitchFamily="18" charset="0"/>
              </a:rPr>
              <a:t>output.or</a:t>
            </a:r>
            <a:endParaRPr lang="en-IN" sz="28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85363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21057-AE46-87BD-8E1A-F17D8856ACB7}"/>
              </a:ext>
            </a:extLst>
          </p:cNvPr>
          <p:cNvSpPr>
            <a:spLocks noGrp="1"/>
          </p:cNvSpPr>
          <p:nvPr>
            <p:ph type="title"/>
          </p:nvPr>
        </p:nvSpPr>
        <p:spPr>
          <a:xfrm>
            <a:off x="0" y="0"/>
            <a:ext cx="9753600" cy="698090"/>
          </a:xfrm>
        </p:spPr>
        <p:txBody>
          <a:bodyPr>
            <a:noAutofit/>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Home based cloud computing</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B033EDD4-738F-BE54-B900-D26DD11C841D}"/>
              </a:ext>
            </a:extLst>
          </p:cNvPr>
          <p:cNvSpPr>
            <a:spLocks noGrp="1"/>
          </p:cNvSpPr>
          <p:nvPr>
            <p:ph type="body" idx="1"/>
          </p:nvPr>
        </p:nvSpPr>
        <p:spPr>
          <a:xfrm>
            <a:off x="117989" y="349045"/>
            <a:ext cx="9753600" cy="5447071"/>
          </a:xfrm>
        </p:spPr>
        <p:txBody>
          <a:bodyPr>
            <a:norm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Home Based cloud computing means you have access to computing resources like your personal data and application from anywhere.</a:t>
            </a:r>
          </a:p>
          <a:p>
            <a:r>
              <a:rPr lang="en-US" sz="2400" b="1" dirty="0">
                <a:solidFill>
                  <a:schemeClr val="tx1"/>
                </a:solidFill>
                <a:latin typeface="Century Schoolbook" panose="02040604050505020304" pitchFamily="18" charset="0"/>
              </a:rPr>
              <a:t>ii) It provides scalable computing power, storage space applications for developing, maintaining, running home services and accessing home devices accessing home device any where at anytime.</a:t>
            </a:r>
          </a:p>
          <a:p>
            <a:r>
              <a:rPr lang="en-US" sz="2400" b="1" dirty="0">
                <a:solidFill>
                  <a:schemeClr val="tx1"/>
                </a:solidFill>
                <a:latin typeface="Century Schoolbook" panose="02040604050505020304" pitchFamily="18" charset="0"/>
              </a:rPr>
              <a:t>iii) Many personal cloud packages can be bought quickly and easily with a credit </a:t>
            </a:r>
            <a:r>
              <a:rPr lang="en-US" sz="2400" b="1" dirty="0" err="1">
                <a:solidFill>
                  <a:schemeClr val="tx1"/>
                </a:solidFill>
                <a:latin typeface="Century Schoolbook" panose="02040604050505020304" pitchFamily="18" charset="0"/>
              </a:rPr>
              <a:t>cavid</a:t>
            </a:r>
            <a:r>
              <a:rPr lang="en-US" sz="2400" b="1" dirty="0">
                <a:solidFill>
                  <a:schemeClr val="tx1"/>
                </a:solidFill>
                <a:latin typeface="Century Schoolbook" panose="02040604050505020304" pitchFamily="18" charset="0"/>
              </a:rPr>
              <a:t>, the same way that you would buy anything online.</a:t>
            </a:r>
          </a:p>
          <a:p>
            <a:r>
              <a:rPr lang="en-US" sz="2400" b="1" dirty="0">
                <a:solidFill>
                  <a:schemeClr val="tx1"/>
                </a:solidFill>
                <a:latin typeface="Century Schoolbook" panose="02040604050505020304" pitchFamily="18" charset="0"/>
              </a:rPr>
              <a:t>iv) Users may have to fill out personal profiles or </a:t>
            </a:r>
            <a:r>
              <a:rPr lang="en-US" sz="2400" b="1" dirty="0" err="1">
                <a:solidFill>
                  <a:schemeClr val="tx1"/>
                </a:solidFill>
                <a:latin typeface="Century Schoolbook" panose="02040604050505020304" pitchFamily="18" charset="0"/>
              </a:rPr>
              <a:t>surves</a:t>
            </a:r>
            <a:r>
              <a:rPr lang="en-US" sz="2400" b="1" dirty="0">
                <a:solidFill>
                  <a:schemeClr val="tx1"/>
                </a:solidFill>
                <a:latin typeface="Century Schoolbook" panose="02040604050505020304" pitchFamily="18" charset="0"/>
              </a:rPr>
              <a:t> related to the service, which can take some time.</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2935966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DB3A3-AC82-4F80-38F2-9E936124E15D}"/>
              </a:ext>
            </a:extLst>
          </p:cNvPr>
          <p:cNvSpPr>
            <a:spLocks noGrp="1"/>
          </p:cNvSpPr>
          <p:nvPr>
            <p:ph type="title"/>
          </p:nvPr>
        </p:nvSpPr>
        <p:spPr>
          <a:xfrm>
            <a:off x="38237" y="25400"/>
            <a:ext cx="10669091" cy="721852"/>
          </a:xfrm>
        </p:spPr>
        <p:txBody>
          <a:bodyPr>
            <a:noAutofit/>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Energy aware cloud computing</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29E61DAB-F7CD-0C3B-71B0-765C65347120}"/>
              </a:ext>
            </a:extLst>
          </p:cNvPr>
          <p:cNvSpPr>
            <a:spLocks noGrp="1"/>
          </p:cNvSpPr>
          <p:nvPr>
            <p:ph type="body" idx="1"/>
          </p:nvPr>
        </p:nvSpPr>
        <p:spPr>
          <a:xfrm>
            <a:off x="38237" y="747251"/>
            <a:ext cx="9784189" cy="4050891"/>
          </a:xfrm>
        </p:spPr>
        <p:txBody>
          <a:bodyPr>
            <a:no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Cloud Computing is achieved by establishing distributed data centers, that consume a significant volume of energy.</a:t>
            </a:r>
          </a:p>
          <a:p>
            <a:r>
              <a:rPr lang="en-US" sz="2400" b="1" dirty="0">
                <a:solidFill>
                  <a:schemeClr val="tx1"/>
                </a:solidFill>
                <a:latin typeface="Century Schoolbook" panose="02040604050505020304" pitchFamily="18" charset="0"/>
              </a:rPr>
              <a:t>ii) Energy efficiency is increasingly most important for in Formation and communication technologies.</a:t>
            </a:r>
          </a:p>
          <a:p>
            <a:r>
              <a:rPr lang="en-US" sz="2400" b="1" dirty="0">
                <a:solidFill>
                  <a:schemeClr val="tx1"/>
                </a:solidFill>
                <a:latin typeface="Century Schoolbook" panose="02040604050505020304" pitchFamily="18" charset="0"/>
              </a:rPr>
              <a:t>iii) The reasons are the increased use in advanced technologies, increased energy costs and the need to reduce GHG (greenhouse gas) emissions.</a:t>
            </a:r>
          </a:p>
          <a:p>
            <a:r>
              <a:rPr lang="en-US" sz="2400" b="1" dirty="0">
                <a:solidFill>
                  <a:schemeClr val="tx1"/>
                </a:solidFill>
                <a:latin typeface="Century Schoolbook" panose="02040604050505020304" pitchFamily="18" charset="0"/>
              </a:rPr>
              <a:t>iv) These reasons called for energy-efficient technologies that- tend to decrease the overall energy consumption in terms of computation, communications and storage.</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862437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5985-390C-59D6-6D98-F236D0F12A0C}"/>
              </a:ext>
            </a:extLst>
          </p:cNvPr>
          <p:cNvSpPr>
            <a:spLocks noGrp="1"/>
          </p:cNvSpPr>
          <p:nvPr>
            <p:ph type="title"/>
          </p:nvPr>
        </p:nvSpPr>
        <p:spPr>
          <a:xfrm>
            <a:off x="0" y="-98323"/>
            <a:ext cx="8596668" cy="688258"/>
          </a:xfrm>
        </p:spPr>
        <p:txBody>
          <a:bodyPr>
            <a:normAutofit fontScale="90000"/>
          </a:bodyPr>
          <a:lstStyle/>
          <a:p>
            <a:pPr marL="571500" indent="-571500">
              <a:buFont typeface="Wingdings" panose="05000000000000000000" pitchFamily="2" charset="2"/>
              <a:buChar char="v"/>
            </a:pPr>
            <a:r>
              <a:rPr lang="en-US" sz="4900" u="sng" dirty="0">
                <a:solidFill>
                  <a:srgbClr val="0070C0"/>
                </a:solidFill>
                <a:latin typeface="Algerian" panose="04020705040A02060702" pitchFamily="82" charset="0"/>
              </a:rPr>
              <a:t>Cloud platform</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811BDEB7-3544-7EF7-E192-063E5E35B1EB}"/>
              </a:ext>
            </a:extLst>
          </p:cNvPr>
          <p:cNvSpPr>
            <a:spLocks noGrp="1"/>
          </p:cNvSpPr>
          <p:nvPr>
            <p:ph type="body" idx="1"/>
          </p:nvPr>
        </p:nvSpPr>
        <p:spPr>
          <a:xfrm>
            <a:off x="0" y="658761"/>
            <a:ext cx="10196052" cy="6681020"/>
          </a:xfrm>
        </p:spPr>
        <p:txBody>
          <a:bodyPr>
            <a:normAutofit/>
          </a:bodyPr>
          <a:lstStyle/>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A cloud platform is a set of hardware and software resources provided over the internet that allows individuals and organizations to build, deploy, and manage applications without needing to maintain physical infrastructure.</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It provides a virtual environment where developers can use computing power, storage, networking, databases, and development tools on-demand.</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A cloud platform is like a virtual computer and development environment on the internet where you can run apps, store data, and use services without buying and maintaining your own servers</a:t>
            </a:r>
            <a:r>
              <a:rPr lang="en-US" sz="2000" b="1" dirty="0">
                <a:latin typeface="Century Schoolbook" panose="02040604050505020304" pitchFamily="18" charset="0"/>
              </a:rPr>
              <a:t>.</a:t>
            </a:r>
          </a:p>
          <a:p>
            <a:pPr marL="285750" indent="-285750">
              <a:buClr>
                <a:schemeClr val="tx1"/>
              </a:buClr>
              <a:buFont typeface="Wingdings" panose="05000000000000000000" pitchFamily="2" charset="2"/>
              <a:buChar char="Ø"/>
            </a:pPr>
            <a:r>
              <a:rPr lang="en-IN" sz="2400" b="1" dirty="0">
                <a:latin typeface="Century Schoolbook" panose="02040604050505020304" pitchFamily="18" charset="0"/>
              </a:rPr>
              <a:t>Types of Cloud Platforms : -</a:t>
            </a:r>
          </a:p>
          <a:p>
            <a:r>
              <a:rPr lang="en-IN" sz="2400" b="1" dirty="0">
                <a:solidFill>
                  <a:srgbClr val="0070C0"/>
                </a:solidFill>
                <a:latin typeface="Century Schoolbook" panose="02040604050505020304" pitchFamily="18" charset="0"/>
              </a:rPr>
              <a:t>i) </a:t>
            </a:r>
            <a:r>
              <a:rPr lang="en-IN" sz="2400" b="1" u="sng" dirty="0">
                <a:solidFill>
                  <a:srgbClr val="0070C0"/>
                </a:solidFill>
                <a:latin typeface="Century Schoolbook" panose="02040604050505020304" pitchFamily="18" charset="0"/>
              </a:rPr>
              <a:t>IaaS (Infrastructure as a Service)</a:t>
            </a:r>
            <a:r>
              <a:rPr lang="en-IN" b="1" dirty="0">
                <a:latin typeface="Century Schoolbook" panose="02040604050505020304" pitchFamily="18" charset="0"/>
              </a:rPr>
              <a:t> – </a:t>
            </a:r>
            <a:r>
              <a:rPr lang="en-IN" b="1" dirty="0">
                <a:solidFill>
                  <a:schemeClr val="tx1"/>
                </a:solidFill>
                <a:latin typeface="Century Schoolbook" panose="02040604050505020304" pitchFamily="18" charset="0"/>
              </a:rPr>
              <a:t>Provides virtualized computing resources (e.g., Amazon Web Services EC2, Google Compute Engine).</a:t>
            </a:r>
          </a:p>
          <a:p>
            <a:r>
              <a:rPr lang="en-IN" sz="2400" b="1" dirty="0">
                <a:solidFill>
                  <a:srgbClr val="0070C0"/>
                </a:solidFill>
                <a:latin typeface="Century Schoolbook" panose="02040604050505020304" pitchFamily="18" charset="0"/>
              </a:rPr>
              <a:t>ii) </a:t>
            </a:r>
            <a:r>
              <a:rPr lang="en-IN" sz="2400" b="1" u="sng" dirty="0">
                <a:solidFill>
                  <a:srgbClr val="0070C0"/>
                </a:solidFill>
                <a:latin typeface="Century Schoolbook" panose="02040604050505020304" pitchFamily="18" charset="0"/>
              </a:rPr>
              <a:t>PaaS (Platform as a Service)</a:t>
            </a:r>
            <a:r>
              <a:rPr lang="en-IN" b="1" dirty="0">
                <a:latin typeface="Century Schoolbook" panose="02040604050505020304" pitchFamily="18" charset="0"/>
              </a:rPr>
              <a:t> – </a:t>
            </a:r>
            <a:r>
              <a:rPr lang="en-IN" b="1" dirty="0">
                <a:solidFill>
                  <a:schemeClr val="tx1"/>
                </a:solidFill>
                <a:latin typeface="Century Schoolbook" panose="02040604050505020304" pitchFamily="18" charset="0"/>
              </a:rPr>
              <a:t>Provides a complete development and deployment environment (e.g., Google App Engine, Microsoft Azure).</a:t>
            </a:r>
          </a:p>
          <a:p>
            <a:r>
              <a:rPr lang="en-IN" sz="2400" b="1" dirty="0">
                <a:solidFill>
                  <a:srgbClr val="0070C0"/>
                </a:solidFill>
                <a:latin typeface="Century Schoolbook" panose="02040604050505020304" pitchFamily="18" charset="0"/>
              </a:rPr>
              <a:t>iii) </a:t>
            </a:r>
            <a:r>
              <a:rPr lang="en-IN" sz="2400" b="1" u="sng" dirty="0">
                <a:solidFill>
                  <a:srgbClr val="0070C0"/>
                </a:solidFill>
                <a:latin typeface="Century Schoolbook" panose="02040604050505020304" pitchFamily="18" charset="0"/>
              </a:rPr>
              <a:t>SaaS (Software as a Service)</a:t>
            </a:r>
            <a:r>
              <a:rPr lang="en-IN" sz="2400" b="1" dirty="0">
                <a:solidFill>
                  <a:srgbClr val="0070C0"/>
                </a:solidFill>
                <a:latin typeface="Century Schoolbook" panose="02040604050505020304" pitchFamily="18" charset="0"/>
              </a:rPr>
              <a:t> </a:t>
            </a:r>
            <a:r>
              <a:rPr lang="en-IN" b="1" dirty="0">
                <a:latin typeface="Century Schoolbook" panose="02040604050505020304" pitchFamily="18" charset="0"/>
              </a:rPr>
              <a:t>– </a:t>
            </a:r>
            <a:r>
              <a:rPr lang="en-IN" b="1" dirty="0">
                <a:solidFill>
                  <a:schemeClr val="tx1"/>
                </a:solidFill>
                <a:latin typeface="Century Schoolbook" panose="02040604050505020304" pitchFamily="18" charset="0"/>
              </a:rPr>
              <a:t>Provides ready-to-use software over the internet (e.g., Gmail, Dropbox)</a:t>
            </a:r>
          </a:p>
          <a:p>
            <a:endParaRPr lang="en-US" dirty="0"/>
          </a:p>
          <a:p>
            <a:endParaRPr lang="en-IN" dirty="0"/>
          </a:p>
        </p:txBody>
      </p:sp>
    </p:spTree>
    <p:extLst>
      <p:ext uri="{BB962C8B-B14F-4D97-AF65-F5344CB8AC3E}">
        <p14:creationId xmlns:p14="http://schemas.microsoft.com/office/powerpoint/2010/main" val="376454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8011D-74C6-B624-ABBA-7E776618B070}"/>
              </a:ext>
            </a:extLst>
          </p:cNvPr>
          <p:cNvSpPr>
            <a:spLocks noGrp="1"/>
          </p:cNvSpPr>
          <p:nvPr>
            <p:ph type="title"/>
          </p:nvPr>
        </p:nvSpPr>
        <p:spPr>
          <a:xfrm>
            <a:off x="0" y="0"/>
            <a:ext cx="9274003" cy="825910"/>
          </a:xfrm>
        </p:spPr>
        <p:txBody>
          <a:bodyPr/>
          <a:lstStyle/>
          <a:p>
            <a:r>
              <a:rPr lang="en-US" dirty="0">
                <a:solidFill>
                  <a:srgbClr val="0070C0"/>
                </a:solidFill>
                <a:latin typeface="Algerian" panose="04020705040A02060702" pitchFamily="82" charset="0"/>
              </a:rPr>
              <a:t>1. </a:t>
            </a:r>
            <a:r>
              <a:rPr lang="en-US" u="sng" dirty="0">
                <a:solidFill>
                  <a:srgbClr val="0070C0"/>
                </a:solidFill>
                <a:latin typeface="Algerian" panose="04020705040A02060702" pitchFamily="82" charset="0"/>
              </a:rPr>
              <a:t>Amazon ec2</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1EB9C9B5-444D-5545-D980-DD231358C828}"/>
              </a:ext>
            </a:extLst>
          </p:cNvPr>
          <p:cNvSpPr>
            <a:spLocks noGrp="1"/>
          </p:cNvSpPr>
          <p:nvPr>
            <p:ph type="body" idx="1"/>
          </p:nvPr>
        </p:nvSpPr>
        <p:spPr>
          <a:xfrm>
            <a:off x="0" y="580104"/>
            <a:ext cx="10235381" cy="6277896"/>
          </a:xfrm>
        </p:spPr>
        <p:txBody>
          <a:bodyPr>
            <a:normAutofit fontScale="92500" lnSpcReduction="10000"/>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Amazon Elastic compute cloud (EC2) is a web service that provides resizable compute capacity in the cloud.</a:t>
            </a:r>
          </a:p>
          <a:p>
            <a:r>
              <a:rPr lang="en-US" sz="2400" b="1" dirty="0">
                <a:solidFill>
                  <a:schemeClr val="tx1"/>
                </a:solidFill>
                <a:latin typeface="Century Schoolbook" panose="02040604050505020304" pitchFamily="18" charset="0"/>
              </a:rPr>
              <a:t>ii) It is designed to make web-scale cloud computing easier for developers.</a:t>
            </a:r>
          </a:p>
          <a:p>
            <a:r>
              <a:rPr lang="en-US" sz="2400" b="1" dirty="0">
                <a:solidFill>
                  <a:schemeClr val="tx1"/>
                </a:solidFill>
                <a:latin typeface="Century Schoolbook" panose="02040604050505020304" pitchFamily="18" charset="0"/>
              </a:rPr>
              <a:t>iii) Amazon EC2 enables you to increase or decrease capacity within minutes.</a:t>
            </a:r>
          </a:p>
          <a:p>
            <a:r>
              <a:rPr lang="en-US" sz="2400" b="1" dirty="0">
                <a:solidFill>
                  <a:schemeClr val="tx1"/>
                </a:solidFill>
                <a:latin typeface="Century Schoolbook" panose="02040604050505020304" pitchFamily="18" charset="0"/>
              </a:rPr>
              <a:t>iv) The Amazon EC2 allows business subscribers to run application programs in the Amazon.com computing environment. </a:t>
            </a:r>
          </a:p>
          <a:p>
            <a:r>
              <a:rPr lang="en-US" sz="2400" b="1" dirty="0">
                <a:solidFill>
                  <a:schemeClr val="tx1"/>
                </a:solidFill>
                <a:latin typeface="Century Schoolbook" panose="02040604050505020304" pitchFamily="18" charset="0"/>
              </a:rPr>
              <a:t>v) The EC2 can serve as a practically unlimited set of virtual </a:t>
            </a:r>
            <a:r>
              <a:rPr lang="en-US" sz="2400" b="1" dirty="0" err="1">
                <a:solidFill>
                  <a:schemeClr val="tx1"/>
                </a:solidFill>
                <a:latin typeface="Century Schoolbook" panose="02040604050505020304" pitchFamily="18" charset="0"/>
              </a:rPr>
              <a:t>machienes</a:t>
            </a:r>
            <a:r>
              <a:rPr lang="en-US" sz="2400" b="1" dirty="0">
                <a:solidFill>
                  <a:schemeClr val="tx1"/>
                </a:solidFill>
                <a:latin typeface="Century Schoolbook" panose="02040604050505020304" pitchFamily="18" charset="0"/>
              </a:rPr>
              <a:t>.</a:t>
            </a:r>
          </a:p>
          <a:p>
            <a:br>
              <a:rPr lang="en-US" sz="2400" b="1" dirty="0">
                <a:latin typeface="Century Schoolbook" panose="02040604050505020304" pitchFamily="18" charset="0"/>
              </a:rPr>
            </a:br>
            <a:r>
              <a:rPr lang="en-US" sz="2400" b="1" u="sng" dirty="0">
                <a:solidFill>
                  <a:srgbClr val="0070C0"/>
                </a:solidFill>
                <a:latin typeface="Century Schoolbook" panose="02040604050505020304" pitchFamily="18" charset="0"/>
              </a:rPr>
              <a:t>Advantages of Amazon EC2</a:t>
            </a:r>
            <a:r>
              <a:rPr lang="en-US" sz="2400" b="1" dirty="0">
                <a:solidFill>
                  <a:srgbClr val="0070C0"/>
                </a:solidFill>
                <a:latin typeface="Century Schoolbook" panose="02040604050505020304" pitchFamily="18" charset="0"/>
              </a:rPr>
              <a:t> : -</a:t>
            </a:r>
          </a:p>
          <a:p>
            <a:r>
              <a:rPr lang="en-US" sz="2400" b="1" dirty="0">
                <a:solidFill>
                  <a:schemeClr val="tx1"/>
                </a:solidFill>
                <a:latin typeface="Century Schoolbook" panose="02040604050505020304" pitchFamily="18" charset="0"/>
              </a:rPr>
              <a:t>1. Elastic Web- </a:t>
            </a:r>
            <a:r>
              <a:rPr lang="en-US" sz="2400" b="1" dirty="0" err="1">
                <a:solidFill>
                  <a:schemeClr val="tx1"/>
                </a:solidFill>
                <a:latin typeface="Century Schoolbook" panose="02040604050505020304" pitchFamily="18" charset="0"/>
              </a:rPr>
              <a:t>Scable</a:t>
            </a:r>
            <a:r>
              <a:rPr lang="en-US" sz="2400" b="1" dirty="0">
                <a:solidFill>
                  <a:schemeClr val="tx1"/>
                </a:solidFill>
                <a:latin typeface="Century Schoolbook" panose="02040604050505020304" pitchFamily="18" charset="0"/>
              </a:rPr>
              <a:t> computing.</a:t>
            </a:r>
          </a:p>
          <a:p>
            <a:r>
              <a:rPr lang="en-US" sz="2400" b="1" dirty="0">
                <a:solidFill>
                  <a:schemeClr val="tx1"/>
                </a:solidFill>
                <a:latin typeface="Century Schoolbook" panose="02040604050505020304" pitchFamily="18" charset="0"/>
              </a:rPr>
              <a:t>2. completely Controlled.</a:t>
            </a:r>
          </a:p>
          <a:p>
            <a:r>
              <a:rPr lang="en-US" sz="2400" b="1" dirty="0">
                <a:solidFill>
                  <a:schemeClr val="tx1"/>
                </a:solidFill>
                <a:latin typeface="Century Schoolbook" panose="02040604050505020304" pitchFamily="18" charset="0"/>
              </a:rPr>
              <a:t>3. Flexible Cloud Hosting Services.</a:t>
            </a:r>
          </a:p>
          <a:p>
            <a:r>
              <a:rPr lang="en-US" sz="2400" b="1" dirty="0">
                <a:solidFill>
                  <a:schemeClr val="tx1"/>
                </a:solidFill>
                <a:latin typeface="Century Schoolbook" panose="02040604050505020304" pitchFamily="18" charset="0"/>
              </a:rPr>
              <a:t>4.Integrated and secure is late1364.</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21295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F52AE-FCF7-776D-C4F4-E41D56D3985A}"/>
              </a:ext>
            </a:extLst>
          </p:cNvPr>
          <p:cNvSpPr>
            <a:spLocks noGrp="1"/>
          </p:cNvSpPr>
          <p:nvPr>
            <p:ph type="title"/>
          </p:nvPr>
        </p:nvSpPr>
        <p:spPr>
          <a:xfrm>
            <a:off x="0" y="-88490"/>
            <a:ext cx="8596668" cy="786581"/>
          </a:xfrm>
        </p:spPr>
        <p:txBody>
          <a:bodyPr/>
          <a:lstStyle/>
          <a:p>
            <a:r>
              <a:rPr lang="en-US" dirty="0">
                <a:solidFill>
                  <a:srgbClr val="0070C0"/>
                </a:solidFill>
                <a:latin typeface="Algerian" panose="04020705040A02060702" pitchFamily="82" charset="0"/>
              </a:rPr>
              <a:t>2. </a:t>
            </a:r>
            <a:r>
              <a:rPr lang="en-US" u="sng" dirty="0">
                <a:solidFill>
                  <a:srgbClr val="0070C0"/>
                </a:solidFill>
                <a:latin typeface="Algerian" panose="04020705040A02060702" pitchFamily="82" charset="0"/>
              </a:rPr>
              <a:t>Amazon S3</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3D6F17EC-CA5E-2796-DA64-AE18BB526A58}"/>
              </a:ext>
            </a:extLst>
          </p:cNvPr>
          <p:cNvSpPr>
            <a:spLocks noGrp="1"/>
          </p:cNvSpPr>
          <p:nvPr>
            <p:ph type="body" idx="1"/>
          </p:nvPr>
        </p:nvSpPr>
        <p:spPr>
          <a:xfrm>
            <a:off x="0" y="609600"/>
            <a:ext cx="9704439" cy="5201265"/>
          </a:xfrm>
        </p:spPr>
        <p:txBody>
          <a:bodyPr>
            <a:normAutofit/>
          </a:bodyPr>
          <a:lstStyle/>
          <a:p>
            <a:pPr>
              <a:buClr>
                <a:schemeClr val="tx1"/>
              </a:buClr>
            </a:pPr>
            <a:r>
              <a:rPr lang="en-US" sz="2000" b="1" dirty="0" err="1">
                <a:solidFill>
                  <a:schemeClr val="tx1"/>
                </a:solidFill>
                <a:latin typeface="Century Schoolbook" panose="02040604050505020304" pitchFamily="18" charset="0"/>
              </a:rPr>
              <a:t>i</a:t>
            </a:r>
            <a:r>
              <a:rPr lang="en-US" sz="2000" b="1" dirty="0">
                <a:solidFill>
                  <a:schemeClr val="tx1"/>
                </a:solidFill>
                <a:latin typeface="Century Schoolbook" panose="02040604050505020304" pitchFamily="18" charset="0"/>
              </a:rPr>
              <a:t>) Amazon simple storage service (53) allows you to store data objects ranging in size from 1 byte </a:t>
            </a:r>
            <a:r>
              <a:rPr lang="en-US" sz="2000" b="1" dirty="0" err="1">
                <a:solidFill>
                  <a:schemeClr val="tx1"/>
                </a:solidFill>
                <a:latin typeface="Century Schoolbook" panose="02040604050505020304" pitchFamily="18" charset="0"/>
              </a:rPr>
              <a:t>upto</a:t>
            </a:r>
            <a:r>
              <a:rPr lang="en-US" sz="2000" b="1" dirty="0">
                <a:solidFill>
                  <a:schemeClr val="tx1"/>
                </a:solidFill>
                <a:latin typeface="Century Schoolbook" panose="02040604050505020304" pitchFamily="18" charset="0"/>
              </a:rPr>
              <a:t> 5TB.</a:t>
            </a:r>
          </a:p>
          <a:p>
            <a:pPr>
              <a:buClr>
                <a:schemeClr val="tx1"/>
              </a:buClr>
            </a:pPr>
            <a:r>
              <a:rPr lang="en-US" sz="2000" b="1" dirty="0">
                <a:solidFill>
                  <a:schemeClr val="tx1"/>
                </a:solidFill>
                <a:latin typeface="Century Schoolbook" panose="02040604050505020304" pitchFamily="18" charset="0"/>
              </a:rPr>
              <a:t>ii) In $3, storage containers are </a:t>
            </a:r>
            <a:r>
              <a:rPr lang="en-US" sz="2000" b="1" dirty="0" err="1">
                <a:solidFill>
                  <a:schemeClr val="tx1"/>
                </a:solidFill>
                <a:latin typeface="Century Schoolbook" panose="02040604050505020304" pitchFamily="18" charset="0"/>
              </a:rPr>
              <a:t>refferred</a:t>
            </a:r>
            <a:r>
              <a:rPr lang="en-US" sz="2000" b="1" dirty="0">
                <a:solidFill>
                  <a:schemeClr val="tx1"/>
                </a:solidFill>
                <a:latin typeface="Century Schoolbook" panose="02040604050505020304" pitchFamily="18" charset="0"/>
              </a:rPr>
              <a:t> to as buckets, and buckets serve the function of a directory.</a:t>
            </a:r>
          </a:p>
          <a:p>
            <a:pPr>
              <a:buClr>
                <a:schemeClr val="tx1"/>
              </a:buClr>
            </a:pPr>
            <a:r>
              <a:rPr lang="en-US" sz="2000" b="1" dirty="0">
                <a:solidFill>
                  <a:schemeClr val="tx1"/>
                </a:solidFill>
                <a:latin typeface="Century Schoolbook" panose="02040604050505020304" pitchFamily="18" charset="0"/>
              </a:rPr>
              <a:t>iii) It is important that you do not associate the concept of a file system with 53, </a:t>
            </a:r>
            <a:r>
              <a:rPr lang="en-US" sz="2000" b="1" dirty="0" err="1">
                <a:solidFill>
                  <a:schemeClr val="tx1"/>
                </a:solidFill>
                <a:latin typeface="Century Schoolbook" panose="02040604050505020304" pitchFamily="18" charset="0"/>
              </a:rPr>
              <a:t>beccause</a:t>
            </a:r>
            <a:r>
              <a:rPr lang="en-US" sz="2000" b="1" dirty="0">
                <a:solidFill>
                  <a:schemeClr val="tx1"/>
                </a:solidFill>
                <a:latin typeface="Century Schoolbook" panose="02040604050505020304" pitchFamily="18" charset="0"/>
              </a:rPr>
              <a:t> files are not supported; only objects are stored.</a:t>
            </a:r>
          </a:p>
          <a:p>
            <a:pPr>
              <a:buClr>
                <a:schemeClr val="tx1"/>
              </a:buClr>
            </a:pPr>
            <a:r>
              <a:rPr lang="en-US" sz="2000" b="1" dirty="0">
                <a:solidFill>
                  <a:schemeClr val="tx1"/>
                </a:solidFill>
                <a:latin typeface="Century Schoolbook" panose="02040604050505020304" pitchFamily="18" charset="0"/>
              </a:rPr>
              <a:t>iv) 53's performance limits its use to non-operational functions such as data archiving and retrieval or disk backup.</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a:t>
            </a:r>
            <a:br>
              <a:rPr lang="en-US" sz="2000" b="1" dirty="0">
                <a:solidFill>
                  <a:schemeClr val="tx1"/>
                </a:solidFill>
                <a:latin typeface="Century Schoolbook" panose="02040604050505020304" pitchFamily="18" charset="0"/>
              </a:rPr>
            </a:br>
            <a:r>
              <a:rPr lang="en-US" sz="2400" b="1" u="sng" dirty="0">
                <a:solidFill>
                  <a:srgbClr val="0070C0"/>
                </a:solidFill>
                <a:latin typeface="Century Schoolbook" panose="02040604050505020304" pitchFamily="18" charset="0"/>
              </a:rPr>
              <a:t>Advantages of Amazon S3</a:t>
            </a:r>
            <a:r>
              <a:rPr lang="en-US" sz="2400" b="1" dirty="0">
                <a:solidFill>
                  <a:srgbClr val="0070C0"/>
                </a:solidFill>
                <a:latin typeface="Century Schoolbook" panose="02040604050505020304" pitchFamily="18" charset="0"/>
              </a:rPr>
              <a:t> : -</a:t>
            </a:r>
            <a:br>
              <a:rPr lang="en-US" sz="2400" b="1" dirty="0">
                <a:latin typeface="Century Schoolbook" panose="02040604050505020304" pitchFamily="18" charset="0"/>
              </a:rPr>
            </a:br>
            <a:r>
              <a:rPr lang="en-US" sz="2000" b="1" dirty="0">
                <a:solidFill>
                  <a:schemeClr val="tx1"/>
                </a:solidFill>
                <a:latin typeface="Century Schoolbook" panose="02040604050505020304" pitchFamily="18" charset="0"/>
              </a:rPr>
              <a:t>1. Low cost and Easy to use.</a:t>
            </a:r>
          </a:p>
          <a:p>
            <a:pPr>
              <a:buClr>
                <a:schemeClr val="tx1"/>
              </a:buClr>
            </a:pPr>
            <a:r>
              <a:rPr lang="en-US" sz="2000" b="1" dirty="0">
                <a:solidFill>
                  <a:schemeClr val="tx1"/>
                </a:solidFill>
                <a:latin typeface="Century Schoolbook" panose="02040604050505020304" pitchFamily="18" charset="0"/>
              </a:rPr>
              <a:t>2. Integrated with AWS services.</a:t>
            </a:r>
          </a:p>
          <a:p>
            <a:pPr>
              <a:buClr>
                <a:schemeClr val="tx1"/>
              </a:buClr>
            </a:pPr>
            <a:r>
              <a:rPr lang="en-US" sz="2000" b="1" dirty="0">
                <a:solidFill>
                  <a:schemeClr val="tx1"/>
                </a:solidFill>
                <a:latin typeface="Century Schoolbook" panose="02040604050505020304" pitchFamily="18" charset="0"/>
              </a:rPr>
              <a:t>3. Secure and scalable.</a:t>
            </a:r>
          </a:p>
          <a:p>
            <a:pPr>
              <a:buClr>
                <a:schemeClr val="tx1"/>
              </a:buClr>
            </a:pPr>
            <a:r>
              <a:rPr lang="en-US" sz="2000" b="1" dirty="0">
                <a:solidFill>
                  <a:schemeClr val="tx1"/>
                </a:solidFill>
                <a:latin typeface="Century Schoolbook" panose="02040604050505020304" pitchFamily="18" charset="0"/>
              </a:rPr>
              <a:t>4. Higher Performance.</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3282504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B6D4E-92B2-D24E-10BD-C415A6FC6606}"/>
              </a:ext>
            </a:extLst>
          </p:cNvPr>
          <p:cNvSpPr>
            <a:spLocks noGrp="1"/>
          </p:cNvSpPr>
          <p:nvPr>
            <p:ph type="title"/>
          </p:nvPr>
        </p:nvSpPr>
        <p:spPr>
          <a:xfrm>
            <a:off x="0" y="0"/>
            <a:ext cx="8596668" cy="648929"/>
          </a:xfrm>
        </p:spPr>
        <p:txBody>
          <a:bodyPr>
            <a:noAutofit/>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Microsoft azure</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B82D2881-766B-9778-4E9F-5539F4F1C97D}"/>
              </a:ext>
            </a:extLst>
          </p:cNvPr>
          <p:cNvSpPr>
            <a:spLocks noGrp="1"/>
          </p:cNvSpPr>
          <p:nvPr>
            <p:ph type="body" idx="1"/>
          </p:nvPr>
        </p:nvSpPr>
        <p:spPr>
          <a:xfrm>
            <a:off x="108156" y="570271"/>
            <a:ext cx="9497962" cy="5437239"/>
          </a:xfrm>
        </p:spPr>
        <p:txBody>
          <a:bodyPr>
            <a:noAutofit/>
          </a:bodyPr>
          <a:lstStyle/>
          <a:p>
            <a:r>
              <a:rPr lang="en-US" sz="2000" b="1" dirty="0" err="1">
                <a:solidFill>
                  <a:schemeClr val="tx1"/>
                </a:solidFill>
                <a:latin typeface="Century Schoolbook" panose="02040604050505020304" pitchFamily="18" charset="0"/>
              </a:rPr>
              <a:t>i</a:t>
            </a:r>
            <a:r>
              <a:rPr lang="en-US" sz="2000" b="1" dirty="0">
                <a:solidFill>
                  <a:schemeClr val="tx1"/>
                </a:solidFill>
                <a:latin typeface="Century Schoolbook" panose="02040604050505020304" pitchFamily="18" charset="0"/>
              </a:rPr>
              <a:t>) Microsoft Windows Azure is a cloud operating system, provides an OS called Windows Azure that serves as a runtime for the applications.</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ii) It provides a set of services that allows development, management, and hosting of managed applications at Microsoft data centers.</a:t>
            </a:r>
          </a:p>
          <a:p>
            <a:pPr marL="342900" indent="-342900">
              <a:buClr>
                <a:schemeClr val="tx1"/>
              </a:buClr>
              <a:buFont typeface="Wingdings" panose="05000000000000000000" pitchFamily="2" charset="2"/>
              <a:buChar char="Ø"/>
            </a:pPr>
            <a:r>
              <a:rPr lang="en-US" sz="2400" b="1" u="sng" dirty="0">
                <a:solidFill>
                  <a:schemeClr val="tx1"/>
                </a:solidFill>
                <a:latin typeface="Century Schoolbook" panose="02040604050505020304" pitchFamily="18" charset="0"/>
              </a:rPr>
              <a:t>The Platform includes the following services</a:t>
            </a:r>
            <a:r>
              <a:rPr lang="en-US" sz="2400" b="1" dirty="0">
                <a:solidFill>
                  <a:schemeClr val="tx1"/>
                </a:solidFill>
                <a:latin typeface="Century Schoolbook" panose="02040604050505020304" pitchFamily="18" charset="0"/>
              </a:rPr>
              <a:t> : -</a:t>
            </a:r>
            <a:br>
              <a:rPr lang="en-US" sz="2400" b="1" dirty="0">
                <a:solidFill>
                  <a:schemeClr val="tx1"/>
                </a:solidFill>
                <a:latin typeface="Century Schoolbook" panose="02040604050505020304" pitchFamily="18" charset="0"/>
              </a:rPr>
            </a:br>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NET Services</a:t>
            </a:r>
            <a:r>
              <a:rPr lang="en-US" sz="2400" b="1" dirty="0">
                <a:solidFill>
                  <a:srgbClr val="0070C0"/>
                </a:solidFill>
                <a:latin typeface="Century Schoolbook" panose="02040604050505020304" pitchFamily="18" charset="0"/>
              </a:rPr>
              <a:t> : -</a:t>
            </a:r>
            <a:r>
              <a:rPr lang="en-US" sz="2400" b="1" dirty="0">
                <a:latin typeface="Century Schoolbook" panose="02040604050505020304" pitchFamily="18" charset="0"/>
              </a:rPr>
              <a:t> </a:t>
            </a:r>
            <a:r>
              <a:rPr lang="en-US" sz="2000" b="1" dirty="0">
                <a:solidFill>
                  <a:schemeClr val="tx1"/>
                </a:solidFill>
                <a:latin typeface="Century Schoolbook" panose="02040604050505020304" pitchFamily="18" charset="0"/>
              </a:rPr>
              <a:t>A set of develop oy-oriented services that provide basic pieces required by many cloud-based </a:t>
            </a:r>
            <a:r>
              <a:rPr lang="en-US" sz="2000" b="1" dirty="0" err="1">
                <a:solidFill>
                  <a:schemeClr val="tx1"/>
                </a:solidFill>
                <a:latin typeface="Century Schoolbook" panose="02040604050505020304" pitchFamily="18" charset="0"/>
              </a:rPr>
              <a:t>appli</a:t>
            </a:r>
            <a:r>
              <a:rPr lang="en-US" sz="2000" b="1" dirty="0">
                <a:solidFill>
                  <a:schemeClr val="tx1"/>
                </a:solidFill>
                <a:latin typeface="Century Schoolbook" panose="02040604050505020304" pitchFamily="18" charset="0"/>
              </a:rPr>
              <a:t>- cations (access control, service bus, </a:t>
            </a:r>
            <a:r>
              <a:rPr lang="en-US" sz="2000" b="1" dirty="0" err="1">
                <a:solidFill>
                  <a:schemeClr val="tx1"/>
                </a:solidFill>
                <a:latin typeface="Century Schoolbook" panose="02040604050505020304" pitchFamily="18" charset="0"/>
              </a:rPr>
              <a:t>worklow</a:t>
            </a:r>
            <a:r>
              <a:rPr lang="en-US" sz="2000" b="1" dirty="0">
                <a:solidFill>
                  <a:schemeClr val="tx1"/>
                </a:solidFill>
                <a:latin typeface="Century Schoolbook" panose="02040604050505020304" pitchFamily="18" charset="0"/>
              </a:rPr>
              <a:t>, </a:t>
            </a:r>
            <a:r>
              <a:rPr lang="en-US" sz="2000" b="1" dirty="0" err="1">
                <a:solidFill>
                  <a:schemeClr val="tx1"/>
                </a:solidFill>
                <a:latin typeface="Century Schoolbook" panose="02040604050505020304" pitchFamily="18" charset="0"/>
              </a:rPr>
              <a:t>etc</a:t>
            </a:r>
            <a:r>
              <a:rPr lang="en-US" sz="2000" b="1" dirty="0">
                <a:solidFill>
                  <a:schemeClr val="tx1"/>
                </a:solidFill>
                <a:latin typeface="Century Schoolbook" panose="02040604050505020304" pitchFamily="18" charset="0"/>
              </a:rPr>
              <a:t>).</a:t>
            </a:r>
            <a:br>
              <a:rPr lang="en-US" sz="2400" b="1" dirty="0">
                <a:latin typeface="Century Schoolbook" panose="02040604050505020304" pitchFamily="18" charset="0"/>
              </a:rPr>
            </a:br>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SQL services</a:t>
            </a:r>
            <a:r>
              <a:rPr lang="en-US" sz="2400" b="1" dirty="0">
                <a:solidFill>
                  <a:srgbClr val="0070C0"/>
                </a:solidFill>
                <a:latin typeface="Century Schoolbook" panose="02040604050505020304" pitchFamily="18" charset="0"/>
              </a:rPr>
              <a:t> : - </a:t>
            </a:r>
            <a:r>
              <a:rPr lang="en-US" sz="2000" b="1" dirty="0">
                <a:solidFill>
                  <a:schemeClr val="tx1"/>
                </a:solidFill>
                <a:latin typeface="Century Schoolbook" panose="02040604050505020304" pitchFamily="18" charset="0"/>
              </a:rPr>
              <a:t>A set of services that extend the capabilities dah of Microsoft SQL server into the cloud as a web-based, distributed relational database.</a:t>
            </a:r>
            <a:br>
              <a:rPr lang="en-US" sz="2000" b="1" dirty="0">
                <a:solidFill>
                  <a:schemeClr val="tx1"/>
                </a:solidFill>
                <a:latin typeface="Century Schoolbook" panose="02040604050505020304" pitchFamily="18" charset="0"/>
              </a:rPr>
            </a:br>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Live services</a:t>
            </a:r>
            <a:r>
              <a:rPr lang="en-US" sz="2400" b="1" dirty="0">
                <a:solidFill>
                  <a:srgbClr val="0070C0"/>
                </a:solidFill>
                <a:latin typeface="Century Schoolbook" panose="02040604050505020304" pitchFamily="18" charset="0"/>
              </a:rPr>
              <a:t> : - </a:t>
            </a:r>
            <a:r>
              <a:rPr lang="en-US" sz="2000" b="1" dirty="0">
                <a:solidFill>
                  <a:schemeClr val="tx1"/>
                </a:solidFill>
                <a:latin typeface="Century Schoolbook" panose="02040604050505020304" pitchFamily="18" charset="0"/>
              </a:rPr>
              <a:t>A set of services that provide developers the ability to connect their applications to Windows Live users. In addition, Live Services let users log in using Live ID, access and share </a:t>
            </a:r>
            <a:r>
              <a:rPr lang="en-US" sz="2000" b="1" dirty="0" err="1">
                <a:solidFill>
                  <a:schemeClr val="tx1"/>
                </a:solidFill>
                <a:latin typeface="Century Schoolbook" panose="02040604050505020304" pitchFamily="18" charset="0"/>
              </a:rPr>
              <a:t>contacs</a:t>
            </a:r>
            <a:r>
              <a:rPr lang="en-US" sz="2000" b="1" dirty="0">
                <a:solidFill>
                  <a:schemeClr val="tx1"/>
                </a:solidFill>
                <a:latin typeface="Century Schoolbook" panose="02040604050505020304" pitchFamily="18" charset="0"/>
              </a:rPr>
              <a:t>, feed content into windows Live, etc.</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555490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F9A0-7656-2FFA-881A-581B643202F3}"/>
              </a:ext>
            </a:extLst>
          </p:cNvPr>
          <p:cNvSpPr>
            <a:spLocks noGrp="1"/>
          </p:cNvSpPr>
          <p:nvPr>
            <p:ph type="title"/>
          </p:nvPr>
        </p:nvSpPr>
        <p:spPr>
          <a:xfrm>
            <a:off x="0" y="-68826"/>
            <a:ext cx="8596668" cy="816077"/>
          </a:xfrm>
        </p:spPr>
        <p:txBody>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Cloud stack</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FE6824F7-5DA7-5BA3-AF15-6C4C691F09CA}"/>
              </a:ext>
            </a:extLst>
          </p:cNvPr>
          <p:cNvSpPr>
            <a:spLocks noGrp="1"/>
          </p:cNvSpPr>
          <p:nvPr>
            <p:ph type="body" idx="1"/>
          </p:nvPr>
        </p:nvSpPr>
        <p:spPr>
          <a:xfrm>
            <a:off x="0" y="511277"/>
            <a:ext cx="11031794" cy="5496233"/>
          </a:xfrm>
        </p:spPr>
        <p:txBody>
          <a:bodyPr>
            <a:norm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Apache Cloud Stack is an open source Infrastructure-as-a- Service platform that manages pools of storage, network and computer resources to build a public or private </a:t>
            </a:r>
            <a:r>
              <a:rPr lang="en-US" sz="2400" b="1" dirty="0" err="1">
                <a:solidFill>
                  <a:schemeClr val="tx1"/>
                </a:solidFill>
                <a:latin typeface="Century Schoolbook" panose="02040604050505020304" pitchFamily="18" charset="0"/>
              </a:rPr>
              <a:t>Jaas</a:t>
            </a:r>
            <a:r>
              <a:rPr lang="en-US" sz="2400" b="1" dirty="0">
                <a:solidFill>
                  <a:schemeClr val="tx1"/>
                </a:solidFill>
                <a:latin typeface="Century Schoolbook" panose="02040604050505020304" pitchFamily="18" charset="0"/>
              </a:rPr>
              <a:t> compute cloud.</a:t>
            </a:r>
          </a:p>
          <a:p>
            <a:r>
              <a:rPr lang="en-US" sz="2400" b="1" dirty="0">
                <a:solidFill>
                  <a:schemeClr val="tx1"/>
                </a:solidFill>
                <a:latin typeface="Century Schoolbook" panose="02040604050505020304" pitchFamily="18" charset="0"/>
              </a:rPr>
              <a:t>ii) cloud stack uses existing hypervisors to facilitate cloud handling.</a:t>
            </a:r>
          </a:p>
          <a:p>
            <a:r>
              <a:rPr lang="en-US" sz="2400" b="1" dirty="0">
                <a:solidFill>
                  <a:schemeClr val="tx1"/>
                </a:solidFill>
                <a:latin typeface="Century Schoolbook" panose="02040604050505020304" pitchFamily="18" charset="0"/>
              </a:rPr>
              <a:t>iii) It helps developers create multi-tenant, versatile cloud services and scale cloud projects.</a:t>
            </a:r>
          </a:p>
          <a:p>
            <a:r>
              <a:rPr lang="en-US" sz="2400" b="1" dirty="0">
                <a:solidFill>
                  <a:schemeClr val="tx1"/>
                </a:solidFill>
                <a:latin typeface="Century Schoolbook" panose="02040604050505020304" pitchFamily="18" charset="0"/>
              </a:rPr>
              <a:t>iv) Cloud stack was once owned by Cloud.com, which released most of the program as freeware. </a:t>
            </a:r>
            <a:br>
              <a:rPr lang="en-US" sz="2000" b="1" dirty="0">
                <a:solidFill>
                  <a:schemeClr val="tx1"/>
                </a:solidFill>
                <a:latin typeface="Century Schoolbook" panose="02040604050505020304" pitchFamily="18" charset="0"/>
              </a:rPr>
            </a:br>
            <a:r>
              <a:rPr lang="en-US" sz="2800" b="1" u="sng" dirty="0">
                <a:solidFill>
                  <a:srgbClr val="0070C0"/>
                </a:solidFill>
                <a:latin typeface="Century Schoolbook" panose="02040604050505020304" pitchFamily="18" charset="0"/>
              </a:rPr>
              <a:t>Advantages of cloud stack</a:t>
            </a:r>
            <a:r>
              <a:rPr lang="en-US" sz="2800" b="1" dirty="0">
                <a:solidFill>
                  <a:srgbClr val="0070C0"/>
                </a:solidFill>
                <a:latin typeface="Century Schoolbook" panose="02040604050505020304" pitchFamily="18" charset="0"/>
              </a:rPr>
              <a:t> : -</a:t>
            </a:r>
            <a:br>
              <a:rPr lang="en-US" sz="2000" b="1" dirty="0">
                <a:solidFill>
                  <a:srgbClr val="0070C0"/>
                </a:solidFill>
                <a:latin typeface="Century Schoolbook" panose="02040604050505020304" pitchFamily="18" charset="0"/>
              </a:rPr>
            </a:br>
            <a:r>
              <a:rPr lang="en-US" sz="2400" b="1" dirty="0">
                <a:solidFill>
                  <a:schemeClr val="tx1"/>
                </a:solidFill>
                <a:latin typeface="Century Schoolbook" panose="02040604050505020304" pitchFamily="18" charset="0"/>
              </a:rPr>
              <a:t>1. Hypervisor Agnostic.</a:t>
            </a:r>
            <a:br>
              <a:rPr lang="en-US" sz="2400" b="1" dirty="0">
                <a:solidFill>
                  <a:schemeClr val="tx1"/>
                </a:solidFill>
                <a:latin typeface="Century Schoolbook" panose="02040604050505020304" pitchFamily="18" charset="0"/>
              </a:rPr>
            </a:br>
            <a:r>
              <a:rPr lang="en-US" sz="2400" b="1" dirty="0">
                <a:solidFill>
                  <a:schemeClr val="tx1"/>
                </a:solidFill>
                <a:latin typeface="Century Schoolbook" panose="02040604050505020304" pitchFamily="18" charset="0"/>
              </a:rPr>
              <a:t>2. Powerful API.</a:t>
            </a:r>
            <a:br>
              <a:rPr lang="en-US" sz="2400" b="1" dirty="0">
                <a:solidFill>
                  <a:schemeClr val="tx1"/>
                </a:solidFill>
                <a:latin typeface="Century Schoolbook" panose="02040604050505020304" pitchFamily="18" charset="0"/>
              </a:rPr>
            </a:br>
            <a:r>
              <a:rPr lang="en-US" sz="2400" b="1" dirty="0">
                <a:solidFill>
                  <a:schemeClr val="tx1"/>
                </a:solidFill>
                <a:latin typeface="Century Schoolbook" panose="02040604050505020304" pitchFamily="18" charset="0"/>
              </a:rPr>
              <a:t>3. Quality services.</a:t>
            </a:r>
            <a:br>
              <a:rPr lang="en-US" sz="2400" b="1" dirty="0">
                <a:solidFill>
                  <a:schemeClr val="tx1"/>
                </a:solidFill>
                <a:latin typeface="Century Schoolbook" panose="02040604050505020304" pitchFamily="18" charset="0"/>
              </a:rPr>
            </a:br>
            <a:r>
              <a:rPr lang="en-US" sz="2400" b="1" dirty="0">
                <a:solidFill>
                  <a:schemeClr val="tx1"/>
                </a:solidFill>
                <a:latin typeface="Century Schoolbook" panose="02040604050505020304" pitchFamily="18" charset="0"/>
              </a:rPr>
              <a:t>4. An Array of Administrative Capabilities</a:t>
            </a:r>
            <a:r>
              <a:rPr lang="en-US" sz="2000" b="1" dirty="0">
                <a:solidFill>
                  <a:schemeClr val="tx1"/>
                </a:solidFill>
                <a:latin typeface="Century Schoolbook" panose="02040604050505020304" pitchFamily="18" charset="0"/>
              </a:rPr>
              <a:t>.</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602848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0938D-BBD8-B0F2-167E-1BB6FB330455}"/>
              </a:ext>
            </a:extLst>
          </p:cNvPr>
          <p:cNvSpPr>
            <a:spLocks noGrp="1"/>
          </p:cNvSpPr>
          <p:nvPr>
            <p:ph type="title"/>
          </p:nvPr>
        </p:nvSpPr>
        <p:spPr>
          <a:xfrm>
            <a:off x="0" y="0"/>
            <a:ext cx="8596668" cy="698090"/>
          </a:xfrm>
        </p:spPr>
        <p:txBody>
          <a:bodyPr>
            <a:noAutofit/>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Inter cloud</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D33FFA8D-71E8-487E-8C82-7ECC01D68672}"/>
              </a:ext>
            </a:extLst>
          </p:cNvPr>
          <p:cNvSpPr>
            <a:spLocks noGrp="1"/>
          </p:cNvSpPr>
          <p:nvPr>
            <p:ph type="body" idx="1"/>
          </p:nvPr>
        </p:nvSpPr>
        <p:spPr>
          <a:xfrm>
            <a:off x="0" y="349045"/>
            <a:ext cx="9586452" cy="6159910"/>
          </a:xfrm>
        </p:spPr>
        <p:txBody>
          <a:bodyPr>
            <a:normAutofit/>
          </a:bodyPr>
          <a:lstStyle/>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Inter cloud is a network of clouds that are linked with each other. This includes private, public, and hybrid clouds that come together to provide a seamless exchange of data.</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Concept of Intercloud was introduced as a research project in 2008 at Cisco, which was later developed by IEEE.</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Inter cloud platform provides end-to-end private connectivity for cloud applications.</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Most Intercloud platforms provide the pay-per-use service flexibility, giving clients the opportunity to manage costs.</a:t>
            </a:r>
          </a:p>
          <a:p>
            <a:pPr marL="285750" indent="-285750">
              <a:buClr>
                <a:schemeClr val="tx1"/>
              </a:buClr>
              <a:buFont typeface="Wingdings" panose="05000000000000000000" pitchFamily="2" charset="2"/>
              <a:buChar char="Ø"/>
            </a:pPr>
            <a:r>
              <a:rPr lang="en-US" sz="2400" b="1" u="sng" dirty="0">
                <a:solidFill>
                  <a:srgbClr val="0070C0"/>
                </a:solidFill>
                <a:latin typeface="Century Schoolbook" panose="02040604050505020304" pitchFamily="18" charset="0"/>
              </a:rPr>
              <a:t>Advantages of Inter cloud</a:t>
            </a:r>
            <a:r>
              <a:rPr lang="en-US" sz="2400" b="1" dirty="0">
                <a:solidFill>
                  <a:srgbClr val="0070C0"/>
                </a:solidFill>
                <a:latin typeface="Century Schoolbook" panose="02040604050505020304" pitchFamily="18" charset="0"/>
              </a:rPr>
              <a:t> : -</a:t>
            </a:r>
          </a:p>
          <a:p>
            <a:pPr>
              <a:buClr>
                <a:schemeClr val="tx1"/>
              </a:buClr>
            </a:pPr>
            <a:r>
              <a:rPr lang="en-US" sz="2000" b="1" dirty="0">
                <a:solidFill>
                  <a:schemeClr val="tx1"/>
                </a:solidFill>
                <a:latin typeface="Century Schoolbook" panose="02040604050505020304" pitchFamily="18" charset="0"/>
              </a:rPr>
              <a:t>1. Avoiding vendor lock-in to the cloud client.</a:t>
            </a:r>
          </a:p>
          <a:p>
            <a:pPr>
              <a:buClr>
                <a:schemeClr val="tx1"/>
              </a:buClr>
            </a:pPr>
            <a:r>
              <a:rPr lang="en-US" sz="2000" b="1" dirty="0">
                <a:solidFill>
                  <a:schemeClr val="tx1"/>
                </a:solidFill>
                <a:latin typeface="Century Schoolbook" panose="02040604050505020304" pitchFamily="18" charset="0"/>
              </a:rPr>
              <a:t>2. Access to variety of geographical locations.</a:t>
            </a:r>
          </a:p>
          <a:p>
            <a:pPr>
              <a:buClr>
                <a:schemeClr val="tx1"/>
              </a:buClr>
            </a:pPr>
            <a:r>
              <a:rPr lang="en-US" sz="2000" b="1" dirty="0">
                <a:solidFill>
                  <a:schemeClr val="tx1"/>
                </a:solidFill>
                <a:latin typeface="Century Schoolbook" panose="02040604050505020304" pitchFamily="18" charset="0"/>
              </a:rPr>
              <a:t>3. Better SLAs to the cloud client.</a:t>
            </a:r>
          </a:p>
          <a:p>
            <a:pPr>
              <a:buClr>
                <a:schemeClr val="tx1"/>
              </a:buClr>
            </a:pPr>
            <a:r>
              <a:rPr lang="en-US" sz="2000" b="1" dirty="0">
                <a:solidFill>
                  <a:schemeClr val="tx1"/>
                </a:solidFill>
                <a:latin typeface="Century Schoolbook" panose="02040604050505020304" pitchFamily="18" charset="0"/>
              </a:rPr>
              <a:t>4. Expand-on-demand.</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640738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50ED-64CF-53FE-2BDE-B969A3FD945D}"/>
              </a:ext>
            </a:extLst>
          </p:cNvPr>
          <p:cNvSpPr>
            <a:spLocks noGrp="1"/>
          </p:cNvSpPr>
          <p:nvPr>
            <p:ph type="title"/>
          </p:nvPr>
        </p:nvSpPr>
        <p:spPr>
          <a:xfrm>
            <a:off x="0" y="0"/>
            <a:ext cx="8596668" cy="668594"/>
          </a:xfrm>
        </p:spPr>
        <p:txBody>
          <a:bodyPr>
            <a:normAutofit fontScale="90000"/>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Google app engine</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D688D775-9AC5-CA3C-D787-CA51183B1546}"/>
              </a:ext>
            </a:extLst>
          </p:cNvPr>
          <p:cNvSpPr>
            <a:spLocks noGrp="1"/>
          </p:cNvSpPr>
          <p:nvPr>
            <p:ph type="body" idx="1"/>
          </p:nvPr>
        </p:nvSpPr>
        <p:spPr>
          <a:xfrm>
            <a:off x="0" y="432620"/>
            <a:ext cx="9773265" cy="6189406"/>
          </a:xfrm>
        </p:spPr>
        <p:txBody>
          <a:bodyPr>
            <a:normAutofit/>
          </a:bodyPr>
          <a:lstStyle/>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Google App Engine is a </a:t>
            </a:r>
            <a:r>
              <a:rPr lang="en-US" sz="2000" b="1" dirty="0" err="1">
                <a:solidFill>
                  <a:schemeClr val="tx1"/>
                </a:solidFill>
                <a:latin typeface="Century Schoolbook" panose="02040604050505020304" pitchFamily="18" charset="0"/>
              </a:rPr>
              <a:t>Paas</a:t>
            </a:r>
            <a:r>
              <a:rPr lang="en-US" sz="2000" b="1" dirty="0">
                <a:solidFill>
                  <a:schemeClr val="tx1"/>
                </a:solidFill>
                <a:latin typeface="Century Schoolbook" panose="02040604050505020304" pitchFamily="18" charset="0"/>
              </a:rPr>
              <a:t> implementation that provides services for developing and hosting scalable web applications.</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It is often </a:t>
            </a:r>
            <a:r>
              <a:rPr lang="en-US" sz="2000" b="1" dirty="0" err="1">
                <a:solidFill>
                  <a:schemeClr val="tx1"/>
                </a:solidFill>
                <a:latin typeface="Century Schoolbook" panose="02040604050505020304" pitchFamily="18" charset="0"/>
              </a:rPr>
              <a:t>reffered</a:t>
            </a:r>
            <a:r>
              <a:rPr lang="en-US" sz="2000" b="1" dirty="0">
                <a:solidFill>
                  <a:schemeClr val="tx1"/>
                </a:solidFill>
                <a:latin typeface="Century Schoolbook" panose="02040604050505020304" pitchFamily="18" charset="0"/>
              </a:rPr>
              <a:t> as GAE or simply App Engine, allows developers to design and implement applications that naturally scale on App Engine.</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Developers can develop applications in Java, Python and Go, a new programming language developed by google to simplify the development of web applications.</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Programming languages are supported on current Google App Engine are: Go, PHP, Java, Python, NodeJS, NET, Ruby, Custom Runtime.</a:t>
            </a:r>
            <a:endParaRPr lang="en-US" b="1" dirty="0">
              <a:solidFill>
                <a:schemeClr val="tx1"/>
              </a:solidFill>
              <a:latin typeface="Century Schoolbook" panose="02040604050505020304" pitchFamily="18" charset="0"/>
            </a:endParaRPr>
          </a:p>
          <a:p>
            <a:pPr marL="285750" indent="-285750">
              <a:buClr>
                <a:schemeClr val="tx1"/>
              </a:buClr>
              <a:buFont typeface="Wingdings" panose="05000000000000000000" pitchFamily="2" charset="2"/>
              <a:buChar char="Ø"/>
            </a:pPr>
            <a:r>
              <a:rPr lang="en-US" sz="2400" b="1" u="sng" dirty="0">
                <a:solidFill>
                  <a:srgbClr val="0070C0"/>
                </a:solidFill>
                <a:latin typeface="Century Schoolbook" panose="02040604050505020304" pitchFamily="18" charset="0"/>
              </a:rPr>
              <a:t>Advantages of google app engine </a:t>
            </a:r>
            <a:r>
              <a:rPr lang="en-US" b="1" dirty="0">
                <a:solidFill>
                  <a:srgbClr val="0070C0"/>
                </a:solidFill>
                <a:latin typeface="Century Schoolbook" panose="02040604050505020304" pitchFamily="18" charset="0"/>
              </a:rPr>
              <a:t>: -</a:t>
            </a:r>
          </a:p>
          <a:p>
            <a:pPr>
              <a:buClr>
                <a:schemeClr val="tx1"/>
              </a:buClr>
            </a:pPr>
            <a:r>
              <a:rPr lang="en-US" sz="2000" b="1" dirty="0">
                <a:solidFill>
                  <a:schemeClr val="tx1"/>
                </a:solidFill>
                <a:latin typeface="Century Schoolbook" panose="02040604050505020304" pitchFamily="18" charset="0"/>
              </a:rPr>
              <a:t>1. No need to buy servers &amp; server space (No Maintenance).</a:t>
            </a:r>
          </a:p>
          <a:p>
            <a:pPr>
              <a:buClr>
                <a:schemeClr val="tx1"/>
              </a:buClr>
            </a:pPr>
            <a:r>
              <a:rPr lang="en-US" sz="2000" b="1" dirty="0">
                <a:solidFill>
                  <a:schemeClr val="tx1"/>
                </a:solidFill>
                <a:latin typeface="Century Schoolbook" panose="02040604050505020304" pitchFamily="18" charset="0"/>
              </a:rPr>
              <a:t>2. Makes solving the problem of scaling easier.</a:t>
            </a:r>
          </a:p>
          <a:p>
            <a:pPr>
              <a:buClr>
                <a:schemeClr val="tx1"/>
              </a:buClr>
            </a:pPr>
            <a:r>
              <a:rPr lang="en-US" sz="2000" b="1" dirty="0">
                <a:solidFill>
                  <a:schemeClr val="tx1"/>
                </a:solidFill>
                <a:latin typeface="Century Schoolbook" panose="02040604050505020304" pitchFamily="18" charset="0"/>
              </a:rPr>
              <a:t>3. Access to google infrastructure.</a:t>
            </a:r>
          </a:p>
          <a:p>
            <a:pPr>
              <a:buClr>
                <a:schemeClr val="tx1"/>
              </a:buClr>
            </a:pPr>
            <a:r>
              <a:rPr lang="en-US" sz="2000" b="1" dirty="0">
                <a:solidFill>
                  <a:schemeClr val="tx1"/>
                </a:solidFill>
                <a:latin typeface="Century Schoolbook" panose="02040604050505020304" pitchFamily="18" charset="0"/>
              </a:rPr>
              <a:t>4. Nice option for start-ups/ individuals.</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288671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ACCA-4DB1-E16E-D511-DE388E861000}"/>
              </a:ext>
            </a:extLst>
          </p:cNvPr>
          <p:cNvSpPr>
            <a:spLocks noGrp="1"/>
          </p:cNvSpPr>
          <p:nvPr>
            <p:ph type="title"/>
          </p:nvPr>
        </p:nvSpPr>
        <p:spPr>
          <a:xfrm>
            <a:off x="0" y="0"/>
            <a:ext cx="10461523" cy="688258"/>
          </a:xfrm>
        </p:spPr>
        <p:txBody>
          <a:bodyPr>
            <a:normAutofit fontScale="90000"/>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Open source cloud eucalyptus</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CCA84B7A-E354-BD80-51C0-C464317720A4}"/>
              </a:ext>
            </a:extLst>
          </p:cNvPr>
          <p:cNvSpPr>
            <a:spLocks noGrp="1"/>
          </p:cNvSpPr>
          <p:nvPr>
            <p:ph type="body" idx="1"/>
          </p:nvPr>
        </p:nvSpPr>
        <p:spPr>
          <a:xfrm>
            <a:off x="78658" y="580102"/>
            <a:ext cx="9655277" cy="5432322"/>
          </a:xfrm>
        </p:spPr>
        <p:txBody>
          <a:bodyPr>
            <a:normAutofit fontScale="92500" lnSpcReduction="10000"/>
          </a:bodyPr>
          <a:lstStyle/>
          <a:p>
            <a:pPr marL="342900" indent="-342900">
              <a:buClr>
                <a:schemeClr val="tx1"/>
              </a:buClr>
              <a:buFont typeface="Wingdings" panose="05000000000000000000" pitchFamily="2" charset="2"/>
              <a:buChar char="Ø"/>
            </a:pPr>
            <a:r>
              <a:rPr lang="en-IN" sz="2400" b="1" dirty="0">
                <a:solidFill>
                  <a:schemeClr val="tx1"/>
                </a:solidFill>
                <a:latin typeface="Century Schoolbook" panose="02040604050505020304" pitchFamily="18" charset="0"/>
              </a:rPr>
              <a:t>Eucalyptus is open source software for building AWS-compatible private and hybrid clouds.</a:t>
            </a:r>
          </a:p>
          <a:p>
            <a:pPr marL="342900" indent="-342900">
              <a:buClr>
                <a:schemeClr val="tx1"/>
              </a:buClr>
              <a:buFont typeface="Wingdings" panose="05000000000000000000" pitchFamily="2" charset="2"/>
              <a:buChar char="Ø"/>
            </a:pPr>
            <a:r>
              <a:rPr lang="en-IN" sz="2400" b="1" dirty="0">
                <a:solidFill>
                  <a:schemeClr val="tx1"/>
                </a:solidFill>
                <a:latin typeface="Century Schoolbook" panose="02040604050505020304" pitchFamily="18" charset="0"/>
              </a:rPr>
              <a:t>As an </a:t>
            </a:r>
            <a:r>
              <a:rPr lang="en-IN" sz="2400" b="1" dirty="0" err="1">
                <a:solidFill>
                  <a:schemeClr val="tx1"/>
                </a:solidFill>
                <a:latin typeface="Century Schoolbook" panose="02040604050505020304" pitchFamily="18" charset="0"/>
              </a:rPr>
              <a:t>Iaas</a:t>
            </a:r>
            <a:r>
              <a:rPr lang="en-IN" sz="2400" b="1" dirty="0">
                <a:solidFill>
                  <a:schemeClr val="tx1"/>
                </a:solidFill>
                <a:latin typeface="Century Schoolbook" panose="02040604050505020304" pitchFamily="18" charset="0"/>
              </a:rPr>
              <a:t> product, Eucalyptus allows your users to provision your compute and storage resources on-demand.</a:t>
            </a:r>
          </a:p>
          <a:p>
            <a:pPr marL="342900" indent="-342900">
              <a:buClr>
                <a:schemeClr val="tx1"/>
              </a:buClr>
              <a:buFont typeface="Wingdings" panose="05000000000000000000" pitchFamily="2" charset="2"/>
              <a:buChar char="Ø"/>
            </a:pPr>
            <a:r>
              <a:rPr lang="en-IN" sz="2400" b="1" dirty="0">
                <a:solidFill>
                  <a:schemeClr val="tx1"/>
                </a:solidFill>
                <a:latin typeface="Century Schoolbook" panose="02040604050505020304" pitchFamily="18" charset="0"/>
              </a:rPr>
              <a:t>Eucalyptus pools together existing virtualized framework to</a:t>
            </a:r>
            <a:br>
              <a:rPr lang="en-IN" sz="2400" b="1" dirty="0">
                <a:solidFill>
                  <a:schemeClr val="tx1"/>
                </a:solidFill>
                <a:latin typeface="Century Schoolbook" panose="02040604050505020304" pitchFamily="18" charset="0"/>
              </a:rPr>
            </a:br>
            <a:r>
              <a:rPr lang="en-IN" sz="2400" b="1" dirty="0">
                <a:solidFill>
                  <a:schemeClr val="tx1"/>
                </a:solidFill>
                <a:latin typeface="Century Schoolbook" panose="02040604050505020304" pitchFamily="18" charset="0"/>
              </a:rPr>
              <a:t>make cloud resources for Saas, Naas and </a:t>
            </a:r>
            <a:r>
              <a:rPr lang="en-IN" sz="2400" b="1" dirty="0" err="1">
                <a:solidFill>
                  <a:schemeClr val="tx1"/>
                </a:solidFill>
                <a:latin typeface="Century Schoolbook" panose="02040604050505020304" pitchFamily="18" charset="0"/>
              </a:rPr>
              <a:t>Iaas</a:t>
            </a:r>
            <a:r>
              <a:rPr lang="en-IN" sz="2400" b="1" dirty="0">
                <a:solidFill>
                  <a:schemeClr val="tx1"/>
                </a:solidFill>
                <a:latin typeface="Century Schoolbook" panose="02040604050505020304" pitchFamily="18" charset="0"/>
              </a:rPr>
              <a:t>.</a:t>
            </a:r>
          </a:p>
          <a:p>
            <a:pPr marL="342900" indent="-342900">
              <a:buClr>
                <a:schemeClr val="tx1"/>
              </a:buClr>
              <a:buFont typeface="Wingdings" panose="05000000000000000000" pitchFamily="2" charset="2"/>
              <a:buChar char="Ø"/>
            </a:pPr>
            <a:r>
              <a:rPr lang="en-IN" sz="2400" b="1" dirty="0">
                <a:solidFill>
                  <a:schemeClr val="tx1"/>
                </a:solidFill>
                <a:latin typeface="Century Schoolbook" panose="02040604050505020304" pitchFamily="18" charset="0"/>
              </a:rPr>
              <a:t>Elastic Utility Computing Architecture for Linking Your Programs To Useful systems is short known as Eucalyptus in cloud computing.</a:t>
            </a:r>
          </a:p>
          <a:p>
            <a:pPr marL="342900" indent="-342900">
              <a:buClr>
                <a:schemeClr val="tx1"/>
              </a:buClr>
              <a:buFont typeface="Wingdings" panose="05000000000000000000" pitchFamily="2" charset="2"/>
              <a:buChar char="Ø"/>
            </a:pPr>
            <a:r>
              <a:rPr lang="en-IN" sz="2800" b="1" u="sng" dirty="0">
                <a:solidFill>
                  <a:srgbClr val="0070C0"/>
                </a:solidFill>
                <a:latin typeface="Century Schoolbook" panose="02040604050505020304" pitchFamily="18" charset="0"/>
              </a:rPr>
              <a:t>Advantages of Eucalyptus</a:t>
            </a:r>
            <a:r>
              <a:rPr lang="en-IN" sz="2800" b="1" dirty="0">
                <a:solidFill>
                  <a:srgbClr val="0070C0"/>
                </a:solidFill>
                <a:latin typeface="Century Schoolbook" panose="02040604050505020304" pitchFamily="18" charset="0"/>
              </a:rPr>
              <a:t> : -</a:t>
            </a:r>
            <a:endParaRPr lang="en-US" sz="2800" b="1" dirty="0">
              <a:solidFill>
                <a:srgbClr val="0070C0"/>
              </a:solidFill>
              <a:latin typeface="Century Schoolbook" panose="02040604050505020304" pitchFamily="18" charset="0"/>
            </a:endParaRPr>
          </a:p>
          <a:p>
            <a:pPr>
              <a:buClr>
                <a:schemeClr val="tx1"/>
              </a:buClr>
            </a:pPr>
            <a:r>
              <a:rPr lang="az-Cyrl-AZ" sz="2200" b="1" dirty="0">
                <a:solidFill>
                  <a:schemeClr val="tx1"/>
                </a:solidFill>
                <a:latin typeface="Century Schoolbook" panose="02040604050505020304" pitchFamily="18" charset="0"/>
              </a:rPr>
              <a:t>1. </a:t>
            </a:r>
            <a:r>
              <a:rPr lang="en-IN" sz="2200" b="1" dirty="0">
                <a:solidFill>
                  <a:schemeClr val="tx1"/>
                </a:solidFill>
                <a:latin typeface="Century Schoolbook" panose="02040604050505020304" pitchFamily="18" charset="0"/>
              </a:rPr>
              <a:t>Interface to the Amazon Web Services (AWS) EC2 public cloud.</a:t>
            </a:r>
          </a:p>
          <a:p>
            <a:pPr>
              <a:buClr>
                <a:schemeClr val="tx1"/>
              </a:buClr>
            </a:pPr>
            <a:r>
              <a:rPr lang="en-IN" sz="2200" b="1" dirty="0">
                <a:solidFill>
                  <a:schemeClr val="tx1"/>
                </a:solidFill>
                <a:latin typeface="Century Schoolbook" panose="02040604050505020304" pitchFamily="18" charset="0"/>
              </a:rPr>
              <a:t>2. Linux-based VM management.</a:t>
            </a:r>
          </a:p>
          <a:p>
            <a:pPr>
              <a:buClr>
                <a:schemeClr val="tx1"/>
              </a:buClr>
            </a:pPr>
            <a:r>
              <a:rPr lang="en-IN" sz="2200" b="1" dirty="0">
                <a:solidFill>
                  <a:schemeClr val="tx1"/>
                </a:solidFill>
                <a:latin typeface="Century Schoolbook" panose="02040604050505020304" pitchFamily="18" charset="0"/>
              </a:rPr>
              <a:t>3. IP Address management.</a:t>
            </a:r>
          </a:p>
          <a:p>
            <a:pPr>
              <a:buClr>
                <a:schemeClr val="tx1"/>
              </a:buClr>
            </a:pPr>
            <a:r>
              <a:rPr lang="en-IN" sz="2200" b="1" dirty="0">
                <a:solidFill>
                  <a:schemeClr val="tx1"/>
                </a:solidFill>
                <a:latin typeface="Century Schoolbook" panose="02040604050505020304" pitchFamily="18" charset="0"/>
              </a:rPr>
              <a:t>4. Multiple clusters can be virtualized as a single cloud.</a:t>
            </a:r>
          </a:p>
        </p:txBody>
      </p:sp>
    </p:spTree>
    <p:extLst>
      <p:ext uri="{BB962C8B-B14F-4D97-AF65-F5344CB8AC3E}">
        <p14:creationId xmlns:p14="http://schemas.microsoft.com/office/powerpoint/2010/main" val="1686492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F2BD-9F30-145E-1167-8425EB50349F}"/>
              </a:ext>
            </a:extLst>
          </p:cNvPr>
          <p:cNvSpPr>
            <a:spLocks noGrp="1"/>
          </p:cNvSpPr>
          <p:nvPr>
            <p:ph type="title"/>
          </p:nvPr>
        </p:nvSpPr>
        <p:spPr>
          <a:xfrm>
            <a:off x="0" y="-78658"/>
            <a:ext cx="8596668" cy="796413"/>
          </a:xfrm>
        </p:spPr>
        <p:txBody>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Open stack</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675F8104-E1C2-33AB-9DE0-B1C079494B0B}"/>
              </a:ext>
            </a:extLst>
          </p:cNvPr>
          <p:cNvSpPr>
            <a:spLocks noGrp="1"/>
          </p:cNvSpPr>
          <p:nvPr>
            <p:ph type="body" idx="1"/>
          </p:nvPr>
        </p:nvSpPr>
        <p:spPr>
          <a:xfrm>
            <a:off x="0" y="550607"/>
            <a:ext cx="9763432" cy="5909187"/>
          </a:xfrm>
        </p:spPr>
        <p:txBody>
          <a:bodyPr>
            <a:normAutofit/>
          </a:bodyPr>
          <a:lstStyle/>
          <a:p>
            <a:pPr marL="342900" indent="-34290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Open stack is a project originally started by NASA and</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Rackspace for delivering a cloud computing &amp; storage platform.</a:t>
            </a:r>
          </a:p>
          <a:p>
            <a:pPr marL="342900" indent="-34290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Today, </a:t>
            </a:r>
            <a:r>
              <a:rPr lang="en-US" sz="2000" b="1" dirty="0" err="1">
                <a:solidFill>
                  <a:schemeClr val="tx1"/>
                </a:solidFill>
                <a:latin typeface="Century Schoolbook" panose="02040604050505020304" pitchFamily="18" charset="0"/>
              </a:rPr>
              <a:t>Openstack</a:t>
            </a:r>
            <a:r>
              <a:rPr lang="en-US" sz="2000" b="1" dirty="0">
                <a:solidFill>
                  <a:schemeClr val="tx1"/>
                </a:solidFill>
                <a:latin typeface="Century Schoolbook" panose="02040604050505020304" pitchFamily="18" charset="0"/>
              </a:rPr>
              <a:t> is a global collaboration of developers and technologists producing an open source cloud computing Platform for public and private clouds.</a:t>
            </a:r>
          </a:p>
          <a:p>
            <a:pPr marL="342900" indent="-342900">
              <a:buClr>
                <a:schemeClr val="tx1"/>
              </a:buClr>
              <a:buFont typeface="Wingdings" panose="05000000000000000000" pitchFamily="2" charset="2"/>
              <a:buChar char="Ø"/>
            </a:pPr>
            <a:r>
              <a:rPr lang="en-US" sz="2000" b="1" dirty="0" err="1">
                <a:solidFill>
                  <a:schemeClr val="tx1"/>
                </a:solidFill>
                <a:latin typeface="Century Schoolbook" panose="02040604050505020304" pitchFamily="18" charset="0"/>
              </a:rPr>
              <a:t>Openstack</a:t>
            </a:r>
            <a:r>
              <a:rPr lang="en-US" sz="2000" b="1" dirty="0">
                <a:solidFill>
                  <a:schemeClr val="tx1"/>
                </a:solidFill>
                <a:latin typeface="Century Schoolbook" panose="02040604050505020304" pitchFamily="18" charset="0"/>
              </a:rPr>
              <a:t> lets users deploy virtual machines and other instances that handle different tasks for managing a cloud environment.</a:t>
            </a:r>
          </a:p>
          <a:p>
            <a:pPr marL="342900" indent="-34290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It is open source software, which means that anyone can access the source code, make any changes or modifications they need, and freely share these changes back out to the community at large.</a:t>
            </a:r>
          </a:p>
          <a:p>
            <a:pPr marL="342900" indent="-342900">
              <a:buClr>
                <a:schemeClr val="tx1"/>
              </a:buClr>
              <a:buFont typeface="Wingdings" panose="05000000000000000000" pitchFamily="2" charset="2"/>
              <a:buChar char="Ø"/>
            </a:pPr>
            <a:r>
              <a:rPr lang="en-US" sz="2800" b="1" u="sng" dirty="0">
                <a:solidFill>
                  <a:srgbClr val="0070C0"/>
                </a:solidFill>
                <a:latin typeface="Century Schoolbook" panose="02040604050505020304" pitchFamily="18" charset="0"/>
              </a:rPr>
              <a:t>Advantages of </a:t>
            </a:r>
            <a:r>
              <a:rPr lang="en-US" sz="2800" b="1" u="sng" dirty="0" err="1">
                <a:solidFill>
                  <a:srgbClr val="0070C0"/>
                </a:solidFill>
                <a:latin typeface="Century Schoolbook" panose="02040604050505020304" pitchFamily="18" charset="0"/>
              </a:rPr>
              <a:t>openstack</a:t>
            </a:r>
            <a:r>
              <a:rPr lang="en-US" sz="2800" b="1" dirty="0">
                <a:solidFill>
                  <a:srgbClr val="0070C0"/>
                </a:solidFill>
                <a:latin typeface="Century Schoolbook" panose="02040604050505020304" pitchFamily="18" charset="0"/>
              </a:rPr>
              <a:t> : -</a:t>
            </a:r>
          </a:p>
          <a:p>
            <a:pPr>
              <a:buClr>
                <a:schemeClr val="tx1"/>
              </a:buClr>
            </a:pPr>
            <a:r>
              <a:rPr lang="en-US" sz="2000" b="1" dirty="0">
                <a:solidFill>
                  <a:schemeClr val="tx1"/>
                </a:solidFill>
                <a:latin typeface="Century Schoolbook" panose="02040604050505020304" pitchFamily="18" charset="0"/>
              </a:rPr>
              <a:t>1. Control and flexibility.</a:t>
            </a:r>
          </a:p>
          <a:p>
            <a:pPr>
              <a:buClr>
                <a:schemeClr val="tx1"/>
              </a:buClr>
            </a:pPr>
            <a:r>
              <a:rPr lang="en-US" sz="2000" b="1" dirty="0">
                <a:solidFill>
                  <a:schemeClr val="tx1"/>
                </a:solidFill>
                <a:latin typeface="Century Schoolbook" panose="02040604050505020304" pitchFamily="18" charset="0"/>
              </a:rPr>
              <a:t>2. Industry standard.</a:t>
            </a:r>
          </a:p>
          <a:p>
            <a:pPr>
              <a:buClr>
                <a:schemeClr val="tx1"/>
              </a:buClr>
            </a:pPr>
            <a:r>
              <a:rPr lang="en-US" sz="2000" b="1" dirty="0">
                <a:solidFill>
                  <a:schemeClr val="tx1"/>
                </a:solidFill>
                <a:latin typeface="Century Schoolbook" panose="02040604050505020304" pitchFamily="18" charset="0"/>
              </a:rPr>
              <a:t>3. Proven Software.</a:t>
            </a:r>
          </a:p>
          <a:p>
            <a:pPr>
              <a:buClr>
                <a:schemeClr val="tx1"/>
              </a:buClr>
            </a:pPr>
            <a:r>
              <a:rPr lang="en-US" sz="2000" b="1" dirty="0">
                <a:solidFill>
                  <a:schemeClr val="tx1"/>
                </a:solidFill>
                <a:latin typeface="Century Schoolbook" panose="02040604050505020304" pitchFamily="18" charset="0"/>
              </a:rPr>
              <a:t>4. Compatible and connected.</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488796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4AFCD-B2E9-B944-C5A4-5F2BFAC36AB9}"/>
              </a:ext>
            </a:extLst>
          </p:cNvPr>
          <p:cNvSpPr>
            <a:spLocks noGrp="1"/>
          </p:cNvSpPr>
          <p:nvPr>
            <p:ph type="title"/>
          </p:nvPr>
        </p:nvSpPr>
        <p:spPr>
          <a:xfrm>
            <a:off x="0" y="-105956"/>
            <a:ext cx="8596668" cy="855406"/>
          </a:xfrm>
        </p:spPr>
        <p:txBody>
          <a:bodyPr/>
          <a:lstStyle/>
          <a:p>
            <a:pPr marL="571500" indent="-571500">
              <a:buFont typeface="Wingdings" panose="05000000000000000000" pitchFamily="2" charset="2"/>
              <a:buChar char="v"/>
            </a:pPr>
            <a:r>
              <a:rPr lang="en-US" u="sng" dirty="0">
                <a:solidFill>
                  <a:srgbClr val="0070C0"/>
                </a:solidFill>
                <a:latin typeface="Algerian" panose="04020705040A02060702" pitchFamily="82" charset="0"/>
              </a:rPr>
              <a:t>Open </a:t>
            </a:r>
            <a:r>
              <a:rPr lang="en-US" u="sng" dirty="0" err="1">
                <a:solidFill>
                  <a:srgbClr val="0070C0"/>
                </a:solidFill>
                <a:latin typeface="Algerian" panose="04020705040A02060702" pitchFamily="82" charset="0"/>
              </a:rPr>
              <a:t>nebulla</a:t>
            </a:r>
            <a:r>
              <a:rPr lang="en-US" dirty="0">
                <a:solidFill>
                  <a:srgbClr val="0070C0"/>
                </a:solidFill>
                <a:latin typeface="Algerian" panose="04020705040A02060702" pitchFamily="82" charset="0"/>
              </a:rPr>
              <a:t> : -</a:t>
            </a:r>
            <a:endParaRPr lang="en-IN" dirty="0">
              <a:solidFill>
                <a:srgbClr val="0070C0"/>
              </a:solidFill>
              <a:latin typeface="Algerian" panose="04020705040A02060702" pitchFamily="82" charset="0"/>
            </a:endParaRPr>
          </a:p>
        </p:txBody>
      </p:sp>
      <p:sp>
        <p:nvSpPr>
          <p:cNvPr id="3" name="Text Placeholder 2">
            <a:extLst>
              <a:ext uri="{FF2B5EF4-FFF2-40B4-BE49-F238E27FC236}">
                <a16:creationId xmlns:a16="http://schemas.microsoft.com/office/drawing/2014/main" id="{2C17A15F-2435-B4A5-F84A-D7BCF8A43E90}"/>
              </a:ext>
            </a:extLst>
          </p:cNvPr>
          <p:cNvSpPr>
            <a:spLocks noGrp="1"/>
          </p:cNvSpPr>
          <p:nvPr>
            <p:ph type="body" idx="1"/>
          </p:nvPr>
        </p:nvSpPr>
        <p:spPr>
          <a:xfrm>
            <a:off x="0" y="14748"/>
            <a:ext cx="9901084" cy="6238568"/>
          </a:xfrm>
        </p:spPr>
        <p:txBody>
          <a:bodyPr>
            <a:normAutofit/>
          </a:bodyPr>
          <a:lstStyle/>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Open </a:t>
            </a:r>
            <a:r>
              <a:rPr lang="en-US" sz="2000" b="1" dirty="0" err="1">
                <a:solidFill>
                  <a:schemeClr val="tx1"/>
                </a:solidFill>
                <a:latin typeface="Century Schoolbook" panose="02040604050505020304" pitchFamily="18" charset="0"/>
              </a:rPr>
              <a:t>Nebulla</a:t>
            </a:r>
            <a:r>
              <a:rPr lang="en-US" sz="2000" b="1" dirty="0">
                <a:solidFill>
                  <a:schemeClr val="tx1"/>
                </a:solidFill>
                <a:latin typeface="Century Schoolbook" panose="02040604050505020304" pitchFamily="18" charset="0"/>
              </a:rPr>
              <a:t> is a cloud computing tool for running various- distributed data center infrastructures.</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The Open </a:t>
            </a:r>
            <a:r>
              <a:rPr lang="en-US" sz="2000" b="1" dirty="0" err="1">
                <a:solidFill>
                  <a:schemeClr val="tx1"/>
                </a:solidFill>
                <a:latin typeface="Century Schoolbook" panose="02040604050505020304" pitchFamily="18" charset="0"/>
              </a:rPr>
              <a:t>Nebulla</a:t>
            </a:r>
            <a:r>
              <a:rPr lang="en-US" sz="2000" b="1" dirty="0">
                <a:solidFill>
                  <a:schemeClr val="tx1"/>
                </a:solidFill>
                <a:latin typeface="Century Schoolbook" panose="02040604050505020304" pitchFamily="18" charset="0"/>
              </a:rPr>
              <a:t> platform manages a data center's virtual- infrastructure to build private, public and hybrid implementations of </a:t>
            </a:r>
            <a:r>
              <a:rPr lang="en-US" sz="2000" b="1" dirty="0" err="1">
                <a:solidFill>
                  <a:schemeClr val="tx1"/>
                </a:solidFill>
                <a:latin typeface="Century Schoolbook" panose="02040604050505020304" pitchFamily="18" charset="0"/>
              </a:rPr>
              <a:t>Iaas</a:t>
            </a:r>
            <a:r>
              <a:rPr lang="en-US" sz="2000" b="1" dirty="0">
                <a:solidFill>
                  <a:schemeClr val="tx1"/>
                </a:solidFill>
                <a:latin typeface="Century Schoolbook" panose="02040604050505020304" pitchFamily="18" charset="0"/>
              </a:rPr>
              <a:t>.</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The two primary uses of open Nebula platform are data center virtualization and cloud deployments based on the KVM hypervisor.</a:t>
            </a:r>
          </a:p>
          <a:p>
            <a:pPr marL="285750" indent="-285750">
              <a:buClr>
                <a:schemeClr val="tx1"/>
              </a:buClr>
              <a:buFont typeface="Wingdings" panose="05000000000000000000" pitchFamily="2" charset="2"/>
              <a:buChar char="Ø"/>
            </a:pPr>
            <a:r>
              <a:rPr lang="en-US" sz="2000" b="1" dirty="0">
                <a:solidFill>
                  <a:schemeClr val="tx1"/>
                </a:solidFill>
                <a:latin typeface="Century Schoolbook" panose="02040604050505020304" pitchFamily="18" charset="0"/>
              </a:rPr>
              <a:t>The platform is also capable of offering the cloud infrastructure necessary to operate a cloud on top of existing VMware infrastructure</a:t>
            </a:r>
            <a:r>
              <a:rPr lang="en-US" b="1" dirty="0">
                <a:solidFill>
                  <a:schemeClr val="tx1"/>
                </a:solidFill>
                <a:latin typeface="Century Schoolbook" panose="02040604050505020304" pitchFamily="18" charset="0"/>
              </a:rPr>
              <a:t>.</a:t>
            </a:r>
          </a:p>
          <a:p>
            <a:pPr marL="285750" indent="-285750">
              <a:buClr>
                <a:schemeClr val="tx1"/>
              </a:buClr>
              <a:buFont typeface="Wingdings" panose="05000000000000000000" pitchFamily="2" charset="2"/>
              <a:buChar char="Ø"/>
            </a:pPr>
            <a:r>
              <a:rPr lang="en-US" sz="2800" b="1" u="sng" dirty="0">
                <a:solidFill>
                  <a:srgbClr val="0070C0"/>
                </a:solidFill>
                <a:latin typeface="Century Schoolbook" panose="02040604050505020304" pitchFamily="18" charset="0"/>
              </a:rPr>
              <a:t>Advantages of Open </a:t>
            </a:r>
            <a:r>
              <a:rPr lang="en-US" sz="2800" b="1" u="sng" dirty="0" err="1">
                <a:solidFill>
                  <a:srgbClr val="0070C0"/>
                </a:solidFill>
                <a:latin typeface="Century Schoolbook" panose="02040604050505020304" pitchFamily="18" charset="0"/>
              </a:rPr>
              <a:t>Nebulla</a:t>
            </a:r>
            <a:r>
              <a:rPr lang="en-US" sz="2800" b="1" dirty="0">
                <a:solidFill>
                  <a:srgbClr val="0070C0"/>
                </a:solidFill>
                <a:latin typeface="Century Schoolbook" panose="02040604050505020304" pitchFamily="18" charset="0"/>
              </a:rPr>
              <a:t> : -</a:t>
            </a:r>
            <a:br>
              <a:rPr lang="en-US" sz="2800" b="1" dirty="0">
                <a:solidFill>
                  <a:srgbClr val="0070C0"/>
                </a:solidFill>
                <a:latin typeface="Century Schoolbook" panose="02040604050505020304" pitchFamily="18" charset="0"/>
              </a:rPr>
            </a:br>
            <a:r>
              <a:rPr lang="en-US" sz="2000" b="1" dirty="0">
                <a:solidFill>
                  <a:schemeClr val="tx1"/>
                </a:solidFill>
                <a:latin typeface="Century Schoolbook" panose="02040604050505020304" pitchFamily="18" charset="0"/>
              </a:rPr>
              <a:t>1. Linux-based controller.</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2. Dynamic resource allocations.</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3. Advance reservation of capacity.</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4. Interface to public clouds.</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582522586"/>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2735</TotalTime>
  <Words>2443</Words>
  <Application>Microsoft Office PowerPoint</Application>
  <PresentationFormat>Widescreen</PresentationFormat>
  <Paragraphs>120</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Algerian</vt:lpstr>
      <vt:lpstr>Arial</vt:lpstr>
      <vt:lpstr>Century Schoolbook</vt:lpstr>
      <vt:lpstr>Trebuchet MS</vt:lpstr>
      <vt:lpstr>Wingdings</vt:lpstr>
      <vt:lpstr>Wingdings 3</vt:lpstr>
      <vt:lpstr>Facet</vt:lpstr>
      <vt:lpstr>06.Trends &amp; future in cloud computing </vt:lpstr>
      <vt:lpstr>Cloud trends in supporting ubiquitous computing : </vt:lpstr>
      <vt:lpstr>PowerPoint Presentation</vt:lpstr>
      <vt:lpstr>PowerPoint Presentation</vt:lpstr>
      <vt:lpstr>PowerPoint Presentation</vt:lpstr>
      <vt:lpstr>Future of cloud-based smart devices : -</vt:lpstr>
      <vt:lpstr>Home based cloud computing : -</vt:lpstr>
      <vt:lpstr>Energy aware cloud computing : -</vt:lpstr>
      <vt:lpstr>Cloud platform : -</vt:lpstr>
      <vt:lpstr>1. Amazon ec2 : -</vt:lpstr>
      <vt:lpstr>2. Amazon S3 : -</vt:lpstr>
      <vt:lpstr>Microsoft azure : -</vt:lpstr>
      <vt:lpstr>Cloud stack : -</vt:lpstr>
      <vt:lpstr>Inter cloud : -</vt:lpstr>
      <vt:lpstr>Google app engine : -</vt:lpstr>
      <vt:lpstr>Open source cloud eucalyptus : -</vt:lpstr>
      <vt:lpstr>Open stack : -</vt:lpstr>
      <vt:lpstr>Open nebulla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4</cp:revision>
  <dcterms:created xsi:type="dcterms:W3CDTF">2025-09-30T14:29:29Z</dcterms:created>
  <dcterms:modified xsi:type="dcterms:W3CDTF">2025-10-31T19:30:30Z</dcterms:modified>
</cp:coreProperties>
</file>