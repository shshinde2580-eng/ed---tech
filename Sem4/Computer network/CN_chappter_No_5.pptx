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delSld">
      <pc:chgData name="shshinde2580@gmail.com" userId="86fdf0c531315612" providerId="LiveId" clId="{80EF1F59-5901-4077-BC9B-DA299863282D}" dt="2025-10-24T06:53:03.899" v="0" actId="2696"/>
      <pc:docMkLst>
        <pc:docMk/>
      </pc:docMkLst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2460283056" sldId="283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32522220" sldId="284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1060642098" sldId="285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869460824" sldId="286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2974825703" sldId="287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3750511928" sldId="288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2587768733" sldId="289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894249083" sldId="290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1528755359" sldId="291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2072250915" sldId="292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3600393493" sldId="293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4226717360" sldId="294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1549006020" sldId="295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1717703605" sldId="296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1006510656" sldId="297"/>
        </pc:sldMkLst>
      </pc:sldChg>
      <pc:sldChg chg="del">
        <pc:chgData name="shshinde2580@gmail.com" userId="86fdf0c531315612" providerId="LiveId" clId="{80EF1F59-5901-4077-BC9B-DA299863282D}" dt="2025-10-24T06:53:03.899" v="0" actId="2696"/>
        <pc:sldMkLst>
          <pc:docMk/>
          <pc:sldMk cId="3492894343" sldId="29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01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240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747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6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96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56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88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68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09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036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6832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106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20541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8780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072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390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C809A-7FF3-4CC9-9284-D9CC2846E46D}" type="datetimeFigureOut">
              <a:rPr lang="en-IN" smtClean="0"/>
              <a:t>24-10-2025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CD14E9B-B6FF-44CD-9FEF-936F40160D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0242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971DC-3B50-37DF-B693-548EDEB6F5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2370" y="2314098"/>
            <a:ext cx="9726804" cy="1646302"/>
          </a:xfrm>
        </p:spPr>
        <p:txBody>
          <a:bodyPr/>
          <a:lstStyle/>
          <a:p>
            <a:pPr algn="ctr"/>
            <a:r>
              <a:rPr lang="en-IN" dirty="0"/>
              <a:t>HTTP and HTTPS </a:t>
            </a:r>
          </a:p>
        </p:txBody>
      </p:sp>
    </p:spTree>
    <p:extLst>
      <p:ext uri="{BB962C8B-B14F-4D97-AF65-F5344CB8AC3E}">
        <p14:creationId xmlns:p14="http://schemas.microsoft.com/office/powerpoint/2010/main" val="3277277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8ADDD7-5FF0-8222-F5CD-3EBDC26B4D27}"/>
              </a:ext>
            </a:extLst>
          </p:cNvPr>
          <p:cNvSpPr txBox="1"/>
          <p:nvPr/>
        </p:nvSpPr>
        <p:spPr>
          <a:xfrm>
            <a:off x="703384" y="153133"/>
            <a:ext cx="879230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5.1 Introduction to Application Layer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Application Layer</a:t>
            </a:r>
            <a:r>
              <a:rPr lang="en-US" dirty="0"/>
              <a:t> is the </a:t>
            </a:r>
            <a:r>
              <a:rPr lang="en-US" b="1" dirty="0"/>
              <a:t>topmost layer</a:t>
            </a:r>
            <a:r>
              <a:rPr lang="en-US" dirty="0"/>
              <a:t> in both the </a:t>
            </a:r>
            <a:r>
              <a:rPr lang="en-US" b="1" dirty="0"/>
              <a:t>OSI</a:t>
            </a:r>
            <a:r>
              <a:rPr lang="en-US" dirty="0"/>
              <a:t> and </a:t>
            </a:r>
            <a:r>
              <a:rPr lang="en-US" b="1" dirty="0"/>
              <a:t>TCP/IP models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provides services directly to the </a:t>
            </a:r>
            <a:r>
              <a:rPr lang="en-US" b="1" dirty="0"/>
              <a:t>end users</a:t>
            </a:r>
            <a:r>
              <a:rPr lang="en-US" dirty="0"/>
              <a:t> or </a:t>
            </a:r>
            <a:r>
              <a:rPr lang="en-US" b="1" dirty="0"/>
              <a:t>application programs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layer enables user interaction with the network — for example, when you send an email, browse a website, or transfer a file.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Functions of Application Layer: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network services to end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in identifying communication partners.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interfaces for user applications (like web browsers, email clients).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various protocols such as </a:t>
            </a:r>
            <a:r>
              <a:rPr lang="en-US" b="1" dirty="0"/>
              <a:t>HTTP, FTP, SMTP, DNS, DHCP, etc.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 browsing → </a:t>
            </a:r>
            <a:r>
              <a:rPr lang="en-US" b="1" dirty="0"/>
              <a:t>HTTP/HTTPS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→ </a:t>
            </a:r>
            <a:r>
              <a:rPr lang="en-US" b="1" dirty="0"/>
              <a:t>SMTP, POP3, IMAP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File transfer → </a:t>
            </a:r>
            <a:r>
              <a:rPr lang="en-US" b="1" dirty="0"/>
              <a:t>FTP, TFTP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Domain name resolution → </a:t>
            </a:r>
            <a:r>
              <a:rPr lang="en-US" b="1" dirty="0"/>
              <a:t>DNS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58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FE2FC-1EB7-B179-1AF9-3B00DC80F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DF0826-EAC4-121A-8B67-9D6036262957}"/>
              </a:ext>
            </a:extLst>
          </p:cNvPr>
          <p:cNvSpPr txBox="1"/>
          <p:nvPr/>
        </p:nvSpPr>
        <p:spPr>
          <a:xfrm>
            <a:off x="834014" y="135213"/>
            <a:ext cx="836273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5.1.1 Client-Server Paradigm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Client-Server Paradigm</a:t>
            </a:r>
            <a:r>
              <a:rPr lang="en-US" dirty="0"/>
              <a:t> is a model where </a:t>
            </a:r>
            <a:r>
              <a:rPr lang="en-US" b="1" dirty="0"/>
              <a:t>clients request services</a:t>
            </a:r>
            <a:r>
              <a:rPr lang="en-US" dirty="0"/>
              <a:t> and </a:t>
            </a:r>
            <a:r>
              <a:rPr lang="en-US" b="1" dirty="0"/>
              <a:t>servers provide them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Key 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client</a:t>
            </a:r>
            <a:r>
              <a:rPr lang="en-US" dirty="0"/>
              <a:t> initiates the communication and sends a request.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server</a:t>
            </a:r>
            <a:r>
              <a:rPr lang="en-US" dirty="0"/>
              <a:t> waits for the client’s request and responds accordingly.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server is usually a powerful system that serves multiple clients.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Examples: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web browser (client) requests a webpage from a web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Email client communicates with a mail server.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Centralized control of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maintenance and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security because data is stored on the server.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overload if too many clients connect.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Server failure can stop all client services.</a:t>
            </a:r>
          </a:p>
        </p:txBody>
      </p:sp>
    </p:spTree>
    <p:extLst>
      <p:ext uri="{BB962C8B-B14F-4D97-AF65-F5344CB8AC3E}">
        <p14:creationId xmlns:p14="http://schemas.microsoft.com/office/powerpoint/2010/main" val="1598808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02924-4109-66A8-8894-CD175F52F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B146C9-C662-E77D-973E-DB03480306AE}"/>
              </a:ext>
            </a:extLst>
          </p:cNvPr>
          <p:cNvSpPr txBox="1"/>
          <p:nvPr/>
        </p:nvSpPr>
        <p:spPr>
          <a:xfrm>
            <a:off x="813916" y="137391"/>
            <a:ext cx="873201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5.1.2 Peer-to-Peer (P2P) Paradigm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In the </a:t>
            </a:r>
            <a:r>
              <a:rPr lang="en-US" b="1" dirty="0"/>
              <a:t>Peer-to-Peer (P2P)</a:t>
            </a:r>
            <a:r>
              <a:rPr lang="en-US" dirty="0"/>
              <a:t> paradigm, </a:t>
            </a:r>
            <a:r>
              <a:rPr lang="en-US" b="1" dirty="0"/>
              <a:t>each device (peer)</a:t>
            </a:r>
            <a:r>
              <a:rPr lang="en-US" dirty="0"/>
              <a:t> acts as both a </a:t>
            </a:r>
            <a:r>
              <a:rPr lang="en-US" b="1" dirty="0"/>
              <a:t>client and a server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There is </a:t>
            </a:r>
            <a:r>
              <a:rPr lang="en-US" b="1" dirty="0"/>
              <a:t>no central server</a:t>
            </a:r>
            <a:r>
              <a:rPr lang="en-US" dirty="0"/>
              <a:t> — all peers share resources directly.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Key 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nodes are equal and can initiate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Resources such as files or bandwidth are shared among peers.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Commonly used for file sharing and distributed systems.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Examples: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Torrent file sharing (BitTorrent).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Blockchain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Skype (earlier versions used P2P).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central server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Scalable and cost-effective.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fault tolerance — if one peer fails, others can still communicate.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Disadvantages: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manage and secure.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Performance depends on peer availability and speed.</a:t>
            </a:r>
          </a:p>
        </p:txBody>
      </p:sp>
    </p:spTree>
    <p:extLst>
      <p:ext uri="{BB962C8B-B14F-4D97-AF65-F5344CB8AC3E}">
        <p14:creationId xmlns:p14="http://schemas.microsoft.com/office/powerpoint/2010/main" val="1307183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2F46-AB78-1F43-6FE2-D9ACBFDE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A9BAAB-3D8F-8143-88C2-0860FE48AD32}"/>
              </a:ext>
            </a:extLst>
          </p:cNvPr>
          <p:cNvSpPr txBox="1"/>
          <p:nvPr/>
        </p:nvSpPr>
        <p:spPr>
          <a:xfrm>
            <a:off x="733530" y="100483"/>
            <a:ext cx="8661679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5.2 World Wide Web Architecture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World Wide Web (WWW)</a:t>
            </a:r>
            <a:r>
              <a:rPr lang="en-US" dirty="0"/>
              <a:t> is a </a:t>
            </a:r>
            <a:r>
              <a:rPr lang="en-US" b="1" dirty="0"/>
              <a:t>system of interlinked documents</a:t>
            </a:r>
            <a:r>
              <a:rPr lang="en-US" dirty="0"/>
              <a:t> and multimedia that can be accessed through the Internet.</a:t>
            </a:r>
            <a:br>
              <a:rPr lang="en-US" dirty="0"/>
            </a:br>
            <a:r>
              <a:rPr lang="en-US" dirty="0"/>
              <a:t>It works on the </a:t>
            </a:r>
            <a:r>
              <a:rPr lang="en-US" b="1" dirty="0"/>
              <a:t>client-server model</a:t>
            </a:r>
            <a:r>
              <a:rPr lang="en-US" dirty="0"/>
              <a:t> where a </a:t>
            </a:r>
            <a:r>
              <a:rPr lang="en-US" b="1" dirty="0"/>
              <a:t>web browser (client)</a:t>
            </a:r>
            <a:r>
              <a:rPr lang="en-US" dirty="0"/>
              <a:t> requests web pages from a </a:t>
            </a:r>
            <a:r>
              <a:rPr lang="en-US" b="1" dirty="0"/>
              <a:t>web server</a:t>
            </a:r>
            <a:r>
              <a:rPr lang="en-US" dirty="0"/>
              <a:t> using the </a:t>
            </a:r>
            <a:r>
              <a:rPr lang="en-US" b="1" dirty="0"/>
              <a:t>HTTP or HTTPS</a:t>
            </a:r>
            <a:r>
              <a:rPr lang="en-US" dirty="0"/>
              <a:t> protocol.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WWW architecture</a:t>
            </a:r>
            <a:r>
              <a:rPr lang="en-US" dirty="0"/>
              <a:t> includes: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Web Clients (Browsers)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Web Servers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Communication Protocols (HTTP/HTTPS)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Resources identified by URLs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Hypertext and Hypermedia Documents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r>
              <a:rPr lang="en-IN" b="1" dirty="0"/>
              <a:t>5.2.1 Hypertext and Hypermedia</a:t>
            </a:r>
          </a:p>
          <a:p>
            <a:endParaRPr lang="en-IN" b="1" dirty="0"/>
          </a:p>
          <a:p>
            <a:r>
              <a:rPr lang="en-IN" b="1" dirty="0"/>
              <a:t>Hypertext: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Hypertext refers to </a:t>
            </a:r>
            <a:r>
              <a:rPr lang="en-IN" b="1" dirty="0"/>
              <a:t>text that contains links (hyperlinks)</a:t>
            </a:r>
            <a:r>
              <a:rPr lang="en-IN" dirty="0"/>
              <a:t> to other documents.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Clicking a hyperlink takes the user to another web page or resource.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It allows </a:t>
            </a:r>
            <a:r>
              <a:rPr lang="en-IN" b="1" dirty="0"/>
              <a:t>non-linear navigation</a:t>
            </a:r>
            <a:r>
              <a:rPr lang="en-IN" dirty="0"/>
              <a:t> between documents.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56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C560-9B35-7F4E-45CC-565D8995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287100-92B0-08EE-3A77-F491E2F8356E}"/>
              </a:ext>
            </a:extLst>
          </p:cNvPr>
          <p:cNvSpPr txBox="1"/>
          <p:nvPr/>
        </p:nvSpPr>
        <p:spPr>
          <a:xfrm>
            <a:off x="813917" y="0"/>
            <a:ext cx="852100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On a Wikipedia page, clicking on a highlighted word opens another related page.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Hypermedia:</a:t>
            </a:r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Hypermedia extends the concept of hypertext by including </a:t>
            </a:r>
            <a:r>
              <a:rPr lang="en-US" b="1" dirty="0"/>
              <a:t>multimedia elements</a:t>
            </a:r>
            <a:r>
              <a:rPr lang="en-US" dirty="0"/>
              <a:t> such as text, images, audio, video, and animations.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makes web content </a:t>
            </a:r>
            <a:r>
              <a:rPr lang="en-US" b="1" dirty="0"/>
              <a:t>more interactive and engaging</a:t>
            </a:r>
            <a:r>
              <a:rPr lang="en-US" dirty="0"/>
              <a:t>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A YouTube page with text description, images, and video.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5.2.2 Web Client (Browser)</a:t>
            </a:r>
          </a:p>
          <a:p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web client</a:t>
            </a:r>
            <a:r>
              <a:rPr lang="en-IN" dirty="0"/>
              <a:t> or </a:t>
            </a:r>
            <a:r>
              <a:rPr lang="en-IN" b="1" dirty="0"/>
              <a:t>browser</a:t>
            </a:r>
            <a:r>
              <a:rPr lang="en-IN" dirty="0"/>
              <a:t> is an application that allows users to access and view web pages.</a:t>
            </a:r>
            <a:br>
              <a:rPr lang="en-IN" dirty="0"/>
            </a:br>
            <a:r>
              <a:rPr lang="en-IN" dirty="0"/>
              <a:t>It sends a </a:t>
            </a:r>
            <a:r>
              <a:rPr lang="en-IN" b="1" dirty="0"/>
              <a:t>request</a:t>
            </a:r>
            <a:r>
              <a:rPr lang="en-IN" dirty="0"/>
              <a:t> to the web server and displays the </a:t>
            </a:r>
            <a:r>
              <a:rPr lang="en-IN" b="1" dirty="0"/>
              <a:t>response</a:t>
            </a:r>
            <a:r>
              <a:rPr lang="en-IN" dirty="0"/>
              <a:t> (web page).</a:t>
            </a:r>
          </a:p>
          <a:p>
            <a:endParaRPr lang="en-IN" dirty="0"/>
          </a:p>
          <a:p>
            <a:r>
              <a:rPr lang="en-IN" b="1" dirty="0"/>
              <a:t>Examples:</a:t>
            </a:r>
            <a:r>
              <a:rPr lang="en-IN" dirty="0"/>
              <a:t> Google Chrome, Mozilla Firefox, Microsoft Edge, Safari</a:t>
            </a:r>
          </a:p>
        </p:txBody>
      </p:sp>
    </p:spTree>
    <p:extLst>
      <p:ext uri="{BB962C8B-B14F-4D97-AF65-F5344CB8AC3E}">
        <p14:creationId xmlns:p14="http://schemas.microsoft.com/office/powerpoint/2010/main" val="1083697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F0A9-37EC-09CF-C225-0CCDA2FEA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D24EFB-C4E7-CDFC-E403-A59B7FD43741}"/>
              </a:ext>
            </a:extLst>
          </p:cNvPr>
          <p:cNvSpPr txBox="1"/>
          <p:nvPr/>
        </p:nvSpPr>
        <p:spPr>
          <a:xfrm>
            <a:off x="834013" y="110421"/>
            <a:ext cx="866419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Functions of a Web Browser: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Sends HTTP/HTTPS requests to servers.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Displays web content (HTML, CSS, JavaScript).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Provides navigation tools (Back, Forward, Refresh).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Manages cookies, cache, and bookmarks.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US" b="1" dirty="0"/>
              <a:t>5.2.3 Web Server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Web Server</a:t>
            </a:r>
            <a:r>
              <a:rPr lang="en-US" dirty="0"/>
              <a:t> is a computer or software that </a:t>
            </a:r>
            <a:r>
              <a:rPr lang="en-US" b="1" dirty="0"/>
              <a:t>stores and serves web pages</a:t>
            </a:r>
            <a:r>
              <a:rPr lang="en-US" dirty="0"/>
              <a:t> to clients upon request.</a:t>
            </a:r>
            <a:br>
              <a:rPr lang="en-US" dirty="0"/>
            </a:br>
            <a:r>
              <a:rPr lang="en-US" dirty="0"/>
              <a:t>It listens for incoming </a:t>
            </a:r>
            <a:r>
              <a:rPr lang="en-US" b="1" dirty="0"/>
              <a:t>HTTP/HTTPS requests</a:t>
            </a:r>
            <a:r>
              <a:rPr lang="en-US" dirty="0"/>
              <a:t> and returns the requested resources (like HTML files, images, etc.).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Examples:</a:t>
            </a:r>
            <a:r>
              <a:rPr lang="en-US" dirty="0"/>
              <a:t> Apache, Nginx, Microsoft IIS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Functions of Web Server: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Accepts requests from browsers.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Processes and responds with web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Maintains logs of client activities.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secure communication (HTTPS).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127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4C032-2F30-8651-D4D8-E6F5F11C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B7AB6C-3944-37A8-7E52-2BB99A1F280B}"/>
              </a:ext>
            </a:extLst>
          </p:cNvPr>
          <p:cNvSpPr txBox="1"/>
          <p:nvPr/>
        </p:nvSpPr>
        <p:spPr>
          <a:xfrm>
            <a:off x="834014" y="182938"/>
            <a:ext cx="856370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5.2.4 Uniform Resource Locator (URL)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URL (Uniform Resource Locator)</a:t>
            </a:r>
            <a:r>
              <a:rPr lang="en-US" dirty="0"/>
              <a:t> is the </a:t>
            </a:r>
            <a:r>
              <a:rPr lang="en-US" b="1" dirty="0"/>
              <a:t>address of a web resource</a:t>
            </a:r>
            <a:r>
              <a:rPr lang="en-US" dirty="0"/>
              <a:t> on the Internet.</a:t>
            </a:r>
            <a:br>
              <a:rPr lang="en-US" dirty="0"/>
            </a:br>
            <a:r>
              <a:rPr lang="en-US" dirty="0"/>
              <a:t>It specifies where a resource is located and how to access it.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Structure of a URL:</a:t>
            </a:r>
          </a:p>
          <a:p>
            <a:pPr>
              <a:buNone/>
            </a:pPr>
            <a:r>
              <a:rPr lang="en-US" dirty="0"/>
              <a:t>https://www.example.com:80/folder/page.html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Parts:</a:t>
            </a:r>
          </a:p>
          <a:p>
            <a:endParaRPr lang="en-IN" dirty="0"/>
          </a:p>
          <a:p>
            <a:r>
              <a:rPr lang="en-IN" b="1" dirty="0"/>
              <a:t>Protocol</a:t>
            </a:r>
            <a:r>
              <a:rPr lang="en-IN" dirty="0"/>
              <a:t> – https → defines communication method</a:t>
            </a:r>
          </a:p>
          <a:p>
            <a:r>
              <a:rPr lang="en-IN" b="1" dirty="0"/>
              <a:t>Domain name</a:t>
            </a:r>
            <a:r>
              <a:rPr lang="en-IN" dirty="0"/>
              <a:t> – www.example.com → identifies web server</a:t>
            </a:r>
          </a:p>
          <a:p>
            <a:r>
              <a:rPr lang="en-IN" b="1" dirty="0"/>
              <a:t>Port number</a:t>
            </a:r>
            <a:r>
              <a:rPr lang="en-IN" dirty="0"/>
              <a:t> – :80 (optional) → used by protocol</a:t>
            </a:r>
          </a:p>
          <a:p>
            <a:r>
              <a:rPr lang="en-IN" b="1" dirty="0"/>
              <a:t>Path</a:t>
            </a:r>
            <a:r>
              <a:rPr lang="en-IN" dirty="0"/>
              <a:t> – /folder/page.html → location of resource on server</a:t>
            </a:r>
          </a:p>
          <a:p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https://www.google.com – URL of Google’s homepage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113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560F3-4A2D-91D0-75D1-44CD253A1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F9BC8A-F556-F92B-E1CD-0FEE471C5857}"/>
              </a:ext>
            </a:extLst>
          </p:cNvPr>
          <p:cNvSpPr txBox="1"/>
          <p:nvPr/>
        </p:nvSpPr>
        <p:spPr>
          <a:xfrm>
            <a:off x="793819" y="163680"/>
            <a:ext cx="899327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5.3 Web Document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Web Document</a:t>
            </a:r>
            <a:r>
              <a:rPr lang="en-US" dirty="0"/>
              <a:t> is any resource (like a web page) that can be displayed in a web browser.</a:t>
            </a:r>
            <a:br>
              <a:rPr lang="en-US" dirty="0"/>
            </a:br>
            <a:r>
              <a:rPr lang="en-US" dirty="0"/>
              <a:t>It is written using </a:t>
            </a:r>
            <a:r>
              <a:rPr lang="en-US" b="1" dirty="0"/>
              <a:t>HTML (</a:t>
            </a:r>
            <a:r>
              <a:rPr lang="en-US" b="1" dirty="0" err="1"/>
              <a:t>HyperText</a:t>
            </a:r>
            <a:r>
              <a:rPr lang="en-US" b="1" dirty="0"/>
              <a:t> Markup Language)</a:t>
            </a:r>
            <a:r>
              <a:rPr lang="en-US" dirty="0"/>
              <a:t> and may include </a:t>
            </a:r>
            <a:r>
              <a:rPr lang="en-US" b="1" dirty="0"/>
              <a:t>text, images, audio, video, and scripts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Web documents are categorized into </a:t>
            </a:r>
            <a:r>
              <a:rPr lang="en-US" b="1" dirty="0"/>
              <a:t>three types</a:t>
            </a:r>
            <a:r>
              <a:rPr lang="en-US" dirty="0"/>
              <a:t> based on how they are created and delivered: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Static Documents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Dynamic Documents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Active Documents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r>
              <a:rPr lang="en-US" b="1" dirty="0"/>
              <a:t>5.3.1 Static Document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static document</a:t>
            </a:r>
            <a:r>
              <a:rPr lang="en-US" dirty="0"/>
              <a:t> is a web page that </a:t>
            </a:r>
            <a:r>
              <a:rPr lang="en-US" b="1" dirty="0"/>
              <a:t>does not change</a:t>
            </a:r>
            <a:r>
              <a:rPr lang="en-US" dirty="0"/>
              <a:t> — it looks the same for every user and every time it is loaded.</a:t>
            </a:r>
            <a:br>
              <a:rPr lang="en-US" dirty="0"/>
            </a:br>
            <a:r>
              <a:rPr lang="en-US" dirty="0"/>
              <a:t>It is </a:t>
            </a:r>
            <a:r>
              <a:rPr lang="en-US" b="1" dirty="0"/>
              <a:t>created once</a:t>
            </a:r>
            <a:r>
              <a:rPr lang="en-US" dirty="0"/>
              <a:t> and </a:t>
            </a:r>
            <a:r>
              <a:rPr lang="en-US" b="1" dirty="0"/>
              <a:t>stored on the web server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4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AE904-6D52-5475-D0ED-246F9D75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466C05-C0AB-ED54-88B9-D9109247BF9F}"/>
              </a:ext>
            </a:extLst>
          </p:cNvPr>
          <p:cNvSpPr txBox="1"/>
          <p:nvPr/>
        </p:nvSpPr>
        <p:spPr>
          <a:xfrm>
            <a:off x="773721" y="95519"/>
            <a:ext cx="9053565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How it works: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browser sends an HTTP request to the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server sends the same pre-built HTML file back to the browser.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processing is done on the server.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company’s “About Us” page or contact information page.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and fast to load.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interaction with the user.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Written in HTML and CSS only.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5.3.2 Dynamic Document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dynamic document</a:t>
            </a:r>
            <a:r>
              <a:rPr lang="en-US" dirty="0"/>
              <a:t> is generated </a:t>
            </a:r>
            <a:r>
              <a:rPr lang="en-US" b="1" dirty="0"/>
              <a:t>at the time of the request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content of the page </a:t>
            </a:r>
            <a:r>
              <a:rPr lang="en-US" b="1" dirty="0"/>
              <a:t>changes based on user input or other data</a:t>
            </a:r>
            <a:r>
              <a:rPr lang="en-US" dirty="0"/>
              <a:t> (like date, time, or database content).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55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7F212-FA4C-9735-B569-48532FE76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E749BD-CC1F-0B71-39A9-4F75B307F88D}"/>
              </a:ext>
            </a:extLst>
          </p:cNvPr>
          <p:cNvSpPr txBox="1"/>
          <p:nvPr/>
        </p:nvSpPr>
        <p:spPr>
          <a:xfrm>
            <a:off x="834013" y="187293"/>
            <a:ext cx="85235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shopping website showing product availability or price.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Social media feeds or search results.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Content changes dynamically.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Interaction with databases or scripts.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Slower than static pages because of server processing.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5.3.3 Active Document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</a:p>
          <a:p>
            <a:br>
              <a:rPr lang="en-US" dirty="0"/>
            </a:br>
            <a:r>
              <a:rPr lang="en-US" dirty="0"/>
              <a:t>An </a:t>
            </a:r>
            <a:r>
              <a:rPr lang="en-US" b="1" dirty="0"/>
              <a:t>active document</a:t>
            </a:r>
            <a:r>
              <a:rPr lang="en-US" dirty="0"/>
              <a:t> is one that can </a:t>
            </a:r>
            <a:r>
              <a:rPr lang="en-US" b="1" dirty="0"/>
              <a:t>continue executing on the client side</a:t>
            </a:r>
            <a:r>
              <a:rPr lang="en-US" dirty="0"/>
              <a:t> (in the browser) even after being loaded.</a:t>
            </a:r>
            <a:br>
              <a:rPr lang="en-US" dirty="0"/>
            </a:br>
            <a:r>
              <a:rPr lang="en-US" dirty="0"/>
              <a:t>It performs tasks or updates automatically </a:t>
            </a:r>
            <a:r>
              <a:rPr lang="en-US" b="1" dirty="0"/>
              <a:t>without needing a new request to the server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862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25039-DE70-2B5A-B1AD-E2874BBB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472B2A-B828-66A6-E5AC-820B83EDEB7B}"/>
              </a:ext>
            </a:extLst>
          </p:cNvPr>
          <p:cNvSpPr txBox="1"/>
          <p:nvPr/>
        </p:nvSpPr>
        <p:spPr>
          <a:xfrm>
            <a:off x="753626" y="115616"/>
            <a:ext cx="920429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How it works: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document includes </a:t>
            </a:r>
            <a:r>
              <a:rPr lang="en-US" b="1" dirty="0"/>
              <a:t>scripts or programs</a:t>
            </a:r>
            <a:r>
              <a:rPr lang="en-US" dirty="0"/>
              <a:t> (like JavaScript, Java Applets, or Flash).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runs in the client’s browser and updates content dynamically.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live chat window.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Online games or real-time stock price updates.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Features: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Runs on the client (not the server).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real-time interaction.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technologies like JavaScript, AJAX, or WebSocket.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5.4 HTTP (Hypertext Transfer Protocol)</a:t>
            </a:r>
          </a:p>
          <a:p>
            <a:endParaRPr lang="en-IN" b="1" dirty="0"/>
          </a:p>
          <a:p>
            <a:r>
              <a:rPr lang="en-IN" b="1" dirty="0"/>
              <a:t>Definition:</a:t>
            </a:r>
          </a:p>
          <a:p>
            <a:br>
              <a:rPr lang="en-IN" dirty="0"/>
            </a:br>
            <a:r>
              <a:rPr lang="en-IN" dirty="0"/>
              <a:t>HTTP is a </a:t>
            </a:r>
            <a:r>
              <a:rPr lang="en-IN" b="1" dirty="0"/>
              <a:t>communication protocol</a:t>
            </a:r>
            <a:r>
              <a:rPr lang="en-IN" dirty="0"/>
              <a:t> used for </a:t>
            </a:r>
            <a:r>
              <a:rPr lang="en-IN" b="1" dirty="0"/>
              <a:t>transferring web documents</a:t>
            </a:r>
            <a:r>
              <a:rPr lang="en-IN" dirty="0"/>
              <a:t> (like HTML, images, videos) between a </a:t>
            </a:r>
            <a:r>
              <a:rPr lang="en-IN" b="1" dirty="0"/>
              <a:t>web client (browser)</a:t>
            </a:r>
            <a:r>
              <a:rPr lang="en-IN" dirty="0"/>
              <a:t> and a </a:t>
            </a:r>
            <a:r>
              <a:rPr lang="en-IN" b="1" dirty="0"/>
              <a:t>web server</a:t>
            </a:r>
            <a:r>
              <a:rPr lang="en-IN" dirty="0"/>
              <a:t>.</a:t>
            </a:r>
            <a:br>
              <a:rPr lang="en-IN" dirty="0"/>
            </a:br>
            <a:r>
              <a:rPr lang="en-IN" dirty="0"/>
              <a:t>It is the foundation of data communication on the </a:t>
            </a:r>
            <a:r>
              <a:rPr lang="en-IN" b="1" dirty="0"/>
              <a:t>World Wide Web (WWW)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b="1" dirty="0"/>
              <a:t>Default Port:</a:t>
            </a:r>
            <a:endParaRPr lang="en-IN" dirty="0"/>
          </a:p>
          <a:p>
            <a:r>
              <a:rPr lang="en-IN" dirty="0"/>
              <a:t>HTTP → Port </a:t>
            </a:r>
            <a:r>
              <a:rPr lang="en-IN" b="1" dirty="0"/>
              <a:t>80</a:t>
            </a:r>
            <a:endParaRPr lang="en-IN" dirty="0"/>
          </a:p>
          <a:p>
            <a:r>
              <a:rPr lang="en-IN" dirty="0"/>
              <a:t>HTTPS → Port </a:t>
            </a:r>
            <a:r>
              <a:rPr lang="en-IN" b="1" dirty="0"/>
              <a:t>443</a:t>
            </a:r>
            <a:r>
              <a:rPr lang="en-IN" dirty="0"/>
              <a:t> (secured with encryption)</a:t>
            </a:r>
          </a:p>
        </p:txBody>
      </p:sp>
    </p:spTree>
    <p:extLst>
      <p:ext uri="{BB962C8B-B14F-4D97-AF65-F5344CB8AC3E}">
        <p14:creationId xmlns:p14="http://schemas.microsoft.com/office/powerpoint/2010/main" val="3822603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FCB8-4EFD-FC51-4E89-DC815AC64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D1F6CF-630C-08DC-4DCC-04E9D9B8FE6F}"/>
              </a:ext>
            </a:extLst>
          </p:cNvPr>
          <p:cNvSpPr txBox="1"/>
          <p:nvPr/>
        </p:nvSpPr>
        <p:spPr>
          <a:xfrm>
            <a:off x="753627" y="99035"/>
            <a:ext cx="850341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5.4.1 HTTP Transaction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An </a:t>
            </a:r>
            <a:r>
              <a:rPr lang="en-US" b="1" dirty="0"/>
              <a:t>HTTP Transaction</a:t>
            </a:r>
            <a:r>
              <a:rPr lang="en-US" dirty="0"/>
              <a:t> is the </a:t>
            </a:r>
            <a:r>
              <a:rPr lang="en-US" b="1" dirty="0"/>
              <a:t>request–response process</a:t>
            </a:r>
            <a:r>
              <a:rPr lang="en-US" dirty="0"/>
              <a:t> between a client and a server.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Steps: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Client (browser)</a:t>
            </a:r>
            <a:r>
              <a:rPr lang="en-US" dirty="0"/>
              <a:t> sends an </a:t>
            </a:r>
            <a:r>
              <a:rPr lang="en-US" b="1" dirty="0"/>
              <a:t>HTTP request</a:t>
            </a:r>
            <a:r>
              <a:rPr lang="en-US" dirty="0"/>
              <a:t> to the web server.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Server</a:t>
            </a:r>
            <a:r>
              <a:rPr lang="en-US" dirty="0"/>
              <a:t> processes the request and sends an </a:t>
            </a:r>
            <a:r>
              <a:rPr lang="en-US" b="1" dirty="0"/>
              <a:t>HTTP response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browser displays the received content to the user.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/>
              <a:t>Example</a:t>
            </a:r>
          </a:p>
          <a:p>
            <a:r>
              <a:rPr lang="en-US" dirty="0"/>
              <a:t>Request:  GET /index.html HTTP/1.1</a:t>
            </a:r>
          </a:p>
          <a:p>
            <a:r>
              <a:rPr lang="en-US" dirty="0"/>
              <a:t>Response: HTTP/1.1 200 OK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HTTP Methods: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GET</a:t>
            </a:r>
            <a:r>
              <a:rPr lang="en-US" dirty="0"/>
              <a:t> – Retrieve data from the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POST</a:t>
            </a:r>
            <a:r>
              <a:rPr lang="en-US" dirty="0"/>
              <a:t> – Send data to the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PUT</a:t>
            </a:r>
            <a:r>
              <a:rPr lang="en-US" dirty="0"/>
              <a:t> – Update existing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DELETE</a:t>
            </a:r>
            <a:r>
              <a:rPr lang="en-US" dirty="0"/>
              <a:t> – Remove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HEAD</a:t>
            </a:r>
            <a:r>
              <a:rPr lang="en-US" dirty="0"/>
              <a:t> – Same as GET but without body content.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597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970C-5064-0220-7260-748BADCA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A35B74-1CF0-E63A-B738-DECAE542FA3F}"/>
              </a:ext>
            </a:extLst>
          </p:cNvPr>
          <p:cNvSpPr txBox="1"/>
          <p:nvPr/>
        </p:nvSpPr>
        <p:spPr>
          <a:xfrm>
            <a:off x="844063" y="117693"/>
            <a:ext cx="868428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5.4.2 Conditional Request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Conditional Request</a:t>
            </a:r>
            <a:r>
              <a:rPr lang="en-US" dirty="0"/>
              <a:t> is sent by a client to </a:t>
            </a:r>
            <a:r>
              <a:rPr lang="en-US" b="1" dirty="0"/>
              <a:t>reduce unnecessary data transfer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client asks the server to send the resource </a:t>
            </a:r>
            <a:r>
              <a:rPr lang="en-US" b="1" dirty="0"/>
              <a:t>only if it has been modified</a:t>
            </a:r>
            <a:r>
              <a:rPr lang="en-US" dirty="0"/>
              <a:t> since the last access.</a:t>
            </a:r>
          </a:p>
          <a:p>
            <a:pPr>
              <a:buNone/>
            </a:pPr>
            <a:endParaRPr lang="en-US" dirty="0"/>
          </a:p>
          <a:p>
            <a:r>
              <a:rPr lang="en-IN" b="1" dirty="0"/>
              <a:t>Example Header:</a:t>
            </a:r>
            <a:endParaRPr lang="en-IN" dirty="0"/>
          </a:p>
          <a:p>
            <a:pPr>
              <a:buNone/>
            </a:pPr>
            <a:r>
              <a:rPr lang="en-US" dirty="0"/>
              <a:t>If-Modified-Since: Mon, 21 Oct 2024 07:28:00 GMT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If the resource is unchanged, the server replies: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HTTP/1.1 304 Not Modified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5.4.3 Persistence</a:t>
            </a:r>
          </a:p>
          <a:p>
            <a:endParaRPr lang="en-US" b="1" dirty="0"/>
          </a:p>
          <a:p>
            <a:r>
              <a:rPr lang="en-US" dirty="0"/>
              <a:t>By default, </a:t>
            </a:r>
            <a:r>
              <a:rPr lang="en-US" b="1" dirty="0"/>
              <a:t>HTTP/1.0</a:t>
            </a:r>
            <a:r>
              <a:rPr lang="en-US" dirty="0"/>
              <a:t> closed the connection after each request.</a:t>
            </a:r>
            <a:br>
              <a:rPr lang="en-US" dirty="0"/>
            </a:br>
            <a:r>
              <a:rPr lang="en-US" dirty="0"/>
              <a:t>In </a:t>
            </a:r>
            <a:r>
              <a:rPr lang="en-US" b="1" dirty="0"/>
              <a:t>HTTP/1.1</a:t>
            </a:r>
            <a:r>
              <a:rPr lang="en-US" dirty="0"/>
              <a:t>, connections became </a:t>
            </a:r>
            <a:r>
              <a:rPr lang="en-US" b="1" dirty="0"/>
              <a:t>persistent</a:t>
            </a:r>
            <a:r>
              <a:rPr lang="en-US" dirty="0"/>
              <a:t> — meaning </a:t>
            </a:r>
            <a:r>
              <a:rPr lang="en-US" b="1" dirty="0"/>
              <a:t>multiple requests and responses</a:t>
            </a:r>
            <a:r>
              <a:rPr lang="en-US" dirty="0"/>
              <a:t> can use the </a:t>
            </a:r>
            <a:r>
              <a:rPr lang="en-US" b="1" dirty="0"/>
              <a:t>same TCP connection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 of Persistent Connections: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connection setup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Increases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Less network congestion.</a:t>
            </a:r>
          </a:p>
        </p:txBody>
      </p:sp>
    </p:spTree>
    <p:extLst>
      <p:ext uri="{BB962C8B-B14F-4D97-AF65-F5344CB8AC3E}">
        <p14:creationId xmlns:p14="http://schemas.microsoft.com/office/powerpoint/2010/main" val="2974725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DD75B-B11E-D190-9251-EA34F0385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97E990-2A46-8087-C024-04235C7FE999}"/>
              </a:ext>
            </a:extLst>
          </p:cNvPr>
          <p:cNvSpPr txBox="1"/>
          <p:nvPr/>
        </p:nvSpPr>
        <p:spPr>
          <a:xfrm>
            <a:off x="823965" y="171551"/>
            <a:ext cx="854361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5.4.4 Cookies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Definition:</a:t>
            </a:r>
          </a:p>
          <a:p>
            <a:pPr>
              <a:buNone/>
            </a:pP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cookie</a:t>
            </a:r>
            <a:r>
              <a:rPr lang="en-US" dirty="0"/>
              <a:t> is a small piece of data that a web server sends to a client to </a:t>
            </a:r>
            <a:r>
              <a:rPr lang="en-US" b="1" dirty="0"/>
              <a:t>store information about the user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 browser stores it and sends it back with future requests to the same server.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Purpose: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Session management (login info).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Personalization (user preferences).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Tracking user activities (analytics).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dirty="0"/>
              <a:t>Example</a:t>
            </a:r>
          </a:p>
          <a:p>
            <a:r>
              <a:rPr lang="en-US" dirty="0"/>
              <a:t>Set-Cookie: </a:t>
            </a:r>
            <a:r>
              <a:rPr lang="en-US" dirty="0" err="1"/>
              <a:t>sessionId</a:t>
            </a:r>
            <a:r>
              <a:rPr lang="en-US" dirty="0"/>
              <a:t>=12345; expires=Wed, 25 Oct 2025 12:00:00 GMT;</a:t>
            </a:r>
          </a:p>
          <a:p>
            <a:endParaRPr lang="en-US" dirty="0"/>
          </a:p>
          <a:p>
            <a:r>
              <a:rPr lang="en-US" b="1" dirty="0"/>
              <a:t>5.4.5 Web Caching (Proxy Server)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Web Cache</a:t>
            </a:r>
            <a:r>
              <a:rPr lang="en-US" dirty="0"/>
              <a:t> or </a:t>
            </a:r>
            <a:r>
              <a:rPr lang="en-US" b="1" dirty="0"/>
              <a:t>Proxy Server</a:t>
            </a:r>
            <a:r>
              <a:rPr lang="en-US" dirty="0"/>
              <a:t> temporarily stores copies of web pages to serve future requests faster.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427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E5CC-0D18-F5FE-AC7A-81EA0EC63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363D68-CF4F-D57C-8A94-4ECE1F473B30}"/>
              </a:ext>
            </a:extLst>
          </p:cNvPr>
          <p:cNvSpPr txBox="1"/>
          <p:nvPr/>
        </p:nvSpPr>
        <p:spPr>
          <a:xfrm>
            <a:off x="914400" y="0"/>
            <a:ext cx="8691824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How it works: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When a client requests a page, the cache checks if it has a </a:t>
            </a:r>
            <a:r>
              <a:rPr lang="en-US" b="1" dirty="0"/>
              <a:t>stored copy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yes → returns the cached copy (faster).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no → fetches from the server and stores it for future use.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bandwidth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response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load on web servers.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Internet Service Providers (ISPs) often use proxy servers to speed up browsing.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5.4.6 HTTP Security</a:t>
            </a:r>
          </a:p>
          <a:p>
            <a:endParaRPr lang="en-US" b="1" dirty="0"/>
          </a:p>
          <a:p>
            <a:r>
              <a:rPr lang="en-US" b="1" dirty="0"/>
              <a:t>Security Issues in HTTP: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sent in </a:t>
            </a:r>
            <a:r>
              <a:rPr lang="en-US" b="1" dirty="0"/>
              <a:t>plain text</a:t>
            </a:r>
            <a:r>
              <a:rPr lang="en-US" dirty="0"/>
              <a:t> (not encrypted).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be intercepted or modified by attackers.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Solution → HTTPS (Secure HTTP):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SSL/TLS encryption</a:t>
            </a:r>
            <a:r>
              <a:rPr lang="en-US" dirty="0"/>
              <a:t> to protect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Ensures:</a:t>
            </a:r>
          </a:p>
          <a:p>
            <a:r>
              <a:rPr lang="en-US" b="1" dirty="0"/>
              <a:t>Confidentiality</a:t>
            </a:r>
            <a:r>
              <a:rPr lang="en-US" dirty="0"/>
              <a:t> – Data is encrypted.</a:t>
            </a:r>
          </a:p>
          <a:p>
            <a:r>
              <a:rPr lang="en-US" b="1" dirty="0"/>
              <a:t>Integrity</a:t>
            </a:r>
            <a:r>
              <a:rPr lang="en-US" dirty="0"/>
              <a:t> – Data cannot be altered in transit.</a:t>
            </a:r>
          </a:p>
          <a:p>
            <a:r>
              <a:rPr lang="en-US" b="1" dirty="0"/>
              <a:t>Authentication</a:t>
            </a:r>
            <a:r>
              <a:rPr lang="en-US" dirty="0"/>
              <a:t> – Verifies identity of the server</a:t>
            </a:r>
          </a:p>
        </p:txBody>
      </p:sp>
    </p:spTree>
    <p:extLst>
      <p:ext uri="{BB962C8B-B14F-4D97-AF65-F5344CB8AC3E}">
        <p14:creationId xmlns:p14="http://schemas.microsoft.com/office/powerpoint/2010/main" val="1453902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684B3-83F3-D67A-9F65-0BA55914A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3CB2DC-4A97-2CDF-8FEF-FBEE4880DA71}"/>
              </a:ext>
            </a:extLst>
          </p:cNvPr>
          <p:cNvSpPr txBox="1"/>
          <p:nvPr/>
        </p:nvSpPr>
        <p:spPr>
          <a:xfrm>
            <a:off x="854109" y="145762"/>
            <a:ext cx="854361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5.5 Versions of HTTP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HTTP (</a:t>
            </a:r>
            <a:r>
              <a:rPr lang="en-US" b="1" dirty="0" err="1"/>
              <a:t>HyperText</a:t>
            </a:r>
            <a:r>
              <a:rPr lang="en-US" b="1" dirty="0"/>
              <a:t> Transfer Protocol)</a:t>
            </a:r>
            <a:r>
              <a:rPr lang="en-US" dirty="0"/>
              <a:t> has evolved over time to improve </a:t>
            </a:r>
            <a:r>
              <a:rPr lang="en-US" b="1" dirty="0"/>
              <a:t>speed, security, and performance</a:t>
            </a:r>
            <a:r>
              <a:rPr lang="en-US" dirty="0"/>
              <a:t> of web communication.</a:t>
            </a:r>
            <a:br>
              <a:rPr lang="en-US" dirty="0"/>
            </a:br>
            <a:r>
              <a:rPr lang="en-US" dirty="0"/>
              <a:t>Each version introduced new features to make data transfer more </a:t>
            </a:r>
            <a:r>
              <a:rPr lang="en-US" b="1" dirty="0"/>
              <a:t>efficient and reliable</a:t>
            </a:r>
            <a:r>
              <a:rPr lang="en-US" dirty="0"/>
              <a:t> between </a:t>
            </a:r>
            <a:r>
              <a:rPr lang="en-US" b="1" dirty="0"/>
              <a:t>clients and servers</a:t>
            </a:r>
            <a:r>
              <a:rPr lang="en-US" dirty="0"/>
              <a:t>..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Main versions: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HTTP/1.0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HTTP/1.1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HTTP/2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HTTP/3</a:t>
            </a:r>
          </a:p>
          <a:p>
            <a:pPr>
              <a:buFont typeface="+mj-lt"/>
              <a:buAutoNum type="arabicPeriod"/>
            </a:pPr>
            <a:endParaRPr lang="en-US" b="1" dirty="0"/>
          </a:p>
          <a:p>
            <a:r>
              <a:rPr lang="en-US" b="1" dirty="0"/>
              <a:t>5.5.1 HTTP/1.0 and HTTP/1.1</a:t>
            </a:r>
          </a:p>
          <a:p>
            <a:endParaRPr lang="en-US" b="1" dirty="0"/>
          </a:p>
          <a:p>
            <a:r>
              <a:rPr lang="en-US" b="1" dirty="0"/>
              <a:t>HTTP/1.0 (1996)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widely used version of HTTP.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request/response used a </a:t>
            </a:r>
            <a:r>
              <a:rPr lang="en-US" b="1" dirty="0"/>
              <a:t>separate TCP connection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sending one web page, the connection was </a:t>
            </a:r>
            <a:r>
              <a:rPr lang="en-US" b="1" dirty="0"/>
              <a:t>closed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concept of persistent connection or pipelining.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59424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5790-6316-6C0F-51E1-8AC270DDC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F69092-1970-82CE-B116-6B16B5AF57A5}"/>
              </a:ext>
            </a:extLst>
          </p:cNvPr>
          <p:cNvSpPr txBox="1"/>
          <p:nvPr/>
        </p:nvSpPr>
        <p:spPr>
          <a:xfrm>
            <a:off x="773723" y="157148"/>
            <a:ext cx="878477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Limitations: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delay because every request opens a new connection.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Inefficient for pages with many elements (images, CSS, JS).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For one webpage with 10 images → 11 separate connections!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HTTP/1.1 (1997 – Most Common Version)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Introduced </a:t>
            </a:r>
            <a:r>
              <a:rPr lang="en-US" b="1" dirty="0"/>
              <a:t>persistent connections</a:t>
            </a:r>
            <a:r>
              <a:rPr lang="en-US" dirty="0"/>
              <a:t> (connection kept open for multiple requests).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pipelining</a:t>
            </a:r>
            <a:r>
              <a:rPr lang="en-US" dirty="0"/>
              <a:t> (multiple requests sent without waiting for responses).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Introduced </a:t>
            </a:r>
            <a:r>
              <a:rPr lang="en-US" b="1" dirty="0"/>
              <a:t>chunked transfer encoding</a:t>
            </a:r>
            <a:r>
              <a:rPr lang="en-US" dirty="0"/>
              <a:t> (sending data in parts).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Added </a:t>
            </a:r>
            <a:r>
              <a:rPr lang="en-US" b="1" dirty="0"/>
              <a:t>Host header</a:t>
            </a:r>
            <a:r>
              <a:rPr lang="en-US" dirty="0"/>
              <a:t> – allows multiple websites to share one IP address.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Improved </a:t>
            </a:r>
            <a:r>
              <a:rPr lang="en-US" b="1" dirty="0"/>
              <a:t>cache control</a:t>
            </a:r>
            <a:r>
              <a:rPr lang="en-US" dirty="0"/>
              <a:t> and </a:t>
            </a:r>
            <a:r>
              <a:rPr lang="en-US" b="1" dirty="0"/>
              <a:t>error handling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Faster than HTTP/1.0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Reduced latency and network load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virtual hosting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21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9FB71-AA29-0BB0-AE5F-3B95F4F97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918AFF-8D46-5A38-6C8E-99019502A7ED}"/>
              </a:ext>
            </a:extLst>
          </p:cNvPr>
          <p:cNvSpPr txBox="1"/>
          <p:nvPr/>
        </p:nvSpPr>
        <p:spPr>
          <a:xfrm>
            <a:off x="803867" y="135213"/>
            <a:ext cx="8752115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5.5.2 HTTP/2 (2015)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Goal:</a:t>
            </a:r>
            <a:r>
              <a:rPr lang="en-US" dirty="0"/>
              <a:t> Improve performance and reduce delay for modern websites.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Features: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Binary Protocol</a:t>
            </a:r>
            <a:r>
              <a:rPr lang="en-US" dirty="0"/>
              <a:t> – Uses binary format instead of text → faster and less error-prone.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Multiplexing</a:t>
            </a:r>
            <a:r>
              <a:rPr lang="en-US" dirty="0"/>
              <a:t> – Multiple requests/responses can be sent over a </a:t>
            </a:r>
            <a:r>
              <a:rPr lang="en-US" b="1" dirty="0"/>
              <a:t>single TCP connection</a:t>
            </a:r>
            <a:r>
              <a:rPr lang="en-US" dirty="0"/>
              <a:t> at the same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Header Compression</a:t>
            </a:r>
            <a:r>
              <a:rPr lang="en-US" dirty="0"/>
              <a:t> – Compresses header data to reduce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Server Push</a:t>
            </a:r>
            <a:r>
              <a:rPr lang="en-US" dirty="0"/>
              <a:t> – Server can send resources to client </a:t>
            </a:r>
            <a:r>
              <a:rPr lang="en-US" b="1" dirty="0"/>
              <a:t>before it requests them</a:t>
            </a:r>
            <a:r>
              <a:rPr lang="en-US" dirty="0"/>
              <a:t> (e.g., CSS, JS files).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Better prioritization</a:t>
            </a:r>
            <a:r>
              <a:rPr lang="en-US" dirty="0"/>
              <a:t> – Important resources are delivered first.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Much faster loading speed.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number of connections.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efficient use of network resources.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Loading a webpage with many elements happens simultaneously, not one by one.</a:t>
            </a:r>
          </a:p>
        </p:txBody>
      </p:sp>
    </p:spTree>
    <p:extLst>
      <p:ext uri="{BB962C8B-B14F-4D97-AF65-F5344CB8AC3E}">
        <p14:creationId xmlns:p14="http://schemas.microsoft.com/office/powerpoint/2010/main" val="20566225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B1FDB-91A6-00C9-E1A9-17D422A9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E676B7-7651-551A-003D-FA6CDB0C3468}"/>
              </a:ext>
            </a:extLst>
          </p:cNvPr>
          <p:cNvSpPr txBox="1"/>
          <p:nvPr/>
        </p:nvSpPr>
        <p:spPr>
          <a:xfrm>
            <a:off x="793819" y="239213"/>
            <a:ext cx="843307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5.5.3 HTTP/3 (2022 – Latest Version)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Goal:</a:t>
            </a:r>
            <a:r>
              <a:rPr lang="en-US" dirty="0"/>
              <a:t> Make communication faster, more secure, and reliable.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Main Feature: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QUIC protocol (Quick UDP Internet Connections)</a:t>
            </a:r>
            <a:r>
              <a:rPr lang="en-US" dirty="0"/>
              <a:t> instead of TCP.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Built on </a:t>
            </a:r>
            <a:r>
              <a:rPr lang="en-US" b="1" dirty="0"/>
              <a:t>UDP</a:t>
            </a:r>
            <a:r>
              <a:rPr lang="en-US" dirty="0"/>
              <a:t>, not TCP → eliminates slow connection setups and packet loss delays.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TLS 1.3 encryption by default</a:t>
            </a:r>
            <a:r>
              <a:rPr lang="en-US" dirty="0"/>
              <a:t> → always secure.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multiplexing</a:t>
            </a:r>
            <a:r>
              <a:rPr lang="en-US" dirty="0"/>
              <a:t> without the “head-of-line blocking” issue of HTTP/2.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Designed for </a:t>
            </a:r>
            <a:r>
              <a:rPr lang="en-US" b="1" dirty="0"/>
              <a:t>mobile networks</a:t>
            </a:r>
            <a:r>
              <a:rPr lang="en-US" dirty="0"/>
              <a:t> and </a:t>
            </a:r>
            <a:r>
              <a:rPr lang="en-US" b="1" dirty="0"/>
              <a:t>unstable connections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Advantages: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page loads.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Lower latency.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encrypted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More reliable on mobile and Wi-Fi networks.</a:t>
            </a:r>
          </a:p>
        </p:txBody>
      </p:sp>
    </p:spTree>
    <p:extLst>
      <p:ext uri="{BB962C8B-B14F-4D97-AF65-F5344CB8AC3E}">
        <p14:creationId xmlns:p14="http://schemas.microsoft.com/office/powerpoint/2010/main" val="78273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9E00-C3E0-411F-E6E4-0AE3E51F6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861C4A-5F05-3C48-BF44-EEAC0D9EAD8F}"/>
              </a:ext>
            </a:extLst>
          </p:cNvPr>
          <p:cNvSpPr txBox="1"/>
          <p:nvPr/>
        </p:nvSpPr>
        <p:spPr>
          <a:xfrm>
            <a:off x="871694" y="110421"/>
            <a:ext cx="939772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5.6 Overview of TLS, SSL, and WebSocket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web</a:t>
            </a:r>
            <a:r>
              <a:rPr lang="en-US" dirty="0"/>
              <a:t> needs secure and continuous communication between clients and servers.</a:t>
            </a:r>
            <a:br>
              <a:rPr lang="en-US" dirty="0"/>
            </a:br>
            <a:r>
              <a:rPr lang="en-US" dirty="0"/>
              <a:t>To achieve this, technologies like </a:t>
            </a:r>
            <a:r>
              <a:rPr lang="en-US" b="1" dirty="0"/>
              <a:t>TLS</a:t>
            </a:r>
            <a:r>
              <a:rPr lang="en-US" dirty="0"/>
              <a:t>, </a:t>
            </a:r>
            <a:r>
              <a:rPr lang="en-US" b="1" dirty="0"/>
              <a:t>SSL</a:t>
            </a:r>
            <a:r>
              <a:rPr lang="en-US" dirty="0"/>
              <a:t>, and </a:t>
            </a:r>
            <a:r>
              <a:rPr lang="en-US" b="1" dirty="0"/>
              <a:t>WebSocket</a:t>
            </a:r>
            <a:r>
              <a:rPr lang="en-US" dirty="0"/>
              <a:t> are used.</a:t>
            </a:r>
          </a:p>
          <a:p>
            <a:pPr>
              <a:buNone/>
            </a:pPr>
            <a:endParaRPr lang="en-US" dirty="0"/>
          </a:p>
          <a:p>
            <a:r>
              <a:rPr lang="en-US" b="1" dirty="0"/>
              <a:t>5.6.1 SSL (Secure Sockets Layer)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SSL is a </a:t>
            </a:r>
            <a:r>
              <a:rPr lang="en-US" b="1" dirty="0"/>
              <a:t>security protocol</a:t>
            </a:r>
            <a:r>
              <a:rPr lang="en-US" dirty="0"/>
              <a:t> developed by Netscape to provide </a:t>
            </a:r>
            <a:r>
              <a:rPr lang="en-US" b="1" dirty="0"/>
              <a:t>encrypted communication</a:t>
            </a:r>
            <a:r>
              <a:rPr lang="en-US" dirty="0"/>
              <a:t> over the Internet.</a:t>
            </a:r>
            <a:br>
              <a:rPr lang="en-US" dirty="0"/>
            </a:br>
            <a:r>
              <a:rPr lang="en-US" dirty="0"/>
              <a:t>It ensures that data sent between a client and a server is </a:t>
            </a:r>
            <a:r>
              <a:rPr lang="en-US" b="1" dirty="0"/>
              <a:t>secure and private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Functions of SSL: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Encryption</a:t>
            </a:r>
            <a:r>
              <a:rPr lang="en-US" dirty="0"/>
              <a:t> – Converts data into a secret code to prevent eavesdropping.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Authentication</a:t>
            </a:r>
            <a:r>
              <a:rPr lang="en-US" dirty="0"/>
              <a:t> – Verifies the identity of the website/server.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Integrity</a:t>
            </a:r>
            <a:r>
              <a:rPr lang="en-US" dirty="0"/>
              <a:t> – Ensures data is not modified during transmission.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How it works:</a:t>
            </a:r>
          </a:p>
          <a:p>
            <a:endParaRPr lang="en-US" dirty="0"/>
          </a:p>
          <a:p>
            <a:r>
              <a:rPr lang="en-US" dirty="0"/>
              <a:t>SSL uses </a:t>
            </a:r>
            <a:r>
              <a:rPr lang="en-US" b="1" dirty="0"/>
              <a:t>public key and private key encryption</a:t>
            </a:r>
            <a:r>
              <a:rPr lang="en-US" dirty="0"/>
              <a:t>.</a:t>
            </a:r>
          </a:p>
          <a:p>
            <a:r>
              <a:rPr lang="en-US" dirty="0"/>
              <a:t>The web address uses the prefix </a:t>
            </a:r>
            <a:r>
              <a:rPr lang="en-US" b="1" dirty="0"/>
              <a:t>https://</a:t>
            </a:r>
            <a:r>
              <a:rPr lang="en-US" dirty="0"/>
              <a:t> instead of </a:t>
            </a:r>
            <a:r>
              <a:rPr lang="en-US" b="1" dirty="0"/>
              <a:t>http://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Example:</a:t>
            </a:r>
            <a:br>
              <a:rPr lang="en-US" dirty="0"/>
            </a:br>
            <a:r>
              <a:rPr lang="en-US" dirty="0"/>
              <a:t>https://www.bank.com uses SSL to protect online transactions</a:t>
            </a:r>
          </a:p>
        </p:txBody>
      </p:sp>
    </p:spTree>
    <p:extLst>
      <p:ext uri="{BB962C8B-B14F-4D97-AF65-F5344CB8AC3E}">
        <p14:creationId xmlns:p14="http://schemas.microsoft.com/office/powerpoint/2010/main" val="840779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0714-06DF-AC4D-EFBA-F04BCCA3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AB21D0-7F28-D65C-D768-D07D434572A3}"/>
              </a:ext>
            </a:extLst>
          </p:cNvPr>
          <p:cNvSpPr txBox="1"/>
          <p:nvPr/>
        </p:nvSpPr>
        <p:spPr>
          <a:xfrm>
            <a:off x="783771" y="110531"/>
            <a:ext cx="860138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5.6.2 TLS (Transport Layer Security)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TLS is the </a:t>
            </a:r>
            <a:r>
              <a:rPr lang="en-US" b="1" dirty="0"/>
              <a:t>successor to SSL</a:t>
            </a:r>
            <a:r>
              <a:rPr lang="en-US" dirty="0"/>
              <a:t> and provides </a:t>
            </a:r>
            <a:r>
              <a:rPr lang="en-US" b="1" dirty="0"/>
              <a:t>stronger security</a:t>
            </a:r>
            <a:r>
              <a:rPr lang="en-US" dirty="0"/>
              <a:t> for Internet communication.</a:t>
            </a:r>
            <a:br>
              <a:rPr lang="en-US" dirty="0"/>
            </a:br>
            <a:r>
              <a:rPr lang="en-US" dirty="0"/>
              <a:t>It is used in </a:t>
            </a:r>
            <a:r>
              <a:rPr lang="en-US" b="1" dirty="0"/>
              <a:t>HTTPS</a:t>
            </a:r>
            <a:r>
              <a:rPr lang="en-US" dirty="0"/>
              <a:t>, </a:t>
            </a:r>
            <a:r>
              <a:rPr lang="en-US" b="1" dirty="0"/>
              <a:t>email encryption</a:t>
            </a:r>
            <a:r>
              <a:rPr lang="en-US" dirty="0"/>
              <a:t>, and </a:t>
            </a:r>
            <a:r>
              <a:rPr lang="en-US" b="1" dirty="0"/>
              <a:t>VPNs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Main Goals: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Confidentiality</a:t>
            </a:r>
            <a:r>
              <a:rPr lang="en-US" dirty="0"/>
              <a:t> – Data is encrypted so others can’t read it.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Integrity</a:t>
            </a:r>
            <a:r>
              <a:rPr lang="en-US" dirty="0"/>
              <a:t> – Ensures data is not changed in transit.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Authentication</a:t>
            </a:r>
            <a:r>
              <a:rPr lang="en-US" dirty="0"/>
              <a:t> – Confirms the identity of both client and server.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TLS Handshake Process: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Client and server agree on encryption methods.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They exchange digital certificates for authentication.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Encryption keys are generated.</a:t>
            </a:r>
          </a:p>
          <a:p>
            <a:pPr>
              <a:buFont typeface="+mj-lt"/>
              <a:buAutoNum type="arabicPeriod"/>
            </a:pPr>
            <a:r>
              <a:rPr lang="en-US" dirty="0"/>
              <a:t>Secure data transfer begins.</a:t>
            </a:r>
          </a:p>
          <a:p>
            <a:endParaRPr lang="en-US" dirty="0"/>
          </a:p>
          <a:p>
            <a:pPr>
              <a:buNone/>
            </a:pPr>
            <a:r>
              <a:rPr lang="en-US" b="1" dirty="0"/>
              <a:t>Versions: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TLS 1.0 → TLS 1.1 → TLS 1.2 → </a:t>
            </a:r>
            <a:r>
              <a:rPr lang="en-US" b="1" dirty="0"/>
              <a:t>TLS 1.3 (latest)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9475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9ABE-727A-E06D-C895-874DB6982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FC3482-5291-4397-770B-E6CC6AF200B8}"/>
              </a:ext>
            </a:extLst>
          </p:cNvPr>
          <p:cNvSpPr txBox="1"/>
          <p:nvPr/>
        </p:nvSpPr>
        <p:spPr>
          <a:xfrm>
            <a:off x="823964" y="183777"/>
            <a:ext cx="854361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5.7 HTTPS (</a:t>
            </a:r>
            <a:r>
              <a:rPr lang="en-US" b="1" dirty="0" err="1"/>
              <a:t>HyperText</a:t>
            </a:r>
            <a:r>
              <a:rPr lang="en-US" b="1" dirty="0"/>
              <a:t> Transfer Protocol Secure)</a:t>
            </a:r>
          </a:p>
          <a:p>
            <a:pPr>
              <a:buNone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Definition:</a:t>
            </a:r>
          </a:p>
          <a:p>
            <a:pPr>
              <a:buNone/>
            </a:pPr>
            <a:r>
              <a:rPr lang="en-US" b="1" dirty="0"/>
              <a:t>HTTPS</a:t>
            </a:r>
            <a:r>
              <a:rPr lang="en-US" dirty="0"/>
              <a:t> is the </a:t>
            </a:r>
            <a:r>
              <a:rPr lang="en-US" b="1" dirty="0"/>
              <a:t>secure version of HTTP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It uses </a:t>
            </a:r>
            <a:r>
              <a:rPr lang="en-US" b="1" dirty="0"/>
              <a:t>TLS (Transport Layer Security)</a:t>
            </a:r>
            <a:r>
              <a:rPr lang="en-US" dirty="0"/>
              <a:t> or the older </a:t>
            </a:r>
            <a:r>
              <a:rPr lang="en-US" b="1" dirty="0"/>
              <a:t>SSL (Secure Sockets Layer)</a:t>
            </a:r>
            <a:r>
              <a:rPr lang="en-US" dirty="0"/>
              <a:t> to </a:t>
            </a:r>
            <a:r>
              <a:rPr lang="en-US" b="1" dirty="0"/>
              <a:t>encrypt communication</a:t>
            </a:r>
            <a:r>
              <a:rPr lang="en-US" dirty="0"/>
              <a:t> between the </a:t>
            </a:r>
            <a:r>
              <a:rPr lang="en-US" b="1" dirty="0"/>
              <a:t>web browser (client)</a:t>
            </a:r>
            <a:r>
              <a:rPr lang="en-US" dirty="0"/>
              <a:t> and the </a:t>
            </a:r>
            <a:r>
              <a:rPr lang="en-US" b="1" dirty="0"/>
              <a:t>web server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This ensures that data transmitted over the internet remains </a:t>
            </a:r>
            <a:r>
              <a:rPr lang="en-US" b="1" dirty="0"/>
              <a:t>private, secure, and unmodified</a:t>
            </a:r>
            <a:r>
              <a:rPr lang="en-US" dirty="0"/>
              <a:t>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Port Number: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HTTP → 80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HTTPS → 443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Need for HTTPS:</a:t>
            </a:r>
          </a:p>
          <a:p>
            <a:endParaRPr lang="en-US" b="1" dirty="0"/>
          </a:p>
          <a:p>
            <a:r>
              <a:rPr lang="en-US" dirty="0"/>
              <a:t>HTTP sends data in </a:t>
            </a:r>
            <a:r>
              <a:rPr lang="en-US" b="1" dirty="0"/>
              <a:t>plain text</a:t>
            </a:r>
            <a:r>
              <a:rPr lang="en-US" dirty="0"/>
              <a:t>, which can be </a:t>
            </a:r>
            <a:r>
              <a:rPr lang="en-US" b="1" dirty="0"/>
              <a:t>intercepted or modified</a:t>
            </a:r>
            <a:r>
              <a:rPr lang="en-US" dirty="0"/>
              <a:t> by hackers.</a:t>
            </a:r>
            <a:br>
              <a:rPr lang="en-US" dirty="0"/>
            </a:br>
            <a:r>
              <a:rPr lang="en-US" dirty="0"/>
              <a:t>HTTPS prevents this by </a:t>
            </a:r>
            <a:r>
              <a:rPr lang="en-US" b="1" dirty="0"/>
              <a:t>encrypting the data</a:t>
            </a:r>
            <a:r>
              <a:rPr lang="en-US" dirty="0"/>
              <a:t>, making it unreadable to anyone except the intended recipient.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3411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AAEB9-BBC0-BBC1-E542-B3D6D375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11E8CF-18D8-E40B-06CA-28D309C4033F}"/>
              </a:ext>
            </a:extLst>
          </p:cNvPr>
          <p:cNvSpPr txBox="1"/>
          <p:nvPr/>
        </p:nvSpPr>
        <p:spPr>
          <a:xfrm>
            <a:off x="823965" y="192487"/>
            <a:ext cx="98473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Working of HTTPS: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Client Request:</a:t>
            </a:r>
            <a:br>
              <a:rPr lang="en-US" dirty="0"/>
            </a:br>
            <a:r>
              <a:rPr lang="en-US" dirty="0"/>
              <a:t>The browser sends a request to the web server using </a:t>
            </a:r>
            <a:r>
              <a:rPr lang="en-US" dirty="0">
                <a:latin typeface="Courier New" panose="02070309020205020404" pitchFamily="49" charset="0"/>
              </a:rPr>
              <a:t>https://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Server Certificate:</a:t>
            </a:r>
            <a:br>
              <a:rPr lang="en-US" dirty="0"/>
            </a:br>
            <a:r>
              <a:rPr lang="en-US" dirty="0"/>
              <a:t>The server responds with a </a:t>
            </a:r>
            <a:r>
              <a:rPr lang="en-US" b="1" dirty="0"/>
              <a:t>digital certificate</a:t>
            </a:r>
            <a:r>
              <a:rPr lang="en-US" dirty="0"/>
              <a:t> issued by a </a:t>
            </a:r>
            <a:r>
              <a:rPr lang="en-US" b="1" dirty="0"/>
              <a:t>Certificate Authority (CA)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certificate confirms that the website is genuine.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TLS Handshake: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Browser verifies the certificate.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Client and server agree on encryption methods.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Secure session keys are generated.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Encrypted Communication:</a:t>
            </a:r>
            <a:br>
              <a:rPr lang="en-US" dirty="0"/>
            </a:br>
            <a:r>
              <a:rPr lang="en-US" dirty="0"/>
              <a:t>After the handshake, all data is </a:t>
            </a:r>
            <a:r>
              <a:rPr lang="en-US" b="1" dirty="0"/>
              <a:t>encrypted</a:t>
            </a:r>
            <a:r>
              <a:rPr lang="en-US" dirty="0"/>
              <a:t> before transmission.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5.8 Certificate Issuing Authority</a:t>
            </a:r>
          </a:p>
          <a:p>
            <a:endParaRPr lang="en-US" b="1" dirty="0"/>
          </a:p>
          <a:p>
            <a:r>
              <a:rPr lang="en-US" b="1" dirty="0"/>
              <a:t>Definition: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Certificate Issuing Authority (CA)</a:t>
            </a:r>
            <a:r>
              <a:rPr lang="en-US" dirty="0"/>
              <a:t>, also called a </a:t>
            </a:r>
            <a:r>
              <a:rPr lang="en-US" b="1" dirty="0"/>
              <a:t>Certification Authority</a:t>
            </a:r>
            <a:r>
              <a:rPr lang="en-US" dirty="0"/>
              <a:t>, is a </a:t>
            </a:r>
            <a:r>
              <a:rPr lang="en-US" b="1" dirty="0"/>
              <a:t>trusted organization</a:t>
            </a:r>
            <a:r>
              <a:rPr lang="en-US" dirty="0"/>
              <a:t> that issues </a:t>
            </a:r>
            <a:r>
              <a:rPr lang="en-US" b="1" dirty="0"/>
              <a:t>digital certificates</a:t>
            </a:r>
            <a:r>
              <a:rPr lang="en-US" dirty="0"/>
              <a:t> to verify the </a:t>
            </a:r>
            <a:r>
              <a:rPr lang="en-US" b="1" dirty="0"/>
              <a:t>identity of websites, organizations, or individuals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These certificates are used in </a:t>
            </a:r>
            <a:r>
              <a:rPr lang="en-US" b="1" dirty="0"/>
              <a:t>HTTPS (SSL/TLS)</a:t>
            </a:r>
            <a:r>
              <a:rPr lang="en-US" dirty="0"/>
              <a:t> to ensure </a:t>
            </a:r>
            <a:r>
              <a:rPr lang="en-US" b="1" dirty="0"/>
              <a:t>secure and authentic</a:t>
            </a:r>
            <a:r>
              <a:rPr lang="en-US" dirty="0"/>
              <a:t> communication over the Internet.</a:t>
            </a:r>
          </a:p>
        </p:txBody>
      </p:sp>
    </p:spTree>
    <p:extLst>
      <p:ext uri="{BB962C8B-B14F-4D97-AF65-F5344CB8AC3E}">
        <p14:creationId xmlns:p14="http://schemas.microsoft.com/office/powerpoint/2010/main" val="766045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A2E9E-05CC-485C-BCB5-402D5B9E8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1AE771-4489-6B7A-E218-3E885320CD3C}"/>
              </a:ext>
            </a:extLst>
          </p:cNvPr>
          <p:cNvSpPr txBox="1"/>
          <p:nvPr/>
        </p:nvSpPr>
        <p:spPr>
          <a:xfrm>
            <a:off x="844062" y="188132"/>
            <a:ext cx="847327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Functions of a Certificate Authority: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Verification:</a:t>
            </a:r>
            <a:br>
              <a:rPr lang="en-US" dirty="0"/>
            </a:br>
            <a:r>
              <a:rPr lang="en-US" dirty="0"/>
              <a:t>Checks the identity of the website owner or organization before issuing a certificate.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Issuing Certificates:</a:t>
            </a:r>
            <a:br>
              <a:rPr lang="en-US" dirty="0"/>
            </a:br>
            <a:r>
              <a:rPr lang="en-US" dirty="0"/>
              <a:t>Provides </a:t>
            </a:r>
            <a:r>
              <a:rPr lang="en-US" b="1" dirty="0"/>
              <a:t>Digital Certificates</a:t>
            </a:r>
            <a:r>
              <a:rPr lang="en-US" dirty="0"/>
              <a:t> (like SSL/TLS certificates) that are used to enable </a:t>
            </a:r>
            <a:r>
              <a:rPr lang="en-US" b="1" dirty="0"/>
              <a:t>HTTPS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Certificate Management:</a:t>
            </a:r>
            <a:br>
              <a:rPr lang="en-US" dirty="0"/>
            </a:br>
            <a:r>
              <a:rPr lang="en-US" dirty="0"/>
              <a:t>Maintains a record of valid, expired, or revoked certificates.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Trust Establishment:</a:t>
            </a:r>
            <a:br>
              <a:rPr lang="en-US" dirty="0"/>
            </a:br>
            <a:r>
              <a:rPr lang="en-US" dirty="0"/>
              <a:t>Ensures that browsers and users can trust that a website is genuine (shows a 🔒 lock symbol)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What is a Digital Certificate?</a:t>
            </a:r>
          </a:p>
          <a:p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Digital Certificate</a:t>
            </a:r>
            <a:r>
              <a:rPr lang="en-US" dirty="0"/>
              <a:t> (also called an </a:t>
            </a:r>
            <a:r>
              <a:rPr lang="en-US" b="1" dirty="0"/>
              <a:t>SSL/TLS Certificate</a:t>
            </a:r>
            <a:r>
              <a:rPr lang="en-US" dirty="0"/>
              <a:t>) contains: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Website’s </a:t>
            </a:r>
            <a:r>
              <a:rPr lang="en-US" b="1" dirty="0"/>
              <a:t>public key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Organization 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Domain name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Validity period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Issuer details</a:t>
            </a:r>
            <a:r>
              <a:rPr lang="en-US" dirty="0"/>
              <a:t> (CA name)</a:t>
            </a:r>
          </a:p>
          <a:p>
            <a:r>
              <a:rPr lang="en-US" dirty="0"/>
              <a:t>It is proof that the website is </a:t>
            </a:r>
            <a:r>
              <a:rPr lang="en-US" b="1" dirty="0"/>
              <a:t>authentic</a:t>
            </a:r>
            <a:r>
              <a:rPr lang="en-US" dirty="0"/>
              <a:t> and </a:t>
            </a:r>
            <a:r>
              <a:rPr lang="en-US" b="1" dirty="0"/>
              <a:t>secure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5046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BA4B-1B07-6655-03B2-824B9138F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B728D5-6847-AF64-8450-B265C28746C1}"/>
              </a:ext>
            </a:extLst>
          </p:cNvPr>
          <p:cNvSpPr txBox="1"/>
          <p:nvPr/>
        </p:nvSpPr>
        <p:spPr>
          <a:xfrm>
            <a:off x="914400" y="180760"/>
            <a:ext cx="855365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dirty="0"/>
              <a:t>Types of Certificate Authorities:</a:t>
            </a:r>
          </a:p>
          <a:p>
            <a:endParaRPr lang="en-US" b="1" dirty="0"/>
          </a:p>
          <a:p>
            <a:pPr>
              <a:buFont typeface="+mj-lt"/>
              <a:buAutoNum type="arabicPeriod"/>
            </a:pPr>
            <a:r>
              <a:rPr lang="en-US" b="1" dirty="0"/>
              <a:t>Root CA</a:t>
            </a:r>
            <a:r>
              <a:rPr lang="en-US" dirty="0"/>
              <a:t> – Main trusted authority at the top of the certificate chain.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Intermediate CA</a:t>
            </a:r>
            <a:r>
              <a:rPr lang="en-US" dirty="0"/>
              <a:t> – Works under Root CA to issue certificates to end users.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r>
              <a:rPr lang="en-US" b="1" dirty="0"/>
              <a:t>Popular Certificate Issuing Authorities:</a:t>
            </a:r>
          </a:p>
          <a:p>
            <a:endParaRPr lang="en-US" b="1" dirty="0"/>
          </a:p>
          <a:p>
            <a:r>
              <a:rPr lang="en-US" b="1" dirty="0"/>
              <a:t>1. Let’s Encrypt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free</a:t>
            </a:r>
            <a:r>
              <a:rPr lang="en-US" dirty="0"/>
              <a:t>, </a:t>
            </a:r>
            <a:r>
              <a:rPr lang="en-US" b="1" dirty="0"/>
              <a:t>automated</a:t>
            </a:r>
            <a:r>
              <a:rPr lang="en-US" dirty="0"/>
              <a:t>, and </a:t>
            </a:r>
            <a:r>
              <a:rPr lang="en-US" b="1" dirty="0"/>
              <a:t>open</a:t>
            </a:r>
            <a:r>
              <a:rPr lang="en-US" dirty="0"/>
              <a:t> certificate authority.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SSL/TLS certificates</a:t>
            </a:r>
            <a:r>
              <a:rPr lang="en-US" dirty="0"/>
              <a:t> for free to any website.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Managed by the </a:t>
            </a:r>
            <a:r>
              <a:rPr lang="en-US" b="1" dirty="0"/>
              <a:t>Internet Security Research Group (ISRG)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Certificates are valid for </a:t>
            </a:r>
            <a:r>
              <a:rPr lang="en-US" b="1" dirty="0"/>
              <a:t>90 days</a:t>
            </a:r>
            <a:r>
              <a:rPr lang="en-US" dirty="0"/>
              <a:t> and can be </a:t>
            </a:r>
            <a:r>
              <a:rPr lang="en-US" b="1" dirty="0"/>
              <a:t>renewed automatically</a:t>
            </a:r>
            <a:r>
              <a:rPr lang="en-US" dirty="0"/>
              <a:t>.</a:t>
            </a:r>
          </a:p>
          <a:p>
            <a:r>
              <a:rPr lang="en-US" b="1" dirty="0"/>
              <a:t>Best For:</a:t>
            </a:r>
            <a:r>
              <a:rPr lang="en-US" dirty="0"/>
              <a:t> Small websites, blogs, educational use.</a:t>
            </a:r>
          </a:p>
          <a:p>
            <a:endParaRPr lang="en-US" dirty="0"/>
          </a:p>
          <a:p>
            <a:r>
              <a:rPr lang="en-US" b="1" dirty="0"/>
              <a:t>2. DigiCert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commercial CA</a:t>
            </a:r>
            <a:r>
              <a:rPr lang="en-US" dirty="0"/>
              <a:t> that provides </a:t>
            </a:r>
            <a:r>
              <a:rPr lang="en-US" b="1" dirty="0"/>
              <a:t>high-assurance certificates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Offers </a:t>
            </a:r>
            <a:r>
              <a:rPr lang="en-US" b="1" dirty="0"/>
              <a:t>EV (Extended Validation)</a:t>
            </a:r>
            <a:r>
              <a:rPr lang="en-US" dirty="0"/>
              <a:t> and </a:t>
            </a:r>
            <a:r>
              <a:rPr lang="en-US" b="1" dirty="0"/>
              <a:t>OV (Organization Validation)</a:t>
            </a:r>
            <a:r>
              <a:rPr lang="en-US" dirty="0"/>
              <a:t> SSL certificates.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Known for </a:t>
            </a:r>
            <a:r>
              <a:rPr lang="en-US" b="1" dirty="0"/>
              <a:t>strong encryption</a:t>
            </a:r>
            <a:r>
              <a:rPr lang="en-US" dirty="0"/>
              <a:t> and </a:t>
            </a:r>
            <a:r>
              <a:rPr lang="en-US" b="1" dirty="0"/>
              <a:t>enterprise-level security</a:t>
            </a:r>
            <a:r>
              <a:rPr lang="en-US" dirty="0"/>
              <a:t>.</a:t>
            </a:r>
          </a:p>
          <a:p>
            <a:r>
              <a:rPr lang="en-US" b="1" dirty="0"/>
              <a:t>Best For:</a:t>
            </a:r>
            <a:r>
              <a:rPr lang="en-US" dirty="0"/>
              <a:t> Large businesses, e-commerce, and government sites.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07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CF1D-DC86-7BA5-3B3C-11A75B1C6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CC9C94-9B14-CCFC-4DF4-BBDE79625601}"/>
              </a:ext>
            </a:extLst>
          </p:cNvPr>
          <p:cNvSpPr txBox="1"/>
          <p:nvPr/>
        </p:nvSpPr>
        <p:spPr>
          <a:xfrm>
            <a:off x="793820" y="186793"/>
            <a:ext cx="882245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DigiSign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digital signature</a:t>
            </a:r>
            <a:r>
              <a:rPr lang="en-US" dirty="0"/>
              <a:t> and </a:t>
            </a:r>
            <a:r>
              <a:rPr lang="en-US" b="1" dirty="0"/>
              <a:t>SSL certificates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widely in </a:t>
            </a:r>
            <a:r>
              <a:rPr lang="en-US" b="1" dirty="0"/>
              <a:t>India</a:t>
            </a:r>
            <a:r>
              <a:rPr lang="en-US" dirty="0"/>
              <a:t> for e-filing, company registration, and secure online transactions.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Recognized by the </a:t>
            </a:r>
            <a:r>
              <a:rPr lang="en-US" b="1" dirty="0"/>
              <a:t>Controller of Certifying Authorities (CCA), Government of India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Best For:</a:t>
            </a:r>
            <a:r>
              <a:rPr lang="en-US" dirty="0"/>
              <a:t> Indian government or legal use (digital signature certificates).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4. VeriSign (now part of DigiCert)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One of the </a:t>
            </a:r>
            <a:r>
              <a:rPr lang="en-US" b="1" dirty="0"/>
              <a:t>oldest and most trusted</a:t>
            </a:r>
            <a:r>
              <a:rPr lang="en-US" dirty="0"/>
              <a:t> certificate authorities.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Known for </a:t>
            </a:r>
            <a:r>
              <a:rPr lang="en-US" b="1" dirty="0"/>
              <a:t>strong validation</a:t>
            </a:r>
            <a:r>
              <a:rPr lang="en-US" dirty="0"/>
              <a:t> and </a:t>
            </a:r>
            <a:r>
              <a:rPr lang="en-US" b="1" dirty="0"/>
              <a:t>high reliability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Acquired by </a:t>
            </a:r>
            <a:r>
              <a:rPr lang="en-US" b="1" dirty="0"/>
              <a:t>DigiCert</a:t>
            </a:r>
            <a:r>
              <a:rPr lang="en-US" dirty="0"/>
              <a:t> in 2017 but still widely recognized by its brand name.</a:t>
            </a:r>
          </a:p>
          <a:p>
            <a:pPr>
              <a:buNone/>
            </a:pPr>
            <a:r>
              <a:rPr lang="en-US" b="1" dirty="0"/>
              <a:t>Best For:</a:t>
            </a:r>
            <a:r>
              <a:rPr lang="en-US" dirty="0"/>
              <a:t> Banking, finance, and corporate websites.</a:t>
            </a:r>
          </a:p>
        </p:txBody>
      </p:sp>
    </p:spTree>
    <p:extLst>
      <p:ext uri="{BB962C8B-B14F-4D97-AF65-F5344CB8AC3E}">
        <p14:creationId xmlns:p14="http://schemas.microsoft.com/office/powerpoint/2010/main" val="241893128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3193</Words>
  <Application>Microsoft Office PowerPoint</Application>
  <PresentationFormat>Widescreen</PresentationFormat>
  <Paragraphs>455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Courier New</vt:lpstr>
      <vt:lpstr>Trebuchet MS</vt:lpstr>
      <vt:lpstr>Wingdings</vt:lpstr>
      <vt:lpstr>Wingdings 3</vt:lpstr>
      <vt:lpstr>Facet</vt:lpstr>
      <vt:lpstr>HTTP and HTTPS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2025-10-24T05:36:36Z</dcterms:created>
  <dcterms:modified xsi:type="dcterms:W3CDTF">2025-10-24T06:53:05Z</dcterms:modified>
</cp:coreProperties>
</file>