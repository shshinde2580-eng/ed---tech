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2"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delSld">
      <pc:chgData name="shshinde2580@gmail.com" userId="86fdf0c531315612" providerId="LiveId" clId="{80EF1F59-5901-4077-BC9B-DA299863282D}" dt="2025-10-13T12:21:04.736" v="2" actId="2696"/>
      <pc:docMkLst>
        <pc:docMk/>
      </pc:docMkLst>
      <pc:sldChg chg="del">
        <pc:chgData name="shshinde2580@gmail.com" userId="86fdf0c531315612" providerId="LiveId" clId="{80EF1F59-5901-4077-BC9B-DA299863282D}" dt="2025-10-13T12:20:12.413" v="0" actId="2696"/>
        <pc:sldMkLst>
          <pc:docMk/>
          <pc:sldMk cId="2004997682" sldId="265"/>
        </pc:sldMkLst>
      </pc:sldChg>
      <pc:sldChg chg="del">
        <pc:chgData name="shshinde2580@gmail.com" userId="86fdf0c531315612" providerId="LiveId" clId="{80EF1F59-5901-4077-BC9B-DA299863282D}" dt="2025-10-13T12:20:59.162" v="1" actId="2696"/>
        <pc:sldMkLst>
          <pc:docMk/>
          <pc:sldMk cId="2307366068" sldId="266"/>
        </pc:sldMkLst>
      </pc:sldChg>
      <pc:sldChg chg="del">
        <pc:chgData name="shshinde2580@gmail.com" userId="86fdf0c531315612" providerId="LiveId" clId="{80EF1F59-5901-4077-BC9B-DA299863282D}" dt="2025-10-13T12:20:59.162" v="1" actId="2696"/>
        <pc:sldMkLst>
          <pc:docMk/>
          <pc:sldMk cId="2517821922" sldId="267"/>
        </pc:sldMkLst>
      </pc:sldChg>
      <pc:sldChg chg="del">
        <pc:chgData name="shshinde2580@gmail.com" userId="86fdf0c531315612" providerId="LiveId" clId="{80EF1F59-5901-4077-BC9B-DA299863282D}" dt="2025-10-13T12:20:59.162" v="1" actId="2696"/>
        <pc:sldMkLst>
          <pc:docMk/>
          <pc:sldMk cId="2942341959" sldId="268"/>
        </pc:sldMkLst>
      </pc:sldChg>
      <pc:sldChg chg="del">
        <pc:chgData name="shshinde2580@gmail.com" userId="86fdf0c531315612" providerId="LiveId" clId="{80EF1F59-5901-4077-BC9B-DA299863282D}" dt="2025-10-13T12:20:59.162" v="1" actId="2696"/>
        <pc:sldMkLst>
          <pc:docMk/>
          <pc:sldMk cId="3687886705" sldId="269"/>
        </pc:sldMkLst>
      </pc:sldChg>
      <pc:sldChg chg="del">
        <pc:chgData name="shshinde2580@gmail.com" userId="86fdf0c531315612" providerId="LiveId" clId="{80EF1F59-5901-4077-BC9B-DA299863282D}" dt="2025-10-13T12:20:59.162" v="1" actId="2696"/>
        <pc:sldMkLst>
          <pc:docMk/>
          <pc:sldMk cId="2608379882" sldId="270"/>
        </pc:sldMkLst>
      </pc:sldChg>
      <pc:sldChg chg="del">
        <pc:chgData name="shshinde2580@gmail.com" userId="86fdf0c531315612" providerId="LiveId" clId="{80EF1F59-5901-4077-BC9B-DA299863282D}" dt="2025-10-13T12:20:59.162" v="1" actId="2696"/>
        <pc:sldMkLst>
          <pc:docMk/>
          <pc:sldMk cId="2930894817" sldId="271"/>
        </pc:sldMkLst>
      </pc:sldChg>
      <pc:sldChg chg="del">
        <pc:chgData name="shshinde2580@gmail.com" userId="86fdf0c531315612" providerId="LiveId" clId="{80EF1F59-5901-4077-BC9B-DA299863282D}" dt="2025-10-13T12:20:59.162" v="1" actId="2696"/>
        <pc:sldMkLst>
          <pc:docMk/>
          <pc:sldMk cId="4199582958" sldId="272"/>
        </pc:sldMkLst>
      </pc:sldChg>
      <pc:sldChg chg="del">
        <pc:chgData name="shshinde2580@gmail.com" userId="86fdf0c531315612" providerId="LiveId" clId="{80EF1F59-5901-4077-BC9B-DA299863282D}" dt="2025-10-13T12:20:59.162" v="1" actId="2696"/>
        <pc:sldMkLst>
          <pc:docMk/>
          <pc:sldMk cId="2649080144" sldId="273"/>
        </pc:sldMkLst>
      </pc:sldChg>
      <pc:sldChg chg="del">
        <pc:chgData name="shshinde2580@gmail.com" userId="86fdf0c531315612" providerId="LiveId" clId="{80EF1F59-5901-4077-BC9B-DA299863282D}" dt="2025-10-13T12:20:59.162" v="1" actId="2696"/>
        <pc:sldMkLst>
          <pc:docMk/>
          <pc:sldMk cId="162935517" sldId="274"/>
        </pc:sldMkLst>
      </pc:sldChg>
      <pc:sldChg chg="del">
        <pc:chgData name="shshinde2580@gmail.com" userId="86fdf0c531315612" providerId="LiveId" clId="{80EF1F59-5901-4077-BC9B-DA299863282D}" dt="2025-10-13T12:20:59.162" v="1" actId="2696"/>
        <pc:sldMkLst>
          <pc:docMk/>
          <pc:sldMk cId="2709565213" sldId="275"/>
        </pc:sldMkLst>
      </pc:sldChg>
      <pc:sldChg chg="del">
        <pc:chgData name="shshinde2580@gmail.com" userId="86fdf0c531315612" providerId="LiveId" clId="{80EF1F59-5901-4077-BC9B-DA299863282D}" dt="2025-10-13T12:20:59.162" v="1" actId="2696"/>
        <pc:sldMkLst>
          <pc:docMk/>
          <pc:sldMk cId="1347481096" sldId="276"/>
        </pc:sldMkLst>
      </pc:sldChg>
      <pc:sldChg chg="del">
        <pc:chgData name="shshinde2580@gmail.com" userId="86fdf0c531315612" providerId="LiveId" clId="{80EF1F59-5901-4077-BC9B-DA299863282D}" dt="2025-10-13T12:20:59.162" v="1" actId="2696"/>
        <pc:sldMkLst>
          <pc:docMk/>
          <pc:sldMk cId="2562190726" sldId="277"/>
        </pc:sldMkLst>
      </pc:sldChg>
      <pc:sldChg chg="del">
        <pc:chgData name="shshinde2580@gmail.com" userId="86fdf0c531315612" providerId="LiveId" clId="{80EF1F59-5901-4077-BC9B-DA299863282D}" dt="2025-10-13T12:20:59.162" v="1" actId="2696"/>
        <pc:sldMkLst>
          <pc:docMk/>
          <pc:sldMk cId="1059926262" sldId="278"/>
        </pc:sldMkLst>
      </pc:sldChg>
      <pc:sldChg chg="del">
        <pc:chgData name="shshinde2580@gmail.com" userId="86fdf0c531315612" providerId="LiveId" clId="{80EF1F59-5901-4077-BC9B-DA299863282D}" dt="2025-10-13T12:20:59.162" v="1" actId="2696"/>
        <pc:sldMkLst>
          <pc:docMk/>
          <pc:sldMk cId="24178022" sldId="279"/>
        </pc:sldMkLst>
      </pc:sldChg>
      <pc:sldChg chg="del">
        <pc:chgData name="shshinde2580@gmail.com" userId="86fdf0c531315612" providerId="LiveId" clId="{80EF1F59-5901-4077-BC9B-DA299863282D}" dt="2025-10-13T12:20:59.162" v="1" actId="2696"/>
        <pc:sldMkLst>
          <pc:docMk/>
          <pc:sldMk cId="50107234" sldId="280"/>
        </pc:sldMkLst>
      </pc:sldChg>
      <pc:sldChg chg="del">
        <pc:chgData name="shshinde2580@gmail.com" userId="86fdf0c531315612" providerId="LiveId" clId="{80EF1F59-5901-4077-BC9B-DA299863282D}" dt="2025-10-13T12:20:59.162" v="1" actId="2696"/>
        <pc:sldMkLst>
          <pc:docMk/>
          <pc:sldMk cId="3941451284" sldId="281"/>
        </pc:sldMkLst>
      </pc:sldChg>
      <pc:sldChg chg="del">
        <pc:chgData name="shshinde2580@gmail.com" userId="86fdf0c531315612" providerId="LiveId" clId="{80EF1F59-5901-4077-BC9B-DA299863282D}" dt="2025-10-13T12:21:04.736" v="2" actId="2696"/>
        <pc:sldMkLst>
          <pc:docMk/>
          <pc:sldMk cId="3957452362" sldId="282"/>
        </pc:sldMkLst>
      </pc:sldChg>
      <pc:sldChg chg="del">
        <pc:chgData name="shshinde2580@gmail.com" userId="86fdf0c531315612" providerId="LiveId" clId="{80EF1F59-5901-4077-BC9B-DA299863282D}" dt="2025-10-13T12:21:04.736" v="2" actId="2696"/>
        <pc:sldMkLst>
          <pc:docMk/>
          <pc:sldMk cId="1938126628" sldId="283"/>
        </pc:sldMkLst>
      </pc:sldChg>
      <pc:sldChg chg="del">
        <pc:chgData name="shshinde2580@gmail.com" userId="86fdf0c531315612" providerId="LiveId" clId="{80EF1F59-5901-4077-BC9B-DA299863282D}" dt="2025-10-13T12:21:04.736" v="2" actId="2696"/>
        <pc:sldMkLst>
          <pc:docMk/>
          <pc:sldMk cId="2242507971" sldId="28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3CCA00-E982-4001-98D5-7952E06C2CD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3663397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3CCA00-E982-4001-98D5-7952E06C2CD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55597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3CCA00-E982-4001-98D5-7952E06C2CD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3335547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3CCA00-E982-4001-98D5-7952E06C2CD1}"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261477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3CCA00-E982-4001-98D5-7952E06C2CD1}" type="datetimeFigureOut">
              <a:rPr lang="en-IN" smtClean="0"/>
              <a:t>13-10-2025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3624026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3CCA00-E982-4001-98D5-7952E06C2CD1}" type="datetimeFigureOut">
              <a:rPr lang="en-IN" smtClean="0"/>
              <a:t>13-10-2025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1622427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3CCA00-E982-4001-98D5-7952E06C2CD1}" type="datetimeFigureOut">
              <a:rPr lang="en-IN" smtClean="0"/>
              <a:t>13-10-2025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2992404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3CCA00-E982-4001-98D5-7952E06C2CD1}"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2084265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3CCA00-E982-4001-98D5-7952E06C2CD1}"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675074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3CCA00-E982-4001-98D5-7952E06C2CD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398028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3CCA00-E982-4001-98D5-7952E06C2CD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DA7E21-C80A-45F6-B300-26E1E9B163E5}"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64440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3CCA00-E982-4001-98D5-7952E06C2CD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2320921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3CCA00-E982-4001-98D5-7952E06C2CD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DA7E21-C80A-45F6-B300-26E1E9B163E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472312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3CCA00-E982-4001-98D5-7952E06C2CD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5186563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3CCA00-E982-4001-98D5-7952E06C2CD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11225397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3CCA00-E982-4001-98D5-7952E06C2CD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DA7E21-C80A-45F6-B300-26E1E9B163E5}" type="slidenum">
              <a:rPr lang="en-IN" smtClean="0"/>
              <a:t>‹#›</a:t>
            </a:fld>
            <a:endParaRPr lang="en-IN"/>
          </a:p>
        </p:txBody>
      </p:sp>
    </p:spTree>
    <p:extLst>
      <p:ext uri="{BB962C8B-B14F-4D97-AF65-F5344CB8AC3E}">
        <p14:creationId xmlns:p14="http://schemas.microsoft.com/office/powerpoint/2010/main" val="274777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3CCA00-E982-4001-98D5-7952E06C2CD1}" type="datetimeFigureOut">
              <a:rPr lang="en-IN" smtClean="0"/>
              <a:t>13-10-2025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8DA7E21-C80A-45F6-B300-26E1E9B163E5}" type="slidenum">
              <a:rPr lang="en-IN" smtClean="0"/>
              <a:t>‹#›</a:t>
            </a:fld>
            <a:endParaRPr lang="en-IN"/>
          </a:p>
        </p:txBody>
      </p:sp>
    </p:spTree>
    <p:extLst>
      <p:ext uri="{BB962C8B-B14F-4D97-AF65-F5344CB8AC3E}">
        <p14:creationId xmlns:p14="http://schemas.microsoft.com/office/powerpoint/2010/main" val="8318371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99BE-D4D5-AFDC-8DCA-C74A6239F431}"/>
              </a:ext>
            </a:extLst>
          </p:cNvPr>
          <p:cNvSpPr>
            <a:spLocks noGrp="1"/>
          </p:cNvSpPr>
          <p:nvPr>
            <p:ph type="ctrTitle"/>
          </p:nvPr>
        </p:nvSpPr>
        <p:spPr>
          <a:xfrm>
            <a:off x="526774" y="2404534"/>
            <a:ext cx="9611139" cy="1646302"/>
          </a:xfrm>
        </p:spPr>
        <p:txBody>
          <a:bodyPr/>
          <a:lstStyle/>
          <a:p>
            <a:pPr algn="ctr"/>
            <a:r>
              <a:rPr lang="en-IN" dirty="0"/>
              <a:t>Underlying Technologies </a:t>
            </a:r>
          </a:p>
        </p:txBody>
      </p:sp>
    </p:spTree>
    <p:extLst>
      <p:ext uri="{BB962C8B-B14F-4D97-AF65-F5344CB8AC3E}">
        <p14:creationId xmlns:p14="http://schemas.microsoft.com/office/powerpoint/2010/main" val="256554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CECF44-C749-0B19-ABD9-E8A9C8D9ACE5}"/>
              </a:ext>
            </a:extLst>
          </p:cNvPr>
          <p:cNvSpPr txBox="1"/>
          <p:nvPr/>
        </p:nvSpPr>
        <p:spPr>
          <a:xfrm>
            <a:off x="844826" y="147217"/>
            <a:ext cx="8537713" cy="1754326"/>
          </a:xfrm>
          <a:prstGeom prst="rect">
            <a:avLst/>
          </a:prstGeom>
          <a:noFill/>
        </p:spPr>
        <p:txBody>
          <a:bodyPr wrap="square">
            <a:spAutoFit/>
          </a:bodyPr>
          <a:lstStyle/>
          <a:p>
            <a:pPr>
              <a:buNone/>
            </a:pPr>
            <a:r>
              <a:rPr lang="en-US" b="1" dirty="0"/>
              <a:t>2.1 Wired LANs</a:t>
            </a:r>
          </a:p>
          <a:p>
            <a:pPr>
              <a:buNone/>
            </a:pPr>
            <a:endParaRPr lang="en-US" b="1" dirty="0"/>
          </a:p>
          <a:p>
            <a:pPr>
              <a:buNone/>
            </a:pPr>
            <a:r>
              <a:rPr lang="en-US" dirty="0"/>
              <a:t>A Wired LAN (Local Area Network) is a network where computers and devices are connected using physical cables (mostly twisted-pair or fiber optic cables). It provides high speed, reliability, and security for communication within a limited area like a building, campus, or office.</a:t>
            </a:r>
          </a:p>
        </p:txBody>
      </p:sp>
      <p:sp>
        <p:nvSpPr>
          <p:cNvPr id="7" name="TextBox 6">
            <a:extLst>
              <a:ext uri="{FF2B5EF4-FFF2-40B4-BE49-F238E27FC236}">
                <a16:creationId xmlns:a16="http://schemas.microsoft.com/office/drawing/2014/main" id="{B5B61990-34EB-4B2C-34AF-DEFDD61A7367}"/>
              </a:ext>
            </a:extLst>
          </p:cNvPr>
          <p:cNvSpPr txBox="1"/>
          <p:nvPr/>
        </p:nvSpPr>
        <p:spPr>
          <a:xfrm>
            <a:off x="844826" y="2274838"/>
            <a:ext cx="8309113" cy="2031325"/>
          </a:xfrm>
          <a:prstGeom prst="rect">
            <a:avLst/>
          </a:prstGeom>
          <a:noFill/>
        </p:spPr>
        <p:txBody>
          <a:bodyPr wrap="square">
            <a:spAutoFit/>
          </a:bodyPr>
          <a:lstStyle/>
          <a:p>
            <a:pPr algn="l">
              <a:buNone/>
            </a:pPr>
            <a:r>
              <a:rPr lang="en-US" b="1" i="0" dirty="0">
                <a:effectLst/>
                <a:latin typeface="fkGrotesk"/>
              </a:rPr>
              <a:t>2.1.1 IEEE Standards (802.3)</a:t>
            </a:r>
          </a:p>
          <a:p>
            <a:pPr algn="l">
              <a:buNone/>
            </a:pPr>
            <a:endParaRPr lang="en-US" b="0" i="0" dirty="0">
              <a:effectLst/>
              <a:latin typeface="fkGrotesk"/>
            </a:endParaRPr>
          </a:p>
          <a:p>
            <a:pPr algn="l">
              <a:buNone/>
            </a:pPr>
            <a:r>
              <a:rPr lang="en-US" b="0" i="0" dirty="0">
                <a:effectLst/>
                <a:latin typeface="fkGroteskNeue"/>
              </a:rPr>
              <a:t>IEEE 802.3 is a collection of standards that define the physical and data link layers for wired Ethernet LANs, mainly focusing on media access control (MAC) with carrier-sense multiple access with collision detection (CSMA/CD). It covers a wide range of Ethernet technologies that use copper or fiber optic cables to interconnect devices like switches, routers, and computers within a network.</a:t>
            </a:r>
          </a:p>
        </p:txBody>
      </p:sp>
    </p:spTree>
    <p:extLst>
      <p:ext uri="{BB962C8B-B14F-4D97-AF65-F5344CB8AC3E}">
        <p14:creationId xmlns:p14="http://schemas.microsoft.com/office/powerpoint/2010/main" val="335619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52C52-952F-2C23-FB1E-A6B01A6F20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0814DA6-A05F-A7AD-B9AF-C2DAD8D6AEF9}"/>
              </a:ext>
            </a:extLst>
          </p:cNvPr>
          <p:cNvSpPr txBox="1"/>
          <p:nvPr/>
        </p:nvSpPr>
        <p:spPr>
          <a:xfrm>
            <a:off x="805069" y="151106"/>
            <a:ext cx="8478078" cy="3139321"/>
          </a:xfrm>
          <a:prstGeom prst="rect">
            <a:avLst/>
          </a:prstGeom>
          <a:noFill/>
        </p:spPr>
        <p:txBody>
          <a:bodyPr wrap="square">
            <a:spAutoFit/>
          </a:bodyPr>
          <a:lstStyle/>
          <a:p>
            <a:pPr algn="l"/>
            <a:r>
              <a:rPr lang="en-IN" b="1" i="0" dirty="0">
                <a:effectLst/>
                <a:latin typeface="fkGrotesk"/>
              </a:rPr>
              <a:t>2.1.2 Ethernet Frame Format</a:t>
            </a:r>
          </a:p>
          <a:p>
            <a:pPr algn="l"/>
            <a:endParaRPr lang="en-IN" b="0" i="0" dirty="0">
              <a:effectLst/>
              <a:latin typeface="fkGrotesk"/>
            </a:endParaRPr>
          </a:p>
          <a:p>
            <a:pPr algn="l">
              <a:buNone/>
            </a:pPr>
            <a:r>
              <a:rPr lang="en-IN" b="0" i="0" dirty="0">
                <a:effectLst/>
                <a:latin typeface="fkGroteskNeue"/>
              </a:rPr>
              <a:t>The Ethernet frame format comprises several fields:</a:t>
            </a:r>
            <a:endParaRPr lang="en-IN" dirty="0">
              <a:latin typeface="fkGroteskNeue"/>
            </a:endParaRPr>
          </a:p>
          <a:p>
            <a:pPr algn="l">
              <a:buNone/>
            </a:pPr>
            <a:endParaRPr lang="en-IN" b="0" i="0" dirty="0">
              <a:effectLst/>
              <a:latin typeface="fkGroteskNeue"/>
            </a:endParaRPr>
          </a:p>
          <a:p>
            <a:pPr algn="l">
              <a:buFont typeface="Arial" panose="020B0604020202020204" pitchFamily="34" charset="0"/>
              <a:buChar char="•"/>
            </a:pPr>
            <a:r>
              <a:rPr lang="en-IN" b="0" i="0" dirty="0">
                <a:effectLst/>
                <a:latin typeface="fkGroteskNeue"/>
              </a:rPr>
              <a:t>Preamble (7 bytes): Synchronizes sender and receiver clocks.</a:t>
            </a:r>
          </a:p>
          <a:p>
            <a:pPr algn="l">
              <a:buFont typeface="Arial" panose="020B0604020202020204" pitchFamily="34" charset="0"/>
              <a:buChar char="•"/>
            </a:pPr>
            <a:r>
              <a:rPr lang="en-IN" b="0" i="0" dirty="0">
                <a:effectLst/>
                <a:latin typeface="fkGroteskNeue"/>
              </a:rPr>
              <a:t>Start Frame Delimiter (SFD) (1 byte): Marks the start of the frame payload.</a:t>
            </a:r>
          </a:p>
          <a:p>
            <a:pPr algn="l">
              <a:buFont typeface="Arial" panose="020B0604020202020204" pitchFamily="34" charset="0"/>
              <a:buChar char="•"/>
            </a:pPr>
            <a:r>
              <a:rPr lang="en-IN" b="0" i="0" dirty="0">
                <a:effectLst/>
                <a:latin typeface="fkGroteskNeue"/>
              </a:rPr>
              <a:t>Destination MAC Address (6 bytes): Identifies the receiver device.</a:t>
            </a:r>
          </a:p>
          <a:p>
            <a:pPr algn="l">
              <a:buFont typeface="Arial" panose="020B0604020202020204" pitchFamily="34" charset="0"/>
              <a:buChar char="•"/>
            </a:pPr>
            <a:r>
              <a:rPr lang="en-IN" b="0" i="0" dirty="0">
                <a:effectLst/>
                <a:latin typeface="fkGroteskNeue"/>
              </a:rPr>
              <a:t>Source MAC Address (6 bytes): Identifies the sender device.</a:t>
            </a:r>
          </a:p>
          <a:p>
            <a:pPr algn="l">
              <a:buFont typeface="Arial" panose="020B0604020202020204" pitchFamily="34" charset="0"/>
              <a:buChar char="•"/>
            </a:pPr>
            <a:r>
              <a:rPr lang="en-IN" b="0" i="0" dirty="0">
                <a:effectLst/>
                <a:latin typeface="fkGroteskNeue"/>
              </a:rPr>
              <a:t>Ether Type/Length (2 bytes): Indicates the type of payload or its length.</a:t>
            </a:r>
          </a:p>
          <a:p>
            <a:pPr algn="l">
              <a:buFont typeface="Arial" panose="020B0604020202020204" pitchFamily="34" charset="0"/>
              <a:buChar char="•"/>
            </a:pPr>
            <a:r>
              <a:rPr lang="en-IN" b="0" i="0" dirty="0">
                <a:effectLst/>
                <a:latin typeface="fkGroteskNeue"/>
              </a:rPr>
              <a:t>Payload (46–1500 bytes): Actual transmitted data.</a:t>
            </a:r>
          </a:p>
          <a:p>
            <a:pPr algn="l">
              <a:buFont typeface="Arial" panose="020B0604020202020204" pitchFamily="34" charset="0"/>
              <a:buChar char="•"/>
            </a:pPr>
            <a:r>
              <a:rPr lang="en-IN" b="0" i="0" dirty="0">
                <a:effectLst/>
                <a:latin typeface="fkGroteskNeue"/>
              </a:rPr>
              <a:t>Frame Check Sequence (FCS) (4 bytes): Error detection mechanism.</a:t>
            </a:r>
          </a:p>
        </p:txBody>
      </p:sp>
      <p:sp>
        <p:nvSpPr>
          <p:cNvPr id="5" name="TextBox 4">
            <a:extLst>
              <a:ext uri="{FF2B5EF4-FFF2-40B4-BE49-F238E27FC236}">
                <a16:creationId xmlns:a16="http://schemas.microsoft.com/office/drawing/2014/main" id="{9DE160FF-23BA-3CD2-3405-8329CE6B2722}"/>
              </a:ext>
            </a:extLst>
          </p:cNvPr>
          <p:cNvSpPr txBox="1"/>
          <p:nvPr/>
        </p:nvSpPr>
        <p:spPr>
          <a:xfrm>
            <a:off x="805068" y="3429000"/>
            <a:ext cx="8587409" cy="3416320"/>
          </a:xfrm>
          <a:prstGeom prst="rect">
            <a:avLst/>
          </a:prstGeom>
          <a:noFill/>
        </p:spPr>
        <p:txBody>
          <a:bodyPr wrap="square">
            <a:spAutoFit/>
          </a:bodyPr>
          <a:lstStyle/>
          <a:p>
            <a:pPr algn="l">
              <a:buNone/>
            </a:pPr>
            <a:r>
              <a:rPr lang="en-US" b="1" i="0" dirty="0">
                <a:effectLst/>
                <a:latin typeface="fkGrotesk"/>
              </a:rPr>
              <a:t>2.1.3 Addressing</a:t>
            </a:r>
          </a:p>
          <a:p>
            <a:pPr algn="l">
              <a:buNone/>
            </a:pPr>
            <a:endParaRPr lang="en-US" b="0" i="0" dirty="0">
              <a:effectLst/>
              <a:latin typeface="fkGrotesk"/>
            </a:endParaRPr>
          </a:p>
          <a:p>
            <a:r>
              <a:rPr lang="en-US" dirty="0"/>
              <a:t>Ethernet uses MAC (Media Access Control) addresses for communication.</a:t>
            </a:r>
          </a:p>
          <a:p>
            <a:r>
              <a:rPr lang="en-US" dirty="0"/>
              <a:t>A MAC address is a 48-bit (6 bytes) unique address assigned to each network interface card (NIC).</a:t>
            </a:r>
          </a:p>
          <a:p>
            <a:r>
              <a:rPr lang="en-US" dirty="0"/>
              <a:t>It is written in hexadecimal format (e.g., 00:A1:B2:C3:D4:E5).</a:t>
            </a:r>
          </a:p>
          <a:p>
            <a:endParaRPr lang="en-US" dirty="0"/>
          </a:p>
          <a:p>
            <a:r>
              <a:rPr lang="en-US" dirty="0"/>
              <a:t>There are two types of addressing:</a:t>
            </a:r>
          </a:p>
          <a:p>
            <a:pPr lvl="1"/>
            <a:r>
              <a:rPr lang="en-US" b="1" dirty="0"/>
              <a:t>Unicast:</a:t>
            </a:r>
            <a:r>
              <a:rPr lang="en-US" dirty="0"/>
              <a:t> One-to-one communication</a:t>
            </a:r>
          </a:p>
          <a:p>
            <a:pPr lvl="1"/>
            <a:r>
              <a:rPr lang="en-US" b="1" dirty="0"/>
              <a:t>Broadcast:</a:t>
            </a:r>
            <a:r>
              <a:rPr lang="en-US" dirty="0"/>
              <a:t> One-to-all communication</a:t>
            </a:r>
          </a:p>
          <a:p>
            <a:pPr lvl="1"/>
            <a:r>
              <a:rPr lang="en-US" b="1" dirty="0"/>
              <a:t>Multicast:</a:t>
            </a:r>
            <a:r>
              <a:rPr lang="en-US" dirty="0"/>
              <a:t> One-to-many (specific group)</a:t>
            </a:r>
          </a:p>
          <a:p>
            <a:pPr algn="l">
              <a:buNone/>
            </a:pPr>
            <a:endParaRPr lang="en-US" b="0" i="0" dirty="0">
              <a:effectLst/>
              <a:latin typeface="fkGrotesk"/>
            </a:endParaRPr>
          </a:p>
        </p:txBody>
      </p:sp>
    </p:spTree>
    <p:extLst>
      <p:ext uri="{BB962C8B-B14F-4D97-AF65-F5344CB8AC3E}">
        <p14:creationId xmlns:p14="http://schemas.microsoft.com/office/powerpoint/2010/main" val="3598379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A6A9A-6788-6C88-C9EB-31377EC0E495}"/>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DF8D812-EF8F-87BA-E65E-A1E4177B334F}"/>
              </a:ext>
            </a:extLst>
          </p:cNvPr>
          <p:cNvGraphicFramePr>
            <a:graphicFrameLocks noGrp="1"/>
          </p:cNvGraphicFramePr>
          <p:nvPr>
            <p:extLst>
              <p:ext uri="{D42A27DB-BD31-4B8C-83A1-F6EECF244321}">
                <p14:modId xmlns:p14="http://schemas.microsoft.com/office/powerpoint/2010/main" val="4211060505"/>
              </p:ext>
            </p:extLst>
          </p:nvPr>
        </p:nvGraphicFramePr>
        <p:xfrm>
          <a:off x="775394" y="615674"/>
          <a:ext cx="9001254" cy="3687659"/>
        </p:xfrm>
        <a:graphic>
          <a:graphicData uri="http://schemas.openxmlformats.org/drawingml/2006/table">
            <a:tbl>
              <a:tblPr>
                <a:tableStyleId>{5940675A-B579-460E-94D1-54222C63F5DA}</a:tableStyleId>
              </a:tblPr>
              <a:tblGrid>
                <a:gridCol w="1500209">
                  <a:extLst>
                    <a:ext uri="{9D8B030D-6E8A-4147-A177-3AD203B41FA5}">
                      <a16:colId xmlns:a16="http://schemas.microsoft.com/office/drawing/2014/main" val="1638198012"/>
                    </a:ext>
                  </a:extLst>
                </a:gridCol>
                <a:gridCol w="1103701">
                  <a:extLst>
                    <a:ext uri="{9D8B030D-6E8A-4147-A177-3AD203B41FA5}">
                      <a16:colId xmlns:a16="http://schemas.microsoft.com/office/drawing/2014/main" val="526849854"/>
                    </a:ext>
                  </a:extLst>
                </a:gridCol>
                <a:gridCol w="1896717">
                  <a:extLst>
                    <a:ext uri="{9D8B030D-6E8A-4147-A177-3AD203B41FA5}">
                      <a16:colId xmlns:a16="http://schemas.microsoft.com/office/drawing/2014/main" val="629670846"/>
                    </a:ext>
                  </a:extLst>
                </a:gridCol>
                <a:gridCol w="1500209">
                  <a:extLst>
                    <a:ext uri="{9D8B030D-6E8A-4147-A177-3AD203B41FA5}">
                      <a16:colId xmlns:a16="http://schemas.microsoft.com/office/drawing/2014/main" val="3666753893"/>
                    </a:ext>
                  </a:extLst>
                </a:gridCol>
                <a:gridCol w="1500209">
                  <a:extLst>
                    <a:ext uri="{9D8B030D-6E8A-4147-A177-3AD203B41FA5}">
                      <a16:colId xmlns:a16="http://schemas.microsoft.com/office/drawing/2014/main" val="2258935008"/>
                    </a:ext>
                  </a:extLst>
                </a:gridCol>
                <a:gridCol w="1500209">
                  <a:extLst>
                    <a:ext uri="{9D8B030D-6E8A-4147-A177-3AD203B41FA5}">
                      <a16:colId xmlns:a16="http://schemas.microsoft.com/office/drawing/2014/main" val="3222714268"/>
                    </a:ext>
                  </a:extLst>
                </a:gridCol>
              </a:tblGrid>
              <a:tr h="450575">
                <a:tc>
                  <a:txBody>
                    <a:bodyPr/>
                    <a:lstStyle/>
                    <a:p>
                      <a:pPr algn="l">
                        <a:buNone/>
                      </a:pPr>
                      <a:r>
                        <a:rPr lang="en-IN" sz="1500" b="1">
                          <a:effectLst/>
                        </a:rPr>
                        <a:t>Type</a:t>
                      </a:r>
                    </a:p>
                  </a:txBody>
                  <a:tcPr marL="50083" marR="50083" marT="50083" marB="50083" anchor="ctr"/>
                </a:tc>
                <a:tc>
                  <a:txBody>
                    <a:bodyPr/>
                    <a:lstStyle/>
                    <a:p>
                      <a:pPr algn="l">
                        <a:buNone/>
                      </a:pPr>
                      <a:r>
                        <a:rPr lang="en-IN" sz="1500" b="1">
                          <a:effectLst/>
                        </a:rPr>
                        <a:t>Speed</a:t>
                      </a:r>
                    </a:p>
                  </a:txBody>
                  <a:tcPr marL="50083" marR="50083" marT="50083" marB="50083" anchor="ctr"/>
                </a:tc>
                <a:tc>
                  <a:txBody>
                    <a:bodyPr/>
                    <a:lstStyle/>
                    <a:p>
                      <a:pPr algn="l">
                        <a:buNone/>
                      </a:pPr>
                      <a:r>
                        <a:rPr lang="en-IN" sz="1500" b="1" dirty="0">
                          <a:effectLst/>
                        </a:rPr>
                        <a:t>Medium</a:t>
                      </a:r>
                    </a:p>
                  </a:txBody>
                  <a:tcPr marL="50083" marR="50083" marT="50083" marB="50083" anchor="ctr"/>
                </a:tc>
                <a:tc>
                  <a:txBody>
                    <a:bodyPr/>
                    <a:lstStyle/>
                    <a:p>
                      <a:pPr algn="l">
                        <a:buNone/>
                      </a:pPr>
                      <a:r>
                        <a:rPr lang="en-IN" sz="1500" b="1">
                          <a:effectLst/>
                        </a:rPr>
                        <a:t>Typical Use case</a:t>
                      </a:r>
                    </a:p>
                  </a:txBody>
                  <a:tcPr marL="50083" marR="50083" marT="50083" marB="50083" anchor="ctr"/>
                </a:tc>
                <a:tc>
                  <a:txBody>
                    <a:bodyPr/>
                    <a:lstStyle/>
                    <a:p>
                      <a:pPr algn="l">
                        <a:buNone/>
                      </a:pPr>
                      <a:r>
                        <a:rPr lang="en-IN" sz="1500" b="1">
                          <a:effectLst/>
                        </a:rPr>
                        <a:t>Coverage</a:t>
                      </a:r>
                    </a:p>
                  </a:txBody>
                  <a:tcPr marL="50083" marR="50083" marT="50083" marB="50083" anchor="ctr"/>
                </a:tc>
                <a:tc>
                  <a:txBody>
                    <a:bodyPr/>
                    <a:lstStyle/>
                    <a:p>
                      <a:pPr algn="l">
                        <a:buNone/>
                      </a:pPr>
                      <a:r>
                        <a:rPr lang="en-IN" sz="1500" b="1">
                          <a:effectLst/>
                        </a:rPr>
                        <a:t>Features</a:t>
                      </a:r>
                    </a:p>
                  </a:txBody>
                  <a:tcPr marL="50083" marR="50083" marT="50083" marB="50083" anchor="ctr"/>
                </a:tc>
                <a:extLst>
                  <a:ext uri="{0D108BD9-81ED-4DB2-BD59-A6C34878D82A}">
                    <a16:rowId xmlns:a16="http://schemas.microsoft.com/office/drawing/2014/main" val="3243475014"/>
                  </a:ext>
                </a:extLst>
              </a:tr>
              <a:tr h="680411">
                <a:tc>
                  <a:txBody>
                    <a:bodyPr/>
                    <a:lstStyle/>
                    <a:p>
                      <a:pPr algn="l">
                        <a:buNone/>
                      </a:pPr>
                      <a:r>
                        <a:rPr lang="en-IN" sz="1500">
                          <a:effectLst/>
                        </a:rPr>
                        <a:t>Standard Ethernet</a:t>
                      </a:r>
                    </a:p>
                  </a:txBody>
                  <a:tcPr marL="50083" marR="50083" marT="50083" marB="50083" anchor="ctr"/>
                </a:tc>
                <a:tc>
                  <a:txBody>
                    <a:bodyPr/>
                    <a:lstStyle/>
                    <a:p>
                      <a:pPr algn="l">
                        <a:buNone/>
                      </a:pPr>
                      <a:r>
                        <a:rPr lang="en-IN" sz="1500">
                          <a:effectLst/>
                        </a:rPr>
                        <a:t>10 Mbps</a:t>
                      </a:r>
                    </a:p>
                  </a:txBody>
                  <a:tcPr marL="50083" marR="50083" marT="50083" marB="50083" anchor="ctr"/>
                </a:tc>
                <a:tc>
                  <a:txBody>
                    <a:bodyPr/>
                    <a:lstStyle/>
                    <a:p>
                      <a:pPr algn="l">
                        <a:buNone/>
                      </a:pPr>
                      <a:r>
                        <a:rPr lang="en-IN" sz="1500">
                          <a:effectLst/>
                        </a:rPr>
                        <a:t>Coaxial/UTP/Fiber</a:t>
                      </a:r>
                    </a:p>
                  </a:txBody>
                  <a:tcPr marL="50083" marR="50083" marT="50083" marB="50083" anchor="ctr"/>
                </a:tc>
                <a:tc>
                  <a:txBody>
                    <a:bodyPr/>
                    <a:lstStyle/>
                    <a:p>
                      <a:pPr algn="l">
                        <a:buNone/>
                      </a:pPr>
                      <a:r>
                        <a:rPr lang="en-IN" sz="1500">
                          <a:effectLst/>
                        </a:rPr>
                        <a:t>Legacy LAN connections</a:t>
                      </a:r>
                    </a:p>
                  </a:txBody>
                  <a:tcPr marL="50083" marR="50083" marT="50083" marB="50083" anchor="ctr"/>
                </a:tc>
                <a:tc>
                  <a:txBody>
                    <a:bodyPr/>
                    <a:lstStyle/>
                    <a:p>
                      <a:pPr algn="l">
                        <a:buNone/>
                      </a:pPr>
                      <a:r>
                        <a:rPr lang="en-IN" sz="1500">
                          <a:effectLst/>
                        </a:rPr>
                        <a:t>Up to 500m</a:t>
                      </a:r>
                    </a:p>
                  </a:txBody>
                  <a:tcPr marL="50083" marR="50083" marT="50083" marB="50083" anchor="ctr"/>
                </a:tc>
                <a:tc>
                  <a:txBody>
                    <a:bodyPr/>
                    <a:lstStyle/>
                    <a:p>
                      <a:pPr algn="l">
                        <a:buNone/>
                      </a:pPr>
                      <a:r>
                        <a:rPr lang="en-IN" sz="1500">
                          <a:effectLst/>
                        </a:rPr>
                        <a:t>Simple, cost-effective</a:t>
                      </a:r>
                    </a:p>
                  </a:txBody>
                  <a:tcPr marL="50083" marR="50083" marT="50083" marB="50083" anchor="ctr"/>
                </a:tc>
                <a:extLst>
                  <a:ext uri="{0D108BD9-81ED-4DB2-BD59-A6C34878D82A}">
                    <a16:rowId xmlns:a16="http://schemas.microsoft.com/office/drawing/2014/main" val="2021890338"/>
                  </a:ext>
                </a:extLst>
              </a:tr>
              <a:tr h="688895">
                <a:tc>
                  <a:txBody>
                    <a:bodyPr/>
                    <a:lstStyle/>
                    <a:p>
                      <a:pPr algn="l">
                        <a:buNone/>
                      </a:pPr>
                      <a:r>
                        <a:rPr lang="en-IN" sz="1500">
                          <a:effectLst/>
                        </a:rPr>
                        <a:t>Fast Ethernet</a:t>
                      </a:r>
                    </a:p>
                  </a:txBody>
                  <a:tcPr marL="50083" marR="50083" marT="50083" marB="50083" anchor="ctr"/>
                </a:tc>
                <a:tc>
                  <a:txBody>
                    <a:bodyPr/>
                    <a:lstStyle/>
                    <a:p>
                      <a:pPr algn="l">
                        <a:buNone/>
                      </a:pPr>
                      <a:r>
                        <a:rPr lang="en-IN" sz="1500">
                          <a:effectLst/>
                        </a:rPr>
                        <a:t>100 Mbps</a:t>
                      </a:r>
                    </a:p>
                  </a:txBody>
                  <a:tcPr marL="50083" marR="50083" marT="50083" marB="50083" anchor="ctr"/>
                </a:tc>
                <a:tc>
                  <a:txBody>
                    <a:bodyPr/>
                    <a:lstStyle/>
                    <a:p>
                      <a:pPr algn="l">
                        <a:buNone/>
                      </a:pPr>
                      <a:r>
                        <a:rPr lang="en-IN" sz="1500">
                          <a:effectLst/>
                        </a:rPr>
                        <a:t>Twisted Pair/Fiber</a:t>
                      </a:r>
                    </a:p>
                  </a:txBody>
                  <a:tcPr marL="50083" marR="50083" marT="50083" marB="50083" anchor="ctr"/>
                </a:tc>
                <a:tc>
                  <a:txBody>
                    <a:bodyPr/>
                    <a:lstStyle/>
                    <a:p>
                      <a:pPr algn="l">
                        <a:buNone/>
                      </a:pPr>
                      <a:r>
                        <a:rPr lang="en-IN" sz="1500">
                          <a:effectLst/>
                        </a:rPr>
                        <a:t>Small business/home offices</a:t>
                      </a:r>
                    </a:p>
                  </a:txBody>
                  <a:tcPr marL="50083" marR="50083" marT="50083" marB="50083" anchor="ctr"/>
                </a:tc>
                <a:tc>
                  <a:txBody>
                    <a:bodyPr/>
                    <a:lstStyle/>
                    <a:p>
                      <a:pPr algn="l">
                        <a:buNone/>
                      </a:pPr>
                      <a:r>
                        <a:rPr lang="en-IN" sz="1500">
                          <a:effectLst/>
                        </a:rPr>
                        <a:t>Up to 10km</a:t>
                      </a:r>
                    </a:p>
                  </a:txBody>
                  <a:tcPr marL="50083" marR="50083" marT="50083" marB="50083" anchor="ctr"/>
                </a:tc>
                <a:tc>
                  <a:txBody>
                    <a:bodyPr/>
                    <a:lstStyle/>
                    <a:p>
                      <a:pPr algn="l">
                        <a:buNone/>
                      </a:pPr>
                      <a:r>
                        <a:rPr lang="en-IN" sz="1500" dirty="0">
                          <a:effectLst/>
                        </a:rPr>
                        <a:t>Easy upgrade from 10Mbps</a:t>
                      </a:r>
                    </a:p>
                  </a:txBody>
                  <a:tcPr marL="50083" marR="50083" marT="50083" marB="50083" anchor="ctr"/>
                </a:tc>
                <a:extLst>
                  <a:ext uri="{0D108BD9-81ED-4DB2-BD59-A6C34878D82A}">
                    <a16:rowId xmlns:a16="http://schemas.microsoft.com/office/drawing/2014/main" val="1913168249"/>
                  </a:ext>
                </a:extLst>
              </a:tr>
              <a:tr h="688895">
                <a:tc>
                  <a:txBody>
                    <a:bodyPr/>
                    <a:lstStyle/>
                    <a:p>
                      <a:pPr algn="l">
                        <a:buNone/>
                      </a:pPr>
                      <a:r>
                        <a:rPr lang="en-IN" sz="1500">
                          <a:effectLst/>
                        </a:rPr>
                        <a:t>Gigabit Ethernet</a:t>
                      </a:r>
                    </a:p>
                  </a:txBody>
                  <a:tcPr marL="50083" marR="50083" marT="50083" marB="50083" anchor="ctr"/>
                </a:tc>
                <a:tc>
                  <a:txBody>
                    <a:bodyPr/>
                    <a:lstStyle/>
                    <a:p>
                      <a:pPr algn="l">
                        <a:buNone/>
                      </a:pPr>
                      <a:r>
                        <a:rPr lang="en-IN" sz="1500">
                          <a:effectLst/>
                        </a:rPr>
                        <a:t>1 Gbps</a:t>
                      </a:r>
                    </a:p>
                  </a:txBody>
                  <a:tcPr marL="50083" marR="50083" marT="50083" marB="50083" anchor="ctr"/>
                </a:tc>
                <a:tc>
                  <a:txBody>
                    <a:bodyPr/>
                    <a:lstStyle/>
                    <a:p>
                      <a:pPr algn="l">
                        <a:buNone/>
                      </a:pPr>
                      <a:r>
                        <a:rPr lang="en-IN" sz="1500">
                          <a:effectLst/>
                        </a:rPr>
                        <a:t>Twisted Pair/Fiber</a:t>
                      </a:r>
                    </a:p>
                  </a:txBody>
                  <a:tcPr marL="50083" marR="50083" marT="50083" marB="50083" anchor="ctr"/>
                </a:tc>
                <a:tc>
                  <a:txBody>
                    <a:bodyPr/>
                    <a:lstStyle/>
                    <a:p>
                      <a:pPr algn="l">
                        <a:buNone/>
                      </a:pPr>
                      <a:r>
                        <a:rPr lang="en-IN" sz="1500">
                          <a:effectLst/>
                        </a:rPr>
                        <a:t>High-speed enterprise/home</a:t>
                      </a:r>
                    </a:p>
                  </a:txBody>
                  <a:tcPr marL="50083" marR="50083" marT="50083" marB="50083" anchor="ctr"/>
                </a:tc>
                <a:tc>
                  <a:txBody>
                    <a:bodyPr/>
                    <a:lstStyle/>
                    <a:p>
                      <a:pPr algn="l">
                        <a:buNone/>
                      </a:pPr>
                      <a:r>
                        <a:rPr lang="en-IN" sz="1500">
                          <a:effectLst/>
                        </a:rPr>
                        <a:t>Up to 70km</a:t>
                      </a:r>
                    </a:p>
                  </a:txBody>
                  <a:tcPr marL="50083" marR="50083" marT="50083" marB="50083" anchor="ctr"/>
                </a:tc>
                <a:tc>
                  <a:txBody>
                    <a:bodyPr/>
                    <a:lstStyle/>
                    <a:p>
                      <a:pPr algn="l">
                        <a:buNone/>
                      </a:pPr>
                      <a:r>
                        <a:rPr lang="en-IN" sz="1500">
                          <a:effectLst/>
                        </a:rPr>
                        <a:t>High bandwidth</a:t>
                      </a:r>
                    </a:p>
                  </a:txBody>
                  <a:tcPr marL="50083" marR="50083" marT="50083" marB="50083" anchor="ctr"/>
                </a:tc>
                <a:extLst>
                  <a:ext uri="{0D108BD9-81ED-4DB2-BD59-A6C34878D82A}">
                    <a16:rowId xmlns:a16="http://schemas.microsoft.com/office/drawing/2014/main" val="3755904364"/>
                  </a:ext>
                </a:extLst>
              </a:tr>
              <a:tr h="877950">
                <a:tc>
                  <a:txBody>
                    <a:bodyPr/>
                    <a:lstStyle/>
                    <a:p>
                      <a:pPr algn="l">
                        <a:buNone/>
                      </a:pPr>
                      <a:r>
                        <a:rPr lang="en-IN" sz="1500" dirty="0">
                          <a:effectLst/>
                        </a:rPr>
                        <a:t>Ten Gigabit Ethernet</a:t>
                      </a:r>
                    </a:p>
                  </a:txBody>
                  <a:tcPr marL="50083" marR="50083" marT="50083" marB="50083" anchor="ctr"/>
                </a:tc>
                <a:tc>
                  <a:txBody>
                    <a:bodyPr/>
                    <a:lstStyle/>
                    <a:p>
                      <a:pPr algn="l">
                        <a:buNone/>
                      </a:pPr>
                      <a:r>
                        <a:rPr lang="en-IN" sz="1500">
                          <a:effectLst/>
                        </a:rPr>
                        <a:t>10 Gbps</a:t>
                      </a:r>
                    </a:p>
                  </a:txBody>
                  <a:tcPr marL="50083" marR="50083" marT="50083" marB="50083" anchor="ctr"/>
                </a:tc>
                <a:tc>
                  <a:txBody>
                    <a:bodyPr/>
                    <a:lstStyle/>
                    <a:p>
                      <a:pPr algn="l">
                        <a:buNone/>
                      </a:pPr>
                      <a:r>
                        <a:rPr lang="en-IN" sz="1500" dirty="0">
                          <a:effectLst/>
                        </a:rPr>
                        <a:t>Twisted Pair/Fiber</a:t>
                      </a:r>
                    </a:p>
                  </a:txBody>
                  <a:tcPr marL="50083" marR="50083" marT="50083" marB="50083" anchor="ctr"/>
                </a:tc>
                <a:tc>
                  <a:txBody>
                    <a:bodyPr/>
                    <a:lstStyle/>
                    <a:p>
                      <a:pPr algn="l">
                        <a:buNone/>
                      </a:pPr>
                      <a:r>
                        <a:rPr lang="en-IN" sz="1500">
                          <a:effectLst/>
                        </a:rPr>
                        <a:t>Data centers, backbone networks</a:t>
                      </a:r>
                    </a:p>
                  </a:txBody>
                  <a:tcPr marL="50083" marR="50083" marT="50083" marB="50083" anchor="ctr"/>
                </a:tc>
                <a:tc>
                  <a:txBody>
                    <a:bodyPr/>
                    <a:lstStyle/>
                    <a:p>
                      <a:pPr algn="l">
                        <a:buNone/>
                      </a:pPr>
                      <a:r>
                        <a:rPr lang="en-IN" sz="1500">
                          <a:effectLst/>
                        </a:rPr>
                        <a:t>Varies, much higher</a:t>
                      </a:r>
                    </a:p>
                  </a:txBody>
                  <a:tcPr marL="50083" marR="50083" marT="50083" marB="50083" anchor="ctr"/>
                </a:tc>
                <a:tc>
                  <a:txBody>
                    <a:bodyPr/>
                    <a:lstStyle/>
                    <a:p>
                      <a:pPr algn="l">
                        <a:buNone/>
                      </a:pPr>
                      <a:r>
                        <a:rPr lang="en-IN" sz="1500" dirty="0">
                          <a:effectLst/>
                        </a:rPr>
                        <a:t>Highest performance</a:t>
                      </a:r>
                    </a:p>
                  </a:txBody>
                  <a:tcPr marL="50083" marR="50083" marT="50083" marB="50083" anchor="ctr"/>
                </a:tc>
                <a:extLst>
                  <a:ext uri="{0D108BD9-81ED-4DB2-BD59-A6C34878D82A}">
                    <a16:rowId xmlns:a16="http://schemas.microsoft.com/office/drawing/2014/main" val="1553421255"/>
                  </a:ext>
                </a:extLst>
              </a:tr>
            </a:tbl>
          </a:graphicData>
        </a:graphic>
      </p:graphicFrame>
      <p:sp>
        <p:nvSpPr>
          <p:cNvPr id="4" name="TextBox 3">
            <a:extLst>
              <a:ext uri="{FF2B5EF4-FFF2-40B4-BE49-F238E27FC236}">
                <a16:creationId xmlns:a16="http://schemas.microsoft.com/office/drawing/2014/main" id="{A889300F-A480-1EA3-CF0D-472C117EBE20}"/>
              </a:ext>
            </a:extLst>
          </p:cNvPr>
          <p:cNvSpPr txBox="1"/>
          <p:nvPr/>
        </p:nvSpPr>
        <p:spPr>
          <a:xfrm>
            <a:off x="722385" y="4455775"/>
            <a:ext cx="8736496" cy="2308324"/>
          </a:xfrm>
          <a:prstGeom prst="rect">
            <a:avLst/>
          </a:prstGeom>
          <a:noFill/>
        </p:spPr>
        <p:txBody>
          <a:bodyPr wrap="square">
            <a:spAutoFit/>
          </a:bodyPr>
          <a:lstStyle/>
          <a:p>
            <a:pPr algn="l">
              <a:buFont typeface="Arial" panose="020B0604020202020204" pitchFamily="34" charset="0"/>
              <a:buChar char="•"/>
            </a:pPr>
            <a:r>
              <a:rPr lang="en-IN" b="0" i="0" dirty="0">
                <a:effectLst/>
                <a:latin typeface="fkGroteskNeue"/>
              </a:rPr>
              <a:t>Standard Ethernet (IEEE 802.3, 10 Mbps): Used with thick/thin coaxial, unshielded twisted pair (UTP), or Fiber cables.​</a:t>
            </a:r>
          </a:p>
          <a:p>
            <a:pPr algn="l">
              <a:buFont typeface="Arial" panose="020B0604020202020204" pitchFamily="34" charset="0"/>
              <a:buChar char="•"/>
            </a:pPr>
            <a:r>
              <a:rPr lang="en-IN" b="0" i="0" dirty="0">
                <a:effectLst/>
                <a:latin typeface="fkGroteskNeue"/>
              </a:rPr>
              <a:t>Fast Ethernet (IEEE 802.3u, 100 Mbps): Simple configuration, popular for small and medium networks.​</a:t>
            </a:r>
          </a:p>
          <a:p>
            <a:pPr algn="l">
              <a:buFont typeface="Arial" panose="020B0604020202020204" pitchFamily="34" charset="0"/>
              <a:buChar char="•"/>
            </a:pPr>
            <a:r>
              <a:rPr lang="en-IN" b="0" i="0" dirty="0">
                <a:effectLst/>
                <a:latin typeface="fkGroteskNeue"/>
              </a:rPr>
              <a:t>Gigabit Ethernet (IEEE 802.3ab/802.3z, 1 Gbps): Used in high-speed and large networks, requires higher grade cables and devices.​</a:t>
            </a:r>
          </a:p>
          <a:p>
            <a:pPr algn="l">
              <a:buFont typeface="Arial" panose="020B0604020202020204" pitchFamily="34" charset="0"/>
              <a:buChar char="•"/>
            </a:pPr>
            <a:r>
              <a:rPr lang="en-IN" b="0" i="0" dirty="0">
                <a:effectLst/>
                <a:latin typeface="fkGroteskNeue"/>
              </a:rPr>
              <a:t>Ten Gigabit Ethernet (IEEE 802.3ae, 10 Gbps): For backbone and data center networks, provides very high bandwidth</a:t>
            </a:r>
          </a:p>
        </p:txBody>
      </p:sp>
      <p:sp>
        <p:nvSpPr>
          <p:cNvPr id="6" name="TextBox 5">
            <a:extLst>
              <a:ext uri="{FF2B5EF4-FFF2-40B4-BE49-F238E27FC236}">
                <a16:creationId xmlns:a16="http://schemas.microsoft.com/office/drawing/2014/main" id="{B5495104-7367-8748-5123-A12DB15D3FBD}"/>
              </a:ext>
            </a:extLst>
          </p:cNvPr>
          <p:cNvSpPr txBox="1"/>
          <p:nvPr/>
        </p:nvSpPr>
        <p:spPr>
          <a:xfrm>
            <a:off x="775394" y="93901"/>
            <a:ext cx="8736496" cy="369332"/>
          </a:xfrm>
          <a:prstGeom prst="rect">
            <a:avLst/>
          </a:prstGeom>
          <a:noFill/>
        </p:spPr>
        <p:txBody>
          <a:bodyPr wrap="square">
            <a:spAutoFit/>
          </a:bodyPr>
          <a:lstStyle/>
          <a:p>
            <a:pPr>
              <a:buNone/>
            </a:pPr>
            <a:r>
              <a:rPr lang="de-DE" b="1" dirty="0"/>
              <a:t>2.1.4 Standard Ethernet, Fast Ethernet, Gigabit Ethernet, Ten-Gigabit Ethernet</a:t>
            </a:r>
          </a:p>
        </p:txBody>
      </p:sp>
    </p:spTree>
    <p:extLst>
      <p:ext uri="{BB962C8B-B14F-4D97-AF65-F5344CB8AC3E}">
        <p14:creationId xmlns:p14="http://schemas.microsoft.com/office/powerpoint/2010/main" val="3899410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B58A4-E3EA-F361-1C64-910FBF2CAE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280283A-A709-1A55-7043-652070A8FA13}"/>
              </a:ext>
            </a:extLst>
          </p:cNvPr>
          <p:cNvSpPr txBox="1"/>
          <p:nvPr/>
        </p:nvSpPr>
        <p:spPr>
          <a:xfrm>
            <a:off x="844826" y="93417"/>
            <a:ext cx="8299174" cy="2308324"/>
          </a:xfrm>
          <a:prstGeom prst="rect">
            <a:avLst/>
          </a:prstGeom>
          <a:noFill/>
        </p:spPr>
        <p:txBody>
          <a:bodyPr wrap="square">
            <a:spAutoFit/>
          </a:bodyPr>
          <a:lstStyle/>
          <a:p>
            <a:pPr algn="l">
              <a:buNone/>
            </a:pPr>
            <a:r>
              <a:rPr lang="en-US" b="1" i="0" dirty="0">
                <a:effectLst/>
                <a:latin typeface="fkGrotesk"/>
              </a:rPr>
              <a:t>2.1.5 Fiber Optic LAN</a:t>
            </a:r>
          </a:p>
          <a:p>
            <a:pPr algn="l">
              <a:buNone/>
            </a:pPr>
            <a:endParaRPr lang="en-US" b="1" i="0" dirty="0">
              <a:effectLst/>
              <a:latin typeface="fkGrotesk"/>
            </a:endParaRPr>
          </a:p>
          <a:p>
            <a:pPr algn="l">
              <a:buNone/>
            </a:pPr>
            <a:r>
              <a:rPr lang="en-US" b="0" i="0" dirty="0">
                <a:effectLst/>
                <a:latin typeface="fkGroteskNeue"/>
              </a:rPr>
              <a:t>Fiber optic LANs use optical fiber cables for network connectivity, providing very high data rates, long distance coverage, minimal signal loss, and immunity to electromagnetic interference. These networks are preferred in modern large enterprises, campuses, and industrial sites due to their speed, reliability, and security. Fiber optic cables are also scalable, supporting transmission speeds up to hundreds of gigabits per second.​</a:t>
            </a:r>
            <a:endParaRPr lang="en-US" dirty="0"/>
          </a:p>
        </p:txBody>
      </p:sp>
      <p:sp>
        <p:nvSpPr>
          <p:cNvPr id="5" name="TextBox 4">
            <a:extLst>
              <a:ext uri="{FF2B5EF4-FFF2-40B4-BE49-F238E27FC236}">
                <a16:creationId xmlns:a16="http://schemas.microsoft.com/office/drawing/2014/main" id="{5DA09A6C-FAAB-0494-076F-FB6115C2204B}"/>
              </a:ext>
            </a:extLst>
          </p:cNvPr>
          <p:cNvSpPr txBox="1"/>
          <p:nvPr/>
        </p:nvSpPr>
        <p:spPr>
          <a:xfrm>
            <a:off x="695739" y="2860599"/>
            <a:ext cx="9064487" cy="2031325"/>
          </a:xfrm>
          <a:prstGeom prst="rect">
            <a:avLst/>
          </a:prstGeom>
          <a:noFill/>
        </p:spPr>
        <p:txBody>
          <a:bodyPr wrap="square">
            <a:spAutoFit/>
          </a:bodyPr>
          <a:lstStyle/>
          <a:p>
            <a:pPr>
              <a:buNone/>
            </a:pPr>
            <a:r>
              <a:rPr lang="en-US" b="1" dirty="0"/>
              <a:t>2.2 Wireless LANs</a:t>
            </a:r>
          </a:p>
          <a:p>
            <a:pPr>
              <a:buNone/>
            </a:pPr>
            <a:endParaRPr lang="en-US" b="1" dirty="0"/>
          </a:p>
          <a:p>
            <a:pPr>
              <a:buNone/>
            </a:pPr>
            <a:r>
              <a:rPr lang="en-US" dirty="0"/>
              <a:t>A Wireless LAN (WLAN) connects devices through radio waves instead of cables.</a:t>
            </a:r>
            <a:br>
              <a:rPr lang="en-US" dirty="0"/>
            </a:br>
            <a:r>
              <a:rPr lang="en-US" dirty="0"/>
              <a:t>It allows users to move freely within the network coverage area while maintaining a network connection.</a:t>
            </a:r>
            <a:br>
              <a:rPr lang="en-US" dirty="0"/>
            </a:br>
            <a:r>
              <a:rPr lang="en-US" dirty="0"/>
              <a:t>WLANs are commonly used in homes, offices, colleges, and public places (Wi-Fi hotspots).</a:t>
            </a:r>
          </a:p>
        </p:txBody>
      </p:sp>
    </p:spTree>
    <p:extLst>
      <p:ext uri="{BB962C8B-B14F-4D97-AF65-F5344CB8AC3E}">
        <p14:creationId xmlns:p14="http://schemas.microsoft.com/office/powerpoint/2010/main" val="3722965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AA80-0769-D729-05CC-7F10A2605C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161669-2957-1589-F8A6-401C0DA3BB00}"/>
              </a:ext>
            </a:extLst>
          </p:cNvPr>
          <p:cNvSpPr txBox="1"/>
          <p:nvPr/>
        </p:nvSpPr>
        <p:spPr>
          <a:xfrm>
            <a:off x="815009" y="157156"/>
            <a:ext cx="8488017" cy="2308324"/>
          </a:xfrm>
          <a:prstGeom prst="rect">
            <a:avLst/>
          </a:prstGeom>
          <a:noFill/>
        </p:spPr>
        <p:txBody>
          <a:bodyPr wrap="square">
            <a:spAutoFit/>
          </a:bodyPr>
          <a:lstStyle/>
          <a:p>
            <a:pPr algn="l">
              <a:buNone/>
            </a:pPr>
            <a:r>
              <a:rPr lang="en-US" b="1" i="0" dirty="0">
                <a:effectLst/>
                <a:latin typeface="fkGrotesk"/>
              </a:rPr>
              <a:t>2.2.1 IEEE 802.11 (Wi-Fi)</a:t>
            </a:r>
          </a:p>
          <a:p>
            <a:pPr algn="l">
              <a:buNone/>
            </a:pPr>
            <a:endParaRPr lang="en-US" b="1" i="0" dirty="0">
              <a:effectLst/>
              <a:latin typeface="fkGrotesk"/>
            </a:endParaRPr>
          </a:p>
          <a:p>
            <a:pPr algn="l">
              <a:buNone/>
            </a:pPr>
            <a:r>
              <a:rPr lang="en-US" b="0" i="0" dirty="0">
                <a:effectLst/>
                <a:latin typeface="fkGroteskNeue"/>
              </a:rPr>
              <a:t>IEEE 802.11 is a series of standards for wireless LANs (WLANs), designed to enable high-speed wireless networking in the 2.4 GHz, 5 GHz, and newer 6 GHz bands. It specifies both the physical layer (signal transmission and frequency) and MAC layer protocols, ensuring interoperability among different devices and manufacturer</a:t>
            </a:r>
          </a:p>
          <a:p>
            <a:pPr algn="l">
              <a:buNone/>
            </a:pPr>
            <a:endParaRPr lang="en-US" b="0" i="0" dirty="0">
              <a:effectLst/>
              <a:latin typeface="fkGroteskNeue"/>
            </a:endParaRPr>
          </a:p>
          <a:p>
            <a:r>
              <a:rPr lang="en-US" b="1" dirty="0"/>
              <a:t>2.2.2 IEEE 802.11 Extensions: b/a/g/n/ac/ax/be/bn</a:t>
            </a:r>
          </a:p>
        </p:txBody>
      </p:sp>
      <p:graphicFrame>
        <p:nvGraphicFramePr>
          <p:cNvPr id="4" name="Table 3">
            <a:extLst>
              <a:ext uri="{FF2B5EF4-FFF2-40B4-BE49-F238E27FC236}">
                <a16:creationId xmlns:a16="http://schemas.microsoft.com/office/drawing/2014/main" id="{722B031B-FC5F-7448-0BF5-AEE5E71FFDAD}"/>
              </a:ext>
            </a:extLst>
          </p:cNvPr>
          <p:cNvGraphicFramePr>
            <a:graphicFrameLocks noGrp="1"/>
          </p:cNvGraphicFramePr>
          <p:nvPr>
            <p:extLst>
              <p:ext uri="{D42A27DB-BD31-4B8C-83A1-F6EECF244321}">
                <p14:modId xmlns:p14="http://schemas.microsoft.com/office/powerpoint/2010/main" val="963389774"/>
              </p:ext>
            </p:extLst>
          </p:nvPr>
        </p:nvGraphicFramePr>
        <p:xfrm>
          <a:off x="745435" y="2465480"/>
          <a:ext cx="8289236" cy="4153980"/>
        </p:xfrm>
        <a:graphic>
          <a:graphicData uri="http://schemas.openxmlformats.org/drawingml/2006/table">
            <a:tbl>
              <a:tblPr>
                <a:tableStyleId>{5940675A-B579-460E-94D1-54222C63F5DA}</a:tableStyleId>
              </a:tblPr>
              <a:tblGrid>
                <a:gridCol w="2072309">
                  <a:extLst>
                    <a:ext uri="{9D8B030D-6E8A-4147-A177-3AD203B41FA5}">
                      <a16:colId xmlns:a16="http://schemas.microsoft.com/office/drawing/2014/main" val="638821577"/>
                    </a:ext>
                  </a:extLst>
                </a:gridCol>
                <a:gridCol w="2072309">
                  <a:extLst>
                    <a:ext uri="{9D8B030D-6E8A-4147-A177-3AD203B41FA5}">
                      <a16:colId xmlns:a16="http://schemas.microsoft.com/office/drawing/2014/main" val="2869001427"/>
                    </a:ext>
                  </a:extLst>
                </a:gridCol>
                <a:gridCol w="2072309">
                  <a:extLst>
                    <a:ext uri="{9D8B030D-6E8A-4147-A177-3AD203B41FA5}">
                      <a16:colId xmlns:a16="http://schemas.microsoft.com/office/drawing/2014/main" val="1750063665"/>
                    </a:ext>
                  </a:extLst>
                </a:gridCol>
                <a:gridCol w="2072309">
                  <a:extLst>
                    <a:ext uri="{9D8B030D-6E8A-4147-A177-3AD203B41FA5}">
                      <a16:colId xmlns:a16="http://schemas.microsoft.com/office/drawing/2014/main" val="3842417195"/>
                    </a:ext>
                  </a:extLst>
                </a:gridCol>
              </a:tblGrid>
              <a:tr h="325959">
                <a:tc>
                  <a:txBody>
                    <a:bodyPr/>
                    <a:lstStyle/>
                    <a:p>
                      <a:pPr algn="ctr">
                        <a:buNone/>
                      </a:pPr>
                      <a:r>
                        <a:rPr lang="en-IN" sz="1200" b="1">
                          <a:effectLst/>
                        </a:rPr>
                        <a:t>Extension</a:t>
                      </a:r>
                    </a:p>
                  </a:txBody>
                  <a:tcPr marL="32481" marR="32481" marT="32481" marB="32481" anchor="ctr"/>
                </a:tc>
                <a:tc>
                  <a:txBody>
                    <a:bodyPr/>
                    <a:lstStyle/>
                    <a:p>
                      <a:pPr algn="ctr">
                        <a:buNone/>
                      </a:pPr>
                      <a:r>
                        <a:rPr lang="en-IN" sz="1200" b="1">
                          <a:effectLst/>
                        </a:rPr>
                        <a:t>Frequency</a:t>
                      </a:r>
                    </a:p>
                  </a:txBody>
                  <a:tcPr marL="32481" marR="32481" marT="32481" marB="32481" anchor="ctr"/>
                </a:tc>
                <a:tc>
                  <a:txBody>
                    <a:bodyPr/>
                    <a:lstStyle/>
                    <a:p>
                      <a:pPr algn="ctr">
                        <a:buNone/>
                      </a:pPr>
                      <a:r>
                        <a:rPr lang="en-IN" sz="1200" b="1">
                          <a:effectLst/>
                        </a:rPr>
                        <a:t>Max Data Rate</a:t>
                      </a:r>
                    </a:p>
                  </a:txBody>
                  <a:tcPr marL="32481" marR="32481" marT="32481" marB="32481" anchor="ctr"/>
                </a:tc>
                <a:tc>
                  <a:txBody>
                    <a:bodyPr/>
                    <a:lstStyle/>
                    <a:p>
                      <a:pPr algn="ctr">
                        <a:buNone/>
                      </a:pPr>
                      <a:r>
                        <a:rPr lang="en-IN" sz="1200" b="1" dirty="0">
                          <a:effectLst/>
                        </a:rPr>
                        <a:t>Notable Features</a:t>
                      </a:r>
                    </a:p>
                  </a:txBody>
                  <a:tcPr marL="32481" marR="32481" marT="32481" marB="32481" anchor="ctr"/>
                </a:tc>
                <a:extLst>
                  <a:ext uri="{0D108BD9-81ED-4DB2-BD59-A6C34878D82A}">
                    <a16:rowId xmlns:a16="http://schemas.microsoft.com/office/drawing/2014/main" val="1375380398"/>
                  </a:ext>
                </a:extLst>
              </a:tr>
              <a:tr h="514783">
                <a:tc>
                  <a:txBody>
                    <a:bodyPr/>
                    <a:lstStyle/>
                    <a:p>
                      <a:pPr algn="l">
                        <a:buNone/>
                      </a:pPr>
                      <a:r>
                        <a:rPr lang="en-IN" sz="1200">
                          <a:effectLst/>
                        </a:rPr>
                        <a:t>802.11b</a:t>
                      </a:r>
                    </a:p>
                  </a:txBody>
                  <a:tcPr marL="32481" marR="32481" marT="32481" marB="32481" anchor="ctr"/>
                </a:tc>
                <a:tc>
                  <a:txBody>
                    <a:bodyPr/>
                    <a:lstStyle/>
                    <a:p>
                      <a:pPr algn="l">
                        <a:buNone/>
                      </a:pPr>
                      <a:r>
                        <a:rPr lang="en-IN" sz="1200" dirty="0">
                          <a:effectLst/>
                        </a:rPr>
                        <a:t>2.4 GHz</a:t>
                      </a:r>
                    </a:p>
                  </a:txBody>
                  <a:tcPr marL="32481" marR="32481" marT="32481" marB="32481" anchor="ctr"/>
                </a:tc>
                <a:tc>
                  <a:txBody>
                    <a:bodyPr/>
                    <a:lstStyle/>
                    <a:p>
                      <a:pPr algn="l">
                        <a:buNone/>
                      </a:pPr>
                      <a:r>
                        <a:rPr lang="en-IN" sz="1200">
                          <a:effectLst/>
                        </a:rPr>
                        <a:t>11 Mbps</a:t>
                      </a:r>
                    </a:p>
                  </a:txBody>
                  <a:tcPr marL="32481" marR="32481" marT="32481" marB="32481" anchor="ctr"/>
                </a:tc>
                <a:tc>
                  <a:txBody>
                    <a:bodyPr/>
                    <a:lstStyle/>
                    <a:p>
                      <a:pPr algn="l">
                        <a:buNone/>
                      </a:pPr>
                      <a:r>
                        <a:rPr lang="en-US" sz="1200">
                          <a:effectLst/>
                        </a:rPr>
                        <a:t>First widespread consumer Wi-Fi, simple, robust</a:t>
                      </a:r>
                    </a:p>
                  </a:txBody>
                  <a:tcPr marL="32481" marR="32481" marT="32481" marB="32481" anchor="ctr"/>
                </a:tc>
                <a:extLst>
                  <a:ext uri="{0D108BD9-81ED-4DB2-BD59-A6C34878D82A}">
                    <a16:rowId xmlns:a16="http://schemas.microsoft.com/office/drawing/2014/main" val="3272805766"/>
                  </a:ext>
                </a:extLst>
              </a:tr>
              <a:tr h="514783">
                <a:tc>
                  <a:txBody>
                    <a:bodyPr/>
                    <a:lstStyle/>
                    <a:p>
                      <a:pPr algn="l">
                        <a:buNone/>
                      </a:pPr>
                      <a:r>
                        <a:rPr lang="en-IN" sz="1200">
                          <a:effectLst/>
                        </a:rPr>
                        <a:t>802.11a</a:t>
                      </a:r>
                    </a:p>
                  </a:txBody>
                  <a:tcPr marL="32481" marR="32481" marT="32481" marB="32481" anchor="ctr"/>
                </a:tc>
                <a:tc>
                  <a:txBody>
                    <a:bodyPr/>
                    <a:lstStyle/>
                    <a:p>
                      <a:pPr algn="l">
                        <a:buNone/>
                      </a:pPr>
                      <a:r>
                        <a:rPr lang="en-IN" sz="1200">
                          <a:effectLst/>
                        </a:rPr>
                        <a:t>5 GHz</a:t>
                      </a:r>
                    </a:p>
                  </a:txBody>
                  <a:tcPr marL="32481" marR="32481" marT="32481" marB="32481" anchor="ctr"/>
                </a:tc>
                <a:tc>
                  <a:txBody>
                    <a:bodyPr/>
                    <a:lstStyle/>
                    <a:p>
                      <a:pPr algn="l">
                        <a:buNone/>
                      </a:pPr>
                      <a:r>
                        <a:rPr lang="en-IN" sz="1200">
                          <a:effectLst/>
                        </a:rPr>
                        <a:t>54 Mbps</a:t>
                      </a:r>
                    </a:p>
                  </a:txBody>
                  <a:tcPr marL="32481" marR="32481" marT="32481" marB="32481" anchor="ctr"/>
                </a:tc>
                <a:tc>
                  <a:txBody>
                    <a:bodyPr/>
                    <a:lstStyle/>
                    <a:p>
                      <a:pPr algn="l">
                        <a:buNone/>
                      </a:pPr>
                      <a:r>
                        <a:rPr lang="en-US" sz="1200">
                          <a:effectLst/>
                        </a:rPr>
                        <a:t>Less crowded band, higher speed, shorter range</a:t>
                      </a:r>
                    </a:p>
                  </a:txBody>
                  <a:tcPr marL="32481" marR="32481" marT="32481" marB="32481" anchor="ctr"/>
                </a:tc>
                <a:extLst>
                  <a:ext uri="{0D108BD9-81ED-4DB2-BD59-A6C34878D82A}">
                    <a16:rowId xmlns:a16="http://schemas.microsoft.com/office/drawing/2014/main" val="1926425920"/>
                  </a:ext>
                </a:extLst>
              </a:tr>
              <a:tr h="514783">
                <a:tc>
                  <a:txBody>
                    <a:bodyPr/>
                    <a:lstStyle/>
                    <a:p>
                      <a:pPr algn="l">
                        <a:buNone/>
                      </a:pPr>
                      <a:r>
                        <a:rPr lang="en-IN" sz="1200">
                          <a:effectLst/>
                        </a:rPr>
                        <a:t>802.11g</a:t>
                      </a:r>
                    </a:p>
                  </a:txBody>
                  <a:tcPr marL="32481" marR="32481" marT="32481" marB="32481" anchor="ctr"/>
                </a:tc>
                <a:tc>
                  <a:txBody>
                    <a:bodyPr/>
                    <a:lstStyle/>
                    <a:p>
                      <a:pPr algn="l">
                        <a:buNone/>
                      </a:pPr>
                      <a:r>
                        <a:rPr lang="en-IN" sz="1200">
                          <a:effectLst/>
                        </a:rPr>
                        <a:t>2.4 GHz</a:t>
                      </a:r>
                    </a:p>
                  </a:txBody>
                  <a:tcPr marL="32481" marR="32481" marT="32481" marB="32481" anchor="ctr"/>
                </a:tc>
                <a:tc>
                  <a:txBody>
                    <a:bodyPr/>
                    <a:lstStyle/>
                    <a:p>
                      <a:pPr algn="l">
                        <a:buNone/>
                      </a:pPr>
                      <a:r>
                        <a:rPr lang="en-IN" sz="1200">
                          <a:effectLst/>
                        </a:rPr>
                        <a:t>54 Mbps</a:t>
                      </a:r>
                    </a:p>
                  </a:txBody>
                  <a:tcPr marL="32481" marR="32481" marT="32481" marB="32481" anchor="ctr"/>
                </a:tc>
                <a:tc>
                  <a:txBody>
                    <a:bodyPr/>
                    <a:lstStyle/>
                    <a:p>
                      <a:pPr algn="l">
                        <a:buNone/>
                      </a:pPr>
                      <a:r>
                        <a:rPr lang="en-US" sz="1200">
                          <a:effectLst/>
                        </a:rPr>
                        <a:t>Combines b/g compatibility, better speed</a:t>
                      </a:r>
                    </a:p>
                  </a:txBody>
                  <a:tcPr marL="32481" marR="32481" marT="32481" marB="32481" anchor="ctr"/>
                </a:tc>
                <a:extLst>
                  <a:ext uri="{0D108BD9-81ED-4DB2-BD59-A6C34878D82A}">
                    <a16:rowId xmlns:a16="http://schemas.microsoft.com/office/drawing/2014/main" val="3875931479"/>
                  </a:ext>
                </a:extLst>
              </a:tr>
              <a:tr h="365329">
                <a:tc>
                  <a:txBody>
                    <a:bodyPr/>
                    <a:lstStyle/>
                    <a:p>
                      <a:pPr algn="l">
                        <a:buNone/>
                      </a:pPr>
                      <a:r>
                        <a:rPr lang="en-IN" sz="1200">
                          <a:effectLst/>
                        </a:rPr>
                        <a:t>802.11n</a:t>
                      </a:r>
                    </a:p>
                  </a:txBody>
                  <a:tcPr marL="32481" marR="32481" marT="32481" marB="32481" anchor="ctr"/>
                </a:tc>
                <a:tc>
                  <a:txBody>
                    <a:bodyPr/>
                    <a:lstStyle/>
                    <a:p>
                      <a:pPr algn="l">
                        <a:buNone/>
                      </a:pPr>
                      <a:r>
                        <a:rPr lang="en-IN" sz="1200">
                          <a:effectLst/>
                        </a:rPr>
                        <a:t>2.4/5 GHz</a:t>
                      </a:r>
                    </a:p>
                  </a:txBody>
                  <a:tcPr marL="32481" marR="32481" marT="32481" marB="32481" anchor="ctr"/>
                </a:tc>
                <a:tc>
                  <a:txBody>
                    <a:bodyPr/>
                    <a:lstStyle/>
                    <a:p>
                      <a:pPr algn="l">
                        <a:buNone/>
                      </a:pPr>
                      <a:r>
                        <a:rPr lang="en-IN" sz="1200">
                          <a:effectLst/>
                        </a:rPr>
                        <a:t>600 Mbps</a:t>
                      </a:r>
                    </a:p>
                  </a:txBody>
                  <a:tcPr marL="32481" marR="32481" marT="32481" marB="32481" anchor="ctr"/>
                </a:tc>
                <a:tc>
                  <a:txBody>
                    <a:bodyPr/>
                    <a:lstStyle/>
                    <a:p>
                      <a:pPr algn="l">
                        <a:buNone/>
                      </a:pPr>
                      <a:r>
                        <a:rPr lang="en-IN" sz="1200">
                          <a:effectLst/>
                        </a:rPr>
                        <a:t>MIMO, channel bonding</a:t>
                      </a:r>
                    </a:p>
                  </a:txBody>
                  <a:tcPr marL="32481" marR="32481" marT="32481" marB="32481" anchor="ctr"/>
                </a:tc>
                <a:extLst>
                  <a:ext uri="{0D108BD9-81ED-4DB2-BD59-A6C34878D82A}">
                    <a16:rowId xmlns:a16="http://schemas.microsoft.com/office/drawing/2014/main" val="2867894252"/>
                  </a:ext>
                </a:extLst>
              </a:tr>
              <a:tr h="440417">
                <a:tc>
                  <a:txBody>
                    <a:bodyPr/>
                    <a:lstStyle/>
                    <a:p>
                      <a:pPr algn="l">
                        <a:buNone/>
                      </a:pPr>
                      <a:r>
                        <a:rPr lang="en-IN" sz="1200">
                          <a:effectLst/>
                        </a:rPr>
                        <a:t>802.11ac</a:t>
                      </a:r>
                    </a:p>
                  </a:txBody>
                  <a:tcPr marL="32481" marR="32481" marT="32481" marB="32481" anchor="ctr"/>
                </a:tc>
                <a:tc>
                  <a:txBody>
                    <a:bodyPr/>
                    <a:lstStyle/>
                    <a:p>
                      <a:pPr algn="l">
                        <a:buNone/>
                      </a:pPr>
                      <a:r>
                        <a:rPr lang="en-IN" sz="1200">
                          <a:effectLst/>
                        </a:rPr>
                        <a:t>5 GHz</a:t>
                      </a:r>
                    </a:p>
                  </a:txBody>
                  <a:tcPr marL="32481" marR="32481" marT="32481" marB="32481" anchor="ctr"/>
                </a:tc>
                <a:tc>
                  <a:txBody>
                    <a:bodyPr/>
                    <a:lstStyle/>
                    <a:p>
                      <a:pPr algn="l">
                        <a:buNone/>
                      </a:pPr>
                      <a:r>
                        <a:rPr lang="en-IN" sz="1200">
                          <a:effectLst/>
                        </a:rPr>
                        <a:t>up to 7 Gbps</a:t>
                      </a:r>
                    </a:p>
                  </a:txBody>
                  <a:tcPr marL="32481" marR="32481" marT="32481" marB="32481" anchor="ctr"/>
                </a:tc>
                <a:tc>
                  <a:txBody>
                    <a:bodyPr/>
                    <a:lstStyle/>
                    <a:p>
                      <a:pPr algn="l">
                        <a:buNone/>
                      </a:pPr>
                      <a:r>
                        <a:rPr lang="de-DE" sz="1200">
                          <a:effectLst/>
                        </a:rPr>
                        <a:t>Wider channels, MU-MIMO, Wi-Fi 5</a:t>
                      </a:r>
                    </a:p>
                  </a:txBody>
                  <a:tcPr marL="32481" marR="32481" marT="32481" marB="32481" anchor="ctr"/>
                </a:tc>
                <a:extLst>
                  <a:ext uri="{0D108BD9-81ED-4DB2-BD59-A6C34878D82A}">
                    <a16:rowId xmlns:a16="http://schemas.microsoft.com/office/drawing/2014/main" val="1835088679"/>
                  </a:ext>
                </a:extLst>
              </a:tr>
              <a:tr h="664236">
                <a:tc>
                  <a:txBody>
                    <a:bodyPr/>
                    <a:lstStyle/>
                    <a:p>
                      <a:pPr algn="l">
                        <a:buNone/>
                      </a:pPr>
                      <a:r>
                        <a:rPr lang="en-IN" sz="1200">
                          <a:effectLst/>
                        </a:rPr>
                        <a:t>802.11ax</a:t>
                      </a:r>
                    </a:p>
                  </a:txBody>
                  <a:tcPr marL="32481" marR="32481" marT="32481" marB="32481" anchor="ctr"/>
                </a:tc>
                <a:tc>
                  <a:txBody>
                    <a:bodyPr/>
                    <a:lstStyle/>
                    <a:p>
                      <a:pPr algn="l">
                        <a:buNone/>
                      </a:pPr>
                      <a:r>
                        <a:rPr lang="en-IN" sz="1200">
                          <a:effectLst/>
                        </a:rPr>
                        <a:t>2.4/5/6 GHz</a:t>
                      </a:r>
                    </a:p>
                  </a:txBody>
                  <a:tcPr marL="32481" marR="32481" marT="32481" marB="32481" anchor="ctr"/>
                </a:tc>
                <a:tc>
                  <a:txBody>
                    <a:bodyPr/>
                    <a:lstStyle/>
                    <a:p>
                      <a:pPr algn="l">
                        <a:buNone/>
                      </a:pPr>
                      <a:r>
                        <a:rPr lang="en-IN" sz="1200">
                          <a:effectLst/>
                        </a:rPr>
                        <a:t>9.6 Gbps</a:t>
                      </a:r>
                    </a:p>
                  </a:txBody>
                  <a:tcPr marL="32481" marR="32481" marT="32481" marB="32481" anchor="ctr"/>
                </a:tc>
                <a:tc>
                  <a:txBody>
                    <a:bodyPr/>
                    <a:lstStyle/>
                    <a:p>
                      <a:pPr algn="l">
                        <a:buNone/>
                      </a:pPr>
                      <a:r>
                        <a:rPr lang="en-US" sz="1200">
                          <a:effectLst/>
                        </a:rPr>
                        <a:t>Wi-Fi 6/6E, OFDMA, more devices, improved efficiency</a:t>
                      </a:r>
                    </a:p>
                  </a:txBody>
                  <a:tcPr marL="32481" marR="32481" marT="32481" marB="32481" anchor="ctr"/>
                </a:tc>
                <a:extLst>
                  <a:ext uri="{0D108BD9-81ED-4DB2-BD59-A6C34878D82A}">
                    <a16:rowId xmlns:a16="http://schemas.microsoft.com/office/drawing/2014/main" val="3778797235"/>
                  </a:ext>
                </a:extLst>
              </a:tr>
              <a:tr h="813690">
                <a:tc>
                  <a:txBody>
                    <a:bodyPr/>
                    <a:lstStyle/>
                    <a:p>
                      <a:pPr algn="l">
                        <a:buNone/>
                      </a:pPr>
                      <a:r>
                        <a:rPr lang="en-IN" sz="1200" dirty="0">
                          <a:effectLst/>
                        </a:rPr>
                        <a:t>802.11be, bn</a:t>
                      </a:r>
                    </a:p>
                  </a:txBody>
                  <a:tcPr marL="32481" marR="32481" marT="32481" marB="32481" anchor="ctr"/>
                </a:tc>
                <a:tc>
                  <a:txBody>
                    <a:bodyPr/>
                    <a:lstStyle/>
                    <a:p>
                      <a:pPr algn="l">
                        <a:buNone/>
                      </a:pPr>
                      <a:r>
                        <a:rPr lang="en-IN" sz="1200" dirty="0">
                          <a:effectLst/>
                        </a:rPr>
                        <a:t>6 GHz</a:t>
                      </a:r>
                    </a:p>
                  </a:txBody>
                  <a:tcPr marL="32481" marR="32481" marT="32481" marB="32481" anchor="ctr"/>
                </a:tc>
                <a:tc>
                  <a:txBody>
                    <a:bodyPr/>
                    <a:lstStyle/>
                    <a:p>
                      <a:pPr algn="l">
                        <a:buNone/>
                      </a:pPr>
                      <a:r>
                        <a:rPr lang="en-IN" sz="1200" dirty="0">
                          <a:effectLst/>
                        </a:rPr>
                        <a:t>Multi-Gbps</a:t>
                      </a:r>
                    </a:p>
                  </a:txBody>
                  <a:tcPr marL="32481" marR="32481" marT="32481" marB="32481" anchor="ctr"/>
                </a:tc>
                <a:tc>
                  <a:txBody>
                    <a:bodyPr/>
                    <a:lstStyle/>
                    <a:p>
                      <a:pPr algn="l">
                        <a:buNone/>
                      </a:pPr>
                      <a:r>
                        <a:rPr lang="en-US" sz="1200" dirty="0">
                          <a:effectLst/>
                        </a:rPr>
                        <a:t>Newest, future standards for ultra-high throughput, advanced multiplexing</a:t>
                      </a:r>
                    </a:p>
                  </a:txBody>
                  <a:tcPr marL="32481" marR="32481" marT="32481" marB="32481" anchor="ctr"/>
                </a:tc>
                <a:extLst>
                  <a:ext uri="{0D108BD9-81ED-4DB2-BD59-A6C34878D82A}">
                    <a16:rowId xmlns:a16="http://schemas.microsoft.com/office/drawing/2014/main" val="3182676100"/>
                  </a:ext>
                </a:extLst>
              </a:tr>
            </a:tbl>
          </a:graphicData>
        </a:graphic>
      </p:graphicFrame>
    </p:spTree>
    <p:extLst>
      <p:ext uri="{BB962C8B-B14F-4D97-AF65-F5344CB8AC3E}">
        <p14:creationId xmlns:p14="http://schemas.microsoft.com/office/powerpoint/2010/main" val="2637287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DC6D7-BB33-0AD3-269B-094D20CA95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B3F67B-31D5-5886-0E24-1030230C3326}"/>
              </a:ext>
            </a:extLst>
          </p:cNvPr>
          <p:cNvSpPr txBox="1"/>
          <p:nvPr/>
        </p:nvSpPr>
        <p:spPr>
          <a:xfrm>
            <a:off x="894521" y="129208"/>
            <a:ext cx="8607288" cy="2862322"/>
          </a:xfrm>
          <a:prstGeom prst="rect">
            <a:avLst/>
          </a:prstGeom>
          <a:noFill/>
        </p:spPr>
        <p:txBody>
          <a:bodyPr wrap="square">
            <a:spAutoFit/>
          </a:bodyPr>
          <a:lstStyle/>
          <a:p>
            <a:r>
              <a:rPr lang="en-IN" b="1" dirty="0"/>
              <a:t>2.2.3 MAC Sublayer</a:t>
            </a:r>
          </a:p>
          <a:p>
            <a:endParaRPr lang="en-IN" dirty="0"/>
          </a:p>
          <a:p>
            <a:r>
              <a:rPr lang="en-US" dirty="0"/>
              <a:t>The 802.11 MAC sublayer manages access to the wireless medium, dealing with frame encapsulation, address management, error detection, and media arbitration. It supports two key modes:</a:t>
            </a:r>
          </a:p>
          <a:p>
            <a:pPr marL="285750" indent="-285750">
              <a:buFont typeface="Arial" panose="020B0604020202020204" pitchFamily="34" charset="0"/>
              <a:buChar char="•"/>
            </a:pPr>
            <a:r>
              <a:rPr lang="en-US" dirty="0"/>
              <a:t>Distributed Coordination Function (DCF): Uses CSMA/CA for asynchronous data.</a:t>
            </a:r>
          </a:p>
          <a:p>
            <a:pPr marL="285750" indent="-285750">
              <a:buFont typeface="Arial" panose="020B0604020202020204" pitchFamily="34" charset="0"/>
              <a:buChar char="•"/>
            </a:pPr>
            <a:r>
              <a:rPr lang="en-US" dirty="0"/>
              <a:t>Point Coordination Function (PCF): Provides centralized, time-bounded service using polling.​</a:t>
            </a:r>
            <a:br>
              <a:rPr lang="en-US" dirty="0"/>
            </a:br>
            <a:r>
              <a:rPr lang="en-US" dirty="0"/>
              <a:t>MAC frame fields include Frame Control, Duration, Address fields, Sequence, Data, and Check Sequence, supporting multiple communication types</a:t>
            </a:r>
          </a:p>
        </p:txBody>
      </p:sp>
      <p:sp>
        <p:nvSpPr>
          <p:cNvPr id="4" name="TextBox 3">
            <a:extLst>
              <a:ext uri="{FF2B5EF4-FFF2-40B4-BE49-F238E27FC236}">
                <a16:creationId xmlns:a16="http://schemas.microsoft.com/office/drawing/2014/main" id="{B4296344-36E5-C053-E8E9-DA8CA2E0ACAC}"/>
              </a:ext>
            </a:extLst>
          </p:cNvPr>
          <p:cNvSpPr txBox="1"/>
          <p:nvPr/>
        </p:nvSpPr>
        <p:spPr>
          <a:xfrm>
            <a:off x="894521" y="3059668"/>
            <a:ext cx="8607288" cy="3416320"/>
          </a:xfrm>
          <a:prstGeom prst="rect">
            <a:avLst/>
          </a:prstGeom>
          <a:noFill/>
        </p:spPr>
        <p:txBody>
          <a:bodyPr wrap="square">
            <a:spAutoFit/>
          </a:bodyPr>
          <a:lstStyle/>
          <a:p>
            <a:r>
              <a:rPr lang="en-IN" b="1" dirty="0"/>
              <a:t>2.2.4 Addressing</a:t>
            </a:r>
          </a:p>
          <a:p>
            <a:endParaRPr lang="en-US" dirty="0"/>
          </a:p>
          <a:p>
            <a:r>
              <a:rPr lang="en-US" dirty="0"/>
              <a:t>Unlike Ethernet (with source/destination), 802.11 frames often use up to four address fields:</a:t>
            </a:r>
          </a:p>
          <a:p>
            <a:pPr marL="285750" indent="-285750">
              <a:buFont typeface="Arial" panose="020B0604020202020204" pitchFamily="34" charset="0"/>
              <a:buChar char="•"/>
            </a:pPr>
            <a:r>
              <a:rPr lang="en-US" dirty="0"/>
              <a:t>Address 1: Receiver Address (RA)</a:t>
            </a:r>
          </a:p>
          <a:p>
            <a:pPr marL="285750" indent="-285750">
              <a:buFont typeface="Arial" panose="020B0604020202020204" pitchFamily="34" charset="0"/>
              <a:buChar char="•"/>
            </a:pPr>
            <a:r>
              <a:rPr lang="en-US" dirty="0"/>
              <a:t>Address 2: Transmitter Address (TA)</a:t>
            </a:r>
          </a:p>
          <a:p>
            <a:pPr marL="285750" indent="-285750">
              <a:buFont typeface="Arial" panose="020B0604020202020204" pitchFamily="34" charset="0"/>
              <a:buChar char="•"/>
            </a:pPr>
            <a:r>
              <a:rPr lang="en-US" dirty="0"/>
              <a:t>Address 3: Destination Address (DA) or Source Address (SA, depending on traffic direction)</a:t>
            </a:r>
          </a:p>
          <a:p>
            <a:pPr marL="285750" indent="-285750">
              <a:buFont typeface="Arial" panose="020B0604020202020204" pitchFamily="34" charset="0"/>
              <a:buChar char="•"/>
            </a:pPr>
            <a:r>
              <a:rPr lang="en-US" dirty="0"/>
              <a:t>Address 4: Used for mesh or WDS scenarios</a:t>
            </a:r>
            <a:br>
              <a:rPr lang="en-US" dirty="0"/>
            </a:br>
            <a:r>
              <a:rPr lang="en-US" dirty="0"/>
              <a:t>This complexity covers wireless clients, APs, and the final target device on the network, enabling varied forwarding and bridging models.</a:t>
            </a:r>
          </a:p>
          <a:p>
            <a:r>
              <a:rPr lang="en-IN" b="1" dirty="0"/>
              <a:t> </a:t>
            </a:r>
          </a:p>
        </p:txBody>
      </p:sp>
    </p:spTree>
    <p:extLst>
      <p:ext uri="{BB962C8B-B14F-4D97-AF65-F5344CB8AC3E}">
        <p14:creationId xmlns:p14="http://schemas.microsoft.com/office/powerpoint/2010/main" val="3987031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D3992-3BF6-4FAB-BE93-AC1DA6B7E4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3FDD249-F061-9B3C-A3E4-DC07923DEBCB}"/>
              </a:ext>
            </a:extLst>
          </p:cNvPr>
          <p:cNvSpPr txBox="1"/>
          <p:nvPr/>
        </p:nvSpPr>
        <p:spPr>
          <a:xfrm>
            <a:off x="854765" y="163204"/>
            <a:ext cx="8438321" cy="369332"/>
          </a:xfrm>
          <a:prstGeom prst="rect">
            <a:avLst/>
          </a:prstGeom>
          <a:noFill/>
        </p:spPr>
        <p:txBody>
          <a:bodyPr wrap="square">
            <a:spAutoFit/>
          </a:bodyPr>
          <a:lstStyle/>
          <a:p>
            <a:r>
              <a:rPr lang="en-US" b="1" dirty="0"/>
              <a:t>2.2.5 Bluetooth and Wi-Fi Direct </a:t>
            </a:r>
            <a:endParaRPr lang="en-IN" b="1" dirty="0"/>
          </a:p>
        </p:txBody>
      </p:sp>
      <p:graphicFrame>
        <p:nvGraphicFramePr>
          <p:cNvPr id="6" name="Table 5">
            <a:extLst>
              <a:ext uri="{FF2B5EF4-FFF2-40B4-BE49-F238E27FC236}">
                <a16:creationId xmlns:a16="http://schemas.microsoft.com/office/drawing/2014/main" id="{A0F5ADED-E98F-2114-2948-B6D99B4082FB}"/>
              </a:ext>
            </a:extLst>
          </p:cNvPr>
          <p:cNvGraphicFramePr>
            <a:graphicFrameLocks noGrp="1"/>
          </p:cNvGraphicFramePr>
          <p:nvPr>
            <p:extLst>
              <p:ext uri="{D42A27DB-BD31-4B8C-83A1-F6EECF244321}">
                <p14:modId xmlns:p14="http://schemas.microsoft.com/office/powerpoint/2010/main" val="1393537351"/>
              </p:ext>
            </p:extLst>
          </p:nvPr>
        </p:nvGraphicFramePr>
        <p:xfrm>
          <a:off x="745952" y="704774"/>
          <a:ext cx="8765796" cy="3870960"/>
        </p:xfrm>
        <a:graphic>
          <a:graphicData uri="http://schemas.openxmlformats.org/drawingml/2006/table">
            <a:tbl>
              <a:tblPr>
                <a:tableStyleId>{5940675A-B579-460E-94D1-54222C63F5DA}</a:tableStyleId>
              </a:tblPr>
              <a:tblGrid>
                <a:gridCol w="2320409">
                  <a:extLst>
                    <a:ext uri="{9D8B030D-6E8A-4147-A177-3AD203B41FA5}">
                      <a16:colId xmlns:a16="http://schemas.microsoft.com/office/drawing/2014/main" val="3284622493"/>
                    </a:ext>
                  </a:extLst>
                </a:gridCol>
                <a:gridCol w="3523455">
                  <a:extLst>
                    <a:ext uri="{9D8B030D-6E8A-4147-A177-3AD203B41FA5}">
                      <a16:colId xmlns:a16="http://schemas.microsoft.com/office/drawing/2014/main" val="3532415918"/>
                    </a:ext>
                  </a:extLst>
                </a:gridCol>
                <a:gridCol w="2921932">
                  <a:extLst>
                    <a:ext uri="{9D8B030D-6E8A-4147-A177-3AD203B41FA5}">
                      <a16:colId xmlns:a16="http://schemas.microsoft.com/office/drawing/2014/main" val="3000262869"/>
                    </a:ext>
                  </a:extLst>
                </a:gridCol>
              </a:tblGrid>
              <a:tr h="0">
                <a:tc>
                  <a:txBody>
                    <a:bodyPr/>
                    <a:lstStyle/>
                    <a:p>
                      <a:pPr algn="ctr">
                        <a:buNone/>
                      </a:pPr>
                      <a:r>
                        <a:rPr lang="en-IN" b="1">
                          <a:effectLst/>
                        </a:rPr>
                        <a:t>Feature</a:t>
                      </a:r>
                    </a:p>
                  </a:txBody>
                  <a:tcPr marL="60960" marR="60960" marT="60960" marB="60960" anchor="ctr"/>
                </a:tc>
                <a:tc>
                  <a:txBody>
                    <a:bodyPr/>
                    <a:lstStyle/>
                    <a:p>
                      <a:pPr algn="ctr">
                        <a:buNone/>
                      </a:pPr>
                      <a:r>
                        <a:rPr lang="en-IN" b="1">
                          <a:effectLst/>
                        </a:rPr>
                        <a:t>Bluetooth</a:t>
                      </a:r>
                    </a:p>
                  </a:txBody>
                  <a:tcPr marL="60960" marR="60960" marT="60960" marB="60960" anchor="ctr"/>
                </a:tc>
                <a:tc>
                  <a:txBody>
                    <a:bodyPr/>
                    <a:lstStyle/>
                    <a:p>
                      <a:pPr algn="ctr">
                        <a:buNone/>
                      </a:pPr>
                      <a:r>
                        <a:rPr lang="en-IN" b="1" dirty="0">
                          <a:effectLst/>
                        </a:rPr>
                        <a:t>Wi-Fi Direct</a:t>
                      </a:r>
                    </a:p>
                  </a:txBody>
                  <a:tcPr marL="60960" marR="60960" marT="60960" marB="60960" anchor="ctr"/>
                </a:tc>
                <a:extLst>
                  <a:ext uri="{0D108BD9-81ED-4DB2-BD59-A6C34878D82A}">
                    <a16:rowId xmlns:a16="http://schemas.microsoft.com/office/drawing/2014/main" val="3164259965"/>
                  </a:ext>
                </a:extLst>
              </a:tr>
              <a:tr h="0">
                <a:tc>
                  <a:txBody>
                    <a:bodyPr/>
                    <a:lstStyle/>
                    <a:p>
                      <a:pPr algn="l">
                        <a:buNone/>
                      </a:pPr>
                      <a:r>
                        <a:rPr lang="en-IN">
                          <a:effectLst/>
                        </a:rPr>
                        <a:t>Typical Speed</a:t>
                      </a:r>
                    </a:p>
                  </a:txBody>
                  <a:tcPr marL="60960" marR="60960" marT="60960" marB="60960" anchor="ctr"/>
                </a:tc>
                <a:tc>
                  <a:txBody>
                    <a:bodyPr/>
                    <a:lstStyle/>
                    <a:p>
                      <a:pPr algn="l">
                        <a:buNone/>
                      </a:pPr>
                      <a:r>
                        <a:rPr lang="en-IN">
                          <a:effectLst/>
                        </a:rPr>
                        <a:t>3 Mbps</a:t>
                      </a:r>
                    </a:p>
                  </a:txBody>
                  <a:tcPr marL="60960" marR="60960" marT="60960" marB="60960" anchor="ctr"/>
                </a:tc>
                <a:tc>
                  <a:txBody>
                    <a:bodyPr/>
                    <a:lstStyle/>
                    <a:p>
                      <a:pPr algn="l">
                        <a:buNone/>
                      </a:pPr>
                      <a:r>
                        <a:rPr lang="en-IN">
                          <a:effectLst/>
                        </a:rPr>
                        <a:t>Up to several Gbps</a:t>
                      </a:r>
                    </a:p>
                  </a:txBody>
                  <a:tcPr marL="60960" marR="60960" marT="60960" marB="60960" anchor="ctr"/>
                </a:tc>
                <a:extLst>
                  <a:ext uri="{0D108BD9-81ED-4DB2-BD59-A6C34878D82A}">
                    <a16:rowId xmlns:a16="http://schemas.microsoft.com/office/drawing/2014/main" val="48544533"/>
                  </a:ext>
                </a:extLst>
              </a:tr>
              <a:tr h="0">
                <a:tc>
                  <a:txBody>
                    <a:bodyPr/>
                    <a:lstStyle/>
                    <a:p>
                      <a:pPr algn="l">
                        <a:buNone/>
                      </a:pPr>
                      <a:r>
                        <a:rPr lang="en-IN">
                          <a:effectLst/>
                        </a:rPr>
                        <a:t>Range</a:t>
                      </a:r>
                    </a:p>
                  </a:txBody>
                  <a:tcPr marL="60960" marR="60960" marT="60960" marB="60960" anchor="ctr"/>
                </a:tc>
                <a:tc>
                  <a:txBody>
                    <a:bodyPr/>
                    <a:lstStyle/>
                    <a:p>
                      <a:pPr algn="l">
                        <a:buNone/>
                      </a:pPr>
                      <a:r>
                        <a:rPr lang="en-US">
                          <a:effectLst/>
                        </a:rPr>
                        <a:t>~50 meters (Class 2), up to 300 m (Class 1)</a:t>
                      </a:r>
                    </a:p>
                  </a:txBody>
                  <a:tcPr marL="60960" marR="60960" marT="60960" marB="60960" anchor="ctr"/>
                </a:tc>
                <a:tc>
                  <a:txBody>
                    <a:bodyPr/>
                    <a:lstStyle/>
                    <a:p>
                      <a:pPr algn="l">
                        <a:buNone/>
                      </a:pPr>
                      <a:r>
                        <a:rPr lang="en-IN">
                          <a:effectLst/>
                        </a:rPr>
                        <a:t>~200 meters</a:t>
                      </a:r>
                    </a:p>
                  </a:txBody>
                  <a:tcPr marL="60960" marR="60960" marT="60960" marB="60960" anchor="ctr"/>
                </a:tc>
                <a:extLst>
                  <a:ext uri="{0D108BD9-81ED-4DB2-BD59-A6C34878D82A}">
                    <a16:rowId xmlns:a16="http://schemas.microsoft.com/office/drawing/2014/main" val="3041981207"/>
                  </a:ext>
                </a:extLst>
              </a:tr>
              <a:tr h="0">
                <a:tc>
                  <a:txBody>
                    <a:bodyPr/>
                    <a:lstStyle/>
                    <a:p>
                      <a:pPr algn="l">
                        <a:buNone/>
                      </a:pPr>
                      <a:r>
                        <a:rPr lang="en-IN">
                          <a:effectLst/>
                        </a:rPr>
                        <a:t>Use</a:t>
                      </a:r>
                    </a:p>
                  </a:txBody>
                  <a:tcPr marL="60960" marR="60960" marT="60960" marB="60960" anchor="ctr"/>
                </a:tc>
                <a:tc>
                  <a:txBody>
                    <a:bodyPr/>
                    <a:lstStyle/>
                    <a:p>
                      <a:pPr algn="l">
                        <a:buNone/>
                      </a:pPr>
                      <a:r>
                        <a:rPr lang="en-IN">
                          <a:effectLst/>
                        </a:rPr>
                        <a:t>Low-power PANs, peripherals</a:t>
                      </a:r>
                    </a:p>
                  </a:txBody>
                  <a:tcPr marL="60960" marR="60960" marT="60960" marB="60960" anchor="ctr"/>
                </a:tc>
                <a:tc>
                  <a:txBody>
                    <a:bodyPr/>
                    <a:lstStyle/>
                    <a:p>
                      <a:pPr algn="l">
                        <a:buNone/>
                      </a:pPr>
                      <a:r>
                        <a:rPr lang="en-US">
                          <a:effectLst/>
                        </a:rPr>
                        <a:t>Direct high-speed device-to-device connection, no AP needed</a:t>
                      </a:r>
                    </a:p>
                  </a:txBody>
                  <a:tcPr marL="60960" marR="60960" marT="60960" marB="60960" anchor="ctr"/>
                </a:tc>
                <a:extLst>
                  <a:ext uri="{0D108BD9-81ED-4DB2-BD59-A6C34878D82A}">
                    <a16:rowId xmlns:a16="http://schemas.microsoft.com/office/drawing/2014/main" val="3579454701"/>
                  </a:ext>
                </a:extLst>
              </a:tr>
              <a:tr h="0">
                <a:tc>
                  <a:txBody>
                    <a:bodyPr/>
                    <a:lstStyle/>
                    <a:p>
                      <a:pPr algn="l">
                        <a:buNone/>
                      </a:pPr>
                      <a:r>
                        <a:rPr lang="en-IN">
                          <a:effectLst/>
                        </a:rPr>
                        <a:t>Power Consumption</a:t>
                      </a:r>
                    </a:p>
                  </a:txBody>
                  <a:tcPr marL="60960" marR="60960" marT="60960" marB="60960" anchor="ctr"/>
                </a:tc>
                <a:tc>
                  <a:txBody>
                    <a:bodyPr/>
                    <a:lstStyle/>
                    <a:p>
                      <a:pPr algn="l">
                        <a:buNone/>
                      </a:pPr>
                      <a:r>
                        <a:rPr lang="en-IN">
                          <a:effectLst/>
                        </a:rPr>
                        <a:t>Low</a:t>
                      </a:r>
                    </a:p>
                  </a:txBody>
                  <a:tcPr marL="60960" marR="60960" marT="60960" marB="60960" anchor="ctr"/>
                </a:tc>
                <a:tc>
                  <a:txBody>
                    <a:bodyPr/>
                    <a:lstStyle/>
                    <a:p>
                      <a:pPr algn="l">
                        <a:buNone/>
                      </a:pPr>
                      <a:r>
                        <a:rPr lang="en-IN">
                          <a:effectLst/>
                        </a:rPr>
                        <a:t>Higher</a:t>
                      </a:r>
                    </a:p>
                  </a:txBody>
                  <a:tcPr marL="60960" marR="60960" marT="60960" marB="60960" anchor="ctr"/>
                </a:tc>
                <a:extLst>
                  <a:ext uri="{0D108BD9-81ED-4DB2-BD59-A6C34878D82A}">
                    <a16:rowId xmlns:a16="http://schemas.microsoft.com/office/drawing/2014/main" val="4001561635"/>
                  </a:ext>
                </a:extLst>
              </a:tr>
              <a:tr h="0">
                <a:tc>
                  <a:txBody>
                    <a:bodyPr/>
                    <a:lstStyle/>
                    <a:p>
                      <a:pPr algn="l">
                        <a:buNone/>
                      </a:pPr>
                      <a:r>
                        <a:rPr lang="en-IN">
                          <a:effectLst/>
                        </a:rPr>
                        <a:t>Data Handling</a:t>
                      </a:r>
                    </a:p>
                  </a:txBody>
                  <a:tcPr marL="60960" marR="60960" marT="60960" marB="60960" anchor="ctr"/>
                </a:tc>
                <a:tc>
                  <a:txBody>
                    <a:bodyPr/>
                    <a:lstStyle/>
                    <a:p>
                      <a:pPr algn="l">
                        <a:buNone/>
                      </a:pPr>
                      <a:r>
                        <a:rPr lang="en-US">
                          <a:effectLst/>
                        </a:rPr>
                        <a:t>Small data bursts (audio, sensors)</a:t>
                      </a:r>
                    </a:p>
                  </a:txBody>
                  <a:tcPr marL="60960" marR="60960" marT="60960" marB="60960" anchor="ctr"/>
                </a:tc>
                <a:tc>
                  <a:txBody>
                    <a:bodyPr/>
                    <a:lstStyle/>
                    <a:p>
                      <a:pPr algn="l">
                        <a:buNone/>
                      </a:pPr>
                      <a:r>
                        <a:rPr lang="en-IN">
                          <a:effectLst/>
                        </a:rPr>
                        <a:t>Large files, streaming video</a:t>
                      </a:r>
                    </a:p>
                  </a:txBody>
                  <a:tcPr marL="60960" marR="60960" marT="60960" marB="60960" anchor="ctr"/>
                </a:tc>
                <a:extLst>
                  <a:ext uri="{0D108BD9-81ED-4DB2-BD59-A6C34878D82A}">
                    <a16:rowId xmlns:a16="http://schemas.microsoft.com/office/drawing/2014/main" val="2502083188"/>
                  </a:ext>
                </a:extLst>
              </a:tr>
              <a:tr h="0">
                <a:tc>
                  <a:txBody>
                    <a:bodyPr/>
                    <a:lstStyle/>
                    <a:p>
                      <a:pPr algn="l">
                        <a:buNone/>
                      </a:pPr>
                      <a:r>
                        <a:rPr lang="en-IN">
                          <a:effectLst/>
                        </a:rPr>
                        <a:t>Security</a:t>
                      </a:r>
                    </a:p>
                  </a:txBody>
                  <a:tcPr marL="60960" marR="60960" marT="60960" marB="60960" anchor="ctr"/>
                </a:tc>
                <a:tc>
                  <a:txBody>
                    <a:bodyPr/>
                    <a:lstStyle/>
                    <a:p>
                      <a:pPr algn="l">
                        <a:buNone/>
                      </a:pPr>
                      <a:r>
                        <a:rPr lang="en-IN">
                          <a:effectLst/>
                        </a:rPr>
                        <a:t>Sufficient, but less robust</a:t>
                      </a:r>
                    </a:p>
                  </a:txBody>
                  <a:tcPr marL="60960" marR="60960" marT="60960" marB="60960" anchor="ctr"/>
                </a:tc>
                <a:tc>
                  <a:txBody>
                    <a:bodyPr/>
                    <a:lstStyle/>
                    <a:p>
                      <a:pPr algn="l">
                        <a:buNone/>
                      </a:pPr>
                      <a:r>
                        <a:rPr lang="en-IN" dirty="0">
                          <a:effectLst/>
                        </a:rPr>
                        <a:t>WPA/WPA2/WPA3 support</a:t>
                      </a:r>
                    </a:p>
                  </a:txBody>
                  <a:tcPr marL="60960" marR="60960" marT="60960" marB="60960" anchor="ctr"/>
                </a:tc>
                <a:extLst>
                  <a:ext uri="{0D108BD9-81ED-4DB2-BD59-A6C34878D82A}">
                    <a16:rowId xmlns:a16="http://schemas.microsoft.com/office/drawing/2014/main" val="140811858"/>
                  </a:ext>
                </a:extLst>
              </a:tr>
            </a:tbl>
          </a:graphicData>
        </a:graphic>
      </p:graphicFrame>
    </p:spTree>
    <p:extLst>
      <p:ext uri="{BB962C8B-B14F-4D97-AF65-F5344CB8AC3E}">
        <p14:creationId xmlns:p14="http://schemas.microsoft.com/office/powerpoint/2010/main" val="2991707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F4CB2-D1A7-020D-2B88-C4CCB37E74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F206FC-43D9-4685-A312-A879B5A87F2A}"/>
              </a:ext>
            </a:extLst>
          </p:cNvPr>
          <p:cNvSpPr txBox="1"/>
          <p:nvPr/>
        </p:nvSpPr>
        <p:spPr>
          <a:xfrm>
            <a:off x="824948" y="202099"/>
            <a:ext cx="8577469" cy="3970318"/>
          </a:xfrm>
          <a:prstGeom prst="rect">
            <a:avLst/>
          </a:prstGeom>
          <a:noFill/>
        </p:spPr>
        <p:txBody>
          <a:bodyPr wrap="square">
            <a:spAutoFit/>
          </a:bodyPr>
          <a:lstStyle/>
          <a:p>
            <a:pPr marL="285750" indent="-285750">
              <a:buFont typeface="Wingdings" panose="05000000000000000000" pitchFamily="2" charset="2"/>
              <a:buChar char="q"/>
            </a:pPr>
            <a:r>
              <a:rPr lang="en-US" b="1" dirty="0"/>
              <a:t>Bluetooth</a:t>
            </a:r>
          </a:p>
          <a:p>
            <a:pPr>
              <a:buNone/>
            </a:pPr>
            <a:endParaRPr lang="en-US" b="1" dirty="0"/>
          </a:p>
          <a:p>
            <a:pPr>
              <a:buFont typeface="Arial" panose="020B0604020202020204" pitchFamily="34" charset="0"/>
              <a:buChar char="•"/>
            </a:pPr>
            <a:r>
              <a:rPr lang="en-US" dirty="0"/>
              <a:t>Defined by the IEEE 802.15.1 standard.</a:t>
            </a:r>
          </a:p>
          <a:p>
            <a:pPr>
              <a:buFont typeface="Arial" panose="020B0604020202020204" pitchFamily="34" charset="0"/>
              <a:buChar char="•"/>
            </a:pPr>
            <a:r>
              <a:rPr lang="en-US" dirty="0"/>
              <a:t>Short-range wireless technology (up to 10 m).</a:t>
            </a:r>
          </a:p>
          <a:p>
            <a:pPr>
              <a:buFont typeface="Arial" panose="020B0604020202020204" pitchFamily="34" charset="0"/>
              <a:buChar char="•"/>
            </a:pPr>
            <a:r>
              <a:rPr lang="en-US" dirty="0"/>
              <a:t>Used for connecting peripherals like headphones, keyboards, phones, etc.</a:t>
            </a:r>
          </a:p>
          <a:p>
            <a:pPr>
              <a:buFont typeface="Arial" panose="020B0604020202020204" pitchFamily="34" charset="0"/>
              <a:buChar char="•"/>
            </a:pPr>
            <a:r>
              <a:rPr lang="en-US" dirty="0"/>
              <a:t>Operates at 2.4 GHz using Frequency Hopping Spread Spectrum (FHSS).</a:t>
            </a:r>
          </a:p>
          <a:p>
            <a:pPr>
              <a:buFont typeface="Arial" panose="020B0604020202020204" pitchFamily="34" charset="0"/>
              <a:buChar char="•"/>
            </a:pPr>
            <a:r>
              <a:rPr lang="en-US" dirty="0"/>
              <a:t>Forms a Piconet (one master and up to seven slaves).</a:t>
            </a:r>
          </a:p>
          <a:p>
            <a:endParaRPr lang="en-US" dirty="0"/>
          </a:p>
          <a:p>
            <a:pPr marL="285750" indent="-285750">
              <a:buFont typeface="Wingdings" panose="05000000000000000000" pitchFamily="2" charset="2"/>
              <a:buChar char="q"/>
            </a:pPr>
            <a:r>
              <a:rPr lang="en-US" b="1" dirty="0"/>
              <a:t>Wi-Fi Direct</a:t>
            </a:r>
          </a:p>
          <a:p>
            <a:pPr>
              <a:buNone/>
            </a:pPr>
            <a:endParaRPr lang="en-US" b="1" dirty="0"/>
          </a:p>
          <a:p>
            <a:pPr>
              <a:buFont typeface="Arial" panose="020B0604020202020204" pitchFamily="34" charset="0"/>
              <a:buChar char="•"/>
            </a:pPr>
            <a:r>
              <a:rPr lang="en-US" dirty="0"/>
              <a:t>A technology that allows two Wi-Fi devices to connect directly without a router or access point.</a:t>
            </a:r>
          </a:p>
          <a:p>
            <a:pPr>
              <a:buFont typeface="Arial" panose="020B0604020202020204" pitchFamily="34" charset="0"/>
              <a:buChar char="•"/>
            </a:pPr>
            <a:r>
              <a:rPr lang="en-US" dirty="0"/>
              <a:t>Similar to Bluetooth but provides higher speed and range.</a:t>
            </a:r>
          </a:p>
          <a:p>
            <a:pPr>
              <a:buFont typeface="Arial" panose="020B0604020202020204" pitchFamily="34" charset="0"/>
              <a:buChar char="•"/>
            </a:pPr>
            <a:r>
              <a:rPr lang="en-US" dirty="0"/>
              <a:t>Commonly used for file transfer, printing, and device-to-device sharing.</a:t>
            </a:r>
          </a:p>
        </p:txBody>
      </p:sp>
    </p:spTree>
    <p:extLst>
      <p:ext uri="{BB962C8B-B14F-4D97-AF65-F5344CB8AC3E}">
        <p14:creationId xmlns:p14="http://schemas.microsoft.com/office/powerpoint/2010/main" val="239588468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49</TotalTime>
  <Words>1178</Words>
  <Application>Microsoft Office PowerPoint</Application>
  <PresentationFormat>Widescreen</PresentationFormat>
  <Paragraphs>154</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fkGrotesk</vt:lpstr>
      <vt:lpstr>fkGroteskNeue</vt:lpstr>
      <vt:lpstr>Trebuchet MS</vt:lpstr>
      <vt:lpstr>Wingdings</vt:lpstr>
      <vt:lpstr>Wingdings 3</vt:lpstr>
      <vt:lpstr>Facet</vt:lpstr>
      <vt:lpstr>Underlying Technologies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2025-10-13T11:31:31Z</dcterms:created>
  <dcterms:modified xsi:type="dcterms:W3CDTF">2025-10-13T12:21:06Z</dcterms:modified>
</cp:coreProperties>
</file>