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6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18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21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46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99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0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97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198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3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50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6707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27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118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0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857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62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59089-96CC-4716-8B2A-8E471C23B68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C2F62A2-B5C5-4389-BD3D-CCC69611D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78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ftp://ftp.example.com/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2523-28EA-E98C-0DB6-2B9900633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8" y="1887699"/>
            <a:ext cx="9442174" cy="1646302"/>
          </a:xfrm>
        </p:spPr>
        <p:txBody>
          <a:bodyPr/>
          <a:lstStyle/>
          <a:p>
            <a:pPr algn="ctr"/>
            <a:r>
              <a:rPr lang="en-IN" dirty="0"/>
              <a:t>Other Application Layer Protocols </a:t>
            </a:r>
          </a:p>
        </p:txBody>
      </p:sp>
    </p:spTree>
    <p:extLst>
      <p:ext uri="{BB962C8B-B14F-4D97-AF65-F5344CB8AC3E}">
        <p14:creationId xmlns:p14="http://schemas.microsoft.com/office/powerpoint/2010/main" val="79118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4E0819-841C-BB7F-4172-168692C7C40C}"/>
              </a:ext>
            </a:extLst>
          </p:cNvPr>
          <p:cNvSpPr txBox="1"/>
          <p:nvPr/>
        </p:nvSpPr>
        <p:spPr>
          <a:xfrm>
            <a:off x="854765" y="256546"/>
            <a:ext cx="85774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6.1 Host Configuration: DHCP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When a device (host) connects to a network, it needs an </a:t>
            </a:r>
            <a:r>
              <a:rPr lang="en-US" b="1" dirty="0"/>
              <a:t>IP address</a:t>
            </a:r>
            <a:r>
              <a:rPr lang="en-US" dirty="0"/>
              <a:t> and other network information (like subnet mask, gateway, DNS).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Host Configuration protocols</a:t>
            </a:r>
            <a:r>
              <a:rPr lang="en-US" dirty="0"/>
              <a:t> such as </a:t>
            </a:r>
            <a:r>
              <a:rPr lang="en-US" b="1" dirty="0"/>
              <a:t>RARP</a:t>
            </a:r>
            <a:r>
              <a:rPr lang="en-US" dirty="0"/>
              <a:t>, </a:t>
            </a:r>
            <a:r>
              <a:rPr lang="en-US" b="1" dirty="0"/>
              <a:t>BOOTP</a:t>
            </a:r>
            <a:r>
              <a:rPr lang="en-US" dirty="0"/>
              <a:t>, and </a:t>
            </a:r>
            <a:r>
              <a:rPr lang="en-US" b="1" dirty="0"/>
              <a:t>DHCP</a:t>
            </a:r>
            <a:r>
              <a:rPr lang="en-US" dirty="0"/>
              <a:t> help </a:t>
            </a:r>
            <a:r>
              <a:rPr lang="en-US" b="1" dirty="0"/>
              <a:t>automatically assign these details</a:t>
            </a:r>
            <a:r>
              <a:rPr lang="en-US" dirty="0"/>
              <a:t> to devices.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6.1.1 Overview of Protocols: RARP, BOOTP, DHCP</a:t>
            </a:r>
          </a:p>
          <a:p>
            <a:endParaRPr lang="en-US" b="1" dirty="0"/>
          </a:p>
          <a:p>
            <a:r>
              <a:rPr lang="en-US" b="1" dirty="0"/>
              <a:t>(a) RARP (Reverse Address Resolution Protocol)</a:t>
            </a:r>
          </a:p>
          <a:p>
            <a:r>
              <a:rPr lang="en-US" b="1" dirty="0"/>
              <a:t>Full Form:</a:t>
            </a:r>
            <a:r>
              <a:rPr lang="en-US" dirty="0"/>
              <a:t> Reverse Address Resolution Protocol</a:t>
            </a:r>
          </a:p>
          <a:p>
            <a:endParaRPr lang="en-US" dirty="0"/>
          </a:p>
          <a:p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Used by a computer to find its </a:t>
            </a:r>
            <a:r>
              <a:rPr lang="en-US" b="1" dirty="0"/>
              <a:t>IP address</a:t>
            </a:r>
            <a:r>
              <a:rPr lang="en-US" dirty="0"/>
              <a:t> when it only knows its </a:t>
            </a:r>
            <a:r>
              <a:rPr lang="en-US" b="1" dirty="0"/>
              <a:t>MAC (hardware) address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How it works:</a:t>
            </a:r>
          </a:p>
          <a:p>
            <a:endParaRPr lang="en-US" dirty="0"/>
          </a:p>
          <a:p>
            <a:r>
              <a:rPr lang="en-US" dirty="0"/>
              <a:t>1.The client sends a </a:t>
            </a:r>
            <a:r>
              <a:rPr lang="en-US" b="1" dirty="0"/>
              <a:t>RARP request</a:t>
            </a:r>
            <a:r>
              <a:rPr lang="en-US" dirty="0"/>
              <a:t> with its MAC address.</a:t>
            </a:r>
          </a:p>
          <a:p>
            <a:r>
              <a:rPr lang="en-US" dirty="0"/>
              <a:t>2.The </a:t>
            </a:r>
            <a:r>
              <a:rPr lang="en-US" b="1" dirty="0"/>
              <a:t>RARP server</a:t>
            </a:r>
            <a:r>
              <a:rPr lang="en-US" dirty="0"/>
              <a:t> replies with the corresponding IP address.</a:t>
            </a:r>
          </a:p>
        </p:txBody>
      </p:sp>
    </p:spTree>
    <p:extLst>
      <p:ext uri="{BB962C8B-B14F-4D97-AF65-F5344CB8AC3E}">
        <p14:creationId xmlns:p14="http://schemas.microsoft.com/office/powerpoint/2010/main" val="97283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1734-B8F6-4EDF-A936-BF581810A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A458B-E4BF-3877-B9B5-B2DC94027537}"/>
              </a:ext>
            </a:extLst>
          </p:cNvPr>
          <p:cNvSpPr txBox="1"/>
          <p:nvPr/>
        </p:nvSpPr>
        <p:spPr>
          <a:xfrm>
            <a:off x="864704" y="255898"/>
            <a:ext cx="866692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Limitations: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only for IP address assignment.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support for other information (like gateway or DNS).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RARP server must be on the </a:t>
            </a:r>
            <a:r>
              <a:rPr lang="en-US" b="1" dirty="0"/>
              <a:t>same local network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Status: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Now </a:t>
            </a:r>
            <a:r>
              <a:rPr lang="en-US" b="1" dirty="0"/>
              <a:t>obsolete</a:t>
            </a:r>
            <a:r>
              <a:rPr lang="en-US" dirty="0"/>
              <a:t>, replaced by </a:t>
            </a:r>
            <a:r>
              <a:rPr lang="en-US" b="1" dirty="0"/>
              <a:t>BOOTP</a:t>
            </a:r>
            <a:r>
              <a:rPr lang="en-US" dirty="0"/>
              <a:t> and </a:t>
            </a:r>
            <a:r>
              <a:rPr lang="en-US" b="1" dirty="0"/>
              <a:t>DHCP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b) BOOTP (Bootstrap Protocol)</a:t>
            </a:r>
          </a:p>
          <a:p>
            <a:r>
              <a:rPr lang="en-IN" b="1" dirty="0"/>
              <a:t>Full Form:</a:t>
            </a:r>
            <a:r>
              <a:rPr lang="en-IN" dirty="0"/>
              <a:t> Bootstrap Protocol</a:t>
            </a:r>
          </a:p>
          <a:p>
            <a:endParaRPr lang="en-IN" dirty="0"/>
          </a:p>
          <a:p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Used to </a:t>
            </a:r>
            <a:r>
              <a:rPr lang="en-IN" b="1" dirty="0"/>
              <a:t>assign IP address</a:t>
            </a:r>
            <a:r>
              <a:rPr lang="en-IN" dirty="0"/>
              <a:t> and </a:t>
            </a:r>
            <a:r>
              <a:rPr lang="en-IN" b="1" dirty="0"/>
              <a:t>boot information</a:t>
            </a:r>
            <a:r>
              <a:rPr lang="en-IN" dirty="0"/>
              <a:t> (like OS file location) to diskless workstations.</a:t>
            </a:r>
          </a:p>
          <a:p>
            <a:endParaRPr lang="en-IN" dirty="0"/>
          </a:p>
          <a:p>
            <a:r>
              <a:rPr lang="en-IN" b="1" dirty="0"/>
              <a:t>How it works:</a:t>
            </a:r>
            <a:endParaRPr lang="en-IN" dirty="0"/>
          </a:p>
          <a:p>
            <a:r>
              <a:rPr lang="en-IN" dirty="0"/>
              <a:t>1.The client sends a </a:t>
            </a:r>
            <a:r>
              <a:rPr lang="en-IN" b="1" dirty="0"/>
              <a:t>BOOTP request</a:t>
            </a:r>
            <a:r>
              <a:rPr lang="en-IN" dirty="0"/>
              <a:t> (broadcast).</a:t>
            </a:r>
          </a:p>
          <a:p>
            <a:r>
              <a:rPr lang="en-IN" dirty="0"/>
              <a:t>2.The BOOTP server responds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IP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Subnet mask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Default gateway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Boot file name/location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30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496FF-62A0-62E9-B234-1AF7C648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081F62-15BF-C706-018D-80DD1E1D4695}"/>
              </a:ext>
            </a:extLst>
          </p:cNvPr>
          <p:cNvSpPr txBox="1"/>
          <p:nvPr/>
        </p:nvSpPr>
        <p:spPr>
          <a:xfrm>
            <a:off x="874642" y="104865"/>
            <a:ext cx="828923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static configuration</a:t>
            </a:r>
            <a:r>
              <a:rPr lang="en-US" dirty="0"/>
              <a:t> (predefined entries in server).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flexible than DHCP.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(c) DHCP (Dynamic Host Configuration Protocol)</a:t>
            </a:r>
          </a:p>
          <a:p>
            <a:r>
              <a:rPr lang="en-IN" b="1" dirty="0"/>
              <a:t>Full Form:</a:t>
            </a:r>
            <a:r>
              <a:rPr lang="en-IN" dirty="0"/>
              <a:t> Dynamic Host Configuration Protocol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Automatically </a:t>
            </a:r>
            <a:r>
              <a:rPr lang="en-IN" b="1" dirty="0"/>
              <a:t>assigns IP addresses</a:t>
            </a:r>
            <a:r>
              <a:rPr lang="en-IN" dirty="0"/>
              <a:t> and </a:t>
            </a:r>
            <a:r>
              <a:rPr lang="en-IN" b="1" dirty="0"/>
              <a:t>network configuration</a:t>
            </a:r>
            <a:r>
              <a:rPr lang="en-IN" dirty="0"/>
              <a:t> to hosts dynamically.</a:t>
            </a:r>
          </a:p>
          <a:p>
            <a:r>
              <a:rPr lang="en-IN" dirty="0"/>
              <a:t>It is an </a:t>
            </a:r>
            <a:r>
              <a:rPr lang="en-IN" b="1" dirty="0"/>
              <a:t>improved and extended version of BOOTP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Information provided by DHCP: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Subnet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Default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DNS server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Lease duration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How DHCP works (4-step process):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92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54E6-B350-B29A-3913-57BEC72C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F09439-CA7C-D884-DC43-192AC97D0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954339"/>
              </p:ext>
            </p:extLst>
          </p:nvPr>
        </p:nvGraphicFramePr>
        <p:xfrm>
          <a:off x="879061" y="133257"/>
          <a:ext cx="8612809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885">
                  <a:extLst>
                    <a:ext uri="{9D8B030D-6E8A-4147-A177-3AD203B41FA5}">
                      <a16:colId xmlns:a16="http://schemas.microsoft.com/office/drawing/2014/main" val="3412615148"/>
                    </a:ext>
                  </a:extLst>
                </a:gridCol>
                <a:gridCol w="3345582">
                  <a:extLst>
                    <a:ext uri="{9D8B030D-6E8A-4147-A177-3AD203B41FA5}">
                      <a16:colId xmlns:a16="http://schemas.microsoft.com/office/drawing/2014/main" val="2247480767"/>
                    </a:ext>
                  </a:extLst>
                </a:gridCol>
                <a:gridCol w="4615342">
                  <a:extLst>
                    <a:ext uri="{9D8B030D-6E8A-4147-A177-3AD203B41FA5}">
                      <a16:colId xmlns:a16="http://schemas.microsoft.com/office/drawing/2014/main" val="1015023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Step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Message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941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DHCP Discover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Client broadcasts a request to find DHCP servers.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031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DHCP Offer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Server replies with available IP address offer.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681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DHCP Request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Client requests to use the offered IP.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407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DHCP Acknowledge (ACK)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Server confirms and assigns the IP to client.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746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83D4D8-24FF-294B-0AB6-354C5BA2F50C}"/>
              </a:ext>
            </a:extLst>
          </p:cNvPr>
          <p:cNvSpPr txBox="1"/>
          <p:nvPr/>
        </p:nvSpPr>
        <p:spPr>
          <a:xfrm>
            <a:off x="879061" y="3135653"/>
            <a:ext cx="8414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After this process, the client can communicate on the network.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DF84E-09CE-E36E-B995-992A15B4E9B9}"/>
              </a:ext>
            </a:extLst>
          </p:cNvPr>
          <p:cNvSpPr txBox="1"/>
          <p:nvPr/>
        </p:nvSpPr>
        <p:spPr>
          <a:xfrm>
            <a:off x="735495" y="3576221"/>
            <a:ext cx="99788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6.1.2 Configuration: Static &amp; Dynamic Address Allocation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(a) Static Address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network administrator manually assigns</a:t>
            </a:r>
            <a:r>
              <a:rPr lang="en-US" dirty="0"/>
              <a:t> an IP address to each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address </a:t>
            </a:r>
            <a:r>
              <a:rPr lang="en-US" b="1" dirty="0"/>
              <a:t>does not change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track and manage specific devices (like servers or printers).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devices that must always have the same IP.</a:t>
            </a:r>
          </a:p>
        </p:txBody>
      </p:sp>
    </p:spTree>
    <p:extLst>
      <p:ext uri="{BB962C8B-B14F-4D97-AF65-F5344CB8AC3E}">
        <p14:creationId xmlns:p14="http://schemas.microsoft.com/office/powerpoint/2010/main" val="10365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2BE03-247E-474E-270E-14C7ADBB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C8FC74-026B-7828-3B61-BCD8F2D3F0E1}"/>
              </a:ext>
            </a:extLst>
          </p:cNvPr>
          <p:cNvSpPr txBox="1"/>
          <p:nvPr/>
        </p:nvSpPr>
        <p:spPr>
          <a:xfrm>
            <a:off x="924339" y="0"/>
            <a:ext cx="861722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track and manage specific devices (like servers or printers).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devices that must always have the same IP.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Time-consuming for large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Prone to configuration errors.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Printer or web server → IP: </a:t>
            </a:r>
            <a:r>
              <a:rPr lang="en-US" dirty="0">
                <a:latin typeface="Courier New" panose="02070309020205020404" pitchFamily="49" charset="0"/>
              </a:rPr>
              <a:t>192.168.1.10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US" b="1" dirty="0"/>
              <a:t>(b) Dynamic Address Allocation</a:t>
            </a:r>
          </a:p>
          <a:p>
            <a:endParaRPr lang="en-US" b="1" dirty="0"/>
          </a:p>
          <a:p>
            <a:r>
              <a:rPr lang="en-US" dirty="0"/>
              <a:t>IP addresses are assigned </a:t>
            </a:r>
            <a:r>
              <a:rPr lang="en-US" b="1" dirty="0"/>
              <a:t>automatically by DHCP server</a:t>
            </a:r>
            <a:r>
              <a:rPr lang="en-US" dirty="0"/>
              <a:t>.</a:t>
            </a:r>
          </a:p>
          <a:p>
            <a:r>
              <a:rPr lang="en-US" dirty="0"/>
              <a:t>The IP is valid for a </a:t>
            </a:r>
            <a:r>
              <a:rPr lang="en-US" b="1" dirty="0"/>
              <a:t>limited lease time</a:t>
            </a:r>
            <a:r>
              <a:rPr lang="en-US" dirty="0"/>
              <a:t>, after which it may change.</a:t>
            </a:r>
          </a:p>
          <a:p>
            <a:endParaRPr lang="en-US" dirty="0"/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Easy to manage large networks.</a:t>
            </a:r>
          </a:p>
          <a:p>
            <a:r>
              <a:rPr lang="en-US" dirty="0"/>
              <a:t>Reduces configuration errors.</a:t>
            </a:r>
          </a:p>
          <a:p>
            <a:r>
              <a:rPr lang="en-US" dirty="0"/>
              <a:t>Efficient use of IP addresses.</a:t>
            </a:r>
          </a:p>
          <a:p>
            <a:endParaRPr lang="en-US" dirty="0"/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IP address may change after lease expiry (not fixed).</a:t>
            </a:r>
          </a:p>
        </p:txBody>
      </p:sp>
    </p:spTree>
    <p:extLst>
      <p:ext uri="{BB962C8B-B14F-4D97-AF65-F5344CB8AC3E}">
        <p14:creationId xmlns:p14="http://schemas.microsoft.com/office/powerpoint/2010/main" val="148390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192D-9279-D8AA-B9A4-5AB12C0B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C02CDF-C6BE-8D6C-27E4-FFF1F0933C16}"/>
              </a:ext>
            </a:extLst>
          </p:cNvPr>
          <p:cNvSpPr txBox="1"/>
          <p:nvPr/>
        </p:nvSpPr>
        <p:spPr>
          <a:xfrm>
            <a:off x="884582" y="161693"/>
            <a:ext cx="1012797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Laptops, mobile phones → get IP automatically when connected.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6.2 Domain Name System (DNS)</a:t>
            </a:r>
          </a:p>
          <a:p>
            <a:endParaRPr lang="en-US" b="1" dirty="0"/>
          </a:p>
          <a:p>
            <a:r>
              <a:rPr lang="en-US" b="1" dirty="0"/>
              <a:t>Introduction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Computers on the Internet use </a:t>
            </a:r>
            <a:r>
              <a:rPr lang="en-US" b="1" dirty="0"/>
              <a:t>IP addresses</a:t>
            </a:r>
            <a:r>
              <a:rPr lang="en-US" dirty="0"/>
              <a:t> (like 192.168.1.1) to identify each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Humans, however, prefer to use </a:t>
            </a:r>
            <a:r>
              <a:rPr lang="en-US" b="1" dirty="0"/>
              <a:t>names</a:t>
            </a:r>
            <a:r>
              <a:rPr lang="en-US" dirty="0"/>
              <a:t> (like www.google.com).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Domain Name System (DNS)</a:t>
            </a:r>
            <a:r>
              <a:rPr lang="en-US" dirty="0"/>
              <a:t> acts as a </a:t>
            </a:r>
            <a:r>
              <a:rPr lang="en-US" b="1" dirty="0"/>
              <a:t>translator</a:t>
            </a:r>
            <a:r>
              <a:rPr lang="en-US" dirty="0"/>
              <a:t> between </a:t>
            </a:r>
            <a:r>
              <a:rPr lang="en-US" b="1" dirty="0"/>
              <a:t>domain names</a:t>
            </a:r>
            <a:r>
              <a:rPr lang="en-US" dirty="0"/>
              <a:t> and </a:t>
            </a:r>
            <a:r>
              <a:rPr lang="en-US" b="1" dirty="0"/>
              <a:t>IP addresses</a:t>
            </a:r>
            <a:r>
              <a:rPr lang="en-US" dirty="0"/>
              <a:t>.</a:t>
            </a:r>
          </a:p>
          <a:p>
            <a:r>
              <a:rPr lang="en-US" dirty="0"/>
              <a:t>👉 </a:t>
            </a:r>
            <a:r>
              <a:rPr lang="en-US" b="1" dirty="0"/>
              <a:t>DNS = Internet’s phonebook</a:t>
            </a:r>
            <a:r>
              <a:rPr lang="en-US" dirty="0"/>
              <a:t> that maps domain names to IP addresses.</a:t>
            </a:r>
          </a:p>
          <a:p>
            <a:endParaRPr lang="en-US" dirty="0"/>
          </a:p>
          <a:p>
            <a:r>
              <a:rPr lang="en-US" b="1" dirty="0"/>
              <a:t>6.2.1 Need for DNS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difficult to remember IP addresses</a:t>
            </a:r>
            <a:r>
              <a:rPr lang="en-US" dirty="0"/>
              <a:t> of websites.</a:t>
            </a:r>
            <a:br>
              <a:rPr lang="en-US" dirty="0"/>
            </a:br>
            <a:r>
              <a:rPr lang="en-US" dirty="0"/>
              <a:t>Example: Instead of remembering 142.250.183.174, users can just type www.google.com.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DNS provides an </a:t>
            </a:r>
            <a:r>
              <a:rPr lang="en-US" b="1" dirty="0"/>
              <a:t>easy and user-friendly way</a:t>
            </a:r>
            <a:r>
              <a:rPr lang="en-US" dirty="0"/>
              <a:t> to access websites using 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enables:</a:t>
            </a:r>
          </a:p>
          <a:p>
            <a:pPr lvl="1"/>
            <a:r>
              <a:rPr lang="en-US" b="1" dirty="0"/>
              <a:t>Name-to-address mapping</a:t>
            </a:r>
            <a:r>
              <a:rPr lang="en-US" dirty="0"/>
              <a:t> (for sending data)</a:t>
            </a:r>
          </a:p>
          <a:p>
            <a:pPr lvl="1"/>
            <a:r>
              <a:rPr lang="en-US" b="1" dirty="0"/>
              <a:t>Address-to-name mapping</a:t>
            </a:r>
            <a:r>
              <a:rPr lang="en-US" dirty="0"/>
              <a:t> (for reverse lookup)</a:t>
            </a:r>
          </a:p>
          <a:p>
            <a:pPr lvl="1"/>
            <a:r>
              <a:rPr lang="en-US" b="1" dirty="0"/>
              <a:t>Hierarchical management</a:t>
            </a:r>
            <a:r>
              <a:rPr lang="en-US" dirty="0"/>
              <a:t> of domain name.</a:t>
            </a:r>
          </a:p>
        </p:txBody>
      </p:sp>
    </p:spTree>
    <p:extLst>
      <p:ext uri="{BB962C8B-B14F-4D97-AF65-F5344CB8AC3E}">
        <p14:creationId xmlns:p14="http://schemas.microsoft.com/office/powerpoint/2010/main" val="182717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ABF0-FCA5-4250-09FF-AA5BBF93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7206DC-3931-6EF5-C574-083E58E2C363}"/>
              </a:ext>
            </a:extLst>
          </p:cNvPr>
          <p:cNvSpPr txBox="1"/>
          <p:nvPr/>
        </p:nvSpPr>
        <p:spPr>
          <a:xfrm>
            <a:off x="715618" y="119343"/>
            <a:ext cx="893527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6.2.2 Domain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domain</a:t>
            </a:r>
            <a:r>
              <a:rPr lang="en-US" dirty="0"/>
              <a:t> is a </a:t>
            </a:r>
            <a:r>
              <a:rPr lang="en-US" b="1" dirty="0"/>
              <a:t>hierarchical name structure</a:t>
            </a:r>
            <a:r>
              <a:rPr lang="en-US" dirty="0"/>
              <a:t> that identifies an organization or entity on the Internet.</a:t>
            </a:r>
            <a:br>
              <a:rPr lang="en-US" dirty="0"/>
            </a:br>
            <a:r>
              <a:rPr lang="en-US" dirty="0"/>
              <a:t>Each domain name is made of </a:t>
            </a:r>
            <a:r>
              <a:rPr lang="en-US" b="1" dirty="0"/>
              <a:t>labels</a:t>
            </a:r>
            <a:r>
              <a:rPr lang="en-US" dirty="0"/>
              <a:t> separated by dots (.)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www.example.com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>
                <a:latin typeface="Courier New" panose="02070309020205020404" pitchFamily="49" charset="0"/>
              </a:rPr>
              <a:t>www</a:t>
            </a:r>
            <a:r>
              <a:rPr lang="en-US" dirty="0"/>
              <a:t> = host name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>
                <a:latin typeface="Courier New" panose="02070309020205020404" pitchFamily="49" charset="0"/>
              </a:rPr>
              <a:t>example</a:t>
            </a:r>
            <a:r>
              <a:rPr lang="en-US" dirty="0"/>
              <a:t> = second-level domain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>
                <a:latin typeface="Courier New" panose="02070309020205020404" pitchFamily="49" charset="0"/>
              </a:rPr>
              <a:t>com</a:t>
            </a:r>
            <a:r>
              <a:rPr lang="en-US" dirty="0"/>
              <a:t> = top-level domain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6.2.3 Generic Domain</a:t>
            </a:r>
          </a:p>
          <a:p>
            <a:endParaRPr lang="en-US" b="1" dirty="0"/>
          </a:p>
          <a:p>
            <a:r>
              <a:rPr lang="en-US" dirty="0"/>
              <a:t>Represent </a:t>
            </a:r>
            <a:r>
              <a:rPr lang="en-US" b="1" dirty="0"/>
              <a:t>categories or types of organizations</a:t>
            </a:r>
            <a:r>
              <a:rPr lang="en-US" dirty="0"/>
              <a:t>.</a:t>
            </a:r>
          </a:p>
          <a:p>
            <a:r>
              <a:rPr lang="en-US" dirty="0"/>
              <a:t>Managed by </a:t>
            </a:r>
            <a:r>
              <a:rPr lang="en-US" b="1" dirty="0"/>
              <a:t>ICANN (Internet Corporation for Assigned Names and Numbers)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97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AD87-7E08-79D7-89D2-EC565EDD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FD769F-B9F1-07AF-AA32-E07D20740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58920"/>
              </p:ext>
            </p:extLst>
          </p:nvPr>
        </p:nvGraphicFramePr>
        <p:xfrm>
          <a:off x="968513" y="163074"/>
          <a:ext cx="8128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3470">
                  <a:extLst>
                    <a:ext uri="{9D8B030D-6E8A-4147-A177-3AD203B41FA5}">
                      <a16:colId xmlns:a16="http://schemas.microsoft.com/office/drawing/2014/main" val="1283234176"/>
                    </a:ext>
                  </a:extLst>
                </a:gridCol>
                <a:gridCol w="6154530">
                  <a:extLst>
                    <a:ext uri="{9D8B030D-6E8A-4147-A177-3AD203B41FA5}">
                      <a16:colId xmlns:a16="http://schemas.microsoft.com/office/drawing/2014/main" val="708948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Generic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07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.com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Commercial organizations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53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.org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Non-profit organizations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51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.net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Network providers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673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.edu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Educational institutions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3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.gov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Government organizations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60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.mil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Military institutions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3624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431006-E5BE-F8CF-EDF4-CD6506A55D01}"/>
              </a:ext>
            </a:extLst>
          </p:cNvPr>
          <p:cNvSpPr txBox="1"/>
          <p:nvPr/>
        </p:nvSpPr>
        <p:spPr>
          <a:xfrm>
            <a:off x="968513" y="3017678"/>
            <a:ext cx="81854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6.2.4 Country Domain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Represent </a:t>
            </a:r>
            <a:r>
              <a:rPr lang="en-US" b="1" dirty="0"/>
              <a:t>countries or geographical locations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Also known as </a:t>
            </a:r>
            <a:r>
              <a:rPr lang="en-US" b="1" dirty="0"/>
              <a:t>Country Code Top-Level Domains (ccTLDs)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Examples: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37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BF489-E555-0B4E-DD1E-5E56E77C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FFFA38-C908-8605-5E4C-02B19A2EB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170903"/>
              </p:ext>
            </p:extLst>
          </p:nvPr>
        </p:nvGraphicFramePr>
        <p:xfrm>
          <a:off x="898939" y="153136"/>
          <a:ext cx="8128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2430986069"/>
                    </a:ext>
                  </a:extLst>
                </a:gridCol>
                <a:gridCol w="6273800">
                  <a:extLst>
                    <a:ext uri="{9D8B030D-6E8A-4147-A177-3AD203B41FA5}">
                      <a16:colId xmlns:a16="http://schemas.microsoft.com/office/drawing/2014/main" val="1353959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Country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2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05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.us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United States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33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uk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United Kingdom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44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jp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Japan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96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.au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Australia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4955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945D2FE-A8CA-95FC-8BA5-CE4E4170DED5}"/>
              </a:ext>
            </a:extLst>
          </p:cNvPr>
          <p:cNvSpPr txBox="1"/>
          <p:nvPr/>
        </p:nvSpPr>
        <p:spPr>
          <a:xfrm>
            <a:off x="898939" y="2589000"/>
            <a:ext cx="812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website: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www.nic.in</a:t>
            </a:r>
            <a:r>
              <a:rPr lang="en-US" dirty="0"/>
              <a:t> → Indian government site.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6BA53-D6D3-A182-0410-7A29660BC167}"/>
              </a:ext>
            </a:extLst>
          </p:cNvPr>
          <p:cNvSpPr txBox="1"/>
          <p:nvPr/>
        </p:nvSpPr>
        <p:spPr>
          <a:xfrm>
            <a:off x="898939" y="3434114"/>
            <a:ext cx="93924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6.2.5 Registrar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domain name registrar</a:t>
            </a:r>
            <a:r>
              <a:rPr lang="en-US" dirty="0"/>
              <a:t> is an </a:t>
            </a:r>
            <a:r>
              <a:rPr lang="en-US" b="1" dirty="0"/>
              <a:t>organization authorized</a:t>
            </a:r>
            <a:r>
              <a:rPr lang="en-US" dirty="0"/>
              <a:t> to </a:t>
            </a:r>
            <a:r>
              <a:rPr lang="en-US" b="1" dirty="0"/>
              <a:t>register and manage</a:t>
            </a:r>
            <a:r>
              <a:rPr lang="en-US" dirty="0"/>
              <a:t> domain names.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users to purchase, renew, or transfer domains.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Examples of Registrars: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GoDaddy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Namecheap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Google Domains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Hostinger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56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48FE-8FA3-C39A-B998-3AF598B0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A949C-886D-AB9E-923D-17C1FD7D9237}"/>
              </a:ext>
            </a:extLst>
          </p:cNvPr>
          <p:cNvSpPr txBox="1"/>
          <p:nvPr/>
        </p:nvSpPr>
        <p:spPr>
          <a:xfrm>
            <a:off x="834887" y="215493"/>
            <a:ext cx="859734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Role of Registrar: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Maintains domain name records in the DNS database.</a:t>
            </a:r>
          </a:p>
          <a:p>
            <a:pPr>
              <a:buFont typeface="+mj-lt"/>
              <a:buAutoNum type="arabicPeriod"/>
            </a:pPr>
            <a:r>
              <a:rPr lang="en-US" dirty="0"/>
              <a:t>Ensures domain uniqueness (no two domains are the same).</a:t>
            </a:r>
          </a:p>
          <a:p>
            <a:pPr>
              <a:buFont typeface="+mj-lt"/>
              <a:buAutoNum type="arabicPeriod"/>
            </a:pPr>
            <a:r>
              <a:rPr lang="en-US" dirty="0"/>
              <a:t>Provides DNS hosting and management services.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6.2.6 Resolution (Name Resolution)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Resolution is the </a:t>
            </a:r>
            <a:r>
              <a:rPr lang="en-US" b="1" dirty="0"/>
              <a:t>process of translating a domain name into its corresponding IP address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(a) Mapping Names to Addresses</a:t>
            </a:r>
          </a:p>
          <a:p>
            <a:r>
              <a:rPr lang="en-US" dirty="0"/>
              <a:t>Also called </a:t>
            </a:r>
            <a:r>
              <a:rPr lang="en-US" b="1" dirty="0"/>
              <a:t>Forward DNS Lookup</a:t>
            </a:r>
            <a:r>
              <a:rPr lang="en-US" dirty="0"/>
              <a:t>.</a:t>
            </a:r>
          </a:p>
          <a:p>
            <a:r>
              <a:rPr lang="en-US" dirty="0"/>
              <a:t>Used when a client wants to find the IP address of a domain name.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www.google.com → 142.250.183.174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00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E19C6-C41F-5324-096A-73BF639C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4519C1-2545-D885-1F0D-193BAD63C591}"/>
              </a:ext>
            </a:extLst>
          </p:cNvPr>
          <p:cNvSpPr txBox="1"/>
          <p:nvPr/>
        </p:nvSpPr>
        <p:spPr>
          <a:xfrm>
            <a:off x="785191" y="158452"/>
            <a:ext cx="85277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Steps (simplified):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User types a URL in browser.</a:t>
            </a:r>
          </a:p>
          <a:p>
            <a:pPr>
              <a:buFont typeface="+mj-lt"/>
              <a:buAutoNum type="arabicPeriod"/>
            </a:pPr>
            <a:r>
              <a:rPr lang="en-US" dirty="0"/>
              <a:t>Browser checks local cache.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not found, request goes to DNS resolver (usually by ISP).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Resolver queries DNS servers: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Root DNS server → Top-Level Domain server → Authoritative server.</a:t>
            </a:r>
          </a:p>
          <a:p>
            <a:pPr>
              <a:buFont typeface="+mj-lt"/>
              <a:buAutoNum type="arabicPeriod"/>
            </a:pPr>
            <a:r>
              <a:rPr lang="en-US" dirty="0"/>
              <a:t>IP address is returned to the client.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(b) Mapping Addresses to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called </a:t>
            </a:r>
            <a:r>
              <a:rPr lang="en-US" b="1" dirty="0"/>
              <a:t>Reverse DNS Lookup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when the IP address is known and we want to find the domain name.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142.250.183.174 → </a:t>
            </a:r>
            <a:r>
              <a:rPr lang="en-US" dirty="0">
                <a:hlinkClick r:id="rId2"/>
              </a:rPr>
              <a:t>www.google.com</a:t>
            </a: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Used in: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troubleshooting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 spam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Logging and security audits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9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F9BF-01CA-F8F6-CBEA-1E2C4F1D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7CB11-BA49-9A58-DB4E-BC5948378DBA}"/>
              </a:ext>
            </a:extLst>
          </p:cNvPr>
          <p:cNvSpPr txBox="1"/>
          <p:nvPr/>
        </p:nvSpPr>
        <p:spPr>
          <a:xfrm>
            <a:off x="735495" y="171632"/>
            <a:ext cx="906448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6.3 Introduction to Remote Login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Remote Login</a:t>
            </a:r>
            <a:r>
              <a:rPr lang="en-US" dirty="0"/>
              <a:t> allows a user to </a:t>
            </a:r>
            <a:r>
              <a:rPr lang="en-US" b="1" dirty="0"/>
              <a:t>access and control a computer or network device</a:t>
            </a:r>
            <a:r>
              <a:rPr lang="en-US" dirty="0"/>
              <a:t> from a </a:t>
            </a:r>
            <a:r>
              <a:rPr lang="en-US" b="1" dirty="0"/>
              <a:t>different location</a:t>
            </a:r>
            <a:r>
              <a:rPr lang="en-US" dirty="0"/>
              <a:t> over a network.</a:t>
            </a:r>
            <a:br>
              <a:rPr lang="en-US" dirty="0"/>
            </a:br>
            <a:r>
              <a:rPr lang="en-US" dirty="0"/>
              <a:t>It is commonly used by </a:t>
            </a:r>
            <a:r>
              <a:rPr lang="en-US" b="1" dirty="0"/>
              <a:t>network administrators</a:t>
            </a:r>
            <a:r>
              <a:rPr lang="en-US" dirty="0"/>
              <a:t> to manage servers, routers, or other systems remotely.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command-line or graphical interface</a:t>
            </a:r>
            <a:r>
              <a:rPr lang="en-US" dirty="0"/>
              <a:t>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execution of commands</a:t>
            </a:r>
            <a:r>
              <a:rPr lang="en-US" dirty="0"/>
              <a:t> on the remote machine as if you are physically present.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b="1" dirty="0"/>
              <a:t>network connectivity</a:t>
            </a:r>
            <a:r>
              <a:rPr lang="en-US" dirty="0"/>
              <a:t> (LAN or Internet).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Remote login protocols include: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TELNET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SSH (Secure Shell)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r>
              <a:rPr lang="en-US" b="1" dirty="0"/>
              <a:t>6.3.1 TELNET</a:t>
            </a:r>
          </a:p>
          <a:p>
            <a:r>
              <a:rPr lang="en-US" b="1" dirty="0"/>
              <a:t>Full Form:</a:t>
            </a:r>
            <a:r>
              <a:rPr lang="en-US" dirty="0"/>
              <a:t> </a:t>
            </a:r>
            <a:r>
              <a:rPr lang="en-US" b="1" dirty="0"/>
              <a:t>Telecommunication Network</a:t>
            </a:r>
          </a:p>
          <a:p>
            <a:endParaRPr lang="en-US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TELNET is an </a:t>
            </a:r>
            <a:r>
              <a:rPr lang="en-US" b="1" dirty="0"/>
              <a:t>older protocol</a:t>
            </a:r>
            <a:r>
              <a:rPr lang="en-US" dirty="0"/>
              <a:t> that allows a user to </a:t>
            </a:r>
            <a:r>
              <a:rPr lang="en-US" b="1" dirty="0"/>
              <a:t>log in to a remote system</a:t>
            </a:r>
            <a:r>
              <a:rPr lang="en-US" dirty="0"/>
              <a:t> over a TCP/IP network.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8600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8E4A-68EA-70A2-A080-DE11E7A9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B9B0E1-3FE3-E47B-3CFA-69574B83F2F4}"/>
              </a:ext>
            </a:extLst>
          </p:cNvPr>
          <p:cNvSpPr txBox="1"/>
          <p:nvPr/>
        </p:nvSpPr>
        <p:spPr>
          <a:xfrm>
            <a:off x="815008" y="139870"/>
            <a:ext cx="848801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text-based command-line access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TCP port 23</a:t>
            </a:r>
            <a:r>
              <a:rPr lang="en-US" dirty="0"/>
              <a:t> by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Sends data (including passwords) </a:t>
            </a:r>
            <a:r>
              <a:rPr lang="en-US" b="1" dirty="0"/>
              <a:t>in plain text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widely supported.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troubleshooting and managing remote devices.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Not secure</a:t>
            </a:r>
            <a:r>
              <a:rPr lang="en-US" dirty="0"/>
              <a:t> (data can be intercepted).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Vulnerable to </a:t>
            </a:r>
            <a:r>
              <a:rPr lang="en-US" b="1" dirty="0"/>
              <a:t>eavesdropping and hacking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Usage Example:</a:t>
            </a:r>
            <a:endParaRPr lang="en-IN" dirty="0"/>
          </a:p>
          <a:p>
            <a:r>
              <a:rPr lang="en-US" dirty="0"/>
              <a:t>telnet 192.168.1.10</a:t>
            </a:r>
          </a:p>
          <a:p>
            <a:r>
              <a:rPr lang="en-US" dirty="0"/>
              <a:t>→ Connects to the remote host at IP 192.168.1.10.</a:t>
            </a:r>
          </a:p>
          <a:p>
            <a:endParaRPr lang="en-US" dirty="0"/>
          </a:p>
          <a:p>
            <a:r>
              <a:rPr lang="en-US" b="1" dirty="0"/>
              <a:t>6.3.2 SSH (Secure Shell)</a:t>
            </a:r>
          </a:p>
          <a:p>
            <a:r>
              <a:rPr lang="en-US" b="1" dirty="0"/>
              <a:t>Full Form:</a:t>
            </a:r>
            <a:r>
              <a:rPr lang="en-US" dirty="0"/>
              <a:t> </a:t>
            </a:r>
            <a:r>
              <a:rPr lang="en-US" b="1" dirty="0"/>
              <a:t>Secure Shell</a:t>
            </a:r>
          </a:p>
          <a:p>
            <a:endParaRPr lang="en-US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SSH is a </a:t>
            </a:r>
            <a:r>
              <a:rPr lang="en-US" b="1" dirty="0"/>
              <a:t>secure protocol</a:t>
            </a:r>
            <a:r>
              <a:rPr lang="en-US" dirty="0"/>
              <a:t> used for </a:t>
            </a:r>
            <a:r>
              <a:rPr lang="en-US" b="1" dirty="0"/>
              <a:t>remote login and command execution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provides </a:t>
            </a:r>
            <a:r>
              <a:rPr lang="en-US" b="1" dirty="0"/>
              <a:t>encryption</a:t>
            </a:r>
            <a:r>
              <a:rPr lang="en-US" dirty="0"/>
              <a:t>, </a:t>
            </a:r>
            <a:r>
              <a:rPr lang="en-US" b="1" dirty="0"/>
              <a:t>authentication</a:t>
            </a:r>
            <a:r>
              <a:rPr lang="en-US" dirty="0"/>
              <a:t>, and </a:t>
            </a:r>
            <a:r>
              <a:rPr lang="en-US" b="1" dirty="0"/>
              <a:t>data integrity</a:t>
            </a:r>
            <a:r>
              <a:rPr lang="en-US" dirty="0"/>
              <a:t>, unlike TELNET.</a:t>
            </a:r>
          </a:p>
        </p:txBody>
      </p:sp>
    </p:spTree>
    <p:extLst>
      <p:ext uri="{BB962C8B-B14F-4D97-AF65-F5344CB8AC3E}">
        <p14:creationId xmlns:p14="http://schemas.microsoft.com/office/powerpoint/2010/main" val="284100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8AF8-0873-768D-DA90-159FF71D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C4E2A4-2266-B195-822A-0F78F75AC12A}"/>
              </a:ext>
            </a:extLst>
          </p:cNvPr>
          <p:cNvSpPr txBox="1"/>
          <p:nvPr/>
        </p:nvSpPr>
        <p:spPr>
          <a:xfrm>
            <a:off x="765313" y="100762"/>
            <a:ext cx="91638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Encrypts all communication (passwords, commands, and data).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TCP port 22</a:t>
            </a:r>
            <a:r>
              <a:rPr lang="en-US" dirty="0"/>
              <a:t> by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public key and password authentication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</a:t>
            </a:r>
            <a:r>
              <a:rPr lang="en-US" b="1" dirty="0"/>
              <a:t>tunnel other protocols</a:t>
            </a:r>
            <a:r>
              <a:rPr lang="en-US" dirty="0"/>
              <a:t> securely (port forwarding).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Highly secure</a:t>
            </a:r>
            <a:r>
              <a:rPr lang="en-US" dirty="0"/>
              <a:t> compared to TELNET.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eavesdropping and man-in-the-middle 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automated scripts and secure file transfers (SCP/SFTP).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Usage Example:</a:t>
            </a:r>
          </a:p>
          <a:p>
            <a:pPr>
              <a:buNone/>
            </a:pPr>
            <a:r>
              <a:rPr lang="en-US" dirty="0"/>
              <a:t>ssh user@192.168.1.10</a:t>
            </a:r>
          </a:p>
          <a:p>
            <a:r>
              <a:rPr lang="en-US" dirty="0"/>
              <a:t>→ Connects securely to the remote host as user.</a:t>
            </a:r>
          </a:p>
          <a:p>
            <a:endParaRPr lang="en-US" dirty="0"/>
          </a:p>
          <a:p>
            <a:r>
              <a:rPr lang="en-IN" b="1" dirty="0"/>
              <a:t>6.4 File Transfer Protocol (FTP, TFTP, SFTP)</a:t>
            </a:r>
          </a:p>
          <a:p>
            <a:endParaRPr lang="en-IN" b="1" dirty="0"/>
          </a:p>
          <a:p>
            <a:r>
              <a:rPr lang="en-IN" b="1" dirty="0"/>
              <a:t>File Transfer Protocol (FTP)</a:t>
            </a:r>
            <a:r>
              <a:rPr lang="en-IN" dirty="0"/>
              <a:t> is used to </a:t>
            </a:r>
            <a:r>
              <a:rPr lang="en-IN" b="1" dirty="0"/>
              <a:t>transfer files between computers</a:t>
            </a:r>
            <a:r>
              <a:rPr lang="en-IN" dirty="0"/>
              <a:t> over a network (like LAN or Internet).</a:t>
            </a:r>
            <a:br>
              <a:rPr lang="en-IN" dirty="0"/>
            </a:br>
            <a:r>
              <a:rPr lang="en-IN" dirty="0"/>
              <a:t>Other protocols like </a:t>
            </a:r>
            <a:r>
              <a:rPr lang="en-IN" b="1" dirty="0"/>
              <a:t>TFTP</a:t>
            </a:r>
            <a:r>
              <a:rPr lang="en-IN" dirty="0"/>
              <a:t> and </a:t>
            </a:r>
            <a:r>
              <a:rPr lang="en-IN" b="1" dirty="0"/>
              <a:t>SFTP</a:t>
            </a:r>
            <a:r>
              <a:rPr lang="en-IN" dirty="0"/>
              <a:t> are variations of FTP designed for specific use cases.</a:t>
            </a:r>
          </a:p>
        </p:txBody>
      </p:sp>
    </p:spTree>
    <p:extLst>
      <p:ext uri="{BB962C8B-B14F-4D97-AF65-F5344CB8AC3E}">
        <p14:creationId xmlns:p14="http://schemas.microsoft.com/office/powerpoint/2010/main" val="1376838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EDC0C-3196-A46B-FDAA-AFFC0C3C3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B047A0-5BB2-6CDA-64E1-B4517A97E317}"/>
              </a:ext>
            </a:extLst>
          </p:cNvPr>
          <p:cNvSpPr txBox="1"/>
          <p:nvPr/>
        </p:nvSpPr>
        <p:spPr>
          <a:xfrm>
            <a:off x="854765" y="86284"/>
            <a:ext cx="861722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Common Features of File Transfer Protocols: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files between </a:t>
            </a:r>
            <a:r>
              <a:rPr lang="en-US" b="1" dirty="0"/>
              <a:t>client and server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uploading</a:t>
            </a:r>
            <a:r>
              <a:rPr lang="en-US" dirty="0"/>
              <a:t> (client → server) and </a:t>
            </a:r>
            <a:r>
              <a:rPr lang="en-US" b="1" dirty="0"/>
              <a:t>downloading</a:t>
            </a:r>
            <a:r>
              <a:rPr lang="en-US" dirty="0"/>
              <a:t> (server → client).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work in </a:t>
            </a:r>
            <a:r>
              <a:rPr lang="en-US" b="1" dirty="0"/>
              <a:t>text (ASCII)</a:t>
            </a:r>
            <a:r>
              <a:rPr lang="en-US" dirty="0"/>
              <a:t> or </a:t>
            </a:r>
            <a:r>
              <a:rPr lang="en-US" b="1" dirty="0"/>
              <a:t>binary</a:t>
            </a:r>
            <a:r>
              <a:rPr lang="en-US" dirty="0"/>
              <a:t> mode.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6.4.1 FTP (File Transfer Protocol)</a:t>
            </a:r>
          </a:p>
          <a:p>
            <a:endParaRPr lang="en-IN" b="1" dirty="0"/>
          </a:p>
          <a:p>
            <a:r>
              <a:rPr lang="en-IN" b="1" dirty="0"/>
              <a:t>Definition:</a:t>
            </a:r>
            <a:br>
              <a:rPr lang="en-IN" dirty="0"/>
            </a:br>
            <a:r>
              <a:rPr lang="en-IN" dirty="0"/>
              <a:t>FTP is a </a:t>
            </a:r>
            <a:r>
              <a:rPr lang="en-IN" b="1" dirty="0"/>
              <a:t>standard network protocol</a:t>
            </a:r>
            <a:r>
              <a:rPr lang="en-IN" dirty="0"/>
              <a:t> used to </a:t>
            </a:r>
            <a:r>
              <a:rPr lang="en-IN" b="1" dirty="0"/>
              <a:t>transfer files over TCP/IP networks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Default Ports:</a:t>
            </a:r>
            <a:endParaRPr lang="en-IN" dirty="0"/>
          </a:p>
          <a:p>
            <a:r>
              <a:rPr lang="en-IN" b="1" dirty="0"/>
              <a:t>Port 21:</a:t>
            </a:r>
            <a:r>
              <a:rPr lang="en-IN" dirty="0"/>
              <a:t> Control connection (commands)</a:t>
            </a:r>
          </a:p>
          <a:p>
            <a:r>
              <a:rPr lang="en-IN" b="1" dirty="0"/>
              <a:t>Port 20:</a:t>
            </a:r>
            <a:r>
              <a:rPr lang="en-IN" dirty="0"/>
              <a:t> Data connection (actual file transfer)</a:t>
            </a:r>
          </a:p>
          <a:p>
            <a:endParaRPr lang="en-IN" dirty="0"/>
          </a:p>
          <a:p>
            <a:r>
              <a:rPr lang="en-IN" b="1" dirty="0"/>
              <a:t>Connection Types:</a:t>
            </a:r>
            <a:endParaRPr lang="en-IN" dirty="0"/>
          </a:p>
          <a:p>
            <a:r>
              <a:rPr lang="en-IN" b="1" dirty="0"/>
              <a:t>Active Mode:</a:t>
            </a:r>
            <a:endParaRPr lang="en-IN" dirty="0"/>
          </a:p>
          <a:p>
            <a:pPr lvl="1"/>
            <a:r>
              <a:rPr lang="en-IN" dirty="0"/>
              <a:t>Client opens a port and waits for the server to connect for data transfer.</a:t>
            </a:r>
          </a:p>
          <a:p>
            <a:pPr lvl="1"/>
            <a:endParaRPr lang="en-IN" dirty="0"/>
          </a:p>
          <a:p>
            <a:r>
              <a:rPr lang="en-IN" b="1" dirty="0"/>
              <a:t>Passive Mode:</a:t>
            </a:r>
            <a:endParaRPr lang="en-IN" dirty="0"/>
          </a:p>
          <a:p>
            <a:pPr lvl="1"/>
            <a:r>
              <a:rPr lang="en-IN" dirty="0"/>
              <a:t>Server opens a port and waits for the client to connect for data transfer (useful for firewalls).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742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2AD2A-ECC9-4F72-DB73-F4C84705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71D4609-6D7F-7569-C773-35E85DFE894D}"/>
              </a:ext>
            </a:extLst>
          </p:cNvPr>
          <p:cNvSpPr txBox="1"/>
          <p:nvPr/>
        </p:nvSpPr>
        <p:spPr>
          <a:xfrm>
            <a:off x="823964" y="171551"/>
            <a:ext cx="85536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File Transfer Operations: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Upload:</a:t>
            </a:r>
            <a:r>
              <a:rPr lang="en-US" dirty="0"/>
              <a:t> Send files from client to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Download:</a:t>
            </a:r>
            <a:r>
              <a:rPr lang="en-US" dirty="0"/>
              <a:t> Retrieve files from server to client.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Directory operations:</a:t>
            </a:r>
            <a:r>
              <a:rPr lang="en-US" dirty="0"/>
              <a:t> List, create, delete directories.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File operations:</a:t>
            </a:r>
            <a:r>
              <a:rPr lang="en-US" dirty="0"/>
              <a:t> Rename, delete, or check size of files.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 Command: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ftp </a:t>
            </a:r>
            <a:r>
              <a:rPr lang="en-US" dirty="0">
                <a:latin typeface="Courier New" panose="02070309020205020404" pitchFamily="49" charset="0"/>
                <a:hlinkClick r:id="rId2"/>
              </a:rPr>
              <a:t>ftp.example.com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Connects to the FTP server at </a:t>
            </a:r>
            <a:r>
              <a:rPr lang="en-US" dirty="0">
                <a:latin typeface="Courier New" panose="02070309020205020404" pitchFamily="49" charset="0"/>
              </a:rPr>
              <a:t>ftp.example.com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Commands like </a:t>
            </a:r>
            <a:r>
              <a:rPr lang="en-US" dirty="0">
                <a:latin typeface="Courier New" panose="02070309020205020404" pitchFamily="49" charset="0"/>
              </a:rPr>
              <a:t>get file.txt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put file.txt</a:t>
            </a:r>
            <a:r>
              <a:rPr lang="en-US" dirty="0"/>
              <a:t> are used for file transfer.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Widely supported by most operating systems.</a:t>
            </a:r>
          </a:p>
          <a:p>
            <a:r>
              <a:rPr lang="en-US" dirty="0"/>
              <a:t>Can transfer large files.</a:t>
            </a:r>
          </a:p>
          <a:p>
            <a:endParaRPr lang="en-US" dirty="0"/>
          </a:p>
          <a:p>
            <a:r>
              <a:rPr lang="en-US" b="1" dirty="0"/>
              <a:t>Disadvantages:</a:t>
            </a:r>
            <a:endParaRPr lang="en-US" dirty="0"/>
          </a:p>
          <a:p>
            <a:r>
              <a:rPr lang="en-US" dirty="0"/>
              <a:t>Sends </a:t>
            </a:r>
            <a:r>
              <a:rPr lang="en-US" b="1" dirty="0"/>
              <a:t>data and passwords in plain text</a:t>
            </a:r>
            <a:r>
              <a:rPr lang="en-US" dirty="0"/>
              <a:t> (not secure).</a:t>
            </a:r>
          </a:p>
          <a:p>
            <a:r>
              <a:rPr lang="en-US" dirty="0"/>
              <a:t>Needs firewall configuration for active mode.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656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6FD4C-7E81-A8AF-529E-1991A711A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EED599-6F41-31B2-AEE9-B04C338C9A8D}"/>
              </a:ext>
            </a:extLst>
          </p:cNvPr>
          <p:cNvSpPr txBox="1"/>
          <p:nvPr/>
        </p:nvSpPr>
        <p:spPr>
          <a:xfrm>
            <a:off x="834887" y="131876"/>
            <a:ext cx="8458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6.4.2 Overview of TFTP and SFTP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(a) TFTP (Trivial File Transfer Protocol)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Simpler version of FTP</a:t>
            </a:r>
            <a:r>
              <a:rPr lang="en-US" dirty="0"/>
              <a:t> with </a:t>
            </a:r>
            <a:r>
              <a:rPr lang="en-US" b="1" dirty="0"/>
              <a:t>minimal features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UDP (Port 69)</a:t>
            </a:r>
            <a:r>
              <a:rPr lang="en-US" dirty="0"/>
              <a:t> instead of TCP.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authentication</a:t>
            </a:r>
            <a:r>
              <a:rPr lang="en-US" dirty="0"/>
              <a:t>, no directory listing — only simple file upload/download.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Mainly used for </a:t>
            </a:r>
            <a:r>
              <a:rPr lang="en-US" b="1" dirty="0"/>
              <a:t>booting diskless workstations</a:t>
            </a:r>
            <a:r>
              <a:rPr lang="en-US" dirty="0"/>
              <a:t> or </a:t>
            </a:r>
            <a:r>
              <a:rPr lang="en-US" b="1" dirty="0"/>
              <a:t>router firmware updates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Lightweight and simple.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for small files.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secure (no authentication or encryption).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functionality.</a:t>
            </a:r>
          </a:p>
          <a:p>
            <a:endParaRPr lang="en-US" dirty="0"/>
          </a:p>
          <a:p>
            <a:r>
              <a:rPr lang="en-US" b="1" dirty="0"/>
              <a:t>(b) SFTP (SSH File Transfer Protocol)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secure version of FTP</a:t>
            </a:r>
            <a:r>
              <a:rPr lang="en-US" dirty="0"/>
              <a:t> that works over </a:t>
            </a:r>
            <a:r>
              <a:rPr lang="en-US" b="1" dirty="0"/>
              <a:t>SSH</a:t>
            </a:r>
            <a:r>
              <a:rPr lang="en-US" dirty="0"/>
              <a:t> (Secure Shell).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Encrypts both </a:t>
            </a:r>
            <a:r>
              <a:rPr lang="en-US" b="1" dirty="0"/>
              <a:t>commands and data</a:t>
            </a:r>
            <a:r>
              <a:rPr lang="en-US" dirty="0"/>
              <a:t>, providing confidentiality and integrity.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TCP Port 22</a:t>
            </a:r>
            <a:r>
              <a:rPr lang="en-US" dirty="0"/>
              <a:t> (same as SSH).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674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744F-E25C-E5C8-FCD8-0DC2B94A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21D758-E673-7891-FB3D-EDA96C259192}"/>
              </a:ext>
            </a:extLst>
          </p:cNvPr>
          <p:cNvSpPr txBox="1"/>
          <p:nvPr/>
        </p:nvSpPr>
        <p:spPr>
          <a:xfrm>
            <a:off x="864704" y="183082"/>
            <a:ext cx="84582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Command:</a:t>
            </a:r>
          </a:p>
          <a:p>
            <a:pPr>
              <a:buNone/>
            </a:pPr>
            <a:r>
              <a:rPr lang="en-IN" dirty="0"/>
              <a:t>sftp user@server.com</a:t>
            </a:r>
          </a:p>
          <a:p>
            <a:pPr>
              <a:buNone/>
            </a:pPr>
            <a:endParaRPr lang="en-IN" dirty="0"/>
          </a:p>
          <a:p>
            <a:r>
              <a:rPr lang="en-US" b="1" dirty="0"/>
              <a:t>6.5 Overview of Electronic Mail (Email)</a:t>
            </a:r>
          </a:p>
          <a:p>
            <a:endParaRPr lang="en-US" b="1" dirty="0"/>
          </a:p>
          <a:p>
            <a:r>
              <a:rPr lang="en-US" b="1" dirty="0"/>
              <a:t>Electronic Mail (Email)</a:t>
            </a:r>
            <a:r>
              <a:rPr lang="en-US" dirty="0"/>
              <a:t> is a method of </a:t>
            </a:r>
            <a:r>
              <a:rPr lang="en-US" b="1" dirty="0"/>
              <a:t>sending, receiving, and storing messages</a:t>
            </a:r>
            <a:r>
              <a:rPr lang="en-US" dirty="0"/>
              <a:t> over a network such as the Internet.</a:t>
            </a:r>
            <a:br>
              <a:rPr lang="en-US" dirty="0"/>
            </a:br>
            <a:r>
              <a:rPr lang="en-US" dirty="0"/>
              <a:t>It allows communication </a:t>
            </a:r>
            <a:r>
              <a:rPr lang="en-US" b="1" dirty="0"/>
              <a:t>instantly</a:t>
            </a:r>
            <a:r>
              <a:rPr lang="en-US" dirty="0"/>
              <a:t> between users across the world.</a:t>
            </a:r>
          </a:p>
          <a:p>
            <a:endParaRPr lang="en-US" dirty="0"/>
          </a:p>
          <a:p>
            <a:r>
              <a:rPr lang="en-US" b="1" dirty="0"/>
              <a:t>Key Components of Email System: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User Agent (UA)</a:t>
            </a:r>
            <a:r>
              <a:rPr lang="en-US" dirty="0"/>
              <a:t> – Email client used by the user.</a:t>
            </a:r>
          </a:p>
          <a:p>
            <a:r>
              <a:rPr lang="en-US" b="1" dirty="0"/>
              <a:t>2.  Message Transfer Agent (MTA)</a:t>
            </a:r>
            <a:r>
              <a:rPr lang="en-US" dirty="0"/>
              <a:t> – Server that sends/forwards email messages.</a:t>
            </a:r>
          </a:p>
          <a:p>
            <a:r>
              <a:rPr lang="en-US" b="1" dirty="0"/>
              <a:t>3.  Message Access Agent (MAA)</a:t>
            </a:r>
            <a:r>
              <a:rPr lang="en-US" dirty="0"/>
              <a:t> – Protocols that allow users to retrieve email from server.</a:t>
            </a:r>
          </a:p>
          <a:p>
            <a:pPr>
              <a:buNone/>
            </a:pPr>
            <a:endParaRPr lang="en-IN" dirty="0"/>
          </a:p>
          <a:p>
            <a:r>
              <a:rPr lang="en-US" b="1" dirty="0"/>
              <a:t>6.5.1 User Agent (UA)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User Agent</a:t>
            </a:r>
            <a:r>
              <a:rPr lang="en-US" dirty="0"/>
              <a:t> is the software used by a </a:t>
            </a:r>
            <a:r>
              <a:rPr lang="en-US" b="1" dirty="0"/>
              <a:t>user to create, send, read, and manage emails</a:t>
            </a:r>
            <a:r>
              <a:rPr lang="en-US" dirty="0"/>
              <a:t>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41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6229-595D-CBD6-06FA-7AB85166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68C67-D91D-22D9-CD49-238F6CF4FC19}"/>
              </a:ext>
            </a:extLst>
          </p:cNvPr>
          <p:cNvSpPr txBox="1"/>
          <p:nvPr/>
        </p:nvSpPr>
        <p:spPr>
          <a:xfrm>
            <a:off x="815010" y="100113"/>
            <a:ext cx="84979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Outlook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Mozilla Thunderbird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Gmail web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Apple Mail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Functions of User Agent: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Compose, read, and delete emails.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Attach files, images, or other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and reply to emails.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Note:</a:t>
            </a:r>
            <a:r>
              <a:rPr lang="en-US" dirty="0"/>
              <a:t> User Agent interacts with </a:t>
            </a:r>
            <a:r>
              <a:rPr lang="en-US" b="1" dirty="0"/>
              <a:t>Mail Servers</a:t>
            </a:r>
            <a:r>
              <a:rPr lang="en-US" dirty="0"/>
              <a:t> to send and receive messages.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6.5.2 Message Transfer Agents (MTA / SMTP)</a:t>
            </a:r>
          </a:p>
          <a:p>
            <a:endParaRPr lang="en-IN" b="1" dirty="0"/>
          </a:p>
          <a:p>
            <a:r>
              <a:rPr lang="en-IN" b="1" dirty="0"/>
              <a:t>Definition:</a:t>
            </a:r>
            <a:br>
              <a:rPr lang="en-IN" dirty="0"/>
            </a:br>
            <a:r>
              <a:rPr lang="en-IN" dirty="0"/>
              <a:t>A </a:t>
            </a:r>
            <a:r>
              <a:rPr lang="en-IN" b="1" dirty="0"/>
              <a:t>Message Transfer Agent (MTA)</a:t>
            </a:r>
            <a:r>
              <a:rPr lang="en-IN" dirty="0"/>
              <a:t> is the </a:t>
            </a:r>
            <a:r>
              <a:rPr lang="en-IN" b="1" dirty="0"/>
              <a:t>email server</a:t>
            </a:r>
            <a:r>
              <a:rPr lang="en-IN" dirty="0"/>
              <a:t> responsible for </a:t>
            </a:r>
            <a:r>
              <a:rPr lang="en-IN" b="1" dirty="0"/>
              <a:t>sending and relaying emails</a:t>
            </a:r>
            <a:r>
              <a:rPr lang="en-IN" dirty="0"/>
              <a:t> between sender and recipient.</a:t>
            </a:r>
          </a:p>
          <a:p>
            <a:endParaRPr lang="en-IN" dirty="0"/>
          </a:p>
          <a:p>
            <a:r>
              <a:rPr lang="en-IN" b="1" dirty="0"/>
              <a:t>Protocol Used: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SMTP (Simple Mail Transfer Protocol)</a:t>
            </a:r>
            <a:r>
              <a:rPr lang="en-IN" dirty="0"/>
              <a:t> – used to </a:t>
            </a:r>
            <a:r>
              <a:rPr lang="en-IN" b="1" dirty="0"/>
              <a:t>send email from client to server or between servers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7012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2A6D-2CE7-816A-85D6-A5E26F51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48B63A-2F6B-DE16-1C20-3F5B947E6978}"/>
              </a:ext>
            </a:extLst>
          </p:cNvPr>
          <p:cNvSpPr txBox="1"/>
          <p:nvPr/>
        </p:nvSpPr>
        <p:spPr>
          <a:xfrm>
            <a:off x="815009" y="168391"/>
            <a:ext cx="861722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How SMTP Works: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Sender composes email in UA.</a:t>
            </a:r>
          </a:p>
          <a:p>
            <a:pPr>
              <a:buFont typeface="+mj-lt"/>
              <a:buAutoNum type="arabicPeriod"/>
            </a:pPr>
            <a:r>
              <a:rPr lang="en-IN" dirty="0"/>
              <a:t>Email is sent to the </a:t>
            </a:r>
            <a:r>
              <a:rPr lang="en-IN" b="1" dirty="0"/>
              <a:t>sender’s MTA</a:t>
            </a:r>
            <a:r>
              <a:rPr lang="en-IN" dirty="0"/>
              <a:t> using SMTP.</a:t>
            </a:r>
          </a:p>
          <a:p>
            <a:pPr>
              <a:buFont typeface="+mj-lt"/>
              <a:buAutoNum type="arabicPeriod"/>
            </a:pPr>
            <a:r>
              <a:rPr lang="en-IN" dirty="0"/>
              <a:t>MTA forwards email to </a:t>
            </a:r>
            <a:r>
              <a:rPr lang="en-IN" b="1" dirty="0"/>
              <a:t>recipient’s MTA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dirty="0"/>
              <a:t>Recipient’s MTA stores email in the mailbox.</a:t>
            </a:r>
          </a:p>
          <a:p>
            <a:pPr>
              <a:buNone/>
            </a:pPr>
            <a:r>
              <a:rPr lang="en-IN" b="1" dirty="0"/>
              <a:t>Default Port:</a:t>
            </a:r>
            <a:r>
              <a:rPr lang="en-IN" dirty="0"/>
              <a:t> 25 (SMTP), 587 (submission)</a:t>
            </a:r>
          </a:p>
          <a:p>
            <a:pPr>
              <a:buNone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Example: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Sending </a:t>
            </a:r>
            <a:r>
              <a:rPr lang="en-IN" dirty="0">
                <a:latin typeface="Courier New" panose="02070309020205020404" pitchFamily="49" charset="0"/>
              </a:rPr>
              <a:t>user1@gmail.com</a:t>
            </a:r>
            <a:r>
              <a:rPr lang="en-IN" dirty="0"/>
              <a:t> → </a:t>
            </a:r>
            <a:r>
              <a:rPr lang="en-IN" dirty="0">
                <a:latin typeface="Courier New" panose="02070309020205020404" pitchFamily="49" charset="0"/>
              </a:rPr>
              <a:t>user2@yahoo.com</a:t>
            </a:r>
            <a:r>
              <a:rPr lang="en-IN" dirty="0"/>
              <a:t> passes through </a:t>
            </a:r>
            <a:r>
              <a:rPr lang="en-IN" b="1" dirty="0"/>
              <a:t>SMTP servers</a:t>
            </a:r>
            <a:r>
              <a:rPr lang="en-IN" dirty="0"/>
              <a:t> of Gmail and Yahoo.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b="1" dirty="0"/>
              <a:t>6.5.3 Message Access Agents (POP, IMAP)</a:t>
            </a:r>
          </a:p>
          <a:p>
            <a:r>
              <a:rPr lang="en-US" dirty="0"/>
              <a:t>After email reaches the recipient's server, it can be </a:t>
            </a:r>
            <a:r>
              <a:rPr lang="en-US" b="1" dirty="0"/>
              <a:t>retrieved using a Message Access Agent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(a) POP (Post Office Protocol)</a:t>
            </a:r>
          </a:p>
          <a:p>
            <a:r>
              <a:rPr lang="en-US" dirty="0"/>
              <a:t>Default Port: </a:t>
            </a:r>
            <a:r>
              <a:rPr lang="en-US" b="1" dirty="0"/>
              <a:t>110</a:t>
            </a:r>
            <a:endParaRPr lang="en-US" dirty="0"/>
          </a:p>
          <a:p>
            <a:r>
              <a:rPr lang="en-US" dirty="0"/>
              <a:t>Downloads emails from server to </a:t>
            </a:r>
            <a:r>
              <a:rPr lang="en-US" b="1" dirty="0"/>
              <a:t>local device</a:t>
            </a:r>
            <a:r>
              <a:rPr lang="en-US" dirty="0"/>
              <a:t> and optionally deletes from server.</a:t>
            </a:r>
          </a:p>
          <a:p>
            <a:r>
              <a:rPr lang="en-US" b="1" dirty="0"/>
              <a:t>Simple and offline-friendly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Pros: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offline after download.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server storage needed.</a:t>
            </a:r>
          </a:p>
        </p:txBody>
      </p:sp>
    </p:spTree>
    <p:extLst>
      <p:ext uri="{BB962C8B-B14F-4D97-AF65-F5344CB8AC3E}">
        <p14:creationId xmlns:p14="http://schemas.microsoft.com/office/powerpoint/2010/main" val="2415418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934E-EF37-B555-0D11-79B6A34F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1500B-6FA4-544E-2548-4E66350F3C80}"/>
              </a:ext>
            </a:extLst>
          </p:cNvPr>
          <p:cNvSpPr txBox="1"/>
          <p:nvPr/>
        </p:nvSpPr>
        <p:spPr>
          <a:xfrm>
            <a:off x="844826" y="170985"/>
            <a:ext cx="8458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Emails may not sync across multiple devices.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(b) IMAP (Internet Message Access Protocol)</a:t>
            </a:r>
          </a:p>
          <a:p>
            <a:endParaRPr lang="en-IN" b="1" dirty="0"/>
          </a:p>
          <a:p>
            <a:r>
              <a:rPr lang="en-IN" dirty="0"/>
              <a:t>Default Port: </a:t>
            </a:r>
            <a:r>
              <a:rPr lang="en-IN" b="1" dirty="0"/>
              <a:t>143</a:t>
            </a:r>
            <a:r>
              <a:rPr lang="en-IN" dirty="0"/>
              <a:t> (unencrypted), </a:t>
            </a:r>
            <a:r>
              <a:rPr lang="en-IN" b="1" dirty="0"/>
              <a:t>993</a:t>
            </a:r>
            <a:r>
              <a:rPr lang="en-IN" dirty="0"/>
              <a:t> (encrypted/SSL)</a:t>
            </a:r>
          </a:p>
          <a:p>
            <a:r>
              <a:rPr lang="en-IN" dirty="0"/>
              <a:t>Emails </a:t>
            </a:r>
            <a:r>
              <a:rPr lang="en-IN" b="1" dirty="0"/>
              <a:t>remain on the server</a:t>
            </a:r>
            <a:r>
              <a:rPr lang="en-IN" dirty="0"/>
              <a:t>, allowing </a:t>
            </a:r>
            <a:r>
              <a:rPr lang="en-IN" b="1" dirty="0"/>
              <a:t>access from multiple devices</a:t>
            </a:r>
            <a:r>
              <a:rPr lang="en-IN" dirty="0"/>
              <a:t>.</a:t>
            </a:r>
          </a:p>
          <a:p>
            <a:r>
              <a:rPr lang="en-IN" dirty="0"/>
              <a:t>Supports folders, flags, and partial downloads of messages.</a:t>
            </a:r>
          </a:p>
          <a:p>
            <a:endParaRPr lang="en-IN" dirty="0"/>
          </a:p>
          <a:p>
            <a:r>
              <a:rPr lang="en-IN" b="1" dirty="0"/>
              <a:t>Pros: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Email sync across multiple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Centralized storage and management.</a:t>
            </a:r>
          </a:p>
          <a:p>
            <a:endParaRPr lang="en-IN" dirty="0"/>
          </a:p>
          <a:p>
            <a:r>
              <a:rPr lang="en-IN" b="1" dirty="0"/>
              <a:t>Cons: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Requires more server storage.</a:t>
            </a:r>
          </a:p>
          <a:p>
            <a:endParaRPr lang="en-US" dirty="0"/>
          </a:p>
          <a:p>
            <a:r>
              <a:rPr lang="en-US" b="1" dirty="0"/>
              <a:t>6.6 Firewalls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firewall</a:t>
            </a:r>
            <a:r>
              <a:rPr lang="en-US" dirty="0"/>
              <a:t> is a </a:t>
            </a:r>
            <a:r>
              <a:rPr lang="en-US" b="1" dirty="0"/>
              <a:t>network security device</a:t>
            </a:r>
            <a:r>
              <a:rPr lang="en-US" dirty="0"/>
              <a:t> or software that </a:t>
            </a:r>
            <a:r>
              <a:rPr lang="en-US" b="1" dirty="0"/>
              <a:t>monitors, filters, and controls incoming and outgoing network traffic</a:t>
            </a:r>
            <a:r>
              <a:rPr lang="en-US" dirty="0"/>
              <a:t> based on a set of </a:t>
            </a:r>
            <a:r>
              <a:rPr lang="en-US" b="1" dirty="0"/>
              <a:t>security rules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acts as a </a:t>
            </a:r>
            <a:r>
              <a:rPr lang="en-US" b="1" dirty="0"/>
              <a:t>barrier between a trusted internal network and untrusted external networks (like the Internet)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9415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D00C-FEA2-9636-9808-D042C213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552DB7-6566-0030-1BA4-F126DA908AA4}"/>
              </a:ext>
            </a:extLst>
          </p:cNvPr>
          <p:cNvSpPr txBox="1"/>
          <p:nvPr/>
        </p:nvSpPr>
        <p:spPr>
          <a:xfrm>
            <a:off x="924339" y="116102"/>
            <a:ext cx="855759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Purpose: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 unauthorized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 sensitive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 network traffic flow.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 malicious activity (viruses, hackers, etc.).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Types of Firewalls</a:t>
            </a:r>
          </a:p>
          <a:p>
            <a:r>
              <a:rPr lang="en-US" dirty="0"/>
              <a:t>There are many types of firewalls, but here we focus on:</a:t>
            </a:r>
          </a:p>
          <a:p>
            <a:endParaRPr lang="en-US" dirty="0"/>
          </a:p>
          <a:p>
            <a:r>
              <a:rPr lang="en-US" b="1" dirty="0"/>
              <a:t>6.6.1 Packet Filter Firewall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Packet Filter Firewall examines </a:t>
            </a:r>
            <a:r>
              <a:rPr lang="en-US" b="1" dirty="0"/>
              <a:t>individual network packets</a:t>
            </a:r>
            <a:r>
              <a:rPr lang="en-US" dirty="0"/>
              <a:t> and decides whether to </a:t>
            </a:r>
            <a:r>
              <a:rPr lang="en-US" b="1" dirty="0"/>
              <a:t>allow or block</a:t>
            </a:r>
            <a:r>
              <a:rPr lang="en-US" dirty="0"/>
              <a:t> them based on </a:t>
            </a:r>
            <a:r>
              <a:rPr lang="en-US" b="1" dirty="0"/>
              <a:t>rules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Features: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at </a:t>
            </a:r>
            <a:r>
              <a:rPr lang="en-US" b="1" dirty="0"/>
              <a:t>Network Layer (Layer 3) and Transport Layer (Layer 4)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Rules can filter 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Source IP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Destination IP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Source 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Destination 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Protocol (TCP, UDP, ICMP)</a:t>
            </a:r>
          </a:p>
        </p:txBody>
      </p:sp>
    </p:spTree>
    <p:extLst>
      <p:ext uri="{BB962C8B-B14F-4D97-AF65-F5344CB8AC3E}">
        <p14:creationId xmlns:p14="http://schemas.microsoft.com/office/powerpoint/2010/main" val="1728497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1053-4923-7A57-7211-F98D5F95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E9C64-44F9-3FDC-EF6B-773BF9E99189}"/>
              </a:ext>
            </a:extLst>
          </p:cNvPr>
          <p:cNvSpPr txBox="1"/>
          <p:nvPr/>
        </p:nvSpPr>
        <p:spPr>
          <a:xfrm>
            <a:off x="765313" y="89526"/>
            <a:ext cx="85675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fast.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for basic filtering.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inspect the </a:t>
            </a:r>
            <a:r>
              <a:rPr lang="en-US" b="1" dirty="0"/>
              <a:t>content of packets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Vulnerable to </a:t>
            </a:r>
            <a:r>
              <a:rPr lang="en-US" b="1" dirty="0"/>
              <a:t>IP spoofing</a:t>
            </a:r>
            <a:r>
              <a:rPr lang="en-US" dirty="0"/>
              <a:t> and other advanced attacks.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 TCP traffic from IP </a:t>
            </a:r>
            <a:r>
              <a:rPr lang="en-US" dirty="0">
                <a:latin typeface="Courier New" panose="02070309020205020404" pitchFamily="49" charset="0"/>
              </a:rPr>
              <a:t>192.168.1.10</a:t>
            </a:r>
            <a:r>
              <a:rPr lang="en-US" dirty="0"/>
              <a:t> to port </a:t>
            </a:r>
            <a:r>
              <a:rPr lang="en-US" dirty="0">
                <a:latin typeface="Courier New" panose="02070309020205020404" pitchFamily="49" charset="0"/>
              </a:rPr>
              <a:t>80</a:t>
            </a:r>
            <a:r>
              <a:rPr lang="en-US" dirty="0"/>
              <a:t> (HTTP).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 all incoming ICMP (ping) requests.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6.6.2 Proxy Firewall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Definition: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Proxy Firewall acts as an </a:t>
            </a:r>
            <a:r>
              <a:rPr lang="en-US" b="1" dirty="0"/>
              <a:t>intermediary</a:t>
            </a:r>
            <a:r>
              <a:rPr lang="en-US" dirty="0"/>
              <a:t> between </a:t>
            </a:r>
            <a:r>
              <a:rPr lang="en-US" b="1" dirty="0"/>
              <a:t>internal clients</a:t>
            </a:r>
            <a:r>
              <a:rPr lang="en-US" dirty="0"/>
              <a:t> and </a:t>
            </a:r>
            <a:r>
              <a:rPr lang="en-US" b="1" dirty="0"/>
              <a:t>external servers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requests from the client pass through the firewall, which </a:t>
            </a:r>
            <a:r>
              <a:rPr lang="en-US" b="1" dirty="0"/>
              <a:t>forwards or blocks them</a:t>
            </a:r>
            <a:r>
              <a:rPr lang="en-US" dirty="0"/>
              <a:t> based on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290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1AD4-B54A-5A65-115D-D4F0C800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8C18CB-7C8D-F1C2-E664-AC88AD21225F}"/>
              </a:ext>
            </a:extLst>
          </p:cNvPr>
          <p:cNvSpPr txBox="1"/>
          <p:nvPr/>
        </p:nvSpPr>
        <p:spPr>
          <a:xfrm>
            <a:off x="834886" y="83478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at </a:t>
            </a:r>
            <a:r>
              <a:rPr lang="en-US" b="1" dirty="0"/>
              <a:t>Application Layer (Layer 7)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</a:t>
            </a:r>
            <a:r>
              <a:rPr lang="en-US" b="1" dirty="0"/>
              <a:t>inspect the content</a:t>
            </a:r>
            <a:r>
              <a:rPr lang="en-US" dirty="0"/>
              <a:t> of messages (HTTP, FTP, SMTP).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anonymity</a:t>
            </a:r>
            <a:r>
              <a:rPr lang="en-US" dirty="0"/>
              <a:t> for internal clients.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cache data to </a:t>
            </a:r>
            <a:r>
              <a:rPr lang="en-US" b="1" dirty="0"/>
              <a:t>improve performance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Stronger security than packet filter firewalls.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block malicious content or websites.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Hides internal IP addresses from the Internet.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Slower than packet filtering (more processing).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to configure.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Proxy: Allows only safe HTTP/HTTPS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Proxy: Filters spam or malicious emails before delivery.</a:t>
            </a:r>
          </a:p>
        </p:txBody>
      </p:sp>
    </p:spTree>
    <p:extLst>
      <p:ext uri="{BB962C8B-B14F-4D97-AF65-F5344CB8AC3E}">
        <p14:creationId xmlns:p14="http://schemas.microsoft.com/office/powerpoint/2010/main" val="1216592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2656</Words>
  <Application>Microsoft Office PowerPoint</Application>
  <PresentationFormat>Widescreen</PresentationFormat>
  <Paragraphs>455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Courier New</vt:lpstr>
      <vt:lpstr>Trebuchet MS</vt:lpstr>
      <vt:lpstr>Wingdings</vt:lpstr>
      <vt:lpstr>Wingdings 3</vt:lpstr>
      <vt:lpstr>Facet</vt:lpstr>
      <vt:lpstr>Other Application Layer Protocols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2025-10-24T06:58:14Z</dcterms:created>
  <dcterms:modified xsi:type="dcterms:W3CDTF">2025-10-24T07:56:31Z</dcterms:modified>
</cp:coreProperties>
</file>