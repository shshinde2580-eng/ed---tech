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D3584-0B99-4616-8071-6AAA41B6D720}" v="92" dt="2025-10-23T08:15:23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custSel delSld modSld">
      <pc:chgData name="shshinde2580@gmail.com" userId="86fdf0c531315612" providerId="LiveId" clId="{80EF1F59-5901-4077-BC9B-DA299863282D}" dt="2025-10-23T08:16:37.886" v="314" actId="2696"/>
      <pc:docMkLst>
        <pc:docMk/>
      </pc:docMkLst>
      <pc:sldChg chg="modSp mod">
        <pc:chgData name="shshinde2580@gmail.com" userId="86fdf0c531315612" providerId="LiveId" clId="{80EF1F59-5901-4077-BC9B-DA299863282D}" dt="2025-10-23T07:12:21.274" v="61" actId="12"/>
        <pc:sldMkLst>
          <pc:docMk/>
          <pc:sldMk cId="1762948569" sldId="268"/>
        </pc:sldMkLst>
        <pc:spChg chg="mod">
          <ac:chgData name="shshinde2580@gmail.com" userId="86fdf0c531315612" providerId="LiveId" clId="{80EF1F59-5901-4077-BC9B-DA299863282D}" dt="2025-10-23T07:12:21.274" v="61" actId="12"/>
          <ac:spMkLst>
            <pc:docMk/>
            <pc:sldMk cId="1762948569" sldId="268"/>
            <ac:spMk id="6" creationId="{650E6E16-F80C-A5D6-7046-D794FCC99E34}"/>
          </ac:spMkLst>
        </pc:spChg>
      </pc:sldChg>
      <pc:sldChg chg="addSp modSp mod">
        <pc:chgData name="shshinde2580@gmail.com" userId="86fdf0c531315612" providerId="LiveId" clId="{80EF1F59-5901-4077-BC9B-DA299863282D}" dt="2025-10-23T07:12:00.438" v="55" actId="122"/>
        <pc:sldMkLst>
          <pc:docMk/>
          <pc:sldMk cId="2675304060" sldId="269"/>
        </pc:sldMkLst>
        <pc:graphicFrameChg chg="add mod modGraphic">
          <ac:chgData name="shshinde2580@gmail.com" userId="86fdf0c531315612" providerId="LiveId" clId="{80EF1F59-5901-4077-BC9B-DA299863282D}" dt="2025-10-23T07:12:00.438" v="55" actId="122"/>
          <ac:graphicFrameMkLst>
            <pc:docMk/>
            <pc:sldMk cId="2675304060" sldId="269"/>
            <ac:graphicFrameMk id="2" creationId="{D8E27EA5-AC48-E9BB-8A73-248714DAD8C3}"/>
          </ac:graphicFrameMkLst>
        </pc:graphicFrameChg>
      </pc:sldChg>
      <pc:sldChg chg="addSp modSp mod">
        <pc:chgData name="shshinde2580@gmail.com" userId="86fdf0c531315612" providerId="LiveId" clId="{80EF1F59-5901-4077-BC9B-DA299863282D}" dt="2025-10-23T07:24:07.440" v="97" actId="20577"/>
        <pc:sldMkLst>
          <pc:docMk/>
          <pc:sldMk cId="2627479675" sldId="270"/>
        </pc:sldMkLst>
        <pc:spChg chg="add mod">
          <ac:chgData name="shshinde2580@gmail.com" userId="86fdf0c531315612" providerId="LiveId" clId="{80EF1F59-5901-4077-BC9B-DA299863282D}" dt="2025-10-23T07:12:58.505" v="70" actId="20577"/>
          <ac:spMkLst>
            <pc:docMk/>
            <pc:sldMk cId="2627479675" sldId="270"/>
            <ac:spMk id="3" creationId="{6A9DAA1D-59B9-4C70-6364-374D893C9E5B}"/>
          </ac:spMkLst>
        </pc:spChg>
        <pc:spChg chg="add mod">
          <ac:chgData name="shshinde2580@gmail.com" userId="86fdf0c531315612" providerId="LiveId" clId="{80EF1F59-5901-4077-BC9B-DA299863282D}" dt="2025-10-23T07:24:07.440" v="97" actId="20577"/>
          <ac:spMkLst>
            <pc:docMk/>
            <pc:sldMk cId="2627479675" sldId="270"/>
            <ac:spMk id="6" creationId="{4EBEFED0-1F71-6AAD-312E-36043B8EBD24}"/>
          </ac:spMkLst>
        </pc:spChg>
        <pc:graphicFrameChg chg="add mod modGraphic">
          <ac:chgData name="shshinde2580@gmail.com" userId="86fdf0c531315612" providerId="LiveId" clId="{80EF1F59-5901-4077-BC9B-DA299863282D}" dt="2025-10-23T07:15:29.158" v="92"/>
          <ac:graphicFrameMkLst>
            <pc:docMk/>
            <pc:sldMk cId="2627479675" sldId="270"/>
            <ac:graphicFrameMk id="4" creationId="{03630F2C-346E-7454-0674-145053CAFF5A}"/>
          </ac:graphicFrameMkLst>
        </pc:graphicFrameChg>
      </pc:sldChg>
      <pc:sldChg chg="addSp modSp mod">
        <pc:chgData name="shshinde2580@gmail.com" userId="86fdf0c531315612" providerId="LiveId" clId="{80EF1F59-5901-4077-BC9B-DA299863282D}" dt="2025-10-23T08:01:24.862" v="121" actId="1076"/>
        <pc:sldMkLst>
          <pc:docMk/>
          <pc:sldMk cId="2410340668" sldId="271"/>
        </pc:sldMkLst>
        <pc:spChg chg="add mod">
          <ac:chgData name="shshinde2580@gmail.com" userId="86fdf0c531315612" providerId="LiveId" clId="{80EF1F59-5901-4077-BC9B-DA299863282D}" dt="2025-10-23T08:01:24.862" v="121" actId="1076"/>
          <ac:spMkLst>
            <pc:docMk/>
            <pc:sldMk cId="2410340668" sldId="271"/>
            <ac:spMk id="3" creationId="{60FEF1CE-D507-982F-68F8-C504092136C8}"/>
          </ac:spMkLst>
        </pc:spChg>
      </pc:sldChg>
      <pc:sldChg chg="addSp modSp mod">
        <pc:chgData name="shshinde2580@gmail.com" userId="86fdf0c531315612" providerId="LiveId" clId="{80EF1F59-5901-4077-BC9B-DA299863282D}" dt="2025-10-23T08:02:41.149" v="142" actId="12"/>
        <pc:sldMkLst>
          <pc:docMk/>
          <pc:sldMk cId="3336480020" sldId="272"/>
        </pc:sldMkLst>
        <pc:spChg chg="add mod">
          <ac:chgData name="shshinde2580@gmail.com" userId="86fdf0c531315612" providerId="LiveId" clId="{80EF1F59-5901-4077-BC9B-DA299863282D}" dt="2025-10-23T08:02:41.149" v="142" actId="12"/>
          <ac:spMkLst>
            <pc:docMk/>
            <pc:sldMk cId="3336480020" sldId="272"/>
            <ac:spMk id="3" creationId="{0929E0E3-C3E6-2D11-EDC5-0D4EFC1DBCE3}"/>
          </ac:spMkLst>
        </pc:spChg>
      </pc:sldChg>
      <pc:sldChg chg="addSp modSp mod">
        <pc:chgData name="shshinde2580@gmail.com" userId="86fdf0c531315612" providerId="LiveId" clId="{80EF1F59-5901-4077-BC9B-DA299863282D}" dt="2025-10-23T08:04:30.162" v="166" actId="12"/>
        <pc:sldMkLst>
          <pc:docMk/>
          <pc:sldMk cId="2730917864" sldId="273"/>
        </pc:sldMkLst>
        <pc:spChg chg="add mod">
          <ac:chgData name="shshinde2580@gmail.com" userId="86fdf0c531315612" providerId="LiveId" clId="{80EF1F59-5901-4077-BC9B-DA299863282D}" dt="2025-10-23T08:04:30.162" v="166" actId="12"/>
          <ac:spMkLst>
            <pc:docMk/>
            <pc:sldMk cId="2730917864" sldId="273"/>
            <ac:spMk id="3" creationId="{ED8686B7-4BEB-3573-F0E5-77FA5BE6FE26}"/>
          </ac:spMkLst>
        </pc:spChg>
      </pc:sldChg>
      <pc:sldChg chg="addSp modSp mod">
        <pc:chgData name="shshinde2580@gmail.com" userId="86fdf0c531315612" providerId="LiveId" clId="{80EF1F59-5901-4077-BC9B-DA299863282D}" dt="2025-10-23T08:05:34.766" v="180" actId="12"/>
        <pc:sldMkLst>
          <pc:docMk/>
          <pc:sldMk cId="3211669736" sldId="274"/>
        </pc:sldMkLst>
        <pc:spChg chg="add mod">
          <ac:chgData name="shshinde2580@gmail.com" userId="86fdf0c531315612" providerId="LiveId" clId="{80EF1F59-5901-4077-BC9B-DA299863282D}" dt="2025-10-23T08:05:34.766" v="180" actId="12"/>
          <ac:spMkLst>
            <pc:docMk/>
            <pc:sldMk cId="3211669736" sldId="274"/>
            <ac:spMk id="3" creationId="{E3B4133E-A083-59C0-F575-87072E9D6BC4}"/>
          </ac:spMkLst>
        </pc:spChg>
      </pc:sldChg>
      <pc:sldChg chg="addSp modSp mod">
        <pc:chgData name="shshinde2580@gmail.com" userId="86fdf0c531315612" providerId="LiveId" clId="{80EF1F59-5901-4077-BC9B-DA299863282D}" dt="2025-10-23T08:06:34.683" v="193" actId="20577"/>
        <pc:sldMkLst>
          <pc:docMk/>
          <pc:sldMk cId="2680619010" sldId="275"/>
        </pc:sldMkLst>
        <pc:spChg chg="add mod">
          <ac:chgData name="shshinde2580@gmail.com" userId="86fdf0c531315612" providerId="LiveId" clId="{80EF1F59-5901-4077-BC9B-DA299863282D}" dt="2025-10-23T08:06:34.683" v="193" actId="20577"/>
          <ac:spMkLst>
            <pc:docMk/>
            <pc:sldMk cId="2680619010" sldId="275"/>
            <ac:spMk id="3" creationId="{9D0D5A7B-C81D-D88E-3CAE-9FA9DE4D8BBC}"/>
          </ac:spMkLst>
        </pc:spChg>
      </pc:sldChg>
      <pc:sldChg chg="addSp modSp mod">
        <pc:chgData name="shshinde2580@gmail.com" userId="86fdf0c531315612" providerId="LiveId" clId="{80EF1F59-5901-4077-BC9B-DA299863282D}" dt="2025-10-23T08:09:11.344" v="230" actId="20577"/>
        <pc:sldMkLst>
          <pc:docMk/>
          <pc:sldMk cId="2489555551" sldId="276"/>
        </pc:sldMkLst>
        <pc:spChg chg="add mod">
          <ac:chgData name="shshinde2580@gmail.com" userId="86fdf0c531315612" providerId="LiveId" clId="{80EF1F59-5901-4077-BC9B-DA299863282D}" dt="2025-10-23T08:09:11.344" v="230" actId="20577"/>
          <ac:spMkLst>
            <pc:docMk/>
            <pc:sldMk cId="2489555551" sldId="276"/>
            <ac:spMk id="4" creationId="{3CB60C3B-EA19-B7E2-DBED-65F2A389CD79}"/>
          </ac:spMkLst>
        </pc:spChg>
        <pc:graphicFrameChg chg="add mod modGraphic">
          <ac:chgData name="shshinde2580@gmail.com" userId="86fdf0c531315612" providerId="LiveId" clId="{80EF1F59-5901-4077-BC9B-DA299863282D}" dt="2025-10-23T08:08:10.606" v="212" actId="14734"/>
          <ac:graphicFrameMkLst>
            <pc:docMk/>
            <pc:sldMk cId="2489555551" sldId="276"/>
            <ac:graphicFrameMk id="2" creationId="{5D7DDAEE-B218-7CD6-C019-F1F47C578437}"/>
          </ac:graphicFrameMkLst>
        </pc:graphicFrameChg>
      </pc:sldChg>
      <pc:sldChg chg="addSp modSp mod">
        <pc:chgData name="shshinde2580@gmail.com" userId="86fdf0c531315612" providerId="LiveId" clId="{80EF1F59-5901-4077-BC9B-DA299863282D}" dt="2025-10-23T08:12:01.811" v="255" actId="12"/>
        <pc:sldMkLst>
          <pc:docMk/>
          <pc:sldMk cId="2909374711" sldId="277"/>
        </pc:sldMkLst>
        <pc:spChg chg="add mod">
          <ac:chgData name="shshinde2580@gmail.com" userId="86fdf0c531315612" providerId="LiveId" clId="{80EF1F59-5901-4077-BC9B-DA299863282D}" dt="2025-10-23T08:12:01.811" v="255" actId="12"/>
          <ac:spMkLst>
            <pc:docMk/>
            <pc:sldMk cId="2909374711" sldId="277"/>
            <ac:spMk id="4" creationId="{683B79F5-647A-4B7C-1ABB-4159F278F4E5}"/>
          </ac:spMkLst>
        </pc:spChg>
        <pc:graphicFrameChg chg="add mod modGraphic">
          <ac:chgData name="shshinde2580@gmail.com" userId="86fdf0c531315612" providerId="LiveId" clId="{80EF1F59-5901-4077-BC9B-DA299863282D}" dt="2025-10-23T08:10:58.603" v="249" actId="14734"/>
          <ac:graphicFrameMkLst>
            <pc:docMk/>
            <pc:sldMk cId="2909374711" sldId="277"/>
            <ac:graphicFrameMk id="2" creationId="{E841A609-953A-CFB0-2E35-1338EA0E3124}"/>
          </ac:graphicFrameMkLst>
        </pc:graphicFrameChg>
      </pc:sldChg>
      <pc:sldChg chg="addSp modSp mod">
        <pc:chgData name="shshinde2580@gmail.com" userId="86fdf0c531315612" providerId="LiveId" clId="{80EF1F59-5901-4077-BC9B-DA299863282D}" dt="2025-10-23T08:14:32.240" v="288" actId="5793"/>
        <pc:sldMkLst>
          <pc:docMk/>
          <pc:sldMk cId="654378853" sldId="278"/>
        </pc:sldMkLst>
        <pc:spChg chg="add mod">
          <ac:chgData name="shshinde2580@gmail.com" userId="86fdf0c531315612" providerId="LiveId" clId="{80EF1F59-5901-4077-BC9B-DA299863282D}" dt="2025-10-23T08:14:32.240" v="288" actId="5793"/>
          <ac:spMkLst>
            <pc:docMk/>
            <pc:sldMk cId="654378853" sldId="278"/>
            <ac:spMk id="3" creationId="{781FDC8B-C1EE-02B1-5E87-A0A6317D319A}"/>
          </ac:spMkLst>
        </pc:spChg>
      </pc:sldChg>
      <pc:sldChg chg="addSp modSp mod">
        <pc:chgData name="shshinde2580@gmail.com" userId="86fdf0c531315612" providerId="LiveId" clId="{80EF1F59-5901-4077-BC9B-DA299863282D}" dt="2025-10-23T08:15:53.322" v="313" actId="12"/>
        <pc:sldMkLst>
          <pc:docMk/>
          <pc:sldMk cId="935228206" sldId="279"/>
        </pc:sldMkLst>
        <pc:spChg chg="add mod">
          <ac:chgData name="shshinde2580@gmail.com" userId="86fdf0c531315612" providerId="LiveId" clId="{80EF1F59-5901-4077-BC9B-DA299863282D}" dt="2025-10-23T08:15:53.322" v="313" actId="12"/>
          <ac:spMkLst>
            <pc:docMk/>
            <pc:sldMk cId="935228206" sldId="279"/>
            <ac:spMk id="3" creationId="{FB2E6F22-2CA0-EF98-ED76-E82481CC4A5E}"/>
          </ac:spMkLst>
        </pc:spChg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2222541506" sldId="280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2538574448" sldId="281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581163985" sldId="282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854952506" sldId="283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842859159" sldId="284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2749505331" sldId="285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817243499" sldId="286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957964061" sldId="287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710652370" sldId="288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179075724" sldId="289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869916566" sldId="290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1903922997" sldId="291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471399558" sldId="292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55356939" sldId="293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848089548" sldId="294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3450002721" sldId="295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1240788522" sldId="296"/>
        </pc:sldMkLst>
      </pc:sldChg>
      <pc:sldChg chg="del">
        <pc:chgData name="shshinde2580@gmail.com" userId="86fdf0c531315612" providerId="LiveId" clId="{80EF1F59-5901-4077-BC9B-DA299863282D}" dt="2025-10-23T08:16:37.886" v="314" actId="2696"/>
        <pc:sldMkLst>
          <pc:docMk/>
          <pc:sldMk cId="1420906764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4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56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205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37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0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6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017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8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79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5507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14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0833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799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295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318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F4901-1ADC-4C6F-A527-DF7948679D1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BD1E9C-169D-4296-91BC-DA9874EC9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9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0495-1B5A-BFBB-5748-0CEE54608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804" y="1782698"/>
            <a:ext cx="9144000" cy="1646302"/>
          </a:xfrm>
        </p:spPr>
        <p:txBody>
          <a:bodyPr/>
          <a:lstStyle/>
          <a:p>
            <a:pPr algn="ctr"/>
            <a:r>
              <a:rPr lang="en-IN" dirty="0"/>
              <a:t>Transport Layer </a:t>
            </a:r>
          </a:p>
        </p:txBody>
      </p:sp>
    </p:spTree>
    <p:extLst>
      <p:ext uri="{BB962C8B-B14F-4D97-AF65-F5344CB8AC3E}">
        <p14:creationId xmlns:p14="http://schemas.microsoft.com/office/powerpoint/2010/main" val="425800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AC3689-BE59-1BFF-D4A8-7B889FCA9F45}"/>
              </a:ext>
            </a:extLst>
          </p:cNvPr>
          <p:cNvSpPr txBox="1"/>
          <p:nvPr/>
        </p:nvSpPr>
        <p:spPr>
          <a:xfrm>
            <a:off x="693336" y="0"/>
            <a:ext cx="901337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4.1 Introduction to Transport Layer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Transport Layer</a:t>
            </a:r>
            <a:r>
              <a:rPr lang="en-US" dirty="0"/>
              <a:t> is the </a:t>
            </a:r>
            <a:r>
              <a:rPr lang="en-US" b="1" dirty="0"/>
              <a:t>fourth layer</a:t>
            </a:r>
            <a:r>
              <a:rPr lang="en-US" dirty="0"/>
              <a:t> of the </a:t>
            </a:r>
            <a:r>
              <a:rPr lang="en-US" b="1" dirty="0"/>
              <a:t>OSI model</a:t>
            </a:r>
            <a:r>
              <a:rPr lang="en-US" dirty="0"/>
              <a:t> and plays a very important role in ensuring reliable data transfer between two systems over a network.</a:t>
            </a:r>
            <a:br>
              <a:rPr lang="en-US" dirty="0"/>
            </a:br>
            <a:r>
              <a:rPr lang="en-US" dirty="0"/>
              <a:t>It acts as a </a:t>
            </a:r>
            <a:r>
              <a:rPr lang="en-US" b="1" dirty="0"/>
              <a:t>bridge between the application layer and the network layer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Main Functions of Transport Layer: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end-to-end communication</a:t>
            </a:r>
            <a:r>
              <a:rPr lang="en-US" dirty="0"/>
              <a:t> between two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error-free and complete data transfer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Divides large data from the application layer into smaller </a:t>
            </a:r>
            <a:r>
              <a:rPr lang="en-US" b="1" dirty="0"/>
              <a:t>segments</a:t>
            </a:r>
            <a:r>
              <a:rPr lang="en-US" dirty="0"/>
              <a:t> for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</a:t>
            </a:r>
            <a:r>
              <a:rPr lang="en-US" b="1" dirty="0"/>
              <a:t>flow control, error control</a:t>
            </a:r>
            <a:r>
              <a:rPr lang="en-US" dirty="0"/>
              <a:t>, and </a:t>
            </a:r>
            <a:r>
              <a:rPr lang="en-US" b="1" dirty="0"/>
              <a:t>retransmission</a:t>
            </a:r>
            <a:r>
              <a:rPr lang="en-US" dirty="0"/>
              <a:t> if data is lost.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that data is received in the </a:t>
            </a:r>
            <a:r>
              <a:rPr lang="en-US" b="1" dirty="0"/>
              <a:t>correct order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4.1.1 Transport Layer Services</a:t>
            </a:r>
          </a:p>
          <a:p>
            <a:endParaRPr lang="en-US" b="1" dirty="0"/>
          </a:p>
          <a:p>
            <a:r>
              <a:rPr lang="en-US" dirty="0"/>
              <a:t>The Transport Layer offers several important services to applications: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b="1" dirty="0"/>
              <a:t>Process-to-Process Communication</a:t>
            </a:r>
          </a:p>
          <a:p>
            <a:endParaRPr lang="en-US" b="1" dirty="0"/>
          </a:p>
          <a:p>
            <a:r>
              <a:rPr lang="en-US" dirty="0"/>
              <a:t>The transport layer provides communication between </a:t>
            </a:r>
            <a:r>
              <a:rPr lang="en-US" b="1" dirty="0"/>
              <a:t>processes</a:t>
            </a:r>
            <a:r>
              <a:rPr lang="en-US" dirty="0"/>
              <a:t> (programs) running on different hosts.</a:t>
            </a:r>
          </a:p>
          <a:p>
            <a:r>
              <a:rPr lang="en-US" dirty="0"/>
              <a:t>Uses </a:t>
            </a:r>
            <a:r>
              <a:rPr lang="en-US" b="1" dirty="0"/>
              <a:t>port numbers</a:t>
            </a:r>
            <a:r>
              <a:rPr lang="en-US" dirty="0"/>
              <a:t> to identify different processes (e.g., HTTP uses port 80, FTP uses port 21).</a:t>
            </a:r>
          </a:p>
        </p:txBody>
      </p:sp>
    </p:spTree>
    <p:extLst>
      <p:ext uri="{BB962C8B-B14F-4D97-AF65-F5344CB8AC3E}">
        <p14:creationId xmlns:p14="http://schemas.microsoft.com/office/powerpoint/2010/main" val="262065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1432-90B0-8ED5-B8B1-03D6BCC5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CF8D90-73F0-EF46-0709-17B90F87FB6A}"/>
              </a:ext>
            </a:extLst>
          </p:cNvPr>
          <p:cNvSpPr txBox="1"/>
          <p:nvPr/>
        </p:nvSpPr>
        <p:spPr>
          <a:xfrm>
            <a:off x="753625" y="100713"/>
            <a:ext cx="881240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Addressing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port numbers</a:t>
            </a:r>
            <a:r>
              <a:rPr lang="en-US" dirty="0"/>
              <a:t> to uniquely identify each process at the destination.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</a:rPr>
              <a:t>IP address + Port number</a:t>
            </a:r>
            <a:r>
              <a:rPr lang="en-US" dirty="0"/>
              <a:t> together identify a specific connection.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3. Segmentation and Reassembly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data from the application layer is </a:t>
            </a:r>
            <a:r>
              <a:rPr lang="en-US" b="1" dirty="0"/>
              <a:t>divided into smaller segments</a:t>
            </a:r>
            <a:r>
              <a:rPr lang="en-US" dirty="0"/>
              <a:t> for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the receiver’s side, these segments are </a:t>
            </a:r>
            <a:r>
              <a:rPr lang="en-US" b="1" dirty="0"/>
              <a:t>reassembled</a:t>
            </a:r>
            <a:r>
              <a:rPr lang="en-US" dirty="0"/>
              <a:t> to get the original data.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4. Connection Control</a:t>
            </a:r>
          </a:p>
          <a:p>
            <a:pPr>
              <a:buNone/>
            </a:pPr>
            <a:r>
              <a:rPr lang="en-US" dirty="0"/>
              <a:t>There are two types of connection services: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Connection-oriented service</a:t>
            </a:r>
            <a:r>
              <a:rPr lang="en-US" dirty="0"/>
              <a:t>: Establishes a connection before data transfer (e.g., TCP).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Connectionless service</a:t>
            </a:r>
            <a:r>
              <a:rPr lang="en-US" dirty="0"/>
              <a:t>: Sends data without establishing a connection (e.g., UDP).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5. Flow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that the </a:t>
            </a:r>
            <a:r>
              <a:rPr lang="en-US" b="1" dirty="0"/>
              <a:t>sender does not overwhelm the receiver</a:t>
            </a:r>
            <a:r>
              <a:rPr lang="en-US" dirty="0"/>
              <a:t> with too much data at once.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6. Error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Detects and corrects errors during transmission.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reliable delivery</a:t>
            </a:r>
            <a:r>
              <a:rPr lang="en-US" dirty="0"/>
              <a:t> by retransmitting lost or damaged segments.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07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E800-4E48-4081-37B6-B78AE2DF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8F415B-BA41-64D8-9D7D-0446DC8228E7}"/>
              </a:ext>
            </a:extLst>
          </p:cNvPr>
          <p:cNvSpPr txBox="1"/>
          <p:nvPr/>
        </p:nvSpPr>
        <p:spPr>
          <a:xfrm>
            <a:off x="793820" y="110422"/>
            <a:ext cx="86541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Multiplexing and Demultiplexing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Multiplexing:</a:t>
            </a:r>
            <a:r>
              <a:rPr lang="en-US" dirty="0"/>
              <a:t> Allows data from multiple applications to be sent over a single network connection.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Demultiplexing:</a:t>
            </a:r>
            <a:r>
              <a:rPr lang="en-US" dirty="0"/>
              <a:t> Delivers received data to the correct application based on port numbers.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E3E34-9205-F9F7-4959-273595DC841A}"/>
              </a:ext>
            </a:extLst>
          </p:cNvPr>
          <p:cNvSpPr txBox="1"/>
          <p:nvPr/>
        </p:nvSpPr>
        <p:spPr>
          <a:xfrm>
            <a:off x="793820" y="1708330"/>
            <a:ext cx="90058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4.1.2 Transport Layer Protocols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There are mainly </a:t>
            </a:r>
            <a:r>
              <a:rPr lang="en-US" b="1" dirty="0"/>
              <a:t>two transport layer protocols</a:t>
            </a:r>
            <a:r>
              <a:rPr lang="en-US" dirty="0"/>
              <a:t> used on the Internet: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1. Transmission Control Protocol (TCP)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Connection-oriented protocol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reliable</a:t>
            </a:r>
            <a:r>
              <a:rPr lang="en-US" dirty="0"/>
              <a:t> and </a:t>
            </a:r>
            <a:r>
              <a:rPr lang="en-US" b="1" dirty="0"/>
              <a:t>ordered</a:t>
            </a:r>
            <a:r>
              <a:rPr lang="en-US" dirty="0"/>
              <a:t> delivery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</a:t>
            </a:r>
            <a:r>
              <a:rPr lang="en-US" b="1" dirty="0"/>
              <a:t>error checking, acknowledgment, and retransmission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applications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HTTP (Web browsing)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FTP (File Transfer)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SMTP (Email)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Reliable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Flow and error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Congestion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Sequence numbers and acknowledgments</a:t>
            </a:r>
          </a:p>
        </p:txBody>
      </p:sp>
    </p:spTree>
    <p:extLst>
      <p:ext uri="{BB962C8B-B14F-4D97-AF65-F5344CB8AC3E}">
        <p14:creationId xmlns:p14="http://schemas.microsoft.com/office/powerpoint/2010/main" val="292807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E3B3-34E1-C5F8-9A5C-E54455B2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9A241-0C04-0ED0-D342-BC74D0338FD4}"/>
              </a:ext>
            </a:extLst>
          </p:cNvPr>
          <p:cNvSpPr txBox="1"/>
          <p:nvPr/>
        </p:nvSpPr>
        <p:spPr>
          <a:xfrm>
            <a:off x="753625" y="197346"/>
            <a:ext cx="877221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User Datagram Protocol (UDP)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Connectionless protocol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Does </a:t>
            </a:r>
            <a:r>
              <a:rPr lang="en-IN" b="1" dirty="0"/>
              <a:t>not guarantee</a:t>
            </a:r>
            <a:r>
              <a:rPr lang="en-IN" dirty="0"/>
              <a:t> delivery, order, or error correction.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Faster</a:t>
            </a:r>
            <a:r>
              <a:rPr lang="en-IN" dirty="0"/>
              <a:t> and simpler than TCP.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by real-time applications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DNS (Domain Name System)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VoIP (Voice over 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Online 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Video streaming</a:t>
            </a:r>
          </a:p>
          <a:p>
            <a:pPr lvl="1"/>
            <a:endParaRPr lang="en-IN" dirty="0"/>
          </a:p>
          <a:p>
            <a:pPr>
              <a:buNone/>
            </a:pPr>
            <a:r>
              <a:rPr lang="en-IN" b="1" dirty="0"/>
              <a:t>Key Features: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 overhead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connection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Best effort delivery (unreliable but fast)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b="1" dirty="0"/>
              <a:t>4.2 User Datagram Protocol (UDP)</a:t>
            </a:r>
          </a:p>
          <a:p>
            <a:endParaRPr lang="en-US" b="1" dirty="0"/>
          </a:p>
          <a:p>
            <a:r>
              <a:rPr lang="en-US" b="1" dirty="0"/>
              <a:t>Introduction:</a:t>
            </a:r>
          </a:p>
          <a:p>
            <a:endParaRPr lang="en-US" b="1" dirty="0"/>
          </a:p>
          <a:p>
            <a:r>
              <a:rPr lang="en-US" b="1" dirty="0"/>
              <a:t>UDP (User Datagram Protocol)</a:t>
            </a:r>
            <a:r>
              <a:rPr lang="en-US" dirty="0"/>
              <a:t> is a </a:t>
            </a:r>
            <a:r>
              <a:rPr lang="en-US" b="1" dirty="0"/>
              <a:t>transport layer protocol</a:t>
            </a:r>
            <a:r>
              <a:rPr lang="en-US" dirty="0"/>
              <a:t> that provides </a:t>
            </a:r>
            <a:r>
              <a:rPr lang="en-US" b="1" dirty="0"/>
              <a:t>connectionless communication</a:t>
            </a:r>
            <a:r>
              <a:rPr lang="en-US" dirty="0"/>
              <a:t> between applications.</a:t>
            </a:r>
          </a:p>
          <a:p>
            <a:r>
              <a:rPr lang="en-US" dirty="0"/>
              <a:t>It is defined in </a:t>
            </a:r>
            <a:r>
              <a:rPr lang="en-US" b="1" dirty="0"/>
              <a:t>RFC 768</a:t>
            </a:r>
            <a:r>
              <a:rPr lang="en-US" dirty="0"/>
              <a:t>.</a:t>
            </a:r>
          </a:p>
          <a:p>
            <a:r>
              <a:rPr lang="en-US" dirty="0"/>
              <a:t>UDP is a </a:t>
            </a:r>
            <a:r>
              <a:rPr lang="en-US" b="1" dirty="0"/>
              <a:t>simple and fast</a:t>
            </a:r>
            <a:r>
              <a:rPr lang="en-US" dirty="0"/>
              <a:t> protocol that does </a:t>
            </a:r>
            <a:r>
              <a:rPr lang="en-US" b="1" dirty="0"/>
              <a:t>not guarantee reliability or order of data delivery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3715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FD28-5C7E-D927-8924-E98F760D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27B0F-2315-F592-C3DB-A5EDB712965E}"/>
              </a:ext>
            </a:extLst>
          </p:cNvPr>
          <p:cNvSpPr txBox="1"/>
          <p:nvPr/>
        </p:nvSpPr>
        <p:spPr>
          <a:xfrm>
            <a:off x="763674" y="127003"/>
            <a:ext cx="85335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mainly used in </a:t>
            </a:r>
            <a:r>
              <a:rPr lang="en-US" b="1" dirty="0"/>
              <a:t>real-time applications</a:t>
            </a:r>
            <a:r>
              <a:rPr lang="en-US" dirty="0"/>
              <a:t> where speed is more important than reliability.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Examples of applications using UDP: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DNS (Domain Name System)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over IP (VoIP)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 conferencing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Online gaming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DHCP (Dynamic Host Configuration Protocol)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4.2.1 User Datagram</a:t>
            </a:r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b="1" dirty="0"/>
              <a:t>basic data unit</a:t>
            </a:r>
            <a:r>
              <a:rPr lang="en-US" dirty="0"/>
              <a:t> in UDP is called a </a:t>
            </a:r>
            <a:r>
              <a:rPr lang="en-US" b="1" dirty="0"/>
              <a:t>User Datagram</a:t>
            </a:r>
            <a:r>
              <a:rPr lang="en-US" dirty="0"/>
              <a:t>.</a:t>
            </a:r>
          </a:p>
          <a:p>
            <a:r>
              <a:rPr lang="en-US" dirty="0"/>
              <a:t>Each datagram is </a:t>
            </a:r>
            <a:r>
              <a:rPr lang="en-US" b="1" dirty="0"/>
              <a:t>independent</a:t>
            </a:r>
            <a:r>
              <a:rPr lang="en-US" dirty="0"/>
              <a:t> and </a:t>
            </a:r>
            <a:r>
              <a:rPr lang="en-US" b="1" dirty="0"/>
              <a:t>self-contained</a:t>
            </a:r>
            <a:r>
              <a:rPr lang="en-US" dirty="0"/>
              <a:t>.</a:t>
            </a:r>
          </a:p>
          <a:p>
            <a:r>
              <a:rPr lang="en-US" dirty="0"/>
              <a:t>There is </a:t>
            </a:r>
            <a:r>
              <a:rPr lang="en-US" b="1" dirty="0"/>
              <a:t>no relationship</a:t>
            </a:r>
            <a:r>
              <a:rPr lang="en-US" dirty="0"/>
              <a:t> between consecutive datagrams — each is treated separately.</a:t>
            </a:r>
          </a:p>
          <a:p>
            <a:endParaRPr lang="en-US" dirty="0"/>
          </a:p>
          <a:p>
            <a:r>
              <a:rPr lang="en-US" b="1" dirty="0"/>
              <a:t>Structure of UDP Datagram: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63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1446-BCA5-ACA0-0AAD-153A86A4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95DFAC-CBBB-45E6-2F7A-19B69AFDC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140056"/>
              </p:ext>
            </p:extLst>
          </p:nvPr>
        </p:nvGraphicFramePr>
        <p:xfrm>
          <a:off x="856343" y="327780"/>
          <a:ext cx="8649398" cy="250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0369">
                  <a:extLst>
                    <a:ext uri="{9D8B030D-6E8A-4147-A177-3AD203B41FA5}">
                      <a16:colId xmlns:a16="http://schemas.microsoft.com/office/drawing/2014/main" val="723149724"/>
                    </a:ext>
                  </a:extLst>
                </a:gridCol>
                <a:gridCol w="1368696">
                  <a:extLst>
                    <a:ext uri="{9D8B030D-6E8A-4147-A177-3AD203B41FA5}">
                      <a16:colId xmlns:a16="http://schemas.microsoft.com/office/drawing/2014/main" val="1558981027"/>
                    </a:ext>
                  </a:extLst>
                </a:gridCol>
                <a:gridCol w="5080333">
                  <a:extLst>
                    <a:ext uri="{9D8B030D-6E8A-4147-A177-3AD203B41FA5}">
                      <a16:colId xmlns:a16="http://schemas.microsoft.com/office/drawing/2014/main" val="3445125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Field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Size (bits)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040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Source Port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Identifies the sending process (application).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62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Destination Port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Identifies the receiving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957754"/>
                  </a:ext>
                </a:extLst>
              </a:tr>
              <a:tr h="378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Length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length of UDP header + data (in bytes).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0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Checksum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 error detection in the header and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25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actual message being transmitted.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1029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2B07C1-5710-BC24-C29D-058E84957472}"/>
              </a:ext>
            </a:extLst>
          </p:cNvPr>
          <p:cNvSpPr txBox="1"/>
          <p:nvPr/>
        </p:nvSpPr>
        <p:spPr>
          <a:xfrm>
            <a:off x="731017" y="2965492"/>
            <a:ext cx="877472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Total UDP Header Size:</a:t>
            </a:r>
            <a:r>
              <a:rPr lang="en-US" dirty="0"/>
              <a:t> 8 bytes (4 fields × 2 bytes each)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4.2.2 UDP Services</a:t>
            </a:r>
          </a:p>
          <a:p>
            <a:r>
              <a:rPr lang="en-US" dirty="0"/>
              <a:t>UDP provides the following services: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/>
              <a:t>Process-to-Process Communication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allows </a:t>
            </a:r>
            <a:r>
              <a:rPr lang="en-US" b="1" dirty="0"/>
              <a:t>communication between processes</a:t>
            </a:r>
            <a:r>
              <a:rPr lang="en-US" dirty="0"/>
              <a:t> running on different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uses </a:t>
            </a:r>
            <a:r>
              <a:rPr lang="en-US" b="1" dirty="0"/>
              <a:t>port numbers</a:t>
            </a:r>
            <a:r>
              <a:rPr lang="en-US" dirty="0"/>
              <a:t> to identify sending and receiving processes.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DNS uses port 53, DHCP uses port 67/68.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7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663F-146C-741B-6223-E1BAB8C3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8CDB1A-618A-7A23-03C9-AE0F82C62872}"/>
              </a:ext>
            </a:extLst>
          </p:cNvPr>
          <p:cNvSpPr txBox="1"/>
          <p:nvPr/>
        </p:nvSpPr>
        <p:spPr>
          <a:xfrm>
            <a:off x="864159" y="99374"/>
            <a:ext cx="850090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Connectionless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UDP is </a:t>
            </a:r>
            <a:r>
              <a:rPr lang="en-US" b="1" dirty="0"/>
              <a:t>connectionless</a:t>
            </a:r>
            <a:r>
              <a:rPr lang="en-US" dirty="0"/>
              <a:t>, meaning it </a:t>
            </a:r>
            <a:r>
              <a:rPr lang="en-US" b="1" dirty="0"/>
              <a:t>does not establish or maintain</a:t>
            </a:r>
            <a:r>
              <a:rPr lang="en-US" dirty="0"/>
              <a:t> a connection before sending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datagram is </a:t>
            </a:r>
            <a:r>
              <a:rPr lang="en-US" b="1" dirty="0"/>
              <a:t>sent independently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applications that can tolerate </a:t>
            </a:r>
            <a:r>
              <a:rPr lang="en-US" b="1" dirty="0"/>
              <a:t>some data loss</a:t>
            </a:r>
            <a:r>
              <a:rPr lang="en-US" dirty="0"/>
              <a:t> but require </a:t>
            </a:r>
            <a:r>
              <a:rPr lang="en-US" b="1" dirty="0"/>
              <a:t>low delay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Flow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UDP </a:t>
            </a:r>
            <a:r>
              <a:rPr lang="en-US" b="1" dirty="0"/>
              <a:t>does not provide flow control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sender can transmit data at any rate without checking whether the receiver is ready to accept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Advantage:</a:t>
            </a:r>
            <a:r>
              <a:rPr lang="en-US" dirty="0"/>
              <a:t> Faster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Disadvantage:</a:t>
            </a:r>
            <a:r>
              <a:rPr lang="en-US" dirty="0"/>
              <a:t> Possible packet loss if receiver buffer overflows.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4. Error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UDP provides </a:t>
            </a:r>
            <a:r>
              <a:rPr lang="en-US" b="1" dirty="0"/>
              <a:t>very limited error control</a:t>
            </a:r>
            <a:r>
              <a:rPr lang="en-US" dirty="0"/>
              <a:t> using the </a:t>
            </a:r>
            <a:r>
              <a:rPr lang="en-US" b="1" dirty="0"/>
              <a:t>checksum</a:t>
            </a:r>
            <a:r>
              <a:rPr lang="en-US" dirty="0"/>
              <a:t> field.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 error is detected, the packet is simply </a:t>
            </a:r>
            <a:r>
              <a:rPr lang="en-US" b="1" dirty="0"/>
              <a:t>discarded</a:t>
            </a:r>
            <a:r>
              <a:rPr lang="en-US" dirty="0"/>
              <a:t> — there is </a:t>
            </a:r>
            <a:r>
              <a:rPr lang="en-US" b="1" dirty="0"/>
              <a:t>no retransmission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makes UDP </a:t>
            </a:r>
            <a:r>
              <a:rPr lang="en-US" b="1" dirty="0"/>
              <a:t>unreliable</a:t>
            </a:r>
            <a:r>
              <a:rPr lang="en-US" dirty="0"/>
              <a:t> but </a:t>
            </a:r>
            <a:r>
              <a:rPr lang="en-US" b="1" dirty="0"/>
              <a:t>lightweight and fast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315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51E7-43EC-058F-F3DF-F02FC32E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EB58D6-1CE2-709C-643C-E1DD0E6BC16E}"/>
              </a:ext>
            </a:extLst>
          </p:cNvPr>
          <p:cNvSpPr txBox="1"/>
          <p:nvPr/>
        </p:nvSpPr>
        <p:spPr>
          <a:xfrm>
            <a:off x="813917" y="107246"/>
            <a:ext cx="833259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Congestion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UDP </a:t>
            </a:r>
            <a:r>
              <a:rPr lang="en-US" b="1" dirty="0"/>
              <a:t>does not perform congestion control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continues sending packets even if the network is congested.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can lead to </a:t>
            </a:r>
            <a:r>
              <a:rPr lang="en-US" b="1" dirty="0"/>
              <a:t>packet loss</a:t>
            </a:r>
            <a:r>
              <a:rPr lang="en-US" dirty="0"/>
              <a:t>, but ensures </a:t>
            </a:r>
            <a:r>
              <a:rPr lang="en-US" b="1" dirty="0"/>
              <a:t>minimum delay</a:t>
            </a:r>
            <a:r>
              <a:rPr lang="en-US" dirty="0"/>
              <a:t> — useful for real-time applications.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6. Encapsulation and Decapsulation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Encapsulation (at Sender Side):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Data is created by the </a:t>
            </a:r>
            <a:r>
              <a:rPr lang="en-US" b="1" dirty="0"/>
              <a:t>Application Layer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Transport Layer (UDP)</a:t>
            </a:r>
            <a:r>
              <a:rPr lang="en-US" dirty="0"/>
              <a:t> adds its </a:t>
            </a:r>
            <a:r>
              <a:rPr lang="en-US" b="1" dirty="0"/>
              <a:t>header</a:t>
            </a:r>
            <a:r>
              <a:rPr lang="en-US" dirty="0"/>
              <a:t> to the data → forms a </a:t>
            </a:r>
            <a:r>
              <a:rPr lang="en-US" b="1" dirty="0"/>
              <a:t>UDP Datagram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This datagram is passed to the </a:t>
            </a:r>
            <a:r>
              <a:rPr lang="en-US" b="1" dirty="0"/>
              <a:t>Network Layer</a:t>
            </a:r>
            <a:r>
              <a:rPr lang="en-US" dirty="0"/>
              <a:t> for transmission.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Decapsulation (at Receiver Side):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Network Layer</a:t>
            </a:r>
            <a:r>
              <a:rPr lang="en-US" dirty="0"/>
              <a:t> receives the packet and removes its header.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remaining </a:t>
            </a:r>
            <a:r>
              <a:rPr lang="en-US" b="1" dirty="0"/>
              <a:t>UDP datagram</a:t>
            </a:r>
            <a:r>
              <a:rPr lang="en-US" dirty="0"/>
              <a:t> is sent to the </a:t>
            </a:r>
            <a:r>
              <a:rPr lang="en-US" b="1" dirty="0"/>
              <a:t>Transport Layer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UDP removes its header and delivers the data to the correct </a:t>
            </a:r>
            <a:r>
              <a:rPr lang="en-US" b="1" dirty="0"/>
              <a:t>application</a:t>
            </a:r>
            <a:r>
              <a:rPr lang="en-US" dirty="0"/>
              <a:t> (based on port number).</a:t>
            </a:r>
          </a:p>
        </p:txBody>
      </p:sp>
    </p:spTree>
    <p:extLst>
      <p:ext uri="{BB962C8B-B14F-4D97-AF65-F5344CB8AC3E}">
        <p14:creationId xmlns:p14="http://schemas.microsoft.com/office/powerpoint/2010/main" val="208644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5ACDE-8340-B4FB-B6F7-DC2172CB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BEA99-9969-8F37-E0AB-4334CC1F2BCE}"/>
              </a:ext>
            </a:extLst>
          </p:cNvPr>
          <p:cNvSpPr txBox="1"/>
          <p:nvPr/>
        </p:nvSpPr>
        <p:spPr>
          <a:xfrm>
            <a:off x="783773" y="117693"/>
            <a:ext cx="84531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4.3 Transmission Control Protocol (TCP)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Introduction: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TCP (Transmission Control Protocol)</a:t>
            </a:r>
            <a:r>
              <a:rPr lang="en-US" dirty="0"/>
              <a:t> is a </a:t>
            </a:r>
            <a:r>
              <a:rPr lang="en-US" b="1" dirty="0"/>
              <a:t>connection-oriented</a:t>
            </a:r>
            <a:r>
              <a:rPr lang="en-US" dirty="0"/>
              <a:t> and </a:t>
            </a:r>
            <a:r>
              <a:rPr lang="en-US" b="1" dirty="0"/>
              <a:t>reliable</a:t>
            </a:r>
            <a:r>
              <a:rPr lang="en-US" dirty="0"/>
              <a:t> transport layer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provides </a:t>
            </a:r>
            <a:r>
              <a:rPr lang="en-US" b="1" dirty="0"/>
              <a:t>end-to-end communication</a:t>
            </a:r>
            <a:r>
              <a:rPr lang="en-US" dirty="0"/>
              <a:t> between applications running on different hosts.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ensures that </a:t>
            </a:r>
            <a:r>
              <a:rPr lang="en-US" b="1" dirty="0"/>
              <a:t>data is delivered accurately, in order, and without duplication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defined in </a:t>
            </a:r>
            <a:r>
              <a:rPr lang="en-US" b="1" dirty="0"/>
              <a:t>RFC 793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Examples of applications using TCP: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HTTP (Web Browsing)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FTP (File Transfer)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SMTP (Email)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Telnet (Remote Login)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4.3.1 TCP Services</a:t>
            </a:r>
          </a:p>
          <a:p>
            <a:r>
              <a:rPr lang="en-US" dirty="0"/>
              <a:t>The </a:t>
            </a:r>
            <a:r>
              <a:rPr lang="en-US" b="1" dirty="0"/>
              <a:t>services provided by TCP</a:t>
            </a:r>
            <a:r>
              <a:rPr lang="en-US" dirty="0"/>
              <a:t> are as follows:</a:t>
            </a:r>
          </a:p>
          <a:p>
            <a:r>
              <a:rPr lang="en-US" b="1" dirty="0"/>
              <a:t>1. Process-to-Process Communication</a:t>
            </a:r>
          </a:p>
          <a:p>
            <a:r>
              <a:rPr lang="en-US" dirty="0"/>
              <a:t>TCP provides communication between </a:t>
            </a:r>
            <a:r>
              <a:rPr lang="en-US" b="1" dirty="0"/>
              <a:t>specific processes</a:t>
            </a:r>
            <a:r>
              <a:rPr lang="en-US" dirty="0"/>
              <a:t> on different systems.</a:t>
            </a:r>
          </a:p>
          <a:p>
            <a:r>
              <a:rPr lang="en-US" dirty="0"/>
              <a:t>Uses </a:t>
            </a:r>
            <a:r>
              <a:rPr lang="en-US" b="1" dirty="0"/>
              <a:t>port numbers</a:t>
            </a:r>
            <a:r>
              <a:rPr lang="en-US" dirty="0"/>
              <a:t> to identify sending and receiving applications.</a:t>
            </a:r>
          </a:p>
          <a:p>
            <a:pPr lvl="1"/>
            <a:r>
              <a:rPr lang="en-US" dirty="0"/>
              <a:t>Example: HTTP uses port 80, FTP uses port 21.</a:t>
            </a:r>
          </a:p>
        </p:txBody>
      </p:sp>
    </p:spTree>
    <p:extLst>
      <p:ext uri="{BB962C8B-B14F-4D97-AF65-F5344CB8AC3E}">
        <p14:creationId xmlns:p14="http://schemas.microsoft.com/office/powerpoint/2010/main" val="220143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11B9-C122-1F0E-CDD4-594F14F3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771000-A366-E032-3D86-DEFE4D5C2152}"/>
              </a:ext>
            </a:extLst>
          </p:cNvPr>
          <p:cNvSpPr txBox="1"/>
          <p:nvPr/>
        </p:nvSpPr>
        <p:spPr>
          <a:xfrm>
            <a:off x="793820" y="140568"/>
            <a:ext cx="855365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Stream-Oriented Service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is </a:t>
            </a:r>
            <a:r>
              <a:rPr lang="en-US" b="1" dirty="0"/>
              <a:t>stream-oriented</a:t>
            </a:r>
            <a:r>
              <a:rPr lang="en-US" dirty="0"/>
              <a:t>, meaning data is sent as a </a:t>
            </a:r>
            <a:r>
              <a:rPr lang="en-US" b="1" dirty="0"/>
              <a:t>continuous stream of bytes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are </a:t>
            </a:r>
            <a:r>
              <a:rPr lang="en-US" b="1" dirty="0"/>
              <a:t>no message boundaries</a:t>
            </a:r>
            <a:r>
              <a:rPr lang="en-US" dirty="0"/>
              <a:t> — the data flow is treated as a single stream.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 Connection-Oriented Service</a:t>
            </a:r>
          </a:p>
          <a:p>
            <a:endParaRPr lang="en-US" b="1" dirty="0"/>
          </a:p>
          <a:p>
            <a:r>
              <a:rPr lang="en-US" dirty="0"/>
              <a:t>Before transferring data, TCP </a:t>
            </a:r>
            <a:r>
              <a:rPr lang="en-US" b="1" dirty="0"/>
              <a:t>establishes a connection</a:t>
            </a:r>
            <a:r>
              <a:rPr lang="en-US" dirty="0"/>
              <a:t> between sender and receiver using a </a:t>
            </a:r>
            <a:r>
              <a:rPr lang="en-US" b="1" dirty="0"/>
              <a:t>three-way handshake</a:t>
            </a:r>
            <a:r>
              <a:rPr lang="en-US" dirty="0"/>
              <a:t>.</a:t>
            </a:r>
          </a:p>
          <a:p>
            <a:r>
              <a:rPr lang="en-US" dirty="0"/>
              <a:t>After data transfer, the connection is </a:t>
            </a:r>
            <a:r>
              <a:rPr lang="en-US" b="1" dirty="0"/>
              <a:t>terminated</a:t>
            </a:r>
            <a:r>
              <a:rPr lang="en-US" dirty="0"/>
              <a:t> properly.</a:t>
            </a:r>
          </a:p>
          <a:p>
            <a:endParaRPr lang="en-US" dirty="0"/>
          </a:p>
          <a:p>
            <a:r>
              <a:rPr lang="en-US" b="1" dirty="0"/>
              <a:t>4. Reliable Service</a:t>
            </a:r>
          </a:p>
          <a:p>
            <a:endParaRPr lang="en-US" b="1" dirty="0"/>
          </a:p>
          <a:p>
            <a:r>
              <a:rPr lang="en-US" dirty="0"/>
              <a:t>TCP provides </a:t>
            </a:r>
            <a:r>
              <a:rPr lang="en-US" b="1" dirty="0"/>
              <a:t>error detection</a:t>
            </a:r>
            <a:r>
              <a:rPr lang="en-US" dirty="0"/>
              <a:t>, </a:t>
            </a:r>
            <a:r>
              <a:rPr lang="en-US" b="1" dirty="0"/>
              <a:t>acknowledgment</a:t>
            </a:r>
            <a:r>
              <a:rPr lang="en-US" dirty="0"/>
              <a:t>, and </a:t>
            </a:r>
            <a:r>
              <a:rPr lang="en-US" b="1" dirty="0"/>
              <a:t>retransmission</a:t>
            </a:r>
            <a:r>
              <a:rPr lang="en-US" dirty="0"/>
              <a:t> of lost packets.</a:t>
            </a:r>
          </a:p>
          <a:p>
            <a:r>
              <a:rPr lang="en-US" dirty="0"/>
              <a:t>Ensures </a:t>
            </a:r>
            <a:r>
              <a:rPr lang="en-US" b="1" dirty="0"/>
              <a:t>reliable data delivery</a:t>
            </a:r>
            <a:r>
              <a:rPr lang="en-US" dirty="0"/>
              <a:t> without loss, duplication, or error.</a:t>
            </a:r>
          </a:p>
          <a:p>
            <a:endParaRPr lang="en-US" dirty="0"/>
          </a:p>
          <a:p>
            <a:r>
              <a:rPr lang="en-US" b="1" dirty="0"/>
              <a:t>5. Flow Control</a:t>
            </a:r>
          </a:p>
          <a:p>
            <a:endParaRPr lang="en-US" b="1" dirty="0"/>
          </a:p>
          <a:p>
            <a:r>
              <a:rPr lang="en-US" dirty="0"/>
              <a:t>TCP uses a </a:t>
            </a:r>
            <a:r>
              <a:rPr lang="en-US" b="1" dirty="0"/>
              <a:t>sliding window mechanism</a:t>
            </a:r>
            <a:r>
              <a:rPr lang="en-US" dirty="0"/>
              <a:t> to ensure that the </a:t>
            </a:r>
            <a:r>
              <a:rPr lang="en-US" b="1" dirty="0"/>
              <a:t>sender does not send more data</a:t>
            </a:r>
            <a:r>
              <a:rPr lang="en-US" dirty="0"/>
              <a:t> than the receiver can handle.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1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AD76-BA53-C6B3-64AD-44A8F108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D6F40D-5654-5A25-A95B-FA7E4B7DA785}"/>
              </a:ext>
            </a:extLst>
          </p:cNvPr>
          <p:cNvSpPr txBox="1"/>
          <p:nvPr/>
        </p:nvSpPr>
        <p:spPr>
          <a:xfrm>
            <a:off x="834013" y="98536"/>
            <a:ext cx="89329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Error Control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uses </a:t>
            </a:r>
            <a:r>
              <a:rPr lang="en-US" b="1" dirty="0"/>
              <a:t>checksums</a:t>
            </a:r>
            <a:r>
              <a:rPr lang="en-US" dirty="0"/>
              <a:t>, </a:t>
            </a:r>
            <a:r>
              <a:rPr lang="en-US" b="1" dirty="0"/>
              <a:t>acknowledgments</a:t>
            </a:r>
            <a:r>
              <a:rPr lang="en-US" dirty="0"/>
              <a:t>, and </a:t>
            </a:r>
            <a:r>
              <a:rPr lang="en-US" b="1" dirty="0"/>
              <a:t>retransmissions</a:t>
            </a:r>
            <a:r>
              <a:rPr lang="en-US" dirty="0"/>
              <a:t> for error detection and correction.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data integrity during transmission.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7. Congestion Control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controls network congestion using algorithms like </a:t>
            </a:r>
            <a:r>
              <a:rPr lang="en-US" b="1" dirty="0"/>
              <a:t>Slow Start</a:t>
            </a:r>
            <a:r>
              <a:rPr lang="en-US" dirty="0"/>
              <a:t>, </a:t>
            </a:r>
            <a:r>
              <a:rPr lang="en-US" b="1" dirty="0"/>
              <a:t>Congestion Avoidance</a:t>
            </a:r>
            <a:r>
              <a:rPr lang="en-US" dirty="0"/>
              <a:t>, and </a:t>
            </a:r>
            <a:r>
              <a:rPr lang="en-US" b="1" dirty="0"/>
              <a:t>Fast Recovery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network overload by adjusting the sending rate.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8. Full Duplex Communication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allows </a:t>
            </a:r>
            <a:r>
              <a:rPr lang="en-US" b="1" dirty="0"/>
              <a:t>simultaneous data transfer</a:t>
            </a:r>
            <a:r>
              <a:rPr lang="en-US" dirty="0"/>
              <a:t> in both directions.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sender and receiver can send and receive data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456021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AA8D-B7E4-7359-E74F-2E767E2B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B0C2D-3F2E-3CC8-2CD8-4C93C4939608}"/>
              </a:ext>
            </a:extLst>
          </p:cNvPr>
          <p:cNvSpPr txBox="1"/>
          <p:nvPr/>
        </p:nvSpPr>
        <p:spPr>
          <a:xfrm>
            <a:off x="811405" y="131857"/>
            <a:ext cx="887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4.3.2 TCP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3F9712-F6A6-50CF-21E3-08E42EF13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007689"/>
              </p:ext>
            </p:extLst>
          </p:nvPr>
        </p:nvGraphicFramePr>
        <p:xfrm>
          <a:off x="811405" y="639279"/>
          <a:ext cx="9073662" cy="38724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2040">
                  <a:extLst>
                    <a:ext uri="{9D8B030D-6E8A-4147-A177-3AD203B41FA5}">
                      <a16:colId xmlns:a16="http://schemas.microsoft.com/office/drawing/2014/main" val="656924347"/>
                    </a:ext>
                  </a:extLst>
                </a:gridCol>
                <a:gridCol w="6571622">
                  <a:extLst>
                    <a:ext uri="{9D8B030D-6E8A-4147-A177-3AD203B41FA5}">
                      <a16:colId xmlns:a16="http://schemas.microsoft.com/office/drawing/2014/main" val="3634879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95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Connection-Oriented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Establishes a connection before data transfer using the 3-way handshake.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6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Reliable Delivery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Ensures data is delivered correctly and in order.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410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Sequencing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Each byte is numbered; receiver reassembles data in correct order.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61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Error Detection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checksum to detect errors.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782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Flow Control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Prevents sender from overwhelming the receiver.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217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Congestion Control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Manages data transmission rate to avoid congestion.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06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Full Duplex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can flow in both directions simultaneously.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291678"/>
                  </a:ext>
                </a:extLst>
              </a:tr>
              <a:tr h="367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Stream-Oriented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Transfers data as a continuous stream of bytes.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3191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0E6E16-F80C-A5D6-7046-D794FCC99E34}"/>
              </a:ext>
            </a:extLst>
          </p:cNvPr>
          <p:cNvSpPr txBox="1"/>
          <p:nvPr/>
        </p:nvSpPr>
        <p:spPr>
          <a:xfrm>
            <a:off x="700871" y="4752779"/>
            <a:ext cx="91841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4.3.3 TCP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basic data unit</a:t>
            </a:r>
            <a:r>
              <a:rPr lang="en-US" dirty="0"/>
              <a:t> in TCP is called a </a:t>
            </a:r>
            <a:r>
              <a:rPr lang="en-US" b="1" dirty="0"/>
              <a:t>TCP Segment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segment consists of a </a:t>
            </a:r>
            <a:r>
              <a:rPr lang="en-US" b="1" dirty="0"/>
              <a:t>header</a:t>
            </a:r>
            <a:r>
              <a:rPr lang="en-US" dirty="0"/>
              <a:t> and </a:t>
            </a:r>
            <a:r>
              <a:rPr lang="en-US" b="1" dirty="0"/>
              <a:t>data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Structure of TCP Segment:</a:t>
            </a:r>
          </a:p>
        </p:txBody>
      </p:sp>
    </p:spTree>
    <p:extLst>
      <p:ext uri="{BB962C8B-B14F-4D97-AF65-F5344CB8AC3E}">
        <p14:creationId xmlns:p14="http://schemas.microsoft.com/office/powerpoint/2010/main" val="1762948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2B82F-1F08-36A4-05F5-5EDF02BA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E27EA5-AC48-E9BB-8A73-248714DAD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9457"/>
              </p:ext>
            </p:extLst>
          </p:nvPr>
        </p:nvGraphicFramePr>
        <p:xfrm>
          <a:off x="783771" y="206958"/>
          <a:ext cx="9314822" cy="64440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4941">
                  <a:extLst>
                    <a:ext uri="{9D8B030D-6E8A-4147-A177-3AD203B41FA5}">
                      <a16:colId xmlns:a16="http://schemas.microsoft.com/office/drawing/2014/main" val="2371601421"/>
                    </a:ext>
                  </a:extLst>
                </a:gridCol>
                <a:gridCol w="1490946">
                  <a:extLst>
                    <a:ext uri="{9D8B030D-6E8A-4147-A177-3AD203B41FA5}">
                      <a16:colId xmlns:a16="http://schemas.microsoft.com/office/drawing/2014/main" val="2095852879"/>
                    </a:ext>
                  </a:extLst>
                </a:gridCol>
                <a:gridCol w="4718935">
                  <a:extLst>
                    <a:ext uri="{9D8B030D-6E8A-4147-A177-3AD203B41FA5}">
                      <a16:colId xmlns:a16="http://schemas.microsoft.com/office/drawing/2014/main" val="961689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Field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Size (bits)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37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Source Port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Port number of the sending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569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Destination Port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Port number of the receiving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23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Sequence Number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Indicates the position of the first byte of data in the segment.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80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Acknowledgment Number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Specifies the next byte expected from the sender.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685263"/>
                  </a:ext>
                </a:extLst>
              </a:tr>
              <a:tr h="647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Header Length (Data Offset)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Length of the TCP header.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639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Reserved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Reserved for future use (set to zero).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6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Flags (Control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Control information: URG, ACK, PSH, RST, SYN, FIN.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541310"/>
                  </a:ext>
                </a:extLst>
              </a:tr>
              <a:tr h="42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Window Size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 flow control (receiver’s buffer size).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39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Checksum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for error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953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Urgent Pointer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Indicates urgent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78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Options (if any)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 special features like maximum segment size.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65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actual message or payload.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651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30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72FF-BE11-B9FD-DFC9-09E54589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DAA1D-59B9-4C70-6364-374D893C9E5B}"/>
              </a:ext>
            </a:extLst>
          </p:cNvPr>
          <p:cNvSpPr txBox="1"/>
          <p:nvPr/>
        </p:nvSpPr>
        <p:spPr>
          <a:xfrm>
            <a:off x="811403" y="83793"/>
            <a:ext cx="85838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Minimum TCP Header Size:</a:t>
            </a:r>
            <a:r>
              <a:rPr lang="en-US" dirty="0"/>
              <a:t> 20 bytes</a:t>
            </a:r>
            <a:br>
              <a:rPr lang="en-US" dirty="0"/>
            </a:br>
            <a:r>
              <a:rPr lang="en-US" b="1" dirty="0"/>
              <a:t>Maximum TCP Header Size:</a:t>
            </a:r>
            <a:r>
              <a:rPr lang="en-US" dirty="0"/>
              <a:t> 60 bytes (with options)</a:t>
            </a:r>
          </a:p>
          <a:p>
            <a:endParaRPr lang="en-US" dirty="0"/>
          </a:p>
          <a:p>
            <a:r>
              <a:rPr lang="en-IN" b="1" dirty="0"/>
              <a:t>Important Control Flags: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630F2C-346E-7454-0674-145053CA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909958"/>
              </p:ext>
            </p:extLst>
          </p:nvPr>
        </p:nvGraphicFramePr>
        <p:xfrm>
          <a:off x="886487" y="1392905"/>
          <a:ext cx="8128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2845">
                  <a:extLst>
                    <a:ext uri="{9D8B030D-6E8A-4147-A177-3AD203B41FA5}">
                      <a16:colId xmlns:a16="http://schemas.microsoft.com/office/drawing/2014/main" val="3937288504"/>
                    </a:ext>
                  </a:extLst>
                </a:gridCol>
                <a:gridCol w="7075155">
                  <a:extLst>
                    <a:ext uri="{9D8B030D-6E8A-4147-A177-3AD203B41FA5}">
                      <a16:colId xmlns:a16="http://schemas.microsoft.com/office/drawing/2014/main" val="4104906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Flag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10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URG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Urgent pointer field is valid.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16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Acknowledgment field is valid.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69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PSH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Push function (deliver data immediately).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19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Reset the connection.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41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Synchronize sequence numbers (used to start a connection).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27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more data from sender (used to end a connection).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0056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BEFED0-1F71-6AAD-312E-36043B8EBD24}"/>
              </a:ext>
            </a:extLst>
          </p:cNvPr>
          <p:cNvSpPr txBox="1"/>
          <p:nvPr/>
        </p:nvSpPr>
        <p:spPr>
          <a:xfrm>
            <a:off x="848245" y="4325037"/>
            <a:ext cx="89087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4.3.4 A TCP Connection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Definition: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TCP connection</a:t>
            </a:r>
            <a:r>
              <a:rPr lang="en-US" dirty="0"/>
              <a:t> is a </a:t>
            </a:r>
            <a:r>
              <a:rPr lang="en-US" b="1" dirty="0"/>
              <a:t>virtual communication link</a:t>
            </a:r>
            <a:r>
              <a:rPr lang="en-US" dirty="0"/>
              <a:t> between two devices that ensures reliable data transfer.</a:t>
            </a:r>
            <a:br>
              <a:rPr lang="en-US" dirty="0"/>
            </a:br>
            <a:r>
              <a:rPr lang="en-US" dirty="0"/>
              <a:t>TCP is </a:t>
            </a:r>
            <a:r>
              <a:rPr lang="en-US" b="1" dirty="0"/>
              <a:t>connection-oriented</a:t>
            </a:r>
            <a:r>
              <a:rPr lang="en-US" dirty="0"/>
              <a:t>, meaning that before data is sent, a </a:t>
            </a:r>
            <a:r>
              <a:rPr lang="en-US" b="1" dirty="0"/>
              <a:t>connection must be established</a:t>
            </a:r>
            <a:r>
              <a:rPr lang="en-US" dirty="0"/>
              <a:t> between the sender and receiver</a:t>
            </a:r>
          </a:p>
        </p:txBody>
      </p:sp>
    </p:spTree>
    <p:extLst>
      <p:ext uri="{BB962C8B-B14F-4D97-AF65-F5344CB8AC3E}">
        <p14:creationId xmlns:p14="http://schemas.microsoft.com/office/powerpoint/2010/main" val="2627479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14431-D832-6C10-1484-10E5262E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FEF1CE-D507-982F-68F8-C504092136C8}"/>
              </a:ext>
            </a:extLst>
          </p:cNvPr>
          <p:cNvSpPr txBox="1"/>
          <p:nvPr/>
        </p:nvSpPr>
        <p:spPr>
          <a:xfrm>
            <a:off x="844062" y="150725"/>
            <a:ext cx="851346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Phases of a TCP Connection: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Connection Establishment (Three-Way Handshake)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establish a reliable connection before data transmission.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Steps: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SYN:</a:t>
            </a:r>
            <a:r>
              <a:rPr lang="en-US" dirty="0"/>
              <a:t> Sender sends a </a:t>
            </a:r>
            <a:r>
              <a:rPr lang="en-US" b="1" dirty="0"/>
              <a:t>SYN</a:t>
            </a:r>
            <a:r>
              <a:rPr lang="en-US" dirty="0"/>
              <a:t> (synchronize) packet to start the connection.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SYN + ACK:</a:t>
            </a:r>
            <a:r>
              <a:rPr lang="en-US" dirty="0"/>
              <a:t> Receiver replies with </a:t>
            </a:r>
            <a:r>
              <a:rPr lang="en-US" b="1" dirty="0"/>
              <a:t>SYN + ACK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ACK:</a:t>
            </a:r>
            <a:r>
              <a:rPr lang="en-US" dirty="0"/>
              <a:t> Sender sends </a:t>
            </a:r>
            <a:r>
              <a:rPr lang="en-US" b="1" dirty="0"/>
              <a:t>ACK</a:t>
            </a:r>
            <a:r>
              <a:rPr lang="en-US" dirty="0"/>
              <a:t> to confirm the connection.</a:t>
            </a:r>
          </a:p>
          <a:p>
            <a:pPr>
              <a:buNone/>
            </a:pPr>
            <a:r>
              <a:rPr lang="en-US" dirty="0"/>
              <a:t>✅ Connection is now established and data transfer can begin.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2. Data Transfer Phase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sent in segments with </a:t>
            </a:r>
            <a:r>
              <a:rPr lang="en-US" b="1" dirty="0"/>
              <a:t>sequence numbers</a:t>
            </a:r>
            <a:r>
              <a:rPr lang="en-US" dirty="0"/>
              <a:t> and </a:t>
            </a:r>
            <a:r>
              <a:rPr lang="en-US" b="1" dirty="0"/>
              <a:t>acknowledgments (ACKs)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reliable, ordered delivery</a:t>
            </a:r>
          </a:p>
          <a:p>
            <a:endParaRPr lang="en-US" dirty="0"/>
          </a:p>
          <a:p>
            <a:r>
              <a:rPr lang="en-US" b="1" dirty="0"/>
              <a:t>3. Connection Termination (Four-Way Handshake)</a:t>
            </a:r>
          </a:p>
          <a:p>
            <a:endParaRPr lang="en-US" b="1" dirty="0"/>
          </a:p>
          <a:p>
            <a:r>
              <a:rPr lang="en-US" dirty="0"/>
              <a:t>Used to close the connection gracefully.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340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6D7E-8887-A72F-007D-E2571AA0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29E0E3-C3E6-2D11-EDC5-0D4EFC1DBCE3}"/>
              </a:ext>
            </a:extLst>
          </p:cNvPr>
          <p:cNvSpPr txBox="1"/>
          <p:nvPr/>
        </p:nvSpPr>
        <p:spPr>
          <a:xfrm>
            <a:off x="944545" y="80277"/>
            <a:ext cx="845317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Sender sends </a:t>
            </a:r>
            <a:r>
              <a:rPr lang="en-US" b="1" dirty="0"/>
              <a:t>FIN</a:t>
            </a:r>
            <a:r>
              <a:rPr lang="en-US" dirty="0"/>
              <a:t> (no more data).</a:t>
            </a:r>
          </a:p>
          <a:p>
            <a:pPr>
              <a:buFont typeface="+mj-lt"/>
              <a:buAutoNum type="arabicPeriod"/>
            </a:pPr>
            <a:r>
              <a:rPr lang="en-US" dirty="0"/>
              <a:t>Receiver sends </a:t>
            </a:r>
            <a:r>
              <a:rPr lang="en-US" b="1" dirty="0"/>
              <a:t>ACK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Receiver sends </a:t>
            </a:r>
            <a:r>
              <a:rPr lang="en-US" b="1" dirty="0"/>
              <a:t>FIN</a:t>
            </a:r>
            <a:r>
              <a:rPr lang="en-US" dirty="0"/>
              <a:t> when it finishes sending data.</a:t>
            </a:r>
          </a:p>
          <a:p>
            <a:pPr>
              <a:buFont typeface="+mj-lt"/>
              <a:buAutoNum type="arabicPeriod"/>
            </a:pPr>
            <a:r>
              <a:rPr lang="en-US" dirty="0"/>
              <a:t>Sender sends </a:t>
            </a:r>
            <a:r>
              <a:rPr lang="en-US" b="1" dirty="0"/>
              <a:t>ACK</a:t>
            </a:r>
            <a:r>
              <a:rPr lang="en-US" dirty="0"/>
              <a:t>, and connection </a:t>
            </a:r>
            <a:r>
              <a:rPr lang="en-US" dirty="0" err="1"/>
              <a:t>closes.s</a:t>
            </a: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4.3.5 Windows in TCP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Definition: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window</a:t>
            </a:r>
            <a:r>
              <a:rPr lang="en-US" dirty="0"/>
              <a:t> in TCP represents the </a:t>
            </a:r>
            <a:r>
              <a:rPr lang="en-US" b="1" dirty="0"/>
              <a:t>amount of data (in bytes)</a:t>
            </a:r>
            <a:r>
              <a:rPr lang="en-US" dirty="0"/>
              <a:t> that can be sent before receiving an acknowledgment.</a:t>
            </a:r>
          </a:p>
          <a:p>
            <a:r>
              <a:rPr lang="en-US" dirty="0"/>
              <a:t>It is used for </a:t>
            </a:r>
            <a:r>
              <a:rPr lang="en-US" b="1" dirty="0"/>
              <a:t>flow control</a:t>
            </a:r>
            <a:r>
              <a:rPr lang="en-US" dirty="0"/>
              <a:t> and is part of the </a:t>
            </a:r>
            <a:r>
              <a:rPr lang="en-US" b="1" dirty="0"/>
              <a:t>sliding window mechanism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Types of Windows: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Sending Window</a:t>
            </a:r>
          </a:p>
          <a:p>
            <a:endParaRPr lang="en-US" b="1" dirty="0"/>
          </a:p>
          <a:p>
            <a:r>
              <a:rPr lang="en-US" dirty="0"/>
              <a:t>The range of sequence numbers that the sender is allowed to send before an acknowledgment.</a:t>
            </a:r>
          </a:p>
          <a:p>
            <a:r>
              <a:rPr lang="en-US" b="1" dirty="0"/>
              <a:t>2. Receiving Window</a:t>
            </a:r>
          </a:p>
          <a:p>
            <a:r>
              <a:rPr lang="en-US" dirty="0"/>
              <a:t>The range of sequence numbers the receiver is ready to accept.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80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D27C-14B9-909C-1B89-B0EB062E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686B7-4BEB-3573-F0E5-77FA5BE6FE26}"/>
              </a:ext>
            </a:extLst>
          </p:cNvPr>
          <p:cNvSpPr txBox="1"/>
          <p:nvPr/>
        </p:nvSpPr>
        <p:spPr>
          <a:xfrm>
            <a:off x="884255" y="258970"/>
            <a:ext cx="86340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Windows help TCP </a:t>
            </a:r>
            <a:r>
              <a:rPr lang="en-US" b="1" dirty="0"/>
              <a:t>control the rate of data flow</a:t>
            </a:r>
            <a:r>
              <a:rPr lang="en-US" dirty="0"/>
              <a:t>, preventing buffer overflow and ensuring smooth communication.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4.3.6 Flow Control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Definition:</a:t>
            </a:r>
          </a:p>
          <a:p>
            <a:r>
              <a:rPr lang="en-US" b="1" dirty="0"/>
              <a:t>Flow control</a:t>
            </a:r>
            <a:r>
              <a:rPr lang="en-US" dirty="0"/>
              <a:t> ensures that the </a:t>
            </a:r>
            <a:r>
              <a:rPr lang="en-US" b="1" dirty="0"/>
              <a:t>sender does not send more data</a:t>
            </a:r>
            <a:r>
              <a:rPr lang="en-US" dirty="0"/>
              <a:t> than the receiver can process or store.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Mechanism Used:</a:t>
            </a:r>
          </a:p>
          <a:p>
            <a:endParaRPr lang="en-US" b="1" dirty="0"/>
          </a:p>
          <a:p>
            <a:r>
              <a:rPr lang="en-US" dirty="0"/>
              <a:t>TCP uses a </a:t>
            </a:r>
            <a:r>
              <a:rPr lang="en-US" b="1" dirty="0"/>
              <a:t>Sliding Window Protocol</a:t>
            </a:r>
            <a:r>
              <a:rPr lang="en-US" dirty="0"/>
              <a:t> for flow control.</a:t>
            </a:r>
          </a:p>
          <a:p>
            <a:endParaRPr lang="en-US" dirty="0"/>
          </a:p>
          <a:p>
            <a:r>
              <a:rPr lang="en-US" b="1" dirty="0"/>
              <a:t>Working: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receiver advertises a </a:t>
            </a:r>
            <a:r>
              <a:rPr lang="en-US" b="1" dirty="0"/>
              <a:t>window size</a:t>
            </a:r>
            <a:r>
              <a:rPr lang="en-US" dirty="0"/>
              <a:t> (in bytes) that tells the sender how much data it can receive.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sender can only send data within that window limit.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receiver acknowledges data, the window slides forward — allowing more data to be sent.</a:t>
            </a:r>
          </a:p>
          <a:p>
            <a:r>
              <a:rPr lang="en-US" dirty="0"/>
              <a:t>✅ Prevents buffer overflow and ensures efficient data transfer.</a:t>
            </a:r>
          </a:p>
        </p:txBody>
      </p:sp>
    </p:spTree>
    <p:extLst>
      <p:ext uri="{BB962C8B-B14F-4D97-AF65-F5344CB8AC3E}">
        <p14:creationId xmlns:p14="http://schemas.microsoft.com/office/powerpoint/2010/main" val="2730917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72B1-E248-4651-7123-44732F4B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4133E-A083-59C0-F575-87072E9D6BC4}"/>
              </a:ext>
            </a:extLst>
          </p:cNvPr>
          <p:cNvSpPr txBox="1"/>
          <p:nvPr/>
        </p:nvSpPr>
        <p:spPr>
          <a:xfrm>
            <a:off x="803868" y="102892"/>
            <a:ext cx="899327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4.3.7 Error Control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Definition: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Error control</a:t>
            </a:r>
            <a:r>
              <a:rPr lang="en-US" dirty="0"/>
              <a:t> in TCP ensures that data is </a:t>
            </a:r>
            <a:r>
              <a:rPr lang="en-US" b="1" dirty="0"/>
              <a:t>received correctly and in the right order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Error Control Mechanisms: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Checksum: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Each TCP segment includes a checksum to detect corrupted data.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Acknowledgment (ACK):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receiver sends an ACK for successfully received segments.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Retransmission: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acknowledgment is not received within a certain time, TCP retransmits the lost segment.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Sequence Numbers: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Ensure that segments are reassembled in the correct order.</a:t>
            </a:r>
          </a:p>
          <a:p>
            <a:pPr>
              <a:buNone/>
            </a:pPr>
            <a:r>
              <a:rPr lang="en-US" dirty="0"/>
              <a:t>✅ Result: </a:t>
            </a:r>
            <a:r>
              <a:rPr lang="en-US" b="1" dirty="0"/>
              <a:t>Reliable and error-free communication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4.3.8 Congestion Control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Definition:</a:t>
            </a:r>
          </a:p>
          <a:p>
            <a:r>
              <a:rPr lang="en-US" b="1" dirty="0"/>
              <a:t>Congestion control</a:t>
            </a:r>
            <a:r>
              <a:rPr lang="en-US" dirty="0"/>
              <a:t> prevents excessive data from entering the network, avoiding congestion and packet loss.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669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0490-78F2-7701-94F7-74FD22DD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0D5A7B-C81D-D88E-3CAE-9FA9DE4D8BBC}"/>
              </a:ext>
            </a:extLst>
          </p:cNvPr>
          <p:cNvSpPr txBox="1"/>
          <p:nvPr/>
        </p:nvSpPr>
        <p:spPr>
          <a:xfrm>
            <a:off x="803868" y="162342"/>
            <a:ext cx="90736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TCP Congestion Control Algorithms: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Slow Start: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TCP begins sending with a small congestion window (</a:t>
            </a:r>
            <a:r>
              <a:rPr lang="en-US" dirty="0" err="1"/>
              <a:t>cwnd</a:t>
            </a:r>
            <a:r>
              <a:rPr lang="en-US" dirty="0"/>
              <a:t>) and increases it gradually.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Congestion Avoidance: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Increases the window size slowly to avoid congestion.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Fast Retransmit: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three duplicate ACKs are received, TCP retransmits the missing segment immediately.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Fast Recovery: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After retransmission, TCP reduces the window size but doesn’t go back to the beginning.</a:t>
            </a:r>
          </a:p>
          <a:p>
            <a:pPr>
              <a:buNone/>
            </a:pPr>
            <a:r>
              <a:rPr lang="en-US" dirty="0"/>
              <a:t>✅ Helps maintain </a:t>
            </a:r>
            <a:r>
              <a:rPr lang="en-US" b="1" dirty="0"/>
              <a:t>network stability</a:t>
            </a:r>
            <a:r>
              <a:rPr lang="en-US" dirty="0"/>
              <a:t> and </a:t>
            </a:r>
            <a:r>
              <a:rPr lang="en-US" b="1" dirty="0"/>
              <a:t>optimal throughput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4.3.9 TCP Timers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TCP uses several timers to manage transmission and retransmission:</a:t>
            </a:r>
          </a:p>
        </p:txBody>
      </p:sp>
    </p:spTree>
    <p:extLst>
      <p:ext uri="{BB962C8B-B14F-4D97-AF65-F5344CB8AC3E}">
        <p14:creationId xmlns:p14="http://schemas.microsoft.com/office/powerpoint/2010/main" val="2680619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3697-FBB5-E64E-A7EF-1FDF162D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7DDAEE-B218-7CD6-C019-F1F47C578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41919"/>
              </p:ext>
            </p:extLst>
          </p:nvPr>
        </p:nvGraphicFramePr>
        <p:xfrm>
          <a:off x="783771" y="257441"/>
          <a:ext cx="8611438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88">
                  <a:extLst>
                    <a:ext uri="{9D8B030D-6E8A-4147-A177-3AD203B41FA5}">
                      <a16:colId xmlns:a16="http://schemas.microsoft.com/office/drawing/2014/main" val="1674483783"/>
                    </a:ext>
                  </a:extLst>
                </a:gridCol>
                <a:gridCol w="6099350">
                  <a:extLst>
                    <a:ext uri="{9D8B030D-6E8A-4147-A177-3AD203B41FA5}">
                      <a16:colId xmlns:a16="http://schemas.microsoft.com/office/drawing/2014/main" val="1948410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Timer 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06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Retransmission Timer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resend a segment if acknowledgment is not received within a specific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4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Persistence Timer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Prevents deadlock by resending window size queries when receiver’s window size = 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04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Keepalive Timer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Checks if the connection is still active when there is no data transfer.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28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TIME-WAIT Timer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Ensures all delayed packets are properly received before completely closing a connection.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00405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CB60C3B-EA19-B7E2-DBED-65F2A389CD79}"/>
              </a:ext>
            </a:extLst>
          </p:cNvPr>
          <p:cNvSpPr txBox="1"/>
          <p:nvPr/>
        </p:nvSpPr>
        <p:spPr>
          <a:xfrm>
            <a:off x="783770" y="3429000"/>
            <a:ext cx="86114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✅ Timers help TCP maintain </a:t>
            </a:r>
            <a:r>
              <a:rPr lang="en-US" b="1" dirty="0"/>
              <a:t>reliability</a:t>
            </a:r>
            <a:r>
              <a:rPr lang="en-US" dirty="0"/>
              <a:t> and </a:t>
            </a:r>
            <a:r>
              <a:rPr lang="en-US" b="1" dirty="0"/>
              <a:t>connection stability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4.3.10 Options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Definition:</a:t>
            </a:r>
          </a:p>
          <a:p>
            <a:r>
              <a:rPr lang="en-US" dirty="0"/>
              <a:t>TCP Options are additional fields in the TCP header that provide extra features or control information.</a:t>
            </a:r>
          </a:p>
          <a:p>
            <a:endParaRPr lang="en-US" dirty="0"/>
          </a:p>
          <a:p>
            <a:r>
              <a:rPr lang="en-IN" b="1" dirty="0"/>
              <a:t>Common TCP Options: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555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5A4E-4DBC-AF2A-B109-97818042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41A609-953A-CFB0-2E35-1338EA0E3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630765"/>
              </p:ext>
            </p:extLst>
          </p:nvPr>
        </p:nvGraphicFramePr>
        <p:xfrm>
          <a:off x="866391" y="126813"/>
          <a:ext cx="8699640" cy="357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5851">
                  <a:extLst>
                    <a:ext uri="{9D8B030D-6E8A-4147-A177-3AD203B41FA5}">
                      <a16:colId xmlns:a16="http://schemas.microsoft.com/office/drawing/2014/main" val="4183389211"/>
                    </a:ext>
                  </a:extLst>
                </a:gridCol>
                <a:gridCol w="4943789">
                  <a:extLst>
                    <a:ext uri="{9D8B030D-6E8A-4147-A177-3AD203B41FA5}">
                      <a16:colId xmlns:a16="http://schemas.microsoft.com/office/drawing/2014/main" val="3363078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01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Maximum Segment Size (MSS)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the largest segment size the sender can handle.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462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Window Scale Option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Increases the window size for high-speed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20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Timestamp Option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measure Round-Trip Time (RTT) and improve retransmission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353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Selective Acknowledgment (SACK)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Allows receiver to acknowledge non-sequential segments, improving efficiency.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28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NOP (No Operation)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 alignment and padding within the header.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1936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83B79F5-647A-4B7C-1ABB-4159F278F4E5}"/>
              </a:ext>
            </a:extLst>
          </p:cNvPr>
          <p:cNvSpPr txBox="1"/>
          <p:nvPr/>
        </p:nvSpPr>
        <p:spPr>
          <a:xfrm>
            <a:off x="771211" y="3877216"/>
            <a:ext cx="87948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4.4 QUIC Protocol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Introduction: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QUIC</a:t>
            </a:r>
            <a:r>
              <a:rPr lang="en-US" dirty="0"/>
              <a:t> stands for </a:t>
            </a:r>
            <a:r>
              <a:rPr lang="en-US" b="1" dirty="0"/>
              <a:t>Quick UDP Internet Connections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</a:t>
            </a:r>
            <a:r>
              <a:rPr lang="en-US" b="1" dirty="0"/>
              <a:t>modern transport layer protocol</a:t>
            </a:r>
            <a:r>
              <a:rPr lang="en-US" dirty="0"/>
              <a:t> developed by </a:t>
            </a:r>
            <a:r>
              <a:rPr lang="en-US" b="1" dirty="0"/>
              <a:t>Google</a:t>
            </a:r>
            <a:r>
              <a:rPr lang="en-US" dirty="0"/>
              <a:t> to make the Internet </a:t>
            </a:r>
            <a:r>
              <a:rPr lang="en-US" b="1" dirty="0"/>
              <a:t>faster, more secure, and reliable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 is built </a:t>
            </a:r>
            <a:r>
              <a:rPr lang="en-US" b="1" dirty="0"/>
              <a:t>on top of UDP</a:t>
            </a:r>
            <a:r>
              <a:rPr lang="en-US" dirty="0"/>
              <a:t>, not TCP.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combines the best features of </a:t>
            </a:r>
            <a:r>
              <a:rPr lang="en-US" b="1" dirty="0"/>
              <a:t>TCP + TLS (encryption) + HTTP/2</a:t>
            </a:r>
            <a:r>
              <a:rPr lang="en-US" dirty="0"/>
              <a:t> in one protocol.</a:t>
            </a:r>
          </a:p>
        </p:txBody>
      </p:sp>
    </p:spTree>
    <p:extLst>
      <p:ext uri="{BB962C8B-B14F-4D97-AF65-F5344CB8AC3E}">
        <p14:creationId xmlns:p14="http://schemas.microsoft.com/office/powerpoint/2010/main" val="2909374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0DB9-2642-3CDE-3806-61811896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1FDC8B-C1EE-02B1-5E87-A0A6317D319A}"/>
              </a:ext>
            </a:extLst>
          </p:cNvPr>
          <p:cNvSpPr txBox="1"/>
          <p:nvPr/>
        </p:nvSpPr>
        <p:spPr>
          <a:xfrm>
            <a:off x="773723" y="140567"/>
            <a:ext cx="85536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Main Goals of QUIC: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Reduce connection setup time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Improve performance</a:t>
            </a:r>
            <a:r>
              <a:rPr lang="en-US" dirty="0"/>
              <a:t> for web applications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Provide built-in encryption</a:t>
            </a:r>
            <a:r>
              <a:rPr lang="en-US" dirty="0"/>
              <a:t> (like TLS)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Avoid head-of-line blocking</a:t>
            </a:r>
            <a:r>
              <a:rPr lang="en-US" dirty="0"/>
              <a:t> (a common issue in TCP)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Features of QUIC Protocol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Built on UDP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 uses </a:t>
            </a:r>
            <a:r>
              <a:rPr lang="en-US" b="1" dirty="0"/>
              <a:t>UDP (User Datagram Protocol)</a:t>
            </a:r>
            <a:r>
              <a:rPr lang="en-US" dirty="0"/>
              <a:t> as its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provides </a:t>
            </a:r>
            <a:r>
              <a:rPr lang="en-US" b="1" dirty="0"/>
              <a:t>connection-oriented</a:t>
            </a:r>
            <a:r>
              <a:rPr lang="en-US" dirty="0"/>
              <a:t> and </a:t>
            </a:r>
            <a:r>
              <a:rPr lang="en-US" b="1" dirty="0"/>
              <a:t>reliable communication</a:t>
            </a:r>
            <a:r>
              <a:rPr lang="en-US" dirty="0"/>
              <a:t> over UDP.</a:t>
            </a:r>
          </a:p>
          <a:p>
            <a:endParaRPr lang="en-US" dirty="0"/>
          </a:p>
          <a:p>
            <a:r>
              <a:rPr lang="en-US" b="1" dirty="0"/>
              <a:t>2. Faster Connection Establishment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 can establish a </a:t>
            </a:r>
            <a:r>
              <a:rPr lang="en-US" b="1" dirty="0"/>
              <a:t>secure connection in one round trip (1-RTT)</a:t>
            </a:r>
            <a:r>
              <a:rPr lang="en-US" dirty="0"/>
              <a:t> or even </a:t>
            </a:r>
            <a:r>
              <a:rPr lang="en-US" b="1" dirty="0"/>
              <a:t>zero round trip (0-RTT)</a:t>
            </a:r>
            <a:r>
              <a:rPr lang="en-US" dirty="0"/>
              <a:t> for repeated connections.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makes it </a:t>
            </a:r>
            <a:r>
              <a:rPr lang="en-US" b="1" dirty="0"/>
              <a:t>faster than TCP + TLS</a:t>
            </a:r>
            <a:r>
              <a:rPr lang="en-US" dirty="0"/>
              <a:t>, which require multiple handshakes.</a:t>
            </a:r>
          </a:p>
          <a:p>
            <a:endParaRPr lang="en-US" dirty="0"/>
          </a:p>
          <a:p>
            <a:r>
              <a:rPr lang="en-US" b="1" dirty="0"/>
              <a:t>3. Integrated Security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 includes </a:t>
            </a:r>
            <a:r>
              <a:rPr lang="en-US" b="1" dirty="0"/>
              <a:t>TLS 1.3 encryption by default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confidentiality, authentication, and data integrity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378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ACF4-6C1B-C80F-E031-A28FA558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2E6F22-2CA0-EF98-ED76-E82481CC4A5E}"/>
              </a:ext>
            </a:extLst>
          </p:cNvPr>
          <p:cNvSpPr txBox="1"/>
          <p:nvPr/>
        </p:nvSpPr>
        <p:spPr>
          <a:xfrm>
            <a:off x="703384" y="130629"/>
            <a:ext cx="892293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Multiplexing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 supports </a:t>
            </a:r>
            <a:r>
              <a:rPr lang="en-US" b="1" dirty="0"/>
              <a:t>multiple streams</a:t>
            </a:r>
            <a:r>
              <a:rPr lang="en-US" dirty="0"/>
              <a:t> within a single connection.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stream is independent — so if one stream faces delay, others continue without waiting.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avoids </a:t>
            </a:r>
            <a:r>
              <a:rPr lang="en-US" b="1" dirty="0"/>
              <a:t>head-of-line blocking</a:t>
            </a:r>
            <a:r>
              <a:rPr lang="en-US" dirty="0"/>
              <a:t> (a major problem in TCP).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5. Connection Migration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 supports </a:t>
            </a:r>
            <a:r>
              <a:rPr lang="en-US" b="1" dirty="0"/>
              <a:t>connection migration</a:t>
            </a:r>
            <a:r>
              <a:rPr lang="en-US" dirty="0"/>
              <a:t>, meaning a session can continue even if the client’s IP address changes (e.g., switching from Wi-Fi to mobile data).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6. Improved Congestion Control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 implements advanced </a:t>
            </a:r>
            <a:r>
              <a:rPr lang="en-US" b="1" dirty="0"/>
              <a:t>congestion control algorithms</a:t>
            </a:r>
            <a:r>
              <a:rPr lang="en-US" dirty="0"/>
              <a:t> similar to or better than TCP, ensuring efficient network usage.</a:t>
            </a:r>
          </a:p>
          <a:p>
            <a:endParaRPr lang="en-US" dirty="0"/>
          </a:p>
          <a:p>
            <a:r>
              <a:rPr lang="en-US" b="1" dirty="0"/>
              <a:t>7. Reliable and Ordered Delivery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 guarantees that data within each stream is </a:t>
            </a:r>
            <a:r>
              <a:rPr lang="en-US" b="1" dirty="0"/>
              <a:t>reliable and delivered in order</a:t>
            </a:r>
            <a:r>
              <a:rPr lang="en-US" dirty="0"/>
              <a:t>, even though it’s built on </a:t>
            </a:r>
            <a:r>
              <a:rPr lang="en-US" b="1" dirty="0"/>
              <a:t>UDP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2282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</TotalTime>
  <Words>2751</Words>
  <Application>Microsoft Office PowerPoint</Application>
  <PresentationFormat>Widescreen</PresentationFormat>
  <Paragraphs>466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Courier New</vt:lpstr>
      <vt:lpstr>Trebuchet MS</vt:lpstr>
      <vt:lpstr>Wingdings</vt:lpstr>
      <vt:lpstr>Wingdings 3</vt:lpstr>
      <vt:lpstr>Facet</vt:lpstr>
      <vt:lpstr>Transport Layer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2025-10-23T06:15:31Z</dcterms:created>
  <dcterms:modified xsi:type="dcterms:W3CDTF">2025-10-23T08:16:40Z</dcterms:modified>
</cp:coreProperties>
</file>