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0852C-5289-5C34-C73F-AF2349627CB0}" v="10" dt="2025-10-03T14:30:05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shinde2580@gmail.com" userId="86fdf0c531315612" providerId="Windows Live" clId="Web-{85D0852C-5289-5C34-C73F-AF2349627CB0}"/>
    <pc:docChg chg="delSld">
      <pc:chgData name="shshinde2580@gmail.com" userId="86fdf0c531315612" providerId="Windows Live" clId="Web-{85D0852C-5289-5C34-C73F-AF2349627CB0}" dt="2025-10-03T14:30:05.243" v="9"/>
      <pc:docMkLst>
        <pc:docMk/>
      </pc:docMkLst>
      <pc:sldChg chg="del">
        <pc:chgData name="shshinde2580@gmail.com" userId="86fdf0c531315612" providerId="Windows Live" clId="Web-{85D0852C-5289-5C34-C73F-AF2349627CB0}" dt="2025-10-03T14:30:05.243" v="9"/>
        <pc:sldMkLst>
          <pc:docMk/>
          <pc:sldMk cId="2960754499" sldId="268"/>
        </pc:sldMkLst>
      </pc:sldChg>
      <pc:sldChg chg="del">
        <pc:chgData name="shshinde2580@gmail.com" userId="86fdf0c531315612" providerId="Windows Live" clId="Web-{85D0852C-5289-5C34-C73F-AF2349627CB0}" dt="2025-10-03T14:30:05.243" v="8"/>
        <pc:sldMkLst>
          <pc:docMk/>
          <pc:sldMk cId="43211657" sldId="269"/>
        </pc:sldMkLst>
      </pc:sldChg>
      <pc:sldChg chg="del">
        <pc:chgData name="shshinde2580@gmail.com" userId="86fdf0c531315612" providerId="Windows Live" clId="Web-{85D0852C-5289-5C34-C73F-AF2349627CB0}" dt="2025-10-03T14:30:05.243" v="7"/>
        <pc:sldMkLst>
          <pc:docMk/>
          <pc:sldMk cId="1087421708" sldId="270"/>
        </pc:sldMkLst>
      </pc:sldChg>
      <pc:sldChg chg="del">
        <pc:chgData name="shshinde2580@gmail.com" userId="86fdf0c531315612" providerId="Windows Live" clId="Web-{85D0852C-5289-5C34-C73F-AF2349627CB0}" dt="2025-10-03T14:30:05.243" v="6"/>
        <pc:sldMkLst>
          <pc:docMk/>
          <pc:sldMk cId="1356350745" sldId="271"/>
        </pc:sldMkLst>
      </pc:sldChg>
      <pc:sldChg chg="del">
        <pc:chgData name="shshinde2580@gmail.com" userId="86fdf0c531315612" providerId="Windows Live" clId="Web-{85D0852C-5289-5C34-C73F-AF2349627CB0}" dt="2025-10-03T14:30:05.243" v="5"/>
        <pc:sldMkLst>
          <pc:docMk/>
          <pc:sldMk cId="51631834" sldId="272"/>
        </pc:sldMkLst>
      </pc:sldChg>
      <pc:sldChg chg="del">
        <pc:chgData name="shshinde2580@gmail.com" userId="86fdf0c531315612" providerId="Windows Live" clId="Web-{85D0852C-5289-5C34-C73F-AF2349627CB0}" dt="2025-10-03T14:30:05.228" v="4"/>
        <pc:sldMkLst>
          <pc:docMk/>
          <pc:sldMk cId="3241581913" sldId="273"/>
        </pc:sldMkLst>
      </pc:sldChg>
      <pc:sldChg chg="del">
        <pc:chgData name="shshinde2580@gmail.com" userId="86fdf0c531315612" providerId="Windows Live" clId="Web-{85D0852C-5289-5C34-C73F-AF2349627CB0}" dt="2025-10-03T14:30:05.228" v="3"/>
        <pc:sldMkLst>
          <pc:docMk/>
          <pc:sldMk cId="1156629756" sldId="274"/>
        </pc:sldMkLst>
      </pc:sldChg>
      <pc:sldChg chg="del">
        <pc:chgData name="shshinde2580@gmail.com" userId="86fdf0c531315612" providerId="Windows Live" clId="Web-{85D0852C-5289-5C34-C73F-AF2349627CB0}" dt="2025-10-03T14:30:05.228" v="2"/>
        <pc:sldMkLst>
          <pc:docMk/>
          <pc:sldMk cId="1346459268" sldId="275"/>
        </pc:sldMkLst>
      </pc:sldChg>
      <pc:sldChg chg="del">
        <pc:chgData name="shshinde2580@gmail.com" userId="86fdf0c531315612" providerId="Windows Live" clId="Web-{85D0852C-5289-5C34-C73F-AF2349627CB0}" dt="2025-10-03T14:30:05.228" v="1"/>
        <pc:sldMkLst>
          <pc:docMk/>
          <pc:sldMk cId="557375445" sldId="276"/>
        </pc:sldMkLst>
      </pc:sldChg>
      <pc:sldChg chg="del">
        <pc:chgData name="shshinde2580@gmail.com" userId="86fdf0c531315612" providerId="Windows Live" clId="Web-{85D0852C-5289-5C34-C73F-AF2349627CB0}" dt="2025-10-03T14:30:05.228" v="0"/>
        <pc:sldMkLst>
          <pc:docMk/>
          <pc:sldMk cId="2443024273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79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24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32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9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34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61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251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193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33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61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837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931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2590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533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242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40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1FAA7-DF34-47EB-AD37-9D2F92F14A65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D3C540A-10DC-48E7-A3BB-C618A7438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858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E7C2-1984-481F-321E-32902ED33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348" y="2677220"/>
            <a:ext cx="9312965" cy="1646302"/>
          </a:xfrm>
        </p:spPr>
        <p:txBody>
          <a:bodyPr/>
          <a:lstStyle/>
          <a:p>
            <a:pPr algn="ctr"/>
            <a:r>
              <a:rPr lang="en-IN" dirty="0"/>
              <a:t>Decision Making and Functions</a:t>
            </a:r>
          </a:p>
        </p:txBody>
      </p:sp>
    </p:spTree>
    <p:extLst>
      <p:ext uri="{BB962C8B-B14F-4D97-AF65-F5344CB8AC3E}">
        <p14:creationId xmlns:p14="http://schemas.microsoft.com/office/powerpoint/2010/main" val="347046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536747-B9FF-5F29-AA39-69469463AC4C}"/>
              </a:ext>
            </a:extLst>
          </p:cNvPr>
          <p:cNvSpPr txBox="1"/>
          <p:nvPr/>
        </p:nvSpPr>
        <p:spPr>
          <a:xfrm>
            <a:off x="904460" y="183730"/>
            <a:ext cx="8488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2.1 decision making statements(if ….elif…else , Nested if) </a:t>
            </a:r>
            <a:endParaRPr lang="en-IN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AFCAB-4B3A-1B44-6075-70370737C387}"/>
              </a:ext>
            </a:extLst>
          </p:cNvPr>
          <p:cNvSpPr txBox="1"/>
          <p:nvPr/>
        </p:nvSpPr>
        <p:spPr>
          <a:xfrm>
            <a:off x="904460" y="684035"/>
            <a:ext cx="848801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Decision Making Statements in Python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In Python, decision-making is done using </a:t>
            </a:r>
            <a:r>
              <a:rPr lang="en-US" b="1" dirty="0"/>
              <a:t>conditional statements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They allow the program to make choices and execute code depending on conditions.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3A5D63-E3EF-C853-4C19-B7AE7AED5753}"/>
              </a:ext>
            </a:extLst>
          </p:cNvPr>
          <p:cNvSpPr txBox="1"/>
          <p:nvPr/>
        </p:nvSpPr>
        <p:spPr>
          <a:xfrm>
            <a:off x="616226" y="2096361"/>
            <a:ext cx="101080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if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check a condition.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condition is </a:t>
            </a:r>
            <a:r>
              <a:rPr lang="en-US" b="1" dirty="0"/>
              <a:t>True</a:t>
            </a:r>
            <a:r>
              <a:rPr lang="en-US" dirty="0"/>
              <a:t>, the block of code runs.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Syntax: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if condition:</a:t>
            </a:r>
          </a:p>
          <a:p>
            <a:pPr>
              <a:buNone/>
            </a:pPr>
            <a:r>
              <a:rPr lang="en-US" dirty="0"/>
              <a:t>    statement(s)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IN" b="1" dirty="0"/>
              <a:t>Example: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US" dirty="0"/>
              <a:t>x = 10</a:t>
            </a:r>
          </a:p>
          <a:p>
            <a:pPr>
              <a:buNone/>
            </a:pPr>
            <a:r>
              <a:rPr lang="en-US" dirty="0"/>
              <a:t>if x &gt; 5:</a:t>
            </a:r>
          </a:p>
          <a:p>
            <a:pPr>
              <a:buNone/>
            </a:pPr>
            <a:r>
              <a:rPr lang="en-US" dirty="0"/>
              <a:t>    print("x is greater than 5")</a:t>
            </a:r>
          </a:p>
          <a:p>
            <a:pPr>
              <a:buNone/>
            </a:pPr>
            <a:endParaRPr lang="en-US" u="sng" dirty="0"/>
          </a:p>
          <a:p>
            <a:r>
              <a:rPr lang="en-US" u="sng" dirty="0"/>
              <a:t>✅ </a:t>
            </a:r>
            <a:r>
              <a:rPr lang="en-US" b="1" u="sng" dirty="0"/>
              <a:t>Output: x is greater than 5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074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5508-016C-AEBA-984F-0A5FBFB00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675ED-A214-6F38-F64F-ED8D6F802F11}"/>
              </a:ext>
            </a:extLst>
          </p:cNvPr>
          <p:cNvSpPr txBox="1"/>
          <p:nvPr/>
        </p:nvSpPr>
        <p:spPr>
          <a:xfrm>
            <a:off x="874642" y="197346"/>
            <a:ext cx="842838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if…else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condition is </a:t>
            </a:r>
            <a:r>
              <a:rPr lang="en-US" b="1" dirty="0"/>
              <a:t>True</a:t>
            </a:r>
            <a:r>
              <a:rPr lang="en-US" dirty="0"/>
              <a:t> → </a:t>
            </a:r>
            <a:r>
              <a:rPr lang="en-US" dirty="0">
                <a:latin typeface="Courier New" panose="02070309020205020404" pitchFamily="49" charset="0"/>
              </a:rPr>
              <a:t>if</a:t>
            </a:r>
            <a:r>
              <a:rPr lang="en-US" dirty="0"/>
              <a:t> block runs.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condition is </a:t>
            </a:r>
            <a:r>
              <a:rPr lang="en-US" b="1" dirty="0"/>
              <a:t>False</a:t>
            </a:r>
            <a:r>
              <a:rPr lang="en-US" dirty="0"/>
              <a:t> → </a:t>
            </a:r>
            <a:r>
              <a:rPr lang="en-US" dirty="0">
                <a:latin typeface="Courier New" panose="02070309020205020404" pitchFamily="49" charset="0"/>
              </a:rPr>
              <a:t>else</a:t>
            </a:r>
            <a:r>
              <a:rPr lang="en-US" dirty="0"/>
              <a:t> block runs.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Syntax: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if condition:</a:t>
            </a:r>
          </a:p>
          <a:p>
            <a:pPr>
              <a:buNone/>
            </a:pPr>
            <a:r>
              <a:rPr lang="en-US" dirty="0"/>
              <a:t>    statement(s)</a:t>
            </a:r>
          </a:p>
          <a:p>
            <a:pPr>
              <a:buNone/>
            </a:pPr>
            <a:r>
              <a:rPr lang="en-US" dirty="0"/>
              <a:t>else:</a:t>
            </a:r>
          </a:p>
          <a:p>
            <a:pPr>
              <a:buNone/>
            </a:pPr>
            <a:r>
              <a:rPr lang="en-US" dirty="0"/>
              <a:t>    statement(s)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Example:</a:t>
            </a:r>
            <a:endParaRPr lang="en-IN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x = 3</a:t>
            </a:r>
          </a:p>
          <a:p>
            <a:pPr>
              <a:buNone/>
            </a:pPr>
            <a:r>
              <a:rPr lang="en-US" dirty="0"/>
              <a:t>if x % 2 == 0:</a:t>
            </a:r>
          </a:p>
          <a:p>
            <a:pPr>
              <a:buNone/>
            </a:pPr>
            <a:r>
              <a:rPr lang="en-US" dirty="0"/>
              <a:t>    print("Even number")</a:t>
            </a:r>
          </a:p>
          <a:p>
            <a:pPr>
              <a:buNone/>
            </a:pPr>
            <a:r>
              <a:rPr lang="en-US" dirty="0"/>
              <a:t>else:</a:t>
            </a:r>
          </a:p>
          <a:p>
            <a:pPr>
              <a:buNone/>
            </a:pPr>
            <a:r>
              <a:rPr lang="en-US" dirty="0"/>
              <a:t>    print("Odd number")</a:t>
            </a:r>
          </a:p>
          <a:p>
            <a:pPr>
              <a:buNone/>
            </a:pPr>
            <a:endParaRPr lang="en-US" dirty="0"/>
          </a:p>
          <a:p>
            <a:r>
              <a:rPr lang="en-IN" b="1" u="sng" dirty="0"/>
              <a:t>✅ Output: Odd number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916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6A6A1-4E14-2C05-3E58-AC7FEE9B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7E33AE-7A00-DFED-208F-B83EB907BEB6}"/>
              </a:ext>
            </a:extLst>
          </p:cNvPr>
          <p:cNvSpPr txBox="1"/>
          <p:nvPr/>
        </p:nvSpPr>
        <p:spPr>
          <a:xfrm>
            <a:off x="775252" y="0"/>
            <a:ext cx="899491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if…elif…else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when there are </a:t>
            </a:r>
            <a:r>
              <a:rPr lang="en-US" b="1" dirty="0"/>
              <a:t>multiple conditions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one block is executed (the first condition that is True).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Syntax: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if condition1:</a:t>
            </a:r>
          </a:p>
          <a:p>
            <a:pPr>
              <a:buNone/>
            </a:pPr>
            <a:r>
              <a:rPr lang="en-US" dirty="0"/>
              <a:t>    statement(s)</a:t>
            </a:r>
          </a:p>
          <a:p>
            <a:pPr>
              <a:buNone/>
            </a:pPr>
            <a:r>
              <a:rPr lang="en-US" dirty="0"/>
              <a:t>elif condition2:</a:t>
            </a:r>
          </a:p>
          <a:p>
            <a:pPr>
              <a:buNone/>
            </a:pPr>
            <a:r>
              <a:rPr lang="en-US" dirty="0"/>
              <a:t>    statement(s)</a:t>
            </a:r>
          </a:p>
          <a:p>
            <a:pPr>
              <a:buNone/>
            </a:pPr>
            <a:r>
              <a:rPr lang="en-US" dirty="0"/>
              <a:t>elif condition3:</a:t>
            </a:r>
          </a:p>
          <a:p>
            <a:pPr>
              <a:buNone/>
            </a:pPr>
            <a:r>
              <a:rPr lang="en-US" dirty="0"/>
              <a:t>    statement(s)</a:t>
            </a:r>
          </a:p>
          <a:p>
            <a:pPr>
              <a:buNone/>
            </a:pPr>
            <a:r>
              <a:rPr lang="en-US" dirty="0"/>
              <a:t>else:</a:t>
            </a:r>
          </a:p>
          <a:p>
            <a:pPr>
              <a:buNone/>
            </a:pPr>
            <a:r>
              <a:rPr lang="en-US" dirty="0"/>
              <a:t>    statement(s)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Example: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marks = 75</a:t>
            </a:r>
          </a:p>
          <a:p>
            <a:pPr>
              <a:buNone/>
            </a:pPr>
            <a:r>
              <a:rPr lang="en-US" dirty="0"/>
              <a:t>if marks &gt;= 90:</a:t>
            </a:r>
          </a:p>
          <a:p>
            <a:pPr>
              <a:buNone/>
            </a:pPr>
            <a:r>
              <a:rPr lang="en-US" dirty="0"/>
              <a:t>    print("Grade A")</a:t>
            </a:r>
          </a:p>
          <a:p>
            <a:pPr>
              <a:buNone/>
            </a:pPr>
            <a:r>
              <a:rPr lang="en-US" dirty="0"/>
              <a:t>elif marks &gt;= 75:</a:t>
            </a:r>
          </a:p>
          <a:p>
            <a:pPr>
              <a:buNone/>
            </a:pPr>
            <a:r>
              <a:rPr lang="en-US" dirty="0"/>
              <a:t>    print("Grade B")</a:t>
            </a:r>
          </a:p>
          <a:p>
            <a:pPr>
              <a:buNone/>
            </a:pPr>
            <a:r>
              <a:rPr lang="en-US" dirty="0"/>
              <a:t>elif marks &gt;= 50:</a:t>
            </a:r>
          </a:p>
          <a:p>
            <a:pPr>
              <a:buNone/>
            </a:pPr>
            <a:r>
              <a:rPr lang="en-US" dirty="0"/>
              <a:t>    print("Grade C")</a:t>
            </a:r>
          </a:p>
        </p:txBody>
      </p:sp>
    </p:spTree>
    <p:extLst>
      <p:ext uri="{BB962C8B-B14F-4D97-AF65-F5344CB8AC3E}">
        <p14:creationId xmlns:p14="http://schemas.microsoft.com/office/powerpoint/2010/main" val="251872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4B6E5-A93F-A941-93D7-7714143C4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24C939-42CC-32D0-C6FA-9F35BE40E70E}"/>
              </a:ext>
            </a:extLst>
          </p:cNvPr>
          <p:cNvSpPr txBox="1"/>
          <p:nvPr/>
        </p:nvSpPr>
        <p:spPr>
          <a:xfrm>
            <a:off x="944217" y="233426"/>
            <a:ext cx="83488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else:</a:t>
            </a:r>
          </a:p>
          <a:p>
            <a:r>
              <a:rPr lang="en-US" dirty="0"/>
              <a:t>    print("Fail")                  </a:t>
            </a:r>
          </a:p>
          <a:p>
            <a:endParaRPr lang="en-US" b="1" u="sng" dirty="0"/>
          </a:p>
          <a:p>
            <a:r>
              <a:rPr lang="en-IN" b="1" u="sng" dirty="0"/>
              <a:t>✅ Output: Grade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033488-9577-DFAD-3E36-6CD713F5B914}"/>
              </a:ext>
            </a:extLst>
          </p:cNvPr>
          <p:cNvSpPr txBox="1"/>
          <p:nvPr/>
        </p:nvSpPr>
        <p:spPr>
          <a:xfrm>
            <a:off x="944217" y="1675897"/>
            <a:ext cx="86470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Nested if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if statement inside another if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checking multiple levels of conditions.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Syntax: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if condition1:</a:t>
            </a:r>
          </a:p>
          <a:p>
            <a:pPr>
              <a:buNone/>
            </a:pPr>
            <a:r>
              <a:rPr lang="en-US" dirty="0"/>
              <a:t>    if condition2:</a:t>
            </a:r>
          </a:p>
          <a:p>
            <a:pPr>
              <a:buNone/>
            </a:pPr>
            <a:r>
              <a:rPr lang="en-US" dirty="0"/>
              <a:t>        statement(s)</a:t>
            </a:r>
          </a:p>
          <a:p>
            <a:pPr>
              <a:buNone/>
            </a:pPr>
            <a:r>
              <a:rPr lang="en-US" dirty="0"/>
              <a:t>    else:</a:t>
            </a:r>
          </a:p>
          <a:p>
            <a:pPr>
              <a:buNone/>
            </a:pPr>
            <a:r>
              <a:rPr lang="en-US" dirty="0"/>
              <a:t>        statement(s)</a:t>
            </a:r>
          </a:p>
          <a:p>
            <a:pPr>
              <a:buNone/>
            </a:pPr>
            <a:r>
              <a:rPr lang="en-US" dirty="0"/>
              <a:t>else:</a:t>
            </a:r>
          </a:p>
          <a:p>
            <a:pPr>
              <a:buNone/>
            </a:pPr>
            <a:r>
              <a:rPr lang="en-US" dirty="0"/>
              <a:t>    statement(s)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451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2F629-4F29-039E-08AB-4E4E7ABE7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D8021D-3D98-3EB3-8E99-597912CB3B0F}"/>
              </a:ext>
            </a:extLst>
          </p:cNvPr>
          <p:cNvSpPr txBox="1"/>
          <p:nvPr/>
        </p:nvSpPr>
        <p:spPr>
          <a:xfrm>
            <a:off x="874644" y="202960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2EF5E-5C4E-E5F9-5165-2E0E9051F9EF}"/>
              </a:ext>
            </a:extLst>
          </p:cNvPr>
          <p:cNvSpPr txBox="1"/>
          <p:nvPr/>
        </p:nvSpPr>
        <p:spPr>
          <a:xfrm>
            <a:off x="874644" y="644820"/>
            <a:ext cx="85675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x = 15</a:t>
            </a:r>
          </a:p>
          <a:p>
            <a:r>
              <a:rPr lang="en-IN" dirty="0"/>
              <a:t>if x &gt; 0:</a:t>
            </a:r>
          </a:p>
          <a:p>
            <a:r>
              <a:rPr lang="en-IN" dirty="0"/>
              <a:t>    if x % 2 == 0:</a:t>
            </a:r>
          </a:p>
          <a:p>
            <a:r>
              <a:rPr lang="en-IN" dirty="0"/>
              <a:t>        print("Positive Even")</a:t>
            </a:r>
          </a:p>
          <a:p>
            <a:r>
              <a:rPr lang="en-IN" dirty="0"/>
              <a:t>    else:</a:t>
            </a:r>
          </a:p>
          <a:p>
            <a:r>
              <a:rPr lang="en-IN" dirty="0"/>
              <a:t>        print("Positive Odd")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  print("Negative number")</a:t>
            </a:r>
          </a:p>
          <a:p>
            <a:endParaRPr lang="en-IN" b="1" dirty="0"/>
          </a:p>
          <a:p>
            <a:r>
              <a:rPr lang="en-IN" b="1" u="sng" dirty="0"/>
              <a:t>✅ Output: Positive Odd</a:t>
            </a:r>
          </a:p>
        </p:txBody>
      </p:sp>
    </p:spTree>
    <p:extLst>
      <p:ext uri="{BB962C8B-B14F-4D97-AF65-F5344CB8AC3E}">
        <p14:creationId xmlns:p14="http://schemas.microsoft.com/office/powerpoint/2010/main" val="2682678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F03E7-7489-A4F2-126A-4BD4FC318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766F65-9F45-6B87-F8C9-640B0A3F914A}"/>
              </a:ext>
            </a:extLst>
          </p:cNvPr>
          <p:cNvSpPr txBox="1"/>
          <p:nvPr/>
        </p:nvSpPr>
        <p:spPr>
          <a:xfrm>
            <a:off x="934281" y="669525"/>
            <a:ext cx="84581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Looping Statements in Python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Looping is used when we want to </a:t>
            </a:r>
            <a:r>
              <a:rPr lang="en-US" b="1" dirty="0"/>
              <a:t>repeat a block of code multiple times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Python provides mainly two types of loops: </a:t>
            </a:r>
            <a:r>
              <a:rPr lang="en-US" b="1" dirty="0"/>
              <a:t>for loop</a:t>
            </a:r>
            <a:r>
              <a:rPr lang="en-US" dirty="0"/>
              <a:t> and </a:t>
            </a:r>
            <a:r>
              <a:rPr lang="en-US" b="1" dirty="0"/>
              <a:t>while loop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75BCE5-921E-56A0-EEFE-1307300C5EF2}"/>
              </a:ext>
            </a:extLst>
          </p:cNvPr>
          <p:cNvSpPr txBox="1"/>
          <p:nvPr/>
        </p:nvSpPr>
        <p:spPr>
          <a:xfrm>
            <a:off x="884584" y="183081"/>
            <a:ext cx="8666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2.2 looping statement(for ,while)</a:t>
            </a:r>
            <a:endParaRPr lang="en-IN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774E6-E83E-F622-4EC9-80989FE88B88}"/>
              </a:ext>
            </a:extLst>
          </p:cNvPr>
          <p:cNvSpPr txBox="1"/>
          <p:nvPr/>
        </p:nvSpPr>
        <p:spPr>
          <a:xfrm>
            <a:off x="934281" y="1986966"/>
            <a:ext cx="874643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for loop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when we know the </a:t>
            </a:r>
            <a:r>
              <a:rPr lang="en-US" b="1" dirty="0"/>
              <a:t>number of iterations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mostly used with </a:t>
            </a:r>
            <a:r>
              <a:rPr lang="en-US" b="1" dirty="0"/>
              <a:t>sequences</a:t>
            </a:r>
            <a:r>
              <a:rPr lang="en-US" dirty="0"/>
              <a:t> like list, tuple, string, or </a:t>
            </a:r>
            <a:r>
              <a:rPr lang="en-US" dirty="0">
                <a:latin typeface="Courier New" panose="02070309020205020404" pitchFamily="49" charset="0"/>
              </a:rPr>
              <a:t>range()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Syntax: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for variable in sequence:</a:t>
            </a:r>
          </a:p>
          <a:p>
            <a:pPr>
              <a:buNone/>
            </a:pPr>
            <a:r>
              <a:rPr lang="en-US" dirty="0"/>
              <a:t>    statement(s)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Example 1 (using range):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US" dirty="0"/>
              <a:t>for i in range(5):</a:t>
            </a:r>
          </a:p>
          <a:p>
            <a:pPr>
              <a:buNone/>
            </a:pPr>
            <a:r>
              <a:rPr lang="en-US" dirty="0"/>
              <a:t>    print(i)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475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14696-FFC7-0412-1B3A-5C8AD03E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70A32F-558B-F492-AFD9-A751433C42A2}"/>
              </a:ext>
            </a:extLst>
          </p:cNvPr>
          <p:cNvSpPr txBox="1"/>
          <p:nvPr/>
        </p:nvSpPr>
        <p:spPr>
          <a:xfrm>
            <a:off x="904461" y="153264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✅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6D9F21-F6B2-501A-DFE2-6E3ED74CB1FD}"/>
              </a:ext>
            </a:extLst>
          </p:cNvPr>
          <p:cNvSpPr txBox="1"/>
          <p:nvPr/>
        </p:nvSpPr>
        <p:spPr>
          <a:xfrm>
            <a:off x="904461" y="642875"/>
            <a:ext cx="85476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0  </a:t>
            </a:r>
          </a:p>
          <a:p>
            <a:r>
              <a:rPr lang="en-IN" dirty="0"/>
              <a:t>1  </a:t>
            </a:r>
          </a:p>
          <a:p>
            <a:r>
              <a:rPr lang="en-IN" dirty="0"/>
              <a:t>2  </a:t>
            </a:r>
          </a:p>
          <a:p>
            <a:r>
              <a:rPr lang="en-IN" dirty="0"/>
              <a:t>3  </a:t>
            </a:r>
          </a:p>
          <a:p>
            <a:r>
              <a:rPr lang="en-IN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2E6E27-AE50-07B7-D28B-72F2652AEBC2}"/>
              </a:ext>
            </a:extLst>
          </p:cNvPr>
          <p:cNvSpPr txBox="1"/>
          <p:nvPr/>
        </p:nvSpPr>
        <p:spPr>
          <a:xfrm>
            <a:off x="904461" y="2240482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Example 2 (using string):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D96025-B157-161F-9471-72754AD7CA78}"/>
              </a:ext>
            </a:extLst>
          </p:cNvPr>
          <p:cNvSpPr txBox="1"/>
          <p:nvPr/>
        </p:nvSpPr>
        <p:spPr>
          <a:xfrm>
            <a:off x="904461" y="2730093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ch in "PYTHON":</a:t>
            </a:r>
          </a:p>
          <a:p>
            <a:r>
              <a:rPr lang="en-IN" dirty="0"/>
              <a:t>    print(ch)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A76E6-7E83-6C14-7F22-30BB167D18AB}"/>
              </a:ext>
            </a:extLst>
          </p:cNvPr>
          <p:cNvSpPr txBox="1"/>
          <p:nvPr/>
        </p:nvSpPr>
        <p:spPr>
          <a:xfrm>
            <a:off x="904461" y="3481577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u="sng" dirty="0"/>
              <a:t>✅ Output: P Y T H O 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537881-5E9F-CBAF-42CD-67B347BACE1C}"/>
              </a:ext>
            </a:extLst>
          </p:cNvPr>
          <p:cNvSpPr txBox="1"/>
          <p:nvPr/>
        </p:nvSpPr>
        <p:spPr>
          <a:xfrm>
            <a:off x="521804" y="4138857"/>
            <a:ext cx="93129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while loop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when we do </a:t>
            </a:r>
            <a:r>
              <a:rPr lang="en-US" b="1" dirty="0"/>
              <a:t>not know the number of iterations in advance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Runs until the condition becomes </a:t>
            </a:r>
            <a:r>
              <a:rPr lang="en-US" b="1" dirty="0"/>
              <a:t>False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Syntax: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while condition:</a:t>
            </a:r>
          </a:p>
          <a:p>
            <a:pPr>
              <a:buNone/>
            </a:pPr>
            <a:r>
              <a:rPr lang="en-US" dirty="0"/>
              <a:t>    statement(s)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784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17FB-EF4A-804B-14FF-305C42666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8173C7-6F68-932A-3F65-4BD96537D1A9}"/>
              </a:ext>
            </a:extLst>
          </p:cNvPr>
          <p:cNvSpPr txBox="1"/>
          <p:nvPr/>
        </p:nvSpPr>
        <p:spPr>
          <a:xfrm>
            <a:off x="815008" y="143325"/>
            <a:ext cx="8468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1: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81801-51E0-AA14-565F-31684F5D2F3F}"/>
              </a:ext>
            </a:extLst>
          </p:cNvPr>
          <p:cNvSpPr txBox="1"/>
          <p:nvPr/>
        </p:nvSpPr>
        <p:spPr>
          <a:xfrm>
            <a:off x="815009" y="652167"/>
            <a:ext cx="6102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 = 1</a:t>
            </a:r>
          </a:p>
          <a:p>
            <a:r>
              <a:rPr lang="en-IN" dirty="0"/>
              <a:t>while i &lt;= 5:</a:t>
            </a:r>
          </a:p>
          <a:p>
            <a:r>
              <a:rPr lang="en-IN" dirty="0"/>
              <a:t>    print(i)</a:t>
            </a:r>
          </a:p>
          <a:p>
            <a:r>
              <a:rPr lang="en-IN" dirty="0"/>
              <a:t>    i +=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BE2EB-6B78-0922-ACDE-CF20DE6A95C1}"/>
              </a:ext>
            </a:extLst>
          </p:cNvPr>
          <p:cNvSpPr txBox="1"/>
          <p:nvPr/>
        </p:nvSpPr>
        <p:spPr>
          <a:xfrm>
            <a:off x="815009" y="1992006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✅ Output: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643CF-CA77-8798-4712-CF3740BE6206}"/>
              </a:ext>
            </a:extLst>
          </p:cNvPr>
          <p:cNvSpPr txBox="1"/>
          <p:nvPr/>
        </p:nvSpPr>
        <p:spPr>
          <a:xfrm>
            <a:off x="815008" y="2500848"/>
            <a:ext cx="61026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  </a:t>
            </a:r>
          </a:p>
          <a:p>
            <a:r>
              <a:rPr lang="en-IN" dirty="0"/>
              <a:t>2  </a:t>
            </a:r>
          </a:p>
          <a:p>
            <a:r>
              <a:rPr lang="en-IN" dirty="0"/>
              <a:t>3  </a:t>
            </a:r>
          </a:p>
          <a:p>
            <a:r>
              <a:rPr lang="en-IN" dirty="0"/>
              <a:t>4  </a:t>
            </a:r>
          </a:p>
          <a:p>
            <a:r>
              <a:rPr lang="en-IN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44FA0-3D6B-C853-B8D0-3B7AA5696633}"/>
              </a:ext>
            </a:extLst>
          </p:cNvPr>
          <p:cNvSpPr txBox="1"/>
          <p:nvPr/>
        </p:nvSpPr>
        <p:spPr>
          <a:xfrm>
            <a:off x="655983" y="3920195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2 (infinite loop – be careful):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7042FC-BABC-AD68-019E-3E15D7A768E1}"/>
              </a:ext>
            </a:extLst>
          </p:cNvPr>
          <p:cNvSpPr txBox="1"/>
          <p:nvPr/>
        </p:nvSpPr>
        <p:spPr>
          <a:xfrm>
            <a:off x="655983" y="4496663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while True:</a:t>
            </a:r>
          </a:p>
          <a:p>
            <a:r>
              <a:rPr lang="en-IN" dirty="0"/>
              <a:t>    print("This runs forever")</a:t>
            </a:r>
          </a:p>
        </p:txBody>
      </p:sp>
    </p:spTree>
    <p:extLst>
      <p:ext uri="{BB962C8B-B14F-4D97-AF65-F5344CB8AC3E}">
        <p14:creationId xmlns:p14="http://schemas.microsoft.com/office/powerpoint/2010/main" val="594153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197F2-DC59-AB5F-6428-73E6CD1E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F5FD46-88AA-8CD0-BD21-FB83AA307DAC}"/>
              </a:ext>
            </a:extLst>
          </p:cNvPr>
          <p:cNvSpPr txBox="1"/>
          <p:nvPr/>
        </p:nvSpPr>
        <p:spPr>
          <a:xfrm>
            <a:off x="854436" y="154453"/>
            <a:ext cx="84482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Loop Control Statements</a:t>
            </a:r>
          </a:p>
          <a:p>
            <a:pPr>
              <a:buNone/>
            </a:pPr>
            <a:r>
              <a:rPr lang="en-US" dirty="0"/>
              <a:t>Sometimes we need to </a:t>
            </a:r>
            <a:r>
              <a:rPr lang="en-US" b="1" dirty="0"/>
              <a:t>control the flow of loops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break</a:t>
            </a:r>
            <a:r>
              <a:rPr lang="en-US" dirty="0"/>
              <a:t> → exits the loop immediately.</a:t>
            </a:r>
          </a:p>
          <a:p>
            <a:endParaRPr lang="en-US" dirty="0"/>
          </a:p>
          <a:p>
            <a:r>
              <a:rPr lang="en-US" dirty="0"/>
              <a:t>for i in range(1, 6):</a:t>
            </a:r>
          </a:p>
          <a:p>
            <a:r>
              <a:rPr lang="en-US" dirty="0"/>
              <a:t>    if i == 3: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    print(i)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3ED04B4C-4F79-6B08-406F-0B3B3A5ED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302" y="2602581"/>
            <a:ext cx="18582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Output: 1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953E3-C086-6909-B98B-8396F4343112}"/>
              </a:ext>
            </a:extLst>
          </p:cNvPr>
          <p:cNvSpPr txBox="1"/>
          <p:nvPr/>
        </p:nvSpPr>
        <p:spPr>
          <a:xfrm>
            <a:off x="587115" y="3204050"/>
            <a:ext cx="9123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continue</a:t>
            </a:r>
            <a:r>
              <a:rPr lang="en-US" dirty="0"/>
              <a:t> → skips the current iteration and moves to next.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598734-0D59-5A87-AAD8-FB92E43A69C4}"/>
              </a:ext>
            </a:extLst>
          </p:cNvPr>
          <p:cNvSpPr txBox="1"/>
          <p:nvPr/>
        </p:nvSpPr>
        <p:spPr>
          <a:xfrm>
            <a:off x="587115" y="3714490"/>
            <a:ext cx="6104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i in range(1, 6):</a:t>
            </a:r>
          </a:p>
          <a:p>
            <a:r>
              <a:rPr lang="en-IN" dirty="0"/>
              <a:t>    if i == 3:</a:t>
            </a:r>
          </a:p>
          <a:p>
            <a:r>
              <a:rPr lang="en-IN" dirty="0"/>
              <a:t>        continue</a:t>
            </a:r>
          </a:p>
          <a:p>
            <a:r>
              <a:rPr lang="en-IN" dirty="0"/>
              <a:t>    print(i)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EA289F2E-75CE-E0E0-5698-7A4700B3B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114" y="5123041"/>
            <a:ext cx="86272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Output: 1 2 4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3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8E8E7-90B7-473A-F707-2E1669E06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6C4134-0CEF-99EF-DAA5-551C1304D12C}"/>
              </a:ext>
            </a:extLst>
          </p:cNvPr>
          <p:cNvSpPr txBox="1"/>
          <p:nvPr/>
        </p:nvSpPr>
        <p:spPr>
          <a:xfrm>
            <a:off x="901839" y="182099"/>
            <a:ext cx="8392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pass</a:t>
            </a:r>
            <a:r>
              <a:rPr lang="en-US" dirty="0"/>
              <a:t> → does nothing (used as placeholder).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9F06DB-24DF-A360-4FDC-8681B3DD60CB}"/>
              </a:ext>
            </a:extLst>
          </p:cNvPr>
          <p:cNvSpPr txBox="1"/>
          <p:nvPr/>
        </p:nvSpPr>
        <p:spPr>
          <a:xfrm>
            <a:off x="901839" y="797226"/>
            <a:ext cx="6104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i in range(3):</a:t>
            </a:r>
          </a:p>
          <a:p>
            <a:r>
              <a:rPr lang="en-IN" dirty="0"/>
              <a:t>    pass   # to be implemented later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ABBA6-8F98-2919-1901-9B0E10E7801B}"/>
              </a:ext>
            </a:extLst>
          </p:cNvPr>
          <p:cNvSpPr txBox="1"/>
          <p:nvPr/>
        </p:nvSpPr>
        <p:spPr>
          <a:xfrm>
            <a:off x="901838" y="1689352"/>
            <a:ext cx="86340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🔹 </a:t>
            </a:r>
            <a:r>
              <a:rPr lang="en-US" b="1" dirty="0"/>
              <a:t>Summary for Students: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for loop</a:t>
            </a:r>
            <a:r>
              <a:rPr lang="en-US" b="1" dirty="0"/>
              <a:t>           </a:t>
            </a:r>
            <a:r>
              <a:rPr lang="en-US" dirty="0"/>
              <a:t>→ use when number of iterations is </a:t>
            </a:r>
            <a:r>
              <a:rPr lang="en-US" b="1" dirty="0"/>
              <a:t>known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while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loop</a:t>
            </a:r>
            <a:r>
              <a:rPr lang="en-US" dirty="0"/>
              <a:t>       → use when number of iterations is </a:t>
            </a:r>
            <a:r>
              <a:rPr lang="en-US" b="1" dirty="0"/>
              <a:t>unknown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break</a:t>
            </a:r>
            <a:r>
              <a:rPr lang="en-US" dirty="0"/>
              <a:t>                 → stops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continue</a:t>
            </a:r>
            <a:r>
              <a:rPr lang="en-US" dirty="0"/>
              <a:t>           → skip one step.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pass</a:t>
            </a:r>
            <a:r>
              <a:rPr lang="en-US" dirty="0"/>
              <a:t>                   → placeholder (no action).</a:t>
            </a:r>
          </a:p>
        </p:txBody>
      </p:sp>
    </p:spTree>
    <p:extLst>
      <p:ext uri="{BB962C8B-B14F-4D97-AF65-F5344CB8AC3E}">
        <p14:creationId xmlns:p14="http://schemas.microsoft.com/office/powerpoint/2010/main" val="812610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1015-7531-9E86-A0AE-3B5E5FB58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D8E33A-FA8A-7F28-A62E-55E54E2B5247}"/>
              </a:ext>
            </a:extLst>
          </p:cNvPr>
          <p:cNvSpPr txBox="1"/>
          <p:nvPr/>
        </p:nvSpPr>
        <p:spPr>
          <a:xfrm>
            <a:off x="844826" y="203609"/>
            <a:ext cx="827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2.3 Loop Manipulation using continue, break, pass statements </a:t>
            </a:r>
            <a:endParaRPr lang="en-IN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BB6CF-E542-BB60-A11A-BB183AB08EB5}"/>
              </a:ext>
            </a:extLst>
          </p:cNvPr>
          <p:cNvSpPr txBox="1"/>
          <p:nvPr/>
        </p:nvSpPr>
        <p:spPr>
          <a:xfrm>
            <a:off x="844826" y="833628"/>
            <a:ext cx="83687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Loop Manipulation in Python</a:t>
            </a:r>
          </a:p>
          <a:p>
            <a:pPr>
              <a:buNone/>
            </a:pPr>
            <a:r>
              <a:rPr lang="en-US" dirty="0"/>
              <a:t>In Python, we can control how loops work using </a:t>
            </a:r>
            <a:r>
              <a:rPr lang="en-US" b="1" dirty="0"/>
              <a:t>special statements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👉 </a:t>
            </a:r>
            <a:r>
              <a:rPr lang="en-US" dirty="0">
                <a:latin typeface="Courier New" panose="02070309020205020404" pitchFamily="49" charset="0"/>
              </a:rPr>
              <a:t>break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continue</a:t>
            </a:r>
            <a:r>
              <a:rPr lang="en-US" dirty="0"/>
              <a:t>, and </a:t>
            </a:r>
            <a:r>
              <a:rPr lang="en-US" dirty="0">
                <a:latin typeface="Courier New" panose="02070309020205020404" pitchFamily="49" charset="0"/>
              </a:rPr>
              <a:t>pass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9D8FBA-C157-3AC6-8483-B2C0D99A683A}"/>
              </a:ext>
            </a:extLst>
          </p:cNvPr>
          <p:cNvSpPr txBox="1"/>
          <p:nvPr/>
        </p:nvSpPr>
        <p:spPr>
          <a:xfrm>
            <a:off x="844826" y="2017645"/>
            <a:ext cx="852777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break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Exits the loop immediately</a:t>
            </a:r>
            <a:r>
              <a:rPr lang="en-US" dirty="0"/>
              <a:t>, even if the condition is still True.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 goes to the first statement </a:t>
            </a:r>
            <a:r>
              <a:rPr lang="en-US" b="1" dirty="0"/>
              <a:t>after the loop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Syntax: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for/while loop:</a:t>
            </a:r>
          </a:p>
          <a:p>
            <a:pPr>
              <a:buNone/>
            </a:pPr>
            <a:r>
              <a:rPr lang="en-US" dirty="0"/>
              <a:t>    if condition:</a:t>
            </a:r>
          </a:p>
          <a:p>
            <a:pPr>
              <a:buNone/>
            </a:pPr>
            <a:r>
              <a:rPr lang="en-US" dirty="0"/>
              <a:t>        break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Example:</a:t>
            </a:r>
          </a:p>
          <a:p>
            <a:endParaRPr lang="en-IN" b="1" dirty="0"/>
          </a:p>
          <a:p>
            <a:r>
              <a:rPr lang="en-US" dirty="0"/>
              <a:t>for i in range(1, 6):</a:t>
            </a:r>
          </a:p>
          <a:p>
            <a:r>
              <a:rPr lang="en-US" dirty="0"/>
              <a:t>    if i == 3: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    print(i)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0711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855</Words>
  <Application>Microsoft Office PowerPoint</Application>
  <PresentationFormat>Widescreen</PresentationFormat>
  <Paragraphs>188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Facet</vt:lpstr>
      <vt:lpstr>Decision Making and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2</cp:revision>
  <dcterms:created xsi:type="dcterms:W3CDTF">2025-10-03T12:50:21Z</dcterms:created>
  <dcterms:modified xsi:type="dcterms:W3CDTF">2025-10-03T14:30:05Z</dcterms:modified>
</cp:coreProperties>
</file>