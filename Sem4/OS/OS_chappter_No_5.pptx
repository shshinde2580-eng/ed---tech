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7" autoAdjust="0"/>
    <p:restoredTop sz="94660"/>
  </p:normalViewPr>
  <p:slideViewPr>
    <p:cSldViewPr snapToGrid="0">
      <p:cViewPr varScale="1">
        <p:scale>
          <a:sx n="71" d="100"/>
          <a:sy n="71" d="100"/>
        </p:scale>
        <p:origin x="58"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250391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1011806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1552497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234713-600C-45CD-8E44-84C48A1F4BAF}"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3552106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234713-600C-45CD-8E44-84C48A1F4BAF}" type="datetimeFigureOut">
              <a:rPr lang="en-IN" smtClean="0"/>
              <a:t>30-09-2025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3069017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234713-600C-45CD-8E44-84C48A1F4BAF}" type="datetimeFigureOut">
              <a:rPr lang="en-IN" smtClean="0"/>
              <a:t>30-09-2025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1943491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234713-600C-45CD-8E44-84C48A1F4BAF}" type="datetimeFigureOut">
              <a:rPr lang="en-IN" smtClean="0"/>
              <a:t>30-09-2025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490844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234713-600C-45CD-8E44-84C48A1F4BAF}"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862744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234713-600C-45CD-8E44-84C48A1F4BAF}" type="datetimeFigureOut">
              <a:rPr lang="en-IN" smtClean="0"/>
              <a:t>30-09-2025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26677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3454094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15359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97506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9724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1639338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687888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234713-600C-45CD-8E44-84C48A1F4BAF}" type="datetimeFigureOut">
              <a:rPr lang="en-IN" smtClean="0"/>
              <a:t>30-09-2025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583CE7-4E45-4AC6-8C28-926DB9305B76}" type="slidenum">
              <a:rPr lang="en-IN" smtClean="0"/>
              <a:t>‹#›</a:t>
            </a:fld>
            <a:endParaRPr lang="en-IN"/>
          </a:p>
        </p:txBody>
      </p:sp>
    </p:spTree>
    <p:extLst>
      <p:ext uri="{BB962C8B-B14F-4D97-AF65-F5344CB8AC3E}">
        <p14:creationId xmlns:p14="http://schemas.microsoft.com/office/powerpoint/2010/main" val="1741665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B234713-600C-45CD-8E44-84C48A1F4BAF}" type="datetimeFigureOut">
              <a:rPr lang="en-IN" smtClean="0"/>
              <a:t>30-09-2025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583CE7-4E45-4AC6-8C28-926DB9305B76}" type="slidenum">
              <a:rPr lang="en-IN" smtClean="0"/>
              <a:t>‹#›</a:t>
            </a:fld>
            <a:endParaRPr lang="en-IN"/>
          </a:p>
        </p:txBody>
      </p:sp>
    </p:spTree>
    <p:extLst>
      <p:ext uri="{BB962C8B-B14F-4D97-AF65-F5344CB8AC3E}">
        <p14:creationId xmlns:p14="http://schemas.microsoft.com/office/powerpoint/2010/main" val="40020048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DD23-4859-49B5-7CE2-2A5710ACA8F7}"/>
              </a:ext>
            </a:extLst>
          </p:cNvPr>
          <p:cNvSpPr>
            <a:spLocks noGrp="1"/>
          </p:cNvSpPr>
          <p:nvPr>
            <p:ph type="ctrTitle"/>
          </p:nvPr>
        </p:nvSpPr>
        <p:spPr>
          <a:xfrm>
            <a:off x="602673" y="2238279"/>
            <a:ext cx="9133609" cy="2167465"/>
          </a:xfrm>
        </p:spPr>
        <p:txBody>
          <a:bodyPr/>
          <a:lstStyle/>
          <a:p>
            <a:r>
              <a:rPr lang="en-IN" dirty="0"/>
              <a:t>5. Memory Management </a:t>
            </a:r>
          </a:p>
        </p:txBody>
      </p:sp>
    </p:spTree>
    <p:extLst>
      <p:ext uri="{BB962C8B-B14F-4D97-AF65-F5344CB8AC3E}">
        <p14:creationId xmlns:p14="http://schemas.microsoft.com/office/powerpoint/2010/main" val="174198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396E129-EB24-FBAF-10FE-65B91ED53257}"/>
              </a:ext>
            </a:extLst>
          </p:cNvPr>
          <p:cNvSpPr txBox="1"/>
          <p:nvPr/>
        </p:nvSpPr>
        <p:spPr>
          <a:xfrm>
            <a:off x="984539" y="99859"/>
            <a:ext cx="7962034" cy="3139321"/>
          </a:xfrm>
          <a:prstGeom prst="rect">
            <a:avLst/>
          </a:prstGeom>
          <a:noFill/>
        </p:spPr>
        <p:txBody>
          <a:bodyPr wrap="square">
            <a:spAutoFit/>
          </a:bodyPr>
          <a:lstStyle/>
          <a:p>
            <a:r>
              <a:rPr lang="en-US" b="1" u="sng" dirty="0"/>
              <a:t>5.1 MEMORY MANAGEMENT :-</a:t>
            </a:r>
          </a:p>
          <a:p>
            <a:r>
              <a:rPr lang="en-US" b="1" u="sng" dirty="0"/>
              <a:t> </a:t>
            </a:r>
          </a:p>
          <a:p>
            <a:r>
              <a:rPr lang="en-US" dirty="0"/>
              <a:t>1.Background- Basic Memory Hardware, Address Binding. logical and Physical Address space, swapping </a:t>
            </a:r>
          </a:p>
          <a:p>
            <a:endParaRPr lang="en-US" dirty="0"/>
          </a:p>
          <a:p>
            <a:r>
              <a:rPr lang="en-US" dirty="0"/>
              <a:t>2. Memory management is the functionality of an operating system which handles or manages primary memory and moves processes back and forth between main memory and disk during execution.</a:t>
            </a:r>
          </a:p>
          <a:p>
            <a:endParaRPr lang="en-US" dirty="0"/>
          </a:p>
          <a:p>
            <a:r>
              <a:rPr lang="en-US" dirty="0"/>
              <a:t>3. memory Memory location, management regardless keeps of either it is allocated track of each and every to some process or it is free </a:t>
            </a:r>
            <a:endParaRPr lang="en-IN" dirty="0"/>
          </a:p>
        </p:txBody>
      </p:sp>
      <p:sp>
        <p:nvSpPr>
          <p:cNvPr id="9" name="TextBox 8">
            <a:extLst>
              <a:ext uri="{FF2B5EF4-FFF2-40B4-BE49-F238E27FC236}">
                <a16:creationId xmlns:a16="http://schemas.microsoft.com/office/drawing/2014/main" id="{EF3B4789-383A-B307-1E04-ADC1ACE460CE}"/>
              </a:ext>
            </a:extLst>
          </p:cNvPr>
          <p:cNvSpPr txBox="1"/>
          <p:nvPr/>
        </p:nvSpPr>
        <p:spPr>
          <a:xfrm>
            <a:off x="984539" y="3343089"/>
            <a:ext cx="8668616" cy="3139321"/>
          </a:xfrm>
          <a:prstGeom prst="rect">
            <a:avLst/>
          </a:prstGeom>
          <a:noFill/>
        </p:spPr>
        <p:txBody>
          <a:bodyPr wrap="square">
            <a:spAutoFit/>
          </a:bodyPr>
          <a:lstStyle/>
          <a:p>
            <a:pPr marL="342900" indent="-342900">
              <a:buFont typeface="+mj-lt"/>
              <a:buAutoNum type="arabicPeriod"/>
            </a:pPr>
            <a:r>
              <a:rPr lang="en-US" b="1" u="sng" dirty="0"/>
              <a:t>Basic Memory Hardware:-</a:t>
            </a:r>
          </a:p>
          <a:p>
            <a:pPr marL="342900" indent="-342900">
              <a:buFont typeface="+mj-lt"/>
              <a:buAutoNum type="arabicPeriod"/>
            </a:pPr>
            <a:endParaRPr lang="en-US" b="1" u="sng" dirty="0"/>
          </a:p>
          <a:p>
            <a:r>
              <a:rPr lang="en-US" dirty="0"/>
              <a:t> 1.In operating system, hardware memory hardware typically includes RAM Random Access Memory) and secondary storage devices like hard drives er 15 SSDS </a:t>
            </a:r>
          </a:p>
          <a:p>
            <a:endParaRPr lang="en-US" dirty="0"/>
          </a:p>
          <a:p>
            <a:r>
              <a:rPr lang="en-US" dirty="0"/>
              <a:t>2. RAM is volatile memory used for actively running programs and storing data temporarily , while secondary storage holds data persistently even when the system is powered off </a:t>
            </a:r>
          </a:p>
          <a:p>
            <a:pPr marL="342900" indent="-342900">
              <a:buFont typeface="+mj-lt"/>
              <a:buAutoNum type="arabicPeriod"/>
            </a:pPr>
            <a:endParaRPr lang="en-US" dirty="0"/>
          </a:p>
          <a:p>
            <a:r>
              <a:rPr lang="en-US" dirty="0"/>
              <a:t>3. The operating system manages memory allocation ensuring efficient we of resources and facilitate Ing communication between hardware and software</a:t>
            </a:r>
            <a:endParaRPr lang="en-IN" dirty="0"/>
          </a:p>
        </p:txBody>
      </p:sp>
    </p:spTree>
    <p:extLst>
      <p:ext uri="{BB962C8B-B14F-4D97-AF65-F5344CB8AC3E}">
        <p14:creationId xmlns:p14="http://schemas.microsoft.com/office/powerpoint/2010/main" val="1168551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5098-B6DB-BCA7-878A-CE63158D075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4A0A652-7FA3-5452-5862-34748A17D00F}"/>
              </a:ext>
            </a:extLst>
          </p:cNvPr>
          <p:cNvSpPr txBox="1"/>
          <p:nvPr/>
        </p:nvSpPr>
        <p:spPr>
          <a:xfrm>
            <a:off x="716972" y="255446"/>
            <a:ext cx="8655628" cy="3416320"/>
          </a:xfrm>
          <a:prstGeom prst="rect">
            <a:avLst/>
          </a:prstGeom>
          <a:noFill/>
        </p:spPr>
        <p:txBody>
          <a:bodyPr wrap="square">
            <a:spAutoFit/>
          </a:bodyPr>
          <a:lstStyle/>
          <a:p>
            <a:r>
              <a:rPr lang="en-US" b="1" u="sng" dirty="0"/>
              <a:t>2. Adders Binding :-</a:t>
            </a:r>
            <a:r>
              <a:rPr lang="en-US" u="sng" dirty="0"/>
              <a:t> </a:t>
            </a:r>
          </a:p>
          <a:p>
            <a:endParaRPr lang="en-US" u="sng" dirty="0"/>
          </a:p>
          <a:p>
            <a:pPr marL="342900" indent="-342900">
              <a:buAutoNum type="arabicPeriod"/>
            </a:pPr>
            <a:r>
              <a:rPr lang="en-US" dirty="0"/>
              <a:t>Address an operating binding in memory management within system refers to the association physical of logical addresses I generated by the CPU) with addresses are). It ensures (locations in the memory hardware - and that a program's instructions data are correctly mapped to physical memory</a:t>
            </a:r>
          </a:p>
          <a:p>
            <a:endParaRPr lang="en-US" dirty="0"/>
          </a:p>
          <a:p>
            <a:pPr marL="285750" indent="-285750">
              <a:buFont typeface="Wingdings" panose="05000000000000000000" pitchFamily="2" charset="2"/>
              <a:buChar char="v"/>
            </a:pPr>
            <a:r>
              <a:rPr lang="en-US" b="1" u="sng" dirty="0"/>
              <a:t>Address binding techniques:- </a:t>
            </a:r>
          </a:p>
          <a:p>
            <a:pPr marL="285750" indent="-285750">
              <a:buFont typeface="Wingdings" panose="05000000000000000000" pitchFamily="2" charset="2"/>
              <a:buChar char="v"/>
            </a:pPr>
            <a:endParaRPr lang="en-US" b="1" u="sng" dirty="0"/>
          </a:p>
          <a:p>
            <a:r>
              <a:rPr lang="en-US" dirty="0"/>
              <a:t>1) compile time binding </a:t>
            </a:r>
          </a:p>
          <a:p>
            <a:r>
              <a:rPr lang="en-US" dirty="0"/>
              <a:t>2) Load time binding </a:t>
            </a:r>
          </a:p>
          <a:p>
            <a:r>
              <a:rPr lang="en-US" dirty="0"/>
              <a:t>3) Execution time binding </a:t>
            </a:r>
            <a:endParaRPr lang="en-IN" dirty="0"/>
          </a:p>
        </p:txBody>
      </p:sp>
      <p:sp>
        <p:nvSpPr>
          <p:cNvPr id="9" name="TextBox 8">
            <a:extLst>
              <a:ext uri="{FF2B5EF4-FFF2-40B4-BE49-F238E27FC236}">
                <a16:creationId xmlns:a16="http://schemas.microsoft.com/office/drawing/2014/main" id="{A9B71732-AD2E-3922-3659-C8662D4F602F}"/>
              </a:ext>
            </a:extLst>
          </p:cNvPr>
          <p:cNvSpPr txBox="1"/>
          <p:nvPr/>
        </p:nvSpPr>
        <p:spPr>
          <a:xfrm>
            <a:off x="409141" y="3902793"/>
            <a:ext cx="9271289" cy="2031325"/>
          </a:xfrm>
          <a:prstGeom prst="rect">
            <a:avLst/>
          </a:prstGeom>
          <a:noFill/>
        </p:spPr>
        <p:txBody>
          <a:bodyPr wrap="square">
            <a:spAutoFit/>
          </a:bodyPr>
          <a:lstStyle/>
          <a:p>
            <a:r>
              <a:rPr lang="en-US" b="1" u="sng" dirty="0"/>
              <a:t>3. Logical and Physical Address space:-</a:t>
            </a:r>
          </a:p>
          <a:p>
            <a:r>
              <a:rPr lang="en-US" dirty="0"/>
              <a:t> In memory management within an operating system, the concepts of logical and physical address spaces play a crucial role </a:t>
            </a:r>
          </a:p>
          <a:p>
            <a:r>
              <a:rPr lang="en-US" dirty="0"/>
              <a:t>1. Logical Address space : This is the set of all possible addresses generated by a CPU  during program execution. It represents the addresses that a program can represented reference. These address are relative to the starting address of the program and on do not directly correspond to physical locations in memory</a:t>
            </a:r>
            <a:endParaRPr lang="en-IN" dirty="0"/>
          </a:p>
        </p:txBody>
      </p:sp>
    </p:spTree>
    <p:extLst>
      <p:ext uri="{BB962C8B-B14F-4D97-AF65-F5344CB8AC3E}">
        <p14:creationId xmlns:p14="http://schemas.microsoft.com/office/powerpoint/2010/main" val="651416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A1B0-8F9E-9DA2-0645-5903D2F081B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D8F7B7-7DC0-0E04-185C-0F636CC72981}"/>
              </a:ext>
            </a:extLst>
          </p:cNvPr>
          <p:cNvSpPr txBox="1"/>
          <p:nvPr/>
        </p:nvSpPr>
        <p:spPr>
          <a:xfrm>
            <a:off x="852056" y="104693"/>
            <a:ext cx="8354290" cy="2308324"/>
          </a:xfrm>
          <a:prstGeom prst="rect">
            <a:avLst/>
          </a:prstGeom>
          <a:noFill/>
        </p:spPr>
        <p:txBody>
          <a:bodyPr wrap="square">
            <a:spAutoFit/>
          </a:bodyPr>
          <a:lstStyle/>
          <a:p>
            <a:r>
              <a:rPr lang="en-US" b="1" u="sng" dirty="0"/>
              <a:t>2. Physical Address space :- </a:t>
            </a:r>
          </a:p>
          <a:p>
            <a:endParaRPr lang="en-US" b="1" u="sng" dirty="0"/>
          </a:p>
          <a:p>
            <a:r>
              <a:rPr lang="en-US" dirty="0"/>
              <a:t>This is the actual set of memory addresses available in the physical memory hardware. Each address is the physical address space corresponds to a Anique location in the physical memory chips</a:t>
            </a:r>
          </a:p>
          <a:p>
            <a:endParaRPr lang="en-US" dirty="0"/>
          </a:p>
          <a:p>
            <a:r>
              <a:rPr lang="en-US" dirty="0"/>
              <a:t>The operating system's memory management unit (MMU) is responsible for mapping 1ogical address to physical addresses.</a:t>
            </a:r>
            <a:endParaRPr lang="en-IN" dirty="0"/>
          </a:p>
        </p:txBody>
      </p:sp>
      <p:sp>
        <p:nvSpPr>
          <p:cNvPr id="8" name="TextBox 7">
            <a:extLst>
              <a:ext uri="{FF2B5EF4-FFF2-40B4-BE49-F238E27FC236}">
                <a16:creationId xmlns:a16="http://schemas.microsoft.com/office/drawing/2014/main" id="{6D8E2FD1-9782-7A6B-770B-1535946585F7}"/>
              </a:ext>
            </a:extLst>
          </p:cNvPr>
          <p:cNvSpPr txBox="1"/>
          <p:nvPr/>
        </p:nvSpPr>
        <p:spPr>
          <a:xfrm>
            <a:off x="640341" y="2513690"/>
            <a:ext cx="8777720" cy="1477328"/>
          </a:xfrm>
          <a:prstGeom prst="rect">
            <a:avLst/>
          </a:prstGeom>
          <a:noFill/>
        </p:spPr>
        <p:txBody>
          <a:bodyPr wrap="square">
            <a:spAutoFit/>
          </a:bodyPr>
          <a:lstStyle/>
          <a:p>
            <a:r>
              <a:rPr lang="en-US" b="1" u="sng" dirty="0"/>
              <a:t>5.2 Swapping:- </a:t>
            </a:r>
          </a:p>
          <a:p>
            <a:endParaRPr lang="en-US" dirty="0"/>
          </a:p>
          <a:p>
            <a:r>
              <a:rPr lang="en-US" dirty="0"/>
              <a:t> swapping is a mechanism in which a process can be swapped temporary out of main memory (or move) to second any storage (disk) and make the memory available to other processes. </a:t>
            </a:r>
            <a:endParaRPr lang="en-IN" dirty="0"/>
          </a:p>
        </p:txBody>
      </p:sp>
      <p:pic>
        <p:nvPicPr>
          <p:cNvPr id="1028" name="Picture 4" descr="Difference Between Paging and Swapping in OS (with Comparison Chart) - Tech  Differences">
            <a:extLst>
              <a:ext uri="{FF2B5EF4-FFF2-40B4-BE49-F238E27FC236}">
                <a16:creationId xmlns:a16="http://schemas.microsoft.com/office/drawing/2014/main" id="{F4FC4C27-AE39-77F7-610C-2A6DAFDA54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373" y="3991018"/>
            <a:ext cx="6619009"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544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20FD-838F-748D-5219-DA81C2B332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28B71B-F641-42FF-82C1-710124F39C15}"/>
              </a:ext>
            </a:extLst>
          </p:cNvPr>
          <p:cNvSpPr txBox="1"/>
          <p:nvPr/>
        </p:nvSpPr>
        <p:spPr>
          <a:xfrm>
            <a:off x="831272" y="0"/>
            <a:ext cx="8499763" cy="3139321"/>
          </a:xfrm>
          <a:prstGeom prst="rect">
            <a:avLst/>
          </a:prstGeom>
          <a:noFill/>
        </p:spPr>
        <p:txBody>
          <a:bodyPr wrap="square">
            <a:spAutoFit/>
          </a:bodyPr>
          <a:lstStyle/>
          <a:p>
            <a:r>
              <a:rPr lang="en-US" b="1" u="sng" dirty="0"/>
              <a:t>5.3 contiguous Memory Allocation, Fragmentation</a:t>
            </a:r>
            <a:r>
              <a:rPr lang="en-US" dirty="0"/>
              <a:t> </a:t>
            </a:r>
          </a:p>
          <a:p>
            <a:endParaRPr lang="en-US" dirty="0"/>
          </a:p>
          <a:p>
            <a:r>
              <a:rPr lang="en-US" dirty="0"/>
              <a:t> 1. contiguous Memory allocation :-</a:t>
            </a:r>
          </a:p>
          <a:p>
            <a:endParaRPr lang="en-US" dirty="0"/>
          </a:p>
          <a:p>
            <a:pPr marL="285750" indent="-285750">
              <a:buFont typeface="Arial" panose="020B0604020202020204" pitchFamily="34" charset="0"/>
              <a:buChar char="•"/>
            </a:pPr>
            <a:r>
              <a:rPr lang="en-US" dirty="0"/>
              <a:t>contiguous Memory allocation refers to a memory management techniques in which whenever there occurs request by a user process for the memory, one of the sections of the contiguous memory block would be given to that process, in accordance with its requirement</a:t>
            </a:r>
          </a:p>
          <a:p>
            <a:endParaRPr lang="en-US" dirty="0"/>
          </a:p>
          <a:p>
            <a:pPr marL="285750" indent="-285750">
              <a:buFont typeface="Arial" panose="020B0604020202020204" pitchFamily="34" charset="0"/>
              <a:buChar char="•"/>
            </a:pPr>
            <a:r>
              <a:rPr lang="en-US" dirty="0"/>
              <a:t>contiguous memory allocation is a memory management technique where each process is allocated a contiguous block of memory</a:t>
            </a:r>
            <a:endParaRPr lang="en-IN" dirty="0"/>
          </a:p>
        </p:txBody>
      </p:sp>
      <p:pic>
        <p:nvPicPr>
          <p:cNvPr id="6" name="Picture 5">
            <a:extLst>
              <a:ext uri="{FF2B5EF4-FFF2-40B4-BE49-F238E27FC236}">
                <a16:creationId xmlns:a16="http://schemas.microsoft.com/office/drawing/2014/main" id="{327BBD7F-A71E-AE1C-1FA5-E342A19443C7}"/>
              </a:ext>
            </a:extLst>
          </p:cNvPr>
          <p:cNvPicPr>
            <a:picLocks noChangeAspect="1"/>
          </p:cNvPicPr>
          <p:nvPr/>
        </p:nvPicPr>
        <p:blipFill>
          <a:blip r:embed="rId2"/>
          <a:srcRect l="3940" t="15913" r="4654" b="2063"/>
          <a:stretch>
            <a:fillRect/>
          </a:stretch>
        </p:blipFill>
        <p:spPr>
          <a:xfrm>
            <a:off x="2047008" y="3532910"/>
            <a:ext cx="6529821" cy="2892136"/>
          </a:xfrm>
          <a:prstGeom prst="rect">
            <a:avLst/>
          </a:prstGeom>
        </p:spPr>
      </p:pic>
    </p:spTree>
    <p:extLst>
      <p:ext uri="{BB962C8B-B14F-4D97-AF65-F5344CB8AC3E}">
        <p14:creationId xmlns:p14="http://schemas.microsoft.com/office/powerpoint/2010/main" val="2816678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4A00-77E3-EFF7-11FE-72951EC88C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F15FA0-236B-2127-26F3-5F17BE424C8D}"/>
              </a:ext>
            </a:extLst>
          </p:cNvPr>
          <p:cNvSpPr txBox="1"/>
          <p:nvPr/>
        </p:nvSpPr>
        <p:spPr>
          <a:xfrm>
            <a:off x="839066" y="83127"/>
            <a:ext cx="8190633" cy="369332"/>
          </a:xfrm>
          <a:prstGeom prst="rect">
            <a:avLst/>
          </a:prstGeom>
          <a:noFill/>
        </p:spPr>
        <p:txBody>
          <a:bodyPr wrap="square">
            <a:spAutoFit/>
          </a:bodyPr>
          <a:lstStyle/>
          <a:p>
            <a:r>
              <a:rPr lang="en-US" dirty="0"/>
              <a:t>operating allocation system mech anis' uses the following memory</a:t>
            </a:r>
            <a:endParaRPr lang="en-IN" dirty="0"/>
          </a:p>
        </p:txBody>
      </p:sp>
      <p:graphicFrame>
        <p:nvGraphicFramePr>
          <p:cNvPr id="10" name="Table 9">
            <a:extLst>
              <a:ext uri="{FF2B5EF4-FFF2-40B4-BE49-F238E27FC236}">
                <a16:creationId xmlns:a16="http://schemas.microsoft.com/office/drawing/2014/main" id="{AFB7D16C-F743-19DA-EAF4-86DD94BCAE8F}"/>
              </a:ext>
            </a:extLst>
          </p:cNvPr>
          <p:cNvGraphicFramePr>
            <a:graphicFrameLocks noGrp="1"/>
          </p:cNvGraphicFramePr>
          <p:nvPr>
            <p:extLst>
              <p:ext uri="{D42A27DB-BD31-4B8C-83A1-F6EECF244321}">
                <p14:modId xmlns:p14="http://schemas.microsoft.com/office/powerpoint/2010/main" val="2165454091"/>
              </p:ext>
            </p:extLst>
          </p:nvPr>
        </p:nvGraphicFramePr>
        <p:xfrm>
          <a:off x="901699" y="657319"/>
          <a:ext cx="8128000" cy="2257129"/>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352398838"/>
                    </a:ext>
                  </a:extLst>
                </a:gridCol>
                <a:gridCol w="4064000">
                  <a:extLst>
                    <a:ext uri="{9D8B030D-6E8A-4147-A177-3AD203B41FA5}">
                      <a16:colId xmlns:a16="http://schemas.microsoft.com/office/drawing/2014/main" val="1907820484"/>
                    </a:ext>
                  </a:extLst>
                </a:gridCol>
              </a:tblGrid>
              <a:tr h="994835">
                <a:tc>
                  <a:txBody>
                    <a:bodyPr/>
                    <a:lstStyle/>
                    <a:p>
                      <a:r>
                        <a:rPr lang="en-IN" dirty="0"/>
                        <a:t>Single partition allocation</a:t>
                      </a:r>
                    </a:p>
                  </a:txBody>
                  <a:tcPr/>
                </a:tc>
                <a:tc>
                  <a:txBody>
                    <a:bodyPr/>
                    <a:lstStyle/>
                    <a:p>
                      <a:r>
                        <a:rPr lang="en-US" dirty="0"/>
                        <a:t>single partition allocation refers to a method of memory management where the entire available memory is divided into one large partition</a:t>
                      </a:r>
                      <a:endParaRPr lang="en-IN" dirty="0"/>
                    </a:p>
                  </a:txBody>
                  <a:tcPr/>
                </a:tc>
                <a:extLst>
                  <a:ext uri="{0D108BD9-81ED-4DB2-BD59-A6C34878D82A}">
                    <a16:rowId xmlns:a16="http://schemas.microsoft.com/office/drawing/2014/main" val="874121729"/>
                  </a:ext>
                </a:extLst>
              </a:tr>
              <a:tr h="1068409">
                <a:tc>
                  <a:txBody>
                    <a:bodyPr/>
                    <a:lstStyle/>
                    <a:p>
                      <a:r>
                        <a:rPr lang="en-IN" dirty="0"/>
                        <a:t>multiple partition allocation</a:t>
                      </a:r>
                    </a:p>
                  </a:txBody>
                  <a:tcPr/>
                </a:tc>
                <a:tc>
                  <a:txBody>
                    <a:bodyPr/>
                    <a:lstStyle/>
                    <a:p>
                      <a:r>
                        <a:rPr lang="en-US" dirty="0"/>
                        <a:t>Multiple partition allocation refers to dividing the available memory into several partitions of varying sizes'</a:t>
                      </a:r>
                      <a:endParaRPr lang="en-IN" dirty="0"/>
                    </a:p>
                  </a:txBody>
                  <a:tcPr/>
                </a:tc>
                <a:extLst>
                  <a:ext uri="{0D108BD9-81ED-4DB2-BD59-A6C34878D82A}">
                    <a16:rowId xmlns:a16="http://schemas.microsoft.com/office/drawing/2014/main" val="3327814374"/>
                  </a:ext>
                </a:extLst>
              </a:tr>
            </a:tbl>
          </a:graphicData>
        </a:graphic>
      </p:graphicFrame>
      <p:sp>
        <p:nvSpPr>
          <p:cNvPr id="14" name="TextBox 13">
            <a:extLst>
              <a:ext uri="{FF2B5EF4-FFF2-40B4-BE49-F238E27FC236}">
                <a16:creationId xmlns:a16="http://schemas.microsoft.com/office/drawing/2014/main" id="{9C9E88B5-73C7-7F86-F29F-A8ED28C487F4}"/>
              </a:ext>
            </a:extLst>
          </p:cNvPr>
          <p:cNvSpPr txBox="1"/>
          <p:nvPr/>
        </p:nvSpPr>
        <p:spPr>
          <a:xfrm>
            <a:off x="-521855" y="3119308"/>
            <a:ext cx="6704446" cy="2308324"/>
          </a:xfrm>
          <a:prstGeom prst="rect">
            <a:avLst/>
          </a:prstGeom>
          <a:noFill/>
        </p:spPr>
        <p:txBody>
          <a:bodyPr wrap="square">
            <a:spAutoFit/>
          </a:bodyPr>
          <a:lstStyle/>
          <a:p>
            <a:pPr marL="1657350" lvl="3" indent="-285750">
              <a:buFont typeface="Wingdings" panose="05000000000000000000" pitchFamily="2" charset="2"/>
              <a:buChar char="v"/>
            </a:pPr>
            <a:r>
              <a:rPr lang="en-US" b="1" dirty="0"/>
              <a:t>Advantages of contiguous Memory allocation</a:t>
            </a:r>
          </a:p>
          <a:p>
            <a:pPr marL="1657350" lvl="3" indent="-285750">
              <a:buFont typeface="Wingdings" panose="05000000000000000000" pitchFamily="2" charset="2"/>
              <a:buChar char="v"/>
            </a:pPr>
            <a:endParaRPr lang="en-US" b="1" dirty="0"/>
          </a:p>
          <a:p>
            <a:r>
              <a:rPr lang="en-US" dirty="0"/>
              <a:t>                    1) Efficient memory access</a:t>
            </a:r>
          </a:p>
          <a:p>
            <a:r>
              <a:rPr lang="en-US" dirty="0"/>
              <a:t>                    2) Faster traversal and indexing operations.</a:t>
            </a:r>
          </a:p>
          <a:p>
            <a:r>
              <a:rPr lang="en-US" dirty="0"/>
              <a:t>                    3) Easier memory management</a:t>
            </a:r>
          </a:p>
          <a:p>
            <a:endParaRPr lang="en-US" dirty="0"/>
          </a:p>
          <a:p>
            <a:endParaRPr lang="en-US" dirty="0"/>
          </a:p>
          <a:p>
            <a:endParaRPr lang="en-IN" dirty="0"/>
          </a:p>
        </p:txBody>
      </p:sp>
      <p:sp>
        <p:nvSpPr>
          <p:cNvPr id="16" name="TextBox 15">
            <a:extLst>
              <a:ext uri="{FF2B5EF4-FFF2-40B4-BE49-F238E27FC236}">
                <a16:creationId xmlns:a16="http://schemas.microsoft.com/office/drawing/2014/main" id="{0AE2678F-9DA6-431F-E72B-CAC0EC0D0C2B}"/>
              </a:ext>
            </a:extLst>
          </p:cNvPr>
          <p:cNvSpPr txBox="1"/>
          <p:nvPr/>
        </p:nvSpPr>
        <p:spPr>
          <a:xfrm>
            <a:off x="5827570" y="-1218719"/>
            <a:ext cx="6364430" cy="6463308"/>
          </a:xfrm>
          <a:prstGeom prst="rect">
            <a:avLst/>
          </a:prstGeom>
          <a:noFill/>
        </p:spPr>
        <p:txBody>
          <a:bodyPr wrap="square">
            <a:spAutoFit/>
          </a:bodyPr>
          <a:lstStyle/>
          <a:p>
            <a:r>
              <a:rPr lang="en-US" dirty="0"/>
              <a:t>Disadvantages of contiguous Memory </a:t>
            </a:r>
            <a:r>
              <a:rPr lang="en-US" dirty="0" err="1"/>
              <a:t>allo</a:t>
            </a:r>
            <a:r>
              <a:rPr lang="en-US" dirty="0"/>
              <a:t> cation:</a:t>
            </a:r>
          </a:p>
          <a:p>
            <a:r>
              <a:rPr lang="en-US" dirty="0"/>
              <a:t> 1 Fragmentation issues can arise, leading to in</a:t>
            </a:r>
          </a:p>
          <a:p>
            <a:r>
              <a:rPr lang="en-US" dirty="0"/>
              <a:t> 2) It's hard to change memory sizes easily </a:t>
            </a:r>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18" name="TextBox 17">
            <a:extLst>
              <a:ext uri="{FF2B5EF4-FFF2-40B4-BE49-F238E27FC236}">
                <a16:creationId xmlns:a16="http://schemas.microsoft.com/office/drawing/2014/main" id="{2C29C139-382A-3BBA-2A32-5B45A33B2D17}"/>
              </a:ext>
            </a:extLst>
          </p:cNvPr>
          <p:cNvSpPr txBox="1"/>
          <p:nvPr/>
        </p:nvSpPr>
        <p:spPr>
          <a:xfrm>
            <a:off x="693593" y="4723353"/>
            <a:ext cx="6364430" cy="1477328"/>
          </a:xfrm>
          <a:prstGeom prst="rect">
            <a:avLst/>
          </a:prstGeom>
          <a:noFill/>
        </p:spPr>
        <p:txBody>
          <a:bodyPr wrap="square">
            <a:spAutoFit/>
          </a:bodyPr>
          <a:lstStyle/>
          <a:p>
            <a:pPr marL="285750" indent="-285750">
              <a:buFont typeface="Wingdings" panose="05000000000000000000" pitchFamily="2" charset="2"/>
              <a:buChar char="v"/>
            </a:pPr>
            <a:r>
              <a:rPr lang="en-US" b="1" u="sng" dirty="0"/>
              <a:t>Disadvantages of contiguous Memory allocation:</a:t>
            </a:r>
          </a:p>
          <a:p>
            <a:endParaRPr lang="en-US" b="1" u="sng" dirty="0"/>
          </a:p>
          <a:p>
            <a:r>
              <a:rPr lang="en-US" dirty="0"/>
              <a:t> 1) Fragmentation issues can arise, leading to in</a:t>
            </a:r>
          </a:p>
          <a:p>
            <a:r>
              <a:rPr lang="en-US" dirty="0"/>
              <a:t> 2) It's hard to change memory sizes easily</a:t>
            </a:r>
          </a:p>
          <a:p>
            <a:r>
              <a:rPr lang="en-US" dirty="0"/>
              <a:t> 3) Memory can get jumbled upvoer time.</a:t>
            </a:r>
            <a:endParaRPr lang="en-IN" dirty="0"/>
          </a:p>
        </p:txBody>
      </p:sp>
    </p:spTree>
    <p:extLst>
      <p:ext uri="{BB962C8B-B14F-4D97-AF65-F5344CB8AC3E}">
        <p14:creationId xmlns:p14="http://schemas.microsoft.com/office/powerpoint/2010/main" val="606392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ACAFB-B929-ADA6-13EA-8CD596B0F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BE0327-46D7-DDA8-9A2F-E652A5E48589}"/>
              </a:ext>
            </a:extLst>
          </p:cNvPr>
          <p:cNvSpPr txBox="1"/>
          <p:nvPr/>
        </p:nvSpPr>
        <p:spPr>
          <a:xfrm>
            <a:off x="776721" y="103910"/>
            <a:ext cx="8658224" cy="1477328"/>
          </a:xfrm>
          <a:prstGeom prst="rect">
            <a:avLst/>
          </a:prstGeom>
          <a:noFill/>
        </p:spPr>
        <p:txBody>
          <a:bodyPr wrap="square">
            <a:spAutoFit/>
          </a:bodyPr>
          <a:lstStyle/>
          <a:p>
            <a:pPr marL="285750" indent="-285750">
              <a:buFont typeface="Wingdings" panose="05000000000000000000" pitchFamily="2" charset="2"/>
              <a:buChar char="q"/>
            </a:pPr>
            <a:r>
              <a:rPr lang="en-US" b="1" u="sng" dirty="0"/>
              <a:t>Fragmentation </a:t>
            </a:r>
            <a:r>
              <a:rPr lang="en-US" dirty="0"/>
              <a:t>:-</a:t>
            </a:r>
          </a:p>
          <a:p>
            <a:endParaRPr lang="en-US" dirty="0"/>
          </a:p>
          <a:p>
            <a:pPr marL="285750" indent="-285750">
              <a:buFont typeface="Wingdings" panose="05000000000000000000" pitchFamily="2" charset="2"/>
              <a:buChar char="Ø"/>
            </a:pPr>
            <a:r>
              <a:rPr lang="en-US" dirty="0"/>
              <a:t>Fragmentation in memory management occurs when memory becomes divided into small, non - contiguous block, making it challenging to allocution large contiguous blocks of memory even if the total free memory is sufficient.</a:t>
            </a:r>
            <a:endParaRPr lang="en-IN" dirty="0"/>
          </a:p>
        </p:txBody>
      </p:sp>
      <p:sp>
        <p:nvSpPr>
          <p:cNvPr id="7" name="TextBox 6">
            <a:extLst>
              <a:ext uri="{FF2B5EF4-FFF2-40B4-BE49-F238E27FC236}">
                <a16:creationId xmlns:a16="http://schemas.microsoft.com/office/drawing/2014/main" id="{697A506B-DE87-0829-9E6D-0CBC6B5572F0}"/>
              </a:ext>
            </a:extLst>
          </p:cNvPr>
          <p:cNvSpPr txBox="1"/>
          <p:nvPr/>
        </p:nvSpPr>
        <p:spPr>
          <a:xfrm>
            <a:off x="703985" y="1699865"/>
            <a:ext cx="9115423" cy="923330"/>
          </a:xfrm>
          <a:prstGeom prst="rect">
            <a:avLst/>
          </a:prstGeom>
          <a:noFill/>
        </p:spPr>
        <p:txBody>
          <a:bodyPr wrap="square">
            <a:spAutoFit/>
          </a:bodyPr>
          <a:lstStyle/>
          <a:p>
            <a:pPr marL="285750" indent="-285750">
              <a:buFont typeface="Wingdings" panose="05000000000000000000" pitchFamily="2" charset="2"/>
              <a:buChar char="Ø"/>
            </a:pPr>
            <a:r>
              <a:rPr lang="en-US" dirty="0"/>
              <a:t>As processes are loaded and removed from memory It happens after sometime that process es cannot be allocated to memory blocks considering their small size and memory blocks remains unused. This problem is known as fragmentation</a:t>
            </a:r>
            <a:endParaRPr lang="en-IN" dirty="0"/>
          </a:p>
        </p:txBody>
      </p:sp>
      <p:sp>
        <p:nvSpPr>
          <p:cNvPr id="9" name="TextBox 8">
            <a:extLst>
              <a:ext uri="{FF2B5EF4-FFF2-40B4-BE49-F238E27FC236}">
                <a16:creationId xmlns:a16="http://schemas.microsoft.com/office/drawing/2014/main" id="{DB4DE335-2E2E-3401-B02A-E485A913A01D}"/>
              </a:ext>
            </a:extLst>
          </p:cNvPr>
          <p:cNvSpPr txBox="1"/>
          <p:nvPr/>
        </p:nvSpPr>
        <p:spPr>
          <a:xfrm>
            <a:off x="-657225" y="2741822"/>
            <a:ext cx="6104658" cy="369332"/>
          </a:xfrm>
          <a:prstGeom prst="rect">
            <a:avLst/>
          </a:prstGeom>
          <a:noFill/>
        </p:spPr>
        <p:txBody>
          <a:bodyPr wrap="square">
            <a:spAutoFit/>
          </a:bodyPr>
          <a:lstStyle/>
          <a:p>
            <a:pPr marL="1657350" lvl="3" indent="-285750">
              <a:buFont typeface="Wingdings" panose="05000000000000000000" pitchFamily="2" charset="2"/>
              <a:buChar char="q"/>
            </a:pPr>
            <a:r>
              <a:rPr lang="en-US" b="1" u="sng" dirty="0"/>
              <a:t>Fragmentation is of two types:-</a:t>
            </a:r>
            <a:endParaRPr lang="en-IN" b="1" u="sng" dirty="0"/>
          </a:p>
        </p:txBody>
      </p:sp>
      <p:graphicFrame>
        <p:nvGraphicFramePr>
          <p:cNvPr id="11" name="Table 10">
            <a:extLst>
              <a:ext uri="{FF2B5EF4-FFF2-40B4-BE49-F238E27FC236}">
                <a16:creationId xmlns:a16="http://schemas.microsoft.com/office/drawing/2014/main" id="{B43B9AD2-6C15-0B52-CCC1-B5CD816C3EDC}"/>
              </a:ext>
            </a:extLst>
          </p:cNvPr>
          <p:cNvGraphicFramePr>
            <a:graphicFrameLocks noGrp="1"/>
          </p:cNvGraphicFramePr>
          <p:nvPr>
            <p:extLst>
              <p:ext uri="{D42A27DB-BD31-4B8C-83A1-F6EECF244321}">
                <p14:modId xmlns:p14="http://schemas.microsoft.com/office/powerpoint/2010/main" val="3412166032"/>
              </p:ext>
            </p:extLst>
          </p:nvPr>
        </p:nvGraphicFramePr>
        <p:xfrm>
          <a:off x="776721" y="3326050"/>
          <a:ext cx="8109527" cy="2357777"/>
        </p:xfrm>
        <a:graphic>
          <a:graphicData uri="http://schemas.openxmlformats.org/drawingml/2006/table">
            <a:tbl>
              <a:tblPr firstRow="1" bandRow="1">
                <a:tableStyleId>{5940675A-B579-460E-94D1-54222C63F5DA}</a:tableStyleId>
              </a:tblPr>
              <a:tblGrid>
                <a:gridCol w="1997651">
                  <a:extLst>
                    <a:ext uri="{9D8B030D-6E8A-4147-A177-3AD203B41FA5}">
                      <a16:colId xmlns:a16="http://schemas.microsoft.com/office/drawing/2014/main" val="2271973817"/>
                    </a:ext>
                  </a:extLst>
                </a:gridCol>
                <a:gridCol w="6111876">
                  <a:extLst>
                    <a:ext uri="{9D8B030D-6E8A-4147-A177-3AD203B41FA5}">
                      <a16:colId xmlns:a16="http://schemas.microsoft.com/office/drawing/2014/main" val="340600613"/>
                    </a:ext>
                  </a:extLst>
                </a:gridCol>
              </a:tblGrid>
              <a:tr h="976472">
                <a:tc>
                  <a:txBody>
                    <a:bodyPr/>
                    <a:lstStyle/>
                    <a:p>
                      <a:endParaRPr lang="en-IN" dirty="0"/>
                    </a:p>
                  </a:txBody>
                  <a:tcPr/>
                </a:tc>
                <a:tc>
                  <a:txBody>
                    <a:bodyPr/>
                    <a:lstStyle/>
                    <a:p>
                      <a:r>
                        <a:rPr lang="en-US" dirty="0"/>
                        <a:t>Total memory space is enough to Saits. fy a request or to reside a process in it, but it is not contiguous, so it cannot be used.</a:t>
                      </a:r>
                      <a:endParaRPr lang="en-IN" dirty="0"/>
                    </a:p>
                  </a:txBody>
                  <a:tcPr/>
                </a:tc>
                <a:extLst>
                  <a:ext uri="{0D108BD9-81ED-4DB2-BD59-A6C34878D82A}">
                    <a16:rowId xmlns:a16="http://schemas.microsoft.com/office/drawing/2014/main" val="1993592716"/>
                  </a:ext>
                </a:extLst>
              </a:tr>
              <a:tr h="1381305">
                <a:tc>
                  <a:txBody>
                    <a:bodyPr/>
                    <a:lstStyle/>
                    <a:p>
                      <a:r>
                        <a:rPr lang="en-IN" dirty="0"/>
                        <a:t>Internal fragmentation</a:t>
                      </a:r>
                    </a:p>
                  </a:txBody>
                  <a:tcPr/>
                </a:tc>
                <a:tc>
                  <a:txBody>
                    <a:bodyPr/>
                    <a:lstStyle/>
                    <a:p>
                      <a:r>
                        <a:rPr lang="en-US" dirty="0"/>
                        <a:t>Memory block assigned to process is bigger some portion of memory is left unused, as it cannot be use by another process.</a:t>
                      </a:r>
                      <a:endParaRPr lang="en-IN" dirty="0"/>
                    </a:p>
                  </a:txBody>
                  <a:tcPr/>
                </a:tc>
                <a:extLst>
                  <a:ext uri="{0D108BD9-81ED-4DB2-BD59-A6C34878D82A}">
                    <a16:rowId xmlns:a16="http://schemas.microsoft.com/office/drawing/2014/main" val="3655829159"/>
                  </a:ext>
                </a:extLst>
              </a:tr>
            </a:tbl>
          </a:graphicData>
        </a:graphic>
      </p:graphicFrame>
      <p:sp>
        <p:nvSpPr>
          <p:cNvPr id="13" name="TextBox 12">
            <a:extLst>
              <a:ext uri="{FF2B5EF4-FFF2-40B4-BE49-F238E27FC236}">
                <a16:creationId xmlns:a16="http://schemas.microsoft.com/office/drawing/2014/main" id="{B6A3885E-1E5C-C7F0-8970-CA94A051E20D}"/>
              </a:ext>
            </a:extLst>
          </p:cNvPr>
          <p:cNvSpPr txBox="1"/>
          <p:nvPr/>
        </p:nvSpPr>
        <p:spPr>
          <a:xfrm>
            <a:off x="922194" y="3565041"/>
            <a:ext cx="1665142" cy="646331"/>
          </a:xfrm>
          <a:prstGeom prst="rect">
            <a:avLst/>
          </a:prstGeom>
          <a:noFill/>
        </p:spPr>
        <p:txBody>
          <a:bodyPr wrap="square">
            <a:spAutoFit/>
          </a:bodyPr>
          <a:lstStyle/>
          <a:p>
            <a:r>
              <a:rPr lang="sv-SE" dirty="0"/>
              <a:t>Extternal  framentation</a:t>
            </a:r>
            <a:endParaRPr lang="en-IN" dirty="0"/>
          </a:p>
        </p:txBody>
      </p:sp>
    </p:spTree>
    <p:extLst>
      <p:ext uri="{BB962C8B-B14F-4D97-AF65-F5344CB8AC3E}">
        <p14:creationId xmlns:p14="http://schemas.microsoft.com/office/powerpoint/2010/main" val="413672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B0B6-9E34-D8D5-9E6A-2DBD5C535E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279527-43EC-9418-4A3C-4F4C491D1713}"/>
              </a:ext>
            </a:extLst>
          </p:cNvPr>
          <p:cNvSpPr txBox="1"/>
          <p:nvPr/>
        </p:nvSpPr>
        <p:spPr>
          <a:xfrm>
            <a:off x="748146" y="85636"/>
            <a:ext cx="8603672" cy="923330"/>
          </a:xfrm>
          <a:prstGeom prst="rect">
            <a:avLst/>
          </a:prstGeom>
          <a:noFill/>
        </p:spPr>
        <p:txBody>
          <a:bodyPr wrap="square">
            <a:spAutoFit/>
          </a:bodyPr>
          <a:lstStyle/>
          <a:p>
            <a:r>
              <a:rPr lang="en-US" dirty="0"/>
              <a:t>The fowling. diagram shows how fragmentation can cause waste of memory and a compaction technique can be used to Create more free memory out of fragmented memory</a:t>
            </a:r>
            <a:endParaRPr lang="en-IN" dirty="0"/>
          </a:p>
        </p:txBody>
      </p:sp>
      <p:sp>
        <p:nvSpPr>
          <p:cNvPr id="7" name="TextBox 6">
            <a:extLst>
              <a:ext uri="{FF2B5EF4-FFF2-40B4-BE49-F238E27FC236}">
                <a16:creationId xmlns:a16="http://schemas.microsoft.com/office/drawing/2014/main" id="{19740293-A5A9-36CA-5D70-CE9BB02B76A5}"/>
              </a:ext>
            </a:extLst>
          </p:cNvPr>
          <p:cNvSpPr txBox="1"/>
          <p:nvPr/>
        </p:nvSpPr>
        <p:spPr>
          <a:xfrm>
            <a:off x="748146" y="1145370"/>
            <a:ext cx="6000749" cy="369332"/>
          </a:xfrm>
          <a:prstGeom prst="rect">
            <a:avLst/>
          </a:prstGeom>
          <a:noFill/>
        </p:spPr>
        <p:txBody>
          <a:bodyPr wrap="square">
            <a:spAutoFit/>
          </a:bodyPr>
          <a:lstStyle/>
          <a:p>
            <a:pPr marL="285750" indent="-285750">
              <a:buFont typeface="Wingdings" panose="05000000000000000000" pitchFamily="2" charset="2"/>
              <a:buChar char="q"/>
            </a:pPr>
            <a:r>
              <a:rPr lang="en-IN" b="1" u="sng" dirty="0"/>
              <a:t>fragmented memory before compaction:-</a:t>
            </a:r>
          </a:p>
        </p:txBody>
      </p:sp>
      <p:pic>
        <p:nvPicPr>
          <p:cNvPr id="2050" name="Picture 2" descr="Operating System - Memory Management">
            <a:extLst>
              <a:ext uri="{FF2B5EF4-FFF2-40B4-BE49-F238E27FC236}">
                <a16:creationId xmlns:a16="http://schemas.microsoft.com/office/drawing/2014/main" id="{4B0CD93B-1838-C525-F5DB-8C4E38353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488" y="1724892"/>
            <a:ext cx="6774439" cy="41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53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C12B-B138-D352-334B-87421C8B693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76450B6-23F9-A21F-960E-655159EFF813}"/>
              </a:ext>
            </a:extLst>
          </p:cNvPr>
          <p:cNvSpPr txBox="1"/>
          <p:nvPr/>
        </p:nvSpPr>
        <p:spPr>
          <a:xfrm>
            <a:off x="735158" y="151951"/>
            <a:ext cx="8730960" cy="3970318"/>
          </a:xfrm>
          <a:prstGeom prst="rect">
            <a:avLst/>
          </a:prstGeom>
          <a:noFill/>
        </p:spPr>
        <p:txBody>
          <a:bodyPr wrap="square">
            <a:spAutoFit/>
          </a:bodyPr>
          <a:lstStyle/>
          <a:p>
            <a:r>
              <a:rPr lang="en-US" dirty="0"/>
              <a:t>5.3 Paging, Page Table, Page Falt, segmentation:-</a:t>
            </a:r>
          </a:p>
          <a:p>
            <a:pPr marL="285750" indent="-285750">
              <a:buFont typeface="Wingdings" panose="05000000000000000000" pitchFamily="2" charset="2"/>
              <a:buChar char="v"/>
            </a:pPr>
            <a:r>
              <a:rPr lang="en-US" dirty="0"/>
              <a:t>Paging:-</a:t>
            </a:r>
          </a:p>
          <a:p>
            <a:pPr marL="400050" indent="-400050">
              <a:buFont typeface="+mj-lt"/>
              <a:buAutoNum type="romanUcPeriod"/>
            </a:pPr>
            <a:r>
              <a:rPr lang="en-US" dirty="0"/>
              <a:t>Paging is a memory management scheme Used by operating systems to handle memory allocation and virtual memory.</a:t>
            </a:r>
          </a:p>
          <a:p>
            <a:pPr marL="400050" indent="-400050">
              <a:buFont typeface="+mj-lt"/>
              <a:buAutoNum type="romanUcPeriod"/>
            </a:pPr>
            <a:r>
              <a:rPr lang="en-US" dirty="0"/>
              <a:t>Tt divides memory into fixed size blocks called pages and allocates memory to processes in these page-sized units. In</a:t>
            </a:r>
          </a:p>
          <a:p>
            <a:pPr marL="400050" indent="-400050">
              <a:buFont typeface="+mj-lt"/>
              <a:buAutoNum type="romanUcPeriod"/>
            </a:pPr>
            <a:r>
              <a:rPr lang="en-US" dirty="0"/>
              <a:t>Paging allows for more efficient use of physical memory and simplifies the memory management </a:t>
            </a:r>
          </a:p>
          <a:p>
            <a:pPr marL="400050" indent="-400050">
              <a:buFont typeface="+mj-lt"/>
              <a:buAutoNum type="romanUcPeriod"/>
            </a:pPr>
            <a:r>
              <a:rPr lang="en-US" dirty="0"/>
              <a:t>a process requires more memory than is available in physical RAN, paging allows the operating system to swap pages in and out of secondary storage, such as a hard disk, to create the illusion of larger amount of physical memory than actually exists </a:t>
            </a:r>
          </a:p>
          <a:p>
            <a:pPr marL="400050" indent="-400050">
              <a:buFont typeface="+mj-lt"/>
              <a:buAutoNum type="romanUcPeriod"/>
            </a:pPr>
            <a:r>
              <a:rPr lang="en-US" dirty="0"/>
              <a:t>Main memory is divided into small fixed sized block of memory called frames and the size of a frame is kept the same as that of a page.</a:t>
            </a:r>
            <a:endParaRPr lang="en-IN" dirty="0"/>
          </a:p>
        </p:txBody>
      </p:sp>
    </p:spTree>
    <p:extLst>
      <p:ext uri="{BB962C8B-B14F-4D97-AF65-F5344CB8AC3E}">
        <p14:creationId xmlns:p14="http://schemas.microsoft.com/office/powerpoint/2010/main" val="2431544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1576-F34C-39E6-8453-D352C63C6F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4DF763-F0A8-6079-F6FC-75036D77A46F}"/>
              </a:ext>
            </a:extLst>
          </p:cNvPr>
          <p:cNvSpPr>
            <a:spLocks noGrp="1"/>
          </p:cNvSpPr>
          <p:nvPr>
            <p:ph type="subTitle" idx="1"/>
          </p:nvPr>
        </p:nvSpPr>
        <p:spPr>
          <a:xfrm>
            <a:off x="1044489" y="2880550"/>
            <a:ext cx="7766936" cy="1096899"/>
          </a:xfrm>
        </p:spPr>
        <p:txBody>
          <a:bodyPr>
            <a:normAutofit/>
          </a:bodyPr>
          <a:lstStyle/>
          <a:p>
            <a:r>
              <a:rPr lang="en-US" sz="6000" dirty="0">
                <a:solidFill>
                  <a:schemeClr val="tx1"/>
                </a:solidFill>
              </a:rPr>
              <a:t>Paging</a:t>
            </a:r>
            <a:r>
              <a:rPr lang="en-US" sz="6000" dirty="0"/>
              <a:t> </a:t>
            </a:r>
            <a:r>
              <a:rPr lang="en-US" sz="6000" dirty="0">
                <a:solidFill>
                  <a:schemeClr val="tx1"/>
                </a:solidFill>
              </a:rPr>
              <a:t>diagram</a:t>
            </a:r>
            <a:r>
              <a:rPr lang="en-US" sz="6000" dirty="0"/>
              <a:t> </a:t>
            </a:r>
            <a:endParaRPr lang="en-IN" sz="6000" dirty="0"/>
          </a:p>
        </p:txBody>
      </p:sp>
    </p:spTree>
    <p:extLst>
      <p:ext uri="{BB962C8B-B14F-4D97-AF65-F5344CB8AC3E}">
        <p14:creationId xmlns:p14="http://schemas.microsoft.com/office/powerpoint/2010/main" val="1127280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E41B4-A40D-E35D-D069-1005935BEFB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0CAB699-B024-49C3-582E-FE7CF6B1D9A7}"/>
              </a:ext>
            </a:extLst>
          </p:cNvPr>
          <p:cNvSpPr txBox="1"/>
          <p:nvPr/>
        </p:nvSpPr>
        <p:spPr>
          <a:xfrm>
            <a:off x="891020" y="82357"/>
            <a:ext cx="8481579" cy="2862322"/>
          </a:xfrm>
          <a:prstGeom prst="rect">
            <a:avLst/>
          </a:prstGeom>
          <a:noFill/>
        </p:spPr>
        <p:txBody>
          <a:bodyPr wrap="square">
            <a:spAutoFit/>
          </a:bodyPr>
          <a:lstStyle/>
          <a:p>
            <a:pPr marL="285750" indent="-285750">
              <a:buFont typeface="Wingdings" panose="05000000000000000000" pitchFamily="2" charset="2"/>
              <a:buChar char="v"/>
            </a:pPr>
            <a:r>
              <a:rPr lang="en-US" b="1" u="sng" dirty="0"/>
              <a:t>Address Translation</a:t>
            </a:r>
            <a:r>
              <a:rPr lang="en-US" dirty="0"/>
              <a:t>:</a:t>
            </a:r>
          </a:p>
          <a:p>
            <a:endParaRPr lang="en-US" dirty="0"/>
          </a:p>
          <a:p>
            <a:r>
              <a:rPr lang="en-US" dirty="0"/>
              <a:t> Page address is called: logical address and represented by page number and the offset Logical address Page address number+ page offset</a:t>
            </a:r>
          </a:p>
          <a:p>
            <a:endParaRPr lang="en-US" dirty="0"/>
          </a:p>
          <a:p>
            <a:r>
              <a:rPr lang="en-US" dirty="0"/>
              <a:t> Frame address is called physical address and represent d by a frame number and the  offset Logica Physical address = Frame number + page offset</a:t>
            </a:r>
          </a:p>
          <a:p>
            <a:endParaRPr lang="en-US" dirty="0"/>
          </a:p>
          <a:p>
            <a:r>
              <a:rPr lang="en-US" dirty="0"/>
              <a:t> A data structure called page map table is used to process keep track of the relation between a page of a to a </a:t>
            </a:r>
            <a:endParaRPr lang="en-IN" dirty="0"/>
          </a:p>
        </p:txBody>
      </p:sp>
      <p:pic>
        <p:nvPicPr>
          <p:cNvPr id="3074" name="Picture 2" descr="Operating System - Memory Management">
            <a:extLst>
              <a:ext uri="{FF2B5EF4-FFF2-40B4-BE49-F238E27FC236}">
                <a16:creationId xmlns:a16="http://schemas.microsoft.com/office/drawing/2014/main" id="{01D5810B-A15C-E642-8587-CF4DFCDB9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836" y="2944679"/>
            <a:ext cx="5715000" cy="3580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98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D931-28C4-D46D-022B-0DC3A0042F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DFC222-3D04-F740-4F66-780BB0A84512}"/>
              </a:ext>
            </a:extLst>
          </p:cNvPr>
          <p:cNvSpPr txBox="1"/>
          <p:nvPr/>
        </p:nvSpPr>
        <p:spPr>
          <a:xfrm>
            <a:off x="776721" y="130755"/>
            <a:ext cx="8627052" cy="1477328"/>
          </a:xfrm>
          <a:prstGeom prst="rect">
            <a:avLst/>
          </a:prstGeom>
          <a:noFill/>
        </p:spPr>
        <p:txBody>
          <a:bodyPr wrap="square">
            <a:spAutoFit/>
          </a:bodyPr>
          <a:lstStyle/>
          <a:p>
            <a:pPr marL="285750" indent="-285750">
              <a:buFont typeface="Arial" panose="020B0604020202020204" pitchFamily="34" charset="0"/>
              <a:buChar char="•"/>
            </a:pPr>
            <a:r>
              <a:rPr lang="en-US" dirty="0"/>
              <a:t>when the system allocates a frame to any page it translates this logical address into a physical address and create entry into the page table to be used throughout execution of the program.</a:t>
            </a:r>
          </a:p>
          <a:p>
            <a:pPr marL="285750" indent="-285750">
              <a:buFont typeface="Arial" panose="020B0604020202020204" pitchFamily="34" charset="0"/>
              <a:buChar char="•"/>
            </a:pPr>
            <a:r>
              <a:rPr lang="en-US" dirty="0"/>
              <a:t> when a process is to be executed, its corresponding pages are loaded into any available memory frames. </a:t>
            </a:r>
            <a:endParaRPr lang="en-IN" dirty="0"/>
          </a:p>
        </p:txBody>
      </p:sp>
      <p:sp>
        <p:nvSpPr>
          <p:cNvPr id="7" name="TextBox 6">
            <a:extLst>
              <a:ext uri="{FF2B5EF4-FFF2-40B4-BE49-F238E27FC236}">
                <a16:creationId xmlns:a16="http://schemas.microsoft.com/office/drawing/2014/main" id="{68FF5BC4-4CDC-CDE4-D309-8BE92F858E80}"/>
              </a:ext>
            </a:extLst>
          </p:cNvPr>
          <p:cNvSpPr txBox="1"/>
          <p:nvPr/>
        </p:nvSpPr>
        <p:spPr>
          <a:xfrm>
            <a:off x="776721" y="1788974"/>
            <a:ext cx="9551843" cy="1477328"/>
          </a:xfrm>
          <a:prstGeom prst="rect">
            <a:avLst/>
          </a:prstGeom>
          <a:noFill/>
        </p:spPr>
        <p:txBody>
          <a:bodyPr wrap="square">
            <a:spAutoFit/>
          </a:bodyPr>
          <a:lstStyle/>
          <a:p>
            <a:pPr marL="285750" indent="-285750">
              <a:buFont typeface="Wingdings" panose="05000000000000000000" pitchFamily="2" charset="2"/>
              <a:buChar char="Ø"/>
            </a:pPr>
            <a:r>
              <a:rPr lang="en-US" b="1" u="sng" dirty="0"/>
              <a:t>Advantages and disadvantages of Paging</a:t>
            </a:r>
            <a:r>
              <a:rPr lang="en-US" dirty="0"/>
              <a:t>:</a:t>
            </a:r>
          </a:p>
          <a:p>
            <a:r>
              <a:rPr lang="en-US" dirty="0"/>
              <a:t>1) Paging reduces external fragmentation, but still suffer from: internal     fragmentation.. </a:t>
            </a:r>
          </a:p>
          <a:p>
            <a:r>
              <a:rPr lang="en-US" dirty="0"/>
              <a:t>2) paging is simple to implement and assumed as an efficient memory management       technique</a:t>
            </a:r>
          </a:p>
          <a:p>
            <a:r>
              <a:rPr lang="en-US" dirty="0"/>
              <a:t>3) Due to equal size of pages and frames, swapping becomes very easy</a:t>
            </a:r>
            <a:endParaRPr lang="en-IN" dirty="0"/>
          </a:p>
        </p:txBody>
      </p:sp>
      <p:sp>
        <p:nvSpPr>
          <p:cNvPr id="9" name="TextBox 8">
            <a:extLst>
              <a:ext uri="{FF2B5EF4-FFF2-40B4-BE49-F238E27FC236}">
                <a16:creationId xmlns:a16="http://schemas.microsoft.com/office/drawing/2014/main" id="{239EE758-92ED-D288-D6D0-2F477E584BB3}"/>
              </a:ext>
            </a:extLst>
          </p:cNvPr>
          <p:cNvSpPr txBox="1"/>
          <p:nvPr/>
        </p:nvSpPr>
        <p:spPr>
          <a:xfrm>
            <a:off x="776720" y="3591699"/>
            <a:ext cx="9289473" cy="1200329"/>
          </a:xfrm>
          <a:prstGeom prst="rect">
            <a:avLst/>
          </a:prstGeom>
          <a:noFill/>
        </p:spPr>
        <p:txBody>
          <a:bodyPr wrap="square">
            <a:spAutoFit/>
          </a:bodyPr>
          <a:lstStyle/>
          <a:p>
            <a:pPr marL="285750" indent="-285750">
              <a:buFont typeface="Wingdings" panose="05000000000000000000" pitchFamily="2" charset="2"/>
              <a:buChar char="Ø"/>
            </a:pPr>
            <a:r>
              <a:rPr lang="en-US" b="1" u="sng" dirty="0"/>
              <a:t>Page Fault </a:t>
            </a:r>
            <a:r>
              <a:rPr lang="en-US" dirty="0"/>
              <a:t>:-</a:t>
            </a:r>
          </a:p>
          <a:p>
            <a:r>
              <a:rPr lang="en-US" dirty="0"/>
              <a:t> A page fault occurs when a program attempts to access data or code that is in its address space but it not warranty located in the system RAM. so when page fault occurs then following sequence of events happens: </a:t>
            </a:r>
            <a:endParaRPr lang="en-IN" dirty="0"/>
          </a:p>
        </p:txBody>
      </p:sp>
    </p:spTree>
    <p:extLst>
      <p:ext uri="{BB962C8B-B14F-4D97-AF65-F5344CB8AC3E}">
        <p14:creationId xmlns:p14="http://schemas.microsoft.com/office/powerpoint/2010/main" val="3204090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35BEC-14D8-DAF8-40EE-2524CC50DE3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AE36AC7-439D-0F0A-72DC-C074FB24F416}"/>
              </a:ext>
            </a:extLst>
          </p:cNvPr>
          <p:cNvPicPr>
            <a:picLocks noChangeAspect="1"/>
          </p:cNvPicPr>
          <p:nvPr/>
        </p:nvPicPr>
        <p:blipFill>
          <a:blip r:embed="rId2"/>
          <a:stretch>
            <a:fillRect/>
          </a:stretch>
        </p:blipFill>
        <p:spPr>
          <a:xfrm>
            <a:off x="1496291" y="446809"/>
            <a:ext cx="6670964" cy="3325091"/>
          </a:xfrm>
          <a:prstGeom prst="rect">
            <a:avLst/>
          </a:prstGeom>
        </p:spPr>
      </p:pic>
      <p:sp>
        <p:nvSpPr>
          <p:cNvPr id="6" name="TextBox 5">
            <a:extLst>
              <a:ext uri="{FF2B5EF4-FFF2-40B4-BE49-F238E27FC236}">
                <a16:creationId xmlns:a16="http://schemas.microsoft.com/office/drawing/2014/main" id="{FAFC610C-3D6C-055C-68FC-19BCC5EB38FF}"/>
              </a:ext>
            </a:extLst>
          </p:cNvPr>
          <p:cNvSpPr txBox="1"/>
          <p:nvPr/>
        </p:nvSpPr>
        <p:spPr>
          <a:xfrm>
            <a:off x="631247" y="3958166"/>
            <a:ext cx="9603798" cy="2308324"/>
          </a:xfrm>
          <a:prstGeom prst="rect">
            <a:avLst/>
          </a:prstGeom>
          <a:noFill/>
        </p:spPr>
        <p:txBody>
          <a:bodyPr wrap="square">
            <a:spAutoFit/>
          </a:bodyPr>
          <a:lstStyle/>
          <a:p>
            <a:pPr marL="285750" indent="-285750">
              <a:buFont typeface="Wingdings" panose="05000000000000000000" pitchFamily="2" charset="2"/>
              <a:buChar char="Ø"/>
            </a:pPr>
            <a:r>
              <a:rPr lang="en-US" dirty="0"/>
              <a:t> </a:t>
            </a:r>
            <a:r>
              <a:rPr lang="en-US" b="1" u="sng" dirty="0"/>
              <a:t>Page Fault occurs </a:t>
            </a:r>
            <a:r>
              <a:rPr lang="en-US" dirty="0"/>
              <a:t>:</a:t>
            </a:r>
          </a:p>
          <a:p>
            <a:endParaRPr lang="en-US" dirty="0"/>
          </a:p>
          <a:p>
            <a:r>
              <a:rPr lang="en-US" dirty="0"/>
              <a:t>1) CPU tries to access a page not in physical memory.. </a:t>
            </a:r>
          </a:p>
          <a:p>
            <a:r>
              <a:rPr lang="en-US" dirty="0"/>
              <a:t>2) Interrupt: CPU alerts the OS about the page fault</a:t>
            </a:r>
          </a:p>
          <a:p>
            <a:r>
              <a:rPr lang="en-US" dirty="0"/>
              <a:t>3) check Page Table:  cheeks if the page is valid but not in memory. </a:t>
            </a:r>
          </a:p>
          <a:p>
            <a:r>
              <a:rPr lang="en-US" dirty="0"/>
              <a:t>4) Fetch Page: If needed, OS fetches the page from dist. into memory</a:t>
            </a:r>
          </a:p>
          <a:p>
            <a:r>
              <a:rPr lang="en-US" dirty="0"/>
              <a:t>5) update Tables: OS updates pages tables to reflect the new page location.</a:t>
            </a:r>
          </a:p>
          <a:p>
            <a:r>
              <a:rPr lang="en-US" dirty="0"/>
              <a:t>6) Resume process : Process is allowed to continue from where it left off.</a:t>
            </a:r>
            <a:endParaRPr lang="en-IN" dirty="0"/>
          </a:p>
        </p:txBody>
      </p:sp>
    </p:spTree>
    <p:extLst>
      <p:ext uri="{BB962C8B-B14F-4D97-AF65-F5344CB8AC3E}">
        <p14:creationId xmlns:p14="http://schemas.microsoft.com/office/powerpoint/2010/main" val="214422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015B8-FCFE-BBD2-922A-4129ED6C37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4EB9197-0B96-13A4-BEE7-B7E1200AFA7A}"/>
              </a:ext>
            </a:extLst>
          </p:cNvPr>
          <p:cNvSpPr txBox="1"/>
          <p:nvPr/>
        </p:nvSpPr>
        <p:spPr>
          <a:xfrm>
            <a:off x="766329" y="210327"/>
            <a:ext cx="8554315" cy="1200329"/>
          </a:xfrm>
          <a:prstGeom prst="rect">
            <a:avLst/>
          </a:prstGeom>
          <a:noFill/>
        </p:spPr>
        <p:txBody>
          <a:bodyPr wrap="square">
            <a:spAutoFit/>
          </a:bodyPr>
          <a:lstStyle/>
          <a:p>
            <a:r>
              <a:rPr lang="en-US" dirty="0"/>
              <a:t>7)  optional:  It no free memory, OS decides which page  If replace</a:t>
            </a:r>
          </a:p>
          <a:p>
            <a:pPr marL="342900" indent="-342900">
              <a:buAutoNum type="arabicParenR" startAt="8"/>
            </a:pPr>
            <a:r>
              <a:rPr lang="en-US" dirty="0"/>
              <a:t>Error handling :if any errors ,appropriate actions</a:t>
            </a:r>
          </a:p>
          <a:p>
            <a:pPr marL="342900" indent="-342900">
              <a:buAutoNum type="arabicParenR" startAt="8"/>
            </a:pPr>
            <a:r>
              <a:rPr lang="en-US" dirty="0"/>
              <a:t> Continuation: Process continues execution with the requested page now in memory.</a:t>
            </a:r>
            <a:endParaRPr lang="en-IN" dirty="0"/>
          </a:p>
        </p:txBody>
      </p:sp>
      <p:sp>
        <p:nvSpPr>
          <p:cNvPr id="9" name="TextBox 8">
            <a:extLst>
              <a:ext uri="{FF2B5EF4-FFF2-40B4-BE49-F238E27FC236}">
                <a16:creationId xmlns:a16="http://schemas.microsoft.com/office/drawing/2014/main" id="{CA7E3B13-B827-73C3-7107-1E09ACBAB2BC}"/>
              </a:ext>
            </a:extLst>
          </p:cNvPr>
          <p:cNvSpPr txBox="1"/>
          <p:nvPr/>
        </p:nvSpPr>
        <p:spPr>
          <a:xfrm>
            <a:off x="652029" y="1505910"/>
            <a:ext cx="9073861" cy="2585323"/>
          </a:xfrm>
          <a:prstGeom prst="rect">
            <a:avLst/>
          </a:prstGeom>
          <a:noFill/>
        </p:spPr>
        <p:txBody>
          <a:bodyPr wrap="square">
            <a:spAutoFit/>
          </a:bodyPr>
          <a:lstStyle/>
          <a:p>
            <a:pPr marL="285750" indent="-285750">
              <a:buFont typeface="Wingdings" panose="05000000000000000000" pitchFamily="2" charset="2"/>
              <a:buChar char="Ø"/>
            </a:pPr>
            <a:r>
              <a:rPr lang="en-US" b="1" u="sng" dirty="0"/>
              <a:t>segmentation :-</a:t>
            </a:r>
          </a:p>
          <a:p>
            <a:pPr marL="285750" indent="-285750">
              <a:buFont typeface="Wingdings" panose="05000000000000000000" pitchFamily="2" charset="2"/>
              <a:buChar char="Ø"/>
            </a:pPr>
            <a:endParaRPr lang="en-US" b="1" u="sng" dirty="0"/>
          </a:p>
          <a:p>
            <a:r>
              <a:rPr lang="en-US" dirty="0"/>
              <a:t> 1) segmentation in a memory management technique in which each job divided into several segments of different sizes, one for each module that 	contains pieces that, perform related functions </a:t>
            </a:r>
          </a:p>
          <a:p>
            <a:endParaRPr lang="en-US" dirty="0"/>
          </a:p>
          <a:p>
            <a:r>
              <a:rPr lang="en-US" dirty="0"/>
              <a:t>2) when a proves is to be executed its corresponding segmentations are loaded into non-contiguous memory three though every segment is loaded into a contiguous block of available memory.</a:t>
            </a:r>
            <a:endParaRPr lang="en-IN" dirty="0"/>
          </a:p>
        </p:txBody>
      </p:sp>
    </p:spTree>
    <p:extLst>
      <p:ext uri="{BB962C8B-B14F-4D97-AF65-F5344CB8AC3E}">
        <p14:creationId xmlns:p14="http://schemas.microsoft.com/office/powerpoint/2010/main" val="616289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CF8F-91CA-F170-DD13-C1E4538F64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C1574D9-D4DD-5D9F-C75C-C3E1AD1B3EF6}"/>
              </a:ext>
            </a:extLst>
          </p:cNvPr>
          <p:cNvSpPr/>
          <p:nvPr/>
        </p:nvSpPr>
        <p:spPr>
          <a:xfrm>
            <a:off x="692552" y="1220167"/>
            <a:ext cx="1367742" cy="57873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Segment 1 </a:t>
            </a:r>
            <a:endParaRPr lang="en-IN" dirty="0"/>
          </a:p>
        </p:txBody>
      </p:sp>
      <p:sp>
        <p:nvSpPr>
          <p:cNvPr id="5" name="Rectangle 4">
            <a:extLst>
              <a:ext uri="{FF2B5EF4-FFF2-40B4-BE49-F238E27FC236}">
                <a16:creationId xmlns:a16="http://schemas.microsoft.com/office/drawing/2014/main" id="{26C082D3-DF96-FB41-5E1D-3EA02DC0F19B}"/>
              </a:ext>
            </a:extLst>
          </p:cNvPr>
          <p:cNvSpPr/>
          <p:nvPr/>
        </p:nvSpPr>
        <p:spPr>
          <a:xfrm>
            <a:off x="686410" y="2226198"/>
            <a:ext cx="1367742" cy="150856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Segment 2</a:t>
            </a:r>
            <a:endParaRPr lang="en-IN" dirty="0"/>
          </a:p>
        </p:txBody>
      </p:sp>
      <p:sp>
        <p:nvSpPr>
          <p:cNvPr id="6" name="Rectangle 5">
            <a:extLst>
              <a:ext uri="{FF2B5EF4-FFF2-40B4-BE49-F238E27FC236}">
                <a16:creationId xmlns:a16="http://schemas.microsoft.com/office/drawing/2014/main" id="{34C7353F-0647-566B-880B-E5FCFB58A410}"/>
              </a:ext>
            </a:extLst>
          </p:cNvPr>
          <p:cNvSpPr/>
          <p:nvPr/>
        </p:nvSpPr>
        <p:spPr>
          <a:xfrm>
            <a:off x="692552" y="4045351"/>
            <a:ext cx="1367742" cy="57873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Segment 3</a:t>
            </a:r>
            <a:endParaRPr lang="en-IN" dirty="0"/>
          </a:p>
        </p:txBody>
      </p:sp>
      <p:sp>
        <p:nvSpPr>
          <p:cNvPr id="7" name="Rectangle 6">
            <a:extLst>
              <a:ext uri="{FF2B5EF4-FFF2-40B4-BE49-F238E27FC236}">
                <a16:creationId xmlns:a16="http://schemas.microsoft.com/office/drawing/2014/main" id="{F5C43B4F-D6B1-AF46-F3B2-6B91CA1528F5}"/>
              </a:ext>
            </a:extLst>
          </p:cNvPr>
          <p:cNvSpPr/>
          <p:nvPr/>
        </p:nvSpPr>
        <p:spPr>
          <a:xfrm>
            <a:off x="692552" y="4934672"/>
            <a:ext cx="1367742" cy="57873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Segment N</a:t>
            </a:r>
            <a:endParaRPr lang="en-IN" dirty="0"/>
          </a:p>
        </p:txBody>
      </p:sp>
      <p:graphicFrame>
        <p:nvGraphicFramePr>
          <p:cNvPr id="8" name="Table 7">
            <a:extLst>
              <a:ext uri="{FF2B5EF4-FFF2-40B4-BE49-F238E27FC236}">
                <a16:creationId xmlns:a16="http://schemas.microsoft.com/office/drawing/2014/main" id="{307743F7-E08C-674A-FA28-B7BB57068924}"/>
              </a:ext>
            </a:extLst>
          </p:cNvPr>
          <p:cNvGraphicFramePr>
            <a:graphicFrameLocks noGrp="1"/>
          </p:cNvGraphicFramePr>
          <p:nvPr/>
        </p:nvGraphicFramePr>
        <p:xfrm>
          <a:off x="2418991" y="1220167"/>
          <a:ext cx="3318194" cy="1854200"/>
        </p:xfrm>
        <a:graphic>
          <a:graphicData uri="http://schemas.openxmlformats.org/drawingml/2006/table">
            <a:tbl>
              <a:tblPr firstRow="1" bandRow="1">
                <a:tableStyleId>{5940675A-B579-460E-94D1-54222C63F5DA}</a:tableStyleId>
              </a:tblPr>
              <a:tblGrid>
                <a:gridCol w="574993">
                  <a:extLst>
                    <a:ext uri="{9D8B030D-6E8A-4147-A177-3AD203B41FA5}">
                      <a16:colId xmlns:a16="http://schemas.microsoft.com/office/drawing/2014/main" val="1529351800"/>
                    </a:ext>
                  </a:extLst>
                </a:gridCol>
                <a:gridCol w="891251">
                  <a:extLst>
                    <a:ext uri="{9D8B030D-6E8A-4147-A177-3AD203B41FA5}">
                      <a16:colId xmlns:a16="http://schemas.microsoft.com/office/drawing/2014/main" val="2183441745"/>
                    </a:ext>
                  </a:extLst>
                </a:gridCol>
                <a:gridCol w="1851950">
                  <a:extLst>
                    <a:ext uri="{9D8B030D-6E8A-4147-A177-3AD203B41FA5}">
                      <a16:colId xmlns:a16="http://schemas.microsoft.com/office/drawing/2014/main" val="1421667079"/>
                    </a:ext>
                  </a:extLst>
                </a:gridCol>
              </a:tblGrid>
              <a:tr h="370840">
                <a:tc>
                  <a:txBody>
                    <a:bodyPr/>
                    <a:lstStyle/>
                    <a:p>
                      <a:pPr algn="ctr"/>
                      <a:r>
                        <a:rPr lang="en-US" dirty="0"/>
                        <a:t>SN </a:t>
                      </a:r>
                      <a:endParaRPr lang="en-IN" dirty="0"/>
                    </a:p>
                  </a:txBody>
                  <a:tcPr/>
                </a:tc>
                <a:tc>
                  <a:txBody>
                    <a:bodyPr/>
                    <a:lstStyle/>
                    <a:p>
                      <a:pPr algn="ctr"/>
                      <a:r>
                        <a:rPr lang="en-US" dirty="0"/>
                        <a:t>Size </a:t>
                      </a:r>
                      <a:endParaRPr lang="en-IN" dirty="0"/>
                    </a:p>
                  </a:txBody>
                  <a:tcPr/>
                </a:tc>
                <a:tc>
                  <a:txBody>
                    <a:bodyPr/>
                    <a:lstStyle/>
                    <a:p>
                      <a:pPr algn="ctr"/>
                      <a:r>
                        <a:rPr lang="en-US" dirty="0"/>
                        <a:t>Memory Address </a:t>
                      </a:r>
                      <a:endParaRPr lang="en-IN" dirty="0"/>
                    </a:p>
                  </a:txBody>
                  <a:tcPr/>
                </a:tc>
                <a:extLst>
                  <a:ext uri="{0D108BD9-81ED-4DB2-BD59-A6C34878D82A}">
                    <a16:rowId xmlns:a16="http://schemas.microsoft.com/office/drawing/2014/main" val="3630608105"/>
                  </a:ext>
                </a:extLst>
              </a:tr>
              <a:tr h="370840">
                <a:tc>
                  <a:txBody>
                    <a:bodyPr/>
                    <a:lstStyle/>
                    <a:p>
                      <a:pPr algn="ctr"/>
                      <a:r>
                        <a:rPr lang="en-US" dirty="0"/>
                        <a:t>1</a:t>
                      </a:r>
                      <a:endParaRPr lang="en-IN" dirty="0"/>
                    </a:p>
                  </a:txBody>
                  <a:tcPr/>
                </a:tc>
                <a:tc>
                  <a:txBody>
                    <a:bodyPr/>
                    <a:lstStyle/>
                    <a:p>
                      <a:pPr algn="ctr"/>
                      <a:r>
                        <a:rPr lang="en-US" dirty="0"/>
                        <a:t>400</a:t>
                      </a:r>
                      <a:endParaRPr lang="en-IN" dirty="0"/>
                    </a:p>
                  </a:txBody>
                  <a:tcPr/>
                </a:tc>
                <a:tc>
                  <a:txBody>
                    <a:bodyPr/>
                    <a:lstStyle/>
                    <a:p>
                      <a:pPr algn="ctr"/>
                      <a:r>
                        <a:rPr lang="en-US" dirty="0"/>
                        <a:t>1100</a:t>
                      </a:r>
                      <a:endParaRPr lang="en-IN" dirty="0"/>
                    </a:p>
                  </a:txBody>
                  <a:tcPr/>
                </a:tc>
                <a:extLst>
                  <a:ext uri="{0D108BD9-81ED-4DB2-BD59-A6C34878D82A}">
                    <a16:rowId xmlns:a16="http://schemas.microsoft.com/office/drawing/2014/main" val="279788456"/>
                  </a:ext>
                </a:extLst>
              </a:tr>
              <a:tr h="370840">
                <a:tc>
                  <a:txBody>
                    <a:bodyPr/>
                    <a:lstStyle/>
                    <a:p>
                      <a:pPr algn="ctr"/>
                      <a:r>
                        <a:rPr lang="en-US" dirty="0"/>
                        <a:t>2</a:t>
                      </a:r>
                      <a:endParaRPr lang="en-IN" dirty="0"/>
                    </a:p>
                  </a:txBody>
                  <a:tcPr/>
                </a:tc>
                <a:tc>
                  <a:txBody>
                    <a:bodyPr/>
                    <a:lstStyle/>
                    <a:p>
                      <a:pPr algn="ctr"/>
                      <a:r>
                        <a:rPr lang="en-US" dirty="0"/>
                        <a:t>200</a:t>
                      </a:r>
                      <a:endParaRPr lang="en-IN" dirty="0"/>
                    </a:p>
                  </a:txBody>
                  <a:tcPr/>
                </a:tc>
                <a:tc>
                  <a:txBody>
                    <a:bodyPr/>
                    <a:lstStyle/>
                    <a:p>
                      <a:pPr algn="ctr"/>
                      <a:r>
                        <a:rPr lang="en-US" dirty="0"/>
                        <a:t>500</a:t>
                      </a:r>
                      <a:endParaRPr lang="en-IN" dirty="0"/>
                    </a:p>
                  </a:txBody>
                  <a:tcPr/>
                </a:tc>
                <a:extLst>
                  <a:ext uri="{0D108BD9-81ED-4DB2-BD59-A6C34878D82A}">
                    <a16:rowId xmlns:a16="http://schemas.microsoft.com/office/drawing/2014/main" val="223488588"/>
                  </a:ext>
                </a:extLst>
              </a:tr>
              <a:tr h="370840">
                <a:tc>
                  <a:txBody>
                    <a:bodyPr/>
                    <a:lstStyle/>
                    <a:p>
                      <a:pPr algn="ctr"/>
                      <a:r>
                        <a:rPr lang="en-US" dirty="0"/>
                        <a:t>3</a:t>
                      </a:r>
                      <a:endParaRPr lang="en-IN" dirty="0"/>
                    </a:p>
                  </a:txBody>
                  <a:tcPr/>
                </a:tc>
                <a:tc>
                  <a:txBody>
                    <a:bodyPr/>
                    <a:lstStyle/>
                    <a:p>
                      <a:pPr algn="ctr"/>
                      <a:r>
                        <a:rPr lang="en-US" dirty="0"/>
                        <a:t>100</a:t>
                      </a:r>
                      <a:endParaRPr lang="en-IN" dirty="0"/>
                    </a:p>
                  </a:txBody>
                  <a:tcPr/>
                </a:tc>
                <a:tc>
                  <a:txBody>
                    <a:bodyPr/>
                    <a:lstStyle/>
                    <a:p>
                      <a:pPr algn="ctr"/>
                      <a:r>
                        <a:rPr lang="en-US" dirty="0"/>
                        <a:t>800</a:t>
                      </a:r>
                      <a:endParaRPr lang="en-IN" dirty="0"/>
                    </a:p>
                  </a:txBody>
                  <a:tcPr/>
                </a:tc>
                <a:extLst>
                  <a:ext uri="{0D108BD9-81ED-4DB2-BD59-A6C34878D82A}">
                    <a16:rowId xmlns:a16="http://schemas.microsoft.com/office/drawing/2014/main" val="4232302754"/>
                  </a:ext>
                </a:extLst>
              </a:tr>
              <a:tr h="370840">
                <a:tc>
                  <a:txBody>
                    <a:bodyPr/>
                    <a:lstStyle/>
                    <a:p>
                      <a:pPr algn="ctr"/>
                      <a:r>
                        <a:rPr lang="en-US" dirty="0"/>
                        <a:t>N</a:t>
                      </a:r>
                      <a:endParaRPr lang="en-IN" dirty="0"/>
                    </a:p>
                  </a:txBody>
                  <a:tcPr/>
                </a:tc>
                <a:tc>
                  <a:txBody>
                    <a:bodyPr/>
                    <a:lstStyle/>
                    <a:p>
                      <a:pPr algn="ctr"/>
                      <a:r>
                        <a:rPr lang="en-US" dirty="0"/>
                        <a:t>X </a:t>
                      </a:r>
                      <a:endParaRPr lang="en-IN" dirty="0"/>
                    </a:p>
                  </a:txBody>
                  <a:tcPr/>
                </a:tc>
                <a:tc>
                  <a:txBody>
                    <a:bodyPr/>
                    <a:lstStyle/>
                    <a:p>
                      <a:pPr algn="ctr"/>
                      <a:r>
                        <a:rPr lang="en-US" dirty="0"/>
                        <a:t>NM </a:t>
                      </a:r>
                      <a:endParaRPr lang="en-IN" dirty="0"/>
                    </a:p>
                  </a:txBody>
                  <a:tcPr/>
                </a:tc>
                <a:extLst>
                  <a:ext uri="{0D108BD9-81ED-4DB2-BD59-A6C34878D82A}">
                    <a16:rowId xmlns:a16="http://schemas.microsoft.com/office/drawing/2014/main" val="453336601"/>
                  </a:ext>
                </a:extLst>
              </a:tr>
            </a:tbl>
          </a:graphicData>
        </a:graphic>
      </p:graphicFrame>
      <p:graphicFrame>
        <p:nvGraphicFramePr>
          <p:cNvPr id="9" name="Table 8">
            <a:extLst>
              <a:ext uri="{FF2B5EF4-FFF2-40B4-BE49-F238E27FC236}">
                <a16:creationId xmlns:a16="http://schemas.microsoft.com/office/drawing/2014/main" id="{1B1BAB8A-023D-7E9D-7DAE-57F951CABBE7}"/>
              </a:ext>
            </a:extLst>
          </p:cNvPr>
          <p:cNvGraphicFramePr>
            <a:graphicFrameLocks noGrp="1"/>
          </p:cNvGraphicFramePr>
          <p:nvPr/>
        </p:nvGraphicFramePr>
        <p:xfrm>
          <a:off x="7469766" y="955589"/>
          <a:ext cx="2110332" cy="5186680"/>
        </p:xfrm>
        <a:graphic>
          <a:graphicData uri="http://schemas.openxmlformats.org/drawingml/2006/table">
            <a:tbl>
              <a:tblPr firstRow="1" bandRow="1">
                <a:tableStyleId>{5940675A-B579-460E-94D1-54222C63F5DA}</a:tableStyleId>
              </a:tblPr>
              <a:tblGrid>
                <a:gridCol w="2110332">
                  <a:extLst>
                    <a:ext uri="{9D8B030D-6E8A-4147-A177-3AD203B41FA5}">
                      <a16:colId xmlns:a16="http://schemas.microsoft.com/office/drawing/2014/main" val="2982320076"/>
                    </a:ext>
                  </a:extLst>
                </a:gridCol>
              </a:tblGrid>
              <a:tr h="0">
                <a:tc>
                  <a:txBody>
                    <a:bodyPr/>
                    <a:lstStyle/>
                    <a:p>
                      <a:r>
                        <a:rPr lang="en-US" dirty="0"/>
                        <a:t>Operating System </a:t>
                      </a:r>
                      <a:endParaRPr lang="en-IN" dirty="0"/>
                    </a:p>
                  </a:txBody>
                  <a:tcPr/>
                </a:tc>
                <a:extLst>
                  <a:ext uri="{0D108BD9-81ED-4DB2-BD59-A6C34878D82A}">
                    <a16:rowId xmlns:a16="http://schemas.microsoft.com/office/drawing/2014/main" val="3782228353"/>
                  </a:ext>
                </a:extLst>
              </a:tr>
              <a:tr h="370840">
                <a:tc>
                  <a:txBody>
                    <a:bodyPr/>
                    <a:lstStyle/>
                    <a:p>
                      <a:endParaRPr lang="en-IN"/>
                    </a:p>
                  </a:txBody>
                  <a:tcPr/>
                </a:tc>
                <a:extLst>
                  <a:ext uri="{0D108BD9-81ED-4DB2-BD59-A6C34878D82A}">
                    <a16:rowId xmlns:a16="http://schemas.microsoft.com/office/drawing/2014/main" val="3694322701"/>
                  </a:ext>
                </a:extLst>
              </a:tr>
              <a:tr h="370840">
                <a:tc>
                  <a:txBody>
                    <a:bodyPr/>
                    <a:lstStyle/>
                    <a:p>
                      <a:r>
                        <a:rPr lang="en-US" dirty="0"/>
                        <a:t>100</a:t>
                      </a:r>
                      <a:endParaRPr lang="en-IN" dirty="0"/>
                    </a:p>
                  </a:txBody>
                  <a:tcPr/>
                </a:tc>
                <a:extLst>
                  <a:ext uri="{0D108BD9-81ED-4DB2-BD59-A6C34878D82A}">
                    <a16:rowId xmlns:a16="http://schemas.microsoft.com/office/drawing/2014/main" val="3813602354"/>
                  </a:ext>
                </a:extLst>
              </a:tr>
              <a:tr h="370840">
                <a:tc>
                  <a:txBody>
                    <a:bodyPr/>
                    <a:lstStyle/>
                    <a:p>
                      <a:r>
                        <a:rPr lang="en-US" dirty="0"/>
                        <a:t>200</a:t>
                      </a:r>
                      <a:endParaRPr lang="en-IN" dirty="0"/>
                    </a:p>
                  </a:txBody>
                  <a:tcPr/>
                </a:tc>
                <a:extLst>
                  <a:ext uri="{0D108BD9-81ED-4DB2-BD59-A6C34878D82A}">
                    <a16:rowId xmlns:a16="http://schemas.microsoft.com/office/drawing/2014/main" val="1829412739"/>
                  </a:ext>
                </a:extLst>
              </a:tr>
              <a:tr h="370840">
                <a:tc>
                  <a:txBody>
                    <a:bodyPr/>
                    <a:lstStyle/>
                    <a:p>
                      <a:r>
                        <a:rPr lang="en-US" dirty="0"/>
                        <a:t>300</a:t>
                      </a:r>
                      <a:endParaRPr lang="en-IN" dirty="0"/>
                    </a:p>
                  </a:txBody>
                  <a:tcPr/>
                </a:tc>
                <a:extLst>
                  <a:ext uri="{0D108BD9-81ED-4DB2-BD59-A6C34878D82A}">
                    <a16:rowId xmlns:a16="http://schemas.microsoft.com/office/drawing/2014/main" val="175754159"/>
                  </a:ext>
                </a:extLst>
              </a:tr>
              <a:tr h="370840">
                <a:tc>
                  <a:txBody>
                    <a:bodyPr/>
                    <a:lstStyle/>
                    <a:p>
                      <a:r>
                        <a:rPr lang="en-US" dirty="0"/>
                        <a:t>400</a:t>
                      </a:r>
                      <a:endParaRPr lang="en-IN" dirty="0"/>
                    </a:p>
                  </a:txBody>
                  <a:tcPr/>
                </a:tc>
                <a:extLst>
                  <a:ext uri="{0D108BD9-81ED-4DB2-BD59-A6C34878D82A}">
                    <a16:rowId xmlns:a16="http://schemas.microsoft.com/office/drawing/2014/main" val="947116502"/>
                  </a:ext>
                </a:extLst>
              </a:tr>
              <a:tr h="370840">
                <a:tc>
                  <a:txBody>
                    <a:bodyPr/>
                    <a:lstStyle/>
                    <a:p>
                      <a:r>
                        <a:rPr lang="en-US" dirty="0"/>
                        <a:t>500</a:t>
                      </a:r>
                      <a:endParaRPr lang="en-IN" dirty="0"/>
                    </a:p>
                  </a:txBody>
                  <a:tcPr/>
                </a:tc>
                <a:extLst>
                  <a:ext uri="{0D108BD9-81ED-4DB2-BD59-A6C34878D82A}">
                    <a16:rowId xmlns:a16="http://schemas.microsoft.com/office/drawing/2014/main" val="4140363230"/>
                  </a:ext>
                </a:extLst>
              </a:tr>
              <a:tr h="370840">
                <a:tc>
                  <a:txBody>
                    <a:bodyPr/>
                    <a:lstStyle/>
                    <a:p>
                      <a:r>
                        <a:rPr lang="en-US" dirty="0"/>
                        <a:t>600</a:t>
                      </a:r>
                      <a:endParaRPr lang="en-IN" dirty="0"/>
                    </a:p>
                  </a:txBody>
                  <a:tcPr/>
                </a:tc>
                <a:extLst>
                  <a:ext uri="{0D108BD9-81ED-4DB2-BD59-A6C34878D82A}">
                    <a16:rowId xmlns:a16="http://schemas.microsoft.com/office/drawing/2014/main" val="2100998346"/>
                  </a:ext>
                </a:extLst>
              </a:tr>
              <a:tr h="370840">
                <a:tc>
                  <a:txBody>
                    <a:bodyPr/>
                    <a:lstStyle/>
                    <a:p>
                      <a:r>
                        <a:rPr lang="en-US" dirty="0"/>
                        <a:t>700</a:t>
                      </a:r>
                      <a:endParaRPr lang="en-IN" dirty="0"/>
                    </a:p>
                  </a:txBody>
                  <a:tcPr/>
                </a:tc>
                <a:extLst>
                  <a:ext uri="{0D108BD9-81ED-4DB2-BD59-A6C34878D82A}">
                    <a16:rowId xmlns:a16="http://schemas.microsoft.com/office/drawing/2014/main" val="1645716534"/>
                  </a:ext>
                </a:extLst>
              </a:tr>
              <a:tr h="370840">
                <a:tc>
                  <a:txBody>
                    <a:bodyPr/>
                    <a:lstStyle/>
                    <a:p>
                      <a:r>
                        <a:rPr lang="en-US" dirty="0"/>
                        <a:t>800</a:t>
                      </a:r>
                      <a:endParaRPr lang="en-IN" dirty="0"/>
                    </a:p>
                  </a:txBody>
                  <a:tcPr/>
                </a:tc>
                <a:extLst>
                  <a:ext uri="{0D108BD9-81ED-4DB2-BD59-A6C34878D82A}">
                    <a16:rowId xmlns:a16="http://schemas.microsoft.com/office/drawing/2014/main" val="2288244852"/>
                  </a:ext>
                </a:extLst>
              </a:tr>
              <a:tr h="370840">
                <a:tc>
                  <a:txBody>
                    <a:bodyPr/>
                    <a:lstStyle/>
                    <a:p>
                      <a:endParaRPr lang="en-IN" dirty="0"/>
                    </a:p>
                  </a:txBody>
                  <a:tcPr/>
                </a:tc>
                <a:extLst>
                  <a:ext uri="{0D108BD9-81ED-4DB2-BD59-A6C34878D82A}">
                    <a16:rowId xmlns:a16="http://schemas.microsoft.com/office/drawing/2014/main" val="2417575072"/>
                  </a:ext>
                </a:extLst>
              </a:tr>
              <a:tr h="370840">
                <a:tc>
                  <a:txBody>
                    <a:bodyPr/>
                    <a:lstStyle/>
                    <a:p>
                      <a:r>
                        <a:rPr lang="en-US" dirty="0"/>
                        <a:t>NM </a:t>
                      </a:r>
                      <a:endParaRPr lang="en-IN" dirty="0"/>
                    </a:p>
                  </a:txBody>
                  <a:tcPr/>
                </a:tc>
                <a:extLst>
                  <a:ext uri="{0D108BD9-81ED-4DB2-BD59-A6C34878D82A}">
                    <a16:rowId xmlns:a16="http://schemas.microsoft.com/office/drawing/2014/main" val="2179361279"/>
                  </a:ext>
                </a:extLst>
              </a:tr>
              <a:tr h="370840">
                <a:tc>
                  <a:txBody>
                    <a:bodyPr/>
                    <a:lstStyle/>
                    <a:p>
                      <a:endParaRPr lang="en-IN"/>
                    </a:p>
                  </a:txBody>
                  <a:tcPr/>
                </a:tc>
                <a:extLst>
                  <a:ext uri="{0D108BD9-81ED-4DB2-BD59-A6C34878D82A}">
                    <a16:rowId xmlns:a16="http://schemas.microsoft.com/office/drawing/2014/main" val="2959053567"/>
                  </a:ext>
                </a:extLst>
              </a:tr>
              <a:tr h="370840">
                <a:tc>
                  <a:txBody>
                    <a:bodyPr/>
                    <a:lstStyle/>
                    <a:p>
                      <a:endParaRPr lang="en-IN" dirty="0"/>
                    </a:p>
                  </a:txBody>
                  <a:tcPr/>
                </a:tc>
                <a:extLst>
                  <a:ext uri="{0D108BD9-81ED-4DB2-BD59-A6C34878D82A}">
                    <a16:rowId xmlns:a16="http://schemas.microsoft.com/office/drawing/2014/main" val="4224944736"/>
                  </a:ext>
                </a:extLst>
              </a:tr>
            </a:tbl>
          </a:graphicData>
        </a:graphic>
      </p:graphicFrame>
      <p:cxnSp>
        <p:nvCxnSpPr>
          <p:cNvPr id="11" name="Straight Connector 10">
            <a:extLst>
              <a:ext uri="{FF2B5EF4-FFF2-40B4-BE49-F238E27FC236}">
                <a16:creationId xmlns:a16="http://schemas.microsoft.com/office/drawing/2014/main" id="{D2DF0B77-B9DF-6475-E0E9-861D650094C5}"/>
              </a:ext>
            </a:extLst>
          </p:cNvPr>
          <p:cNvCxnSpPr/>
          <p:nvPr/>
        </p:nvCxnSpPr>
        <p:spPr>
          <a:xfrm>
            <a:off x="5737185" y="1798901"/>
            <a:ext cx="524719"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DC9976E2-8232-2B32-62C1-C8E48AD7E63A}"/>
              </a:ext>
            </a:extLst>
          </p:cNvPr>
          <p:cNvCxnSpPr>
            <a:cxnSpLocks/>
          </p:cNvCxnSpPr>
          <p:nvPr/>
        </p:nvCxnSpPr>
        <p:spPr>
          <a:xfrm>
            <a:off x="5737185" y="2541609"/>
            <a:ext cx="262359"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F19C3091-0315-99D9-744D-E0537DF78DBF}"/>
              </a:ext>
            </a:extLst>
          </p:cNvPr>
          <p:cNvCxnSpPr/>
          <p:nvPr/>
        </p:nvCxnSpPr>
        <p:spPr>
          <a:xfrm>
            <a:off x="5737185" y="2147267"/>
            <a:ext cx="524719"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F6433414-AA5B-0EBB-83CA-A307A9D43A0B}"/>
              </a:ext>
            </a:extLst>
          </p:cNvPr>
          <p:cNvCxnSpPr>
            <a:cxnSpLocks/>
          </p:cNvCxnSpPr>
          <p:nvPr/>
        </p:nvCxnSpPr>
        <p:spPr>
          <a:xfrm flipH="1">
            <a:off x="6014979" y="2541609"/>
            <a:ext cx="5669" cy="1932009"/>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6192ADEA-7F16-C8DF-EDDF-971E9044F203}"/>
              </a:ext>
            </a:extLst>
          </p:cNvPr>
          <p:cNvCxnSpPr>
            <a:cxnSpLocks/>
          </p:cNvCxnSpPr>
          <p:nvPr/>
        </p:nvCxnSpPr>
        <p:spPr>
          <a:xfrm>
            <a:off x="6261904" y="1798901"/>
            <a:ext cx="0" cy="168795"/>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F381E0A6-FDB0-BFB1-8C8C-D519578063F2}"/>
              </a:ext>
            </a:extLst>
          </p:cNvPr>
          <p:cNvCxnSpPr>
            <a:cxnSpLocks/>
          </p:cNvCxnSpPr>
          <p:nvPr/>
        </p:nvCxnSpPr>
        <p:spPr>
          <a:xfrm flipH="1">
            <a:off x="6256235" y="2147267"/>
            <a:ext cx="5669" cy="1183429"/>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918178A1-3149-B8FA-8910-F2BBDCB44C17}"/>
              </a:ext>
            </a:extLst>
          </p:cNvPr>
          <p:cNvCxnSpPr/>
          <p:nvPr/>
        </p:nvCxnSpPr>
        <p:spPr>
          <a:xfrm>
            <a:off x="6261904" y="1967696"/>
            <a:ext cx="120786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3D1FEFE9-B6AE-0B75-8647-1C809C715F29}"/>
              </a:ext>
            </a:extLst>
          </p:cNvPr>
          <p:cNvCxnSpPr/>
          <p:nvPr/>
        </p:nvCxnSpPr>
        <p:spPr>
          <a:xfrm>
            <a:off x="6256235" y="3330696"/>
            <a:ext cx="120786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51590FC7-C929-B9D6-F71F-526593AA6A16}"/>
              </a:ext>
            </a:extLst>
          </p:cNvPr>
          <p:cNvCxnSpPr>
            <a:cxnSpLocks/>
          </p:cNvCxnSpPr>
          <p:nvPr/>
        </p:nvCxnSpPr>
        <p:spPr>
          <a:xfrm>
            <a:off x="6014979" y="4473618"/>
            <a:ext cx="144911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080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CF8F-91CA-F170-DD13-C1E4538F64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8236DA-4B59-72E0-84E6-6D465B435C96}"/>
              </a:ext>
            </a:extLst>
          </p:cNvPr>
          <p:cNvSpPr txBox="1"/>
          <p:nvPr/>
        </p:nvSpPr>
        <p:spPr>
          <a:xfrm>
            <a:off x="742513" y="243610"/>
            <a:ext cx="8605882" cy="2862322"/>
          </a:xfrm>
          <a:prstGeom prst="rect">
            <a:avLst/>
          </a:prstGeom>
          <a:noFill/>
        </p:spPr>
        <p:txBody>
          <a:bodyPr wrap="square">
            <a:spAutoFit/>
          </a:bodyPr>
          <a:lstStyle/>
          <a:p>
            <a:r>
              <a:rPr lang="en-US" b="1" u="sng" dirty="0"/>
              <a:t>5.5 virtual Memory- concept., Demand Paging </a:t>
            </a:r>
          </a:p>
          <a:p>
            <a:endParaRPr lang="en-US" b="1" u="sng" dirty="0"/>
          </a:p>
          <a:p>
            <a:pPr marL="342900" indent="-342900">
              <a:buAutoNum type="arabicParenR"/>
            </a:pPr>
            <a:r>
              <a:rPr lang="en-US" dirty="0"/>
              <a:t>virtual memory is a memory management technique used by operating systems to provide the illusion of a larger memory space than is actually avail. able physically </a:t>
            </a:r>
          </a:p>
          <a:p>
            <a:r>
              <a:rPr lang="en-US" dirty="0"/>
              <a:t>2)  It allows program to use more memory than is physically available by temporarily transfixing data between RAM and disk storage.</a:t>
            </a:r>
          </a:p>
          <a:p>
            <a:pPr marL="342900" indent="-342900">
              <a:buAutoNum type="arabicParenR" startAt="3"/>
            </a:pPr>
            <a:r>
              <a:rPr lang="en-US" dirty="0"/>
              <a:t>This helps in multitasking, allowing multiple process es to nun on currently without running out of memory: </a:t>
            </a:r>
          </a:p>
          <a:p>
            <a:pPr marL="342900" indent="-342900">
              <a:buAutoNum type="arabicParenR" startAt="3"/>
            </a:pPr>
            <a:r>
              <a:rPr lang="en-US" dirty="0"/>
              <a:t>virtual memory is commonly implemented by demand paging.</a:t>
            </a:r>
            <a:endParaRPr lang="en-IN" dirty="0"/>
          </a:p>
        </p:txBody>
      </p:sp>
      <p:pic>
        <p:nvPicPr>
          <p:cNvPr id="5" name="Picture 2" descr="Virtual Memory in Operating System | Board Infinity">
            <a:extLst>
              <a:ext uri="{FF2B5EF4-FFF2-40B4-BE49-F238E27FC236}">
                <a16:creationId xmlns:a16="http://schemas.microsoft.com/office/drawing/2014/main" id="{D45C4FC1-70A7-64CD-5815-55FC9A68E2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513" y="3178546"/>
            <a:ext cx="7390269" cy="322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221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24A45-9757-B1FE-9A67-AD25591C61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DF8B7A-67B6-C64B-DF09-F1333A2203D3}"/>
              </a:ext>
            </a:extLst>
          </p:cNvPr>
          <p:cNvSpPr txBox="1"/>
          <p:nvPr/>
        </p:nvSpPr>
        <p:spPr>
          <a:xfrm>
            <a:off x="837020" y="150278"/>
            <a:ext cx="8475562" cy="3416320"/>
          </a:xfrm>
          <a:prstGeom prst="rect">
            <a:avLst/>
          </a:prstGeom>
          <a:noFill/>
        </p:spPr>
        <p:txBody>
          <a:bodyPr wrap="square">
            <a:spAutoFit/>
          </a:bodyPr>
          <a:lstStyle/>
          <a:p>
            <a:pPr marL="285750" indent="-285750">
              <a:buFont typeface="Wingdings" panose="05000000000000000000" pitchFamily="2" charset="2"/>
              <a:buChar char="v"/>
            </a:pPr>
            <a:r>
              <a:rPr lang="en-US" b="1" u="sng" dirty="0"/>
              <a:t> Demand Paging :- </a:t>
            </a:r>
          </a:p>
          <a:p>
            <a:endParaRPr lang="en-US" dirty="0"/>
          </a:p>
          <a:p>
            <a:pPr marL="400050" indent="-400050">
              <a:buFont typeface="+mj-lt"/>
              <a:buAutoNum type="romanUcPeriod"/>
            </a:pPr>
            <a:r>
              <a:rPr lang="en-US" dirty="0"/>
              <a:t>Demand paging is a memory management scheme sed in operating systems where pages are only loaded into memory when they are demanded by the program being executed </a:t>
            </a:r>
          </a:p>
          <a:p>
            <a:pPr marL="400050" indent="-400050">
              <a:buFont typeface="+mj-lt"/>
              <a:buAutoNum type="romanUcPeriod"/>
            </a:pPr>
            <a:r>
              <a:rPr lang="en-US" dirty="0"/>
              <a:t>This means that not all pages of a program need to be loaded into memory at once, which helps conserve memory, resource.</a:t>
            </a:r>
          </a:p>
          <a:p>
            <a:pPr marL="400050" indent="-400050">
              <a:buFont typeface="+mj-lt"/>
              <a:buAutoNum type="romanUcPeriod"/>
            </a:pPr>
            <a:r>
              <a:rPr lang="en-US" dirty="0"/>
              <a:t>when a page that is not currently in memory is accessed, a page fault occurs, and the operating system loads the required page from disk into memory </a:t>
            </a:r>
          </a:p>
          <a:p>
            <a:pPr marL="400050" indent="-400050">
              <a:buFont typeface="+mj-lt"/>
              <a:buAutoNum type="romanUcPeriod"/>
            </a:pPr>
            <a:r>
              <a:rPr lang="en-US" dirty="0"/>
              <a:t>This technique allows for more efficient memory usage and bettered overall system performance </a:t>
            </a:r>
            <a:endParaRPr lang="en-IN" dirty="0"/>
          </a:p>
        </p:txBody>
      </p:sp>
    </p:spTree>
    <p:extLst>
      <p:ext uri="{BB962C8B-B14F-4D97-AF65-F5344CB8AC3E}">
        <p14:creationId xmlns:p14="http://schemas.microsoft.com/office/powerpoint/2010/main" val="2045809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3E49-C045-5006-87D5-E73F947F97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1D6B04-275F-8FE4-0535-710DDC4870F5}"/>
              </a:ext>
            </a:extLst>
          </p:cNvPr>
          <p:cNvPicPr>
            <a:picLocks noChangeAspect="1"/>
          </p:cNvPicPr>
          <p:nvPr/>
        </p:nvPicPr>
        <p:blipFill>
          <a:blip r:embed="rId2"/>
          <a:stretch>
            <a:fillRect/>
          </a:stretch>
        </p:blipFill>
        <p:spPr>
          <a:xfrm>
            <a:off x="1099596" y="393540"/>
            <a:ext cx="8160152" cy="6007260"/>
          </a:xfrm>
          <a:prstGeom prst="rect">
            <a:avLst/>
          </a:prstGeom>
        </p:spPr>
      </p:pic>
    </p:spTree>
    <p:extLst>
      <p:ext uri="{BB962C8B-B14F-4D97-AF65-F5344CB8AC3E}">
        <p14:creationId xmlns:p14="http://schemas.microsoft.com/office/powerpoint/2010/main" val="1228520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FD692-5297-8E2F-638D-26B3A90B5D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EFC359-E80F-9A98-5319-B1CBC3999DC8}"/>
              </a:ext>
            </a:extLst>
          </p:cNvPr>
          <p:cNvSpPr txBox="1"/>
          <p:nvPr/>
        </p:nvSpPr>
        <p:spPr>
          <a:xfrm>
            <a:off x="785308" y="165046"/>
            <a:ext cx="8708521" cy="2862322"/>
          </a:xfrm>
          <a:prstGeom prst="rect">
            <a:avLst/>
          </a:prstGeom>
          <a:noFill/>
        </p:spPr>
        <p:txBody>
          <a:bodyPr wrap="square">
            <a:spAutoFit/>
          </a:bodyPr>
          <a:lstStyle/>
          <a:p>
            <a:pPr marL="285750" indent="-285750">
              <a:buFont typeface="Wingdings" panose="05000000000000000000" pitchFamily="2" charset="2"/>
              <a:buChar char="§"/>
            </a:pPr>
            <a:r>
              <a:rPr lang="en-US" b="1" u="sng" dirty="0"/>
              <a:t>Advantages:-</a:t>
            </a:r>
          </a:p>
          <a:p>
            <a:pPr marL="285750" indent="-285750">
              <a:buFont typeface="Wingdings" panose="05000000000000000000" pitchFamily="2" charset="2"/>
              <a:buChar char="§"/>
            </a:pPr>
            <a:endParaRPr lang="en-US" b="1" u="sng" dirty="0"/>
          </a:p>
          <a:p>
            <a:pPr marL="285750" indent="-285750">
              <a:buFont typeface="Arial" panose="020B0604020202020204" pitchFamily="34" charset="0"/>
              <a:buChar char="•"/>
            </a:pPr>
            <a:r>
              <a:rPr lang="en-US" dirty="0"/>
              <a:t> Large virtual memory </a:t>
            </a:r>
          </a:p>
          <a:p>
            <a:pPr marL="285750" indent="-285750">
              <a:buFont typeface="Arial" panose="020B0604020202020204" pitchFamily="34" charset="0"/>
              <a:buChar char="•"/>
            </a:pPr>
            <a:r>
              <a:rPr lang="en-US" dirty="0"/>
              <a:t>More efficient use of memory </a:t>
            </a:r>
          </a:p>
          <a:p>
            <a:pPr marL="285750" indent="-285750">
              <a:buFont typeface="Arial" panose="020B0604020202020204" pitchFamily="34" charset="0"/>
              <a:buChar char="•"/>
            </a:pPr>
            <a:endParaRPr lang="en-US" dirty="0"/>
          </a:p>
          <a:p>
            <a:pPr marL="285750" indent="-285750">
              <a:buFont typeface="Wingdings" panose="05000000000000000000" pitchFamily="2" charset="2"/>
              <a:buChar char="§"/>
            </a:pPr>
            <a:r>
              <a:rPr lang="en-US" b="1" u="sng" dirty="0"/>
              <a:t>Disadvantages:- </a:t>
            </a:r>
          </a:p>
          <a:p>
            <a:pPr marL="285750" indent="-285750">
              <a:buFont typeface="Wingdings" panose="05000000000000000000" pitchFamily="2" charset="2"/>
              <a:buChar char="§"/>
            </a:pPr>
            <a:endParaRPr lang="en-US" b="1" u="sng" dirty="0"/>
          </a:p>
          <a:p>
            <a:pPr marL="285750" indent="-285750">
              <a:buFont typeface="Arial" panose="020B0604020202020204" pitchFamily="34" charset="0"/>
              <a:buChar char="•"/>
            </a:pPr>
            <a:r>
              <a:rPr lang="en-US" dirty="0"/>
              <a:t> Number of tables and the amount of processor overhead for handling page interrupts are greater than in the case of the simple paged management techniques </a:t>
            </a:r>
            <a:endParaRPr lang="en-IN" dirty="0"/>
          </a:p>
        </p:txBody>
      </p:sp>
      <p:sp>
        <p:nvSpPr>
          <p:cNvPr id="4" name="TextBox 3">
            <a:extLst>
              <a:ext uri="{FF2B5EF4-FFF2-40B4-BE49-F238E27FC236}">
                <a16:creationId xmlns:a16="http://schemas.microsoft.com/office/drawing/2014/main" id="{7BA18B86-D34A-99DB-4DF3-106BB1538894}"/>
              </a:ext>
            </a:extLst>
          </p:cNvPr>
          <p:cNvSpPr txBox="1"/>
          <p:nvPr/>
        </p:nvSpPr>
        <p:spPr>
          <a:xfrm>
            <a:off x="393234" y="3201330"/>
            <a:ext cx="9100595" cy="3416320"/>
          </a:xfrm>
          <a:prstGeom prst="rect">
            <a:avLst/>
          </a:prstGeom>
          <a:noFill/>
        </p:spPr>
        <p:txBody>
          <a:bodyPr wrap="square">
            <a:spAutoFit/>
          </a:bodyPr>
          <a:lstStyle/>
          <a:p>
            <a:r>
              <a:rPr lang="en-US" b="1" u="sng" dirty="0"/>
              <a:t>5.6] page Replacement Algorithms </a:t>
            </a:r>
            <a:r>
              <a:rPr lang="en-US" dirty="0"/>
              <a:t>:- First In First out (FIFO) Least Recently used (LRU) ,Optimal page Replacement No recently used (NRU)</a:t>
            </a:r>
          </a:p>
          <a:p>
            <a:r>
              <a:rPr lang="en-US" dirty="0"/>
              <a:t>In operating system, a page replacement algorithm manages memory when a page fault occur </a:t>
            </a:r>
          </a:p>
          <a:p>
            <a:r>
              <a:rPr lang="en-US" dirty="0"/>
              <a:t>1] First In First out (fifo) :-</a:t>
            </a:r>
          </a:p>
          <a:p>
            <a:pPr marL="400050" indent="-400050">
              <a:buFont typeface="+mj-lt"/>
              <a:buAutoNum type="romanUcPeriod"/>
            </a:pPr>
            <a:r>
              <a:rPr lang="en-US" dirty="0"/>
              <a:t>This is the simplest page replacement algorithm </a:t>
            </a:r>
          </a:p>
          <a:p>
            <a:pPr marL="400050" indent="-400050">
              <a:buFont typeface="+mj-lt"/>
              <a:buAutoNum type="romanUcPeriod"/>
            </a:pPr>
            <a:r>
              <a:rPr lang="en-US" dirty="0"/>
              <a:t>In this algorithm , the operating system keeps track of all pages in the memory in a queue , the oldest page is in the from of the queue</a:t>
            </a:r>
          </a:p>
          <a:p>
            <a:pPr marL="400050" indent="-400050">
              <a:buFont typeface="+mj-lt"/>
              <a:buAutoNum type="romanUcPeriod"/>
            </a:pPr>
            <a:r>
              <a:rPr lang="en-US" dirty="0"/>
              <a:t>When a page needs to be replaced page In the front of the queue is selected for removal </a:t>
            </a:r>
          </a:p>
          <a:p>
            <a:endParaRPr lang="en-US" dirty="0"/>
          </a:p>
          <a:p>
            <a:r>
              <a:rPr lang="en-US" dirty="0"/>
              <a:t>E.g.,   </a:t>
            </a:r>
            <a:endParaRPr lang="en-IN" dirty="0"/>
          </a:p>
        </p:txBody>
      </p:sp>
    </p:spTree>
    <p:extLst>
      <p:ext uri="{BB962C8B-B14F-4D97-AF65-F5344CB8AC3E}">
        <p14:creationId xmlns:p14="http://schemas.microsoft.com/office/powerpoint/2010/main" val="1037066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D7090-DA9A-6B16-B9AA-A71B22D1C354}"/>
            </a:ext>
          </a:extLst>
        </p:cNvPr>
        <p:cNvGrpSpPr/>
        <p:nvPr/>
      </p:nvGrpSpPr>
      <p:grpSpPr>
        <a:xfrm>
          <a:off x="0" y="0"/>
          <a:ext cx="0" cy="0"/>
          <a:chOff x="0" y="0"/>
          <a:chExt cx="0" cy="0"/>
        </a:xfrm>
      </p:grpSpPr>
      <p:pic>
        <p:nvPicPr>
          <p:cNvPr id="3" name="Picture 2" descr="Page Replacement Algorithms in Operating Systems - GeeksforGeeks">
            <a:extLst>
              <a:ext uri="{FF2B5EF4-FFF2-40B4-BE49-F238E27FC236}">
                <a16:creationId xmlns:a16="http://schemas.microsoft.com/office/drawing/2014/main" id="{879CEA1D-3D17-8A16-B64A-1E97B625A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366" y="261709"/>
            <a:ext cx="7558540" cy="5601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909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EA13-AB93-2541-91AA-A90530B716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46715D-7EF2-2811-8A48-9CC76BB1DD0F}"/>
              </a:ext>
            </a:extLst>
          </p:cNvPr>
          <p:cNvSpPr txBox="1"/>
          <p:nvPr/>
        </p:nvSpPr>
        <p:spPr>
          <a:xfrm>
            <a:off x="821803" y="216644"/>
            <a:ext cx="8565265" cy="1754326"/>
          </a:xfrm>
          <a:prstGeom prst="rect">
            <a:avLst/>
          </a:prstGeom>
          <a:noFill/>
        </p:spPr>
        <p:txBody>
          <a:bodyPr wrap="square">
            <a:spAutoFit/>
          </a:bodyPr>
          <a:lstStyle/>
          <a:p>
            <a:r>
              <a:rPr lang="en-US" b="1" u="sng" dirty="0"/>
              <a:t>2) Least Recently Used (LRU) :- </a:t>
            </a:r>
          </a:p>
          <a:p>
            <a:endParaRPr lang="en-US" b="1" u="sng" dirty="0"/>
          </a:p>
          <a:p>
            <a:pPr marL="400050" indent="-400050">
              <a:buAutoNum type="romanLcParenR"/>
            </a:pPr>
            <a:r>
              <a:rPr lang="en-US" dirty="0"/>
              <a:t> In this algorithm, page will be replaced which is least recently used</a:t>
            </a:r>
          </a:p>
          <a:p>
            <a:pPr marL="400050" indent="-400050">
              <a:buAutoNum type="romanLcParenR"/>
            </a:pPr>
            <a:r>
              <a:rPr lang="en-US" dirty="0"/>
              <a:t> Page which has not been used for the longest time in main memory is the one which will be selected for replacement.</a:t>
            </a:r>
          </a:p>
          <a:p>
            <a:pPr marL="400050" indent="-400050">
              <a:buAutoNum type="romanLcParenR"/>
            </a:pPr>
            <a:r>
              <a:rPr lang="en-US" dirty="0"/>
              <a:t> Easy to implement , keep a list, replace pages by looking back into time.</a:t>
            </a:r>
            <a:endParaRPr lang="en-IN" dirty="0"/>
          </a:p>
        </p:txBody>
      </p:sp>
      <p:pic>
        <p:nvPicPr>
          <p:cNvPr id="4" name="Picture 2" descr="Page Replacement Algorithms in Operating Systems - GeeksforGeeks">
            <a:extLst>
              <a:ext uri="{FF2B5EF4-FFF2-40B4-BE49-F238E27FC236}">
                <a16:creationId xmlns:a16="http://schemas.microsoft.com/office/drawing/2014/main" id="{58C0F99A-EC77-0B8A-E059-9A4BEE737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926" y="2161332"/>
            <a:ext cx="8565265" cy="3735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08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5EEC4-6883-18C0-D441-D55A046B89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176969-93C1-1ACE-C828-8842B7DDC95E}"/>
              </a:ext>
            </a:extLst>
          </p:cNvPr>
          <p:cNvSpPr txBox="1"/>
          <p:nvPr/>
        </p:nvSpPr>
        <p:spPr>
          <a:xfrm>
            <a:off x="775504" y="159168"/>
            <a:ext cx="8542116" cy="2308324"/>
          </a:xfrm>
          <a:prstGeom prst="rect">
            <a:avLst/>
          </a:prstGeom>
          <a:noFill/>
        </p:spPr>
        <p:txBody>
          <a:bodyPr wrap="square">
            <a:spAutoFit/>
          </a:bodyPr>
          <a:lstStyle/>
          <a:p>
            <a:r>
              <a:rPr lang="en-US" b="1" u="sng" dirty="0"/>
              <a:t>3) optimal Page Replacement:- </a:t>
            </a:r>
          </a:p>
          <a:p>
            <a:endParaRPr lang="en-US" b="1" u="sng" dirty="0"/>
          </a:p>
          <a:p>
            <a:pPr marL="400050" indent="-400050">
              <a:buAutoNum type="romanLcParenR"/>
            </a:pPr>
            <a:r>
              <a:rPr lang="en-US" dirty="0"/>
              <a:t>An optimal page replacement algorithm has the lowest page- fault rate of all algorithms.</a:t>
            </a:r>
          </a:p>
          <a:p>
            <a:pPr marL="400050" indent="-400050">
              <a:buAutoNum type="romanLcParenR"/>
            </a:pPr>
            <a:r>
              <a:rPr lang="en-US" dirty="0"/>
              <a:t> An optimal page- replacement algorithm exists, and has been called OPT or MIN.</a:t>
            </a:r>
          </a:p>
          <a:p>
            <a:pPr marL="400050" indent="-400050">
              <a:buAutoNum type="romanLcParenR"/>
            </a:pPr>
            <a:r>
              <a:rPr lang="en-US" dirty="0"/>
              <a:t> Replace the page that will not be used for longest period of time. use the time when a page is to be used</a:t>
            </a:r>
            <a:endParaRPr lang="en-IN" dirty="0"/>
          </a:p>
        </p:txBody>
      </p:sp>
      <p:pic>
        <p:nvPicPr>
          <p:cNvPr id="4" name="Picture 3">
            <a:extLst>
              <a:ext uri="{FF2B5EF4-FFF2-40B4-BE49-F238E27FC236}">
                <a16:creationId xmlns:a16="http://schemas.microsoft.com/office/drawing/2014/main" id="{05A4A202-4A1D-75E0-1638-EFDDDF86B8AB}"/>
              </a:ext>
            </a:extLst>
          </p:cNvPr>
          <p:cNvPicPr>
            <a:picLocks noChangeAspect="1"/>
          </p:cNvPicPr>
          <p:nvPr/>
        </p:nvPicPr>
        <p:blipFill>
          <a:blip r:embed="rId2"/>
          <a:srcRect l="5999" t="-1" r="4746" b="28358"/>
          <a:stretch>
            <a:fillRect/>
          </a:stretch>
        </p:blipFill>
        <p:spPr>
          <a:xfrm>
            <a:off x="509287" y="2490642"/>
            <a:ext cx="9155228" cy="2810563"/>
          </a:xfrm>
          <a:prstGeom prst="rect">
            <a:avLst/>
          </a:prstGeom>
        </p:spPr>
      </p:pic>
    </p:spTree>
    <p:extLst>
      <p:ext uri="{BB962C8B-B14F-4D97-AF65-F5344CB8AC3E}">
        <p14:creationId xmlns:p14="http://schemas.microsoft.com/office/powerpoint/2010/main" val="19504137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163</TotalTime>
  <Words>1874</Words>
  <Application>Microsoft Office PowerPoint</Application>
  <PresentationFormat>Widescreen</PresentationFormat>
  <Paragraphs>196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Trebuchet MS</vt:lpstr>
      <vt:lpstr>Wingdings</vt:lpstr>
      <vt:lpstr>Wingdings 3</vt:lpstr>
      <vt:lpstr>Facet</vt:lpstr>
      <vt:lpstr>5. Memory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shshinde2580@gmail.com</cp:lastModifiedBy>
  <cp:revision>3</cp:revision>
  <dcterms:created xsi:type="dcterms:W3CDTF">2025-09-26T06:12:42Z</dcterms:created>
  <dcterms:modified xsi:type="dcterms:W3CDTF">2025-09-30T07:38:36Z</dcterms:modified>
</cp:coreProperties>
</file>