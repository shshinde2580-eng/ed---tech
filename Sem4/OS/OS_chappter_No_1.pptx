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4"/>
  </p:notesMasterIdLst>
  <p:sldIdLst>
    <p:sldId id="256" r:id="rId2"/>
    <p:sldId id="262" r:id="rId3"/>
    <p:sldId id="259" r:id="rId4"/>
    <p:sldId id="261" r:id="rId5"/>
    <p:sldId id="260" r:id="rId6"/>
    <p:sldId id="258" r:id="rId7"/>
    <p:sldId id="263" r:id="rId8"/>
    <p:sldId id="264" r:id="rId9"/>
    <p:sldId id="265" r:id="rId10"/>
    <p:sldId id="267" r:id="rId11"/>
    <p:sldId id="266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4T10:29:14.94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1330 1 24575,'-1'0'0,"0"0"0,0 1 0,0-1 0,0 0 0,0 0 0,0 1 0,0-1 0,0 1 0,0-1 0,0 1 0,1 0 0,-1-1 0,0 1 0,0 0 0,0-1 0,1 1 0,-2 1 0,-5 5 0,-268 205 0,104-86 0,120-83 0,1 2 0,3 2 0,-72 93 0,-99 180 0,151-209 0,-91 211 0,142-276 0,2-1 0,-14 94 0,2-10 0,6-37 0,-16 181 0,26 97 0,12-283 0,4 0 0,3-1 0,4 0 0,4-1 0,3 0 0,59 149 0,-53-181 0,3-1 0,1-1 0,54 66 0,-1 0 0,-70-97 0,1-1 0,2 0 0,0-1 0,0-1 0,2 0 0,0-1 0,21 14 0,224 155 0,-3-3 0,-151-103 0,-71-55 0,2-1 0,44 18 0,-75-37 0,-6-2-136,1-1-1,-1 1 1,0-1-1,1 0 1,-1 0-1,1 0 1,0-1-1,-1 1 0,6-1 1,5-2-6690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4T10:29:56.34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723 1 24575,'-1'3'0,"0"1"0,0-1 0,-1 0 0,1 0 0,-1 1 0,1-1 0,-1 0 0,0 0 0,0-1 0,-1 1 0,1 0 0,-4 3 0,-2 2 0,-40 49 0,-54 71 0,80-96 0,-181 285 0,188-284 0,1 1 0,-15 61 0,13-43 0,-52 138 0,-15 49 0,73-203 0,2 1 0,2 0 0,1 0 0,0 68 0,4-52 0,-11 70 0,2-29 0,1 10 0,-13 301 0,25-319 0,3-1 0,34 157 0,-12-114 0,68 194 0,-84-297 0,1 0 0,1 0 0,1-2 0,1 0 0,22 24 0,0 2 0,-1 7 0,-29-43 0,0 1 0,1-2 0,0 1 0,1-2 0,0 1 0,14 11 0,-7-11 0,1 0 0,0-1 0,1-1 0,0-1 0,30 10 0,-35-14 0,-1 2 0,0 1 0,-1 0 0,0 1 0,0 0 0,-1 1 0,20 21 0,-15-15 0,56 67-1356,-72-83 1347,13 15-6817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4T10:30:06.79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B99B7A-0B45-4252-A93C-2250219A03BB}" type="datetimeFigureOut">
              <a:rPr lang="en-IN" smtClean="0"/>
              <a:t>24-09-2025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B1C451-E61F-4A96-AC0A-01DDDF50F9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05411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B1C451-E61F-4A96-AC0A-01DDDF50F9C5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10126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B1C451-E61F-4A96-AC0A-01DDDF50F9C5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95141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19153-5742-4B74-BB95-11F312A1A40A}" type="datetimeFigureOut">
              <a:rPr lang="en-IN" smtClean="0"/>
              <a:t>24-09-2025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C9A13-84D7-4947-946D-4FE0CAD7CC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0003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19153-5742-4B74-BB95-11F312A1A40A}" type="datetimeFigureOut">
              <a:rPr lang="en-IN" smtClean="0"/>
              <a:t>24-09-2025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C9A13-84D7-4947-946D-4FE0CAD7CC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91104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19153-5742-4B74-BB95-11F312A1A40A}" type="datetimeFigureOut">
              <a:rPr lang="en-IN" smtClean="0"/>
              <a:t>24-09-2025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C9A13-84D7-4947-946D-4FE0CAD7CC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62617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19153-5742-4B74-BB95-11F312A1A40A}" type="datetimeFigureOut">
              <a:rPr lang="en-IN" smtClean="0"/>
              <a:t>24-09-2025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C9A13-84D7-4947-946D-4FE0CAD7CC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64233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19153-5742-4B74-BB95-11F312A1A40A}" type="datetimeFigureOut">
              <a:rPr lang="en-IN" smtClean="0"/>
              <a:t>24-09-2025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C9A13-84D7-4947-946D-4FE0CAD7CC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69316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19153-5742-4B74-BB95-11F312A1A40A}" type="datetimeFigureOut">
              <a:rPr lang="en-IN" smtClean="0"/>
              <a:t>24-09-2025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C9A13-84D7-4947-946D-4FE0CAD7CC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33079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19153-5742-4B74-BB95-11F312A1A40A}" type="datetimeFigureOut">
              <a:rPr lang="en-IN" smtClean="0"/>
              <a:t>24-09-2025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C9A13-84D7-4947-946D-4FE0CAD7CC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26684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19153-5742-4B74-BB95-11F312A1A40A}" type="datetimeFigureOut">
              <a:rPr lang="en-IN" smtClean="0"/>
              <a:t>24-09-2025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C9A13-84D7-4947-946D-4FE0CAD7CC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87159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19153-5742-4B74-BB95-11F312A1A40A}" type="datetimeFigureOut">
              <a:rPr lang="en-IN" smtClean="0"/>
              <a:t>24-09-2025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C9A13-84D7-4947-946D-4FE0CAD7CC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38109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19153-5742-4B74-BB95-11F312A1A40A}" type="datetimeFigureOut">
              <a:rPr lang="en-IN" smtClean="0"/>
              <a:t>24-09-2025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C9A13-84D7-4947-946D-4FE0CAD7CC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01895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19153-5742-4B74-BB95-11F312A1A40A}" type="datetimeFigureOut">
              <a:rPr lang="en-IN" smtClean="0"/>
              <a:t>24-09-2025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C9A13-84D7-4947-946D-4FE0CAD7CCA1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428671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19153-5742-4B74-BB95-11F312A1A40A}" type="datetimeFigureOut">
              <a:rPr lang="en-IN" smtClean="0"/>
              <a:t>24-09-2025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C9A13-84D7-4947-946D-4FE0CAD7CC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00866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19153-5742-4B74-BB95-11F312A1A40A}" type="datetimeFigureOut">
              <a:rPr lang="en-IN" smtClean="0"/>
              <a:t>24-09-2025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C9A13-84D7-4947-946D-4FE0CAD7CCA1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630502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19153-5742-4B74-BB95-11F312A1A40A}" type="datetimeFigureOut">
              <a:rPr lang="en-IN" smtClean="0"/>
              <a:t>24-09-2025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C9A13-84D7-4947-946D-4FE0CAD7CC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07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19153-5742-4B74-BB95-11F312A1A40A}" type="datetimeFigureOut">
              <a:rPr lang="en-IN" smtClean="0"/>
              <a:t>24-09-2025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C9A13-84D7-4947-946D-4FE0CAD7CC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24862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19153-5742-4B74-BB95-11F312A1A40A}" type="datetimeFigureOut">
              <a:rPr lang="en-IN" smtClean="0"/>
              <a:t>24-09-2025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C9A13-84D7-4947-946D-4FE0CAD7CC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34001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619153-5742-4B74-BB95-11F312A1A40A}" type="datetimeFigureOut">
              <a:rPr lang="en-IN" smtClean="0"/>
              <a:t>24-09-2025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F0C9A13-84D7-4947-946D-4FE0CAD7CC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21426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3.xml"/><Relationship Id="rId5" Type="http://schemas.openxmlformats.org/officeDocument/2006/relationships/image" Target="../media/image3.png"/><Relationship Id="rId4" Type="http://schemas.openxmlformats.org/officeDocument/2006/relationships/customXml" Target="../ink/ink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F1502-D5AA-E9B4-22DB-A4A14498CB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" y="1465117"/>
            <a:ext cx="9860973" cy="2462647"/>
          </a:xfrm>
        </p:spPr>
        <p:txBody>
          <a:bodyPr/>
          <a:lstStyle/>
          <a:p>
            <a:pPr algn="ctr"/>
            <a:r>
              <a:rPr lang="en-US" dirty="0"/>
              <a:t>1.OPERATING SYSTEM OVERVIWE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205635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A white rectangular frame with a gold border&#10;&#10;AI-generated content may be incorrect.">
            <a:extLst>
              <a:ext uri="{FF2B5EF4-FFF2-40B4-BE49-F238E27FC236}">
                <a16:creationId xmlns:a16="http://schemas.microsoft.com/office/drawing/2014/main" id="{8A40A5B9-2ED5-D035-0224-1CCB82C330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0984" y="6092465"/>
            <a:ext cx="2014106" cy="37068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5A79EEE-3797-2C61-C4EF-911D31F7CA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9" y="72735"/>
            <a:ext cx="9060873" cy="2751705"/>
          </a:xfrm>
        </p:spPr>
        <p:txBody>
          <a:bodyPr anchor="t"/>
          <a:lstStyle/>
          <a:p>
            <a:pPr algn="l"/>
            <a:r>
              <a:rPr lang="en-US" sz="2000" b="1" dirty="0">
                <a:solidFill>
                  <a:schemeClr val="tx1"/>
                </a:solidFill>
              </a:rPr>
              <a:t>1.1 INTRODUCTION OF OPERATING SYSTEM</a:t>
            </a:r>
            <a:br>
              <a:rPr lang="en-US" sz="32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1]An operating system (OS) is a program that manages the computer hardware. It also provides basis for application programs and acts as an intermediary between user of a computer and the compiler hard ware 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2]It is a software which performs all the basic tasks like file management, memory management, process management, handling I /0 and controlling peripheral devices)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3] The os is a vital component of the system software in a computer system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4] some popular os include Linux, Windows, VMs, etc.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b="1" u="sng" dirty="0" err="1">
                <a:solidFill>
                  <a:schemeClr val="tx1"/>
                </a:solidFill>
              </a:rPr>
              <a:t>fig.OPERITING</a:t>
            </a:r>
            <a:r>
              <a:rPr lang="en-US" sz="2000" b="1" u="sng" dirty="0">
                <a:solidFill>
                  <a:schemeClr val="tx1"/>
                </a:solidFill>
              </a:rPr>
              <a:t> SYSTEM </a:t>
            </a:r>
            <a:endParaRPr lang="en-IN" sz="2000" b="1" u="sng" dirty="0"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A543521-0176-CA61-5731-B11AD19FF32F}"/>
              </a:ext>
            </a:extLst>
          </p:cNvPr>
          <p:cNvSpPr/>
          <p:nvPr/>
        </p:nvSpPr>
        <p:spPr>
          <a:xfrm>
            <a:off x="824347" y="3240231"/>
            <a:ext cx="1641763" cy="4572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User 1 </a:t>
            </a:r>
            <a:endParaRPr lang="en-IN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1BCB4B3-0C27-6B0D-24EF-D2909DFE1B0A}"/>
              </a:ext>
            </a:extLst>
          </p:cNvPr>
          <p:cNvSpPr/>
          <p:nvPr/>
        </p:nvSpPr>
        <p:spPr>
          <a:xfrm>
            <a:off x="675409" y="3958936"/>
            <a:ext cx="9268691" cy="1684946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       </a:t>
            </a:r>
            <a:r>
              <a:rPr lang="en-US" sz="2400" dirty="0"/>
              <a:t>SOFTWARE</a:t>
            </a:r>
            <a:r>
              <a:rPr lang="en-US" dirty="0"/>
              <a:t> </a:t>
            </a:r>
            <a:endParaRPr lang="en-IN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620810E-8569-5CBE-BECF-585BFBAEF6E0}"/>
              </a:ext>
            </a:extLst>
          </p:cNvPr>
          <p:cNvSpPr/>
          <p:nvPr/>
        </p:nvSpPr>
        <p:spPr>
          <a:xfrm>
            <a:off x="4035137" y="3276600"/>
            <a:ext cx="1641763" cy="4572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User 2</a:t>
            </a:r>
            <a:endParaRPr lang="en-IN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3522FB9-2486-9081-4D76-7FC8B849179A}"/>
              </a:ext>
            </a:extLst>
          </p:cNvPr>
          <p:cNvSpPr/>
          <p:nvPr/>
        </p:nvSpPr>
        <p:spPr>
          <a:xfrm>
            <a:off x="7710055" y="3290455"/>
            <a:ext cx="1641763" cy="4572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User 3</a:t>
            </a:r>
            <a:endParaRPr lang="en-IN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9065355-FE32-C784-C7B4-6A5B2B1E7E10}"/>
              </a:ext>
            </a:extLst>
          </p:cNvPr>
          <p:cNvSpPr/>
          <p:nvPr/>
        </p:nvSpPr>
        <p:spPr>
          <a:xfrm rot="10800000" flipV="1">
            <a:off x="6096000" y="4273432"/>
            <a:ext cx="2497281" cy="49745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APPLICATION SOFTWARE </a:t>
            </a:r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7EB8F9-D2A0-BE6B-562C-31D163CCD35D}"/>
              </a:ext>
            </a:extLst>
          </p:cNvPr>
          <p:cNvSpPr/>
          <p:nvPr/>
        </p:nvSpPr>
        <p:spPr>
          <a:xfrm>
            <a:off x="3699163" y="4266798"/>
            <a:ext cx="1865168" cy="53902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SYSTEM SOFTARE </a:t>
            </a:r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2524AF5-2818-5BE5-F8D4-357482EA0504}"/>
              </a:ext>
            </a:extLst>
          </p:cNvPr>
          <p:cNvSpPr/>
          <p:nvPr/>
        </p:nvSpPr>
        <p:spPr>
          <a:xfrm>
            <a:off x="4856018" y="5112645"/>
            <a:ext cx="2462646" cy="35854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OPERATING SYSTEM</a:t>
            </a:r>
            <a:endParaRPr lang="en-IN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FC5209A-EFF8-434A-D8CF-4D3D5D26405F}"/>
              </a:ext>
            </a:extLst>
          </p:cNvPr>
          <p:cNvSpPr/>
          <p:nvPr/>
        </p:nvSpPr>
        <p:spPr>
          <a:xfrm>
            <a:off x="675409" y="5960917"/>
            <a:ext cx="9268691" cy="720056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	</a:t>
            </a:r>
            <a:r>
              <a:rPr lang="en-US" sz="2400" dirty="0"/>
              <a:t>HARDWAER</a:t>
            </a:r>
            <a:endParaRPr lang="en-IN" sz="240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F29A36A-C762-5557-9B64-6F5A5048F8EE}"/>
              </a:ext>
            </a:extLst>
          </p:cNvPr>
          <p:cNvSpPr/>
          <p:nvPr/>
        </p:nvSpPr>
        <p:spPr>
          <a:xfrm>
            <a:off x="3699163" y="6092464"/>
            <a:ext cx="1652155" cy="395047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CPU</a:t>
            </a:r>
            <a:endParaRPr lang="en-IN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B945420-F81C-1E64-2226-8ABCECBEE9B2}"/>
              </a:ext>
            </a:extLst>
          </p:cNvPr>
          <p:cNvSpPr/>
          <p:nvPr/>
        </p:nvSpPr>
        <p:spPr>
          <a:xfrm>
            <a:off x="5750069" y="6092465"/>
            <a:ext cx="1652155" cy="395047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RAM</a:t>
            </a:r>
            <a:endParaRPr lang="en-IN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A9FAA9B-F678-2AE5-C4D5-E8C8335678D2}"/>
              </a:ext>
            </a:extLst>
          </p:cNvPr>
          <p:cNvSpPr/>
          <p:nvPr/>
        </p:nvSpPr>
        <p:spPr>
          <a:xfrm>
            <a:off x="7767203" y="6068099"/>
            <a:ext cx="1652155" cy="395047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I/O</a:t>
            </a:r>
            <a:endParaRPr lang="en-IN" dirty="0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B0644139-3A4A-5B75-F3BC-EDC54F64E4C9}"/>
              </a:ext>
            </a:extLst>
          </p:cNvPr>
          <p:cNvCxnSpPr>
            <a:stCxn id="10" idx="2"/>
          </p:cNvCxnSpPr>
          <p:nvPr/>
        </p:nvCxnSpPr>
        <p:spPr>
          <a:xfrm flipH="1">
            <a:off x="4856018" y="3733800"/>
            <a:ext cx="1" cy="2251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845CE606-99BE-4A09-E2C4-A5D5888CB30D}"/>
              </a:ext>
            </a:extLst>
          </p:cNvPr>
          <p:cNvCxnSpPr>
            <a:cxnSpLocks/>
          </p:cNvCxnSpPr>
          <p:nvPr/>
        </p:nvCxnSpPr>
        <p:spPr>
          <a:xfrm>
            <a:off x="1537855" y="3697431"/>
            <a:ext cx="0" cy="2615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744359F4-36C6-41F1-68AC-69CBF52DC1CD}"/>
              </a:ext>
            </a:extLst>
          </p:cNvPr>
          <p:cNvCxnSpPr/>
          <p:nvPr/>
        </p:nvCxnSpPr>
        <p:spPr>
          <a:xfrm flipH="1">
            <a:off x="8530935" y="3747655"/>
            <a:ext cx="1" cy="2251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02B52047-A017-0077-F4D6-1604D2032BA2}"/>
              </a:ext>
            </a:extLst>
          </p:cNvPr>
          <p:cNvCxnSpPr>
            <a:cxnSpLocks/>
          </p:cNvCxnSpPr>
          <p:nvPr/>
        </p:nvCxnSpPr>
        <p:spPr>
          <a:xfrm>
            <a:off x="6576146" y="4770892"/>
            <a:ext cx="0" cy="3365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8A2EEBA0-4623-6AF3-5A95-9B2BBD977DD4}"/>
              </a:ext>
            </a:extLst>
          </p:cNvPr>
          <p:cNvCxnSpPr>
            <a:cxnSpLocks/>
          </p:cNvCxnSpPr>
          <p:nvPr/>
        </p:nvCxnSpPr>
        <p:spPr>
          <a:xfrm>
            <a:off x="5015345" y="4801409"/>
            <a:ext cx="0" cy="3112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4443847B-0A96-D296-C6CD-D945B9F4A6A3}"/>
              </a:ext>
            </a:extLst>
          </p:cNvPr>
          <p:cNvCxnSpPr>
            <a:cxnSpLocks/>
          </p:cNvCxnSpPr>
          <p:nvPr/>
        </p:nvCxnSpPr>
        <p:spPr>
          <a:xfrm>
            <a:off x="6087341" y="5464695"/>
            <a:ext cx="0" cy="5209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10235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114EB52-5C62-A99D-58F3-63D33A4D7763}"/>
              </a:ext>
            </a:extLst>
          </p:cNvPr>
          <p:cNvSpPr txBox="1"/>
          <p:nvPr/>
        </p:nvSpPr>
        <p:spPr>
          <a:xfrm>
            <a:off x="0" y="130617"/>
            <a:ext cx="88348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[" An operating system is a program that ads as an interface between the user and the computer hardware and control the exultation of all kinds of programs.]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A18D8E-17A6-D74A-A75B-2E3EA3A9AD69}"/>
              </a:ext>
            </a:extLst>
          </p:cNvPr>
          <p:cNvSpPr txBox="1"/>
          <p:nvPr/>
        </p:nvSpPr>
        <p:spPr>
          <a:xfrm>
            <a:off x="127289" y="885874"/>
            <a:ext cx="942195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u="sng" dirty="0"/>
              <a:t>Components of computer system:</a:t>
            </a:r>
          </a:p>
          <a:p>
            <a:r>
              <a:rPr lang="en-US" dirty="0"/>
              <a:t>1] Computer system contains - the hardware like CPU, the memory and I10 devices, provides the basic computing resources) </a:t>
            </a:r>
          </a:p>
          <a:p>
            <a:r>
              <a:rPr lang="en-US" dirty="0"/>
              <a:t>2]Input devices provide data input to the processor, which processes data and generates useful information that ls displayed to the user through out put devices</a:t>
            </a:r>
          </a:p>
          <a:p>
            <a:r>
              <a:rPr lang="en-US" dirty="0"/>
              <a:t>3]This is stored in the computer's memory</a:t>
            </a:r>
            <a:endParaRPr lang="en-IN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2363C44-49F9-340F-F8E1-4036B3EC4597}"/>
              </a:ext>
            </a:extLst>
          </p:cNvPr>
          <p:cNvCxnSpPr>
            <a:cxnSpLocks/>
          </p:cNvCxnSpPr>
          <p:nvPr/>
        </p:nvCxnSpPr>
        <p:spPr>
          <a:xfrm>
            <a:off x="0" y="776948"/>
            <a:ext cx="965315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C9EE4A92-9EE6-87BF-B848-3A9981716EB4}"/>
              </a:ext>
            </a:extLst>
          </p:cNvPr>
          <p:cNvSpPr/>
          <p:nvPr/>
        </p:nvSpPr>
        <p:spPr>
          <a:xfrm>
            <a:off x="2434935" y="2640200"/>
            <a:ext cx="3990109" cy="344084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sz="2400" dirty="0"/>
              <a:t>CPU</a:t>
            </a:r>
            <a:endParaRPr lang="en-IN" sz="24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356A105-F1F6-8743-9D86-244C227CA3DE}"/>
              </a:ext>
            </a:extLst>
          </p:cNvPr>
          <p:cNvSpPr/>
          <p:nvPr/>
        </p:nvSpPr>
        <p:spPr>
          <a:xfrm>
            <a:off x="3020290" y="3222643"/>
            <a:ext cx="2819401" cy="56110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MEMORY UNIT </a:t>
            </a:r>
            <a:endParaRPr lang="en-IN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0B37A56-0B62-C030-96C2-F15F235E92B8}"/>
              </a:ext>
            </a:extLst>
          </p:cNvPr>
          <p:cNvSpPr/>
          <p:nvPr/>
        </p:nvSpPr>
        <p:spPr>
          <a:xfrm>
            <a:off x="3020290" y="4167485"/>
            <a:ext cx="2819401" cy="47798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CONTROL UNIT </a:t>
            </a:r>
            <a:endParaRPr lang="en-IN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361C522-BBD9-E5BD-EB6C-6F19FE4055AE}"/>
              </a:ext>
            </a:extLst>
          </p:cNvPr>
          <p:cNvSpPr/>
          <p:nvPr/>
        </p:nvSpPr>
        <p:spPr>
          <a:xfrm>
            <a:off x="3020290" y="5029200"/>
            <a:ext cx="2819401" cy="696191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ARITHMETIC AND LOGICAL UNIT </a:t>
            </a:r>
            <a:endParaRPr lang="en-IN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0E5ACFB-F9C9-0EDA-3EB3-4516D9067463}"/>
              </a:ext>
            </a:extLst>
          </p:cNvPr>
          <p:cNvSpPr/>
          <p:nvPr/>
        </p:nvSpPr>
        <p:spPr>
          <a:xfrm>
            <a:off x="290946" y="4167485"/>
            <a:ext cx="1288472" cy="47798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INPUT</a:t>
            </a:r>
            <a:endParaRPr lang="en-IN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5120365-4B90-1A00-B78C-8FA81D1309FB}"/>
              </a:ext>
            </a:extLst>
          </p:cNvPr>
          <p:cNvSpPr/>
          <p:nvPr/>
        </p:nvSpPr>
        <p:spPr>
          <a:xfrm>
            <a:off x="7523019" y="4167485"/>
            <a:ext cx="1409700" cy="47798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OUTPUT</a:t>
            </a:r>
            <a:endParaRPr lang="en-IN" dirty="0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45BF84D-FD54-E259-6CEF-3BB27B8F6A8D}"/>
              </a:ext>
            </a:extLst>
          </p:cNvPr>
          <p:cNvCxnSpPr>
            <a:cxnSpLocks/>
            <a:stCxn id="21" idx="3"/>
          </p:cNvCxnSpPr>
          <p:nvPr/>
        </p:nvCxnSpPr>
        <p:spPr>
          <a:xfrm>
            <a:off x="1579418" y="4406476"/>
            <a:ext cx="85551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052A62BF-E403-A50A-C19D-586D9E90B5AC}"/>
              </a:ext>
            </a:extLst>
          </p:cNvPr>
          <p:cNvCxnSpPr>
            <a:endCxn id="22" idx="1"/>
          </p:cNvCxnSpPr>
          <p:nvPr/>
        </p:nvCxnSpPr>
        <p:spPr>
          <a:xfrm>
            <a:off x="6425044" y="4406476"/>
            <a:ext cx="10979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5AD60A73-3F64-4205-A437-A839C090DCE7}"/>
              </a:ext>
            </a:extLst>
          </p:cNvPr>
          <p:cNvSpPr txBox="1"/>
          <p:nvPr/>
        </p:nvSpPr>
        <p:spPr>
          <a:xfrm>
            <a:off x="2350076" y="6280110"/>
            <a:ext cx="46239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fig. Components of computer system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672407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2162847-EB76-CEEE-229C-574049A2A9E4}"/>
              </a:ext>
            </a:extLst>
          </p:cNvPr>
          <p:cNvSpPr txBox="1"/>
          <p:nvPr/>
        </p:nvSpPr>
        <p:spPr>
          <a:xfrm>
            <a:off x="361084" y="137591"/>
            <a:ext cx="4730461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u="sng" dirty="0"/>
              <a:t>1.2] Role of Operating system:-</a:t>
            </a:r>
          </a:p>
          <a:p>
            <a:r>
              <a:rPr lang="en-US" dirty="0"/>
              <a:t> 1 Memory Management</a:t>
            </a:r>
          </a:p>
          <a:p>
            <a:r>
              <a:rPr lang="en-US" dirty="0"/>
              <a:t> 2) Processor Management </a:t>
            </a:r>
          </a:p>
          <a:p>
            <a:r>
              <a:rPr lang="en-US" dirty="0"/>
              <a:t> 3) Device Management</a:t>
            </a:r>
          </a:p>
          <a:p>
            <a:r>
              <a:rPr lang="en-US" dirty="0"/>
              <a:t> 4) File Management </a:t>
            </a:r>
          </a:p>
          <a:p>
            <a:r>
              <a:rPr lang="en-US" dirty="0"/>
              <a:t> 5) security</a:t>
            </a:r>
          </a:p>
          <a:p>
            <a:r>
              <a:rPr lang="en-US" dirty="0"/>
              <a:t> 6) Control over system performance </a:t>
            </a:r>
          </a:p>
          <a:p>
            <a:r>
              <a:rPr lang="en-US" dirty="0"/>
              <a:t> 7) Job accounting </a:t>
            </a:r>
          </a:p>
          <a:p>
            <a:r>
              <a:rPr lang="en-US" dirty="0"/>
              <a:t> 8) Error detecting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2E69BF-8EEA-9201-D0BA-49BED07C66B1}"/>
              </a:ext>
            </a:extLst>
          </p:cNvPr>
          <p:cNvSpPr txBox="1"/>
          <p:nvPr/>
        </p:nvSpPr>
        <p:spPr>
          <a:xfrm>
            <a:off x="228600" y="2863840"/>
            <a:ext cx="10131135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u="sng" dirty="0"/>
              <a:t>1] Memory Management: -</a:t>
            </a:r>
          </a:p>
          <a:p>
            <a:r>
              <a:rPr lang="en-US" dirty="0"/>
              <a:t>1]Memory Management refers to management of Primary Memory or Main Memory] </a:t>
            </a:r>
          </a:p>
          <a:p>
            <a:r>
              <a:rPr lang="en-US" dirty="0"/>
              <a:t>2] Main memory provides a fast storage that con be accessed directly by the CPU for a program to be executed it must in the main memory.) </a:t>
            </a:r>
          </a:p>
          <a:p>
            <a:r>
              <a:rPr lang="en-US" dirty="0"/>
              <a:t>3]An os does the following for memory management – </a:t>
            </a:r>
          </a:p>
          <a:p>
            <a:pPr marL="400050" indent="-400050">
              <a:buFont typeface="+mj-lt"/>
              <a:buAutoNum type="romanUcPeriod"/>
            </a:pPr>
            <a:r>
              <a:rPr lang="en-US" dirty="0"/>
              <a:t>keeps tracks of primary memory i.e. what part of it are use and by whom, what part are not in use. </a:t>
            </a:r>
          </a:p>
          <a:p>
            <a:pPr marL="400050" indent="-400050">
              <a:buFont typeface="+mj-lt"/>
              <a:buAutoNum type="romanUcPeriod"/>
            </a:pPr>
            <a:r>
              <a:rPr lang="en-US" dirty="0"/>
              <a:t>The os decides which process will get memory when and how much (In multiprogramming)</a:t>
            </a:r>
          </a:p>
          <a:p>
            <a:pPr marL="400050" indent="-400050">
              <a:buFont typeface="+mj-lt"/>
              <a:buAutoNum type="romanUcPeriod"/>
            </a:pPr>
            <a:r>
              <a:rPr lang="en-US" dirty="0"/>
              <a:t>Allocates the memory when a processor requests it to do so </a:t>
            </a:r>
          </a:p>
          <a:p>
            <a:pPr marL="400050" indent="-400050">
              <a:buFont typeface="+mj-lt"/>
              <a:buAutoNum type="romanUcPeriod"/>
            </a:pPr>
            <a:r>
              <a:rPr lang="en-US" dirty="0"/>
              <a:t>De-allocates the memory when a processor no longer needs it or has been terminated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55326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8A0855C-B0F5-B0D9-B047-57ECD9BE81DB}"/>
              </a:ext>
            </a:extLst>
          </p:cNvPr>
          <p:cNvSpPr txBox="1"/>
          <p:nvPr/>
        </p:nvSpPr>
        <p:spPr>
          <a:xfrm>
            <a:off x="111702" y="360459"/>
            <a:ext cx="892839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u="sng" dirty="0"/>
              <a:t>2] Processor Management –</a:t>
            </a:r>
          </a:p>
          <a:p>
            <a:r>
              <a:rPr lang="en-US" dirty="0"/>
              <a:t>1] In multiprogramming , the os decides which process gels the processor when and for how much time This function is called process scheduling</a:t>
            </a:r>
          </a:p>
          <a:p>
            <a:r>
              <a:rPr lang="en-US" dirty="0"/>
              <a:t> 2]An Os does the following for processor management- </a:t>
            </a:r>
          </a:p>
          <a:p>
            <a:pPr marL="400050" indent="-400050">
              <a:buFont typeface="+mj-lt"/>
              <a:buAutoNum type="romanUcPeriod"/>
            </a:pPr>
            <a:r>
              <a:rPr lang="en-US" dirty="0"/>
              <a:t>keeps racks of processor and status of process The program responsible for this task is     	known as traffic controller.</a:t>
            </a:r>
          </a:p>
          <a:p>
            <a:pPr marL="400050" indent="-400050">
              <a:buFont typeface="+mj-lt"/>
              <a:buAutoNum type="romanUcPeriod"/>
            </a:pPr>
            <a:r>
              <a:rPr lang="en-US" dirty="0"/>
              <a:t> Allocates the processor to a process </a:t>
            </a:r>
          </a:p>
          <a:p>
            <a:pPr marL="400050" indent="-400050">
              <a:buFont typeface="+mj-lt"/>
              <a:buAutoNum type="romanUcPeriod"/>
            </a:pPr>
            <a:r>
              <a:rPr lang="en-US" dirty="0"/>
              <a:t> De-allocates processor when a process is no longer required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289539-182A-C10D-4A3C-25BFF7C5C2E8}"/>
              </a:ext>
            </a:extLst>
          </p:cNvPr>
          <p:cNvSpPr txBox="1"/>
          <p:nvPr/>
        </p:nvSpPr>
        <p:spPr>
          <a:xfrm>
            <a:off x="111701" y="2948373"/>
            <a:ext cx="946871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u="sng" dirty="0"/>
              <a:t>3 Device Management: -</a:t>
            </a:r>
          </a:p>
          <a:p>
            <a:r>
              <a:rPr lang="en-IN" dirty="0"/>
              <a:t>1] An OS manages device communication via their respective drivers </a:t>
            </a:r>
          </a:p>
          <a:p>
            <a:r>
              <a:rPr lang="en-IN" dirty="0"/>
              <a:t>2] It does the following for device management t </a:t>
            </a:r>
          </a:p>
          <a:p>
            <a:pPr marL="400050" indent="-400050">
              <a:buFont typeface="+mj-lt"/>
              <a:buAutoNum type="romanUcPeriod"/>
            </a:pPr>
            <a:r>
              <a:rPr lang="en-IN" dirty="0"/>
              <a:t> keeps tracks of all devices. Program responsible for this task is known as Iro controller. </a:t>
            </a:r>
          </a:p>
          <a:p>
            <a:pPr marL="400050" indent="-400050">
              <a:buFont typeface="+mj-lt"/>
              <a:buAutoNum type="romanUcPeriod"/>
            </a:pPr>
            <a:r>
              <a:rPr lang="en-IN" dirty="0"/>
              <a:t> Decides which process gets the device when, and for </a:t>
            </a:r>
            <a:r>
              <a:rPr lang="en-IN" dirty="0" err="1"/>
              <a:t>hou</a:t>
            </a:r>
            <a:r>
              <a:rPr lang="en-IN" dirty="0"/>
              <a:t> much time] </a:t>
            </a:r>
          </a:p>
          <a:p>
            <a:pPr marL="400050" indent="-400050">
              <a:buFont typeface="+mj-lt"/>
              <a:buAutoNum type="romanUcPeriod"/>
            </a:pPr>
            <a:r>
              <a:rPr lang="en-IN" dirty="0"/>
              <a:t> Allocates the device in the efficient way</a:t>
            </a:r>
          </a:p>
          <a:p>
            <a:pPr marL="400050" indent="-400050">
              <a:buFont typeface="+mj-lt"/>
              <a:buAutoNum type="romanUcPeriod"/>
            </a:pPr>
            <a:r>
              <a:rPr lang="en-IN" dirty="0"/>
              <a:t> De-allocates devices</a:t>
            </a:r>
          </a:p>
        </p:txBody>
      </p:sp>
    </p:spTree>
    <p:extLst>
      <p:ext uri="{BB962C8B-B14F-4D97-AF65-F5344CB8AC3E}">
        <p14:creationId xmlns:p14="http://schemas.microsoft.com/office/powerpoint/2010/main" val="34229642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FA2A360-C490-4FC4-7F14-313D2183F8BD}"/>
              </a:ext>
            </a:extLst>
          </p:cNvPr>
          <p:cNvSpPr txBox="1"/>
          <p:nvPr/>
        </p:nvSpPr>
        <p:spPr>
          <a:xfrm>
            <a:off x="135082" y="248611"/>
            <a:ext cx="9237518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u="sng" dirty="0"/>
              <a:t>4] file Management:</a:t>
            </a:r>
          </a:p>
          <a:p>
            <a:r>
              <a:rPr lang="en-US" dirty="0"/>
              <a:t>1] A file system is normally organized into directories for easy navigation and usage 2] These directories may contain files and other directories</a:t>
            </a:r>
          </a:p>
          <a:p>
            <a:r>
              <a:rPr lang="en-US" dirty="0"/>
              <a:t>3] An os does the following for file management- )</a:t>
            </a:r>
          </a:p>
          <a:p>
            <a:pPr marL="400050" indent="-400050">
              <a:buFont typeface="+mj-lt"/>
              <a:buAutoNum type="romanUcPeriod"/>
            </a:pPr>
            <a:r>
              <a:rPr lang="en-US" dirty="0"/>
              <a:t>keeps track of in formation, location, uses, status, </a:t>
            </a:r>
            <a:r>
              <a:rPr lang="en-US" dirty="0" err="1"/>
              <a:t>etc</a:t>
            </a:r>
            <a:r>
              <a:rPr lang="en-US" dirty="0"/>
              <a:t>) The collective facilities 	are     	often known as file system.</a:t>
            </a:r>
          </a:p>
          <a:p>
            <a:pPr marL="400050" indent="-400050">
              <a:buFont typeface="+mj-lt"/>
              <a:buAutoNum type="romanUcPeriod"/>
            </a:pPr>
            <a:r>
              <a:rPr lang="en-US" dirty="0"/>
              <a:t> Decides who gets the resources)  </a:t>
            </a:r>
          </a:p>
          <a:p>
            <a:pPr marL="400050" indent="-400050">
              <a:buFont typeface="+mj-lt"/>
              <a:buAutoNum type="romanUcPeriod"/>
            </a:pPr>
            <a:r>
              <a:rPr lang="en-IN" dirty="0"/>
              <a:t> allocates the resources </a:t>
            </a:r>
            <a:endParaRPr lang="en-US" dirty="0"/>
          </a:p>
          <a:p>
            <a:pPr marL="400050" indent="-400050">
              <a:buFont typeface="+mj-lt"/>
              <a:buAutoNum type="romanUcPeriod"/>
            </a:pPr>
            <a:r>
              <a:rPr lang="en-US" dirty="0"/>
              <a:t> De-allocates the resources. 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F8030D-62CE-C34D-6B70-B1DACB1B1FAA}"/>
              </a:ext>
            </a:extLst>
          </p:cNvPr>
          <p:cNvSpPr txBox="1"/>
          <p:nvPr/>
        </p:nvSpPr>
        <p:spPr>
          <a:xfrm>
            <a:off x="135082" y="2917061"/>
            <a:ext cx="1056755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u="sng" dirty="0"/>
              <a:t> 5]Security: -</a:t>
            </a:r>
          </a:p>
          <a:p>
            <a:r>
              <a:rPr lang="en-US" dirty="0"/>
              <a:t> 1]By means of password and similar other tec techniques os provides the prevention against unauthorized access to programs and data</a:t>
            </a:r>
          </a:p>
          <a:p>
            <a:r>
              <a:rPr lang="en-US" dirty="0"/>
              <a:t> </a:t>
            </a:r>
          </a:p>
          <a:p>
            <a:r>
              <a:rPr lang="en-US" b="1" u="sng" dirty="0"/>
              <a:t>6]Control over system Performance</a:t>
            </a:r>
            <a:r>
              <a:rPr lang="en-US" dirty="0"/>
              <a:t>:</a:t>
            </a:r>
          </a:p>
          <a:p>
            <a:r>
              <a:rPr lang="en-US" dirty="0"/>
              <a:t> 1] Recording delays between request for a service service land respond from the system) </a:t>
            </a:r>
          </a:p>
          <a:p>
            <a:endParaRPr lang="en-US" dirty="0"/>
          </a:p>
          <a:p>
            <a:r>
              <a:rPr lang="en-US" b="1" u="sng" dirty="0"/>
              <a:t>7]Job accounting: </a:t>
            </a:r>
          </a:p>
          <a:p>
            <a:r>
              <a:rPr lang="en-US" dirty="0"/>
              <a:t>1] keeping jobs and track users] of time and resources used by various </a:t>
            </a:r>
          </a:p>
          <a:p>
            <a:endParaRPr lang="en-US" dirty="0"/>
          </a:p>
          <a:p>
            <a:r>
              <a:rPr lang="en-US" b="1" u="sng" dirty="0"/>
              <a:t>8] Error detecting: -</a:t>
            </a:r>
            <a:r>
              <a:rPr lang="en-US" dirty="0"/>
              <a:t> </a:t>
            </a:r>
          </a:p>
          <a:p>
            <a:r>
              <a:rPr lang="en-US" dirty="0"/>
              <a:t>1] Production of dumps, traces, error messages, and other debugging and error detecting aids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818155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2DC7794-1A9F-0F41-E7B5-DD4B096DD1DB}"/>
              </a:ext>
            </a:extLst>
          </p:cNvPr>
          <p:cNvSpPr txBox="1"/>
          <p:nvPr/>
        </p:nvSpPr>
        <p:spPr>
          <a:xfrm>
            <a:off x="768927" y="206909"/>
            <a:ext cx="7419109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u="sng" dirty="0"/>
              <a:t>1.3] Different types of Operating system:- </a:t>
            </a:r>
          </a:p>
          <a:p>
            <a:pPr marL="342900" indent="-342900">
              <a:buAutoNum type="arabicParenR"/>
            </a:pPr>
            <a:r>
              <a:rPr lang="en-IN" dirty="0"/>
              <a:t>Batch Processing os</a:t>
            </a:r>
          </a:p>
          <a:p>
            <a:pPr marL="342900" indent="-342900">
              <a:buAutoNum type="arabicParenR"/>
            </a:pPr>
            <a:r>
              <a:rPr lang="en-IN" dirty="0"/>
              <a:t> Multiprogramming system </a:t>
            </a:r>
          </a:p>
          <a:p>
            <a:pPr marL="342900" indent="-342900">
              <a:buAutoNum type="arabicParenR"/>
            </a:pPr>
            <a:r>
              <a:rPr lang="en-IN" dirty="0"/>
              <a:t> Multitasking os</a:t>
            </a:r>
          </a:p>
          <a:p>
            <a:pPr marL="342900" indent="-342900">
              <a:buAutoNum type="arabicParenR"/>
            </a:pPr>
            <a:r>
              <a:rPr lang="en-IN" dirty="0"/>
              <a:t> Time shared os</a:t>
            </a:r>
          </a:p>
          <a:p>
            <a:pPr marL="342900" indent="-342900">
              <a:buAutoNum type="arabicParenR"/>
            </a:pPr>
            <a:r>
              <a:rPr lang="en-IN" dirty="0"/>
              <a:t> Multiprocessor system </a:t>
            </a:r>
          </a:p>
          <a:p>
            <a:pPr marL="342900" indent="-342900">
              <a:buAutoNum type="arabicParenR"/>
            </a:pPr>
            <a:r>
              <a:rPr lang="en-IN" dirty="0"/>
              <a:t> cluster system</a:t>
            </a:r>
          </a:p>
          <a:p>
            <a:pPr marL="342900" indent="-342900">
              <a:buAutoNum type="arabicParenR"/>
            </a:pPr>
            <a:r>
              <a:rPr lang="en-IN" dirty="0"/>
              <a:t> Distributed system </a:t>
            </a:r>
          </a:p>
          <a:p>
            <a:pPr marL="342900" indent="-342900">
              <a:buAutoNum type="arabicParenR"/>
            </a:pPr>
            <a:r>
              <a:rPr lang="en-IN" dirty="0"/>
              <a:t> Real Time system </a:t>
            </a:r>
            <a:endParaRPr lang="en-US" dirty="0"/>
          </a:p>
          <a:p>
            <a:pPr marL="342900" indent="-342900">
              <a:buAutoNum type="arabicParenR"/>
            </a:pPr>
            <a:r>
              <a:rPr lang="en-IN" dirty="0"/>
              <a:t> Open source </a:t>
            </a:r>
          </a:p>
          <a:p>
            <a:pPr marL="342900" indent="-342900">
              <a:buAutoNum type="arabicParenR"/>
            </a:pPr>
            <a:r>
              <a:rPr lang="en-IN" dirty="0"/>
              <a:t> Mobile os </a:t>
            </a:r>
          </a:p>
        </p:txBody>
      </p:sp>
    </p:spTree>
    <p:extLst>
      <p:ext uri="{BB962C8B-B14F-4D97-AF65-F5344CB8AC3E}">
        <p14:creationId xmlns:p14="http://schemas.microsoft.com/office/powerpoint/2010/main" val="24829213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F0324A8-625A-9D53-DD10-C3AF00B60C0F}"/>
              </a:ext>
            </a:extLst>
          </p:cNvPr>
          <p:cNvSpPr txBox="1"/>
          <p:nvPr/>
        </p:nvSpPr>
        <p:spPr>
          <a:xfrm>
            <a:off x="696190" y="61079"/>
            <a:ext cx="8946573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u="sng" dirty="0"/>
              <a:t>1] Batch Processing Operating System:-</a:t>
            </a:r>
          </a:p>
          <a:p>
            <a:r>
              <a:rPr lang="en-US" dirty="0"/>
              <a:t> 1] Batch Processing is a technique in which an os collects the programs and data    	together in a batch before processing starts.</a:t>
            </a:r>
          </a:p>
          <a:p>
            <a:r>
              <a:rPr lang="en-US" dirty="0"/>
              <a:t> 2] An os does the following related to batch processing</a:t>
            </a:r>
          </a:p>
          <a:p>
            <a:pPr marL="400050" indent="-400050">
              <a:buFont typeface="+mj-lt"/>
              <a:buAutoNum type="romanUcPeriod"/>
            </a:pPr>
            <a:r>
              <a:rPr lang="en-US" dirty="0"/>
              <a:t> The os defines a job , which has predefined sequence of commands, programs and data as a single unit</a:t>
            </a:r>
          </a:p>
          <a:p>
            <a:pPr marL="400050" indent="-400050">
              <a:buFont typeface="+mj-lt"/>
              <a:buAutoNum type="romanUcPeriod"/>
            </a:pPr>
            <a:r>
              <a:rPr lang="en-US" dirty="0"/>
              <a:t>The os keeps a no . of jobs in memory and executes them without any manual information</a:t>
            </a:r>
          </a:p>
          <a:p>
            <a:pPr marL="400050" indent="-400050">
              <a:buFont typeface="+mj-lt"/>
              <a:buAutoNum type="romanUcPeriod"/>
            </a:pPr>
            <a:r>
              <a:rPr lang="en-US" dirty="0"/>
              <a:t>Jobs are processed in the order of submission i.e. first come First served fashion When a job completes its execution, its memory is released and the output for the job gets copied into an output spool For later printing or processing.</a:t>
            </a:r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89C7749-E663-A1F0-CA1D-864ABF659262}"/>
              </a:ext>
            </a:extLst>
          </p:cNvPr>
          <p:cNvSpPr/>
          <p:nvPr/>
        </p:nvSpPr>
        <p:spPr>
          <a:xfrm>
            <a:off x="1163782" y="3792682"/>
            <a:ext cx="1340427" cy="36368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Job 1</a:t>
            </a:r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ADDF74E-5100-050A-D340-C566E315B842}"/>
              </a:ext>
            </a:extLst>
          </p:cNvPr>
          <p:cNvSpPr/>
          <p:nvPr/>
        </p:nvSpPr>
        <p:spPr>
          <a:xfrm>
            <a:off x="1163782" y="4572000"/>
            <a:ext cx="1340427" cy="36368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Job 2</a:t>
            </a:r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9894E1B-5738-873A-670F-FEB55CB61FE9}"/>
              </a:ext>
            </a:extLst>
          </p:cNvPr>
          <p:cNvSpPr/>
          <p:nvPr/>
        </p:nvSpPr>
        <p:spPr>
          <a:xfrm>
            <a:off x="1163782" y="5288973"/>
            <a:ext cx="1340427" cy="36368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Job 3</a:t>
            </a:r>
            <a:endParaRPr lang="en-IN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6E21872-46CF-8E6E-2C58-917F862ACE9C}"/>
              </a:ext>
            </a:extLst>
          </p:cNvPr>
          <p:cNvSpPr/>
          <p:nvPr/>
        </p:nvSpPr>
        <p:spPr>
          <a:xfrm>
            <a:off x="3387436" y="3429000"/>
            <a:ext cx="1911928" cy="276398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Operating system </a:t>
            </a:r>
            <a:endParaRPr lang="en-IN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3038F22-A776-24FB-80F5-57055E131FFC}"/>
              </a:ext>
            </a:extLst>
          </p:cNvPr>
          <p:cNvSpPr/>
          <p:nvPr/>
        </p:nvSpPr>
        <p:spPr>
          <a:xfrm>
            <a:off x="6400800" y="3792682"/>
            <a:ext cx="1340427" cy="36368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Batch </a:t>
            </a:r>
            <a:endParaRPr lang="en-IN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CF81175-49B6-9285-8154-8E4BDC44033C}"/>
              </a:ext>
            </a:extLst>
          </p:cNvPr>
          <p:cNvSpPr/>
          <p:nvPr/>
        </p:nvSpPr>
        <p:spPr>
          <a:xfrm>
            <a:off x="6400800" y="4540827"/>
            <a:ext cx="1340427" cy="36368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Batch </a:t>
            </a:r>
            <a:endParaRPr lang="en-IN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64DF93-6E33-957F-D190-7E171192BF7A}"/>
              </a:ext>
            </a:extLst>
          </p:cNvPr>
          <p:cNvSpPr/>
          <p:nvPr/>
        </p:nvSpPr>
        <p:spPr>
          <a:xfrm>
            <a:off x="6473536" y="5288973"/>
            <a:ext cx="1340427" cy="36368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Batch </a:t>
            </a:r>
            <a:endParaRPr lang="en-IN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C2078A5-3BB5-AAFC-351F-EE59C47AA213}"/>
              </a:ext>
            </a:extLst>
          </p:cNvPr>
          <p:cNvSpPr/>
          <p:nvPr/>
        </p:nvSpPr>
        <p:spPr>
          <a:xfrm>
            <a:off x="8593283" y="3722730"/>
            <a:ext cx="1340428" cy="204700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CPU</a:t>
            </a:r>
            <a:endParaRPr lang="en-IN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192A336-50F8-9E21-63C6-C6CF685DEB75}"/>
              </a:ext>
            </a:extLst>
          </p:cNvPr>
          <p:cNvCxnSpPr>
            <a:stCxn id="6" idx="3"/>
          </p:cNvCxnSpPr>
          <p:nvPr/>
        </p:nvCxnSpPr>
        <p:spPr>
          <a:xfrm>
            <a:off x="2504209" y="3974523"/>
            <a:ext cx="1049482" cy="519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33003FD-A35C-804F-F854-082EA1209820}"/>
              </a:ext>
            </a:extLst>
          </p:cNvPr>
          <p:cNvCxnSpPr>
            <a:cxnSpLocks/>
            <a:endCxn id="10" idx="1"/>
          </p:cNvCxnSpPr>
          <p:nvPr/>
        </p:nvCxnSpPr>
        <p:spPr>
          <a:xfrm>
            <a:off x="5117523" y="3974523"/>
            <a:ext cx="128327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9020ED8-F4EA-73DE-4D08-96D10D88CF7C}"/>
              </a:ext>
            </a:extLst>
          </p:cNvPr>
          <p:cNvCxnSpPr>
            <a:cxnSpLocks/>
          </p:cNvCxnSpPr>
          <p:nvPr/>
        </p:nvCxnSpPr>
        <p:spPr>
          <a:xfrm>
            <a:off x="2499012" y="4695639"/>
            <a:ext cx="884961" cy="173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7D52BDE-D1CA-45AE-F754-8511F863C6E3}"/>
              </a:ext>
            </a:extLst>
          </p:cNvPr>
          <p:cNvCxnSpPr>
            <a:cxnSpLocks/>
          </p:cNvCxnSpPr>
          <p:nvPr/>
        </p:nvCxnSpPr>
        <p:spPr>
          <a:xfrm>
            <a:off x="7741227" y="4729870"/>
            <a:ext cx="81568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3EA9232-B993-BDD3-5259-F241C9CE9998}"/>
              </a:ext>
            </a:extLst>
          </p:cNvPr>
          <p:cNvCxnSpPr>
            <a:cxnSpLocks/>
            <a:endCxn id="12" idx="1"/>
          </p:cNvCxnSpPr>
          <p:nvPr/>
        </p:nvCxnSpPr>
        <p:spPr>
          <a:xfrm>
            <a:off x="5169477" y="5470814"/>
            <a:ext cx="130405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51516B8-61B8-D2DF-E231-011178AA7287}"/>
              </a:ext>
            </a:extLst>
          </p:cNvPr>
          <p:cNvCxnSpPr>
            <a:cxnSpLocks/>
          </p:cNvCxnSpPr>
          <p:nvPr/>
        </p:nvCxnSpPr>
        <p:spPr>
          <a:xfrm flipV="1">
            <a:off x="2507672" y="5413292"/>
            <a:ext cx="962892" cy="692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8E456A2-B7CC-64FA-4B6D-78D83874BF62}"/>
              </a:ext>
            </a:extLst>
          </p:cNvPr>
          <p:cNvCxnSpPr>
            <a:cxnSpLocks/>
            <a:endCxn id="11" idx="1"/>
          </p:cNvCxnSpPr>
          <p:nvPr/>
        </p:nvCxnSpPr>
        <p:spPr>
          <a:xfrm flipV="1">
            <a:off x="5299364" y="4722668"/>
            <a:ext cx="1101436" cy="933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23E78F2E-9B80-0EB2-4026-2588D7333221}"/>
              </a:ext>
            </a:extLst>
          </p:cNvPr>
          <p:cNvCxnSpPr>
            <a:cxnSpLocks/>
            <a:stCxn id="10" idx="3"/>
          </p:cNvCxnSpPr>
          <p:nvPr/>
        </p:nvCxnSpPr>
        <p:spPr>
          <a:xfrm>
            <a:off x="7741227" y="3974523"/>
            <a:ext cx="85205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487265C2-0ED8-A7CE-16C0-C77706520DE0}"/>
              </a:ext>
            </a:extLst>
          </p:cNvPr>
          <p:cNvCxnSpPr>
            <a:cxnSpLocks/>
            <a:stCxn id="12" idx="3"/>
          </p:cNvCxnSpPr>
          <p:nvPr/>
        </p:nvCxnSpPr>
        <p:spPr>
          <a:xfrm>
            <a:off x="7813963" y="5470814"/>
            <a:ext cx="77932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70072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62CAC8-981E-B01F-60BC-F5C656114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B896A52-D1AF-CCAE-C0A4-8EEF2C615EED}"/>
              </a:ext>
            </a:extLst>
          </p:cNvPr>
          <p:cNvSpPr txBox="1"/>
          <p:nvPr/>
        </p:nvSpPr>
        <p:spPr>
          <a:xfrm>
            <a:off x="714376" y="36790"/>
            <a:ext cx="8699788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u="sng" dirty="0"/>
              <a:t>2 Multiprogramming system: -</a:t>
            </a:r>
          </a:p>
          <a:p>
            <a:r>
              <a:rPr lang="en-US" dirty="0"/>
              <a:t>1]Multiprogramming increases CPU utilization by organizing jobs , so that the CPU always has one to execute) </a:t>
            </a:r>
          </a:p>
          <a:p>
            <a:r>
              <a:rPr lang="en-US" dirty="0"/>
              <a:t>2] An os does the following related to multiprogramming </a:t>
            </a:r>
          </a:p>
          <a:p>
            <a:pPr marL="400050" indent="-400050">
              <a:buFont typeface="+mj-lt"/>
              <a:buAutoNum type="romanUcPeriod"/>
            </a:pPr>
            <a:r>
              <a:rPr lang="en-US" dirty="0"/>
              <a:t>The os keeps several jobs in memory at a time. </a:t>
            </a:r>
          </a:p>
          <a:p>
            <a:pPr marL="400050" indent="-400050">
              <a:buFont typeface="+mj-lt"/>
              <a:buAutoNum type="romanUcPeriod"/>
            </a:pPr>
            <a:r>
              <a:rPr lang="en-US" dirty="0"/>
              <a:t>This set of jobs is a subset of the jobs kept int job pool </a:t>
            </a:r>
          </a:p>
          <a:p>
            <a:pPr marL="400050" indent="-400050">
              <a:buFont typeface="+mj-lt"/>
              <a:buAutoNum type="romanUcPeriod"/>
            </a:pPr>
            <a:r>
              <a:rPr lang="en-US" dirty="0"/>
              <a:t>The os picks and begins to execute one of the jobs in the memory</a:t>
            </a:r>
          </a:p>
          <a:p>
            <a:pPr marL="400050" indent="-400050">
              <a:buFont typeface="+mj-lt"/>
              <a:buAutoNum type="romanUcPeriod"/>
            </a:pPr>
            <a:r>
              <a:rPr lang="en-US" dirty="0"/>
              <a:t> Multiprogramming os, monitor the state of all active programs and resources to ensure the CPU is never idle unless there are no jobs to process </a:t>
            </a:r>
            <a:endParaRPr lang="en-IN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4A8E56A-40F6-1046-E66B-B5EF99B0CFED}"/>
              </a:ext>
            </a:extLst>
          </p:cNvPr>
          <p:cNvSpPr/>
          <p:nvPr/>
        </p:nvSpPr>
        <p:spPr>
          <a:xfrm>
            <a:off x="820883" y="3158837"/>
            <a:ext cx="1610589" cy="27016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F281CF2-DD53-EAA5-7DC3-DC6D135A312B}"/>
              </a:ext>
            </a:extLst>
          </p:cNvPr>
          <p:cNvCxnSpPr>
            <a:cxnSpLocks/>
            <a:stCxn id="6" idx="2"/>
          </p:cNvCxnSpPr>
          <p:nvPr/>
        </p:nvCxnSpPr>
        <p:spPr>
          <a:xfrm flipH="1">
            <a:off x="820882" y="3293918"/>
            <a:ext cx="1" cy="149629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EB3C839-3414-1436-B32C-EFF921246FE6}"/>
              </a:ext>
            </a:extLst>
          </p:cNvPr>
          <p:cNvCxnSpPr>
            <a:cxnSpLocks/>
          </p:cNvCxnSpPr>
          <p:nvPr/>
        </p:nvCxnSpPr>
        <p:spPr>
          <a:xfrm flipH="1">
            <a:off x="2431471" y="3293917"/>
            <a:ext cx="1" cy="149629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26FAFC2-2A59-7AE8-390A-A2360BE13E03}"/>
              </a:ext>
            </a:extLst>
          </p:cNvPr>
          <p:cNvCxnSpPr>
            <a:cxnSpLocks/>
          </p:cNvCxnSpPr>
          <p:nvPr/>
        </p:nvCxnSpPr>
        <p:spPr>
          <a:xfrm flipH="1">
            <a:off x="820882" y="4790209"/>
            <a:ext cx="161058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92170FEF-4712-B0F2-9210-2DE99450C7CF}"/>
              </a:ext>
            </a:extLst>
          </p:cNvPr>
          <p:cNvSpPr/>
          <p:nvPr/>
        </p:nvSpPr>
        <p:spPr>
          <a:xfrm>
            <a:off x="5898575" y="3216374"/>
            <a:ext cx="3803061" cy="13716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dirty="0"/>
              <a:t>Operating system</a:t>
            </a:r>
          </a:p>
          <a:p>
            <a:pPr algn="ctr"/>
            <a:r>
              <a:rPr lang="en-US" dirty="0"/>
              <a:t>Program A </a:t>
            </a:r>
          </a:p>
          <a:p>
            <a:pPr algn="ctr"/>
            <a:r>
              <a:rPr lang="en-US" dirty="0"/>
              <a:t>Program B</a:t>
            </a:r>
          </a:p>
          <a:p>
            <a:pPr algn="ctr"/>
            <a:r>
              <a:rPr lang="en-US" dirty="0"/>
              <a:t>Program C </a:t>
            </a:r>
          </a:p>
          <a:p>
            <a:pPr algn="ctr"/>
            <a:endParaRPr lang="en-US" b="1" dirty="0"/>
          </a:p>
          <a:p>
            <a:endParaRPr lang="en-IN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909FCE2-F60A-D477-30D4-3ACBA9804BE9}"/>
              </a:ext>
            </a:extLst>
          </p:cNvPr>
          <p:cNvSpPr/>
          <p:nvPr/>
        </p:nvSpPr>
        <p:spPr>
          <a:xfrm>
            <a:off x="5898575" y="4966855"/>
            <a:ext cx="1167243" cy="50915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CUP</a:t>
            </a:r>
            <a:endParaRPr lang="en-IN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3B6EFFD-026D-BB77-D4B0-E551A5DC762B}"/>
              </a:ext>
            </a:extLst>
          </p:cNvPr>
          <p:cNvSpPr/>
          <p:nvPr/>
        </p:nvSpPr>
        <p:spPr>
          <a:xfrm>
            <a:off x="613063" y="5039595"/>
            <a:ext cx="2649671" cy="43641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Secondary Storage </a:t>
            </a:r>
            <a:endParaRPr lang="en-IN" dirty="0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C9682D6-5593-AD8E-847C-2959E67C3254}"/>
              </a:ext>
            </a:extLst>
          </p:cNvPr>
          <p:cNvCxnSpPr/>
          <p:nvPr/>
        </p:nvCxnSpPr>
        <p:spPr>
          <a:xfrm flipH="1">
            <a:off x="2431471" y="3428999"/>
            <a:ext cx="346710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88B6061-F8BC-127B-3607-306ABF7D177E}"/>
              </a:ext>
            </a:extLst>
          </p:cNvPr>
          <p:cNvCxnSpPr/>
          <p:nvPr/>
        </p:nvCxnSpPr>
        <p:spPr>
          <a:xfrm flipH="1">
            <a:off x="4582391" y="4042063"/>
            <a:ext cx="1316184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24EFC5B-91BD-7B2B-0916-5878601D8AE9}"/>
              </a:ext>
            </a:extLst>
          </p:cNvPr>
          <p:cNvCxnSpPr>
            <a:cxnSpLocks/>
          </p:cNvCxnSpPr>
          <p:nvPr/>
        </p:nvCxnSpPr>
        <p:spPr>
          <a:xfrm flipV="1">
            <a:off x="4582391" y="4042063"/>
            <a:ext cx="0" cy="117936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240D98D8-4123-38C2-EBF6-52C04215BAD0}"/>
              </a:ext>
            </a:extLst>
          </p:cNvPr>
          <p:cNvCxnSpPr>
            <a:cxnSpLocks/>
            <a:endCxn id="19" idx="1"/>
          </p:cNvCxnSpPr>
          <p:nvPr/>
        </p:nvCxnSpPr>
        <p:spPr>
          <a:xfrm>
            <a:off x="4582391" y="5221432"/>
            <a:ext cx="131618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16511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1DCE95-A6F2-401A-1529-C45DA46336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170A36F-E368-9423-3D3B-CCE11111DF5D}"/>
              </a:ext>
            </a:extLst>
          </p:cNvPr>
          <p:cNvSpPr txBox="1"/>
          <p:nvPr/>
        </p:nvSpPr>
        <p:spPr>
          <a:xfrm>
            <a:off x="828674" y="24789"/>
            <a:ext cx="8699788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u="sng" dirty="0"/>
              <a:t>3]Multitasking Operating system :-</a:t>
            </a:r>
          </a:p>
          <a:p>
            <a:r>
              <a:rPr lang="en-US" b="1" u="sng" dirty="0"/>
              <a:t> 1] </a:t>
            </a:r>
            <a:r>
              <a:rPr lang="en-US" dirty="0"/>
              <a:t>Multitasking is when multiple jobs are executed by the </a:t>
            </a:r>
            <a:r>
              <a:rPr lang="en-US" dirty="0" err="1"/>
              <a:t>cpu</a:t>
            </a:r>
            <a:r>
              <a:rPr lang="en-US" dirty="0"/>
              <a:t> simultaneously by switching	 between them.</a:t>
            </a:r>
          </a:p>
          <a:p>
            <a:r>
              <a:rPr lang="en-US" dirty="0"/>
              <a:t>2] An os does the following related to multi tasking </a:t>
            </a:r>
          </a:p>
          <a:p>
            <a:pPr marL="400050" indent="-400050">
              <a:buFont typeface="+mj-lt"/>
              <a:buAutoNum type="romanUcPeriod"/>
            </a:pPr>
            <a:r>
              <a:rPr lang="en-US" dirty="0"/>
              <a:t>  Multitasking- also known as Time-shared os which uses the concept of </a:t>
            </a:r>
            <a:r>
              <a:rPr lang="en-US" dirty="0" err="1"/>
              <a:t>cpu</a:t>
            </a:r>
            <a:r>
              <a:rPr lang="en-US" dirty="0"/>
              <a:t> scheduling and multiprogramming to provide each user with a small portion of time-shared CPU. </a:t>
            </a:r>
          </a:p>
          <a:p>
            <a:pPr marL="400050" indent="-400050">
              <a:buFont typeface="+mj-lt"/>
              <a:buAutoNum type="romanUcPeriod"/>
            </a:pPr>
            <a:r>
              <a:rPr lang="en-US" dirty="0"/>
              <a:t> The os allows the user to share the CPU simultaneously</a:t>
            </a:r>
          </a:p>
          <a:p>
            <a:pPr marL="400050" indent="-400050">
              <a:buFont typeface="+mj-lt"/>
              <a:buAutoNum type="romanUcPeriod"/>
            </a:pPr>
            <a:r>
              <a:rPr lang="en-US" dirty="0"/>
              <a:t>since each action or command in a time -shared system tends to be short only the a little CPU time is needed For each user </a:t>
            </a:r>
          </a:p>
          <a:p>
            <a:pPr marL="400050" indent="-400050">
              <a:buFont typeface="+mj-lt"/>
              <a:buAutoNum type="romanUcPeriod"/>
            </a:pPr>
            <a:r>
              <a:rPr lang="en-US" dirty="0"/>
              <a:t>Has the system switches impression cup rapidly From one user to next , each user is given impression that its their own CPU where’s actually one CPU is being shared among users </a:t>
            </a:r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54036C9-A6E6-C692-0848-58EE115B365A}"/>
              </a:ext>
            </a:extLst>
          </p:cNvPr>
          <p:cNvSpPr/>
          <p:nvPr/>
        </p:nvSpPr>
        <p:spPr>
          <a:xfrm>
            <a:off x="1226127" y="3990109"/>
            <a:ext cx="1330037" cy="44680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Word </a:t>
            </a:r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17C2D49-46A8-9DD8-7379-282B89A4BB53}"/>
              </a:ext>
            </a:extLst>
          </p:cNvPr>
          <p:cNvSpPr/>
          <p:nvPr/>
        </p:nvSpPr>
        <p:spPr>
          <a:xfrm>
            <a:off x="1226126" y="4785557"/>
            <a:ext cx="1330037" cy="44680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Email</a:t>
            </a:r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50BA6DE-88CA-9226-8AF1-209BC5FE50F8}"/>
              </a:ext>
            </a:extLst>
          </p:cNvPr>
          <p:cNvSpPr/>
          <p:nvPr/>
        </p:nvSpPr>
        <p:spPr>
          <a:xfrm>
            <a:off x="1226125" y="5581005"/>
            <a:ext cx="1330037" cy="647157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Web Brouser </a:t>
            </a:r>
            <a:endParaRPr lang="en-IN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E34F3D9-1F3D-F99D-D70C-E4CBB8B83626}"/>
              </a:ext>
            </a:extLst>
          </p:cNvPr>
          <p:cNvSpPr/>
          <p:nvPr/>
        </p:nvSpPr>
        <p:spPr>
          <a:xfrm>
            <a:off x="7969825" y="3786298"/>
            <a:ext cx="1558637" cy="244186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CPU</a:t>
            </a:r>
            <a:endParaRPr lang="en-IN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8D08410-D317-7F4E-35B8-88959CB331F1}"/>
              </a:ext>
            </a:extLst>
          </p:cNvPr>
          <p:cNvSpPr/>
          <p:nvPr/>
        </p:nvSpPr>
        <p:spPr>
          <a:xfrm>
            <a:off x="4161557" y="3786298"/>
            <a:ext cx="1818409" cy="2666456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dirty="0"/>
              <a:t>OS</a:t>
            </a:r>
            <a:endParaRPr lang="en-IN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F0456C0-CE3A-7B5B-BD4C-4E62CD78F3C1}"/>
              </a:ext>
            </a:extLst>
          </p:cNvPr>
          <p:cNvCxnSpPr>
            <a:cxnSpLocks/>
          </p:cNvCxnSpPr>
          <p:nvPr/>
        </p:nvCxnSpPr>
        <p:spPr>
          <a:xfrm>
            <a:off x="2529320" y="4046612"/>
            <a:ext cx="1730953" cy="5047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5E58014-C3D4-188E-3664-01988229D3D8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2556163" y="5008962"/>
            <a:ext cx="160539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74DC955-2404-954A-E2C8-43F755201BB3}"/>
              </a:ext>
            </a:extLst>
          </p:cNvPr>
          <p:cNvCxnSpPr>
            <a:cxnSpLocks/>
          </p:cNvCxnSpPr>
          <p:nvPr/>
        </p:nvCxnSpPr>
        <p:spPr>
          <a:xfrm flipV="1">
            <a:off x="2529320" y="5561310"/>
            <a:ext cx="1659080" cy="2906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C48FE699-F8C7-F882-A52D-5FD2A371A01A}"/>
              </a:ext>
            </a:extLst>
          </p:cNvPr>
          <p:cNvCxnSpPr>
            <a:cxnSpLocks/>
            <a:endCxn id="10" idx="6"/>
          </p:cNvCxnSpPr>
          <p:nvPr/>
        </p:nvCxnSpPr>
        <p:spPr>
          <a:xfrm>
            <a:off x="4249013" y="4545599"/>
            <a:ext cx="1730953" cy="573927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D6E7B3E8-FEE3-CDCC-0315-1E84B1CEF20B}"/>
              </a:ext>
            </a:extLst>
          </p:cNvPr>
          <p:cNvCxnSpPr>
            <a:cxnSpLocks/>
            <a:endCxn id="10" idx="6"/>
          </p:cNvCxnSpPr>
          <p:nvPr/>
        </p:nvCxnSpPr>
        <p:spPr>
          <a:xfrm flipV="1">
            <a:off x="4218706" y="5119526"/>
            <a:ext cx="1761260" cy="441784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8C74D424-1C80-5326-85C5-C3E84C905BD8}"/>
              </a:ext>
            </a:extLst>
          </p:cNvPr>
          <p:cNvCxnSpPr>
            <a:cxnSpLocks/>
            <a:endCxn id="10" idx="6"/>
          </p:cNvCxnSpPr>
          <p:nvPr/>
        </p:nvCxnSpPr>
        <p:spPr>
          <a:xfrm>
            <a:off x="4188400" y="4978796"/>
            <a:ext cx="1791566" cy="14073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53D83217-D354-063D-E45C-A981BA90A9AA}"/>
              </a:ext>
            </a:extLst>
          </p:cNvPr>
          <p:cNvCxnSpPr>
            <a:stCxn id="10" idx="6"/>
          </p:cNvCxnSpPr>
          <p:nvPr/>
        </p:nvCxnSpPr>
        <p:spPr>
          <a:xfrm>
            <a:off x="5979966" y="5119526"/>
            <a:ext cx="198985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72378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A3C9B2-2EB1-D195-9C69-8D19FF9EA6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01DEB64-8BFB-D5F6-B530-3E8CC4FC6B0F}"/>
              </a:ext>
            </a:extLst>
          </p:cNvPr>
          <p:cNvSpPr txBox="1"/>
          <p:nvPr/>
        </p:nvSpPr>
        <p:spPr>
          <a:xfrm>
            <a:off x="839064" y="123919"/>
            <a:ext cx="8720571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u="sng" dirty="0"/>
              <a:t>4 ] Time shared Operating system:- </a:t>
            </a:r>
          </a:p>
          <a:p>
            <a:r>
              <a:rPr lang="en-US" dirty="0"/>
              <a:t>1] Time-sharing is a technique which enables many people located at various terminals, to use a particular computer system at the same time </a:t>
            </a:r>
          </a:p>
          <a:p>
            <a:r>
              <a:rPr lang="en-US" dirty="0"/>
              <a:t>2] The operating system uses CPU scheduling and Multiprogram-ming to provide each user with a small portion of time.</a:t>
            </a:r>
          </a:p>
          <a:p>
            <a:r>
              <a:rPr lang="en-US" dirty="0"/>
              <a:t>3] Computer systems that were designed primarily as batch systems have been modified to time-sharing systems.</a:t>
            </a:r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72F23F5-482B-EF9B-127A-F48FF38F6FB0}"/>
              </a:ext>
            </a:extLst>
          </p:cNvPr>
          <p:cNvSpPr/>
          <p:nvPr/>
        </p:nvSpPr>
        <p:spPr>
          <a:xfrm>
            <a:off x="1018309" y="2639291"/>
            <a:ext cx="1215736" cy="415636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User 1</a:t>
            </a:r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499D112-8840-66CF-F588-A64DCF174FB2}"/>
              </a:ext>
            </a:extLst>
          </p:cNvPr>
          <p:cNvSpPr/>
          <p:nvPr/>
        </p:nvSpPr>
        <p:spPr>
          <a:xfrm>
            <a:off x="1018309" y="3415146"/>
            <a:ext cx="1215736" cy="415636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User 1</a:t>
            </a:r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7E9A2E7-BE18-DF2F-2BAF-2801A63BFE0A}"/>
              </a:ext>
            </a:extLst>
          </p:cNvPr>
          <p:cNvSpPr/>
          <p:nvPr/>
        </p:nvSpPr>
        <p:spPr>
          <a:xfrm>
            <a:off x="1013115" y="4200756"/>
            <a:ext cx="1215736" cy="415636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User 1</a:t>
            </a:r>
            <a:endParaRPr lang="en-IN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4B09CC4-F08A-B4E4-34EA-781B6061EEEF}"/>
              </a:ext>
            </a:extLst>
          </p:cNvPr>
          <p:cNvSpPr/>
          <p:nvPr/>
        </p:nvSpPr>
        <p:spPr>
          <a:xfrm>
            <a:off x="6923809" y="4308768"/>
            <a:ext cx="1215736" cy="415636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User 1</a:t>
            </a:r>
            <a:endParaRPr lang="en-IN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B26DA4A-1096-3247-CAAD-850262168B8D}"/>
              </a:ext>
            </a:extLst>
          </p:cNvPr>
          <p:cNvSpPr/>
          <p:nvPr/>
        </p:nvSpPr>
        <p:spPr>
          <a:xfrm>
            <a:off x="6923809" y="3479226"/>
            <a:ext cx="1215736" cy="415636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User 1</a:t>
            </a:r>
            <a:endParaRPr lang="en-IN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FB9AED8-B780-FB12-0AD7-756BA45B8E3F}"/>
              </a:ext>
            </a:extLst>
          </p:cNvPr>
          <p:cNvSpPr/>
          <p:nvPr/>
        </p:nvSpPr>
        <p:spPr>
          <a:xfrm>
            <a:off x="6923809" y="2684318"/>
            <a:ext cx="1215736" cy="415636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User 1</a:t>
            </a:r>
            <a:endParaRPr lang="en-IN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39A7010-F01F-452B-C42B-99B1283F1896}"/>
              </a:ext>
            </a:extLst>
          </p:cNvPr>
          <p:cNvSpPr/>
          <p:nvPr/>
        </p:nvSpPr>
        <p:spPr>
          <a:xfrm>
            <a:off x="3366655" y="2535383"/>
            <a:ext cx="2358736" cy="264968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dirty="0"/>
              <a:t>cup</a:t>
            </a:r>
            <a:endParaRPr lang="en-IN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980C1E0E-A57F-1FDC-7387-CA0B7FFA39AC}"/>
              </a:ext>
            </a:extLst>
          </p:cNvPr>
          <p:cNvSpPr/>
          <p:nvPr/>
        </p:nvSpPr>
        <p:spPr>
          <a:xfrm>
            <a:off x="4197927" y="3318166"/>
            <a:ext cx="696191" cy="415636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B154F388-B8DD-2DD4-B381-5E6FDCC26CC4}"/>
              </a:ext>
            </a:extLst>
          </p:cNvPr>
          <p:cNvSpPr/>
          <p:nvPr/>
        </p:nvSpPr>
        <p:spPr>
          <a:xfrm rot="11074366">
            <a:off x="4122751" y="3394519"/>
            <a:ext cx="1040223" cy="425753"/>
          </a:xfrm>
          <a:prstGeom prst="arc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9F3C9D9-DC1B-9909-E975-000D77F89E03}"/>
              </a:ext>
            </a:extLst>
          </p:cNvPr>
          <p:cNvCxnSpPr>
            <a:cxnSpLocks/>
            <a:stCxn id="13" idx="6"/>
          </p:cNvCxnSpPr>
          <p:nvPr/>
        </p:nvCxnSpPr>
        <p:spPr>
          <a:xfrm>
            <a:off x="4894118" y="3525984"/>
            <a:ext cx="83127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1BE8EF5E-D258-963C-1649-18F9123ED388}"/>
              </a:ext>
            </a:extLst>
          </p:cNvPr>
          <p:cNvCxnSpPr>
            <a:cxnSpLocks/>
            <a:endCxn id="11" idx="1"/>
          </p:cNvCxnSpPr>
          <p:nvPr/>
        </p:nvCxnSpPr>
        <p:spPr>
          <a:xfrm flipV="1">
            <a:off x="5486400" y="2892136"/>
            <a:ext cx="1437409" cy="213011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0A01368C-CCB9-1D0A-D09E-0CAE887D0873}"/>
              </a:ext>
            </a:extLst>
          </p:cNvPr>
          <p:cNvCxnSpPr>
            <a:cxnSpLocks/>
          </p:cNvCxnSpPr>
          <p:nvPr/>
        </p:nvCxnSpPr>
        <p:spPr>
          <a:xfrm flipV="1">
            <a:off x="5725391" y="3696571"/>
            <a:ext cx="1198418" cy="3983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46D1BF2-2B1E-2D7F-7C64-4069B8AA82B2}"/>
              </a:ext>
            </a:extLst>
          </p:cNvPr>
          <p:cNvCxnSpPr>
            <a:cxnSpLocks/>
            <a:endCxn id="9" idx="1"/>
          </p:cNvCxnSpPr>
          <p:nvPr/>
        </p:nvCxnSpPr>
        <p:spPr>
          <a:xfrm>
            <a:off x="5642263" y="4275868"/>
            <a:ext cx="1281546" cy="24071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DE0036F-C5BD-1AC2-CF2A-FCB30FBA1D58}"/>
              </a:ext>
            </a:extLst>
          </p:cNvPr>
          <p:cNvCxnSpPr>
            <a:cxnSpLocks/>
          </p:cNvCxnSpPr>
          <p:nvPr/>
        </p:nvCxnSpPr>
        <p:spPr>
          <a:xfrm flipV="1">
            <a:off x="2228851" y="4396227"/>
            <a:ext cx="1267252" cy="8875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4B042912-B32B-9E39-00C9-0DEE70891AE3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2234045" y="3622964"/>
            <a:ext cx="119105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D87CDD0-50E8-2A53-A54F-DF55BA4202FF}"/>
              </a:ext>
            </a:extLst>
          </p:cNvPr>
          <p:cNvCxnSpPr>
            <a:cxnSpLocks/>
          </p:cNvCxnSpPr>
          <p:nvPr/>
        </p:nvCxnSpPr>
        <p:spPr>
          <a:xfrm>
            <a:off x="2240973" y="2892136"/>
            <a:ext cx="1375063" cy="10650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19477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024D66-6847-9C33-9074-D38E859511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492BB84-7186-FF65-FF23-6CA14D5CCC35}"/>
              </a:ext>
            </a:extLst>
          </p:cNvPr>
          <p:cNvSpPr txBox="1"/>
          <p:nvPr/>
        </p:nvSpPr>
        <p:spPr>
          <a:xfrm>
            <a:off x="724767" y="120641"/>
            <a:ext cx="867900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u="sng" dirty="0"/>
              <a:t>5] Multiprocessor operating system:- </a:t>
            </a:r>
          </a:p>
          <a:p>
            <a:r>
              <a:rPr lang="en-US" dirty="0"/>
              <a:t>1] Multiprocessor or parallel systems have multiple processor working in parallel (that share the computer clock, memory ,bus ,peripheral devices, etc.</a:t>
            </a:r>
          </a:p>
          <a:p>
            <a:r>
              <a:rPr lang="en-US" dirty="0"/>
              <a:t>2] There are mainly two types of multiprocessors :-</a:t>
            </a:r>
          </a:p>
          <a:p>
            <a:pPr marL="400050" indent="-400050">
              <a:buFont typeface="+mj-lt"/>
              <a:buAutoNum type="romanUcPeriod"/>
            </a:pPr>
            <a:r>
              <a:rPr lang="en-US" dirty="0"/>
              <a:t> symmetric Multiprocessors - Each processor contains a similar </a:t>
            </a:r>
            <a:r>
              <a:rPr lang="en-US" dirty="0" err="1"/>
              <a:t>popy</a:t>
            </a:r>
            <a:r>
              <a:rPr lang="en-US" dirty="0"/>
              <a:t> of the os and they communicate with each other All processors are in peer-to peer relationship ln master-slave relationship exists between them</a:t>
            </a:r>
          </a:p>
          <a:p>
            <a:pPr marL="400050" indent="-400050">
              <a:buFont typeface="+mj-lt"/>
              <a:buAutoNum type="romanUcPeriod"/>
            </a:pPr>
            <a:r>
              <a:rPr lang="en-US" dirty="0"/>
              <a:t> Asymmetric Multiprocessors- Each processor is given a predefined task There is a master processor that gives instruction all the other processors thus, It contains master slave relationship</a:t>
            </a:r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FF750B9-62B7-1973-2948-0B234A57575D}"/>
              </a:ext>
            </a:extLst>
          </p:cNvPr>
          <p:cNvSpPr/>
          <p:nvPr/>
        </p:nvSpPr>
        <p:spPr>
          <a:xfrm>
            <a:off x="1631373" y="3149217"/>
            <a:ext cx="1049482" cy="435647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p1</a:t>
            </a:r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3E2FB9B-C22A-10FB-B65B-E6AE51A9D8DE}"/>
              </a:ext>
            </a:extLst>
          </p:cNvPr>
          <p:cNvSpPr/>
          <p:nvPr/>
        </p:nvSpPr>
        <p:spPr>
          <a:xfrm>
            <a:off x="1631373" y="3862340"/>
            <a:ext cx="1049482" cy="368491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p3</a:t>
            </a:r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FEAEB6D-AF1E-2954-503E-B9B79BBFD07D}"/>
              </a:ext>
            </a:extLst>
          </p:cNvPr>
          <p:cNvSpPr/>
          <p:nvPr/>
        </p:nvSpPr>
        <p:spPr>
          <a:xfrm>
            <a:off x="1631373" y="3526753"/>
            <a:ext cx="1049482" cy="332509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p2</a:t>
            </a:r>
            <a:endParaRPr lang="en-IN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176AF17-9412-6C8C-2EDC-28ED04F8C1E1}"/>
              </a:ext>
            </a:extLst>
          </p:cNvPr>
          <p:cNvSpPr/>
          <p:nvPr/>
        </p:nvSpPr>
        <p:spPr>
          <a:xfrm>
            <a:off x="1631373" y="4230830"/>
            <a:ext cx="1049482" cy="33250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p4</a:t>
            </a:r>
            <a:endParaRPr lang="en-IN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2347433-5E2E-F022-4CFB-4F6700DBE07F}"/>
              </a:ext>
            </a:extLst>
          </p:cNvPr>
          <p:cNvSpPr/>
          <p:nvPr/>
        </p:nvSpPr>
        <p:spPr>
          <a:xfrm>
            <a:off x="1631373" y="4563339"/>
            <a:ext cx="1049482" cy="33250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p1</a:t>
            </a:r>
            <a:endParaRPr lang="en-IN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9525A7D-1230-09FE-8832-39E3D7CB6141}"/>
              </a:ext>
            </a:extLst>
          </p:cNvPr>
          <p:cNvSpPr/>
          <p:nvPr/>
        </p:nvSpPr>
        <p:spPr>
          <a:xfrm>
            <a:off x="1631373" y="4895847"/>
            <a:ext cx="1049482" cy="33250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p2</a:t>
            </a:r>
            <a:endParaRPr lang="en-IN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9FC0F55-6E45-DFF3-71BF-897EED20190C}"/>
              </a:ext>
            </a:extLst>
          </p:cNvPr>
          <p:cNvSpPr/>
          <p:nvPr/>
        </p:nvSpPr>
        <p:spPr>
          <a:xfrm>
            <a:off x="5226626" y="3828761"/>
            <a:ext cx="2757055" cy="734578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PROCESSOR</a:t>
            </a:r>
            <a:endParaRPr lang="en-IN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5578E09-544B-17BA-9449-554CC3390AB6}"/>
              </a:ext>
            </a:extLst>
          </p:cNvPr>
          <p:cNvSpPr/>
          <p:nvPr/>
        </p:nvSpPr>
        <p:spPr>
          <a:xfrm>
            <a:off x="5226627" y="3211176"/>
            <a:ext cx="2757055" cy="648086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OS</a:t>
            </a:r>
            <a:endParaRPr lang="en-IN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71323B3C-90FB-4026-112B-286F79ABD3A7}"/>
                  </a:ext>
                </a:extLst>
              </p14:cNvPr>
              <p14:cNvContentPartPr/>
              <p14:nvPr/>
            </p14:nvContentPartPr>
            <p14:xfrm>
              <a:off x="1142133" y="3335056"/>
              <a:ext cx="506160" cy="155592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71323B3C-90FB-4026-112B-286F79ABD3A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37813" y="3330736"/>
                <a:ext cx="514800" cy="156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FD0AAF32-C00A-8721-2905-9145AC876EBF}"/>
                  </a:ext>
                </a:extLst>
              </p14:cNvPr>
              <p14:cNvContentPartPr/>
              <p14:nvPr/>
            </p14:nvContentPartPr>
            <p14:xfrm>
              <a:off x="1371093" y="3719536"/>
              <a:ext cx="285840" cy="135684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FD0AAF32-C00A-8721-2905-9145AC876EB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66773" y="3715216"/>
                <a:ext cx="294480" cy="136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718180C4-A1AD-E043-EDEE-38B741A11794}"/>
                  </a:ext>
                </a:extLst>
              </p14:cNvPr>
              <p14:cNvContentPartPr/>
              <p14:nvPr/>
            </p14:nvContentPartPr>
            <p14:xfrm>
              <a:off x="1506453" y="3803007"/>
              <a:ext cx="360" cy="360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718180C4-A1AD-E043-EDEE-38B741A1179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502133" y="3798687"/>
                <a:ext cx="9000" cy="9000"/>
              </a:xfrm>
              <a:prstGeom prst="rect">
                <a:avLst/>
              </a:prstGeom>
            </p:spPr>
          </p:pic>
        </mc:Fallback>
      </mc:AlternateContent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DDB1E311-61C5-F047-C27E-4B4D07869621}"/>
              </a:ext>
            </a:extLst>
          </p:cNvPr>
          <p:cNvCxnSpPr>
            <a:cxnSpLocks/>
          </p:cNvCxnSpPr>
          <p:nvPr/>
        </p:nvCxnSpPr>
        <p:spPr>
          <a:xfrm flipV="1">
            <a:off x="2680855" y="3828760"/>
            <a:ext cx="2545771" cy="305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83013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91C3C8-DC27-8BC8-CD9A-B48A9E6AB7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CAF641C-3FB0-E548-D2E1-61ECDFF9778E}"/>
              </a:ext>
            </a:extLst>
          </p:cNvPr>
          <p:cNvSpPr txBox="1"/>
          <p:nvPr/>
        </p:nvSpPr>
        <p:spPr>
          <a:xfrm>
            <a:off x="787111" y="169177"/>
            <a:ext cx="871018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u="sng" dirty="0"/>
              <a:t>6]Cluster system:- </a:t>
            </a:r>
          </a:p>
          <a:p>
            <a:r>
              <a:rPr lang="en-US" dirty="0"/>
              <a:t>1]cluster systems are similar to parallel system as they both have multiple CPUS [However major difference is that clustered systems are created by </a:t>
            </a:r>
            <a:r>
              <a:rPr lang="en-US" dirty="0" err="1"/>
              <a:t>tewo</a:t>
            </a:r>
            <a:r>
              <a:rPr lang="en-US" dirty="0"/>
              <a:t> or more individual computer systems merged together</a:t>
            </a:r>
          </a:p>
          <a:p>
            <a:r>
              <a:rPr lang="en-US" dirty="0"/>
              <a:t>2] Basically they have independent computer systems [with a common storage and the systems work tog ether.]</a:t>
            </a:r>
          </a:p>
          <a:p>
            <a:r>
              <a:rPr lang="en-US" dirty="0"/>
              <a:t>3] The clustered systems are combination of hardware clusters for high performance disks between the systems There software are clusters to make all the systems work together </a:t>
            </a:r>
          </a:p>
          <a:p>
            <a:r>
              <a:rPr lang="en-US" dirty="0"/>
              <a:t>4] there are primarily two types of clustered systems- </a:t>
            </a:r>
          </a:p>
          <a:p>
            <a:pPr marL="400050" indent="-400050">
              <a:buFont typeface="+mj-lt"/>
              <a:buAutoNum type="romanUcPeriod"/>
            </a:pPr>
            <a:r>
              <a:rPr lang="en-US" dirty="0" err="1"/>
              <a:t>Asymmettic</a:t>
            </a:r>
            <a:r>
              <a:rPr lang="en-US" dirty="0"/>
              <a:t> lustering system - not stand. by </a:t>
            </a:r>
          </a:p>
          <a:p>
            <a:pPr marL="400050" indent="-400050">
              <a:buFont typeface="+mj-lt"/>
              <a:buAutoNum type="romanUcPeriod"/>
            </a:pPr>
            <a:r>
              <a:rPr lang="en-US" dirty="0"/>
              <a:t>Symmetric clustering system- nodes nun applications as well as monitor each other</a:t>
            </a:r>
            <a:endParaRPr lang="en-IN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CD938D0-7083-284C-6613-282E5D32C640}"/>
              </a:ext>
            </a:extLst>
          </p:cNvPr>
          <p:cNvSpPr/>
          <p:nvPr/>
        </p:nvSpPr>
        <p:spPr>
          <a:xfrm>
            <a:off x="665018" y="4327217"/>
            <a:ext cx="1340423" cy="296737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15CCC2A-B7D2-AACD-B16A-89447ECD106E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665018" y="4475586"/>
            <a:ext cx="0" cy="99463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2E5E951-D69D-77CD-DE43-1ADC50B4FADF}"/>
              </a:ext>
            </a:extLst>
          </p:cNvPr>
          <p:cNvCxnSpPr>
            <a:cxnSpLocks/>
          </p:cNvCxnSpPr>
          <p:nvPr/>
        </p:nvCxnSpPr>
        <p:spPr>
          <a:xfrm>
            <a:off x="2005441" y="4457079"/>
            <a:ext cx="0" cy="100272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733586B-2A15-398C-F390-B3C0BD426F05}"/>
              </a:ext>
            </a:extLst>
          </p:cNvPr>
          <p:cNvCxnSpPr>
            <a:cxnSpLocks/>
          </p:cNvCxnSpPr>
          <p:nvPr/>
        </p:nvCxnSpPr>
        <p:spPr>
          <a:xfrm>
            <a:off x="665018" y="5470218"/>
            <a:ext cx="134042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656D79E2-D8E5-78A0-7483-6079DAA463CA}"/>
              </a:ext>
            </a:extLst>
          </p:cNvPr>
          <p:cNvSpPr/>
          <p:nvPr/>
        </p:nvSpPr>
        <p:spPr>
          <a:xfrm>
            <a:off x="787112" y="5610497"/>
            <a:ext cx="1218330" cy="21880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STORAGE </a:t>
            </a:r>
            <a:endParaRPr lang="en-IN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D52626C-496B-5E46-606E-DDA75ACC350A}"/>
              </a:ext>
            </a:extLst>
          </p:cNvPr>
          <p:cNvSpPr/>
          <p:nvPr/>
        </p:nvSpPr>
        <p:spPr>
          <a:xfrm>
            <a:off x="4031673" y="3621231"/>
            <a:ext cx="1340422" cy="100272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2574B3D-860A-1E1E-0C1A-F73321BF4441}"/>
              </a:ext>
            </a:extLst>
          </p:cNvPr>
          <p:cNvSpPr/>
          <p:nvPr/>
        </p:nvSpPr>
        <p:spPr>
          <a:xfrm>
            <a:off x="4042068" y="5373703"/>
            <a:ext cx="1340422" cy="100272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A619702-4E33-E698-BA8C-8A2005AF055E}"/>
              </a:ext>
            </a:extLst>
          </p:cNvPr>
          <p:cNvSpPr/>
          <p:nvPr/>
        </p:nvSpPr>
        <p:spPr>
          <a:xfrm>
            <a:off x="7251990" y="4457079"/>
            <a:ext cx="1340422" cy="100272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FBC96CB-87A7-A440-3E59-1E62623C6D90}"/>
              </a:ext>
            </a:extLst>
          </p:cNvPr>
          <p:cNvSpPr/>
          <p:nvPr/>
        </p:nvSpPr>
        <p:spPr>
          <a:xfrm>
            <a:off x="4187537" y="3730337"/>
            <a:ext cx="1016578" cy="74433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Computer1</a:t>
            </a:r>
            <a:endParaRPr lang="en-IN" sz="14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E5EEBDB-EAEE-EF05-0810-A5144C87F7CD}"/>
              </a:ext>
            </a:extLst>
          </p:cNvPr>
          <p:cNvSpPr/>
          <p:nvPr/>
        </p:nvSpPr>
        <p:spPr>
          <a:xfrm>
            <a:off x="4187537" y="5557597"/>
            <a:ext cx="1059875" cy="68753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Computer 3</a:t>
            </a:r>
            <a:endParaRPr lang="en-IN" sz="14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E66A551-92ED-5F85-073A-A3FBF0A6AAD3}"/>
              </a:ext>
            </a:extLst>
          </p:cNvPr>
          <p:cNvSpPr/>
          <p:nvPr/>
        </p:nvSpPr>
        <p:spPr>
          <a:xfrm>
            <a:off x="7350701" y="4621924"/>
            <a:ext cx="1143000" cy="69386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Computer 2</a:t>
            </a:r>
            <a:endParaRPr lang="en-IN" sz="1400" dirty="0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13034ED8-8823-A333-8B61-1D3823FCC29F}"/>
              </a:ext>
            </a:extLst>
          </p:cNvPr>
          <p:cNvSpPr/>
          <p:nvPr/>
        </p:nvSpPr>
        <p:spPr>
          <a:xfrm>
            <a:off x="4338204" y="4623954"/>
            <a:ext cx="628644" cy="334487"/>
          </a:xfrm>
          <a:prstGeom prst="triangl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7A443041-8BD7-568C-614B-2E2D0264CEB5}"/>
              </a:ext>
            </a:extLst>
          </p:cNvPr>
          <p:cNvSpPr/>
          <p:nvPr/>
        </p:nvSpPr>
        <p:spPr>
          <a:xfrm>
            <a:off x="7607879" y="5479961"/>
            <a:ext cx="628644" cy="334487"/>
          </a:xfrm>
          <a:prstGeom prst="triangl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5EFC62F1-4EA5-0C87-A704-14666C478233}"/>
              </a:ext>
            </a:extLst>
          </p:cNvPr>
          <p:cNvSpPr/>
          <p:nvPr/>
        </p:nvSpPr>
        <p:spPr>
          <a:xfrm>
            <a:off x="4338204" y="6376426"/>
            <a:ext cx="628644" cy="334487"/>
          </a:xfrm>
          <a:prstGeom prst="triangl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B0E80B7-392E-2012-E019-9F556BCA703A}"/>
              </a:ext>
            </a:extLst>
          </p:cNvPr>
          <p:cNvCxnSpPr>
            <a:cxnSpLocks/>
          </p:cNvCxnSpPr>
          <p:nvPr/>
        </p:nvCxnSpPr>
        <p:spPr>
          <a:xfrm>
            <a:off x="5404576" y="3897459"/>
            <a:ext cx="1847413" cy="799232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1AFB9CA6-B9A6-AAE8-32A6-CB6538E191AE}"/>
              </a:ext>
            </a:extLst>
          </p:cNvPr>
          <p:cNvCxnSpPr>
            <a:cxnSpLocks/>
          </p:cNvCxnSpPr>
          <p:nvPr/>
        </p:nvCxnSpPr>
        <p:spPr>
          <a:xfrm flipV="1">
            <a:off x="5418210" y="5230974"/>
            <a:ext cx="1833779" cy="100070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E66977C7-0B11-0E2D-4F0D-0A0B80DA8CE4}"/>
              </a:ext>
            </a:extLst>
          </p:cNvPr>
          <p:cNvCxnSpPr>
            <a:endCxn id="16" idx="1"/>
          </p:cNvCxnSpPr>
          <p:nvPr/>
        </p:nvCxnSpPr>
        <p:spPr>
          <a:xfrm flipV="1">
            <a:off x="2005441" y="4122593"/>
            <a:ext cx="2026232" cy="5740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431E6FF0-3C80-EC5A-A0C6-5A565917141F}"/>
              </a:ext>
            </a:extLst>
          </p:cNvPr>
          <p:cNvCxnSpPr>
            <a:cxnSpLocks/>
          </p:cNvCxnSpPr>
          <p:nvPr/>
        </p:nvCxnSpPr>
        <p:spPr>
          <a:xfrm flipV="1">
            <a:off x="2010639" y="5006672"/>
            <a:ext cx="5214515" cy="785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C0C6AE70-C18F-C181-C964-EF710C5FF235}"/>
              </a:ext>
            </a:extLst>
          </p:cNvPr>
          <p:cNvCxnSpPr>
            <a:cxnSpLocks/>
            <a:endCxn id="17" idx="1"/>
          </p:cNvCxnSpPr>
          <p:nvPr/>
        </p:nvCxnSpPr>
        <p:spPr>
          <a:xfrm>
            <a:off x="2010639" y="5397481"/>
            <a:ext cx="2031429" cy="4775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93298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B425C9-880C-7446-54B6-B02860FBE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24586EB-F9BD-7D7B-E044-B94AF87CA972}"/>
              </a:ext>
            </a:extLst>
          </p:cNvPr>
          <p:cNvSpPr txBox="1"/>
          <p:nvPr/>
        </p:nvSpPr>
        <p:spPr>
          <a:xfrm>
            <a:off x="852055" y="93519"/>
            <a:ext cx="842702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u="sng" dirty="0"/>
              <a:t>7] </a:t>
            </a:r>
            <a:r>
              <a:rPr lang="en-US" b="1" u="sng" dirty="0" err="1"/>
              <a:t>Disttibuled</a:t>
            </a:r>
            <a:r>
              <a:rPr lang="en-US" b="1" u="sng" dirty="0"/>
              <a:t> operating system: -</a:t>
            </a:r>
          </a:p>
          <a:p>
            <a:r>
              <a:rPr lang="en-US" dirty="0"/>
              <a:t>1] Distributed systems use multiple central processors to serve multiple real-time applications and multiple users]</a:t>
            </a:r>
          </a:p>
          <a:p>
            <a:r>
              <a:rPr lang="en-US" dirty="0"/>
              <a:t>2]  A Data processing jobs are distributed among the processors accordingly </a:t>
            </a:r>
          </a:p>
          <a:p>
            <a:r>
              <a:rPr lang="en-US" dirty="0"/>
              <a:t>3] The processors communicate with one another through various communication lines (high speed buses or telephone lines)</a:t>
            </a:r>
          </a:p>
          <a:p>
            <a:r>
              <a:rPr lang="en-US" dirty="0"/>
              <a:t>4] Processors in distributed system may vary in size f Function</a:t>
            </a:r>
          </a:p>
          <a:p>
            <a:r>
              <a:rPr lang="en-US" dirty="0"/>
              <a:t>5]These processors ore </a:t>
            </a:r>
            <a:r>
              <a:rPr lang="en-US" dirty="0" err="1"/>
              <a:t>refered</a:t>
            </a:r>
            <a:r>
              <a:rPr lang="en-US" dirty="0"/>
              <a:t> to as sites, nodes, computers , and so on. </a:t>
            </a:r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BA8F972-2162-3804-214A-39C706C4688A}"/>
              </a:ext>
            </a:extLst>
          </p:cNvPr>
          <p:cNvSpPr/>
          <p:nvPr/>
        </p:nvSpPr>
        <p:spPr>
          <a:xfrm>
            <a:off x="597480" y="3314699"/>
            <a:ext cx="8910202" cy="230832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dirty="0"/>
              <a:t>Distributed Application </a:t>
            </a:r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60760A8-426C-F4C2-F666-38FDFEDAFFF7}"/>
              </a:ext>
            </a:extLst>
          </p:cNvPr>
          <p:cNvSpPr/>
          <p:nvPr/>
        </p:nvSpPr>
        <p:spPr>
          <a:xfrm>
            <a:off x="714376" y="4313122"/>
            <a:ext cx="8676409" cy="111491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Distributed operating system service </a:t>
            </a:r>
            <a:endParaRPr lang="en-IN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2553E3F-ECA2-95E9-CBAA-9CFFDB837783}"/>
              </a:ext>
            </a:extLst>
          </p:cNvPr>
          <p:cNvCxnSpPr>
            <a:cxnSpLocks/>
          </p:cNvCxnSpPr>
          <p:nvPr/>
        </p:nvCxnSpPr>
        <p:spPr>
          <a:xfrm flipV="1">
            <a:off x="3002972" y="3166914"/>
            <a:ext cx="0" cy="13508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7A55812-E4B1-4C7B-B04A-482845C84A55}"/>
              </a:ext>
            </a:extLst>
          </p:cNvPr>
          <p:cNvCxnSpPr>
            <a:cxnSpLocks/>
          </p:cNvCxnSpPr>
          <p:nvPr/>
        </p:nvCxnSpPr>
        <p:spPr>
          <a:xfrm flipH="1">
            <a:off x="477982" y="3166914"/>
            <a:ext cx="252499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E71C18E-508C-E1EB-FC80-1CA101D3F4D5}"/>
              </a:ext>
            </a:extLst>
          </p:cNvPr>
          <p:cNvCxnSpPr>
            <a:cxnSpLocks/>
          </p:cNvCxnSpPr>
          <p:nvPr/>
        </p:nvCxnSpPr>
        <p:spPr>
          <a:xfrm flipH="1">
            <a:off x="3262745" y="3154210"/>
            <a:ext cx="306012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C9ADBC9-07D2-5F9C-E9F9-292770789289}"/>
              </a:ext>
            </a:extLst>
          </p:cNvPr>
          <p:cNvCxnSpPr>
            <a:cxnSpLocks/>
          </p:cNvCxnSpPr>
          <p:nvPr/>
        </p:nvCxnSpPr>
        <p:spPr>
          <a:xfrm flipV="1">
            <a:off x="6322869" y="3166914"/>
            <a:ext cx="0" cy="13508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8AD940A6-39E1-0D23-7320-F1E71465744C}"/>
              </a:ext>
            </a:extLst>
          </p:cNvPr>
          <p:cNvCxnSpPr>
            <a:cxnSpLocks/>
          </p:cNvCxnSpPr>
          <p:nvPr/>
        </p:nvCxnSpPr>
        <p:spPr>
          <a:xfrm flipV="1">
            <a:off x="3262745" y="3154210"/>
            <a:ext cx="0" cy="13508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062EEF04-B664-A35C-0FD8-900203248ECD}"/>
              </a:ext>
            </a:extLst>
          </p:cNvPr>
          <p:cNvCxnSpPr>
            <a:cxnSpLocks/>
          </p:cNvCxnSpPr>
          <p:nvPr/>
        </p:nvCxnSpPr>
        <p:spPr>
          <a:xfrm flipV="1">
            <a:off x="9642764" y="3154210"/>
            <a:ext cx="0" cy="31946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FCD18A3-F89B-F8FD-542C-FC185781921F}"/>
              </a:ext>
            </a:extLst>
          </p:cNvPr>
          <p:cNvCxnSpPr>
            <a:cxnSpLocks/>
          </p:cNvCxnSpPr>
          <p:nvPr/>
        </p:nvCxnSpPr>
        <p:spPr>
          <a:xfrm flipH="1">
            <a:off x="6639791" y="3154210"/>
            <a:ext cx="300297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C308D600-4476-7C60-BEC9-CB7DC1DD3594}"/>
              </a:ext>
            </a:extLst>
          </p:cNvPr>
          <p:cNvCxnSpPr>
            <a:cxnSpLocks/>
          </p:cNvCxnSpPr>
          <p:nvPr/>
        </p:nvCxnSpPr>
        <p:spPr>
          <a:xfrm flipV="1">
            <a:off x="6639791" y="3166914"/>
            <a:ext cx="0" cy="12237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9" name="Rectangle 48">
            <a:extLst>
              <a:ext uri="{FF2B5EF4-FFF2-40B4-BE49-F238E27FC236}">
                <a16:creationId xmlns:a16="http://schemas.microsoft.com/office/drawing/2014/main" id="{00095062-4293-4BA8-16D8-D67125B988BD}"/>
              </a:ext>
            </a:extLst>
          </p:cNvPr>
          <p:cNvSpPr/>
          <p:nvPr/>
        </p:nvSpPr>
        <p:spPr>
          <a:xfrm>
            <a:off x="890155" y="5741945"/>
            <a:ext cx="1693718" cy="467588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Kernal</a:t>
            </a:r>
            <a:endParaRPr lang="en-IN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B9E94BEB-2A36-155C-B30C-78542C56CB2A}"/>
              </a:ext>
            </a:extLst>
          </p:cNvPr>
          <p:cNvSpPr/>
          <p:nvPr/>
        </p:nvSpPr>
        <p:spPr>
          <a:xfrm>
            <a:off x="4057651" y="5730585"/>
            <a:ext cx="1693718" cy="467588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Kernal</a:t>
            </a:r>
            <a:endParaRPr lang="en-IN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0FE15BBD-9CA6-69B5-9638-EDC2514DD021}"/>
              </a:ext>
            </a:extLst>
          </p:cNvPr>
          <p:cNvSpPr/>
          <p:nvPr/>
        </p:nvSpPr>
        <p:spPr>
          <a:xfrm>
            <a:off x="7528214" y="5741945"/>
            <a:ext cx="1693718" cy="467588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Kernal</a:t>
            </a:r>
            <a:endParaRPr lang="en-IN" dirty="0"/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EFA6E399-79BC-019C-6A80-2E1E30ECB2C5}"/>
              </a:ext>
            </a:extLst>
          </p:cNvPr>
          <p:cNvCxnSpPr>
            <a:cxnSpLocks/>
          </p:cNvCxnSpPr>
          <p:nvPr/>
        </p:nvCxnSpPr>
        <p:spPr>
          <a:xfrm flipH="1">
            <a:off x="3262745" y="6348401"/>
            <a:ext cx="306012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7F500C22-F951-5A7E-F86A-362984C13539}"/>
              </a:ext>
            </a:extLst>
          </p:cNvPr>
          <p:cNvCxnSpPr>
            <a:cxnSpLocks/>
          </p:cNvCxnSpPr>
          <p:nvPr/>
        </p:nvCxnSpPr>
        <p:spPr>
          <a:xfrm flipH="1" flipV="1">
            <a:off x="6639791" y="6348623"/>
            <a:ext cx="3002973" cy="2268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6DC7C043-29DE-C20C-E193-94D451B1A6FC}"/>
              </a:ext>
            </a:extLst>
          </p:cNvPr>
          <p:cNvCxnSpPr>
            <a:cxnSpLocks/>
          </p:cNvCxnSpPr>
          <p:nvPr/>
        </p:nvCxnSpPr>
        <p:spPr>
          <a:xfrm flipH="1">
            <a:off x="477981" y="6348845"/>
            <a:ext cx="2524991" cy="1862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BA5EF939-D66B-67F2-0C0B-3C7D8CF14743}"/>
              </a:ext>
            </a:extLst>
          </p:cNvPr>
          <p:cNvCxnSpPr>
            <a:cxnSpLocks/>
          </p:cNvCxnSpPr>
          <p:nvPr/>
        </p:nvCxnSpPr>
        <p:spPr>
          <a:xfrm flipV="1">
            <a:off x="477982" y="3166914"/>
            <a:ext cx="0" cy="31946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E32BFDE8-D082-F2F6-F878-F76E06BB545B}"/>
              </a:ext>
            </a:extLst>
          </p:cNvPr>
          <p:cNvCxnSpPr>
            <a:cxnSpLocks/>
          </p:cNvCxnSpPr>
          <p:nvPr/>
        </p:nvCxnSpPr>
        <p:spPr>
          <a:xfrm flipV="1">
            <a:off x="6315942" y="5623023"/>
            <a:ext cx="6927" cy="7256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96A20B3D-30B6-AEDC-A504-05204F03806C}"/>
              </a:ext>
            </a:extLst>
          </p:cNvPr>
          <p:cNvCxnSpPr>
            <a:cxnSpLocks/>
          </p:cNvCxnSpPr>
          <p:nvPr/>
        </p:nvCxnSpPr>
        <p:spPr>
          <a:xfrm flipV="1">
            <a:off x="3262745" y="5623023"/>
            <a:ext cx="0" cy="74444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8120A0DB-C9C3-6FC7-BCC6-4D64FDCC4893}"/>
              </a:ext>
            </a:extLst>
          </p:cNvPr>
          <p:cNvCxnSpPr>
            <a:cxnSpLocks/>
          </p:cNvCxnSpPr>
          <p:nvPr/>
        </p:nvCxnSpPr>
        <p:spPr>
          <a:xfrm flipV="1">
            <a:off x="6639791" y="5623023"/>
            <a:ext cx="0" cy="72582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EFD00534-9740-874F-19E7-A5C201C6CC2E}"/>
              </a:ext>
            </a:extLst>
          </p:cNvPr>
          <p:cNvCxnSpPr>
            <a:cxnSpLocks/>
          </p:cNvCxnSpPr>
          <p:nvPr/>
        </p:nvCxnSpPr>
        <p:spPr>
          <a:xfrm flipV="1">
            <a:off x="3004705" y="5623023"/>
            <a:ext cx="0" cy="73513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9" name="Rectangle 88">
            <a:extLst>
              <a:ext uri="{FF2B5EF4-FFF2-40B4-BE49-F238E27FC236}">
                <a16:creationId xmlns:a16="http://schemas.microsoft.com/office/drawing/2014/main" id="{A766F47B-D2A2-800E-9A06-1A960AE79447}"/>
              </a:ext>
            </a:extLst>
          </p:cNvPr>
          <p:cNvSpPr/>
          <p:nvPr/>
        </p:nvSpPr>
        <p:spPr>
          <a:xfrm>
            <a:off x="714376" y="2617933"/>
            <a:ext cx="2041807" cy="40966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Machine A</a:t>
            </a:r>
            <a:endParaRPr lang="en-IN" dirty="0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A2D956EF-EDF1-917F-3E4D-92BFE9B0C52C}"/>
              </a:ext>
            </a:extLst>
          </p:cNvPr>
          <p:cNvSpPr/>
          <p:nvPr/>
        </p:nvSpPr>
        <p:spPr>
          <a:xfrm>
            <a:off x="3709562" y="2584053"/>
            <a:ext cx="2041807" cy="40966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Machine B</a:t>
            </a:r>
            <a:endParaRPr lang="en-IN" dirty="0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E290DA25-ACB7-0D10-04E1-5FDB83ADE399}"/>
              </a:ext>
            </a:extLst>
          </p:cNvPr>
          <p:cNvSpPr/>
          <p:nvPr/>
        </p:nvSpPr>
        <p:spPr>
          <a:xfrm>
            <a:off x="6995683" y="2610653"/>
            <a:ext cx="2041807" cy="40966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Machine C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09886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88D528-E8D7-38A3-E5BF-9D0FC9235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8C01B20-ECDC-BAA0-E1BD-042EA876C173}"/>
              </a:ext>
            </a:extLst>
          </p:cNvPr>
          <p:cNvSpPr txBox="1"/>
          <p:nvPr/>
        </p:nvSpPr>
        <p:spPr>
          <a:xfrm>
            <a:off x="706581" y="103909"/>
            <a:ext cx="9133609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u="sng" dirty="0"/>
              <a:t>8]Real Time operating system: -</a:t>
            </a:r>
            <a:r>
              <a:rPr lang="en-US" dirty="0"/>
              <a:t> </a:t>
            </a:r>
          </a:p>
          <a:p>
            <a:r>
              <a:rPr lang="en-US" dirty="0"/>
              <a:t>1] This type of Os serve the real time system), the time interval required to process and respond to input is very small</a:t>
            </a:r>
          </a:p>
          <a:p>
            <a:r>
              <a:rPr lang="en-US" dirty="0"/>
              <a:t>2] Real time systems are used when there are rigid time requirements on the operation of a processor or the flow of data and real time systems can be used as a control device in a dedicated application</a:t>
            </a:r>
          </a:p>
          <a:p>
            <a:r>
              <a:rPr lang="en-US" dirty="0"/>
              <a:t>3] For example-(scientific experiments, industrial control system, air traffic central systems, robots, weapon systems, Real time monitors, etc.]</a:t>
            </a:r>
          </a:p>
          <a:p>
            <a:r>
              <a:rPr lang="en-US" dirty="0"/>
              <a:t>4] There are two types of real-time </a:t>
            </a:r>
          </a:p>
          <a:p>
            <a:pPr marL="400050" indent="-400050">
              <a:buFont typeface="+mj-lt"/>
              <a:buAutoNum type="romanUcPeriod"/>
            </a:pPr>
            <a:r>
              <a:rPr lang="en-US" dirty="0"/>
              <a:t>Hard real- time systems Time Constraint is. very Strict</a:t>
            </a:r>
          </a:p>
          <a:p>
            <a:pPr marL="400050" indent="-400050">
              <a:buFont typeface="+mj-lt"/>
              <a:buAutoNum type="romanUcPeriod"/>
            </a:pPr>
            <a:r>
              <a:rPr lang="en-US" dirty="0"/>
              <a:t> soft real-time systems - Time constraint is less strict</a:t>
            </a:r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A1FCB8F-DE44-3896-C5C2-79BA494F0796}"/>
              </a:ext>
            </a:extLst>
          </p:cNvPr>
          <p:cNvSpPr/>
          <p:nvPr/>
        </p:nvSpPr>
        <p:spPr>
          <a:xfrm>
            <a:off x="3241963" y="3354998"/>
            <a:ext cx="2930237" cy="51954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Application</a:t>
            </a:r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EFC317A-798B-14DE-E129-A864D65FEB67}"/>
              </a:ext>
            </a:extLst>
          </p:cNvPr>
          <p:cNvSpPr/>
          <p:nvPr/>
        </p:nvSpPr>
        <p:spPr>
          <a:xfrm>
            <a:off x="3241963" y="4352525"/>
            <a:ext cx="2930237" cy="51954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RTOS- Kernal</a:t>
            </a:r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7279803-984E-DF93-DA8E-C7A10E7522BC}"/>
              </a:ext>
            </a:extLst>
          </p:cNvPr>
          <p:cNvSpPr/>
          <p:nvPr/>
        </p:nvSpPr>
        <p:spPr>
          <a:xfrm>
            <a:off x="3241963" y="4872071"/>
            <a:ext cx="2930237" cy="51954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BSP</a:t>
            </a:r>
            <a:endParaRPr lang="en-IN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A15B2DC-B495-652F-E74A-FEC2AFBBB440}"/>
              </a:ext>
            </a:extLst>
          </p:cNvPr>
          <p:cNvSpPr/>
          <p:nvPr/>
        </p:nvSpPr>
        <p:spPr>
          <a:xfrm>
            <a:off x="3241962" y="5994289"/>
            <a:ext cx="2930237" cy="51954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Custom – Hardware </a:t>
            </a:r>
            <a:endParaRPr lang="en-IN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5B9BAD9-5A5D-243E-F05A-F337C5EACB3E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>
            <a:off x="4707082" y="3874544"/>
            <a:ext cx="0" cy="47798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43A4A88-98F7-6F30-1C9C-9CF99F2D2322}"/>
              </a:ext>
            </a:extLst>
          </p:cNvPr>
          <p:cNvCxnSpPr>
            <a:cxnSpLocks/>
          </p:cNvCxnSpPr>
          <p:nvPr/>
        </p:nvCxnSpPr>
        <p:spPr>
          <a:xfrm>
            <a:off x="4707080" y="5391617"/>
            <a:ext cx="0" cy="60267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5378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A96D33-FE9E-D2C9-4B7F-AA3AE8533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5C2F72A1-D53C-094C-9DB9-876CB9406BC1}"/>
              </a:ext>
            </a:extLst>
          </p:cNvPr>
          <p:cNvSpPr txBox="1"/>
          <p:nvPr/>
        </p:nvSpPr>
        <p:spPr>
          <a:xfrm>
            <a:off x="800100" y="99582"/>
            <a:ext cx="853093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u="sng" dirty="0"/>
              <a:t>9] Open source os:- </a:t>
            </a:r>
          </a:p>
          <a:p>
            <a:r>
              <a:rPr lang="en-US" u="sng" dirty="0"/>
              <a:t>1]</a:t>
            </a:r>
            <a:r>
              <a:rPr lang="en-US" dirty="0"/>
              <a:t>open source operating system are released under a license</a:t>
            </a:r>
          </a:p>
          <a:p>
            <a:r>
              <a:rPr lang="en-US" dirty="0"/>
              <a:t>2][where as the copyright holder allows others toto study , </a:t>
            </a:r>
            <a:r>
              <a:rPr lang="en-US" dirty="0" err="1"/>
              <a:t>changе</a:t>
            </a:r>
            <a:r>
              <a:rPr lang="en-US" dirty="0"/>
              <a:t> well as distribute the software to other people</a:t>
            </a:r>
          </a:p>
          <a:p>
            <a:r>
              <a:rPr lang="en-US" dirty="0"/>
              <a:t>3] This can be done for any Hason]</a:t>
            </a:r>
          </a:p>
          <a:p>
            <a:r>
              <a:rPr lang="en-US" dirty="0"/>
              <a:t>4]Thie different open source os available in market are - cosmos, </a:t>
            </a:r>
            <a:r>
              <a:rPr lang="en-US" dirty="0" err="1"/>
              <a:t>FreeDos</a:t>
            </a:r>
            <a:r>
              <a:rPr lang="en-US" dirty="0"/>
              <a:t>  , Genode , Ghost Os, etc.)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95BF84-64B9-5AD4-22E3-BAD46FFE1ADD}"/>
              </a:ext>
            </a:extLst>
          </p:cNvPr>
          <p:cNvSpPr txBox="1"/>
          <p:nvPr/>
        </p:nvSpPr>
        <p:spPr>
          <a:xfrm>
            <a:off x="724766" y="2424500"/>
            <a:ext cx="860627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u="sng" dirty="0"/>
              <a:t>10] Mobile operating system:-</a:t>
            </a:r>
          </a:p>
          <a:p>
            <a:r>
              <a:rPr lang="en-US" dirty="0"/>
              <a:t> 1]A mobile os is an operating system that helps to run other application software on mobile devices]</a:t>
            </a:r>
          </a:p>
          <a:p>
            <a:r>
              <a:rPr lang="en-US" dirty="0"/>
              <a:t>2] It is the same kind of software as the Famous computer operating systems like Linux and windows but now they are light and simple to some extent!</a:t>
            </a:r>
          </a:p>
          <a:p>
            <a:r>
              <a:rPr lang="en-US" dirty="0"/>
              <a:t>3] (Popular plat forms of the Mobile os- Android Os, Bada (Samsung Electronics), BlackBerry Os, iPhone os /iOS, Symbian os, windows Mobile os, Harmony 0OS, Palm Os, WebOS (Palm/HP)]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058209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8720BD-2B58-71DD-CE8B-6D3162295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877840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23D232-BA46-BDAE-3DBF-91B9E544F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86111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C93A58-F6DC-5811-629A-38316B04F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73592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B508BD-12A6-0C63-9A16-E48D4AB763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99391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EE0223-D557-7B67-59A6-9CC7CFB160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56810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7F2D1E-DED7-FBA7-6690-F55A08C207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16C0E-F6E1-A255-C38F-A5892442E14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1B5737-E669-5EEC-ED63-239CF98272C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6022202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292</TotalTime>
  <Words>1921</Words>
  <Application>Microsoft Office PowerPoint</Application>
  <PresentationFormat>Widescreen</PresentationFormat>
  <Paragraphs>194</Paragraphs>
  <Slides>22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Trebuchet MS</vt:lpstr>
      <vt:lpstr>Wingdings 3</vt:lpstr>
      <vt:lpstr>Facet</vt:lpstr>
      <vt:lpstr>1.OPERATING SYSTEM OVERVIWE</vt:lpstr>
      <vt:lpstr>1.1 INTRODUCTION OF OPERATING SYSTEM 1]An operating system (OS) is a program that manages the computer hardware. It also provides basis for application programs and acts as an intermediary between user of a computer and the compiler hard ware  2]It is a software which performs all the basic tasks like file management, memory management, process management, handling I /0 and controlling peripheral devices) 3] The os is a vital component of the system software in a computer system 4] some popular os include Linux, Windows, VMs, etc.  fig.OPERITING SYSTEM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Acer</dc:creator>
  <cp:lastModifiedBy>Acer</cp:lastModifiedBy>
  <cp:revision>6</cp:revision>
  <dcterms:created xsi:type="dcterms:W3CDTF">2025-09-24T06:33:18Z</dcterms:created>
  <dcterms:modified xsi:type="dcterms:W3CDTF">2025-09-24T11:26:15Z</dcterms:modified>
</cp:coreProperties>
</file>