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71" r:id="rId5"/>
    <p:sldId id="259" r:id="rId6"/>
    <p:sldId id="272" r:id="rId7"/>
    <p:sldId id="260" r:id="rId8"/>
    <p:sldId id="261" r:id="rId9"/>
    <p:sldId id="262" r:id="rId10"/>
    <p:sldId id="263" r:id="rId11"/>
    <p:sldId id="264" r:id="rId12"/>
    <p:sldId id="265" r:id="rId13"/>
    <p:sldId id="266" r:id="rId14"/>
    <p:sldId id="267" r:id="rId15"/>
    <p:sldId id="268" r:id="rId16"/>
    <p:sldId id="269" r:id="rId17"/>
    <p:sldId id="270" r:id="rId18"/>
    <p:sldId id="275" r:id="rId19"/>
    <p:sldId id="276" r:id="rId20"/>
    <p:sldId id="277" r:id="rId21"/>
    <p:sldId id="278"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C64AD59-B96E-44B6-A66D-61965C79FFB7}" v="16" dt="2025-09-27T16:25:00.88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7" d="100"/>
          <a:sy n="77" d="100"/>
        </p:scale>
        <p:origin x="77" y="11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shinde2580@gmail.com" userId="86fdf0c531315612" providerId="LiveId" clId="{80EF1F59-5901-4077-BC9B-DA299863282D}"/>
    <pc:docChg chg="undo custSel addSld delSld modSld sldOrd">
      <pc:chgData name="shshinde2580@gmail.com" userId="86fdf0c531315612" providerId="LiveId" clId="{80EF1F59-5901-4077-BC9B-DA299863282D}" dt="2025-09-27T16:33:45.788" v="3261" actId="14100"/>
      <pc:docMkLst>
        <pc:docMk/>
      </pc:docMkLst>
      <pc:sldChg chg="addSp modSp del">
        <pc:chgData name="shshinde2580@gmail.com" userId="86fdf0c531315612" providerId="LiveId" clId="{80EF1F59-5901-4077-BC9B-DA299863282D}" dt="2025-09-27T14:26:27.786" v="1181" actId="2696"/>
        <pc:sldMkLst>
          <pc:docMk/>
          <pc:sldMk cId="1088426273" sldId="273"/>
        </pc:sldMkLst>
        <pc:spChg chg="add mod">
          <ac:chgData name="shshinde2580@gmail.com" userId="86fdf0c531315612" providerId="LiveId" clId="{80EF1F59-5901-4077-BC9B-DA299863282D}" dt="2025-09-27T14:25:52.852" v="1176"/>
          <ac:spMkLst>
            <pc:docMk/>
            <pc:sldMk cId="1088426273" sldId="273"/>
            <ac:spMk id="4" creationId="{017ECA99-0F35-7098-23ED-04148A42810B}"/>
          </ac:spMkLst>
        </pc:spChg>
      </pc:sldChg>
      <pc:sldChg chg="addSp modSp new del mod ord">
        <pc:chgData name="shshinde2580@gmail.com" userId="86fdf0c531315612" providerId="LiveId" clId="{80EF1F59-5901-4077-BC9B-DA299863282D}" dt="2025-09-27T14:26:20.223" v="1180" actId="2696"/>
        <pc:sldMkLst>
          <pc:docMk/>
          <pc:sldMk cId="644864199" sldId="274"/>
        </pc:sldMkLst>
        <pc:spChg chg="add mod">
          <ac:chgData name="shshinde2580@gmail.com" userId="86fdf0c531315612" providerId="LiveId" clId="{80EF1F59-5901-4077-BC9B-DA299863282D}" dt="2025-09-27T14:25:10.613" v="1173" actId="12"/>
          <ac:spMkLst>
            <pc:docMk/>
            <pc:sldMk cId="644864199" sldId="274"/>
            <ac:spMk id="2" creationId="{2869D88D-290D-750C-7F07-5EB0408843A7}"/>
          </ac:spMkLst>
        </pc:spChg>
      </pc:sldChg>
      <pc:sldChg chg="addSp delSp modSp add mod">
        <pc:chgData name="shshinde2580@gmail.com" userId="86fdf0c531315612" providerId="LiveId" clId="{80EF1F59-5901-4077-BC9B-DA299863282D}" dt="2025-09-27T16:30:38.940" v="3182" actId="115"/>
        <pc:sldMkLst>
          <pc:docMk/>
          <pc:sldMk cId="1618720627" sldId="275"/>
        </pc:sldMkLst>
        <pc:spChg chg="add mod">
          <ac:chgData name="shshinde2580@gmail.com" userId="86fdf0c531315612" providerId="LiveId" clId="{80EF1F59-5901-4077-BC9B-DA299863282D}" dt="2025-09-27T16:30:38.940" v="3182" actId="115"/>
          <ac:spMkLst>
            <pc:docMk/>
            <pc:sldMk cId="1618720627" sldId="275"/>
            <ac:spMk id="2" creationId="{B6CD8A22-62D2-EB26-DAC6-559C6E4F2722}"/>
          </ac:spMkLst>
        </pc:spChg>
        <pc:spChg chg="del">
          <ac:chgData name="shshinde2580@gmail.com" userId="86fdf0c531315612" providerId="LiveId" clId="{80EF1F59-5901-4077-BC9B-DA299863282D}" dt="2025-09-27T14:26:06.842" v="1178" actId="21"/>
          <ac:spMkLst>
            <pc:docMk/>
            <pc:sldMk cId="1618720627" sldId="275"/>
            <ac:spMk id="7" creationId="{F1103F17-E6FC-BB36-C9FA-4FE346E360DE}"/>
          </ac:spMkLst>
        </pc:spChg>
      </pc:sldChg>
      <pc:sldChg chg="add del">
        <pc:chgData name="shshinde2580@gmail.com" userId="86fdf0c531315612" providerId="LiveId" clId="{80EF1F59-5901-4077-BC9B-DA299863282D}" dt="2025-09-27T14:25:46.692" v="1175"/>
        <pc:sldMkLst>
          <pc:docMk/>
          <pc:sldMk cId="2592927957" sldId="275"/>
        </pc:sldMkLst>
      </pc:sldChg>
      <pc:sldChg chg="modSp add mod">
        <pc:chgData name="shshinde2580@gmail.com" userId="86fdf0c531315612" providerId="LiveId" clId="{80EF1F59-5901-4077-BC9B-DA299863282D}" dt="2025-09-27T16:30:28.746" v="3180" actId="115"/>
        <pc:sldMkLst>
          <pc:docMk/>
          <pc:sldMk cId="422532946" sldId="276"/>
        </pc:sldMkLst>
        <pc:spChg chg="mod">
          <ac:chgData name="shshinde2580@gmail.com" userId="86fdf0c531315612" providerId="LiveId" clId="{80EF1F59-5901-4077-BC9B-DA299863282D}" dt="2025-09-27T16:30:28.746" v="3180" actId="115"/>
          <ac:spMkLst>
            <pc:docMk/>
            <pc:sldMk cId="422532946" sldId="276"/>
            <ac:spMk id="2" creationId="{0E2571A1-CADF-B4EF-E84F-6C7F4AB2E9BD}"/>
          </ac:spMkLst>
        </pc:spChg>
      </pc:sldChg>
      <pc:sldChg chg="modSp add mod">
        <pc:chgData name="shshinde2580@gmail.com" userId="86fdf0c531315612" providerId="LiveId" clId="{80EF1F59-5901-4077-BC9B-DA299863282D}" dt="2025-09-27T16:30:20.902" v="3178" actId="115"/>
        <pc:sldMkLst>
          <pc:docMk/>
          <pc:sldMk cId="762391510" sldId="277"/>
        </pc:sldMkLst>
        <pc:spChg chg="mod">
          <ac:chgData name="shshinde2580@gmail.com" userId="86fdf0c531315612" providerId="LiveId" clId="{80EF1F59-5901-4077-BC9B-DA299863282D}" dt="2025-09-27T16:30:20.902" v="3178" actId="115"/>
          <ac:spMkLst>
            <pc:docMk/>
            <pc:sldMk cId="762391510" sldId="277"/>
            <ac:spMk id="2" creationId="{D87B4749-B8AE-28CC-987F-E35A8DCAD462}"/>
          </ac:spMkLst>
        </pc:spChg>
      </pc:sldChg>
      <pc:sldChg chg="addSp modSp add mod">
        <pc:chgData name="shshinde2580@gmail.com" userId="86fdf0c531315612" providerId="LiveId" clId="{80EF1F59-5901-4077-BC9B-DA299863282D}" dt="2025-09-27T16:33:45.788" v="3261" actId="14100"/>
        <pc:sldMkLst>
          <pc:docMk/>
          <pc:sldMk cId="3428275872" sldId="278"/>
        </pc:sldMkLst>
        <pc:spChg chg="mod">
          <ac:chgData name="shshinde2580@gmail.com" userId="86fdf0c531315612" providerId="LiveId" clId="{80EF1F59-5901-4077-BC9B-DA299863282D}" dt="2025-09-27T16:33:21.355" v="3253" actId="1076"/>
          <ac:spMkLst>
            <pc:docMk/>
            <pc:sldMk cId="3428275872" sldId="278"/>
            <ac:spMk id="2" creationId="{5B77C112-1CBC-ACBA-E8C1-8621A267B111}"/>
          </ac:spMkLst>
        </pc:spChg>
        <pc:spChg chg="add mod">
          <ac:chgData name="shshinde2580@gmail.com" userId="86fdf0c531315612" providerId="LiveId" clId="{80EF1F59-5901-4077-BC9B-DA299863282D}" dt="2025-09-27T16:33:45.788" v="3261" actId="14100"/>
          <ac:spMkLst>
            <pc:docMk/>
            <pc:sldMk cId="3428275872" sldId="278"/>
            <ac:spMk id="3" creationId="{110E3506-A52D-DC29-6A99-7609538976A3}"/>
          </ac:spMkLst>
        </pc:spChg>
      </pc:sldChg>
      <pc:sldChg chg="add del">
        <pc:chgData name="shshinde2580@gmail.com" userId="86fdf0c531315612" providerId="LiveId" clId="{80EF1F59-5901-4077-BC9B-DA299863282D}" dt="2025-09-27T16:30:55.002" v="3183" actId="2696"/>
        <pc:sldMkLst>
          <pc:docMk/>
          <pc:sldMk cId="189513476" sldId="279"/>
        </pc:sldMkLst>
      </pc:sldChg>
      <pc:sldChg chg="add del">
        <pc:chgData name="shshinde2580@gmail.com" userId="86fdf0c531315612" providerId="LiveId" clId="{80EF1F59-5901-4077-BC9B-DA299863282D}" dt="2025-09-27T16:30:57.804" v="3184" actId="2696"/>
        <pc:sldMkLst>
          <pc:docMk/>
          <pc:sldMk cId="2958982801" sldId="280"/>
        </pc:sldMkLst>
      </pc:sldChg>
      <pc:sldChg chg="add del">
        <pc:chgData name="shshinde2580@gmail.com" userId="86fdf0c531315612" providerId="LiveId" clId="{80EF1F59-5901-4077-BC9B-DA299863282D}" dt="2025-09-27T16:31:00.112" v="3185" actId="2696"/>
        <pc:sldMkLst>
          <pc:docMk/>
          <pc:sldMk cId="1840391085"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25DBB-4CDA-4105-ACC3-7DA1A43B93B4}" type="datetimeFigureOut">
              <a:rPr lang="en-IN" smtClean="0"/>
              <a:t>27-09-2025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5B6308-83BA-4758-987A-50ED287B6957}" type="slidenum">
              <a:rPr lang="en-IN" smtClean="0"/>
              <a:t>‹#›</a:t>
            </a:fld>
            <a:endParaRPr lang="en-IN"/>
          </a:p>
        </p:txBody>
      </p:sp>
    </p:spTree>
    <p:extLst>
      <p:ext uri="{BB962C8B-B14F-4D97-AF65-F5344CB8AC3E}">
        <p14:creationId xmlns:p14="http://schemas.microsoft.com/office/powerpoint/2010/main" val="975234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995B6308-83BA-4758-987A-50ED287B6957}" type="slidenum">
              <a:rPr lang="en-IN" smtClean="0"/>
              <a:t>14</a:t>
            </a:fld>
            <a:endParaRPr lang="en-IN"/>
          </a:p>
        </p:txBody>
      </p:sp>
    </p:spTree>
    <p:extLst>
      <p:ext uri="{BB962C8B-B14F-4D97-AF65-F5344CB8AC3E}">
        <p14:creationId xmlns:p14="http://schemas.microsoft.com/office/powerpoint/2010/main" val="26659244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14426018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2875246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35096442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ED04DF4-D59E-45C6-9961-AFF51B318E14}"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1572909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ED04DF4-D59E-45C6-9961-AFF51B318E14}" type="datetimeFigureOut">
              <a:rPr lang="en-IN" smtClean="0"/>
              <a:t>27-09-2025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1995341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ED04DF4-D59E-45C6-9961-AFF51B318E14}" type="datetimeFigureOut">
              <a:rPr lang="en-IN" smtClean="0"/>
              <a:t>27-09-2025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2738959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ED04DF4-D59E-45C6-9961-AFF51B318E14}" type="datetimeFigureOut">
              <a:rPr lang="en-IN" smtClean="0"/>
              <a:t>27-09-2025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16874310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ED04DF4-D59E-45C6-9961-AFF51B318E14}"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7318349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ED04DF4-D59E-45C6-9961-AFF51B318E14}" type="datetimeFigureOut">
              <a:rPr lang="en-IN" smtClean="0"/>
              <a:t>27-09-2025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23738916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3948817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238248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2504066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513208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3416178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37284205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ED04DF4-D59E-45C6-9961-AFF51B318E14}" type="datetimeFigureOut">
              <a:rPr lang="en-IN" smtClean="0"/>
              <a:t>27-09-2025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B8565F3-EA08-48EE-9ADF-B7583666537E}" type="slidenum">
              <a:rPr lang="en-IN" smtClean="0"/>
              <a:t>‹#›</a:t>
            </a:fld>
            <a:endParaRPr lang="en-IN"/>
          </a:p>
        </p:txBody>
      </p:sp>
    </p:spTree>
    <p:extLst>
      <p:ext uri="{BB962C8B-B14F-4D97-AF65-F5344CB8AC3E}">
        <p14:creationId xmlns:p14="http://schemas.microsoft.com/office/powerpoint/2010/main" val="1398386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1ED04DF4-D59E-45C6-9961-AFF51B318E14}" type="datetimeFigureOut">
              <a:rPr lang="en-IN" smtClean="0"/>
              <a:t>27-09-2025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B8565F3-EA08-48EE-9ADF-B7583666537E}" type="slidenum">
              <a:rPr lang="en-IN" smtClean="0"/>
              <a:t>‹#›</a:t>
            </a:fld>
            <a:endParaRPr lang="en-IN"/>
          </a:p>
        </p:txBody>
      </p:sp>
    </p:spTree>
    <p:extLst>
      <p:ext uri="{BB962C8B-B14F-4D97-AF65-F5344CB8AC3E}">
        <p14:creationId xmlns:p14="http://schemas.microsoft.com/office/powerpoint/2010/main" val="6657748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6AE66-5C4D-E238-BE7C-9789392EA370}"/>
              </a:ext>
            </a:extLst>
          </p:cNvPr>
          <p:cNvSpPr>
            <a:spLocks noGrp="1"/>
          </p:cNvSpPr>
          <p:nvPr>
            <p:ph type="ctrTitle"/>
          </p:nvPr>
        </p:nvSpPr>
        <p:spPr>
          <a:xfrm>
            <a:off x="-1371602" y="2292158"/>
            <a:ext cx="11617037" cy="1646302"/>
          </a:xfrm>
        </p:spPr>
        <p:txBody>
          <a:bodyPr/>
          <a:lstStyle/>
          <a:p>
            <a:r>
              <a:rPr lang="en-US" dirty="0"/>
              <a:t>4. CPU Scheduling and Deadlock</a:t>
            </a:r>
            <a:endParaRPr lang="en-IN" dirty="0"/>
          </a:p>
        </p:txBody>
      </p:sp>
    </p:spTree>
    <p:extLst>
      <p:ext uri="{BB962C8B-B14F-4D97-AF65-F5344CB8AC3E}">
        <p14:creationId xmlns:p14="http://schemas.microsoft.com/office/powerpoint/2010/main" val="3557249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B86654E-908F-1033-5F8A-C39064EE1605}"/>
              </a:ext>
            </a:extLst>
          </p:cNvPr>
          <p:cNvSpPr txBox="1"/>
          <p:nvPr/>
        </p:nvSpPr>
        <p:spPr>
          <a:xfrm>
            <a:off x="763276" y="332874"/>
            <a:ext cx="8460797" cy="6463308"/>
          </a:xfrm>
          <a:prstGeom prst="rect">
            <a:avLst/>
          </a:prstGeom>
          <a:noFill/>
        </p:spPr>
        <p:txBody>
          <a:bodyPr wrap="square">
            <a:spAutoFit/>
          </a:bodyPr>
          <a:lstStyle/>
          <a:p>
            <a:r>
              <a:rPr lang="en-US" b="1" u="sng" dirty="0"/>
              <a:t>4.1 ] Scheduling :- </a:t>
            </a:r>
          </a:p>
          <a:p>
            <a:endParaRPr lang="en-US" dirty="0"/>
          </a:p>
          <a:p>
            <a:r>
              <a:rPr lang="en-US" b="1" u="sng" dirty="0"/>
              <a:t>1] What is process scheduling ?</a:t>
            </a:r>
          </a:p>
          <a:p>
            <a:endParaRPr lang="en-US" dirty="0"/>
          </a:p>
          <a:p>
            <a:pPr marL="285750" indent="-285750">
              <a:buFont typeface="Wingdings" panose="05000000000000000000" pitchFamily="2" charset="2"/>
              <a:buChar char="§"/>
            </a:pPr>
            <a:r>
              <a:rPr lang="en-US" dirty="0"/>
              <a:t>A Process Scheduling is the activity of the process manager that handles the removal of the running process from the CPU and the selection of another process based on particular strategy </a:t>
            </a:r>
          </a:p>
          <a:p>
            <a:pPr marL="285750" indent="-285750">
              <a:buFont typeface="Wingdings" panose="05000000000000000000" pitchFamily="2" charset="2"/>
              <a:buChar char="§"/>
            </a:pPr>
            <a:r>
              <a:rPr lang="en-US" dirty="0"/>
              <a:t>Process scheduling is an essential part of a multiprogramming operation system</a:t>
            </a:r>
          </a:p>
          <a:p>
            <a:pPr marL="285750" indent="-285750">
              <a:buFont typeface="Wingdings" panose="05000000000000000000" pitchFamily="2" charset="2"/>
              <a:buChar char="§"/>
            </a:pPr>
            <a:r>
              <a:rPr lang="en-US" dirty="0"/>
              <a:t>Process scheduler schedules different processes to be assigned to the CPU based on Particular scheduling algorithms these algorithms are either primitive or non primitive </a:t>
            </a:r>
          </a:p>
          <a:p>
            <a:endParaRPr lang="en-US" dirty="0"/>
          </a:p>
          <a:p>
            <a:pPr marL="285750" indent="-285750">
              <a:buFont typeface="Wingdings" panose="05000000000000000000" pitchFamily="2" charset="2"/>
              <a:buChar char="§"/>
            </a:pPr>
            <a:r>
              <a:rPr lang="en-US" b="1" u="sng" dirty="0"/>
              <a:t>Non – primitive </a:t>
            </a:r>
            <a:r>
              <a:rPr lang="en-US" dirty="0"/>
              <a:t>:- Non preemptive algorithm are designed so that once a process enters the running state., it cannot be preemptive (to stop) unit it completest its allotted time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r>
              <a:rPr lang="en-US" b="1" u="sng" dirty="0"/>
              <a:t>Preemptive</a:t>
            </a:r>
            <a:r>
              <a:rPr lang="en-US" dirty="0"/>
              <a:t> :- preemptive scheduling is based on priority where a scheduler may a high preempt a low priority running a  process anytime when a high priority enters a ready state </a:t>
            </a:r>
          </a:p>
          <a:p>
            <a:pPr marL="285750" indent="-285750">
              <a:buFont typeface="Wingdings" panose="05000000000000000000" pitchFamily="2" charset="2"/>
              <a:buChar char="§"/>
            </a:pPr>
            <a:endParaRPr lang="en-US" dirty="0"/>
          </a:p>
          <a:p>
            <a:pPr marL="285750" indent="-285750">
              <a:buFont typeface="Wingdings" panose="05000000000000000000" pitchFamily="2" charset="2"/>
              <a:buChar char="§"/>
            </a:pPr>
            <a:endParaRPr lang="en-US" dirty="0"/>
          </a:p>
          <a:p>
            <a:endParaRPr lang="en-US" dirty="0"/>
          </a:p>
        </p:txBody>
      </p:sp>
    </p:spTree>
    <p:extLst>
      <p:ext uri="{BB962C8B-B14F-4D97-AF65-F5344CB8AC3E}">
        <p14:creationId xmlns:p14="http://schemas.microsoft.com/office/powerpoint/2010/main" val="14525640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989D4D-F52C-EDEC-31C3-1EA154DACBDB}"/>
              </a:ext>
            </a:extLst>
          </p:cNvPr>
          <p:cNvSpPr txBox="1"/>
          <p:nvPr/>
        </p:nvSpPr>
        <p:spPr>
          <a:xfrm>
            <a:off x="810490" y="227334"/>
            <a:ext cx="8614065" cy="2862322"/>
          </a:xfrm>
          <a:prstGeom prst="rect">
            <a:avLst/>
          </a:prstGeom>
          <a:noFill/>
        </p:spPr>
        <p:txBody>
          <a:bodyPr wrap="square">
            <a:spAutoFit/>
          </a:bodyPr>
          <a:lstStyle/>
          <a:p>
            <a:pPr marL="285750" indent="-285750">
              <a:buFont typeface="Wingdings" panose="05000000000000000000" pitchFamily="2" charset="2"/>
              <a:buChar char="v"/>
            </a:pPr>
            <a:r>
              <a:rPr lang="en-US" b="1" u="sng" dirty="0"/>
              <a:t>Some Important Terms:-</a:t>
            </a:r>
          </a:p>
          <a:p>
            <a:endParaRPr lang="en-US" b="1" u="sng" dirty="0"/>
          </a:p>
          <a:p>
            <a:r>
              <a:rPr lang="en-US" dirty="0"/>
              <a:t>1.CPU Scheduling: CPU scheduling is a process that allows one process to use the CPU while the execution of another process is on hold(in waiting state) due to unavailability of any resource like I/O etc., thereby making full use of CPU. </a:t>
            </a:r>
          </a:p>
          <a:p>
            <a:endParaRPr lang="en-US" dirty="0"/>
          </a:p>
          <a:p>
            <a:r>
              <a:rPr lang="en-US" dirty="0"/>
              <a:t>The primary objective of CPU scheduling is to ensure that as many jobs are running at a time as is possible. On a single-CPU system, the goal is to keep one job running at all times. Multiprogramming allows us to keep many jobs ready to run at all times. </a:t>
            </a:r>
            <a:endParaRPr lang="en-IN" dirty="0"/>
          </a:p>
        </p:txBody>
      </p:sp>
      <p:sp>
        <p:nvSpPr>
          <p:cNvPr id="2" name="Oval 1">
            <a:extLst>
              <a:ext uri="{FF2B5EF4-FFF2-40B4-BE49-F238E27FC236}">
                <a16:creationId xmlns:a16="http://schemas.microsoft.com/office/drawing/2014/main" id="{3175407A-452E-DDE4-DF0A-966AA51BAC71}"/>
              </a:ext>
            </a:extLst>
          </p:cNvPr>
          <p:cNvSpPr/>
          <p:nvPr/>
        </p:nvSpPr>
        <p:spPr>
          <a:xfrm>
            <a:off x="1132609" y="3584864"/>
            <a:ext cx="1350818" cy="77931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Ready </a:t>
            </a:r>
            <a:endParaRPr lang="en-IN" dirty="0"/>
          </a:p>
        </p:txBody>
      </p:sp>
      <p:sp>
        <p:nvSpPr>
          <p:cNvPr id="3" name="Oval 2">
            <a:extLst>
              <a:ext uri="{FF2B5EF4-FFF2-40B4-BE49-F238E27FC236}">
                <a16:creationId xmlns:a16="http://schemas.microsoft.com/office/drawing/2014/main" id="{C5D44C29-34FC-0B62-A33C-1880AE301010}"/>
              </a:ext>
            </a:extLst>
          </p:cNvPr>
          <p:cNvSpPr/>
          <p:nvPr/>
        </p:nvSpPr>
        <p:spPr>
          <a:xfrm>
            <a:off x="4745182" y="3584864"/>
            <a:ext cx="1350818" cy="77931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Ready </a:t>
            </a:r>
            <a:endParaRPr lang="en-IN" dirty="0"/>
          </a:p>
        </p:txBody>
      </p:sp>
      <p:sp>
        <p:nvSpPr>
          <p:cNvPr id="4" name="Oval 3">
            <a:extLst>
              <a:ext uri="{FF2B5EF4-FFF2-40B4-BE49-F238E27FC236}">
                <a16:creationId xmlns:a16="http://schemas.microsoft.com/office/drawing/2014/main" id="{2B4D1B05-4A74-53D5-C275-ADBC70805700}"/>
              </a:ext>
            </a:extLst>
          </p:cNvPr>
          <p:cNvSpPr/>
          <p:nvPr/>
        </p:nvSpPr>
        <p:spPr>
          <a:xfrm>
            <a:off x="8191498" y="3584864"/>
            <a:ext cx="1350818" cy="77931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Ready </a:t>
            </a:r>
            <a:endParaRPr lang="en-IN" dirty="0"/>
          </a:p>
        </p:txBody>
      </p:sp>
      <p:cxnSp>
        <p:nvCxnSpPr>
          <p:cNvPr id="8" name="Straight Connector 7">
            <a:extLst>
              <a:ext uri="{FF2B5EF4-FFF2-40B4-BE49-F238E27FC236}">
                <a16:creationId xmlns:a16="http://schemas.microsoft.com/office/drawing/2014/main" id="{1EBFDC5F-CF76-7B33-06D9-8AA005C4C738}"/>
              </a:ext>
            </a:extLst>
          </p:cNvPr>
          <p:cNvCxnSpPr>
            <a:stCxn id="2" idx="0"/>
          </p:cNvCxnSpPr>
          <p:nvPr/>
        </p:nvCxnSpPr>
        <p:spPr>
          <a:xfrm flipV="1">
            <a:off x="1808018" y="3231573"/>
            <a:ext cx="0" cy="353291"/>
          </a:xfrm>
          <a:prstGeom prst="line">
            <a:avLst/>
          </a:prstGeom>
        </p:spPr>
        <p:style>
          <a:lnRef idx="2">
            <a:schemeClr val="dk1"/>
          </a:lnRef>
          <a:fillRef idx="0">
            <a:schemeClr val="dk1"/>
          </a:fillRef>
          <a:effectRef idx="1">
            <a:schemeClr val="dk1"/>
          </a:effectRef>
          <a:fontRef idx="minor">
            <a:schemeClr val="tx1"/>
          </a:fontRef>
        </p:style>
      </p:cxnSp>
      <p:cxnSp>
        <p:nvCxnSpPr>
          <p:cNvPr id="9" name="Straight Connector 8">
            <a:extLst>
              <a:ext uri="{FF2B5EF4-FFF2-40B4-BE49-F238E27FC236}">
                <a16:creationId xmlns:a16="http://schemas.microsoft.com/office/drawing/2014/main" id="{0BBA7F87-2E19-8105-8A3C-7114B2BA0A42}"/>
              </a:ext>
            </a:extLst>
          </p:cNvPr>
          <p:cNvCxnSpPr/>
          <p:nvPr/>
        </p:nvCxnSpPr>
        <p:spPr>
          <a:xfrm flipV="1">
            <a:off x="5420591" y="3217718"/>
            <a:ext cx="0" cy="353291"/>
          </a:xfrm>
          <a:prstGeom prst="line">
            <a:avLst/>
          </a:prstGeom>
        </p:spPr>
        <p:style>
          <a:lnRef idx="2">
            <a:schemeClr val="dk1"/>
          </a:lnRef>
          <a:fillRef idx="0">
            <a:schemeClr val="dk1"/>
          </a:fillRef>
          <a:effectRef idx="1">
            <a:schemeClr val="dk1"/>
          </a:effectRef>
          <a:fontRef idx="minor">
            <a:schemeClr val="tx1"/>
          </a:fontRef>
        </p:style>
      </p:cxnSp>
      <p:cxnSp>
        <p:nvCxnSpPr>
          <p:cNvPr id="10" name="Straight Connector 9">
            <a:extLst>
              <a:ext uri="{FF2B5EF4-FFF2-40B4-BE49-F238E27FC236}">
                <a16:creationId xmlns:a16="http://schemas.microsoft.com/office/drawing/2014/main" id="{92C6FC5A-D464-B8F9-5AB2-2534F48FEBE9}"/>
              </a:ext>
            </a:extLst>
          </p:cNvPr>
          <p:cNvCxnSpPr/>
          <p:nvPr/>
        </p:nvCxnSpPr>
        <p:spPr>
          <a:xfrm flipV="1">
            <a:off x="8870370" y="3224646"/>
            <a:ext cx="0" cy="353291"/>
          </a:xfrm>
          <a:prstGeom prst="line">
            <a:avLst/>
          </a:prstGeom>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3197221A-1DA0-2F0D-6FA6-3D8BD4AF7827}"/>
              </a:ext>
            </a:extLst>
          </p:cNvPr>
          <p:cNvCxnSpPr/>
          <p:nvPr/>
        </p:nvCxnSpPr>
        <p:spPr>
          <a:xfrm>
            <a:off x="1808018" y="3394363"/>
            <a:ext cx="3612573" cy="13855"/>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9A628D68-19FE-352F-DF8B-1B21FAE0D8F1}"/>
              </a:ext>
            </a:extLst>
          </p:cNvPr>
          <p:cNvCxnSpPr>
            <a:cxnSpLocks/>
          </p:cNvCxnSpPr>
          <p:nvPr/>
        </p:nvCxnSpPr>
        <p:spPr>
          <a:xfrm>
            <a:off x="5420591" y="3408218"/>
            <a:ext cx="3446316" cy="20782"/>
          </a:xfrm>
          <a:prstGeom prst="straightConnector1">
            <a:avLst/>
          </a:prstGeom>
          <a:ln>
            <a:headEnd type="triangle"/>
            <a:tailEnd type="triangle"/>
          </a:ln>
        </p:spPr>
        <p:style>
          <a:lnRef idx="2">
            <a:schemeClr val="dk1"/>
          </a:lnRef>
          <a:fillRef idx="0">
            <a:schemeClr val="dk1"/>
          </a:fillRef>
          <a:effectRef idx="1">
            <a:schemeClr val="dk1"/>
          </a:effectRef>
          <a:fontRef idx="minor">
            <a:schemeClr val="tx1"/>
          </a:fontRef>
        </p:style>
      </p:cxnSp>
      <p:cxnSp>
        <p:nvCxnSpPr>
          <p:cNvPr id="18" name="Straight Arrow Connector 17">
            <a:extLst>
              <a:ext uri="{FF2B5EF4-FFF2-40B4-BE49-F238E27FC236}">
                <a16:creationId xmlns:a16="http://schemas.microsoft.com/office/drawing/2014/main" id="{F30060A1-B02F-E53E-EC66-1DED88DC7E0A}"/>
              </a:ext>
            </a:extLst>
          </p:cNvPr>
          <p:cNvCxnSpPr>
            <a:stCxn id="2" idx="6"/>
            <a:endCxn id="3" idx="2"/>
          </p:cNvCxnSpPr>
          <p:nvPr/>
        </p:nvCxnSpPr>
        <p:spPr>
          <a:xfrm>
            <a:off x="2483427" y="3974523"/>
            <a:ext cx="226175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9" name="Straight Arrow Connector 18">
            <a:extLst>
              <a:ext uri="{FF2B5EF4-FFF2-40B4-BE49-F238E27FC236}">
                <a16:creationId xmlns:a16="http://schemas.microsoft.com/office/drawing/2014/main" id="{3E6B0839-3E3A-7B43-F3C7-193C0B969320}"/>
              </a:ext>
            </a:extLst>
          </p:cNvPr>
          <p:cNvCxnSpPr>
            <a:cxnSpLocks/>
            <a:endCxn id="4" idx="2"/>
          </p:cNvCxnSpPr>
          <p:nvPr/>
        </p:nvCxnSpPr>
        <p:spPr>
          <a:xfrm>
            <a:off x="6096000" y="3974523"/>
            <a:ext cx="2095498"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1" name="Rectangle 20">
            <a:extLst>
              <a:ext uri="{FF2B5EF4-FFF2-40B4-BE49-F238E27FC236}">
                <a16:creationId xmlns:a16="http://schemas.microsoft.com/office/drawing/2014/main" id="{675FEA4C-38A6-B9AC-D27C-11837D044020}"/>
              </a:ext>
            </a:extLst>
          </p:cNvPr>
          <p:cNvSpPr/>
          <p:nvPr/>
        </p:nvSpPr>
        <p:spPr>
          <a:xfrm>
            <a:off x="498764" y="3079266"/>
            <a:ext cx="1181099" cy="50559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Arrival time </a:t>
            </a:r>
            <a:endParaRPr lang="en-IN" dirty="0"/>
          </a:p>
        </p:txBody>
      </p:sp>
      <p:sp>
        <p:nvSpPr>
          <p:cNvPr id="22" name="Rectangle 21">
            <a:extLst>
              <a:ext uri="{FF2B5EF4-FFF2-40B4-BE49-F238E27FC236}">
                <a16:creationId xmlns:a16="http://schemas.microsoft.com/office/drawing/2014/main" id="{F4D7BA64-D023-9C1A-CFB8-B7B8D998F7DE}"/>
              </a:ext>
            </a:extLst>
          </p:cNvPr>
          <p:cNvSpPr/>
          <p:nvPr/>
        </p:nvSpPr>
        <p:spPr>
          <a:xfrm>
            <a:off x="2424544" y="3018559"/>
            <a:ext cx="1804556" cy="342899"/>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Waiting time </a:t>
            </a:r>
            <a:endParaRPr lang="en-IN" dirty="0"/>
          </a:p>
        </p:txBody>
      </p:sp>
      <p:sp>
        <p:nvSpPr>
          <p:cNvPr id="23" name="Rectangle 22">
            <a:extLst>
              <a:ext uri="{FF2B5EF4-FFF2-40B4-BE49-F238E27FC236}">
                <a16:creationId xmlns:a16="http://schemas.microsoft.com/office/drawing/2014/main" id="{99636A0C-3456-DAB6-BF8C-201C36FD7FAD}"/>
              </a:ext>
            </a:extLst>
          </p:cNvPr>
          <p:cNvSpPr/>
          <p:nvPr/>
        </p:nvSpPr>
        <p:spPr>
          <a:xfrm>
            <a:off x="5682094" y="2945963"/>
            <a:ext cx="1461655" cy="36705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Burst  time </a:t>
            </a:r>
            <a:endParaRPr lang="en-IN" dirty="0"/>
          </a:p>
        </p:txBody>
      </p:sp>
      <p:sp>
        <p:nvSpPr>
          <p:cNvPr id="24" name="Rectangle 23">
            <a:extLst>
              <a:ext uri="{FF2B5EF4-FFF2-40B4-BE49-F238E27FC236}">
                <a16:creationId xmlns:a16="http://schemas.microsoft.com/office/drawing/2014/main" id="{78E865D6-1D02-994E-7C10-B62ED9B01236}"/>
              </a:ext>
            </a:extLst>
          </p:cNvPr>
          <p:cNvSpPr/>
          <p:nvPr/>
        </p:nvSpPr>
        <p:spPr>
          <a:xfrm>
            <a:off x="9017576" y="3160614"/>
            <a:ext cx="1366403" cy="353291"/>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Completion  time </a:t>
            </a:r>
            <a:endParaRPr lang="en-IN" dirty="0"/>
          </a:p>
        </p:txBody>
      </p:sp>
      <p:sp>
        <p:nvSpPr>
          <p:cNvPr id="25" name="Rectangle 24">
            <a:extLst>
              <a:ext uri="{FF2B5EF4-FFF2-40B4-BE49-F238E27FC236}">
                <a16:creationId xmlns:a16="http://schemas.microsoft.com/office/drawing/2014/main" id="{C8FA8DCB-63C9-1C4B-53FB-354E9A10CE23}"/>
              </a:ext>
            </a:extLst>
          </p:cNvPr>
          <p:cNvSpPr/>
          <p:nvPr/>
        </p:nvSpPr>
        <p:spPr>
          <a:xfrm>
            <a:off x="3729470" y="4540828"/>
            <a:ext cx="3170094" cy="1374738"/>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CT- At =WT + BT</a:t>
            </a:r>
          </a:p>
          <a:p>
            <a:pPr algn="ctr"/>
            <a:endParaRPr lang="en-US" dirty="0"/>
          </a:p>
          <a:p>
            <a:pPr algn="ctr"/>
            <a:r>
              <a:rPr lang="en-US" dirty="0"/>
              <a:t>TAT = CT – AT</a:t>
            </a:r>
          </a:p>
          <a:p>
            <a:pPr algn="ctr"/>
            <a:r>
              <a:rPr lang="en-US" dirty="0"/>
              <a:t> </a:t>
            </a:r>
          </a:p>
          <a:p>
            <a:pPr algn="ctr"/>
            <a:r>
              <a:rPr lang="en-US" dirty="0"/>
              <a:t>Waiting time  = TAT - BT</a:t>
            </a:r>
            <a:endParaRPr lang="en-IN" dirty="0"/>
          </a:p>
        </p:txBody>
      </p:sp>
    </p:spTree>
    <p:extLst>
      <p:ext uri="{BB962C8B-B14F-4D97-AF65-F5344CB8AC3E}">
        <p14:creationId xmlns:p14="http://schemas.microsoft.com/office/powerpoint/2010/main" val="217706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B067247-FDFF-025E-1F68-B4F7884462DB}"/>
              </a:ext>
            </a:extLst>
          </p:cNvPr>
          <p:cNvSpPr txBox="1"/>
          <p:nvPr/>
        </p:nvSpPr>
        <p:spPr>
          <a:xfrm>
            <a:off x="754708" y="529579"/>
            <a:ext cx="8749145" cy="4801314"/>
          </a:xfrm>
          <a:prstGeom prst="rect">
            <a:avLst/>
          </a:prstGeom>
          <a:noFill/>
        </p:spPr>
        <p:txBody>
          <a:bodyPr wrap="square">
            <a:spAutoFit/>
          </a:bodyPr>
          <a:lstStyle/>
          <a:p>
            <a:r>
              <a:rPr lang="en-US" dirty="0"/>
              <a:t>2. </a:t>
            </a:r>
            <a:r>
              <a:rPr lang="en-US" b="1" u="sng" dirty="0"/>
              <a:t>Arrival Time</a:t>
            </a:r>
            <a:r>
              <a:rPr lang="en-US" dirty="0"/>
              <a:t>: The time at which process enters the ready queue. </a:t>
            </a:r>
          </a:p>
          <a:p>
            <a:r>
              <a:rPr lang="en-US" dirty="0"/>
              <a:t>3. </a:t>
            </a:r>
            <a:r>
              <a:rPr lang="en-US" b="1" u="sng" dirty="0"/>
              <a:t>Burst Time</a:t>
            </a:r>
            <a:r>
              <a:rPr lang="en-US" dirty="0"/>
              <a:t>: The time required by a process to get executed on CPU. (Duration) </a:t>
            </a:r>
          </a:p>
          <a:p>
            <a:r>
              <a:rPr lang="en-US" dirty="0"/>
              <a:t>4. </a:t>
            </a:r>
            <a:r>
              <a:rPr lang="en-US" b="1" u="sng" dirty="0"/>
              <a:t>Completion Time</a:t>
            </a:r>
            <a:r>
              <a:rPr lang="en-US" dirty="0"/>
              <a:t>: The time at which process completes its execution. </a:t>
            </a:r>
          </a:p>
          <a:p>
            <a:r>
              <a:rPr lang="en-US" dirty="0"/>
              <a:t>5. </a:t>
            </a:r>
            <a:r>
              <a:rPr lang="en-US" b="1" u="sng" dirty="0"/>
              <a:t>Turnaround Time</a:t>
            </a:r>
            <a:r>
              <a:rPr lang="en-US" dirty="0"/>
              <a:t>: The total amount of time spent by the process from its arrival to its completion, is called Turnaround time. (Completion time - Arrival Time) </a:t>
            </a:r>
          </a:p>
          <a:p>
            <a:r>
              <a:rPr lang="en-US" dirty="0"/>
              <a:t>6. </a:t>
            </a:r>
            <a:r>
              <a:rPr lang="en-US" b="1" u="sng" dirty="0"/>
              <a:t>Waiting Time</a:t>
            </a:r>
            <a:r>
              <a:rPr lang="en-US" dirty="0"/>
              <a:t>: The Total amount of time for which the process waits for the CPU to be assigned is called waiting time. (Turnaround Time - Burst Time) </a:t>
            </a:r>
          </a:p>
          <a:p>
            <a:r>
              <a:rPr lang="en-US" dirty="0"/>
              <a:t>7. </a:t>
            </a:r>
            <a:r>
              <a:rPr lang="en-US" b="1" u="sng" dirty="0"/>
              <a:t>Response Time</a:t>
            </a:r>
            <a:r>
              <a:rPr lang="en-US" dirty="0"/>
              <a:t>: (the time at which process get CPU first time - Arrival Time) </a:t>
            </a:r>
          </a:p>
          <a:p>
            <a:endParaRPr lang="en-US" dirty="0"/>
          </a:p>
          <a:p>
            <a:pPr marL="285750" indent="-285750">
              <a:buFont typeface="Wingdings" panose="05000000000000000000" pitchFamily="2" charset="2"/>
              <a:buChar char="Ø"/>
            </a:pPr>
            <a:r>
              <a:rPr lang="en-US" b="1" u="sng" dirty="0"/>
              <a:t>CPU and I//O burst cycles :</a:t>
            </a:r>
            <a:r>
              <a:rPr lang="en-US" dirty="0"/>
              <a:t>-</a:t>
            </a:r>
          </a:p>
          <a:p>
            <a:pPr marL="342900" indent="-342900">
              <a:buFont typeface="+mj-lt"/>
              <a:buAutoNum type="arabicPeriod"/>
            </a:pPr>
            <a:r>
              <a:rPr lang="en-US" dirty="0"/>
              <a:t>It describes how a process alternates between periods of CPU execution (CPU burst ) and period of  waiting for I/O operations (I/O burst )</a:t>
            </a:r>
          </a:p>
          <a:p>
            <a:pPr marL="342900" indent="-342900">
              <a:buFont typeface="+mj-lt"/>
              <a:buAutoNum type="arabicPeriod"/>
            </a:pPr>
            <a:r>
              <a:rPr lang="en-US" dirty="0"/>
              <a:t>During CPU burst , the process is actively using the CPU to execute instructions. Afterwards , it enter an I/O burst during which for I/O operations to complete</a:t>
            </a:r>
          </a:p>
          <a:p>
            <a:pPr marL="342900" indent="-342900">
              <a:buFont typeface="+mj-lt"/>
              <a:buAutoNum type="arabicPeriod"/>
            </a:pPr>
            <a:r>
              <a:rPr lang="en-US" dirty="0"/>
              <a:t>This  cycle contains unit the process completes its task </a:t>
            </a:r>
          </a:p>
          <a:p>
            <a:endParaRPr lang="en-IN" dirty="0"/>
          </a:p>
        </p:txBody>
      </p:sp>
    </p:spTree>
    <p:extLst>
      <p:ext uri="{BB962C8B-B14F-4D97-AF65-F5344CB8AC3E}">
        <p14:creationId xmlns:p14="http://schemas.microsoft.com/office/powerpoint/2010/main" val="8218937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6555C3E4-FEB4-6015-F53E-6CAD001ED0F2}"/>
              </a:ext>
            </a:extLst>
          </p:cNvPr>
          <p:cNvSpPr txBox="1"/>
          <p:nvPr/>
        </p:nvSpPr>
        <p:spPr>
          <a:xfrm>
            <a:off x="725495" y="289679"/>
            <a:ext cx="8996022" cy="6186309"/>
          </a:xfrm>
          <a:prstGeom prst="rect">
            <a:avLst/>
          </a:prstGeom>
          <a:noFill/>
        </p:spPr>
        <p:txBody>
          <a:bodyPr wrap="square">
            <a:spAutoFit/>
          </a:bodyPr>
          <a:lstStyle/>
          <a:p>
            <a:r>
              <a:rPr lang="en-US" dirty="0"/>
              <a:t>4.2 Types of Scheduling algorithms :- </a:t>
            </a:r>
          </a:p>
          <a:p>
            <a:r>
              <a:rPr lang="en-US" dirty="0"/>
              <a:t>1] First come first serve (FCFS) scheduling </a:t>
            </a:r>
          </a:p>
          <a:p>
            <a:r>
              <a:rPr lang="en-US" dirty="0"/>
              <a:t>2] Shortest job first (SJF) scheduling</a:t>
            </a:r>
          </a:p>
          <a:p>
            <a:r>
              <a:rPr lang="en-US" dirty="0"/>
              <a:t>3] Shortest remaining time (SRTN) scheduling</a:t>
            </a:r>
          </a:p>
          <a:p>
            <a:r>
              <a:rPr lang="en-US" dirty="0"/>
              <a:t>4] Round Robin (RR) scheduling</a:t>
            </a:r>
          </a:p>
          <a:p>
            <a:r>
              <a:rPr lang="en-US" dirty="0"/>
              <a:t>5] Priority scheduling </a:t>
            </a:r>
          </a:p>
          <a:p>
            <a:r>
              <a:rPr lang="en-US" dirty="0"/>
              <a:t>6] Multilevel queue scheduling</a:t>
            </a:r>
          </a:p>
          <a:p>
            <a:r>
              <a:rPr lang="en-US" dirty="0"/>
              <a:t> </a:t>
            </a:r>
          </a:p>
          <a:p>
            <a:pPr marL="342900" indent="-342900">
              <a:buFont typeface="Wingdings" panose="05000000000000000000" pitchFamily="2" charset="2"/>
              <a:buChar char="v"/>
            </a:pPr>
            <a:r>
              <a:rPr lang="en-US" b="1" u="sng" dirty="0"/>
              <a:t> Long – term  Schedular (Job Schedular)</a:t>
            </a:r>
          </a:p>
          <a:p>
            <a:r>
              <a:rPr lang="en-US" dirty="0"/>
              <a:t>The Long – Term Schedular is responsible for selecting which processes are admitted into the system for execution. It controls the degree of multiprogramming (The number of Processes in memory in memory at a given time</a:t>
            </a:r>
          </a:p>
          <a:p>
            <a:endParaRPr lang="en-US" dirty="0"/>
          </a:p>
          <a:p>
            <a:r>
              <a:rPr lang="en-US" b="1" u="sng" dirty="0"/>
              <a:t>1] First come First Serve (FCFS)</a:t>
            </a:r>
          </a:p>
          <a:p>
            <a:r>
              <a:rPr lang="en-US" dirty="0"/>
              <a:t>First come first serve (FCFS) is the simple CPU scheduling algorithm, Where the process that arrives first in the ready Queue is  executed first , Without Preemption . It follow the FIFO (First In First Out) principle </a:t>
            </a:r>
          </a:p>
          <a:p>
            <a:endParaRPr lang="en-US" dirty="0"/>
          </a:p>
          <a:p>
            <a:r>
              <a:rPr lang="en-US" b="1" u="sng" dirty="0"/>
              <a:t>2] Short Job First (SJF)</a:t>
            </a:r>
          </a:p>
          <a:p>
            <a:r>
              <a:rPr lang="en-US" dirty="0"/>
              <a:t>Shortest job first (SJF) is a CPU scheduling algorithm where the process with the smallest burst time is exaction first . It is also Known as Shortest job first </a:t>
            </a:r>
          </a:p>
          <a:p>
            <a:endParaRPr lang="en-US" dirty="0"/>
          </a:p>
        </p:txBody>
      </p:sp>
    </p:spTree>
    <p:extLst>
      <p:ext uri="{BB962C8B-B14F-4D97-AF65-F5344CB8AC3E}">
        <p14:creationId xmlns:p14="http://schemas.microsoft.com/office/powerpoint/2010/main" val="14550522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3A81C4B-D548-D0F7-9F8A-1C028DACD733}"/>
              </a:ext>
            </a:extLst>
          </p:cNvPr>
          <p:cNvSpPr txBox="1"/>
          <p:nvPr/>
        </p:nvSpPr>
        <p:spPr>
          <a:xfrm>
            <a:off x="685799" y="145473"/>
            <a:ext cx="9029701" cy="6463308"/>
          </a:xfrm>
          <a:prstGeom prst="rect">
            <a:avLst/>
          </a:prstGeom>
          <a:noFill/>
        </p:spPr>
        <p:txBody>
          <a:bodyPr wrap="square">
            <a:spAutoFit/>
          </a:bodyPr>
          <a:lstStyle/>
          <a:p>
            <a:r>
              <a:rPr lang="en-US" b="1" u="sng" dirty="0"/>
              <a:t>3] Shortest Remaining time first (SRTF) </a:t>
            </a:r>
          </a:p>
          <a:p>
            <a:r>
              <a:rPr lang="en-US" dirty="0"/>
              <a:t>Shortest Remaining Time first (SRTF) is a preemptive version of shortest job first (SJF) scheduling . In this algorithm , the CPU always select the process with the shortest remanning burst time . If a new process arrives with a shortest burst time than the remaining time of the current process , the CPU preempts (interruption) the running process and switches to the new one</a:t>
            </a:r>
          </a:p>
          <a:p>
            <a:endParaRPr lang="en-US" dirty="0"/>
          </a:p>
          <a:p>
            <a:r>
              <a:rPr lang="en-US" b="1" u="sng" dirty="0"/>
              <a:t>4]  Round Robine </a:t>
            </a:r>
          </a:p>
          <a:p>
            <a:r>
              <a:rPr lang="en-US" dirty="0"/>
              <a:t>Round Robine (RR) is a preemptive CPU scheduling algorithm that assigns a fixed time CPU scheduling algorithm that assigns a fixed time slice (quantum) to each process in a cycle order . It is one of the most commonly used scheduling method in time – sharing system.</a:t>
            </a:r>
          </a:p>
          <a:p>
            <a:endParaRPr lang="en-US" dirty="0"/>
          </a:p>
          <a:p>
            <a:r>
              <a:rPr lang="en-US" b="1" u="sng" dirty="0"/>
              <a:t>5] Priority scheduling </a:t>
            </a:r>
          </a:p>
          <a:p>
            <a:r>
              <a:rPr lang="en-US" dirty="0"/>
              <a:t>Priority scheduling is a CPU scheduling algorithm where each process is assigned a priority value , and the CPU executes the highest – priority process first . If two processes have the same priority , first come first serve (FCFS) is used as a tiebreaker </a:t>
            </a:r>
          </a:p>
          <a:p>
            <a:endParaRPr lang="en-US" dirty="0"/>
          </a:p>
          <a:p>
            <a:r>
              <a:rPr lang="en-US" b="1" u="sng" dirty="0"/>
              <a:t>6] Multilevel  queue </a:t>
            </a:r>
          </a:p>
          <a:p>
            <a:r>
              <a:rPr lang="en-US" dirty="0"/>
              <a:t>Multilevel queue scheduling is a CPU scheduling algorithm where processes are divided</a:t>
            </a:r>
          </a:p>
          <a:p>
            <a:r>
              <a:rPr lang="en-US" dirty="0"/>
              <a:t>Into multi queue , each with a different priority level . Each queue follows its own scheduling algorithm and there is a fixed hierarchy for execution between queue  </a:t>
            </a:r>
          </a:p>
        </p:txBody>
      </p:sp>
    </p:spTree>
    <p:extLst>
      <p:ext uri="{BB962C8B-B14F-4D97-AF65-F5344CB8AC3E}">
        <p14:creationId xmlns:p14="http://schemas.microsoft.com/office/powerpoint/2010/main" val="2583276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D5EBDB9-1D6F-3144-6FB0-33D80246D309}"/>
              </a:ext>
            </a:extLst>
          </p:cNvPr>
          <p:cNvSpPr txBox="1"/>
          <p:nvPr/>
        </p:nvSpPr>
        <p:spPr>
          <a:xfrm>
            <a:off x="974147" y="127338"/>
            <a:ext cx="8299855" cy="2585323"/>
          </a:xfrm>
          <a:prstGeom prst="rect">
            <a:avLst/>
          </a:prstGeom>
          <a:noFill/>
        </p:spPr>
        <p:txBody>
          <a:bodyPr wrap="square">
            <a:spAutoFit/>
          </a:bodyPr>
          <a:lstStyle/>
          <a:p>
            <a:r>
              <a:rPr lang="en-US" b="1" u="sng" dirty="0"/>
              <a:t>Processes are divided into different queues based on their process type, memory size and process priority. </a:t>
            </a:r>
          </a:p>
          <a:p>
            <a:endParaRPr lang="en-US" b="1" u="sng" dirty="0"/>
          </a:p>
          <a:p>
            <a:r>
              <a:rPr lang="en-US" b="1" u="sng" dirty="0"/>
              <a:t>Example of Multilevel Queue Scheduling:</a:t>
            </a:r>
          </a:p>
          <a:p>
            <a:r>
              <a:rPr lang="en-US" b="1" u="sng" dirty="0"/>
              <a:t> </a:t>
            </a:r>
          </a:p>
          <a:p>
            <a:r>
              <a:rPr lang="en-US" dirty="0"/>
              <a:t>Here, we will take 3 different types of processes called system processes, interactive processes and Batch processes. All the three processes have their own queue. Kindly look at below figure.</a:t>
            </a:r>
          </a:p>
          <a:p>
            <a:endParaRPr lang="en-IN" dirty="0"/>
          </a:p>
        </p:txBody>
      </p:sp>
      <p:sp>
        <p:nvSpPr>
          <p:cNvPr id="9" name="Rectangle 8">
            <a:extLst>
              <a:ext uri="{FF2B5EF4-FFF2-40B4-BE49-F238E27FC236}">
                <a16:creationId xmlns:a16="http://schemas.microsoft.com/office/drawing/2014/main" id="{8C52CB56-E5DD-1881-2802-DA61B4110C9C}"/>
              </a:ext>
            </a:extLst>
          </p:cNvPr>
          <p:cNvSpPr/>
          <p:nvPr/>
        </p:nvSpPr>
        <p:spPr>
          <a:xfrm>
            <a:off x="3138054" y="3142785"/>
            <a:ext cx="3522518" cy="3429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System Processes</a:t>
            </a:r>
            <a:endParaRPr lang="en-IN" dirty="0"/>
          </a:p>
        </p:txBody>
      </p:sp>
      <p:sp>
        <p:nvSpPr>
          <p:cNvPr id="10" name="Rectangle 9">
            <a:extLst>
              <a:ext uri="{FF2B5EF4-FFF2-40B4-BE49-F238E27FC236}">
                <a16:creationId xmlns:a16="http://schemas.microsoft.com/office/drawing/2014/main" id="{AB3470B0-79B5-75FF-C08B-AB27AC61C0BF}"/>
              </a:ext>
            </a:extLst>
          </p:cNvPr>
          <p:cNvSpPr/>
          <p:nvPr/>
        </p:nvSpPr>
        <p:spPr>
          <a:xfrm>
            <a:off x="3138054" y="3807002"/>
            <a:ext cx="3522518" cy="3429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Interactive Processes</a:t>
            </a:r>
            <a:endParaRPr lang="en-IN" dirty="0"/>
          </a:p>
        </p:txBody>
      </p:sp>
      <p:sp>
        <p:nvSpPr>
          <p:cNvPr id="11" name="Rectangle 10">
            <a:extLst>
              <a:ext uri="{FF2B5EF4-FFF2-40B4-BE49-F238E27FC236}">
                <a16:creationId xmlns:a16="http://schemas.microsoft.com/office/drawing/2014/main" id="{0A20B56A-8AB9-441D-5B94-07CB7133B8E1}"/>
              </a:ext>
            </a:extLst>
          </p:cNvPr>
          <p:cNvSpPr/>
          <p:nvPr/>
        </p:nvSpPr>
        <p:spPr>
          <a:xfrm>
            <a:off x="3138054" y="4471219"/>
            <a:ext cx="3522518" cy="3429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Batch Processes</a:t>
            </a:r>
            <a:endParaRPr lang="en-IN" dirty="0"/>
          </a:p>
        </p:txBody>
      </p:sp>
      <p:cxnSp>
        <p:nvCxnSpPr>
          <p:cNvPr id="13" name="Straight Connector 12">
            <a:extLst>
              <a:ext uri="{FF2B5EF4-FFF2-40B4-BE49-F238E27FC236}">
                <a16:creationId xmlns:a16="http://schemas.microsoft.com/office/drawing/2014/main" id="{4AFE18C8-6D70-1AD6-0189-35AEF1821B5F}"/>
              </a:ext>
            </a:extLst>
          </p:cNvPr>
          <p:cNvCxnSpPr>
            <a:stCxn id="9" idx="1"/>
          </p:cNvCxnSpPr>
          <p:nvPr/>
        </p:nvCxnSpPr>
        <p:spPr>
          <a:xfrm flipH="1">
            <a:off x="1963882" y="3314235"/>
            <a:ext cx="1174172" cy="0"/>
          </a:xfrm>
          <a:prstGeom prst="line">
            <a:avLst/>
          </a:prstGeom>
        </p:spPr>
        <p:style>
          <a:lnRef idx="2">
            <a:schemeClr val="dk1"/>
          </a:lnRef>
          <a:fillRef idx="0">
            <a:schemeClr val="dk1"/>
          </a:fillRef>
          <a:effectRef idx="1">
            <a:schemeClr val="dk1"/>
          </a:effectRef>
          <a:fontRef idx="minor">
            <a:schemeClr val="tx1"/>
          </a:fontRef>
        </p:style>
      </p:cxnSp>
      <p:cxnSp>
        <p:nvCxnSpPr>
          <p:cNvPr id="14" name="Straight Connector 13">
            <a:extLst>
              <a:ext uri="{FF2B5EF4-FFF2-40B4-BE49-F238E27FC236}">
                <a16:creationId xmlns:a16="http://schemas.microsoft.com/office/drawing/2014/main" id="{FA5FBCF6-008A-22D5-627F-CAF9CA601B1F}"/>
              </a:ext>
            </a:extLst>
          </p:cNvPr>
          <p:cNvCxnSpPr/>
          <p:nvPr/>
        </p:nvCxnSpPr>
        <p:spPr>
          <a:xfrm flipH="1">
            <a:off x="1963882" y="3974523"/>
            <a:ext cx="1174172" cy="0"/>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9DEFFE31-77C0-AAAF-0747-CBE5C2AEBF34}"/>
              </a:ext>
            </a:extLst>
          </p:cNvPr>
          <p:cNvCxnSpPr/>
          <p:nvPr/>
        </p:nvCxnSpPr>
        <p:spPr>
          <a:xfrm flipH="1">
            <a:off x="1963882" y="4624886"/>
            <a:ext cx="1174172" cy="0"/>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B9C25A72-1EFB-4F70-F528-18BC48F12F5C}"/>
              </a:ext>
            </a:extLst>
          </p:cNvPr>
          <p:cNvCxnSpPr>
            <a:cxnSpLocks/>
          </p:cNvCxnSpPr>
          <p:nvPr/>
        </p:nvCxnSpPr>
        <p:spPr>
          <a:xfrm flipH="1">
            <a:off x="6660572" y="3314235"/>
            <a:ext cx="665019" cy="0"/>
          </a:xfrm>
          <a:prstGeom prst="line">
            <a:avLst/>
          </a:prstGeom>
        </p:spPr>
        <p:style>
          <a:lnRef idx="2">
            <a:schemeClr val="dk1"/>
          </a:lnRef>
          <a:fillRef idx="0">
            <a:schemeClr val="dk1"/>
          </a:fillRef>
          <a:effectRef idx="1">
            <a:schemeClr val="dk1"/>
          </a:effectRef>
          <a:fontRef idx="minor">
            <a:schemeClr val="tx1"/>
          </a:fontRef>
        </p:style>
      </p:cxnSp>
      <p:cxnSp>
        <p:nvCxnSpPr>
          <p:cNvPr id="18" name="Straight Connector 17">
            <a:extLst>
              <a:ext uri="{FF2B5EF4-FFF2-40B4-BE49-F238E27FC236}">
                <a16:creationId xmlns:a16="http://schemas.microsoft.com/office/drawing/2014/main" id="{6CB2C394-5EA0-6CF9-6353-BEAA4148C22E}"/>
              </a:ext>
            </a:extLst>
          </p:cNvPr>
          <p:cNvCxnSpPr>
            <a:cxnSpLocks/>
          </p:cNvCxnSpPr>
          <p:nvPr/>
        </p:nvCxnSpPr>
        <p:spPr>
          <a:xfrm flipH="1">
            <a:off x="6660572" y="4645203"/>
            <a:ext cx="665019" cy="0"/>
          </a:xfrm>
          <a:prstGeom prst="line">
            <a:avLst/>
          </a:prstGeom>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F65DD32C-1F05-BD77-E0EF-D0B9F5B6A4AE}"/>
              </a:ext>
            </a:extLst>
          </p:cNvPr>
          <p:cNvCxnSpPr>
            <a:cxnSpLocks/>
          </p:cNvCxnSpPr>
          <p:nvPr/>
        </p:nvCxnSpPr>
        <p:spPr>
          <a:xfrm flipV="1">
            <a:off x="7325591" y="3314235"/>
            <a:ext cx="0" cy="474984"/>
          </a:xfrm>
          <a:prstGeom prst="line">
            <a:avLst/>
          </a:prstGeom>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2645706F-AD82-7BBB-32A8-D22BB6A7092D}"/>
              </a:ext>
            </a:extLst>
          </p:cNvPr>
          <p:cNvCxnSpPr>
            <a:cxnSpLocks/>
          </p:cNvCxnSpPr>
          <p:nvPr/>
        </p:nvCxnSpPr>
        <p:spPr>
          <a:xfrm>
            <a:off x="7325591" y="4322618"/>
            <a:ext cx="0" cy="302268"/>
          </a:xfrm>
          <a:prstGeom prst="line">
            <a:avLst/>
          </a:prstGeom>
        </p:spPr>
        <p:style>
          <a:lnRef idx="2">
            <a:schemeClr val="dk1"/>
          </a:lnRef>
          <a:fillRef idx="0">
            <a:schemeClr val="dk1"/>
          </a:fillRef>
          <a:effectRef idx="1">
            <a:schemeClr val="dk1"/>
          </a:effectRef>
          <a:fontRef idx="minor">
            <a:schemeClr val="tx1"/>
          </a:fontRef>
        </p:style>
      </p:cxnSp>
      <p:cxnSp>
        <p:nvCxnSpPr>
          <p:cNvPr id="33" name="Straight Arrow Connector 32">
            <a:extLst>
              <a:ext uri="{FF2B5EF4-FFF2-40B4-BE49-F238E27FC236}">
                <a16:creationId xmlns:a16="http://schemas.microsoft.com/office/drawing/2014/main" id="{5849B697-EB7E-3249-9312-CC56C9F29B13}"/>
              </a:ext>
            </a:extLst>
          </p:cNvPr>
          <p:cNvCxnSpPr>
            <a:cxnSpLocks/>
          </p:cNvCxnSpPr>
          <p:nvPr/>
        </p:nvCxnSpPr>
        <p:spPr>
          <a:xfrm flipV="1">
            <a:off x="7325591" y="3789219"/>
            <a:ext cx="831272" cy="1638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4" name="Straight Arrow Connector 33">
            <a:extLst>
              <a:ext uri="{FF2B5EF4-FFF2-40B4-BE49-F238E27FC236}">
                <a16:creationId xmlns:a16="http://schemas.microsoft.com/office/drawing/2014/main" id="{0984A574-08FB-2288-2844-5B9951DB16D4}"/>
              </a:ext>
            </a:extLst>
          </p:cNvPr>
          <p:cNvCxnSpPr>
            <a:cxnSpLocks/>
          </p:cNvCxnSpPr>
          <p:nvPr/>
        </p:nvCxnSpPr>
        <p:spPr>
          <a:xfrm>
            <a:off x="7325591" y="4322618"/>
            <a:ext cx="831272"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id="{6CE3DB05-6B26-15ED-291D-C9726AA0DA8C}"/>
              </a:ext>
            </a:extLst>
          </p:cNvPr>
          <p:cNvCxnSpPr>
            <a:cxnSpLocks/>
          </p:cNvCxnSpPr>
          <p:nvPr/>
        </p:nvCxnSpPr>
        <p:spPr>
          <a:xfrm>
            <a:off x="6660572" y="3974523"/>
            <a:ext cx="1309255"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7" name="Oval 36">
            <a:extLst>
              <a:ext uri="{FF2B5EF4-FFF2-40B4-BE49-F238E27FC236}">
                <a16:creationId xmlns:a16="http://schemas.microsoft.com/office/drawing/2014/main" id="{856970B7-8C71-7B2E-D5E1-A683CDB2002D}"/>
              </a:ext>
            </a:extLst>
          </p:cNvPr>
          <p:cNvSpPr/>
          <p:nvPr/>
        </p:nvSpPr>
        <p:spPr>
          <a:xfrm>
            <a:off x="7969827" y="3632425"/>
            <a:ext cx="1745672" cy="776317"/>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CPU</a:t>
            </a:r>
            <a:endParaRPr lang="en-IN" dirty="0"/>
          </a:p>
        </p:txBody>
      </p:sp>
    </p:spTree>
    <p:extLst>
      <p:ext uri="{BB962C8B-B14F-4D97-AF65-F5344CB8AC3E}">
        <p14:creationId xmlns:p14="http://schemas.microsoft.com/office/powerpoint/2010/main" val="2154443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486DAA-39EF-19F2-5746-6869D9946680}"/>
              </a:ext>
            </a:extLst>
          </p:cNvPr>
          <p:cNvSpPr txBox="1"/>
          <p:nvPr/>
        </p:nvSpPr>
        <p:spPr>
          <a:xfrm>
            <a:off x="727364" y="207323"/>
            <a:ext cx="8543924" cy="3693319"/>
          </a:xfrm>
          <a:prstGeom prst="rect">
            <a:avLst/>
          </a:prstGeom>
          <a:noFill/>
        </p:spPr>
        <p:txBody>
          <a:bodyPr wrap="square">
            <a:spAutoFit/>
          </a:bodyPr>
          <a:lstStyle/>
          <a:p>
            <a:r>
              <a:rPr lang="en-US" b="1" u="sng" dirty="0"/>
              <a:t>Multilevel Queue Scheduling Example </a:t>
            </a:r>
          </a:p>
          <a:p>
            <a:r>
              <a:rPr lang="en-US" dirty="0"/>
              <a:t>System process has the highest priority. If an interrupt is generated in the system, then the Operating system stops all the processes and handle the interrupt. According to different response time requirements, process needs different scheduling algorithm.</a:t>
            </a:r>
          </a:p>
          <a:p>
            <a:endParaRPr lang="en-US" dirty="0"/>
          </a:p>
          <a:p>
            <a:r>
              <a:rPr lang="en-US" dirty="0"/>
              <a:t>Interactive process has medium priority. If we are using VLC player, we directly interact with the application. So all these processes will come in an interactive process. These queues will use scheduling algorithm according to requirement.</a:t>
            </a:r>
          </a:p>
          <a:p>
            <a:endParaRPr lang="en-US" dirty="0"/>
          </a:p>
          <a:p>
            <a:r>
              <a:rPr lang="en-US" dirty="0"/>
              <a:t> Batch processes has the lowest priority. The processes which run automatically in the background comes under the batch processes. It is also known as background processes.</a:t>
            </a:r>
            <a:endParaRPr lang="en-IN" dirty="0"/>
          </a:p>
        </p:txBody>
      </p:sp>
    </p:spTree>
    <p:extLst>
      <p:ext uri="{BB962C8B-B14F-4D97-AF65-F5344CB8AC3E}">
        <p14:creationId xmlns:p14="http://schemas.microsoft.com/office/powerpoint/2010/main" val="361826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4ADA75F3-73DC-E262-79D6-EA406082781C}"/>
              </a:ext>
            </a:extLst>
          </p:cNvPr>
          <p:cNvSpPr txBox="1"/>
          <p:nvPr/>
        </p:nvSpPr>
        <p:spPr>
          <a:xfrm>
            <a:off x="789709" y="0"/>
            <a:ext cx="9050482" cy="6463308"/>
          </a:xfrm>
          <a:prstGeom prst="rect">
            <a:avLst/>
          </a:prstGeom>
          <a:noFill/>
        </p:spPr>
        <p:txBody>
          <a:bodyPr wrap="square">
            <a:spAutoFit/>
          </a:bodyPr>
          <a:lstStyle/>
          <a:p>
            <a:r>
              <a:rPr lang="en-US" b="1" u="sng" dirty="0"/>
              <a:t>4.3 Deadlock</a:t>
            </a:r>
            <a:r>
              <a:rPr lang="en-US" dirty="0"/>
              <a:t>:</a:t>
            </a:r>
          </a:p>
          <a:p>
            <a:r>
              <a:rPr lang="en-US" dirty="0"/>
              <a:t> Every process needs some resources to complete its execution. However, the resource is granted in a sequential order. </a:t>
            </a:r>
          </a:p>
          <a:p>
            <a:endParaRPr lang="en-US" dirty="0"/>
          </a:p>
          <a:p>
            <a:pPr marL="342900" indent="-342900">
              <a:buAutoNum type="arabicPeriod"/>
            </a:pPr>
            <a:r>
              <a:rPr lang="en-US" dirty="0"/>
              <a:t>The process requests for some resource. </a:t>
            </a:r>
          </a:p>
          <a:p>
            <a:pPr marL="342900" indent="-342900">
              <a:buAutoNum type="arabicPeriod"/>
            </a:pPr>
            <a:r>
              <a:rPr lang="en-US" dirty="0"/>
              <a:t>OS grant the resource if it is available otherwise let the process waits. </a:t>
            </a:r>
          </a:p>
          <a:p>
            <a:pPr marL="342900" indent="-342900">
              <a:buAutoNum type="arabicPeriod"/>
            </a:pPr>
            <a:r>
              <a:rPr lang="en-US" dirty="0"/>
              <a:t>The process uses it and release on the completion.</a:t>
            </a:r>
          </a:p>
          <a:p>
            <a:r>
              <a:rPr lang="en-US" dirty="0"/>
              <a:t> </a:t>
            </a:r>
          </a:p>
          <a:p>
            <a:r>
              <a:rPr lang="en-US" dirty="0"/>
              <a:t>A Deadlock is a situation where each of the computer process waits for a resource which is being assigned to some another process. In this situation, none of the process gets executed since the resource it needs, is held by some other process which is also waiting for some other resource to be released. </a:t>
            </a:r>
          </a:p>
          <a:p>
            <a:endParaRPr lang="en-US" dirty="0"/>
          </a:p>
          <a:p>
            <a:r>
              <a:rPr lang="en-US" dirty="0"/>
              <a:t>Let us assume that there are three processes P1, P2 and P3. There are three different resources R1, R2 and R3. R1 is assigned to P1, R2 is assigned to P2 and R3 is assigned to P3After some time, P1 demands for R1 which is being used by P2. P1 halts its execution since it can't complete without R2. P2 also demands for R3 which is being used by P3. P2 also stops its execution because it can't continue without R3. P3 also demands for R1 which is being used by P1 therefore P3 also stops its execution.</a:t>
            </a:r>
          </a:p>
          <a:p>
            <a:endParaRPr lang="en-US" dirty="0"/>
          </a:p>
          <a:p>
            <a:r>
              <a:rPr lang="en-US" dirty="0"/>
              <a:t> In this scenario, a cycle is being formed among the three processes. None of the process is progressing and they are all waiting. The computer becomes unresponsive since all the processes got blocked.</a:t>
            </a:r>
            <a:endParaRPr lang="en-IN" dirty="0"/>
          </a:p>
        </p:txBody>
      </p:sp>
    </p:spTree>
    <p:extLst>
      <p:ext uri="{BB962C8B-B14F-4D97-AF65-F5344CB8AC3E}">
        <p14:creationId xmlns:p14="http://schemas.microsoft.com/office/powerpoint/2010/main" val="364579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07C09A1-3720-441D-D6AE-7A317691F017}"/>
              </a:ext>
            </a:extLst>
          </p:cNvPr>
          <p:cNvSpPr/>
          <p:nvPr/>
        </p:nvSpPr>
        <p:spPr>
          <a:xfrm>
            <a:off x="3906982" y="685801"/>
            <a:ext cx="1984663" cy="7689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Resource 1</a:t>
            </a:r>
            <a:endParaRPr lang="en-IN" dirty="0"/>
          </a:p>
        </p:txBody>
      </p:sp>
      <p:sp>
        <p:nvSpPr>
          <p:cNvPr id="5" name="Rectangle 4">
            <a:extLst>
              <a:ext uri="{FF2B5EF4-FFF2-40B4-BE49-F238E27FC236}">
                <a16:creationId xmlns:a16="http://schemas.microsoft.com/office/drawing/2014/main" id="{4B643AE8-7C11-BCD1-E110-2AC17B1175E2}"/>
              </a:ext>
            </a:extLst>
          </p:cNvPr>
          <p:cNvSpPr/>
          <p:nvPr/>
        </p:nvSpPr>
        <p:spPr>
          <a:xfrm>
            <a:off x="3906982" y="3695701"/>
            <a:ext cx="1984663" cy="76892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Resource 2</a:t>
            </a:r>
            <a:endParaRPr lang="en-IN" dirty="0"/>
          </a:p>
        </p:txBody>
      </p:sp>
      <p:sp>
        <p:nvSpPr>
          <p:cNvPr id="6" name="Oval 5">
            <a:extLst>
              <a:ext uri="{FF2B5EF4-FFF2-40B4-BE49-F238E27FC236}">
                <a16:creationId xmlns:a16="http://schemas.microsoft.com/office/drawing/2014/main" id="{5F17D4A7-8F89-68D8-EC32-A642226E5CC8}"/>
              </a:ext>
            </a:extLst>
          </p:cNvPr>
          <p:cNvSpPr/>
          <p:nvPr/>
        </p:nvSpPr>
        <p:spPr>
          <a:xfrm>
            <a:off x="1226127" y="2005445"/>
            <a:ext cx="1922318" cy="11118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1</a:t>
            </a:r>
            <a:endParaRPr lang="en-IN" dirty="0"/>
          </a:p>
        </p:txBody>
      </p:sp>
      <p:sp>
        <p:nvSpPr>
          <p:cNvPr id="7" name="Oval 6">
            <a:extLst>
              <a:ext uri="{FF2B5EF4-FFF2-40B4-BE49-F238E27FC236}">
                <a16:creationId xmlns:a16="http://schemas.microsoft.com/office/drawing/2014/main" id="{31550F50-3A98-8685-9C5B-D7C399B1DEF2}"/>
              </a:ext>
            </a:extLst>
          </p:cNvPr>
          <p:cNvSpPr/>
          <p:nvPr/>
        </p:nvSpPr>
        <p:spPr>
          <a:xfrm>
            <a:off x="6769677" y="2015835"/>
            <a:ext cx="1922318" cy="1111828"/>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Process 2</a:t>
            </a:r>
            <a:endParaRPr lang="en-IN" dirty="0"/>
          </a:p>
        </p:txBody>
      </p:sp>
      <p:cxnSp>
        <p:nvCxnSpPr>
          <p:cNvPr id="9" name="Straight Arrow Connector 8">
            <a:extLst>
              <a:ext uri="{FF2B5EF4-FFF2-40B4-BE49-F238E27FC236}">
                <a16:creationId xmlns:a16="http://schemas.microsoft.com/office/drawing/2014/main" id="{713D0226-E94C-F46B-3FE6-8B3C37C73B4A}"/>
              </a:ext>
            </a:extLst>
          </p:cNvPr>
          <p:cNvCxnSpPr/>
          <p:nvPr/>
        </p:nvCxnSpPr>
        <p:spPr>
          <a:xfrm flipH="1">
            <a:off x="2400300" y="935182"/>
            <a:ext cx="1506682" cy="1070263"/>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0" name="Straight Arrow Connector 9">
            <a:extLst>
              <a:ext uri="{FF2B5EF4-FFF2-40B4-BE49-F238E27FC236}">
                <a16:creationId xmlns:a16="http://schemas.microsoft.com/office/drawing/2014/main" id="{A791AC5B-3B96-8660-9E2A-7538C46355A1}"/>
              </a:ext>
            </a:extLst>
          </p:cNvPr>
          <p:cNvCxnSpPr>
            <a:cxnSpLocks/>
            <a:endCxn id="5" idx="1"/>
          </p:cNvCxnSpPr>
          <p:nvPr/>
        </p:nvCxnSpPr>
        <p:spPr>
          <a:xfrm>
            <a:off x="2400300" y="3117273"/>
            <a:ext cx="1506682" cy="962892"/>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1" name="Straight Arrow Connector 10">
            <a:extLst>
              <a:ext uri="{FF2B5EF4-FFF2-40B4-BE49-F238E27FC236}">
                <a16:creationId xmlns:a16="http://schemas.microsoft.com/office/drawing/2014/main" id="{57C7A0A5-A261-614F-81C7-E1DB30F93811}"/>
              </a:ext>
            </a:extLst>
          </p:cNvPr>
          <p:cNvCxnSpPr>
            <a:cxnSpLocks/>
          </p:cNvCxnSpPr>
          <p:nvPr/>
        </p:nvCxnSpPr>
        <p:spPr>
          <a:xfrm flipH="1" flipV="1">
            <a:off x="5891645" y="1003156"/>
            <a:ext cx="1589810" cy="101267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2" name="Straight Arrow Connector 11">
            <a:extLst>
              <a:ext uri="{FF2B5EF4-FFF2-40B4-BE49-F238E27FC236}">
                <a16:creationId xmlns:a16="http://schemas.microsoft.com/office/drawing/2014/main" id="{002FB03D-C5F9-33A2-EE69-262D2B67DDB5}"/>
              </a:ext>
            </a:extLst>
          </p:cNvPr>
          <p:cNvCxnSpPr>
            <a:cxnSpLocks/>
          </p:cNvCxnSpPr>
          <p:nvPr/>
        </p:nvCxnSpPr>
        <p:spPr>
          <a:xfrm flipV="1">
            <a:off x="5891645" y="3117273"/>
            <a:ext cx="1839191" cy="105987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26" name="Rectangle 25">
            <a:extLst>
              <a:ext uri="{FF2B5EF4-FFF2-40B4-BE49-F238E27FC236}">
                <a16:creationId xmlns:a16="http://schemas.microsoft.com/office/drawing/2014/main" id="{B1E661FB-F758-E711-1176-10E844557B43}"/>
              </a:ext>
            </a:extLst>
          </p:cNvPr>
          <p:cNvSpPr/>
          <p:nvPr/>
        </p:nvSpPr>
        <p:spPr>
          <a:xfrm>
            <a:off x="1418360" y="1042553"/>
            <a:ext cx="1683327" cy="3636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Assigned to </a:t>
            </a:r>
            <a:endParaRPr lang="en-IN" dirty="0"/>
          </a:p>
        </p:txBody>
      </p:sp>
      <p:sp>
        <p:nvSpPr>
          <p:cNvPr id="27" name="Rectangle 26">
            <a:extLst>
              <a:ext uri="{FF2B5EF4-FFF2-40B4-BE49-F238E27FC236}">
                <a16:creationId xmlns:a16="http://schemas.microsoft.com/office/drawing/2014/main" id="{D33EE876-4402-0570-D4E9-3B060F1279CE}"/>
              </a:ext>
            </a:extLst>
          </p:cNvPr>
          <p:cNvSpPr/>
          <p:nvPr/>
        </p:nvSpPr>
        <p:spPr>
          <a:xfrm>
            <a:off x="6811240" y="3784023"/>
            <a:ext cx="1683327" cy="3636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Assigned  to </a:t>
            </a:r>
            <a:endParaRPr lang="en-IN" dirty="0"/>
          </a:p>
        </p:txBody>
      </p:sp>
      <p:sp>
        <p:nvSpPr>
          <p:cNvPr id="28" name="Rectangle 27">
            <a:extLst>
              <a:ext uri="{FF2B5EF4-FFF2-40B4-BE49-F238E27FC236}">
                <a16:creationId xmlns:a16="http://schemas.microsoft.com/office/drawing/2014/main" id="{728515C8-3995-C41F-E554-56B19552268C}"/>
              </a:ext>
            </a:extLst>
          </p:cNvPr>
          <p:cNvSpPr/>
          <p:nvPr/>
        </p:nvSpPr>
        <p:spPr>
          <a:xfrm>
            <a:off x="6686550" y="1145813"/>
            <a:ext cx="1683327" cy="3636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Waiting for </a:t>
            </a:r>
            <a:endParaRPr lang="en-IN" dirty="0"/>
          </a:p>
        </p:txBody>
      </p:sp>
      <p:sp>
        <p:nvSpPr>
          <p:cNvPr id="29" name="Rectangle 28">
            <a:extLst>
              <a:ext uri="{FF2B5EF4-FFF2-40B4-BE49-F238E27FC236}">
                <a16:creationId xmlns:a16="http://schemas.microsoft.com/office/drawing/2014/main" id="{941C5404-0191-7203-FB3C-4B656A775EE0}"/>
              </a:ext>
            </a:extLst>
          </p:cNvPr>
          <p:cNvSpPr/>
          <p:nvPr/>
        </p:nvSpPr>
        <p:spPr>
          <a:xfrm>
            <a:off x="1345622" y="3534642"/>
            <a:ext cx="1683327" cy="363682"/>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Waiting for </a:t>
            </a:r>
            <a:endParaRPr lang="en-IN" dirty="0"/>
          </a:p>
        </p:txBody>
      </p:sp>
    </p:spTree>
    <p:extLst>
      <p:ext uri="{BB962C8B-B14F-4D97-AF65-F5344CB8AC3E}">
        <p14:creationId xmlns:p14="http://schemas.microsoft.com/office/powerpoint/2010/main" val="4243660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9F9C99B-F253-5040-3716-FB7FEB9790BC}"/>
              </a:ext>
            </a:extLst>
          </p:cNvPr>
          <p:cNvSpPr txBox="1"/>
          <p:nvPr/>
        </p:nvSpPr>
        <p:spPr>
          <a:xfrm>
            <a:off x="914400" y="218210"/>
            <a:ext cx="8273761" cy="6186309"/>
          </a:xfrm>
          <a:prstGeom prst="rect">
            <a:avLst/>
          </a:prstGeom>
          <a:noFill/>
        </p:spPr>
        <p:txBody>
          <a:bodyPr wrap="square">
            <a:spAutoFit/>
          </a:bodyPr>
          <a:lstStyle/>
          <a:p>
            <a:r>
              <a:rPr lang="en-US" b="1" u="sng" dirty="0"/>
              <a:t>Necessary conditions for Deadlocks</a:t>
            </a:r>
          </a:p>
          <a:p>
            <a:r>
              <a:rPr lang="en-US" b="1" u="sng" dirty="0"/>
              <a:t> </a:t>
            </a:r>
          </a:p>
          <a:p>
            <a:r>
              <a:rPr lang="en-US" b="1" u="sng" dirty="0"/>
              <a:t>1] Mutual Exclusion</a:t>
            </a:r>
          </a:p>
          <a:p>
            <a:endParaRPr lang="en-US" b="1" u="sng" dirty="0"/>
          </a:p>
          <a:p>
            <a:r>
              <a:rPr lang="en-US" dirty="0"/>
              <a:t> A resource can only be shared in mutually exclusive manner. It implies, if two process cannot use the same resource at the same time. </a:t>
            </a:r>
          </a:p>
          <a:p>
            <a:endParaRPr lang="en-US" dirty="0"/>
          </a:p>
          <a:p>
            <a:r>
              <a:rPr lang="en-US" b="1" u="sng" dirty="0"/>
              <a:t>2] Hold and Wait</a:t>
            </a:r>
          </a:p>
          <a:p>
            <a:r>
              <a:rPr lang="en-US" b="1" u="sng" dirty="0"/>
              <a:t> </a:t>
            </a:r>
          </a:p>
          <a:p>
            <a:r>
              <a:rPr lang="en-US" dirty="0"/>
              <a:t>A process waits for some resources while holding another resource at the same time.</a:t>
            </a:r>
          </a:p>
          <a:p>
            <a:r>
              <a:rPr lang="en-US" dirty="0"/>
              <a:t> </a:t>
            </a:r>
          </a:p>
          <a:p>
            <a:r>
              <a:rPr lang="en-US" b="1" u="sng" dirty="0"/>
              <a:t>3] No preemption</a:t>
            </a:r>
          </a:p>
          <a:p>
            <a:endParaRPr lang="en-US" b="1" u="sng" dirty="0"/>
          </a:p>
          <a:p>
            <a:r>
              <a:rPr lang="en-US" dirty="0"/>
              <a:t>The process which once scheduled will be executed till the completion. No other process can be scheduled by the scheduler meanwhile. </a:t>
            </a:r>
          </a:p>
          <a:p>
            <a:endParaRPr lang="en-US" b="1" u="sng" dirty="0"/>
          </a:p>
          <a:p>
            <a:r>
              <a:rPr lang="en-US" b="1" u="sng" dirty="0"/>
              <a:t>4] Circular Wait </a:t>
            </a:r>
          </a:p>
          <a:p>
            <a:endParaRPr lang="en-US" dirty="0"/>
          </a:p>
          <a:p>
            <a:r>
              <a:rPr lang="en-US" dirty="0"/>
              <a:t>All the processes must be waiting for the resources in a cyclic manner so that the last process is waiting for the resource which is being held by the first process.</a:t>
            </a:r>
            <a:endParaRPr lang="en-IN" b="1" u="sng" dirty="0"/>
          </a:p>
        </p:txBody>
      </p:sp>
    </p:spTree>
    <p:extLst>
      <p:ext uri="{BB962C8B-B14F-4D97-AF65-F5344CB8AC3E}">
        <p14:creationId xmlns:p14="http://schemas.microsoft.com/office/powerpoint/2010/main" val="7972395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8CA2F733-E149-F717-E69D-B4FBA287D67F}"/>
              </a:ext>
            </a:extLst>
          </p:cNvPr>
          <p:cNvSpPr/>
          <p:nvPr/>
        </p:nvSpPr>
        <p:spPr>
          <a:xfrm>
            <a:off x="1517074" y="1184564"/>
            <a:ext cx="924790" cy="966354"/>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5" name="Oval 4">
            <a:extLst>
              <a:ext uri="{FF2B5EF4-FFF2-40B4-BE49-F238E27FC236}">
                <a16:creationId xmlns:a16="http://schemas.microsoft.com/office/drawing/2014/main" id="{9F06A24B-A25A-A369-C567-6BA63C70D045}"/>
              </a:ext>
            </a:extLst>
          </p:cNvPr>
          <p:cNvSpPr/>
          <p:nvPr/>
        </p:nvSpPr>
        <p:spPr>
          <a:xfrm>
            <a:off x="2883479" y="1184564"/>
            <a:ext cx="924790" cy="966354"/>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6" name="Oval 5">
            <a:extLst>
              <a:ext uri="{FF2B5EF4-FFF2-40B4-BE49-F238E27FC236}">
                <a16:creationId xmlns:a16="http://schemas.microsoft.com/office/drawing/2014/main" id="{65AC6E35-2EBC-019C-A476-E0F6B35D3682}"/>
              </a:ext>
            </a:extLst>
          </p:cNvPr>
          <p:cNvSpPr/>
          <p:nvPr/>
        </p:nvSpPr>
        <p:spPr>
          <a:xfrm>
            <a:off x="4523510" y="1184564"/>
            <a:ext cx="924790" cy="966354"/>
          </a:xfrm>
          <a:prstGeom prst="ellipse">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P1</a:t>
            </a:r>
            <a:endParaRPr lang="en-IN" dirty="0"/>
          </a:p>
        </p:txBody>
      </p:sp>
      <p:sp>
        <p:nvSpPr>
          <p:cNvPr id="7" name="Rectangle 6">
            <a:extLst>
              <a:ext uri="{FF2B5EF4-FFF2-40B4-BE49-F238E27FC236}">
                <a16:creationId xmlns:a16="http://schemas.microsoft.com/office/drawing/2014/main" id="{6AE38478-BD42-84DF-1407-A8FEECFCD3B8}"/>
              </a:ext>
            </a:extLst>
          </p:cNvPr>
          <p:cNvSpPr/>
          <p:nvPr/>
        </p:nvSpPr>
        <p:spPr>
          <a:xfrm>
            <a:off x="1423556" y="2826327"/>
            <a:ext cx="1111827" cy="7065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a:t>
            </a:r>
            <a:endParaRPr lang="en-IN" dirty="0"/>
          </a:p>
        </p:txBody>
      </p:sp>
      <p:sp>
        <p:nvSpPr>
          <p:cNvPr id="8" name="Rectangle 7">
            <a:extLst>
              <a:ext uri="{FF2B5EF4-FFF2-40B4-BE49-F238E27FC236}">
                <a16:creationId xmlns:a16="http://schemas.microsoft.com/office/drawing/2014/main" id="{252C04F5-0232-9059-A10F-3A1F3C089970}"/>
              </a:ext>
            </a:extLst>
          </p:cNvPr>
          <p:cNvSpPr/>
          <p:nvPr/>
        </p:nvSpPr>
        <p:spPr>
          <a:xfrm>
            <a:off x="2821136" y="2826327"/>
            <a:ext cx="1111827" cy="7065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a:t>
            </a:r>
            <a:endParaRPr lang="en-IN" dirty="0"/>
          </a:p>
        </p:txBody>
      </p:sp>
      <p:sp>
        <p:nvSpPr>
          <p:cNvPr id="9" name="Rectangle 8">
            <a:extLst>
              <a:ext uri="{FF2B5EF4-FFF2-40B4-BE49-F238E27FC236}">
                <a16:creationId xmlns:a16="http://schemas.microsoft.com/office/drawing/2014/main" id="{460C44F1-5E2F-0C65-9AC2-4686108F6544}"/>
              </a:ext>
            </a:extLst>
          </p:cNvPr>
          <p:cNvSpPr/>
          <p:nvPr/>
        </p:nvSpPr>
        <p:spPr>
          <a:xfrm>
            <a:off x="4336473" y="2826327"/>
            <a:ext cx="1111827" cy="70658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R1</a:t>
            </a:r>
            <a:endParaRPr lang="en-IN" dirty="0"/>
          </a:p>
        </p:txBody>
      </p:sp>
      <p:cxnSp>
        <p:nvCxnSpPr>
          <p:cNvPr id="11" name="Straight Arrow Connector 10">
            <a:extLst>
              <a:ext uri="{FF2B5EF4-FFF2-40B4-BE49-F238E27FC236}">
                <a16:creationId xmlns:a16="http://schemas.microsoft.com/office/drawing/2014/main" id="{F7885FF3-1098-9A76-CD1F-1A0A8DB11D35}"/>
              </a:ext>
            </a:extLst>
          </p:cNvPr>
          <p:cNvCxnSpPr>
            <a:cxnSpLocks/>
          </p:cNvCxnSpPr>
          <p:nvPr/>
        </p:nvCxnSpPr>
        <p:spPr>
          <a:xfrm>
            <a:off x="789709" y="3190009"/>
            <a:ext cx="633847"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7A95CEFD-220D-F38D-3FFB-BFA2EA62A1B9}"/>
              </a:ext>
            </a:extLst>
          </p:cNvPr>
          <p:cNvCxnSpPr/>
          <p:nvPr/>
        </p:nvCxnSpPr>
        <p:spPr>
          <a:xfrm flipV="1">
            <a:off x="789709" y="852055"/>
            <a:ext cx="72736" cy="2327563"/>
          </a:xfrm>
          <a:prstGeom prst="line">
            <a:avLst/>
          </a:prstGeom>
        </p:spPr>
        <p:style>
          <a:lnRef idx="2">
            <a:schemeClr val="dk1"/>
          </a:lnRef>
          <a:fillRef idx="0">
            <a:schemeClr val="dk1"/>
          </a:fillRef>
          <a:effectRef idx="1">
            <a:schemeClr val="dk1"/>
          </a:effectRef>
          <a:fontRef idx="minor">
            <a:schemeClr val="tx1"/>
          </a:fontRef>
        </p:style>
      </p:cxnSp>
      <p:cxnSp>
        <p:nvCxnSpPr>
          <p:cNvPr id="17" name="Straight Connector 16">
            <a:extLst>
              <a:ext uri="{FF2B5EF4-FFF2-40B4-BE49-F238E27FC236}">
                <a16:creationId xmlns:a16="http://schemas.microsoft.com/office/drawing/2014/main" id="{6F90982F-F779-F3AB-8C58-93ABB301EFCB}"/>
              </a:ext>
            </a:extLst>
          </p:cNvPr>
          <p:cNvCxnSpPr>
            <a:cxnSpLocks/>
          </p:cNvCxnSpPr>
          <p:nvPr/>
        </p:nvCxnSpPr>
        <p:spPr>
          <a:xfrm flipH="1">
            <a:off x="862445" y="852055"/>
            <a:ext cx="5545282" cy="0"/>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8B115835-4433-F042-B847-E771AB86F921}"/>
              </a:ext>
            </a:extLst>
          </p:cNvPr>
          <p:cNvCxnSpPr>
            <a:cxnSpLocks/>
          </p:cNvCxnSpPr>
          <p:nvPr/>
        </p:nvCxnSpPr>
        <p:spPr>
          <a:xfrm flipV="1">
            <a:off x="6407727" y="862446"/>
            <a:ext cx="0" cy="805295"/>
          </a:xfrm>
          <a:prstGeom prst="line">
            <a:avLst/>
          </a:prstGeom>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87E9362B-578D-E973-1447-68A05E3FD78E}"/>
              </a:ext>
            </a:extLst>
          </p:cNvPr>
          <p:cNvCxnSpPr>
            <a:cxnSpLocks/>
          </p:cNvCxnSpPr>
          <p:nvPr/>
        </p:nvCxnSpPr>
        <p:spPr>
          <a:xfrm>
            <a:off x="5448300" y="1667741"/>
            <a:ext cx="959427" cy="0"/>
          </a:xfrm>
          <a:prstGeom prst="line">
            <a:avLst/>
          </a:prstGeom>
        </p:spPr>
        <p:style>
          <a:lnRef idx="2">
            <a:schemeClr val="dk1"/>
          </a:lnRef>
          <a:fillRef idx="0">
            <a:schemeClr val="dk1"/>
          </a:fillRef>
          <a:effectRef idx="1">
            <a:schemeClr val="dk1"/>
          </a:effectRef>
          <a:fontRef idx="minor">
            <a:schemeClr val="tx1"/>
          </a:fontRef>
        </p:style>
      </p:cxnSp>
      <p:cxnSp>
        <p:nvCxnSpPr>
          <p:cNvPr id="32" name="Straight Arrow Connector 31">
            <a:extLst>
              <a:ext uri="{FF2B5EF4-FFF2-40B4-BE49-F238E27FC236}">
                <a16:creationId xmlns:a16="http://schemas.microsoft.com/office/drawing/2014/main" id="{9B86B16E-134A-CC17-209F-852A57F1D174}"/>
              </a:ext>
            </a:extLst>
          </p:cNvPr>
          <p:cNvCxnSpPr>
            <a:cxnSpLocks/>
            <a:stCxn id="7" idx="0"/>
          </p:cNvCxnSpPr>
          <p:nvPr/>
        </p:nvCxnSpPr>
        <p:spPr>
          <a:xfrm flipV="1">
            <a:off x="1979470" y="2150918"/>
            <a:ext cx="0" cy="6754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6" name="Straight Arrow Connector 35">
            <a:extLst>
              <a:ext uri="{FF2B5EF4-FFF2-40B4-BE49-F238E27FC236}">
                <a16:creationId xmlns:a16="http://schemas.microsoft.com/office/drawing/2014/main" id="{4CCA8FC5-84EE-7D14-27F7-452EA60F9BCC}"/>
              </a:ext>
            </a:extLst>
          </p:cNvPr>
          <p:cNvCxnSpPr>
            <a:cxnSpLocks/>
          </p:cNvCxnSpPr>
          <p:nvPr/>
        </p:nvCxnSpPr>
        <p:spPr>
          <a:xfrm flipV="1">
            <a:off x="4946074" y="2142258"/>
            <a:ext cx="0" cy="6754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7" name="Straight Arrow Connector 36">
            <a:extLst>
              <a:ext uri="{FF2B5EF4-FFF2-40B4-BE49-F238E27FC236}">
                <a16:creationId xmlns:a16="http://schemas.microsoft.com/office/drawing/2014/main" id="{403501FE-78B0-C4AA-01D0-3F745FC8F5D2}"/>
              </a:ext>
            </a:extLst>
          </p:cNvPr>
          <p:cNvCxnSpPr>
            <a:cxnSpLocks/>
          </p:cNvCxnSpPr>
          <p:nvPr/>
        </p:nvCxnSpPr>
        <p:spPr>
          <a:xfrm flipV="1">
            <a:off x="3377049" y="2150918"/>
            <a:ext cx="0" cy="6754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38" name="Straight Arrow Connector 37">
            <a:extLst>
              <a:ext uri="{FF2B5EF4-FFF2-40B4-BE49-F238E27FC236}">
                <a16:creationId xmlns:a16="http://schemas.microsoft.com/office/drawing/2014/main" id="{7A24A042-5F8E-AD14-1193-22C47C827C63}"/>
              </a:ext>
            </a:extLst>
          </p:cNvPr>
          <p:cNvCxnSpPr>
            <a:cxnSpLocks/>
          </p:cNvCxnSpPr>
          <p:nvPr/>
        </p:nvCxnSpPr>
        <p:spPr>
          <a:xfrm>
            <a:off x="2369993" y="1922318"/>
            <a:ext cx="787112" cy="90400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40" name="Straight Arrow Connector 39">
            <a:extLst>
              <a:ext uri="{FF2B5EF4-FFF2-40B4-BE49-F238E27FC236}">
                <a16:creationId xmlns:a16="http://schemas.microsoft.com/office/drawing/2014/main" id="{B275CA86-BB9B-EFAB-E9CC-20A78649173C}"/>
              </a:ext>
            </a:extLst>
          </p:cNvPr>
          <p:cNvCxnSpPr>
            <a:cxnSpLocks/>
          </p:cNvCxnSpPr>
          <p:nvPr/>
        </p:nvCxnSpPr>
        <p:spPr>
          <a:xfrm>
            <a:off x="3799614" y="1922318"/>
            <a:ext cx="723896" cy="895349"/>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419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82C05E7A-5AA3-1A43-49D0-7CF0FFD7A9CA}"/>
              </a:ext>
            </a:extLst>
          </p:cNvPr>
          <p:cNvSpPr txBox="1"/>
          <p:nvPr/>
        </p:nvSpPr>
        <p:spPr>
          <a:xfrm>
            <a:off x="727365" y="93518"/>
            <a:ext cx="8936180" cy="5909310"/>
          </a:xfrm>
          <a:prstGeom prst="rect">
            <a:avLst/>
          </a:prstGeom>
          <a:noFill/>
        </p:spPr>
        <p:txBody>
          <a:bodyPr wrap="square">
            <a:spAutoFit/>
          </a:bodyPr>
          <a:lstStyle/>
          <a:p>
            <a:r>
              <a:rPr lang="en-US" b="1" u="sng" dirty="0"/>
              <a:t>4.4 Strategies for handling Deadlock </a:t>
            </a:r>
          </a:p>
          <a:p>
            <a:endParaRPr lang="en-US" b="1" u="sng" dirty="0"/>
          </a:p>
          <a:p>
            <a:pPr marL="342900" indent="-342900">
              <a:buAutoNum type="arabicPeriod"/>
            </a:pPr>
            <a:r>
              <a:rPr lang="en-US" b="1" u="sng" dirty="0"/>
              <a:t>Deadlock Handling </a:t>
            </a:r>
          </a:p>
          <a:p>
            <a:endParaRPr lang="en-US" b="1" u="sng" dirty="0"/>
          </a:p>
          <a:p>
            <a:r>
              <a:rPr lang="en-US" dirty="0"/>
              <a:t>Deadlock Handling in operating system, typically involves several strategies , including prevention , avoidance , detection are recovery </a:t>
            </a:r>
          </a:p>
          <a:p>
            <a:endParaRPr lang="en-US" dirty="0"/>
          </a:p>
          <a:p>
            <a:r>
              <a:rPr lang="en-US" b="1" u="sng" dirty="0"/>
              <a:t>2. Deadlock prevention</a:t>
            </a:r>
          </a:p>
          <a:p>
            <a:r>
              <a:rPr lang="en-US" b="1" u="sng" dirty="0"/>
              <a:t> </a:t>
            </a:r>
          </a:p>
          <a:p>
            <a:r>
              <a:rPr lang="en-US" dirty="0"/>
              <a:t>Deadlock happens only when Mutual Exclusion, hold and wait, No preemption and circular wait holds simultaneously. If it is possible to violate one of the four conditions at any time then the deadlock can never occur in the system</a:t>
            </a:r>
          </a:p>
          <a:p>
            <a:endParaRPr lang="en-US" dirty="0"/>
          </a:p>
          <a:p>
            <a:r>
              <a:rPr lang="en-US" dirty="0"/>
              <a:t>The idea behind the approach is very simple that we have to fail one of the four conditions but there can be a big argument on its physical implementation in the system.</a:t>
            </a:r>
          </a:p>
          <a:p>
            <a:r>
              <a:rPr lang="en-US" dirty="0"/>
              <a:t> </a:t>
            </a:r>
          </a:p>
          <a:p>
            <a:r>
              <a:rPr lang="en-US" dirty="0"/>
              <a:t>We will discuss it later in detail.</a:t>
            </a:r>
          </a:p>
          <a:p>
            <a:endParaRPr lang="en-US" dirty="0"/>
          </a:p>
          <a:p>
            <a:endParaRPr lang="en-US" dirty="0"/>
          </a:p>
          <a:p>
            <a:endParaRPr lang="en-IN" dirty="0"/>
          </a:p>
        </p:txBody>
      </p:sp>
    </p:spTree>
    <p:extLst>
      <p:ext uri="{BB962C8B-B14F-4D97-AF65-F5344CB8AC3E}">
        <p14:creationId xmlns:p14="http://schemas.microsoft.com/office/powerpoint/2010/main" val="38021931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DB405327-77FC-EE2F-3609-537AA47BA016}"/>
              </a:ext>
            </a:extLst>
          </p:cNvPr>
          <p:cNvSpPr txBox="1"/>
          <p:nvPr/>
        </p:nvSpPr>
        <p:spPr>
          <a:xfrm>
            <a:off x="914400" y="117693"/>
            <a:ext cx="8242588" cy="6740307"/>
          </a:xfrm>
          <a:prstGeom prst="rect">
            <a:avLst/>
          </a:prstGeom>
          <a:noFill/>
        </p:spPr>
        <p:txBody>
          <a:bodyPr wrap="square">
            <a:spAutoFit/>
          </a:bodyPr>
          <a:lstStyle/>
          <a:p>
            <a:r>
              <a:rPr lang="en-US" dirty="0"/>
              <a:t> </a:t>
            </a:r>
            <a:r>
              <a:rPr lang="en-US" b="1" u="sng" dirty="0"/>
              <a:t>3. Deadlock avoidance</a:t>
            </a:r>
          </a:p>
          <a:p>
            <a:endParaRPr lang="en-US" b="1" u="sng" dirty="0"/>
          </a:p>
          <a:p>
            <a:r>
              <a:rPr lang="en-US" dirty="0"/>
              <a:t>In deadlock avoidance, the operating system checks whether the system is in safe state or in unsafe state at every step which the operating system performs. The process continues until the system is in safe state. Once the system moves to unsafe state, the OS has to backtrack one step. </a:t>
            </a:r>
          </a:p>
          <a:p>
            <a:endParaRPr lang="en-US" dirty="0"/>
          </a:p>
          <a:p>
            <a:r>
              <a:rPr lang="en-US" dirty="0"/>
              <a:t>In simple words, The OS reviews each allocation so that the allocation doesn't cause the deadlock in the system.</a:t>
            </a:r>
          </a:p>
          <a:p>
            <a:endParaRPr lang="en-US" dirty="0"/>
          </a:p>
          <a:p>
            <a:r>
              <a:rPr lang="en-US" dirty="0"/>
              <a:t>We will discuss Deadlock avoidance later in detail. </a:t>
            </a:r>
          </a:p>
          <a:p>
            <a:endParaRPr lang="en-US" dirty="0"/>
          </a:p>
          <a:p>
            <a:r>
              <a:rPr lang="en-US" b="1" u="sng" dirty="0"/>
              <a:t>4. Deadlock detection</a:t>
            </a:r>
          </a:p>
          <a:p>
            <a:endParaRPr lang="en-US" b="1" u="sng" dirty="0"/>
          </a:p>
          <a:p>
            <a:r>
              <a:rPr lang="en-US" dirty="0"/>
              <a:t>This method involves periodically examining the system resources allocation too identify the deadlock conditions. Various algorithm , such as resource allocation graph or the wait – for graph , are used to detect deadlocks. Once detected , appropriate action can be taken to recover from the deadlock </a:t>
            </a:r>
          </a:p>
          <a:p>
            <a:endParaRPr lang="en-US" dirty="0"/>
          </a:p>
          <a:p>
            <a:r>
              <a:rPr lang="en-US" b="1" u="sng" dirty="0"/>
              <a:t>5. Deadlock Recovery-</a:t>
            </a:r>
          </a:p>
          <a:p>
            <a:r>
              <a:rPr lang="en-US" dirty="0"/>
              <a:t> When a deadlock is detected, the system must take corrosive actions to recover from it This may involve preempting resources from one or more processes, aborting contain processes to free up resource or rolling back transactions to a consistent stale before the deadlock occurred.</a:t>
            </a:r>
          </a:p>
        </p:txBody>
      </p:sp>
    </p:spTree>
    <p:extLst>
      <p:ext uri="{BB962C8B-B14F-4D97-AF65-F5344CB8AC3E}">
        <p14:creationId xmlns:p14="http://schemas.microsoft.com/office/powerpoint/2010/main" val="2563849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70A2A22-0FF4-1D0E-615D-F95812C16408}"/>
              </a:ext>
            </a:extLst>
          </p:cNvPr>
          <p:cNvSpPr txBox="1"/>
          <p:nvPr/>
        </p:nvSpPr>
        <p:spPr>
          <a:xfrm>
            <a:off x="765376" y="48245"/>
            <a:ext cx="8945783" cy="6740307"/>
          </a:xfrm>
          <a:prstGeom prst="rect">
            <a:avLst/>
          </a:prstGeom>
          <a:noFill/>
        </p:spPr>
        <p:txBody>
          <a:bodyPr wrap="square">
            <a:spAutoFit/>
          </a:bodyPr>
          <a:lstStyle/>
          <a:p>
            <a:r>
              <a:rPr lang="en-US" b="1" u="sng" dirty="0"/>
              <a:t>4.5 Deadlock Prevention</a:t>
            </a:r>
          </a:p>
          <a:p>
            <a:pPr marL="342900" indent="-342900">
              <a:buAutoNum type="arabicPeriod"/>
            </a:pPr>
            <a:r>
              <a:rPr lang="en-US" dirty="0"/>
              <a:t>Deadlock prevention in operating system aims to design the system in a way that eliminates or avoids the conditions necessary for deadlock  to occur </a:t>
            </a:r>
          </a:p>
          <a:p>
            <a:pPr marL="342900" indent="-342900">
              <a:buAutoNum type="arabicPeriod"/>
            </a:pPr>
            <a:r>
              <a:rPr lang="en-IN" dirty="0"/>
              <a:t>This involves addressing the four necessary condition for deadlock </a:t>
            </a:r>
          </a:p>
          <a:p>
            <a:pPr marL="342900" indent="-342900">
              <a:buAutoNum type="arabicPeriod"/>
            </a:pPr>
            <a:endParaRPr lang="en-IN" dirty="0"/>
          </a:p>
          <a:p>
            <a:r>
              <a:rPr lang="en-US" b="1" u="sng" dirty="0"/>
              <a:t>1. Mutual Exclusion</a:t>
            </a:r>
            <a:r>
              <a:rPr lang="en-US" dirty="0"/>
              <a:t>- </a:t>
            </a:r>
          </a:p>
          <a:p>
            <a:r>
              <a:rPr lang="en-US" dirty="0"/>
              <a:t> Ensures that resources can only be used by one process at a time. This condition is typically inherit in most resource management system, as resource like printers or CPUS are designed to be excusive</a:t>
            </a:r>
          </a:p>
          <a:p>
            <a:endParaRPr lang="en-US" dirty="0"/>
          </a:p>
          <a:p>
            <a:r>
              <a:rPr lang="en-US" b="1" u="sng" dirty="0"/>
              <a:t>2. Hold and Wait –</a:t>
            </a:r>
          </a:p>
          <a:p>
            <a:r>
              <a:rPr lang="en-US" dirty="0"/>
              <a:t>This prevents a situation where a process holds some resources </a:t>
            </a:r>
            <a:r>
              <a:rPr lang="en-US" dirty="0" err="1"/>
              <a:t>whide</a:t>
            </a:r>
            <a:r>
              <a:rPr lang="en-US" dirty="0"/>
              <a:t> waiting for others potentially causing a deadlock. one way to achieve this i's through the use of resources allocation strategies that allocate all resources at once.</a:t>
            </a:r>
          </a:p>
          <a:p>
            <a:endParaRPr lang="en-US" b="1" u="sng" dirty="0"/>
          </a:p>
          <a:p>
            <a:r>
              <a:rPr lang="en-US" b="1" u="sng" dirty="0"/>
              <a:t>3. No preemption -</a:t>
            </a:r>
          </a:p>
          <a:p>
            <a:r>
              <a:rPr lang="en-US" dirty="0"/>
              <a:t>IF a process is holding a resource and another process needs it, the OS can Forcefully take the resource Fram the first process. However, preemption may not always be feasible or desirable, especially for certain types of resources.</a:t>
            </a:r>
          </a:p>
          <a:p>
            <a:endParaRPr lang="en-US" dirty="0"/>
          </a:p>
          <a:p>
            <a:r>
              <a:rPr lang="en-US" b="1" u="sng" dirty="0"/>
              <a:t>4. Circular Wait – </a:t>
            </a:r>
          </a:p>
          <a:p>
            <a:r>
              <a:rPr lang="en-US" dirty="0"/>
              <a:t>Impose a total ordering of resource types and require processes to request resources in increasing order of enumeration. By ensuring that processes can only request resources in a predefined order, circular wait, situations can be avoided.</a:t>
            </a:r>
          </a:p>
        </p:txBody>
      </p:sp>
    </p:spTree>
    <p:extLst>
      <p:ext uri="{BB962C8B-B14F-4D97-AF65-F5344CB8AC3E}">
        <p14:creationId xmlns:p14="http://schemas.microsoft.com/office/powerpoint/2010/main" val="5672543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2869D88D-290D-750C-7F07-5EB0408843A7}"/>
              </a:ext>
            </a:extLst>
          </p:cNvPr>
          <p:cNvSpPr txBox="1"/>
          <p:nvPr/>
        </p:nvSpPr>
        <p:spPr>
          <a:xfrm>
            <a:off x="833377" y="92598"/>
            <a:ext cx="8325090" cy="5078313"/>
          </a:xfrm>
          <a:prstGeom prst="rect">
            <a:avLst/>
          </a:prstGeom>
          <a:noFill/>
        </p:spPr>
        <p:txBody>
          <a:bodyPr wrap="square">
            <a:spAutoFit/>
          </a:bodyPr>
          <a:lstStyle/>
          <a:p>
            <a:r>
              <a:rPr lang="en-US" b="1" u="sng" dirty="0"/>
              <a:t>Deadlock Avoidance: </a:t>
            </a:r>
          </a:p>
          <a:p>
            <a:endParaRPr lang="en-US" dirty="0"/>
          </a:p>
          <a:p>
            <a:r>
              <a:rPr lang="en-US" b="1" u="sng" dirty="0"/>
              <a:t>1. Safe stater: </a:t>
            </a:r>
          </a:p>
          <a:p>
            <a:endParaRPr lang="en-US" dirty="0"/>
          </a:p>
          <a:p>
            <a:r>
              <a:rPr lang="en-US" dirty="0"/>
              <a:t>A safe stale refers to a system stale in which the allocation of resources to processes can procced in a way that prevents deadlock </a:t>
            </a:r>
          </a:p>
          <a:p>
            <a:pPr marL="285750" indent="-285750">
              <a:buFontTx/>
              <a:buChar char="-"/>
            </a:pPr>
            <a:r>
              <a:rPr lang="en-US" dirty="0"/>
              <a:t>All processes in the system can eventually complete there execution and release all allocated resources.</a:t>
            </a:r>
          </a:p>
          <a:p>
            <a:r>
              <a:rPr lang="en-US" dirty="0"/>
              <a:t> - No deadlock will occur, even if all processes request additional resources at the same time </a:t>
            </a:r>
          </a:p>
          <a:p>
            <a:endParaRPr lang="en-US" dirty="0"/>
          </a:p>
          <a:p>
            <a:r>
              <a:rPr lang="en-US" b="1" u="sng" dirty="0"/>
              <a:t>2. Resource Allocation Graph (RAG):</a:t>
            </a:r>
          </a:p>
          <a:p>
            <a:endParaRPr lang="en-US" dirty="0"/>
          </a:p>
          <a:p>
            <a:r>
              <a:rPr lang="en-US" dirty="0"/>
              <a:t>RAG shows which resource is held by which process and which process is waiting for a resource of a specific kind </a:t>
            </a:r>
          </a:p>
          <a:p>
            <a:pPr marL="285750" indent="-285750">
              <a:buFontTx/>
              <a:buChar char="-"/>
            </a:pPr>
            <a:r>
              <a:rPr lang="en-US" dirty="0"/>
              <a:t>RAG also contains information about all the instant of all the resources whether they are available or being used by the processes</a:t>
            </a:r>
          </a:p>
          <a:p>
            <a:endParaRPr lang="en-US" dirty="0"/>
          </a:p>
        </p:txBody>
      </p:sp>
    </p:spTree>
    <p:extLst>
      <p:ext uri="{BB962C8B-B14F-4D97-AF65-F5344CB8AC3E}">
        <p14:creationId xmlns:p14="http://schemas.microsoft.com/office/powerpoint/2010/main" val="1773672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2C1FAD4-E2C2-8F31-DA48-97E6B9BFC6F2}"/>
              </a:ext>
            </a:extLst>
          </p:cNvPr>
          <p:cNvSpPr/>
          <p:nvPr/>
        </p:nvSpPr>
        <p:spPr>
          <a:xfrm>
            <a:off x="4340506" y="555585"/>
            <a:ext cx="1539433" cy="39353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Vertices </a:t>
            </a:r>
            <a:endParaRPr lang="en-IN" dirty="0"/>
          </a:p>
        </p:txBody>
      </p:sp>
      <p:cxnSp>
        <p:nvCxnSpPr>
          <p:cNvPr id="6" name="Straight Connector 5">
            <a:extLst>
              <a:ext uri="{FF2B5EF4-FFF2-40B4-BE49-F238E27FC236}">
                <a16:creationId xmlns:a16="http://schemas.microsoft.com/office/drawing/2014/main" id="{E2AD9A3E-AE33-1CF1-124C-B9A5695D2352}"/>
              </a:ext>
            </a:extLst>
          </p:cNvPr>
          <p:cNvCxnSpPr>
            <a:cxnSpLocks/>
            <a:stCxn id="4" idx="2"/>
          </p:cNvCxnSpPr>
          <p:nvPr/>
        </p:nvCxnSpPr>
        <p:spPr>
          <a:xfrm flipH="1">
            <a:off x="5110222" y="949124"/>
            <a:ext cx="1" cy="601884"/>
          </a:xfrm>
          <a:prstGeom prst="line">
            <a:avLst/>
          </a:prstGeom>
        </p:spPr>
        <p:style>
          <a:lnRef idx="2">
            <a:schemeClr val="dk1"/>
          </a:lnRef>
          <a:fillRef idx="0">
            <a:schemeClr val="dk1"/>
          </a:fillRef>
          <a:effectRef idx="1">
            <a:schemeClr val="dk1"/>
          </a:effectRef>
          <a:fontRef idx="minor">
            <a:schemeClr val="tx1"/>
          </a:fontRef>
        </p:style>
      </p:cxnSp>
      <p:cxnSp>
        <p:nvCxnSpPr>
          <p:cNvPr id="8" name="Straight Connector 7">
            <a:extLst>
              <a:ext uri="{FF2B5EF4-FFF2-40B4-BE49-F238E27FC236}">
                <a16:creationId xmlns:a16="http://schemas.microsoft.com/office/drawing/2014/main" id="{D400DA2C-3508-66D9-3427-D79189F0DD10}"/>
              </a:ext>
            </a:extLst>
          </p:cNvPr>
          <p:cNvCxnSpPr>
            <a:cxnSpLocks/>
          </p:cNvCxnSpPr>
          <p:nvPr/>
        </p:nvCxnSpPr>
        <p:spPr>
          <a:xfrm flipV="1">
            <a:off x="2129742" y="1533646"/>
            <a:ext cx="5960960" cy="17362"/>
          </a:xfrm>
          <a:prstGeom prst="line">
            <a:avLst/>
          </a:prstGeom>
        </p:spPr>
        <p:style>
          <a:lnRef idx="2">
            <a:schemeClr val="dk1"/>
          </a:lnRef>
          <a:fillRef idx="0">
            <a:schemeClr val="dk1"/>
          </a:fillRef>
          <a:effectRef idx="1">
            <a:schemeClr val="dk1"/>
          </a:effectRef>
          <a:fontRef idx="minor">
            <a:schemeClr val="tx1"/>
          </a:fontRef>
        </p:style>
      </p:cxnSp>
      <p:sp>
        <p:nvSpPr>
          <p:cNvPr id="14" name="Rectangle 13">
            <a:extLst>
              <a:ext uri="{FF2B5EF4-FFF2-40B4-BE49-F238E27FC236}">
                <a16:creationId xmlns:a16="http://schemas.microsoft.com/office/drawing/2014/main" id="{DD187176-FB29-0D9B-1645-C7477D290F82}"/>
              </a:ext>
            </a:extLst>
          </p:cNvPr>
          <p:cNvSpPr/>
          <p:nvPr/>
        </p:nvSpPr>
        <p:spPr>
          <a:xfrm>
            <a:off x="8245031" y="3847618"/>
            <a:ext cx="1539433" cy="598268"/>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Multi Instance  </a:t>
            </a:r>
            <a:endParaRPr lang="en-IN" dirty="0"/>
          </a:p>
        </p:txBody>
      </p:sp>
      <p:sp>
        <p:nvSpPr>
          <p:cNvPr id="15" name="Rectangle 14">
            <a:extLst>
              <a:ext uri="{FF2B5EF4-FFF2-40B4-BE49-F238E27FC236}">
                <a16:creationId xmlns:a16="http://schemas.microsoft.com/office/drawing/2014/main" id="{3A91B334-3DB3-F2EC-36F9-E10B5C79F153}"/>
              </a:ext>
            </a:extLst>
          </p:cNvPr>
          <p:cNvSpPr/>
          <p:nvPr/>
        </p:nvSpPr>
        <p:spPr>
          <a:xfrm>
            <a:off x="5673523" y="3800355"/>
            <a:ext cx="1539433" cy="63299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Single Instance  </a:t>
            </a:r>
            <a:endParaRPr lang="en-IN" dirty="0"/>
          </a:p>
        </p:txBody>
      </p:sp>
      <p:sp>
        <p:nvSpPr>
          <p:cNvPr id="16" name="Rectangle 15">
            <a:extLst>
              <a:ext uri="{FF2B5EF4-FFF2-40B4-BE49-F238E27FC236}">
                <a16:creationId xmlns:a16="http://schemas.microsoft.com/office/drawing/2014/main" id="{C816C991-6611-060D-74F6-A95183CD6227}"/>
              </a:ext>
            </a:extLst>
          </p:cNvPr>
          <p:cNvSpPr/>
          <p:nvPr/>
        </p:nvSpPr>
        <p:spPr>
          <a:xfrm>
            <a:off x="7251539" y="2135530"/>
            <a:ext cx="1539433" cy="5845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Resource Vertices </a:t>
            </a:r>
            <a:endParaRPr lang="en-IN" dirty="0"/>
          </a:p>
        </p:txBody>
      </p:sp>
      <p:sp>
        <p:nvSpPr>
          <p:cNvPr id="17" name="Rectangle 16">
            <a:extLst>
              <a:ext uri="{FF2B5EF4-FFF2-40B4-BE49-F238E27FC236}">
                <a16:creationId xmlns:a16="http://schemas.microsoft.com/office/drawing/2014/main" id="{FB070431-55EE-0642-5E56-454718FE3EB4}"/>
              </a:ext>
            </a:extLst>
          </p:cNvPr>
          <p:cNvSpPr/>
          <p:nvPr/>
        </p:nvSpPr>
        <p:spPr>
          <a:xfrm>
            <a:off x="1454550" y="2135530"/>
            <a:ext cx="1539433" cy="584522"/>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 process Vertices </a:t>
            </a:r>
            <a:endParaRPr lang="en-IN" dirty="0"/>
          </a:p>
        </p:txBody>
      </p:sp>
      <p:cxnSp>
        <p:nvCxnSpPr>
          <p:cNvPr id="18" name="Straight Connector 17">
            <a:extLst>
              <a:ext uri="{FF2B5EF4-FFF2-40B4-BE49-F238E27FC236}">
                <a16:creationId xmlns:a16="http://schemas.microsoft.com/office/drawing/2014/main" id="{3EECF2E9-FBDF-8970-E6ED-73289BC2DC54}"/>
              </a:ext>
            </a:extLst>
          </p:cNvPr>
          <p:cNvCxnSpPr>
            <a:cxnSpLocks/>
          </p:cNvCxnSpPr>
          <p:nvPr/>
        </p:nvCxnSpPr>
        <p:spPr>
          <a:xfrm>
            <a:off x="2129742" y="1533646"/>
            <a:ext cx="0" cy="601884"/>
          </a:xfrm>
          <a:prstGeom prst="line">
            <a:avLst/>
          </a:prstGeom>
        </p:spPr>
        <p:style>
          <a:lnRef idx="2">
            <a:schemeClr val="dk1"/>
          </a:lnRef>
          <a:fillRef idx="0">
            <a:schemeClr val="dk1"/>
          </a:fillRef>
          <a:effectRef idx="1">
            <a:schemeClr val="dk1"/>
          </a:effectRef>
          <a:fontRef idx="minor">
            <a:schemeClr val="tx1"/>
          </a:fontRef>
        </p:style>
      </p:cxnSp>
      <p:cxnSp>
        <p:nvCxnSpPr>
          <p:cNvPr id="19" name="Straight Connector 18">
            <a:extLst>
              <a:ext uri="{FF2B5EF4-FFF2-40B4-BE49-F238E27FC236}">
                <a16:creationId xmlns:a16="http://schemas.microsoft.com/office/drawing/2014/main" id="{96D095C4-52CF-01BD-2E1C-C278078E77AC}"/>
              </a:ext>
            </a:extLst>
          </p:cNvPr>
          <p:cNvCxnSpPr>
            <a:cxnSpLocks/>
          </p:cNvCxnSpPr>
          <p:nvPr/>
        </p:nvCxnSpPr>
        <p:spPr>
          <a:xfrm>
            <a:off x="9014748" y="3204981"/>
            <a:ext cx="0" cy="632992"/>
          </a:xfrm>
          <a:prstGeom prst="line">
            <a:avLst/>
          </a:prstGeom>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9404F9FB-9798-CBBF-98CF-BC571729A63B}"/>
              </a:ext>
            </a:extLst>
          </p:cNvPr>
          <p:cNvCxnSpPr>
            <a:cxnSpLocks/>
          </p:cNvCxnSpPr>
          <p:nvPr/>
        </p:nvCxnSpPr>
        <p:spPr>
          <a:xfrm>
            <a:off x="6354501" y="3204981"/>
            <a:ext cx="0" cy="595374"/>
          </a:xfrm>
          <a:prstGeom prst="line">
            <a:avLst/>
          </a:prstGeom>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93B552D3-1980-1DD8-8C7A-12522343650C}"/>
              </a:ext>
            </a:extLst>
          </p:cNvPr>
          <p:cNvCxnSpPr>
            <a:cxnSpLocks/>
          </p:cNvCxnSpPr>
          <p:nvPr/>
        </p:nvCxnSpPr>
        <p:spPr>
          <a:xfrm flipH="1">
            <a:off x="8090702" y="1533646"/>
            <a:ext cx="1" cy="601884"/>
          </a:xfrm>
          <a:prstGeom prst="line">
            <a:avLst/>
          </a:prstGeom>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BF62158C-DC31-A195-F33C-3D5B673EB8EB}"/>
              </a:ext>
            </a:extLst>
          </p:cNvPr>
          <p:cNvCxnSpPr>
            <a:cxnSpLocks/>
          </p:cNvCxnSpPr>
          <p:nvPr/>
        </p:nvCxnSpPr>
        <p:spPr>
          <a:xfrm>
            <a:off x="6354501" y="3204981"/>
            <a:ext cx="2660247" cy="0"/>
          </a:xfrm>
          <a:prstGeom prst="line">
            <a:avLst/>
          </a:prstGeom>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55AEE149-54BB-B08B-5716-06448EA45BA5}"/>
              </a:ext>
            </a:extLst>
          </p:cNvPr>
          <p:cNvCxnSpPr>
            <a:cxnSpLocks/>
          </p:cNvCxnSpPr>
          <p:nvPr/>
        </p:nvCxnSpPr>
        <p:spPr>
          <a:xfrm>
            <a:off x="7778186" y="2720052"/>
            <a:ext cx="0" cy="484929"/>
          </a:xfrm>
          <a:prstGeom prst="line">
            <a:avLst/>
          </a:prstGeom>
        </p:spPr>
        <p:style>
          <a:lnRef idx="2">
            <a:schemeClr val="dk1"/>
          </a:lnRef>
          <a:fillRef idx="0">
            <a:schemeClr val="dk1"/>
          </a:fillRef>
          <a:effectRef idx="1">
            <a:schemeClr val="dk1"/>
          </a:effectRef>
          <a:fontRef idx="minor">
            <a:schemeClr val="tx1"/>
          </a:fontRef>
        </p:style>
      </p:cxnSp>
      <p:sp>
        <p:nvSpPr>
          <p:cNvPr id="47" name="Rectangle 46">
            <a:extLst>
              <a:ext uri="{FF2B5EF4-FFF2-40B4-BE49-F238E27FC236}">
                <a16:creationId xmlns:a16="http://schemas.microsoft.com/office/drawing/2014/main" id="{E72DB50E-F8F5-12FE-E6AA-37A95AA684F2}"/>
              </a:ext>
            </a:extLst>
          </p:cNvPr>
          <p:cNvSpPr/>
          <p:nvPr/>
        </p:nvSpPr>
        <p:spPr>
          <a:xfrm>
            <a:off x="5879939" y="4639276"/>
            <a:ext cx="752356" cy="3894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
        <p:nvSpPr>
          <p:cNvPr id="49" name="Rectangle 48">
            <a:extLst>
              <a:ext uri="{FF2B5EF4-FFF2-40B4-BE49-F238E27FC236}">
                <a16:creationId xmlns:a16="http://schemas.microsoft.com/office/drawing/2014/main" id="{4000029F-B6E5-1047-AECA-76C20750FFEC}"/>
              </a:ext>
            </a:extLst>
          </p:cNvPr>
          <p:cNvSpPr/>
          <p:nvPr/>
        </p:nvSpPr>
        <p:spPr>
          <a:xfrm>
            <a:off x="8638569" y="4813136"/>
            <a:ext cx="752356" cy="38944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dirty="0"/>
          </a:p>
        </p:txBody>
      </p:sp>
    </p:spTree>
    <p:extLst>
      <p:ext uri="{BB962C8B-B14F-4D97-AF65-F5344CB8AC3E}">
        <p14:creationId xmlns:p14="http://schemas.microsoft.com/office/powerpoint/2010/main" val="4013583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40EA14-DD64-BD55-CFB0-35FB9A794002}"/>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B6CD8A22-62D2-EB26-DAC6-559C6E4F2722}"/>
              </a:ext>
            </a:extLst>
          </p:cNvPr>
          <p:cNvSpPr txBox="1"/>
          <p:nvPr/>
        </p:nvSpPr>
        <p:spPr>
          <a:xfrm>
            <a:off x="939542" y="303434"/>
            <a:ext cx="8325090" cy="5909310"/>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u="sng" dirty="0"/>
              <a:t>3. Banker’s Algorithm  :- ( Deadlock avoidance and detection )</a:t>
            </a:r>
          </a:p>
          <a:p>
            <a:endParaRPr lang="en-US" dirty="0"/>
          </a:p>
          <a:p>
            <a:r>
              <a:rPr lang="en-US" dirty="0"/>
              <a:t> -The Banker’s Algorithm is a resource allocation and deadlock avoidance algorithm used in Operating System </a:t>
            </a:r>
          </a:p>
          <a:p>
            <a:pPr marL="285750" indent="-285750">
              <a:buFontTx/>
              <a:buChar char="-"/>
            </a:pPr>
            <a:r>
              <a:rPr lang="en-US" dirty="0"/>
              <a:t>It is designed to prevent deadlock by ensuring that the system will not enter an unsafe where process are unable to complete because they’re waiting for resources held by other processes. </a:t>
            </a:r>
          </a:p>
          <a:p>
            <a:pPr marL="285750" indent="-285750">
              <a:buFontTx/>
              <a:buChar char="-"/>
            </a:pPr>
            <a:r>
              <a:rPr lang="en-US" dirty="0"/>
              <a:t>The algorithm works by simulating the allocation of resources to processes and checking if granting a request will leave the system in the safe state. </a:t>
            </a:r>
          </a:p>
          <a:p>
            <a:pPr marL="285750" indent="-285750">
              <a:buFontTx/>
              <a:buChar char="-"/>
            </a:pPr>
            <a:r>
              <a:rPr lang="en-US" dirty="0"/>
              <a:t>If it does, the request is granted ; other wise the process must wait until it can be granted safely </a:t>
            </a:r>
          </a:p>
          <a:p>
            <a:pPr marL="285750" indent="-285750">
              <a:buFontTx/>
              <a:buChar char="-"/>
            </a:pPr>
            <a:endParaRPr lang="en-US" dirty="0"/>
          </a:p>
          <a:p>
            <a:pPr marL="285750" indent="-285750">
              <a:buFont typeface="Wingdings" panose="05000000000000000000" pitchFamily="2" charset="2"/>
              <a:buChar char="v"/>
            </a:pPr>
            <a:r>
              <a:rPr lang="en-US" dirty="0"/>
              <a:t>Data structure of banker's algorithm :- </a:t>
            </a:r>
          </a:p>
          <a:p>
            <a:pPr marL="285750" indent="-285750">
              <a:buFontTx/>
              <a:buChar char="-"/>
            </a:pPr>
            <a:endParaRPr lang="en-US" dirty="0"/>
          </a:p>
          <a:p>
            <a:r>
              <a:rPr lang="en-US" dirty="0"/>
              <a:t>1. Available :- No.of available resources of each type </a:t>
            </a:r>
          </a:p>
          <a:p>
            <a:r>
              <a:rPr lang="en-US" dirty="0"/>
              <a:t>2. Max :- The maximum demand of each process</a:t>
            </a:r>
          </a:p>
          <a:p>
            <a:r>
              <a:rPr lang="en-US" dirty="0"/>
              <a:t>3. Allocation :- No . Of resources of each type currently allocation to each process</a:t>
            </a:r>
          </a:p>
          <a:p>
            <a:r>
              <a:rPr lang="en-US" dirty="0"/>
              <a:t>4. Need :- The remanning resource need of each process</a:t>
            </a:r>
          </a:p>
          <a:p>
            <a:pPr marL="285750" indent="-285750">
              <a:buFontTx/>
              <a:buChar char="-"/>
            </a:pPr>
            <a:endParaRPr lang="en-US" dirty="0"/>
          </a:p>
          <a:p>
            <a:pPr marL="285750" indent="-285750">
              <a:buFontTx/>
              <a:buChar char="-"/>
            </a:pPr>
            <a:endParaRPr lang="en-US" dirty="0"/>
          </a:p>
        </p:txBody>
      </p:sp>
    </p:spTree>
    <p:extLst>
      <p:ext uri="{BB962C8B-B14F-4D97-AF65-F5344CB8AC3E}">
        <p14:creationId xmlns:p14="http://schemas.microsoft.com/office/powerpoint/2010/main" val="16187206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391CBF-5332-1B40-3C2E-C125326EA135}"/>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0E2571A1-CADF-B4EF-E84F-6C7F4AB2E9BD}"/>
              </a:ext>
            </a:extLst>
          </p:cNvPr>
          <p:cNvSpPr txBox="1"/>
          <p:nvPr/>
        </p:nvSpPr>
        <p:spPr>
          <a:xfrm>
            <a:off x="989238" y="612844"/>
            <a:ext cx="8325090" cy="563231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u="sng" dirty="0"/>
              <a:t>4. Safety Algorithm :-</a:t>
            </a:r>
          </a:p>
          <a:p>
            <a:endParaRPr lang="en-US" dirty="0"/>
          </a:p>
          <a:p>
            <a:pPr marL="285750" indent="-285750">
              <a:buFontTx/>
              <a:buChar char="-"/>
            </a:pPr>
            <a:r>
              <a:rPr lang="en-US" dirty="0"/>
              <a:t>The Safety algorithm is used to check if a system is in a safe state before granting a resource request </a:t>
            </a:r>
          </a:p>
          <a:p>
            <a:pPr marL="285750" indent="-285750">
              <a:buFontTx/>
              <a:buChar char="-"/>
            </a:pPr>
            <a:r>
              <a:rPr lang="en-US" dirty="0"/>
              <a:t>Basic Outline </a:t>
            </a:r>
          </a:p>
          <a:p>
            <a:endParaRPr lang="en-US" dirty="0"/>
          </a:p>
          <a:p>
            <a:pPr marL="342900" indent="-342900">
              <a:buAutoNum type="arabicPeriod"/>
            </a:pPr>
            <a:r>
              <a:rPr lang="en-US" dirty="0"/>
              <a:t>Initialize :- Work (Available) and finish (process finish) </a:t>
            </a:r>
          </a:p>
          <a:p>
            <a:pPr marL="342900" indent="-342900">
              <a:buAutoNum type="arabicPeriod"/>
            </a:pPr>
            <a:r>
              <a:rPr lang="en-US" dirty="0"/>
              <a:t>Set all elements of the finish array to false . </a:t>
            </a:r>
          </a:p>
          <a:p>
            <a:pPr marL="342900" indent="-342900">
              <a:buAutoNum type="arabicPeriod"/>
            </a:pPr>
            <a:r>
              <a:rPr lang="en-US" dirty="0"/>
              <a:t>Find index I for both :</a:t>
            </a:r>
          </a:p>
          <a:p>
            <a:r>
              <a:rPr lang="en-US" dirty="0"/>
              <a:t>-Finish [ I ] is false</a:t>
            </a:r>
          </a:p>
          <a:p>
            <a:pPr marL="285750" indent="-285750">
              <a:buFontTx/>
              <a:buChar char="-"/>
            </a:pPr>
            <a:r>
              <a:rPr lang="en-US" dirty="0"/>
              <a:t>Need [ I ] &lt;= work </a:t>
            </a:r>
          </a:p>
          <a:p>
            <a:r>
              <a:rPr lang="en-US" dirty="0"/>
              <a:t>4. If no such index I is found , go to step 6 system is not safe state </a:t>
            </a:r>
          </a:p>
          <a:p>
            <a:r>
              <a:rPr lang="en-US" dirty="0"/>
              <a:t>5. If index I is found :</a:t>
            </a:r>
          </a:p>
          <a:p>
            <a:pPr marL="285750" indent="-285750">
              <a:buFontTx/>
              <a:buChar char="-"/>
            </a:pPr>
            <a:r>
              <a:rPr lang="en-US" dirty="0"/>
              <a:t>Allocation [I]</a:t>
            </a:r>
          </a:p>
          <a:p>
            <a:pPr marL="285750" indent="-285750">
              <a:buFontTx/>
              <a:buChar char="-"/>
            </a:pPr>
            <a:r>
              <a:rPr lang="en-US" dirty="0"/>
              <a:t>Set finish [I] to true</a:t>
            </a:r>
          </a:p>
          <a:p>
            <a:r>
              <a:rPr lang="en-US" dirty="0"/>
              <a:t>6. Repeat steps 3 – 5 until :</a:t>
            </a:r>
          </a:p>
          <a:p>
            <a:pPr marL="285750" indent="-285750">
              <a:buFontTx/>
              <a:buChar char="-"/>
            </a:pPr>
            <a:r>
              <a:rPr lang="en-US" dirty="0"/>
              <a:t>Finish [I] is true for all processes</a:t>
            </a:r>
          </a:p>
          <a:p>
            <a:pPr marL="285750" indent="-285750">
              <a:buFontTx/>
              <a:buChar char="-"/>
            </a:pPr>
            <a:r>
              <a:rPr lang="en-US" dirty="0"/>
              <a:t>Step 4  fails for all processes</a:t>
            </a:r>
          </a:p>
          <a:p>
            <a:r>
              <a:rPr lang="en-US" dirty="0"/>
              <a:t>7. If all processes can finish , system is in safe state , otherwise its not. </a:t>
            </a:r>
          </a:p>
          <a:p>
            <a:endParaRPr lang="en-US" dirty="0"/>
          </a:p>
        </p:txBody>
      </p:sp>
    </p:spTree>
    <p:extLst>
      <p:ext uri="{BB962C8B-B14F-4D97-AF65-F5344CB8AC3E}">
        <p14:creationId xmlns:p14="http://schemas.microsoft.com/office/powerpoint/2010/main" val="4225329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BB9C4-0590-CA3F-2CEF-85056F186C07}"/>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D87B4749-B8AE-28CC-987F-E35A8DCAD462}"/>
              </a:ext>
            </a:extLst>
          </p:cNvPr>
          <p:cNvSpPr txBox="1"/>
          <p:nvPr/>
        </p:nvSpPr>
        <p:spPr>
          <a:xfrm>
            <a:off x="939542" y="303434"/>
            <a:ext cx="8325090" cy="6463308"/>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b="1" u="sng" dirty="0"/>
              <a:t>5. Resource – request algorithm:-</a:t>
            </a:r>
          </a:p>
          <a:p>
            <a:endParaRPr lang="en-US" dirty="0"/>
          </a:p>
          <a:p>
            <a:pPr marL="285750" indent="-285750">
              <a:buFontTx/>
              <a:buChar char="-"/>
            </a:pPr>
            <a:r>
              <a:rPr lang="en-US" dirty="0"/>
              <a:t>The Resource – request algorithm, determines whether a request for resources by process can be granted without leading the system into an unsafe state (a state where deadlock may occur)</a:t>
            </a:r>
          </a:p>
          <a:p>
            <a:endParaRPr lang="en-US" dirty="0"/>
          </a:p>
          <a:p>
            <a:pPr marL="285750" indent="-285750">
              <a:buFontTx/>
              <a:buChar char="-"/>
            </a:pPr>
            <a:r>
              <a:rPr lang="en-US" dirty="0"/>
              <a:t>Steps:-</a:t>
            </a:r>
          </a:p>
          <a:p>
            <a:endParaRPr lang="en-US" dirty="0"/>
          </a:p>
          <a:p>
            <a:pPr marL="342900" indent="-342900">
              <a:buAutoNum type="arabicPeriod"/>
            </a:pPr>
            <a:r>
              <a:rPr lang="en-US" dirty="0"/>
              <a:t>Input :- No . Of resource type a process needs</a:t>
            </a:r>
          </a:p>
          <a:p>
            <a:pPr marL="342900" indent="-342900">
              <a:buAutoNum type="arabicPeriod"/>
            </a:pPr>
            <a:r>
              <a:rPr lang="en-US" dirty="0"/>
              <a:t>Check request :- ensures requested doesn’t exceed the maximum claim of the process</a:t>
            </a:r>
          </a:p>
          <a:p>
            <a:pPr marL="342900" indent="-342900">
              <a:buAutoNum type="arabicPeriod"/>
            </a:pPr>
            <a:r>
              <a:rPr lang="en-US" dirty="0"/>
              <a:t>Check availability :-check if requested resources are available </a:t>
            </a:r>
          </a:p>
          <a:p>
            <a:pPr marL="342900" indent="-342900">
              <a:buAutoNum type="arabicPeriod"/>
            </a:pPr>
            <a:r>
              <a:rPr lang="en-US" dirty="0"/>
              <a:t>Tempory  Allocation :- simulate the allocation of requested resources to the process temporarily </a:t>
            </a:r>
          </a:p>
          <a:p>
            <a:pPr marL="342900" indent="-342900">
              <a:buAutoNum type="arabicPeriod"/>
            </a:pPr>
            <a:r>
              <a:rPr lang="en-US" dirty="0"/>
              <a:t>Check safety :- use safety algorithm</a:t>
            </a:r>
          </a:p>
          <a:p>
            <a:pPr marL="342900" indent="-342900">
              <a:buAutoNum type="arabicPeriod"/>
            </a:pPr>
            <a:r>
              <a:rPr lang="en-US" dirty="0"/>
              <a:t>Rollback :- If request is denied , rollback to step 4</a:t>
            </a:r>
          </a:p>
          <a:p>
            <a:pPr marL="342900" indent="-342900">
              <a:buAutoNum type="arabicPeriod"/>
            </a:pPr>
            <a:r>
              <a:rPr lang="en-US" dirty="0"/>
              <a:t>Grant request :- If request is granted , update the system data structures permanently </a:t>
            </a:r>
          </a:p>
          <a:p>
            <a:pPr marL="342900" indent="-342900">
              <a:buAutoNum type="arabicPeriod"/>
            </a:pPr>
            <a:r>
              <a:rPr lang="en-US" dirty="0"/>
              <a:t>Return status :- Return either a success or failure status to the process ; indicating whether the  request was granted or denied</a:t>
            </a:r>
          </a:p>
          <a:p>
            <a:pPr marL="342900" indent="-342900">
              <a:buAutoNum type="arabicPeriod"/>
            </a:pPr>
            <a:endParaRPr lang="en-US" dirty="0"/>
          </a:p>
          <a:p>
            <a:endParaRPr lang="en-US" dirty="0"/>
          </a:p>
          <a:p>
            <a:pPr marL="342900" indent="-342900">
              <a:buAutoNum type="arabicPeriod"/>
            </a:pPr>
            <a:endParaRPr lang="en-US" dirty="0"/>
          </a:p>
        </p:txBody>
      </p:sp>
    </p:spTree>
    <p:extLst>
      <p:ext uri="{BB962C8B-B14F-4D97-AF65-F5344CB8AC3E}">
        <p14:creationId xmlns:p14="http://schemas.microsoft.com/office/powerpoint/2010/main" val="7623915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1824F-D4B3-0280-8517-7CB6329021DB}"/>
            </a:ext>
          </a:extLst>
        </p:cNvPr>
        <p:cNvGrpSpPr/>
        <p:nvPr/>
      </p:nvGrpSpPr>
      <p:grpSpPr>
        <a:xfrm>
          <a:off x="0" y="0"/>
          <a:ext cx="0" cy="0"/>
          <a:chOff x="0" y="0"/>
          <a:chExt cx="0" cy="0"/>
        </a:xfrm>
      </p:grpSpPr>
      <p:sp>
        <p:nvSpPr>
          <p:cNvPr id="2" name="TextBox 6">
            <a:extLst>
              <a:ext uri="{FF2B5EF4-FFF2-40B4-BE49-F238E27FC236}">
                <a16:creationId xmlns:a16="http://schemas.microsoft.com/office/drawing/2014/main" id="{5B77C112-1CBC-ACBA-E8C1-8621A267B111}"/>
              </a:ext>
            </a:extLst>
          </p:cNvPr>
          <p:cNvSpPr txBox="1"/>
          <p:nvPr/>
        </p:nvSpPr>
        <p:spPr>
          <a:xfrm>
            <a:off x="820272" y="303433"/>
            <a:ext cx="8325090" cy="64633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dirty="0"/>
              <a:t>6. Illustrative Example :-</a:t>
            </a:r>
          </a:p>
          <a:p>
            <a:pPr marL="285750" indent="-285750">
              <a:buFontTx/>
              <a:buChar char="-"/>
            </a:pPr>
            <a:endParaRPr lang="en-US" dirty="0"/>
          </a:p>
        </p:txBody>
      </p:sp>
      <p:sp>
        <p:nvSpPr>
          <p:cNvPr id="3" name="Rectangle 2">
            <a:extLst>
              <a:ext uri="{FF2B5EF4-FFF2-40B4-BE49-F238E27FC236}">
                <a16:creationId xmlns:a16="http://schemas.microsoft.com/office/drawing/2014/main" id="{110E3506-A52D-DC29-6A99-7609538976A3}"/>
              </a:ext>
            </a:extLst>
          </p:cNvPr>
          <p:cNvSpPr/>
          <p:nvPr/>
        </p:nvSpPr>
        <p:spPr>
          <a:xfrm>
            <a:off x="3836505" y="303433"/>
            <a:ext cx="3508512" cy="362489"/>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Total :- A = 10 , B = 5 , C = 7</a:t>
            </a:r>
            <a:endParaRPr lang="en-IN" dirty="0"/>
          </a:p>
        </p:txBody>
      </p:sp>
    </p:spTree>
    <p:extLst>
      <p:ext uri="{BB962C8B-B14F-4D97-AF65-F5344CB8AC3E}">
        <p14:creationId xmlns:p14="http://schemas.microsoft.com/office/powerpoint/2010/main" val="342827587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457</TotalTime>
  <Words>2629</Words>
  <Application>Microsoft Office PowerPoint</Application>
  <PresentationFormat>Widescreen</PresentationFormat>
  <Paragraphs>236</Paragraphs>
  <Slides>21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Calibri</vt:lpstr>
      <vt:lpstr>Trebuchet MS</vt:lpstr>
      <vt:lpstr>Wingdings</vt:lpstr>
      <vt:lpstr>Wingdings 3</vt:lpstr>
      <vt:lpstr>Facet</vt:lpstr>
      <vt:lpstr>4. CPU Scheduling and Deadlock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Acer</dc:creator>
  <cp:lastModifiedBy>shshinde2580@gmail.com</cp:lastModifiedBy>
  <cp:revision>6</cp:revision>
  <dcterms:created xsi:type="dcterms:W3CDTF">2025-09-25T19:32:24Z</dcterms:created>
  <dcterms:modified xsi:type="dcterms:W3CDTF">2025-09-27T16:33:46Z</dcterms:modified>
</cp:coreProperties>
</file>