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73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7130E5-FF91-4CEC-A349-3BB49C950AF7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1536FF-A8A4-4673-84BF-E329E0282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664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1536FF-A8A4-4673-84BF-E329E0282400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4364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E8FB7-7034-450F-930E-7AAE646549FD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B6292-EAC5-4C9F-AC74-3985212A2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8636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E8FB7-7034-450F-930E-7AAE646549FD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B6292-EAC5-4C9F-AC74-3985212A2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554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E8FB7-7034-450F-930E-7AAE646549FD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B6292-EAC5-4C9F-AC74-3985212A2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8149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E8FB7-7034-450F-930E-7AAE646549FD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B6292-EAC5-4C9F-AC74-3985212A2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4795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E8FB7-7034-450F-930E-7AAE646549FD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B6292-EAC5-4C9F-AC74-3985212A2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7706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E8FB7-7034-450F-930E-7AAE646549FD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B6292-EAC5-4C9F-AC74-3985212A2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4719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E8FB7-7034-450F-930E-7AAE646549FD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B6292-EAC5-4C9F-AC74-3985212A2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3867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E8FB7-7034-450F-930E-7AAE646549FD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B6292-EAC5-4C9F-AC74-3985212A2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2005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E8FB7-7034-450F-930E-7AAE646549FD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B6292-EAC5-4C9F-AC74-3985212A2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3050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E8FB7-7034-450F-930E-7AAE646549FD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B6292-EAC5-4C9F-AC74-3985212A2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1701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E8FB7-7034-450F-930E-7AAE646549FD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B6292-EAC5-4C9F-AC74-3985212A2D14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072472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E8FB7-7034-450F-930E-7AAE646549FD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B6292-EAC5-4C9F-AC74-3985212A2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30124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E8FB7-7034-450F-930E-7AAE646549FD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B6292-EAC5-4C9F-AC74-3985212A2D14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448097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E8FB7-7034-450F-930E-7AAE646549FD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B6292-EAC5-4C9F-AC74-3985212A2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96717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E8FB7-7034-450F-930E-7AAE646549FD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B6292-EAC5-4C9F-AC74-3985212A2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11825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E8FB7-7034-450F-930E-7AAE646549FD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B6292-EAC5-4C9F-AC74-3985212A2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4648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EE8FB7-7034-450F-930E-7AAE646549FD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A8B6292-EAC5-4C9F-AC74-3985212A2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0518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D6BA0-717F-B51D-2668-54AD5ED5D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12B94-8201-E3CD-7CCF-4F3B5E301A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4628" y="1943100"/>
            <a:ext cx="9050482" cy="1818409"/>
          </a:xfrm>
        </p:spPr>
        <p:txBody>
          <a:bodyPr/>
          <a:lstStyle/>
          <a:p>
            <a:pPr algn="ctr"/>
            <a:r>
              <a:rPr lang="en-US" b="1" dirty="0"/>
              <a:t>2.Operating system and component and structure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146269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B84351B-8AEE-5829-099C-E6E86255BCA8}"/>
              </a:ext>
            </a:extLst>
          </p:cNvPr>
          <p:cNvSpPr txBox="1"/>
          <p:nvPr/>
        </p:nvSpPr>
        <p:spPr>
          <a:xfrm>
            <a:off x="748145" y="124691"/>
            <a:ext cx="904268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2.1] Operating System components:-</a:t>
            </a:r>
          </a:p>
          <a:p>
            <a:r>
              <a:rPr lang="en-US" dirty="0"/>
              <a:t>1] Process management </a:t>
            </a:r>
          </a:p>
          <a:p>
            <a:r>
              <a:rPr lang="en-US" dirty="0"/>
              <a:t>2] main memory management </a:t>
            </a:r>
          </a:p>
          <a:p>
            <a:r>
              <a:rPr lang="en-US" dirty="0"/>
              <a:t>3] secondary storage management </a:t>
            </a:r>
          </a:p>
          <a:p>
            <a:r>
              <a:rPr lang="en-US" dirty="0"/>
              <a:t>4] I/O system management </a:t>
            </a:r>
          </a:p>
          <a:p>
            <a:r>
              <a:rPr lang="en-US" dirty="0"/>
              <a:t>5] File management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CCB8EC-8EAF-D1F9-188E-B59D14EE575F}"/>
              </a:ext>
            </a:extLst>
          </p:cNvPr>
          <p:cNvSpPr txBox="1"/>
          <p:nvPr/>
        </p:nvSpPr>
        <p:spPr>
          <a:xfrm>
            <a:off x="519544" y="2011785"/>
            <a:ext cx="927128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1 Process Management :-</a:t>
            </a:r>
          </a:p>
          <a:p>
            <a:r>
              <a:rPr lang="en-US" dirty="0"/>
              <a:t> 1] process management in os refers to the activities involved in managing the execution of processes</a:t>
            </a:r>
          </a:p>
          <a:p>
            <a:r>
              <a:rPr lang="en-US" dirty="0"/>
              <a:t>2] (key components of process management includes process control block (PCB), process scheduling algorithms, inter-process communication and process synchronization mechanisms like semaphores and mutexes.</a:t>
            </a:r>
          </a:p>
          <a:p>
            <a:r>
              <a:rPr lang="en-US" dirty="0"/>
              <a:t>3 The os is responsible for following avidities 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 Creating and deleting processes 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 suspending and resuming processes 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 Providing mechanism for process synchronization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 Pro viding mechanism for process communication 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 Providing mechanism for deadlock handling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7226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35176AD-9333-5D93-58F7-D9CB97FD7BDE}"/>
              </a:ext>
            </a:extLst>
          </p:cNvPr>
          <p:cNvSpPr txBox="1"/>
          <p:nvPr/>
        </p:nvSpPr>
        <p:spPr>
          <a:xfrm>
            <a:off x="872836" y="145473"/>
            <a:ext cx="828415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2]Main Memory Management:-</a:t>
            </a:r>
          </a:p>
          <a:p>
            <a:r>
              <a:rPr lang="en-US" dirty="0"/>
              <a:t> 1] Memory management refers to management of Primary memory or main memory</a:t>
            </a:r>
          </a:p>
          <a:p>
            <a:r>
              <a:rPr lang="en-US" dirty="0"/>
              <a:t>2] Main memory provides a fast storage that can be accessed directly by the CPU, for a program to be executed it must be in the main memory</a:t>
            </a:r>
          </a:p>
          <a:p>
            <a:r>
              <a:rPr lang="en-US" dirty="0"/>
              <a:t>3] The os is responsible for following activities: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Keeping track of which part of memory is currently being used and by whom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Deciding which process is to be loaded into memory when memory space becomes available 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Allocating and Deallocating memory space as needed.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3E8ABC-87BB-A41B-DE58-7F7B0267E071}"/>
              </a:ext>
            </a:extLst>
          </p:cNvPr>
          <p:cNvSpPr txBox="1"/>
          <p:nvPr/>
        </p:nvSpPr>
        <p:spPr>
          <a:xfrm>
            <a:off x="872836" y="3429000"/>
            <a:ext cx="892579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/>
              <a:t>3]Secondary storage Management: -</a:t>
            </a:r>
          </a:p>
          <a:p>
            <a:r>
              <a:rPr lang="en-IN" dirty="0"/>
              <a:t>1] Secondary storage management in os involves organization and control of data storage on non- volatile storage devices Page No Date like hard disk drivers, solid state divers, optical diver </a:t>
            </a:r>
          </a:p>
          <a:p>
            <a:r>
              <a:rPr lang="en-IN" dirty="0"/>
              <a:t>2] It incudes various tasks to ensure efficient and reliable storage and retrieval of data. </a:t>
            </a:r>
          </a:p>
          <a:p>
            <a:r>
              <a:rPr lang="en-IN" dirty="0"/>
              <a:t>3] The os is responsible for following activities –</a:t>
            </a:r>
          </a:p>
          <a:p>
            <a:pPr marL="400050" indent="-400050">
              <a:buAutoNum type="romanLcParenR"/>
            </a:pPr>
            <a:r>
              <a:rPr lang="en-IN" dirty="0"/>
              <a:t>free space management t) storage allocation</a:t>
            </a:r>
          </a:p>
          <a:p>
            <a:pPr marL="400050" indent="-400050">
              <a:buAutoNum type="romanLcParenR"/>
            </a:pPr>
            <a:r>
              <a:rPr lang="en-IN" dirty="0"/>
              <a:t> Disk "scheduling </a:t>
            </a:r>
          </a:p>
          <a:p>
            <a:pPr marL="400050" indent="-400050">
              <a:buAutoNum type="romanLcParenR"/>
            </a:pPr>
            <a:r>
              <a:rPr lang="en-IN" dirty="0"/>
              <a:t>Disk caching </a:t>
            </a:r>
          </a:p>
        </p:txBody>
      </p:sp>
    </p:spTree>
    <p:extLst>
      <p:ext uri="{BB962C8B-B14F-4D97-AF65-F5344CB8AC3E}">
        <p14:creationId xmlns:p14="http://schemas.microsoft.com/office/powerpoint/2010/main" val="434367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B7CBC-1D9C-1F25-6BD5-BE4AC1E47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D6BB874-75A7-1784-2E16-97E75568A69C}"/>
              </a:ext>
            </a:extLst>
          </p:cNvPr>
          <p:cNvSpPr txBox="1"/>
          <p:nvPr/>
        </p:nvSpPr>
        <p:spPr>
          <a:xfrm>
            <a:off x="810491" y="166256"/>
            <a:ext cx="825297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/>
              <a:t>4] I/O Management:-</a:t>
            </a:r>
          </a:p>
          <a:p>
            <a:r>
              <a:rPr lang="en-IN" dirty="0"/>
              <a:t>1] I/O system managements refers to the software components res possible for controlling &amp; facilitating input and output operations between the computers hardware device and software processes </a:t>
            </a:r>
          </a:p>
          <a:p>
            <a:r>
              <a:rPr lang="en-IN" dirty="0"/>
              <a:t>2] I/O subsystem consist of:-</a:t>
            </a:r>
          </a:p>
          <a:p>
            <a:pPr marL="400050" indent="-400050">
              <a:buFont typeface="+mj-lt"/>
              <a:buAutoNum type="romanUcPeriod"/>
            </a:pPr>
            <a:r>
              <a:rPr lang="en-IN" dirty="0"/>
              <a:t> A general device driver interface </a:t>
            </a:r>
          </a:p>
          <a:p>
            <a:pPr marL="400050" indent="-400050">
              <a:buFont typeface="+mj-lt"/>
              <a:buAutoNum type="romanUcPeriod"/>
            </a:pPr>
            <a:r>
              <a:rPr lang="en-IN" dirty="0"/>
              <a:t> Drivers for specific hardware </a:t>
            </a:r>
          </a:p>
          <a:p>
            <a:pPr marL="400050" indent="-400050">
              <a:buFont typeface="+mj-lt"/>
              <a:buAutoNum type="romanUcPeriod"/>
            </a:pPr>
            <a:r>
              <a:rPr lang="en-IN" dirty="0"/>
              <a:t> A memory management that includes buffering, caching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554BFB-2CF1-0DC5-0F31-885ED255EDFC}"/>
              </a:ext>
            </a:extLst>
          </p:cNvPr>
          <p:cNvSpPr txBox="1"/>
          <p:nvPr/>
        </p:nvSpPr>
        <p:spPr>
          <a:xfrm>
            <a:off x="810491" y="2638382"/>
            <a:ext cx="865822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5] File Management:-</a:t>
            </a:r>
          </a:p>
          <a:p>
            <a:r>
              <a:rPr lang="en-US" dirty="0"/>
              <a:t>1] A file system is normally organized into directories for easy navigation and use 2] File management in os refers to the techniques involved in storing agenizing, accessing and manipulating Files) </a:t>
            </a:r>
          </a:p>
          <a:p>
            <a:r>
              <a:rPr lang="en-US" dirty="0"/>
              <a:t>3] The os is responsible for following activates:-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Creating and deleting 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Files Creating and deleting directories m 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Mapping files into secondary storage 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Backing up files on stable storage media.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3957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06173-6278-A598-82A5-AAC57CA3E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0A0B40-B48C-85E8-72F4-7589B8268B53}"/>
              </a:ext>
            </a:extLst>
          </p:cNvPr>
          <p:cNvSpPr txBox="1"/>
          <p:nvPr/>
        </p:nvSpPr>
        <p:spPr>
          <a:xfrm>
            <a:off x="776720" y="220718"/>
            <a:ext cx="852314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2.2] Operating system services:-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 An os provides services to both the users an to the programs:</a:t>
            </a:r>
          </a:p>
          <a:p>
            <a:pPr marL="342900" indent="-342900">
              <a:buAutoNum type="arabicParenR"/>
            </a:pPr>
            <a:r>
              <a:rPr lang="en-US" dirty="0"/>
              <a:t>Program Execution </a:t>
            </a:r>
          </a:p>
          <a:p>
            <a:pPr marL="342900" indent="-342900">
              <a:buAutoNum type="arabicParenR"/>
            </a:pPr>
            <a:r>
              <a:rPr lang="en-US" dirty="0"/>
              <a:t>I/O operation </a:t>
            </a:r>
          </a:p>
          <a:p>
            <a:pPr marL="342900" indent="-342900">
              <a:buAutoNum type="arabicParenR"/>
            </a:pPr>
            <a:r>
              <a:rPr lang="en-US" dirty="0"/>
              <a:t>file system manipulation </a:t>
            </a:r>
          </a:p>
          <a:p>
            <a:pPr marL="342900" indent="-342900">
              <a:buAutoNum type="arabicParenR"/>
            </a:pPr>
            <a:r>
              <a:rPr lang="en-US" dirty="0"/>
              <a:t> Protection  </a:t>
            </a:r>
          </a:p>
          <a:p>
            <a:pPr marL="342900" indent="-342900">
              <a:buAutoNum type="arabicParenR"/>
            </a:pPr>
            <a:r>
              <a:rPr lang="en-US" dirty="0"/>
              <a:t> Resource management</a:t>
            </a:r>
          </a:p>
          <a:p>
            <a:pPr marL="342900" indent="-342900">
              <a:buAutoNum type="arabicParenR"/>
            </a:pPr>
            <a:r>
              <a:rPr lang="en-US" dirty="0"/>
              <a:t> communication </a:t>
            </a:r>
          </a:p>
          <a:p>
            <a:pPr marL="342900" indent="-342900">
              <a:buAutoNum type="arabicParenR"/>
            </a:pPr>
            <a:r>
              <a:rPr lang="en-US" dirty="0"/>
              <a:t>Error Handling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9DD0F4-7257-09EB-D99D-FB7D8E3F04C7}"/>
              </a:ext>
            </a:extLst>
          </p:cNvPr>
          <p:cNvSpPr txBox="1"/>
          <p:nvPr/>
        </p:nvSpPr>
        <p:spPr>
          <a:xfrm>
            <a:off x="568902" y="3036297"/>
            <a:ext cx="941676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1]Program Execution:-</a:t>
            </a:r>
          </a:p>
          <a:p>
            <a:r>
              <a:rPr lang="en-US" dirty="0"/>
              <a:t> 1] os handle many kinds of activities from use programs to system programs like name servers, file servers, etc. Each of this activates are encapsulated as a process</a:t>
            </a:r>
          </a:p>
          <a:p>
            <a:r>
              <a:rPr lang="en-US" dirty="0"/>
              <a:t> 2] Following are the major activities of os :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loads a program into memory 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Executes the program 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Handles program execution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6530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08548-FA93-7210-4495-E1F8DE9F3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6E79F47-55D0-4264-5BA7-5E1D76680CBC}"/>
              </a:ext>
            </a:extLst>
          </p:cNvPr>
          <p:cNvSpPr txBox="1"/>
          <p:nvPr/>
        </p:nvSpPr>
        <p:spPr>
          <a:xfrm>
            <a:off x="891020" y="439066"/>
            <a:ext cx="841923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2] I/0 operation: -</a:t>
            </a:r>
          </a:p>
          <a:p>
            <a:r>
              <a:rPr lang="en-US" dirty="0"/>
              <a:t>1] The Drivers hide the peculiarities of specific hardware devices from the users.</a:t>
            </a:r>
          </a:p>
          <a:p>
            <a:r>
              <a:rPr lang="en-US" dirty="0"/>
              <a:t>2]  An os manages the communication between user and device drives</a:t>
            </a:r>
          </a:p>
          <a:p>
            <a:r>
              <a:rPr lang="en-US" dirty="0"/>
              <a:t>3] Following ore the major activities of as: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I/0 i.e. read or write operations with any file or any specific I/o device. 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os provides the access to the required 210 device when required.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058D24-BD97-68B7-9812-B7F40EFED757}"/>
              </a:ext>
            </a:extLst>
          </p:cNvPr>
          <p:cNvSpPr txBox="1"/>
          <p:nvPr/>
        </p:nvSpPr>
        <p:spPr>
          <a:xfrm>
            <a:off x="891020" y="2678209"/>
            <a:ext cx="934402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4] File system Manipulation: -</a:t>
            </a:r>
          </a:p>
          <a:p>
            <a:r>
              <a:rPr lang="en-US" dirty="0"/>
              <a:t> 1] A file system is normally organized into directorates fox easy navigation and use </a:t>
            </a:r>
          </a:p>
          <a:p>
            <a:r>
              <a:rPr lang="en-US" dirty="0"/>
              <a:t>2] These directories may contains files and other directions:</a:t>
            </a:r>
          </a:p>
          <a:p>
            <a:r>
              <a:rPr lang="en-US" dirty="0"/>
              <a:t>3]  Files can be stored on the disk ( secondary Storage) for long term storage purpose</a:t>
            </a:r>
          </a:p>
          <a:p>
            <a:r>
              <a:rPr lang="en-US" dirty="0"/>
              <a:t>4] following are the major activities of os!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Creating or deleting files 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Creating or deleting directories </a:t>
            </a:r>
          </a:p>
          <a:p>
            <a:pPr marL="400050" indent="-400050">
              <a:buAutoNum type="romanUcPeriod"/>
            </a:pPr>
            <a:r>
              <a:rPr lang="en-US" dirty="0"/>
              <a:t>Backing up files on stable storage media. </a:t>
            </a:r>
          </a:p>
          <a:p>
            <a:pPr marL="400050" indent="-400050">
              <a:buAutoNum type="romanUcPeriod"/>
            </a:pPr>
            <a:r>
              <a:rPr lang="en-US" dirty="0"/>
              <a:t>Gives permission to program for operations on file.</a:t>
            </a:r>
          </a:p>
          <a:p>
            <a:pPr marL="400050" indent="-400050">
              <a:buAutoNum type="romanUcPeriod"/>
            </a:pPr>
            <a:r>
              <a:rPr lang="en-US" dirty="0"/>
              <a:t>Creating the back up of file system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5372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681E2-0DE5-4323-5C65-03016CD2F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AF0179B-73DD-6BA1-792E-0A7FC01F374D}"/>
              </a:ext>
            </a:extLst>
          </p:cNvPr>
          <p:cNvSpPr txBox="1"/>
          <p:nvPr/>
        </p:nvSpPr>
        <p:spPr>
          <a:xfrm>
            <a:off x="768926" y="293593"/>
            <a:ext cx="855171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4] Protection: - </a:t>
            </a:r>
          </a:p>
          <a:p>
            <a:r>
              <a:rPr lang="en-US" dirty="0"/>
              <a:t>1] Protection refers to a mechanism to control the access of programs, processes or users from the unauthorized access</a:t>
            </a:r>
          </a:p>
          <a:p>
            <a:r>
              <a:rPr lang="en-US" dirty="0"/>
              <a:t>2] The major activities of os:- 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os ensures access to system resources is controlled.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os ensures external Il0 devices are protected from invalid access attempts.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os passwords provides authentication Features for each user by mans of passwords. 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AF7D1C-9758-0558-E3CB-A64601A1BCD9}"/>
              </a:ext>
            </a:extLst>
          </p:cNvPr>
          <p:cNvSpPr txBox="1"/>
          <p:nvPr/>
        </p:nvSpPr>
        <p:spPr>
          <a:xfrm>
            <a:off x="768926" y="3019428"/>
            <a:ext cx="926869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5] Resource Management:-</a:t>
            </a:r>
          </a:p>
          <a:p>
            <a:r>
              <a:rPr lang="en-US" dirty="0"/>
              <a:t>1] In case of multi-user or multi-tasking environment, resource allocated such as main to each memory, user or CPU cycles and  files storage are to be job.</a:t>
            </a:r>
          </a:p>
          <a:p>
            <a:r>
              <a:rPr lang="en-US" dirty="0"/>
              <a:t>2] following are the major activates of os:- </a:t>
            </a:r>
          </a:p>
          <a:p>
            <a:pPr marL="342900" indent="-342900">
              <a:buAutoNum type="arabicParenR"/>
            </a:pPr>
            <a:r>
              <a:rPr lang="en-US" dirty="0"/>
              <a:t>Os manages all kinds of resources using schedulers.</a:t>
            </a:r>
          </a:p>
          <a:p>
            <a:pPr marL="342900" indent="-342900">
              <a:buAutoNum type="arabicParenR"/>
            </a:pPr>
            <a:r>
              <a:rPr lang="en-US" dirty="0"/>
              <a:t>CPU CPU scheduling algorithm ate used for better utilization of CPU.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179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438B0-4891-72DA-236D-671A7703D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4B36BC0-9622-57BC-8FA7-735E926FCE88}"/>
              </a:ext>
            </a:extLst>
          </p:cNvPr>
          <p:cNvSpPr txBox="1"/>
          <p:nvPr/>
        </p:nvSpPr>
        <p:spPr>
          <a:xfrm>
            <a:off x="922193" y="382012"/>
            <a:ext cx="844001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6]  Communication: -</a:t>
            </a:r>
          </a:p>
          <a:p>
            <a:r>
              <a:rPr lang="en-US" dirty="0"/>
              <a:t>1] In the case of distributed systems, which are a collection of processors that do not share memory, peripheral devices, on even a lock the os manages communications between all the processes. </a:t>
            </a:r>
          </a:p>
          <a:p>
            <a:r>
              <a:rPr lang="en-US" dirty="0"/>
              <a:t>2] Multiple processes communication with one another through communication lines in the network. </a:t>
            </a:r>
          </a:p>
          <a:p>
            <a:r>
              <a:rPr lang="en-US" dirty="0"/>
              <a:t>3] Following are the major activates of os:-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os handles routing and connection strategies 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os ensures security in the connection, and network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33CF65-5AE4-0CBB-E688-61CE8F5304A0}"/>
              </a:ext>
            </a:extLst>
          </p:cNvPr>
          <p:cNvSpPr txBox="1"/>
          <p:nvPr/>
        </p:nvSpPr>
        <p:spPr>
          <a:xfrm>
            <a:off x="922193" y="3429000"/>
            <a:ext cx="889721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7] Error Handling:- </a:t>
            </a:r>
          </a:p>
          <a:p>
            <a:r>
              <a:rPr lang="en-US" dirty="0"/>
              <a:t>1] Errors can occur anytime and anywhere. It may occur in CPU, I/0 devices or in the memory hardware – </a:t>
            </a:r>
          </a:p>
          <a:p>
            <a:r>
              <a:rPr lang="en-US" dirty="0"/>
              <a:t>2] Following are the major activates of os:-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 os constantly checks for possible errors’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Os takes appropriate action to ensure correct and consistent computing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3828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480B9-3E8D-CEC7-CBA8-A39C50329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D52D50-C959-D10F-C28C-8EC1C969BB3C}"/>
              </a:ext>
            </a:extLst>
          </p:cNvPr>
          <p:cNvSpPr txBox="1"/>
          <p:nvPr/>
        </p:nvSpPr>
        <p:spPr>
          <a:xfrm>
            <a:off x="841664" y="259773"/>
            <a:ext cx="819063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2.3]  Operating system structure:</a:t>
            </a:r>
            <a:r>
              <a:rPr lang="en-US" dirty="0"/>
              <a:t>-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os can be implemented with the help of various structures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The structure of Os depends mainly on how the various common components of the os are interconnected and melded into the kernel</a:t>
            </a:r>
          </a:p>
          <a:p>
            <a:r>
              <a:rPr lang="en-US" dirty="0"/>
              <a:t>1) simple structure </a:t>
            </a:r>
          </a:p>
          <a:p>
            <a:r>
              <a:rPr lang="en-US" dirty="0"/>
              <a:t>2) layered structure </a:t>
            </a:r>
          </a:p>
          <a:p>
            <a:r>
              <a:rPr lang="en-US" dirty="0"/>
              <a:t>3) Mondithic structure </a:t>
            </a:r>
          </a:p>
          <a:p>
            <a:r>
              <a:rPr lang="en-US" dirty="0"/>
              <a:t>4) Microkernel structure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4CDD04-0873-2CA3-9D08-69D9661FBB38}"/>
              </a:ext>
            </a:extLst>
          </p:cNvPr>
          <p:cNvSpPr txBox="1"/>
          <p:nvPr/>
        </p:nvSpPr>
        <p:spPr>
          <a:xfrm>
            <a:off x="589685" y="3109253"/>
            <a:ext cx="902190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1] simple structure:- </a:t>
            </a:r>
          </a:p>
          <a:p>
            <a:r>
              <a:rPr lang="en-US" dirty="0"/>
              <a:t> 1] such operating systems do not have well defined structure](and are small simple and limited systems </a:t>
            </a:r>
          </a:p>
          <a:p>
            <a:r>
              <a:rPr lang="en-US" dirty="0"/>
              <a:t>2] The interfaces and levels of functionality are not well separated] </a:t>
            </a:r>
          </a:p>
          <a:p>
            <a:r>
              <a:rPr lang="en-US" dirty="0"/>
              <a:t>3] MS - Dos is on example of simple operating system] </a:t>
            </a:r>
          </a:p>
          <a:p>
            <a:r>
              <a:rPr lang="en-US" dirty="0"/>
              <a:t>4] This type of os cause the entire system to crash if one of the user program fails. </a:t>
            </a:r>
          </a:p>
        </p:txBody>
      </p:sp>
    </p:spTree>
    <p:extLst>
      <p:ext uri="{BB962C8B-B14F-4D97-AF65-F5344CB8AC3E}">
        <p14:creationId xmlns:p14="http://schemas.microsoft.com/office/powerpoint/2010/main" val="2438500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F886F-1DA1-F93D-676C-D4F48DF58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E4A2ABB-D177-353E-5E9A-42FE6B685450}"/>
              </a:ext>
            </a:extLst>
          </p:cNvPr>
          <p:cNvSpPr/>
          <p:nvPr/>
        </p:nvSpPr>
        <p:spPr>
          <a:xfrm>
            <a:off x="1163782" y="1174173"/>
            <a:ext cx="6930736" cy="3429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Application program 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7DFC27-3323-174B-00E2-3868F28BB173}"/>
              </a:ext>
            </a:extLst>
          </p:cNvPr>
          <p:cNvSpPr/>
          <p:nvPr/>
        </p:nvSpPr>
        <p:spPr>
          <a:xfrm>
            <a:off x="1163782" y="1968211"/>
            <a:ext cx="5486400" cy="3429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Resident System Program 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340619-D315-6FC7-FDBC-7080A3F9CD61}"/>
              </a:ext>
            </a:extLst>
          </p:cNvPr>
          <p:cNvSpPr/>
          <p:nvPr/>
        </p:nvSpPr>
        <p:spPr>
          <a:xfrm>
            <a:off x="1163782" y="2744930"/>
            <a:ext cx="3823854" cy="3429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MS- DOS Device Drivers 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D3BCDE-C608-997F-A36E-E7ADB428DDB5}"/>
              </a:ext>
            </a:extLst>
          </p:cNvPr>
          <p:cNvSpPr/>
          <p:nvPr/>
        </p:nvSpPr>
        <p:spPr>
          <a:xfrm>
            <a:off x="1163782" y="3519919"/>
            <a:ext cx="6930735" cy="3429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Rom BIOS Device Driver  </a:t>
            </a:r>
            <a:endParaRPr lang="en-IN" dirty="0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65C7FE2A-FAB5-7984-0F0D-1B7600C59B84}"/>
              </a:ext>
            </a:extLst>
          </p:cNvPr>
          <p:cNvSpPr/>
          <p:nvPr/>
        </p:nvSpPr>
        <p:spPr>
          <a:xfrm>
            <a:off x="7450283" y="1534392"/>
            <a:ext cx="422566" cy="2002846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369C124F-9819-FA4B-3BA4-EC3D02B6DCB7}"/>
              </a:ext>
            </a:extLst>
          </p:cNvPr>
          <p:cNvSpPr/>
          <p:nvPr/>
        </p:nvSpPr>
        <p:spPr>
          <a:xfrm>
            <a:off x="2448792" y="1534392"/>
            <a:ext cx="304799" cy="433819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7234FA6C-DDFB-4AF4-5E99-EC4B3E72C11C}"/>
              </a:ext>
            </a:extLst>
          </p:cNvPr>
          <p:cNvSpPr/>
          <p:nvPr/>
        </p:nvSpPr>
        <p:spPr>
          <a:xfrm>
            <a:off x="5521037" y="2311112"/>
            <a:ext cx="422566" cy="1208808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0919B27A-151D-58EF-C10A-5823A727669F}"/>
              </a:ext>
            </a:extLst>
          </p:cNvPr>
          <p:cNvSpPr/>
          <p:nvPr/>
        </p:nvSpPr>
        <p:spPr>
          <a:xfrm>
            <a:off x="2296392" y="2317604"/>
            <a:ext cx="304799" cy="433819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C0E844E8-7072-10AB-06E4-BE4144FDE291}"/>
              </a:ext>
            </a:extLst>
          </p:cNvPr>
          <p:cNvSpPr/>
          <p:nvPr/>
        </p:nvSpPr>
        <p:spPr>
          <a:xfrm>
            <a:off x="2119748" y="3087830"/>
            <a:ext cx="304799" cy="433819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D2AA73-364D-45DC-619A-C9CB09B7022C}"/>
              </a:ext>
            </a:extLst>
          </p:cNvPr>
          <p:cNvSpPr txBox="1"/>
          <p:nvPr/>
        </p:nvSpPr>
        <p:spPr>
          <a:xfrm>
            <a:off x="290945" y="4206499"/>
            <a:ext cx="963237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u="sng" dirty="0"/>
              <a:t>Advantages :- </a:t>
            </a:r>
          </a:p>
          <a:p>
            <a:r>
              <a:rPr lang="en-US" dirty="0"/>
              <a:t>1]  It delivers better application performance Because of the few interfaces ]  </a:t>
            </a:r>
          </a:p>
          <a:p>
            <a:r>
              <a:rPr lang="en-US" dirty="0"/>
              <a:t> 2] it is easy for kernel developers to develop such an os)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u="sng" dirty="0"/>
              <a:t>Disadvantages :-</a:t>
            </a:r>
          </a:p>
          <a:p>
            <a:r>
              <a:rPr lang="en-US" dirty="0"/>
              <a:t>1] Very complicated, as no clear boundaries exist between modules</a:t>
            </a:r>
          </a:p>
          <a:p>
            <a:r>
              <a:rPr lang="en-US" dirty="0"/>
              <a:t>2] Does not enforce data hiding in the os</a:t>
            </a:r>
            <a:endParaRPr lang="en-IN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E6C340-B88F-B8EA-0F7A-70E6588AFBC5}"/>
              </a:ext>
            </a:extLst>
          </p:cNvPr>
          <p:cNvSpPr/>
          <p:nvPr/>
        </p:nvSpPr>
        <p:spPr>
          <a:xfrm>
            <a:off x="2047009" y="405245"/>
            <a:ext cx="5825840" cy="3429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Fig. structure of MS - DOS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6942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5C260-66F1-5E88-DA7C-123B0FA64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E4207AF-3F33-551A-5B85-F8B2E09DAF05}"/>
              </a:ext>
            </a:extLst>
          </p:cNvPr>
          <p:cNvSpPr txBox="1"/>
          <p:nvPr/>
        </p:nvSpPr>
        <p:spPr>
          <a:xfrm>
            <a:off x="852055" y="135082"/>
            <a:ext cx="839585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2] layered structure:- </a:t>
            </a:r>
          </a:p>
          <a:p>
            <a:r>
              <a:rPr lang="en-US" dirty="0"/>
              <a:t>1] In this structure os is broken into number of layers (levels). The bottom layer (layer o) is the hardware and the topmost layer (layer n) is the user interface </a:t>
            </a:r>
          </a:p>
          <a:p>
            <a:r>
              <a:rPr lang="en-US" dirty="0"/>
              <a:t>2] Each layer uses the functions of the lower layers only This simplifies the debugged </a:t>
            </a:r>
          </a:p>
          <a:p>
            <a:r>
              <a:rPr lang="en-US" dirty="0"/>
              <a:t>3] main dis-advantages of this structure is at each layer , data  need to be modified </a:t>
            </a:r>
          </a:p>
          <a:p>
            <a:r>
              <a:rPr lang="en-US" dirty="0"/>
              <a:t>4]UNIX is an example of layered structure </a:t>
            </a:r>
            <a:endParaRPr lang="en-IN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6BD8A0C-1F1C-D135-BB19-D61B97899682}"/>
              </a:ext>
            </a:extLst>
          </p:cNvPr>
          <p:cNvSpPr/>
          <p:nvPr/>
        </p:nvSpPr>
        <p:spPr>
          <a:xfrm>
            <a:off x="3141518" y="2697609"/>
            <a:ext cx="4395354" cy="357849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Layer n user interface </a:t>
            </a:r>
            <a:endParaRPr lang="en-IN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411AC4A-9917-7D51-7061-36DA85984F73}"/>
              </a:ext>
            </a:extLst>
          </p:cNvPr>
          <p:cNvSpPr/>
          <p:nvPr/>
        </p:nvSpPr>
        <p:spPr>
          <a:xfrm>
            <a:off x="3480955" y="3532909"/>
            <a:ext cx="3771900" cy="2585323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……….. </a:t>
            </a:r>
            <a:endParaRPr lang="en-IN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4D264E0-58CF-2556-7D5D-C2D42D5F1B37}"/>
              </a:ext>
            </a:extLst>
          </p:cNvPr>
          <p:cNvSpPr/>
          <p:nvPr/>
        </p:nvSpPr>
        <p:spPr>
          <a:xfrm>
            <a:off x="3688773" y="4239491"/>
            <a:ext cx="3300845" cy="170410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Layer 1 </a:t>
            </a:r>
            <a:endParaRPr lang="en-IN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A38A5F8-459A-E114-DC27-057140EB82F9}"/>
              </a:ext>
            </a:extLst>
          </p:cNvPr>
          <p:cNvSpPr/>
          <p:nvPr/>
        </p:nvSpPr>
        <p:spPr>
          <a:xfrm>
            <a:off x="4125191" y="4790209"/>
            <a:ext cx="2533649" cy="96635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Layer 0 hardware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6061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CD445-7586-D1EC-458F-1F2809625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30AE4D7-4DCA-6002-F92A-052C80631C08}"/>
              </a:ext>
            </a:extLst>
          </p:cNvPr>
          <p:cNvSpPr txBox="1"/>
          <p:nvPr/>
        </p:nvSpPr>
        <p:spPr>
          <a:xfrm>
            <a:off x="880630" y="394083"/>
            <a:ext cx="856470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3] Monolithic system structure:- </a:t>
            </a:r>
          </a:p>
          <a:p>
            <a:r>
              <a:rPr lang="en-US" dirty="0"/>
              <a:t>1]The monolithic os is a very basic os in which file management, memory management, device management and process management are directly controlled within the kernel.</a:t>
            </a:r>
          </a:p>
          <a:p>
            <a:r>
              <a:rPr lang="en-US" dirty="0"/>
              <a:t>2]  The monolithic system is also known as the monolithic </a:t>
            </a:r>
            <a:r>
              <a:rPr lang="en-US" dirty="0" err="1"/>
              <a:t>kernal</a:t>
            </a:r>
            <a:r>
              <a:rPr lang="en-US" dirty="0"/>
              <a:t> the kernel can access all the resources present in the system. </a:t>
            </a:r>
          </a:p>
          <a:p>
            <a:r>
              <a:rPr lang="en-US" dirty="0"/>
              <a:t>3] The monolithic kernel acts as a virtual machine that controls all hard ware parts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36BCD8-9D9F-9012-2EDD-3D570DC23D6B}"/>
              </a:ext>
            </a:extLst>
          </p:cNvPr>
          <p:cNvSpPr/>
          <p:nvPr/>
        </p:nvSpPr>
        <p:spPr>
          <a:xfrm>
            <a:off x="1174174" y="2992970"/>
            <a:ext cx="2057400" cy="52993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Application 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A48AF4-7B5E-1A8A-CB17-76DE09D7E087}"/>
              </a:ext>
            </a:extLst>
          </p:cNvPr>
          <p:cNvSpPr/>
          <p:nvPr/>
        </p:nvSpPr>
        <p:spPr>
          <a:xfrm>
            <a:off x="4312228" y="2981809"/>
            <a:ext cx="2057400" cy="52300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Application 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C1DD79-9F70-7F81-D319-1EB95FE8F12F}"/>
              </a:ext>
            </a:extLst>
          </p:cNvPr>
          <p:cNvSpPr/>
          <p:nvPr/>
        </p:nvSpPr>
        <p:spPr>
          <a:xfrm>
            <a:off x="4842164" y="3862049"/>
            <a:ext cx="2057400" cy="52992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Network subsystem </a:t>
            </a:r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963CEB-8FC6-7849-1AD5-433292B5B5D5}"/>
              </a:ext>
            </a:extLst>
          </p:cNvPr>
          <p:cNvSpPr/>
          <p:nvPr/>
        </p:nvSpPr>
        <p:spPr>
          <a:xfrm>
            <a:off x="1704109" y="3858970"/>
            <a:ext cx="2057400" cy="52991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File system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E47FB0-6C60-0071-C37A-94DBE337E8DE}"/>
              </a:ext>
            </a:extLst>
          </p:cNvPr>
          <p:cNvSpPr/>
          <p:nvPr/>
        </p:nvSpPr>
        <p:spPr>
          <a:xfrm>
            <a:off x="7623464" y="2964008"/>
            <a:ext cx="2057400" cy="50992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Application </a:t>
            </a:r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63355E-8CB4-96A8-C42F-1991E8EAEB5C}"/>
              </a:ext>
            </a:extLst>
          </p:cNvPr>
          <p:cNvSpPr/>
          <p:nvPr/>
        </p:nvSpPr>
        <p:spPr>
          <a:xfrm>
            <a:off x="7623464" y="3831166"/>
            <a:ext cx="2057400" cy="52991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Prive ledge mode </a:t>
            </a:r>
            <a:endParaRPr lang="en-IN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39CACA3-8846-BF7B-09D7-EFB07DE5704C}"/>
              </a:ext>
            </a:extLst>
          </p:cNvPr>
          <p:cNvCxnSpPr>
            <a:cxnSpLocks/>
          </p:cNvCxnSpPr>
          <p:nvPr/>
        </p:nvCxnSpPr>
        <p:spPr>
          <a:xfrm>
            <a:off x="436418" y="3667991"/>
            <a:ext cx="9476509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A03A09D2-AA5B-325A-730B-8B5036473EB7}"/>
              </a:ext>
            </a:extLst>
          </p:cNvPr>
          <p:cNvSpPr/>
          <p:nvPr/>
        </p:nvSpPr>
        <p:spPr>
          <a:xfrm>
            <a:off x="675409" y="4643961"/>
            <a:ext cx="2057400" cy="72293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Memory Management </a:t>
            </a:r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BFB402-E4A8-75D6-3665-0A11A7BCB104}"/>
              </a:ext>
            </a:extLst>
          </p:cNvPr>
          <p:cNvSpPr/>
          <p:nvPr/>
        </p:nvSpPr>
        <p:spPr>
          <a:xfrm>
            <a:off x="6899564" y="4643961"/>
            <a:ext cx="2057400" cy="72293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Drivers</a:t>
            </a:r>
            <a:endParaRPr lang="en-I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068028B-3CCA-746E-C18A-7EF3403182B9}"/>
              </a:ext>
            </a:extLst>
          </p:cNvPr>
          <p:cNvSpPr/>
          <p:nvPr/>
        </p:nvSpPr>
        <p:spPr>
          <a:xfrm>
            <a:off x="3913910" y="4633576"/>
            <a:ext cx="2057400" cy="73331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Process Management </a:t>
            </a:r>
            <a:endParaRPr lang="en-IN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91ED18-EC7A-DA33-43BC-BF9D3A13AEDD}"/>
              </a:ext>
            </a:extLst>
          </p:cNvPr>
          <p:cNvSpPr/>
          <p:nvPr/>
        </p:nvSpPr>
        <p:spPr>
          <a:xfrm>
            <a:off x="675409" y="5933998"/>
            <a:ext cx="9005455" cy="40886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Hardware </a:t>
            </a:r>
            <a:endParaRPr lang="en-IN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16B6A53-5FEF-39BD-0514-72921C82A6A5}"/>
              </a:ext>
            </a:extLst>
          </p:cNvPr>
          <p:cNvSpPr/>
          <p:nvPr/>
        </p:nvSpPr>
        <p:spPr>
          <a:xfrm>
            <a:off x="2597727" y="5505866"/>
            <a:ext cx="4603173" cy="29226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Monolithic kernel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06632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93D3D-F01E-96A8-4BDA-EF39C8385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83952B8-EA53-CDD9-75DA-D60639862D6D}"/>
              </a:ext>
            </a:extLst>
          </p:cNvPr>
          <p:cNvSpPr txBox="1"/>
          <p:nvPr/>
        </p:nvSpPr>
        <p:spPr>
          <a:xfrm>
            <a:off x="862445" y="217438"/>
            <a:ext cx="848937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4] Microkernel system structure:-</a:t>
            </a:r>
          </a:p>
          <a:p>
            <a:r>
              <a:rPr lang="en-US" dirty="0"/>
              <a:t> 1] This structure designs the os by removing all non- essential components from the kernel and implementing them as system and user programs.</a:t>
            </a:r>
          </a:p>
          <a:p>
            <a:r>
              <a:rPr lang="en-US" dirty="0"/>
              <a:t> 2] This result in a smaller kernel called the microkernel</a:t>
            </a:r>
          </a:p>
          <a:p>
            <a:r>
              <a:rPr lang="en-US" dirty="0"/>
              <a:t> 3]  Advantages of this structure are that all new services to be added to user space and does not require the kernel to be modified Thus, it is more secure</a:t>
            </a:r>
          </a:p>
          <a:p>
            <a:r>
              <a:rPr lang="en-US" dirty="0"/>
              <a:t>4]  Mac os is an example of Microkernel operating System 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E53D77-EF1F-E64E-EDFA-E0688A97853F}"/>
              </a:ext>
            </a:extLst>
          </p:cNvPr>
          <p:cNvSpPr/>
          <p:nvPr/>
        </p:nvSpPr>
        <p:spPr>
          <a:xfrm>
            <a:off x="1111826" y="2613316"/>
            <a:ext cx="8489373" cy="37407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Application 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E41B23-32E6-850B-1071-F568A4010898}"/>
              </a:ext>
            </a:extLst>
          </p:cNvPr>
          <p:cNvSpPr/>
          <p:nvPr/>
        </p:nvSpPr>
        <p:spPr>
          <a:xfrm>
            <a:off x="2884339" y="3623827"/>
            <a:ext cx="2320634" cy="37407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UNIX User 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73518E-549C-D090-9D9F-5FFE2A0B5617}"/>
              </a:ext>
            </a:extLst>
          </p:cNvPr>
          <p:cNvSpPr/>
          <p:nvPr/>
        </p:nvSpPr>
        <p:spPr>
          <a:xfrm>
            <a:off x="595744" y="3628159"/>
            <a:ext cx="1911927" cy="37407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Application IPC  </a:t>
            </a:r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F989A5-BE44-AE10-83CE-C206E7D61A15}"/>
              </a:ext>
            </a:extLst>
          </p:cNvPr>
          <p:cNvSpPr/>
          <p:nvPr/>
        </p:nvSpPr>
        <p:spPr>
          <a:xfrm>
            <a:off x="5883850" y="3623826"/>
            <a:ext cx="1911926" cy="37407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Device Driver  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BA5FFE-38EB-BE8C-3021-616387CC13EC}"/>
              </a:ext>
            </a:extLst>
          </p:cNvPr>
          <p:cNvSpPr/>
          <p:nvPr/>
        </p:nvSpPr>
        <p:spPr>
          <a:xfrm>
            <a:off x="8204489" y="3642008"/>
            <a:ext cx="1754330" cy="37407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File Server  </a:t>
            </a:r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9FF9C6-4143-D9A6-0D72-5E4B70F58278}"/>
              </a:ext>
            </a:extLst>
          </p:cNvPr>
          <p:cNvSpPr/>
          <p:nvPr/>
        </p:nvSpPr>
        <p:spPr>
          <a:xfrm>
            <a:off x="1111827" y="5157360"/>
            <a:ext cx="8489373" cy="37407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Hardware </a:t>
            </a:r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899D78-D143-CF96-EA82-A4783B82BA2D}"/>
              </a:ext>
            </a:extLst>
          </p:cNvPr>
          <p:cNvSpPr/>
          <p:nvPr/>
        </p:nvSpPr>
        <p:spPr>
          <a:xfrm>
            <a:off x="1111827" y="4814455"/>
            <a:ext cx="8489373" cy="37407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Basic IPC , Virtual Memory Scheduling</a:t>
            </a:r>
            <a:endParaRPr lang="en-IN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71BF8AB-DCBC-A0C5-6967-181EBC872A82}"/>
              </a:ext>
            </a:extLst>
          </p:cNvPr>
          <p:cNvCxnSpPr>
            <a:endCxn id="9" idx="0"/>
          </p:cNvCxnSpPr>
          <p:nvPr/>
        </p:nvCxnSpPr>
        <p:spPr>
          <a:xfrm>
            <a:off x="1551707" y="2987389"/>
            <a:ext cx="1" cy="64077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EBFEB5E-9238-5A49-97B8-E803DDCDCA42}"/>
              </a:ext>
            </a:extLst>
          </p:cNvPr>
          <p:cNvCxnSpPr/>
          <p:nvPr/>
        </p:nvCxnSpPr>
        <p:spPr>
          <a:xfrm>
            <a:off x="4044656" y="2994313"/>
            <a:ext cx="1" cy="64077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D1161AF-AF67-DEE8-21C0-DF6B841F5490}"/>
              </a:ext>
            </a:extLst>
          </p:cNvPr>
          <p:cNvCxnSpPr/>
          <p:nvPr/>
        </p:nvCxnSpPr>
        <p:spPr>
          <a:xfrm>
            <a:off x="6987901" y="2994313"/>
            <a:ext cx="1" cy="64077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96865F2-CCA9-B5B3-42C9-0AB355AF842B}"/>
              </a:ext>
            </a:extLst>
          </p:cNvPr>
          <p:cNvCxnSpPr/>
          <p:nvPr/>
        </p:nvCxnSpPr>
        <p:spPr>
          <a:xfrm>
            <a:off x="8979495" y="3001238"/>
            <a:ext cx="1" cy="64077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363E78A-09BB-2A46-0EB5-62828CB36E67}"/>
              </a:ext>
            </a:extLst>
          </p:cNvPr>
          <p:cNvCxnSpPr>
            <a:cxnSpLocks/>
          </p:cNvCxnSpPr>
          <p:nvPr/>
        </p:nvCxnSpPr>
        <p:spPr>
          <a:xfrm flipH="1" flipV="1">
            <a:off x="1544778" y="3981014"/>
            <a:ext cx="6929" cy="8195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CC9185F-A30A-A1E7-1E10-FD4496E80A90}"/>
              </a:ext>
            </a:extLst>
          </p:cNvPr>
          <p:cNvCxnSpPr>
            <a:cxnSpLocks/>
          </p:cNvCxnSpPr>
          <p:nvPr/>
        </p:nvCxnSpPr>
        <p:spPr>
          <a:xfrm flipH="1" flipV="1">
            <a:off x="9074725" y="4016081"/>
            <a:ext cx="6929" cy="8195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86748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BBDA9-4AD3-AB6B-53DA-1BCB12E26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4703D03-7AE4-718A-CC94-5DF572D3AE8A}"/>
              </a:ext>
            </a:extLst>
          </p:cNvPr>
          <p:cNvSpPr txBox="1"/>
          <p:nvPr/>
        </p:nvSpPr>
        <p:spPr>
          <a:xfrm>
            <a:off x="935182" y="290946"/>
            <a:ext cx="829454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2.4] system Calls :-</a:t>
            </a:r>
          </a:p>
          <a:p>
            <a:r>
              <a:rPr lang="en-US" dirty="0"/>
              <a:t>1] The interface between a process and operating system is provided by system calls.] </a:t>
            </a:r>
          </a:p>
          <a:p>
            <a:r>
              <a:rPr lang="en-US" dirty="0"/>
              <a:t>2] In general system calls are available as assembly language instructions They are also included in the manuals used by the AL Programmers </a:t>
            </a:r>
          </a:p>
          <a:p>
            <a:r>
              <a:rPr lang="en-US" dirty="0"/>
              <a:t>3] system calls are usually made when a process in user mode requires access to a resource Then it requests the kernel to provide the resource via a system call.]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A04C3F-E504-E2DF-0D3E-F2DBAA62D286}"/>
              </a:ext>
            </a:extLst>
          </p:cNvPr>
          <p:cNvSpPr/>
          <p:nvPr/>
        </p:nvSpPr>
        <p:spPr>
          <a:xfrm>
            <a:off x="935182" y="2712027"/>
            <a:ext cx="8481580" cy="363681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7A7F29-F5E5-BF61-878C-C12C6A66F327}"/>
              </a:ext>
            </a:extLst>
          </p:cNvPr>
          <p:cNvSpPr/>
          <p:nvPr/>
        </p:nvSpPr>
        <p:spPr>
          <a:xfrm>
            <a:off x="1132609" y="2899064"/>
            <a:ext cx="8097115" cy="151707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B749AF-A262-3A2C-BD6C-B9FCBED7CFD3}"/>
              </a:ext>
            </a:extLst>
          </p:cNvPr>
          <p:cNvSpPr/>
          <p:nvPr/>
        </p:nvSpPr>
        <p:spPr>
          <a:xfrm>
            <a:off x="1215736" y="3084361"/>
            <a:ext cx="1289338" cy="12469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User mode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654BF3-4321-EAEE-17DC-C239A33E8745}"/>
              </a:ext>
            </a:extLst>
          </p:cNvPr>
          <p:cNvSpPr/>
          <p:nvPr/>
        </p:nvSpPr>
        <p:spPr>
          <a:xfrm>
            <a:off x="1127414" y="4578927"/>
            <a:ext cx="8097115" cy="160366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5DEB48-B95B-3E18-83D7-2093D54D6DD9}"/>
              </a:ext>
            </a:extLst>
          </p:cNvPr>
          <p:cNvSpPr/>
          <p:nvPr/>
        </p:nvSpPr>
        <p:spPr>
          <a:xfrm>
            <a:off x="1541751" y="3355394"/>
            <a:ext cx="2466974" cy="5801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User process execution</a:t>
            </a:r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F5CC4D-75EA-B23B-80FE-AB5324088612}"/>
              </a:ext>
            </a:extLst>
          </p:cNvPr>
          <p:cNvSpPr/>
          <p:nvPr/>
        </p:nvSpPr>
        <p:spPr>
          <a:xfrm>
            <a:off x="4506080" y="3355395"/>
            <a:ext cx="1799794" cy="5801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Gets System Call </a:t>
            </a:r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BDB2BD7-2DF9-D251-9272-946EE62B3135}"/>
              </a:ext>
            </a:extLst>
          </p:cNvPr>
          <p:cNvSpPr/>
          <p:nvPr/>
        </p:nvSpPr>
        <p:spPr>
          <a:xfrm>
            <a:off x="6864059" y="3355396"/>
            <a:ext cx="2021034" cy="5801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Return from system call </a:t>
            </a:r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CAAD84-8285-6942-1473-239DCFF76FF4}"/>
              </a:ext>
            </a:extLst>
          </p:cNvPr>
          <p:cNvSpPr/>
          <p:nvPr/>
        </p:nvSpPr>
        <p:spPr>
          <a:xfrm>
            <a:off x="6192982" y="5119256"/>
            <a:ext cx="1943966" cy="71351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Execute system call </a:t>
            </a:r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F032C35-4984-7F9B-9FAD-5E9E6345E00B}"/>
              </a:ext>
            </a:extLst>
          </p:cNvPr>
          <p:cNvSpPr/>
          <p:nvPr/>
        </p:nvSpPr>
        <p:spPr>
          <a:xfrm>
            <a:off x="1253187" y="5529255"/>
            <a:ext cx="1943966" cy="49097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Kernal mode</a:t>
            </a:r>
            <a:endParaRPr lang="en-IN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F55AC40-D627-9F2D-289E-FA6697E565E9}"/>
              </a:ext>
            </a:extLst>
          </p:cNvPr>
          <p:cNvCxnSpPr>
            <a:cxnSpLocks/>
          </p:cNvCxnSpPr>
          <p:nvPr/>
        </p:nvCxnSpPr>
        <p:spPr>
          <a:xfrm>
            <a:off x="6141621" y="3935551"/>
            <a:ext cx="530205" cy="11837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D4FB471-B195-2684-9790-8C9A2CD4A4FA}"/>
              </a:ext>
            </a:extLst>
          </p:cNvPr>
          <p:cNvCxnSpPr>
            <a:cxnSpLocks/>
          </p:cNvCxnSpPr>
          <p:nvPr/>
        </p:nvCxnSpPr>
        <p:spPr>
          <a:xfrm flipV="1">
            <a:off x="7004554" y="3935551"/>
            <a:ext cx="331428" cy="11837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71713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14E25-E288-C513-EB3A-E9C0E229C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F19CC14-0AF5-18E3-5598-5A6AF83E96FF}"/>
              </a:ext>
            </a:extLst>
          </p:cNvPr>
          <p:cNvSpPr txBox="1"/>
          <p:nvPr/>
        </p:nvSpPr>
        <p:spPr>
          <a:xfrm>
            <a:off x="966354" y="311727"/>
            <a:ext cx="829454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u="sng" dirty="0"/>
              <a:t>Kernal:- </a:t>
            </a:r>
          </a:p>
          <a:p>
            <a:r>
              <a:rPr lang="en-US" dirty="0"/>
              <a:t>1] The kernel is a computer program at the core of computer’s operating system and generally has complete control over everything in a system</a:t>
            </a:r>
          </a:p>
          <a:p>
            <a:r>
              <a:rPr lang="en-US" dirty="0"/>
              <a:t>2] system call is executed on a priority basis in the kernel mode</a:t>
            </a:r>
          </a:p>
          <a:p>
            <a:r>
              <a:rPr lang="en-US" dirty="0"/>
              <a:t>3] After execution of the system call, the control returns to the User mode f execution of user processes can be resumed.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A63EBE-31A1-B598-1681-2427E49D446F}"/>
              </a:ext>
            </a:extLst>
          </p:cNvPr>
          <p:cNvSpPr txBox="1"/>
          <p:nvPr/>
        </p:nvSpPr>
        <p:spPr>
          <a:xfrm>
            <a:off x="966354" y="2628129"/>
            <a:ext cx="829454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u="sng" dirty="0"/>
              <a:t>System call is require in the following situations</a:t>
            </a:r>
          </a:p>
          <a:p>
            <a:r>
              <a:rPr lang="en-US" dirty="0"/>
              <a:t>1] IF a file system requires the creation or deletion of file</a:t>
            </a:r>
          </a:p>
          <a:p>
            <a:r>
              <a:rPr lang="en-US" dirty="0"/>
              <a:t>2] Reading and writing from files also require a system call </a:t>
            </a:r>
          </a:p>
          <a:p>
            <a:r>
              <a:rPr lang="en-US" dirty="0"/>
              <a:t>3] Network connections needs system call. This Includes sending and receiving packets</a:t>
            </a:r>
          </a:p>
          <a:p>
            <a:r>
              <a:rPr lang="en-US" dirty="0"/>
              <a:t>4] creation and management of new processes</a:t>
            </a:r>
          </a:p>
          <a:p>
            <a:r>
              <a:rPr lang="en-US" dirty="0"/>
              <a:t>5] Access to hard ware devices such as a printer, </a:t>
            </a:r>
            <a:r>
              <a:rPr lang="en-US" dirty="0" err="1"/>
              <a:t>scannеr</a:t>
            </a:r>
            <a:r>
              <a:rPr lang="en-US" dirty="0"/>
              <a:t>, Tete requires a system call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36003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43765-41A6-2F4E-DF88-2266F0289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F6D8371-BB99-3FDC-00B8-D0EC828549A1}"/>
              </a:ext>
            </a:extLst>
          </p:cNvPr>
          <p:cNvSpPr txBox="1"/>
          <p:nvPr/>
        </p:nvSpPr>
        <p:spPr>
          <a:xfrm>
            <a:off x="883228" y="238991"/>
            <a:ext cx="825297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u="sng" dirty="0"/>
              <a:t>Types of system calls:-</a:t>
            </a:r>
            <a:endParaRPr lang="en-US" dirty="0"/>
          </a:p>
          <a:p>
            <a:r>
              <a:rPr lang="en-US" dirty="0"/>
              <a:t> There are mainly fire types of system calls :</a:t>
            </a:r>
          </a:p>
          <a:p>
            <a:r>
              <a:rPr lang="en-US" dirty="0"/>
              <a:t>1] Process control </a:t>
            </a:r>
          </a:p>
          <a:p>
            <a:r>
              <a:rPr lang="en-US" dirty="0"/>
              <a:t>2] File Management </a:t>
            </a:r>
          </a:p>
          <a:p>
            <a:r>
              <a:rPr lang="en-US" dirty="0"/>
              <a:t>3] Device Management </a:t>
            </a:r>
          </a:p>
          <a:p>
            <a:r>
              <a:rPr lang="en-US" dirty="0"/>
              <a:t>4] Information Maintenance </a:t>
            </a:r>
          </a:p>
          <a:p>
            <a:r>
              <a:rPr lang="en-US" dirty="0"/>
              <a:t>5]communication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38399D-DEFC-24A0-C693-281B4FA75FF2}"/>
              </a:ext>
            </a:extLst>
          </p:cNvPr>
          <p:cNvSpPr txBox="1"/>
          <p:nvPr/>
        </p:nvSpPr>
        <p:spPr>
          <a:xfrm>
            <a:off x="675409" y="2408814"/>
            <a:ext cx="84607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b="1" u="sng" dirty="0"/>
              <a:t>Process Control: -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 Geals with processes such as process creation, process termination etc.)</a:t>
            </a:r>
          </a:p>
          <a:p>
            <a:r>
              <a:rPr lang="en-US" dirty="0"/>
              <a:t> e.g. End, abort, load, execute, create process, terminate process, fork, walt, allocate.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90FF4C-8705-D1CB-5E1C-D3000DEBE770}"/>
              </a:ext>
            </a:extLst>
          </p:cNvPr>
          <p:cNvSpPr txBox="1"/>
          <p:nvPr/>
        </p:nvSpPr>
        <p:spPr>
          <a:xfrm>
            <a:off x="675409" y="3849021"/>
            <a:ext cx="846079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2. File Management: -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Responsible for file manipulation such as creating File reading a File, writing into a file, etc.] </a:t>
            </a:r>
          </a:p>
          <a:p>
            <a:r>
              <a:rPr lang="en-US" dirty="0"/>
              <a:t>e.g. Create file, delete file, open, close, read, write get filles attributes, set files attributes.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3360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921EA-822D-4AA7-6C0E-1568716C5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DEE2DAD-554F-537D-82B7-9769B7747854}"/>
              </a:ext>
            </a:extLst>
          </p:cNvPr>
          <p:cNvSpPr txBox="1"/>
          <p:nvPr/>
        </p:nvSpPr>
        <p:spPr>
          <a:xfrm>
            <a:off x="820882" y="166255"/>
            <a:ext cx="833610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/>
              <a:t>3. Device Management:-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 responsible for device manipulation such as reading from device buffers , etc</a:t>
            </a:r>
          </a:p>
          <a:p>
            <a:r>
              <a:rPr lang="en-IN" dirty="0"/>
              <a:t>e.g. Request device , release device , get device attributes , set device attributes , read , write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413A0F-48F4-36D0-7C10-0C70C39DA466}"/>
              </a:ext>
            </a:extLst>
          </p:cNvPr>
          <p:cNvSpPr txBox="1"/>
          <p:nvPr/>
        </p:nvSpPr>
        <p:spPr>
          <a:xfrm>
            <a:off x="815514" y="1798320"/>
            <a:ext cx="83361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4. Information Maintenance:-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Handles information and its transfer between the os and the use program] e.g. Get pid, get ppid, get system time, get system date, get file attribute, get device attribute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74A6B9-B3B2-F642-FA0B-67CCFE8CDB49}"/>
              </a:ext>
            </a:extLst>
          </p:cNvPr>
          <p:cNvSpPr txBox="1"/>
          <p:nvPr/>
        </p:nvSpPr>
        <p:spPr>
          <a:xfrm>
            <a:off x="815514" y="3153386"/>
            <a:ext cx="83361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5. communication:-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useful for interposes communication. They also deal with creating &amp; deleting a communication connection] </a:t>
            </a:r>
          </a:p>
          <a:p>
            <a:r>
              <a:rPr lang="en-US" dirty="0"/>
              <a:t>e.g. pipe(), create / delete communication connection.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11426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8DAD9-A158-44BC-6411-04FBB71D7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18F81-0169-1F19-ECF6-1AD2A5FDE2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629041-8555-B57B-E36B-60C15640C8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789727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176</TotalTime>
  <Words>1954</Words>
  <Application>Microsoft Office PowerPoint</Application>
  <PresentationFormat>Widescreen</PresentationFormat>
  <Paragraphs>197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Trebuchet MS</vt:lpstr>
      <vt:lpstr>Wingdings</vt:lpstr>
      <vt:lpstr>Wingdings 3</vt:lpstr>
      <vt:lpstr>Facet</vt:lpstr>
      <vt:lpstr>2.Operating system and component and structure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Acer</dc:creator>
  <cp:lastModifiedBy>Acer</cp:lastModifiedBy>
  <cp:revision>2</cp:revision>
  <dcterms:created xsi:type="dcterms:W3CDTF">2025-09-25T07:13:01Z</dcterms:created>
  <dcterms:modified xsi:type="dcterms:W3CDTF">2025-09-25T10:12:05Z</dcterms:modified>
</cp:coreProperties>
</file>